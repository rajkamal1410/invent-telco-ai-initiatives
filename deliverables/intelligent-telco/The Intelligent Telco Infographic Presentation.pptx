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solidFill>
            <a:srgbClr val="1B2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548640"/>
            <a:ext cx="73152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5669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061625"/>
                </a:solidFill>
                <a:latin typeface="Aptos"/>
              </a:rPr>
              <a:t>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66928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i="0">
                <a:solidFill>
                  <a:srgbClr val="EDF6FF"/>
                </a:solidFill>
                <a:latin typeface="Aptos"/>
              </a:rPr>
              <a:t>INTELLIGENT TELCO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4297680" cy="475488"/>
          </a:xfrm>
          <a:prstGeom prst="roundRect">
            <a:avLst/>
          </a:prstGeom>
          <a:solidFill>
            <a:srgbClr val="14293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0934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Aptos"/>
              </a:rPr>
              <a:t>DATA MONETIZATION IN THE AI 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107899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000" b="1">
                <a:solidFill>
                  <a:srgbClr val="EDF6FF"/>
                </a:solidFill>
              </a:defRPr>
            </a:pPr>
            <a:r>
              <a:t>The</a:t>
            </a:r>
          </a:p>
          <a:p>
            <a:pPr algn="l"/>
            <a:r>
              <a:rPr sz="6200" b="1">
                <a:solidFill>
                  <a:srgbClr val="63AFFF"/>
                </a:solidFill>
              </a:rPr>
              <a:t>INTELLIGENT TELCO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EDF6FF"/>
                </a:solidFill>
                <a:latin typeface="Aptos"/>
              </a:rPr>
              <a:t>Telecom operators are no longer just connectivity providers. They sit on trusted network signals, identity data, mobility patterns, and enterprise-grade intelligence that can be transformed into monetizable products, programmable APIs, and decision-ready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5303520" cy="822960"/>
          </a:xfrm>
          <a:prstGeom prst="roundRect">
            <a:avLst/>
          </a:prstGeom>
          <a:solidFill>
            <a:srgbClr val="16263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715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 i="0">
                <a:solidFill>
                  <a:srgbClr val="EDF6FF"/>
                </a:solidFill>
                <a:latin typeface="Aptos"/>
              </a:rPr>
              <a:t>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08076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LEGACY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577840"/>
            <a:ext cx="5303520" cy="822960"/>
          </a:xfrm>
          <a:prstGeom prst="roundRect">
            <a:avLst/>
          </a:prstGeom>
          <a:solidFill>
            <a:srgbClr val="16263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5715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 i="0">
                <a:solidFill>
                  <a:srgbClr val="EDF6FF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08076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RAW SIGNAL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Aptos"/>
              </a:rPr>
              <a:t>VALUE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DF6FF"/>
                </a:solidFill>
                <a:latin typeface="Aptos"/>
              </a:rPr>
              <a:t>From connectivity to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96012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The winning direction is not selling raw data; it is packaging trusted signals into repeatable business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828800" cy="1645920"/>
          </a:xfrm>
          <a:prstGeom prst="roundRect">
            <a:avLst/>
          </a:prstGeom>
          <a:solidFill>
            <a:srgbClr val="101F3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EDF6FF"/>
                </a:solidFill>
                <a:latin typeface="Aptos"/>
              </a:rPr>
              <a:t>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Legacy core of mobile access, messaging and secure digital services.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599" y="3429000"/>
            <a:ext cx="640080" cy="164592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97480" y="2743200"/>
            <a:ext cx="1828800" cy="1645920"/>
          </a:xfrm>
          <a:prstGeom prst="roundRect">
            <a:avLst/>
          </a:prstGeom>
          <a:solidFill>
            <a:srgbClr val="101F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907792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EDF6FF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Network signals, mobility patterns, subscriber behavior and service quality.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1999" y="3429000"/>
            <a:ext cx="640080" cy="164592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0" y="2743200"/>
            <a:ext cx="1828800" cy="1645920"/>
          </a:xfrm>
          <a:prstGeom prst="roundRect">
            <a:avLst/>
          </a:prstGeom>
          <a:solidFill>
            <a:srgbClr val="101F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907792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EDF6FF"/>
                </a:solidFill>
                <a:latin typeface="Aptos"/>
              </a:rP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6118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Aggregated intelligence that supports decisions across retail, transport and enterprises.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29399" y="3429000"/>
            <a:ext cx="640080" cy="164592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12280" y="2743200"/>
            <a:ext cx="1828800" cy="1645920"/>
          </a:xfrm>
          <a:prstGeom prst="roundRect">
            <a:avLst/>
          </a:prstGeom>
          <a:solidFill>
            <a:srgbClr val="101F3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2907792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EDF6FF"/>
                </a:solidFill>
                <a:latin typeface="Aptos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6118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APIs, fraud protection, identity services and telecom data products.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86799" y="3429000"/>
            <a:ext cx="640080" cy="164592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0" y="2743200"/>
            <a:ext cx="1828800" cy="1645920"/>
          </a:xfrm>
          <a:prstGeom prst="roundRect">
            <a:avLst/>
          </a:prstGeom>
          <a:solidFill>
            <a:srgbClr val="101F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2907792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EDF6FF"/>
                </a:solidFill>
                <a:latin typeface="Aptos"/>
              </a:rPr>
              <a:t>Ecosystems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6118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AI orchestration, partnerships and programmable services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Aptos"/>
              </a:rPr>
              <a:t>PRIMARY MONETIZATION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DF6FF"/>
                </a:solidFill>
                <a:latin typeface="Aptos"/>
              </a:rPr>
              <a:t>Where value is 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194560" cy="1691640"/>
          </a:xfrm>
          <a:prstGeom prst="roundRect">
            <a:avLst/>
          </a:prstGeom>
          <a:solidFill>
            <a:srgbClr val="10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0A5FA"/>
                </a:solidFill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1401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DF6FF"/>
                </a:solidFill>
                <a:latin typeface="Aptos"/>
              </a:rPr>
              <a:t>Network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194560" cy="1691640"/>
          </a:xfrm>
          <a:prstGeom prst="roundRect">
            <a:avLst/>
          </a:prstGeom>
          <a:solidFill>
            <a:srgbClr val="10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D3EE"/>
                </a:solidFill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1401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DF6FF"/>
                </a:solidFill>
                <a:latin typeface="Aptos"/>
              </a:rPr>
              <a:t>Identity &amp; Fraud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37360"/>
            <a:ext cx="2194560" cy="1691640"/>
          </a:xfrm>
          <a:prstGeom prst="roundRect">
            <a:avLst/>
          </a:prstGeom>
          <a:solidFill>
            <a:srgbClr val="10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4D399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41401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DF6FF"/>
                </a:solidFill>
                <a:latin typeface="Aptos"/>
              </a:rPr>
              <a:t>Mobility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737360"/>
            <a:ext cx="2194560" cy="1691640"/>
          </a:xfrm>
          <a:prstGeom prst="roundRect">
            <a:avLst/>
          </a:prstGeom>
          <a:solidFill>
            <a:srgbClr val="10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5CF6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41401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DF6FF"/>
                </a:solidFill>
                <a:latin typeface="Aptos"/>
              </a:rPr>
              <a:t>AI Ecosystem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2148840" cy="132588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3703320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Turn internal network capabilities into programmable services through GSMA Open Gateway and ecosystem APIs.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566160"/>
            <a:ext cx="2148840" cy="132588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144" y="3703320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Use number verification, SIM swap and device trust to create premium identity and fraud prevention 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566160"/>
            <a:ext cx="2148840" cy="132588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98464" y="3703320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Package aggregated movement and network insights into retail, logistics and public sector decision support products.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566160"/>
            <a:ext cx="2148840" cy="132588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58784" y="3703320"/>
            <a:ext cx="187451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8CDE1"/>
                </a:solidFill>
                <a:latin typeface="Aptos"/>
              </a:rPr>
              <a:t>Combine telecom data with AI agents and broader digital experiences to scale engagement across ecosystems.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2651760" cy="731520"/>
          </a:xfrm>
          <a:prstGeom prst="rect">
            <a:avLst/>
          </a:prstGeom>
          <a:solidFill>
            <a:srgbClr val="0F1D2D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650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Network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961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Programmable products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5486400"/>
            <a:ext cx="2651760" cy="731520"/>
          </a:xfrm>
          <a:prstGeom prst="rect">
            <a:avLst/>
          </a:prstGeom>
          <a:solidFill>
            <a:srgbClr val="0F1D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9352" y="5650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Identity &amp; 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9352" y="5961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Fraud-safe monetization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5486400"/>
            <a:ext cx="2651760" cy="731520"/>
          </a:xfrm>
          <a:prstGeom prst="rect">
            <a:avLst/>
          </a:prstGeom>
          <a:solidFill>
            <a:srgbClr val="0F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31152" y="5650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Enterprise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961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8CDE1"/>
                </a:solidFill>
                <a:latin typeface="Aptos"/>
              </a:rPr>
              <a:t>Mobility intelligence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5486400"/>
            <a:ext cx="1828800" cy="731520"/>
          </a:xfrm>
          <a:prstGeom prst="rect">
            <a:avLst/>
          </a:prstGeom>
          <a:solidFill>
            <a:srgbClr val="0F1D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93808" y="56509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DF6FF"/>
                </a:solidFill>
                <a:latin typeface="Aptos"/>
              </a:rPr>
              <a:t>AI +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Aptos"/>
              </a:rPr>
              <a:t>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DF6FF"/>
                </a:solidFill>
                <a:latin typeface="Aptos"/>
              </a:rPr>
              <a:t>Simple, scalable and governable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89920" cy="100584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901952"/>
            <a:ext cx="50292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6162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2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Prove value internally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1284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Start with customer, network and operational use cases that improve revenue, cost and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89920" cy="100584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3090672"/>
            <a:ext cx="50292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61625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Build trust into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0156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Embed consent, privacy, data quality and governance from day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789920" cy="100584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279392"/>
            <a:ext cx="50292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6162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519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Productize differentiated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9028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Focus on unique network-originated capabilities that are hard to replicate.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789920" cy="1005840"/>
          </a:xfrm>
          <a:prstGeom prst="roundRect">
            <a:avLst/>
          </a:prstGeom>
          <a:solidFill>
            <a:srgbClr val="111F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5468112"/>
            <a:ext cx="50292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61625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4406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EDF6FF"/>
                </a:solidFill>
                <a:latin typeface="Aptos"/>
              </a:rPr>
              <a:t>Scale through ecosystems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7900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Use GSMA Open Gateway, Aduna and partnerships to distribute capabilities across developers and enterprises.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Aptos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EDF6FF"/>
                </a:solidFill>
                <a:latin typeface="Aptos"/>
              </a:rPr>
              <a:t>The strategic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00400" cy="3017520"/>
          </a:xfrm>
          <a:prstGeom prst="roundRect">
            <a:avLst/>
          </a:prstGeom>
          <a:solidFill>
            <a:srgbClr val="111F30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DF6FF"/>
                </a:solidFill>
                <a:latin typeface="Aptos"/>
              </a:rPr>
              <a:t>Network as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24912"/>
            <a:ext cx="2560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CDE1"/>
                </a:solidFill>
                <a:latin typeface="Aptos"/>
              </a:rPr>
              <a:t>Operators can convert network capability into programmable business products instead of static utility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00400" cy="3017520"/>
          </a:xfrm>
          <a:prstGeom prst="roundRect">
            <a:avLst/>
          </a:prstGeom>
          <a:solidFill>
            <a:srgbClr val="111F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2677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DF6FF"/>
                </a:solidFill>
                <a:latin typeface="Aptos"/>
              </a:rPr>
              <a:t>Trust as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24912"/>
            <a:ext cx="2560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CDE1"/>
                </a:solidFill>
                <a:latin typeface="Aptos"/>
              </a:rPr>
              <a:t>Identity, verification and fraud signals become premium assets when governed, privacy-safe and commercially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200400" cy="3017520"/>
          </a:xfrm>
          <a:prstGeom prst="roundRect">
            <a:avLst/>
          </a:prstGeom>
          <a:solidFill>
            <a:srgbClr val="111F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2677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EDF6FF"/>
                </a:solidFill>
                <a:latin typeface="Aptos"/>
              </a:rPr>
              <a:t>AI as enabler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24912"/>
            <a:ext cx="2560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CDE1"/>
                </a:solidFill>
                <a:latin typeface="Aptos"/>
              </a:rPr>
              <a:t>AI agents can orchestrate services across ecosystems, but only within explainable, auditable and governed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DF6FF"/>
                </a:solidFill>
                <a:latin typeface="Aptos"/>
              </a:rPr>
              <a:t>“The real product is not AI itself. It is trusted intelligence, capability, or business outcome that AI helps the operator create.”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CDE1"/>
                </a:solidFill>
                <a:latin typeface="Aptos"/>
              </a:rPr>
              <a:t>TELCO POV • STRATEGIC NARRATIVE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A, RAJKAMAL</cp:lastModifiedBy>
  <cp:revision>2</cp:revision>
  <dcterms:created xsi:type="dcterms:W3CDTF">2013-01-27T09:14:16Z</dcterms:created>
  <dcterms:modified xsi:type="dcterms:W3CDTF">2026-10-07T06:39:45Z</dcterms:modified>
  <cp:category/>
</cp:coreProperties>
</file>