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3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365760"/>
            <a:ext cx="10972800" cy="731520"/>
          </a:xfrm>
          <a:prstGeom prst="roundRect">
            <a:avLst/>
          </a:prstGeom>
          <a:solidFill>
            <a:srgbClr val="1B2E3F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3035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07131F"/>
                </a:solidFill>
                <a:latin typeface="Aptos"/>
              </a:rPr>
              <a:t>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530352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ECF4FF"/>
                </a:solidFill>
                <a:latin typeface="Aptos"/>
              </a:rPr>
              <a:t>INTELLIGENT TELCO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Aptos"/>
              </a:rPr>
              <a:t>DATA MONETIZATION IN THE AI 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7899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 i="0">
                <a:solidFill>
                  <a:srgbClr val="ECF4FF"/>
                </a:solidFill>
                <a:latin typeface="Aptos"/>
              </a:rPr>
              <a:t>The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 i="0">
                <a:solidFill>
                  <a:srgbClr val="67B3FF"/>
                </a:solidFill>
                <a:latin typeface="Aptos"/>
              </a:rPr>
              <a:t>INTELLIGENT TELCO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389120"/>
            <a:ext cx="104241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ECF4FF"/>
                </a:solidFill>
                <a:latin typeface="Aptos"/>
              </a:rPr>
              <a:t>Operators are no longer just connectivity providers. They sit on trusted network signals, identity data, mobility patterns and enterprise-grade intelligence that can be transformed into monetizable products, programmable APIs and decision-ready services.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577840"/>
            <a:ext cx="5212080" cy="731520"/>
          </a:xfrm>
          <a:prstGeom prst="roundRect">
            <a:avLst/>
          </a:prstGeom>
          <a:solidFill>
            <a:srgbClr val="182634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5806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ECF4FF"/>
                </a:solidFill>
                <a:latin typeface="Aptos"/>
              </a:rPr>
              <a:t>Connectivity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612648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B8CBDF"/>
                </a:solidFill>
                <a:latin typeface="Aptos"/>
              </a:rPr>
              <a:t>LEGACY 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5577840"/>
            <a:ext cx="5212080" cy="731520"/>
          </a:xfrm>
          <a:prstGeom prst="roundRect">
            <a:avLst/>
          </a:prstGeom>
          <a:solidFill>
            <a:srgbClr val="182634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5806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ECF4FF"/>
                </a:solidFill>
                <a:latin typeface="Aptos"/>
              </a:rPr>
              <a:t>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612648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B8CBDF"/>
                </a:solidFill>
                <a:latin typeface="Aptos"/>
              </a:rPr>
              <a:t>RAW SIGNAL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3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ECF4FF"/>
                </a:solidFill>
                <a:latin typeface="Aptos"/>
              </a:rPr>
              <a:t>Why AI changes the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Operators already own the assets; AI turns them into monetizable outcomes</a:t>
            </a:r>
          </a:p>
        </p:txBody>
      </p:sp>
      <p:sp>
        <p:nvSpPr>
          <p:cNvPr id="6" name="Oval 5"/>
          <p:cNvSpPr/>
          <p:nvPr/>
        </p:nvSpPr>
        <p:spPr>
          <a:xfrm>
            <a:off x="4480560" y="1737360"/>
            <a:ext cx="3291840" cy="3291840"/>
          </a:xfrm>
          <a:prstGeom prst="ellipse">
            <a:avLst/>
          </a:prstGeom>
          <a:solidFill>
            <a:srgbClr val="111F30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66360" y="269748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22D3EE"/>
                </a:solidFill>
                <a:latin typeface="Aptos"/>
              </a:rPr>
              <a:t>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315468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22D3EE"/>
                </a:solidFill>
                <a:latin typeface="Aptos"/>
              </a:rPr>
              <a:t>Signals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370332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22D3EE"/>
                </a:solidFill>
                <a:latin typeface="Aptos"/>
              </a:rPr>
              <a:t>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269748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22D3EE"/>
                </a:solidFill>
                <a:latin typeface="Aptos"/>
              </a:rPr>
              <a:t>Mobility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315468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22D3EE"/>
                </a:solidFill>
                <a:latin typeface="Aptos"/>
              </a:rPr>
              <a:t>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370332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22D3EE"/>
                </a:solidFill>
                <a:latin typeface="Aptos"/>
              </a:rPr>
              <a:t>Trust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828800"/>
            <a:ext cx="2560320" cy="1188720"/>
          </a:xfrm>
          <a:prstGeom prst="roundRect">
            <a:avLst/>
          </a:prstGeom>
          <a:solidFill>
            <a:srgbClr val="101F3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CF4FF"/>
                </a:solidFill>
                <a:latin typeface="Aptos"/>
              </a:rPr>
              <a:t>Asset 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7744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8CBDF"/>
                </a:solidFill>
                <a:latin typeface="Aptos"/>
              </a:rPr>
              <a:t>Device data
Subscriber relationships
Network quality
Enterprise access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40480"/>
            <a:ext cx="2560320" cy="1188720"/>
          </a:xfrm>
          <a:prstGeom prst="roundRect">
            <a:avLst/>
          </a:prstGeom>
          <a:solidFill>
            <a:srgbClr val="101F3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CF4FF"/>
                </a:solidFill>
                <a:latin typeface="Aptos"/>
              </a:rPr>
              <a:t>AI enablement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8CBDF"/>
                </a:solidFill>
                <a:latin typeface="Aptos"/>
              </a:rPr>
              <a:t>Forecasting
Optimization
Fraud detection
Personalization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1828800"/>
            <a:ext cx="2560320" cy="1188720"/>
          </a:xfrm>
          <a:prstGeom prst="roundRect">
            <a:avLst/>
          </a:prstGeom>
          <a:solidFill>
            <a:srgbClr val="101F3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20116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CF4FF"/>
                </a:solidFill>
                <a:latin typeface="Aptos"/>
              </a:rPr>
              <a:t>Commercial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37744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8CBDF"/>
                </a:solidFill>
                <a:latin typeface="Aptos"/>
              </a:rPr>
              <a:t>Revenue uplift
Lower churn
Lower fraud costs
New API products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9680" y="3840480"/>
            <a:ext cx="2560320" cy="1188720"/>
          </a:xfrm>
          <a:prstGeom prst="roundRect">
            <a:avLst/>
          </a:prstGeom>
          <a:solidFill>
            <a:srgbClr val="101F3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40233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CF4FF"/>
                </a:solidFill>
                <a:latin typeface="Aptos"/>
              </a:rPr>
              <a:t>Outcome shift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438912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8CBDF"/>
                </a:solidFill>
                <a:latin typeface="Aptos"/>
              </a:rPr>
              <a:t>From data seller
to intelligence provider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3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ECF4FF"/>
                </a:solidFill>
                <a:latin typeface="Aptos"/>
              </a:rPr>
              <a:t>Two monetization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Internal efficiency and external productization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1920240"/>
          </a:xfrm>
          <a:prstGeom prst="roundRect">
            <a:avLst/>
          </a:prstGeom>
          <a:solidFill>
            <a:srgbClr val="132435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22D3EE"/>
                </a:solidFill>
                <a:latin typeface="Aptos"/>
              </a:rPr>
              <a:t>1. Internal monetization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B8CBDF"/>
                </a:solidFill>
                <a:latin typeface="Aptos"/>
              </a:rPr>
              <a:t>Improve customer personalization and next-best actions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B8CBDF"/>
                </a:solidFill>
                <a:latin typeface="Aptos"/>
              </a:rPr>
              <a:t>Reduce cost-to-serve via AI-driven network optimization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B8CBDF"/>
                </a:solidFill>
                <a:latin typeface="Aptos"/>
              </a:rPr>
              <a:t>Increase retention and lifetime value with better service outcomes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645920"/>
            <a:ext cx="5212080" cy="1920240"/>
          </a:xfrm>
          <a:prstGeom prst="roundRect">
            <a:avLst/>
          </a:prstGeom>
          <a:solidFill>
            <a:srgbClr val="132435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8288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34D399"/>
                </a:solidFill>
                <a:latin typeface="Aptos"/>
              </a:rPr>
              <a:t>2. External monetization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28600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B8CBDF"/>
                </a:solidFill>
                <a:latin typeface="Aptos"/>
              </a:rPr>
              <a:t>Network APIs and programmable services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B8CBDF"/>
                </a:solidFill>
                <a:latin typeface="Aptos"/>
              </a:rPr>
              <a:t>Identity, authentication and fraud intelligence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B8CBDF"/>
                </a:solidFill>
                <a:latin typeface="Aptos"/>
              </a:rPr>
              <a:t>Enterprise analysis and mobility intelligence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4114800"/>
            <a:ext cx="7498079" cy="1463040"/>
          </a:xfrm>
          <a:prstGeom prst="roundRect">
            <a:avLst/>
          </a:prstGeom>
          <a:solidFill>
            <a:srgbClr val="142A3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448056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BBF24"/>
                </a:solidFill>
                <a:latin typeface="Aptos"/>
              </a:rPr>
              <a:t>Bottom line: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8920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CF4FF"/>
                </a:solidFill>
                <a:latin typeface="Aptos"/>
              </a:rPr>
              <a:t>The most scalable telco model is not selling raw data—it is productizing trusted intelligence and network capabilities.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3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ECF4FF"/>
                </a:solidFill>
                <a:latin typeface="Aptos"/>
              </a:rPr>
              <a:t>Network APIs as the programmable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From connectivity product to business capability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017520" cy="3931920"/>
          </a:xfrm>
          <a:prstGeom prst="roundRect">
            <a:avLst/>
          </a:prstGeom>
          <a:solidFill>
            <a:srgbClr val="132435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ECF4FF"/>
                </a:solidFill>
                <a:latin typeface="Aptos"/>
              </a:rPr>
              <a:t>API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>
                <a:solidFill>
                  <a:srgbClr val="B8CBDF"/>
                </a:solidFill>
                <a:latin typeface="Aptos"/>
              </a:rPr>
              <a:t>Number Verification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B8CBDF"/>
                </a:solidFill>
                <a:latin typeface="Aptos"/>
              </a:rPr>
              <a:t>SIM Swap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B8CBDF"/>
                </a:solidFill>
                <a:latin typeface="Aptos"/>
              </a:rPr>
              <a:t>Device Swap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B8CBDF"/>
                </a:solidFill>
                <a:latin typeface="Aptos"/>
              </a:rPr>
              <a:t>KYC / identity checks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B8CBDF"/>
                </a:solidFill>
                <a:latin typeface="Aptos"/>
              </a:rPr>
              <a:t>Location verification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B8CBDF"/>
                </a:solidFill>
                <a:latin typeface="Aptos"/>
              </a:rPr>
              <a:t>Quality on Demand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B8CBDF"/>
                </a:solidFill>
                <a:latin typeface="Aptos"/>
              </a:rPr>
              <a:t>Device status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B8CBDF"/>
                </a:solidFill>
                <a:latin typeface="Aptos"/>
              </a:rPr>
              <a:t>Edge-related capabilities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645920"/>
            <a:ext cx="3383280" cy="3931920"/>
          </a:xfrm>
          <a:prstGeom prst="roundRect">
            <a:avLst/>
          </a:prstGeom>
          <a:solidFill>
            <a:srgbClr val="14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920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22D3EE"/>
                </a:solidFill>
                <a:latin typeface="Aptos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37744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>
                <a:solidFill>
                  <a:srgbClr val="B8CBDF"/>
                </a:solidFill>
                <a:latin typeface="Aptos"/>
              </a:rPr>
              <a:t>Reframes network as a programmable platform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B8CBDF"/>
                </a:solidFill>
                <a:latin typeface="Aptos"/>
              </a:rPr>
              <a:t>Turns internal capabilities into external products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B8CBDF"/>
                </a:solidFill>
                <a:latin typeface="Aptos"/>
              </a:rPr>
              <a:t>Creates reusable developer and enterprise services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B8CBDF"/>
                </a:solidFill>
                <a:latin typeface="Aptos"/>
              </a:rPr>
              <a:t>Improves economics beyond connectivity alone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B8CBDF"/>
                </a:solidFill>
                <a:latin typeface="Aptos"/>
              </a:rPr>
              <a:t>Supports authentication, fraud prevention and trust use cases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474720" cy="3931920"/>
          </a:xfrm>
          <a:prstGeom prst="roundRect">
            <a:avLst/>
          </a:prstGeom>
          <a:solidFill>
            <a:srgbClr val="111F3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9202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34D399"/>
                </a:solidFill>
                <a:latin typeface="Aptos"/>
              </a:rPr>
              <a:t>Example: US 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468880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CF4FF"/>
                </a:solidFill>
                <a:latin typeface="Aptos"/>
              </a:rPr>
              <a:t>AT&amp;T, T-Mobile and Verizon have standardized Number Verification and SIM Swap APIs via Aduna to support identity and fraud workflows.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6576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BBF24"/>
                </a:solidFill>
                <a:latin typeface="Aptos"/>
              </a:rPr>
              <a:t>Commercial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1148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8CBDF"/>
                </a:solidFill>
                <a:latin typeface="Aptos"/>
              </a:rPr>
              <a:t>New revenue streams from authentication, fraud prevention and trusted service execution.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3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ECF4FF"/>
                </a:solidFill>
                <a:latin typeface="Aptos"/>
              </a:rPr>
              <a:t>Identity, fraud and enterprise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Trusted signals drive defensible telco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3657600"/>
          </a:xfrm>
          <a:prstGeom prst="roundRect">
            <a:avLst/>
          </a:prstGeom>
          <a:solidFill>
            <a:srgbClr val="132435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22D3EE"/>
                </a:solidFill>
                <a:latin typeface="Aptos"/>
              </a:rPr>
              <a:t>Identity and fraud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B8CBDF"/>
                </a:solidFill>
                <a:latin typeface="Aptos"/>
              </a:rPr>
              <a:t>Operators hold trusted relationships with devices and subscriptions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B8CBDF"/>
                </a:solidFill>
                <a:latin typeface="Aptos"/>
              </a:rPr>
              <a:t>Number Verification can confirm device-to-number association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B8CBDF"/>
                </a:solidFill>
                <a:latin typeface="Aptos"/>
              </a:rPr>
              <a:t>SIM Swap capabilities indicate recent changes and risk events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B8CBDF"/>
                </a:solidFill>
                <a:latin typeface="Aptos"/>
              </a:rPr>
              <a:t>This creates strong value for fintech, digital commerce and e-commerce trust workflows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212080" cy="3657600"/>
          </a:xfrm>
          <a:prstGeom prst="roundRect">
            <a:avLst/>
          </a:prstGeom>
          <a:solidFill>
            <a:srgbClr val="132435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92024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34D399"/>
                </a:solidFill>
                <a:latin typeface="Aptos"/>
              </a:rPr>
              <a:t>Enterprise mobility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B8CBDF"/>
                </a:solidFill>
                <a:latin typeface="Aptos"/>
              </a:rPr>
              <a:t>Aggregated mobility and network intelligence support planning decisions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B8CBDF"/>
                </a:solidFill>
                <a:latin typeface="Aptos"/>
              </a:rPr>
              <a:t>Use cases include retail, logistics, transport, public sector and branch strategy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B8CBDF"/>
                </a:solidFill>
                <a:latin typeface="Aptos"/>
              </a:rPr>
              <a:t>Vodafone and Telefónica illustrate how anonymized data can become decision support products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B8CBDF"/>
                </a:solidFill>
                <a:latin typeface="Aptos"/>
              </a:rPr>
              <a:t>The value is in better enterprise decisions, not raw customer data resale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3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ECF4FF"/>
                </a:solidFill>
                <a:latin typeface="Aptos"/>
              </a:rPr>
              <a:t>Governance and strategic 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Trust must be designed into the product itself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00400" cy="3840480"/>
          </a:xfrm>
          <a:prstGeom prst="roundRect">
            <a:avLst/>
          </a:prstGeom>
          <a:solidFill>
            <a:srgbClr val="132435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ECF4FF"/>
                </a:solidFill>
                <a:latin typeface="Aptos"/>
              </a:rPr>
              <a:t>Governance must include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2743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>
                <a:solidFill>
                  <a:srgbClr val="B8CBDF"/>
                </a:solidFill>
                <a:latin typeface="Aptos"/>
              </a:rPr>
              <a:t>Data quality and provenance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B8CBDF"/>
                </a:solidFill>
                <a:latin typeface="Aptos"/>
              </a:rPr>
              <a:t>Privacy, purpose and consent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B8CBDF"/>
                </a:solidFill>
                <a:latin typeface="Aptos"/>
              </a:rPr>
              <a:t>Model governance and monitoring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B8CBDF"/>
                </a:solidFill>
                <a:latin typeface="Aptos"/>
              </a:rPr>
              <a:t>Cybersecurity and API protection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B8CBDF"/>
                </a:solidFill>
                <a:latin typeface="Aptos"/>
              </a:rPr>
              <a:t>Explainability and traceability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B8CBDF"/>
                </a:solidFill>
                <a:latin typeface="Aptos"/>
              </a:rPr>
              <a:t>Human accountability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45920"/>
            <a:ext cx="3474720" cy="3840480"/>
          </a:xfrm>
          <a:prstGeom prst="roundRect">
            <a:avLst/>
          </a:prstGeom>
          <a:solidFill>
            <a:srgbClr val="12283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202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22D3EE"/>
                </a:solidFill>
                <a:latin typeface="Aptos"/>
              </a:rPr>
              <a:t>4-step path to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68880"/>
            <a:ext cx="2834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B8CBDF"/>
                </a:solidFill>
                <a:latin typeface="Aptos"/>
              </a:rPr>
              <a:t>Prove value internally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B8CBDF"/>
                </a:solidFill>
                <a:latin typeface="Aptos"/>
              </a:rPr>
              <a:t>Embed privacy and governance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B8CBDF"/>
                </a:solidFill>
                <a:latin typeface="Aptos"/>
              </a:rPr>
              <a:t>Productize differentiated network signals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B8CBDF"/>
                </a:solidFill>
                <a:latin typeface="Aptos"/>
              </a:rPr>
              <a:t>Scale through ecosystems and APIs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45920"/>
            <a:ext cx="3383280" cy="3840480"/>
          </a:xfrm>
          <a:prstGeom prst="roundRect">
            <a:avLst/>
          </a:prstGeom>
          <a:solidFill>
            <a:srgbClr val="111F3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9202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34D399"/>
                </a:solidFill>
                <a:latin typeface="Aptos"/>
              </a:rPr>
              <a:t>Strategic 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468880"/>
            <a:ext cx="23774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ECF4FF"/>
                </a:solidFill>
                <a:latin typeface="Aptos"/>
              </a:rPr>
              <a:t>Connectivity → Data → Insights → Intelligence Products → AI-enabled ecosystems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3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ECF4FF"/>
                </a:solidFill>
                <a:latin typeface="Aptos"/>
              </a:rPr>
              <a:t>The Intelligent Telco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22D3EE"/>
                </a:solidFill>
                <a:latin typeface="Aptos"/>
              </a:rPr>
              <a:t>Trusted intelligence is the next growth engine for telecom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3474720" cy="2103120"/>
          </a:xfrm>
          <a:prstGeom prst="roundRect">
            <a:avLst/>
          </a:prstGeom>
          <a:solidFill>
            <a:srgbClr val="111F3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ECF4FF"/>
                </a:solidFill>
                <a:latin typeface="Aptos"/>
              </a:rPr>
              <a:t>Network APIs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8CBDF"/>
                </a:solidFill>
                <a:latin typeface="Aptos"/>
              </a:rPr>
              <a:t>Programmable, reusable capabilities that turn infrastructure into products.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468880"/>
            <a:ext cx="3474720" cy="2103120"/>
          </a:xfrm>
          <a:prstGeom prst="roundRect">
            <a:avLst/>
          </a:prstGeom>
          <a:solidFill>
            <a:srgbClr val="111F3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926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ECF4FF"/>
                </a:solidFill>
                <a:latin typeface="Aptos"/>
              </a:rPr>
              <a:t>Identity &amp; trust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38328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8CBDF"/>
                </a:solidFill>
                <a:latin typeface="Aptos"/>
              </a:rPr>
              <a:t>Authentication, fraud prevention and trusted digital services.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468880"/>
            <a:ext cx="3200400" cy="2103120"/>
          </a:xfrm>
          <a:prstGeom prst="roundRect">
            <a:avLst/>
          </a:prstGeom>
          <a:solidFill>
            <a:srgbClr val="111F3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ECF4FF"/>
                </a:solidFill>
                <a:latin typeface="Aptos"/>
              </a:rPr>
              <a:t>Enterprise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38328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8CBDF"/>
                </a:solidFill>
                <a:latin typeface="Aptos"/>
              </a:rPr>
              <a:t>Mobility, planning and decision support products for business customers.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035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ECF4FF"/>
                </a:solidFill>
                <a:latin typeface="Aptos"/>
              </a:rPr>
              <a:t>The winning telco strategy is to monetize trusted intelligence—not raw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