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(user-provided article).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network API monetisation insight referenced in the article: https://www.gsma.com/solutions-and-impact/gsma-open-gateway/why-monetisation-is-the-make-or-break-challenge-for-network-apis-in-2026/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 GSMA Open Gateway: https://www.gsma.com/solutions-and-impact/gsma-open-gateway/
- GSMA Open Gateway API descriptions: https://www.gsma.com/solutions-and-impact/gsma-open-gateway/gsma-open-gateway-api-descriptions/
- Ericsson / Aduna: https://www.ericsson.com/en/press-releases/2025/2/att-t-mobile-and-verizon-come-together-to-bring-first-standardized-5g-network-apis-to-the-u-s--leveraging-aduna
- AT&amp;T: https://about.att.com/blogs/2026/5g-network-apis.html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API descriptions: https://www.gsma.com/solutions-and-impact/gsma-open-gateway/gsma-open-gateway-api-descriptions/
- AT&amp;T: https://about.att.com/blogs/2026/5g-network-apis.html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Vodafone Analytics: https://www.vodafone.com/business/products/cloud-and-edge/cloud-services/analytics-and-insights/vodafone-analytics
- Telefónica Tech Mobility Insights: https://telefonicatech.com/en/solutions/ai-and-data/data-powered-solutions/mobility-insights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Vistar Media: https://www.vistarmedia.com/news/t-mobile-to-acquire-vistar-media-fueling-better-ad-experiences-for-consumers-and-more-effective-products-for-advertisers
- FreeWheel: https://www.freewheel.com/about/
- Comcast Advertising: https://comcastadvertising.com/about-us/
- Comcast Advertising programmatic linear: https://comcastadvertising.com/news/comcast-advertising-makes-traditional-tv-biddable-for-the-first-time/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 Rakuten Today: https://rakuten.today/blog/from-the-rakuten-playbook-how-telcos-can-leverage-real-time-data-and-ecosystems-to-supercharge-growth.html
- Rakuten Group: https://global.rakuten.com/corp/news/press/2025/0730_01.html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API descriptions: https://www.gsma.com/solutions-and-impact/gsma-open-gateway/gsma-open-gateway-api-descriptions/
- Vodafone Analytics: https://www.vodafone.com/business/products/cloud-and-edge/cloud-services/analytics-and-insights/vodafone-analytics
- Telefónica Tech: https://telefonicatech.com/en/solutions/ai-and-data/data-powered-solutions/mobility-insights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Orange Data and AI Ethics Council: https://www.orange.com/en/our-group/our-governance/data-and-ai-ethics-council
- Orange Ethical Charter: https://www.orange.com/en/press-release/orange-adopts-a-data-and-artificial-intelligence-code-of-ethics-233591
- Deutsche Telekom Digital Ethics: https://www.telekom.com/en/newsroom/topic-hubs/technology-and-innovation/corporate-digital-responsibility/a-look-at-our-action-areas-digital-ethics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 GSMA monetisation: https://www.gsma.com/solutions-and-impact/gsma-open-gateway/why-monetisation-is-the-make-or-break-challenge-for-network-apis-in-2026/
- TM Forum / Deutsche Telekom: https://inform.tmforum.org/features-and-opinion/why-governance-is-key-to-deutsche-telekoms-new-ai-architecture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Open Gateway: https://www.gsma.com/solutions-and-impact/gsma-open-gateway/
- Ericsson / Aduna: https://www.ericsson.com/en/press-releases/2025/2/att-t-mobile-and-verizon-come-together-to-bring-first-standardized-5g-network-apis-to-the-u-s--leveraging-aduna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B4C"/>
        </a:solidFill>
        <a:effectLst/>
      </p:bgPr>
    </p:bg>
    <p:spTree>
      <p:nvGrpSpPr>
        <p:cNvPr id="1" name=""/>
        <p:cNvGrpSpPr/>
        <p:nvPr/>
      </p:nvGrpSpPr>
      <p:grpSpPr>
        <a:xfrm>
          <a:off x="0" y="0"/>
          <a:ext cx="1" cy="1"/>
          <a:chOff x="0" y="0"/>
          <a:chExt cx="1" cy="1"/>
        </a:xfrm>
      </p:grpSpPr>
      <p:pic>
        <p:nvPicPr>
          <p:cNvPr id="2" name="Image 0" descr="/mnt/data/generated_image_03A152B20E34_01.png"/>
          <p:cNvPicPr>
            <a:picLocks noChangeAspect="1"/>
          </p:cNvPicPr>
          <p:nvPr/>
        </p:nvPicPr>
        <p:blipFill>
          <a:blip r:embed="rId3"/>
          <a:srcRect l="17867" r="17867"/>
          <a:stretch/>
        </p:blipFill>
        <p:spPr>
          <a:xfrm>
            <a:off x="5577840" y="0"/>
            <a:ext cx="6611112" cy="6858000"/>
          </a:xfrm>
          <a:prstGeom prst="rect">
            <a:avLst/>
          </a:prstGeom>
          <a:ln>
            <a:solidFill/>
          </a:ln>
        </p:spPr>
      </p:pic>
      <p:sp>
        <p:nvSpPr>
          <p:cNvPr id="3" name="Shape 0"/>
          <p:cNvSpPr/>
          <p:nvPr/>
        </p:nvSpPr>
        <p:spPr>
          <a:xfrm>
            <a:off x="0" y="0"/>
            <a:ext cx="5577840" cy="6858000"/>
          </a:xfrm>
          <a:prstGeom prst="rect">
            <a:avLst/>
          </a:prstGeom>
          <a:solidFill>
            <a:srgbClr val="082B4C">
              <a:alpha val="96000"/>
            </a:srgbClr>
          </a:solidFill>
          <a:ln w="12700">
            <a:solidFill>
              <a:srgbClr val="333333">
                <a:alpha val="0"/>
              </a:srgbClr>
            </a:solidFill>
            <a:prstDash val="solid"/>
          </a:ln>
        </p:spPr>
        <p:txBody>
          <a:bodyPr/>
          <a:lstStyle/>
          <a:p>
            <a:endParaRPr lang="en-IN"/>
          </a:p>
        </p:txBody>
      </p:sp>
      <p:sp>
        <p:nvSpPr>
          <p:cNvPr id="4" name="Text 1"/>
          <p:cNvSpPr/>
          <p:nvPr/>
        </p:nvSpPr>
        <p:spPr>
          <a:xfrm>
            <a:off x="594360" y="1051560"/>
            <a:ext cx="5029200" cy="502920"/>
          </a:xfrm>
          <a:prstGeom prst="rect">
            <a:avLst/>
          </a:prstGeom>
          <a:noFill/>
          <a:ln>
            <a:solidFill/>
          </a:ln>
        </p:spPr>
        <p:txBody>
          <a:bodyPr wrap="square" lIns="0" tIns="0" rIns="0" bIns="0" rtlCol="0" anchor="ctr"/>
          <a:lstStyle/>
          <a:p>
            <a:pPr marL="0" indent="0">
              <a:buNone/>
            </a:pPr>
            <a:r>
              <a:rPr lang="en-US" sz="3000" b="1" dirty="0">
                <a:solidFill>
                  <a:srgbClr val="FFFFFF"/>
                </a:solidFill>
              </a:rPr>
              <a:t>THE INTELLIGENT TELCO</a:t>
            </a:r>
            <a:endParaRPr lang="en-US" sz="3000" dirty="0"/>
          </a:p>
        </p:txBody>
      </p:sp>
      <p:sp>
        <p:nvSpPr>
          <p:cNvPr id="5" name="Text 2"/>
          <p:cNvSpPr/>
          <p:nvPr/>
        </p:nvSpPr>
        <p:spPr>
          <a:xfrm>
            <a:off x="594360" y="1719072"/>
            <a:ext cx="4846320" cy="502920"/>
          </a:xfrm>
          <a:prstGeom prst="rect">
            <a:avLst/>
          </a:prstGeom>
          <a:noFill/>
          <a:ln>
            <a:solidFill/>
          </a:ln>
        </p:spPr>
        <p:txBody>
          <a:bodyPr wrap="square" lIns="0" tIns="0" rIns="0" bIns="0" rtlCol="0" anchor="ctr"/>
          <a:lstStyle/>
          <a:p>
            <a:pPr marL="0" indent="0">
              <a:buNone/>
            </a:pPr>
            <a:r>
              <a:rPr lang="en-US" sz="2400" b="1" dirty="0">
                <a:solidFill>
                  <a:srgbClr val="12ABDB"/>
                </a:solidFill>
              </a:rPr>
              <a:t>Monetizing Data in the AI Era</a:t>
            </a:r>
            <a:endParaRPr lang="en-US" sz="2400" dirty="0"/>
          </a:p>
        </p:txBody>
      </p:sp>
      <p:sp>
        <p:nvSpPr>
          <p:cNvPr id="6" name="Text 3"/>
          <p:cNvSpPr/>
          <p:nvPr/>
        </p:nvSpPr>
        <p:spPr>
          <a:xfrm>
            <a:off x="612648" y="2542032"/>
            <a:ext cx="4526280" cy="960120"/>
          </a:xfrm>
          <a:prstGeom prst="rect">
            <a:avLst/>
          </a:prstGeom>
          <a:noFill/>
          <a:ln>
            <a:solidFill/>
          </a:ln>
        </p:spPr>
        <p:txBody>
          <a:bodyPr wrap="square" lIns="0" tIns="0" rIns="0" bIns="0" rtlCol="0" anchor="ctr"/>
          <a:lstStyle/>
          <a:p>
            <a:pPr marL="0" indent="0">
              <a:buNone/>
            </a:pPr>
            <a:r>
              <a:rPr lang="en-US" sz="1700" dirty="0">
                <a:solidFill>
                  <a:srgbClr val="EAF3FB"/>
                </a:solidFill>
              </a:rPr>
              <a:t>From connectivity to trusted intelligence products, programmable capabilities and measurable enterprise outcomes</a:t>
            </a:r>
            <a:endParaRPr lang="en-US" sz="1700" dirty="0"/>
          </a:p>
        </p:txBody>
      </p:sp>
      <p:sp>
        <p:nvSpPr>
          <p:cNvPr id="7" name="Shape 4"/>
          <p:cNvSpPr/>
          <p:nvPr/>
        </p:nvSpPr>
        <p:spPr>
          <a:xfrm>
            <a:off x="612648" y="3977640"/>
            <a:ext cx="4160520" cy="576072"/>
          </a:xfrm>
          <a:prstGeom prst="roundRect">
            <a:avLst/>
          </a:prstGeom>
          <a:solidFill>
            <a:srgbClr val="0D3A61">
              <a:alpha val="92000"/>
            </a:srgbClr>
          </a:solidFill>
          <a:ln w="12700">
            <a:solidFill>
              <a:srgbClr val="47BCCA">
                <a:alpha val="65000"/>
              </a:srgbClr>
            </a:solidFill>
            <a:prstDash val="solid"/>
          </a:ln>
        </p:spPr>
        <p:txBody>
          <a:bodyPr/>
          <a:lstStyle/>
          <a:p>
            <a:endParaRPr lang="en-IN"/>
          </a:p>
        </p:txBody>
      </p:sp>
      <p:sp>
        <p:nvSpPr>
          <p:cNvPr id="8" name="Text 5"/>
          <p:cNvSpPr/>
          <p:nvPr/>
        </p:nvSpPr>
        <p:spPr>
          <a:xfrm>
            <a:off x="822960" y="4178808"/>
            <a:ext cx="3749040" cy="182880"/>
          </a:xfrm>
          <a:prstGeom prst="rect">
            <a:avLst/>
          </a:prstGeom>
          <a:noFill/>
          <a:ln>
            <a:solidFill/>
          </a:ln>
        </p:spPr>
        <p:txBody>
          <a:bodyPr wrap="square" lIns="0" tIns="0" rIns="0" bIns="0" rtlCol="0" anchor="ctr"/>
          <a:lstStyle/>
          <a:p>
            <a:pPr marL="0" indent="0" algn="ctr">
              <a:buNone/>
            </a:pPr>
            <a:r>
              <a:rPr lang="en-US" sz="1300" b="1" dirty="0">
                <a:solidFill>
                  <a:srgbClr val="77BDFF"/>
                </a:solidFill>
              </a:rPr>
              <a:t>Connectivity → Intelligence → Outcomes</a:t>
            </a:r>
            <a:endParaRPr lang="en-US" sz="1300" dirty="0"/>
          </a:p>
        </p:txBody>
      </p:sp>
      <p:sp>
        <p:nvSpPr>
          <p:cNvPr id="9" name="Rectangle 8"/>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FFFFFF"/>
                </a:solidFill>
                <a:latin typeface="Aptos"/>
              </a:rPr>
              <a:t>Capgemini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The strategic shift: from connectivity to intelligence</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The article’s core thesis is a change in what telcos productize and monetize.</a:t>
            </a:r>
            <a:endParaRPr lang="en-US" sz="1200" dirty="0"/>
          </a:p>
        </p:txBody>
      </p:sp>
      <p:sp>
        <p:nvSpPr>
          <p:cNvPr id="4" name="Shape 2"/>
          <p:cNvSpPr/>
          <p:nvPr/>
        </p:nvSpPr>
        <p:spPr>
          <a:xfrm>
            <a:off x="411480" y="1828800"/>
            <a:ext cx="2057400" cy="960120"/>
          </a:xfrm>
          <a:prstGeom prst="chevron">
            <a:avLst/>
          </a:prstGeom>
          <a:solidFill>
            <a:srgbClr val="082B4C"/>
          </a:solidFill>
          <a:ln w="12700">
            <a:solidFill>
              <a:srgbClr val="FFFFFF"/>
            </a:solidFill>
            <a:prstDash val="solid"/>
          </a:ln>
        </p:spPr>
        <p:txBody>
          <a:bodyPr/>
          <a:lstStyle/>
          <a:p>
            <a:endParaRPr lang="en-IN"/>
          </a:p>
        </p:txBody>
      </p:sp>
      <p:sp>
        <p:nvSpPr>
          <p:cNvPr id="5" name="Text 3"/>
          <p:cNvSpPr/>
          <p:nvPr/>
        </p:nvSpPr>
        <p:spPr>
          <a:xfrm>
            <a:off x="521208" y="2121408"/>
            <a:ext cx="164592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CONNECTIVITY</a:t>
            </a:r>
            <a:endParaRPr lang="en-US" sz="1200" dirty="0"/>
          </a:p>
        </p:txBody>
      </p:sp>
      <p:sp>
        <p:nvSpPr>
          <p:cNvPr id="6" name="Text 4"/>
          <p:cNvSpPr/>
          <p:nvPr/>
        </p:nvSpPr>
        <p:spPr>
          <a:xfrm>
            <a:off x="521208" y="3044952"/>
            <a:ext cx="1755648" cy="411480"/>
          </a:xfrm>
          <a:prstGeom prst="rect">
            <a:avLst/>
          </a:prstGeom>
          <a:noFill/>
          <a:ln>
            <a:solidFill/>
          </a:ln>
        </p:spPr>
        <p:txBody>
          <a:bodyPr wrap="square" lIns="0" tIns="0" rIns="0" bIns="0" rtlCol="0" anchor="ctr"/>
          <a:lstStyle/>
          <a:p>
            <a:pPr marL="0" indent="0" algn="ctr">
              <a:buNone/>
            </a:pPr>
            <a:r>
              <a:rPr lang="en-US" sz="1050" dirty="0">
                <a:solidFill>
                  <a:srgbClr val="272936"/>
                </a:solidFill>
              </a:rPr>
              <a:t>Voice • messaging • data</a:t>
            </a:r>
            <a:endParaRPr lang="en-US" sz="1050" dirty="0"/>
          </a:p>
        </p:txBody>
      </p:sp>
      <p:sp>
        <p:nvSpPr>
          <p:cNvPr id="7" name="Shape 5"/>
          <p:cNvSpPr/>
          <p:nvPr/>
        </p:nvSpPr>
        <p:spPr>
          <a:xfrm>
            <a:off x="2743200" y="1828800"/>
            <a:ext cx="2057400" cy="960120"/>
          </a:xfrm>
          <a:prstGeom prst="chevron">
            <a:avLst/>
          </a:prstGeom>
          <a:solidFill>
            <a:srgbClr val="0070AD"/>
          </a:solidFill>
          <a:ln w="12700">
            <a:solidFill>
              <a:srgbClr val="FFFFFF"/>
            </a:solidFill>
            <a:prstDash val="solid"/>
          </a:ln>
        </p:spPr>
        <p:txBody>
          <a:bodyPr/>
          <a:lstStyle/>
          <a:p>
            <a:endParaRPr lang="en-IN"/>
          </a:p>
        </p:txBody>
      </p:sp>
      <p:sp>
        <p:nvSpPr>
          <p:cNvPr id="8" name="Text 6"/>
          <p:cNvSpPr/>
          <p:nvPr/>
        </p:nvSpPr>
        <p:spPr>
          <a:xfrm>
            <a:off x="2852928" y="2121408"/>
            <a:ext cx="164592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DATA</a:t>
            </a:r>
            <a:endParaRPr lang="en-US" sz="1200" dirty="0"/>
          </a:p>
        </p:txBody>
      </p:sp>
      <p:sp>
        <p:nvSpPr>
          <p:cNvPr id="9" name="Text 7"/>
          <p:cNvSpPr/>
          <p:nvPr/>
        </p:nvSpPr>
        <p:spPr>
          <a:xfrm>
            <a:off x="2852928" y="3044952"/>
            <a:ext cx="1755648" cy="411480"/>
          </a:xfrm>
          <a:prstGeom prst="rect">
            <a:avLst/>
          </a:prstGeom>
          <a:noFill/>
          <a:ln>
            <a:solidFill/>
          </a:ln>
        </p:spPr>
        <p:txBody>
          <a:bodyPr wrap="square" lIns="0" tIns="0" rIns="0" bIns="0" rtlCol="0" anchor="ctr"/>
          <a:lstStyle/>
          <a:p>
            <a:pPr marL="0" indent="0" algn="ctr">
              <a:buNone/>
            </a:pPr>
            <a:r>
              <a:rPr lang="en-US" sz="1050" dirty="0">
                <a:solidFill>
                  <a:srgbClr val="272936"/>
                </a:solidFill>
              </a:rPr>
              <a:t>Network • device • customer</a:t>
            </a:r>
            <a:endParaRPr lang="en-US" sz="1050" dirty="0"/>
          </a:p>
        </p:txBody>
      </p:sp>
      <p:sp>
        <p:nvSpPr>
          <p:cNvPr id="10" name="Shape 8"/>
          <p:cNvSpPr/>
          <p:nvPr/>
        </p:nvSpPr>
        <p:spPr>
          <a:xfrm>
            <a:off x="5074920" y="1828800"/>
            <a:ext cx="2057400" cy="960120"/>
          </a:xfrm>
          <a:prstGeom prst="chevron">
            <a:avLst/>
          </a:prstGeom>
          <a:solidFill>
            <a:srgbClr val="12ABDB"/>
          </a:solidFill>
          <a:ln w="12700">
            <a:solidFill>
              <a:srgbClr val="FFFFFF"/>
            </a:solidFill>
            <a:prstDash val="solid"/>
          </a:ln>
        </p:spPr>
        <p:txBody>
          <a:bodyPr/>
          <a:lstStyle/>
          <a:p>
            <a:endParaRPr lang="en-IN"/>
          </a:p>
        </p:txBody>
      </p:sp>
      <p:sp>
        <p:nvSpPr>
          <p:cNvPr id="11" name="Text 9"/>
          <p:cNvSpPr/>
          <p:nvPr/>
        </p:nvSpPr>
        <p:spPr>
          <a:xfrm>
            <a:off x="5184648" y="2121408"/>
            <a:ext cx="164592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INSIGHTS</a:t>
            </a:r>
            <a:endParaRPr lang="en-US" sz="1200" dirty="0"/>
          </a:p>
        </p:txBody>
      </p:sp>
      <p:sp>
        <p:nvSpPr>
          <p:cNvPr id="12" name="Text 10"/>
          <p:cNvSpPr/>
          <p:nvPr/>
        </p:nvSpPr>
        <p:spPr>
          <a:xfrm>
            <a:off x="5184648" y="3044952"/>
            <a:ext cx="1755648" cy="411480"/>
          </a:xfrm>
          <a:prstGeom prst="rect">
            <a:avLst/>
          </a:prstGeom>
          <a:noFill/>
          <a:ln>
            <a:solidFill/>
          </a:ln>
        </p:spPr>
        <p:txBody>
          <a:bodyPr wrap="square" lIns="0" tIns="0" rIns="0" bIns="0" rtlCol="0" anchor="ctr"/>
          <a:lstStyle/>
          <a:p>
            <a:pPr marL="0" indent="0" algn="ctr">
              <a:buNone/>
            </a:pPr>
            <a:r>
              <a:rPr lang="en-US" sz="1050" dirty="0">
                <a:solidFill>
                  <a:srgbClr val="272936"/>
                </a:solidFill>
              </a:rPr>
              <a:t>AI analysis • prediction</a:t>
            </a:r>
            <a:endParaRPr lang="en-US" sz="1050" dirty="0"/>
          </a:p>
        </p:txBody>
      </p:sp>
      <p:sp>
        <p:nvSpPr>
          <p:cNvPr id="13" name="Shape 11"/>
          <p:cNvSpPr/>
          <p:nvPr/>
        </p:nvSpPr>
        <p:spPr>
          <a:xfrm>
            <a:off x="7406640" y="1828800"/>
            <a:ext cx="2057400" cy="960120"/>
          </a:xfrm>
          <a:prstGeom prst="chevron">
            <a:avLst/>
          </a:prstGeom>
          <a:solidFill>
            <a:srgbClr val="004280"/>
          </a:solidFill>
          <a:ln w="12700">
            <a:solidFill>
              <a:srgbClr val="FFFFFF"/>
            </a:solidFill>
            <a:prstDash val="solid"/>
          </a:ln>
        </p:spPr>
        <p:txBody>
          <a:bodyPr/>
          <a:lstStyle/>
          <a:p>
            <a:endParaRPr lang="en-IN"/>
          </a:p>
        </p:txBody>
      </p:sp>
      <p:sp>
        <p:nvSpPr>
          <p:cNvPr id="14" name="Text 12"/>
          <p:cNvSpPr/>
          <p:nvPr/>
        </p:nvSpPr>
        <p:spPr>
          <a:xfrm>
            <a:off x="7516368" y="2121408"/>
            <a:ext cx="1645920" cy="201168"/>
          </a:xfrm>
          <a:prstGeom prst="rect">
            <a:avLst/>
          </a:prstGeom>
          <a:noFill/>
          <a:ln>
            <a:solidFill/>
          </a:ln>
        </p:spPr>
        <p:txBody>
          <a:bodyPr wrap="square" lIns="0" tIns="0" rIns="0" bIns="0" rtlCol="0" anchor="ctr"/>
          <a:lstStyle/>
          <a:p>
            <a:pPr marL="0" indent="0" algn="ctr">
              <a:buNone/>
            </a:pPr>
            <a:r>
              <a:rPr lang="en-US" sz="1050" b="1" dirty="0">
                <a:solidFill>
                  <a:srgbClr val="FFFFFF"/>
                </a:solidFill>
              </a:rPr>
              <a:t>INTELLIGENCE PRODUCTS</a:t>
            </a:r>
            <a:endParaRPr lang="en-US" sz="1050" dirty="0"/>
          </a:p>
        </p:txBody>
      </p:sp>
      <p:sp>
        <p:nvSpPr>
          <p:cNvPr id="15" name="Text 13"/>
          <p:cNvSpPr/>
          <p:nvPr/>
        </p:nvSpPr>
        <p:spPr>
          <a:xfrm>
            <a:off x="7516368" y="3044952"/>
            <a:ext cx="1755648" cy="411480"/>
          </a:xfrm>
          <a:prstGeom prst="rect">
            <a:avLst/>
          </a:prstGeom>
          <a:noFill/>
          <a:ln>
            <a:solidFill/>
          </a:ln>
        </p:spPr>
        <p:txBody>
          <a:bodyPr wrap="square" lIns="0" tIns="0" rIns="0" bIns="0" rtlCol="0" anchor="ctr"/>
          <a:lstStyle/>
          <a:p>
            <a:pPr marL="0" indent="0" algn="ctr">
              <a:buNone/>
            </a:pPr>
            <a:r>
              <a:rPr lang="en-US" sz="1050" dirty="0">
                <a:solidFill>
                  <a:srgbClr val="272936"/>
                </a:solidFill>
              </a:rPr>
              <a:t>APIs • identity • mobility</a:t>
            </a:r>
            <a:endParaRPr lang="en-US" sz="1050" dirty="0"/>
          </a:p>
        </p:txBody>
      </p:sp>
      <p:sp>
        <p:nvSpPr>
          <p:cNvPr id="16" name="Shape 14"/>
          <p:cNvSpPr/>
          <p:nvPr/>
        </p:nvSpPr>
        <p:spPr>
          <a:xfrm>
            <a:off x="9738360" y="1828800"/>
            <a:ext cx="2057400" cy="960120"/>
          </a:xfrm>
          <a:prstGeom prst="chevron">
            <a:avLst/>
          </a:prstGeom>
          <a:solidFill>
            <a:srgbClr val="0058AB"/>
          </a:solidFill>
          <a:ln w="12700">
            <a:solidFill>
              <a:srgbClr val="FFFFFF"/>
            </a:solidFill>
            <a:prstDash val="solid"/>
          </a:ln>
        </p:spPr>
        <p:txBody>
          <a:bodyPr/>
          <a:lstStyle/>
          <a:p>
            <a:endParaRPr lang="en-IN"/>
          </a:p>
        </p:txBody>
      </p:sp>
      <p:sp>
        <p:nvSpPr>
          <p:cNvPr id="17" name="Text 15"/>
          <p:cNvSpPr/>
          <p:nvPr/>
        </p:nvSpPr>
        <p:spPr>
          <a:xfrm>
            <a:off x="9848088" y="2121408"/>
            <a:ext cx="164592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OUTCOMES</a:t>
            </a:r>
            <a:endParaRPr lang="en-US" sz="1200" dirty="0"/>
          </a:p>
        </p:txBody>
      </p:sp>
      <p:sp>
        <p:nvSpPr>
          <p:cNvPr id="18" name="Text 16"/>
          <p:cNvSpPr/>
          <p:nvPr/>
        </p:nvSpPr>
        <p:spPr>
          <a:xfrm>
            <a:off x="9848088" y="3044952"/>
            <a:ext cx="1755648" cy="411480"/>
          </a:xfrm>
          <a:prstGeom prst="rect">
            <a:avLst/>
          </a:prstGeom>
          <a:noFill/>
          <a:ln>
            <a:solidFill/>
          </a:ln>
        </p:spPr>
        <p:txBody>
          <a:bodyPr wrap="square" lIns="0" tIns="0" rIns="0" bIns="0" rtlCol="0" anchor="ctr"/>
          <a:lstStyle/>
          <a:p>
            <a:pPr marL="0" indent="0" algn="ctr">
              <a:buNone/>
            </a:pPr>
            <a:r>
              <a:rPr lang="en-US" sz="1050" dirty="0">
                <a:solidFill>
                  <a:srgbClr val="272936"/>
                </a:solidFill>
              </a:rPr>
              <a:t>Revenue • efficiency • trust</a:t>
            </a:r>
            <a:endParaRPr lang="en-US" sz="1050" dirty="0"/>
          </a:p>
        </p:txBody>
      </p:sp>
      <p:sp>
        <p:nvSpPr>
          <p:cNvPr id="19" name="Text 17"/>
          <p:cNvSpPr/>
          <p:nvPr/>
        </p:nvSpPr>
        <p:spPr>
          <a:xfrm>
            <a:off x="1234440" y="4160520"/>
            <a:ext cx="9692640" cy="685800"/>
          </a:xfrm>
          <a:prstGeom prst="rect">
            <a:avLst/>
          </a:prstGeom>
          <a:noFill/>
          <a:ln>
            <a:solidFill/>
          </a:ln>
        </p:spPr>
        <p:txBody>
          <a:bodyPr wrap="square" lIns="0" tIns="0" rIns="0" bIns="0" rtlCol="0" anchor="ctr"/>
          <a:lstStyle/>
          <a:p>
            <a:pPr marL="0" indent="0" algn="ctr">
              <a:buNone/>
            </a:pPr>
            <a:r>
              <a:rPr lang="en-US" sz="2100" b="1" dirty="0">
                <a:solidFill>
                  <a:srgbClr val="272936"/>
                </a:solidFill>
              </a:rPr>
              <a:t>The future is less about selling raw datasets and more about productizing privacy-preserving intelligence and network capabilities.</a:t>
            </a:r>
            <a:endParaRPr lang="en-US" sz="2100" dirty="0"/>
          </a:p>
        </p:txBody>
      </p:sp>
      <p:sp>
        <p:nvSpPr>
          <p:cNvPr id="20" name="Text 18"/>
          <p:cNvSpPr/>
          <p:nvPr/>
        </p:nvSpPr>
        <p:spPr>
          <a:xfrm>
            <a:off x="1325880" y="5230368"/>
            <a:ext cx="9509760" cy="347472"/>
          </a:xfrm>
          <a:prstGeom prst="rect">
            <a:avLst/>
          </a:prstGeom>
          <a:noFill/>
          <a:ln>
            <a:solidFill/>
          </a:ln>
        </p:spPr>
        <p:txBody>
          <a:bodyPr wrap="square" lIns="0" tIns="0" rIns="0" bIns="0" rtlCol="0" anchor="ctr"/>
          <a:lstStyle/>
          <a:p>
            <a:pPr marL="0" indent="0" algn="ctr">
              <a:buNone/>
            </a:pPr>
            <a:r>
              <a:rPr lang="en-US" sz="1400" b="1" dirty="0">
                <a:solidFill>
                  <a:srgbClr val="12ABDB"/>
                </a:solidFill>
              </a:rPr>
              <a:t>Network APIs • identity &amp; fraud • enterprise intelligence • advertising • programmable services</a:t>
            </a:r>
            <a:endParaRPr lang="en-US" sz="1400" dirty="0"/>
          </a:p>
        </p:txBody>
      </p:sp>
      <p:sp>
        <p:nvSpPr>
          <p:cNvPr id="21" name="Rectangle 20"/>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Why AI changes the economics of telco data</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AI creates an intelligence layer across fragmented network, customer and operational data.</a:t>
            </a:r>
            <a:endParaRPr lang="en-US" sz="1200" dirty="0"/>
          </a:p>
        </p:txBody>
      </p:sp>
      <p:pic>
        <p:nvPicPr>
          <p:cNvPr id="4" name="Image 0" descr="/mnt/data/generated_image_03A152B20E34_03.png"/>
          <p:cNvPicPr>
            <a:picLocks noChangeAspect="1"/>
          </p:cNvPicPr>
          <p:nvPr/>
        </p:nvPicPr>
        <p:blipFill>
          <a:blip r:embed="rId3"/>
          <a:srcRect l="16667" r="16667"/>
          <a:stretch/>
        </p:blipFill>
        <p:spPr>
          <a:xfrm>
            <a:off x="6720840" y="1124712"/>
            <a:ext cx="4937760" cy="4937760"/>
          </a:xfrm>
          <a:prstGeom prst="rect">
            <a:avLst/>
          </a:prstGeom>
          <a:ln>
            <a:solidFill/>
          </a:ln>
        </p:spPr>
      </p:pic>
      <p:sp>
        <p:nvSpPr>
          <p:cNvPr id="5" name="Shape 2"/>
          <p:cNvSpPr/>
          <p:nvPr/>
        </p:nvSpPr>
        <p:spPr>
          <a:xfrm>
            <a:off x="502920" y="1234440"/>
            <a:ext cx="2788920" cy="1481328"/>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Shape 3"/>
          <p:cNvSpPr/>
          <p:nvPr/>
        </p:nvSpPr>
        <p:spPr>
          <a:xfrm>
            <a:off x="502920" y="1234440"/>
            <a:ext cx="64008" cy="1481328"/>
          </a:xfrm>
          <a:prstGeom prst="rect">
            <a:avLst/>
          </a:prstGeom>
          <a:solidFill>
            <a:srgbClr val="0070AD"/>
          </a:solidFill>
          <a:ln w="12700">
            <a:solidFill>
              <a:srgbClr val="0070AD"/>
            </a:solidFill>
            <a:prstDash val="solid"/>
          </a:ln>
        </p:spPr>
        <p:txBody>
          <a:bodyPr/>
          <a:lstStyle/>
          <a:p>
            <a:endParaRPr lang="en-IN"/>
          </a:p>
        </p:txBody>
      </p:sp>
      <p:sp>
        <p:nvSpPr>
          <p:cNvPr id="7" name="Text 4"/>
          <p:cNvSpPr/>
          <p:nvPr/>
        </p:nvSpPr>
        <p:spPr>
          <a:xfrm>
            <a:off x="685800" y="1380744"/>
            <a:ext cx="2441448"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INTERNAL MONETIZATION</a:t>
            </a:r>
            <a:endParaRPr lang="en-US" sz="1350" dirty="0"/>
          </a:p>
        </p:txBody>
      </p:sp>
      <p:sp>
        <p:nvSpPr>
          <p:cNvPr id="8" name="Text 5"/>
          <p:cNvSpPr/>
          <p:nvPr/>
        </p:nvSpPr>
        <p:spPr>
          <a:xfrm>
            <a:off x="685800" y="1719072"/>
            <a:ext cx="2441448" cy="841248"/>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Personalization • churn prediction • network optimization • demand forecasting</a:t>
            </a:r>
            <a:endParaRPr lang="en-US" sz="1050" dirty="0"/>
          </a:p>
          <a:p>
            <a:pPr marL="0" indent="0">
              <a:buNone/>
            </a:pPr>
            <a:endParaRPr lang="en-US" sz="1050" dirty="0"/>
          </a:p>
          <a:p>
            <a:pPr marL="0" indent="0">
              <a:buNone/>
            </a:pPr>
            <a:r>
              <a:rPr lang="en-US" sz="1050" dirty="0">
                <a:solidFill>
                  <a:srgbClr val="272936"/>
                </a:solidFill>
              </a:rPr>
              <a:t>Economic effect: revenue uplift, retention and lower cost-to-serve</a:t>
            </a:r>
            <a:endParaRPr lang="en-US" sz="1050" dirty="0"/>
          </a:p>
        </p:txBody>
      </p:sp>
      <p:sp>
        <p:nvSpPr>
          <p:cNvPr id="9" name="Shape 6"/>
          <p:cNvSpPr/>
          <p:nvPr/>
        </p:nvSpPr>
        <p:spPr>
          <a:xfrm>
            <a:off x="3584448" y="1234440"/>
            <a:ext cx="2788920" cy="1481328"/>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Shape 7"/>
          <p:cNvSpPr/>
          <p:nvPr/>
        </p:nvSpPr>
        <p:spPr>
          <a:xfrm>
            <a:off x="3584448" y="1234440"/>
            <a:ext cx="64008" cy="1481328"/>
          </a:xfrm>
          <a:prstGeom prst="rect">
            <a:avLst/>
          </a:prstGeom>
          <a:solidFill>
            <a:srgbClr val="12ABDB"/>
          </a:solidFill>
          <a:ln w="12700">
            <a:solidFill>
              <a:srgbClr val="12ABDB"/>
            </a:solidFill>
            <a:prstDash val="solid"/>
          </a:ln>
        </p:spPr>
        <p:txBody>
          <a:bodyPr/>
          <a:lstStyle/>
          <a:p>
            <a:endParaRPr lang="en-IN"/>
          </a:p>
        </p:txBody>
      </p:sp>
      <p:sp>
        <p:nvSpPr>
          <p:cNvPr id="11" name="Text 8"/>
          <p:cNvSpPr/>
          <p:nvPr/>
        </p:nvSpPr>
        <p:spPr>
          <a:xfrm>
            <a:off x="3767328" y="1380744"/>
            <a:ext cx="2441448" cy="256032"/>
          </a:xfrm>
          <a:prstGeom prst="rect">
            <a:avLst/>
          </a:prstGeom>
          <a:noFill/>
          <a:ln>
            <a:solidFill/>
          </a:ln>
        </p:spPr>
        <p:txBody>
          <a:bodyPr wrap="square" lIns="0" tIns="0" rIns="0" bIns="0" rtlCol="0" anchor="ctr"/>
          <a:lstStyle/>
          <a:p>
            <a:pPr marL="0" indent="0">
              <a:buNone/>
            </a:pPr>
            <a:r>
              <a:rPr lang="en-US" sz="1350" b="1" dirty="0">
                <a:solidFill>
                  <a:srgbClr val="12ABDB"/>
                </a:solidFill>
              </a:rPr>
              <a:t>EXTERNAL MONETIZATION</a:t>
            </a:r>
            <a:endParaRPr lang="en-US" sz="1350" dirty="0"/>
          </a:p>
        </p:txBody>
      </p:sp>
      <p:sp>
        <p:nvSpPr>
          <p:cNvPr id="12" name="Text 9"/>
          <p:cNvSpPr/>
          <p:nvPr/>
        </p:nvSpPr>
        <p:spPr>
          <a:xfrm>
            <a:off x="3767328" y="1719072"/>
            <a:ext cx="2441448" cy="841248"/>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Productized network capabilities for enterprises, developers, advertisers and ecosystem partners</a:t>
            </a:r>
            <a:endParaRPr lang="en-US" sz="1050" dirty="0"/>
          </a:p>
          <a:p>
            <a:pPr marL="0" indent="0">
              <a:buNone/>
            </a:pPr>
            <a:endParaRPr lang="en-US" sz="1050" dirty="0"/>
          </a:p>
          <a:p>
            <a:pPr marL="0" indent="0">
              <a:buNone/>
            </a:pPr>
            <a:r>
              <a:rPr lang="en-US" sz="1050" dirty="0">
                <a:solidFill>
                  <a:srgbClr val="272936"/>
                </a:solidFill>
              </a:rPr>
              <a:t>Economic effect: new B2B revenue</a:t>
            </a:r>
            <a:endParaRPr lang="en-US" sz="1050" dirty="0"/>
          </a:p>
        </p:txBody>
      </p:sp>
      <p:sp>
        <p:nvSpPr>
          <p:cNvPr id="13" name="Shape 10"/>
          <p:cNvSpPr/>
          <p:nvPr/>
        </p:nvSpPr>
        <p:spPr>
          <a:xfrm>
            <a:off x="502920" y="3063240"/>
            <a:ext cx="5870448" cy="141732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4" name="Shape 11"/>
          <p:cNvSpPr/>
          <p:nvPr/>
        </p:nvSpPr>
        <p:spPr>
          <a:xfrm>
            <a:off x="502920" y="3063240"/>
            <a:ext cx="64008" cy="1417320"/>
          </a:xfrm>
          <a:prstGeom prst="rect">
            <a:avLst/>
          </a:prstGeom>
          <a:solidFill>
            <a:srgbClr val="004280"/>
          </a:solidFill>
          <a:ln w="12700">
            <a:solidFill>
              <a:srgbClr val="004280"/>
            </a:solidFill>
            <a:prstDash val="solid"/>
          </a:ln>
        </p:spPr>
        <p:txBody>
          <a:bodyPr/>
          <a:lstStyle/>
          <a:p>
            <a:endParaRPr lang="en-IN"/>
          </a:p>
        </p:txBody>
      </p:sp>
      <p:sp>
        <p:nvSpPr>
          <p:cNvPr id="15" name="Text 12"/>
          <p:cNvSpPr/>
          <p:nvPr/>
        </p:nvSpPr>
        <p:spPr>
          <a:xfrm>
            <a:off x="685800" y="3209544"/>
            <a:ext cx="5522976" cy="256032"/>
          </a:xfrm>
          <a:prstGeom prst="rect">
            <a:avLst/>
          </a:prstGeom>
          <a:noFill/>
          <a:ln>
            <a:solidFill/>
          </a:ln>
        </p:spPr>
        <p:txBody>
          <a:bodyPr wrap="square" lIns="0" tIns="0" rIns="0" bIns="0" rtlCol="0" anchor="ctr"/>
          <a:lstStyle/>
          <a:p>
            <a:pPr marL="0" indent="0">
              <a:buNone/>
            </a:pPr>
            <a:r>
              <a:rPr lang="en-US" sz="1350" b="1" dirty="0">
                <a:solidFill>
                  <a:srgbClr val="004280"/>
                </a:solidFill>
              </a:rPr>
              <a:t>EMERGING: AGENTIC AI</a:t>
            </a:r>
            <a:endParaRPr lang="en-US" sz="1350" dirty="0"/>
          </a:p>
        </p:txBody>
      </p:sp>
      <p:sp>
        <p:nvSpPr>
          <p:cNvPr id="16" name="Text 13"/>
          <p:cNvSpPr/>
          <p:nvPr/>
        </p:nvSpPr>
        <p:spPr>
          <a:xfrm>
            <a:off x="685800" y="3547872"/>
            <a:ext cx="5522976" cy="77724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Agents could progress from recommendations to defined actions and workflow orchestration. This should be introduced progressively where customer, privacy, security or regulated decisions are involved.</a:t>
            </a:r>
            <a:endParaRPr lang="en-US" sz="1050" dirty="0"/>
          </a:p>
        </p:txBody>
      </p:sp>
      <p:sp>
        <p:nvSpPr>
          <p:cNvPr id="17" name="Text 14"/>
          <p:cNvSpPr/>
          <p:nvPr/>
        </p:nvSpPr>
        <p:spPr>
          <a:xfrm>
            <a:off x="685800" y="4983480"/>
            <a:ext cx="5486400" cy="548640"/>
          </a:xfrm>
          <a:prstGeom prst="rect">
            <a:avLst/>
          </a:prstGeom>
          <a:noFill/>
          <a:ln>
            <a:solidFill/>
          </a:ln>
        </p:spPr>
        <p:txBody>
          <a:bodyPr wrap="square" lIns="0" tIns="0" rIns="0" bIns="0" rtlCol="0" anchor="ctr"/>
          <a:lstStyle/>
          <a:p>
            <a:pPr marL="0" indent="0">
              <a:buNone/>
            </a:pPr>
            <a:r>
              <a:rPr lang="en-US" sz="1800" b="1" dirty="0">
                <a:solidFill>
                  <a:srgbClr val="272936"/>
                </a:solidFill>
              </a:rPr>
              <a:t>AI is the intelligence layer. The monetizable product is the capability or business outcome.</a:t>
            </a:r>
            <a:endParaRPr lang="en-US" sz="1800" dirty="0"/>
          </a:p>
        </p:txBody>
      </p:sp>
      <p:sp>
        <p:nvSpPr>
          <p:cNvPr id="18" name="Rectangle 17"/>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Start with internal monetization</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Prove the economics inside the core business before scaling external intelligence products.</a:t>
            </a:r>
            <a:endParaRPr lang="en-US" sz="1200" dirty="0"/>
          </a:p>
        </p:txBody>
      </p:sp>
      <p:sp>
        <p:nvSpPr>
          <p:cNvPr id="4" name="Shape 2"/>
          <p:cNvSpPr/>
          <p:nvPr/>
        </p:nvSpPr>
        <p:spPr>
          <a:xfrm>
            <a:off x="594360" y="1371600"/>
            <a:ext cx="5212080" cy="352044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5" name="Shape 3"/>
          <p:cNvSpPr/>
          <p:nvPr/>
        </p:nvSpPr>
        <p:spPr>
          <a:xfrm>
            <a:off x="594360" y="1371600"/>
            <a:ext cx="64008" cy="3520440"/>
          </a:xfrm>
          <a:prstGeom prst="rect">
            <a:avLst/>
          </a:prstGeom>
          <a:solidFill>
            <a:srgbClr val="0070AD"/>
          </a:solidFill>
          <a:ln w="12700">
            <a:solidFill>
              <a:srgbClr val="0070AD"/>
            </a:solidFill>
            <a:prstDash val="solid"/>
          </a:ln>
        </p:spPr>
        <p:txBody>
          <a:bodyPr/>
          <a:lstStyle/>
          <a:p>
            <a:endParaRPr lang="en-IN"/>
          </a:p>
        </p:txBody>
      </p:sp>
      <p:sp>
        <p:nvSpPr>
          <p:cNvPr id="6" name="Text 4"/>
          <p:cNvSpPr/>
          <p:nvPr/>
        </p:nvSpPr>
        <p:spPr>
          <a:xfrm>
            <a:off x="777240" y="1517904"/>
            <a:ext cx="4864608"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CUSTOMER EXPERIENCE &amp; REVENUE</a:t>
            </a:r>
            <a:endParaRPr lang="en-US" sz="1350" dirty="0"/>
          </a:p>
        </p:txBody>
      </p:sp>
      <p:sp>
        <p:nvSpPr>
          <p:cNvPr id="7" name="Text 5"/>
          <p:cNvSpPr/>
          <p:nvPr/>
        </p:nvSpPr>
        <p:spPr>
          <a:xfrm>
            <a:off x="777240" y="1856232"/>
            <a:ext cx="4864608" cy="288036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AI analyzes behavior, product holdings, usage patterns and interactions to support relevant offers and next-best actions.</a:t>
            </a:r>
            <a:endParaRPr lang="en-US" sz="1050" dirty="0"/>
          </a:p>
          <a:p>
            <a:pPr marL="0" indent="0">
              <a:buNone/>
            </a:pPr>
            <a:endParaRPr lang="en-US" sz="1050" dirty="0"/>
          </a:p>
          <a:p>
            <a:pPr marL="0" indent="0">
              <a:buNone/>
            </a:pPr>
            <a:r>
              <a:rPr lang="en-US" sz="1050" dirty="0">
                <a:solidFill>
                  <a:srgbClr val="272936"/>
                </a:solidFill>
              </a:rPr>
              <a:t>MONETIZATION LOGIC</a:t>
            </a:r>
            <a:endParaRPr lang="en-US" sz="1050" dirty="0"/>
          </a:p>
          <a:p>
            <a:pPr marL="0" indent="0">
              <a:buNone/>
            </a:pPr>
            <a:r>
              <a:rPr lang="en-US" sz="1050" dirty="0">
                <a:solidFill>
                  <a:srgbClr val="272936"/>
                </a:solidFill>
              </a:rPr>
              <a:t>Personalization → stronger conversion / upsell → retention → higher customer lifetime value</a:t>
            </a:r>
            <a:endParaRPr lang="en-US" sz="1050" dirty="0"/>
          </a:p>
          <a:p>
            <a:pPr marL="0" indent="0">
              <a:buNone/>
            </a:pPr>
            <a:endParaRPr lang="en-US" sz="1050" dirty="0"/>
          </a:p>
          <a:p>
            <a:pPr marL="0" indent="0">
              <a:buNone/>
            </a:pPr>
            <a:r>
              <a:rPr lang="en-US" sz="1050" dirty="0">
                <a:solidFill>
                  <a:srgbClr val="272936"/>
                </a:solidFill>
              </a:rPr>
              <a:t>EVOLUTION</a:t>
            </a:r>
            <a:endParaRPr lang="en-US" sz="1050" dirty="0"/>
          </a:p>
          <a:p>
            <a:pPr marL="0" indent="0">
              <a:buNone/>
            </a:pPr>
            <a:r>
              <a:rPr lang="en-US" sz="1050" dirty="0">
                <a:solidFill>
                  <a:srgbClr val="272936"/>
                </a:solidFill>
              </a:rPr>
              <a:t>AI recommendations today → governed AI-assisted execution → selectively autonomous journeys</a:t>
            </a:r>
            <a:endParaRPr lang="en-US" sz="1050" dirty="0"/>
          </a:p>
        </p:txBody>
      </p:sp>
      <p:sp>
        <p:nvSpPr>
          <p:cNvPr id="8" name="Shape 6"/>
          <p:cNvSpPr/>
          <p:nvPr/>
        </p:nvSpPr>
        <p:spPr>
          <a:xfrm>
            <a:off x="6355080" y="1371600"/>
            <a:ext cx="5212080" cy="352044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9" name="Shape 7"/>
          <p:cNvSpPr/>
          <p:nvPr/>
        </p:nvSpPr>
        <p:spPr>
          <a:xfrm>
            <a:off x="6355080" y="1371600"/>
            <a:ext cx="64008" cy="3520440"/>
          </a:xfrm>
          <a:prstGeom prst="rect">
            <a:avLst/>
          </a:prstGeom>
          <a:solidFill>
            <a:srgbClr val="0058AB"/>
          </a:solidFill>
          <a:ln w="12700">
            <a:solidFill>
              <a:srgbClr val="0058AB"/>
            </a:solidFill>
            <a:prstDash val="solid"/>
          </a:ln>
        </p:spPr>
        <p:txBody>
          <a:bodyPr/>
          <a:lstStyle/>
          <a:p>
            <a:endParaRPr lang="en-IN"/>
          </a:p>
        </p:txBody>
      </p:sp>
      <p:sp>
        <p:nvSpPr>
          <p:cNvPr id="10" name="Text 8"/>
          <p:cNvSpPr/>
          <p:nvPr/>
        </p:nvSpPr>
        <p:spPr>
          <a:xfrm>
            <a:off x="6537960" y="1517904"/>
            <a:ext cx="4864608" cy="256032"/>
          </a:xfrm>
          <a:prstGeom prst="rect">
            <a:avLst/>
          </a:prstGeom>
          <a:noFill/>
          <a:ln>
            <a:solidFill/>
          </a:ln>
        </p:spPr>
        <p:txBody>
          <a:bodyPr wrap="square" lIns="0" tIns="0" rIns="0" bIns="0" rtlCol="0" anchor="ctr"/>
          <a:lstStyle/>
          <a:p>
            <a:pPr marL="0" indent="0">
              <a:buNone/>
            </a:pPr>
            <a:r>
              <a:rPr lang="en-US" sz="1350" b="1" dirty="0">
                <a:solidFill>
                  <a:srgbClr val="0058AB"/>
                </a:solidFill>
              </a:rPr>
              <a:t>NETWORK &amp; OPERATIONS</a:t>
            </a:r>
            <a:endParaRPr lang="en-US" sz="1350" dirty="0"/>
          </a:p>
        </p:txBody>
      </p:sp>
      <p:sp>
        <p:nvSpPr>
          <p:cNvPr id="11" name="Text 9"/>
          <p:cNvSpPr/>
          <p:nvPr/>
        </p:nvSpPr>
        <p:spPr>
          <a:xfrm>
            <a:off x="6537960" y="1856232"/>
            <a:ext cx="4864608" cy="288036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AI-driven forecasting and optimization can improve capacity planning, problem anticipation and resource utilization.</a:t>
            </a:r>
            <a:endParaRPr lang="en-US" sz="1050" dirty="0"/>
          </a:p>
          <a:p>
            <a:pPr marL="0" indent="0">
              <a:buNone/>
            </a:pPr>
            <a:endParaRPr lang="en-US" sz="1050" dirty="0"/>
          </a:p>
          <a:p>
            <a:pPr marL="0" indent="0">
              <a:buNone/>
            </a:pPr>
            <a:r>
              <a:rPr lang="en-US" sz="1050" dirty="0">
                <a:solidFill>
                  <a:srgbClr val="272936"/>
                </a:solidFill>
              </a:rPr>
              <a:t>MONETIZATION LOGIC</a:t>
            </a:r>
            <a:endParaRPr lang="en-US" sz="1050" dirty="0"/>
          </a:p>
          <a:p>
            <a:pPr marL="0" indent="0">
              <a:buNone/>
            </a:pPr>
            <a:r>
              <a:rPr lang="en-US" sz="1050" dirty="0">
                <a:solidFill>
                  <a:srgbClr val="272936"/>
                </a:solidFill>
              </a:rPr>
              <a:t>Efficiency → lower cost-to-serve and stronger margins</a:t>
            </a:r>
            <a:endParaRPr lang="en-US" sz="1050" dirty="0"/>
          </a:p>
          <a:p>
            <a:pPr marL="0" indent="0">
              <a:buNone/>
            </a:pPr>
            <a:endParaRPr lang="en-US" sz="1050" dirty="0"/>
          </a:p>
          <a:p>
            <a:pPr marL="0" indent="0">
              <a:buNone/>
            </a:pPr>
            <a:r>
              <a:rPr lang="en-US" sz="1050" dirty="0">
                <a:solidFill>
                  <a:srgbClr val="272936"/>
                </a:solidFill>
              </a:rPr>
              <a:t>STRATEGIC UPSIDE</a:t>
            </a:r>
            <a:endParaRPr lang="en-US" sz="1050" dirty="0"/>
          </a:p>
          <a:p>
            <a:pPr marL="0" indent="0">
              <a:buNone/>
            </a:pPr>
            <a:r>
              <a:rPr lang="en-US" sz="1050" dirty="0">
                <a:solidFill>
                  <a:srgbClr val="272936"/>
                </a:solidFill>
              </a:rPr>
              <a:t>Network intelligence can later support quality-assured connectivity, service-level guarantees and programmable services.</a:t>
            </a:r>
            <a:endParaRPr lang="en-US" sz="1050" dirty="0"/>
          </a:p>
        </p:txBody>
      </p:sp>
      <p:sp>
        <p:nvSpPr>
          <p:cNvPr id="12" name="Shape 10"/>
          <p:cNvSpPr/>
          <p:nvPr/>
        </p:nvSpPr>
        <p:spPr>
          <a:xfrm>
            <a:off x="1508760" y="5532120"/>
            <a:ext cx="9144000" cy="502920"/>
          </a:xfrm>
          <a:prstGeom prst="roundRect">
            <a:avLst/>
          </a:prstGeom>
          <a:solidFill>
            <a:srgbClr val="EAF3FB"/>
          </a:solidFill>
          <a:ln w="12700">
            <a:solidFill>
              <a:srgbClr val="BDD8EF"/>
            </a:solidFill>
            <a:prstDash val="solid"/>
          </a:ln>
        </p:spPr>
        <p:txBody>
          <a:bodyPr/>
          <a:lstStyle/>
          <a:p>
            <a:endParaRPr lang="en-IN"/>
          </a:p>
        </p:txBody>
      </p:sp>
      <p:sp>
        <p:nvSpPr>
          <p:cNvPr id="13" name="Text 11"/>
          <p:cNvSpPr/>
          <p:nvPr/>
        </p:nvSpPr>
        <p:spPr>
          <a:xfrm>
            <a:off x="1737360" y="5678424"/>
            <a:ext cx="8686800" cy="219456"/>
          </a:xfrm>
          <a:prstGeom prst="rect">
            <a:avLst/>
          </a:prstGeom>
          <a:noFill/>
          <a:ln>
            <a:solidFill/>
          </a:ln>
        </p:spPr>
        <p:txBody>
          <a:bodyPr wrap="square" lIns="0" tIns="0" rIns="0" bIns="0" rtlCol="0" anchor="ctr"/>
          <a:lstStyle/>
          <a:p>
            <a:pPr marL="0" indent="0" algn="ctr">
              <a:buNone/>
            </a:pPr>
            <a:r>
              <a:rPr lang="en-US" sz="1350" b="1" dirty="0">
                <a:solidFill>
                  <a:srgbClr val="272936"/>
                </a:solidFill>
              </a:rPr>
              <a:t>The network is valuable not only for carrying data, but for the intelligence created by how networks, subscribers and devices interact.</a:t>
            </a:r>
            <a:endParaRPr lang="en-US" sz="1350" dirty="0"/>
          </a:p>
        </p:txBody>
      </p:sp>
      <p:sp>
        <p:nvSpPr>
          <p:cNvPr id="14" name="Rectangle 13"/>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From data to revenue: the monetization framework</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Four questions turn a potentially valuable asset into a scalable commercial proposition.</a:t>
            </a:r>
            <a:endParaRPr lang="en-US" sz="1200" dirty="0"/>
          </a:p>
        </p:txBody>
      </p:sp>
      <p:sp>
        <p:nvSpPr>
          <p:cNvPr id="4" name="Shape 2"/>
          <p:cNvSpPr/>
          <p:nvPr/>
        </p:nvSpPr>
        <p:spPr>
          <a:xfrm>
            <a:off x="320040"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5" name="Shape 3"/>
          <p:cNvSpPr/>
          <p:nvPr/>
        </p:nvSpPr>
        <p:spPr>
          <a:xfrm>
            <a:off x="320040" y="1234440"/>
            <a:ext cx="2578608" cy="841248"/>
          </a:xfrm>
          <a:prstGeom prst="chevron">
            <a:avLst/>
          </a:prstGeom>
          <a:solidFill>
            <a:srgbClr val="0070AD"/>
          </a:solidFill>
          <a:ln w="12700">
            <a:solidFill>
              <a:srgbClr val="0070AD"/>
            </a:solidFill>
            <a:prstDash val="solid"/>
          </a:ln>
        </p:spPr>
        <p:txBody>
          <a:bodyPr/>
          <a:lstStyle/>
          <a:p>
            <a:endParaRPr lang="en-IN"/>
          </a:p>
        </p:txBody>
      </p:sp>
      <p:sp>
        <p:nvSpPr>
          <p:cNvPr id="6" name="Text 4"/>
          <p:cNvSpPr/>
          <p:nvPr/>
        </p:nvSpPr>
        <p:spPr>
          <a:xfrm>
            <a:off x="457200" y="1517904"/>
            <a:ext cx="205740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CUSTOMER</a:t>
            </a:r>
            <a:endParaRPr lang="en-US" sz="1200" dirty="0"/>
          </a:p>
        </p:txBody>
      </p:sp>
      <p:sp>
        <p:nvSpPr>
          <p:cNvPr id="7" name="Text 5"/>
          <p:cNvSpPr/>
          <p:nvPr/>
        </p:nvSpPr>
        <p:spPr>
          <a:xfrm>
            <a:off x="548640" y="2304288"/>
            <a:ext cx="2084832" cy="219456"/>
          </a:xfrm>
          <a:prstGeom prst="rect">
            <a:avLst/>
          </a:prstGeom>
          <a:noFill/>
          <a:ln>
            <a:solidFill/>
          </a:ln>
        </p:spPr>
        <p:txBody>
          <a:bodyPr wrap="square" lIns="0" tIns="0" rIns="0" bIns="0" rtlCol="0" anchor="ctr"/>
          <a:lstStyle/>
          <a:p>
            <a:pPr marL="0" indent="0" algn="ctr">
              <a:buNone/>
            </a:pPr>
            <a:r>
              <a:rPr lang="en-US" sz="1080" i="1" dirty="0">
                <a:solidFill>
                  <a:srgbClr val="626D7A"/>
                </a:solidFill>
              </a:rPr>
              <a:t>Who pays?</a:t>
            </a:r>
            <a:endParaRPr lang="en-US" sz="1080" dirty="0"/>
          </a:p>
        </p:txBody>
      </p:sp>
      <p:sp>
        <p:nvSpPr>
          <p:cNvPr id="8" name="Shape 6"/>
          <p:cNvSpPr/>
          <p:nvPr/>
        </p:nvSpPr>
        <p:spPr>
          <a:xfrm>
            <a:off x="548640" y="2788920"/>
            <a:ext cx="384048" cy="384048"/>
          </a:xfrm>
          <a:prstGeom prst="ellipse">
            <a:avLst/>
          </a:prstGeom>
          <a:solidFill>
            <a:srgbClr val="0070AD"/>
          </a:solidFill>
          <a:ln w="19050">
            <a:solidFill>
              <a:srgbClr val="FFFFFF"/>
            </a:solidFill>
            <a:prstDash val="solid"/>
          </a:ln>
        </p:spPr>
        <p:txBody>
          <a:bodyPr/>
          <a:lstStyle/>
          <a:p>
            <a:endParaRPr lang="en-IN"/>
          </a:p>
        </p:txBody>
      </p:sp>
      <p:sp>
        <p:nvSpPr>
          <p:cNvPr id="9" name="Text 7"/>
          <p:cNvSpPr/>
          <p:nvPr/>
        </p:nvSpPr>
        <p:spPr>
          <a:xfrm>
            <a:off x="548640" y="2880360"/>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0" name="Text 8"/>
          <p:cNvSpPr/>
          <p:nvPr/>
        </p:nvSpPr>
        <p:spPr>
          <a:xfrm>
            <a:off x="1033272" y="2834640"/>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Bank</a:t>
            </a:r>
            <a:endParaRPr lang="en-US" sz="1020" dirty="0"/>
          </a:p>
        </p:txBody>
      </p:sp>
      <p:sp>
        <p:nvSpPr>
          <p:cNvPr id="11" name="Shape 9"/>
          <p:cNvSpPr/>
          <p:nvPr/>
        </p:nvSpPr>
        <p:spPr>
          <a:xfrm>
            <a:off x="548640" y="3401568"/>
            <a:ext cx="384048" cy="384048"/>
          </a:xfrm>
          <a:prstGeom prst="ellipse">
            <a:avLst/>
          </a:prstGeom>
          <a:solidFill>
            <a:srgbClr val="0070AD"/>
          </a:solidFill>
          <a:ln w="19050">
            <a:solidFill>
              <a:srgbClr val="FFFFFF"/>
            </a:solidFill>
            <a:prstDash val="solid"/>
          </a:ln>
        </p:spPr>
        <p:txBody>
          <a:bodyPr/>
          <a:lstStyle/>
          <a:p>
            <a:endParaRPr lang="en-IN"/>
          </a:p>
        </p:txBody>
      </p:sp>
      <p:sp>
        <p:nvSpPr>
          <p:cNvPr id="12" name="Text 10"/>
          <p:cNvSpPr/>
          <p:nvPr/>
        </p:nvSpPr>
        <p:spPr>
          <a:xfrm>
            <a:off x="548640" y="349300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1"/>
          <p:cNvSpPr/>
          <p:nvPr/>
        </p:nvSpPr>
        <p:spPr>
          <a:xfrm>
            <a:off x="1033272" y="3447288"/>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Retailer</a:t>
            </a:r>
            <a:endParaRPr lang="en-US" sz="1020" dirty="0"/>
          </a:p>
        </p:txBody>
      </p:sp>
      <p:sp>
        <p:nvSpPr>
          <p:cNvPr id="14" name="Shape 12"/>
          <p:cNvSpPr/>
          <p:nvPr/>
        </p:nvSpPr>
        <p:spPr>
          <a:xfrm>
            <a:off x="548640" y="4014216"/>
            <a:ext cx="384048" cy="384048"/>
          </a:xfrm>
          <a:prstGeom prst="ellipse">
            <a:avLst/>
          </a:prstGeom>
          <a:solidFill>
            <a:srgbClr val="0070AD"/>
          </a:solidFill>
          <a:ln w="19050">
            <a:solidFill>
              <a:srgbClr val="FFFFFF"/>
            </a:solidFill>
            <a:prstDash val="solid"/>
          </a:ln>
        </p:spPr>
        <p:txBody>
          <a:bodyPr/>
          <a:lstStyle/>
          <a:p>
            <a:endParaRPr lang="en-IN"/>
          </a:p>
        </p:txBody>
      </p:sp>
      <p:sp>
        <p:nvSpPr>
          <p:cNvPr id="15" name="Text 13"/>
          <p:cNvSpPr/>
          <p:nvPr/>
        </p:nvSpPr>
        <p:spPr>
          <a:xfrm>
            <a:off x="548640" y="4105656"/>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6" name="Text 14"/>
          <p:cNvSpPr/>
          <p:nvPr/>
        </p:nvSpPr>
        <p:spPr>
          <a:xfrm>
            <a:off x="1033272" y="4059936"/>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Logistics company</a:t>
            </a:r>
            <a:endParaRPr lang="en-US" sz="1020" dirty="0"/>
          </a:p>
        </p:txBody>
      </p:sp>
      <p:sp>
        <p:nvSpPr>
          <p:cNvPr id="17" name="Shape 15"/>
          <p:cNvSpPr/>
          <p:nvPr/>
        </p:nvSpPr>
        <p:spPr>
          <a:xfrm>
            <a:off x="548640" y="4626864"/>
            <a:ext cx="384048" cy="384048"/>
          </a:xfrm>
          <a:prstGeom prst="ellipse">
            <a:avLst/>
          </a:prstGeom>
          <a:solidFill>
            <a:srgbClr val="0070AD"/>
          </a:solidFill>
          <a:ln w="19050">
            <a:solidFill>
              <a:srgbClr val="FFFFFF"/>
            </a:solidFill>
            <a:prstDash val="solid"/>
          </a:ln>
        </p:spPr>
        <p:txBody>
          <a:bodyPr/>
          <a:lstStyle/>
          <a:p>
            <a:endParaRPr lang="en-IN"/>
          </a:p>
        </p:txBody>
      </p:sp>
      <p:sp>
        <p:nvSpPr>
          <p:cNvPr id="18" name="Text 16"/>
          <p:cNvSpPr/>
          <p:nvPr/>
        </p:nvSpPr>
        <p:spPr>
          <a:xfrm>
            <a:off x="548640" y="471830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19" name="Text 17"/>
          <p:cNvSpPr/>
          <p:nvPr/>
        </p:nvSpPr>
        <p:spPr>
          <a:xfrm>
            <a:off x="1033272" y="4672584"/>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Advertiser</a:t>
            </a:r>
            <a:endParaRPr lang="en-US" sz="1020" dirty="0"/>
          </a:p>
        </p:txBody>
      </p:sp>
      <p:sp>
        <p:nvSpPr>
          <p:cNvPr id="20" name="Text 18"/>
          <p:cNvSpPr/>
          <p:nvPr/>
        </p:nvSpPr>
        <p:spPr>
          <a:xfrm>
            <a:off x="2953512" y="3246120"/>
            <a:ext cx="256032" cy="347472"/>
          </a:xfrm>
          <a:prstGeom prst="rect">
            <a:avLst/>
          </a:prstGeom>
          <a:noFill/>
          <a:ln>
            <a:solidFill/>
          </a:ln>
        </p:spPr>
        <p:txBody>
          <a:bodyPr wrap="square" lIns="0" tIns="0" rIns="0" bIns="0" rtlCol="0" anchor="ctr"/>
          <a:lstStyle/>
          <a:p>
            <a:pPr marL="0" indent="0">
              <a:buNone/>
            </a:pPr>
            <a:r>
              <a:rPr lang="en-US" sz="2800" b="1" dirty="0">
                <a:solidFill>
                  <a:srgbClr val="272936"/>
                </a:solidFill>
              </a:rPr>
              <a:t>›</a:t>
            </a:r>
            <a:endParaRPr lang="en-US" sz="2800" dirty="0"/>
          </a:p>
        </p:txBody>
      </p:sp>
      <p:sp>
        <p:nvSpPr>
          <p:cNvPr id="21" name="Shape 19"/>
          <p:cNvSpPr/>
          <p:nvPr/>
        </p:nvSpPr>
        <p:spPr>
          <a:xfrm>
            <a:off x="3264408"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22" name="Shape 20"/>
          <p:cNvSpPr/>
          <p:nvPr/>
        </p:nvSpPr>
        <p:spPr>
          <a:xfrm>
            <a:off x="3264408" y="1234440"/>
            <a:ext cx="2578608" cy="841248"/>
          </a:xfrm>
          <a:prstGeom prst="chevron">
            <a:avLst/>
          </a:prstGeom>
          <a:solidFill>
            <a:srgbClr val="0058AB"/>
          </a:solidFill>
          <a:ln w="12700">
            <a:solidFill>
              <a:srgbClr val="0058AB"/>
            </a:solidFill>
            <a:prstDash val="solid"/>
          </a:ln>
        </p:spPr>
        <p:txBody>
          <a:bodyPr/>
          <a:lstStyle/>
          <a:p>
            <a:endParaRPr lang="en-IN"/>
          </a:p>
        </p:txBody>
      </p:sp>
      <p:sp>
        <p:nvSpPr>
          <p:cNvPr id="23" name="Text 21"/>
          <p:cNvSpPr/>
          <p:nvPr/>
        </p:nvSpPr>
        <p:spPr>
          <a:xfrm>
            <a:off x="3401568" y="1517904"/>
            <a:ext cx="2057400" cy="201168"/>
          </a:xfrm>
          <a:prstGeom prst="rect">
            <a:avLst/>
          </a:prstGeom>
          <a:noFill/>
          <a:ln>
            <a:solidFill/>
          </a:ln>
        </p:spPr>
        <p:txBody>
          <a:bodyPr wrap="square" lIns="0" tIns="0" rIns="0" bIns="0" rtlCol="0" anchor="ctr"/>
          <a:lstStyle/>
          <a:p>
            <a:pPr marL="0" indent="0" algn="ctr">
              <a:buNone/>
            </a:pPr>
            <a:r>
              <a:rPr lang="en-US" sz="1100" b="1" dirty="0">
                <a:solidFill>
                  <a:srgbClr val="FFFFFF"/>
                </a:solidFill>
              </a:rPr>
              <a:t>INTELLIGENCE PRODUCT</a:t>
            </a:r>
            <a:endParaRPr lang="en-US" sz="1100" dirty="0"/>
          </a:p>
        </p:txBody>
      </p:sp>
      <p:sp>
        <p:nvSpPr>
          <p:cNvPr id="24" name="Text 22"/>
          <p:cNvSpPr/>
          <p:nvPr/>
        </p:nvSpPr>
        <p:spPr>
          <a:xfrm>
            <a:off x="3493008" y="2304288"/>
            <a:ext cx="2084832" cy="219456"/>
          </a:xfrm>
          <a:prstGeom prst="rect">
            <a:avLst/>
          </a:prstGeom>
          <a:noFill/>
          <a:ln>
            <a:solidFill/>
          </a:ln>
        </p:spPr>
        <p:txBody>
          <a:bodyPr wrap="square" lIns="0" tIns="0" rIns="0" bIns="0" rtlCol="0" anchor="ctr"/>
          <a:lstStyle/>
          <a:p>
            <a:pPr marL="0" indent="0" algn="ctr">
              <a:buNone/>
            </a:pPr>
            <a:r>
              <a:rPr lang="en-US" sz="1080" i="1" dirty="0">
                <a:solidFill>
                  <a:srgbClr val="626D7A"/>
                </a:solidFill>
              </a:rPr>
              <a:t>What is sold?</a:t>
            </a:r>
            <a:endParaRPr lang="en-US" sz="1080" dirty="0"/>
          </a:p>
        </p:txBody>
      </p:sp>
      <p:sp>
        <p:nvSpPr>
          <p:cNvPr id="25" name="Shape 23"/>
          <p:cNvSpPr/>
          <p:nvPr/>
        </p:nvSpPr>
        <p:spPr>
          <a:xfrm>
            <a:off x="3493008" y="2788920"/>
            <a:ext cx="384048" cy="384048"/>
          </a:xfrm>
          <a:prstGeom prst="ellipse">
            <a:avLst/>
          </a:prstGeom>
          <a:solidFill>
            <a:srgbClr val="0058AB"/>
          </a:solidFill>
          <a:ln w="19050">
            <a:solidFill>
              <a:srgbClr val="FFFFFF"/>
            </a:solidFill>
            <a:prstDash val="solid"/>
          </a:ln>
        </p:spPr>
        <p:txBody>
          <a:bodyPr/>
          <a:lstStyle/>
          <a:p>
            <a:endParaRPr lang="en-IN"/>
          </a:p>
        </p:txBody>
      </p:sp>
      <p:sp>
        <p:nvSpPr>
          <p:cNvPr id="26" name="Text 24"/>
          <p:cNvSpPr/>
          <p:nvPr/>
        </p:nvSpPr>
        <p:spPr>
          <a:xfrm>
            <a:off x="3493008" y="2880360"/>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27" name="Text 25"/>
          <p:cNvSpPr/>
          <p:nvPr/>
        </p:nvSpPr>
        <p:spPr>
          <a:xfrm>
            <a:off x="3977640" y="2834640"/>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SIM-swap signal</a:t>
            </a:r>
            <a:endParaRPr lang="en-US" sz="1020" dirty="0"/>
          </a:p>
        </p:txBody>
      </p:sp>
      <p:sp>
        <p:nvSpPr>
          <p:cNvPr id="28" name="Shape 26"/>
          <p:cNvSpPr/>
          <p:nvPr/>
        </p:nvSpPr>
        <p:spPr>
          <a:xfrm>
            <a:off x="3493008" y="3401568"/>
            <a:ext cx="384048" cy="384048"/>
          </a:xfrm>
          <a:prstGeom prst="ellipse">
            <a:avLst/>
          </a:prstGeom>
          <a:solidFill>
            <a:srgbClr val="0058AB"/>
          </a:solidFill>
          <a:ln w="19050">
            <a:solidFill>
              <a:srgbClr val="FFFFFF"/>
            </a:solidFill>
            <a:prstDash val="solid"/>
          </a:ln>
        </p:spPr>
        <p:txBody>
          <a:bodyPr/>
          <a:lstStyle/>
          <a:p>
            <a:endParaRPr lang="en-IN"/>
          </a:p>
        </p:txBody>
      </p:sp>
      <p:sp>
        <p:nvSpPr>
          <p:cNvPr id="29" name="Text 27"/>
          <p:cNvSpPr/>
          <p:nvPr/>
        </p:nvSpPr>
        <p:spPr>
          <a:xfrm>
            <a:off x="3493008" y="349300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30" name="Text 28"/>
          <p:cNvSpPr/>
          <p:nvPr/>
        </p:nvSpPr>
        <p:spPr>
          <a:xfrm>
            <a:off x="3977640" y="3447288"/>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Mobility insight</a:t>
            </a:r>
            <a:endParaRPr lang="en-US" sz="1020" dirty="0"/>
          </a:p>
        </p:txBody>
      </p:sp>
      <p:sp>
        <p:nvSpPr>
          <p:cNvPr id="31" name="Shape 29"/>
          <p:cNvSpPr/>
          <p:nvPr/>
        </p:nvSpPr>
        <p:spPr>
          <a:xfrm>
            <a:off x="3493008" y="4014216"/>
            <a:ext cx="384048" cy="384048"/>
          </a:xfrm>
          <a:prstGeom prst="ellipse">
            <a:avLst/>
          </a:prstGeom>
          <a:solidFill>
            <a:srgbClr val="0058AB"/>
          </a:solidFill>
          <a:ln w="19050">
            <a:solidFill>
              <a:srgbClr val="FFFFFF"/>
            </a:solidFill>
            <a:prstDash val="solid"/>
          </a:ln>
        </p:spPr>
        <p:txBody>
          <a:bodyPr/>
          <a:lstStyle/>
          <a:p>
            <a:endParaRPr lang="en-IN"/>
          </a:p>
        </p:txBody>
      </p:sp>
      <p:sp>
        <p:nvSpPr>
          <p:cNvPr id="32" name="Text 30"/>
          <p:cNvSpPr/>
          <p:nvPr/>
        </p:nvSpPr>
        <p:spPr>
          <a:xfrm>
            <a:off x="3493008" y="4105656"/>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33" name="Text 31"/>
          <p:cNvSpPr/>
          <p:nvPr/>
        </p:nvSpPr>
        <p:spPr>
          <a:xfrm>
            <a:off x="3977640" y="4059936"/>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Audience segment</a:t>
            </a:r>
            <a:endParaRPr lang="en-US" sz="1020" dirty="0"/>
          </a:p>
        </p:txBody>
      </p:sp>
      <p:sp>
        <p:nvSpPr>
          <p:cNvPr id="34" name="Shape 32"/>
          <p:cNvSpPr/>
          <p:nvPr/>
        </p:nvSpPr>
        <p:spPr>
          <a:xfrm>
            <a:off x="3493008" y="4626864"/>
            <a:ext cx="384048" cy="384048"/>
          </a:xfrm>
          <a:prstGeom prst="ellipse">
            <a:avLst/>
          </a:prstGeom>
          <a:solidFill>
            <a:srgbClr val="0058AB"/>
          </a:solidFill>
          <a:ln w="19050">
            <a:solidFill>
              <a:srgbClr val="FFFFFF"/>
            </a:solidFill>
            <a:prstDash val="solid"/>
          </a:ln>
        </p:spPr>
        <p:txBody>
          <a:bodyPr/>
          <a:lstStyle/>
          <a:p>
            <a:endParaRPr lang="en-IN"/>
          </a:p>
        </p:txBody>
      </p:sp>
      <p:sp>
        <p:nvSpPr>
          <p:cNvPr id="35" name="Text 33"/>
          <p:cNvSpPr/>
          <p:nvPr/>
        </p:nvSpPr>
        <p:spPr>
          <a:xfrm>
            <a:off x="3493008" y="471830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36" name="Text 34"/>
          <p:cNvSpPr/>
          <p:nvPr/>
        </p:nvSpPr>
        <p:spPr>
          <a:xfrm>
            <a:off x="3977640" y="4672584"/>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Network API</a:t>
            </a:r>
            <a:endParaRPr lang="en-US" sz="1020" dirty="0"/>
          </a:p>
        </p:txBody>
      </p:sp>
      <p:sp>
        <p:nvSpPr>
          <p:cNvPr id="37" name="Text 35"/>
          <p:cNvSpPr/>
          <p:nvPr/>
        </p:nvSpPr>
        <p:spPr>
          <a:xfrm>
            <a:off x="5897880" y="3246120"/>
            <a:ext cx="256032" cy="347472"/>
          </a:xfrm>
          <a:prstGeom prst="rect">
            <a:avLst/>
          </a:prstGeom>
          <a:noFill/>
          <a:ln>
            <a:solidFill/>
          </a:ln>
        </p:spPr>
        <p:txBody>
          <a:bodyPr wrap="square" lIns="0" tIns="0" rIns="0" bIns="0" rtlCol="0" anchor="ctr"/>
          <a:lstStyle/>
          <a:p>
            <a:pPr marL="0" indent="0">
              <a:buNone/>
            </a:pPr>
            <a:r>
              <a:rPr lang="en-US" sz="2800" b="1" dirty="0">
                <a:solidFill>
                  <a:srgbClr val="272936"/>
                </a:solidFill>
              </a:rPr>
              <a:t>›</a:t>
            </a:r>
            <a:endParaRPr lang="en-US" sz="2800" dirty="0"/>
          </a:p>
        </p:txBody>
      </p:sp>
      <p:sp>
        <p:nvSpPr>
          <p:cNvPr id="38" name="Shape 36"/>
          <p:cNvSpPr/>
          <p:nvPr/>
        </p:nvSpPr>
        <p:spPr>
          <a:xfrm>
            <a:off x="6208776"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39" name="Shape 37"/>
          <p:cNvSpPr/>
          <p:nvPr/>
        </p:nvSpPr>
        <p:spPr>
          <a:xfrm>
            <a:off x="6208776" y="1234440"/>
            <a:ext cx="2578608" cy="841248"/>
          </a:xfrm>
          <a:prstGeom prst="chevron">
            <a:avLst/>
          </a:prstGeom>
          <a:solidFill>
            <a:srgbClr val="004280"/>
          </a:solidFill>
          <a:ln w="12700">
            <a:solidFill>
              <a:srgbClr val="004280"/>
            </a:solidFill>
            <a:prstDash val="solid"/>
          </a:ln>
        </p:spPr>
        <p:txBody>
          <a:bodyPr/>
          <a:lstStyle/>
          <a:p>
            <a:endParaRPr lang="en-IN"/>
          </a:p>
        </p:txBody>
      </p:sp>
      <p:sp>
        <p:nvSpPr>
          <p:cNvPr id="40" name="Text 38"/>
          <p:cNvSpPr/>
          <p:nvPr/>
        </p:nvSpPr>
        <p:spPr>
          <a:xfrm>
            <a:off x="6345936" y="1517904"/>
            <a:ext cx="205740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PRICING MECHANISM</a:t>
            </a:r>
            <a:endParaRPr lang="en-US" sz="1200" dirty="0"/>
          </a:p>
        </p:txBody>
      </p:sp>
      <p:sp>
        <p:nvSpPr>
          <p:cNvPr id="41" name="Text 39"/>
          <p:cNvSpPr/>
          <p:nvPr/>
        </p:nvSpPr>
        <p:spPr>
          <a:xfrm>
            <a:off x="6437376" y="2304288"/>
            <a:ext cx="2084832" cy="219456"/>
          </a:xfrm>
          <a:prstGeom prst="rect">
            <a:avLst/>
          </a:prstGeom>
          <a:noFill/>
          <a:ln>
            <a:solidFill/>
          </a:ln>
        </p:spPr>
        <p:txBody>
          <a:bodyPr wrap="square" lIns="0" tIns="0" rIns="0" bIns="0" rtlCol="0" anchor="ctr"/>
          <a:lstStyle/>
          <a:p>
            <a:pPr marL="0" indent="0" algn="ctr">
              <a:buNone/>
            </a:pPr>
            <a:r>
              <a:rPr lang="en-US" sz="1080" i="1" dirty="0">
                <a:solidFill>
                  <a:srgbClr val="626D7A"/>
                </a:solidFill>
              </a:rPr>
              <a:t>How is value captured?</a:t>
            </a:r>
            <a:endParaRPr lang="en-US" sz="1080" dirty="0"/>
          </a:p>
        </p:txBody>
      </p:sp>
      <p:sp>
        <p:nvSpPr>
          <p:cNvPr id="42" name="Shape 40"/>
          <p:cNvSpPr/>
          <p:nvPr/>
        </p:nvSpPr>
        <p:spPr>
          <a:xfrm>
            <a:off x="6437376" y="2788920"/>
            <a:ext cx="384048" cy="384048"/>
          </a:xfrm>
          <a:prstGeom prst="ellipse">
            <a:avLst/>
          </a:prstGeom>
          <a:solidFill>
            <a:srgbClr val="004280"/>
          </a:solidFill>
          <a:ln w="19050">
            <a:solidFill>
              <a:srgbClr val="FFFFFF"/>
            </a:solidFill>
            <a:prstDash val="solid"/>
          </a:ln>
        </p:spPr>
        <p:txBody>
          <a:bodyPr/>
          <a:lstStyle/>
          <a:p>
            <a:endParaRPr lang="en-IN"/>
          </a:p>
        </p:txBody>
      </p:sp>
      <p:sp>
        <p:nvSpPr>
          <p:cNvPr id="43" name="Text 41"/>
          <p:cNvSpPr/>
          <p:nvPr/>
        </p:nvSpPr>
        <p:spPr>
          <a:xfrm>
            <a:off x="6437376" y="2880360"/>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44" name="Text 42"/>
          <p:cNvSpPr/>
          <p:nvPr/>
        </p:nvSpPr>
        <p:spPr>
          <a:xfrm>
            <a:off x="6922008" y="2834640"/>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Per-API call</a:t>
            </a:r>
            <a:endParaRPr lang="en-US" sz="1020" dirty="0"/>
          </a:p>
        </p:txBody>
      </p:sp>
      <p:sp>
        <p:nvSpPr>
          <p:cNvPr id="45" name="Shape 43"/>
          <p:cNvSpPr/>
          <p:nvPr/>
        </p:nvSpPr>
        <p:spPr>
          <a:xfrm>
            <a:off x="6437376" y="3401568"/>
            <a:ext cx="384048" cy="384048"/>
          </a:xfrm>
          <a:prstGeom prst="ellipse">
            <a:avLst/>
          </a:prstGeom>
          <a:solidFill>
            <a:srgbClr val="004280"/>
          </a:solidFill>
          <a:ln w="19050">
            <a:solidFill>
              <a:srgbClr val="FFFFFF"/>
            </a:solidFill>
            <a:prstDash val="solid"/>
          </a:ln>
        </p:spPr>
        <p:txBody>
          <a:bodyPr/>
          <a:lstStyle/>
          <a:p>
            <a:endParaRPr lang="en-IN"/>
          </a:p>
        </p:txBody>
      </p:sp>
      <p:sp>
        <p:nvSpPr>
          <p:cNvPr id="46" name="Text 44"/>
          <p:cNvSpPr/>
          <p:nvPr/>
        </p:nvSpPr>
        <p:spPr>
          <a:xfrm>
            <a:off x="6437376" y="349300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47" name="Text 45"/>
          <p:cNvSpPr/>
          <p:nvPr/>
        </p:nvSpPr>
        <p:spPr>
          <a:xfrm>
            <a:off x="6922008" y="3447288"/>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Subscription</a:t>
            </a:r>
            <a:endParaRPr lang="en-US" sz="1020" dirty="0"/>
          </a:p>
        </p:txBody>
      </p:sp>
      <p:sp>
        <p:nvSpPr>
          <p:cNvPr id="48" name="Shape 46"/>
          <p:cNvSpPr/>
          <p:nvPr/>
        </p:nvSpPr>
        <p:spPr>
          <a:xfrm>
            <a:off x="6437376" y="4014216"/>
            <a:ext cx="384048" cy="384048"/>
          </a:xfrm>
          <a:prstGeom prst="ellipse">
            <a:avLst/>
          </a:prstGeom>
          <a:solidFill>
            <a:srgbClr val="004280"/>
          </a:solidFill>
          <a:ln w="19050">
            <a:solidFill>
              <a:srgbClr val="FFFFFF"/>
            </a:solidFill>
            <a:prstDash val="solid"/>
          </a:ln>
        </p:spPr>
        <p:txBody>
          <a:bodyPr/>
          <a:lstStyle/>
          <a:p>
            <a:endParaRPr lang="en-IN"/>
          </a:p>
        </p:txBody>
      </p:sp>
      <p:sp>
        <p:nvSpPr>
          <p:cNvPr id="49" name="Text 47"/>
          <p:cNvSpPr/>
          <p:nvPr/>
        </p:nvSpPr>
        <p:spPr>
          <a:xfrm>
            <a:off x="6437376" y="4105656"/>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50" name="Text 48"/>
          <p:cNvSpPr/>
          <p:nvPr/>
        </p:nvSpPr>
        <p:spPr>
          <a:xfrm>
            <a:off x="6922008" y="4059936"/>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Usage fee</a:t>
            </a:r>
            <a:endParaRPr lang="en-US" sz="1020" dirty="0"/>
          </a:p>
        </p:txBody>
      </p:sp>
      <p:sp>
        <p:nvSpPr>
          <p:cNvPr id="51" name="Shape 49"/>
          <p:cNvSpPr/>
          <p:nvPr/>
        </p:nvSpPr>
        <p:spPr>
          <a:xfrm>
            <a:off x="6437376" y="4626864"/>
            <a:ext cx="384048" cy="384048"/>
          </a:xfrm>
          <a:prstGeom prst="ellipse">
            <a:avLst/>
          </a:prstGeom>
          <a:solidFill>
            <a:srgbClr val="004280"/>
          </a:solidFill>
          <a:ln w="19050">
            <a:solidFill>
              <a:srgbClr val="FFFFFF"/>
            </a:solidFill>
            <a:prstDash val="solid"/>
          </a:ln>
        </p:spPr>
        <p:txBody>
          <a:bodyPr/>
          <a:lstStyle/>
          <a:p>
            <a:endParaRPr lang="en-IN"/>
          </a:p>
        </p:txBody>
      </p:sp>
      <p:sp>
        <p:nvSpPr>
          <p:cNvPr id="52" name="Text 50"/>
          <p:cNvSpPr/>
          <p:nvPr/>
        </p:nvSpPr>
        <p:spPr>
          <a:xfrm>
            <a:off x="6437376" y="471830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53" name="Text 51"/>
          <p:cNvSpPr/>
          <p:nvPr/>
        </p:nvSpPr>
        <p:spPr>
          <a:xfrm>
            <a:off x="6922008" y="4672584"/>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Managed service</a:t>
            </a:r>
            <a:endParaRPr lang="en-US" sz="1020" dirty="0"/>
          </a:p>
        </p:txBody>
      </p:sp>
      <p:sp>
        <p:nvSpPr>
          <p:cNvPr id="54" name="Text 52"/>
          <p:cNvSpPr/>
          <p:nvPr/>
        </p:nvSpPr>
        <p:spPr>
          <a:xfrm>
            <a:off x="8842248" y="3246120"/>
            <a:ext cx="256032" cy="347472"/>
          </a:xfrm>
          <a:prstGeom prst="rect">
            <a:avLst/>
          </a:prstGeom>
          <a:noFill/>
          <a:ln>
            <a:solidFill/>
          </a:ln>
        </p:spPr>
        <p:txBody>
          <a:bodyPr wrap="square" lIns="0" tIns="0" rIns="0" bIns="0" rtlCol="0" anchor="ctr"/>
          <a:lstStyle/>
          <a:p>
            <a:pPr marL="0" indent="0">
              <a:buNone/>
            </a:pPr>
            <a:r>
              <a:rPr lang="en-US" sz="2800" b="1" dirty="0">
                <a:solidFill>
                  <a:srgbClr val="272936"/>
                </a:solidFill>
              </a:rPr>
              <a:t>›</a:t>
            </a:r>
            <a:endParaRPr lang="en-US" sz="2800" dirty="0"/>
          </a:p>
        </p:txBody>
      </p:sp>
      <p:sp>
        <p:nvSpPr>
          <p:cNvPr id="55" name="Shape 53"/>
          <p:cNvSpPr/>
          <p:nvPr/>
        </p:nvSpPr>
        <p:spPr>
          <a:xfrm>
            <a:off x="9153144"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56" name="Shape 54"/>
          <p:cNvSpPr/>
          <p:nvPr/>
        </p:nvSpPr>
        <p:spPr>
          <a:xfrm>
            <a:off x="9153144" y="1234440"/>
            <a:ext cx="2578608" cy="841248"/>
          </a:xfrm>
          <a:prstGeom prst="chevron">
            <a:avLst/>
          </a:prstGeom>
          <a:solidFill>
            <a:srgbClr val="12ABDB"/>
          </a:solidFill>
          <a:ln w="12700">
            <a:solidFill>
              <a:srgbClr val="12ABDB"/>
            </a:solidFill>
            <a:prstDash val="solid"/>
          </a:ln>
        </p:spPr>
        <p:txBody>
          <a:bodyPr/>
          <a:lstStyle/>
          <a:p>
            <a:endParaRPr lang="en-IN"/>
          </a:p>
        </p:txBody>
      </p:sp>
      <p:sp>
        <p:nvSpPr>
          <p:cNvPr id="57" name="Text 55"/>
          <p:cNvSpPr/>
          <p:nvPr/>
        </p:nvSpPr>
        <p:spPr>
          <a:xfrm>
            <a:off x="9290304" y="1517904"/>
            <a:ext cx="2057400" cy="201168"/>
          </a:xfrm>
          <a:prstGeom prst="rect">
            <a:avLst/>
          </a:prstGeom>
          <a:noFill/>
          <a:ln>
            <a:solidFill/>
          </a:ln>
        </p:spPr>
        <p:txBody>
          <a:bodyPr wrap="square" lIns="0" tIns="0" rIns="0" bIns="0" rtlCol="0" anchor="ctr"/>
          <a:lstStyle/>
          <a:p>
            <a:pPr marL="0" indent="0" algn="ctr">
              <a:buNone/>
            </a:pPr>
            <a:r>
              <a:rPr lang="en-US" sz="1200" b="1" dirty="0">
                <a:solidFill>
                  <a:srgbClr val="FFFFFF"/>
                </a:solidFill>
              </a:rPr>
              <a:t>BUSINESS OUTCOME</a:t>
            </a:r>
            <a:endParaRPr lang="en-US" sz="1200" dirty="0"/>
          </a:p>
        </p:txBody>
      </p:sp>
      <p:sp>
        <p:nvSpPr>
          <p:cNvPr id="58" name="Text 56"/>
          <p:cNvSpPr/>
          <p:nvPr/>
        </p:nvSpPr>
        <p:spPr>
          <a:xfrm>
            <a:off x="9381744" y="2304288"/>
            <a:ext cx="2084832" cy="219456"/>
          </a:xfrm>
          <a:prstGeom prst="rect">
            <a:avLst/>
          </a:prstGeom>
          <a:noFill/>
          <a:ln>
            <a:solidFill/>
          </a:ln>
        </p:spPr>
        <p:txBody>
          <a:bodyPr wrap="square" lIns="0" tIns="0" rIns="0" bIns="0" rtlCol="0" anchor="ctr"/>
          <a:lstStyle/>
          <a:p>
            <a:pPr marL="0" indent="0" algn="ctr">
              <a:buNone/>
            </a:pPr>
            <a:r>
              <a:rPr lang="en-US" sz="1080" i="1" dirty="0">
                <a:solidFill>
                  <a:srgbClr val="626D7A"/>
                </a:solidFill>
              </a:rPr>
              <a:t>Why pay?</a:t>
            </a:r>
            <a:endParaRPr lang="en-US" sz="1080" dirty="0"/>
          </a:p>
        </p:txBody>
      </p:sp>
      <p:sp>
        <p:nvSpPr>
          <p:cNvPr id="59" name="Shape 57"/>
          <p:cNvSpPr/>
          <p:nvPr/>
        </p:nvSpPr>
        <p:spPr>
          <a:xfrm>
            <a:off x="9381744" y="2788920"/>
            <a:ext cx="384048" cy="384048"/>
          </a:xfrm>
          <a:prstGeom prst="ellipse">
            <a:avLst/>
          </a:prstGeom>
          <a:solidFill>
            <a:srgbClr val="12ABDB"/>
          </a:solidFill>
          <a:ln w="19050">
            <a:solidFill>
              <a:srgbClr val="FFFFFF"/>
            </a:solidFill>
            <a:prstDash val="solid"/>
          </a:ln>
        </p:spPr>
        <p:txBody>
          <a:bodyPr/>
          <a:lstStyle/>
          <a:p>
            <a:endParaRPr lang="en-IN"/>
          </a:p>
        </p:txBody>
      </p:sp>
      <p:sp>
        <p:nvSpPr>
          <p:cNvPr id="60" name="Text 58"/>
          <p:cNvSpPr/>
          <p:nvPr/>
        </p:nvSpPr>
        <p:spPr>
          <a:xfrm>
            <a:off x="9381744" y="2880360"/>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61" name="Text 59"/>
          <p:cNvSpPr/>
          <p:nvPr/>
        </p:nvSpPr>
        <p:spPr>
          <a:xfrm>
            <a:off x="9866376" y="2834640"/>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Fraud reduction</a:t>
            </a:r>
            <a:endParaRPr lang="en-US" sz="1020" dirty="0"/>
          </a:p>
        </p:txBody>
      </p:sp>
      <p:sp>
        <p:nvSpPr>
          <p:cNvPr id="62" name="Shape 60"/>
          <p:cNvSpPr/>
          <p:nvPr/>
        </p:nvSpPr>
        <p:spPr>
          <a:xfrm>
            <a:off x="9381744" y="3401568"/>
            <a:ext cx="384048" cy="384048"/>
          </a:xfrm>
          <a:prstGeom prst="ellipse">
            <a:avLst/>
          </a:prstGeom>
          <a:solidFill>
            <a:srgbClr val="12ABDB"/>
          </a:solidFill>
          <a:ln w="19050">
            <a:solidFill>
              <a:srgbClr val="FFFFFF"/>
            </a:solidFill>
            <a:prstDash val="solid"/>
          </a:ln>
        </p:spPr>
        <p:txBody>
          <a:bodyPr/>
          <a:lstStyle/>
          <a:p>
            <a:endParaRPr lang="en-IN"/>
          </a:p>
        </p:txBody>
      </p:sp>
      <p:sp>
        <p:nvSpPr>
          <p:cNvPr id="63" name="Text 61"/>
          <p:cNvSpPr/>
          <p:nvPr/>
        </p:nvSpPr>
        <p:spPr>
          <a:xfrm>
            <a:off x="9381744" y="349300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64" name="Text 62"/>
          <p:cNvSpPr/>
          <p:nvPr/>
        </p:nvSpPr>
        <p:spPr>
          <a:xfrm>
            <a:off x="9866376" y="3447288"/>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Higher conversion</a:t>
            </a:r>
            <a:endParaRPr lang="en-US" sz="1020" dirty="0"/>
          </a:p>
        </p:txBody>
      </p:sp>
      <p:sp>
        <p:nvSpPr>
          <p:cNvPr id="65" name="Shape 63"/>
          <p:cNvSpPr/>
          <p:nvPr/>
        </p:nvSpPr>
        <p:spPr>
          <a:xfrm>
            <a:off x="9381744" y="4014216"/>
            <a:ext cx="384048" cy="384048"/>
          </a:xfrm>
          <a:prstGeom prst="ellipse">
            <a:avLst/>
          </a:prstGeom>
          <a:solidFill>
            <a:srgbClr val="12ABDB"/>
          </a:solidFill>
          <a:ln w="19050">
            <a:solidFill>
              <a:srgbClr val="FFFFFF"/>
            </a:solidFill>
            <a:prstDash val="solid"/>
          </a:ln>
        </p:spPr>
        <p:txBody>
          <a:bodyPr/>
          <a:lstStyle/>
          <a:p>
            <a:endParaRPr lang="en-IN"/>
          </a:p>
        </p:txBody>
      </p:sp>
      <p:sp>
        <p:nvSpPr>
          <p:cNvPr id="66" name="Text 64"/>
          <p:cNvSpPr/>
          <p:nvPr/>
        </p:nvSpPr>
        <p:spPr>
          <a:xfrm>
            <a:off x="9381744" y="4105656"/>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67" name="Text 65"/>
          <p:cNvSpPr/>
          <p:nvPr/>
        </p:nvSpPr>
        <p:spPr>
          <a:xfrm>
            <a:off x="9866376" y="4059936"/>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Better planning</a:t>
            </a:r>
            <a:endParaRPr lang="en-US" sz="1020" dirty="0"/>
          </a:p>
        </p:txBody>
      </p:sp>
      <p:sp>
        <p:nvSpPr>
          <p:cNvPr id="68" name="Shape 66"/>
          <p:cNvSpPr/>
          <p:nvPr/>
        </p:nvSpPr>
        <p:spPr>
          <a:xfrm>
            <a:off x="9381744" y="4626864"/>
            <a:ext cx="384048" cy="384048"/>
          </a:xfrm>
          <a:prstGeom prst="ellipse">
            <a:avLst/>
          </a:prstGeom>
          <a:solidFill>
            <a:srgbClr val="12ABDB"/>
          </a:solidFill>
          <a:ln w="19050">
            <a:solidFill>
              <a:srgbClr val="FFFFFF"/>
            </a:solidFill>
            <a:prstDash val="solid"/>
          </a:ln>
        </p:spPr>
        <p:txBody>
          <a:bodyPr/>
          <a:lstStyle/>
          <a:p>
            <a:endParaRPr lang="en-IN"/>
          </a:p>
        </p:txBody>
      </p:sp>
      <p:sp>
        <p:nvSpPr>
          <p:cNvPr id="69" name="Text 67"/>
          <p:cNvSpPr/>
          <p:nvPr/>
        </p:nvSpPr>
        <p:spPr>
          <a:xfrm>
            <a:off x="9381744" y="471830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70" name="Text 68"/>
          <p:cNvSpPr/>
          <p:nvPr/>
        </p:nvSpPr>
        <p:spPr>
          <a:xfrm>
            <a:off x="9866376" y="4672584"/>
            <a:ext cx="1645920" cy="201168"/>
          </a:xfrm>
          <a:prstGeom prst="rect">
            <a:avLst/>
          </a:prstGeom>
          <a:noFill/>
          <a:ln>
            <a:solidFill/>
          </a:ln>
        </p:spPr>
        <p:txBody>
          <a:bodyPr wrap="square" lIns="0" tIns="0" rIns="0" bIns="0" rtlCol="0" anchor="ctr"/>
          <a:lstStyle/>
          <a:p>
            <a:pPr marL="0" indent="0">
              <a:buNone/>
            </a:pPr>
            <a:r>
              <a:rPr lang="en-US" sz="1020" b="1" dirty="0">
                <a:solidFill>
                  <a:srgbClr val="272936"/>
                </a:solidFill>
              </a:rPr>
              <a:t>Service assurance</a:t>
            </a:r>
            <a:endParaRPr lang="en-US" sz="1020" dirty="0"/>
          </a:p>
        </p:txBody>
      </p:sp>
      <p:sp>
        <p:nvSpPr>
          <p:cNvPr id="71" name="Shape 69"/>
          <p:cNvSpPr/>
          <p:nvPr/>
        </p:nvSpPr>
        <p:spPr>
          <a:xfrm>
            <a:off x="685800" y="5897880"/>
            <a:ext cx="10835640" cy="502920"/>
          </a:xfrm>
          <a:prstGeom prst="roundRect">
            <a:avLst/>
          </a:prstGeom>
          <a:solidFill>
            <a:srgbClr val="082B4C"/>
          </a:solidFill>
          <a:ln w="12700">
            <a:solidFill>
              <a:srgbClr val="082B4C"/>
            </a:solidFill>
            <a:prstDash val="solid"/>
          </a:ln>
        </p:spPr>
        <p:txBody>
          <a:bodyPr/>
          <a:lstStyle/>
          <a:p>
            <a:endParaRPr lang="en-IN"/>
          </a:p>
        </p:txBody>
      </p:sp>
      <p:sp>
        <p:nvSpPr>
          <p:cNvPr id="72" name="Text 70"/>
          <p:cNvSpPr/>
          <p:nvPr/>
        </p:nvSpPr>
        <p:spPr>
          <a:xfrm>
            <a:off x="868680" y="6053328"/>
            <a:ext cx="10469880" cy="182880"/>
          </a:xfrm>
          <a:prstGeom prst="rect">
            <a:avLst/>
          </a:prstGeom>
          <a:noFill/>
          <a:ln>
            <a:solidFill/>
          </a:ln>
        </p:spPr>
        <p:txBody>
          <a:bodyPr wrap="square" lIns="0" tIns="0" rIns="0" bIns="0" rtlCol="0" anchor="ctr"/>
          <a:lstStyle/>
          <a:p>
            <a:pPr marL="0" indent="0" algn="ctr">
              <a:buNone/>
            </a:pPr>
            <a:r>
              <a:rPr lang="en-US" sz="1150" b="1" dirty="0">
                <a:solidFill>
                  <a:srgbClr val="FFFFFF"/>
                </a:solidFill>
              </a:rPr>
              <a:t>NETWORK DATA &amp; CAPABILITIES  ›  INTELLIGENCE  ›  PRODUCT  ›  REVENUE  ›  CUSTOMER VALUE</a:t>
            </a:r>
            <a:endParaRPr lang="en-US" sz="1150" dirty="0"/>
          </a:p>
        </p:txBody>
      </p:sp>
      <p:sp>
        <p:nvSpPr>
          <p:cNvPr id="73" name="Rectangle 72"/>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External monetization: four major growth plays</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Build a diversified intelligence portfolio rather than centering the strategy on advertising alone.</a:t>
            </a:r>
            <a:endParaRPr lang="en-US" sz="1200" dirty="0"/>
          </a:p>
        </p:txBody>
      </p:sp>
      <p:sp>
        <p:nvSpPr>
          <p:cNvPr id="4" name="Shape 2"/>
          <p:cNvSpPr/>
          <p:nvPr/>
        </p:nvSpPr>
        <p:spPr>
          <a:xfrm>
            <a:off x="594360" y="1325880"/>
            <a:ext cx="5257800" cy="1783080"/>
          </a:xfrm>
          <a:prstGeom prst="roundRect">
            <a:avLst/>
          </a:prstGeom>
          <a:solidFill>
            <a:srgbClr val="FFFFFF"/>
          </a:solidFill>
          <a:ln w="16510">
            <a:solidFill>
              <a:srgbClr val="0070AD"/>
            </a:solidFill>
            <a:prstDash val="solid"/>
          </a:ln>
          <a:effectLst>
            <a:outerShdw blurRad="12700" dist="12700" dir="2700000" algn="bl" rotWithShape="0">
              <a:srgbClr val="9BAABB">
                <a:alpha val="12000"/>
              </a:srgbClr>
            </a:outerShdw>
          </a:effectLst>
        </p:spPr>
        <p:txBody>
          <a:bodyPr/>
          <a:lstStyle/>
          <a:p>
            <a:endParaRPr lang="en-IN"/>
          </a:p>
        </p:txBody>
      </p:sp>
      <p:sp>
        <p:nvSpPr>
          <p:cNvPr id="5" name="Shape 3"/>
          <p:cNvSpPr/>
          <p:nvPr/>
        </p:nvSpPr>
        <p:spPr>
          <a:xfrm>
            <a:off x="822960" y="1527048"/>
            <a:ext cx="384048" cy="384048"/>
          </a:xfrm>
          <a:prstGeom prst="ellipse">
            <a:avLst/>
          </a:prstGeom>
          <a:solidFill>
            <a:srgbClr val="0070AD"/>
          </a:solidFill>
          <a:ln w="19050">
            <a:solidFill>
              <a:srgbClr val="FFFFFF"/>
            </a:solidFill>
            <a:prstDash val="solid"/>
          </a:ln>
        </p:spPr>
        <p:txBody>
          <a:bodyPr/>
          <a:lstStyle/>
          <a:p>
            <a:endParaRPr lang="en-IN"/>
          </a:p>
        </p:txBody>
      </p:sp>
      <p:sp>
        <p:nvSpPr>
          <p:cNvPr id="6" name="Text 4"/>
          <p:cNvSpPr/>
          <p:nvPr/>
        </p:nvSpPr>
        <p:spPr>
          <a:xfrm>
            <a:off x="822960" y="161848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371600" y="1536192"/>
            <a:ext cx="2468880" cy="228600"/>
          </a:xfrm>
          <a:prstGeom prst="rect">
            <a:avLst/>
          </a:prstGeom>
          <a:noFill/>
          <a:ln>
            <a:solidFill/>
          </a:ln>
        </p:spPr>
        <p:txBody>
          <a:bodyPr wrap="square" lIns="0" tIns="0" rIns="0" bIns="0" rtlCol="0" anchor="ctr"/>
          <a:lstStyle/>
          <a:p>
            <a:pPr marL="0" indent="0">
              <a:buNone/>
            </a:pPr>
            <a:r>
              <a:rPr lang="en-US" sz="1400" b="1" dirty="0">
                <a:solidFill>
                  <a:srgbClr val="0070AD"/>
                </a:solidFill>
              </a:rPr>
              <a:t>NETWORK APIs</a:t>
            </a:r>
            <a:endParaRPr lang="en-US" sz="1400" dirty="0"/>
          </a:p>
        </p:txBody>
      </p:sp>
      <p:sp>
        <p:nvSpPr>
          <p:cNvPr id="8" name="Text 6"/>
          <p:cNvSpPr/>
          <p:nvPr/>
        </p:nvSpPr>
        <p:spPr>
          <a:xfrm>
            <a:off x="822960" y="2075688"/>
            <a:ext cx="4663440" cy="393192"/>
          </a:xfrm>
          <a:prstGeom prst="rect">
            <a:avLst/>
          </a:prstGeom>
          <a:noFill/>
          <a:ln>
            <a:solidFill/>
          </a:ln>
        </p:spPr>
        <p:txBody>
          <a:bodyPr wrap="square" lIns="0" tIns="0" rIns="0" bIns="0" rtlCol="0" anchor="ctr"/>
          <a:lstStyle/>
          <a:p>
            <a:pPr marL="0" indent="0">
              <a:buNone/>
            </a:pPr>
            <a:r>
              <a:rPr lang="en-US" sz="1120" dirty="0">
                <a:solidFill>
                  <a:srgbClr val="272936"/>
                </a:solidFill>
              </a:rPr>
              <a:t>Expose programmable network capabilities to developers and enterprises</a:t>
            </a:r>
            <a:endParaRPr lang="en-US" sz="1120" dirty="0"/>
          </a:p>
        </p:txBody>
      </p:sp>
      <p:sp>
        <p:nvSpPr>
          <p:cNvPr id="9" name="Text 7"/>
          <p:cNvSpPr/>
          <p:nvPr/>
        </p:nvSpPr>
        <p:spPr>
          <a:xfrm>
            <a:off x="822960" y="2624328"/>
            <a:ext cx="4663440" cy="210312"/>
          </a:xfrm>
          <a:prstGeom prst="rect">
            <a:avLst/>
          </a:prstGeom>
          <a:noFill/>
          <a:ln>
            <a:solidFill/>
          </a:ln>
        </p:spPr>
        <p:txBody>
          <a:bodyPr wrap="square" lIns="0" tIns="0" rIns="0" bIns="0" rtlCol="0" anchor="ctr"/>
          <a:lstStyle/>
          <a:p>
            <a:pPr marL="0" indent="0">
              <a:buNone/>
            </a:pPr>
            <a:r>
              <a:rPr lang="en-US" sz="1030" b="1" dirty="0">
                <a:solidFill>
                  <a:srgbClr val="626D7A"/>
                </a:solidFill>
              </a:rPr>
              <a:t>Number Verification • QoD • location</a:t>
            </a:r>
            <a:endParaRPr lang="en-US" sz="1030" dirty="0"/>
          </a:p>
        </p:txBody>
      </p:sp>
      <p:sp>
        <p:nvSpPr>
          <p:cNvPr id="10" name="Shape 8"/>
          <p:cNvSpPr/>
          <p:nvPr/>
        </p:nvSpPr>
        <p:spPr>
          <a:xfrm>
            <a:off x="6263640" y="1325880"/>
            <a:ext cx="5257800" cy="1783080"/>
          </a:xfrm>
          <a:prstGeom prst="roundRect">
            <a:avLst/>
          </a:prstGeom>
          <a:solidFill>
            <a:srgbClr val="FFFFFF"/>
          </a:solidFill>
          <a:ln w="16510">
            <a:solidFill>
              <a:srgbClr val="12ABDB"/>
            </a:solidFill>
            <a:prstDash val="solid"/>
          </a:ln>
          <a:effectLst>
            <a:outerShdw blurRad="12700" dist="12700" dir="2700000" algn="bl" rotWithShape="0">
              <a:srgbClr val="9BAABB">
                <a:alpha val="12000"/>
              </a:srgbClr>
            </a:outerShdw>
          </a:effectLst>
        </p:spPr>
        <p:txBody>
          <a:bodyPr/>
          <a:lstStyle/>
          <a:p>
            <a:endParaRPr lang="en-IN"/>
          </a:p>
        </p:txBody>
      </p:sp>
      <p:sp>
        <p:nvSpPr>
          <p:cNvPr id="11" name="Shape 9"/>
          <p:cNvSpPr/>
          <p:nvPr/>
        </p:nvSpPr>
        <p:spPr>
          <a:xfrm>
            <a:off x="6492240" y="1527048"/>
            <a:ext cx="384048" cy="384048"/>
          </a:xfrm>
          <a:prstGeom prst="ellipse">
            <a:avLst/>
          </a:prstGeom>
          <a:solidFill>
            <a:srgbClr val="12ABDB"/>
          </a:solidFill>
          <a:ln w="19050">
            <a:solidFill>
              <a:srgbClr val="FFFFFF"/>
            </a:solidFill>
            <a:prstDash val="solid"/>
          </a:ln>
        </p:spPr>
        <p:txBody>
          <a:bodyPr/>
          <a:lstStyle/>
          <a:p>
            <a:endParaRPr lang="en-IN"/>
          </a:p>
        </p:txBody>
      </p:sp>
      <p:sp>
        <p:nvSpPr>
          <p:cNvPr id="12" name="Text 10"/>
          <p:cNvSpPr/>
          <p:nvPr/>
        </p:nvSpPr>
        <p:spPr>
          <a:xfrm>
            <a:off x="6492240" y="161848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1"/>
          <p:cNvSpPr/>
          <p:nvPr/>
        </p:nvSpPr>
        <p:spPr>
          <a:xfrm>
            <a:off x="7040880" y="1536192"/>
            <a:ext cx="2468880" cy="228600"/>
          </a:xfrm>
          <a:prstGeom prst="rect">
            <a:avLst/>
          </a:prstGeom>
          <a:noFill/>
          <a:ln>
            <a:solidFill/>
          </a:ln>
        </p:spPr>
        <p:txBody>
          <a:bodyPr wrap="square" lIns="0" tIns="0" rIns="0" bIns="0" rtlCol="0" anchor="ctr"/>
          <a:lstStyle/>
          <a:p>
            <a:pPr marL="0" indent="0">
              <a:buNone/>
            </a:pPr>
            <a:r>
              <a:rPr lang="en-US" sz="1400" b="1" dirty="0">
                <a:solidFill>
                  <a:srgbClr val="12ABDB"/>
                </a:solidFill>
              </a:rPr>
              <a:t>IDENTITY &amp; FRAUD</a:t>
            </a:r>
            <a:endParaRPr lang="en-US" sz="1400" dirty="0"/>
          </a:p>
        </p:txBody>
      </p:sp>
      <p:sp>
        <p:nvSpPr>
          <p:cNvPr id="14" name="Text 12"/>
          <p:cNvSpPr/>
          <p:nvPr/>
        </p:nvSpPr>
        <p:spPr>
          <a:xfrm>
            <a:off x="6492240" y="2075688"/>
            <a:ext cx="4663440" cy="393192"/>
          </a:xfrm>
          <a:prstGeom prst="rect">
            <a:avLst/>
          </a:prstGeom>
          <a:noFill/>
          <a:ln>
            <a:solidFill/>
          </a:ln>
        </p:spPr>
        <p:txBody>
          <a:bodyPr wrap="square" lIns="0" tIns="0" rIns="0" bIns="0" rtlCol="0" anchor="ctr"/>
          <a:lstStyle/>
          <a:p>
            <a:pPr marL="0" indent="0">
              <a:buNone/>
            </a:pPr>
            <a:r>
              <a:rPr lang="en-US" sz="1120" dirty="0">
                <a:solidFill>
                  <a:srgbClr val="272936"/>
                </a:solidFill>
              </a:rPr>
              <a:t>Productize trusted network-originated signals</a:t>
            </a:r>
            <a:endParaRPr lang="en-US" sz="1120" dirty="0"/>
          </a:p>
        </p:txBody>
      </p:sp>
      <p:sp>
        <p:nvSpPr>
          <p:cNvPr id="15" name="Text 13"/>
          <p:cNvSpPr/>
          <p:nvPr/>
        </p:nvSpPr>
        <p:spPr>
          <a:xfrm>
            <a:off x="6492240" y="2624328"/>
            <a:ext cx="4663440" cy="210312"/>
          </a:xfrm>
          <a:prstGeom prst="rect">
            <a:avLst/>
          </a:prstGeom>
          <a:noFill/>
          <a:ln>
            <a:solidFill/>
          </a:ln>
        </p:spPr>
        <p:txBody>
          <a:bodyPr wrap="square" lIns="0" tIns="0" rIns="0" bIns="0" rtlCol="0" anchor="ctr"/>
          <a:lstStyle/>
          <a:p>
            <a:pPr marL="0" indent="0">
              <a:buNone/>
            </a:pPr>
            <a:r>
              <a:rPr lang="en-US" sz="1030" b="1" dirty="0">
                <a:solidFill>
                  <a:srgbClr val="626D7A"/>
                </a:solidFill>
              </a:rPr>
              <a:t>SIM Swap • Device Swap • KYC</a:t>
            </a:r>
            <a:endParaRPr lang="en-US" sz="1030" dirty="0"/>
          </a:p>
        </p:txBody>
      </p:sp>
      <p:sp>
        <p:nvSpPr>
          <p:cNvPr id="16" name="Shape 14"/>
          <p:cNvSpPr/>
          <p:nvPr/>
        </p:nvSpPr>
        <p:spPr>
          <a:xfrm>
            <a:off x="594360" y="3566160"/>
            <a:ext cx="5257800" cy="1783080"/>
          </a:xfrm>
          <a:prstGeom prst="roundRect">
            <a:avLst/>
          </a:prstGeom>
          <a:solidFill>
            <a:srgbClr val="FFFFFF"/>
          </a:solidFill>
          <a:ln w="16510">
            <a:solidFill>
              <a:srgbClr val="0058AB"/>
            </a:solidFill>
            <a:prstDash val="solid"/>
          </a:ln>
          <a:effectLst>
            <a:outerShdw blurRad="12700" dist="12700" dir="2700000" algn="bl" rotWithShape="0">
              <a:srgbClr val="9BAABB">
                <a:alpha val="12000"/>
              </a:srgbClr>
            </a:outerShdw>
          </a:effectLst>
        </p:spPr>
        <p:txBody>
          <a:bodyPr/>
          <a:lstStyle/>
          <a:p>
            <a:endParaRPr lang="en-IN"/>
          </a:p>
        </p:txBody>
      </p:sp>
      <p:sp>
        <p:nvSpPr>
          <p:cNvPr id="17" name="Shape 15"/>
          <p:cNvSpPr/>
          <p:nvPr/>
        </p:nvSpPr>
        <p:spPr>
          <a:xfrm>
            <a:off x="822960" y="3767328"/>
            <a:ext cx="384048" cy="384048"/>
          </a:xfrm>
          <a:prstGeom prst="ellipse">
            <a:avLst/>
          </a:prstGeom>
          <a:solidFill>
            <a:srgbClr val="0058AB"/>
          </a:solidFill>
          <a:ln w="19050">
            <a:solidFill>
              <a:srgbClr val="FFFFFF"/>
            </a:solidFill>
            <a:prstDash val="solid"/>
          </a:ln>
        </p:spPr>
        <p:txBody>
          <a:bodyPr/>
          <a:lstStyle/>
          <a:p>
            <a:endParaRPr lang="en-IN"/>
          </a:p>
        </p:txBody>
      </p:sp>
      <p:sp>
        <p:nvSpPr>
          <p:cNvPr id="18" name="Text 16"/>
          <p:cNvSpPr/>
          <p:nvPr/>
        </p:nvSpPr>
        <p:spPr>
          <a:xfrm>
            <a:off x="822960" y="385876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9" name="Text 17"/>
          <p:cNvSpPr/>
          <p:nvPr/>
        </p:nvSpPr>
        <p:spPr>
          <a:xfrm>
            <a:off x="1371600" y="3776472"/>
            <a:ext cx="2468880" cy="228600"/>
          </a:xfrm>
          <a:prstGeom prst="rect">
            <a:avLst/>
          </a:prstGeom>
          <a:noFill/>
          <a:ln>
            <a:solidFill/>
          </a:ln>
        </p:spPr>
        <p:txBody>
          <a:bodyPr wrap="square" lIns="0" tIns="0" rIns="0" bIns="0" rtlCol="0" anchor="ctr"/>
          <a:lstStyle/>
          <a:p>
            <a:pPr marL="0" indent="0">
              <a:buNone/>
            </a:pPr>
            <a:r>
              <a:rPr lang="en-US" sz="1400" b="1" dirty="0">
                <a:solidFill>
                  <a:srgbClr val="0058AB"/>
                </a:solidFill>
              </a:rPr>
              <a:t>ENTERPRISE INTELLIGENCE</a:t>
            </a:r>
            <a:endParaRPr lang="en-US" sz="1400" dirty="0"/>
          </a:p>
        </p:txBody>
      </p:sp>
      <p:sp>
        <p:nvSpPr>
          <p:cNvPr id="20" name="Text 18"/>
          <p:cNvSpPr/>
          <p:nvPr/>
        </p:nvSpPr>
        <p:spPr>
          <a:xfrm>
            <a:off x="822960" y="4315968"/>
            <a:ext cx="4663440" cy="393192"/>
          </a:xfrm>
          <a:prstGeom prst="rect">
            <a:avLst/>
          </a:prstGeom>
          <a:noFill/>
          <a:ln>
            <a:solidFill/>
          </a:ln>
        </p:spPr>
        <p:txBody>
          <a:bodyPr wrap="square" lIns="0" tIns="0" rIns="0" bIns="0" rtlCol="0" anchor="ctr"/>
          <a:lstStyle/>
          <a:p>
            <a:pPr marL="0" indent="0">
              <a:buNone/>
            </a:pPr>
            <a:r>
              <a:rPr lang="en-US" sz="1120" dirty="0">
                <a:solidFill>
                  <a:srgbClr val="272936"/>
                </a:solidFill>
              </a:rPr>
              <a:t>Convert aggregated network data into decision products</a:t>
            </a:r>
            <a:endParaRPr lang="en-US" sz="1120" dirty="0"/>
          </a:p>
        </p:txBody>
      </p:sp>
      <p:sp>
        <p:nvSpPr>
          <p:cNvPr id="21" name="Text 19"/>
          <p:cNvSpPr/>
          <p:nvPr/>
        </p:nvSpPr>
        <p:spPr>
          <a:xfrm>
            <a:off x="822960" y="4864608"/>
            <a:ext cx="4663440" cy="210312"/>
          </a:xfrm>
          <a:prstGeom prst="rect">
            <a:avLst/>
          </a:prstGeom>
          <a:noFill/>
          <a:ln>
            <a:solidFill/>
          </a:ln>
        </p:spPr>
        <p:txBody>
          <a:bodyPr wrap="square" lIns="0" tIns="0" rIns="0" bIns="0" rtlCol="0" anchor="ctr"/>
          <a:lstStyle/>
          <a:p>
            <a:pPr marL="0" indent="0">
              <a:buNone/>
            </a:pPr>
            <a:r>
              <a:rPr lang="en-US" sz="1030" b="1" dirty="0">
                <a:solidFill>
                  <a:srgbClr val="626D7A"/>
                </a:solidFill>
              </a:rPr>
              <a:t>Mobility • planning • demand insight</a:t>
            </a:r>
            <a:endParaRPr lang="en-US" sz="1030" dirty="0"/>
          </a:p>
        </p:txBody>
      </p:sp>
      <p:sp>
        <p:nvSpPr>
          <p:cNvPr id="22" name="Shape 20"/>
          <p:cNvSpPr/>
          <p:nvPr/>
        </p:nvSpPr>
        <p:spPr>
          <a:xfrm>
            <a:off x="6263640" y="3566160"/>
            <a:ext cx="5257800" cy="1783080"/>
          </a:xfrm>
          <a:prstGeom prst="roundRect">
            <a:avLst/>
          </a:prstGeom>
          <a:solidFill>
            <a:srgbClr val="FFFFFF"/>
          </a:solidFill>
          <a:ln w="16510">
            <a:solidFill>
              <a:srgbClr val="004280"/>
            </a:solidFill>
            <a:prstDash val="solid"/>
          </a:ln>
          <a:effectLst>
            <a:outerShdw blurRad="12700" dist="12700" dir="2700000" algn="bl" rotWithShape="0">
              <a:srgbClr val="9BAABB">
                <a:alpha val="12000"/>
              </a:srgbClr>
            </a:outerShdw>
          </a:effectLst>
        </p:spPr>
        <p:txBody>
          <a:bodyPr/>
          <a:lstStyle/>
          <a:p>
            <a:endParaRPr lang="en-IN"/>
          </a:p>
        </p:txBody>
      </p:sp>
      <p:sp>
        <p:nvSpPr>
          <p:cNvPr id="23" name="Shape 21"/>
          <p:cNvSpPr/>
          <p:nvPr/>
        </p:nvSpPr>
        <p:spPr>
          <a:xfrm>
            <a:off x="6492240" y="3767328"/>
            <a:ext cx="384048" cy="384048"/>
          </a:xfrm>
          <a:prstGeom prst="ellipse">
            <a:avLst/>
          </a:prstGeom>
          <a:solidFill>
            <a:srgbClr val="004280"/>
          </a:solidFill>
          <a:ln w="19050">
            <a:solidFill>
              <a:srgbClr val="FFFFFF"/>
            </a:solidFill>
            <a:prstDash val="solid"/>
          </a:ln>
        </p:spPr>
        <p:txBody>
          <a:bodyPr/>
          <a:lstStyle/>
          <a:p>
            <a:endParaRPr lang="en-IN"/>
          </a:p>
        </p:txBody>
      </p:sp>
      <p:sp>
        <p:nvSpPr>
          <p:cNvPr id="24" name="Text 22"/>
          <p:cNvSpPr/>
          <p:nvPr/>
        </p:nvSpPr>
        <p:spPr>
          <a:xfrm>
            <a:off x="6492240" y="385876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5" name="Text 23"/>
          <p:cNvSpPr/>
          <p:nvPr/>
        </p:nvSpPr>
        <p:spPr>
          <a:xfrm>
            <a:off x="7040880" y="3776472"/>
            <a:ext cx="2468880" cy="228600"/>
          </a:xfrm>
          <a:prstGeom prst="rect">
            <a:avLst/>
          </a:prstGeom>
          <a:noFill/>
          <a:ln>
            <a:solidFill/>
          </a:ln>
        </p:spPr>
        <p:txBody>
          <a:bodyPr wrap="square" lIns="0" tIns="0" rIns="0" bIns="0" rtlCol="0" anchor="ctr"/>
          <a:lstStyle/>
          <a:p>
            <a:pPr marL="0" indent="0">
              <a:buNone/>
            </a:pPr>
            <a:r>
              <a:rPr lang="en-US" sz="1400" b="1" dirty="0">
                <a:solidFill>
                  <a:srgbClr val="004280"/>
                </a:solidFill>
              </a:rPr>
              <a:t>ADVERTISING &amp; MEDIA</a:t>
            </a:r>
            <a:endParaRPr lang="en-US" sz="1400" dirty="0"/>
          </a:p>
        </p:txBody>
      </p:sp>
      <p:sp>
        <p:nvSpPr>
          <p:cNvPr id="26" name="Text 24"/>
          <p:cNvSpPr/>
          <p:nvPr/>
        </p:nvSpPr>
        <p:spPr>
          <a:xfrm>
            <a:off x="6492240" y="4315968"/>
            <a:ext cx="4663440" cy="393192"/>
          </a:xfrm>
          <a:prstGeom prst="rect">
            <a:avLst/>
          </a:prstGeom>
          <a:noFill/>
          <a:ln>
            <a:solidFill/>
          </a:ln>
        </p:spPr>
        <p:txBody>
          <a:bodyPr wrap="square" lIns="0" tIns="0" rIns="0" bIns="0" rtlCol="0" anchor="ctr"/>
          <a:lstStyle/>
          <a:p>
            <a:pPr marL="0" indent="0">
              <a:buNone/>
            </a:pPr>
            <a:r>
              <a:rPr lang="en-US" sz="1120" dirty="0">
                <a:solidFill>
                  <a:srgbClr val="272936"/>
                </a:solidFill>
              </a:rPr>
              <a:t>Combine audience insights, AdTech, inventory and measurement</a:t>
            </a:r>
            <a:endParaRPr lang="en-US" sz="1120" dirty="0"/>
          </a:p>
        </p:txBody>
      </p:sp>
      <p:sp>
        <p:nvSpPr>
          <p:cNvPr id="27" name="Text 25"/>
          <p:cNvSpPr/>
          <p:nvPr/>
        </p:nvSpPr>
        <p:spPr>
          <a:xfrm>
            <a:off x="6492240" y="4864608"/>
            <a:ext cx="4663440" cy="210312"/>
          </a:xfrm>
          <a:prstGeom prst="rect">
            <a:avLst/>
          </a:prstGeom>
          <a:noFill/>
          <a:ln>
            <a:solidFill/>
          </a:ln>
        </p:spPr>
        <p:txBody>
          <a:bodyPr wrap="square" lIns="0" tIns="0" rIns="0" bIns="0" rtlCol="0" anchor="ctr"/>
          <a:lstStyle/>
          <a:p>
            <a:pPr marL="0" indent="0">
              <a:buNone/>
            </a:pPr>
            <a:r>
              <a:rPr lang="en-US" sz="1030" b="1" dirty="0">
                <a:solidFill>
                  <a:srgbClr val="626D7A"/>
                </a:solidFill>
              </a:rPr>
              <a:t>Segmentation • programmatic • attribution</a:t>
            </a:r>
            <a:endParaRPr lang="en-US" sz="1030" dirty="0"/>
          </a:p>
        </p:txBody>
      </p:sp>
      <p:sp>
        <p:nvSpPr>
          <p:cNvPr id="28" name="Text 26"/>
          <p:cNvSpPr/>
          <p:nvPr/>
        </p:nvSpPr>
        <p:spPr>
          <a:xfrm>
            <a:off x="2057400" y="5806440"/>
            <a:ext cx="8046720" cy="347472"/>
          </a:xfrm>
          <a:prstGeom prst="rect">
            <a:avLst/>
          </a:prstGeom>
          <a:noFill/>
          <a:ln>
            <a:solidFill/>
          </a:ln>
        </p:spPr>
        <p:txBody>
          <a:bodyPr wrap="square" lIns="0" tIns="0" rIns="0" bIns="0" rtlCol="0" anchor="ctr"/>
          <a:lstStyle/>
          <a:p>
            <a:pPr marL="0" indent="0" algn="ctr">
              <a:buNone/>
            </a:pPr>
            <a:r>
              <a:rPr lang="en-US" sz="1900" b="1" dirty="0">
                <a:solidFill>
                  <a:srgbClr val="272936"/>
                </a:solidFill>
              </a:rPr>
              <a:t>Common principle: productize an outcome, not a raw dataset.</a:t>
            </a:r>
            <a:endParaRPr lang="en-US" sz="1900" dirty="0"/>
          </a:p>
        </p:txBody>
      </p:sp>
      <p:sp>
        <p:nvSpPr>
          <p:cNvPr id="29" name="Rectangle 28"/>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Growth play 1: network APIs make the network programmable</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Standardization can convert internal network capabilities into reusable enterprise services.</a:t>
            </a:r>
            <a:endParaRPr lang="en-US" sz="1200" dirty="0"/>
          </a:p>
        </p:txBody>
      </p:sp>
      <p:pic>
        <p:nvPicPr>
          <p:cNvPr id="4" name="Image 0" descr="/mnt/data/generated_image_03A152B20E34_01.png"/>
          <p:cNvPicPr>
            <a:picLocks noChangeAspect="1"/>
          </p:cNvPicPr>
          <p:nvPr/>
        </p:nvPicPr>
        <p:blipFill>
          <a:blip r:embed="rId3"/>
          <a:srcRect l="13605" r="13605"/>
          <a:stretch/>
        </p:blipFill>
        <p:spPr>
          <a:xfrm>
            <a:off x="502920" y="1188720"/>
            <a:ext cx="4892040" cy="4480560"/>
          </a:xfrm>
          <a:prstGeom prst="rect">
            <a:avLst/>
          </a:prstGeom>
          <a:ln>
            <a:solidFill/>
          </a:ln>
        </p:spPr>
      </p:pic>
      <p:sp>
        <p:nvSpPr>
          <p:cNvPr id="5" name="Shape 2"/>
          <p:cNvSpPr/>
          <p:nvPr/>
        </p:nvSpPr>
        <p:spPr>
          <a:xfrm>
            <a:off x="5715000" y="123444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Shape 3"/>
          <p:cNvSpPr/>
          <p:nvPr/>
        </p:nvSpPr>
        <p:spPr>
          <a:xfrm>
            <a:off x="5715000" y="1234440"/>
            <a:ext cx="64008" cy="786384"/>
          </a:xfrm>
          <a:prstGeom prst="rect">
            <a:avLst/>
          </a:prstGeom>
          <a:solidFill>
            <a:srgbClr val="0070AD"/>
          </a:solidFill>
          <a:ln w="12700">
            <a:solidFill>
              <a:srgbClr val="0070AD"/>
            </a:solidFill>
            <a:prstDash val="solid"/>
          </a:ln>
        </p:spPr>
        <p:txBody>
          <a:bodyPr/>
          <a:lstStyle/>
          <a:p>
            <a:endParaRPr lang="en-IN"/>
          </a:p>
        </p:txBody>
      </p:sp>
      <p:sp>
        <p:nvSpPr>
          <p:cNvPr id="7" name="Text 4"/>
          <p:cNvSpPr/>
          <p:nvPr/>
        </p:nvSpPr>
        <p:spPr>
          <a:xfrm>
            <a:off x="5897880" y="1380744"/>
            <a:ext cx="5550408"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AUTHENTICATION &amp; FRAUD</a:t>
            </a:r>
            <a:endParaRPr lang="en-US" sz="1350" dirty="0"/>
          </a:p>
        </p:txBody>
      </p:sp>
      <p:sp>
        <p:nvSpPr>
          <p:cNvPr id="8" name="Text 5"/>
          <p:cNvSpPr/>
          <p:nvPr/>
        </p:nvSpPr>
        <p:spPr>
          <a:xfrm>
            <a:off x="5897880" y="1719072"/>
            <a:ext cx="5550408" cy="146304"/>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Number Verification • SIM Swap • Device Swap</a:t>
            </a:r>
            <a:endParaRPr lang="en-US" sz="1050" dirty="0"/>
          </a:p>
        </p:txBody>
      </p:sp>
      <p:sp>
        <p:nvSpPr>
          <p:cNvPr id="9" name="Shape 6"/>
          <p:cNvSpPr/>
          <p:nvPr/>
        </p:nvSpPr>
        <p:spPr>
          <a:xfrm>
            <a:off x="5715000" y="224028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Shape 7"/>
          <p:cNvSpPr/>
          <p:nvPr/>
        </p:nvSpPr>
        <p:spPr>
          <a:xfrm>
            <a:off x="5715000" y="2240280"/>
            <a:ext cx="64008" cy="786384"/>
          </a:xfrm>
          <a:prstGeom prst="rect">
            <a:avLst/>
          </a:prstGeom>
          <a:solidFill>
            <a:srgbClr val="12ABDB"/>
          </a:solidFill>
          <a:ln w="12700">
            <a:solidFill>
              <a:srgbClr val="12ABDB"/>
            </a:solidFill>
            <a:prstDash val="solid"/>
          </a:ln>
        </p:spPr>
        <p:txBody>
          <a:bodyPr/>
          <a:lstStyle/>
          <a:p>
            <a:endParaRPr lang="en-IN"/>
          </a:p>
        </p:txBody>
      </p:sp>
      <p:sp>
        <p:nvSpPr>
          <p:cNvPr id="11" name="Text 8"/>
          <p:cNvSpPr/>
          <p:nvPr/>
        </p:nvSpPr>
        <p:spPr>
          <a:xfrm>
            <a:off x="5897880" y="2386584"/>
            <a:ext cx="5550408" cy="256032"/>
          </a:xfrm>
          <a:prstGeom prst="rect">
            <a:avLst/>
          </a:prstGeom>
          <a:noFill/>
          <a:ln>
            <a:solidFill/>
          </a:ln>
        </p:spPr>
        <p:txBody>
          <a:bodyPr wrap="square" lIns="0" tIns="0" rIns="0" bIns="0" rtlCol="0" anchor="ctr"/>
          <a:lstStyle/>
          <a:p>
            <a:pPr marL="0" indent="0">
              <a:buNone/>
            </a:pPr>
            <a:r>
              <a:rPr lang="en-US" sz="1350" b="1" dirty="0">
                <a:solidFill>
                  <a:srgbClr val="12ABDB"/>
                </a:solidFill>
              </a:rPr>
              <a:t>LOCATION</a:t>
            </a:r>
            <a:endParaRPr lang="en-US" sz="1350" dirty="0"/>
          </a:p>
        </p:txBody>
      </p:sp>
      <p:sp>
        <p:nvSpPr>
          <p:cNvPr id="12" name="Text 9"/>
          <p:cNvSpPr/>
          <p:nvPr/>
        </p:nvSpPr>
        <p:spPr>
          <a:xfrm>
            <a:off x="5897880" y="2724912"/>
            <a:ext cx="5550408" cy="146304"/>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Retrieval • verification • population density</a:t>
            </a:r>
            <a:endParaRPr lang="en-US" sz="1050" dirty="0"/>
          </a:p>
        </p:txBody>
      </p:sp>
      <p:sp>
        <p:nvSpPr>
          <p:cNvPr id="13" name="Shape 10"/>
          <p:cNvSpPr/>
          <p:nvPr/>
        </p:nvSpPr>
        <p:spPr>
          <a:xfrm>
            <a:off x="5715000" y="324612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4" name="Shape 11"/>
          <p:cNvSpPr/>
          <p:nvPr/>
        </p:nvSpPr>
        <p:spPr>
          <a:xfrm>
            <a:off x="5715000" y="3246120"/>
            <a:ext cx="64008" cy="786384"/>
          </a:xfrm>
          <a:prstGeom prst="rect">
            <a:avLst/>
          </a:prstGeom>
          <a:solidFill>
            <a:srgbClr val="004280"/>
          </a:solidFill>
          <a:ln w="12700">
            <a:solidFill>
              <a:srgbClr val="004280"/>
            </a:solidFill>
            <a:prstDash val="solid"/>
          </a:ln>
        </p:spPr>
        <p:txBody>
          <a:bodyPr/>
          <a:lstStyle/>
          <a:p>
            <a:endParaRPr lang="en-IN"/>
          </a:p>
        </p:txBody>
      </p:sp>
      <p:sp>
        <p:nvSpPr>
          <p:cNvPr id="15" name="Text 12"/>
          <p:cNvSpPr/>
          <p:nvPr/>
        </p:nvSpPr>
        <p:spPr>
          <a:xfrm>
            <a:off x="5897880" y="3392424"/>
            <a:ext cx="5550408" cy="256032"/>
          </a:xfrm>
          <a:prstGeom prst="rect">
            <a:avLst/>
          </a:prstGeom>
          <a:noFill/>
          <a:ln>
            <a:solidFill/>
          </a:ln>
        </p:spPr>
        <p:txBody>
          <a:bodyPr wrap="square" lIns="0" tIns="0" rIns="0" bIns="0" rtlCol="0" anchor="ctr"/>
          <a:lstStyle/>
          <a:p>
            <a:pPr marL="0" indent="0">
              <a:buNone/>
            </a:pPr>
            <a:r>
              <a:rPr lang="en-US" sz="1350" b="1" dirty="0">
                <a:solidFill>
                  <a:srgbClr val="004280"/>
                </a:solidFill>
              </a:rPr>
              <a:t>DEVICE &amp; QUALITY</a:t>
            </a:r>
            <a:endParaRPr lang="en-US" sz="1350" dirty="0"/>
          </a:p>
        </p:txBody>
      </p:sp>
      <p:sp>
        <p:nvSpPr>
          <p:cNvPr id="16" name="Text 13"/>
          <p:cNvSpPr/>
          <p:nvPr/>
        </p:nvSpPr>
        <p:spPr>
          <a:xfrm>
            <a:off x="5897880" y="3730752"/>
            <a:ext cx="5550408" cy="146304"/>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Reachability • roaming • Quality on Demand</a:t>
            </a:r>
            <a:endParaRPr lang="en-US" sz="1050" dirty="0"/>
          </a:p>
        </p:txBody>
      </p:sp>
      <p:sp>
        <p:nvSpPr>
          <p:cNvPr id="17" name="Shape 14"/>
          <p:cNvSpPr/>
          <p:nvPr/>
        </p:nvSpPr>
        <p:spPr>
          <a:xfrm>
            <a:off x="5715000" y="425196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8" name="Shape 15"/>
          <p:cNvSpPr/>
          <p:nvPr/>
        </p:nvSpPr>
        <p:spPr>
          <a:xfrm>
            <a:off x="5715000" y="4251960"/>
            <a:ext cx="64008" cy="786384"/>
          </a:xfrm>
          <a:prstGeom prst="rect">
            <a:avLst/>
          </a:prstGeom>
          <a:solidFill>
            <a:srgbClr val="0058AB"/>
          </a:solidFill>
          <a:ln w="12700">
            <a:solidFill>
              <a:srgbClr val="0058AB"/>
            </a:solidFill>
            <a:prstDash val="solid"/>
          </a:ln>
        </p:spPr>
        <p:txBody>
          <a:bodyPr/>
          <a:lstStyle/>
          <a:p>
            <a:endParaRPr lang="en-IN"/>
          </a:p>
        </p:txBody>
      </p:sp>
      <p:sp>
        <p:nvSpPr>
          <p:cNvPr id="19" name="Text 16"/>
          <p:cNvSpPr/>
          <p:nvPr/>
        </p:nvSpPr>
        <p:spPr>
          <a:xfrm>
            <a:off x="5897880" y="4398264"/>
            <a:ext cx="5550408" cy="256032"/>
          </a:xfrm>
          <a:prstGeom prst="rect">
            <a:avLst/>
          </a:prstGeom>
          <a:noFill/>
          <a:ln>
            <a:solidFill/>
          </a:ln>
        </p:spPr>
        <p:txBody>
          <a:bodyPr wrap="square" lIns="0" tIns="0" rIns="0" bIns="0" rtlCol="0" anchor="ctr"/>
          <a:lstStyle/>
          <a:p>
            <a:pPr marL="0" indent="0">
              <a:buNone/>
            </a:pPr>
            <a:r>
              <a:rPr lang="en-US" sz="1350" b="1" dirty="0">
                <a:solidFill>
                  <a:srgbClr val="0058AB"/>
                </a:solidFill>
              </a:rPr>
              <a:t>EDGE &amp; CHARGING</a:t>
            </a:r>
            <a:endParaRPr lang="en-US" sz="1350" dirty="0"/>
          </a:p>
        </p:txBody>
      </p:sp>
      <p:sp>
        <p:nvSpPr>
          <p:cNvPr id="20" name="Text 17"/>
          <p:cNvSpPr/>
          <p:nvPr/>
        </p:nvSpPr>
        <p:spPr>
          <a:xfrm>
            <a:off x="5897880" y="4736592"/>
            <a:ext cx="5550408" cy="146304"/>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Edge discovery • carrier billing</a:t>
            </a:r>
            <a:endParaRPr lang="en-US" sz="1050" dirty="0"/>
          </a:p>
        </p:txBody>
      </p:sp>
      <p:sp>
        <p:nvSpPr>
          <p:cNvPr id="21" name="Text 18"/>
          <p:cNvSpPr/>
          <p:nvPr/>
        </p:nvSpPr>
        <p:spPr>
          <a:xfrm>
            <a:off x="5715000" y="5376672"/>
            <a:ext cx="1280160" cy="182880"/>
          </a:xfrm>
          <a:prstGeom prst="rect">
            <a:avLst/>
          </a:prstGeom>
          <a:noFill/>
          <a:ln>
            <a:solidFill/>
          </a:ln>
        </p:spPr>
        <p:txBody>
          <a:bodyPr wrap="square" lIns="0" tIns="0" rIns="0" bIns="0" rtlCol="0" anchor="ctr"/>
          <a:lstStyle/>
          <a:p>
            <a:pPr marL="0" indent="0">
              <a:buNone/>
            </a:pPr>
            <a:r>
              <a:rPr lang="en-US" sz="1150" b="1" dirty="0">
                <a:solidFill>
                  <a:srgbClr val="272936"/>
                </a:solidFill>
              </a:rPr>
              <a:t>Market example</a:t>
            </a:r>
            <a:endParaRPr lang="en-US" sz="1150" dirty="0"/>
          </a:p>
        </p:txBody>
      </p:sp>
      <p:sp>
        <p:nvSpPr>
          <p:cNvPr id="22" name="Text 19"/>
          <p:cNvSpPr/>
          <p:nvPr/>
        </p:nvSpPr>
        <p:spPr>
          <a:xfrm>
            <a:off x="6967728" y="5257800"/>
            <a:ext cx="4617720" cy="640080"/>
          </a:xfrm>
          <a:prstGeom prst="rect">
            <a:avLst/>
          </a:prstGeom>
          <a:noFill/>
          <a:ln>
            <a:solidFill/>
          </a:ln>
        </p:spPr>
        <p:txBody>
          <a:bodyPr wrap="square" lIns="0" tIns="0" rIns="0" bIns="0" rtlCol="0" anchor="ctr"/>
          <a:lstStyle/>
          <a:p>
            <a:pPr marL="0" indent="0">
              <a:buNone/>
            </a:pPr>
            <a:r>
              <a:rPr lang="en-US" sz="1150" b="1" dirty="0">
                <a:solidFill>
                  <a:srgbClr val="272936"/>
                </a:solidFill>
              </a:rPr>
              <a:t>AT&amp;T, T-Mobile and Verizon have worked through Aduna on standardized Number Verification and SIM Swap APIs for applications including authentication and fraud prevention.</a:t>
            </a:r>
            <a:endParaRPr lang="en-US" sz="1150" dirty="0"/>
          </a:p>
        </p:txBody>
      </p:sp>
      <p:sp>
        <p:nvSpPr>
          <p:cNvPr id="23" name="Rectangle 22"/>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Growth play 2: identity, authentication &amp; fraud intelligence</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The operator can monetize a trusted signal rather than expose personally identifiable raw data.</a:t>
            </a:r>
            <a:endParaRPr lang="en-US" sz="1200" dirty="0"/>
          </a:p>
        </p:txBody>
      </p:sp>
      <p:sp>
        <p:nvSpPr>
          <p:cNvPr id="4" name="Shape 2"/>
          <p:cNvSpPr/>
          <p:nvPr/>
        </p:nvSpPr>
        <p:spPr>
          <a:xfrm>
            <a:off x="548640" y="1828800"/>
            <a:ext cx="2331720" cy="2057400"/>
          </a:xfrm>
          <a:prstGeom prst="roundRect">
            <a:avLst/>
          </a:prstGeom>
          <a:solidFill>
            <a:srgbClr val="EAF3FB"/>
          </a:solidFill>
          <a:ln w="16510">
            <a:solidFill>
              <a:srgbClr val="0070AD"/>
            </a:solidFill>
            <a:prstDash val="solid"/>
          </a:ln>
        </p:spPr>
        <p:txBody>
          <a:bodyPr/>
          <a:lstStyle/>
          <a:p>
            <a:endParaRPr lang="en-IN"/>
          </a:p>
        </p:txBody>
      </p:sp>
      <p:sp>
        <p:nvSpPr>
          <p:cNvPr id="5" name="Shape 3"/>
          <p:cNvSpPr/>
          <p:nvPr/>
        </p:nvSpPr>
        <p:spPr>
          <a:xfrm>
            <a:off x="685800" y="1975104"/>
            <a:ext cx="384048" cy="384048"/>
          </a:xfrm>
          <a:prstGeom prst="ellipse">
            <a:avLst/>
          </a:prstGeom>
          <a:solidFill>
            <a:srgbClr val="0070AD"/>
          </a:solidFill>
          <a:ln w="19050">
            <a:solidFill>
              <a:srgbClr val="FFFFFF"/>
            </a:solidFill>
            <a:prstDash val="solid"/>
          </a:ln>
        </p:spPr>
        <p:txBody>
          <a:bodyPr/>
          <a:lstStyle/>
          <a:p>
            <a:endParaRPr lang="en-IN"/>
          </a:p>
        </p:txBody>
      </p:sp>
      <p:sp>
        <p:nvSpPr>
          <p:cNvPr id="6" name="Text 4"/>
          <p:cNvSpPr/>
          <p:nvPr/>
        </p:nvSpPr>
        <p:spPr>
          <a:xfrm>
            <a:off x="685800" y="206654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143000" y="2011680"/>
            <a:ext cx="1554480" cy="219456"/>
          </a:xfrm>
          <a:prstGeom prst="rect">
            <a:avLst/>
          </a:prstGeom>
          <a:noFill/>
          <a:ln>
            <a:solidFill/>
          </a:ln>
        </p:spPr>
        <p:txBody>
          <a:bodyPr wrap="square" lIns="0" tIns="0" rIns="0" bIns="0" rtlCol="0" anchor="ctr"/>
          <a:lstStyle/>
          <a:p>
            <a:pPr marL="0" indent="0">
              <a:buNone/>
            </a:pPr>
            <a:r>
              <a:rPr lang="en-US" sz="1100" b="1" dirty="0">
                <a:solidFill>
                  <a:srgbClr val="272936"/>
                </a:solidFill>
              </a:rPr>
              <a:t>NETWORK SIGNAL</a:t>
            </a:r>
            <a:endParaRPr lang="en-US" sz="1100" dirty="0"/>
          </a:p>
        </p:txBody>
      </p:sp>
      <p:sp>
        <p:nvSpPr>
          <p:cNvPr id="8" name="Text 6"/>
          <p:cNvSpPr/>
          <p:nvPr/>
        </p:nvSpPr>
        <p:spPr>
          <a:xfrm>
            <a:off x="768096" y="2779776"/>
            <a:ext cx="1901952" cy="594360"/>
          </a:xfrm>
          <a:prstGeom prst="rect">
            <a:avLst/>
          </a:prstGeom>
          <a:noFill/>
          <a:ln>
            <a:solidFill/>
          </a:ln>
        </p:spPr>
        <p:txBody>
          <a:bodyPr wrap="square" lIns="0" tIns="0" rIns="0" bIns="0" rtlCol="0" anchor="ctr"/>
          <a:lstStyle/>
          <a:p>
            <a:pPr marL="0" indent="0" algn="ctr">
              <a:buNone/>
            </a:pPr>
            <a:r>
              <a:rPr lang="en-US" sz="1300" b="1" dirty="0">
                <a:solidFill>
                  <a:srgbClr val="272936"/>
                </a:solidFill>
              </a:rPr>
              <a:t>Mobile number • SIM • device status</a:t>
            </a:r>
            <a:endParaRPr lang="en-US" sz="1300" dirty="0"/>
          </a:p>
        </p:txBody>
      </p:sp>
      <p:sp>
        <p:nvSpPr>
          <p:cNvPr id="9" name="Text 7"/>
          <p:cNvSpPr/>
          <p:nvPr/>
        </p:nvSpPr>
        <p:spPr>
          <a:xfrm>
            <a:off x="2944368" y="2651760"/>
            <a:ext cx="274320" cy="365760"/>
          </a:xfrm>
          <a:prstGeom prst="rect">
            <a:avLst/>
          </a:prstGeom>
          <a:noFill/>
          <a:ln>
            <a:solidFill/>
          </a:ln>
        </p:spPr>
        <p:txBody>
          <a:bodyPr wrap="square" lIns="0" tIns="0" rIns="0" bIns="0" rtlCol="0" anchor="ctr"/>
          <a:lstStyle/>
          <a:p>
            <a:pPr marL="0" indent="0">
              <a:buNone/>
            </a:pPr>
            <a:r>
              <a:rPr lang="en-US" sz="2400" b="1" dirty="0">
                <a:solidFill>
                  <a:srgbClr val="004280"/>
                </a:solidFill>
              </a:rPr>
              <a:t>→</a:t>
            </a:r>
            <a:endParaRPr lang="en-US" sz="2400" dirty="0"/>
          </a:p>
        </p:txBody>
      </p:sp>
      <p:sp>
        <p:nvSpPr>
          <p:cNvPr id="10" name="Shape 8"/>
          <p:cNvSpPr/>
          <p:nvPr/>
        </p:nvSpPr>
        <p:spPr>
          <a:xfrm>
            <a:off x="3410712" y="1828800"/>
            <a:ext cx="2331720" cy="2057400"/>
          </a:xfrm>
          <a:prstGeom prst="roundRect">
            <a:avLst/>
          </a:prstGeom>
          <a:solidFill>
            <a:srgbClr val="EAF3FB"/>
          </a:solidFill>
          <a:ln w="16510">
            <a:solidFill>
              <a:srgbClr val="12ABDB"/>
            </a:solidFill>
            <a:prstDash val="solid"/>
          </a:ln>
        </p:spPr>
        <p:txBody>
          <a:bodyPr/>
          <a:lstStyle/>
          <a:p>
            <a:endParaRPr lang="en-IN"/>
          </a:p>
        </p:txBody>
      </p:sp>
      <p:sp>
        <p:nvSpPr>
          <p:cNvPr id="11" name="Shape 9"/>
          <p:cNvSpPr/>
          <p:nvPr/>
        </p:nvSpPr>
        <p:spPr>
          <a:xfrm>
            <a:off x="3547872" y="1975104"/>
            <a:ext cx="384048" cy="384048"/>
          </a:xfrm>
          <a:prstGeom prst="ellipse">
            <a:avLst/>
          </a:prstGeom>
          <a:solidFill>
            <a:srgbClr val="12ABDB"/>
          </a:solidFill>
          <a:ln w="19050">
            <a:solidFill>
              <a:srgbClr val="FFFFFF"/>
            </a:solidFill>
            <a:prstDash val="solid"/>
          </a:ln>
        </p:spPr>
        <p:txBody>
          <a:bodyPr/>
          <a:lstStyle/>
          <a:p>
            <a:endParaRPr lang="en-IN"/>
          </a:p>
        </p:txBody>
      </p:sp>
      <p:sp>
        <p:nvSpPr>
          <p:cNvPr id="12" name="Text 10"/>
          <p:cNvSpPr/>
          <p:nvPr/>
        </p:nvSpPr>
        <p:spPr>
          <a:xfrm>
            <a:off x="3547872" y="206654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1"/>
          <p:cNvSpPr/>
          <p:nvPr/>
        </p:nvSpPr>
        <p:spPr>
          <a:xfrm>
            <a:off x="4005072" y="2011680"/>
            <a:ext cx="1554480" cy="219456"/>
          </a:xfrm>
          <a:prstGeom prst="rect">
            <a:avLst/>
          </a:prstGeom>
          <a:noFill/>
          <a:ln>
            <a:solidFill/>
          </a:ln>
        </p:spPr>
        <p:txBody>
          <a:bodyPr wrap="square" lIns="0" tIns="0" rIns="0" bIns="0" rtlCol="0" anchor="ctr"/>
          <a:lstStyle/>
          <a:p>
            <a:pPr marL="0" indent="0">
              <a:buNone/>
            </a:pPr>
            <a:r>
              <a:rPr lang="en-US" sz="1100" b="1" dirty="0">
                <a:solidFill>
                  <a:srgbClr val="272936"/>
                </a:solidFill>
              </a:rPr>
              <a:t>STANDARDIZED API</a:t>
            </a:r>
            <a:endParaRPr lang="en-US" sz="1100" dirty="0"/>
          </a:p>
        </p:txBody>
      </p:sp>
      <p:sp>
        <p:nvSpPr>
          <p:cNvPr id="14" name="Text 12"/>
          <p:cNvSpPr/>
          <p:nvPr/>
        </p:nvSpPr>
        <p:spPr>
          <a:xfrm>
            <a:off x="3630168" y="2779776"/>
            <a:ext cx="1901952" cy="594360"/>
          </a:xfrm>
          <a:prstGeom prst="rect">
            <a:avLst/>
          </a:prstGeom>
          <a:noFill/>
          <a:ln>
            <a:solidFill/>
          </a:ln>
        </p:spPr>
        <p:txBody>
          <a:bodyPr wrap="square" lIns="0" tIns="0" rIns="0" bIns="0" rtlCol="0" anchor="ctr"/>
          <a:lstStyle/>
          <a:p>
            <a:pPr marL="0" indent="0" algn="ctr">
              <a:buNone/>
            </a:pPr>
            <a:r>
              <a:rPr lang="en-US" sz="1300" b="1" dirty="0">
                <a:solidFill>
                  <a:srgbClr val="272936"/>
                </a:solidFill>
              </a:rPr>
              <a:t>Number Verification • SIM Swap</a:t>
            </a:r>
            <a:endParaRPr lang="en-US" sz="1300" dirty="0"/>
          </a:p>
        </p:txBody>
      </p:sp>
      <p:sp>
        <p:nvSpPr>
          <p:cNvPr id="15" name="Text 13"/>
          <p:cNvSpPr/>
          <p:nvPr/>
        </p:nvSpPr>
        <p:spPr>
          <a:xfrm>
            <a:off x="5806440" y="2651760"/>
            <a:ext cx="274320" cy="365760"/>
          </a:xfrm>
          <a:prstGeom prst="rect">
            <a:avLst/>
          </a:prstGeom>
          <a:noFill/>
          <a:ln>
            <a:solidFill/>
          </a:ln>
        </p:spPr>
        <p:txBody>
          <a:bodyPr wrap="square" lIns="0" tIns="0" rIns="0" bIns="0" rtlCol="0" anchor="ctr"/>
          <a:lstStyle/>
          <a:p>
            <a:pPr marL="0" indent="0">
              <a:buNone/>
            </a:pPr>
            <a:r>
              <a:rPr lang="en-US" sz="2400" b="1" dirty="0">
                <a:solidFill>
                  <a:srgbClr val="004280"/>
                </a:solidFill>
              </a:rPr>
              <a:t>→</a:t>
            </a:r>
            <a:endParaRPr lang="en-US" sz="2400" dirty="0"/>
          </a:p>
        </p:txBody>
      </p:sp>
      <p:sp>
        <p:nvSpPr>
          <p:cNvPr id="16" name="Shape 14"/>
          <p:cNvSpPr/>
          <p:nvPr/>
        </p:nvSpPr>
        <p:spPr>
          <a:xfrm>
            <a:off x="6272784" y="1828800"/>
            <a:ext cx="2331720" cy="2057400"/>
          </a:xfrm>
          <a:prstGeom prst="roundRect">
            <a:avLst/>
          </a:prstGeom>
          <a:solidFill>
            <a:srgbClr val="EAF3FB"/>
          </a:solidFill>
          <a:ln w="16510">
            <a:solidFill>
              <a:srgbClr val="0070AD"/>
            </a:solidFill>
            <a:prstDash val="solid"/>
          </a:ln>
        </p:spPr>
        <p:txBody>
          <a:bodyPr/>
          <a:lstStyle/>
          <a:p>
            <a:endParaRPr lang="en-IN"/>
          </a:p>
        </p:txBody>
      </p:sp>
      <p:sp>
        <p:nvSpPr>
          <p:cNvPr id="17" name="Shape 15"/>
          <p:cNvSpPr/>
          <p:nvPr/>
        </p:nvSpPr>
        <p:spPr>
          <a:xfrm>
            <a:off x="6409944" y="1975104"/>
            <a:ext cx="384048" cy="384048"/>
          </a:xfrm>
          <a:prstGeom prst="ellipse">
            <a:avLst/>
          </a:prstGeom>
          <a:solidFill>
            <a:srgbClr val="0070AD"/>
          </a:solidFill>
          <a:ln w="19050">
            <a:solidFill>
              <a:srgbClr val="FFFFFF"/>
            </a:solidFill>
            <a:prstDash val="solid"/>
          </a:ln>
        </p:spPr>
        <p:txBody>
          <a:bodyPr/>
          <a:lstStyle/>
          <a:p>
            <a:endParaRPr lang="en-IN"/>
          </a:p>
        </p:txBody>
      </p:sp>
      <p:sp>
        <p:nvSpPr>
          <p:cNvPr id="18" name="Text 16"/>
          <p:cNvSpPr/>
          <p:nvPr/>
        </p:nvSpPr>
        <p:spPr>
          <a:xfrm>
            <a:off x="6409944" y="206654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9" name="Text 17"/>
          <p:cNvSpPr/>
          <p:nvPr/>
        </p:nvSpPr>
        <p:spPr>
          <a:xfrm>
            <a:off x="6867144" y="2011680"/>
            <a:ext cx="1554480" cy="219456"/>
          </a:xfrm>
          <a:prstGeom prst="rect">
            <a:avLst/>
          </a:prstGeom>
          <a:noFill/>
          <a:ln>
            <a:solidFill/>
          </a:ln>
        </p:spPr>
        <p:txBody>
          <a:bodyPr wrap="square" lIns="0" tIns="0" rIns="0" bIns="0" rtlCol="0" anchor="ctr"/>
          <a:lstStyle/>
          <a:p>
            <a:pPr marL="0" indent="0">
              <a:buNone/>
            </a:pPr>
            <a:r>
              <a:rPr lang="en-US" sz="1100" b="1" dirty="0">
                <a:solidFill>
                  <a:srgbClr val="272936"/>
                </a:solidFill>
              </a:rPr>
              <a:t>ENTERPRISE WORKFLOW</a:t>
            </a:r>
            <a:endParaRPr lang="en-US" sz="1100" dirty="0"/>
          </a:p>
        </p:txBody>
      </p:sp>
      <p:sp>
        <p:nvSpPr>
          <p:cNvPr id="20" name="Text 18"/>
          <p:cNvSpPr/>
          <p:nvPr/>
        </p:nvSpPr>
        <p:spPr>
          <a:xfrm>
            <a:off x="6492240" y="2779776"/>
            <a:ext cx="1901952" cy="594360"/>
          </a:xfrm>
          <a:prstGeom prst="rect">
            <a:avLst/>
          </a:prstGeom>
          <a:noFill/>
          <a:ln>
            <a:solidFill/>
          </a:ln>
        </p:spPr>
        <p:txBody>
          <a:bodyPr wrap="square" lIns="0" tIns="0" rIns="0" bIns="0" rtlCol="0" anchor="ctr"/>
          <a:lstStyle/>
          <a:p>
            <a:pPr marL="0" indent="0" algn="ctr">
              <a:buNone/>
            </a:pPr>
            <a:r>
              <a:rPr lang="en-US" sz="1300" b="1" dirty="0">
                <a:solidFill>
                  <a:srgbClr val="272936"/>
                </a:solidFill>
              </a:rPr>
              <a:t>Authentication • fraud prevention</a:t>
            </a:r>
            <a:endParaRPr lang="en-US" sz="1300" dirty="0"/>
          </a:p>
        </p:txBody>
      </p:sp>
      <p:sp>
        <p:nvSpPr>
          <p:cNvPr id="21" name="Text 19"/>
          <p:cNvSpPr/>
          <p:nvPr/>
        </p:nvSpPr>
        <p:spPr>
          <a:xfrm>
            <a:off x="8668512" y="2651760"/>
            <a:ext cx="274320" cy="365760"/>
          </a:xfrm>
          <a:prstGeom prst="rect">
            <a:avLst/>
          </a:prstGeom>
          <a:noFill/>
          <a:ln>
            <a:solidFill/>
          </a:ln>
        </p:spPr>
        <p:txBody>
          <a:bodyPr wrap="square" lIns="0" tIns="0" rIns="0" bIns="0" rtlCol="0" anchor="ctr"/>
          <a:lstStyle/>
          <a:p>
            <a:pPr marL="0" indent="0">
              <a:buNone/>
            </a:pPr>
            <a:r>
              <a:rPr lang="en-US" sz="2400" b="1" dirty="0">
                <a:solidFill>
                  <a:srgbClr val="004280"/>
                </a:solidFill>
              </a:rPr>
              <a:t>→</a:t>
            </a:r>
            <a:endParaRPr lang="en-US" sz="2400" dirty="0"/>
          </a:p>
        </p:txBody>
      </p:sp>
      <p:sp>
        <p:nvSpPr>
          <p:cNvPr id="22" name="Shape 20"/>
          <p:cNvSpPr/>
          <p:nvPr/>
        </p:nvSpPr>
        <p:spPr>
          <a:xfrm>
            <a:off x="9134856" y="1828800"/>
            <a:ext cx="2331720" cy="2057400"/>
          </a:xfrm>
          <a:prstGeom prst="roundRect">
            <a:avLst/>
          </a:prstGeom>
          <a:solidFill>
            <a:srgbClr val="EAF3FB"/>
          </a:solidFill>
          <a:ln w="16510">
            <a:solidFill>
              <a:srgbClr val="12ABDB"/>
            </a:solidFill>
            <a:prstDash val="solid"/>
          </a:ln>
        </p:spPr>
        <p:txBody>
          <a:bodyPr/>
          <a:lstStyle/>
          <a:p>
            <a:endParaRPr lang="en-IN"/>
          </a:p>
        </p:txBody>
      </p:sp>
      <p:sp>
        <p:nvSpPr>
          <p:cNvPr id="23" name="Shape 21"/>
          <p:cNvSpPr/>
          <p:nvPr/>
        </p:nvSpPr>
        <p:spPr>
          <a:xfrm>
            <a:off x="9272016" y="1975104"/>
            <a:ext cx="384048" cy="384048"/>
          </a:xfrm>
          <a:prstGeom prst="ellipse">
            <a:avLst/>
          </a:prstGeom>
          <a:solidFill>
            <a:srgbClr val="12ABDB"/>
          </a:solidFill>
          <a:ln w="19050">
            <a:solidFill>
              <a:srgbClr val="FFFFFF"/>
            </a:solidFill>
            <a:prstDash val="solid"/>
          </a:ln>
        </p:spPr>
        <p:txBody>
          <a:bodyPr/>
          <a:lstStyle/>
          <a:p>
            <a:endParaRPr lang="en-IN"/>
          </a:p>
        </p:txBody>
      </p:sp>
      <p:sp>
        <p:nvSpPr>
          <p:cNvPr id="24" name="Text 22"/>
          <p:cNvSpPr/>
          <p:nvPr/>
        </p:nvSpPr>
        <p:spPr>
          <a:xfrm>
            <a:off x="9272016" y="206654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5" name="Text 23"/>
          <p:cNvSpPr/>
          <p:nvPr/>
        </p:nvSpPr>
        <p:spPr>
          <a:xfrm>
            <a:off x="9729216" y="2011680"/>
            <a:ext cx="1554480" cy="219456"/>
          </a:xfrm>
          <a:prstGeom prst="rect">
            <a:avLst/>
          </a:prstGeom>
          <a:noFill/>
          <a:ln>
            <a:solidFill/>
          </a:ln>
        </p:spPr>
        <p:txBody>
          <a:bodyPr wrap="square" lIns="0" tIns="0" rIns="0" bIns="0" rtlCol="0" anchor="ctr"/>
          <a:lstStyle/>
          <a:p>
            <a:pPr marL="0" indent="0">
              <a:buNone/>
            </a:pPr>
            <a:r>
              <a:rPr lang="en-US" sz="1100" b="1" dirty="0">
                <a:solidFill>
                  <a:srgbClr val="272936"/>
                </a:solidFill>
              </a:rPr>
              <a:t>BUSINESS OUTCOME</a:t>
            </a:r>
            <a:endParaRPr lang="en-US" sz="1100" dirty="0"/>
          </a:p>
        </p:txBody>
      </p:sp>
      <p:sp>
        <p:nvSpPr>
          <p:cNvPr id="26" name="Text 24"/>
          <p:cNvSpPr/>
          <p:nvPr/>
        </p:nvSpPr>
        <p:spPr>
          <a:xfrm>
            <a:off x="9354312" y="2779776"/>
            <a:ext cx="1901952" cy="594360"/>
          </a:xfrm>
          <a:prstGeom prst="rect">
            <a:avLst/>
          </a:prstGeom>
          <a:noFill/>
          <a:ln>
            <a:solidFill/>
          </a:ln>
        </p:spPr>
        <p:txBody>
          <a:bodyPr wrap="square" lIns="0" tIns="0" rIns="0" bIns="0" rtlCol="0" anchor="ctr"/>
          <a:lstStyle/>
          <a:p>
            <a:pPr marL="0" indent="0" algn="ctr">
              <a:buNone/>
            </a:pPr>
            <a:r>
              <a:rPr lang="en-US" sz="1300" b="1" dirty="0">
                <a:solidFill>
                  <a:srgbClr val="272936"/>
                </a:solidFill>
              </a:rPr>
              <a:t>Less friction • lower fraud exposure</a:t>
            </a:r>
            <a:endParaRPr lang="en-US" sz="1300" dirty="0"/>
          </a:p>
        </p:txBody>
      </p:sp>
      <p:sp>
        <p:nvSpPr>
          <p:cNvPr id="27" name="Shape 25"/>
          <p:cNvSpPr/>
          <p:nvPr/>
        </p:nvSpPr>
        <p:spPr>
          <a:xfrm>
            <a:off x="1325880" y="4709160"/>
            <a:ext cx="9555480" cy="777240"/>
          </a:xfrm>
          <a:prstGeom prst="roundRect">
            <a:avLst/>
          </a:prstGeom>
          <a:solidFill>
            <a:srgbClr val="EAF3FB"/>
          </a:solidFill>
          <a:ln w="12700">
            <a:solidFill>
              <a:srgbClr val="D3C4ED"/>
            </a:solidFill>
            <a:prstDash val="solid"/>
          </a:ln>
        </p:spPr>
        <p:txBody>
          <a:bodyPr/>
          <a:lstStyle/>
          <a:p>
            <a:endParaRPr lang="en-IN"/>
          </a:p>
        </p:txBody>
      </p:sp>
      <p:sp>
        <p:nvSpPr>
          <p:cNvPr id="28" name="Text 26"/>
          <p:cNvSpPr/>
          <p:nvPr/>
        </p:nvSpPr>
        <p:spPr>
          <a:xfrm>
            <a:off x="1645920" y="4956048"/>
            <a:ext cx="8915400" cy="274320"/>
          </a:xfrm>
          <a:prstGeom prst="rect">
            <a:avLst/>
          </a:prstGeom>
          <a:noFill/>
          <a:ln>
            <a:solidFill/>
          </a:ln>
        </p:spPr>
        <p:txBody>
          <a:bodyPr wrap="square" lIns="0" tIns="0" rIns="0" bIns="0" rtlCol="0" anchor="ctr"/>
          <a:lstStyle/>
          <a:p>
            <a:pPr marL="0" indent="0" algn="ctr">
              <a:buNone/>
            </a:pPr>
            <a:r>
              <a:rPr lang="en-US" sz="1400" b="1" dirty="0">
                <a:solidFill>
                  <a:srgbClr val="004280"/>
                </a:solidFill>
              </a:rPr>
              <a:t>Commercial principle: expose selected network-originated signals through controlled interfaces, while keeping underlying customer data protected.</a:t>
            </a:r>
            <a:endParaRPr lang="en-US" sz="1400" dirty="0"/>
          </a:p>
        </p:txBody>
      </p:sp>
      <p:sp>
        <p:nvSpPr>
          <p:cNvPr id="29" name="Rectangle 28"/>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Growth play 3: enterprise data &amp; mobility intelligence</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Aggregated network information can become enterprise decision intelligence.</a:t>
            </a:r>
            <a:endParaRPr lang="en-US" sz="1200" dirty="0"/>
          </a:p>
        </p:txBody>
      </p:sp>
      <p:sp>
        <p:nvSpPr>
          <p:cNvPr id="4" name="Shape 2"/>
          <p:cNvSpPr/>
          <p:nvPr/>
        </p:nvSpPr>
        <p:spPr>
          <a:xfrm>
            <a:off x="594360" y="1325880"/>
            <a:ext cx="5303520" cy="416052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5" name="Shape 3"/>
          <p:cNvSpPr/>
          <p:nvPr/>
        </p:nvSpPr>
        <p:spPr>
          <a:xfrm>
            <a:off x="594360" y="1325880"/>
            <a:ext cx="64008" cy="4160520"/>
          </a:xfrm>
          <a:prstGeom prst="rect">
            <a:avLst/>
          </a:prstGeom>
          <a:solidFill>
            <a:srgbClr val="0070AD"/>
          </a:solidFill>
          <a:ln w="12700">
            <a:solidFill>
              <a:srgbClr val="0070AD"/>
            </a:solidFill>
            <a:prstDash val="solid"/>
          </a:ln>
        </p:spPr>
        <p:txBody>
          <a:bodyPr/>
          <a:lstStyle/>
          <a:p>
            <a:endParaRPr lang="en-IN"/>
          </a:p>
        </p:txBody>
      </p:sp>
      <p:sp>
        <p:nvSpPr>
          <p:cNvPr id="6" name="Text 4"/>
          <p:cNvSpPr/>
          <p:nvPr/>
        </p:nvSpPr>
        <p:spPr>
          <a:xfrm>
            <a:off x="777240" y="1472184"/>
            <a:ext cx="4956048"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VODAFONE ANALYTICS</a:t>
            </a:r>
            <a:endParaRPr lang="en-US" sz="1350" dirty="0"/>
          </a:p>
        </p:txBody>
      </p:sp>
      <p:sp>
        <p:nvSpPr>
          <p:cNvPr id="7" name="Text 5"/>
          <p:cNvSpPr/>
          <p:nvPr/>
        </p:nvSpPr>
        <p:spPr>
          <a:xfrm>
            <a:off x="777240" y="1810512"/>
            <a:ext cx="4956048" cy="352044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Uses telecommunications and location information to support enterprise insights across retail, real estate, logistics, outdoor media and the public sector. Vodafone states datasets delivered through the solution are anonymized and aggregated.</a:t>
            </a:r>
            <a:endParaRPr lang="en-US" sz="1050" dirty="0"/>
          </a:p>
          <a:p>
            <a:pPr marL="0" indent="0">
              <a:buNone/>
            </a:pPr>
            <a:endParaRPr lang="en-US" sz="1050" dirty="0"/>
          </a:p>
          <a:p>
            <a:pPr marL="0" indent="0">
              <a:buNone/>
            </a:pPr>
            <a:r>
              <a:rPr lang="en-US" sz="1050" dirty="0">
                <a:solidFill>
                  <a:srgbClr val="272936"/>
                </a:solidFill>
              </a:rPr>
              <a:t>USE CASES</a:t>
            </a:r>
            <a:endParaRPr lang="en-US" sz="1050" dirty="0"/>
          </a:p>
          <a:p>
            <a:pPr marL="0" indent="0">
              <a:buNone/>
            </a:pPr>
            <a:r>
              <a:rPr lang="en-US" sz="1050" dirty="0">
                <a:solidFill>
                  <a:srgbClr val="272936"/>
                </a:solidFill>
              </a:rPr>
              <a:t>• People-flow understanding</a:t>
            </a:r>
            <a:endParaRPr lang="en-US" sz="1050" dirty="0"/>
          </a:p>
          <a:p>
            <a:pPr marL="0" indent="0">
              <a:buNone/>
            </a:pPr>
            <a:r>
              <a:rPr lang="en-US" sz="1050" dirty="0">
                <a:solidFill>
                  <a:srgbClr val="272936"/>
                </a:solidFill>
              </a:rPr>
              <a:t>• Branch / site planning</a:t>
            </a:r>
            <a:endParaRPr lang="en-US" sz="1050" dirty="0"/>
          </a:p>
          <a:p>
            <a:pPr marL="0" indent="0">
              <a:buNone/>
            </a:pPr>
            <a:r>
              <a:rPr lang="en-US" sz="1050" dirty="0">
                <a:solidFill>
                  <a:srgbClr val="272936"/>
                </a:solidFill>
              </a:rPr>
              <a:t>• Geographic customer analysis</a:t>
            </a:r>
            <a:endParaRPr lang="en-US" sz="1050" dirty="0"/>
          </a:p>
        </p:txBody>
      </p:sp>
      <p:sp>
        <p:nvSpPr>
          <p:cNvPr id="8" name="Shape 6"/>
          <p:cNvSpPr/>
          <p:nvPr/>
        </p:nvSpPr>
        <p:spPr>
          <a:xfrm>
            <a:off x="6263640" y="1325880"/>
            <a:ext cx="5303520" cy="416052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9" name="Shape 7"/>
          <p:cNvSpPr/>
          <p:nvPr/>
        </p:nvSpPr>
        <p:spPr>
          <a:xfrm>
            <a:off x="6263640" y="1325880"/>
            <a:ext cx="64008" cy="4160520"/>
          </a:xfrm>
          <a:prstGeom prst="rect">
            <a:avLst/>
          </a:prstGeom>
          <a:solidFill>
            <a:srgbClr val="12ABDB"/>
          </a:solidFill>
          <a:ln w="12700">
            <a:solidFill>
              <a:srgbClr val="12ABDB"/>
            </a:solidFill>
            <a:prstDash val="solid"/>
          </a:ln>
        </p:spPr>
        <p:txBody>
          <a:bodyPr/>
          <a:lstStyle/>
          <a:p>
            <a:endParaRPr lang="en-IN"/>
          </a:p>
        </p:txBody>
      </p:sp>
      <p:sp>
        <p:nvSpPr>
          <p:cNvPr id="10" name="Text 8"/>
          <p:cNvSpPr/>
          <p:nvPr/>
        </p:nvSpPr>
        <p:spPr>
          <a:xfrm>
            <a:off x="6446520" y="1472184"/>
            <a:ext cx="4956048" cy="256032"/>
          </a:xfrm>
          <a:prstGeom prst="rect">
            <a:avLst/>
          </a:prstGeom>
          <a:noFill/>
          <a:ln>
            <a:solidFill/>
          </a:ln>
        </p:spPr>
        <p:txBody>
          <a:bodyPr wrap="square" lIns="0" tIns="0" rIns="0" bIns="0" rtlCol="0" anchor="ctr"/>
          <a:lstStyle/>
          <a:p>
            <a:pPr marL="0" indent="0">
              <a:buNone/>
            </a:pPr>
            <a:r>
              <a:rPr lang="en-US" sz="1350" b="1" dirty="0">
                <a:solidFill>
                  <a:srgbClr val="12ABDB"/>
                </a:solidFill>
              </a:rPr>
              <a:t>TELEFÓNICA TECH MOBILITY INSIGHTS</a:t>
            </a:r>
            <a:endParaRPr lang="en-US" sz="1350" dirty="0"/>
          </a:p>
        </p:txBody>
      </p:sp>
      <p:sp>
        <p:nvSpPr>
          <p:cNvPr id="11" name="Text 9"/>
          <p:cNvSpPr/>
          <p:nvPr/>
        </p:nvSpPr>
        <p:spPr>
          <a:xfrm>
            <a:off x="6446520" y="1810512"/>
            <a:ext cx="4956048" cy="352044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Combines anonymized network information with other sources, using Big Data and AI for mobility and transportation analysis.</a:t>
            </a:r>
            <a:endParaRPr lang="en-US" sz="1050" dirty="0"/>
          </a:p>
          <a:p>
            <a:pPr marL="0" indent="0">
              <a:buNone/>
            </a:pPr>
            <a:endParaRPr lang="en-US" sz="1050" dirty="0"/>
          </a:p>
          <a:p>
            <a:pPr marL="0" indent="0">
              <a:buNone/>
            </a:pPr>
            <a:r>
              <a:rPr lang="en-US" sz="1050" dirty="0">
                <a:solidFill>
                  <a:srgbClr val="272936"/>
                </a:solidFill>
              </a:rPr>
              <a:t>USE CASES</a:t>
            </a:r>
            <a:endParaRPr lang="en-US" sz="1050" dirty="0"/>
          </a:p>
          <a:p>
            <a:pPr marL="0" indent="0">
              <a:buNone/>
            </a:pPr>
            <a:r>
              <a:rPr lang="en-US" sz="1050" dirty="0">
                <a:solidFill>
                  <a:srgbClr val="272936"/>
                </a:solidFill>
              </a:rPr>
              <a:t>• Origin-destination analysis</a:t>
            </a:r>
            <a:endParaRPr lang="en-US" sz="1050" dirty="0"/>
          </a:p>
          <a:p>
            <a:pPr marL="0" indent="0">
              <a:buNone/>
            </a:pPr>
            <a:r>
              <a:rPr lang="en-US" sz="1050" dirty="0">
                <a:solidFill>
                  <a:srgbClr val="272936"/>
                </a:solidFill>
              </a:rPr>
              <a:t>• Travel-demand assessment</a:t>
            </a:r>
            <a:endParaRPr lang="en-US" sz="1050" dirty="0"/>
          </a:p>
          <a:p>
            <a:pPr marL="0" indent="0">
              <a:buNone/>
            </a:pPr>
            <a:r>
              <a:rPr lang="en-US" sz="1050" dirty="0">
                <a:solidFill>
                  <a:srgbClr val="272936"/>
                </a:solidFill>
              </a:rPr>
              <a:t>• Route and infrastructure planning</a:t>
            </a:r>
            <a:endParaRPr lang="en-US" sz="1050" dirty="0"/>
          </a:p>
        </p:txBody>
      </p:sp>
      <p:sp>
        <p:nvSpPr>
          <p:cNvPr id="12" name="Text 10"/>
          <p:cNvSpPr/>
          <p:nvPr/>
        </p:nvSpPr>
        <p:spPr>
          <a:xfrm>
            <a:off x="1508760" y="5833872"/>
            <a:ext cx="9144000" cy="347472"/>
          </a:xfrm>
          <a:prstGeom prst="rect">
            <a:avLst/>
          </a:prstGeom>
          <a:noFill/>
          <a:ln>
            <a:solidFill/>
          </a:ln>
        </p:spPr>
        <p:txBody>
          <a:bodyPr wrap="square" lIns="0" tIns="0" rIns="0" bIns="0" rtlCol="0" anchor="ctr"/>
          <a:lstStyle/>
          <a:p>
            <a:pPr marL="0" indent="0" algn="ctr">
              <a:buNone/>
            </a:pPr>
            <a:r>
              <a:rPr lang="en-US" sz="1800" b="1" dirty="0">
                <a:solidFill>
                  <a:srgbClr val="272936"/>
                </a:solidFill>
              </a:rPr>
              <a:t>Strategic shift: raw data → privacy-preserving insights → enterprise decisions.</a:t>
            </a:r>
            <a:endParaRPr lang="en-US" sz="1800" dirty="0"/>
          </a:p>
        </p:txBody>
      </p:sp>
      <p:sp>
        <p:nvSpPr>
          <p:cNvPr id="13" name="Rectangle 12"/>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Growth play 4: advertising &amp; media</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A meaningful monetization path, but one element of a wider intelligence portfolio.</a:t>
            </a:r>
            <a:endParaRPr lang="en-US" sz="1200" dirty="0"/>
          </a:p>
        </p:txBody>
      </p:sp>
      <p:sp>
        <p:nvSpPr>
          <p:cNvPr id="4" name="Shape 2"/>
          <p:cNvSpPr/>
          <p:nvPr/>
        </p:nvSpPr>
        <p:spPr>
          <a:xfrm>
            <a:off x="594360" y="1325880"/>
            <a:ext cx="5349240" cy="425196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5" name="Shape 3"/>
          <p:cNvSpPr/>
          <p:nvPr/>
        </p:nvSpPr>
        <p:spPr>
          <a:xfrm>
            <a:off x="594360" y="1325880"/>
            <a:ext cx="64008" cy="4251960"/>
          </a:xfrm>
          <a:prstGeom prst="rect">
            <a:avLst/>
          </a:prstGeom>
          <a:solidFill>
            <a:srgbClr val="004280"/>
          </a:solidFill>
          <a:ln w="12700">
            <a:solidFill>
              <a:srgbClr val="004280"/>
            </a:solidFill>
            <a:prstDash val="solid"/>
          </a:ln>
        </p:spPr>
        <p:txBody>
          <a:bodyPr/>
          <a:lstStyle/>
          <a:p>
            <a:endParaRPr lang="en-IN"/>
          </a:p>
        </p:txBody>
      </p:sp>
      <p:sp>
        <p:nvSpPr>
          <p:cNvPr id="6" name="Text 4"/>
          <p:cNvSpPr/>
          <p:nvPr/>
        </p:nvSpPr>
        <p:spPr>
          <a:xfrm>
            <a:off x="777240" y="1472184"/>
            <a:ext cx="5001768" cy="256032"/>
          </a:xfrm>
          <a:prstGeom prst="rect">
            <a:avLst/>
          </a:prstGeom>
          <a:noFill/>
          <a:ln>
            <a:solidFill/>
          </a:ln>
        </p:spPr>
        <p:txBody>
          <a:bodyPr wrap="square" lIns="0" tIns="0" rIns="0" bIns="0" rtlCol="0" anchor="ctr"/>
          <a:lstStyle/>
          <a:p>
            <a:pPr marL="0" indent="0">
              <a:buNone/>
            </a:pPr>
            <a:r>
              <a:rPr lang="en-US" sz="1350" b="1" dirty="0">
                <a:solidFill>
                  <a:srgbClr val="004280"/>
                </a:solidFill>
              </a:rPr>
              <a:t>T-MOBILE + VISTAR MEDIA</a:t>
            </a:r>
            <a:endParaRPr lang="en-US" sz="1350" dirty="0"/>
          </a:p>
        </p:txBody>
      </p:sp>
      <p:sp>
        <p:nvSpPr>
          <p:cNvPr id="7" name="Text 5"/>
          <p:cNvSpPr/>
          <p:nvPr/>
        </p:nvSpPr>
        <p:spPr>
          <a:xfrm>
            <a:off x="777240" y="1810512"/>
            <a:ext cx="5001768" cy="361188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T-Mobile expanded its advertising technology footprint through Vistar Media. At announcement, Vistar described a network of more than 1.1 million digital screens from nearly 370 out-of-home media owners.</a:t>
            </a:r>
            <a:endParaRPr lang="en-US" sz="1050" dirty="0"/>
          </a:p>
          <a:p>
            <a:pPr marL="0" indent="0">
              <a:buNone/>
            </a:pPr>
            <a:endParaRPr lang="en-US" sz="1050" dirty="0"/>
          </a:p>
          <a:p>
            <a:pPr marL="0" indent="0">
              <a:buNone/>
            </a:pPr>
            <a:r>
              <a:rPr lang="en-US" sz="1050" dirty="0">
                <a:solidFill>
                  <a:srgbClr val="272936"/>
                </a:solidFill>
              </a:rPr>
              <a:t>VALUE STACK</a:t>
            </a:r>
            <a:endParaRPr lang="en-US" sz="1050" dirty="0"/>
          </a:p>
          <a:p>
            <a:pPr marL="0" indent="0">
              <a:buNone/>
            </a:pPr>
            <a:r>
              <a:rPr lang="en-US" sz="1050" dirty="0">
                <a:solidFill>
                  <a:srgbClr val="272936"/>
                </a:solidFill>
              </a:rPr>
              <a:t>Customer insight + programmatic DOOH technology + media reach + measurement</a:t>
            </a:r>
            <a:endParaRPr lang="en-US" sz="1050" dirty="0"/>
          </a:p>
        </p:txBody>
      </p:sp>
      <p:sp>
        <p:nvSpPr>
          <p:cNvPr id="8" name="Shape 6"/>
          <p:cNvSpPr/>
          <p:nvPr/>
        </p:nvSpPr>
        <p:spPr>
          <a:xfrm>
            <a:off x="6263640" y="1325880"/>
            <a:ext cx="5349240" cy="425196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9" name="Shape 7"/>
          <p:cNvSpPr/>
          <p:nvPr/>
        </p:nvSpPr>
        <p:spPr>
          <a:xfrm>
            <a:off x="6263640" y="1325880"/>
            <a:ext cx="64008" cy="4251960"/>
          </a:xfrm>
          <a:prstGeom prst="rect">
            <a:avLst/>
          </a:prstGeom>
          <a:solidFill>
            <a:srgbClr val="0070AD"/>
          </a:solidFill>
          <a:ln w="12700">
            <a:solidFill>
              <a:srgbClr val="0070AD"/>
            </a:solidFill>
            <a:prstDash val="solid"/>
          </a:ln>
        </p:spPr>
        <p:txBody>
          <a:bodyPr/>
          <a:lstStyle/>
          <a:p>
            <a:endParaRPr lang="en-IN"/>
          </a:p>
        </p:txBody>
      </p:sp>
      <p:sp>
        <p:nvSpPr>
          <p:cNvPr id="10" name="Text 8"/>
          <p:cNvSpPr/>
          <p:nvPr/>
        </p:nvSpPr>
        <p:spPr>
          <a:xfrm>
            <a:off x="6446520" y="1472184"/>
            <a:ext cx="5001768"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COMCAST + FREEWHEEL</a:t>
            </a:r>
            <a:endParaRPr lang="en-US" sz="1350" dirty="0"/>
          </a:p>
        </p:txBody>
      </p:sp>
      <p:sp>
        <p:nvSpPr>
          <p:cNvPr id="11" name="Text 9"/>
          <p:cNvSpPr/>
          <p:nvPr/>
        </p:nvSpPr>
        <p:spPr>
          <a:xfrm>
            <a:off x="6446520" y="1810512"/>
            <a:ext cx="5001768" cy="361188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FreeWheel provides media-buying and programmatic advertising technology across streaming, connected TV and multiscreen environments. Comcast Advertising also introduced programmatic access to targetable linear-TV inventory through Buyer Cloud.</a:t>
            </a:r>
            <a:endParaRPr lang="en-US" sz="1050" dirty="0"/>
          </a:p>
          <a:p>
            <a:pPr marL="0" indent="0">
              <a:buNone/>
            </a:pPr>
            <a:endParaRPr lang="en-US" sz="1050" dirty="0"/>
          </a:p>
          <a:p>
            <a:pPr marL="0" indent="0">
              <a:buNone/>
            </a:pPr>
            <a:r>
              <a:rPr lang="en-US" sz="1050" dirty="0">
                <a:solidFill>
                  <a:srgbClr val="272936"/>
                </a:solidFill>
              </a:rPr>
              <a:t>VALUE STACK</a:t>
            </a:r>
            <a:endParaRPr lang="en-US" sz="1050" dirty="0"/>
          </a:p>
          <a:p>
            <a:pPr marL="0" indent="0">
              <a:buNone/>
            </a:pPr>
            <a:r>
              <a:rPr lang="en-US" sz="1050" dirty="0">
                <a:solidFill>
                  <a:srgbClr val="272936"/>
                </a:solidFill>
              </a:rPr>
              <a:t>Premium media + data + AdTech + measurement</a:t>
            </a:r>
            <a:endParaRPr lang="en-US" sz="1050" dirty="0"/>
          </a:p>
        </p:txBody>
      </p:sp>
      <p:sp>
        <p:nvSpPr>
          <p:cNvPr id="12" name="Text 10"/>
          <p:cNvSpPr/>
          <p:nvPr/>
        </p:nvSpPr>
        <p:spPr>
          <a:xfrm>
            <a:off x="1097280" y="5870448"/>
            <a:ext cx="10012680" cy="365760"/>
          </a:xfrm>
          <a:prstGeom prst="rect">
            <a:avLst/>
          </a:prstGeom>
          <a:noFill/>
          <a:ln>
            <a:solidFill/>
          </a:ln>
        </p:spPr>
        <p:txBody>
          <a:bodyPr wrap="square" lIns="0" tIns="0" rIns="0" bIns="0" rtlCol="0" anchor="ctr"/>
          <a:lstStyle/>
          <a:p>
            <a:pPr marL="0" indent="0" algn="ctr">
              <a:buNone/>
            </a:pPr>
            <a:r>
              <a:rPr lang="en-US" sz="1550" b="1" dirty="0">
                <a:solidFill>
                  <a:srgbClr val="272936"/>
                </a:solidFill>
              </a:rPr>
              <a:t>Keep advertising in perspective: APIs, identity, fraud prevention and enterprise intelligence broaden the monetization opportunity.</a:t>
            </a:r>
            <a:endParaRPr lang="en-US" sz="1550" dirty="0"/>
          </a:p>
        </p:txBody>
      </p:sp>
      <p:sp>
        <p:nvSpPr>
          <p:cNvPr id="13" name="Rectangle 12"/>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Ecosystem intelligence: the Rakuten model</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A wider digital ecosystem can create a differentiated first-party data and AI advantage.</a:t>
            </a:r>
            <a:endParaRPr lang="en-US" sz="1200" dirty="0"/>
          </a:p>
        </p:txBody>
      </p:sp>
      <p:pic>
        <p:nvPicPr>
          <p:cNvPr id="4" name="Image 0" descr="/mnt/data/generated_image_03A152B20E34_02.png"/>
          <p:cNvPicPr>
            <a:picLocks noChangeAspect="1"/>
          </p:cNvPicPr>
          <p:nvPr/>
        </p:nvPicPr>
        <p:blipFill>
          <a:blip r:embed="rId3"/>
          <a:srcRect l="14286" r="14286"/>
          <a:stretch/>
        </p:blipFill>
        <p:spPr>
          <a:xfrm>
            <a:off x="502920" y="1143000"/>
            <a:ext cx="5486400" cy="5120640"/>
          </a:xfrm>
          <a:prstGeom prst="rect">
            <a:avLst/>
          </a:prstGeom>
          <a:ln>
            <a:solidFill/>
          </a:ln>
        </p:spPr>
      </p:pic>
      <p:sp>
        <p:nvSpPr>
          <p:cNvPr id="5" name="Shape 2"/>
          <p:cNvSpPr/>
          <p:nvPr/>
        </p:nvSpPr>
        <p:spPr>
          <a:xfrm>
            <a:off x="6309360" y="1234440"/>
            <a:ext cx="5303520"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Shape 3"/>
          <p:cNvSpPr/>
          <p:nvPr/>
        </p:nvSpPr>
        <p:spPr>
          <a:xfrm>
            <a:off x="6309360" y="1234440"/>
            <a:ext cx="64008" cy="1371600"/>
          </a:xfrm>
          <a:prstGeom prst="rect">
            <a:avLst/>
          </a:prstGeom>
          <a:solidFill>
            <a:srgbClr val="0070AD"/>
          </a:solidFill>
          <a:ln w="12700">
            <a:solidFill>
              <a:srgbClr val="0070AD"/>
            </a:solidFill>
            <a:prstDash val="solid"/>
          </a:ln>
        </p:spPr>
        <p:txBody>
          <a:bodyPr/>
          <a:lstStyle/>
          <a:p>
            <a:endParaRPr lang="en-IN"/>
          </a:p>
        </p:txBody>
      </p:sp>
      <p:sp>
        <p:nvSpPr>
          <p:cNvPr id="7" name="Text 4"/>
          <p:cNvSpPr/>
          <p:nvPr/>
        </p:nvSpPr>
        <p:spPr>
          <a:xfrm>
            <a:off x="6492240" y="1380744"/>
            <a:ext cx="4956048"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UNIFIED DATA ESTATE</a:t>
            </a:r>
            <a:endParaRPr lang="en-US" sz="1350" dirty="0"/>
          </a:p>
        </p:txBody>
      </p:sp>
      <p:sp>
        <p:nvSpPr>
          <p:cNvPr id="8" name="Text 5"/>
          <p:cNvSpPr/>
          <p:nvPr/>
        </p:nvSpPr>
        <p:spPr>
          <a:xfrm>
            <a:off x="6492240" y="1719072"/>
            <a:ext cx="4956048"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Rakuten described an AI data foundation spanning 70 businesses, supported by a common Rakuten ID and first-party interaction data.</a:t>
            </a:r>
            <a:endParaRPr lang="en-US" sz="1050" dirty="0"/>
          </a:p>
        </p:txBody>
      </p:sp>
      <p:sp>
        <p:nvSpPr>
          <p:cNvPr id="9" name="Shape 6"/>
          <p:cNvSpPr/>
          <p:nvPr/>
        </p:nvSpPr>
        <p:spPr>
          <a:xfrm>
            <a:off x="6309360" y="2889504"/>
            <a:ext cx="5303520"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Shape 7"/>
          <p:cNvSpPr/>
          <p:nvPr/>
        </p:nvSpPr>
        <p:spPr>
          <a:xfrm>
            <a:off x="6309360" y="2889504"/>
            <a:ext cx="64008" cy="1371600"/>
          </a:xfrm>
          <a:prstGeom prst="rect">
            <a:avLst/>
          </a:prstGeom>
          <a:solidFill>
            <a:srgbClr val="004280"/>
          </a:solidFill>
          <a:ln w="12700">
            <a:solidFill>
              <a:srgbClr val="004280"/>
            </a:solidFill>
            <a:prstDash val="solid"/>
          </a:ln>
        </p:spPr>
        <p:txBody>
          <a:bodyPr/>
          <a:lstStyle/>
          <a:p>
            <a:endParaRPr lang="en-IN"/>
          </a:p>
        </p:txBody>
      </p:sp>
      <p:sp>
        <p:nvSpPr>
          <p:cNvPr id="11" name="Text 8"/>
          <p:cNvSpPr/>
          <p:nvPr/>
        </p:nvSpPr>
        <p:spPr>
          <a:xfrm>
            <a:off x="6492240" y="3035808"/>
            <a:ext cx="4956048" cy="256032"/>
          </a:xfrm>
          <a:prstGeom prst="rect">
            <a:avLst/>
          </a:prstGeom>
          <a:noFill/>
          <a:ln>
            <a:solidFill/>
          </a:ln>
        </p:spPr>
        <p:txBody>
          <a:bodyPr wrap="square" lIns="0" tIns="0" rIns="0" bIns="0" rtlCol="0" anchor="ctr"/>
          <a:lstStyle/>
          <a:p>
            <a:pPr marL="0" indent="0">
              <a:buNone/>
            </a:pPr>
            <a:r>
              <a:rPr lang="en-US" sz="1350" b="1" dirty="0">
                <a:solidFill>
                  <a:srgbClr val="004280"/>
                </a:solidFill>
              </a:rPr>
              <a:t>AGENTIC AI DEPLOYMENT</a:t>
            </a:r>
            <a:endParaRPr lang="en-US" sz="1350" dirty="0"/>
          </a:p>
        </p:txBody>
      </p:sp>
      <p:sp>
        <p:nvSpPr>
          <p:cNvPr id="12" name="Text 9"/>
          <p:cNvSpPr/>
          <p:nvPr/>
        </p:nvSpPr>
        <p:spPr>
          <a:xfrm>
            <a:off x="6492240" y="3374136"/>
            <a:ext cx="4956048"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Rakuten Group and Rakuten Mobile announced the full-scale launch of Rakuten AI in July 2025, initially integrated into Rakuten Link and intended to connect into the wider ecosystem.</a:t>
            </a:r>
            <a:endParaRPr lang="en-US" sz="1050" dirty="0"/>
          </a:p>
        </p:txBody>
      </p:sp>
      <p:sp>
        <p:nvSpPr>
          <p:cNvPr id="13" name="Shape 10"/>
          <p:cNvSpPr/>
          <p:nvPr/>
        </p:nvSpPr>
        <p:spPr>
          <a:xfrm>
            <a:off x="6309360" y="4544568"/>
            <a:ext cx="5303520" cy="123444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4" name="Shape 11"/>
          <p:cNvSpPr/>
          <p:nvPr/>
        </p:nvSpPr>
        <p:spPr>
          <a:xfrm>
            <a:off x="6309360" y="4544568"/>
            <a:ext cx="64008" cy="1234440"/>
          </a:xfrm>
          <a:prstGeom prst="rect">
            <a:avLst/>
          </a:prstGeom>
          <a:solidFill>
            <a:srgbClr val="0058AB"/>
          </a:solidFill>
          <a:ln w="12700">
            <a:solidFill>
              <a:srgbClr val="0058AB"/>
            </a:solidFill>
            <a:prstDash val="solid"/>
          </a:ln>
        </p:spPr>
        <p:txBody>
          <a:bodyPr/>
          <a:lstStyle/>
          <a:p>
            <a:endParaRPr lang="en-IN"/>
          </a:p>
        </p:txBody>
      </p:sp>
      <p:sp>
        <p:nvSpPr>
          <p:cNvPr id="15" name="Text 12"/>
          <p:cNvSpPr/>
          <p:nvPr/>
        </p:nvSpPr>
        <p:spPr>
          <a:xfrm>
            <a:off x="6492240" y="4690872"/>
            <a:ext cx="4956048" cy="256032"/>
          </a:xfrm>
          <a:prstGeom prst="rect">
            <a:avLst/>
          </a:prstGeom>
          <a:noFill/>
          <a:ln>
            <a:solidFill/>
          </a:ln>
        </p:spPr>
        <p:txBody>
          <a:bodyPr wrap="square" lIns="0" tIns="0" rIns="0" bIns="0" rtlCol="0" anchor="ctr"/>
          <a:lstStyle/>
          <a:p>
            <a:pPr marL="0" indent="0">
              <a:buNone/>
            </a:pPr>
            <a:r>
              <a:rPr lang="en-US" sz="1350" b="1" dirty="0">
                <a:solidFill>
                  <a:srgbClr val="0058AB"/>
                </a:solidFill>
              </a:rPr>
              <a:t>STRATEGIC LESSON</a:t>
            </a:r>
            <a:endParaRPr lang="en-US" sz="1350" dirty="0"/>
          </a:p>
        </p:txBody>
      </p:sp>
      <p:sp>
        <p:nvSpPr>
          <p:cNvPr id="16" name="Text 13"/>
          <p:cNvSpPr/>
          <p:nvPr/>
        </p:nvSpPr>
        <p:spPr>
          <a:xfrm>
            <a:off x="6492240" y="5029200"/>
            <a:ext cx="4956048" cy="59436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AI differentiation grows when proprietary data, user journeys and services are connected across the ecosystem.</a:t>
            </a:r>
            <a:endParaRPr lang="en-US" sz="1050" dirty="0"/>
          </a:p>
        </p:txBody>
      </p:sp>
      <p:sp>
        <p:nvSpPr>
          <p:cNvPr id="17" name="Rectangle 16"/>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Emerging opportunity: where Agentic AI could take monetization next</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Clearly distinguish deployed capabilities from future-state possibilities.</a:t>
            </a:r>
            <a:endParaRPr lang="en-US" sz="1200" dirty="0"/>
          </a:p>
        </p:txBody>
      </p:sp>
      <p:sp>
        <p:nvSpPr>
          <p:cNvPr id="4" name="Shape 2"/>
          <p:cNvSpPr/>
          <p:nvPr/>
        </p:nvSpPr>
        <p:spPr>
          <a:xfrm>
            <a:off x="566928" y="1234440"/>
            <a:ext cx="11018520" cy="786384"/>
          </a:xfrm>
          <a:prstGeom prst="roundRect">
            <a:avLst/>
          </a:prstGeom>
          <a:solidFill>
            <a:srgbClr val="FFFFFF"/>
          </a:solidFill>
          <a:ln w="12700">
            <a:solidFill>
              <a:srgbClr val="DCE5ED"/>
            </a:solidFill>
            <a:prstDash val="solid"/>
          </a:ln>
        </p:spPr>
        <p:txBody>
          <a:bodyPr/>
          <a:lstStyle/>
          <a:p>
            <a:endParaRPr lang="en-IN"/>
          </a:p>
        </p:txBody>
      </p:sp>
      <p:sp>
        <p:nvSpPr>
          <p:cNvPr id="5" name="Text 3"/>
          <p:cNvSpPr/>
          <p:nvPr/>
        </p:nvSpPr>
        <p:spPr>
          <a:xfrm>
            <a:off x="822960" y="1435608"/>
            <a:ext cx="1920240" cy="210312"/>
          </a:xfrm>
          <a:prstGeom prst="rect">
            <a:avLst/>
          </a:prstGeom>
          <a:noFill/>
          <a:ln>
            <a:solidFill/>
          </a:ln>
        </p:spPr>
        <p:txBody>
          <a:bodyPr wrap="square" lIns="0" tIns="0" rIns="0" bIns="0" rtlCol="0" anchor="ctr"/>
          <a:lstStyle/>
          <a:p>
            <a:pPr marL="0" indent="0">
              <a:buNone/>
            </a:pPr>
            <a:r>
              <a:rPr lang="en-US" sz="1150" b="1" dirty="0">
                <a:solidFill>
                  <a:srgbClr val="272936"/>
                </a:solidFill>
              </a:rPr>
              <a:t>BANKING &amp; FINTECH</a:t>
            </a:r>
            <a:endParaRPr lang="en-US" sz="1150" dirty="0"/>
          </a:p>
        </p:txBody>
      </p:sp>
      <p:sp>
        <p:nvSpPr>
          <p:cNvPr id="6" name="Text 4"/>
          <p:cNvSpPr/>
          <p:nvPr/>
        </p:nvSpPr>
        <p:spPr>
          <a:xfrm>
            <a:off x="2926080" y="1399032"/>
            <a:ext cx="548640" cy="182880"/>
          </a:xfrm>
          <a:prstGeom prst="rect">
            <a:avLst/>
          </a:prstGeom>
          <a:noFill/>
          <a:ln>
            <a:solidFill/>
          </a:ln>
        </p:spPr>
        <p:txBody>
          <a:bodyPr wrap="square" lIns="0" tIns="0" rIns="0" bIns="0" rtlCol="0" anchor="ctr"/>
          <a:lstStyle/>
          <a:p>
            <a:pPr marL="0" indent="0">
              <a:buNone/>
            </a:pPr>
            <a:r>
              <a:rPr lang="en-US" sz="900" b="1" dirty="0">
                <a:solidFill>
                  <a:srgbClr val="0058AB"/>
                </a:solidFill>
              </a:rPr>
              <a:t>TODAY</a:t>
            </a:r>
            <a:endParaRPr lang="en-US" sz="900" dirty="0"/>
          </a:p>
        </p:txBody>
      </p:sp>
      <p:sp>
        <p:nvSpPr>
          <p:cNvPr id="7" name="Text 5"/>
          <p:cNvSpPr/>
          <p:nvPr/>
        </p:nvSpPr>
        <p:spPr>
          <a:xfrm>
            <a:off x="3456432" y="1399032"/>
            <a:ext cx="2880360" cy="256032"/>
          </a:xfrm>
          <a:prstGeom prst="rect">
            <a:avLst/>
          </a:prstGeom>
          <a:noFill/>
          <a:ln>
            <a:solidFill/>
          </a:ln>
        </p:spPr>
        <p:txBody>
          <a:bodyPr wrap="square" lIns="0" tIns="0" rIns="0" bIns="0" rtlCol="0" anchor="ctr"/>
          <a:lstStyle/>
          <a:p>
            <a:pPr marL="0" indent="0">
              <a:buNone/>
            </a:pPr>
            <a:r>
              <a:rPr lang="en-US" sz="1100" dirty="0">
                <a:solidFill>
                  <a:srgbClr val="272936"/>
                </a:solidFill>
              </a:rPr>
              <a:t>Identity and fraud APIs</a:t>
            </a:r>
            <a:endParaRPr lang="en-US" sz="1100" dirty="0"/>
          </a:p>
        </p:txBody>
      </p:sp>
      <p:sp>
        <p:nvSpPr>
          <p:cNvPr id="8" name="Text 6"/>
          <p:cNvSpPr/>
          <p:nvPr/>
        </p:nvSpPr>
        <p:spPr>
          <a:xfrm>
            <a:off x="6446520" y="1362456"/>
            <a:ext cx="347472" cy="274320"/>
          </a:xfrm>
          <a:prstGeom prst="rect">
            <a:avLst/>
          </a:prstGeom>
          <a:noFill/>
          <a:ln>
            <a:solidFill/>
          </a:ln>
        </p:spPr>
        <p:txBody>
          <a:bodyPr wrap="square" lIns="0" tIns="0" rIns="0" bIns="0" rtlCol="0" anchor="ctr"/>
          <a:lstStyle/>
          <a:p>
            <a:pPr marL="0" indent="0">
              <a:buNone/>
            </a:pPr>
            <a:r>
              <a:rPr lang="en-US" sz="1800" b="1" dirty="0">
                <a:solidFill>
                  <a:srgbClr val="004280"/>
                </a:solidFill>
              </a:rPr>
              <a:t>→</a:t>
            </a:r>
            <a:endParaRPr lang="en-US" sz="1800" dirty="0"/>
          </a:p>
        </p:txBody>
      </p:sp>
      <p:sp>
        <p:nvSpPr>
          <p:cNvPr id="9" name="Text 7"/>
          <p:cNvSpPr/>
          <p:nvPr/>
        </p:nvSpPr>
        <p:spPr>
          <a:xfrm>
            <a:off x="6903720" y="1399032"/>
            <a:ext cx="594360" cy="182880"/>
          </a:xfrm>
          <a:prstGeom prst="rect">
            <a:avLst/>
          </a:prstGeom>
          <a:noFill/>
          <a:ln>
            <a:solidFill/>
          </a:ln>
        </p:spPr>
        <p:txBody>
          <a:bodyPr wrap="square" lIns="0" tIns="0" rIns="0" bIns="0" rtlCol="0" anchor="ctr"/>
          <a:lstStyle/>
          <a:p>
            <a:pPr marL="0" indent="0">
              <a:buNone/>
            </a:pPr>
            <a:r>
              <a:rPr lang="en-US" sz="900" b="1" dirty="0">
                <a:solidFill>
                  <a:srgbClr val="004280"/>
                </a:solidFill>
              </a:rPr>
              <a:t>FUTURE</a:t>
            </a:r>
            <a:endParaRPr lang="en-US" sz="900" dirty="0"/>
          </a:p>
        </p:txBody>
      </p:sp>
      <p:sp>
        <p:nvSpPr>
          <p:cNvPr id="10" name="Text 8"/>
          <p:cNvSpPr/>
          <p:nvPr/>
        </p:nvSpPr>
        <p:spPr>
          <a:xfrm>
            <a:off x="7498080" y="1399032"/>
            <a:ext cx="3703320" cy="256032"/>
          </a:xfrm>
          <a:prstGeom prst="rect">
            <a:avLst/>
          </a:prstGeom>
          <a:noFill/>
          <a:ln>
            <a:solidFill/>
          </a:ln>
        </p:spPr>
        <p:txBody>
          <a:bodyPr wrap="square" lIns="0" tIns="0" rIns="0" bIns="0" rtlCol="0" anchor="ctr"/>
          <a:lstStyle/>
          <a:p>
            <a:pPr marL="0" indent="0">
              <a:buNone/>
            </a:pPr>
            <a:r>
              <a:rPr lang="en-US" sz="1100" dirty="0">
                <a:solidFill>
                  <a:srgbClr val="272936"/>
                </a:solidFill>
              </a:rPr>
              <a:t>Agents orchestrate fraud-management workflows</a:t>
            </a:r>
            <a:endParaRPr lang="en-US" sz="1100" dirty="0"/>
          </a:p>
        </p:txBody>
      </p:sp>
      <p:sp>
        <p:nvSpPr>
          <p:cNvPr id="11" name="Shape 9"/>
          <p:cNvSpPr/>
          <p:nvPr/>
        </p:nvSpPr>
        <p:spPr>
          <a:xfrm>
            <a:off x="566928" y="2295144"/>
            <a:ext cx="11018520" cy="786384"/>
          </a:xfrm>
          <a:prstGeom prst="roundRect">
            <a:avLst/>
          </a:prstGeom>
          <a:solidFill>
            <a:srgbClr val="F0F6FA"/>
          </a:solidFill>
          <a:ln w="12700">
            <a:solidFill>
              <a:srgbClr val="DCE5ED"/>
            </a:solidFill>
            <a:prstDash val="solid"/>
          </a:ln>
        </p:spPr>
        <p:txBody>
          <a:bodyPr/>
          <a:lstStyle/>
          <a:p>
            <a:endParaRPr lang="en-IN"/>
          </a:p>
        </p:txBody>
      </p:sp>
      <p:sp>
        <p:nvSpPr>
          <p:cNvPr id="12" name="Text 10"/>
          <p:cNvSpPr/>
          <p:nvPr/>
        </p:nvSpPr>
        <p:spPr>
          <a:xfrm>
            <a:off x="822960" y="2496312"/>
            <a:ext cx="1920240" cy="210312"/>
          </a:xfrm>
          <a:prstGeom prst="rect">
            <a:avLst/>
          </a:prstGeom>
          <a:noFill/>
          <a:ln>
            <a:solidFill/>
          </a:ln>
        </p:spPr>
        <p:txBody>
          <a:bodyPr wrap="square" lIns="0" tIns="0" rIns="0" bIns="0" rtlCol="0" anchor="ctr"/>
          <a:lstStyle/>
          <a:p>
            <a:pPr marL="0" indent="0">
              <a:buNone/>
            </a:pPr>
            <a:r>
              <a:rPr lang="en-US" sz="1150" b="1" dirty="0">
                <a:solidFill>
                  <a:srgbClr val="272936"/>
                </a:solidFill>
              </a:rPr>
              <a:t>RETAIL</a:t>
            </a:r>
            <a:endParaRPr lang="en-US" sz="1150" dirty="0"/>
          </a:p>
        </p:txBody>
      </p:sp>
      <p:sp>
        <p:nvSpPr>
          <p:cNvPr id="13" name="Text 11"/>
          <p:cNvSpPr/>
          <p:nvPr/>
        </p:nvSpPr>
        <p:spPr>
          <a:xfrm>
            <a:off x="2926080" y="2459736"/>
            <a:ext cx="548640" cy="182880"/>
          </a:xfrm>
          <a:prstGeom prst="rect">
            <a:avLst/>
          </a:prstGeom>
          <a:noFill/>
          <a:ln>
            <a:solidFill/>
          </a:ln>
        </p:spPr>
        <p:txBody>
          <a:bodyPr wrap="square" lIns="0" tIns="0" rIns="0" bIns="0" rtlCol="0" anchor="ctr"/>
          <a:lstStyle/>
          <a:p>
            <a:pPr marL="0" indent="0">
              <a:buNone/>
            </a:pPr>
            <a:r>
              <a:rPr lang="en-US" sz="900" b="1" dirty="0">
                <a:solidFill>
                  <a:srgbClr val="0058AB"/>
                </a:solidFill>
              </a:rPr>
              <a:t>TODAY</a:t>
            </a:r>
            <a:endParaRPr lang="en-US" sz="900" dirty="0"/>
          </a:p>
        </p:txBody>
      </p:sp>
      <p:sp>
        <p:nvSpPr>
          <p:cNvPr id="14" name="Text 12"/>
          <p:cNvSpPr/>
          <p:nvPr/>
        </p:nvSpPr>
        <p:spPr>
          <a:xfrm>
            <a:off x="3456432" y="2459736"/>
            <a:ext cx="2880360" cy="256032"/>
          </a:xfrm>
          <a:prstGeom prst="rect">
            <a:avLst/>
          </a:prstGeom>
          <a:noFill/>
          <a:ln>
            <a:solidFill/>
          </a:ln>
        </p:spPr>
        <p:txBody>
          <a:bodyPr wrap="square" lIns="0" tIns="0" rIns="0" bIns="0" rtlCol="0" anchor="ctr"/>
          <a:lstStyle/>
          <a:p>
            <a:pPr marL="0" indent="0">
              <a:buNone/>
            </a:pPr>
            <a:r>
              <a:rPr lang="en-US" sz="1100" dirty="0">
                <a:solidFill>
                  <a:srgbClr val="272936"/>
                </a:solidFill>
              </a:rPr>
              <a:t>Mobility and audience analytics</a:t>
            </a:r>
            <a:endParaRPr lang="en-US" sz="1100" dirty="0"/>
          </a:p>
        </p:txBody>
      </p:sp>
      <p:sp>
        <p:nvSpPr>
          <p:cNvPr id="15" name="Text 13"/>
          <p:cNvSpPr/>
          <p:nvPr/>
        </p:nvSpPr>
        <p:spPr>
          <a:xfrm>
            <a:off x="6446520" y="2423160"/>
            <a:ext cx="347472" cy="274320"/>
          </a:xfrm>
          <a:prstGeom prst="rect">
            <a:avLst/>
          </a:prstGeom>
          <a:noFill/>
          <a:ln>
            <a:solidFill/>
          </a:ln>
        </p:spPr>
        <p:txBody>
          <a:bodyPr wrap="square" lIns="0" tIns="0" rIns="0" bIns="0" rtlCol="0" anchor="ctr"/>
          <a:lstStyle/>
          <a:p>
            <a:pPr marL="0" indent="0">
              <a:buNone/>
            </a:pPr>
            <a:r>
              <a:rPr lang="en-US" sz="1800" b="1" dirty="0">
                <a:solidFill>
                  <a:srgbClr val="004280"/>
                </a:solidFill>
              </a:rPr>
              <a:t>→</a:t>
            </a:r>
            <a:endParaRPr lang="en-US" sz="1800" dirty="0"/>
          </a:p>
        </p:txBody>
      </p:sp>
      <p:sp>
        <p:nvSpPr>
          <p:cNvPr id="16" name="Text 14"/>
          <p:cNvSpPr/>
          <p:nvPr/>
        </p:nvSpPr>
        <p:spPr>
          <a:xfrm>
            <a:off x="6903720" y="2459736"/>
            <a:ext cx="594360" cy="182880"/>
          </a:xfrm>
          <a:prstGeom prst="rect">
            <a:avLst/>
          </a:prstGeom>
          <a:noFill/>
          <a:ln>
            <a:solidFill/>
          </a:ln>
        </p:spPr>
        <p:txBody>
          <a:bodyPr wrap="square" lIns="0" tIns="0" rIns="0" bIns="0" rtlCol="0" anchor="ctr"/>
          <a:lstStyle/>
          <a:p>
            <a:pPr marL="0" indent="0">
              <a:buNone/>
            </a:pPr>
            <a:r>
              <a:rPr lang="en-US" sz="900" b="1" dirty="0">
                <a:solidFill>
                  <a:srgbClr val="004280"/>
                </a:solidFill>
              </a:rPr>
              <a:t>FUTURE</a:t>
            </a:r>
            <a:endParaRPr lang="en-US" sz="900" dirty="0"/>
          </a:p>
        </p:txBody>
      </p:sp>
      <p:sp>
        <p:nvSpPr>
          <p:cNvPr id="17" name="Text 15"/>
          <p:cNvSpPr/>
          <p:nvPr/>
        </p:nvSpPr>
        <p:spPr>
          <a:xfrm>
            <a:off x="7498080" y="2459736"/>
            <a:ext cx="3703320" cy="256032"/>
          </a:xfrm>
          <a:prstGeom prst="rect">
            <a:avLst/>
          </a:prstGeom>
          <a:noFill/>
          <a:ln>
            <a:solidFill/>
          </a:ln>
        </p:spPr>
        <p:txBody>
          <a:bodyPr wrap="square" lIns="0" tIns="0" rIns="0" bIns="0" rtlCol="0" anchor="ctr"/>
          <a:lstStyle/>
          <a:p>
            <a:pPr marL="0" indent="0">
              <a:buNone/>
            </a:pPr>
            <a:r>
              <a:rPr lang="en-US" sz="1100" dirty="0">
                <a:solidFill>
                  <a:srgbClr val="272936"/>
                </a:solidFill>
              </a:rPr>
              <a:t>Agents combine context, inventory and campaigns</a:t>
            </a:r>
            <a:endParaRPr lang="en-US" sz="1100" dirty="0"/>
          </a:p>
        </p:txBody>
      </p:sp>
      <p:sp>
        <p:nvSpPr>
          <p:cNvPr id="18" name="Shape 16"/>
          <p:cNvSpPr/>
          <p:nvPr/>
        </p:nvSpPr>
        <p:spPr>
          <a:xfrm>
            <a:off x="566928" y="3355848"/>
            <a:ext cx="11018520" cy="786384"/>
          </a:xfrm>
          <a:prstGeom prst="roundRect">
            <a:avLst/>
          </a:prstGeom>
          <a:solidFill>
            <a:srgbClr val="FFFFFF"/>
          </a:solidFill>
          <a:ln w="12700">
            <a:solidFill>
              <a:srgbClr val="DCE5ED"/>
            </a:solidFill>
            <a:prstDash val="solid"/>
          </a:ln>
        </p:spPr>
        <p:txBody>
          <a:bodyPr/>
          <a:lstStyle/>
          <a:p>
            <a:endParaRPr lang="en-IN"/>
          </a:p>
        </p:txBody>
      </p:sp>
      <p:sp>
        <p:nvSpPr>
          <p:cNvPr id="19" name="Text 17"/>
          <p:cNvSpPr/>
          <p:nvPr/>
        </p:nvSpPr>
        <p:spPr>
          <a:xfrm>
            <a:off x="822960" y="3557016"/>
            <a:ext cx="1920240" cy="210312"/>
          </a:xfrm>
          <a:prstGeom prst="rect">
            <a:avLst/>
          </a:prstGeom>
          <a:noFill/>
          <a:ln>
            <a:solidFill/>
          </a:ln>
        </p:spPr>
        <p:txBody>
          <a:bodyPr wrap="square" lIns="0" tIns="0" rIns="0" bIns="0" rtlCol="0" anchor="ctr"/>
          <a:lstStyle/>
          <a:p>
            <a:pPr marL="0" indent="0">
              <a:buNone/>
            </a:pPr>
            <a:r>
              <a:rPr lang="en-US" sz="1150" b="1" dirty="0">
                <a:solidFill>
                  <a:srgbClr val="272936"/>
                </a:solidFill>
              </a:rPr>
              <a:t>LOGISTICS &amp; MOBILITY</a:t>
            </a:r>
            <a:endParaRPr lang="en-US" sz="1150" dirty="0"/>
          </a:p>
        </p:txBody>
      </p:sp>
      <p:sp>
        <p:nvSpPr>
          <p:cNvPr id="20" name="Text 18"/>
          <p:cNvSpPr/>
          <p:nvPr/>
        </p:nvSpPr>
        <p:spPr>
          <a:xfrm>
            <a:off x="2926080" y="3520440"/>
            <a:ext cx="548640" cy="182880"/>
          </a:xfrm>
          <a:prstGeom prst="rect">
            <a:avLst/>
          </a:prstGeom>
          <a:noFill/>
          <a:ln>
            <a:solidFill/>
          </a:ln>
        </p:spPr>
        <p:txBody>
          <a:bodyPr wrap="square" lIns="0" tIns="0" rIns="0" bIns="0" rtlCol="0" anchor="ctr"/>
          <a:lstStyle/>
          <a:p>
            <a:pPr marL="0" indent="0">
              <a:buNone/>
            </a:pPr>
            <a:r>
              <a:rPr lang="en-US" sz="900" b="1" dirty="0">
                <a:solidFill>
                  <a:srgbClr val="0058AB"/>
                </a:solidFill>
              </a:rPr>
              <a:t>TODAY</a:t>
            </a:r>
            <a:endParaRPr lang="en-US" sz="900" dirty="0"/>
          </a:p>
        </p:txBody>
      </p:sp>
      <p:sp>
        <p:nvSpPr>
          <p:cNvPr id="21" name="Text 19"/>
          <p:cNvSpPr/>
          <p:nvPr/>
        </p:nvSpPr>
        <p:spPr>
          <a:xfrm>
            <a:off x="3456432" y="3520440"/>
            <a:ext cx="2880360" cy="256032"/>
          </a:xfrm>
          <a:prstGeom prst="rect">
            <a:avLst/>
          </a:prstGeom>
          <a:noFill/>
          <a:ln>
            <a:solidFill/>
          </a:ln>
        </p:spPr>
        <p:txBody>
          <a:bodyPr wrap="square" lIns="0" tIns="0" rIns="0" bIns="0" rtlCol="0" anchor="ctr"/>
          <a:lstStyle/>
          <a:p>
            <a:pPr marL="0" indent="0">
              <a:buNone/>
            </a:pPr>
            <a:r>
              <a:rPr lang="en-US" sz="1100" dirty="0">
                <a:solidFill>
                  <a:srgbClr val="272936"/>
                </a:solidFill>
              </a:rPr>
              <a:t>Mobility and demand insights</a:t>
            </a:r>
            <a:endParaRPr lang="en-US" sz="1100" dirty="0"/>
          </a:p>
        </p:txBody>
      </p:sp>
      <p:sp>
        <p:nvSpPr>
          <p:cNvPr id="22" name="Text 20"/>
          <p:cNvSpPr/>
          <p:nvPr/>
        </p:nvSpPr>
        <p:spPr>
          <a:xfrm>
            <a:off x="6446520" y="3483864"/>
            <a:ext cx="347472" cy="274320"/>
          </a:xfrm>
          <a:prstGeom prst="rect">
            <a:avLst/>
          </a:prstGeom>
          <a:noFill/>
          <a:ln>
            <a:solidFill/>
          </a:ln>
        </p:spPr>
        <p:txBody>
          <a:bodyPr wrap="square" lIns="0" tIns="0" rIns="0" bIns="0" rtlCol="0" anchor="ctr"/>
          <a:lstStyle/>
          <a:p>
            <a:pPr marL="0" indent="0">
              <a:buNone/>
            </a:pPr>
            <a:r>
              <a:rPr lang="en-US" sz="1800" b="1" dirty="0">
                <a:solidFill>
                  <a:srgbClr val="004280"/>
                </a:solidFill>
              </a:rPr>
              <a:t>→</a:t>
            </a:r>
            <a:endParaRPr lang="en-US" sz="1800" dirty="0"/>
          </a:p>
        </p:txBody>
      </p:sp>
      <p:sp>
        <p:nvSpPr>
          <p:cNvPr id="23" name="Text 21"/>
          <p:cNvSpPr/>
          <p:nvPr/>
        </p:nvSpPr>
        <p:spPr>
          <a:xfrm>
            <a:off x="6903720" y="3520440"/>
            <a:ext cx="594360" cy="182880"/>
          </a:xfrm>
          <a:prstGeom prst="rect">
            <a:avLst/>
          </a:prstGeom>
          <a:noFill/>
          <a:ln>
            <a:solidFill/>
          </a:ln>
        </p:spPr>
        <p:txBody>
          <a:bodyPr wrap="square" lIns="0" tIns="0" rIns="0" bIns="0" rtlCol="0" anchor="ctr"/>
          <a:lstStyle/>
          <a:p>
            <a:pPr marL="0" indent="0">
              <a:buNone/>
            </a:pPr>
            <a:r>
              <a:rPr lang="en-US" sz="900" b="1" dirty="0">
                <a:solidFill>
                  <a:srgbClr val="004280"/>
                </a:solidFill>
              </a:rPr>
              <a:t>FUTURE</a:t>
            </a:r>
            <a:endParaRPr lang="en-US" sz="900" dirty="0"/>
          </a:p>
        </p:txBody>
      </p:sp>
      <p:sp>
        <p:nvSpPr>
          <p:cNvPr id="24" name="Text 22"/>
          <p:cNvSpPr/>
          <p:nvPr/>
        </p:nvSpPr>
        <p:spPr>
          <a:xfrm>
            <a:off x="7498080" y="3520440"/>
            <a:ext cx="3703320" cy="256032"/>
          </a:xfrm>
          <a:prstGeom prst="rect">
            <a:avLst/>
          </a:prstGeom>
          <a:noFill/>
          <a:ln>
            <a:solidFill/>
          </a:ln>
        </p:spPr>
        <p:txBody>
          <a:bodyPr wrap="square" lIns="0" tIns="0" rIns="0" bIns="0" rtlCol="0" anchor="ctr"/>
          <a:lstStyle/>
          <a:p>
            <a:pPr marL="0" indent="0">
              <a:buNone/>
            </a:pPr>
            <a:r>
              <a:rPr lang="en-US" sz="1100" dirty="0">
                <a:solidFill>
                  <a:srgbClr val="272936"/>
                </a:solidFill>
              </a:rPr>
              <a:t>Agents coordinate adaptive operational decisions</a:t>
            </a:r>
            <a:endParaRPr lang="en-US" sz="1100" dirty="0"/>
          </a:p>
        </p:txBody>
      </p:sp>
      <p:sp>
        <p:nvSpPr>
          <p:cNvPr id="25" name="Shape 23"/>
          <p:cNvSpPr/>
          <p:nvPr/>
        </p:nvSpPr>
        <p:spPr>
          <a:xfrm>
            <a:off x="566928" y="4416552"/>
            <a:ext cx="11018520" cy="786384"/>
          </a:xfrm>
          <a:prstGeom prst="roundRect">
            <a:avLst/>
          </a:prstGeom>
          <a:solidFill>
            <a:srgbClr val="F0F6FA"/>
          </a:solidFill>
          <a:ln w="12700">
            <a:solidFill>
              <a:srgbClr val="DCE5ED"/>
            </a:solidFill>
            <a:prstDash val="solid"/>
          </a:ln>
        </p:spPr>
        <p:txBody>
          <a:bodyPr/>
          <a:lstStyle/>
          <a:p>
            <a:endParaRPr lang="en-IN"/>
          </a:p>
        </p:txBody>
      </p:sp>
      <p:sp>
        <p:nvSpPr>
          <p:cNvPr id="26" name="Text 24"/>
          <p:cNvSpPr/>
          <p:nvPr/>
        </p:nvSpPr>
        <p:spPr>
          <a:xfrm>
            <a:off x="822960" y="4617720"/>
            <a:ext cx="1920240" cy="210312"/>
          </a:xfrm>
          <a:prstGeom prst="rect">
            <a:avLst/>
          </a:prstGeom>
          <a:noFill/>
          <a:ln>
            <a:solidFill/>
          </a:ln>
        </p:spPr>
        <p:txBody>
          <a:bodyPr wrap="square" lIns="0" tIns="0" rIns="0" bIns="0" rtlCol="0" anchor="ctr"/>
          <a:lstStyle/>
          <a:p>
            <a:pPr marL="0" indent="0">
              <a:buNone/>
            </a:pPr>
            <a:r>
              <a:rPr lang="en-US" sz="1150" b="1" dirty="0">
                <a:solidFill>
                  <a:srgbClr val="272936"/>
                </a:solidFill>
              </a:rPr>
              <a:t>NETWORK SERVICES</a:t>
            </a:r>
            <a:endParaRPr lang="en-US" sz="1150" dirty="0"/>
          </a:p>
        </p:txBody>
      </p:sp>
      <p:sp>
        <p:nvSpPr>
          <p:cNvPr id="27" name="Text 25"/>
          <p:cNvSpPr/>
          <p:nvPr/>
        </p:nvSpPr>
        <p:spPr>
          <a:xfrm>
            <a:off x="2926080" y="4581144"/>
            <a:ext cx="548640" cy="182880"/>
          </a:xfrm>
          <a:prstGeom prst="rect">
            <a:avLst/>
          </a:prstGeom>
          <a:noFill/>
          <a:ln>
            <a:solidFill/>
          </a:ln>
        </p:spPr>
        <p:txBody>
          <a:bodyPr wrap="square" lIns="0" tIns="0" rIns="0" bIns="0" rtlCol="0" anchor="ctr"/>
          <a:lstStyle/>
          <a:p>
            <a:pPr marL="0" indent="0">
              <a:buNone/>
            </a:pPr>
            <a:r>
              <a:rPr lang="en-US" sz="900" b="1" dirty="0">
                <a:solidFill>
                  <a:srgbClr val="0058AB"/>
                </a:solidFill>
              </a:rPr>
              <a:t>TODAY</a:t>
            </a:r>
            <a:endParaRPr lang="en-US" sz="900" dirty="0"/>
          </a:p>
        </p:txBody>
      </p:sp>
      <p:sp>
        <p:nvSpPr>
          <p:cNvPr id="28" name="Text 26"/>
          <p:cNvSpPr/>
          <p:nvPr/>
        </p:nvSpPr>
        <p:spPr>
          <a:xfrm>
            <a:off x="3456432" y="4581144"/>
            <a:ext cx="2880360" cy="256032"/>
          </a:xfrm>
          <a:prstGeom prst="rect">
            <a:avLst/>
          </a:prstGeom>
          <a:noFill/>
          <a:ln>
            <a:solidFill/>
          </a:ln>
        </p:spPr>
        <p:txBody>
          <a:bodyPr wrap="square" lIns="0" tIns="0" rIns="0" bIns="0" rtlCol="0" anchor="ctr"/>
          <a:lstStyle/>
          <a:p>
            <a:pPr marL="0" indent="0">
              <a:buNone/>
            </a:pPr>
            <a:r>
              <a:rPr lang="en-US" sz="1100" dirty="0">
                <a:solidFill>
                  <a:srgbClr val="272936"/>
                </a:solidFill>
              </a:rPr>
              <a:t>Programmable network APIs</a:t>
            </a:r>
            <a:endParaRPr lang="en-US" sz="1100" dirty="0"/>
          </a:p>
        </p:txBody>
      </p:sp>
      <p:sp>
        <p:nvSpPr>
          <p:cNvPr id="29" name="Text 27"/>
          <p:cNvSpPr/>
          <p:nvPr/>
        </p:nvSpPr>
        <p:spPr>
          <a:xfrm>
            <a:off x="6446520" y="4544568"/>
            <a:ext cx="347472" cy="274320"/>
          </a:xfrm>
          <a:prstGeom prst="rect">
            <a:avLst/>
          </a:prstGeom>
          <a:noFill/>
          <a:ln>
            <a:solidFill/>
          </a:ln>
        </p:spPr>
        <p:txBody>
          <a:bodyPr wrap="square" lIns="0" tIns="0" rIns="0" bIns="0" rtlCol="0" anchor="ctr"/>
          <a:lstStyle/>
          <a:p>
            <a:pPr marL="0" indent="0">
              <a:buNone/>
            </a:pPr>
            <a:r>
              <a:rPr lang="en-US" sz="1800" b="1" dirty="0">
                <a:solidFill>
                  <a:srgbClr val="004280"/>
                </a:solidFill>
              </a:rPr>
              <a:t>→</a:t>
            </a:r>
            <a:endParaRPr lang="en-US" sz="1800" dirty="0"/>
          </a:p>
        </p:txBody>
      </p:sp>
      <p:sp>
        <p:nvSpPr>
          <p:cNvPr id="30" name="Text 28"/>
          <p:cNvSpPr/>
          <p:nvPr/>
        </p:nvSpPr>
        <p:spPr>
          <a:xfrm>
            <a:off x="6903720" y="4581144"/>
            <a:ext cx="594360" cy="182880"/>
          </a:xfrm>
          <a:prstGeom prst="rect">
            <a:avLst/>
          </a:prstGeom>
          <a:noFill/>
          <a:ln>
            <a:solidFill/>
          </a:ln>
        </p:spPr>
        <p:txBody>
          <a:bodyPr wrap="square" lIns="0" tIns="0" rIns="0" bIns="0" rtlCol="0" anchor="ctr"/>
          <a:lstStyle/>
          <a:p>
            <a:pPr marL="0" indent="0">
              <a:buNone/>
            </a:pPr>
            <a:r>
              <a:rPr lang="en-US" sz="900" b="1" dirty="0">
                <a:solidFill>
                  <a:srgbClr val="004280"/>
                </a:solidFill>
              </a:rPr>
              <a:t>FUTURE</a:t>
            </a:r>
            <a:endParaRPr lang="en-US" sz="900" dirty="0"/>
          </a:p>
        </p:txBody>
      </p:sp>
      <p:sp>
        <p:nvSpPr>
          <p:cNvPr id="31" name="Text 29"/>
          <p:cNvSpPr/>
          <p:nvPr/>
        </p:nvSpPr>
        <p:spPr>
          <a:xfrm>
            <a:off x="7498080" y="4581144"/>
            <a:ext cx="3703320" cy="256032"/>
          </a:xfrm>
          <a:prstGeom prst="rect">
            <a:avLst/>
          </a:prstGeom>
          <a:noFill/>
          <a:ln>
            <a:solidFill/>
          </a:ln>
        </p:spPr>
        <p:txBody>
          <a:bodyPr wrap="square" lIns="0" tIns="0" rIns="0" bIns="0" rtlCol="0" anchor="ctr"/>
          <a:lstStyle/>
          <a:p>
            <a:pPr marL="0" indent="0">
              <a:buNone/>
            </a:pPr>
            <a:r>
              <a:rPr lang="en-US" sz="1100" dirty="0">
                <a:solidFill>
                  <a:srgbClr val="272936"/>
                </a:solidFill>
              </a:rPr>
              <a:t>Agents request QoD or edge resources dynamically</a:t>
            </a:r>
            <a:endParaRPr lang="en-US" sz="1100" dirty="0"/>
          </a:p>
        </p:txBody>
      </p:sp>
      <p:sp>
        <p:nvSpPr>
          <p:cNvPr id="32" name="Shape 30"/>
          <p:cNvSpPr/>
          <p:nvPr/>
        </p:nvSpPr>
        <p:spPr>
          <a:xfrm>
            <a:off x="1965960" y="5733288"/>
            <a:ext cx="8229600" cy="530352"/>
          </a:xfrm>
          <a:prstGeom prst="roundRect">
            <a:avLst/>
          </a:prstGeom>
          <a:solidFill>
            <a:srgbClr val="EAF3FB"/>
          </a:solidFill>
          <a:ln w="12700">
            <a:solidFill>
              <a:srgbClr val="F0B078"/>
            </a:solidFill>
            <a:prstDash val="solid"/>
          </a:ln>
        </p:spPr>
        <p:txBody>
          <a:bodyPr/>
          <a:lstStyle/>
          <a:p>
            <a:endParaRPr lang="en-IN"/>
          </a:p>
        </p:txBody>
      </p:sp>
      <p:sp>
        <p:nvSpPr>
          <p:cNvPr id="33" name="Text 31"/>
          <p:cNvSpPr/>
          <p:nvPr/>
        </p:nvSpPr>
        <p:spPr>
          <a:xfrm>
            <a:off x="2194560" y="5897880"/>
            <a:ext cx="7772400" cy="182880"/>
          </a:xfrm>
          <a:prstGeom prst="rect">
            <a:avLst/>
          </a:prstGeom>
          <a:noFill/>
          <a:ln>
            <a:solidFill/>
          </a:ln>
        </p:spPr>
        <p:txBody>
          <a:bodyPr wrap="square" lIns="0" tIns="0" rIns="0" bIns="0" rtlCol="0" anchor="ctr"/>
          <a:lstStyle/>
          <a:p>
            <a:pPr marL="0" indent="0" algn="ctr">
              <a:buNone/>
            </a:pPr>
            <a:r>
              <a:rPr lang="en-US" sz="1250" b="1" dirty="0">
                <a:solidFill>
                  <a:srgbClr val="004280"/>
                </a:solidFill>
              </a:rPr>
              <a:t>Guardrail: define what an agent may recommend, what it may execute, and when a human must intervene.</a:t>
            </a:r>
            <a:endParaRPr lang="en-US" sz="1250" dirty="0"/>
          </a:p>
        </p:txBody>
      </p:sp>
      <p:sp>
        <p:nvSpPr>
          <p:cNvPr id="34" name="Rectangle 33"/>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Trust &amp; governance must become part of the product</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External intelligence products require end-to-end controls, not only regulatory compliance.</a:t>
            </a:r>
            <a:endParaRPr lang="en-US" sz="1200" dirty="0"/>
          </a:p>
        </p:txBody>
      </p:sp>
      <p:sp>
        <p:nvSpPr>
          <p:cNvPr id="4" name="Shape 2"/>
          <p:cNvSpPr/>
          <p:nvPr/>
        </p:nvSpPr>
        <p:spPr>
          <a:xfrm>
            <a:off x="594360" y="1325880"/>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5" name="Shape 3"/>
          <p:cNvSpPr/>
          <p:nvPr/>
        </p:nvSpPr>
        <p:spPr>
          <a:xfrm>
            <a:off x="594360" y="1325880"/>
            <a:ext cx="64008" cy="1371600"/>
          </a:xfrm>
          <a:prstGeom prst="rect">
            <a:avLst/>
          </a:prstGeom>
          <a:solidFill>
            <a:srgbClr val="0070AD"/>
          </a:solidFill>
          <a:ln w="12700">
            <a:solidFill>
              <a:srgbClr val="0070AD"/>
            </a:solidFill>
            <a:prstDash val="solid"/>
          </a:ln>
        </p:spPr>
        <p:txBody>
          <a:bodyPr/>
          <a:lstStyle/>
          <a:p>
            <a:endParaRPr lang="en-IN"/>
          </a:p>
        </p:txBody>
      </p:sp>
      <p:sp>
        <p:nvSpPr>
          <p:cNvPr id="6" name="Text 4"/>
          <p:cNvSpPr/>
          <p:nvPr/>
        </p:nvSpPr>
        <p:spPr>
          <a:xfrm>
            <a:off x="777240" y="1472184"/>
            <a:ext cx="3108960" cy="256032"/>
          </a:xfrm>
          <a:prstGeom prst="rect">
            <a:avLst/>
          </a:prstGeom>
          <a:noFill/>
          <a:ln>
            <a:solidFill/>
          </a:ln>
        </p:spPr>
        <p:txBody>
          <a:bodyPr wrap="square" lIns="0" tIns="0" rIns="0" bIns="0" rtlCol="0" anchor="ctr"/>
          <a:lstStyle/>
          <a:p>
            <a:pPr marL="0" indent="0">
              <a:buNone/>
            </a:pPr>
            <a:r>
              <a:rPr lang="en-US" sz="1350" b="1" dirty="0">
                <a:solidFill>
                  <a:srgbClr val="0070AD"/>
                </a:solidFill>
              </a:rPr>
              <a:t>DATA QUALITY</a:t>
            </a:r>
            <a:endParaRPr lang="en-US" sz="1350" dirty="0"/>
          </a:p>
        </p:txBody>
      </p:sp>
      <p:sp>
        <p:nvSpPr>
          <p:cNvPr id="7" name="Text 5"/>
          <p:cNvSpPr/>
          <p:nvPr/>
        </p:nvSpPr>
        <p:spPr>
          <a:xfrm>
            <a:off x="777240" y="1810512"/>
            <a:ext cx="3108960"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Provenance • accuracy • consistency</a:t>
            </a:r>
            <a:endParaRPr lang="en-US" sz="1050" dirty="0"/>
          </a:p>
        </p:txBody>
      </p:sp>
      <p:sp>
        <p:nvSpPr>
          <p:cNvPr id="8" name="Shape 6"/>
          <p:cNvSpPr/>
          <p:nvPr/>
        </p:nvSpPr>
        <p:spPr>
          <a:xfrm>
            <a:off x="4416552" y="1325880"/>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9" name="Shape 7"/>
          <p:cNvSpPr/>
          <p:nvPr/>
        </p:nvSpPr>
        <p:spPr>
          <a:xfrm>
            <a:off x="4416552" y="1325880"/>
            <a:ext cx="64008" cy="1371600"/>
          </a:xfrm>
          <a:prstGeom prst="rect">
            <a:avLst/>
          </a:prstGeom>
          <a:solidFill>
            <a:srgbClr val="12ABDB"/>
          </a:solidFill>
          <a:ln w="12700">
            <a:solidFill>
              <a:srgbClr val="12ABDB"/>
            </a:solidFill>
            <a:prstDash val="solid"/>
          </a:ln>
        </p:spPr>
        <p:txBody>
          <a:bodyPr/>
          <a:lstStyle/>
          <a:p>
            <a:endParaRPr lang="en-IN"/>
          </a:p>
        </p:txBody>
      </p:sp>
      <p:sp>
        <p:nvSpPr>
          <p:cNvPr id="10" name="Text 8"/>
          <p:cNvSpPr/>
          <p:nvPr/>
        </p:nvSpPr>
        <p:spPr>
          <a:xfrm>
            <a:off x="4599432" y="1472184"/>
            <a:ext cx="3108960" cy="256032"/>
          </a:xfrm>
          <a:prstGeom prst="rect">
            <a:avLst/>
          </a:prstGeom>
          <a:noFill/>
          <a:ln>
            <a:solidFill/>
          </a:ln>
        </p:spPr>
        <p:txBody>
          <a:bodyPr wrap="square" lIns="0" tIns="0" rIns="0" bIns="0" rtlCol="0" anchor="ctr"/>
          <a:lstStyle/>
          <a:p>
            <a:pPr marL="0" indent="0">
              <a:buNone/>
            </a:pPr>
            <a:r>
              <a:rPr lang="en-US" sz="1350" b="1" dirty="0">
                <a:solidFill>
                  <a:srgbClr val="12ABDB"/>
                </a:solidFill>
              </a:rPr>
              <a:t>PRIVACY, PURPOSE &amp; CONSENT</a:t>
            </a:r>
            <a:endParaRPr lang="en-US" sz="1350" dirty="0"/>
          </a:p>
        </p:txBody>
      </p:sp>
      <p:sp>
        <p:nvSpPr>
          <p:cNvPr id="11" name="Text 9"/>
          <p:cNvSpPr/>
          <p:nvPr/>
        </p:nvSpPr>
        <p:spPr>
          <a:xfrm>
            <a:off x="4599432" y="1810512"/>
            <a:ext cx="3108960"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Permissions • traceability • lifecycle</a:t>
            </a:r>
            <a:endParaRPr lang="en-US" sz="1050" dirty="0"/>
          </a:p>
        </p:txBody>
      </p:sp>
      <p:sp>
        <p:nvSpPr>
          <p:cNvPr id="12" name="Shape 10"/>
          <p:cNvSpPr/>
          <p:nvPr/>
        </p:nvSpPr>
        <p:spPr>
          <a:xfrm>
            <a:off x="8238744" y="1325880"/>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3" name="Shape 11"/>
          <p:cNvSpPr/>
          <p:nvPr/>
        </p:nvSpPr>
        <p:spPr>
          <a:xfrm>
            <a:off x="8238744" y="1325880"/>
            <a:ext cx="64008" cy="1371600"/>
          </a:xfrm>
          <a:prstGeom prst="rect">
            <a:avLst/>
          </a:prstGeom>
          <a:solidFill>
            <a:srgbClr val="004280"/>
          </a:solidFill>
          <a:ln w="12700">
            <a:solidFill>
              <a:srgbClr val="004280"/>
            </a:solidFill>
            <a:prstDash val="solid"/>
          </a:ln>
        </p:spPr>
        <p:txBody>
          <a:bodyPr/>
          <a:lstStyle/>
          <a:p>
            <a:endParaRPr lang="en-IN"/>
          </a:p>
        </p:txBody>
      </p:sp>
      <p:sp>
        <p:nvSpPr>
          <p:cNvPr id="14" name="Text 12"/>
          <p:cNvSpPr/>
          <p:nvPr/>
        </p:nvSpPr>
        <p:spPr>
          <a:xfrm>
            <a:off x="8421624" y="1472184"/>
            <a:ext cx="3108960" cy="256032"/>
          </a:xfrm>
          <a:prstGeom prst="rect">
            <a:avLst/>
          </a:prstGeom>
          <a:noFill/>
          <a:ln>
            <a:solidFill/>
          </a:ln>
        </p:spPr>
        <p:txBody>
          <a:bodyPr wrap="square" lIns="0" tIns="0" rIns="0" bIns="0" rtlCol="0" anchor="ctr"/>
          <a:lstStyle/>
          <a:p>
            <a:pPr marL="0" indent="0">
              <a:buNone/>
            </a:pPr>
            <a:r>
              <a:rPr lang="en-US" sz="1350" b="1" dirty="0">
                <a:solidFill>
                  <a:srgbClr val="004280"/>
                </a:solidFill>
              </a:rPr>
              <a:t>MODEL GOVERNANCE</a:t>
            </a:r>
            <a:endParaRPr lang="en-US" sz="1350" dirty="0"/>
          </a:p>
        </p:txBody>
      </p:sp>
      <p:sp>
        <p:nvSpPr>
          <p:cNvPr id="15" name="Text 13"/>
          <p:cNvSpPr/>
          <p:nvPr/>
        </p:nvSpPr>
        <p:spPr>
          <a:xfrm>
            <a:off x="8421624" y="1810512"/>
            <a:ext cx="3108960"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Validation • monitoring • ownership</a:t>
            </a:r>
            <a:endParaRPr lang="en-US" sz="1050" dirty="0"/>
          </a:p>
        </p:txBody>
      </p:sp>
      <p:sp>
        <p:nvSpPr>
          <p:cNvPr id="16" name="Shape 14"/>
          <p:cNvSpPr/>
          <p:nvPr/>
        </p:nvSpPr>
        <p:spPr>
          <a:xfrm>
            <a:off x="594360" y="3108960"/>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7" name="Shape 15"/>
          <p:cNvSpPr/>
          <p:nvPr/>
        </p:nvSpPr>
        <p:spPr>
          <a:xfrm>
            <a:off x="594360" y="3108960"/>
            <a:ext cx="64008" cy="1371600"/>
          </a:xfrm>
          <a:prstGeom prst="rect">
            <a:avLst/>
          </a:prstGeom>
          <a:solidFill>
            <a:srgbClr val="0058AB"/>
          </a:solidFill>
          <a:ln w="12700">
            <a:solidFill>
              <a:srgbClr val="0058AB"/>
            </a:solidFill>
            <a:prstDash val="solid"/>
          </a:ln>
        </p:spPr>
        <p:txBody>
          <a:bodyPr/>
          <a:lstStyle/>
          <a:p>
            <a:endParaRPr lang="en-IN"/>
          </a:p>
        </p:txBody>
      </p:sp>
      <p:sp>
        <p:nvSpPr>
          <p:cNvPr id="18" name="Text 16"/>
          <p:cNvSpPr/>
          <p:nvPr/>
        </p:nvSpPr>
        <p:spPr>
          <a:xfrm>
            <a:off x="777240" y="3255264"/>
            <a:ext cx="3108960" cy="256032"/>
          </a:xfrm>
          <a:prstGeom prst="rect">
            <a:avLst/>
          </a:prstGeom>
          <a:noFill/>
          <a:ln>
            <a:solidFill/>
          </a:ln>
        </p:spPr>
        <p:txBody>
          <a:bodyPr wrap="square" lIns="0" tIns="0" rIns="0" bIns="0" rtlCol="0" anchor="ctr"/>
          <a:lstStyle/>
          <a:p>
            <a:pPr marL="0" indent="0">
              <a:buNone/>
            </a:pPr>
            <a:r>
              <a:rPr lang="en-US" sz="1350" b="1" dirty="0">
                <a:solidFill>
                  <a:srgbClr val="0058AB"/>
                </a:solidFill>
              </a:rPr>
              <a:t>CYBERSECURITY</a:t>
            </a:r>
            <a:endParaRPr lang="en-US" sz="1350" dirty="0"/>
          </a:p>
        </p:txBody>
      </p:sp>
      <p:sp>
        <p:nvSpPr>
          <p:cNvPr id="19" name="Text 17"/>
          <p:cNvSpPr/>
          <p:nvPr/>
        </p:nvSpPr>
        <p:spPr>
          <a:xfrm>
            <a:off x="777240" y="3593592"/>
            <a:ext cx="3108960"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Authentication • authorization • monitoring</a:t>
            </a:r>
            <a:endParaRPr lang="en-US" sz="1050" dirty="0"/>
          </a:p>
        </p:txBody>
      </p:sp>
      <p:sp>
        <p:nvSpPr>
          <p:cNvPr id="20" name="Shape 18"/>
          <p:cNvSpPr/>
          <p:nvPr/>
        </p:nvSpPr>
        <p:spPr>
          <a:xfrm>
            <a:off x="4416552" y="3108960"/>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21" name="Shape 19"/>
          <p:cNvSpPr/>
          <p:nvPr/>
        </p:nvSpPr>
        <p:spPr>
          <a:xfrm>
            <a:off x="4416552" y="3108960"/>
            <a:ext cx="64008" cy="1371600"/>
          </a:xfrm>
          <a:prstGeom prst="rect">
            <a:avLst/>
          </a:prstGeom>
          <a:solidFill>
            <a:srgbClr val="082B4C"/>
          </a:solidFill>
          <a:ln w="12700">
            <a:solidFill>
              <a:srgbClr val="082B4C"/>
            </a:solidFill>
            <a:prstDash val="solid"/>
          </a:ln>
        </p:spPr>
        <p:txBody>
          <a:bodyPr/>
          <a:lstStyle/>
          <a:p>
            <a:endParaRPr lang="en-IN"/>
          </a:p>
        </p:txBody>
      </p:sp>
      <p:sp>
        <p:nvSpPr>
          <p:cNvPr id="22" name="Text 20"/>
          <p:cNvSpPr/>
          <p:nvPr/>
        </p:nvSpPr>
        <p:spPr>
          <a:xfrm>
            <a:off x="4599432" y="3255264"/>
            <a:ext cx="3108960" cy="256032"/>
          </a:xfrm>
          <a:prstGeom prst="rect">
            <a:avLst/>
          </a:prstGeom>
          <a:noFill/>
          <a:ln>
            <a:solidFill/>
          </a:ln>
        </p:spPr>
        <p:txBody>
          <a:bodyPr wrap="square" lIns="0" tIns="0" rIns="0" bIns="0" rtlCol="0" anchor="ctr"/>
          <a:lstStyle/>
          <a:p>
            <a:pPr marL="0" indent="0">
              <a:buNone/>
            </a:pPr>
            <a:r>
              <a:rPr lang="en-US" sz="1350" b="1" dirty="0">
                <a:solidFill>
                  <a:srgbClr val="272936"/>
                </a:solidFill>
              </a:rPr>
              <a:t>EXPLAINABILITY</a:t>
            </a:r>
            <a:endParaRPr lang="en-US" sz="1350" dirty="0"/>
          </a:p>
        </p:txBody>
      </p:sp>
      <p:sp>
        <p:nvSpPr>
          <p:cNvPr id="23" name="Text 21"/>
          <p:cNvSpPr/>
          <p:nvPr/>
        </p:nvSpPr>
        <p:spPr>
          <a:xfrm>
            <a:off x="4599432" y="3593592"/>
            <a:ext cx="3108960"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Traceable decisions and actions</a:t>
            </a:r>
            <a:endParaRPr lang="en-US" sz="1050" dirty="0"/>
          </a:p>
        </p:txBody>
      </p:sp>
      <p:sp>
        <p:nvSpPr>
          <p:cNvPr id="24" name="Shape 22"/>
          <p:cNvSpPr/>
          <p:nvPr/>
        </p:nvSpPr>
        <p:spPr>
          <a:xfrm>
            <a:off x="8238744" y="3108960"/>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25" name="Shape 23"/>
          <p:cNvSpPr/>
          <p:nvPr/>
        </p:nvSpPr>
        <p:spPr>
          <a:xfrm>
            <a:off x="8238744" y="3108960"/>
            <a:ext cx="64008" cy="1371600"/>
          </a:xfrm>
          <a:prstGeom prst="rect">
            <a:avLst/>
          </a:prstGeom>
          <a:solidFill>
            <a:srgbClr val="004280"/>
          </a:solidFill>
          <a:ln w="12700">
            <a:solidFill>
              <a:srgbClr val="004280"/>
            </a:solidFill>
            <a:prstDash val="solid"/>
          </a:ln>
        </p:spPr>
        <p:txBody>
          <a:bodyPr/>
          <a:lstStyle/>
          <a:p>
            <a:endParaRPr lang="en-IN"/>
          </a:p>
        </p:txBody>
      </p:sp>
      <p:sp>
        <p:nvSpPr>
          <p:cNvPr id="26" name="Text 24"/>
          <p:cNvSpPr/>
          <p:nvPr/>
        </p:nvSpPr>
        <p:spPr>
          <a:xfrm>
            <a:off x="8421624" y="3255264"/>
            <a:ext cx="3108960" cy="256032"/>
          </a:xfrm>
          <a:prstGeom prst="rect">
            <a:avLst/>
          </a:prstGeom>
          <a:noFill/>
          <a:ln>
            <a:solidFill/>
          </a:ln>
        </p:spPr>
        <p:txBody>
          <a:bodyPr wrap="square" lIns="0" tIns="0" rIns="0" bIns="0" rtlCol="0" anchor="ctr"/>
          <a:lstStyle/>
          <a:p>
            <a:pPr marL="0" indent="0">
              <a:buNone/>
            </a:pPr>
            <a:r>
              <a:rPr lang="en-US" sz="1350" b="1" dirty="0">
                <a:solidFill>
                  <a:srgbClr val="004280"/>
                </a:solidFill>
              </a:rPr>
              <a:t>HUMAN ACCOUNTABILITY</a:t>
            </a:r>
            <a:endParaRPr lang="en-US" sz="1350" dirty="0"/>
          </a:p>
        </p:txBody>
      </p:sp>
      <p:sp>
        <p:nvSpPr>
          <p:cNvPr id="27" name="Text 25"/>
          <p:cNvSpPr/>
          <p:nvPr/>
        </p:nvSpPr>
        <p:spPr>
          <a:xfrm>
            <a:off x="8421624" y="3593592"/>
            <a:ext cx="3108960" cy="731520"/>
          </a:xfrm>
          <a:prstGeom prst="rect">
            <a:avLst/>
          </a:prstGeom>
          <a:noFill/>
          <a:ln>
            <a:solidFill/>
          </a:ln>
        </p:spPr>
        <p:txBody>
          <a:bodyPr wrap="square" lIns="0" tIns="0" rIns="0" bIns="0" rtlCol="0" anchor="ctr">
            <a:normAutofit/>
          </a:bodyPr>
          <a:lstStyle/>
          <a:p>
            <a:pPr marL="0" indent="0">
              <a:buNone/>
            </a:pPr>
            <a:r>
              <a:rPr lang="en-US" sz="1050" dirty="0">
                <a:solidFill>
                  <a:srgbClr val="272936"/>
                </a:solidFill>
              </a:rPr>
              <a:t>Boundaries • escalation • oversight</a:t>
            </a:r>
            <a:endParaRPr lang="en-US" sz="1050" dirty="0"/>
          </a:p>
        </p:txBody>
      </p:sp>
      <p:sp>
        <p:nvSpPr>
          <p:cNvPr id="28" name="Text 26"/>
          <p:cNvSpPr/>
          <p:nvPr/>
        </p:nvSpPr>
        <p:spPr>
          <a:xfrm>
            <a:off x="640080" y="5074920"/>
            <a:ext cx="2103120" cy="219456"/>
          </a:xfrm>
          <a:prstGeom prst="rect">
            <a:avLst/>
          </a:prstGeom>
          <a:noFill/>
          <a:ln>
            <a:solidFill/>
          </a:ln>
        </p:spPr>
        <p:txBody>
          <a:bodyPr wrap="square" lIns="0" tIns="0" rIns="0" bIns="0" rtlCol="0" anchor="ctr"/>
          <a:lstStyle/>
          <a:p>
            <a:pPr marL="0" indent="0">
              <a:buNone/>
            </a:pPr>
            <a:r>
              <a:rPr lang="en-US" sz="1200" b="1" dirty="0">
                <a:solidFill>
                  <a:srgbClr val="272936"/>
                </a:solidFill>
              </a:rPr>
              <a:t>Responsible AI in practice</a:t>
            </a:r>
            <a:endParaRPr lang="en-US" sz="1200" dirty="0"/>
          </a:p>
        </p:txBody>
      </p:sp>
      <p:sp>
        <p:nvSpPr>
          <p:cNvPr id="29" name="Text 27"/>
          <p:cNvSpPr/>
          <p:nvPr/>
        </p:nvSpPr>
        <p:spPr>
          <a:xfrm>
            <a:off x="2514600" y="5029200"/>
            <a:ext cx="8961120" cy="502920"/>
          </a:xfrm>
          <a:prstGeom prst="rect">
            <a:avLst/>
          </a:prstGeom>
          <a:noFill/>
          <a:ln>
            <a:solidFill/>
          </a:ln>
        </p:spPr>
        <p:txBody>
          <a:bodyPr wrap="square" lIns="0" tIns="0" rIns="0" bIns="0" rtlCol="0" anchor="ctr"/>
          <a:lstStyle/>
          <a:p>
            <a:pPr marL="0" indent="0">
              <a:buNone/>
            </a:pPr>
            <a:r>
              <a:rPr lang="en-US" sz="1150" dirty="0">
                <a:solidFill>
                  <a:srgbClr val="272936"/>
                </a:solidFill>
              </a:rPr>
              <a:t>Orange: ethical charter + independent Data and AI Ethics Council     •     Deutsche Telekom: privacy by design + steering, technical and regulatory governance authorities</a:t>
            </a:r>
            <a:endParaRPr lang="en-US" sz="1150" dirty="0"/>
          </a:p>
        </p:txBody>
      </p:sp>
      <p:sp>
        <p:nvSpPr>
          <p:cNvPr id="30" name="Text 28"/>
          <p:cNvSpPr/>
          <p:nvPr/>
        </p:nvSpPr>
        <p:spPr>
          <a:xfrm>
            <a:off x="1371600" y="5998464"/>
            <a:ext cx="9418320" cy="301752"/>
          </a:xfrm>
          <a:prstGeom prst="rect">
            <a:avLst/>
          </a:prstGeom>
          <a:noFill/>
          <a:ln>
            <a:solidFill/>
          </a:ln>
        </p:spPr>
        <p:txBody>
          <a:bodyPr wrap="square" lIns="0" tIns="0" rIns="0" bIns="0" rtlCol="0" anchor="ctr"/>
          <a:lstStyle/>
          <a:p>
            <a:pPr marL="0" indent="0" algn="ctr">
              <a:buNone/>
            </a:pPr>
            <a:r>
              <a:rPr lang="en-US" sz="1450" b="1" dirty="0">
                <a:solidFill>
                  <a:srgbClr val="004280"/>
                </a:solidFill>
              </a:rPr>
              <a:t>AI should operate within the compliance framework, not be positioned as autonomously “ensuring compliance.”</a:t>
            </a:r>
            <a:endParaRPr lang="en-US" sz="1450" dirty="0"/>
          </a:p>
        </p:txBody>
      </p:sp>
      <p:sp>
        <p:nvSpPr>
          <p:cNvPr id="31" name="Rectangle 30"/>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From AI-driven telcos to intelligent ecosystems</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Five developments are converging to reshape data monetization.</a:t>
            </a:r>
            <a:endParaRPr lang="en-US" sz="1200" dirty="0"/>
          </a:p>
        </p:txBody>
      </p:sp>
      <p:pic>
        <p:nvPicPr>
          <p:cNvPr id="4" name="Image 0" descr="/mnt/data/generated_image_03A152B20E34_02.png"/>
          <p:cNvPicPr>
            <a:picLocks noChangeAspect="1"/>
          </p:cNvPicPr>
          <p:nvPr/>
        </p:nvPicPr>
        <p:blipFill>
          <a:blip r:embed="rId3"/>
          <a:srcRect l="17652" r="17652"/>
          <a:stretch/>
        </p:blipFill>
        <p:spPr>
          <a:xfrm>
            <a:off x="6565392" y="1078992"/>
            <a:ext cx="5102352" cy="5257800"/>
          </a:xfrm>
          <a:prstGeom prst="rect">
            <a:avLst/>
          </a:prstGeom>
          <a:ln>
            <a:solidFill/>
          </a:ln>
        </p:spPr>
      </p:pic>
      <p:sp>
        <p:nvSpPr>
          <p:cNvPr id="5" name="Shape 2"/>
          <p:cNvSpPr/>
          <p:nvPr/>
        </p:nvSpPr>
        <p:spPr>
          <a:xfrm>
            <a:off x="621792" y="1280160"/>
            <a:ext cx="384048" cy="384048"/>
          </a:xfrm>
          <a:prstGeom prst="ellipse">
            <a:avLst/>
          </a:prstGeom>
          <a:solidFill>
            <a:srgbClr val="0070AD"/>
          </a:solidFill>
          <a:ln w="19050">
            <a:solidFill>
              <a:srgbClr val="FFFFFF"/>
            </a:solidFill>
            <a:prstDash val="solid"/>
          </a:ln>
        </p:spPr>
        <p:txBody>
          <a:bodyPr/>
          <a:lstStyle/>
          <a:p>
            <a:endParaRPr lang="en-IN"/>
          </a:p>
        </p:txBody>
      </p:sp>
      <p:sp>
        <p:nvSpPr>
          <p:cNvPr id="6" name="Text 3"/>
          <p:cNvSpPr/>
          <p:nvPr/>
        </p:nvSpPr>
        <p:spPr>
          <a:xfrm>
            <a:off x="621792" y="1371600"/>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4"/>
          <p:cNvSpPr/>
          <p:nvPr/>
        </p:nvSpPr>
        <p:spPr>
          <a:xfrm>
            <a:off x="1207008" y="1325880"/>
            <a:ext cx="4892040" cy="256032"/>
          </a:xfrm>
          <a:prstGeom prst="rect">
            <a:avLst/>
          </a:prstGeom>
          <a:noFill/>
          <a:ln>
            <a:solidFill/>
          </a:ln>
        </p:spPr>
        <p:txBody>
          <a:bodyPr wrap="square" lIns="0" tIns="0" rIns="0" bIns="0" rtlCol="0" anchor="ctr"/>
          <a:lstStyle/>
          <a:p>
            <a:pPr marL="0" indent="0">
              <a:buNone/>
            </a:pPr>
            <a:r>
              <a:rPr lang="en-US" sz="1300" b="1" dirty="0">
                <a:solidFill>
                  <a:srgbClr val="272936"/>
                </a:solidFill>
              </a:rPr>
              <a:t>Network APIs become commercial products</a:t>
            </a:r>
            <a:endParaRPr lang="en-US" sz="1300" dirty="0"/>
          </a:p>
        </p:txBody>
      </p:sp>
      <p:sp>
        <p:nvSpPr>
          <p:cNvPr id="8" name="Shape 5"/>
          <p:cNvSpPr/>
          <p:nvPr/>
        </p:nvSpPr>
        <p:spPr>
          <a:xfrm>
            <a:off x="621792" y="2121408"/>
            <a:ext cx="384048" cy="384048"/>
          </a:xfrm>
          <a:prstGeom prst="ellipse">
            <a:avLst/>
          </a:prstGeom>
          <a:solidFill>
            <a:srgbClr val="12ABDB"/>
          </a:solidFill>
          <a:ln w="19050">
            <a:solidFill>
              <a:srgbClr val="FFFFFF"/>
            </a:solidFill>
            <a:prstDash val="solid"/>
          </a:ln>
        </p:spPr>
        <p:txBody>
          <a:bodyPr/>
          <a:lstStyle/>
          <a:p>
            <a:endParaRPr lang="en-IN"/>
          </a:p>
        </p:txBody>
      </p:sp>
      <p:sp>
        <p:nvSpPr>
          <p:cNvPr id="9" name="Text 6"/>
          <p:cNvSpPr/>
          <p:nvPr/>
        </p:nvSpPr>
        <p:spPr>
          <a:xfrm>
            <a:off x="621792" y="2212848"/>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0" name="Text 7"/>
          <p:cNvSpPr/>
          <p:nvPr/>
        </p:nvSpPr>
        <p:spPr>
          <a:xfrm>
            <a:off x="1207008" y="2167128"/>
            <a:ext cx="4892040" cy="256032"/>
          </a:xfrm>
          <a:prstGeom prst="rect">
            <a:avLst/>
          </a:prstGeom>
          <a:noFill/>
          <a:ln>
            <a:solidFill/>
          </a:ln>
        </p:spPr>
        <p:txBody>
          <a:bodyPr wrap="square" lIns="0" tIns="0" rIns="0" bIns="0" rtlCol="0" anchor="ctr"/>
          <a:lstStyle/>
          <a:p>
            <a:pPr marL="0" indent="0">
              <a:buNone/>
            </a:pPr>
            <a:r>
              <a:rPr lang="en-US" sz="1300" b="1" dirty="0">
                <a:solidFill>
                  <a:srgbClr val="272936"/>
                </a:solidFill>
              </a:rPr>
              <a:t>Identity &amp; fraud emerge as differentiated assets</a:t>
            </a:r>
            <a:endParaRPr lang="en-US" sz="1300" dirty="0"/>
          </a:p>
        </p:txBody>
      </p:sp>
      <p:sp>
        <p:nvSpPr>
          <p:cNvPr id="11" name="Shape 8"/>
          <p:cNvSpPr/>
          <p:nvPr/>
        </p:nvSpPr>
        <p:spPr>
          <a:xfrm>
            <a:off x="621792" y="2962656"/>
            <a:ext cx="384048" cy="384048"/>
          </a:xfrm>
          <a:prstGeom prst="ellipse">
            <a:avLst/>
          </a:prstGeom>
          <a:solidFill>
            <a:srgbClr val="0058AB"/>
          </a:solidFill>
          <a:ln w="19050">
            <a:solidFill>
              <a:srgbClr val="FFFFFF"/>
            </a:solidFill>
            <a:prstDash val="solid"/>
          </a:ln>
        </p:spPr>
        <p:txBody>
          <a:bodyPr/>
          <a:lstStyle/>
          <a:p>
            <a:endParaRPr lang="en-IN"/>
          </a:p>
        </p:txBody>
      </p:sp>
      <p:sp>
        <p:nvSpPr>
          <p:cNvPr id="12" name="Text 9"/>
          <p:cNvSpPr/>
          <p:nvPr/>
        </p:nvSpPr>
        <p:spPr>
          <a:xfrm>
            <a:off x="621792" y="3054096"/>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3" name="Text 10"/>
          <p:cNvSpPr/>
          <p:nvPr/>
        </p:nvSpPr>
        <p:spPr>
          <a:xfrm>
            <a:off x="1207008" y="3008376"/>
            <a:ext cx="4892040" cy="256032"/>
          </a:xfrm>
          <a:prstGeom prst="rect">
            <a:avLst/>
          </a:prstGeom>
          <a:noFill/>
          <a:ln>
            <a:solidFill/>
          </a:ln>
        </p:spPr>
        <p:txBody>
          <a:bodyPr wrap="square" lIns="0" tIns="0" rIns="0" bIns="0" rtlCol="0" anchor="ctr"/>
          <a:lstStyle/>
          <a:p>
            <a:pPr marL="0" indent="0">
              <a:buNone/>
            </a:pPr>
            <a:r>
              <a:rPr lang="en-US" sz="1300" b="1" dirty="0">
                <a:solidFill>
                  <a:srgbClr val="272936"/>
                </a:solidFill>
              </a:rPr>
              <a:t>Enterprise intelligence expands beyond advertising</a:t>
            </a:r>
            <a:endParaRPr lang="en-US" sz="1300" dirty="0"/>
          </a:p>
        </p:txBody>
      </p:sp>
      <p:sp>
        <p:nvSpPr>
          <p:cNvPr id="14" name="Shape 11"/>
          <p:cNvSpPr/>
          <p:nvPr/>
        </p:nvSpPr>
        <p:spPr>
          <a:xfrm>
            <a:off x="621792" y="3803904"/>
            <a:ext cx="384048" cy="384048"/>
          </a:xfrm>
          <a:prstGeom prst="ellipse">
            <a:avLst/>
          </a:prstGeom>
          <a:solidFill>
            <a:srgbClr val="004280"/>
          </a:solidFill>
          <a:ln w="19050">
            <a:solidFill>
              <a:srgbClr val="FFFFFF"/>
            </a:solidFill>
            <a:prstDash val="solid"/>
          </a:ln>
        </p:spPr>
        <p:txBody>
          <a:bodyPr/>
          <a:lstStyle/>
          <a:p>
            <a:endParaRPr lang="en-IN"/>
          </a:p>
        </p:txBody>
      </p:sp>
      <p:sp>
        <p:nvSpPr>
          <p:cNvPr id="15" name="Text 12"/>
          <p:cNvSpPr/>
          <p:nvPr/>
        </p:nvSpPr>
        <p:spPr>
          <a:xfrm>
            <a:off x="621792" y="3895344"/>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16" name="Text 13"/>
          <p:cNvSpPr/>
          <p:nvPr/>
        </p:nvSpPr>
        <p:spPr>
          <a:xfrm>
            <a:off x="1207008" y="3849624"/>
            <a:ext cx="4892040" cy="256032"/>
          </a:xfrm>
          <a:prstGeom prst="rect">
            <a:avLst/>
          </a:prstGeom>
          <a:noFill/>
          <a:ln>
            <a:solidFill/>
          </a:ln>
        </p:spPr>
        <p:txBody>
          <a:bodyPr wrap="square" lIns="0" tIns="0" rIns="0" bIns="0" rtlCol="0" anchor="ctr"/>
          <a:lstStyle/>
          <a:p>
            <a:pPr marL="0" indent="0">
              <a:buNone/>
            </a:pPr>
            <a:r>
              <a:rPr lang="en-US" sz="1300" b="1" dirty="0">
                <a:solidFill>
                  <a:srgbClr val="272936"/>
                </a:solidFill>
              </a:rPr>
              <a:t>Programmable networks meet AI</a:t>
            </a:r>
            <a:endParaRPr lang="en-US" sz="1300" dirty="0"/>
          </a:p>
        </p:txBody>
      </p:sp>
      <p:sp>
        <p:nvSpPr>
          <p:cNvPr id="17" name="Shape 14"/>
          <p:cNvSpPr/>
          <p:nvPr/>
        </p:nvSpPr>
        <p:spPr>
          <a:xfrm>
            <a:off x="621792" y="4645152"/>
            <a:ext cx="384048" cy="384048"/>
          </a:xfrm>
          <a:prstGeom prst="ellipse">
            <a:avLst/>
          </a:prstGeom>
          <a:solidFill>
            <a:srgbClr val="082B4C"/>
          </a:solidFill>
          <a:ln w="19050">
            <a:solidFill>
              <a:srgbClr val="FFFFFF"/>
            </a:solidFill>
            <a:prstDash val="solid"/>
          </a:ln>
        </p:spPr>
        <p:txBody>
          <a:bodyPr/>
          <a:lstStyle/>
          <a:p>
            <a:endParaRPr lang="en-IN"/>
          </a:p>
        </p:txBody>
      </p:sp>
      <p:sp>
        <p:nvSpPr>
          <p:cNvPr id="18" name="Text 15"/>
          <p:cNvSpPr/>
          <p:nvPr/>
        </p:nvSpPr>
        <p:spPr>
          <a:xfrm>
            <a:off x="621792" y="4736592"/>
            <a:ext cx="384048" cy="155448"/>
          </a:xfrm>
          <a:prstGeom prst="rect">
            <a:avLst/>
          </a:prstGeom>
          <a:noFill/>
          <a:ln>
            <a:solid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19" name="Text 16"/>
          <p:cNvSpPr/>
          <p:nvPr/>
        </p:nvSpPr>
        <p:spPr>
          <a:xfrm>
            <a:off x="1207008" y="4690872"/>
            <a:ext cx="4892040" cy="256032"/>
          </a:xfrm>
          <a:prstGeom prst="rect">
            <a:avLst/>
          </a:prstGeom>
          <a:noFill/>
          <a:ln>
            <a:solidFill/>
          </a:ln>
        </p:spPr>
        <p:txBody>
          <a:bodyPr wrap="square" lIns="0" tIns="0" rIns="0" bIns="0" rtlCol="0" anchor="ctr"/>
          <a:lstStyle/>
          <a:p>
            <a:pPr marL="0" indent="0">
              <a:buNone/>
            </a:pPr>
            <a:r>
              <a:rPr lang="en-US" sz="1300" b="1" dirty="0">
                <a:solidFill>
                  <a:srgbClr val="272936"/>
                </a:solidFill>
              </a:rPr>
              <a:t>Agentic AI raises automation and governance together</a:t>
            </a:r>
            <a:endParaRPr lang="en-US" sz="1300" dirty="0"/>
          </a:p>
        </p:txBody>
      </p:sp>
      <p:sp>
        <p:nvSpPr>
          <p:cNvPr id="20" name="Text 17"/>
          <p:cNvSpPr/>
          <p:nvPr/>
        </p:nvSpPr>
        <p:spPr>
          <a:xfrm>
            <a:off x="694944" y="5715000"/>
            <a:ext cx="5394960" cy="365760"/>
          </a:xfrm>
          <a:prstGeom prst="rect">
            <a:avLst/>
          </a:prstGeom>
          <a:noFill/>
          <a:ln>
            <a:solidFill/>
          </a:ln>
        </p:spPr>
        <p:txBody>
          <a:bodyPr wrap="square" lIns="0" tIns="0" rIns="0" bIns="0" rtlCol="0" anchor="ctr"/>
          <a:lstStyle/>
          <a:p>
            <a:pPr marL="0" indent="0">
              <a:buNone/>
            </a:pPr>
            <a:r>
              <a:rPr lang="en-US" sz="1900" b="1" dirty="0">
                <a:solidFill>
                  <a:srgbClr val="272936"/>
                </a:solidFill>
              </a:rPr>
              <a:t>Autonomy is a progression, not a binary destination.</a:t>
            </a:r>
            <a:endParaRPr lang="en-US" sz="1900" dirty="0"/>
          </a:p>
        </p:txBody>
      </p:sp>
      <p:sp>
        <p:nvSpPr>
          <p:cNvPr id="21" name="Rectangle 20"/>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C"/>
        </a:solidFill>
        <a:effectLst/>
      </p:bgPr>
    </p:bg>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a:solidFill/>
          </a:ln>
        </p:spPr>
        <p:txBody>
          <a:bodyPr wrap="square" lIns="0" tIns="0" rIns="0" bIns="0" rtlCol="0" anchor="ctr"/>
          <a:lstStyle/>
          <a:p>
            <a:pPr marL="0" indent="0">
              <a:buNone/>
            </a:pPr>
            <a:r>
              <a:rPr lang="en-US" sz="2400" b="1" dirty="0">
                <a:solidFill>
                  <a:srgbClr val="272936"/>
                </a:solidFill>
              </a:rPr>
              <a:t>My point of view: a four-step path to intelligence-led growth</a:t>
            </a:r>
            <a:endParaRPr lang="en-US" sz="2400" dirty="0"/>
          </a:p>
        </p:txBody>
      </p:sp>
      <p:sp>
        <p:nvSpPr>
          <p:cNvPr id="3" name="Text 1"/>
          <p:cNvSpPr/>
          <p:nvPr/>
        </p:nvSpPr>
        <p:spPr>
          <a:xfrm>
            <a:off x="502920" y="694944"/>
            <a:ext cx="10972800" cy="274320"/>
          </a:xfrm>
          <a:prstGeom prst="rect">
            <a:avLst/>
          </a:prstGeom>
          <a:noFill/>
          <a:ln>
            <a:solidFill/>
          </a:ln>
        </p:spPr>
        <p:txBody>
          <a:bodyPr wrap="square" lIns="0" tIns="0" rIns="0" bIns="0" rtlCol="0" anchor="ctr"/>
          <a:lstStyle/>
          <a:p>
            <a:pPr marL="0" indent="0">
              <a:buNone/>
            </a:pPr>
            <a:r>
              <a:rPr lang="en-US" sz="1200" dirty="0">
                <a:solidFill>
                  <a:srgbClr val="626D7A"/>
                </a:solidFill>
              </a:rPr>
              <a:t>The recommended path links internal proof, trust, productization and ecosystem scale.</a:t>
            </a:r>
            <a:endParaRPr lang="en-US" sz="1200" dirty="0"/>
          </a:p>
        </p:txBody>
      </p:sp>
      <p:sp>
        <p:nvSpPr>
          <p:cNvPr id="4" name="Shape 2"/>
          <p:cNvSpPr/>
          <p:nvPr/>
        </p:nvSpPr>
        <p:spPr>
          <a:xfrm>
            <a:off x="502920" y="1325880"/>
            <a:ext cx="2542032" cy="4224528"/>
          </a:xfrm>
          <a:prstGeom prst="roundRect">
            <a:avLst/>
          </a:prstGeom>
          <a:solidFill>
            <a:srgbClr val="FFFFFF"/>
          </a:solidFill>
          <a:ln w="16510">
            <a:solidFill>
              <a:srgbClr val="0070AD"/>
            </a:solidFill>
            <a:prstDash val="solid"/>
          </a:ln>
          <a:effectLst>
            <a:outerShdw blurRad="12700" dist="12700" dir="2700000" algn="bl" rotWithShape="0">
              <a:srgbClr val="99A7B5">
                <a:alpha val="12000"/>
              </a:srgbClr>
            </a:outerShdw>
          </a:effectLst>
        </p:spPr>
        <p:txBody>
          <a:bodyPr/>
          <a:lstStyle/>
          <a:p>
            <a:endParaRPr lang="en-IN"/>
          </a:p>
        </p:txBody>
      </p:sp>
      <p:sp>
        <p:nvSpPr>
          <p:cNvPr id="5" name="Text 3"/>
          <p:cNvSpPr/>
          <p:nvPr/>
        </p:nvSpPr>
        <p:spPr>
          <a:xfrm>
            <a:off x="685800" y="1536192"/>
            <a:ext cx="502920" cy="365760"/>
          </a:xfrm>
          <a:prstGeom prst="rect">
            <a:avLst/>
          </a:prstGeom>
          <a:noFill/>
          <a:ln>
            <a:solidFill/>
          </a:ln>
        </p:spPr>
        <p:txBody>
          <a:bodyPr wrap="square" lIns="0" tIns="0" rIns="0" bIns="0" rtlCol="0" anchor="ctr"/>
          <a:lstStyle/>
          <a:p>
            <a:pPr marL="0" indent="0">
              <a:buNone/>
            </a:pPr>
            <a:r>
              <a:rPr lang="en-US" sz="2200" b="1" dirty="0">
                <a:solidFill>
                  <a:srgbClr val="0070AD"/>
                </a:solidFill>
              </a:rPr>
              <a:t>01</a:t>
            </a:r>
            <a:endParaRPr lang="en-US" sz="2200" dirty="0"/>
          </a:p>
        </p:txBody>
      </p:sp>
      <p:sp>
        <p:nvSpPr>
          <p:cNvPr id="6" name="Text 4"/>
          <p:cNvSpPr/>
          <p:nvPr/>
        </p:nvSpPr>
        <p:spPr>
          <a:xfrm>
            <a:off x="685800" y="2194560"/>
            <a:ext cx="2148840" cy="621792"/>
          </a:xfrm>
          <a:prstGeom prst="rect">
            <a:avLst/>
          </a:prstGeom>
          <a:noFill/>
          <a:ln>
            <a:solidFill/>
          </a:ln>
        </p:spPr>
        <p:txBody>
          <a:bodyPr wrap="square" lIns="0" tIns="0" rIns="0" bIns="0" rtlCol="0" anchor="ctr">
            <a:normAutofit/>
          </a:bodyPr>
          <a:lstStyle/>
          <a:p>
            <a:pPr marL="0" indent="0">
              <a:buNone/>
            </a:pPr>
            <a:r>
              <a:rPr lang="en-US" sz="1350" b="1" dirty="0">
                <a:solidFill>
                  <a:srgbClr val="272936"/>
                </a:solidFill>
              </a:rPr>
              <a:t>PROVE VALUE INTERNALLY</a:t>
            </a:r>
            <a:endParaRPr lang="en-US" sz="1350" dirty="0"/>
          </a:p>
        </p:txBody>
      </p:sp>
      <p:sp>
        <p:nvSpPr>
          <p:cNvPr id="7" name="Text 5"/>
          <p:cNvSpPr/>
          <p:nvPr/>
        </p:nvSpPr>
        <p:spPr>
          <a:xfrm>
            <a:off x="685800" y="3291840"/>
            <a:ext cx="2148840" cy="530352"/>
          </a:xfrm>
          <a:prstGeom prst="rect">
            <a:avLst/>
          </a:prstGeom>
          <a:noFill/>
          <a:ln>
            <a:solidFill/>
          </a:ln>
        </p:spPr>
        <p:txBody>
          <a:bodyPr wrap="square" lIns="0" tIns="0" rIns="0" bIns="0" rtlCol="0" anchor="ctr"/>
          <a:lstStyle/>
          <a:p>
            <a:pPr marL="0" indent="0" algn="ctr">
              <a:buNone/>
            </a:pPr>
            <a:r>
              <a:rPr lang="en-US" sz="1150" b="1" dirty="0">
                <a:solidFill>
                  <a:srgbClr val="0070AD"/>
                </a:solidFill>
              </a:rPr>
              <a:t>Customer • network • operations</a:t>
            </a:r>
            <a:endParaRPr lang="en-US" sz="1150" dirty="0"/>
          </a:p>
        </p:txBody>
      </p:sp>
      <p:sp>
        <p:nvSpPr>
          <p:cNvPr id="8" name="Text 6"/>
          <p:cNvSpPr/>
          <p:nvPr/>
        </p:nvSpPr>
        <p:spPr>
          <a:xfrm>
            <a:off x="731520" y="4370832"/>
            <a:ext cx="2057400" cy="502920"/>
          </a:xfrm>
          <a:prstGeom prst="rect">
            <a:avLst/>
          </a:prstGeom>
          <a:noFill/>
          <a:ln>
            <a:solidFill/>
          </a:ln>
        </p:spPr>
        <p:txBody>
          <a:bodyPr wrap="square" lIns="0" tIns="0" rIns="0" bIns="0" rtlCol="0" anchor="ctr"/>
          <a:lstStyle/>
          <a:p>
            <a:pPr marL="0" indent="0" algn="ctr">
              <a:buNone/>
            </a:pPr>
            <a:r>
              <a:rPr lang="en-US" sz="1050" dirty="0">
                <a:solidFill>
                  <a:srgbClr val="272936"/>
                </a:solidFill>
              </a:rPr>
              <a:t>Build measurable economic proof</a:t>
            </a:r>
            <a:endParaRPr lang="en-US" sz="1050" dirty="0"/>
          </a:p>
        </p:txBody>
      </p:sp>
      <p:sp>
        <p:nvSpPr>
          <p:cNvPr id="9" name="Text 7"/>
          <p:cNvSpPr/>
          <p:nvPr/>
        </p:nvSpPr>
        <p:spPr>
          <a:xfrm>
            <a:off x="3063240" y="3017520"/>
            <a:ext cx="246888" cy="320040"/>
          </a:xfrm>
          <a:prstGeom prst="rect">
            <a:avLst/>
          </a:prstGeom>
          <a:noFill/>
          <a:ln>
            <a:solidFill/>
          </a:ln>
        </p:spPr>
        <p:txBody>
          <a:bodyPr wrap="square" lIns="0" tIns="0" rIns="0" bIns="0" rtlCol="0" anchor="ctr"/>
          <a:lstStyle/>
          <a:p>
            <a:pPr marL="0" indent="0">
              <a:buNone/>
            </a:pPr>
            <a:r>
              <a:rPr lang="en-US" sz="2300" b="1" dirty="0">
                <a:solidFill>
                  <a:srgbClr val="272936"/>
                </a:solidFill>
              </a:rPr>
              <a:t>→</a:t>
            </a:r>
            <a:endParaRPr lang="en-US" sz="2300" dirty="0"/>
          </a:p>
        </p:txBody>
      </p:sp>
      <p:sp>
        <p:nvSpPr>
          <p:cNvPr id="10" name="Shape 8"/>
          <p:cNvSpPr/>
          <p:nvPr/>
        </p:nvSpPr>
        <p:spPr>
          <a:xfrm>
            <a:off x="3410712" y="1325880"/>
            <a:ext cx="2542032" cy="4224528"/>
          </a:xfrm>
          <a:prstGeom prst="roundRect">
            <a:avLst/>
          </a:prstGeom>
          <a:solidFill>
            <a:srgbClr val="FFFFFF"/>
          </a:solidFill>
          <a:ln w="16510">
            <a:solidFill>
              <a:srgbClr val="12ABDB"/>
            </a:solidFill>
            <a:prstDash val="solid"/>
          </a:ln>
          <a:effectLst>
            <a:outerShdw blurRad="12700" dist="12700" dir="2700000" algn="bl" rotWithShape="0">
              <a:srgbClr val="99A7B5">
                <a:alpha val="12000"/>
              </a:srgbClr>
            </a:outerShdw>
          </a:effectLst>
        </p:spPr>
        <p:txBody>
          <a:bodyPr/>
          <a:lstStyle/>
          <a:p>
            <a:endParaRPr lang="en-IN"/>
          </a:p>
        </p:txBody>
      </p:sp>
      <p:sp>
        <p:nvSpPr>
          <p:cNvPr id="11" name="Text 9"/>
          <p:cNvSpPr/>
          <p:nvPr/>
        </p:nvSpPr>
        <p:spPr>
          <a:xfrm>
            <a:off x="3593592" y="1536192"/>
            <a:ext cx="502920" cy="365760"/>
          </a:xfrm>
          <a:prstGeom prst="rect">
            <a:avLst/>
          </a:prstGeom>
          <a:noFill/>
          <a:ln>
            <a:solidFill/>
          </a:ln>
        </p:spPr>
        <p:txBody>
          <a:bodyPr wrap="square" lIns="0" tIns="0" rIns="0" bIns="0" rtlCol="0" anchor="ctr"/>
          <a:lstStyle/>
          <a:p>
            <a:pPr marL="0" indent="0">
              <a:buNone/>
            </a:pPr>
            <a:r>
              <a:rPr lang="en-US" sz="2200" b="1" dirty="0">
                <a:solidFill>
                  <a:srgbClr val="12ABDB"/>
                </a:solidFill>
              </a:rPr>
              <a:t>02</a:t>
            </a:r>
            <a:endParaRPr lang="en-US" sz="2200" dirty="0"/>
          </a:p>
        </p:txBody>
      </p:sp>
      <p:sp>
        <p:nvSpPr>
          <p:cNvPr id="12" name="Text 10"/>
          <p:cNvSpPr/>
          <p:nvPr/>
        </p:nvSpPr>
        <p:spPr>
          <a:xfrm>
            <a:off x="3593592" y="2194560"/>
            <a:ext cx="2148840" cy="621792"/>
          </a:xfrm>
          <a:prstGeom prst="rect">
            <a:avLst/>
          </a:prstGeom>
          <a:noFill/>
          <a:ln>
            <a:solidFill/>
          </a:ln>
        </p:spPr>
        <p:txBody>
          <a:bodyPr wrap="square" lIns="0" tIns="0" rIns="0" bIns="0" rtlCol="0" anchor="ctr">
            <a:normAutofit/>
          </a:bodyPr>
          <a:lstStyle/>
          <a:p>
            <a:pPr marL="0" indent="0">
              <a:buNone/>
            </a:pPr>
            <a:r>
              <a:rPr lang="en-US" sz="1350" b="1" dirty="0">
                <a:solidFill>
                  <a:srgbClr val="272936"/>
                </a:solidFill>
              </a:rPr>
              <a:t>BUILD THE TRUST FOUNDATION</a:t>
            </a:r>
            <a:endParaRPr lang="en-US" sz="1350" dirty="0"/>
          </a:p>
        </p:txBody>
      </p:sp>
      <p:sp>
        <p:nvSpPr>
          <p:cNvPr id="13" name="Text 11"/>
          <p:cNvSpPr/>
          <p:nvPr/>
        </p:nvSpPr>
        <p:spPr>
          <a:xfrm>
            <a:off x="3593592" y="3291840"/>
            <a:ext cx="2148840" cy="530352"/>
          </a:xfrm>
          <a:prstGeom prst="rect">
            <a:avLst/>
          </a:prstGeom>
          <a:noFill/>
          <a:ln>
            <a:solidFill/>
          </a:ln>
        </p:spPr>
        <p:txBody>
          <a:bodyPr wrap="square" lIns="0" tIns="0" rIns="0" bIns="0" rtlCol="0" anchor="ctr"/>
          <a:lstStyle/>
          <a:p>
            <a:pPr marL="0" indent="0" algn="ctr">
              <a:buNone/>
            </a:pPr>
            <a:r>
              <a:rPr lang="en-US" sz="1150" b="1" dirty="0">
                <a:solidFill>
                  <a:srgbClr val="12ABDB"/>
                </a:solidFill>
              </a:rPr>
              <a:t>Privacy • security • governance</a:t>
            </a:r>
            <a:endParaRPr lang="en-US" sz="1150" dirty="0"/>
          </a:p>
        </p:txBody>
      </p:sp>
      <p:sp>
        <p:nvSpPr>
          <p:cNvPr id="14" name="Text 12"/>
          <p:cNvSpPr/>
          <p:nvPr/>
        </p:nvSpPr>
        <p:spPr>
          <a:xfrm>
            <a:off x="3639312" y="4370832"/>
            <a:ext cx="2057400" cy="502920"/>
          </a:xfrm>
          <a:prstGeom prst="rect">
            <a:avLst/>
          </a:prstGeom>
          <a:noFill/>
          <a:ln>
            <a:solidFill/>
          </a:ln>
        </p:spPr>
        <p:txBody>
          <a:bodyPr wrap="square" lIns="0" tIns="0" rIns="0" bIns="0" rtlCol="0" anchor="ctr"/>
          <a:lstStyle/>
          <a:p>
            <a:pPr marL="0" indent="0" algn="ctr">
              <a:buNone/>
            </a:pPr>
            <a:r>
              <a:rPr lang="en-US" sz="1050" dirty="0">
                <a:solidFill>
                  <a:srgbClr val="272936"/>
                </a:solidFill>
              </a:rPr>
              <a:t>Make controls part of the product</a:t>
            </a:r>
            <a:endParaRPr lang="en-US" sz="1050" dirty="0"/>
          </a:p>
        </p:txBody>
      </p:sp>
      <p:sp>
        <p:nvSpPr>
          <p:cNvPr id="15" name="Text 13"/>
          <p:cNvSpPr/>
          <p:nvPr/>
        </p:nvSpPr>
        <p:spPr>
          <a:xfrm>
            <a:off x="5971032" y="3017520"/>
            <a:ext cx="246888" cy="320040"/>
          </a:xfrm>
          <a:prstGeom prst="rect">
            <a:avLst/>
          </a:prstGeom>
          <a:noFill/>
          <a:ln>
            <a:solidFill/>
          </a:ln>
        </p:spPr>
        <p:txBody>
          <a:bodyPr wrap="square" lIns="0" tIns="0" rIns="0" bIns="0" rtlCol="0" anchor="ctr"/>
          <a:lstStyle/>
          <a:p>
            <a:pPr marL="0" indent="0">
              <a:buNone/>
            </a:pPr>
            <a:r>
              <a:rPr lang="en-US" sz="2300" b="1" dirty="0">
                <a:solidFill>
                  <a:srgbClr val="272936"/>
                </a:solidFill>
              </a:rPr>
              <a:t>→</a:t>
            </a:r>
            <a:endParaRPr lang="en-US" sz="2300" dirty="0"/>
          </a:p>
        </p:txBody>
      </p:sp>
      <p:sp>
        <p:nvSpPr>
          <p:cNvPr id="16" name="Shape 14"/>
          <p:cNvSpPr/>
          <p:nvPr/>
        </p:nvSpPr>
        <p:spPr>
          <a:xfrm>
            <a:off x="6318504" y="1325880"/>
            <a:ext cx="2542032" cy="4224528"/>
          </a:xfrm>
          <a:prstGeom prst="roundRect">
            <a:avLst/>
          </a:prstGeom>
          <a:solidFill>
            <a:srgbClr val="FFFFFF"/>
          </a:solidFill>
          <a:ln w="16510">
            <a:solidFill>
              <a:srgbClr val="004280"/>
            </a:solidFill>
            <a:prstDash val="solid"/>
          </a:ln>
          <a:effectLst>
            <a:outerShdw blurRad="12700" dist="12700" dir="2700000" algn="bl" rotWithShape="0">
              <a:srgbClr val="99A7B5">
                <a:alpha val="12000"/>
              </a:srgbClr>
            </a:outerShdw>
          </a:effectLst>
        </p:spPr>
        <p:txBody>
          <a:bodyPr/>
          <a:lstStyle/>
          <a:p>
            <a:endParaRPr lang="en-IN"/>
          </a:p>
        </p:txBody>
      </p:sp>
      <p:sp>
        <p:nvSpPr>
          <p:cNvPr id="17" name="Text 15"/>
          <p:cNvSpPr/>
          <p:nvPr/>
        </p:nvSpPr>
        <p:spPr>
          <a:xfrm>
            <a:off x="6501384" y="1536192"/>
            <a:ext cx="502920" cy="365760"/>
          </a:xfrm>
          <a:prstGeom prst="rect">
            <a:avLst/>
          </a:prstGeom>
          <a:noFill/>
          <a:ln>
            <a:solidFill/>
          </a:ln>
        </p:spPr>
        <p:txBody>
          <a:bodyPr wrap="square" lIns="0" tIns="0" rIns="0" bIns="0" rtlCol="0" anchor="ctr"/>
          <a:lstStyle/>
          <a:p>
            <a:pPr marL="0" indent="0">
              <a:buNone/>
            </a:pPr>
            <a:r>
              <a:rPr lang="en-US" sz="2200" b="1" dirty="0">
                <a:solidFill>
                  <a:srgbClr val="004280"/>
                </a:solidFill>
              </a:rPr>
              <a:t>03</a:t>
            </a:r>
            <a:endParaRPr lang="en-US" sz="2200" dirty="0"/>
          </a:p>
        </p:txBody>
      </p:sp>
      <p:sp>
        <p:nvSpPr>
          <p:cNvPr id="18" name="Text 16"/>
          <p:cNvSpPr/>
          <p:nvPr/>
        </p:nvSpPr>
        <p:spPr>
          <a:xfrm>
            <a:off x="6501384" y="2194560"/>
            <a:ext cx="2148840" cy="621792"/>
          </a:xfrm>
          <a:prstGeom prst="rect">
            <a:avLst/>
          </a:prstGeom>
          <a:noFill/>
          <a:ln>
            <a:solidFill/>
          </a:ln>
        </p:spPr>
        <p:txBody>
          <a:bodyPr wrap="square" lIns="0" tIns="0" rIns="0" bIns="0" rtlCol="0" anchor="ctr">
            <a:normAutofit/>
          </a:bodyPr>
          <a:lstStyle/>
          <a:p>
            <a:pPr marL="0" indent="0">
              <a:buNone/>
            </a:pPr>
            <a:r>
              <a:rPr lang="en-US" sz="1350" b="1" dirty="0">
                <a:solidFill>
                  <a:srgbClr val="272936"/>
                </a:solidFill>
              </a:rPr>
              <a:t>PRODUCTIZE DIFFERENTIATED INTELLIGENCE</a:t>
            </a:r>
            <a:endParaRPr lang="en-US" sz="1350" dirty="0"/>
          </a:p>
        </p:txBody>
      </p:sp>
      <p:sp>
        <p:nvSpPr>
          <p:cNvPr id="19" name="Text 17"/>
          <p:cNvSpPr/>
          <p:nvPr/>
        </p:nvSpPr>
        <p:spPr>
          <a:xfrm>
            <a:off x="6501384" y="3291840"/>
            <a:ext cx="2148840" cy="530352"/>
          </a:xfrm>
          <a:prstGeom prst="rect">
            <a:avLst/>
          </a:prstGeom>
          <a:noFill/>
          <a:ln>
            <a:solidFill/>
          </a:ln>
        </p:spPr>
        <p:txBody>
          <a:bodyPr wrap="square" lIns="0" tIns="0" rIns="0" bIns="0" rtlCol="0" anchor="ctr"/>
          <a:lstStyle/>
          <a:p>
            <a:pPr marL="0" indent="0" algn="ctr">
              <a:buNone/>
            </a:pPr>
            <a:r>
              <a:rPr lang="en-US" sz="1150" b="1" dirty="0">
                <a:solidFill>
                  <a:srgbClr val="004280"/>
                </a:solidFill>
              </a:rPr>
              <a:t>Identity • mobility • quality • APIs</a:t>
            </a:r>
            <a:endParaRPr lang="en-US" sz="1150" dirty="0"/>
          </a:p>
        </p:txBody>
      </p:sp>
      <p:sp>
        <p:nvSpPr>
          <p:cNvPr id="20" name="Text 18"/>
          <p:cNvSpPr/>
          <p:nvPr/>
        </p:nvSpPr>
        <p:spPr>
          <a:xfrm>
            <a:off x="6547104" y="4370832"/>
            <a:ext cx="2057400" cy="502920"/>
          </a:xfrm>
          <a:prstGeom prst="rect">
            <a:avLst/>
          </a:prstGeom>
          <a:noFill/>
          <a:ln>
            <a:solidFill/>
          </a:ln>
        </p:spPr>
        <p:txBody>
          <a:bodyPr wrap="square" lIns="0" tIns="0" rIns="0" bIns="0" rtlCol="0" anchor="ctr"/>
          <a:lstStyle/>
          <a:p>
            <a:pPr marL="0" indent="0" algn="ctr">
              <a:buNone/>
            </a:pPr>
            <a:r>
              <a:rPr lang="en-US" sz="1050" dirty="0">
                <a:solidFill>
                  <a:srgbClr val="272936"/>
                </a:solidFill>
              </a:rPr>
              <a:t>Package capabilities around outcomes</a:t>
            </a:r>
            <a:endParaRPr lang="en-US" sz="1050" dirty="0"/>
          </a:p>
        </p:txBody>
      </p:sp>
      <p:sp>
        <p:nvSpPr>
          <p:cNvPr id="21" name="Text 19"/>
          <p:cNvSpPr/>
          <p:nvPr/>
        </p:nvSpPr>
        <p:spPr>
          <a:xfrm>
            <a:off x="8878824" y="3017520"/>
            <a:ext cx="246888" cy="320040"/>
          </a:xfrm>
          <a:prstGeom prst="rect">
            <a:avLst/>
          </a:prstGeom>
          <a:noFill/>
          <a:ln>
            <a:solidFill/>
          </a:ln>
        </p:spPr>
        <p:txBody>
          <a:bodyPr wrap="square" lIns="0" tIns="0" rIns="0" bIns="0" rtlCol="0" anchor="ctr"/>
          <a:lstStyle/>
          <a:p>
            <a:pPr marL="0" indent="0">
              <a:buNone/>
            </a:pPr>
            <a:r>
              <a:rPr lang="en-US" sz="2300" b="1" dirty="0">
                <a:solidFill>
                  <a:srgbClr val="272936"/>
                </a:solidFill>
              </a:rPr>
              <a:t>→</a:t>
            </a:r>
            <a:endParaRPr lang="en-US" sz="2300" dirty="0"/>
          </a:p>
        </p:txBody>
      </p:sp>
      <p:sp>
        <p:nvSpPr>
          <p:cNvPr id="22" name="Shape 20"/>
          <p:cNvSpPr/>
          <p:nvPr/>
        </p:nvSpPr>
        <p:spPr>
          <a:xfrm>
            <a:off x="9226296" y="1325880"/>
            <a:ext cx="2542032" cy="4224528"/>
          </a:xfrm>
          <a:prstGeom prst="roundRect">
            <a:avLst/>
          </a:prstGeom>
          <a:solidFill>
            <a:srgbClr val="FFFFFF"/>
          </a:solidFill>
          <a:ln w="16510">
            <a:solidFill>
              <a:srgbClr val="0058AB"/>
            </a:solidFill>
            <a:prstDash val="solid"/>
          </a:ln>
          <a:effectLst>
            <a:outerShdw blurRad="12700" dist="12700" dir="2700000" algn="bl" rotWithShape="0">
              <a:srgbClr val="99A7B5">
                <a:alpha val="12000"/>
              </a:srgbClr>
            </a:outerShdw>
          </a:effectLst>
        </p:spPr>
        <p:txBody>
          <a:bodyPr/>
          <a:lstStyle/>
          <a:p>
            <a:endParaRPr lang="en-IN"/>
          </a:p>
        </p:txBody>
      </p:sp>
      <p:sp>
        <p:nvSpPr>
          <p:cNvPr id="23" name="Text 21"/>
          <p:cNvSpPr/>
          <p:nvPr/>
        </p:nvSpPr>
        <p:spPr>
          <a:xfrm>
            <a:off x="9409176" y="1536192"/>
            <a:ext cx="502920" cy="365760"/>
          </a:xfrm>
          <a:prstGeom prst="rect">
            <a:avLst/>
          </a:prstGeom>
          <a:noFill/>
          <a:ln>
            <a:solidFill/>
          </a:ln>
        </p:spPr>
        <p:txBody>
          <a:bodyPr wrap="square" lIns="0" tIns="0" rIns="0" bIns="0" rtlCol="0" anchor="ctr"/>
          <a:lstStyle/>
          <a:p>
            <a:pPr marL="0" indent="0">
              <a:buNone/>
            </a:pPr>
            <a:r>
              <a:rPr lang="en-US" sz="2200" b="1" dirty="0">
                <a:solidFill>
                  <a:srgbClr val="0058AB"/>
                </a:solidFill>
              </a:rPr>
              <a:t>04</a:t>
            </a:r>
            <a:endParaRPr lang="en-US" sz="2200" dirty="0"/>
          </a:p>
        </p:txBody>
      </p:sp>
      <p:sp>
        <p:nvSpPr>
          <p:cNvPr id="24" name="Text 22"/>
          <p:cNvSpPr/>
          <p:nvPr/>
        </p:nvSpPr>
        <p:spPr>
          <a:xfrm>
            <a:off x="9409176" y="2194560"/>
            <a:ext cx="2148840" cy="621792"/>
          </a:xfrm>
          <a:prstGeom prst="rect">
            <a:avLst/>
          </a:prstGeom>
          <a:noFill/>
          <a:ln>
            <a:solidFill/>
          </a:ln>
        </p:spPr>
        <p:txBody>
          <a:bodyPr wrap="square" lIns="0" tIns="0" rIns="0" bIns="0" rtlCol="0" anchor="ctr">
            <a:normAutofit/>
          </a:bodyPr>
          <a:lstStyle/>
          <a:p>
            <a:pPr marL="0" indent="0">
              <a:buNone/>
            </a:pPr>
            <a:r>
              <a:rPr lang="en-US" sz="1350" b="1" dirty="0">
                <a:solidFill>
                  <a:srgbClr val="272936"/>
                </a:solidFill>
              </a:rPr>
              <a:t>SCALE THROUGH ECOSYSTEMS</a:t>
            </a:r>
            <a:endParaRPr lang="en-US" sz="1350" dirty="0"/>
          </a:p>
        </p:txBody>
      </p:sp>
      <p:sp>
        <p:nvSpPr>
          <p:cNvPr id="25" name="Text 23"/>
          <p:cNvSpPr/>
          <p:nvPr/>
        </p:nvSpPr>
        <p:spPr>
          <a:xfrm>
            <a:off x="9409176" y="3291840"/>
            <a:ext cx="2148840" cy="530352"/>
          </a:xfrm>
          <a:prstGeom prst="rect">
            <a:avLst/>
          </a:prstGeom>
          <a:noFill/>
          <a:ln>
            <a:solidFill/>
          </a:ln>
        </p:spPr>
        <p:txBody>
          <a:bodyPr wrap="square" lIns="0" tIns="0" rIns="0" bIns="0" rtlCol="0" anchor="ctr"/>
          <a:lstStyle/>
          <a:p>
            <a:pPr marL="0" indent="0" algn="ctr">
              <a:buNone/>
            </a:pPr>
            <a:r>
              <a:rPr lang="en-US" sz="1150" b="1" dirty="0">
                <a:solidFill>
                  <a:srgbClr val="0058AB"/>
                </a:solidFill>
              </a:rPr>
              <a:t>Developers • enterprises • partners</a:t>
            </a:r>
            <a:endParaRPr lang="en-US" sz="1150" dirty="0"/>
          </a:p>
        </p:txBody>
      </p:sp>
      <p:sp>
        <p:nvSpPr>
          <p:cNvPr id="26" name="Text 24"/>
          <p:cNvSpPr/>
          <p:nvPr/>
        </p:nvSpPr>
        <p:spPr>
          <a:xfrm>
            <a:off x="9454896" y="4370832"/>
            <a:ext cx="2057400" cy="502920"/>
          </a:xfrm>
          <a:prstGeom prst="rect">
            <a:avLst/>
          </a:prstGeom>
          <a:noFill/>
          <a:ln>
            <a:solidFill/>
          </a:ln>
        </p:spPr>
        <p:txBody>
          <a:bodyPr wrap="square" lIns="0" tIns="0" rIns="0" bIns="0" rtlCol="0" anchor="ctr"/>
          <a:lstStyle/>
          <a:p>
            <a:pPr marL="0" indent="0" algn="ctr">
              <a:buNone/>
            </a:pPr>
            <a:r>
              <a:rPr lang="en-US" sz="1050" dirty="0">
                <a:solidFill>
                  <a:srgbClr val="272936"/>
                </a:solidFill>
              </a:rPr>
              <a:t>Standardize distribution and reach</a:t>
            </a:r>
            <a:endParaRPr lang="en-US" sz="1050" dirty="0"/>
          </a:p>
        </p:txBody>
      </p:sp>
      <p:sp>
        <p:nvSpPr>
          <p:cNvPr id="27" name="Text 25"/>
          <p:cNvSpPr/>
          <p:nvPr/>
        </p:nvSpPr>
        <p:spPr>
          <a:xfrm>
            <a:off x="960120" y="5961888"/>
            <a:ext cx="10287000" cy="347472"/>
          </a:xfrm>
          <a:prstGeom prst="rect">
            <a:avLst/>
          </a:prstGeom>
          <a:noFill/>
          <a:ln>
            <a:solidFill/>
          </a:ln>
        </p:spPr>
        <p:txBody>
          <a:bodyPr wrap="square" lIns="0" tIns="0" rIns="0" bIns="0" rtlCol="0" anchor="ctr"/>
          <a:lstStyle/>
          <a:p>
            <a:pPr marL="0" indent="0" algn="ctr">
              <a:buNone/>
            </a:pPr>
            <a:r>
              <a:rPr lang="en-US" sz="1550" b="1" dirty="0">
                <a:solidFill>
                  <a:srgbClr val="272936"/>
                </a:solidFill>
              </a:rPr>
              <a:t>Replace “What data can we sell?” with “What business decision or outcome can our network intelligence improve?”</a:t>
            </a:r>
            <a:endParaRPr lang="en-US" sz="1550" dirty="0"/>
          </a:p>
        </p:txBody>
      </p:sp>
      <p:sp>
        <p:nvSpPr>
          <p:cNvPr id="28" name="Rectangle 27"/>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0070AD"/>
                </a:solidFill>
                <a:latin typeface="Aptos"/>
              </a:rPr>
              <a:t>Capgemini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2B4C"/>
        </a:solidFill>
        <a:effectLst/>
      </p:bgPr>
    </p:bg>
    <p:spTree>
      <p:nvGrpSpPr>
        <p:cNvPr id="1" name=""/>
        <p:cNvGrpSpPr/>
        <p:nvPr/>
      </p:nvGrpSpPr>
      <p:grpSpPr>
        <a:xfrm>
          <a:off x="0" y="0"/>
          <a:ext cx="1" cy="1"/>
          <a:chOff x="0" y="0"/>
          <a:chExt cx="1" cy="1"/>
        </a:xfrm>
      </p:grpSpPr>
      <p:pic>
        <p:nvPicPr>
          <p:cNvPr id="2" name="Image 0" descr="/mnt/data/generated_image_03A152B20E34_03.png"/>
          <p:cNvPicPr>
            <a:picLocks noChangeAspect="1"/>
          </p:cNvPicPr>
          <p:nvPr/>
        </p:nvPicPr>
        <p:blipFill>
          <a:blip r:embed="rId3"/>
          <a:srcRect t="7811" b="7811"/>
          <a:stretch/>
        </p:blipFill>
        <p:spPr>
          <a:xfrm>
            <a:off x="0" y="0"/>
            <a:ext cx="12191695" cy="6858000"/>
          </a:xfrm>
          <a:prstGeom prst="rect">
            <a:avLst/>
          </a:prstGeom>
          <a:ln>
            <a:solidFill/>
          </a:ln>
        </p:spPr>
      </p:pic>
      <p:sp>
        <p:nvSpPr>
          <p:cNvPr id="3" name="Shape 0"/>
          <p:cNvSpPr/>
          <p:nvPr/>
        </p:nvSpPr>
        <p:spPr>
          <a:xfrm>
            <a:off x="0" y="0"/>
            <a:ext cx="12191695" cy="6858000"/>
          </a:xfrm>
          <a:prstGeom prst="rect">
            <a:avLst/>
          </a:prstGeom>
          <a:solidFill>
            <a:srgbClr val="082B4C">
              <a:alpha val="76000"/>
            </a:srgbClr>
          </a:solidFill>
          <a:ln w="12700">
            <a:solidFill>
              <a:srgbClr val="333333">
                <a:alpha val="0"/>
              </a:srgbClr>
            </a:solidFill>
            <a:prstDash val="solid"/>
          </a:ln>
        </p:spPr>
        <p:txBody>
          <a:bodyPr/>
          <a:lstStyle/>
          <a:p>
            <a:endParaRPr lang="en-IN"/>
          </a:p>
        </p:txBody>
      </p:sp>
      <p:sp>
        <p:nvSpPr>
          <p:cNvPr id="4" name="Shape 1"/>
          <p:cNvSpPr/>
          <p:nvPr/>
        </p:nvSpPr>
        <p:spPr>
          <a:xfrm>
            <a:off x="685800" y="566928"/>
            <a:ext cx="10817352" cy="5486400"/>
          </a:xfrm>
          <a:prstGeom prst="roundRect">
            <a:avLst/>
          </a:prstGeom>
          <a:solidFill>
            <a:srgbClr val="061D34">
              <a:alpha val="88000"/>
            </a:srgbClr>
          </a:solidFill>
          <a:ln w="12700">
            <a:solidFill>
              <a:srgbClr val="5CC8D2">
                <a:alpha val="65000"/>
              </a:srgbClr>
            </a:solidFill>
            <a:prstDash val="solid"/>
          </a:ln>
        </p:spPr>
        <p:txBody>
          <a:bodyPr/>
          <a:lstStyle/>
          <a:p>
            <a:endParaRPr lang="en-IN"/>
          </a:p>
        </p:txBody>
      </p:sp>
      <p:sp>
        <p:nvSpPr>
          <p:cNvPr id="5" name="Text 2"/>
          <p:cNvSpPr/>
          <p:nvPr/>
        </p:nvSpPr>
        <p:spPr>
          <a:xfrm>
            <a:off x="960120" y="960120"/>
            <a:ext cx="2743200" cy="256032"/>
          </a:xfrm>
          <a:prstGeom prst="rect">
            <a:avLst/>
          </a:prstGeom>
          <a:noFill/>
          <a:ln>
            <a:solidFill/>
          </a:ln>
        </p:spPr>
        <p:txBody>
          <a:bodyPr wrap="square" lIns="0" tIns="0" rIns="0" bIns="0" rtlCol="0" anchor="ctr"/>
          <a:lstStyle/>
          <a:p>
            <a:pPr marL="0" indent="0">
              <a:buNone/>
            </a:pPr>
            <a:r>
              <a:rPr lang="en-US" sz="1250" b="1" dirty="0">
                <a:solidFill>
                  <a:srgbClr val="72E0E8"/>
                </a:solidFill>
              </a:rPr>
              <a:t>THE BOTTOM LINE</a:t>
            </a:r>
            <a:endParaRPr lang="en-US" sz="1250" dirty="0"/>
          </a:p>
        </p:txBody>
      </p:sp>
      <p:sp>
        <p:nvSpPr>
          <p:cNvPr id="6" name="Text 3"/>
          <p:cNvSpPr/>
          <p:nvPr/>
        </p:nvSpPr>
        <p:spPr>
          <a:xfrm>
            <a:off x="960120" y="1600200"/>
            <a:ext cx="9784080" cy="1234440"/>
          </a:xfrm>
          <a:prstGeom prst="rect">
            <a:avLst/>
          </a:prstGeom>
          <a:noFill/>
          <a:ln>
            <a:solidFill/>
          </a:ln>
        </p:spPr>
        <p:txBody>
          <a:bodyPr wrap="square" lIns="0" tIns="0" rIns="0" bIns="0" rtlCol="0" anchor="ctr"/>
          <a:lstStyle/>
          <a:p>
            <a:pPr marL="0" indent="0" algn="ctr">
              <a:buNone/>
            </a:pPr>
            <a:r>
              <a:rPr lang="en-US" sz="2800" b="1" dirty="0">
                <a:solidFill>
                  <a:srgbClr val="FFFFFF"/>
                </a:solidFill>
              </a:rPr>
              <a:t>AI is not the product.</a:t>
            </a:r>
            <a:endParaRPr lang="en-US" sz="2800" dirty="0"/>
          </a:p>
          <a:p>
            <a:pPr marL="0" indent="0" algn="ctr">
              <a:buNone/>
            </a:pPr>
            <a:r>
              <a:rPr lang="en-US" sz="2800" b="1" dirty="0">
                <a:solidFill>
                  <a:srgbClr val="FFFFFF"/>
                </a:solidFill>
              </a:rPr>
              <a:t>The product is trusted intelligence that creates measurable value.</a:t>
            </a:r>
            <a:endParaRPr lang="en-US" sz="2800" dirty="0"/>
          </a:p>
        </p:txBody>
      </p:sp>
      <p:sp>
        <p:nvSpPr>
          <p:cNvPr id="7" name="Text 4"/>
          <p:cNvSpPr/>
          <p:nvPr/>
        </p:nvSpPr>
        <p:spPr>
          <a:xfrm>
            <a:off x="1097280" y="3703320"/>
            <a:ext cx="9555480" cy="713232"/>
          </a:xfrm>
          <a:prstGeom prst="rect">
            <a:avLst/>
          </a:prstGeom>
          <a:noFill/>
          <a:ln>
            <a:solidFill/>
          </a:ln>
        </p:spPr>
        <p:txBody>
          <a:bodyPr wrap="square" lIns="0" tIns="0" rIns="0" bIns="0" rtlCol="0" anchor="ctr"/>
          <a:lstStyle/>
          <a:p>
            <a:pPr marL="0" indent="0" algn="ctr">
              <a:buNone/>
            </a:pPr>
            <a:r>
              <a:rPr lang="en-US" sz="1550" b="1" dirty="0">
                <a:solidFill>
                  <a:srgbClr val="EAF3FB"/>
                </a:solidFill>
              </a:rPr>
              <a:t>Connectivity  →  Data  →  Insights  →  Intelligence Products  →  Programmable Capabilities  →  AI-Orchestrated Ecosystems</a:t>
            </a:r>
            <a:endParaRPr lang="en-US" sz="1550" dirty="0"/>
          </a:p>
        </p:txBody>
      </p:sp>
      <p:sp>
        <p:nvSpPr>
          <p:cNvPr id="8" name="Text 5"/>
          <p:cNvSpPr/>
          <p:nvPr/>
        </p:nvSpPr>
        <p:spPr>
          <a:xfrm>
            <a:off x="1389888" y="4983480"/>
            <a:ext cx="9006840" cy="502920"/>
          </a:xfrm>
          <a:prstGeom prst="rect">
            <a:avLst/>
          </a:prstGeom>
          <a:noFill/>
          <a:ln>
            <a:solidFill/>
          </a:ln>
        </p:spPr>
        <p:txBody>
          <a:bodyPr wrap="square" lIns="0" tIns="0" rIns="0" bIns="0" rtlCol="0" anchor="ctr"/>
          <a:lstStyle/>
          <a:p>
            <a:pPr marL="0" indent="0" algn="ctr">
              <a:buNone/>
            </a:pPr>
            <a:r>
              <a:rPr lang="en-US" sz="1700" b="1" dirty="0">
                <a:solidFill>
                  <a:srgbClr val="FFFFFF"/>
                </a:solidFill>
              </a:rPr>
              <a:t>The winners will turn differentiated network intelligence into repeatable, scalable and measurable customer value.</a:t>
            </a:r>
            <a:endParaRPr lang="en-US" sz="1700" dirty="0"/>
          </a:p>
        </p:txBody>
      </p:sp>
      <p:sp>
        <p:nvSpPr>
          <p:cNvPr id="9" name="Rectangle 8"/>
          <p:cNvSpPr/>
          <p:nvPr/>
        </p:nvSpPr>
        <p:spPr>
          <a:xfrm>
            <a:off x="0" y="0"/>
            <a:ext cx="12191695" cy="411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0"/>
            <a:ext cx="566928" cy="41148"/>
          </a:xfrm>
          <a:prstGeom prst="rect">
            <a:avLst/>
          </a:prstGeom>
          <a:solidFill>
            <a:srgbClr val="12A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497312" y="6519672"/>
            <a:ext cx="1234440" cy="182880"/>
          </a:xfrm>
          <a:prstGeom prst="rect">
            <a:avLst/>
          </a:prstGeom>
          <a:noFill/>
        </p:spPr>
        <p:txBody>
          <a:bodyPr wrap="none" lIns="0" tIns="0" rIns="0" bIns="0" anchor="ctr">
            <a:spAutoFit/>
          </a:bodyPr>
          <a:lstStyle/>
          <a:p>
            <a:pPr algn="r"/>
            <a:r>
              <a:rPr sz="800" b="1">
                <a:solidFill>
                  <a:srgbClr val="FFFFFF"/>
                </a:solidFill>
                <a:latin typeface="Aptos"/>
              </a:rPr>
              <a:t>Capgemini</a:t>
            </a:r>
          </a:p>
        </p:txBody>
      </p:sp>
    </p:spTree>
  </p:cSld>
  <p:clrMapOvr>
    <a:masterClrMapping/>
  </p:clrMapOvr>
</p:sld>
</file>

<file path=ppt/theme/theme1.xml><?xml version="1.0" encoding="utf-8"?>
<a:theme xmlns:a="http://schemas.openxmlformats.org/drawingml/2006/main" name="Office Theme">
  <a:themeElements>
    <a:clrScheme name="Office">
      <a:dk1>
        <a:srgbClr val="272936"/>
      </a:dk1>
      <a:lt1>
        <a:srgbClr val="FFFFFF"/>
      </a:lt1>
      <a:dk2>
        <a:srgbClr val="383B4E"/>
      </a:dk2>
      <a:lt2>
        <a:srgbClr val="F6F9FC"/>
      </a:lt2>
      <a:accent1>
        <a:srgbClr val="0070AD"/>
      </a:accent1>
      <a:accent2>
        <a:srgbClr val="12ABDB"/>
      </a:accent2>
      <a:accent3>
        <a:srgbClr val="0058AB"/>
      </a:accent3>
      <a:accent4>
        <a:srgbClr val="004280"/>
      </a:accent4>
      <a:accent5>
        <a:srgbClr val="77BDFF"/>
      </a:accent5>
      <a:accent6>
        <a:srgbClr val="4DC0E4"/>
      </a:accent6>
      <a:hlink>
        <a:srgbClr val="0070AD"/>
      </a:hlink>
      <a:folHlink>
        <a:srgbClr val="004280"/>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b5d96ea-ab39-44a0-a6d6-b6f0aac5958b}" enabled="1" method="Standar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3</TotalTime>
  <Words>2519</Words>
  <Application>Microsoft Office PowerPoint</Application>
  <PresentationFormat>Widescreen</PresentationFormat>
  <Paragraphs>315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Intelligent Telco: Monetizing Data in the AI Era</dc:title>
  <dc:subject>PptxGenJS Presentation</dc:subject>
  <dc:creator>A, RAJKAMAL</dc:creator>
  <cp:lastModifiedBy>A, RAJKAMAL</cp:lastModifiedBy>
  <cp:revision>2</cp:revision>
  <dcterms:created xsi:type="dcterms:W3CDTF">2026-09-30T07:27:09Z</dcterms:created>
  <dcterms:modified xsi:type="dcterms:W3CDTF">2026-10-15T07:02:35Z</dcterms:modified>
</cp:coreProperties>
</file>