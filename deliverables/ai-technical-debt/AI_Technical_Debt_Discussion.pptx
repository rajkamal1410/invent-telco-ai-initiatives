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777240"/>
            <a:ext cx="5212080" cy="3108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CDE0"/>
                </a:solidFill>
                <a:latin typeface="Aptos"/>
              </a:rPr>
              <a:t>FACILITATED LEADERSHIP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63040"/>
            <a:ext cx="10515600" cy="15087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0F7FC"/>
                </a:solidFill>
                <a:latin typeface="Aptos"/>
              </a:rPr>
              <a:t>AI ambition.
Technical debt. Real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310128"/>
            <a:ext cx="8961120" cy="8412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B8CDDE"/>
                </a:solidFill>
                <a:latin typeface="Aptos"/>
              </a:rPr>
              <a:t>Five leadership scenarios for choosing where AI, data, and modernization create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4828032"/>
            <a:ext cx="10561320" cy="841248"/>
          </a:xfrm>
          <a:prstGeom prst="roundRect">
            <a:avLst/>
          </a:prstGeom>
          <a:solidFill>
            <a:srgbClr val="0C2133"/>
          </a:solidFill>
          <a:ln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5001768"/>
            <a:ext cx="1005840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0F7FC"/>
                </a:solidFill>
                <a:latin typeface="Aptos"/>
              </a:rPr>
              <a:t>CORE IDEA   Use cases first. Build the data and technology foundation as outcomes demand.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DDE"/>
                </a:solidFill>
                <a:latin typeface="Aptos"/>
              </a:rPr>
              <a:t>AI TECHNICAL DEBT  / 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DD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FCDE0"/>
                </a:solidFill>
                <a:latin typeface="Aptos"/>
              </a:rPr>
              <a:t>FACILITATOR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0F7FC"/>
                </a:solidFill>
                <a:latin typeface="Aptos"/>
              </a:rPr>
              <a:t>Make the answer a discussion, not a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DDE"/>
                </a:solidFill>
                <a:latin typeface="Aptos"/>
              </a:rPr>
              <a:t>AI TECHNICAL DEBT  / 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DDE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10698480" cy="804672"/>
          </a:xfrm>
          <a:prstGeom prst="roundRect">
            <a:avLst/>
          </a:prstGeom>
          <a:solidFill>
            <a:srgbClr val="112638"/>
          </a:solidFill>
          <a:ln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655063"/>
            <a:ext cx="64008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CDE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36776"/>
            <a:ext cx="214884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F7FC"/>
                </a:solidFill>
                <a:latin typeface="Aptos"/>
              </a:rPr>
              <a:t>POLL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1627631"/>
            <a:ext cx="7269480" cy="5120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CDDE"/>
                </a:solidFill>
                <a:latin typeface="Aptos"/>
              </a:rPr>
              <a:t>Give participants 30 seconds to choose an 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32888"/>
            <a:ext cx="10698480" cy="804672"/>
          </a:xfrm>
          <a:prstGeom prst="roundRect">
            <a:avLst/>
          </a:prstGeom>
          <a:solidFill>
            <a:srgbClr val="112638"/>
          </a:solidFill>
          <a:ln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679192"/>
            <a:ext cx="64008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CDE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60904"/>
            <a:ext cx="214884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F7FC"/>
                </a:solidFill>
                <a:latin typeface="Aptos"/>
              </a:rPr>
              <a:t>HEAR THE MAJORITY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651760"/>
            <a:ext cx="7269480" cy="5120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CDDE"/>
                </a:solidFill>
                <a:latin typeface="Aptos"/>
              </a:rPr>
              <a:t>Ask: “Why did you choose this?”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557016"/>
            <a:ext cx="10698480" cy="804672"/>
          </a:xfrm>
          <a:prstGeom prst="roundRect">
            <a:avLst/>
          </a:prstGeom>
          <a:solidFill>
            <a:srgbClr val="112638"/>
          </a:solidFill>
          <a:ln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703320"/>
            <a:ext cx="64008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CDE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685032"/>
            <a:ext cx="214884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F7FC"/>
                </a:solidFill>
                <a:latin typeface="Aptos"/>
              </a:rPr>
              <a:t>HEAR THE MINORITY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3675888"/>
            <a:ext cx="7269480" cy="5120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CDDE"/>
                </a:solidFill>
                <a:latin typeface="Aptos"/>
              </a:rPr>
              <a:t>Ask: “What risk do you see that others are missing?”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581144"/>
            <a:ext cx="10698480" cy="804672"/>
          </a:xfrm>
          <a:prstGeom prst="roundRect">
            <a:avLst/>
          </a:prstGeom>
          <a:solidFill>
            <a:srgbClr val="112638"/>
          </a:solidFill>
          <a:ln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727448"/>
            <a:ext cx="64008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CDE0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709159"/>
            <a:ext cx="214884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F7FC"/>
                </a:solidFill>
                <a:latin typeface="Aptos"/>
              </a:rPr>
              <a:t>REVEAL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4700016"/>
            <a:ext cx="7269480" cy="51206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CDDE"/>
                </a:solidFill>
                <a:latin typeface="Aptos"/>
              </a:rPr>
              <a:t>Explore why each option is reasonable, where it falls short, and the recommended answer.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705856"/>
            <a:ext cx="1060704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C34E"/>
                </a:solidFill>
                <a:latin typeface="Aptos"/>
              </a:rPr>
              <a:t>Use the recommendation to prompt debate; the context and evidence still matter.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FCDE0"/>
                </a:solidFill>
                <a:latin typeface="Aptos"/>
              </a:rPr>
              <a:t>QUESTION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0F7FC"/>
                </a:solidFill>
                <a:latin typeface="Aptos"/>
              </a:rPr>
              <a:t>The CEO's AI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DDE"/>
                </a:solidFill>
                <a:latin typeface="Aptos"/>
              </a:rPr>
              <a:t>AI TECHNICAL DEBT  / 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DDE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1064240" cy="841248"/>
          </a:xfrm>
          <a:prstGeom prst="roundRect">
            <a:avLst/>
          </a:prstGeom>
          <a:solidFill>
            <a:srgbClr val="0C2133"/>
          </a:solidFill>
          <a:ln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362456"/>
            <a:ext cx="10607040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8CDDE"/>
                </a:solidFill>
                <a:latin typeface="Aptos"/>
              </a:rPr>
              <a:t>After seeing competitors announce GenAI, NovaTel's CEO wants a visible AI success in six months and no more architecture-only discussion. Customer data is fragmented across 14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73936"/>
            <a:ext cx="1042416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F7FC"/>
                </a:solidFill>
                <a:latin typeface="Aptos"/>
              </a:rPr>
              <a:t>What should you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76272"/>
            <a:ext cx="3383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CDE0"/>
                </a:solidFill>
                <a:latin typeface="Aptos"/>
              </a:rPr>
              <a:t>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2176272"/>
            <a:ext cx="676656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CDE0"/>
                </a:solidFill>
                <a:latin typeface="Aptos"/>
              </a:rPr>
              <a:t>WHY IT'S REASONABLE  /  TRADE-OFF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50592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3232" y="2578608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578608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523744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Launch a GenAI customer assistant immediately.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505456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Meets the CEO's urgency and creates visible excitement.
TRADE-OFF: With fragmented data, success may be superficial and hard to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36976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3364992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364992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3310128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Refuse and fix the data foundations first.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291840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Data quality matters and can prevent future rework.
TRADE-OFF: Value may wait 12-18 months, weakening executive sponsorship.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23360"/>
            <a:ext cx="11064240" cy="713232"/>
          </a:xfrm>
          <a:prstGeom prst="roundRect">
            <a:avLst/>
          </a:prstGeom>
          <a:solidFill>
            <a:srgbClr val="0E3736"/>
          </a:solidFill>
          <a:ln w="19050">
            <a:solidFill>
              <a:srgbClr val="4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4151376"/>
            <a:ext cx="438912" cy="438912"/>
          </a:xfrm>
          <a:prstGeom prst="roundRect">
            <a:avLst/>
          </a:prstGeom>
          <a:solidFill>
            <a:srgbClr val="49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151376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61625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4096512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F7FC"/>
                </a:solidFill>
                <a:latin typeface="Aptos"/>
              </a:rPr>
              <a:t>Choose one journey, improve only its required data, and deploy AI.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078224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0F7FC"/>
                </a:solidFill>
                <a:latin typeface="Aptos"/>
              </a:rPr>
              <a:t>WHY: A focused journey (such as billing disputes) can prove business value.
TRADE-OFF: Requires tight scope and outcome measures to avoid a one-off pilot.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809744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3232" y="4937760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4937760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882896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Build a company-wide AI platform before starting use cases.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4864608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A shared platform can support enterprise scale and consistency.
TRADE-OFF: Risks building technology before validating business needs.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687568"/>
            <a:ext cx="11064240" cy="640080"/>
          </a:xfrm>
          <a:prstGeom prst="roundRect">
            <a:avLst/>
          </a:prstGeom>
          <a:solidFill>
            <a:srgbClr val="0D3030"/>
          </a:solidFill>
          <a:ln>
            <a:solidFill>
              <a:srgbClr val="4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5769864"/>
            <a:ext cx="1188720" cy="4114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9DCA5"/>
                </a:solidFill>
                <a:latin typeface="Aptos"/>
              </a:rPr>
              <a:t>BEST: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751576"/>
            <a:ext cx="932688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It balances urgency with sustainability: deliver a measurable outcome while fixing only the technical debt that blocks that journey.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FCDE0"/>
                </a:solidFill>
                <a:latin typeface="Aptos"/>
              </a:rPr>
              <a:t>QUESTION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0F7FC"/>
                </a:solidFill>
                <a:latin typeface="Aptos"/>
              </a:rPr>
              <a:t>The perfect AI model nobody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DDE"/>
                </a:solidFill>
                <a:latin typeface="Aptos"/>
              </a:rPr>
              <a:t>AI TECHNICAL DEBT  / 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DDE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1064240" cy="841248"/>
          </a:xfrm>
          <a:prstGeom prst="roundRect">
            <a:avLst/>
          </a:prstGeom>
          <a:solidFill>
            <a:srgbClr val="0C2133"/>
          </a:solidFill>
          <a:ln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362456"/>
            <a:ext cx="10607040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8CDDE"/>
                </a:solidFill>
                <a:latin typeface="Aptos"/>
              </a:rPr>
              <a:t>A churn model scores 88% accuracy, but Sales does not trust it, some customer data is incomplete, and it is not connected to CRM. The board wants rollout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73936"/>
            <a:ext cx="1042416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F7FC"/>
                </a:solidFill>
                <a:latin typeface="Aptos"/>
              </a:rPr>
              <a:t>What do you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76272"/>
            <a:ext cx="3383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CDE0"/>
                </a:solidFill>
                <a:latin typeface="Aptos"/>
              </a:rPr>
              <a:t>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2176272"/>
            <a:ext cx="676656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CDE0"/>
                </a:solidFill>
                <a:latin typeface="Aptos"/>
              </a:rPr>
              <a:t>WHY IT'S REASONABLE  /  TRADE-OFF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50592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3232" y="2578608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578608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523744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Deploy immediately; the accuracy is good enough.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505456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Puts the model into use quickly so it can create value.
TRADE-OFF: Untrusted recommendations and weak data can damage adoption.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36976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3364992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364992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3310128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Wait until data quality reaches 100%.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291840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Reduces risk from incomplete or unreliable inputs.
TRADE-OFF: Perfection can become a reason to delay learning and value indefinitely.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23360"/>
            <a:ext cx="11064240" cy="713232"/>
          </a:xfrm>
          <a:prstGeom prst="roundRect">
            <a:avLst/>
          </a:prstGeom>
          <a:solidFill>
            <a:srgbClr val="0E3736"/>
          </a:solidFill>
          <a:ln w="19050">
            <a:solidFill>
              <a:srgbClr val="4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4151376"/>
            <a:ext cx="438912" cy="438912"/>
          </a:xfrm>
          <a:prstGeom prst="roundRect">
            <a:avLst/>
          </a:prstGeom>
          <a:solidFill>
            <a:srgbClr val="49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151376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61625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4096512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F7FC"/>
                </a:solidFill>
                <a:latin typeface="Aptos"/>
              </a:rPr>
              <a:t>Deploy in one region and monitor the results.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078224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0F7FC"/>
                </a:solidFill>
                <a:latin typeface="Aptos"/>
              </a:rPr>
              <a:t>WHY: A controlled rollout creates evidence and learning.
TRADE-OFF: Keep the scope bounded and monitor trust, outcomes, and data issues.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809744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3232" y="4937760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4937760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882896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Start a CRM modernization project first.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4864608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Addresses the integration gap and underlying workflow constraints.
TRADE-OFF: A broad modernization can defer business value for years.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687568"/>
            <a:ext cx="11064240" cy="640080"/>
          </a:xfrm>
          <a:prstGeom prst="roundRect">
            <a:avLst/>
          </a:prstGeom>
          <a:solidFill>
            <a:srgbClr val="0D3030"/>
          </a:solidFill>
          <a:ln>
            <a:solidFill>
              <a:srgbClr val="4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5769864"/>
            <a:ext cx="1188720" cy="4114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9DCA5"/>
                </a:solidFill>
                <a:latin typeface="Aptos"/>
              </a:rPr>
              <a:t>BEST: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751576"/>
            <a:ext cx="932688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A regional rollout limits exposure while testing real-world performance, data quality, and user trust before deciding how to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FCDE0"/>
                </a:solidFill>
                <a:latin typeface="Aptos"/>
              </a:rPr>
              <a:t>QUESTION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0F7FC"/>
                </a:solidFill>
                <a:latin typeface="Aptos"/>
              </a:rPr>
              <a:t>Budget shock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DDE"/>
                </a:solidFill>
                <a:latin typeface="Aptos"/>
              </a:rPr>
              <a:t>AI TECHNICAL DEBT  / 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DDE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1064240" cy="841248"/>
          </a:xfrm>
          <a:prstGeom prst="roundRect">
            <a:avLst/>
          </a:prstGeom>
          <a:solidFill>
            <a:srgbClr val="0C2133"/>
          </a:solidFill>
          <a:ln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362456"/>
            <a:ext cx="10607040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8CDDE"/>
                </a:solidFill>
                <a:latin typeface="Aptos"/>
              </a:rPr>
              <a:t>The CFO has approved ₹100 crore against a ₹300 crore request. You must decide how to invest the smaller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73936"/>
            <a:ext cx="1042416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F7FC"/>
                </a:solidFill>
                <a:latin typeface="Aptos"/>
              </a:rPr>
              <a:t>How should you allocate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76272"/>
            <a:ext cx="3383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CDE0"/>
                </a:solidFill>
                <a:latin typeface="Aptos"/>
              </a:rPr>
              <a:t>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2176272"/>
            <a:ext cx="676656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CDE0"/>
                </a:solidFill>
                <a:latin typeface="Aptos"/>
              </a:rPr>
              <a:t>WHY IT'S REASONABLE  /  TRADE-OFF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50592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3232" y="2578608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578608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523744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Spend it all on data modernization.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505456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Builds a stronger foundation for future initiatives.
TRADE-OFF: May produce no visible business wins in the near term.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36976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3364992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364992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3310128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Spend it all on AI initiatives.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291840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Signals fast innovation and focuses on new capabilities.
TRADE-OFF: AI may amplify existing debt and fragile foundations.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23360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4151376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151376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4096512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Split the budget equally between data and AI.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078224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Feels balanced and avoids choosing one side.
TRADE-OFF: Equal funding ignores differences in use-case value and need.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809744"/>
            <a:ext cx="11064240" cy="713232"/>
          </a:xfrm>
          <a:prstGeom prst="roundRect">
            <a:avLst/>
          </a:prstGeom>
          <a:solidFill>
            <a:srgbClr val="0E3736"/>
          </a:solidFill>
          <a:ln w="19050">
            <a:solidFill>
              <a:srgbClr val="4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3232" y="4937760"/>
            <a:ext cx="438912" cy="438912"/>
          </a:xfrm>
          <a:prstGeom prst="roundRect">
            <a:avLst/>
          </a:prstGeom>
          <a:solidFill>
            <a:srgbClr val="49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4937760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61625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882896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F7FC"/>
                </a:solidFill>
                <a:latin typeface="Aptos"/>
              </a:rPr>
              <a:t>Fund high-value AI use cases and the debt they specifically need fixed.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4864608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0F7FC"/>
                </a:solidFill>
                <a:latin typeface="Aptos"/>
              </a:rPr>
              <a:t>WHY: Connects investment in AI and foundations to business outcomes.
TRADE-OFF: Needs disciplined prioritization and benefits tracking.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687568"/>
            <a:ext cx="11064240" cy="640080"/>
          </a:xfrm>
          <a:prstGeom prst="roundRect">
            <a:avLst/>
          </a:prstGeom>
          <a:solidFill>
            <a:srgbClr val="0D3030"/>
          </a:solidFill>
          <a:ln>
            <a:solidFill>
              <a:srgbClr val="4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5769864"/>
            <a:ext cx="1188720" cy="4114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9DCA5"/>
                </a:solidFill>
                <a:latin typeface="Aptos"/>
              </a:rPr>
              <a:t>BEST: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751576"/>
            <a:ext cx="932688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Investment follows business outcomes: prioritize the most valuable use cases and repair only the technical debt needed to deliver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FCDE0"/>
                </a:solidFill>
                <a:latin typeface="Aptos"/>
              </a:rPr>
              <a:t>QUESTION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0F7FC"/>
                </a:solidFill>
                <a:latin typeface="Aptos"/>
              </a:rPr>
              <a:t>The legacy system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DDE"/>
                </a:solidFill>
                <a:latin typeface="Aptos"/>
              </a:rPr>
              <a:t>AI TECHNICAL DEBT  / 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DDE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1064240" cy="841248"/>
          </a:xfrm>
          <a:prstGeom prst="roundRect">
            <a:avLst/>
          </a:prstGeom>
          <a:solidFill>
            <a:srgbClr val="0C2133"/>
          </a:solidFill>
          <a:ln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362456"/>
            <a:ext cx="10607040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8CDDE"/>
                </a:solidFill>
                <a:latin typeface="Aptos"/>
              </a:rPr>
              <a:t>Customer provisioning runs on a 15-year-old system with 99.98% reliability and good data. An architect says it must be replaced before the company can become AI-native.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73936"/>
            <a:ext cx="1042416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F7FC"/>
                </a:solidFill>
                <a:latin typeface="Aptos"/>
              </a:rPr>
              <a:t>What should be done?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76272"/>
            <a:ext cx="3383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CDE0"/>
                </a:solidFill>
                <a:latin typeface="Aptos"/>
              </a:rPr>
              <a:t>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2176272"/>
            <a:ext cx="676656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CDE0"/>
                </a:solidFill>
                <a:latin typeface="Aptos"/>
              </a:rPr>
              <a:t>WHY IT'S REASONABLE  /  TRADE-OFF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50592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3232" y="2578608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578608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523744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Replace the system immediately.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505456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Modernization may improve flexibility over the long term.
TRADE-OFF: Age alone does not prove debt; replacement carries cost and delivery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36976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3364992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364992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3310128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Leave the system untouched forever.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291840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Preserves a reliable service and avoids unnecessary disruption.
TRADE-OFF: It could become a constraint as integration needs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23360"/>
            <a:ext cx="11064240" cy="713232"/>
          </a:xfrm>
          <a:prstGeom prst="roundRect">
            <a:avLst/>
          </a:prstGeom>
          <a:solidFill>
            <a:srgbClr val="0E3736"/>
          </a:solidFill>
          <a:ln w="19050">
            <a:solidFill>
              <a:srgbClr val="4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4151376"/>
            <a:ext cx="438912" cy="438912"/>
          </a:xfrm>
          <a:prstGeom prst="roundRect">
            <a:avLst/>
          </a:prstGeom>
          <a:solidFill>
            <a:srgbClr val="49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151376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61625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4096512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F7FC"/>
                </a:solidFill>
                <a:latin typeface="Aptos"/>
              </a:rPr>
              <a:t>Wrap it with APIs and use AI where needed.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078224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0F7FC"/>
                </a:solidFill>
                <a:latin typeface="Aptos"/>
              </a:rPr>
              <a:t>WHY: Enables integration while preserving a stable, reliable core.
TRADE-OFF: Reassess if the system actually blocks outcomes or becomes costly to maintain.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809744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3232" y="4937760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4937760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882896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Move everything to cloud before using AI.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4864608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Cloud can support strategic modernization goals.
TRADE-OFF: Large investment and migration risk arrive before a business outcome.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687568"/>
            <a:ext cx="11064240" cy="640080"/>
          </a:xfrm>
          <a:prstGeom prst="roundRect">
            <a:avLst/>
          </a:prstGeom>
          <a:solidFill>
            <a:srgbClr val="0D3030"/>
          </a:solidFill>
          <a:ln>
            <a:solidFill>
              <a:srgbClr val="4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5769864"/>
            <a:ext cx="1188720" cy="4114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9DCA5"/>
                </a:solidFill>
                <a:latin typeface="Aptos"/>
              </a:rPr>
              <a:t>BEST: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751576"/>
            <a:ext cx="932688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A system is not technical debt just because it is old. Add an API boundary and modernize further only when the system constrains business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FCDE0"/>
                </a:solidFill>
                <a:latin typeface="Aptos"/>
              </a:rPr>
              <a:t>QUESTION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0F7FC"/>
                </a:solidFill>
                <a:latin typeface="Aptos"/>
              </a:rPr>
              <a:t>You are the new 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DDE"/>
                </a:solidFill>
                <a:latin typeface="Aptos"/>
              </a:rPr>
              <a:t>AI TECHNICAL DEBT  / 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DDE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11064240" cy="841248"/>
          </a:xfrm>
          <a:prstGeom prst="roundRect">
            <a:avLst/>
          </a:prstGeom>
          <a:solidFill>
            <a:srgbClr val="0C2133"/>
          </a:solidFill>
          <a:ln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362456"/>
            <a:ext cx="10607040" cy="3931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8CDDE"/>
                </a:solidFill>
                <a:latin typeface="Aptos"/>
              </a:rPr>
              <a:t>The board asks whether the company should become AI-first or data-first. You can make only one statement.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73936"/>
            <a:ext cx="1042416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F7FC"/>
                </a:solidFill>
                <a:latin typeface="Aptos"/>
              </a:rPr>
              <a:t>What is your answer?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76272"/>
            <a:ext cx="3383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CDE0"/>
                </a:solidFill>
                <a:latin typeface="Aptos"/>
              </a:rPr>
              <a:t>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2176272"/>
            <a:ext cx="676656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CDE0"/>
                </a:solidFill>
                <a:latin typeface="Aptos"/>
              </a:rPr>
              <a:t>WHY IT'S REASONABLE  /  TRADE-OFF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50592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3232" y="2578608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578608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523744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AI will help clean up data over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505456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AI can assist with some data-quality tasks.
TRADE-OFF: AI cannot magically create trusted data or reliable sources of truth.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36976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3364992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364992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3310128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Complete the data foundation before any AI begins.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291840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Strong foundations matter for dependable AI.
TRADE-OFF: A sequential approach delays learning and the market will not wait.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23360"/>
            <a:ext cx="11064240" cy="713232"/>
          </a:xfrm>
          <a:prstGeom prst="roundRect">
            <a:avLst/>
          </a:prstGeom>
          <a:solidFill>
            <a:srgbClr val="112638"/>
          </a:solidFill>
          <a:ln w="10160">
            <a:solidFill>
              <a:srgbClr val="2B4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4151376"/>
            <a:ext cx="438912" cy="438912"/>
          </a:xfrm>
          <a:prstGeom prst="roundRect">
            <a:avLst/>
          </a:prstGeom>
          <a:solidFill>
            <a:srgbClr val="0C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151376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CDE0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4096512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Run AI and data programs independently.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078224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8CDDE"/>
                </a:solidFill>
                <a:latin typeface="Aptos"/>
              </a:rPr>
              <a:t>WHY: Separate workstreams can provide clear ownership.
TRADE-OFF: Independent programs risk silos and misaligned priorities.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809744"/>
            <a:ext cx="11064240" cy="713232"/>
          </a:xfrm>
          <a:prstGeom prst="roundRect">
            <a:avLst/>
          </a:prstGeom>
          <a:solidFill>
            <a:srgbClr val="0E3736"/>
          </a:solidFill>
          <a:ln w="19050">
            <a:solidFill>
              <a:srgbClr val="4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3232" y="4937760"/>
            <a:ext cx="438912" cy="438912"/>
          </a:xfrm>
          <a:prstGeom prst="roundRect">
            <a:avLst/>
          </a:prstGeom>
          <a:solidFill>
            <a:srgbClr val="49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4937760"/>
            <a:ext cx="43891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61625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882896"/>
            <a:ext cx="292608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F7FC"/>
                </a:solidFill>
                <a:latin typeface="Aptos"/>
              </a:rPr>
              <a:t>Advance AI and data together, driven by business use cases.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4864608"/>
            <a:ext cx="6903720" cy="6126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0F7FC"/>
                </a:solidFill>
                <a:latin typeface="Aptos"/>
              </a:rPr>
              <a:t>WHY: Combines foundation-building with delivery and learning.
TRADE-OFF: Requires shared ownership and prioritization around outcomes.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687568"/>
            <a:ext cx="11064240" cy="640080"/>
          </a:xfrm>
          <a:prstGeom prst="roundRect">
            <a:avLst/>
          </a:prstGeom>
          <a:solidFill>
            <a:srgbClr val="0D3030"/>
          </a:solidFill>
          <a:ln>
            <a:solidFill>
              <a:srgbClr val="49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5769864"/>
            <a:ext cx="1188720" cy="4114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9DCA5"/>
                </a:solidFill>
                <a:latin typeface="Aptos"/>
              </a:rPr>
              <a:t>BEST: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751576"/>
            <a:ext cx="932688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F7FC"/>
                </a:solidFill>
                <a:latin typeface="Aptos"/>
              </a:rPr>
              <a:t>Neither AI-first nor foundation-first: use-case-first. Progress AI and data together, with business outcomes guiding both.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FCDE0"/>
                </a:solidFill>
                <a:latin typeface="Aptos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64240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0F7FC"/>
                </a:solidFill>
                <a:latin typeface="Aptos"/>
              </a:rPr>
              <a:t>Use-case first—not AI first or foundation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8CDDE"/>
                </a:solidFill>
                <a:latin typeface="Aptos"/>
              </a:rPr>
              <a:t>AI TECHNICAL DEBT  / 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DDE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141732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FCDE0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1481328"/>
            <a:ext cx="850392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F7FC"/>
                </a:solidFill>
                <a:latin typeface="Aptos"/>
              </a:rPr>
              <a:t>Choose a business outcome worth pursuing.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141732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FCDE0"/>
                </a:solidFill>
                <a:latin typeface="Aptos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423160"/>
            <a:ext cx="850392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F7FC"/>
                </a:solidFill>
                <a:latin typeface="Aptos"/>
              </a:rPr>
              <a:t>Fix the data and technical debt that blocks that outcome.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64992"/>
            <a:ext cx="141732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FCDE0"/>
                </a:solidFill>
                <a:latin typeface="Aptos"/>
              </a:rP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3364992"/>
            <a:ext cx="850392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F7FC"/>
                </a:solidFill>
                <a:latin typeface="Aptos"/>
              </a:rPr>
              <a:t>Deploy with controls, measure results, and earn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06824"/>
            <a:ext cx="141732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FCDE0"/>
                </a:solidFill>
                <a:latin typeface="Aptos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4306824"/>
            <a:ext cx="850392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F7FC"/>
                </a:solidFill>
                <a:latin typeface="Aptos"/>
              </a:rPr>
              <a:t>Expand what works; modernize further when evidence warrants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623560"/>
            <a:ext cx="100584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C34E"/>
                </a:solidFill>
                <a:latin typeface="Aptos"/>
              </a:rPr>
              <a:t>AI and data modernization move together when business outcomes set the direction.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1288</Words>
  <Application>Microsoft Office PowerPoint</Application>
  <PresentationFormat>Widescreen</PresentationFormat>
  <Paragraphs>146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A, RAJKAMAL</cp:lastModifiedBy>
  <cp:revision>2</cp:revision>
  <dcterms:created xsi:type="dcterms:W3CDTF">2013-01-27T09:14:16Z</dcterms:created>
  <dcterms:modified xsi:type="dcterms:W3CDTF">2026-10-15T07:04:19Z</dcterms:modified>
  <cp:category/>
</cp:coreProperties>
</file>