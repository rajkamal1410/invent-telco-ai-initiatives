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apgemini-my.sharepoint.com/personal/rajkamal_b_a_capgemini_com/_layouts/15/Doc.aspx?sourcedoc=%7B5BB61CDE-17FC-432E-991A-426092A55989%7D&amp;file=YER.docx&amp;action=default&amp;mobileredirect=tru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070AD"/>
          </a:solidFill>
          <a:ln w="10160"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" cy="68580"/>
          </a:xfrm>
          <a:prstGeom prst="rect">
            <a:avLst/>
          </a:prstGeom>
          <a:solidFill>
            <a:srgbClr val="12ABDB"/>
          </a:solidFill>
          <a:ln w="10160">
            <a:solidFill>
              <a:srgbClr val="12A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68580"/>
            <a:ext cx="3322015" cy="6789420"/>
          </a:xfrm>
          <a:prstGeom prst="rect">
            <a:avLst/>
          </a:prstGeom>
          <a:solidFill>
            <a:srgbClr val="252D50"/>
          </a:solidFill>
          <a:ln w="10160">
            <a:solidFill>
              <a:srgbClr val="25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35440" y="502920"/>
            <a:ext cx="2331720" cy="50292"/>
          </a:xfrm>
          <a:prstGeom prst="rect">
            <a:avLst/>
          </a:prstGeom>
          <a:solidFill>
            <a:srgbClr val="12ABDB"/>
          </a:solidFill>
          <a:ln w="10160">
            <a:solidFill>
              <a:srgbClr val="12A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2ABDB"/>
                </a:solidFill>
                <a:latin typeface="Aptos"/>
              </a:rPr>
              <a:t>CAPGEMINI INVENT  •  YEAR-END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75895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700" b="1" i="0">
                <a:solidFill>
                  <a:srgbClr val="FFFFFF"/>
                </a:solidFill>
                <a:latin typeface="Aptos"/>
              </a:rPr>
              <a:t>Building impact
beyond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6949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DCE2F2"/>
                </a:solidFill>
                <a:latin typeface="Aptos"/>
              </a:rPr>
              <a:t>Client value. AI-led innovation. Reusable capability.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736592"/>
            <a:ext cx="5074920" cy="10972"/>
          </a:xfrm>
          <a:prstGeom prst="rect">
            <a:avLst/>
          </a:prstGeom>
          <a:solidFill>
            <a:srgbClr val="525B7E"/>
          </a:solidFill>
          <a:ln w="10160">
            <a:solidFill>
              <a:srgbClr val="52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10912"/>
            <a:ext cx="5760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2026 CONTRIBUTION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22392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EC7DE"/>
                </a:solidFill>
                <a:latin typeface="Aptos"/>
              </a:rPr>
              <a:t>Account Owner  |  Cox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9601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EC7DE"/>
                </a:solidFill>
                <a:latin typeface="Aptos"/>
              </a:rPr>
              <a:t>YEAR IN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7152" y="144475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700" b="1" i="0">
                <a:solidFill>
                  <a:srgbClr val="FFFFFF"/>
                </a:solidFill>
                <a:latin typeface="Aptos"/>
              </a:rPr>
              <a:t>93%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2148840"/>
            <a:ext cx="224028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CE2F2"/>
                </a:solidFill>
                <a:latin typeface="Aptos"/>
              </a:rPr>
              <a:t>revenue target
attainment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53728" y="3035808"/>
            <a:ext cx="2286000" cy="10972"/>
          </a:xfrm>
          <a:prstGeom prst="rect">
            <a:avLst/>
          </a:prstGeom>
          <a:solidFill>
            <a:srgbClr val="525B7E"/>
          </a:solidFill>
          <a:ln w="10160">
            <a:solidFill>
              <a:srgbClr val="52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7152" y="340156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€200K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4041648"/>
            <a:ext cx="22402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CE2F2"/>
                </a:solidFill>
                <a:latin typeface="Aptos"/>
              </a:rPr>
              <a:t>qualified growth
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728" y="612648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2ABDB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AD"/>
          </a:solidFill>
          <a:ln w="10160"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54864"/>
          </a:xfrm>
          <a:prstGeom prst="rect">
            <a:avLst/>
          </a:prstGeom>
          <a:solidFill>
            <a:srgbClr val="12ABDB"/>
          </a:solidFill>
          <a:ln w="10160">
            <a:solidFill>
              <a:srgbClr val="12A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64FEB"/>
                </a:solidFill>
                <a:latin typeface="Aptos"/>
              </a:rPr>
              <a:t>EXECUTIVE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40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283D"/>
                </a:solidFill>
                <a:latin typeface="Aptos"/>
              </a:rPr>
              <a:t>A year of impact across four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64808"/>
            <a:ext cx="10908792" cy="10972"/>
          </a:xfrm>
          <a:prstGeom prst="rect">
            <a:avLst/>
          </a:prstGeom>
          <a:solidFill>
            <a:srgbClr val="E6E6E6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6C7E"/>
                </a:solidFill>
                <a:latin typeface="Aptos"/>
              </a:rPr>
              <a:t>YEAR-END REVIEW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64FEB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44752"/>
            <a:ext cx="2542032" cy="14081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591056"/>
            <a:ext cx="217627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464FEB"/>
                </a:solidFill>
                <a:latin typeface="Aptos"/>
              </a:rPr>
              <a:t>€214K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57984"/>
            <a:ext cx="217627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283D"/>
                </a:solidFill>
                <a:latin typeface="Aptos"/>
              </a:rPr>
              <a:t>REVENUE 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468880"/>
            <a:ext cx="21762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6C7E"/>
                </a:solidFill>
                <a:latin typeface="Aptos"/>
              </a:rPr>
              <a:t>93% of €230K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444752"/>
            <a:ext cx="2542032" cy="14081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591056"/>
            <a:ext cx="217627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0070AD"/>
                </a:solidFill>
                <a:latin typeface="Aptos"/>
              </a:rPr>
              <a:t>~€200K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157984"/>
            <a:ext cx="217627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283D"/>
                </a:solidFill>
                <a:latin typeface="Aptos"/>
              </a:rPr>
              <a:t>QUALIFIED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468880"/>
            <a:ext cx="21762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6C7E"/>
                </a:solidFill>
                <a:latin typeface="Aptos"/>
              </a:rPr>
              <a:t>Built through account mining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444752"/>
            <a:ext cx="2542032" cy="14081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591056"/>
            <a:ext cx="217627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E8E6A"/>
                </a:solidFill>
                <a:latin typeface="Aptos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157984"/>
            <a:ext cx="217627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283D"/>
                </a:solidFill>
                <a:latin typeface="Aptos"/>
              </a:rPr>
              <a:t>ARVE UTILIZATION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468880"/>
            <a:ext cx="21762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6C7E"/>
                </a:solidFill>
                <a:latin typeface="Aptos"/>
              </a:rPr>
              <a:t>Sustained through the year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4544" y="1444752"/>
            <a:ext cx="2542032" cy="14081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07424" y="1591056"/>
            <a:ext cx="217627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ABDB"/>
                </a:solidFill>
                <a:latin typeface="Apto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2157984"/>
            <a:ext cx="217627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283D"/>
                </a:solidFill>
                <a:latin typeface="Aptos"/>
              </a:rPr>
              <a:t>STRATEGIC ROLE AREAS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2468880"/>
            <a:ext cx="21762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6C7E"/>
                </a:solidFill>
                <a:latin typeface="Aptos"/>
              </a:rPr>
              <a:t>Demand identified across the account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246120"/>
            <a:ext cx="5212080" cy="1024128"/>
          </a:xfrm>
          <a:prstGeom prst="roundRect">
            <a:avLst/>
          </a:prstGeom>
          <a:solidFill>
            <a:srgbClr val="F6F7FC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42900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64FEB"/>
                </a:solidFill>
                <a:latin typeface="Aptos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401568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83D"/>
                </a:solidFill>
                <a:latin typeface="Aptos"/>
              </a:rPr>
              <a:t>Client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703320"/>
            <a:ext cx="406908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6C7E"/>
                </a:solidFill>
                <a:latin typeface="Aptos"/>
              </a:rPr>
              <a:t>Protected account stability and trusted relationships amid merger-driven constraints.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3912" y="3246120"/>
            <a:ext cx="5212080" cy="1024128"/>
          </a:xfrm>
          <a:prstGeom prst="roundRect">
            <a:avLst/>
          </a:prstGeom>
          <a:solidFill>
            <a:srgbClr val="F6F7FC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342900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64FEB"/>
                </a:solidFill>
                <a:latin typeface="Aptos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6872" y="3401568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83D"/>
                </a:solidFill>
                <a:latin typeface="Aptos"/>
              </a:rPr>
              <a:t>AI innovation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3703320"/>
            <a:ext cx="406908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6C7E"/>
                </a:solidFill>
                <a:latin typeface="Aptos"/>
              </a:rPr>
              <a:t>Created governance visibility and a centralized knowledge platform concept.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480560"/>
            <a:ext cx="5212080" cy="1024128"/>
          </a:xfrm>
          <a:prstGeom prst="roundRect">
            <a:avLst/>
          </a:prstGeom>
          <a:solidFill>
            <a:srgbClr val="F6F7FC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59" y="466344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64FEB"/>
                </a:solidFill>
                <a:latin typeface="Apto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4636008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83D"/>
                </a:solidFill>
                <a:latin typeface="Aptos"/>
              </a:rPr>
              <a:t>Practice building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937760"/>
            <a:ext cx="406908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6C7E"/>
                </a:solidFill>
                <a:latin typeface="Aptos"/>
              </a:rPr>
              <a:t>Produced reusable agile delivery and knowledge-management assets.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53912" y="4480560"/>
            <a:ext cx="5212080" cy="1024128"/>
          </a:xfrm>
          <a:prstGeom prst="roundRect">
            <a:avLst/>
          </a:prstGeom>
          <a:solidFill>
            <a:srgbClr val="F6F7FC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6792" y="466344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64FEB"/>
                </a:solidFill>
                <a:latin typeface="Aptos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76872" y="4636008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83D"/>
                </a:solidFill>
                <a:latin typeface="Aptos"/>
              </a:rPr>
              <a:t>People &amp; brand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76872" y="4937760"/>
            <a:ext cx="406908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6C7E"/>
                </a:solidFill>
                <a:latin typeface="Aptos"/>
              </a:rPr>
              <a:t>Shared AI capability and strengthened telecom thought leadership.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AD"/>
          </a:solidFill>
          <a:ln w="10160"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54864"/>
          </a:xfrm>
          <a:prstGeom prst="rect">
            <a:avLst/>
          </a:prstGeom>
          <a:solidFill>
            <a:srgbClr val="12ABDB"/>
          </a:solidFill>
          <a:ln w="10160">
            <a:solidFill>
              <a:srgbClr val="12A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64FEB"/>
                </a:solidFill>
                <a:latin typeface="Aptos"/>
              </a:rPr>
              <a:t>01  |  CLIENT &amp;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40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283D"/>
                </a:solidFill>
                <a:latin typeface="Aptos"/>
              </a:rPr>
              <a:t>Steady account leadership through market headwinds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64808"/>
            <a:ext cx="10908792" cy="10972"/>
          </a:xfrm>
          <a:prstGeom prst="rect">
            <a:avLst/>
          </a:prstGeom>
          <a:solidFill>
            <a:srgbClr val="E6E6E6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6C7E"/>
                </a:solidFill>
                <a:latin typeface="Aptos"/>
              </a:rPr>
              <a:t>YEAR-END REVIEW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64FEB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89888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4FEB"/>
                </a:solidFill>
                <a:latin typeface="Aptos"/>
              </a:rPr>
              <a:t>THE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37360"/>
            <a:ext cx="5074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283D"/>
                </a:solidFill>
                <a:latin typeface="Aptos"/>
              </a:rPr>
              <a:t>Cox–Charter merger activity, tighter discretionary spend, delayed decisions and rate pressure challenged growth.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962656"/>
            <a:ext cx="73152" cy="73152"/>
          </a:xfrm>
          <a:prstGeom prst="ellipse">
            <a:avLst/>
          </a:prstGeom>
          <a:solidFill>
            <a:srgbClr val="464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48006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6C7E"/>
                </a:solidFill>
                <a:latin typeface="Aptos"/>
              </a:rPr>
              <a:t>Maintained client engagement and trusted-advisor visibility.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557015"/>
            <a:ext cx="73152" cy="73152"/>
          </a:xfrm>
          <a:prstGeom prst="ellipse">
            <a:avLst/>
          </a:prstGeom>
          <a:solidFill>
            <a:srgbClr val="464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74720"/>
            <a:ext cx="48006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6C7E"/>
                </a:solidFill>
                <a:latin typeface="Aptos"/>
              </a:rPr>
              <a:t>Managed resources proactively and onboarded a new DFRC resource.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151376"/>
            <a:ext cx="73152" cy="73152"/>
          </a:xfrm>
          <a:prstGeom prst="ellipse">
            <a:avLst/>
          </a:prstGeom>
          <a:solidFill>
            <a:srgbClr val="464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4800600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6C7E"/>
                </a:solidFill>
                <a:latin typeface="Aptos"/>
              </a:rPr>
              <a:t>Identified demand across six strategic role areas.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1417320"/>
            <a:ext cx="5376672" cy="4407408"/>
          </a:xfrm>
          <a:prstGeom prst="roundRect">
            <a:avLst/>
          </a:prstGeom>
          <a:solidFill>
            <a:srgbClr val="F6F7FC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719072"/>
            <a:ext cx="4663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4FEB"/>
                </a:solidFill>
                <a:latin typeface="Aptos"/>
              </a:rPr>
              <a:t>REVENUE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39696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F283D"/>
                </a:solidFill>
                <a:latin typeface="Aptos"/>
              </a:rPr>
              <a:t>€214K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3042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46C7E"/>
                </a:solidFill>
                <a:latin typeface="Aptos"/>
              </a:rPr>
              <a:t>of €230K target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2926080"/>
            <a:ext cx="4526280" cy="201168"/>
          </a:xfrm>
          <a:prstGeom prst="roundRect">
            <a:avLst/>
          </a:prstGeom>
          <a:solidFill>
            <a:srgbClr val="E6E6E6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46520" y="2926080"/>
            <a:ext cx="4206240" cy="201168"/>
          </a:xfrm>
          <a:prstGeom prst="roundRect">
            <a:avLst/>
          </a:prstGeom>
          <a:solidFill>
            <a:srgbClr val="464FEB"/>
          </a:solidFill>
          <a:ln w="10160">
            <a:solidFill>
              <a:srgbClr val="464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255264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64FEB"/>
                </a:solidFill>
                <a:latin typeface="Aptos"/>
              </a:rPr>
              <a:t>93%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8404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4FEB"/>
                </a:solidFill>
                <a:latin typeface="Aptos"/>
              </a:rPr>
              <a:t>GROWTH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178808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283D"/>
                </a:solidFill>
                <a:latin typeface="Aptos"/>
              </a:rPr>
              <a:t>~€200K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261104"/>
            <a:ext cx="242316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6C7E"/>
                </a:solidFill>
                <a:latin typeface="Aptos"/>
              </a:rPr>
              <a:t>Qualified opportunities through account mining and leadership engagement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074920"/>
            <a:ext cx="452628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6C7E"/>
                </a:solidFill>
                <a:latin typeface="Aptos"/>
              </a:rPr>
              <a:t>Cloud Platform • Enterprise Architecture • Power Platform • DevOps • ProdOps • Delivery Leadership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AD"/>
          </a:solidFill>
          <a:ln w="10160"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54864"/>
          </a:xfrm>
          <a:prstGeom prst="rect">
            <a:avLst/>
          </a:prstGeom>
          <a:solidFill>
            <a:srgbClr val="12ABDB"/>
          </a:solidFill>
          <a:ln w="10160">
            <a:solidFill>
              <a:srgbClr val="12A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64FEB"/>
                </a:solidFill>
                <a:latin typeface="Aptos"/>
              </a:rPr>
              <a:t>02  |  AI-LED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40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283D"/>
                </a:solidFill>
                <a:latin typeface="Aptos"/>
              </a:rPr>
              <a:t>AI governance turned fragmented activity into shared visibility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64808"/>
            <a:ext cx="10908792" cy="10972"/>
          </a:xfrm>
          <a:prstGeom prst="rect">
            <a:avLst/>
          </a:prstGeom>
          <a:solidFill>
            <a:srgbClr val="E6E6E6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6C7E"/>
                </a:solidFill>
                <a:latin typeface="Aptos"/>
              </a:rPr>
              <a:t>YEAR-END REVIEW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64FEB"/>
                </a:solidFill>
                <a:latin typeface="Apto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7160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283D"/>
                </a:solidFill>
                <a:latin typeface="Aptos"/>
              </a:rPr>
              <a:t>Proactively designed an AI Governance Dashboard and Knowledge Management Platform for the SFA domain.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3401568" cy="1828800"/>
          </a:xfrm>
          <a:prstGeom prst="roundRect">
            <a:avLst/>
          </a:prstGeom>
          <a:solidFill>
            <a:srgbClr val="F6F7FC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057400"/>
            <a:ext cx="50292" cy="1828800"/>
          </a:xfrm>
          <a:prstGeom prst="rect">
            <a:avLst/>
          </a:prstGeom>
          <a:solidFill>
            <a:srgbClr val="464FEB"/>
          </a:solidFill>
          <a:ln w="10160">
            <a:solidFill>
              <a:srgbClr val="464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22199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283D"/>
                </a:solidFill>
                <a:latin typeface="Aptos"/>
              </a:rPr>
              <a:t>GOVERNANCE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624328"/>
            <a:ext cx="30175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6C7E"/>
                </a:solidFill>
                <a:latin typeface="Aptos"/>
              </a:rPr>
              <a:t>Centralized visibility into AI investments, adoption, benefits realization and initiative progress.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5" y="2057400"/>
            <a:ext cx="3401568" cy="1828800"/>
          </a:xfrm>
          <a:prstGeom prst="roundRect">
            <a:avLst/>
          </a:prstGeom>
          <a:solidFill>
            <a:srgbClr val="F6F7FC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5" y="2057400"/>
            <a:ext cx="50292" cy="1828800"/>
          </a:xfrm>
          <a:prstGeom prst="rect">
            <a:avLst/>
          </a:prstGeom>
          <a:solidFill>
            <a:srgbClr val="0070AD"/>
          </a:solidFill>
          <a:ln w="10160"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3" y="222199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283D"/>
                </a:solidFill>
                <a:latin typeface="Aptos"/>
              </a:rPr>
              <a:t>AI KNOWLEDGE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3" y="2624328"/>
            <a:ext cx="30175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6C7E"/>
                </a:solidFill>
                <a:latin typeface="Aptos"/>
              </a:rPr>
              <a:t>A single source of truth for TPMs, architects, delivery teams and business stakeholders.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057400"/>
            <a:ext cx="3401568" cy="1828800"/>
          </a:xfrm>
          <a:prstGeom prst="roundRect">
            <a:avLst/>
          </a:prstGeom>
          <a:solidFill>
            <a:srgbClr val="F6F7FC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2057400"/>
            <a:ext cx="50292" cy="1828800"/>
          </a:xfrm>
          <a:prstGeom prst="rect">
            <a:avLst/>
          </a:prstGeom>
          <a:solidFill>
            <a:srgbClr val="12ABDB"/>
          </a:solidFill>
          <a:ln w="10160">
            <a:solidFill>
              <a:srgbClr val="12A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222199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283D"/>
                </a:solidFill>
                <a:latin typeface="Aptos"/>
              </a:rPr>
              <a:t>STANDARDIZED REPORTING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624328"/>
            <a:ext cx="301752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6C7E"/>
                </a:solidFill>
                <a:latin typeface="Aptos"/>
              </a:rPr>
              <a:t>Common documentation and reporting across domains supports clearer accountability.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343400"/>
            <a:ext cx="10753344" cy="1234440"/>
          </a:xfrm>
          <a:prstGeom prst="roundRect">
            <a:avLst/>
          </a:prstGeom>
          <a:solidFill>
            <a:srgbClr val="EFF0FF"/>
          </a:solidFill>
          <a:ln w="10160">
            <a:solidFill>
              <a:srgbClr val="EF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5371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4FEB"/>
                </a:solidFill>
                <a:latin typeface="Aptos"/>
              </a:rPr>
              <a:t>HOW IT WAS BUILT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517136"/>
            <a:ext cx="7818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F283D"/>
                </a:solidFill>
                <a:latin typeface="Aptos"/>
              </a:rPr>
              <a:t>GitHub Copilot • AI-assisted development • Vibe Coding practices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102352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46C7E"/>
                </a:solidFill>
                <a:latin typeface="Aptos"/>
              </a:rPr>
              <a:t>Value: stronger executive oversight, easier knowledge discovery and a reusable governance approach.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AD"/>
          </a:solidFill>
          <a:ln w="10160"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54864"/>
          </a:xfrm>
          <a:prstGeom prst="rect">
            <a:avLst/>
          </a:prstGeom>
          <a:solidFill>
            <a:srgbClr val="12ABDB"/>
          </a:solidFill>
          <a:ln w="10160">
            <a:solidFill>
              <a:srgbClr val="12A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64FEB"/>
                </a:solidFill>
                <a:latin typeface="Aptos"/>
              </a:rPr>
              <a:t>03  |  RECOGNITION &amp; BRAND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40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283D"/>
                </a:solidFill>
                <a:latin typeface="Aptos"/>
              </a:rPr>
              <a:t>Client trust and telecom thought leadership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64808"/>
            <a:ext cx="10908792" cy="10972"/>
          </a:xfrm>
          <a:prstGeom prst="rect">
            <a:avLst/>
          </a:prstGeom>
          <a:solidFill>
            <a:srgbClr val="E6E6E6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6C7E"/>
                </a:solidFill>
                <a:latin typeface="Aptos"/>
              </a:rPr>
              <a:t>YEAR-END REVIEW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64FEB"/>
                </a:solidFill>
                <a:latin typeface="Aptos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17320"/>
            <a:ext cx="5074920" cy="4343400"/>
          </a:xfrm>
          <a:prstGeom prst="roundRect">
            <a:avLst/>
          </a:prstGeom>
          <a:solidFill>
            <a:srgbClr val="1F283D"/>
          </a:solidFill>
          <a:ln w="1016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55648"/>
            <a:ext cx="44348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2ABDB"/>
                </a:solidFill>
                <a:latin typeface="Aptos"/>
              </a:rPr>
              <a:t>CLIENT RECOGNITION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12848"/>
            <a:ext cx="425196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Recognized by client leadership for AI adoption, stakeholder alignment, delivery excellence and dependable program support.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69080"/>
            <a:ext cx="4251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3DAEA"/>
                </a:solidFill>
                <a:latin typeface="Aptos"/>
              </a:rPr>
              <a:t>A signal of trusted partnership across multiple strategic initiatives.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5087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4FEB"/>
                </a:solidFill>
                <a:latin typeface="Aptos"/>
              </a:rPr>
              <a:t>THOUGHT LEADERSHIP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938528"/>
            <a:ext cx="50292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F283D"/>
                </a:solidFill>
                <a:latin typeface="Aptos"/>
              </a:rPr>
              <a:t>“Intelligent Telco: Monetizing Data in the AI Era”</a:t>
            </a:r>
          </a:p>
        </p:txBody>
      </p:sp>
      <p:sp>
        <p:nvSpPr>
          <p:cNvPr id="15" name="Oval 14"/>
          <p:cNvSpPr/>
          <p:nvPr/>
        </p:nvSpPr>
        <p:spPr>
          <a:xfrm>
            <a:off x="6291072" y="3328415"/>
            <a:ext cx="73152" cy="73152"/>
          </a:xfrm>
          <a:prstGeom prst="ellipse">
            <a:avLst/>
          </a:prstGeom>
          <a:solidFill>
            <a:srgbClr val="464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246120"/>
            <a:ext cx="4709159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46C7E"/>
                </a:solidFill>
                <a:latin typeface="Aptos"/>
              </a:rPr>
              <a:t>Published an external perspective on data monetization and AI-driven insight.</a:t>
            </a:r>
          </a:p>
        </p:txBody>
      </p:sp>
      <p:sp>
        <p:nvSpPr>
          <p:cNvPr id="17" name="Oval 16"/>
          <p:cNvSpPr/>
          <p:nvPr/>
        </p:nvSpPr>
        <p:spPr>
          <a:xfrm>
            <a:off x="6291072" y="3867911"/>
            <a:ext cx="73152" cy="73152"/>
          </a:xfrm>
          <a:prstGeom prst="ellipse">
            <a:avLst/>
          </a:prstGeom>
          <a:solidFill>
            <a:srgbClr val="464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3785615"/>
            <a:ext cx="4709159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46C7E"/>
                </a:solidFill>
                <a:latin typeface="Aptos"/>
              </a:rPr>
              <a:t>Connected telecom data assets to new revenue and digital ecosystem opportunities.</a:t>
            </a:r>
          </a:p>
        </p:txBody>
      </p:sp>
      <p:sp>
        <p:nvSpPr>
          <p:cNvPr id="19" name="Oval 18"/>
          <p:cNvSpPr/>
          <p:nvPr/>
        </p:nvSpPr>
        <p:spPr>
          <a:xfrm>
            <a:off x="6291072" y="4407407"/>
            <a:ext cx="73152" cy="73152"/>
          </a:xfrm>
          <a:prstGeom prst="ellipse">
            <a:avLst/>
          </a:prstGeom>
          <a:solidFill>
            <a:srgbClr val="464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4325112"/>
            <a:ext cx="4709159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46C7E"/>
                </a:solidFill>
                <a:latin typeface="Aptos"/>
              </a:rPr>
              <a:t>Created reusable IP for account mining, proposals and executive discussions.</a:t>
            </a:r>
          </a:p>
        </p:txBody>
      </p:sp>
      <p:sp>
        <p:nvSpPr>
          <p:cNvPr id="21" name="Oval 20"/>
          <p:cNvSpPr/>
          <p:nvPr/>
        </p:nvSpPr>
        <p:spPr>
          <a:xfrm>
            <a:off x="6291072" y="4946904"/>
            <a:ext cx="73152" cy="73152"/>
          </a:xfrm>
          <a:prstGeom prst="ellipse">
            <a:avLst/>
          </a:prstGeom>
          <a:solidFill>
            <a:srgbClr val="464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4864608"/>
            <a:ext cx="4709159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46C7E"/>
                </a:solidFill>
                <a:latin typeface="Aptos"/>
              </a:rPr>
              <a:t>Raised Capgemini Invent visibility in telecom transformation and 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AD"/>
          </a:solidFill>
          <a:ln w="10160"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54864"/>
          </a:xfrm>
          <a:prstGeom prst="rect">
            <a:avLst/>
          </a:prstGeom>
          <a:solidFill>
            <a:srgbClr val="12ABDB"/>
          </a:solidFill>
          <a:ln w="10160">
            <a:solidFill>
              <a:srgbClr val="12A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64FEB"/>
                </a:solidFill>
                <a:latin typeface="Aptos"/>
              </a:rPr>
              <a:t>04  |  PRACTICE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40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283D"/>
                </a:solidFill>
                <a:latin typeface="Aptos"/>
              </a:rPr>
              <a:t>Reusable assets make delivery more consistent and scalable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64808"/>
            <a:ext cx="10908792" cy="10972"/>
          </a:xfrm>
          <a:prstGeom prst="rect">
            <a:avLst/>
          </a:prstGeom>
          <a:solidFill>
            <a:srgbClr val="E6E6E6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6C7E"/>
                </a:solidFill>
                <a:latin typeface="Aptos"/>
              </a:rPr>
              <a:t>YEAR-END REVIEW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64FEB"/>
                </a:solidFill>
                <a:latin typeface="Aptos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17320"/>
            <a:ext cx="5266944" cy="4389120"/>
          </a:xfrm>
          <a:prstGeom prst="roundRect">
            <a:avLst/>
          </a:prstGeom>
          <a:solidFill>
            <a:srgbClr val="F6F7FC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17320"/>
            <a:ext cx="50292" cy="4389120"/>
          </a:xfrm>
          <a:prstGeom prst="rect">
            <a:avLst/>
          </a:prstGeom>
          <a:solidFill>
            <a:srgbClr val="464FEB"/>
          </a:solidFill>
          <a:ln w="10160">
            <a:solidFill>
              <a:srgbClr val="464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581912"/>
            <a:ext cx="4882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83D"/>
                </a:solidFill>
                <a:latin typeface="Aptos"/>
              </a:rPr>
              <a:t>AGILE DELIVERY WAYS OF WORKING TOOLKIT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1984248"/>
            <a:ext cx="4882896" cy="3694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6C7E"/>
                </a:solidFill>
                <a:latin typeface="Aptos"/>
              </a:rPr>
              <a:t>A reusable framework for delivery engagements, mobilization and proposal responses.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2578608"/>
            <a:ext cx="1298448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65176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464FEB"/>
                </a:solidFill>
                <a:latin typeface="Aptos"/>
              </a:rPr>
              <a:t>Roadmaps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4288" y="2578608"/>
            <a:ext cx="178308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2651760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464FEB"/>
                </a:solidFill>
                <a:latin typeface="Aptos"/>
              </a:rPr>
              <a:t>Iteration planning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090672"/>
            <a:ext cx="190195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3163824"/>
            <a:ext cx="1755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464FEB"/>
                </a:solidFill>
                <a:latin typeface="Aptos"/>
              </a:rPr>
              <a:t>Backlog refinement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07792" y="3090672"/>
            <a:ext cx="135331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80944" y="3163824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464FEB"/>
                </a:solidFill>
                <a:latin typeface="Aptos"/>
              </a:rPr>
              <a:t>Health checks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3602736"/>
            <a:ext cx="150876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3675887"/>
            <a:ext cx="13624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464FEB"/>
                </a:solidFill>
                <a:latin typeface="Aptos"/>
              </a:rPr>
              <a:t>Status tracking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23744" y="3602736"/>
            <a:ext cx="149047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96896" y="3675887"/>
            <a:ext cx="1344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464FEB"/>
                </a:solidFill>
                <a:latin typeface="Aptos"/>
              </a:rPr>
              <a:t>Retrospectives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34340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46C7E"/>
                </a:solidFill>
                <a:latin typeface="Aptos"/>
              </a:rPr>
              <a:t>Designed to improve governance consistency and reduce setup effort through ready-to-use templates.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1417320"/>
            <a:ext cx="5285232" cy="4389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6208" y="1417320"/>
            <a:ext cx="50292" cy="4389120"/>
          </a:xfrm>
          <a:prstGeom prst="rect">
            <a:avLst/>
          </a:prstGeom>
          <a:solidFill>
            <a:srgbClr val="0070AD"/>
          </a:solidFill>
          <a:ln w="10160"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1581912"/>
            <a:ext cx="49011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83D"/>
                </a:solidFill>
                <a:latin typeface="Aptos"/>
              </a:rPr>
              <a:t>INVENT TMT KNOWLEDGE REPOSITORY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1984248"/>
            <a:ext cx="4901184" cy="3694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6C7E"/>
                </a:solidFill>
                <a:latin typeface="Aptos"/>
              </a:rPr>
              <a:t>LUMOS-inspired concept to make organizational IP easier to find and reuse.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2578608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4FEB"/>
                </a:solidFill>
                <a:latin typeface="Aptos"/>
              </a:rPr>
              <a:t>CENTRALIZED CONTENT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3035808"/>
            <a:ext cx="73152" cy="73152"/>
          </a:xfrm>
          <a:prstGeom prst="ellipse">
            <a:avLst/>
          </a:prstGeom>
          <a:solidFill>
            <a:srgbClr val="464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2953512"/>
            <a:ext cx="4343400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46C7E"/>
                </a:solidFill>
                <a:latin typeface="Aptos"/>
              </a:rPr>
              <a:t>Proposal responses &amp; business development assets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0" y="3557015"/>
            <a:ext cx="73152" cy="73152"/>
          </a:xfrm>
          <a:prstGeom prst="ellipse">
            <a:avLst/>
          </a:prstGeom>
          <a:solidFill>
            <a:srgbClr val="464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3474720"/>
            <a:ext cx="4343400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46C7E"/>
                </a:solidFill>
                <a:latin typeface="Aptos"/>
              </a:rPr>
              <a:t>Points of view &amp; delivery accelerators</a:t>
            </a:r>
          </a:p>
        </p:txBody>
      </p:sp>
      <p:sp>
        <p:nvSpPr>
          <p:cNvPr id="35" name="Oval 34"/>
          <p:cNvSpPr/>
          <p:nvPr/>
        </p:nvSpPr>
        <p:spPr>
          <a:xfrm>
            <a:off x="6492240" y="4078224"/>
            <a:ext cx="73152" cy="73152"/>
          </a:xfrm>
          <a:prstGeom prst="ellipse">
            <a:avLst/>
          </a:prstGeom>
          <a:solidFill>
            <a:srgbClr val="464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3995928"/>
            <a:ext cx="4343400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46C7E"/>
                </a:solidFill>
                <a:latin typeface="Aptos"/>
              </a:rPr>
              <a:t>Consulting collateral &amp; reusable knowledge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4736592"/>
            <a:ext cx="4498848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46C7E"/>
                </a:solidFill>
                <a:latin typeface="Aptos"/>
              </a:rPr>
              <a:t>Designed to support faster onboarding, proposal preparation and client engagement readiness.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AD"/>
          </a:solidFill>
          <a:ln w="10160"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54864"/>
          </a:xfrm>
          <a:prstGeom prst="rect">
            <a:avLst/>
          </a:prstGeom>
          <a:solidFill>
            <a:srgbClr val="12ABDB"/>
          </a:solidFill>
          <a:ln w="10160">
            <a:solidFill>
              <a:srgbClr val="12A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64FEB"/>
                </a:solidFill>
                <a:latin typeface="Aptos"/>
              </a:rPr>
              <a:t>05  |  TEAM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40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283D"/>
                </a:solidFill>
                <a:latin typeface="Aptos"/>
              </a:rPr>
              <a:t>Capability building extended impact beyond individual delivery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64808"/>
            <a:ext cx="10908792" cy="10972"/>
          </a:xfrm>
          <a:prstGeom prst="rect">
            <a:avLst/>
          </a:prstGeom>
          <a:solidFill>
            <a:srgbClr val="E6E6E6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6C7E"/>
                </a:solidFill>
                <a:latin typeface="Aptos"/>
              </a:rPr>
              <a:t>YEAR-END REVIEW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64FEB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63040"/>
            <a:ext cx="2560320" cy="14081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609344"/>
            <a:ext cx="2194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E8E6A"/>
                </a:solidFill>
                <a:latin typeface="Aptos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1762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283D"/>
                </a:solidFill>
                <a:latin typeface="Aptos"/>
              </a:rPr>
              <a:t>ARVE UTILIZATION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8716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6C7E"/>
                </a:solidFill>
                <a:latin typeface="Aptos"/>
              </a:rPr>
              <a:t>Sustained across the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508760"/>
            <a:ext cx="7132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F283D"/>
                </a:solidFill>
                <a:latin typeface="Aptos"/>
              </a:rPr>
              <a:t>AI capability shared through practical enablement</a:t>
            </a:r>
          </a:p>
        </p:txBody>
      </p:sp>
      <p:sp>
        <p:nvSpPr>
          <p:cNvPr id="14" name="Oval 13"/>
          <p:cNvSpPr/>
          <p:nvPr/>
        </p:nvSpPr>
        <p:spPr>
          <a:xfrm>
            <a:off x="3685032" y="2231136"/>
            <a:ext cx="73152" cy="73152"/>
          </a:xfrm>
          <a:prstGeom prst="ellipse">
            <a:avLst/>
          </a:prstGeom>
          <a:solidFill>
            <a:srgbClr val="464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2148840"/>
            <a:ext cx="71323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6C7E"/>
                </a:solidFill>
                <a:latin typeface="Aptos"/>
              </a:rPr>
              <a:t>Promoted AI-assisted delivery and GitHub Copilot usage.</a:t>
            </a:r>
          </a:p>
        </p:txBody>
      </p:sp>
      <p:sp>
        <p:nvSpPr>
          <p:cNvPr id="16" name="Oval 15"/>
          <p:cNvSpPr/>
          <p:nvPr/>
        </p:nvSpPr>
        <p:spPr>
          <a:xfrm>
            <a:off x="3685032" y="2852928"/>
            <a:ext cx="73152" cy="73152"/>
          </a:xfrm>
          <a:prstGeom prst="ellipse">
            <a:avLst/>
          </a:prstGeom>
          <a:solidFill>
            <a:srgbClr val="464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67912" y="2770632"/>
            <a:ext cx="71323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6C7E"/>
                </a:solidFill>
                <a:latin typeface="Aptos"/>
              </a:rPr>
              <a:t>Shared guidance on prompt engineering and responsible AI use.</a:t>
            </a:r>
          </a:p>
        </p:txBody>
      </p:sp>
      <p:sp>
        <p:nvSpPr>
          <p:cNvPr id="18" name="Oval 17"/>
          <p:cNvSpPr/>
          <p:nvPr/>
        </p:nvSpPr>
        <p:spPr>
          <a:xfrm>
            <a:off x="3685032" y="3474720"/>
            <a:ext cx="73152" cy="73152"/>
          </a:xfrm>
          <a:prstGeom prst="ellipse">
            <a:avLst/>
          </a:prstGeom>
          <a:solidFill>
            <a:srgbClr val="464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67912" y="3392424"/>
            <a:ext cx="71323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6C7E"/>
                </a:solidFill>
                <a:latin typeface="Aptos"/>
              </a:rPr>
              <a:t>Facilitated discussions on AI-native operating models and context engineering.</a:t>
            </a:r>
          </a:p>
        </p:txBody>
      </p:sp>
      <p:sp>
        <p:nvSpPr>
          <p:cNvPr id="20" name="Oval 19"/>
          <p:cNvSpPr/>
          <p:nvPr/>
        </p:nvSpPr>
        <p:spPr>
          <a:xfrm>
            <a:off x="3685032" y="4096512"/>
            <a:ext cx="73152" cy="73152"/>
          </a:xfrm>
          <a:prstGeom prst="ellipse">
            <a:avLst/>
          </a:prstGeom>
          <a:solidFill>
            <a:srgbClr val="464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67912" y="4014216"/>
            <a:ext cx="71323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46C7E"/>
                </a:solidFill>
                <a:latin typeface="Aptos"/>
              </a:rPr>
              <a:t>Explored prompt structures and AI-versus-technical-debt trade-offs.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337560"/>
            <a:ext cx="2560320" cy="2331720"/>
          </a:xfrm>
          <a:prstGeom prst="roundRect">
            <a:avLst/>
          </a:prstGeom>
          <a:solidFill>
            <a:srgbClr val="EFF0FF"/>
          </a:solidFill>
          <a:ln w="10160">
            <a:solidFill>
              <a:srgbClr val="EF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63016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464FEB"/>
                </a:solidFill>
                <a:latin typeface="Aptos"/>
              </a:rPr>
              <a:t>BALANCED CONTRIBUTION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069080"/>
            <a:ext cx="204825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283D"/>
                </a:solidFill>
                <a:latin typeface="Aptos"/>
              </a:rPr>
              <a:t>Client delivery
+ innovation
+ team enablement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5032" y="5193792"/>
            <a:ext cx="7132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46C7E"/>
                </a:solidFill>
                <a:latin typeface="Aptos"/>
              </a:rPr>
              <a:t>Outcome: stronger awareness of AI-enabled productivity and practical adoption across consulting and delivery.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0AD"/>
          </a:solidFill>
          <a:ln w="10160">
            <a:solidFill>
              <a:srgbClr val="00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8368" cy="54864"/>
          </a:xfrm>
          <a:prstGeom prst="rect">
            <a:avLst/>
          </a:prstGeom>
          <a:solidFill>
            <a:srgbClr val="12ABDB"/>
          </a:solidFill>
          <a:ln w="10160">
            <a:solidFill>
              <a:srgbClr val="12A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464FEB"/>
                </a:solidFill>
                <a:latin typeface="Aptos"/>
              </a:rPr>
              <a:t>06  |  SUMMARY &amp; NEXT HORIZON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408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283D"/>
                </a:solidFill>
                <a:latin typeface="Aptos"/>
              </a:rPr>
              <a:t>Impact that compounds into the next year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64808"/>
            <a:ext cx="10908792" cy="10972"/>
          </a:xfrm>
          <a:prstGeom prst="rect">
            <a:avLst/>
          </a:prstGeom>
          <a:solidFill>
            <a:srgbClr val="E6E6E6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46C7E"/>
                </a:solidFill>
                <a:latin typeface="Aptos"/>
              </a:rPr>
              <a:t>YEAR-END REVIEW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9672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464FEB"/>
                </a:solidFill>
                <a:latin typeface="Apto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89888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464FEB"/>
                </a:solidFill>
                <a:latin typeface="Aptos"/>
              </a:rPr>
              <a:t>Client value • business growth • AI-led innovation • practice development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14600"/>
            <a:ext cx="2542032" cy="1783080"/>
          </a:xfrm>
          <a:prstGeom prst="roundRect">
            <a:avLst/>
          </a:prstGeom>
          <a:solidFill>
            <a:srgbClr val="F6F7FC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64FEB"/>
                </a:solidFill>
                <a:latin typeface="Aptos"/>
              </a:rPr>
              <a:t>PROTECT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182112"/>
            <a:ext cx="21488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46C7E"/>
                </a:solidFill>
                <a:latin typeface="Aptos"/>
              </a:rPr>
              <a:t>Sustain trusted client relationships as merger-related change continues.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9856" y="2514600"/>
            <a:ext cx="2542032" cy="1783080"/>
          </a:xfrm>
          <a:prstGeom prst="roundRect">
            <a:avLst/>
          </a:prstGeom>
          <a:solidFill>
            <a:srgbClr val="F6F7FC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27614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64FEB"/>
                </a:solidFill>
                <a:latin typeface="Aptos"/>
              </a:rPr>
              <a:t>CONVERT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3182112"/>
            <a:ext cx="21488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46C7E"/>
                </a:solidFill>
                <a:latin typeface="Aptos"/>
              </a:rPr>
              <a:t>Progress the ~€200K opportunity pipeline into qualified demand and revenue.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2514600"/>
            <a:ext cx="2542032" cy="1783080"/>
          </a:xfrm>
          <a:prstGeom prst="roundRect">
            <a:avLst/>
          </a:prstGeom>
          <a:solidFill>
            <a:srgbClr val="F6F7FC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27614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64FEB"/>
                </a:solidFill>
                <a:latin typeface="Aptos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3182112"/>
            <a:ext cx="21488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46C7E"/>
                </a:solidFill>
                <a:latin typeface="Aptos"/>
              </a:rPr>
              <a:t>Extend governance, knowledge and delivery assets for broader reuse.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2832" y="2514600"/>
            <a:ext cx="2542032" cy="1783080"/>
          </a:xfrm>
          <a:prstGeom prst="roundRect">
            <a:avLst/>
          </a:prstGeom>
          <a:solidFill>
            <a:srgbClr val="F6F7FC"/>
          </a:solidFill>
          <a:ln w="1016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5712" y="276148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64FEB"/>
                </a:solidFill>
                <a:latin typeface="Aptos"/>
              </a:rPr>
              <a:t>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3182112"/>
            <a:ext cx="214884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46C7E"/>
                </a:solidFill>
                <a:latin typeface="Aptos"/>
              </a:rPr>
              <a:t>Track adoption and realized outcomes from AI and enablement initiatives.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681728"/>
            <a:ext cx="10826496" cy="1143000"/>
          </a:xfrm>
          <a:prstGeom prst="roundRect">
            <a:avLst/>
          </a:prstGeom>
          <a:solidFill>
            <a:srgbClr val="1F283D"/>
          </a:solidFill>
          <a:ln w="10160">
            <a:solidFill>
              <a:srgbClr val="1F2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928616"/>
            <a:ext cx="10012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A year of sustained leadership—delivering measurable account outcomes while building capabilities that can be reused.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6035040"/>
            <a:ext cx="3611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 i="0">
                <a:solidFill>
                  <a:srgbClr val="464FEB"/>
                </a:solidFill>
                <a:latin typeface="Aptos"/>
                <a:hlinkClick r:id="rId2"/>
              </a:rPr>
              <a:t>Source: supplied YER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