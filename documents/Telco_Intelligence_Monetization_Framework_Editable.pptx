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framework content. No external sources used.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Telco Intelligence Monetization Framework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6"/>
                </a:solidFill>
              </a:rPr>
              <a:t>From network intelligence to measurable customer 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670048" cy="48006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sx="100000" sy="100000" kx="0" ky="0" algn="bl" rotWithShape="0" blurRad="25400" dist="50800" dir="2700000">
              <a:srgbClr val="B8C4D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2670048" cy="960120"/>
          </a:xfrm>
          <a:prstGeom prst="chevron">
            <a:avLst/>
          </a:prstGeom>
          <a:solidFill>
            <a:srgbClr val="0B63B6"/>
          </a:solidFill>
          <a:ln w="12700">
            <a:solidFill>
              <a:srgbClr val="0B63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50976"/>
            <a:ext cx="438912" cy="438912"/>
          </a:xfrm>
          <a:prstGeom prst="ellipse">
            <a:avLst/>
          </a:prstGeom>
          <a:solidFill>
            <a:srgbClr val="0B63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9669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CUSTOMER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" y="15819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Who will pay for the capability?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" y="2322576"/>
            <a:ext cx="310896" cy="310896"/>
          </a:xfrm>
          <a:prstGeom prst="ellipse">
            <a:avLst/>
          </a:prstGeom>
          <a:solidFill>
            <a:srgbClr val="EAF3FB"/>
          </a:solidFill>
          <a:ln w="19050">
            <a:solidFill>
              <a:srgbClr val="0B63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3B6"/>
                </a:solidFill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86968" y="23042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Bank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56032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Fraud prevention, secure authentication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66344" y="3072384"/>
            <a:ext cx="310896" cy="310896"/>
          </a:xfrm>
          <a:prstGeom prst="ellipse">
            <a:avLst/>
          </a:prstGeom>
          <a:solidFill>
            <a:srgbClr val="EAF3FB"/>
          </a:solidFill>
          <a:ln w="19050">
            <a:solidFill>
              <a:srgbClr val="0B63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31363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3B6"/>
                </a:solidFill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86968" y="305409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Retailer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Store planning, targeted marketing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466344" y="3822192"/>
            <a:ext cx="310896" cy="310896"/>
          </a:xfrm>
          <a:prstGeom prst="ellipse">
            <a:avLst/>
          </a:prstGeom>
          <a:solidFill>
            <a:srgbClr val="EAF3FB"/>
          </a:solidFill>
          <a:ln w="19050">
            <a:solidFill>
              <a:srgbClr val="0B63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388620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3B6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86968" y="38039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Logistics company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405993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Mobility insights, route optimization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66344" y="4572000"/>
            <a:ext cx="310896" cy="310896"/>
          </a:xfrm>
          <a:prstGeom prst="ellipse">
            <a:avLst/>
          </a:prstGeom>
          <a:solidFill>
            <a:srgbClr val="EAF3FB"/>
          </a:solidFill>
          <a:ln w="19050">
            <a:solidFill>
              <a:srgbClr val="0B63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463600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3B6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" y="455371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Advertiser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" y="480974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Audience insights, campaign effectiveness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274320" y="5303520"/>
            <a:ext cx="2670048" cy="57607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5458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63B6"/>
                </a:solidFill>
              </a:rPr>
              <a:t>ENTERPRISES WITH REAL BUSINESS NEEDS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2999232" y="32278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76D"/>
                </a:solidFill>
              </a:rPr>
              <a:t>›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3264408" y="1078992"/>
            <a:ext cx="2670048" cy="48006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sx="100000" sy="100000" kx="0" ky="0" algn="bl" rotWithShape="0" blurRad="25400" dist="50800" dir="2700000">
              <a:srgbClr val="B8C4D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64408" y="1078992"/>
            <a:ext cx="2670048" cy="960120"/>
          </a:xfrm>
          <a:prstGeom prst="chevron">
            <a:avLst/>
          </a:prstGeom>
          <a:solidFill>
            <a:srgbClr val="21864A"/>
          </a:solidFill>
          <a:ln w="12700">
            <a:solidFill>
              <a:srgbClr val="2186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950976"/>
            <a:ext cx="438912" cy="438912"/>
          </a:xfrm>
          <a:prstGeom prst="ellipse">
            <a:avLst/>
          </a:prstGeom>
          <a:solidFill>
            <a:srgbClr val="2186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99669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58768" y="1216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INTELLIGENCE PRODUCT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11296" y="15819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What exactly is being sold?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56432" y="2322576"/>
            <a:ext cx="310896" cy="310896"/>
          </a:xfrm>
          <a:prstGeom prst="ellipse">
            <a:avLst/>
          </a:prstGeom>
          <a:solidFill>
            <a:srgbClr val="EDF8F0"/>
          </a:solidFill>
          <a:ln w="19050">
            <a:solidFill>
              <a:srgbClr val="2186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864A"/>
                </a:solidFill>
              </a:rPr>
              <a:t>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77056" y="23042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SIM-swap signal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77056" y="256032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Detect potential fraud risk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456432" y="3072384"/>
            <a:ext cx="310896" cy="310896"/>
          </a:xfrm>
          <a:prstGeom prst="ellipse">
            <a:avLst/>
          </a:prstGeom>
          <a:solidFill>
            <a:srgbClr val="EDF8F0"/>
          </a:solidFill>
          <a:ln w="19050">
            <a:solidFill>
              <a:srgbClr val="2186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31363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864A"/>
                </a:solidFill>
              </a:rPr>
              <a:t>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77056" y="305409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Mobility insight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77056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Aggregated location and movement patterns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3456432" y="3822192"/>
            <a:ext cx="310896" cy="310896"/>
          </a:xfrm>
          <a:prstGeom prst="ellipse">
            <a:avLst/>
          </a:prstGeom>
          <a:solidFill>
            <a:srgbClr val="EDF8F0"/>
          </a:solidFill>
          <a:ln w="19050">
            <a:solidFill>
              <a:srgbClr val="2186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56432" y="388620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864A"/>
                </a:solidFill>
              </a:rPr>
              <a:t>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77056" y="38039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Audience segment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77056" y="405993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Privacy-aware audience insights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3456432" y="4572000"/>
            <a:ext cx="310896" cy="310896"/>
          </a:xfrm>
          <a:prstGeom prst="ellipse">
            <a:avLst/>
          </a:prstGeom>
          <a:solidFill>
            <a:srgbClr val="EDF8F0"/>
          </a:solidFill>
          <a:ln w="19050">
            <a:solidFill>
              <a:srgbClr val="2186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6432" y="463600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864A"/>
                </a:solidFill>
              </a:rPr>
              <a:t>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877056" y="455371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Network API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77056" y="480974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Identity, quality-on-demand, device information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3264408" y="5303520"/>
            <a:ext cx="2670048" cy="576072"/>
          </a:xfrm>
          <a:prstGeom prst="rect">
            <a:avLst/>
          </a:prstGeom>
          <a:solidFill>
            <a:srgbClr val="EDF8F0"/>
          </a:solidFill>
          <a:ln w="12700">
            <a:solidFill>
              <a:srgbClr val="EDF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29000" y="5458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1864A"/>
                </a:solidFill>
              </a:rPr>
              <a:t>TURN NETWORK CAPABILITIES INTO PRODUCTS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5989320" y="32278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76D"/>
                </a:solidFill>
              </a:rPr>
              <a:t>›</a:t>
            </a:r>
            <a:endParaRPr lang="en-US" sz="3400" dirty="0"/>
          </a:p>
        </p:txBody>
      </p:sp>
      <p:sp>
        <p:nvSpPr>
          <p:cNvPr id="54" name="Shape 52"/>
          <p:cNvSpPr/>
          <p:nvPr/>
        </p:nvSpPr>
        <p:spPr>
          <a:xfrm>
            <a:off x="6254496" y="1078992"/>
            <a:ext cx="2670048" cy="48006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sx="100000" sy="100000" kx="0" ky="0" algn="bl" rotWithShape="0" blurRad="25400" dist="50800" dir="2700000">
              <a:srgbClr val="B8C4D0">
                <a:alpha val="1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54496" y="1078992"/>
            <a:ext cx="2670048" cy="960120"/>
          </a:xfrm>
          <a:prstGeom prst="chevron">
            <a:avLst/>
          </a:prstGeom>
          <a:solidFill>
            <a:srgbClr val="6941C6"/>
          </a:solidFill>
          <a:ln w="12700">
            <a:solidFill>
              <a:srgbClr val="6941C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27648" y="950976"/>
            <a:ext cx="438912" cy="438912"/>
          </a:xfrm>
          <a:prstGeom prst="ellipse">
            <a:avLst/>
          </a:prstGeom>
          <a:solidFill>
            <a:srgbClr val="6941C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99669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48856" y="1216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PRICING MECHANISM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501384" y="15819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How will revenue be captured?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46520" y="2322576"/>
            <a:ext cx="310896" cy="310896"/>
          </a:xfrm>
          <a:prstGeom prst="ellipse">
            <a:avLst/>
          </a:prstGeom>
          <a:solidFill>
            <a:srgbClr val="F2EDFA"/>
          </a:solidFill>
          <a:ln w="19050">
            <a:solidFill>
              <a:srgbClr val="6941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41C6"/>
                </a:solidFill>
              </a:rPr>
              <a:t>1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867144" y="23042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Per-API call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867144" y="256032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Pay per use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6446520" y="3072384"/>
            <a:ext cx="310896" cy="310896"/>
          </a:xfrm>
          <a:prstGeom prst="ellipse">
            <a:avLst/>
          </a:prstGeom>
          <a:solidFill>
            <a:srgbClr val="F2EDFA"/>
          </a:solidFill>
          <a:ln w="19050">
            <a:solidFill>
              <a:srgbClr val="6941C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31363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41C6"/>
                </a:solidFill>
              </a:rPr>
              <a:t>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67144" y="305409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Subscription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867144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Recurring revenue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6446520" y="3822192"/>
            <a:ext cx="310896" cy="310896"/>
          </a:xfrm>
          <a:prstGeom prst="ellipse">
            <a:avLst/>
          </a:prstGeom>
          <a:solidFill>
            <a:srgbClr val="F2EDFA"/>
          </a:solidFill>
          <a:ln w="19050">
            <a:solidFill>
              <a:srgbClr val="6941C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388620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41C6"/>
                </a:solidFill>
              </a:rPr>
              <a:t>3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867144" y="38039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Usage-based fee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867144" y="405993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Volume or tiered pricing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6446520" y="4572000"/>
            <a:ext cx="310896" cy="310896"/>
          </a:xfrm>
          <a:prstGeom prst="ellipse">
            <a:avLst/>
          </a:prstGeom>
          <a:solidFill>
            <a:srgbClr val="F2EDFA"/>
          </a:solidFill>
          <a:ln w="19050">
            <a:solidFill>
              <a:srgbClr val="6941C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46520" y="463600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41C6"/>
                </a:solidFill>
              </a:rPr>
              <a:t>4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867144" y="455371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Managed service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867144" y="480974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End-to-end solution with SLAs</a:t>
            </a:r>
            <a:endParaRPr lang="en-US" sz="830" dirty="0"/>
          </a:p>
        </p:txBody>
      </p:sp>
      <p:sp>
        <p:nvSpPr>
          <p:cNvPr id="76" name="Shape 74"/>
          <p:cNvSpPr/>
          <p:nvPr/>
        </p:nvSpPr>
        <p:spPr>
          <a:xfrm>
            <a:off x="6254496" y="5303520"/>
            <a:ext cx="2670048" cy="576072"/>
          </a:xfrm>
          <a:prstGeom prst="rect">
            <a:avLst/>
          </a:prstGeom>
          <a:solidFill>
            <a:srgbClr val="F2EDFA"/>
          </a:solidFill>
          <a:ln w="12700">
            <a:solidFill>
              <a:srgbClr val="F2ED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19088" y="5458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941C6"/>
                </a:solidFill>
              </a:rPr>
              <a:t>FLEXIBLE MODELS TO MATCH NEEDS</a:t>
            </a:r>
            <a:endParaRPr lang="en-US" sz="880" dirty="0"/>
          </a:p>
        </p:txBody>
      </p:sp>
      <p:sp>
        <p:nvSpPr>
          <p:cNvPr id="78" name="Text 76"/>
          <p:cNvSpPr/>
          <p:nvPr/>
        </p:nvSpPr>
        <p:spPr>
          <a:xfrm>
            <a:off x="8979408" y="32278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76D"/>
                </a:solidFill>
              </a:rPr>
              <a:t>›</a:t>
            </a:r>
            <a:endParaRPr lang="en-US" sz="3400" dirty="0"/>
          </a:p>
        </p:txBody>
      </p:sp>
      <p:sp>
        <p:nvSpPr>
          <p:cNvPr id="79" name="Shape 77"/>
          <p:cNvSpPr/>
          <p:nvPr/>
        </p:nvSpPr>
        <p:spPr>
          <a:xfrm>
            <a:off x="9244584" y="1078992"/>
            <a:ext cx="2670048" cy="48006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  <a:effectLst>
            <a:outerShdw sx="100000" sy="100000" kx="0" ky="0" algn="bl" rotWithShape="0" blurRad="25400" dist="50800" dir="2700000">
              <a:srgbClr val="B8C4D0">
                <a:alpha val="16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9244584" y="1078992"/>
            <a:ext cx="2670048" cy="960120"/>
          </a:xfrm>
          <a:prstGeom prst="chevron">
            <a:avLst/>
          </a:prstGeom>
          <a:solidFill>
            <a:srgbClr val="0993A7"/>
          </a:solidFill>
          <a:ln w="12700">
            <a:solidFill>
              <a:srgbClr val="0993A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17736" y="950976"/>
            <a:ext cx="438912" cy="438912"/>
          </a:xfrm>
          <a:prstGeom prst="ellipse">
            <a:avLst/>
          </a:prstGeom>
          <a:solidFill>
            <a:srgbClr val="0993A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17736" y="99669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838944" y="1216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BUSINESS OUTCOME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9491472" y="15819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What value does the customer receive?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9436608" y="2322576"/>
            <a:ext cx="310896" cy="310896"/>
          </a:xfrm>
          <a:prstGeom prst="ellipse">
            <a:avLst/>
          </a:prstGeom>
          <a:solidFill>
            <a:srgbClr val="E8F8FA"/>
          </a:solidFill>
          <a:ln w="19050">
            <a:solidFill>
              <a:srgbClr val="0993A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436608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93A7"/>
                </a:solidFill>
              </a:rPr>
              <a:t>1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857232" y="23042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Fraud reduction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857232" y="256032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Lower financial loss and higher trust</a:t>
            </a:r>
            <a:endParaRPr lang="en-US" sz="830" dirty="0"/>
          </a:p>
        </p:txBody>
      </p:sp>
      <p:sp>
        <p:nvSpPr>
          <p:cNvPr id="89" name="Shape 87"/>
          <p:cNvSpPr/>
          <p:nvPr/>
        </p:nvSpPr>
        <p:spPr>
          <a:xfrm>
            <a:off x="9436608" y="3072384"/>
            <a:ext cx="310896" cy="310896"/>
          </a:xfrm>
          <a:prstGeom prst="ellipse">
            <a:avLst/>
          </a:prstGeom>
          <a:solidFill>
            <a:srgbClr val="E8F8FA"/>
          </a:solidFill>
          <a:ln w="19050">
            <a:solidFill>
              <a:srgbClr val="0993A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436608" y="31363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93A7"/>
                </a:solidFill>
              </a:rPr>
              <a:t>2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9857232" y="305409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Higher conversion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9857232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More effective marketing and sales</a:t>
            </a:r>
            <a:endParaRPr lang="en-US" sz="830" dirty="0"/>
          </a:p>
        </p:txBody>
      </p:sp>
      <p:sp>
        <p:nvSpPr>
          <p:cNvPr id="93" name="Shape 91"/>
          <p:cNvSpPr/>
          <p:nvPr/>
        </p:nvSpPr>
        <p:spPr>
          <a:xfrm>
            <a:off x="9436608" y="3822192"/>
            <a:ext cx="310896" cy="310896"/>
          </a:xfrm>
          <a:prstGeom prst="ellipse">
            <a:avLst/>
          </a:prstGeom>
          <a:solidFill>
            <a:srgbClr val="E8F8FA"/>
          </a:solidFill>
          <a:ln w="19050">
            <a:solidFill>
              <a:srgbClr val="0993A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436608" y="388620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93A7"/>
                </a:solidFill>
              </a:rPr>
              <a:t>3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857232" y="38039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Better planning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9857232" y="405993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Data-driven location and capacity decisions</a:t>
            </a:r>
            <a:endParaRPr lang="en-US" sz="830" dirty="0"/>
          </a:p>
        </p:txBody>
      </p:sp>
      <p:sp>
        <p:nvSpPr>
          <p:cNvPr id="97" name="Shape 95"/>
          <p:cNvSpPr/>
          <p:nvPr/>
        </p:nvSpPr>
        <p:spPr>
          <a:xfrm>
            <a:off x="9436608" y="4572000"/>
            <a:ext cx="310896" cy="310896"/>
          </a:xfrm>
          <a:prstGeom prst="ellipse">
            <a:avLst/>
          </a:prstGeom>
          <a:solidFill>
            <a:srgbClr val="E8F8FA"/>
          </a:solidFill>
          <a:ln w="19050">
            <a:solidFill>
              <a:srgbClr val="0993A7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436608" y="463600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93A7"/>
                </a:solidFill>
              </a:rPr>
              <a:t>4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857232" y="455371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Service assurance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9857232" y="480974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6B7A"/>
                </a:solidFill>
              </a:rPr>
              <a:t>Improved performance and customer experience</a:t>
            </a:r>
            <a:endParaRPr lang="en-US" sz="830" dirty="0"/>
          </a:p>
        </p:txBody>
      </p:sp>
      <p:sp>
        <p:nvSpPr>
          <p:cNvPr id="101" name="Shape 99"/>
          <p:cNvSpPr/>
          <p:nvPr/>
        </p:nvSpPr>
        <p:spPr>
          <a:xfrm>
            <a:off x="9244584" y="5303520"/>
            <a:ext cx="2670048" cy="576072"/>
          </a:xfrm>
          <a:prstGeom prst="rect">
            <a:avLst/>
          </a:prstGeom>
          <a:solidFill>
            <a:srgbClr val="E8F8FA"/>
          </a:solidFill>
          <a:ln w="12700">
            <a:solidFill>
              <a:srgbClr val="E8F8F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409176" y="5458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993A7"/>
                </a:solidFill>
              </a:rPr>
              <a:t>MEASURABLE VALUE THAT DRIVES DEMAND</a:t>
            </a:r>
            <a:endParaRPr lang="en-US" sz="880" dirty="0"/>
          </a:p>
        </p:txBody>
      </p:sp>
      <p:sp>
        <p:nvSpPr>
          <p:cNvPr id="103" name="Shape 101"/>
          <p:cNvSpPr/>
          <p:nvPr/>
        </p:nvSpPr>
        <p:spPr>
          <a:xfrm>
            <a:off x="274320" y="6062472"/>
            <a:ext cx="11640312" cy="475488"/>
          </a:xfrm>
          <a:prstGeom prst="roundRect">
            <a:avLst/>
          </a:prstGeom>
          <a:solidFill>
            <a:srgbClr val="0B376D"/>
          </a:solidFill>
          <a:ln w="12700">
            <a:solidFill>
              <a:srgbClr val="0B376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2920" y="6208776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NETWORK DATA &amp; CAPABILITIES   ›   INTELLIGENCE   ›   PRODUCT   ›   REVENUE   ›   CUSTOMER VALUE</a:t>
            </a:r>
            <a:endParaRPr lang="en-US" sz="1230" dirty="0"/>
          </a:p>
        </p:txBody>
      </p:sp>
      <p:sp>
        <p:nvSpPr>
          <p:cNvPr id="105" name="Text 103"/>
          <p:cNvSpPr/>
          <p:nvPr/>
        </p:nvSpPr>
        <p:spPr>
          <a:xfrm>
            <a:off x="2240280" y="660196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76D"/>
                </a:solidFill>
              </a:rPr>
              <a:t>It's not about selling data. It's about delivering outcomes.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5d96ea-ab39-44a0-a6d6-b6f0aac5958b}" enabled="1" method="Standar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Telco Intelligence Monetization Framework</dc:title>
  <dc:subject>Editable telco monetization infographic</dc:subject>
  <dc:creator>A, RAJKAMAL</dc:creator>
  <lastModifiedBy>A, RAJKAMAL</lastModifiedBy>
  <revision>1</revision>
  <dcterms:created xsi:type="dcterms:W3CDTF">2026-09-30T07:17:35.2886407Z</dcterms:created>
  <dcterms:modified xsi:type="dcterms:W3CDTF">2026-09-30T07:17:35.2886407Z</dcterms:modified>
</coreProperties>
</file>