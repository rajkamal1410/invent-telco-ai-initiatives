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32.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slideLayouts/slideLayout33.xml" ContentType="application/vnd.openxmlformats-officedocument.presentationml.slideLayout+xml"/>
  <Override PartName="/ppt/theme/theme4.xml" ContentType="application/vnd.openxmlformats-officedocument.theme+xml"/>
  <Override PartName="/ppt/tags/tag6.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800" r:id="rId5"/>
    <p:sldMasterId id="2147483881" r:id="rId6"/>
    <p:sldMasterId id="2147483882" r:id="rId7"/>
  </p:sldMasterIdLst>
  <p:notesMasterIdLst>
    <p:notesMasterId r:id="rId26"/>
  </p:notesMasterIdLst>
  <p:sldIdLst>
    <p:sldId id="259" r:id="rId8"/>
    <p:sldId id="260" r:id="rId9"/>
    <p:sldId id="264" r:id="rId10"/>
    <p:sldId id="277" r:id="rId11"/>
    <p:sldId id="2147483629" r:id="rId12"/>
    <p:sldId id="261" r:id="rId13"/>
    <p:sldId id="256" r:id="rId14"/>
    <p:sldId id="2147483641" r:id="rId15"/>
    <p:sldId id="2147483639" r:id="rId16"/>
    <p:sldId id="279" r:id="rId17"/>
    <p:sldId id="281" r:id="rId18"/>
    <p:sldId id="262" r:id="rId19"/>
    <p:sldId id="2147483645" r:id="rId20"/>
    <p:sldId id="263" r:id="rId21"/>
    <p:sldId id="258" r:id="rId22"/>
    <p:sldId id="267" r:id="rId23"/>
    <p:sldId id="2147373577" r:id="rId24"/>
    <p:sldId id="2145706653"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3A29B58-271A-4E6C-8AB4-549945E57552}">
          <p14:sldIdLst>
            <p14:sldId id="259"/>
            <p14:sldId id="260"/>
            <p14:sldId id="264"/>
            <p14:sldId id="277"/>
            <p14:sldId id="2147483629"/>
            <p14:sldId id="261"/>
          </p14:sldIdLst>
        </p14:section>
        <p14:section name="Project Plan" id="{1904E2B1-FB2D-4708-8652-77B9EB60E12D}">
          <p14:sldIdLst>
            <p14:sldId id="256"/>
          </p14:sldIdLst>
        </p14:section>
        <p14:section name="Discover" id="{7EB00B41-DA26-46DB-8664-088A77C54C83}">
          <p14:sldIdLst>
            <p14:sldId id="2147483641"/>
          </p14:sldIdLst>
        </p14:section>
        <p14:section name="Evaluate and Create" id="{3243C056-E500-4C54-895E-AD5812886585}">
          <p14:sldIdLst>
            <p14:sldId id="2147483639"/>
            <p14:sldId id="279"/>
            <p14:sldId id="281"/>
            <p14:sldId id="262"/>
            <p14:sldId id="2147483645"/>
            <p14:sldId id="263"/>
            <p14:sldId id="258"/>
          </p14:sldIdLst>
        </p14:section>
        <p14:section name="Pre-requisites and Asumptions" id="{4E769446-9CAE-496F-A4F2-F01C66E1AF44}">
          <p14:sldIdLst/>
        </p14:section>
        <p14:section name="Case Study" id="{60322888-19DB-4FEF-8F9F-91EBD743B104}">
          <p14:sldIdLst>
            <p14:sldId id="267"/>
            <p14:sldId id="2147373577"/>
            <p14:sldId id="214570665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6014FB7-B1B9-6E3B-9732-140AC2BD83CA}" name="Ranade, Shripriya Vinay" initials="RS" userId="S::shripriya-vinay.ranade@capgemini.com::ab164fce-475d-4163-8d0e-76c773d24d6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CCC"/>
    <a:srgbClr val="FFC000"/>
    <a:srgbClr val="4B8DC0"/>
    <a:srgbClr val="FFFFFF"/>
    <a:srgbClr val="197799"/>
    <a:srgbClr val="005482"/>
    <a:srgbClr val="12ABDB"/>
    <a:srgbClr val="136E8E"/>
    <a:srgbClr val="059D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86B71A-0F57-FFFE-B7B7-E1C5B50C75E9}" v="18" dt="2026-03-04T11:05:27.409"/>
    <p1510:client id="{FE7262A7-063A-D77A-23B1-B8D0DAF58B13}" v="88" dt="2026-03-04T11:27:15.9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ade, Shripriya Vinay" userId="S::shripriya-vinay.ranade@capgemini.com::ab164fce-475d-4163-8d0e-76c773d24d62" providerId="AD" clId="Web-{D786B71A-0F57-FFFE-B7B7-E1C5B50C75E9}"/>
    <pc:docChg chg="modSld">
      <pc:chgData name="Ranade, Shripriya Vinay" userId="S::shripriya-vinay.ranade@capgemini.com::ab164fce-475d-4163-8d0e-76c773d24d62" providerId="AD" clId="Web-{D786B71A-0F57-FFFE-B7B7-E1C5B50C75E9}" dt="2026-03-04T11:05:23.393" v="9" actId="20577"/>
      <pc:docMkLst>
        <pc:docMk/>
      </pc:docMkLst>
      <pc:sldChg chg="modSp">
        <pc:chgData name="Ranade, Shripriya Vinay" userId="S::shripriya-vinay.ranade@capgemini.com::ab164fce-475d-4163-8d0e-76c773d24d62" providerId="AD" clId="Web-{D786B71A-0F57-FFFE-B7B7-E1C5B50C75E9}" dt="2026-03-04T11:05:17.846" v="8" actId="20577"/>
        <pc:sldMkLst>
          <pc:docMk/>
          <pc:sldMk cId="1647128829" sldId="259"/>
        </pc:sldMkLst>
        <pc:spChg chg="mod">
          <ac:chgData name="Ranade, Shripriya Vinay" userId="S::shripriya-vinay.ranade@capgemini.com::ab164fce-475d-4163-8d0e-76c773d24d62" providerId="AD" clId="Web-{D786B71A-0F57-FFFE-B7B7-E1C5B50C75E9}" dt="2026-03-04T11:05:17.846" v="8" actId="20577"/>
          <ac:spMkLst>
            <pc:docMk/>
            <pc:sldMk cId="1647128829" sldId="259"/>
            <ac:spMk id="7" creationId="{DE20F3D7-DF20-1007-C57B-75EA5F531546}"/>
          </ac:spMkLst>
        </pc:spChg>
      </pc:sldChg>
      <pc:sldChg chg="modSp">
        <pc:chgData name="Ranade, Shripriya Vinay" userId="S::shripriya-vinay.ranade@capgemini.com::ab164fce-475d-4163-8d0e-76c773d24d62" providerId="AD" clId="Web-{D786B71A-0F57-FFFE-B7B7-E1C5B50C75E9}" dt="2026-03-04T11:05:23.393" v="9" actId="20577"/>
        <pc:sldMkLst>
          <pc:docMk/>
          <pc:sldMk cId="3246451289" sldId="260"/>
        </pc:sldMkLst>
        <pc:spChg chg="mod">
          <ac:chgData name="Ranade, Shripriya Vinay" userId="S::shripriya-vinay.ranade@capgemini.com::ab164fce-475d-4163-8d0e-76c773d24d62" providerId="AD" clId="Web-{D786B71A-0F57-FFFE-B7B7-E1C5B50C75E9}" dt="2026-03-04T11:05:23.393" v="9" actId="20577"/>
          <ac:spMkLst>
            <pc:docMk/>
            <pc:sldMk cId="3246451289" sldId="260"/>
            <ac:spMk id="15" creationId="{D23ABED3-AE06-9007-EB66-FCADF88F9FE1}"/>
          </ac:spMkLst>
        </pc:spChg>
      </pc:sldChg>
    </pc:docChg>
  </pc:docChgLst>
  <pc:docChgLst>
    <pc:chgData name="Gaimukhe, Riya" userId="S::riya.gaimukhe@capgemini.com::b8f55e00-efeb-4247-b928-f638a254fe55" providerId="AD" clId="Web-{FE7262A7-063A-D77A-23B1-B8D0DAF58B13}"/>
    <pc:docChg chg="addSld delSld modSld sldOrd modSection">
      <pc:chgData name="Gaimukhe, Riya" userId="S::riya.gaimukhe@capgemini.com::b8f55e00-efeb-4247-b928-f638a254fe55" providerId="AD" clId="Web-{FE7262A7-063A-D77A-23B1-B8D0DAF58B13}" dt="2026-03-04T11:27:15.701" v="63"/>
      <pc:docMkLst>
        <pc:docMk/>
      </pc:docMkLst>
      <pc:sldChg chg="del">
        <pc:chgData name="Gaimukhe, Riya" userId="S::riya.gaimukhe@capgemini.com::b8f55e00-efeb-4247-b928-f638a254fe55" providerId="AD" clId="Web-{FE7262A7-063A-D77A-23B1-B8D0DAF58B13}" dt="2026-03-04T11:26:17.294" v="60"/>
        <pc:sldMkLst>
          <pc:docMk/>
          <pc:sldMk cId="770305619" sldId="257"/>
        </pc:sldMkLst>
      </pc:sldChg>
      <pc:sldChg chg="delSp">
        <pc:chgData name="Gaimukhe, Riya" userId="S::riya.gaimukhe@capgemini.com::b8f55e00-efeb-4247-b928-f638a254fe55" providerId="AD" clId="Web-{FE7262A7-063A-D77A-23B1-B8D0DAF58B13}" dt="2026-03-04T11:09:08.704" v="9"/>
        <pc:sldMkLst>
          <pc:docMk/>
          <pc:sldMk cId="1647128829" sldId="259"/>
        </pc:sldMkLst>
        <pc:spChg chg="del">
          <ac:chgData name="Gaimukhe, Riya" userId="S::riya.gaimukhe@capgemini.com::b8f55e00-efeb-4247-b928-f638a254fe55" providerId="AD" clId="Web-{FE7262A7-063A-D77A-23B1-B8D0DAF58B13}" dt="2026-03-04T11:09:08.704" v="9"/>
          <ac:spMkLst>
            <pc:docMk/>
            <pc:sldMk cId="1647128829" sldId="259"/>
            <ac:spMk id="22" creationId="{243B6095-27AE-C414-18E0-9DE41810F983}"/>
          </ac:spMkLst>
        </pc:spChg>
      </pc:sldChg>
      <pc:sldChg chg="modSp">
        <pc:chgData name="Gaimukhe, Riya" userId="S::riya.gaimukhe@capgemini.com::b8f55e00-efeb-4247-b928-f638a254fe55" providerId="AD" clId="Web-{FE7262A7-063A-D77A-23B1-B8D0DAF58B13}" dt="2026-03-04T11:09:19.299" v="11" actId="20577"/>
        <pc:sldMkLst>
          <pc:docMk/>
          <pc:sldMk cId="3246451289" sldId="260"/>
        </pc:sldMkLst>
        <pc:spChg chg="mod">
          <ac:chgData name="Gaimukhe, Riya" userId="S::riya.gaimukhe@capgemini.com::b8f55e00-efeb-4247-b928-f638a254fe55" providerId="AD" clId="Web-{FE7262A7-063A-D77A-23B1-B8D0DAF58B13}" dt="2026-03-04T11:09:13.955" v="10" actId="20577"/>
          <ac:spMkLst>
            <pc:docMk/>
            <pc:sldMk cId="3246451289" sldId="260"/>
            <ac:spMk id="15" creationId="{D23ABED3-AE06-9007-EB66-FCADF88F9FE1}"/>
          </ac:spMkLst>
        </pc:spChg>
        <pc:spChg chg="mod">
          <ac:chgData name="Gaimukhe, Riya" userId="S::riya.gaimukhe@capgemini.com::b8f55e00-efeb-4247-b928-f638a254fe55" providerId="AD" clId="Web-{FE7262A7-063A-D77A-23B1-B8D0DAF58B13}" dt="2026-03-04T11:09:19.299" v="11" actId="20577"/>
          <ac:spMkLst>
            <pc:docMk/>
            <pc:sldMk cId="3246451289" sldId="260"/>
            <ac:spMk id="17" creationId="{BEA21CF2-5B42-FE05-C499-1DAADA5E6CB0}"/>
          </ac:spMkLst>
        </pc:spChg>
      </pc:sldChg>
      <pc:sldChg chg="modSp ord">
        <pc:chgData name="Gaimukhe, Riya" userId="S::riya.gaimukhe@capgemini.com::b8f55e00-efeb-4247-b928-f638a254fe55" providerId="AD" clId="Web-{FE7262A7-063A-D77A-23B1-B8D0DAF58B13}" dt="2026-03-04T11:25:49.574" v="59" actId="20577"/>
        <pc:sldMkLst>
          <pc:docMk/>
          <pc:sldMk cId="296747862" sldId="263"/>
        </pc:sldMkLst>
        <pc:spChg chg="mod">
          <ac:chgData name="Gaimukhe, Riya" userId="S::riya.gaimukhe@capgemini.com::b8f55e00-efeb-4247-b928-f638a254fe55" providerId="AD" clId="Web-{FE7262A7-063A-D77A-23B1-B8D0DAF58B13}" dt="2026-03-04T11:25:49.574" v="59" actId="20577"/>
          <ac:spMkLst>
            <pc:docMk/>
            <pc:sldMk cId="296747862" sldId="263"/>
            <ac:spMk id="37" creationId="{E7346F23-5503-7C17-9791-314671A52D2A}"/>
          </ac:spMkLst>
        </pc:spChg>
      </pc:sldChg>
      <pc:sldChg chg="delSp modSp">
        <pc:chgData name="Gaimukhe, Riya" userId="S::riya.gaimukhe@capgemini.com::b8f55e00-efeb-4247-b928-f638a254fe55" providerId="AD" clId="Web-{FE7262A7-063A-D77A-23B1-B8D0DAF58B13}" dt="2026-03-04T11:19:16.445" v="26" actId="20577"/>
        <pc:sldMkLst>
          <pc:docMk/>
          <pc:sldMk cId="3123110118" sldId="264"/>
        </pc:sldMkLst>
        <pc:spChg chg="del">
          <ac:chgData name="Gaimukhe, Riya" userId="S::riya.gaimukhe@capgemini.com::b8f55e00-efeb-4247-b928-f638a254fe55" providerId="AD" clId="Web-{FE7262A7-063A-D77A-23B1-B8D0DAF58B13}" dt="2026-03-04T11:07:04.311" v="3"/>
          <ac:spMkLst>
            <pc:docMk/>
            <pc:sldMk cId="3123110118" sldId="264"/>
            <ac:spMk id="7" creationId="{29132BE4-3CC0-6A63-9448-B713655B65D1}"/>
          </ac:spMkLst>
        </pc:spChg>
        <pc:spChg chg="del">
          <ac:chgData name="Gaimukhe, Riya" userId="S::riya.gaimukhe@capgemini.com::b8f55e00-efeb-4247-b928-f638a254fe55" providerId="AD" clId="Web-{FE7262A7-063A-D77A-23B1-B8D0DAF58B13}" dt="2026-03-04T11:07:07.247" v="5"/>
          <ac:spMkLst>
            <pc:docMk/>
            <pc:sldMk cId="3123110118" sldId="264"/>
            <ac:spMk id="8" creationId="{BB79F27B-A32A-53B8-73D6-0D5DD173C217}"/>
          </ac:spMkLst>
        </pc:spChg>
        <pc:spChg chg="mod">
          <ac:chgData name="Gaimukhe, Riya" userId="S::riya.gaimukhe@capgemini.com::b8f55e00-efeb-4247-b928-f638a254fe55" providerId="AD" clId="Web-{FE7262A7-063A-D77A-23B1-B8D0DAF58B13}" dt="2026-03-04T11:19:13.710" v="24" actId="20577"/>
          <ac:spMkLst>
            <pc:docMk/>
            <pc:sldMk cId="3123110118" sldId="264"/>
            <ac:spMk id="14" creationId="{EBD40EA4-7759-608E-73D8-EDE4674880EB}"/>
          </ac:spMkLst>
        </pc:spChg>
        <pc:spChg chg="mod">
          <ac:chgData name="Gaimukhe, Riya" userId="S::riya.gaimukhe@capgemini.com::b8f55e00-efeb-4247-b928-f638a254fe55" providerId="AD" clId="Web-{FE7262A7-063A-D77A-23B1-B8D0DAF58B13}" dt="2026-03-04T11:09:37.361" v="13" actId="1076"/>
          <ac:spMkLst>
            <pc:docMk/>
            <pc:sldMk cId="3123110118" sldId="264"/>
            <ac:spMk id="22" creationId="{58FE2E63-C09E-000A-BEDB-20D416FE290C}"/>
          </ac:spMkLst>
        </pc:spChg>
        <pc:spChg chg="mod">
          <ac:chgData name="Gaimukhe, Riya" userId="S::riya.gaimukhe@capgemini.com::b8f55e00-efeb-4247-b928-f638a254fe55" providerId="AD" clId="Web-{FE7262A7-063A-D77A-23B1-B8D0DAF58B13}" dt="2026-03-04T11:19:16.445" v="26" actId="20577"/>
          <ac:spMkLst>
            <pc:docMk/>
            <pc:sldMk cId="3123110118" sldId="264"/>
            <ac:spMk id="23" creationId="{1D2E5F7A-6B7F-DF76-85BD-47F67437AD7C}"/>
          </ac:spMkLst>
        </pc:spChg>
        <pc:spChg chg="del">
          <ac:chgData name="Gaimukhe, Riya" userId="S::riya.gaimukhe@capgemini.com::b8f55e00-efeb-4247-b928-f638a254fe55" providerId="AD" clId="Web-{FE7262A7-063A-D77A-23B1-B8D0DAF58B13}" dt="2026-03-04T11:07:02.013" v="1"/>
          <ac:spMkLst>
            <pc:docMk/>
            <pc:sldMk cId="3123110118" sldId="264"/>
            <ac:spMk id="35" creationId="{694609C6-C666-941E-4934-9D0F4D859357}"/>
          </ac:spMkLst>
        </pc:spChg>
        <pc:picChg chg="del">
          <ac:chgData name="Gaimukhe, Riya" userId="S::riya.gaimukhe@capgemini.com::b8f55e00-efeb-4247-b928-f638a254fe55" providerId="AD" clId="Web-{FE7262A7-063A-D77A-23B1-B8D0DAF58B13}" dt="2026-03-04T11:07:02.982" v="2"/>
          <ac:picMkLst>
            <pc:docMk/>
            <pc:sldMk cId="3123110118" sldId="264"/>
            <ac:picMk id="5" creationId="{A7C00FF0-E830-E250-6134-83AC9E50A898}"/>
          </ac:picMkLst>
        </pc:picChg>
        <pc:picChg chg="del">
          <ac:chgData name="Gaimukhe, Riya" userId="S::riya.gaimukhe@capgemini.com::b8f55e00-efeb-4247-b928-f638a254fe55" providerId="AD" clId="Web-{FE7262A7-063A-D77A-23B1-B8D0DAF58B13}" dt="2026-03-04T11:07:05.576" v="4"/>
          <ac:picMkLst>
            <pc:docMk/>
            <pc:sldMk cId="3123110118" sldId="264"/>
            <ac:picMk id="6" creationId="{6F66B047-1C81-AEAA-40E5-7FC9247275E5}"/>
          </ac:picMkLst>
        </pc:picChg>
        <pc:picChg chg="del">
          <ac:chgData name="Gaimukhe, Riya" userId="S::riya.gaimukhe@capgemini.com::b8f55e00-efeb-4247-b928-f638a254fe55" providerId="AD" clId="Web-{FE7262A7-063A-D77A-23B1-B8D0DAF58B13}" dt="2026-03-04T11:07:01.044" v="0"/>
          <ac:picMkLst>
            <pc:docMk/>
            <pc:sldMk cId="3123110118" sldId="264"/>
            <ac:picMk id="13" creationId="{CE135449-D102-4E06-3589-53EA47D0EE15}"/>
          </ac:picMkLst>
        </pc:picChg>
      </pc:sldChg>
      <pc:sldChg chg="modSp">
        <pc:chgData name="Gaimukhe, Riya" userId="S::riya.gaimukhe@capgemini.com::b8f55e00-efeb-4247-b928-f638a254fe55" providerId="AD" clId="Web-{FE7262A7-063A-D77A-23B1-B8D0DAF58B13}" dt="2026-03-04T11:19:57.982" v="33" actId="20577"/>
        <pc:sldMkLst>
          <pc:docMk/>
          <pc:sldMk cId="1869444788" sldId="277"/>
        </pc:sldMkLst>
        <pc:spChg chg="mod">
          <ac:chgData name="Gaimukhe, Riya" userId="S::riya.gaimukhe@capgemini.com::b8f55e00-efeb-4247-b928-f638a254fe55" providerId="AD" clId="Web-{FE7262A7-063A-D77A-23B1-B8D0DAF58B13}" dt="2026-03-04T11:19:26.883" v="28" actId="20577"/>
          <ac:spMkLst>
            <pc:docMk/>
            <pc:sldMk cId="1869444788" sldId="277"/>
            <ac:spMk id="5" creationId="{B77880EB-B25A-C29A-4DB2-6572A81FE233}"/>
          </ac:spMkLst>
        </pc:spChg>
        <pc:spChg chg="mod">
          <ac:chgData name="Gaimukhe, Riya" userId="S::riya.gaimukhe@capgemini.com::b8f55e00-efeb-4247-b928-f638a254fe55" providerId="AD" clId="Web-{FE7262A7-063A-D77A-23B1-B8D0DAF58B13}" dt="2026-03-04T11:19:35.306" v="30" actId="20577"/>
          <ac:spMkLst>
            <pc:docMk/>
            <pc:sldMk cId="1869444788" sldId="277"/>
            <ac:spMk id="9" creationId="{8FE9A372-8139-AC2A-169F-1FC5AB51CA62}"/>
          </ac:spMkLst>
        </pc:spChg>
        <pc:spChg chg="mod">
          <ac:chgData name="Gaimukhe, Riya" userId="S::riya.gaimukhe@capgemini.com::b8f55e00-efeb-4247-b928-f638a254fe55" providerId="AD" clId="Web-{FE7262A7-063A-D77A-23B1-B8D0DAF58B13}" dt="2026-03-04T11:19:57.982" v="33" actId="20577"/>
          <ac:spMkLst>
            <pc:docMk/>
            <pc:sldMk cId="1869444788" sldId="277"/>
            <ac:spMk id="10" creationId="{27FF1952-B394-5760-EC37-9AC978191538}"/>
          </ac:spMkLst>
        </pc:spChg>
      </pc:sldChg>
      <pc:sldChg chg="modSp">
        <pc:chgData name="Gaimukhe, Riya" userId="S::riya.gaimukhe@capgemini.com::b8f55e00-efeb-4247-b928-f638a254fe55" providerId="AD" clId="Web-{FE7262A7-063A-D77A-23B1-B8D0DAF58B13}" dt="2026-03-04T11:23:26.915" v="49" actId="20577"/>
        <pc:sldMkLst>
          <pc:docMk/>
          <pc:sldMk cId="1763018245" sldId="279"/>
        </pc:sldMkLst>
        <pc:spChg chg="mod">
          <ac:chgData name="Gaimukhe, Riya" userId="S::riya.gaimukhe@capgemini.com::b8f55e00-efeb-4247-b928-f638a254fe55" providerId="AD" clId="Web-{FE7262A7-063A-D77A-23B1-B8D0DAF58B13}" dt="2026-03-04T11:23:12.694" v="46" actId="20577"/>
          <ac:spMkLst>
            <pc:docMk/>
            <pc:sldMk cId="1763018245" sldId="279"/>
            <ac:spMk id="21" creationId="{650B51A3-C773-B2F6-2D05-0D4F8D98CAF0}"/>
          </ac:spMkLst>
        </pc:spChg>
        <pc:spChg chg="mod">
          <ac:chgData name="Gaimukhe, Riya" userId="S::riya.gaimukhe@capgemini.com::b8f55e00-efeb-4247-b928-f638a254fe55" providerId="AD" clId="Web-{FE7262A7-063A-D77A-23B1-B8D0DAF58B13}" dt="2026-03-04T11:23:26.915" v="49" actId="20577"/>
          <ac:spMkLst>
            <pc:docMk/>
            <pc:sldMk cId="1763018245" sldId="279"/>
            <ac:spMk id="37" creationId="{479C9C33-1A3C-025F-38D1-E89CF93CBD5E}"/>
          </ac:spMkLst>
        </pc:spChg>
      </pc:sldChg>
      <pc:sldChg chg="modSp">
        <pc:chgData name="Gaimukhe, Riya" userId="S::riya.gaimukhe@capgemini.com::b8f55e00-efeb-4247-b928-f638a254fe55" providerId="AD" clId="Web-{FE7262A7-063A-D77A-23B1-B8D0DAF58B13}" dt="2026-03-04T11:24:04.602" v="55" actId="20577"/>
        <pc:sldMkLst>
          <pc:docMk/>
          <pc:sldMk cId="789459777" sldId="281"/>
        </pc:sldMkLst>
        <pc:spChg chg="mod">
          <ac:chgData name="Gaimukhe, Riya" userId="S::riya.gaimukhe@capgemini.com::b8f55e00-efeb-4247-b928-f638a254fe55" providerId="AD" clId="Web-{FE7262A7-063A-D77A-23B1-B8D0DAF58B13}" dt="2026-03-04T11:23:55.742" v="53" actId="20577"/>
          <ac:spMkLst>
            <pc:docMk/>
            <pc:sldMk cId="789459777" sldId="281"/>
            <ac:spMk id="56" creationId="{16CEE15A-8856-0704-D19A-0066B7A0AC2F}"/>
          </ac:spMkLst>
        </pc:spChg>
        <pc:spChg chg="mod">
          <ac:chgData name="Gaimukhe, Riya" userId="S::riya.gaimukhe@capgemini.com::b8f55e00-efeb-4247-b928-f638a254fe55" providerId="AD" clId="Web-{FE7262A7-063A-D77A-23B1-B8D0DAF58B13}" dt="2026-03-04T11:23:50.523" v="51" actId="20577"/>
          <ac:spMkLst>
            <pc:docMk/>
            <pc:sldMk cId="789459777" sldId="281"/>
            <ac:spMk id="57" creationId="{529E8431-3625-4194-FBB3-35CECF0E5724}"/>
          </ac:spMkLst>
        </pc:spChg>
        <pc:spChg chg="mod">
          <ac:chgData name="Gaimukhe, Riya" userId="S::riya.gaimukhe@capgemini.com::b8f55e00-efeb-4247-b928-f638a254fe55" providerId="AD" clId="Web-{FE7262A7-063A-D77A-23B1-B8D0DAF58B13}" dt="2026-03-04T11:24:04.602" v="55" actId="20577"/>
          <ac:spMkLst>
            <pc:docMk/>
            <pc:sldMk cId="789459777" sldId="281"/>
            <ac:spMk id="58" creationId="{702378ED-A5AC-72DD-4760-95248BD07CBC}"/>
          </ac:spMkLst>
        </pc:spChg>
      </pc:sldChg>
      <pc:sldChg chg="del">
        <pc:chgData name="Gaimukhe, Riya" userId="S::riya.gaimukhe@capgemini.com::b8f55e00-efeb-4247-b928-f638a254fe55" providerId="AD" clId="Web-{FE7262A7-063A-D77A-23B1-B8D0DAF58B13}" dt="2026-03-04T11:24:25.509" v="56"/>
        <pc:sldMkLst>
          <pc:docMk/>
          <pc:sldMk cId="1679356203" sldId="282"/>
        </pc:sldMkLst>
      </pc:sldChg>
      <pc:sldChg chg="del">
        <pc:chgData name="Gaimukhe, Riya" userId="S::riya.gaimukhe@capgemini.com::b8f55e00-efeb-4247-b928-f638a254fe55" providerId="AD" clId="Web-{FE7262A7-063A-D77A-23B1-B8D0DAF58B13}" dt="2026-03-04T11:27:02.295" v="61"/>
        <pc:sldMkLst>
          <pc:docMk/>
          <pc:sldMk cId="3580568054" sldId="2147373575"/>
        </pc:sldMkLst>
      </pc:sldChg>
      <pc:sldChg chg="add del">
        <pc:chgData name="Gaimukhe, Riya" userId="S::riya.gaimukhe@capgemini.com::b8f55e00-efeb-4247-b928-f638a254fe55" providerId="AD" clId="Web-{FE7262A7-063A-D77A-23B1-B8D0DAF58B13}" dt="2026-03-04T11:27:15.701" v="63"/>
        <pc:sldMkLst>
          <pc:docMk/>
          <pc:sldMk cId="3433109439" sldId="2147373577"/>
        </pc:sldMkLst>
      </pc:sldChg>
      <pc:sldChg chg="del">
        <pc:chgData name="Gaimukhe, Riya" userId="S::riya.gaimukhe@capgemini.com::b8f55e00-efeb-4247-b928-f638a254fe55" providerId="AD" clId="Web-{FE7262A7-063A-D77A-23B1-B8D0DAF58B13}" dt="2026-03-04T11:07:51.077" v="6"/>
        <pc:sldMkLst>
          <pc:docMk/>
          <pc:sldMk cId="1741772238" sldId="2147483626"/>
        </pc:sldMkLst>
      </pc:sldChg>
      <pc:sldChg chg="modSp">
        <pc:chgData name="Gaimukhe, Riya" userId="S::riya.gaimukhe@capgemini.com::b8f55e00-efeb-4247-b928-f638a254fe55" providerId="AD" clId="Web-{FE7262A7-063A-D77A-23B1-B8D0DAF58B13}" dt="2026-03-04T11:09:46.831" v="14" actId="20577"/>
        <pc:sldMkLst>
          <pc:docMk/>
          <pc:sldMk cId="1750649233" sldId="2147483629"/>
        </pc:sldMkLst>
        <pc:spChg chg="mod">
          <ac:chgData name="Gaimukhe, Riya" userId="S::riya.gaimukhe@capgemini.com::b8f55e00-efeb-4247-b928-f638a254fe55" providerId="AD" clId="Web-{FE7262A7-063A-D77A-23B1-B8D0DAF58B13}" dt="2026-03-04T11:09:01.236" v="8" actId="20577"/>
          <ac:spMkLst>
            <pc:docMk/>
            <pc:sldMk cId="1750649233" sldId="2147483629"/>
            <ac:spMk id="4" creationId="{285EBB8C-89FB-8626-295F-13A0436F9FBE}"/>
          </ac:spMkLst>
        </pc:spChg>
        <pc:spChg chg="mod">
          <ac:chgData name="Gaimukhe, Riya" userId="S::riya.gaimukhe@capgemini.com::b8f55e00-efeb-4247-b928-f638a254fe55" providerId="AD" clId="Web-{FE7262A7-063A-D77A-23B1-B8D0DAF58B13}" dt="2026-03-04T11:09:46.831" v="14" actId="20577"/>
          <ac:spMkLst>
            <pc:docMk/>
            <pc:sldMk cId="1750649233" sldId="2147483629"/>
            <ac:spMk id="5" creationId="{E395FB61-69CA-7D30-0334-78B268BD1526}"/>
          </ac:spMkLst>
        </pc:spChg>
      </pc:sldChg>
      <pc:sldChg chg="modSp">
        <pc:chgData name="Gaimukhe, Riya" userId="S::riya.gaimukhe@capgemini.com::b8f55e00-efeb-4247-b928-f638a254fe55" providerId="AD" clId="Web-{FE7262A7-063A-D77A-23B1-B8D0DAF58B13}" dt="2026-03-04T11:22:30.442" v="44" actId="20577"/>
        <pc:sldMkLst>
          <pc:docMk/>
          <pc:sldMk cId="2368270933" sldId="2147483639"/>
        </pc:sldMkLst>
        <pc:spChg chg="mod">
          <ac:chgData name="Gaimukhe, Riya" userId="S::riya.gaimukhe@capgemini.com::b8f55e00-efeb-4247-b928-f638a254fe55" providerId="AD" clId="Web-{FE7262A7-063A-D77A-23B1-B8D0DAF58B13}" dt="2026-03-04T11:22:30.442" v="44" actId="20577"/>
          <ac:spMkLst>
            <pc:docMk/>
            <pc:sldMk cId="2368270933" sldId="2147483639"/>
            <ac:spMk id="138" creationId="{6674650A-B299-64F9-C3C0-F626C810B624}"/>
          </ac:spMkLst>
        </pc:spChg>
      </pc:sldChg>
      <pc:sldChg chg="modSp">
        <pc:chgData name="Gaimukhe, Riya" userId="S::riya.gaimukhe@capgemini.com::b8f55e00-efeb-4247-b928-f638a254fe55" providerId="AD" clId="Web-{FE7262A7-063A-D77A-23B1-B8D0DAF58B13}" dt="2026-03-04T11:21:49.643" v="36" actId="20577"/>
        <pc:sldMkLst>
          <pc:docMk/>
          <pc:sldMk cId="1848293553" sldId="2147483641"/>
        </pc:sldMkLst>
        <pc:spChg chg="mod">
          <ac:chgData name="Gaimukhe, Riya" userId="S::riya.gaimukhe@capgemini.com::b8f55e00-efeb-4247-b928-f638a254fe55" providerId="AD" clId="Web-{FE7262A7-063A-D77A-23B1-B8D0DAF58B13}" dt="2026-03-04T11:21:36.970" v="34" actId="20577"/>
          <ac:spMkLst>
            <pc:docMk/>
            <pc:sldMk cId="1848293553" sldId="2147483641"/>
            <ac:spMk id="15" creationId="{5D196F61-C5B9-50DC-07A4-27D8B1AD86EB}"/>
          </ac:spMkLst>
        </pc:spChg>
        <pc:spChg chg="mod">
          <ac:chgData name="Gaimukhe, Riya" userId="S::riya.gaimukhe@capgemini.com::b8f55e00-efeb-4247-b928-f638a254fe55" providerId="AD" clId="Web-{FE7262A7-063A-D77A-23B1-B8D0DAF58B13}" dt="2026-03-04T11:21:49.643" v="36" actId="20577"/>
          <ac:spMkLst>
            <pc:docMk/>
            <pc:sldMk cId="1848293553" sldId="2147483641"/>
            <ac:spMk id="62" creationId="{95E539C3-A7A1-E8DD-C26B-A0FCD02D4380}"/>
          </ac:spMkLst>
        </pc:spChg>
      </pc:sldChg>
      <pc:sldChg chg="del">
        <pc:chgData name="Gaimukhe, Riya" userId="S::riya.gaimukhe@capgemini.com::b8f55e00-efeb-4247-b928-f638a254fe55" providerId="AD" clId="Web-{FE7262A7-063A-D77A-23B1-B8D0DAF58B13}" dt="2026-03-04T11:07:53.812" v="7"/>
        <pc:sldMkLst>
          <pc:docMk/>
          <pc:sldMk cId="1836595894" sldId="21474836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FD5A2C-B697-4037-88E6-2B4BD2448C2A}" type="datetimeFigureOut">
              <a:rPr lang="en-IN" smtClean="0"/>
              <a:t>04-03-2026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DA3D50-3105-4415-91F1-76AD3D44DEA8}" type="slidenum">
              <a:rPr lang="en-IN" smtClean="0"/>
              <a:t>‹#›</a:t>
            </a:fld>
            <a:endParaRPr lang="en-IN"/>
          </a:p>
        </p:txBody>
      </p:sp>
    </p:spTree>
    <p:extLst>
      <p:ext uri="{BB962C8B-B14F-4D97-AF65-F5344CB8AC3E}">
        <p14:creationId xmlns:p14="http://schemas.microsoft.com/office/powerpoint/2010/main" val="1247258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1DA3D50-3105-4415-91F1-76AD3D44DEA8}" type="slidenum">
              <a:rPr lang="en-IN" smtClean="0"/>
              <a:t>1</a:t>
            </a:fld>
            <a:endParaRPr lang="en-IN"/>
          </a:p>
        </p:txBody>
      </p:sp>
    </p:spTree>
    <p:extLst>
      <p:ext uri="{BB962C8B-B14F-4D97-AF65-F5344CB8AC3E}">
        <p14:creationId xmlns:p14="http://schemas.microsoft.com/office/powerpoint/2010/main" val="748277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5765B-8436-FAE8-1831-C4E863D02C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12367F-F732-0642-E303-FDE8069D2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21FE34-49FA-B9FD-E3C7-629CE6F5B1E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0D10A17-C04D-EE20-5FC2-2E4BB9A2A206}"/>
              </a:ext>
            </a:extLst>
          </p:cNvPr>
          <p:cNvSpPr>
            <a:spLocks noGrp="1"/>
          </p:cNvSpPr>
          <p:nvPr>
            <p:ph type="sldNum" sz="quarter" idx="5"/>
          </p:nvPr>
        </p:nvSpPr>
        <p:spPr/>
        <p:txBody>
          <a:bodyPr/>
          <a:lstStyle/>
          <a:p>
            <a:fld id="{01DA3D50-3105-4415-91F1-76AD3D44DEA8}" type="slidenum">
              <a:rPr lang="en-IN" smtClean="0"/>
              <a:t>14</a:t>
            </a:fld>
            <a:endParaRPr lang="en-IN"/>
          </a:p>
        </p:txBody>
      </p:sp>
    </p:spTree>
    <p:extLst>
      <p:ext uri="{BB962C8B-B14F-4D97-AF65-F5344CB8AC3E}">
        <p14:creationId xmlns:p14="http://schemas.microsoft.com/office/powerpoint/2010/main" val="1559005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rtl="0" fontAlgn="base">
              <a:buFont typeface="Arial" panose="020B0604020202020204" pitchFamily="34" charset="0"/>
              <a:buNone/>
            </a:pPr>
            <a:endParaRPr lang="en-GB" sz="1800" b="0" i="0">
              <a:effectLs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AED23D-A9E7-4333-BE9B-F99E056C1F9B}" type="slidenum">
              <a:rPr kumimoji="0" lang="en-GB" sz="1200" b="0" i="0" u="none" strike="noStrike" kern="1200" cap="none" spc="0" normalizeH="0" baseline="0" noProof="0" smtClean="0">
                <a:ln>
                  <a:noFill/>
                </a:ln>
                <a:solidFill>
                  <a:prstClr val="black"/>
                </a:solidFill>
                <a:effectLst/>
                <a:uLnTx/>
                <a:uFillTx/>
                <a:latin typeface="Ubuntu" panose="020B05040306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Tree>
    <p:extLst>
      <p:ext uri="{BB962C8B-B14F-4D97-AF65-F5344CB8AC3E}">
        <p14:creationId xmlns:p14="http://schemas.microsoft.com/office/powerpoint/2010/main" val="3339555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9698C-7A47-8782-F4B7-DB2D975C54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A9B74-31DE-FD75-9763-7F46F2E248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02D6A5-FA7A-1E4E-CA76-398A995134D8}"/>
              </a:ext>
            </a:extLst>
          </p:cNvPr>
          <p:cNvSpPr>
            <a:spLocks noGrp="1"/>
          </p:cNvSpPr>
          <p:nvPr>
            <p:ph type="body" idx="1"/>
          </p:nvPr>
        </p:nvSpPr>
        <p:spPr/>
        <p:txBody>
          <a:bodyPr/>
          <a:lstStyle/>
          <a:p>
            <a:pPr marL="0" indent="0" algn="l" rtl="0" fontAlgn="base">
              <a:buFont typeface="Arial" panose="020B0604020202020204" pitchFamily="34" charset="0"/>
              <a:buNone/>
            </a:pPr>
            <a:endParaRPr lang="en-GB" sz="1800" b="0" i="0">
              <a:effectLst/>
            </a:endParaRPr>
          </a:p>
        </p:txBody>
      </p:sp>
      <p:sp>
        <p:nvSpPr>
          <p:cNvPr id="4" name="Slide Number Placeholder 3">
            <a:extLst>
              <a:ext uri="{FF2B5EF4-FFF2-40B4-BE49-F238E27FC236}">
                <a16:creationId xmlns:a16="http://schemas.microsoft.com/office/drawing/2014/main" id="{A157A485-389D-4026-066F-2FC508050A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AED23D-A9E7-4333-BE9B-F99E056C1F9B}" type="slidenum">
              <a:rPr kumimoji="0" lang="en-GB" sz="1200" b="0" i="0" u="none" strike="noStrike" kern="1200" cap="none" spc="0" normalizeH="0" baseline="0" noProof="0" smtClean="0">
                <a:ln>
                  <a:noFill/>
                </a:ln>
                <a:solidFill>
                  <a:prstClr val="black"/>
                </a:solidFill>
                <a:effectLst/>
                <a:uLnTx/>
                <a:uFillTx/>
                <a:latin typeface="Ubuntu" panose="020B0504030602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Tree>
    <p:extLst>
      <p:ext uri="{BB962C8B-B14F-4D97-AF65-F5344CB8AC3E}">
        <p14:creationId xmlns:p14="http://schemas.microsoft.com/office/powerpoint/2010/main" val="1682581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5.emf"/><Relationship Id="rId5" Type="http://schemas.openxmlformats.org/officeDocument/2006/relationships/oleObject" Target="../embeddings/oleObject1.bin"/><Relationship Id="rId4" Type="http://schemas.openxmlformats.org/officeDocument/2006/relationships/image" Target="../media/image1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2.png"/><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image" Target="../media/image21.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20.png"/><Relationship Id="rId5" Type="http://schemas.openxmlformats.org/officeDocument/2006/relationships/image" Target="../media/image17.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5.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hyperlink" Target="http://www.linkedin.com/company/capgemini-invent" TargetMode="External"/><Relationship Id="rId7" Type="http://schemas.openxmlformats.org/officeDocument/2006/relationships/hyperlink" Target="https://twitter.com/CapgeminiInvent" TargetMode="External"/><Relationship Id="rId12"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Master" Target="../slideMasters/slideMaster2.xml"/><Relationship Id="rId6" Type="http://schemas.openxmlformats.org/officeDocument/2006/relationships/image" Target="../media/image17.png"/><Relationship Id="rId11" Type="http://schemas.openxmlformats.org/officeDocument/2006/relationships/hyperlink" Target="https://de-de.facebook.com/CapgeminiInventDACH/" TargetMode="External"/><Relationship Id="rId5" Type="http://schemas.openxmlformats.org/officeDocument/2006/relationships/hyperlink" Target="http://www.slideshare.net/capgemini" TargetMode="External"/><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hyperlink" Target="http://www.youtube.com/capgeminimedia"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15.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hyperlink" Target="http://www.linkedin.com/company/capgemini" TargetMode="External"/><Relationship Id="rId12" Type="http://schemas.openxmlformats.org/officeDocument/2006/relationships/image" Target="../media/image30.png"/><Relationship Id="rId2" Type="http://schemas.openxmlformats.org/officeDocument/2006/relationships/image" Target="../media/image24.png"/><Relationship Id="rId1" Type="http://schemas.openxmlformats.org/officeDocument/2006/relationships/slideMaster" Target="../slideMasters/slideMaster2.xml"/><Relationship Id="rId6" Type="http://schemas.openxmlformats.org/officeDocument/2006/relationships/image" Target="../media/image27.png"/><Relationship Id="rId11" Type="http://schemas.openxmlformats.org/officeDocument/2006/relationships/hyperlink" Target="http://www.youtube.com/capgeminimedia" TargetMode="External"/><Relationship Id="rId5" Type="http://schemas.openxmlformats.org/officeDocument/2006/relationships/hyperlink" Target="http://www.facebook.com/capgemini" TargetMode="External"/><Relationship Id="rId10" Type="http://schemas.openxmlformats.org/officeDocument/2006/relationships/image" Target="../media/image29.png"/><Relationship Id="rId4" Type="http://schemas.openxmlformats.org/officeDocument/2006/relationships/image" Target="../media/image26.svg"/><Relationship Id="rId9" Type="http://schemas.openxmlformats.org/officeDocument/2006/relationships/hyperlink" Target="http://www.slideshare.net/capgemini" TargetMode="External"/></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5.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chemeClr val="accent4"/>
        </a:solidFill>
        <a:effectLst/>
      </p:bgPr>
    </p:bg>
    <p:spTree>
      <p:nvGrpSpPr>
        <p:cNvPr id="1" name=""/>
        <p:cNvGrpSpPr/>
        <p:nvPr/>
      </p:nvGrpSpPr>
      <p:grpSpPr>
        <a:xfrm>
          <a:off x="0" y="0"/>
          <a:ext cx="0" cy="0"/>
          <a:chOff x="0" y="0"/>
          <a:chExt cx="0" cy="0"/>
        </a:xfrm>
      </p:grpSpPr>
      <p:pic>
        <p:nvPicPr>
          <p:cNvPr id="5" name="Picture 4" descr="A person standing on a road with a skateboard&#10;&#10;Description automatically generated">
            <a:extLst>
              <a:ext uri="{FF2B5EF4-FFF2-40B4-BE49-F238E27FC236}">
                <a16:creationId xmlns:a16="http://schemas.microsoft.com/office/drawing/2014/main" id="{51838DA0-0FC6-8997-08F0-A7E9FF5274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Picture 12" descr="A person standing on a road with a skateboard&#10;&#10;Description automatically generated">
            <a:extLst>
              <a:ext uri="{FF2B5EF4-FFF2-40B4-BE49-F238E27FC236}">
                <a16:creationId xmlns:a16="http://schemas.microsoft.com/office/drawing/2014/main" id="{840AC24E-E930-D5D7-1DA6-9EB330EECA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7" name="Picture 16" descr="A black grid with white lines&#10;&#10;Description automatically generated" hidden="1">
            <a:extLst>
              <a:ext uri="{FF2B5EF4-FFF2-40B4-BE49-F238E27FC236}">
                <a16:creationId xmlns:a16="http://schemas.microsoft.com/office/drawing/2014/main" id="{050AEEB9-2DDF-025E-F506-CC51BA803A5C}"/>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graphicFrame>
        <p:nvGraphicFramePr>
          <p:cNvPr id="2" name="Table 8" hidden="1">
            <a:extLst>
              <a:ext uri="{FF2B5EF4-FFF2-40B4-BE49-F238E27FC236}">
                <a16:creationId xmlns:a16="http://schemas.microsoft.com/office/drawing/2014/main" id="{12B303A4-7AA5-71DF-7D57-6F5885D93B33}"/>
              </a:ext>
            </a:extLst>
          </p:cNvPr>
          <p:cNvGraphicFramePr>
            <a:graphicFrameLocks/>
          </p:cNvGraphicFramePr>
          <p:nvPr userDrawn="1"/>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11" name="Title">
            <a:extLst>
              <a:ext uri="{FF2B5EF4-FFF2-40B4-BE49-F238E27FC236}">
                <a16:creationId xmlns:a16="http://schemas.microsoft.com/office/drawing/2014/main" id="{84487DEA-8305-4D16-E7EE-2409DD6863A5}"/>
              </a:ext>
            </a:extLst>
          </p:cNvPr>
          <p:cNvSpPr>
            <a:spLocks noGrp="1"/>
          </p:cNvSpPr>
          <p:nvPr>
            <p:ph type="ctrTitle" hasCustomPrompt="1"/>
          </p:nvPr>
        </p:nvSpPr>
        <p:spPr>
          <a:xfrm>
            <a:off x="371793" y="2210171"/>
            <a:ext cx="4396229" cy="1329595"/>
          </a:xfrm>
        </p:spPr>
        <p:txBody>
          <a:bodyPr wrap="square" lIns="0" rIns="0" bIns="0" anchor="b" anchorCtr="0">
            <a:spAutoFit/>
          </a:bodyPr>
          <a:lstStyle>
            <a:lvl1pPr algn="l">
              <a:lnSpc>
                <a:spcPct val="90000"/>
              </a:lnSpc>
              <a:defRPr sz="4800" b="1" baseline="0">
                <a:solidFill>
                  <a:schemeClr val="bg1"/>
                </a:solidFill>
                <a:latin typeface="+mn-lt"/>
              </a:defRPr>
            </a:lvl1pPr>
          </a:lstStyle>
          <a:p>
            <a:r>
              <a:rPr lang="en-US"/>
              <a:t>Title of the</a:t>
            </a:r>
            <a:br>
              <a:rPr lang="en-US"/>
            </a:br>
            <a:r>
              <a:rPr lang="en-US"/>
              <a:t>presentation</a:t>
            </a:r>
            <a:endParaRPr lang="en-GB"/>
          </a:p>
        </p:txBody>
      </p:sp>
      <p:sp>
        <p:nvSpPr>
          <p:cNvPr id="12" name="Subtitle">
            <a:extLst>
              <a:ext uri="{FF2B5EF4-FFF2-40B4-BE49-F238E27FC236}">
                <a16:creationId xmlns:a16="http://schemas.microsoft.com/office/drawing/2014/main" id="{A397174A-2B8A-34C1-921A-E710C09F1946}"/>
              </a:ext>
            </a:extLst>
          </p:cNvPr>
          <p:cNvSpPr>
            <a:spLocks noGrp="1"/>
          </p:cNvSpPr>
          <p:nvPr>
            <p:ph type="subTitle" idx="1" hasCustomPrompt="1"/>
          </p:nvPr>
        </p:nvSpPr>
        <p:spPr>
          <a:xfrm>
            <a:off x="392113" y="3628922"/>
            <a:ext cx="4375909" cy="307777"/>
          </a:xfrm>
        </p:spPr>
        <p:txBody>
          <a:bodyPr wrap="square" lIns="0" tIns="0" r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Placeholder for subtitle</a:t>
            </a:r>
            <a:endParaRPr lang="en-GB"/>
          </a:p>
        </p:txBody>
      </p:sp>
      <p:pic>
        <p:nvPicPr>
          <p:cNvPr id="6" name="Picture 5">
            <a:extLst>
              <a:ext uri="{FF2B5EF4-FFF2-40B4-BE49-F238E27FC236}">
                <a16:creationId xmlns:a16="http://schemas.microsoft.com/office/drawing/2014/main" id="{90BD8633-DB99-3E29-12B0-D5EE5D2AED39}"/>
              </a:ext>
            </a:extLst>
          </p:cNvPr>
          <p:cNvPicPr>
            <a:picLocks noChangeAspect="1"/>
          </p:cNvPicPr>
          <p:nvPr userDrawn="1"/>
        </p:nvPicPr>
        <p:blipFill>
          <a:blip r:embed="rId4"/>
          <a:stretch>
            <a:fillRect/>
          </a:stretch>
        </p:blipFill>
        <p:spPr>
          <a:xfrm>
            <a:off x="392113" y="6102440"/>
            <a:ext cx="1589594" cy="353745"/>
          </a:xfrm>
          <a:prstGeom prst="rect">
            <a:avLst/>
          </a:prstGeom>
        </p:spPr>
      </p:pic>
    </p:spTree>
    <p:extLst>
      <p:ext uri="{BB962C8B-B14F-4D97-AF65-F5344CB8AC3E}">
        <p14:creationId xmlns:p14="http://schemas.microsoft.com/office/powerpoint/2010/main" val="4229097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2_Custom Layout">
    <p:bg>
      <p:bgPr>
        <a:solidFill>
          <a:schemeClr val="accent4"/>
        </a:solidFill>
        <a:effectLst/>
      </p:bgPr>
    </p:bg>
    <p:spTree>
      <p:nvGrpSpPr>
        <p:cNvPr id="1" name=""/>
        <p:cNvGrpSpPr/>
        <p:nvPr/>
      </p:nvGrpSpPr>
      <p:grpSpPr>
        <a:xfrm>
          <a:off x="0" y="0"/>
          <a:ext cx="0" cy="0"/>
          <a:chOff x="0" y="0"/>
          <a:chExt cx="0" cy="0"/>
        </a:xfrm>
      </p:grpSpPr>
      <p:pic>
        <p:nvPicPr>
          <p:cNvPr id="2" name="Picture 1" descr="A person looking at a city at night&#10;&#10;Description automatically generated">
            <a:extLst>
              <a:ext uri="{FF2B5EF4-FFF2-40B4-BE49-F238E27FC236}">
                <a16:creationId xmlns:a16="http://schemas.microsoft.com/office/drawing/2014/main" id="{9291B5CF-A56A-13B8-6016-C4D0803C6D1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0008" b="13171"/>
          <a:stretch/>
        </p:blipFill>
        <p:spPr>
          <a:xfrm>
            <a:off x="1377696" y="1"/>
            <a:ext cx="10814304" cy="3374390"/>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5457757" y="639563"/>
            <a:ext cx="5214780" cy="368853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3125247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3_Custom Layout">
    <p:bg>
      <p:bgPr>
        <a:solidFill>
          <a:schemeClr val="accent4"/>
        </a:solidFill>
        <a:effectLst/>
      </p:bgPr>
    </p:bg>
    <p:spTree>
      <p:nvGrpSpPr>
        <p:cNvPr id="1" name=""/>
        <p:cNvGrpSpPr/>
        <p:nvPr/>
      </p:nvGrpSpPr>
      <p:grpSpPr>
        <a:xfrm>
          <a:off x="0" y="0"/>
          <a:ext cx="0" cy="0"/>
          <a:chOff x="0" y="0"/>
          <a:chExt cx="0" cy="0"/>
        </a:xfrm>
      </p:grpSpPr>
      <p:pic>
        <p:nvPicPr>
          <p:cNvPr id="5" name="Picture 4" descr="A person sitting on a rock with a computer in front of a city&#10;&#10;Description automatically generated">
            <a:extLst>
              <a:ext uri="{FF2B5EF4-FFF2-40B4-BE49-F238E27FC236}">
                <a16:creationId xmlns:a16="http://schemas.microsoft.com/office/drawing/2014/main" id="{D18481AC-1C17-CC1B-F779-09E571620F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071" b="18043"/>
          <a:stretch/>
        </p:blipFill>
        <p:spPr>
          <a:xfrm>
            <a:off x="1377696" y="1"/>
            <a:ext cx="10814304" cy="3374389"/>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6266827" y="152588"/>
            <a:ext cx="5214780" cy="368853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2683411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4_Custom Layout">
    <p:bg>
      <p:bgPr>
        <a:solidFill>
          <a:schemeClr val="accent4"/>
        </a:solidFill>
        <a:effectLst/>
      </p:bgPr>
    </p:bg>
    <p:spTree>
      <p:nvGrpSpPr>
        <p:cNvPr id="1" name=""/>
        <p:cNvGrpSpPr/>
        <p:nvPr/>
      </p:nvGrpSpPr>
      <p:grpSpPr>
        <a:xfrm>
          <a:off x="0" y="0"/>
          <a:ext cx="0" cy="0"/>
          <a:chOff x="0" y="0"/>
          <a:chExt cx="0" cy="0"/>
        </a:xfrm>
      </p:grpSpPr>
      <p:pic>
        <p:nvPicPr>
          <p:cNvPr id="2" name="Picture 1" descr="A metal structure with blue lights&#10;&#10;Description automatically generated with medium confidence">
            <a:extLst>
              <a:ext uri="{FF2B5EF4-FFF2-40B4-BE49-F238E27FC236}">
                <a16:creationId xmlns:a16="http://schemas.microsoft.com/office/drawing/2014/main" id="{2E56D678-7573-767E-DB19-43292817CD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6581" b="36673"/>
          <a:stretch/>
        </p:blipFill>
        <p:spPr>
          <a:xfrm>
            <a:off x="1377696" y="1"/>
            <a:ext cx="10814304" cy="3374389"/>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3729638" y="764369"/>
            <a:ext cx="4732723" cy="334756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3973855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5_Custom Layout">
    <p:bg>
      <p:bgPr>
        <a:solidFill>
          <a:schemeClr val="accent4"/>
        </a:solidFill>
        <a:effectLst/>
      </p:bgPr>
    </p:bg>
    <p:spTree>
      <p:nvGrpSpPr>
        <p:cNvPr id="1" name=""/>
        <p:cNvGrpSpPr/>
        <p:nvPr/>
      </p:nvGrpSpPr>
      <p:grpSpPr>
        <a:xfrm>
          <a:off x="0" y="0"/>
          <a:ext cx="0" cy="0"/>
          <a:chOff x="0" y="0"/>
          <a:chExt cx="0" cy="0"/>
        </a:xfrm>
      </p:grpSpPr>
      <p:pic>
        <p:nvPicPr>
          <p:cNvPr id="4" name="Picture 3" descr="A person looking at a phone&#10;&#10;Description automatically generated">
            <a:extLst>
              <a:ext uri="{FF2B5EF4-FFF2-40B4-BE49-F238E27FC236}">
                <a16:creationId xmlns:a16="http://schemas.microsoft.com/office/drawing/2014/main" id="{114FEC20-9838-DD37-2FDB-B9158C63F3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493" b="18493"/>
          <a:stretch/>
        </p:blipFill>
        <p:spPr>
          <a:xfrm>
            <a:off x="1377696" y="3"/>
            <a:ext cx="10814304" cy="3374388"/>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80717" y="388938"/>
            <a:ext cx="4732723" cy="334756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1980063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9_Only Title">
    <p:bg>
      <p:bgPr>
        <a:solidFill>
          <a:schemeClr val="accent4"/>
        </a:solidFill>
        <a:effectLst/>
      </p:bgPr>
    </p:bg>
    <p:spTree>
      <p:nvGrpSpPr>
        <p:cNvPr id="1" name=""/>
        <p:cNvGrpSpPr/>
        <p:nvPr/>
      </p:nvGrpSpPr>
      <p:grpSpPr>
        <a:xfrm>
          <a:off x="0" y="0"/>
          <a:ext cx="0" cy="0"/>
          <a:chOff x="0" y="0"/>
          <a:chExt cx="0" cy="0"/>
        </a:xfrm>
      </p:grpSpPr>
      <p:pic>
        <p:nvPicPr>
          <p:cNvPr id="2" name="Picture 1" descr="A person standing on a road with a backpack&#10;&#10;Description automatically generated">
            <a:extLst>
              <a:ext uri="{FF2B5EF4-FFF2-40B4-BE49-F238E27FC236}">
                <a16:creationId xmlns:a16="http://schemas.microsoft.com/office/drawing/2014/main" id="{B6FF7535-0A4B-7337-398A-878CF9864E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465" t="33142" r="37407" b="5667"/>
          <a:stretch/>
        </p:blipFill>
        <p:spPr>
          <a:xfrm>
            <a:off x="7981122" y="1327148"/>
            <a:ext cx="2864355" cy="5530852"/>
          </a:xfrm>
          <a:prstGeom prst="rect">
            <a:avLst/>
          </a:prstGeom>
        </p:spPr>
      </p:pic>
      <p:sp>
        <p:nvSpPr>
          <p:cNvPr id="5" name="Title Placeholder 1">
            <a:extLst>
              <a:ext uri="{FF2B5EF4-FFF2-40B4-BE49-F238E27FC236}">
                <a16:creationId xmlns:a16="http://schemas.microsoft.com/office/drawing/2014/main" id="{1C406876-8089-A3DE-0DEB-44F6F6AD1983}"/>
              </a:ext>
            </a:extLst>
          </p:cNvPr>
          <p:cNvSpPr>
            <a:spLocks noGrp="1"/>
          </p:cNvSpPr>
          <p:nvPr>
            <p:ph type="title" hasCustomPrompt="1"/>
          </p:nvPr>
        </p:nvSpPr>
        <p:spPr>
          <a:xfrm>
            <a:off x="404813" y="885228"/>
            <a:ext cx="7260907" cy="716711"/>
          </a:xfrm>
          <a:prstGeom prst="rect">
            <a:avLst/>
          </a:prstGeom>
        </p:spPr>
        <p:txBody>
          <a:bodyPr vert="horz" lIns="0" tIns="0" rIns="0" bIns="0" rtlCol="0" anchor="t">
            <a:noAutofit/>
          </a:bodyPr>
          <a:lstStyle>
            <a:lvl1pPr>
              <a:defRPr sz="3200">
                <a:solidFill>
                  <a:schemeClr val="bg1"/>
                </a:solidFill>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pic>
        <p:nvPicPr>
          <p:cNvPr id="9" name="Image 27">
            <a:extLst>
              <a:ext uri="{FF2B5EF4-FFF2-40B4-BE49-F238E27FC236}">
                <a16:creationId xmlns:a16="http://schemas.microsoft.com/office/drawing/2014/main" id="{4446A5BE-A2F7-FE0B-9A9B-039495453428}"/>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tretch/>
        </p:blipFill>
        <p:spPr>
          <a:xfrm>
            <a:off x="6600568" y="2900575"/>
            <a:ext cx="5754639" cy="2674636"/>
          </a:xfrm>
          <a:prstGeom prst="rect">
            <a:avLst/>
          </a:prstGeom>
        </p:spPr>
      </p:pic>
      <p:sp>
        <p:nvSpPr>
          <p:cNvPr id="10" name="Rectangle 27">
            <a:extLst>
              <a:ext uri="{FF2B5EF4-FFF2-40B4-BE49-F238E27FC236}">
                <a16:creationId xmlns:a16="http://schemas.microsoft.com/office/drawing/2014/main" id="{1513D009-1304-3B03-CB03-4C533D67ABB3}"/>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11" name="Rectangle 43">
            <a:extLst>
              <a:ext uri="{FF2B5EF4-FFF2-40B4-BE49-F238E27FC236}">
                <a16:creationId xmlns:a16="http://schemas.microsoft.com/office/drawing/2014/main" id="{2D22B389-E499-7D7C-0F6C-FF4F1101D141}"/>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132477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1_Only Title">
    <p:bg>
      <p:bgPr>
        <a:solidFill>
          <a:schemeClr val="accent4"/>
        </a:solidFill>
        <a:effectLst/>
      </p:bgPr>
    </p:bg>
    <p:spTree>
      <p:nvGrpSpPr>
        <p:cNvPr id="1" name=""/>
        <p:cNvGrpSpPr/>
        <p:nvPr/>
      </p:nvGrpSpPr>
      <p:grpSpPr>
        <a:xfrm>
          <a:off x="0" y="0"/>
          <a:ext cx="0" cy="0"/>
          <a:chOff x="0" y="0"/>
          <a:chExt cx="0" cy="0"/>
        </a:xfrm>
      </p:grpSpPr>
      <p:pic>
        <p:nvPicPr>
          <p:cNvPr id="2" name="Picture 1" descr="A person standing on a road with a backpack&#10;&#10;Description automatically generated">
            <a:extLst>
              <a:ext uri="{FF2B5EF4-FFF2-40B4-BE49-F238E27FC236}">
                <a16:creationId xmlns:a16="http://schemas.microsoft.com/office/drawing/2014/main" id="{B6FF7535-0A4B-7337-398A-878CF9864E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465" t="33142" r="37407" b="5667"/>
          <a:stretch/>
        </p:blipFill>
        <p:spPr>
          <a:xfrm>
            <a:off x="7981122" y="1327148"/>
            <a:ext cx="2864355" cy="5530852"/>
          </a:xfrm>
          <a:prstGeom prst="rect">
            <a:avLst/>
          </a:prstGeom>
        </p:spPr>
      </p:pic>
      <p:pic>
        <p:nvPicPr>
          <p:cNvPr id="9" name="Image 27">
            <a:extLst>
              <a:ext uri="{FF2B5EF4-FFF2-40B4-BE49-F238E27FC236}">
                <a16:creationId xmlns:a16="http://schemas.microsoft.com/office/drawing/2014/main" id="{4446A5BE-A2F7-FE0B-9A9B-039495453428}"/>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tretch/>
        </p:blipFill>
        <p:spPr>
          <a:xfrm>
            <a:off x="6600568" y="2900575"/>
            <a:ext cx="5754639" cy="2674636"/>
          </a:xfrm>
          <a:prstGeom prst="rect">
            <a:avLst/>
          </a:prstGeom>
        </p:spPr>
      </p:pic>
      <p:sp>
        <p:nvSpPr>
          <p:cNvPr id="10" name="Rectangle 27">
            <a:extLst>
              <a:ext uri="{FF2B5EF4-FFF2-40B4-BE49-F238E27FC236}">
                <a16:creationId xmlns:a16="http://schemas.microsoft.com/office/drawing/2014/main" id="{1513D009-1304-3B03-CB03-4C533D67ABB3}"/>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11" name="Rectangle 43">
            <a:extLst>
              <a:ext uri="{FF2B5EF4-FFF2-40B4-BE49-F238E27FC236}">
                <a16:creationId xmlns:a16="http://schemas.microsoft.com/office/drawing/2014/main" id="{2D22B389-E499-7D7C-0F6C-FF4F1101D141}"/>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3" name="Title 2">
            <a:extLst>
              <a:ext uri="{FF2B5EF4-FFF2-40B4-BE49-F238E27FC236}">
                <a16:creationId xmlns:a16="http://schemas.microsoft.com/office/drawing/2014/main" id="{461964DB-254F-4A52-402A-A8CCBB07E03C}"/>
              </a:ext>
            </a:extLst>
          </p:cNvPr>
          <p:cNvSpPr>
            <a:spLocks noGrp="1"/>
          </p:cNvSpPr>
          <p:nvPr>
            <p:ph type="title"/>
          </p:nvPr>
        </p:nvSpPr>
        <p:spPr>
          <a:xfrm>
            <a:off x="420053" y="388938"/>
            <a:ext cx="7561069" cy="716711"/>
          </a:xfrm>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44659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8_Only Title">
    <p:bg>
      <p:bgPr>
        <a:solidFill>
          <a:schemeClr val="accent4"/>
        </a:solidFill>
        <a:effectLst/>
      </p:bgPr>
    </p:bg>
    <p:spTree>
      <p:nvGrpSpPr>
        <p:cNvPr id="1" name=""/>
        <p:cNvGrpSpPr/>
        <p:nvPr/>
      </p:nvGrpSpPr>
      <p:grpSpPr>
        <a:xfrm>
          <a:off x="0" y="0"/>
          <a:ext cx="0" cy="0"/>
          <a:chOff x="0" y="0"/>
          <a:chExt cx="0" cy="0"/>
        </a:xfrm>
      </p:grpSpPr>
      <p:pic>
        <p:nvPicPr>
          <p:cNvPr id="4" name="Picture 3" descr="A metal structure with blue lights&#10;&#10;Description automatically generated with medium confidence">
            <a:extLst>
              <a:ext uri="{FF2B5EF4-FFF2-40B4-BE49-F238E27FC236}">
                <a16:creationId xmlns:a16="http://schemas.microsoft.com/office/drawing/2014/main" id="{AAEA6340-C76B-4859-0478-14AD9749415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3102" r="25293"/>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DE98C87C-A0AB-76EC-2164-119C751A2531}"/>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2"/>
                </a:solidFill>
                <a:latin typeface="Ubuntu" panose="020B0504030602030204" pitchFamily="34" charset="0"/>
                <a:cs typeface="Arial" panose="020B0604020202020204" pitchFamily="34" charset="0"/>
              </a:rPr>
              <a:t>Company Confidential © Capgemini 2024. All rights reserved  |</a:t>
            </a:r>
          </a:p>
        </p:txBody>
      </p:sp>
      <p:sp>
        <p:nvSpPr>
          <p:cNvPr id="9" name="Rectangle 43">
            <a:extLst>
              <a:ext uri="{FF2B5EF4-FFF2-40B4-BE49-F238E27FC236}">
                <a16:creationId xmlns:a16="http://schemas.microsoft.com/office/drawing/2014/main" id="{8CD630E7-2632-2668-1975-D6122C238381}"/>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chemeClr val="bg2"/>
                </a:solidFill>
                <a:latin typeface="Ubuntu" panose="020B0504030602030204" pitchFamily="34" charset="0"/>
                <a:cs typeface="Arial" panose="020B0604020202020204" pitchFamily="34" charset="0"/>
              </a:rPr>
              <a:pPr algn="r"/>
              <a:t>‹#›</a:t>
            </a:fld>
            <a:endParaRPr lang="en-US" sz="800">
              <a:solidFill>
                <a:schemeClr val="bg2"/>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750060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6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holding a phone&#10;&#10;Description automatically generated">
            <a:extLst>
              <a:ext uri="{FF2B5EF4-FFF2-40B4-BE49-F238E27FC236}">
                <a16:creationId xmlns:a16="http://schemas.microsoft.com/office/drawing/2014/main" id="{831BFD43-1C75-D92B-9A4C-60AADD10FF1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846" r="28566"/>
          <a:stretch/>
        </p:blipFill>
        <p:spPr>
          <a:xfrm>
            <a:off x="7981120" y="1411356"/>
            <a:ext cx="4210879"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9F042BE9-42CC-3B30-EF3F-D1E30E150288}"/>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9" name="Rectangle 43">
            <a:extLst>
              <a:ext uri="{FF2B5EF4-FFF2-40B4-BE49-F238E27FC236}">
                <a16:creationId xmlns:a16="http://schemas.microsoft.com/office/drawing/2014/main" id="{AF63D6E5-1713-383A-AB56-317EDF67607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4081928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5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looking at a phone&#10;&#10;Description automatically generated">
            <a:extLst>
              <a:ext uri="{FF2B5EF4-FFF2-40B4-BE49-F238E27FC236}">
                <a16:creationId xmlns:a16="http://schemas.microsoft.com/office/drawing/2014/main" id="{A2B9DECE-9CD2-5A2E-3A4F-9328369667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5760" r="5958"/>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5A382DF0-D282-F62E-C880-BB90A3640D25}"/>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9" name="Rectangle 43">
            <a:extLst>
              <a:ext uri="{FF2B5EF4-FFF2-40B4-BE49-F238E27FC236}">
                <a16:creationId xmlns:a16="http://schemas.microsoft.com/office/drawing/2014/main" id="{EE7F41DD-96D8-19E4-D3AE-44EFCF61447E}"/>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02483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3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sitting on a rock with a computer in front of a city&#10;&#10;Description automatically generated">
            <a:extLst>
              <a:ext uri="{FF2B5EF4-FFF2-40B4-BE49-F238E27FC236}">
                <a16:creationId xmlns:a16="http://schemas.microsoft.com/office/drawing/2014/main" id="{38F372F3-E16A-3959-7D49-49A849EDC8A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6289" r="10343"/>
          <a:stretch/>
        </p:blipFill>
        <p:spPr>
          <a:xfrm>
            <a:off x="7981121" y="1411354"/>
            <a:ext cx="4210878" cy="5421245"/>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EA1B1EE0-0B1A-4943-7E2D-AB948099B89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9" name="Rectangle 43">
            <a:extLst>
              <a:ext uri="{FF2B5EF4-FFF2-40B4-BE49-F238E27FC236}">
                <a16:creationId xmlns:a16="http://schemas.microsoft.com/office/drawing/2014/main" id="{A9CADAA7-C473-C061-860E-3D158922A665}"/>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2861711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2_Only Title">
    <p:bg>
      <p:bgPr>
        <a:solidFill>
          <a:schemeClr val="accent4"/>
        </a:solidFill>
        <a:effectLst/>
      </p:bgPr>
    </p:bg>
    <p:spTree>
      <p:nvGrpSpPr>
        <p:cNvPr id="1" name=""/>
        <p:cNvGrpSpPr/>
        <p:nvPr/>
      </p:nvGrpSpPr>
      <p:grpSpPr>
        <a:xfrm>
          <a:off x="0" y="0"/>
          <a:ext cx="0" cy="0"/>
          <a:chOff x="0" y="0"/>
          <a:chExt cx="0" cy="0"/>
        </a:xfrm>
      </p:grpSpPr>
      <p:pic>
        <p:nvPicPr>
          <p:cNvPr id="7" name="Picture 6" descr="A tall tower with a light shining on it&#10;&#10;Description automatically generated with medium confidence">
            <a:extLst>
              <a:ext uri="{FF2B5EF4-FFF2-40B4-BE49-F238E27FC236}">
                <a16:creationId xmlns:a16="http://schemas.microsoft.com/office/drawing/2014/main" id="{5C0DAAD2-2944-F496-F81D-701A9BF71B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864" r="44509"/>
          <a:stretch/>
        </p:blipFill>
        <p:spPr>
          <a:xfrm>
            <a:off x="7981122" y="1411356"/>
            <a:ext cx="4210877"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398E9666-A37F-4082-F639-BED562082B4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9" name="Rectangle 43">
            <a:extLst>
              <a:ext uri="{FF2B5EF4-FFF2-40B4-BE49-F238E27FC236}">
                <a16:creationId xmlns:a16="http://schemas.microsoft.com/office/drawing/2014/main" id="{734E8344-3D33-77C6-A7E7-A13470D503E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319998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4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looking at a city at night&#10;&#10;Description automatically generated">
            <a:extLst>
              <a:ext uri="{FF2B5EF4-FFF2-40B4-BE49-F238E27FC236}">
                <a16:creationId xmlns:a16="http://schemas.microsoft.com/office/drawing/2014/main" id="{DDB228D6-0FE3-0A44-9014-97CBF4FE6E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8478"/>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8ED66CC7-F3CA-B025-AB86-67FB40F02AF1}"/>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9" name="Rectangle 43">
            <a:extLst>
              <a:ext uri="{FF2B5EF4-FFF2-40B4-BE49-F238E27FC236}">
                <a16:creationId xmlns:a16="http://schemas.microsoft.com/office/drawing/2014/main" id="{C89C529A-CE68-140A-129C-A3FA6FE75686}"/>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4022802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0_Only Title">
    <p:bg>
      <p:bgPr>
        <a:solidFill>
          <a:schemeClr val="accent4"/>
        </a:solidFill>
        <a:effectLst/>
      </p:bgPr>
    </p:bg>
    <p:spTree>
      <p:nvGrpSpPr>
        <p:cNvPr id="1" name=""/>
        <p:cNvGrpSpPr/>
        <p:nvPr/>
      </p:nvGrpSpPr>
      <p:grpSpPr>
        <a:xfrm>
          <a:off x="0" y="0"/>
          <a:ext cx="0" cy="0"/>
          <a:chOff x="0" y="0"/>
          <a:chExt cx="0" cy="0"/>
        </a:xfrm>
      </p:grpSpPr>
      <p:pic>
        <p:nvPicPr>
          <p:cNvPr id="7" name="Picture 6" descr="A person standing on a rock looking at a landscape&#10;&#10;Description automatically generated">
            <a:extLst>
              <a:ext uri="{FF2B5EF4-FFF2-40B4-BE49-F238E27FC236}">
                <a16:creationId xmlns:a16="http://schemas.microsoft.com/office/drawing/2014/main" id="{70FDEEB2-14D0-32AB-2308-992D42F0E46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7821" t="9145" b="9145"/>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AD33A05B-4C97-737C-8C8F-6F6F52C2D01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9" name="Rectangle 43">
            <a:extLst>
              <a:ext uri="{FF2B5EF4-FFF2-40B4-BE49-F238E27FC236}">
                <a16:creationId xmlns:a16="http://schemas.microsoft.com/office/drawing/2014/main" id="{3A1C6483-BF0C-F962-BE32-96AEC67EA76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28199687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re seul">
    <p:bg>
      <p:bgPr>
        <a:solidFill>
          <a:schemeClr val="accent4"/>
        </a:solidFill>
        <a:effectLst/>
      </p:bgPr>
    </p:bg>
    <p:spTree>
      <p:nvGrpSpPr>
        <p:cNvPr id="1" name=""/>
        <p:cNvGrpSpPr/>
        <p:nvPr/>
      </p:nvGrpSpPr>
      <p:grpSpPr>
        <a:xfrm>
          <a:off x="0" y="0"/>
          <a:ext cx="0" cy="0"/>
          <a:chOff x="0" y="0"/>
          <a:chExt cx="0" cy="0"/>
        </a:xfrm>
      </p:grpSpPr>
      <p:pic>
        <p:nvPicPr>
          <p:cNvPr id="10" name="Picture 9" descr="A person standing on a rock looking at a landscape&#10;&#10;Description automatically generated">
            <a:extLst>
              <a:ext uri="{FF2B5EF4-FFF2-40B4-BE49-F238E27FC236}">
                <a16:creationId xmlns:a16="http://schemas.microsoft.com/office/drawing/2014/main" id="{797FDAA1-8133-A856-2624-5CD3C23ECEF9}"/>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57821" t="9145" b="9145"/>
          <a:stretch/>
        </p:blipFill>
        <p:spPr>
          <a:xfrm>
            <a:off x="7981122" y="1411356"/>
            <a:ext cx="4210878" cy="5446644"/>
          </a:xfrm>
          <a:prstGeom prst="rect">
            <a:avLst/>
          </a:prstGeom>
        </p:spPr>
      </p:pic>
      <p:pic>
        <p:nvPicPr>
          <p:cNvPr id="6" name="Picture 5" descr="A group of people sitting around a table&#10;&#10;Description automatically generated">
            <a:extLst>
              <a:ext uri="{FF2B5EF4-FFF2-40B4-BE49-F238E27FC236}">
                <a16:creationId xmlns:a16="http://schemas.microsoft.com/office/drawing/2014/main" id="{A3FCFD05-A423-0890-0A5D-6AF6876B3E8F}"/>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3593" t="1885" r="36809" b="1885"/>
          <a:stretch/>
        </p:blipFill>
        <p:spPr>
          <a:xfrm>
            <a:off x="7981122" y="1411356"/>
            <a:ext cx="4210878" cy="5446644"/>
          </a:xfrm>
          <a:prstGeom prst="rect">
            <a:avLst/>
          </a:prstGeom>
        </p:spPr>
      </p:pic>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5" name="Object 4"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2">
            <a:extLst>
              <a:ext uri="{FF2B5EF4-FFF2-40B4-BE49-F238E27FC236}">
                <a16:creationId xmlns:a16="http://schemas.microsoft.com/office/drawing/2014/main" id="{DE28B36B-600F-56EA-6847-B858309DA0C9}"/>
              </a:ext>
            </a:extLst>
          </p:cNvPr>
          <p:cNvSpPr>
            <a:spLocks noGrp="1"/>
          </p:cNvSpPr>
          <p:nvPr>
            <p:ph type="title"/>
          </p:nvPr>
        </p:nvSpPr>
        <p:spPr>
          <a:xfrm>
            <a:off x="420053" y="388938"/>
            <a:ext cx="8419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9629DA9C-982F-C2A7-CD9E-20BB440C48D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9" name="Rectangle 43">
            <a:extLst>
              <a:ext uri="{FF2B5EF4-FFF2-40B4-BE49-F238E27FC236}">
                <a16:creationId xmlns:a16="http://schemas.microsoft.com/office/drawing/2014/main" id="{9AADA466-C805-12EA-6CE2-37D56C00C532}"/>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2913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re et contenu">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47F484-8108-4552-8922-6A5AFCEDACFE}"/>
              </a:ext>
            </a:extLst>
          </p:cNvPr>
          <p:cNvSpPr/>
          <p:nvPr userDrawn="1"/>
        </p:nvSpPr>
        <p:spPr>
          <a:xfrm>
            <a:off x="0" y="0"/>
            <a:ext cx="298334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a:xfrm>
            <a:off x="404813" y="388188"/>
            <a:ext cx="2338387" cy="716711"/>
          </a:xfrm>
        </p:spPr>
        <p:txBody>
          <a:bodyPr anchor="t" anchorCtr="0"/>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2518588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2024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512815"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algn="just" defTabSz="914400" rtl="0" eaLnBrk="1" latinLnBrk="0" hangingPunct="1">
              <a:spcBef>
                <a:spcPts val="0"/>
              </a:spcBef>
              <a:spcAft>
                <a:spcPts val="0"/>
              </a:spcAft>
            </a:pPr>
            <a:r>
              <a:rPr lang="en-US" sz="900" kern="1200">
                <a:solidFill>
                  <a:schemeClr val="bg1"/>
                </a:solidFill>
                <a:effectLst/>
                <a:latin typeface="Ubuntu" panose="020B0504030602030204" pitchFamily="34" charset="0"/>
                <a:ea typeface="+mn-ea"/>
                <a:cs typeface="+mn-cs"/>
              </a:rPr>
              <a:t>Capgemini is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nearly 350,000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300961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7338975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27214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Only_DARK_MS">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nchorCtr="0"/>
          <a:lstStyle>
            <a:lvl1pPr>
              <a:defRPr>
                <a:solidFill>
                  <a:schemeClr val="bg1"/>
                </a:solidFill>
                <a:latin typeface="+mj-lt"/>
              </a:defRPr>
            </a:lvl1pPr>
          </a:lstStyle>
          <a:p>
            <a:r>
              <a:rPr lang="en-US"/>
              <a:t>Click to edit Master title style</a:t>
            </a:r>
            <a:endParaRPr lang="de-DE"/>
          </a:p>
        </p:txBody>
      </p:sp>
    </p:spTree>
    <p:extLst>
      <p:ext uri="{BB962C8B-B14F-4D97-AF65-F5344CB8AC3E}">
        <p14:creationId xmlns:p14="http://schemas.microsoft.com/office/powerpoint/2010/main" val="41214875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aphic 4">
            <a:extLst>
              <a:ext uri="{FF2B5EF4-FFF2-40B4-BE49-F238E27FC236}">
                <a16:creationId xmlns:a16="http://schemas.microsoft.com/office/drawing/2014/main" id="{7E308302-E913-4BBF-923A-1FA621611C15}"/>
              </a:ext>
            </a:extLst>
          </p:cNvPr>
          <p:cNvGrpSpPr>
            <a:grpSpLocks/>
          </p:cNvGrpSpPr>
          <p:nvPr userDrawn="1"/>
        </p:nvGrpSpPr>
        <p:grpSpPr>
          <a:xfrm>
            <a:off x="8572847" y="612775"/>
            <a:ext cx="3259236" cy="500422"/>
            <a:chOff x="3176111" y="1257136"/>
            <a:chExt cx="5719756" cy="878207"/>
          </a:xfrm>
        </p:grpSpPr>
        <p:sp>
          <p:nvSpPr>
            <p:cNvPr id="8" name="Freeform: Shape 7">
              <a:extLst>
                <a:ext uri="{FF2B5EF4-FFF2-40B4-BE49-F238E27FC236}">
                  <a16:creationId xmlns:a16="http://schemas.microsoft.com/office/drawing/2014/main" id="{E9EA5FD9-21A0-4ACE-B22C-F95AB47D6F1D}"/>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98F1575E-E8EA-4538-95B3-FBB5E9B6FB7D}"/>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A61EB12C-925A-4DE8-B74A-2328BE2DB4AE}"/>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0BF03E55-C2D3-4FB3-9414-51B4C6CEF84B}"/>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7F401A13-EEB3-471A-9F97-1A40876B4BC1}"/>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00E0646F-0721-4810-B579-A32FB7E89D35}"/>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3693E25E-A133-4416-98A9-2D436AB96A61}"/>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7D646DFA-5871-4171-9D38-4B5008D5F2D8}"/>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62FFBC3A-24B3-4EEA-9079-0EE6E8454217}"/>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34EE956A-8170-49DC-9E89-C5C3667B5B88}"/>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CE8E9B7E-606E-4C34-B813-327CB64A0605}"/>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33F9A62E-C747-45E7-BB15-B36D09293661}"/>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3166588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Graphic 13">
            <a:extLst>
              <a:ext uri="{FF2B5EF4-FFF2-40B4-BE49-F238E27FC236}">
                <a16:creationId xmlns:a16="http://schemas.microsoft.com/office/drawing/2014/main" id="{561E8899-E17D-F502-271B-9419F56EF6EF}"/>
              </a:ext>
            </a:extLst>
          </p:cNvPr>
          <p:cNvSpPr>
            <a:spLocks noChangeAspect="1"/>
          </p:cNvSpPr>
          <p:nvPr userDrawn="1"/>
        </p:nvSpPr>
        <p:spPr>
          <a:xfrm>
            <a:off x="551384"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Tree>
    <p:extLst>
      <p:ext uri="{BB962C8B-B14F-4D97-AF65-F5344CB8AC3E}">
        <p14:creationId xmlns:p14="http://schemas.microsoft.com/office/powerpoint/2010/main" val="37879696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27">
            <a:extLst>
              <a:ext uri="{FF2B5EF4-FFF2-40B4-BE49-F238E27FC236}">
                <a16:creationId xmlns:a16="http://schemas.microsoft.com/office/drawing/2014/main" id="{BE389654-0C86-3759-355C-CC3906691D1A}"/>
              </a:ext>
            </a:extLst>
          </p:cNvPr>
          <p:cNvSpPr/>
          <p:nvPr userDrawn="1"/>
        </p:nvSpPr>
        <p:spPr>
          <a:xfrm>
            <a:off x="7131820" y="6605752"/>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i="0">
                <a:solidFill>
                  <a:schemeClr val="bg1">
                    <a:lumMod val="65000"/>
                  </a:schemeClr>
                </a:solidFill>
                <a:latin typeface="Ubuntu" panose="020B08040306020A0204" pitchFamily="34" charset="0"/>
                <a:cs typeface="Arial" panose="020B0604020202020204" pitchFamily="34" charset="0"/>
              </a:rPr>
              <a:t>Company Confidential © Capgemini 2025. All rights reserved  |</a:t>
            </a:r>
          </a:p>
        </p:txBody>
      </p:sp>
    </p:spTree>
    <p:extLst>
      <p:ext uri="{BB962C8B-B14F-4D97-AF65-F5344CB8AC3E}">
        <p14:creationId xmlns:p14="http://schemas.microsoft.com/office/powerpoint/2010/main" val="8681200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22" name="Image 27">
            <a:extLst>
              <a:ext uri="{FF2B5EF4-FFF2-40B4-BE49-F238E27FC236}">
                <a16:creationId xmlns:a16="http://schemas.microsoft.com/office/drawing/2014/main" id="{2653E184-E27F-464F-A02D-7936F32A6DF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17" name="Group 16">
            <a:extLst>
              <a:ext uri="{FF2B5EF4-FFF2-40B4-BE49-F238E27FC236}">
                <a16:creationId xmlns:a16="http://schemas.microsoft.com/office/drawing/2014/main" id="{D14E2206-0846-452F-B8E2-F41E142A9380}"/>
              </a:ext>
            </a:extLst>
          </p:cNvPr>
          <p:cNvGrpSpPr/>
          <p:nvPr userDrawn="1"/>
        </p:nvGrpSpPr>
        <p:grpSpPr>
          <a:xfrm>
            <a:off x="425840" y="4968013"/>
            <a:ext cx="1866702" cy="333195"/>
            <a:chOff x="426720" y="4976083"/>
            <a:chExt cx="1866702" cy="333195"/>
          </a:xfrm>
        </p:grpSpPr>
        <p:pic>
          <p:nvPicPr>
            <p:cNvPr id="18" name="Picture 2">
              <a:hlinkClick r:id="rId3"/>
              <a:extLst>
                <a:ext uri="{FF2B5EF4-FFF2-40B4-BE49-F238E27FC236}">
                  <a16:creationId xmlns:a16="http://schemas.microsoft.com/office/drawing/2014/main" id="{3A0A9BEB-91BD-44D8-A1F8-E1C479D07CAE}"/>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19" name="Picture 4">
              <a:hlinkClick r:id="rId5"/>
              <a:extLst>
                <a:ext uri="{FF2B5EF4-FFF2-40B4-BE49-F238E27FC236}">
                  <a16:creationId xmlns:a16="http://schemas.microsoft.com/office/drawing/2014/main" id="{FB87B49B-AF97-4CA0-A71A-9690DB2F2667}"/>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0" name="Picture 5">
              <a:hlinkClick r:id="rId7"/>
              <a:extLst>
                <a:ext uri="{FF2B5EF4-FFF2-40B4-BE49-F238E27FC236}">
                  <a16:creationId xmlns:a16="http://schemas.microsoft.com/office/drawing/2014/main" id="{AD029E14-A721-4F75-826F-752859D65D09}"/>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1" name="Picture 6">
              <a:hlinkClick r:id="rId9"/>
              <a:extLst>
                <a:ext uri="{FF2B5EF4-FFF2-40B4-BE49-F238E27FC236}">
                  <a16:creationId xmlns:a16="http://schemas.microsoft.com/office/drawing/2014/main" id="{8336DA4B-F1A6-45CE-B333-6872A900C0EB}"/>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32" name="Picture 7">
              <a:hlinkClick r:id="rId11"/>
              <a:extLst>
                <a:ext uri="{FF2B5EF4-FFF2-40B4-BE49-F238E27FC236}">
                  <a16:creationId xmlns:a16="http://schemas.microsoft.com/office/drawing/2014/main" id="{12978F76-BF51-4A5E-9D45-6A9899B735C7}"/>
                </a:ext>
              </a:extLst>
            </p:cNvPr>
            <p:cNvPicPr>
              <a:picLocks noChangeAspect="1" noChangeArrowheads="1"/>
            </p:cNvPicPr>
            <p:nvPr userDrawn="1"/>
          </p:nvPicPr>
          <p:blipFill>
            <a:blip r:embed="rId12" cstate="screen">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grpSp>
      <p:sp>
        <p:nvSpPr>
          <p:cNvPr id="14" name="Rectangle 13">
            <a:extLst>
              <a:ext uri="{FF2B5EF4-FFF2-40B4-BE49-F238E27FC236}">
                <a16:creationId xmlns:a16="http://schemas.microsoft.com/office/drawing/2014/main" id="{16CD18DC-5296-4E9B-B802-3111F56DCAE8}"/>
              </a:ext>
            </a:extLst>
          </p:cNvPr>
          <p:cNvSpPr/>
          <p:nvPr userDrawn="1"/>
        </p:nvSpPr>
        <p:spPr>
          <a:xfrm>
            <a:off x="6536185" y="2920221"/>
            <a:ext cx="4672383" cy="23544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lgn="just"/>
            <a:r>
              <a:rPr lang="en-US" sz="900" kern="1200">
                <a:solidFill>
                  <a:schemeClr val="lt1"/>
                </a:solidFill>
                <a:effectLst/>
                <a:latin typeface="+mn-lt"/>
                <a:ea typeface="+mn-ea"/>
                <a:cs typeface="+mn-cs"/>
              </a:rPr>
              <a:t>As the digital innovation, design and transformation brand of the Capgemini Group, Capgemini Invent enables CxOs to envision and shape the future of their businesses. Located in over 30 studios and more than 60 offices around the world, it comprises a 12,500+ strong team of strategists, data scientists, product and experience designers, brand experts and technologists who develop new digital services, products, experiences and business models for sustainable growth.</a:t>
            </a:r>
          </a:p>
          <a:p>
            <a:pPr algn="just"/>
            <a:endParaRPr lang="en-US" sz="900" kern="1200">
              <a:solidFill>
                <a:schemeClr val="lt1"/>
              </a:solidFill>
              <a:effectLst/>
              <a:latin typeface="+mn-lt"/>
              <a:ea typeface="+mn-ea"/>
              <a:cs typeface="+mn-cs"/>
            </a:endParaRPr>
          </a:p>
          <a:p>
            <a:pPr algn="just"/>
            <a:r>
              <a:rPr lang="en-US"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nearly 350,000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p>
        </p:txBody>
      </p:sp>
      <p:sp>
        <p:nvSpPr>
          <p:cNvPr id="15" name="Rectangle 14">
            <a:extLst>
              <a:ext uri="{FF2B5EF4-FFF2-40B4-BE49-F238E27FC236}">
                <a16:creationId xmlns:a16="http://schemas.microsoft.com/office/drawing/2014/main" id="{CDC2645E-1EE6-40C4-88AC-C437D7229BF7}"/>
              </a:ext>
            </a:extLst>
          </p:cNvPr>
          <p:cNvSpPr/>
          <p:nvPr userDrawn="1"/>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Invent</a:t>
            </a:r>
          </a:p>
        </p:txBody>
      </p:sp>
      <p:sp>
        <p:nvSpPr>
          <p:cNvPr id="16" name="Rectangle 15">
            <a:extLst>
              <a:ext uri="{FF2B5EF4-FFF2-40B4-BE49-F238E27FC236}">
                <a16:creationId xmlns:a16="http://schemas.microsoft.com/office/drawing/2014/main" id="{CF2B8552-A073-4BDB-9C1F-CC73864F2509}"/>
              </a:ext>
            </a:extLst>
          </p:cNvPr>
          <p:cNvSpPr/>
          <p:nvPr userDrawn="1"/>
        </p:nvSpPr>
        <p:spPr>
          <a:xfrm>
            <a:off x="6536184" y="5504855"/>
            <a:ext cx="4672384"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www.capgemini.com/invent</a:t>
            </a:r>
          </a:p>
        </p:txBody>
      </p:sp>
      <p:grpSp>
        <p:nvGrpSpPr>
          <p:cNvPr id="25" name="Graphic 4">
            <a:extLst>
              <a:ext uri="{FF2B5EF4-FFF2-40B4-BE49-F238E27FC236}">
                <a16:creationId xmlns:a16="http://schemas.microsoft.com/office/drawing/2014/main" id="{0E6F06AC-E357-4A44-ADBC-2942A5AA48FC}"/>
              </a:ext>
            </a:extLst>
          </p:cNvPr>
          <p:cNvGrpSpPr>
            <a:grpSpLocks/>
          </p:cNvGrpSpPr>
          <p:nvPr userDrawn="1"/>
        </p:nvGrpSpPr>
        <p:grpSpPr>
          <a:xfrm>
            <a:off x="452366" y="898467"/>
            <a:ext cx="3259236" cy="500422"/>
            <a:chOff x="3176111" y="1257136"/>
            <a:chExt cx="5719756" cy="878207"/>
          </a:xfrm>
        </p:grpSpPr>
        <p:sp>
          <p:nvSpPr>
            <p:cNvPr id="26" name="Freeform: Shape 25">
              <a:extLst>
                <a:ext uri="{FF2B5EF4-FFF2-40B4-BE49-F238E27FC236}">
                  <a16:creationId xmlns:a16="http://schemas.microsoft.com/office/drawing/2014/main" id="{9BD4F327-035F-4A6F-B54E-079A28118456}"/>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7" name="Freeform: Shape 26">
              <a:extLst>
                <a:ext uri="{FF2B5EF4-FFF2-40B4-BE49-F238E27FC236}">
                  <a16:creationId xmlns:a16="http://schemas.microsoft.com/office/drawing/2014/main" id="{50E492D1-55D5-4697-A681-45576FA90247}"/>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9" name="Freeform: Shape 28">
              <a:extLst>
                <a:ext uri="{FF2B5EF4-FFF2-40B4-BE49-F238E27FC236}">
                  <a16:creationId xmlns:a16="http://schemas.microsoft.com/office/drawing/2014/main" id="{699FF54D-1CDA-4144-9742-3F9E12B670F1}"/>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0" name="Freeform: Shape 29">
              <a:extLst>
                <a:ext uri="{FF2B5EF4-FFF2-40B4-BE49-F238E27FC236}">
                  <a16:creationId xmlns:a16="http://schemas.microsoft.com/office/drawing/2014/main" id="{35F11318-A233-4F19-A803-BF26C13003ED}"/>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1" name="Freeform: Shape 30">
              <a:extLst>
                <a:ext uri="{FF2B5EF4-FFF2-40B4-BE49-F238E27FC236}">
                  <a16:creationId xmlns:a16="http://schemas.microsoft.com/office/drawing/2014/main" id="{FBD04261-41E8-4DC4-86FD-7F2DE971439A}"/>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3" name="Freeform: Shape 32">
              <a:extLst>
                <a:ext uri="{FF2B5EF4-FFF2-40B4-BE49-F238E27FC236}">
                  <a16:creationId xmlns:a16="http://schemas.microsoft.com/office/drawing/2014/main" id="{5015D8A2-67AA-4CFF-AFDB-A8F2C5646049}"/>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4" name="Freeform: Shape 33">
              <a:extLst>
                <a:ext uri="{FF2B5EF4-FFF2-40B4-BE49-F238E27FC236}">
                  <a16:creationId xmlns:a16="http://schemas.microsoft.com/office/drawing/2014/main" id="{AFABB67B-8225-4430-AADB-BAC849EFC18E}"/>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5" name="Freeform: Shape 34">
              <a:extLst>
                <a:ext uri="{FF2B5EF4-FFF2-40B4-BE49-F238E27FC236}">
                  <a16:creationId xmlns:a16="http://schemas.microsoft.com/office/drawing/2014/main" id="{880DE218-0241-46A4-90D2-7382ADEEE39C}"/>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36" name="Freeform: Shape 35">
              <a:extLst>
                <a:ext uri="{FF2B5EF4-FFF2-40B4-BE49-F238E27FC236}">
                  <a16:creationId xmlns:a16="http://schemas.microsoft.com/office/drawing/2014/main" id="{3453A12D-0A6D-425F-845C-25BD1BCA9772}"/>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7" name="Freeform: Shape 36">
              <a:extLst>
                <a:ext uri="{FF2B5EF4-FFF2-40B4-BE49-F238E27FC236}">
                  <a16:creationId xmlns:a16="http://schemas.microsoft.com/office/drawing/2014/main" id="{AA840E59-D3CD-4EFD-91B6-D8D67866E679}"/>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8" name="Freeform: Shape 37">
              <a:extLst>
                <a:ext uri="{FF2B5EF4-FFF2-40B4-BE49-F238E27FC236}">
                  <a16:creationId xmlns:a16="http://schemas.microsoft.com/office/drawing/2014/main" id="{8F27D758-138A-4A34-8585-5107CA94402E}"/>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9" name="Freeform: Shape 38">
              <a:extLst>
                <a:ext uri="{FF2B5EF4-FFF2-40B4-BE49-F238E27FC236}">
                  <a16:creationId xmlns:a16="http://schemas.microsoft.com/office/drawing/2014/main" id="{27D740C9-EA68-4A99-86CF-B22C39B44928}"/>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6977354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_Section A – Narrow">
    <p:spTree>
      <p:nvGrpSpPr>
        <p:cNvPr id="1" name=""/>
        <p:cNvGrpSpPr/>
        <p:nvPr/>
      </p:nvGrpSpPr>
      <p:grpSpPr>
        <a:xfrm>
          <a:off x="0" y="0"/>
          <a:ext cx="0" cy="0"/>
          <a:chOff x="0" y="0"/>
          <a:chExt cx="0" cy="0"/>
        </a:xfrm>
      </p:grpSpPr>
      <p:sp>
        <p:nvSpPr>
          <p:cNvPr id="2" name="Rectangle 27">
            <a:extLst>
              <a:ext uri="{FF2B5EF4-FFF2-40B4-BE49-F238E27FC236}">
                <a16:creationId xmlns:a16="http://schemas.microsoft.com/office/drawing/2014/main" id="{E9EFC4AE-5C5E-10FB-7783-70C63D9C287B}"/>
              </a:ext>
            </a:extLst>
          </p:cNvPr>
          <p:cNvSpPr/>
          <p:nvPr userDrawn="1"/>
        </p:nvSpPr>
        <p:spPr>
          <a:xfrm>
            <a:off x="7131820" y="6605752"/>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i="0">
                <a:solidFill>
                  <a:schemeClr val="bg1">
                    <a:lumMod val="65000"/>
                  </a:schemeClr>
                </a:solidFill>
                <a:latin typeface="Ubuntu" panose="020B08040306020A0204" pitchFamily="34" charset="0"/>
                <a:cs typeface="Arial" panose="020B0604020202020204" pitchFamily="34" charset="0"/>
              </a:rPr>
              <a:t>Company Confidential © Capgemini 2025. All rights reserved  |</a:t>
            </a:r>
          </a:p>
        </p:txBody>
      </p:sp>
    </p:spTree>
    <p:extLst>
      <p:ext uri="{BB962C8B-B14F-4D97-AF65-F5344CB8AC3E}">
        <p14:creationId xmlns:p14="http://schemas.microsoft.com/office/powerpoint/2010/main" val="14140227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F53549-E8AD-4A32-A3EC-0D489D4409D5}"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F295328-70B2-43C4-AD47-E26D73E213C4}" type="slidenum">
              <a:rPr lang="en-IN" smtClean="0"/>
              <a:t>‹#›</a:t>
            </a:fld>
            <a:endParaRPr lang="en-IN"/>
          </a:p>
        </p:txBody>
      </p:sp>
      <p:sp>
        <p:nvSpPr>
          <p:cNvPr id="7" name="Rectangle 27">
            <a:extLst>
              <a:ext uri="{FF2B5EF4-FFF2-40B4-BE49-F238E27FC236}">
                <a16:creationId xmlns:a16="http://schemas.microsoft.com/office/drawing/2014/main" id="{77C619E3-6EC7-B37F-26BB-15056BC26B46}"/>
              </a:ext>
            </a:extLst>
          </p:cNvPr>
          <p:cNvSpPr/>
          <p:nvPr userDrawn="1"/>
        </p:nvSpPr>
        <p:spPr>
          <a:xfrm>
            <a:off x="7131820" y="6605752"/>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i="0">
                <a:solidFill>
                  <a:schemeClr val="bg1">
                    <a:lumMod val="65000"/>
                  </a:schemeClr>
                </a:solidFill>
                <a:latin typeface="Ubuntu" panose="020B08040306020A0204" pitchFamily="34" charset="0"/>
                <a:cs typeface="Arial" panose="020B0604020202020204" pitchFamily="34" charset="0"/>
              </a:rPr>
              <a:t>Company Confidential © Capgemini 2025. All rights reserved  |</a:t>
            </a:r>
          </a:p>
        </p:txBody>
      </p:sp>
    </p:spTree>
    <p:extLst>
      <p:ext uri="{BB962C8B-B14F-4D97-AF65-F5344CB8AC3E}">
        <p14:creationId xmlns:p14="http://schemas.microsoft.com/office/powerpoint/2010/main" val="3053127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6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Placeholder 3">
            <a:extLst>
              <a:ext uri="{FF2B5EF4-FFF2-40B4-BE49-F238E27FC236}">
                <a16:creationId xmlns:a16="http://schemas.microsoft.com/office/drawing/2014/main" id="{E2F6C5FE-CB91-FB18-660D-E633E0388671}"/>
              </a:ext>
            </a:extLst>
          </p:cNvPr>
          <p:cNvSpPr>
            <a:spLocks noGrp="1"/>
          </p:cNvSpPr>
          <p:nvPr>
            <p:ph type="body" sz="quarter" idx="10"/>
          </p:nvPr>
        </p:nvSpPr>
        <p:spPr>
          <a:xfrm>
            <a:off x="4278312" y="317500"/>
            <a:ext cx="7187469" cy="914400"/>
          </a:xfrm>
          <a:prstGeom prst="rect">
            <a:avLst/>
          </a:prstGeom>
        </p:spPr>
        <p:txBody>
          <a:bodyPr/>
          <a:lstStyle>
            <a:lvl1pPr>
              <a:defRPr lang="en-US" sz="2400" kern="1200" dirty="0" smtClean="0">
                <a:solidFill>
                  <a:srgbClr val="FFFFFF"/>
                </a:solidFill>
                <a:latin typeface="Ubuntu Medium" panose="020B0604030602030204" pitchFamily="34" charset="0"/>
                <a:ea typeface="+mn-ea"/>
                <a:cs typeface="+mn-cs"/>
              </a:defRPr>
            </a:lvl1pPr>
          </a:lstStyle>
          <a:p>
            <a:pPr lvl="0"/>
            <a:r>
              <a:rPr lang="en-US"/>
              <a:t>Click to edit Master text styles</a:t>
            </a:r>
          </a:p>
        </p:txBody>
      </p:sp>
    </p:spTree>
    <p:extLst>
      <p:ext uri="{BB962C8B-B14F-4D97-AF65-F5344CB8AC3E}">
        <p14:creationId xmlns:p14="http://schemas.microsoft.com/office/powerpoint/2010/main" val="17491609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498946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hasCustomPrompt="1"/>
          </p:nvPr>
        </p:nvSpPr>
        <p:spPr/>
        <p:txBody>
          <a:bodyPr anchor="t"/>
          <a:lstStyle/>
          <a:p>
            <a:r>
              <a:rPr lang="fr-FR"/>
              <a:t>Modifiez le style du titre</a:t>
            </a:r>
            <a:endParaRPr lang="en-US"/>
          </a:p>
        </p:txBody>
      </p:sp>
    </p:spTree>
    <p:extLst>
      <p:ext uri="{BB962C8B-B14F-4D97-AF65-F5344CB8AC3E}">
        <p14:creationId xmlns:p14="http://schemas.microsoft.com/office/powerpoint/2010/main" val="6718517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Final Slide dark">
    <p:bg>
      <p:bgPr>
        <a:solidFill>
          <a:srgbClr val="272936"/>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2025 Capgemini. All rights reserved.</a:t>
            </a:r>
          </a:p>
        </p:txBody>
      </p:sp>
      <p:pic>
        <p:nvPicPr>
          <p:cNvPr id="4" name="Graphique 3">
            <a:extLst>
              <a:ext uri="{FF2B5EF4-FFF2-40B4-BE49-F238E27FC236}">
                <a16:creationId xmlns:a16="http://schemas.microsoft.com/office/drawing/2014/main" id="{3BC4D069-1FD5-E61B-1B7C-D34508D8CA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02694" y="5960968"/>
            <a:ext cx="3240000" cy="492220"/>
          </a:xfrm>
          <a:prstGeom prst="rect">
            <a:avLst/>
          </a:prstGeom>
        </p:spPr>
      </p:pic>
      <p:pic>
        <p:nvPicPr>
          <p:cNvPr id="5" name="Picture 7">
            <a:hlinkClick r:id="rId5"/>
            <a:extLst>
              <a:ext uri="{FF2B5EF4-FFF2-40B4-BE49-F238E27FC236}">
                <a16:creationId xmlns:a16="http://schemas.microsoft.com/office/drawing/2014/main" id="{2CDC3B80-F2EC-3060-16B1-C27C9213260C}"/>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6" name="Picture 2">
            <a:hlinkClick r:id="rId7"/>
            <a:extLst>
              <a:ext uri="{FF2B5EF4-FFF2-40B4-BE49-F238E27FC236}">
                <a16:creationId xmlns:a16="http://schemas.microsoft.com/office/drawing/2014/main" id="{9549C6C4-21F0-BDB1-0995-42AE67FB1918}"/>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8906933" y="5571089"/>
            <a:ext cx="333195" cy="333195"/>
          </a:xfrm>
          <a:prstGeom prst="rect">
            <a:avLst/>
          </a:prstGeom>
          <a:noFill/>
        </p:spPr>
      </p:pic>
      <p:pic>
        <p:nvPicPr>
          <p:cNvPr id="7" name="Picture 4">
            <a:hlinkClick r:id="rId9"/>
            <a:extLst>
              <a:ext uri="{FF2B5EF4-FFF2-40B4-BE49-F238E27FC236}">
                <a16:creationId xmlns:a16="http://schemas.microsoft.com/office/drawing/2014/main" id="{F8FBF49B-9FA7-D9FE-4D50-62A789E93534}"/>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299577" y="5571089"/>
            <a:ext cx="333195" cy="333195"/>
          </a:xfrm>
          <a:prstGeom prst="rect">
            <a:avLst/>
          </a:prstGeom>
          <a:noFill/>
        </p:spPr>
      </p:pic>
      <p:pic>
        <p:nvPicPr>
          <p:cNvPr id="8" name="Picture 6">
            <a:hlinkClick r:id="rId11"/>
            <a:extLst>
              <a:ext uri="{FF2B5EF4-FFF2-40B4-BE49-F238E27FC236}">
                <a16:creationId xmlns:a16="http://schemas.microsoft.com/office/drawing/2014/main" id="{03EE9493-9DDE-7632-217B-6675CD7127FF}"/>
              </a:ext>
            </a:extLst>
          </p:cNvPr>
          <p:cNvPicPr>
            <a:picLocks noChangeAspect="1" noChangeArrowheads="1"/>
          </p:cNvPicPr>
          <p:nvPr userDrawn="1"/>
        </p:nvPicPr>
        <p:blipFill>
          <a:blip r:embed="rId12" cstate="screen">
            <a:extLst>
              <a:ext uri="{28A0092B-C50C-407E-A947-70E740481C1C}">
                <a14:useLocalDpi xmlns:a14="http://schemas.microsoft.com/office/drawing/2010/main"/>
              </a:ext>
            </a:extLst>
          </a:blip>
          <a:srcRect/>
          <a:stretch>
            <a:fillRect/>
          </a:stretch>
        </p:blipFill>
        <p:spPr bwMode="auto">
          <a:xfrm>
            <a:off x="9692221" y="5571089"/>
            <a:ext cx="333195" cy="333195"/>
          </a:xfrm>
          <a:prstGeom prst="rect">
            <a:avLst/>
          </a:prstGeom>
          <a:noFill/>
        </p:spPr>
      </p:pic>
    </p:spTree>
    <p:extLst>
      <p:ext uri="{BB962C8B-B14F-4D97-AF65-F5344CB8AC3E}">
        <p14:creationId xmlns:p14="http://schemas.microsoft.com/office/powerpoint/2010/main" val="14498924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309009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BF086-371F-7DF8-38BE-A19A1FB8DAEE}"/>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43BFD1-60CD-049C-AAD9-668CE4C86A4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2601021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27131-FBC2-AFC4-B6C6-79B76EB10BC1}"/>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90B549-08D1-9CBC-CD86-FE2A823B0165}"/>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888454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heme" Target="../theme/theme3.xml"/><Relationship Id="rId1" Type="http://schemas.openxmlformats.org/officeDocument/2006/relationships/slideLayout" Target="../slideLayouts/slideLayout32.xml"/><Relationship Id="rId5" Type="http://schemas.openxmlformats.org/officeDocument/2006/relationships/image" Target="../media/image15.emf"/><Relationship Id="rId4" Type="http://schemas.openxmlformats.org/officeDocument/2006/relationships/oleObject" Target="../embeddings/oleObject3.bin"/></Relationships>
</file>

<file path=ppt/slideMasters/_rels/slideMaster4.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heme" Target="../theme/theme4.xml"/><Relationship Id="rId1" Type="http://schemas.openxmlformats.org/officeDocument/2006/relationships/slideLayout" Target="../slideLayouts/slideLayout33.xml"/><Relationship Id="rId5" Type="http://schemas.openxmlformats.org/officeDocument/2006/relationships/image" Target="../media/image15.emf"/><Relationship Id="rId4" Type="http://schemas.openxmlformats.org/officeDocument/2006/relationships/oleObject" Target="../embeddings/oleObject4.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graphicFrame>
        <p:nvGraphicFramePr>
          <p:cNvPr id="2" name="GRID" hidden="1">
            <a:extLst>
              <a:ext uri="{FF2B5EF4-FFF2-40B4-BE49-F238E27FC236}">
                <a16:creationId xmlns:a16="http://schemas.microsoft.com/office/drawing/2014/main" id="{2F1B4232-BCCD-C702-53CD-CD602B48E208}"/>
              </a:ext>
            </a:extLst>
          </p:cNvPr>
          <p:cNvGraphicFramePr>
            <a:graphicFrameLocks noGrp="1" noDrilldown="1" noMove="1" noResize="1"/>
          </p:cNvGraphicFramePr>
          <p:nvPr userDrawn="1"/>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grpSp>
        <p:nvGrpSpPr>
          <p:cNvPr id="3" name="Groupe 1">
            <a:extLst>
              <a:ext uri="{FF2B5EF4-FFF2-40B4-BE49-F238E27FC236}">
                <a16:creationId xmlns:a16="http://schemas.microsoft.com/office/drawing/2014/main" id="{E33AABCE-9FDF-35B9-43BE-A40A32D3D591}"/>
              </a:ext>
              <a:ext uri="{C183D7F6-B498-43B3-948B-1728B52AA6E4}">
                <adec:decorative xmlns:adec="http://schemas.microsoft.com/office/drawing/2017/decorative" val="1"/>
              </a:ext>
            </a:extLst>
          </p:cNvPr>
          <p:cNvGrpSpPr>
            <a:grpSpLocks noChangeAspect="1"/>
          </p:cNvGrpSpPr>
          <p:nvPr userDrawn="1"/>
        </p:nvGrpSpPr>
        <p:grpSpPr>
          <a:xfrm>
            <a:off x="11362257" y="401814"/>
            <a:ext cx="419436" cy="388988"/>
            <a:chOff x="11501102" y="171573"/>
            <a:chExt cx="419436" cy="388988"/>
          </a:xfrm>
        </p:grpSpPr>
        <p:sp>
          <p:nvSpPr>
            <p:cNvPr id="5" name="Freeform 13">
              <a:extLst>
                <a:ext uri="{FF2B5EF4-FFF2-40B4-BE49-F238E27FC236}">
                  <a16:creationId xmlns:a16="http://schemas.microsoft.com/office/drawing/2014/main" id="{69477A2E-EBE2-5638-062F-CA3C5FDB9348}"/>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1AAFB516-BEC9-8219-2F5A-ED409D0328BE}"/>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69450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815936573"/>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6" r:id="rId5"/>
    <p:sldLayoutId id="2147483831" r:id="rId6"/>
    <p:sldLayoutId id="2147483878" r:id="rId7"/>
    <p:sldLayoutId id="2147483879" r:id="rId8"/>
    <p:sldLayoutId id="2147483880" r:id="rId9"/>
    <p:sldLayoutId id="2147483885" r:id="rId10"/>
    <p:sldLayoutId id="2147483883" r:id="rId1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userDrawn="1"/>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631245764"/>
      </p:ext>
    </p:extLst>
  </p:cSld>
  <p:clrMap bg1="lt1" tx1="dk1" bg2="lt2" tx2="dk2" accent1="accent1" accent2="accent2" accent3="accent3" accent4="accent4" accent5="accent5" accent6="accent6" hlink="hlink" folHlink="folHlink"/>
  <p:sldLayoutIdLst>
    <p:sldLayoutId id="2147483886" r:id="rId1"/>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userDrawn="1"/>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679779146"/>
      </p:ext>
    </p:extLst>
  </p:cSld>
  <p:clrMap bg1="lt1" tx1="dk1" bg2="lt2" tx2="dk2" accent1="accent1" accent2="accent2" accent3="accent3" accent4="accent4" accent5="accent5" accent6="accent6" hlink="hlink" folHlink="folHlink"/>
  <p:sldLayoutIdLst>
    <p:sldLayoutId id="2147483887" r:id="rId1"/>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33.png"/><Relationship Id="rId1" Type="http://schemas.openxmlformats.org/officeDocument/2006/relationships/slideLayout" Target="../slideLayouts/slideLayout23.xml"/><Relationship Id="rId6" Type="http://schemas.openxmlformats.org/officeDocument/2006/relationships/image" Target="../media/image35.png"/><Relationship Id="rId5" Type="http://schemas.microsoft.com/office/2007/relationships/hdphoto" Target="../media/hdphoto2.wdp"/><Relationship Id="rId4" Type="http://schemas.openxmlformats.org/officeDocument/2006/relationships/image" Target="../media/image3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image" Target="../media/image38.png"/><Relationship Id="rId1" Type="http://schemas.openxmlformats.org/officeDocument/2006/relationships/slideLayout" Target="../slideLayouts/slideLayout23.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jpeg"/><Relationship Id="rId14" Type="http://schemas.openxmlformats.org/officeDocument/2006/relationships/image" Target="../media/image50.png"/></Relationships>
</file>

<file path=ppt/slides/_rels/slide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svg"/><Relationship Id="rId3" Type="http://schemas.openxmlformats.org/officeDocument/2006/relationships/tags" Target="../tags/tag8.xml"/><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tags" Target="../tags/tag7.xml"/><Relationship Id="rId1" Type="http://schemas.openxmlformats.org/officeDocument/2006/relationships/themeOverride" Target="../theme/themeOverride1.xml"/><Relationship Id="rId6" Type="http://schemas.openxmlformats.org/officeDocument/2006/relationships/slideLayout" Target="../slideLayouts/slideLayout23.xml"/><Relationship Id="rId11" Type="http://schemas.openxmlformats.org/officeDocument/2006/relationships/image" Target="../media/image60.png"/><Relationship Id="rId5" Type="http://schemas.openxmlformats.org/officeDocument/2006/relationships/tags" Target="../tags/tag10.xml"/><Relationship Id="rId10" Type="http://schemas.openxmlformats.org/officeDocument/2006/relationships/image" Target="../media/image59.svg"/><Relationship Id="rId4" Type="http://schemas.openxmlformats.org/officeDocument/2006/relationships/tags" Target="../tags/tag9.xml"/><Relationship Id="rId9" Type="http://schemas.openxmlformats.org/officeDocument/2006/relationships/image" Target="../media/image58.png"/><Relationship Id="rId14" Type="http://schemas.openxmlformats.org/officeDocument/2006/relationships/image" Target="../media/image63.png"/></Relationships>
</file>

<file path=ppt/slides/_rels/slide11.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svg"/><Relationship Id="rId7" Type="http://schemas.openxmlformats.org/officeDocument/2006/relationships/image" Target="../media/image69.svg"/><Relationship Id="rId2" Type="http://schemas.openxmlformats.org/officeDocument/2006/relationships/image" Target="../media/image64.png"/><Relationship Id="rId1" Type="http://schemas.openxmlformats.org/officeDocument/2006/relationships/slideLayout" Target="../slideLayouts/slideLayout23.xml"/><Relationship Id="rId6" Type="http://schemas.openxmlformats.org/officeDocument/2006/relationships/image" Target="../media/image68.png"/><Relationship Id="rId11" Type="http://schemas.openxmlformats.org/officeDocument/2006/relationships/image" Target="../media/image73.svg"/><Relationship Id="rId5" Type="http://schemas.openxmlformats.org/officeDocument/2006/relationships/image" Target="../media/image67.sv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svg"/></Relationships>
</file>

<file path=ppt/slides/_rels/slide1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tags" Target="../tags/tag13.xml"/><Relationship Id="rId7" Type="http://schemas.openxmlformats.org/officeDocument/2006/relationships/image" Target="../media/image76.jpe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75.png"/><Relationship Id="rId5" Type="http://schemas.openxmlformats.org/officeDocument/2006/relationships/slideLayout" Target="../slideLayouts/slideLayout23.xml"/><Relationship Id="rId10" Type="http://schemas.openxmlformats.org/officeDocument/2006/relationships/image" Target="../media/image79.png"/><Relationship Id="rId4" Type="http://schemas.openxmlformats.org/officeDocument/2006/relationships/tags" Target="../tags/tag14.xml"/><Relationship Id="rId9" Type="http://schemas.openxmlformats.org/officeDocument/2006/relationships/image" Target="../media/image78.png"/></Relationships>
</file>

<file path=ppt/slides/_rels/slide14.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89.pn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7.xml"/><Relationship Id="rId1" Type="http://schemas.openxmlformats.org/officeDocument/2006/relationships/tags" Target="../tags/tag15.xml"/><Relationship Id="rId6" Type="http://schemas.openxmlformats.org/officeDocument/2006/relationships/image" Target="../media/image91.emf"/><Relationship Id="rId5" Type="http://schemas.openxmlformats.org/officeDocument/2006/relationships/oleObject" Target="../embeddings/oleObject5.bin"/><Relationship Id="rId4" Type="http://schemas.openxmlformats.org/officeDocument/2006/relationships/image" Target="../media/image90.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7.xml"/><Relationship Id="rId1" Type="http://schemas.openxmlformats.org/officeDocument/2006/relationships/tags" Target="../tags/tag16.xml"/><Relationship Id="rId6" Type="http://schemas.openxmlformats.org/officeDocument/2006/relationships/image" Target="../media/image91.emf"/><Relationship Id="rId5" Type="http://schemas.openxmlformats.org/officeDocument/2006/relationships/oleObject" Target="../embeddings/oleObject5.bin"/><Relationship Id="rId4" Type="http://schemas.openxmlformats.org/officeDocument/2006/relationships/image" Target="../media/image9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A0004FE-276E-0A18-274A-3D290AE3C8D7}"/>
              </a:ext>
            </a:extLst>
          </p:cNvPr>
          <p:cNvPicPr>
            <a:picLocks noChangeAspect="1" noChangeArrowheads="1"/>
          </p:cNvPicPr>
          <p:nvPr/>
        </p:nvPicPr>
        <p:blipFill>
          <a:blip r:embed="rId3">
            <a:alphaModFix amt="29000"/>
            <a:extLst>
              <a:ext uri="{28A0092B-C50C-407E-A947-70E740481C1C}">
                <a14:useLocalDpi xmlns:a14="http://schemas.microsoft.com/office/drawing/2010/main" val="0"/>
              </a:ext>
            </a:extLst>
          </a:blip>
          <a:srcRect/>
          <a:stretch>
            <a:fillRect/>
          </a:stretch>
        </p:blipFill>
        <p:spPr bwMode="auto">
          <a:xfrm>
            <a:off x="0" y="18917"/>
            <a:ext cx="12192000" cy="6858000"/>
          </a:xfrm>
          <a:prstGeom prst="rect">
            <a:avLst/>
          </a:prstGeom>
          <a:solidFill>
            <a:srgbClr val="005482"/>
          </a:solidFill>
        </p:spPr>
      </p:pic>
      <p:grpSp>
        <p:nvGrpSpPr>
          <p:cNvPr id="8" name="Graphic 5">
            <a:extLst>
              <a:ext uri="{FF2B5EF4-FFF2-40B4-BE49-F238E27FC236}">
                <a16:creationId xmlns:a16="http://schemas.microsoft.com/office/drawing/2014/main" id="{0D6E75FA-7E65-7DA4-ED6C-075801CC14BF}"/>
              </a:ext>
            </a:extLst>
          </p:cNvPr>
          <p:cNvGrpSpPr/>
          <p:nvPr/>
        </p:nvGrpSpPr>
        <p:grpSpPr>
          <a:xfrm>
            <a:off x="177379" y="243188"/>
            <a:ext cx="2360065" cy="369334"/>
            <a:chOff x="3437255" y="17555528"/>
            <a:chExt cx="5719763" cy="878205"/>
          </a:xfrm>
        </p:grpSpPr>
        <p:sp>
          <p:nvSpPr>
            <p:cNvPr id="9" name="Freeform: Shape 8">
              <a:extLst>
                <a:ext uri="{FF2B5EF4-FFF2-40B4-BE49-F238E27FC236}">
                  <a16:creationId xmlns:a16="http://schemas.microsoft.com/office/drawing/2014/main" id="{10261940-25F4-3B66-6A9F-6A7CED851FB6}"/>
                </a:ext>
              </a:extLst>
            </p:cNvPr>
            <p:cNvSpPr/>
            <p:nvPr/>
          </p:nvSpPr>
          <p:spPr>
            <a:xfrm>
              <a:off x="8928418" y="17659350"/>
              <a:ext cx="228600"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0" name="Freeform: Shape 8">
              <a:extLst>
                <a:ext uri="{FF2B5EF4-FFF2-40B4-BE49-F238E27FC236}">
                  <a16:creationId xmlns:a16="http://schemas.microsoft.com/office/drawing/2014/main" id="{DF12DA58-6060-873D-1CCC-97FE1D6F0399}"/>
                </a:ext>
              </a:extLst>
            </p:cNvPr>
            <p:cNvSpPr/>
            <p:nvPr/>
          </p:nvSpPr>
          <p:spPr>
            <a:xfrm>
              <a:off x="8234045" y="17759363"/>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2" name="Freeform: Shape 9">
              <a:extLst>
                <a:ext uri="{FF2B5EF4-FFF2-40B4-BE49-F238E27FC236}">
                  <a16:creationId xmlns:a16="http://schemas.microsoft.com/office/drawing/2014/main" id="{ED1DE565-6582-0271-195D-DE83B612BD9D}"/>
                </a:ext>
              </a:extLst>
            </p:cNvPr>
            <p:cNvSpPr/>
            <p:nvPr/>
          </p:nvSpPr>
          <p:spPr>
            <a:xfrm>
              <a:off x="7443470" y="17615535"/>
              <a:ext cx="114300" cy="114300"/>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3" name="Freeform: Shape 10">
              <a:extLst>
                <a:ext uri="{FF2B5EF4-FFF2-40B4-BE49-F238E27FC236}">
                  <a16:creationId xmlns:a16="http://schemas.microsoft.com/office/drawing/2014/main" id="{8A7F6E72-AF31-EAD7-37FF-56A3872ED398}"/>
                </a:ext>
              </a:extLst>
            </p:cNvPr>
            <p:cNvSpPr/>
            <p:nvPr/>
          </p:nvSpPr>
          <p:spPr>
            <a:xfrm>
              <a:off x="7453948" y="1777174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4" name="Freeform: Shape 11">
              <a:extLst>
                <a:ext uri="{FF2B5EF4-FFF2-40B4-BE49-F238E27FC236}">
                  <a16:creationId xmlns:a16="http://schemas.microsoft.com/office/drawing/2014/main" id="{0668393C-8BA6-25E4-0B33-42213CBDC176}"/>
                </a:ext>
              </a:extLst>
            </p:cNvPr>
            <p:cNvSpPr/>
            <p:nvPr/>
          </p:nvSpPr>
          <p:spPr>
            <a:xfrm>
              <a:off x="7898765" y="17772698"/>
              <a:ext cx="352425"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5" name="Freeform: Shape 12">
              <a:extLst>
                <a:ext uri="{FF2B5EF4-FFF2-40B4-BE49-F238E27FC236}">
                  <a16:creationId xmlns:a16="http://schemas.microsoft.com/office/drawing/2014/main" id="{2AA9C0E8-7FA3-76FE-2067-0B2C3B3ECA55}"/>
                </a:ext>
              </a:extLst>
            </p:cNvPr>
            <p:cNvSpPr/>
            <p:nvPr/>
          </p:nvSpPr>
          <p:spPr>
            <a:xfrm>
              <a:off x="7587298" y="17763173"/>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6" name="Freeform: Shape 13">
              <a:extLst>
                <a:ext uri="{FF2B5EF4-FFF2-40B4-BE49-F238E27FC236}">
                  <a16:creationId xmlns:a16="http://schemas.microsoft.com/office/drawing/2014/main" id="{C7E8323D-B6EC-2FED-4D3E-E1158105A796}"/>
                </a:ext>
              </a:extLst>
            </p:cNvPr>
            <p:cNvSpPr/>
            <p:nvPr/>
          </p:nvSpPr>
          <p:spPr>
            <a:xfrm>
              <a:off x="8593137" y="17763174"/>
              <a:ext cx="314326" cy="380999"/>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7" name="Freeform: Shape 15">
              <a:extLst>
                <a:ext uri="{FF2B5EF4-FFF2-40B4-BE49-F238E27FC236}">
                  <a16:creationId xmlns:a16="http://schemas.microsoft.com/office/drawing/2014/main" id="{84CA8769-3EBC-7132-2775-C8EA5B861CCE}"/>
                </a:ext>
              </a:extLst>
            </p:cNvPr>
            <p:cNvSpPr/>
            <p:nvPr/>
          </p:nvSpPr>
          <p:spPr>
            <a:xfrm>
              <a:off x="3437255" y="17566958"/>
              <a:ext cx="3171825" cy="8667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8" name="Freeform: Shape 16">
              <a:extLst>
                <a:ext uri="{FF2B5EF4-FFF2-40B4-BE49-F238E27FC236}">
                  <a16:creationId xmlns:a16="http://schemas.microsoft.com/office/drawing/2014/main" id="{16ADA7EA-4C99-F334-1EEF-89EFDE50B089}"/>
                </a:ext>
              </a:extLst>
            </p:cNvPr>
            <p:cNvSpPr/>
            <p:nvPr/>
          </p:nvSpPr>
          <p:spPr>
            <a:xfrm>
              <a:off x="5827047" y="1760978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9" name="Freeform: Shape 17">
              <a:extLst>
                <a:ext uri="{FF2B5EF4-FFF2-40B4-BE49-F238E27FC236}">
                  <a16:creationId xmlns:a16="http://schemas.microsoft.com/office/drawing/2014/main" id="{651D37A7-BCD0-0E83-9811-3ED804D91D8C}"/>
                </a:ext>
              </a:extLst>
            </p:cNvPr>
            <p:cNvSpPr/>
            <p:nvPr/>
          </p:nvSpPr>
          <p:spPr>
            <a:xfrm>
              <a:off x="6448108" y="17627883"/>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20" name="Freeform: Shape 18">
              <a:extLst>
                <a:ext uri="{FF2B5EF4-FFF2-40B4-BE49-F238E27FC236}">
                  <a16:creationId xmlns:a16="http://schemas.microsoft.com/office/drawing/2014/main" id="{07EC1569-1DE1-ADD6-50D7-3A982F3D3B75}"/>
                </a:ext>
              </a:extLst>
            </p:cNvPr>
            <p:cNvSpPr/>
            <p:nvPr/>
          </p:nvSpPr>
          <p:spPr>
            <a:xfrm>
              <a:off x="6647180" y="17555528"/>
              <a:ext cx="676275" cy="581025"/>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21" name="Freeform: Shape 19">
              <a:extLst>
                <a:ext uri="{FF2B5EF4-FFF2-40B4-BE49-F238E27FC236}">
                  <a16:creationId xmlns:a16="http://schemas.microsoft.com/office/drawing/2014/main" id="{F1A8E231-E41C-2100-D74B-5DC92E8C2E1B}"/>
                </a:ext>
              </a:extLst>
            </p:cNvPr>
            <p:cNvSpPr/>
            <p:nvPr/>
          </p:nvSpPr>
          <p:spPr>
            <a:xfrm>
              <a:off x="6886258" y="17824935"/>
              <a:ext cx="457200" cy="371475"/>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11" name="Graphic 13">
            <a:extLst>
              <a:ext uri="{FF2B5EF4-FFF2-40B4-BE49-F238E27FC236}">
                <a16:creationId xmlns:a16="http://schemas.microsoft.com/office/drawing/2014/main" id="{6D49AA74-654E-68DF-91CD-67406AD3B10B}"/>
              </a:ext>
            </a:extLst>
          </p:cNvPr>
          <p:cNvSpPr>
            <a:spLocks noChangeAspect="1"/>
          </p:cNvSpPr>
          <p:nvPr/>
        </p:nvSpPr>
        <p:spPr>
          <a:xfrm>
            <a:off x="1163445" y="18917"/>
            <a:ext cx="10742805" cy="6387533"/>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7" name="TextBox 6">
            <a:extLst>
              <a:ext uri="{FF2B5EF4-FFF2-40B4-BE49-F238E27FC236}">
                <a16:creationId xmlns:a16="http://schemas.microsoft.com/office/drawing/2014/main" id="{DE20F3D7-DF20-1007-C57B-75EA5F531546}"/>
              </a:ext>
            </a:extLst>
          </p:cNvPr>
          <p:cNvSpPr txBox="1"/>
          <p:nvPr/>
        </p:nvSpPr>
        <p:spPr>
          <a:xfrm>
            <a:off x="285750" y="1815848"/>
            <a:ext cx="7924296" cy="1754326"/>
          </a:xfrm>
          <a:prstGeom prst="rect">
            <a:avLst/>
          </a:prstGeom>
          <a:noFill/>
        </p:spPr>
        <p:txBody>
          <a:bodyPr wrap="square" lIns="91440" tIns="45720" rIns="91440" bIns="45720" anchor="t">
            <a:spAutoFit/>
          </a:bodyPr>
          <a:lstStyle/>
          <a:p>
            <a:r>
              <a:rPr lang="en-US" sz="3600" b="1" noProof="0">
                <a:solidFill>
                  <a:schemeClr val="bg1"/>
                </a:solidFill>
              </a:rPr>
              <a:t>RFP Response: </a:t>
            </a:r>
            <a:br>
              <a:rPr lang="en-US" sz="3600" b="1" noProof="0"/>
            </a:br>
            <a:r>
              <a:rPr lang="en-US" sz="3600" b="1" noProof="0">
                <a:solidFill>
                  <a:schemeClr val="bg1"/>
                </a:solidFill>
              </a:rPr>
              <a:t>Strategic Consulting for Digital Transformation of the IT Stack </a:t>
            </a:r>
          </a:p>
        </p:txBody>
      </p:sp>
    </p:spTree>
    <p:extLst>
      <p:ext uri="{BB962C8B-B14F-4D97-AF65-F5344CB8AC3E}">
        <p14:creationId xmlns:p14="http://schemas.microsoft.com/office/powerpoint/2010/main" val="1647128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a:extLst>
              <a:ext uri="{FF2B5EF4-FFF2-40B4-BE49-F238E27FC236}">
                <a16:creationId xmlns:a16="http://schemas.microsoft.com/office/drawing/2014/main" id="{EFFDC0D9-2D86-BB2D-2066-E820911EDD2E}"/>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7067550" y="0"/>
            <a:ext cx="512445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3">
            <a:extLst>
              <a:ext uri="{FF2B5EF4-FFF2-40B4-BE49-F238E27FC236}">
                <a16:creationId xmlns:a16="http://schemas.microsoft.com/office/drawing/2014/main" id="{87A958D2-9ABA-53D1-785E-B05DCEDB46AD}"/>
              </a:ext>
            </a:extLst>
          </p:cNvPr>
          <p:cNvSpPr>
            <a:spLocks noGrp="1"/>
          </p:cNvSpPr>
          <p:nvPr>
            <p:ph type="title"/>
          </p:nvPr>
        </p:nvSpPr>
        <p:spPr>
          <a:xfrm>
            <a:off x="732448" y="464205"/>
            <a:ext cx="5263589" cy="560753"/>
          </a:xfrm>
        </p:spPr>
        <p:txBody>
          <a:bodyPr/>
          <a:lstStyle/>
          <a:p>
            <a:r>
              <a:rPr lang="en-US" sz="3600" noProof="0"/>
              <a:t>TABLE OF CONTENTS</a:t>
            </a:r>
          </a:p>
        </p:txBody>
      </p:sp>
      <p:grpSp>
        <p:nvGrpSpPr>
          <p:cNvPr id="2" name="Group 1">
            <a:extLst>
              <a:ext uri="{FF2B5EF4-FFF2-40B4-BE49-F238E27FC236}">
                <a16:creationId xmlns:a16="http://schemas.microsoft.com/office/drawing/2014/main" id="{64232DB7-9B50-001D-D7B6-E48EE8372E39}"/>
              </a:ext>
            </a:extLst>
          </p:cNvPr>
          <p:cNvGrpSpPr/>
          <p:nvPr/>
        </p:nvGrpSpPr>
        <p:grpSpPr>
          <a:xfrm>
            <a:off x="419174" y="1442152"/>
            <a:ext cx="6829351" cy="4352407"/>
            <a:chOff x="1079500" y="1099893"/>
            <a:chExt cx="7552435" cy="4352407"/>
          </a:xfrm>
        </p:grpSpPr>
        <p:grpSp>
          <p:nvGrpSpPr>
            <p:cNvPr id="25" name="Group 24">
              <a:extLst>
                <a:ext uri="{FF2B5EF4-FFF2-40B4-BE49-F238E27FC236}">
                  <a16:creationId xmlns:a16="http://schemas.microsoft.com/office/drawing/2014/main" id="{9624247E-03AB-EF43-D8FB-64AF836BB185}"/>
                </a:ext>
              </a:extLst>
            </p:cNvPr>
            <p:cNvGrpSpPr/>
            <p:nvPr/>
          </p:nvGrpSpPr>
          <p:grpSpPr>
            <a:xfrm>
              <a:off x="1079500" y="1099893"/>
              <a:ext cx="6623117" cy="363654"/>
              <a:chOff x="1079500" y="1628775"/>
              <a:chExt cx="6623117" cy="363654"/>
            </a:xfrm>
          </p:grpSpPr>
          <p:sp>
            <p:nvSpPr>
              <p:cNvPr id="4" name="Text Placeholder 4">
                <a:extLst>
                  <a:ext uri="{FF2B5EF4-FFF2-40B4-BE49-F238E27FC236}">
                    <a16:creationId xmlns:a16="http://schemas.microsoft.com/office/drawing/2014/main" id="{A80673CB-BDB8-391A-DE9F-0D95637FE6C5}"/>
                  </a:ext>
                </a:extLst>
              </p:cNvPr>
              <p:cNvSpPr txBox="1">
                <a:spLocks/>
              </p:cNvSpPr>
              <p:nvPr/>
            </p:nvSpPr>
            <p:spPr>
              <a:xfrm>
                <a:off x="1079500" y="1628775"/>
                <a:ext cx="614546" cy="363654"/>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noProof="0">
                    <a:solidFill>
                      <a:schemeClr val="accent1"/>
                    </a:solidFill>
                  </a:rPr>
                  <a:t>01	</a:t>
                </a:r>
              </a:p>
            </p:txBody>
          </p:sp>
          <p:sp>
            <p:nvSpPr>
              <p:cNvPr id="13" name="TextBox 12">
                <a:extLst>
                  <a:ext uri="{FF2B5EF4-FFF2-40B4-BE49-F238E27FC236}">
                    <a16:creationId xmlns:a16="http://schemas.microsoft.com/office/drawing/2014/main" id="{8920CAA0-4610-D6CB-00F1-4B8AF73A848B}"/>
                  </a:ext>
                </a:extLst>
              </p:cNvPr>
              <p:cNvSpPr txBox="1"/>
              <p:nvPr/>
            </p:nvSpPr>
            <p:spPr>
              <a:xfrm>
                <a:off x="1605013" y="1628775"/>
                <a:ext cx="6097604" cy="338554"/>
              </a:xfrm>
              <a:prstGeom prst="rect">
                <a:avLst/>
              </a:prstGeom>
              <a:noFill/>
            </p:spPr>
            <p:txBody>
              <a:bodyPr wrap="square">
                <a:spAutoFit/>
              </a:bodyPr>
              <a:lstStyle/>
              <a:p>
                <a:r>
                  <a:rPr lang="en-US" sz="1600" noProof="0">
                    <a:solidFill>
                      <a:schemeClr val="bg1"/>
                    </a:solidFill>
                  </a:rPr>
                  <a:t>Executive summary</a:t>
                </a:r>
              </a:p>
            </p:txBody>
          </p:sp>
        </p:grpSp>
        <p:grpSp>
          <p:nvGrpSpPr>
            <p:cNvPr id="26" name="Group 25">
              <a:extLst>
                <a:ext uri="{FF2B5EF4-FFF2-40B4-BE49-F238E27FC236}">
                  <a16:creationId xmlns:a16="http://schemas.microsoft.com/office/drawing/2014/main" id="{D4D23F30-238E-F83E-0DCB-9198BB37FD09}"/>
                </a:ext>
              </a:extLst>
            </p:cNvPr>
            <p:cNvGrpSpPr/>
            <p:nvPr/>
          </p:nvGrpSpPr>
          <p:grpSpPr>
            <a:xfrm>
              <a:off x="1079500" y="1686828"/>
              <a:ext cx="6623117" cy="363654"/>
              <a:chOff x="1079500" y="2215710"/>
              <a:chExt cx="6623117" cy="363654"/>
            </a:xfrm>
          </p:grpSpPr>
          <p:sp>
            <p:nvSpPr>
              <p:cNvPr id="5" name="Text Placeholder 5">
                <a:extLst>
                  <a:ext uri="{FF2B5EF4-FFF2-40B4-BE49-F238E27FC236}">
                    <a16:creationId xmlns:a16="http://schemas.microsoft.com/office/drawing/2014/main" id="{A2A1DC6F-FC95-4FDC-BD34-E1A272CCFF67}"/>
                  </a:ext>
                </a:extLst>
              </p:cNvPr>
              <p:cNvSpPr txBox="1">
                <a:spLocks/>
              </p:cNvSpPr>
              <p:nvPr/>
            </p:nvSpPr>
            <p:spPr>
              <a:xfrm>
                <a:off x="1079500" y="2215710"/>
                <a:ext cx="614546" cy="363654"/>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noProof="0">
                    <a:solidFill>
                      <a:schemeClr val="accent1"/>
                    </a:solidFill>
                  </a:rPr>
                  <a:t>02</a:t>
                </a:r>
              </a:p>
            </p:txBody>
          </p:sp>
          <p:sp>
            <p:nvSpPr>
              <p:cNvPr id="15" name="TextBox 14">
                <a:extLst>
                  <a:ext uri="{FF2B5EF4-FFF2-40B4-BE49-F238E27FC236}">
                    <a16:creationId xmlns:a16="http://schemas.microsoft.com/office/drawing/2014/main" id="{D23ABED3-AE06-9007-EB66-FCADF88F9FE1}"/>
                  </a:ext>
                </a:extLst>
              </p:cNvPr>
              <p:cNvSpPr txBox="1"/>
              <p:nvPr/>
            </p:nvSpPr>
            <p:spPr>
              <a:xfrm>
                <a:off x="1605013" y="2215710"/>
                <a:ext cx="6097604" cy="338554"/>
              </a:xfrm>
              <a:prstGeom prst="rect">
                <a:avLst/>
              </a:prstGeom>
              <a:noFill/>
            </p:spPr>
            <p:txBody>
              <a:bodyPr wrap="square" lIns="91440" tIns="45720" rIns="91440" bIns="45720" anchor="t">
                <a:spAutoFit/>
              </a:bodyPr>
              <a:lstStyle>
                <a:defPPr>
                  <a:defRPr lang="en-US"/>
                </a:defPPr>
                <a:lvl1pPr>
                  <a:defRPr>
                    <a:solidFill>
                      <a:schemeClr val="bg1"/>
                    </a:solidFill>
                  </a:defRPr>
                </a:lvl1pPr>
              </a:lstStyle>
              <a:p>
                <a:r>
                  <a:rPr lang="en-US" sz="1600" noProof="0"/>
                  <a:t>Capgemini’s Association </a:t>
                </a:r>
              </a:p>
            </p:txBody>
          </p:sp>
        </p:grpSp>
        <p:grpSp>
          <p:nvGrpSpPr>
            <p:cNvPr id="27" name="Group 26">
              <a:extLst>
                <a:ext uri="{FF2B5EF4-FFF2-40B4-BE49-F238E27FC236}">
                  <a16:creationId xmlns:a16="http://schemas.microsoft.com/office/drawing/2014/main" id="{67A3B56D-F118-8CEE-F7FF-88081341A73F}"/>
                </a:ext>
              </a:extLst>
            </p:cNvPr>
            <p:cNvGrpSpPr/>
            <p:nvPr/>
          </p:nvGrpSpPr>
          <p:grpSpPr>
            <a:xfrm>
              <a:off x="1079500" y="2282280"/>
              <a:ext cx="7173227" cy="363654"/>
              <a:chOff x="1079500" y="2811162"/>
              <a:chExt cx="7173227" cy="363654"/>
            </a:xfrm>
          </p:grpSpPr>
          <p:sp>
            <p:nvSpPr>
              <p:cNvPr id="6" name="Text Placeholder 6">
                <a:extLst>
                  <a:ext uri="{FF2B5EF4-FFF2-40B4-BE49-F238E27FC236}">
                    <a16:creationId xmlns:a16="http://schemas.microsoft.com/office/drawing/2014/main" id="{B231B9A0-48B4-1455-322D-5E62129A3BD5}"/>
                  </a:ext>
                </a:extLst>
              </p:cNvPr>
              <p:cNvSpPr txBox="1">
                <a:spLocks/>
              </p:cNvSpPr>
              <p:nvPr/>
            </p:nvSpPr>
            <p:spPr>
              <a:xfrm>
                <a:off x="1079500" y="2811162"/>
                <a:ext cx="614546" cy="363654"/>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noProof="0">
                    <a:solidFill>
                      <a:schemeClr val="accent1"/>
                    </a:solidFill>
                  </a:rPr>
                  <a:t>03</a:t>
                </a:r>
              </a:p>
            </p:txBody>
          </p:sp>
          <p:sp>
            <p:nvSpPr>
              <p:cNvPr id="16" name="TextBox 15">
                <a:extLst>
                  <a:ext uri="{FF2B5EF4-FFF2-40B4-BE49-F238E27FC236}">
                    <a16:creationId xmlns:a16="http://schemas.microsoft.com/office/drawing/2014/main" id="{D9AEF5AF-7066-5B4C-F8AA-50C623750B33}"/>
                  </a:ext>
                </a:extLst>
              </p:cNvPr>
              <p:cNvSpPr txBox="1"/>
              <p:nvPr/>
            </p:nvSpPr>
            <p:spPr>
              <a:xfrm>
                <a:off x="1605013" y="2823639"/>
                <a:ext cx="6647714" cy="338554"/>
              </a:xfrm>
              <a:prstGeom prst="rect">
                <a:avLst/>
              </a:prstGeom>
              <a:noFill/>
            </p:spPr>
            <p:txBody>
              <a:bodyPr wrap="square">
                <a:spAutoFit/>
              </a:bodyPr>
              <a:lstStyle>
                <a:defPPr>
                  <a:defRPr lang="en-US"/>
                </a:defPPr>
                <a:lvl1pPr>
                  <a:defRPr>
                    <a:solidFill>
                      <a:schemeClr val="bg1"/>
                    </a:solidFill>
                  </a:defRPr>
                </a:lvl1pPr>
              </a:lstStyle>
              <a:p>
                <a:r>
                  <a:rPr lang="en-US" sz="1600" noProof="0"/>
                  <a:t>Incorporate learnings from recent IT Assessment</a:t>
                </a:r>
              </a:p>
            </p:txBody>
          </p:sp>
        </p:grpSp>
        <p:grpSp>
          <p:nvGrpSpPr>
            <p:cNvPr id="28" name="Group 27">
              <a:extLst>
                <a:ext uri="{FF2B5EF4-FFF2-40B4-BE49-F238E27FC236}">
                  <a16:creationId xmlns:a16="http://schemas.microsoft.com/office/drawing/2014/main" id="{CAC37493-7286-BA2B-9F4B-3BD76DCCA121}"/>
                </a:ext>
              </a:extLst>
            </p:cNvPr>
            <p:cNvGrpSpPr/>
            <p:nvPr/>
          </p:nvGrpSpPr>
          <p:grpSpPr>
            <a:xfrm>
              <a:off x="1079500" y="2877732"/>
              <a:ext cx="7552435" cy="363654"/>
              <a:chOff x="1079500" y="3406614"/>
              <a:chExt cx="7552435" cy="363654"/>
            </a:xfrm>
          </p:grpSpPr>
          <p:sp>
            <p:nvSpPr>
              <p:cNvPr id="7" name="Text Placeholder 10">
                <a:extLst>
                  <a:ext uri="{FF2B5EF4-FFF2-40B4-BE49-F238E27FC236}">
                    <a16:creationId xmlns:a16="http://schemas.microsoft.com/office/drawing/2014/main" id="{AAA0FC65-A91F-23C2-96B4-384E6E6B08CA}"/>
                  </a:ext>
                </a:extLst>
              </p:cNvPr>
              <p:cNvSpPr txBox="1">
                <a:spLocks/>
              </p:cNvSpPr>
              <p:nvPr/>
            </p:nvSpPr>
            <p:spPr>
              <a:xfrm>
                <a:off x="1079500" y="3406614"/>
                <a:ext cx="614546" cy="363654"/>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noProof="0">
                    <a:solidFill>
                      <a:schemeClr val="accent1"/>
                    </a:solidFill>
                  </a:rPr>
                  <a:t>04</a:t>
                </a:r>
              </a:p>
            </p:txBody>
          </p:sp>
          <p:sp>
            <p:nvSpPr>
              <p:cNvPr id="17" name="TextBox 16">
                <a:extLst>
                  <a:ext uri="{FF2B5EF4-FFF2-40B4-BE49-F238E27FC236}">
                    <a16:creationId xmlns:a16="http://schemas.microsoft.com/office/drawing/2014/main" id="{BEA21CF2-5B42-FE05-C499-1DAADA5E6CB0}"/>
                  </a:ext>
                </a:extLst>
              </p:cNvPr>
              <p:cNvSpPr txBox="1"/>
              <p:nvPr/>
            </p:nvSpPr>
            <p:spPr>
              <a:xfrm>
                <a:off x="1605013" y="3406614"/>
                <a:ext cx="7026922" cy="338554"/>
              </a:xfrm>
              <a:prstGeom prst="rect">
                <a:avLst/>
              </a:prstGeom>
              <a:noFill/>
            </p:spPr>
            <p:txBody>
              <a:bodyPr wrap="square" lIns="91440" tIns="45720" rIns="91440" bIns="45720" anchor="t">
                <a:spAutoFit/>
              </a:bodyPr>
              <a:lstStyle>
                <a:defPPr>
                  <a:defRPr lang="en-US"/>
                </a:defPPr>
                <a:lvl1pPr>
                  <a:defRPr>
                    <a:solidFill>
                      <a:schemeClr val="bg1"/>
                    </a:solidFill>
                  </a:defRPr>
                </a:lvl1pPr>
              </a:lstStyle>
              <a:p>
                <a:r>
                  <a:rPr lang="en-US" sz="1600" noProof="0"/>
                  <a:t>North Star Vision </a:t>
                </a:r>
              </a:p>
            </p:txBody>
          </p:sp>
        </p:grpSp>
        <p:grpSp>
          <p:nvGrpSpPr>
            <p:cNvPr id="29" name="Group 28">
              <a:extLst>
                <a:ext uri="{FF2B5EF4-FFF2-40B4-BE49-F238E27FC236}">
                  <a16:creationId xmlns:a16="http://schemas.microsoft.com/office/drawing/2014/main" id="{EF71C965-9196-FD99-1598-6243BE6C92C9}"/>
                </a:ext>
              </a:extLst>
            </p:cNvPr>
            <p:cNvGrpSpPr/>
            <p:nvPr/>
          </p:nvGrpSpPr>
          <p:grpSpPr>
            <a:xfrm>
              <a:off x="1079500" y="3470345"/>
              <a:ext cx="6623117" cy="363654"/>
              <a:chOff x="1079500" y="3999227"/>
              <a:chExt cx="6623117" cy="363654"/>
            </a:xfrm>
          </p:grpSpPr>
          <p:sp>
            <p:nvSpPr>
              <p:cNvPr id="8" name="Text Placeholder 11">
                <a:extLst>
                  <a:ext uri="{FF2B5EF4-FFF2-40B4-BE49-F238E27FC236}">
                    <a16:creationId xmlns:a16="http://schemas.microsoft.com/office/drawing/2014/main" id="{FAE46963-2858-36C1-5BE4-678C350F9E1E}"/>
                  </a:ext>
                </a:extLst>
              </p:cNvPr>
              <p:cNvSpPr txBox="1">
                <a:spLocks/>
              </p:cNvSpPr>
              <p:nvPr/>
            </p:nvSpPr>
            <p:spPr>
              <a:xfrm>
                <a:off x="1079500" y="3999227"/>
                <a:ext cx="614546" cy="363654"/>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noProof="0">
                    <a:solidFill>
                      <a:schemeClr val="accent1"/>
                    </a:solidFill>
                  </a:rPr>
                  <a:t>05	</a:t>
                </a:r>
              </a:p>
            </p:txBody>
          </p:sp>
          <p:sp>
            <p:nvSpPr>
              <p:cNvPr id="18" name="TextBox 17">
                <a:extLst>
                  <a:ext uri="{FF2B5EF4-FFF2-40B4-BE49-F238E27FC236}">
                    <a16:creationId xmlns:a16="http://schemas.microsoft.com/office/drawing/2014/main" id="{8E310E44-6DE4-6889-5916-9D1ED7971488}"/>
                  </a:ext>
                </a:extLst>
              </p:cNvPr>
              <p:cNvSpPr txBox="1"/>
              <p:nvPr/>
            </p:nvSpPr>
            <p:spPr>
              <a:xfrm>
                <a:off x="1605013" y="4005811"/>
                <a:ext cx="6097604" cy="338554"/>
              </a:xfrm>
              <a:prstGeom prst="rect">
                <a:avLst/>
              </a:prstGeom>
              <a:noFill/>
            </p:spPr>
            <p:txBody>
              <a:bodyPr wrap="square">
                <a:spAutoFit/>
              </a:bodyPr>
              <a:lstStyle>
                <a:defPPr>
                  <a:defRPr lang="en-US"/>
                </a:defPPr>
                <a:lvl1pPr>
                  <a:defRPr>
                    <a:solidFill>
                      <a:schemeClr val="bg1"/>
                    </a:solidFill>
                  </a:defRPr>
                </a:lvl1pPr>
              </a:lstStyle>
              <a:p>
                <a:r>
                  <a:rPr lang="en-US" sz="1600" noProof="0"/>
                  <a:t>Technical Proposal – Our response to RFP</a:t>
                </a:r>
              </a:p>
            </p:txBody>
          </p:sp>
        </p:grpSp>
        <p:sp>
          <p:nvSpPr>
            <p:cNvPr id="19" name="Text Placeholder 11">
              <a:extLst>
                <a:ext uri="{FF2B5EF4-FFF2-40B4-BE49-F238E27FC236}">
                  <a16:creationId xmlns:a16="http://schemas.microsoft.com/office/drawing/2014/main" id="{143B8AE5-19A2-4E5F-97C3-170F5F8AF8FD}"/>
                </a:ext>
              </a:extLst>
            </p:cNvPr>
            <p:cNvSpPr txBox="1">
              <a:spLocks/>
            </p:cNvSpPr>
            <p:nvPr/>
          </p:nvSpPr>
          <p:spPr>
            <a:xfrm>
              <a:off x="1079500" y="3988022"/>
              <a:ext cx="614546" cy="363654"/>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noProof="0">
                  <a:solidFill>
                    <a:schemeClr val="accent1"/>
                  </a:solidFill>
                </a:rPr>
                <a:t>06</a:t>
              </a:r>
              <a:r>
                <a:rPr lang="en-US" sz="1800" b="1" noProof="0">
                  <a:solidFill>
                    <a:schemeClr val="accent1">
                      <a:lumMod val="60000"/>
                      <a:lumOff val="40000"/>
                    </a:schemeClr>
                  </a:solidFill>
                </a:rPr>
                <a:t>	</a:t>
              </a:r>
            </a:p>
          </p:txBody>
        </p:sp>
        <p:sp>
          <p:nvSpPr>
            <p:cNvPr id="20" name="TextBox 19">
              <a:extLst>
                <a:ext uri="{FF2B5EF4-FFF2-40B4-BE49-F238E27FC236}">
                  <a16:creationId xmlns:a16="http://schemas.microsoft.com/office/drawing/2014/main" id="{02C62BA1-3BE2-78D0-D4DC-13AB6BF5E067}"/>
                </a:ext>
              </a:extLst>
            </p:cNvPr>
            <p:cNvSpPr txBox="1"/>
            <p:nvPr/>
          </p:nvSpPr>
          <p:spPr>
            <a:xfrm>
              <a:off x="1605013" y="4011769"/>
              <a:ext cx="6097604" cy="338554"/>
            </a:xfrm>
            <a:prstGeom prst="rect">
              <a:avLst/>
            </a:prstGeom>
            <a:noFill/>
          </p:spPr>
          <p:txBody>
            <a:bodyPr wrap="square">
              <a:spAutoFit/>
            </a:bodyPr>
            <a:lstStyle>
              <a:defPPr>
                <a:defRPr lang="en-US"/>
              </a:defPPr>
              <a:lvl1pPr>
                <a:defRPr>
                  <a:solidFill>
                    <a:schemeClr val="bg1"/>
                  </a:solidFill>
                </a:defRPr>
              </a:lvl1pPr>
            </a:lstStyle>
            <a:p>
              <a:r>
                <a:rPr lang="en-US" sz="1600" noProof="0"/>
                <a:t>Pre-requisites &amp; Assumptions</a:t>
              </a:r>
            </a:p>
          </p:txBody>
        </p:sp>
        <p:grpSp>
          <p:nvGrpSpPr>
            <p:cNvPr id="30" name="Group 29">
              <a:extLst>
                <a:ext uri="{FF2B5EF4-FFF2-40B4-BE49-F238E27FC236}">
                  <a16:creationId xmlns:a16="http://schemas.microsoft.com/office/drawing/2014/main" id="{C3C0ADF4-1CD1-44C9-7AF4-79ED0333D30F}"/>
                </a:ext>
              </a:extLst>
            </p:cNvPr>
            <p:cNvGrpSpPr/>
            <p:nvPr/>
          </p:nvGrpSpPr>
          <p:grpSpPr>
            <a:xfrm>
              <a:off x="1079500" y="4493767"/>
              <a:ext cx="6623117" cy="363654"/>
              <a:chOff x="1079500" y="5022649"/>
              <a:chExt cx="6623117" cy="363654"/>
            </a:xfrm>
          </p:grpSpPr>
          <p:sp>
            <p:nvSpPr>
              <p:cNvPr id="21" name="Text Placeholder 11">
                <a:extLst>
                  <a:ext uri="{FF2B5EF4-FFF2-40B4-BE49-F238E27FC236}">
                    <a16:creationId xmlns:a16="http://schemas.microsoft.com/office/drawing/2014/main" id="{11D42C0E-D16C-8887-12D2-9B88ED69A168}"/>
                  </a:ext>
                </a:extLst>
              </p:cNvPr>
              <p:cNvSpPr txBox="1">
                <a:spLocks/>
              </p:cNvSpPr>
              <p:nvPr/>
            </p:nvSpPr>
            <p:spPr>
              <a:xfrm>
                <a:off x="1079500" y="5022649"/>
                <a:ext cx="614546" cy="363654"/>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noProof="0">
                    <a:solidFill>
                      <a:schemeClr val="accent1"/>
                    </a:solidFill>
                  </a:rPr>
                  <a:t>07	</a:t>
                </a:r>
              </a:p>
            </p:txBody>
          </p:sp>
          <p:sp>
            <p:nvSpPr>
              <p:cNvPr id="22" name="TextBox 21">
                <a:extLst>
                  <a:ext uri="{FF2B5EF4-FFF2-40B4-BE49-F238E27FC236}">
                    <a16:creationId xmlns:a16="http://schemas.microsoft.com/office/drawing/2014/main" id="{B892912F-E979-F4A8-C68C-0E08627005DF}"/>
                  </a:ext>
                </a:extLst>
              </p:cNvPr>
              <p:cNvSpPr txBox="1"/>
              <p:nvPr/>
            </p:nvSpPr>
            <p:spPr>
              <a:xfrm>
                <a:off x="1605013" y="5043975"/>
                <a:ext cx="6097604" cy="338554"/>
              </a:xfrm>
              <a:prstGeom prst="rect">
                <a:avLst/>
              </a:prstGeom>
              <a:noFill/>
            </p:spPr>
            <p:txBody>
              <a:bodyPr wrap="square">
                <a:spAutoFit/>
              </a:bodyPr>
              <a:lstStyle>
                <a:defPPr>
                  <a:defRPr lang="en-US"/>
                </a:defPPr>
                <a:lvl1pPr>
                  <a:defRPr>
                    <a:solidFill>
                      <a:schemeClr val="bg1"/>
                    </a:solidFill>
                  </a:defRPr>
                </a:lvl1pPr>
              </a:lstStyle>
              <a:p>
                <a:r>
                  <a:rPr lang="en-US" sz="1600" noProof="0"/>
                  <a:t>Case studies</a:t>
                </a:r>
              </a:p>
            </p:txBody>
          </p:sp>
        </p:grpSp>
        <p:grpSp>
          <p:nvGrpSpPr>
            <p:cNvPr id="31" name="Group 30">
              <a:extLst>
                <a:ext uri="{FF2B5EF4-FFF2-40B4-BE49-F238E27FC236}">
                  <a16:creationId xmlns:a16="http://schemas.microsoft.com/office/drawing/2014/main" id="{A5D0B6CA-82C9-A946-68AF-395B85728757}"/>
                </a:ext>
              </a:extLst>
            </p:cNvPr>
            <p:cNvGrpSpPr/>
            <p:nvPr/>
          </p:nvGrpSpPr>
          <p:grpSpPr>
            <a:xfrm>
              <a:off x="1079500" y="5079841"/>
              <a:ext cx="6623117" cy="372459"/>
              <a:chOff x="1079500" y="5608723"/>
              <a:chExt cx="6623117" cy="372459"/>
            </a:xfrm>
          </p:grpSpPr>
          <p:sp>
            <p:nvSpPr>
              <p:cNvPr id="23" name="Text Placeholder 11">
                <a:extLst>
                  <a:ext uri="{FF2B5EF4-FFF2-40B4-BE49-F238E27FC236}">
                    <a16:creationId xmlns:a16="http://schemas.microsoft.com/office/drawing/2014/main" id="{82E50678-B81C-611A-FABC-AD48BE4D91BD}"/>
                  </a:ext>
                </a:extLst>
              </p:cNvPr>
              <p:cNvSpPr txBox="1">
                <a:spLocks/>
              </p:cNvSpPr>
              <p:nvPr/>
            </p:nvSpPr>
            <p:spPr>
              <a:xfrm>
                <a:off x="1079500" y="5617528"/>
                <a:ext cx="614546" cy="363654"/>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noProof="0">
                    <a:solidFill>
                      <a:schemeClr val="accent1"/>
                    </a:solidFill>
                  </a:rPr>
                  <a:t>08	</a:t>
                </a:r>
              </a:p>
            </p:txBody>
          </p:sp>
          <p:sp>
            <p:nvSpPr>
              <p:cNvPr id="24" name="TextBox 23">
                <a:extLst>
                  <a:ext uri="{FF2B5EF4-FFF2-40B4-BE49-F238E27FC236}">
                    <a16:creationId xmlns:a16="http://schemas.microsoft.com/office/drawing/2014/main" id="{64665A17-D340-48F0-A4BC-535D3ECB1545}"/>
                  </a:ext>
                </a:extLst>
              </p:cNvPr>
              <p:cNvSpPr txBox="1"/>
              <p:nvPr/>
            </p:nvSpPr>
            <p:spPr>
              <a:xfrm>
                <a:off x="1605013" y="5608723"/>
                <a:ext cx="6097604" cy="338554"/>
              </a:xfrm>
              <a:prstGeom prst="rect">
                <a:avLst/>
              </a:prstGeom>
              <a:noFill/>
            </p:spPr>
            <p:txBody>
              <a:bodyPr wrap="square">
                <a:spAutoFit/>
              </a:bodyPr>
              <a:lstStyle>
                <a:defPPr>
                  <a:defRPr lang="en-US"/>
                </a:defPPr>
                <a:lvl1pPr>
                  <a:defRPr>
                    <a:solidFill>
                      <a:schemeClr val="bg1"/>
                    </a:solidFill>
                  </a:defRPr>
                </a:lvl1pPr>
              </a:lstStyle>
              <a:p>
                <a:r>
                  <a:rPr lang="en-US" sz="1600" noProof="0"/>
                  <a:t>Team Structure &amp; Governance</a:t>
                </a:r>
              </a:p>
            </p:txBody>
          </p:sp>
        </p:grpSp>
      </p:grpSp>
    </p:spTree>
    <p:extLst>
      <p:ext uri="{BB962C8B-B14F-4D97-AF65-F5344CB8AC3E}">
        <p14:creationId xmlns:p14="http://schemas.microsoft.com/office/powerpoint/2010/main" val="3246451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502D7-7EF7-DE3D-7F30-EA36F24C2E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E588EF-0BC3-E0E0-3BFE-A532B8D4F7B1}"/>
              </a:ext>
            </a:extLst>
          </p:cNvPr>
          <p:cNvSpPr txBox="1">
            <a:spLocks noGrp="1"/>
          </p:cNvSpPr>
          <p:nvPr>
            <p:ph type="title"/>
          </p:nvPr>
        </p:nvSpPr>
        <p:spPr>
          <a:xfrm>
            <a:off x="771500" y="158464"/>
            <a:ext cx="4567237" cy="757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cap="none">
                <a:solidFill>
                  <a:srgbClr val="FFFFFF"/>
                </a:solidFill>
                <a:latin typeface="Ubuntu Medium"/>
              </a:rPr>
              <a:t>Statement</a:t>
            </a:r>
            <a:r>
              <a:rPr lang="en-US" sz="2400" cap="none" noProof="0">
                <a:solidFill>
                  <a:srgbClr val="FFFFFF"/>
                </a:solidFill>
                <a:latin typeface="Ubuntu Medium"/>
              </a:rPr>
              <a:t> of </a:t>
            </a:r>
            <a:r>
              <a:rPr lang="en-US" cap="none">
                <a:solidFill>
                  <a:srgbClr val="FFFFFF"/>
                </a:solidFill>
                <a:latin typeface="Ubuntu Medium"/>
              </a:rPr>
              <a:t>Purpose</a:t>
            </a:r>
            <a:endParaRPr lang="en-US"/>
          </a:p>
          <a:p>
            <a:endParaRPr lang="en-US" cap="none" noProof="0"/>
          </a:p>
        </p:txBody>
      </p:sp>
      <p:sp>
        <p:nvSpPr>
          <p:cNvPr id="14" name="Title 1">
            <a:extLst>
              <a:ext uri="{FF2B5EF4-FFF2-40B4-BE49-F238E27FC236}">
                <a16:creationId xmlns:a16="http://schemas.microsoft.com/office/drawing/2014/main" id="{EBD40EA4-7759-608E-73D8-EDE4674880EB}"/>
              </a:ext>
            </a:extLst>
          </p:cNvPr>
          <p:cNvSpPr txBox="1">
            <a:spLocks/>
          </p:cNvSpPr>
          <p:nvPr/>
        </p:nvSpPr>
        <p:spPr bwMode="auto">
          <a:xfrm flipH="1">
            <a:off x="981072" y="1244367"/>
            <a:ext cx="10315577" cy="3139321"/>
          </a:xfrm>
          <a:prstGeom prst="rect">
            <a:avLst/>
          </a:prstGeom>
          <a:noFill/>
          <a:ln w="28575">
            <a:noFill/>
            <a:miter lim="800000"/>
            <a:headEnd/>
            <a:tailEnd/>
          </a:ln>
        </p:spPr>
        <p:txBody>
          <a:bodyPr vert="horz" wrap="square" lIns="182880" tIns="182880" rIns="182880" bIns="182880" numCol="1" anchor="ctr" anchorCtr="0" compatLnSpc="1">
            <a:prstTxWarp prst="textNoShape">
              <a:avLst/>
            </a:prstTxWarp>
            <a:spAutoFit/>
          </a:bodyPr>
          <a:lstStyle>
            <a:defPPr>
              <a:defRPr lang="pt-PT"/>
            </a:defPPr>
            <a:lvl1pPr marL="0" algn="l" defTabSz="914400" rtl="0" eaLnBrk="0" fontAlgn="base" latinLnBrk="0" hangingPunct="0">
              <a:spcBef>
                <a:spcPct val="0"/>
              </a:spcBef>
              <a:spcAft>
                <a:spcPct val="0"/>
              </a:spcAft>
              <a:defRPr sz="5000" kern="1200">
                <a:solidFill>
                  <a:srgbClr val="004B66"/>
                </a:solidFill>
                <a:latin typeface="Calibri" pitchFamily="34" charset="0"/>
                <a:ea typeface="Calibri" pitchFamily="34" charset="0"/>
                <a:cs typeface="Calibri" pitchFamily="34" charset="0"/>
              </a:defRPr>
            </a:lvl1pPr>
            <a:lvl2pPr marL="457200" algn="l" defTabSz="914400" rtl="0" eaLnBrk="0" fontAlgn="base" latinLnBrk="0" hangingPunct="0">
              <a:spcBef>
                <a:spcPct val="0"/>
              </a:spcBef>
              <a:spcAft>
                <a:spcPct val="0"/>
              </a:spcAft>
              <a:defRPr sz="2000" kern="1200">
                <a:solidFill>
                  <a:srgbClr val="004B66"/>
                </a:solidFill>
                <a:latin typeface="Calibri" pitchFamily="34" charset="0"/>
                <a:ea typeface="Calibri" pitchFamily="34" charset="0"/>
                <a:cs typeface="Calibri" pitchFamily="34" charset="0"/>
              </a:defRPr>
            </a:lvl2pPr>
            <a:lvl3pPr marL="914400" algn="l" defTabSz="914400" rtl="0" eaLnBrk="0" fontAlgn="base" latinLnBrk="0" hangingPunct="0">
              <a:spcBef>
                <a:spcPct val="0"/>
              </a:spcBef>
              <a:spcAft>
                <a:spcPct val="0"/>
              </a:spcAft>
              <a:defRPr sz="2000" kern="1200">
                <a:solidFill>
                  <a:srgbClr val="004B66"/>
                </a:solidFill>
                <a:latin typeface="Calibri" pitchFamily="34" charset="0"/>
                <a:ea typeface="Calibri" pitchFamily="34" charset="0"/>
                <a:cs typeface="Calibri" pitchFamily="34" charset="0"/>
              </a:defRPr>
            </a:lvl3pPr>
            <a:lvl4pPr marL="1371600" algn="l" defTabSz="914400" rtl="0" eaLnBrk="0" fontAlgn="base" latinLnBrk="0" hangingPunct="0">
              <a:spcBef>
                <a:spcPct val="0"/>
              </a:spcBef>
              <a:spcAft>
                <a:spcPct val="0"/>
              </a:spcAft>
              <a:defRPr sz="2000" kern="1200">
                <a:solidFill>
                  <a:srgbClr val="004B66"/>
                </a:solidFill>
                <a:latin typeface="Calibri" pitchFamily="34" charset="0"/>
                <a:ea typeface="Calibri" pitchFamily="34" charset="0"/>
                <a:cs typeface="Calibri" pitchFamily="34" charset="0"/>
              </a:defRPr>
            </a:lvl4pPr>
            <a:lvl5pPr marL="1828800" algn="l" defTabSz="914400" rtl="0" eaLnBrk="0" fontAlgn="base" latinLnBrk="0" hangingPunct="0">
              <a:spcBef>
                <a:spcPct val="0"/>
              </a:spcBef>
              <a:spcAft>
                <a:spcPct val="0"/>
              </a:spcAft>
              <a:defRPr sz="2000" kern="1200">
                <a:solidFill>
                  <a:srgbClr val="004B66"/>
                </a:solidFill>
                <a:latin typeface="Calibri" pitchFamily="34" charset="0"/>
                <a:ea typeface="Calibri" pitchFamily="34" charset="0"/>
                <a:cs typeface="Calibri" pitchFamily="34" charset="0"/>
              </a:defRPr>
            </a:lvl5pPr>
            <a:lvl6pPr marL="457200" algn="l" defTabSz="914400" rtl="0" eaLnBrk="1" fontAlgn="base" latinLnBrk="0" hangingPunct="1">
              <a:spcBef>
                <a:spcPct val="0"/>
              </a:spcBef>
              <a:spcAft>
                <a:spcPct val="0"/>
              </a:spcAft>
              <a:defRPr sz="2000" kern="1200">
                <a:solidFill>
                  <a:schemeClr val="tx2"/>
                </a:solidFill>
                <a:latin typeface="Calibri" pitchFamily="34" charset="0"/>
                <a:ea typeface="+mn-ea"/>
                <a:cs typeface="Calibri" pitchFamily="34" charset="0"/>
              </a:defRPr>
            </a:lvl6pPr>
            <a:lvl7pPr marL="914400" algn="l" defTabSz="914400" rtl="0" eaLnBrk="1" fontAlgn="base" latinLnBrk="0" hangingPunct="1">
              <a:spcBef>
                <a:spcPct val="0"/>
              </a:spcBef>
              <a:spcAft>
                <a:spcPct val="0"/>
              </a:spcAft>
              <a:defRPr sz="2000" kern="1200">
                <a:solidFill>
                  <a:schemeClr val="tx2"/>
                </a:solidFill>
                <a:latin typeface="Calibri" pitchFamily="34" charset="0"/>
                <a:ea typeface="+mn-ea"/>
                <a:cs typeface="Calibri" pitchFamily="34" charset="0"/>
              </a:defRPr>
            </a:lvl7pPr>
            <a:lvl8pPr marL="1371600" algn="l" defTabSz="914400" rtl="0" eaLnBrk="1" fontAlgn="base" latinLnBrk="0" hangingPunct="1">
              <a:spcBef>
                <a:spcPct val="0"/>
              </a:spcBef>
              <a:spcAft>
                <a:spcPct val="0"/>
              </a:spcAft>
              <a:defRPr sz="2000" kern="1200">
                <a:solidFill>
                  <a:schemeClr val="tx2"/>
                </a:solidFill>
                <a:latin typeface="Calibri" pitchFamily="34" charset="0"/>
                <a:ea typeface="+mn-ea"/>
                <a:cs typeface="Calibri" pitchFamily="34" charset="0"/>
              </a:defRPr>
            </a:lvl8pPr>
            <a:lvl9pPr marL="1828800" algn="l" defTabSz="914400" rtl="0" eaLnBrk="1" fontAlgn="base" latinLnBrk="0" hangingPunct="1">
              <a:spcBef>
                <a:spcPct val="0"/>
              </a:spcBef>
              <a:spcAft>
                <a:spcPct val="0"/>
              </a:spcAft>
              <a:defRPr sz="2000" kern="1200">
                <a:solidFill>
                  <a:schemeClr val="tx2"/>
                </a:solidFill>
                <a:latin typeface="Calibri" pitchFamily="34" charset="0"/>
                <a:ea typeface="+mn-ea"/>
                <a:cs typeface="Calibri" pitchFamily="34" charset="0"/>
              </a:defRPr>
            </a:lvl9pPr>
          </a:lstStyle>
          <a:p>
            <a:pPr algn="just" defTabSz="504218" fontAlgn="auto">
              <a:spcBef>
                <a:spcPts val="0"/>
              </a:spcBef>
              <a:spcAft>
                <a:spcPts val="0"/>
              </a:spcAft>
              <a:defRPr/>
            </a:pPr>
            <a:r>
              <a:rPr lang="en-US" sz="1500" kern="0">
                <a:solidFill>
                  <a:schemeClr val="bg1"/>
                </a:solidFill>
                <a:latin typeface="+mn-lt"/>
                <a:ea typeface="+mn-ea"/>
                <a:cs typeface="Arial"/>
              </a:rPr>
              <a:t>Capgemini UK plc is pleased to submit this proposal in response to your RFP for </a:t>
            </a:r>
            <a:r>
              <a:rPr lang="en-US" sz="1500" b="1" i="1" kern="0">
                <a:solidFill>
                  <a:schemeClr val="bg1"/>
                </a:solidFill>
                <a:latin typeface="+mn-lt"/>
                <a:ea typeface="+mn-ea"/>
                <a:cs typeface="Arial"/>
              </a:rPr>
              <a:t>Strategic Consulting on the Digital Transformation of  IT stack</a:t>
            </a:r>
            <a:r>
              <a:rPr lang="en-US" sz="1500" kern="0">
                <a:solidFill>
                  <a:schemeClr val="bg1"/>
                </a:solidFill>
                <a:latin typeface="+mn-lt"/>
                <a:ea typeface="+mn-ea"/>
                <a:cs typeface="Arial"/>
              </a:rPr>
              <a:t>. This submission reflects our clear intent to serve as your transformation partner—bringing deep telecom expertise, actionable insights, and a structured roadmap aligned with the business priorities.</a:t>
            </a:r>
          </a:p>
          <a:p>
            <a:pPr algn="just" defTabSz="504218" fontAlgn="auto">
              <a:spcBef>
                <a:spcPts val="0"/>
              </a:spcBef>
              <a:spcAft>
                <a:spcPts val="0"/>
              </a:spcAft>
              <a:defRPr/>
            </a:pPr>
            <a:endParaRPr lang="en-US" sz="1500" kern="0">
              <a:solidFill>
                <a:schemeClr val="bg1"/>
              </a:solidFill>
              <a:latin typeface="+mn-lt"/>
              <a:ea typeface="+mn-ea"/>
              <a:cs typeface="Arial"/>
            </a:endParaRPr>
          </a:p>
          <a:p>
            <a:pPr algn="just" defTabSz="504218" fontAlgn="auto">
              <a:spcBef>
                <a:spcPts val="0"/>
              </a:spcBef>
              <a:spcAft>
                <a:spcPts val="0"/>
              </a:spcAft>
              <a:defRPr/>
            </a:pPr>
            <a:r>
              <a:rPr lang="en-US" sz="1500" kern="0">
                <a:solidFill>
                  <a:schemeClr val="bg1"/>
                </a:solidFill>
                <a:latin typeface="+mn-lt"/>
                <a:ea typeface="+mn-ea"/>
                <a:cs typeface="Arial"/>
              </a:rPr>
              <a:t>Our approach is built on a comprehensive diagnosis of the current OSS/BSS ecosystem, a future-state architecture blueprint based on TM Forum standards, and a robust Total Cost of Ownership (TCO) and business case model. We aim to deliver measurable outcomes, improved customer experience, and enhanced operational efficiency.</a:t>
            </a:r>
          </a:p>
          <a:p>
            <a:pPr algn="just" defTabSz="504218" fontAlgn="auto">
              <a:spcBef>
                <a:spcPts val="0"/>
              </a:spcBef>
              <a:spcAft>
                <a:spcPts val="0"/>
              </a:spcAft>
              <a:defRPr/>
            </a:pPr>
            <a:endParaRPr lang="en-US" sz="1500" kern="0">
              <a:solidFill>
                <a:schemeClr val="bg1"/>
              </a:solidFill>
              <a:latin typeface="+mn-lt"/>
              <a:ea typeface="+mn-ea"/>
              <a:cs typeface="Arial"/>
            </a:endParaRPr>
          </a:p>
          <a:p>
            <a:pPr algn="just" defTabSz="504218" fontAlgn="auto">
              <a:spcBef>
                <a:spcPts val="0"/>
              </a:spcBef>
              <a:spcAft>
                <a:spcPts val="0"/>
              </a:spcAft>
              <a:defRPr/>
            </a:pPr>
            <a:r>
              <a:rPr lang="en-US" sz="1500" kern="0">
                <a:solidFill>
                  <a:schemeClr val="bg1"/>
                </a:solidFill>
                <a:latin typeface="+mn-lt"/>
                <a:ea typeface="+mn-ea"/>
                <a:cs typeface="Arial"/>
              </a:rPr>
              <a:t>We take full ownership of this engagement and are committed to delivering with accountability, transparency, and excellence across every phase—from discovery to vendor selection, implementation planning and support. </a:t>
            </a:r>
          </a:p>
          <a:p>
            <a:pPr algn="just" defTabSz="504218" fontAlgn="auto">
              <a:spcBef>
                <a:spcPts val="0"/>
              </a:spcBef>
              <a:spcAft>
                <a:spcPts val="0"/>
              </a:spcAft>
              <a:defRPr/>
            </a:pPr>
            <a:endParaRPr lang="en-US" sz="1500" kern="0">
              <a:solidFill>
                <a:schemeClr val="bg1"/>
              </a:solidFill>
              <a:latin typeface="+mn-lt"/>
              <a:ea typeface="+mn-ea"/>
              <a:cs typeface="Arial"/>
            </a:endParaRPr>
          </a:p>
        </p:txBody>
      </p:sp>
      <p:sp>
        <p:nvSpPr>
          <p:cNvPr id="21" name="Rectangle 20">
            <a:extLst>
              <a:ext uri="{FF2B5EF4-FFF2-40B4-BE49-F238E27FC236}">
                <a16:creationId xmlns:a16="http://schemas.microsoft.com/office/drawing/2014/main" id="{684EB0B8-C51B-920F-2E35-C517521C1A3C}"/>
              </a:ext>
            </a:extLst>
          </p:cNvPr>
          <p:cNvSpPr/>
          <p:nvPr/>
        </p:nvSpPr>
        <p:spPr>
          <a:xfrm>
            <a:off x="742950" y="1484867"/>
            <a:ext cx="152400" cy="27115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22" name="Rectangle 21">
            <a:extLst>
              <a:ext uri="{FF2B5EF4-FFF2-40B4-BE49-F238E27FC236}">
                <a16:creationId xmlns:a16="http://schemas.microsoft.com/office/drawing/2014/main" id="{58FE2E63-C09E-000A-BEDB-20D416FE290C}"/>
              </a:ext>
            </a:extLst>
          </p:cNvPr>
          <p:cNvSpPr/>
          <p:nvPr/>
        </p:nvSpPr>
        <p:spPr>
          <a:xfrm rot="5400000">
            <a:off x="1515854" y="3561711"/>
            <a:ext cx="138545" cy="16836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23" name="TextBox 1">
            <a:extLst>
              <a:ext uri="{FF2B5EF4-FFF2-40B4-BE49-F238E27FC236}">
                <a16:creationId xmlns:a16="http://schemas.microsoft.com/office/drawing/2014/main" id="{1D2E5F7A-6B7F-DF76-85BD-47F67437AD7C}"/>
              </a:ext>
            </a:extLst>
          </p:cNvPr>
          <p:cNvSpPr txBox="1"/>
          <p:nvPr/>
        </p:nvSpPr>
        <p:spPr>
          <a:xfrm>
            <a:off x="6816624" y="4403146"/>
            <a:ext cx="4291184"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i="1">
                <a:solidFill>
                  <a:schemeClr val="accent1">
                    <a:lumMod val="40000"/>
                    <a:lumOff val="60000"/>
                  </a:schemeClr>
                </a:solidFill>
              </a:rPr>
              <a:t>Our</a:t>
            </a:r>
            <a:r>
              <a:rPr lang="en-US" sz="1400" i="1">
                <a:solidFill>
                  <a:schemeClr val="accent1">
                    <a:lumMod val="40000"/>
                    <a:lumOff val="60000"/>
                  </a:schemeClr>
                </a:solidFill>
                <a:ea typeface="+mn-lt"/>
                <a:cs typeface="+mn-lt"/>
              </a:rPr>
              <a:t> leadership is continuously committed  as a strategic partner for the  engagement …..</a:t>
            </a:r>
            <a:endParaRPr lang="en-US" sz="1400" i="1">
              <a:solidFill>
                <a:schemeClr val="accent1">
                  <a:lumMod val="40000"/>
                  <a:lumOff val="60000"/>
                </a:schemeClr>
              </a:solidFill>
            </a:endParaRPr>
          </a:p>
        </p:txBody>
      </p:sp>
    </p:spTree>
    <p:extLst>
      <p:ext uri="{BB962C8B-B14F-4D97-AF65-F5344CB8AC3E}">
        <p14:creationId xmlns:p14="http://schemas.microsoft.com/office/powerpoint/2010/main" val="312311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E2E207-63A1-3367-7E1E-296CA7C5D5F5}"/>
              </a:ext>
            </a:extLst>
          </p:cNvPr>
          <p:cNvSpPr txBox="1">
            <a:spLocks noGrp="1"/>
          </p:cNvSpPr>
          <p:nvPr>
            <p:ph type="title"/>
          </p:nvPr>
        </p:nvSpPr>
        <p:spPr>
          <a:xfrm>
            <a:off x="412959" y="324127"/>
            <a:ext cx="4567237" cy="4247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cap="none" noProof="0">
                <a:solidFill>
                  <a:srgbClr val="FFFFFF"/>
                </a:solidFill>
                <a:latin typeface="Ubuntu Medium"/>
              </a:rPr>
              <a:t>Executive  Summary</a:t>
            </a:r>
            <a:r>
              <a:rPr lang="en-US" sz="2400" cap="none" noProof="0">
                <a:latin typeface="Ubuntu Medium"/>
              </a:rPr>
              <a:t>​</a:t>
            </a:r>
            <a:endParaRPr lang="en-US" cap="none" noProof="0"/>
          </a:p>
        </p:txBody>
      </p:sp>
      <p:sp>
        <p:nvSpPr>
          <p:cNvPr id="5" name="Rounded Rectangle 34">
            <a:extLst>
              <a:ext uri="{FF2B5EF4-FFF2-40B4-BE49-F238E27FC236}">
                <a16:creationId xmlns:a16="http://schemas.microsoft.com/office/drawing/2014/main" id="{B77880EB-B25A-C29A-4DB2-6572A81FE233}"/>
              </a:ext>
            </a:extLst>
          </p:cNvPr>
          <p:cNvSpPr/>
          <p:nvPr/>
        </p:nvSpPr>
        <p:spPr>
          <a:xfrm>
            <a:off x="412959" y="1101895"/>
            <a:ext cx="4410049" cy="359921"/>
          </a:xfrm>
          <a:prstGeom prst="roundRect">
            <a:avLst/>
          </a:prstGeom>
          <a:solidFill>
            <a:schemeClr val="bg1"/>
          </a:solidFill>
          <a:ln>
            <a:solidFill>
              <a:schemeClr val="bg1"/>
            </a:solidFill>
          </a:ln>
        </p:spPr>
        <p:txBody>
          <a:bodyPr lIns="72000" tIns="72000" rIns="72000" bIns="72000" anchor="ctr"/>
          <a:lstStyle/>
          <a:p>
            <a:pPr marL="0" marR="0" lvl="0" indent="0" algn="ctr" defTabSz="914400" rtl="0" eaLnBrk="1" fontAlgn="auto" latinLnBrk="0" hangingPunct="1">
              <a:lnSpc>
                <a:spcPts val="1100"/>
              </a:lnSpc>
              <a:spcBef>
                <a:spcPts val="900"/>
              </a:spcBef>
              <a:spcAft>
                <a:spcPts val="1200"/>
              </a:spcAft>
              <a:buClrTx/>
              <a:buSzTx/>
              <a:buFontTx/>
              <a:buNone/>
              <a:tabLst/>
              <a:defRPr/>
            </a:pPr>
            <a:r>
              <a:rPr kumimoji="0" lang="en-US" sz="1400" b="1" i="0" u="none" strike="noStrike" kern="1200" cap="none" spc="0" normalizeH="0" baseline="0" noProof="0">
                <a:ln>
                  <a:noFill/>
                </a:ln>
                <a:solidFill>
                  <a:schemeClr val="accent1"/>
                </a:solidFill>
                <a:effectLst/>
                <a:uLnTx/>
                <a:uFillTx/>
                <a:latin typeface="Ubuntu"/>
              </a:rPr>
              <a:t>Our Understanding </a:t>
            </a:r>
          </a:p>
        </p:txBody>
      </p:sp>
      <p:sp>
        <p:nvSpPr>
          <p:cNvPr id="7" name="Rectangle 16">
            <a:extLst>
              <a:ext uri="{FF2B5EF4-FFF2-40B4-BE49-F238E27FC236}">
                <a16:creationId xmlns:a16="http://schemas.microsoft.com/office/drawing/2014/main" id="{18C35F9D-8D7C-36D0-B3A5-097725AEEA06}"/>
              </a:ext>
            </a:extLst>
          </p:cNvPr>
          <p:cNvSpPr>
            <a:spLocks noChangeArrowheads="1"/>
          </p:cNvSpPr>
          <p:nvPr/>
        </p:nvSpPr>
        <p:spPr bwMode="auto">
          <a:xfrm>
            <a:off x="6265900" y="1086518"/>
            <a:ext cx="5374990" cy="359921"/>
          </a:xfrm>
          <a:prstGeom prst="roundRect">
            <a:avLst/>
          </a:prstGeom>
          <a:solidFill>
            <a:schemeClr val="bg1"/>
          </a:solidFill>
          <a:ln>
            <a:solidFill>
              <a:schemeClr val="bg1"/>
            </a:solidFill>
          </a:ln>
        </p:spPr>
        <p:txBody>
          <a:bodyPr lIns="72000" tIns="72000" rIns="72000" bIns="72000" anchor="ctr"/>
          <a:lstStyle/>
          <a:p>
            <a:pPr algn="ctr" defTabSz="914400">
              <a:lnSpc>
                <a:spcPts val="1100"/>
              </a:lnSpc>
              <a:spcBef>
                <a:spcPts val="900"/>
              </a:spcBef>
              <a:spcAft>
                <a:spcPts val="1200"/>
              </a:spcAft>
            </a:pPr>
            <a:r>
              <a:rPr lang="en-US" sz="1400" b="1" noProof="0">
                <a:solidFill>
                  <a:schemeClr val="accent1"/>
                </a:solidFill>
                <a:latin typeface="Ubuntu" panose="020B0504030602030204" pitchFamily="34" charset="0"/>
              </a:rPr>
              <a:t>We Will Achieve</a:t>
            </a:r>
          </a:p>
        </p:txBody>
      </p:sp>
      <p:grpSp>
        <p:nvGrpSpPr>
          <p:cNvPr id="2" name="Group 1">
            <a:extLst>
              <a:ext uri="{FF2B5EF4-FFF2-40B4-BE49-F238E27FC236}">
                <a16:creationId xmlns:a16="http://schemas.microsoft.com/office/drawing/2014/main" id="{24FECAAB-B009-AC89-23A7-08028E970793}"/>
              </a:ext>
            </a:extLst>
          </p:cNvPr>
          <p:cNvGrpSpPr/>
          <p:nvPr/>
        </p:nvGrpSpPr>
        <p:grpSpPr>
          <a:xfrm>
            <a:off x="355610" y="1609925"/>
            <a:ext cx="4467398" cy="4557687"/>
            <a:chOff x="355610" y="1609925"/>
            <a:chExt cx="4467398" cy="4557687"/>
          </a:xfrm>
        </p:grpSpPr>
        <p:sp>
          <p:nvSpPr>
            <p:cNvPr id="27" name="Rectangle 26">
              <a:extLst>
                <a:ext uri="{FF2B5EF4-FFF2-40B4-BE49-F238E27FC236}">
                  <a16:creationId xmlns:a16="http://schemas.microsoft.com/office/drawing/2014/main" id="{09C6FCD3-8ED0-40CB-5B44-9C57831FC47C}"/>
                </a:ext>
              </a:extLst>
            </p:cNvPr>
            <p:cNvSpPr/>
            <p:nvPr/>
          </p:nvSpPr>
          <p:spPr>
            <a:xfrm>
              <a:off x="412959" y="1609925"/>
              <a:ext cx="4410049" cy="4557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9" name="TextBox 8">
              <a:extLst>
                <a:ext uri="{FF2B5EF4-FFF2-40B4-BE49-F238E27FC236}">
                  <a16:creationId xmlns:a16="http://schemas.microsoft.com/office/drawing/2014/main" id="{8FE9A372-8139-AC2A-169F-1FC5AB51CA62}"/>
                </a:ext>
              </a:extLst>
            </p:cNvPr>
            <p:cNvSpPr txBox="1"/>
            <p:nvPr/>
          </p:nvSpPr>
          <p:spPr>
            <a:xfrm>
              <a:off x="355610" y="1965969"/>
              <a:ext cx="4410049" cy="4154984"/>
            </a:xfrm>
            <a:prstGeom prst="rect">
              <a:avLst/>
            </a:prstGeom>
            <a:noFill/>
          </p:spPr>
          <p:txBody>
            <a:bodyPr wrap="square" lIns="91440" tIns="45720" rIns="91440" bIns="45720" anchor="t">
              <a:spAutoFit/>
            </a:bodyPr>
            <a:lstStyle/>
            <a:p>
              <a:pPr marL="171450" marR="0" lvl="0" indent="-171450" algn="just" defTabSz="504218" rtl="0" eaLnBrk="0" fontAlgn="auto" latinLnBrk="0" hangingPunct="0">
                <a:lnSpc>
                  <a:spcPct val="100000"/>
                </a:lnSpc>
                <a:spcBef>
                  <a:spcPts val="0"/>
                </a:spcBef>
                <a:spcAft>
                  <a:spcPts val="0"/>
                </a:spcAft>
                <a:buClrTx/>
                <a:buSzTx/>
                <a:buFont typeface="Arial" panose="020B0604020202020204" pitchFamily="34" charset="0"/>
                <a:buChar char="•"/>
                <a:tabLst/>
                <a:defRPr/>
              </a:pPr>
              <a:r>
                <a:rPr lang="en-US" sz="1200" kern="0">
                  <a:solidFill>
                    <a:prstClr val="white"/>
                  </a:solidFill>
                  <a:cs typeface="Arial"/>
                </a:rPr>
                <a:t>Business</a:t>
              </a:r>
              <a:r>
                <a:rPr kumimoji="0" lang="en-US" sz="1200" b="0" i="0" u="none" strike="noStrike" kern="0" cap="none" spc="0" normalizeH="0" baseline="0" noProof="0">
                  <a:ln>
                    <a:noFill/>
                  </a:ln>
                  <a:solidFill>
                    <a:prstClr val="white"/>
                  </a:solidFill>
                  <a:effectLst/>
                  <a:uLnTx/>
                  <a:uFillTx/>
                  <a:latin typeface="+mn-lt"/>
                  <a:ea typeface="+mn-ea"/>
                  <a:cs typeface="Arial"/>
                </a:rPr>
                <a:t> looking at modernizing its OSS/BSS landscape in line with their vision &amp; business priorities with strong emphasis on ROI, reduce TCO &amp; reduced Time to Market </a:t>
              </a:r>
            </a:p>
            <a:p>
              <a:pPr marL="171450" marR="0" lvl="0" indent="-171450" algn="just" defTabSz="504218" rtl="0" eaLnBrk="0"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prstClr val="white"/>
                </a:solidFill>
                <a:effectLst/>
                <a:uLnTx/>
                <a:uFillTx/>
                <a:latin typeface="+mn-lt"/>
                <a:ea typeface="+mn-ea"/>
                <a:cs typeface="Arial"/>
              </a:endParaRPr>
            </a:p>
            <a:p>
              <a:pPr marL="171450" marR="0" lvl="0" indent="-171450" algn="just" defTabSz="504218" rtl="0" eaLnBrk="0"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prstClr val="white"/>
                </a:solidFill>
                <a:effectLst/>
                <a:uLnTx/>
                <a:uFillTx/>
                <a:latin typeface="+mn-lt"/>
                <a:ea typeface="+mn-ea"/>
                <a:cs typeface="Arial"/>
              </a:endParaRPr>
            </a:p>
            <a:p>
              <a:pPr marL="171450" marR="0" lvl="0" indent="-171450" algn="just" defTabSz="504218" rtl="0" eaLnBrk="0"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prstClr val="white"/>
                </a:solidFill>
                <a:effectLst/>
                <a:uLnTx/>
                <a:uFillTx/>
                <a:latin typeface="+mn-lt"/>
                <a:ea typeface="+mn-ea"/>
                <a:cs typeface="Arial"/>
              </a:endParaRPr>
            </a:p>
            <a:p>
              <a:pPr marL="171450" marR="0" lvl="0" indent="-171450" algn="just" defTabSz="504218"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white"/>
                  </a:solidFill>
                  <a:effectLst/>
                  <a:uLnTx/>
                  <a:uFillTx/>
                  <a:latin typeface="+mn-lt"/>
                  <a:ea typeface="+mn-ea"/>
                  <a:cs typeface="Arial"/>
                </a:rPr>
                <a:t>Comprehensive Diagnosis of the Current IT/Tech Ecosystem (OSS/BSS) to move towards Simplification, Standardization &amp; Modernization</a:t>
              </a:r>
            </a:p>
            <a:p>
              <a:pPr marL="171450" marR="0" lvl="0" indent="-171450" algn="just" defTabSz="504218" rtl="0" eaLnBrk="0"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prstClr val="white"/>
                </a:solidFill>
                <a:effectLst/>
                <a:uLnTx/>
                <a:uFillTx/>
                <a:latin typeface="+mn-lt"/>
                <a:ea typeface="+mn-ea"/>
                <a:cs typeface="Arial"/>
              </a:endParaRPr>
            </a:p>
            <a:p>
              <a:pPr marR="0" lvl="0" algn="just" defTabSz="504218" rtl="0" eaLnBrk="0" fontAlgn="auto" latinLnBrk="0" hangingPunct="0">
                <a:lnSpc>
                  <a:spcPct val="100000"/>
                </a:lnSpc>
                <a:spcBef>
                  <a:spcPts val="0"/>
                </a:spcBef>
                <a:spcAft>
                  <a:spcPts val="0"/>
                </a:spcAft>
                <a:buClrTx/>
                <a:buSzTx/>
                <a:tabLst/>
                <a:defRPr/>
              </a:pPr>
              <a:endParaRPr kumimoji="0" lang="en-US" sz="1200" b="0" i="0" u="none" strike="noStrike" kern="0" cap="none" spc="0" normalizeH="0" baseline="0" noProof="0">
                <a:ln>
                  <a:noFill/>
                </a:ln>
                <a:solidFill>
                  <a:prstClr val="white"/>
                </a:solidFill>
                <a:effectLst/>
                <a:uLnTx/>
                <a:uFillTx/>
                <a:latin typeface="+mn-lt"/>
                <a:ea typeface="+mn-ea"/>
                <a:cs typeface="Arial"/>
              </a:endParaRPr>
            </a:p>
            <a:p>
              <a:pPr marL="171450" marR="0" lvl="0" indent="-171450" algn="just" defTabSz="504218" rtl="0" eaLnBrk="0"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prstClr val="white"/>
                </a:solidFill>
                <a:effectLst/>
                <a:uLnTx/>
                <a:uFillTx/>
                <a:latin typeface="+mn-lt"/>
                <a:ea typeface="+mn-ea"/>
                <a:cs typeface="Arial"/>
              </a:endParaRPr>
            </a:p>
            <a:p>
              <a:pPr marL="171450" marR="0" lvl="0" indent="-171450" algn="just" defTabSz="504218"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white"/>
                  </a:solidFill>
                  <a:effectLst/>
                  <a:uLnTx/>
                  <a:uFillTx/>
                  <a:latin typeface="+mn-lt"/>
                  <a:ea typeface="+mn-ea"/>
                  <a:cs typeface="Arial"/>
                </a:rPr>
                <a:t>Identifying and address pain points, technical debt issues, apps and process gaps by aligning internal practices with telco industry standards to drive operational efficiencies &amp; improvements.</a:t>
              </a:r>
              <a:endParaRPr lang="en-US" sz="1200" b="0" i="0" u="none" strike="noStrike" kern="0" cap="none" spc="0" normalizeH="0" baseline="0" noProof="0">
                <a:ln>
                  <a:noFill/>
                </a:ln>
                <a:solidFill>
                  <a:prstClr val="white"/>
                </a:solidFill>
                <a:effectLst/>
                <a:uLnTx/>
                <a:uFillTx/>
                <a:latin typeface="+mn-lt"/>
                <a:cs typeface="Arial"/>
              </a:endParaRPr>
            </a:p>
            <a:p>
              <a:pPr marL="171450" marR="0" lvl="0" indent="-171450" algn="just" defTabSz="504218" rtl="0" eaLnBrk="0"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prstClr val="white"/>
                </a:solidFill>
                <a:effectLst/>
                <a:uLnTx/>
                <a:uFillTx/>
                <a:latin typeface="+mn-lt"/>
                <a:ea typeface="+mn-ea"/>
                <a:cs typeface="Arial"/>
              </a:endParaRPr>
            </a:p>
            <a:p>
              <a:pPr marR="0" lvl="0" algn="just" defTabSz="504218" rtl="0" eaLnBrk="0" fontAlgn="auto" latinLnBrk="0" hangingPunct="0">
                <a:lnSpc>
                  <a:spcPct val="100000"/>
                </a:lnSpc>
                <a:spcBef>
                  <a:spcPts val="0"/>
                </a:spcBef>
                <a:spcAft>
                  <a:spcPts val="0"/>
                </a:spcAft>
                <a:buClrTx/>
                <a:buSzTx/>
                <a:tabLst/>
                <a:defRPr/>
              </a:pPr>
              <a:endParaRPr kumimoji="0" lang="en-US" sz="1200" b="0" i="0" u="none" strike="noStrike" kern="0" cap="none" spc="0" normalizeH="0" baseline="0" noProof="0">
                <a:ln>
                  <a:noFill/>
                </a:ln>
                <a:solidFill>
                  <a:prstClr val="white"/>
                </a:solidFill>
                <a:effectLst/>
                <a:uLnTx/>
                <a:uFillTx/>
                <a:latin typeface="+mn-lt"/>
                <a:ea typeface="+mn-ea"/>
                <a:cs typeface="Arial"/>
              </a:endParaRPr>
            </a:p>
            <a:p>
              <a:pPr marL="171450" marR="0" lvl="0" indent="-171450" algn="just" defTabSz="504218" rtl="0" eaLnBrk="0"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prstClr val="white"/>
                </a:solidFill>
                <a:effectLst/>
                <a:uLnTx/>
                <a:uFillTx/>
                <a:latin typeface="+mn-lt"/>
                <a:ea typeface="+mn-ea"/>
                <a:cs typeface="Arial"/>
              </a:endParaRPr>
            </a:p>
            <a:p>
              <a:pPr marL="171450" marR="0" lvl="0" indent="-171450" algn="just" defTabSz="504218"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white"/>
                  </a:solidFill>
                  <a:effectLst/>
                  <a:uLnTx/>
                  <a:uFillTx/>
                  <a:latin typeface="+mn-lt"/>
                  <a:ea typeface="+mn-ea"/>
                  <a:cs typeface="Arial"/>
                </a:rPr>
                <a:t>End-to-end digitalization &amp; modernization to transform the existing obsolete landscape to enable superior customer experiences &amp; future-ready driven solutions.</a:t>
              </a:r>
            </a:p>
          </p:txBody>
        </p:sp>
      </p:grpSp>
      <p:sp>
        <p:nvSpPr>
          <p:cNvPr id="10" name="Textplatzhalter 7">
            <a:extLst>
              <a:ext uri="{FF2B5EF4-FFF2-40B4-BE49-F238E27FC236}">
                <a16:creationId xmlns:a16="http://schemas.microsoft.com/office/drawing/2014/main" id="{27FF1952-B394-5760-EC37-9AC978191538}"/>
              </a:ext>
            </a:extLst>
          </p:cNvPr>
          <p:cNvSpPr txBox="1">
            <a:spLocks/>
          </p:cNvSpPr>
          <p:nvPr/>
        </p:nvSpPr>
        <p:spPr bwMode="gray">
          <a:xfrm>
            <a:off x="6368770" y="1609925"/>
            <a:ext cx="5418943" cy="1002563"/>
          </a:xfrm>
          <a:prstGeom prst="rect">
            <a:avLst/>
          </a:prstGeom>
        </p:spPr>
        <p:txBody>
          <a:bodyPr lIns="0" tIns="0" rIns="0" bIns="0" anchor="ctr"/>
          <a:lstStyle>
            <a:lvl1pPr marL="0" indent="0" algn="l" defTabSz="914400" rtl="0" eaLnBrk="1" latinLnBrk="0" hangingPunct="1">
              <a:spcBef>
                <a:spcPts val="0"/>
              </a:spcBef>
              <a:spcAft>
                <a:spcPts val="600"/>
              </a:spcAft>
              <a:buFont typeface="Arial" panose="020B0604020202020204" pitchFamily="34" charset="0"/>
              <a:buNone/>
              <a:defRPr sz="1400" kern="1200" cap="none" baseline="0">
                <a:solidFill>
                  <a:schemeClr val="tx1"/>
                </a:solidFill>
                <a:latin typeface="+mn-lt"/>
                <a:ea typeface="+mn-ea"/>
                <a:cs typeface="+mn-cs"/>
              </a:defRPr>
            </a:lvl1pPr>
            <a:lvl2pPr marL="0" indent="0" algn="l" defTabSz="914400" rtl="0" eaLnBrk="1" latinLnBrk="0" hangingPunct="1">
              <a:spcBef>
                <a:spcPts val="0"/>
              </a:spcBef>
              <a:spcAft>
                <a:spcPts val="600"/>
              </a:spcAft>
              <a:buFont typeface="Arial" panose="020B0604020202020204" pitchFamily="34" charset="0"/>
              <a:buNone/>
              <a:defRPr sz="1400" kern="1200" cap="none">
                <a:solidFill>
                  <a:schemeClr val="tx1"/>
                </a:solidFill>
                <a:latin typeface="+mn-lt"/>
                <a:ea typeface="+mn-ea"/>
                <a:cs typeface="+mn-cs"/>
              </a:defRPr>
            </a:lvl2pPr>
            <a:lvl3pPr marL="0" indent="0" algn="l" defTabSz="914400" rtl="0" eaLnBrk="1" latinLnBrk="0" hangingPunct="1">
              <a:spcBef>
                <a:spcPts val="0"/>
              </a:spcBef>
              <a:spcAft>
                <a:spcPts val="600"/>
              </a:spcAft>
              <a:buClr>
                <a:schemeClr val="bg2"/>
              </a:buClr>
              <a:buFont typeface="Symbol" panose="05050102010706020507" pitchFamily="18" charset="2"/>
              <a:buNone/>
              <a:defRPr sz="1400" kern="1200" cap="none">
                <a:solidFill>
                  <a:schemeClr val="tx1"/>
                </a:solidFill>
                <a:latin typeface="+mn-lt"/>
                <a:ea typeface="+mn-ea"/>
                <a:cs typeface="+mn-cs"/>
              </a:defRPr>
            </a:lvl3pPr>
            <a:lvl4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4pPr>
            <a:lvl5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5pPr>
            <a:lvl6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6pPr>
            <a:lvl7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7pPr>
            <a:lvl8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8pPr>
            <a:lvl9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1" i="0" u="none" strike="noStrike" kern="1200" cap="all" spc="0" normalizeH="0" baseline="0" noProof="0">
                <a:ln>
                  <a:noFill/>
                </a:ln>
                <a:solidFill>
                  <a:schemeClr val="accent2"/>
                </a:solidFill>
                <a:effectLst/>
                <a:uLnTx/>
                <a:uFillTx/>
                <a:latin typeface="Ubuntu"/>
                <a:ea typeface="+mn-ea"/>
                <a:cs typeface="Arial" panose="020B0604020202020204" pitchFamily="34" charset="0"/>
              </a:rPr>
              <a:t>Modernized Landscape Roadmap</a:t>
            </a:r>
          </a:p>
          <a:p>
            <a:pPr algn="just">
              <a:defRPr/>
            </a:pPr>
            <a:r>
              <a:rPr kumimoji="0" lang="en-US" sz="1200" b="0" i="0" u="none" strike="noStrike" kern="1200" cap="none" spc="0" normalizeH="0" baseline="0" noProof="0">
                <a:ln>
                  <a:noFill/>
                </a:ln>
                <a:solidFill>
                  <a:srgbClr val="FFFFFF"/>
                </a:solidFill>
                <a:effectLst/>
                <a:uLnTx/>
                <a:uFillTx/>
                <a:latin typeface="Ubuntu"/>
                <a:ea typeface="+mn-ea"/>
                <a:cs typeface="Arial"/>
              </a:rPr>
              <a:t>Detailed Modernized Future State Blueprint (BSS/OS) across Mobile &amp; Fixed Line Services mapped to industry best practices current state. Top prioritized Modernization Opportunities</a:t>
            </a:r>
            <a:endParaRPr lang="en-US" sz="1200" b="0" i="0" u="none" strike="noStrike" kern="1200" cap="none" spc="0" normalizeH="0" baseline="0" noProof="0">
              <a:ln>
                <a:noFill/>
              </a:ln>
              <a:solidFill>
                <a:srgbClr val="FFFFFF"/>
              </a:solidFill>
              <a:effectLst/>
              <a:uLnTx/>
              <a:uFillTx/>
              <a:latin typeface="Ubuntu"/>
              <a:cs typeface="Arial"/>
            </a:endParaRPr>
          </a:p>
        </p:txBody>
      </p:sp>
      <p:sp>
        <p:nvSpPr>
          <p:cNvPr id="16" name="TextBox 15">
            <a:extLst>
              <a:ext uri="{FF2B5EF4-FFF2-40B4-BE49-F238E27FC236}">
                <a16:creationId xmlns:a16="http://schemas.microsoft.com/office/drawing/2014/main" id="{C4190CFF-67E8-64F9-62C9-E3161DE3922A}"/>
              </a:ext>
            </a:extLst>
          </p:cNvPr>
          <p:cNvSpPr txBox="1"/>
          <p:nvPr/>
        </p:nvSpPr>
        <p:spPr>
          <a:xfrm>
            <a:off x="6265900" y="2775974"/>
            <a:ext cx="5624682" cy="112338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1" i="0" u="none" strike="noStrike" kern="1200" cap="all" spc="0" normalizeH="0" baseline="0" noProof="0">
                <a:ln>
                  <a:noFill/>
                </a:ln>
                <a:solidFill>
                  <a:srgbClr val="12ABDB"/>
                </a:solidFill>
                <a:effectLst/>
                <a:uLnTx/>
                <a:uFillTx/>
                <a:latin typeface="Ubuntu"/>
                <a:ea typeface="+mn-ea"/>
                <a:cs typeface="Arial" panose="020B0604020202020204" pitchFamily="34" charset="0"/>
              </a:rPr>
              <a:t>Operational Optimization Opportunities </a:t>
            </a:r>
          </a:p>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i="0" u="none" strike="noStrike" kern="1200" cap="none" spc="0" normalizeH="0" baseline="0" noProof="0">
                <a:ln>
                  <a:noFill/>
                </a:ln>
                <a:solidFill>
                  <a:srgbClr val="FFFFFF"/>
                </a:solidFill>
                <a:effectLst/>
                <a:uLnTx/>
                <a:uFillTx/>
                <a:latin typeface="Ubuntu"/>
                <a:ea typeface="+mn-ea"/>
                <a:cs typeface="Arial" panose="020B0604020202020204" pitchFamily="34" charset="0"/>
              </a:rPr>
              <a:t>Improved Operating Model design for </a:t>
            </a:r>
            <a:r>
              <a:rPr kumimoji="0" lang="en-US" sz="1200" i="0" u="none" strike="noStrike" kern="1200" cap="none" spc="0" normalizeH="0" baseline="0" noProof="0">
                <a:ln>
                  <a:noFill/>
                </a:ln>
                <a:solidFill>
                  <a:schemeClr val="bg1"/>
                </a:solidFill>
                <a:effectLst/>
                <a:uLnTx/>
                <a:uFillTx/>
                <a:latin typeface="Ubuntu"/>
                <a:ea typeface="+mn-ea"/>
                <a:cs typeface="Arial" panose="020B0604020202020204" pitchFamily="34" charset="0"/>
              </a:rPr>
              <a:t>lower TCO, O&amp;M costs, quick wins to achieve operational improvements &amp; efficiencies across Tools &amp; Technology landscape marked with migration &amp; automation,  mapped to industry benchmarks</a:t>
            </a:r>
          </a:p>
        </p:txBody>
      </p:sp>
      <p:sp>
        <p:nvSpPr>
          <p:cNvPr id="17" name="Textplatzhalter 7">
            <a:extLst>
              <a:ext uri="{FF2B5EF4-FFF2-40B4-BE49-F238E27FC236}">
                <a16:creationId xmlns:a16="http://schemas.microsoft.com/office/drawing/2014/main" id="{77623EAB-27C3-00EF-7011-BA55DBF03E83}"/>
              </a:ext>
            </a:extLst>
          </p:cNvPr>
          <p:cNvSpPr txBox="1">
            <a:spLocks/>
          </p:cNvSpPr>
          <p:nvPr/>
        </p:nvSpPr>
        <p:spPr bwMode="gray">
          <a:xfrm>
            <a:off x="6368770" y="4062844"/>
            <a:ext cx="5410272" cy="1002563"/>
          </a:xfrm>
          <a:prstGeom prst="rect">
            <a:avLst/>
          </a:prstGeom>
        </p:spPr>
        <p:txBody>
          <a:bodyPr lIns="0" tIns="0" rIns="0" bIns="0" anchor="ctr"/>
          <a:lstStyle>
            <a:lvl1pPr marL="0" indent="0" algn="l" defTabSz="914400" rtl="0" eaLnBrk="1" latinLnBrk="0" hangingPunct="1">
              <a:spcBef>
                <a:spcPts val="0"/>
              </a:spcBef>
              <a:spcAft>
                <a:spcPts val="600"/>
              </a:spcAft>
              <a:buFont typeface="Arial" panose="020B0604020202020204" pitchFamily="34" charset="0"/>
              <a:buNone/>
              <a:defRPr sz="1400" kern="1200" cap="none" baseline="0">
                <a:solidFill>
                  <a:schemeClr val="tx1"/>
                </a:solidFill>
                <a:latin typeface="+mn-lt"/>
                <a:ea typeface="+mn-ea"/>
                <a:cs typeface="+mn-cs"/>
              </a:defRPr>
            </a:lvl1pPr>
            <a:lvl2pPr marL="0" indent="0" algn="l" defTabSz="914400" rtl="0" eaLnBrk="1" latinLnBrk="0" hangingPunct="1">
              <a:spcBef>
                <a:spcPts val="0"/>
              </a:spcBef>
              <a:spcAft>
                <a:spcPts val="600"/>
              </a:spcAft>
              <a:buFont typeface="Arial" panose="020B0604020202020204" pitchFamily="34" charset="0"/>
              <a:buNone/>
              <a:defRPr sz="1400" kern="1200" cap="none">
                <a:solidFill>
                  <a:schemeClr val="tx1"/>
                </a:solidFill>
                <a:latin typeface="+mn-lt"/>
                <a:ea typeface="+mn-ea"/>
                <a:cs typeface="+mn-cs"/>
              </a:defRPr>
            </a:lvl2pPr>
            <a:lvl3pPr marL="0" indent="0" algn="l" defTabSz="914400" rtl="0" eaLnBrk="1" latinLnBrk="0" hangingPunct="1">
              <a:spcBef>
                <a:spcPts val="0"/>
              </a:spcBef>
              <a:spcAft>
                <a:spcPts val="600"/>
              </a:spcAft>
              <a:buClr>
                <a:schemeClr val="bg2"/>
              </a:buClr>
              <a:buFont typeface="Symbol" panose="05050102010706020507" pitchFamily="18" charset="2"/>
              <a:buNone/>
              <a:defRPr sz="1400" kern="1200" cap="none">
                <a:solidFill>
                  <a:schemeClr val="tx1"/>
                </a:solidFill>
                <a:latin typeface="+mn-lt"/>
                <a:ea typeface="+mn-ea"/>
                <a:cs typeface="+mn-cs"/>
              </a:defRPr>
            </a:lvl3pPr>
            <a:lvl4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4pPr>
            <a:lvl5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5pPr>
            <a:lvl6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6pPr>
            <a:lvl7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7pPr>
            <a:lvl8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8pPr>
            <a:lvl9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1" i="0" u="none" strike="noStrike" kern="1200" cap="all" spc="0" normalizeH="0" baseline="0" noProof="0">
                <a:ln>
                  <a:noFill/>
                </a:ln>
                <a:solidFill>
                  <a:schemeClr val="accent2"/>
                </a:solidFill>
                <a:effectLst/>
                <a:uLnTx/>
                <a:uFillTx/>
                <a:latin typeface="Ubuntu"/>
                <a:ea typeface="+mn-ea"/>
                <a:cs typeface="Arial" panose="020B0604020202020204" pitchFamily="34" charset="0"/>
              </a:rPr>
              <a:t>Financial Ownership Model</a:t>
            </a:r>
          </a:p>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Ubuntu"/>
                <a:ea typeface="+mn-ea"/>
                <a:cs typeface="Arial" panose="020B0604020202020204" pitchFamily="34" charset="0"/>
              </a:rPr>
              <a:t>A comprehensive investment and business case blueprint, leveraging a Total Cost of Ownership (TCO) model, outlines projected Ca</a:t>
            </a:r>
            <a:r>
              <a:rPr lang="en-US" sz="1200" noProof="0">
                <a:solidFill>
                  <a:srgbClr val="FFFFFF"/>
                </a:solidFill>
                <a:latin typeface="Ubuntu"/>
                <a:cs typeface="Arial" panose="020B0604020202020204" pitchFamily="34" charset="0"/>
              </a:rPr>
              <a:t>pE</a:t>
            </a:r>
            <a:r>
              <a:rPr kumimoji="0" lang="en-US" sz="1200" b="0" i="0" u="none" strike="noStrike" kern="1200" cap="none" spc="0" normalizeH="0" baseline="0" noProof="0">
                <a:ln>
                  <a:noFill/>
                </a:ln>
                <a:solidFill>
                  <a:srgbClr val="FFFFFF"/>
                </a:solidFill>
                <a:effectLst/>
                <a:uLnTx/>
                <a:uFillTx/>
                <a:latin typeface="Ubuntu"/>
                <a:ea typeface="+mn-ea"/>
                <a:cs typeface="Arial" panose="020B0604020202020204" pitchFamily="34" charset="0"/>
              </a:rPr>
              <a:t>x, OpEx, ROI, and prioritization of initiatives to support informed decision-making</a:t>
            </a:r>
          </a:p>
        </p:txBody>
      </p:sp>
      <p:sp>
        <p:nvSpPr>
          <p:cNvPr id="23" name="TextBox 22">
            <a:extLst>
              <a:ext uri="{FF2B5EF4-FFF2-40B4-BE49-F238E27FC236}">
                <a16:creationId xmlns:a16="http://schemas.microsoft.com/office/drawing/2014/main" id="{F48C788C-5BBB-3DD1-2B9A-A718ECCB315A}"/>
              </a:ext>
            </a:extLst>
          </p:cNvPr>
          <p:cNvSpPr txBox="1"/>
          <p:nvPr/>
        </p:nvSpPr>
        <p:spPr>
          <a:xfrm>
            <a:off x="6265900" y="5228893"/>
            <a:ext cx="5521813" cy="93871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1" i="0" u="none" strike="noStrike" kern="1200" cap="all" spc="0" normalizeH="0" baseline="0" noProof="0">
                <a:ln>
                  <a:noFill/>
                </a:ln>
                <a:solidFill>
                  <a:srgbClr val="12ABDB"/>
                </a:solidFill>
                <a:effectLst/>
                <a:uLnTx/>
                <a:uFillTx/>
                <a:latin typeface="Ubuntu"/>
                <a:ea typeface="+mn-ea"/>
                <a:cs typeface="Arial" panose="020B0604020202020204" pitchFamily="34" charset="0"/>
              </a:rPr>
              <a:t>Technology Partner Selection </a:t>
            </a:r>
          </a:p>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Ubuntu"/>
                <a:ea typeface="+mn-ea"/>
                <a:cs typeface="Arial" panose="020B0604020202020204" pitchFamily="34" charset="0"/>
              </a:rPr>
              <a:t>Technology partner selection evaluation framework marked with business, technological &amp; financial, other criteria with final recommendations &amp; future-ready Gen AI driven solutions. </a:t>
            </a:r>
          </a:p>
        </p:txBody>
      </p:sp>
      <p:pic>
        <p:nvPicPr>
          <p:cNvPr id="5124" name="Picture 4" descr="Search opportunity icon simple vector. Business success 15015035 Vector ...">
            <a:extLst>
              <a:ext uri="{FF2B5EF4-FFF2-40B4-BE49-F238E27FC236}">
                <a16:creationId xmlns:a16="http://schemas.microsoft.com/office/drawing/2014/main" id="{98DED432-96CD-446B-2E33-F1258582E4EE}"/>
              </a:ext>
            </a:extLst>
          </p:cNvPr>
          <p:cNvPicPr>
            <a:picLocks noChangeAspect="1" noChangeArrowheads="1"/>
          </p:cNvPicPr>
          <p:nvPr/>
        </p:nvPicPr>
        <p:blipFill>
          <a:blip r:embed="rId2">
            <a:clrChange>
              <a:clrFrom>
                <a:srgbClr val="000000">
                  <a:alpha val="0"/>
                </a:srgbClr>
              </a:clrFrom>
              <a:clrTo>
                <a:srgbClr val="000000">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backgroundRemoval t="7083" b="93958" l="6615" r="90104">
                        <a14:foregroundMark x1="37604" y1="24479" x2="37604" y2="24479"/>
                        <a14:foregroundMark x1="59115" y1="14688" x2="59115" y2="14688"/>
                        <a14:foregroundMark x1="74792" y1="24479" x2="74792" y2="24479"/>
                        <a14:foregroundMark x1="90260" y1="46146" x2="90260" y2="46146"/>
                        <a14:foregroundMark x1="55625" y1="7187" x2="55625" y2="7187"/>
                        <a14:foregroundMark x1="23958" y1="44479" x2="23958" y2="44479"/>
                        <a14:foregroundMark x1="29427" y1="66667" x2="29427" y2="66667"/>
                        <a14:foregroundMark x1="40260" y1="59688" x2="40260" y2="59688"/>
                        <a14:foregroundMark x1="54948" y1="77188" x2="54948" y2="77188"/>
                        <a14:foregroundMark x1="75469" y1="63854" x2="75469" y2="63854"/>
                        <a14:foregroundMark x1="10938" y1="94010" x2="10938" y2="94010"/>
                        <a14:foregroundMark x1="6615" y1="90521" x2="6615" y2="90521"/>
                      </a14:backgroundRemoval>
                    </a14:imgEffect>
                    <a14:imgEffect>
                      <a14:colorTemperature colorTemp="8800"/>
                    </a14:imgEffect>
                  </a14:imgLayer>
                </a14:imgProps>
              </a:ext>
              <a:ext uri="{28A0092B-C50C-407E-A947-70E740481C1C}">
                <a14:useLocalDpi xmlns:a14="http://schemas.microsoft.com/office/drawing/2010/main" val="0"/>
              </a:ext>
            </a:extLst>
          </a:blip>
          <a:srcRect/>
          <a:stretch>
            <a:fillRect/>
          </a:stretch>
        </p:blipFill>
        <p:spPr bwMode="auto">
          <a:xfrm flipH="1">
            <a:off x="5743610" y="2775974"/>
            <a:ext cx="522290" cy="52229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financial modeling glyph icon vector illustration 10331341 Vector Art ...">
            <a:extLst>
              <a:ext uri="{FF2B5EF4-FFF2-40B4-BE49-F238E27FC236}">
                <a16:creationId xmlns:a16="http://schemas.microsoft.com/office/drawing/2014/main" id="{1201ACBE-B615-E89D-276A-0D2D1B0A246C}"/>
              </a:ext>
            </a:extLst>
          </p:cNvPr>
          <p:cNvPicPr>
            <a:picLocks noChangeAspect="1" noChangeArrowheads="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ackgroundRemoval t="10000" b="90000" l="10000" r="90000">
                        <a14:foregroundMark x1="32245" y1="22551" x2="32245" y2="22551"/>
                        <a14:foregroundMark x1="66735" y1="45306" x2="66735" y2="45306"/>
                        <a14:foregroundMark x1="47245" y1="39796" x2="47245" y2="39796"/>
                      </a14:backgroundRemoval>
                    </a14:imgEffect>
                  </a14:imgLayer>
                </a14:imgProps>
              </a:ext>
              <a:ext uri="{28A0092B-C50C-407E-A947-70E740481C1C}">
                <a14:useLocalDpi xmlns:a14="http://schemas.microsoft.com/office/drawing/2010/main" val="0"/>
              </a:ext>
            </a:extLst>
          </a:blip>
          <a:srcRect l="19483" t="16068" r="18555" b="15843"/>
          <a:stretch>
            <a:fillRect/>
          </a:stretch>
        </p:blipFill>
        <p:spPr bwMode="auto">
          <a:xfrm>
            <a:off x="5836142" y="4127502"/>
            <a:ext cx="475279" cy="522291"/>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address logo 10 free Cliparts | Download images on Clipground 2025">
            <a:extLst>
              <a:ext uri="{FF2B5EF4-FFF2-40B4-BE49-F238E27FC236}">
                <a16:creationId xmlns:a16="http://schemas.microsoft.com/office/drawing/2014/main" id="{4FDD468E-4131-9D81-49AA-30B42077709E}"/>
              </a:ext>
            </a:extLst>
          </p:cNvPr>
          <p:cNvPicPr>
            <a:picLocks noChangeAspect="1" noChangeArrowheads="1"/>
          </p:cNvPicPr>
          <p:nvPr/>
        </p:nvPicPr>
        <p:blipFill rotWithShape="1">
          <a:blip r:embed="rId6">
            <a:duotone>
              <a:schemeClr val="accent1">
                <a:shade val="45000"/>
                <a:satMod val="135000"/>
              </a:schemeClr>
              <a:prstClr val="white"/>
            </a:duotone>
            <a:extLst>
              <a:ext uri="{BEBA8EAE-BF5A-486C-A8C5-ECC9F3942E4B}">
                <a14:imgProps xmlns:a14="http://schemas.microsoft.com/office/drawing/2010/main">
                  <a14:imgLayer r:embed="rId7">
                    <a14:imgEffect>
                      <a14:backgroundRemoval t="3308" b="89967" l="10000" r="90000">
                        <a14:foregroundMark x1="34615" y1="21830" x2="34615" y2="21830"/>
                        <a14:foregroundMark x1="52308" y1="56670" x2="52308" y2="56670"/>
                        <a14:foregroundMark x1="55934" y1="26792" x2="55934" y2="26792"/>
                        <a14:foregroundMark x1="65385" y1="36825" x2="65385" y2="36825"/>
                        <a14:foregroundMark x1="53407" y1="51709" x2="40879" y2="38479"/>
                        <a14:foregroundMark x1="40879" y1="38479" x2="36484" y2="26240"/>
                        <a14:foregroundMark x1="36484" y1="26240" x2="36154" y2="18302"/>
                        <a14:foregroundMark x1="33956" y1="15877" x2="30549" y2="23374"/>
                        <a14:foregroundMark x1="30549" y1="23374" x2="30879" y2="31863"/>
                        <a14:foregroundMark x1="30879" y1="31863" x2="44725" y2="71003"/>
                        <a14:foregroundMark x1="44725" y1="71003" x2="44945" y2="74642"/>
                        <a14:foregroundMark x1="52308" y1="64829" x2="66703" y2="33186"/>
                        <a14:foregroundMark x1="66703" y1="33186" x2="66923" y2="33186"/>
                        <a14:foregroundMark x1="68022" y1="27343" x2="63956" y2="17530"/>
                        <a14:foregroundMark x1="63956" y1="17530" x2="58791" y2="12789"/>
                        <a14:foregroundMark x1="58791" y1="12789" x2="47692" y2="8710"/>
                        <a14:foregroundMark x1="47692" y1="8710" x2="40220" y2="12459"/>
                        <a14:foregroundMark x1="40220" y1="12459" x2="36374" y2="17310"/>
                        <a14:foregroundMark x1="33297" y1="12018" x2="40769" y2="5513"/>
                        <a14:foregroundMark x1="40769" y1="5513" x2="48901" y2="3859"/>
                        <a14:foregroundMark x1="48901" y1="3859" x2="58791" y2="6505"/>
                        <a14:foregroundMark x1="58791" y1="6505" x2="65495" y2="14223"/>
                        <a14:foregroundMark x1="65495" y1="14223" x2="68681" y2="34509"/>
                        <a14:foregroundMark x1="68681" y1="34509" x2="68571" y2="35281"/>
                        <a14:foregroundMark x1="55385" y1="3638" x2="41099" y2="3308"/>
                      </a14:backgroundRemoval>
                    </a14:imgEffect>
                  </a14:imgLayer>
                </a14:imgProps>
              </a:ext>
              <a:ext uri="{28A0092B-C50C-407E-A947-70E740481C1C}">
                <a14:useLocalDpi xmlns:a14="http://schemas.microsoft.com/office/drawing/2010/main" val="0"/>
              </a:ext>
            </a:extLst>
          </a:blip>
          <a:srcRect l="21877" r="22146" b="18167"/>
          <a:stretch>
            <a:fillRect/>
          </a:stretch>
        </p:blipFill>
        <p:spPr bwMode="auto">
          <a:xfrm>
            <a:off x="5823231" y="1690861"/>
            <a:ext cx="422447" cy="55021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hape&#10;&#10;Description automatically generated with low confidence">
            <a:extLst>
              <a:ext uri="{FF2B5EF4-FFF2-40B4-BE49-F238E27FC236}">
                <a16:creationId xmlns:a16="http://schemas.microsoft.com/office/drawing/2014/main" id="{74F69C0B-1CE4-BF4F-E124-8C778F8A9A5C}"/>
              </a:ext>
            </a:extLst>
          </p:cNvPr>
          <p:cNvPicPr>
            <a:picLocks noChangeAspect="1" noChangeArrowheads="1"/>
          </p:cNvPicPr>
          <p:nvPr/>
        </p:nvPicPr>
        <p:blipFill>
          <a:blip r:embed="rId8">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812636" y="5249192"/>
            <a:ext cx="522290" cy="522290"/>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444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B0881F1-F001-40E8-C808-63DAEC8DCB47}"/>
              </a:ext>
            </a:extLst>
          </p:cNvPr>
          <p:cNvSpPr>
            <a:spLocks/>
          </p:cNvSpPr>
          <p:nvPr/>
        </p:nvSpPr>
        <p:spPr>
          <a:xfrm>
            <a:off x="8631521" y="3420059"/>
            <a:ext cx="2802247" cy="441483"/>
          </a:xfrm>
          <a:prstGeom prst="rect">
            <a:avLst/>
          </a:prstGeom>
          <a:noFill/>
          <a:ln w="19050" cap="sq">
            <a:solidFill>
              <a:schemeClr val="accent1">
                <a:lumMod val="60000"/>
                <a:lumOff val="40000"/>
              </a:schemeClr>
            </a:solidFill>
            <a:miter lim="800000"/>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0BBC5313-84A5-A847-9AB4-460D884FE9E1}"/>
              </a:ext>
            </a:extLst>
          </p:cNvPr>
          <p:cNvSpPr>
            <a:spLocks/>
          </p:cNvSpPr>
          <p:nvPr/>
        </p:nvSpPr>
        <p:spPr>
          <a:xfrm>
            <a:off x="4695898" y="3420059"/>
            <a:ext cx="2802247" cy="441483"/>
          </a:xfrm>
          <a:prstGeom prst="rect">
            <a:avLst/>
          </a:prstGeom>
          <a:noFill/>
          <a:ln w="19050" cap="sq">
            <a:solidFill>
              <a:schemeClr val="accent1">
                <a:lumMod val="60000"/>
                <a:lumOff val="40000"/>
              </a:schemeClr>
            </a:solidFill>
            <a:miter lim="800000"/>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285EBB8C-89FB-8626-295F-13A0436F9FBE}"/>
              </a:ext>
            </a:extLst>
          </p:cNvPr>
          <p:cNvSpPr txBox="1">
            <a:spLocks/>
          </p:cNvSpPr>
          <p:nvPr/>
        </p:nvSpPr>
        <p:spPr>
          <a:xfrm>
            <a:off x="503332" y="212532"/>
            <a:ext cx="10515600" cy="511062"/>
          </a:xfrm>
          <a:prstGeom prst="rect">
            <a:avLst/>
          </a:prstGeom>
        </p:spPr>
        <p:txBody>
          <a:bodyPr vert="horz" lIns="0" tIns="0" rIns="0" bIns="0" rtlCol="0" anchor="t">
            <a:noAutofit/>
          </a:bodyPr>
          <a:lstStyle>
            <a:lvl1pPr marR="0" indent="0" defTabSz="914400" fontAlgn="auto">
              <a:lnSpc>
                <a:spcPct val="90000"/>
              </a:lnSpc>
              <a:spcBef>
                <a:spcPct val="0"/>
              </a:spcBef>
              <a:spcAft>
                <a:spcPts val="0"/>
              </a:spcAft>
              <a:buClrTx/>
              <a:buSzTx/>
              <a:buFontTx/>
              <a:buNone/>
              <a:tabLst/>
              <a:defRPr kumimoji="0" lang="en-US" sz="2400" b="0" i="0" u="none" strike="noStrike" cap="all" spc="0" normalizeH="0" baseline="0" noProof="0">
                <a:ln>
                  <a:noFill/>
                </a:ln>
                <a:solidFill>
                  <a:schemeClr val="bg1"/>
                </a:solidFill>
                <a:effectLst/>
                <a:uLnTx/>
                <a:uFillTx/>
                <a:latin typeface="+mj-lt"/>
                <a:ea typeface="+mj-ea"/>
                <a:cs typeface="+mj-cs"/>
              </a:defRPr>
            </a:lvl1pPr>
          </a:lstStyle>
          <a:p>
            <a:r>
              <a:rPr lang="en-US" sz="2400" cap="none" noProof="0">
                <a:latin typeface="+mn-lt"/>
              </a:rPr>
              <a:t>North Star Vision </a:t>
            </a:r>
            <a:endParaRPr lang="en-US" cap="none" noProof="0">
              <a:latin typeface="+mn-lt"/>
            </a:endParaRPr>
          </a:p>
        </p:txBody>
      </p:sp>
      <p:sp>
        <p:nvSpPr>
          <p:cNvPr id="5" name="Title 1">
            <a:extLst>
              <a:ext uri="{FF2B5EF4-FFF2-40B4-BE49-F238E27FC236}">
                <a16:creationId xmlns:a16="http://schemas.microsoft.com/office/drawing/2014/main" id="{E395FB61-69CA-7D30-0334-78B268BD1526}"/>
              </a:ext>
            </a:extLst>
          </p:cNvPr>
          <p:cNvSpPr txBox="1">
            <a:spLocks/>
          </p:cNvSpPr>
          <p:nvPr/>
        </p:nvSpPr>
        <p:spPr>
          <a:xfrm>
            <a:off x="487528" y="789695"/>
            <a:ext cx="11676530" cy="511062"/>
          </a:xfrm>
          <a:prstGeom prst="rect">
            <a:avLst/>
          </a:prstGeom>
        </p:spPr>
        <p:txBody>
          <a:bodyPr vert="horz" lIns="0" tIns="0" rIns="0" bIns="0" rtlCol="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all" spc="0" normalizeH="0" baseline="0" noProof="0">
                <a:ln>
                  <a:noFill/>
                </a:ln>
                <a:solidFill>
                  <a:schemeClr val="bg1"/>
                </a:solidFill>
                <a:effectLst/>
                <a:uLnTx/>
                <a:uFillTx/>
                <a:latin typeface="+mj-lt"/>
                <a:ea typeface="+mj-ea"/>
                <a:cs typeface="+mj-cs"/>
              </a:defRPr>
            </a:lvl1pPr>
          </a:lstStyle>
          <a:p>
            <a:r>
              <a:rPr lang="en-US" sz="1400" cap="none" noProof="0"/>
              <a:t>Enabling</a:t>
            </a:r>
            <a:r>
              <a:rPr lang="en-US" sz="1400" cap="none"/>
              <a:t> </a:t>
            </a:r>
            <a:r>
              <a:rPr lang="en-US" sz="1400" cap="none" noProof="0"/>
              <a:t> shift from siloed, legacy, reactive technology landscape to modernized data driven  intelligent Gen AI  driven platform offering superior customer experience and business profitability.</a:t>
            </a:r>
            <a:endParaRPr lang="en-US" sz="1400" cap="none" noProof="0">
              <a:highlight>
                <a:srgbClr val="FFFF00"/>
              </a:highlight>
            </a:endParaRPr>
          </a:p>
        </p:txBody>
      </p:sp>
      <p:sp>
        <p:nvSpPr>
          <p:cNvPr id="52" name="Rectangle 51">
            <a:extLst>
              <a:ext uri="{FF2B5EF4-FFF2-40B4-BE49-F238E27FC236}">
                <a16:creationId xmlns:a16="http://schemas.microsoft.com/office/drawing/2014/main" id="{41B88071-67F6-6229-C5AF-1307B17C6138}"/>
              </a:ext>
            </a:extLst>
          </p:cNvPr>
          <p:cNvSpPr>
            <a:spLocks/>
          </p:cNvSpPr>
          <p:nvPr/>
        </p:nvSpPr>
        <p:spPr>
          <a:xfrm>
            <a:off x="591669" y="3410534"/>
            <a:ext cx="2934559" cy="451008"/>
          </a:xfrm>
          <a:prstGeom prst="rect">
            <a:avLst/>
          </a:prstGeom>
          <a:noFill/>
          <a:ln w="19050" cap="sq">
            <a:solidFill>
              <a:schemeClr val="accent1">
                <a:lumMod val="60000"/>
                <a:lumOff val="40000"/>
              </a:schemeClr>
            </a:solidFill>
            <a:miter lim="800000"/>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5" name="Rectangle 54">
            <a:extLst>
              <a:ext uri="{FF2B5EF4-FFF2-40B4-BE49-F238E27FC236}">
                <a16:creationId xmlns:a16="http://schemas.microsoft.com/office/drawing/2014/main" id="{8686752F-35B5-F6A5-9446-8053BCD554A2}"/>
              </a:ext>
            </a:extLst>
          </p:cNvPr>
          <p:cNvSpPr>
            <a:spLocks noChangeArrowheads="1"/>
          </p:cNvSpPr>
          <p:nvPr/>
        </p:nvSpPr>
        <p:spPr bwMode="auto">
          <a:xfrm>
            <a:off x="256562" y="1323109"/>
            <a:ext cx="3560763" cy="345747"/>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ts val="0"/>
              </a:spcBef>
              <a:spcAft>
                <a:spcPts val="600"/>
              </a:spcAft>
              <a:buClrTx/>
              <a:buSzTx/>
              <a:buFontTx/>
              <a:buNone/>
              <a:tabLst/>
              <a:defRPr/>
            </a:pPr>
            <a:r>
              <a:rPr kumimoji="0" lang="en-US" sz="1400" b="1" i="0" u="none" strike="noStrike" kern="1200" cap="all" spc="0" normalizeH="0" baseline="0" noProof="0">
                <a:ln>
                  <a:noFill/>
                </a:ln>
                <a:solidFill>
                  <a:schemeClr val="accent2"/>
                </a:solidFill>
                <a:effectLst/>
                <a:uLnTx/>
                <a:uFillTx/>
                <a:ea typeface="+mn-ea"/>
                <a:cs typeface="Arial" panose="020B0604020202020204" pitchFamily="34" charset="0"/>
              </a:rPr>
              <a:t>Simplification</a:t>
            </a:r>
          </a:p>
        </p:txBody>
      </p:sp>
      <p:sp>
        <p:nvSpPr>
          <p:cNvPr id="56" name="Rectangle 2">
            <a:extLst>
              <a:ext uri="{FF2B5EF4-FFF2-40B4-BE49-F238E27FC236}">
                <a16:creationId xmlns:a16="http://schemas.microsoft.com/office/drawing/2014/main" id="{23EADC35-44DE-22F0-5DD1-FB53D5042421}"/>
              </a:ext>
            </a:extLst>
          </p:cNvPr>
          <p:cNvSpPr>
            <a:spLocks noChangeArrowheads="1"/>
          </p:cNvSpPr>
          <p:nvPr/>
        </p:nvSpPr>
        <p:spPr bwMode="auto">
          <a:xfrm>
            <a:off x="4403732" y="1320995"/>
            <a:ext cx="3386577" cy="270861"/>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all" spc="0" normalizeH="0" baseline="0" noProof="0">
                <a:ln>
                  <a:noFill/>
                </a:ln>
                <a:solidFill>
                  <a:schemeClr val="accent2"/>
                </a:solidFill>
                <a:effectLst/>
                <a:uLnTx/>
                <a:uFillTx/>
                <a:cs typeface="Arial" panose="020B0604020202020204" pitchFamily="34" charset="0"/>
              </a:rPr>
              <a:t>Rationalization</a:t>
            </a:r>
            <a:endParaRPr kumimoji="0" lang="en-US" sz="1800" b="1" i="0" u="none" strike="noStrike" kern="1200" cap="none" spc="0" normalizeH="0" baseline="0" noProof="0">
              <a:ln>
                <a:noFill/>
              </a:ln>
              <a:solidFill>
                <a:schemeClr val="accent2"/>
              </a:solidFill>
              <a:effectLst/>
              <a:uLnTx/>
              <a:uFillTx/>
              <a:ea typeface="MS Mincho" panose="02020609040205080304" pitchFamily="49" charset="-128"/>
              <a:cs typeface="Arial" panose="020B0604020202020204" pitchFamily="34" charset="0"/>
            </a:endParaRPr>
          </a:p>
        </p:txBody>
      </p:sp>
      <p:sp>
        <p:nvSpPr>
          <p:cNvPr id="57" name="Textplatzhalter 7">
            <a:extLst>
              <a:ext uri="{FF2B5EF4-FFF2-40B4-BE49-F238E27FC236}">
                <a16:creationId xmlns:a16="http://schemas.microsoft.com/office/drawing/2014/main" id="{E90D8ECD-FDCB-8BF2-778B-CBBE8D7D5269}"/>
              </a:ext>
            </a:extLst>
          </p:cNvPr>
          <p:cNvSpPr txBox="1">
            <a:spLocks/>
          </p:cNvSpPr>
          <p:nvPr/>
        </p:nvSpPr>
        <p:spPr bwMode="gray">
          <a:xfrm>
            <a:off x="582778" y="1731146"/>
            <a:ext cx="3097223" cy="1128703"/>
          </a:xfrm>
          <a:prstGeom prst="rect">
            <a:avLst/>
          </a:prstGeom>
        </p:spPr>
        <p:txBody>
          <a:bodyPr lIns="0" tIns="0" rIns="0" bIns="0" anchor="ctr"/>
          <a:lstStyle>
            <a:lvl1pPr marL="0" indent="0" algn="l" defTabSz="914400" rtl="0" eaLnBrk="1" latinLnBrk="0" hangingPunct="1">
              <a:spcBef>
                <a:spcPts val="0"/>
              </a:spcBef>
              <a:spcAft>
                <a:spcPts val="600"/>
              </a:spcAft>
              <a:buFont typeface="Arial" panose="020B0604020202020204" pitchFamily="34" charset="0"/>
              <a:buNone/>
              <a:defRPr sz="1400" kern="1200" cap="none" baseline="0">
                <a:solidFill>
                  <a:schemeClr val="tx1"/>
                </a:solidFill>
                <a:latin typeface="+mn-lt"/>
                <a:ea typeface="+mn-ea"/>
                <a:cs typeface="+mn-cs"/>
              </a:defRPr>
            </a:lvl1pPr>
            <a:lvl2pPr marL="0" indent="0" algn="l" defTabSz="914400" rtl="0" eaLnBrk="1" latinLnBrk="0" hangingPunct="1">
              <a:spcBef>
                <a:spcPts val="0"/>
              </a:spcBef>
              <a:spcAft>
                <a:spcPts val="600"/>
              </a:spcAft>
              <a:buFont typeface="Arial" panose="020B0604020202020204" pitchFamily="34" charset="0"/>
              <a:buNone/>
              <a:defRPr sz="1400" kern="1200" cap="none">
                <a:solidFill>
                  <a:schemeClr val="tx1"/>
                </a:solidFill>
                <a:latin typeface="+mn-lt"/>
                <a:ea typeface="+mn-ea"/>
                <a:cs typeface="+mn-cs"/>
              </a:defRPr>
            </a:lvl2pPr>
            <a:lvl3pPr marL="0" indent="0" algn="l" defTabSz="914400" rtl="0" eaLnBrk="1" latinLnBrk="0" hangingPunct="1">
              <a:spcBef>
                <a:spcPts val="0"/>
              </a:spcBef>
              <a:spcAft>
                <a:spcPts val="600"/>
              </a:spcAft>
              <a:buClr>
                <a:schemeClr val="bg2"/>
              </a:buClr>
              <a:buFont typeface="Symbol" panose="05050102010706020507" pitchFamily="18" charset="2"/>
              <a:buNone/>
              <a:defRPr sz="1400" kern="1200" cap="none">
                <a:solidFill>
                  <a:schemeClr val="tx1"/>
                </a:solidFill>
                <a:latin typeface="+mn-lt"/>
                <a:ea typeface="+mn-ea"/>
                <a:cs typeface="+mn-cs"/>
              </a:defRPr>
            </a:lvl3pPr>
            <a:lvl4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4pPr>
            <a:lvl5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5pPr>
            <a:lvl6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6pPr>
            <a:lvl7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7pPr>
            <a:lvl8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8pPr>
            <a:lvl9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200" noProof="0">
                <a:solidFill>
                  <a:srgbClr val="FFFFFF"/>
                </a:solidFill>
                <a:cs typeface="Arial" panose="020B0604020202020204" pitchFamily="34" charset="0"/>
              </a:rPr>
              <a:t>Simplified BSS, OSS &amp; other Applications landscape to enhance </a:t>
            </a:r>
            <a:r>
              <a:rPr kumimoji="0" lang="en-US" sz="1200" b="0" i="0" u="none" strike="noStrike" kern="1200" cap="none" spc="0" normalizeH="0" baseline="0" noProof="0">
                <a:ln>
                  <a:noFill/>
                </a:ln>
                <a:solidFill>
                  <a:srgbClr val="FFFFFF"/>
                </a:solidFill>
                <a:effectLst/>
                <a:uLnTx/>
                <a:uFillTx/>
                <a:cs typeface="Arial" panose="020B0604020202020204" pitchFamily="34" charset="0"/>
              </a:rPr>
              <a:t>customer experience</a:t>
            </a:r>
            <a:r>
              <a:rPr lang="en-US" sz="1200" noProof="0">
                <a:solidFill>
                  <a:srgbClr val="FFFFFF"/>
                </a:solidFill>
                <a:cs typeface="Arial" panose="020B0604020202020204" pitchFamily="34" charset="0"/>
              </a:rPr>
              <a:t>, scalability</a:t>
            </a:r>
            <a:r>
              <a:rPr kumimoji="0" lang="en-US" sz="1200" b="0" i="0" u="none" strike="noStrike" kern="1200" cap="none" spc="0" normalizeH="0" baseline="0" noProof="0">
                <a:ln>
                  <a:noFill/>
                </a:ln>
                <a:solidFill>
                  <a:srgbClr val="FFFFFF"/>
                </a:solidFill>
                <a:effectLst/>
                <a:uLnTx/>
                <a:uFillTx/>
                <a:cs typeface="Arial" panose="020B0604020202020204" pitchFamily="34" charset="0"/>
              </a:rPr>
              <a:t> through </a:t>
            </a:r>
            <a:r>
              <a:rPr lang="en-US" sz="1200" noProof="0">
                <a:solidFill>
                  <a:srgbClr val="FFFFFF"/>
                </a:solidFill>
                <a:cs typeface="Arial" panose="020B0604020202020204" pitchFamily="34" charset="0"/>
              </a:rPr>
              <a:t>Modernization</a:t>
            </a:r>
            <a:r>
              <a:rPr kumimoji="0" lang="en-US" sz="1200" b="0" i="0" u="none" strike="noStrike" kern="1200" cap="none" spc="0" normalizeH="0" baseline="0" noProof="0">
                <a:ln>
                  <a:noFill/>
                </a:ln>
                <a:solidFill>
                  <a:srgbClr val="FFFFFF"/>
                </a:solidFill>
                <a:effectLst/>
                <a:uLnTx/>
                <a:uFillTx/>
                <a:cs typeface="Arial" panose="020B0604020202020204" pitchFamily="34" charset="0"/>
              </a:rPr>
              <a:t>.  Transformation</a:t>
            </a:r>
            <a:r>
              <a:rPr lang="en-US" sz="1200" noProof="0">
                <a:solidFill>
                  <a:srgbClr val="FFFFFF"/>
                </a:solidFill>
                <a:cs typeface="Arial" panose="020B0604020202020204" pitchFamily="34" charset="0"/>
              </a:rPr>
              <a:t> of duplicate, siloed and legacy applications is the key focus area</a:t>
            </a:r>
            <a:endParaRPr kumimoji="0" lang="en-US" sz="1200" b="0" i="0" u="none" strike="noStrike" kern="1200" cap="none" spc="0" normalizeH="0" baseline="0" noProof="0">
              <a:ln>
                <a:noFill/>
              </a:ln>
              <a:solidFill>
                <a:srgbClr val="FFFFFF"/>
              </a:solidFill>
              <a:effectLst/>
              <a:uLnTx/>
              <a:uFillTx/>
              <a:cs typeface="Arial" panose="020B0604020202020204" pitchFamily="34" charset="0"/>
            </a:endParaRPr>
          </a:p>
        </p:txBody>
      </p:sp>
      <p:sp>
        <p:nvSpPr>
          <p:cNvPr id="58" name="Textplatzhalter 7">
            <a:extLst>
              <a:ext uri="{FF2B5EF4-FFF2-40B4-BE49-F238E27FC236}">
                <a16:creationId xmlns:a16="http://schemas.microsoft.com/office/drawing/2014/main" id="{2F1D05EE-1214-F134-6627-1F6DFA7B760D}"/>
              </a:ext>
            </a:extLst>
          </p:cNvPr>
          <p:cNvSpPr txBox="1">
            <a:spLocks/>
          </p:cNvSpPr>
          <p:nvPr/>
        </p:nvSpPr>
        <p:spPr bwMode="gray">
          <a:xfrm>
            <a:off x="4752311" y="1782967"/>
            <a:ext cx="2916000" cy="901759"/>
          </a:xfrm>
          <a:prstGeom prst="rect">
            <a:avLst/>
          </a:prstGeom>
        </p:spPr>
        <p:txBody>
          <a:bodyPr lIns="0" tIns="0" rIns="0" bIns="0" anchor="ctr"/>
          <a:lstStyle>
            <a:lvl1pPr marL="0" indent="0" algn="l" defTabSz="914400" rtl="0" eaLnBrk="1" latinLnBrk="0" hangingPunct="1">
              <a:spcBef>
                <a:spcPts val="0"/>
              </a:spcBef>
              <a:spcAft>
                <a:spcPts val="600"/>
              </a:spcAft>
              <a:buFont typeface="Arial" panose="020B0604020202020204" pitchFamily="34" charset="0"/>
              <a:buNone/>
              <a:defRPr sz="1400" kern="1200" cap="none" baseline="0">
                <a:solidFill>
                  <a:schemeClr val="tx1"/>
                </a:solidFill>
                <a:latin typeface="+mn-lt"/>
                <a:ea typeface="+mn-ea"/>
                <a:cs typeface="+mn-cs"/>
              </a:defRPr>
            </a:lvl1pPr>
            <a:lvl2pPr marL="0" indent="0" algn="l" defTabSz="914400" rtl="0" eaLnBrk="1" latinLnBrk="0" hangingPunct="1">
              <a:spcBef>
                <a:spcPts val="0"/>
              </a:spcBef>
              <a:spcAft>
                <a:spcPts val="600"/>
              </a:spcAft>
              <a:buFont typeface="Arial" panose="020B0604020202020204" pitchFamily="34" charset="0"/>
              <a:buNone/>
              <a:defRPr sz="1400" kern="1200" cap="none">
                <a:solidFill>
                  <a:schemeClr val="tx1"/>
                </a:solidFill>
                <a:latin typeface="+mn-lt"/>
                <a:ea typeface="+mn-ea"/>
                <a:cs typeface="+mn-cs"/>
              </a:defRPr>
            </a:lvl2pPr>
            <a:lvl3pPr marL="0" indent="0" algn="l" defTabSz="914400" rtl="0" eaLnBrk="1" latinLnBrk="0" hangingPunct="1">
              <a:spcBef>
                <a:spcPts val="0"/>
              </a:spcBef>
              <a:spcAft>
                <a:spcPts val="600"/>
              </a:spcAft>
              <a:buClr>
                <a:schemeClr val="bg2"/>
              </a:buClr>
              <a:buFont typeface="Symbol" panose="05050102010706020507" pitchFamily="18" charset="2"/>
              <a:buNone/>
              <a:defRPr sz="1400" kern="1200" cap="none">
                <a:solidFill>
                  <a:schemeClr val="tx1"/>
                </a:solidFill>
                <a:latin typeface="+mn-lt"/>
                <a:ea typeface="+mn-ea"/>
                <a:cs typeface="+mn-cs"/>
              </a:defRPr>
            </a:lvl3pPr>
            <a:lvl4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4pPr>
            <a:lvl5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5pPr>
            <a:lvl6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6pPr>
            <a:lvl7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7pPr>
            <a:lvl8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8pPr>
            <a:lvl9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ea typeface="+mn-ea"/>
                <a:cs typeface="Arial" panose="020B0604020202020204" pitchFamily="34" charset="0"/>
              </a:rPr>
              <a:t>Rationalization &amp; Process Standardization reduce complexities and technical debt unlocking true customer </a:t>
            </a:r>
            <a:r>
              <a:rPr lang="en-US" sz="1200">
                <a:solidFill>
                  <a:srgbClr val="FFFFFF"/>
                </a:solidFill>
                <a:cs typeface="Arial" panose="020B0604020202020204" pitchFamily="34" charset="0"/>
              </a:rPr>
              <a:t>&amp;</a:t>
            </a:r>
            <a:r>
              <a:rPr kumimoji="0" lang="en-US" sz="1200" b="0" i="0" u="none" strike="noStrike" kern="1200" cap="none" spc="0" normalizeH="0" baseline="0" noProof="0">
                <a:ln>
                  <a:noFill/>
                </a:ln>
                <a:solidFill>
                  <a:srgbClr val="FFFFFF"/>
                </a:solidFill>
                <a:effectLst/>
                <a:uLnTx/>
                <a:uFillTx/>
                <a:ea typeface="+mn-ea"/>
                <a:cs typeface="Arial" panose="020B0604020202020204" pitchFamily="34" charset="0"/>
              </a:rPr>
              <a:t> financial values.</a:t>
            </a:r>
          </a:p>
        </p:txBody>
      </p:sp>
      <p:grpSp>
        <p:nvGrpSpPr>
          <p:cNvPr id="104" name="Group 103">
            <a:extLst>
              <a:ext uri="{FF2B5EF4-FFF2-40B4-BE49-F238E27FC236}">
                <a16:creationId xmlns:a16="http://schemas.microsoft.com/office/drawing/2014/main" id="{66EA74C1-840F-E0DF-0F1B-6D449F2C2E9A}"/>
              </a:ext>
            </a:extLst>
          </p:cNvPr>
          <p:cNvGrpSpPr/>
          <p:nvPr/>
        </p:nvGrpSpPr>
        <p:grpSpPr>
          <a:xfrm>
            <a:off x="1683132" y="3014783"/>
            <a:ext cx="829346" cy="829346"/>
            <a:chOff x="1458424" y="2888899"/>
            <a:chExt cx="912281" cy="912281"/>
          </a:xfrm>
        </p:grpSpPr>
        <p:sp>
          <p:nvSpPr>
            <p:cNvPr id="54" name="Oval 53">
              <a:extLst>
                <a:ext uri="{FF2B5EF4-FFF2-40B4-BE49-F238E27FC236}">
                  <a16:creationId xmlns:a16="http://schemas.microsoft.com/office/drawing/2014/main" id="{963AE937-C184-B994-3379-81E32C7C92E8}"/>
                </a:ext>
              </a:extLst>
            </p:cNvPr>
            <p:cNvSpPr/>
            <p:nvPr/>
          </p:nvSpPr>
          <p:spPr>
            <a:xfrm>
              <a:off x="1458424" y="2888899"/>
              <a:ext cx="912281" cy="912281"/>
            </a:xfrm>
            <a:prstGeom prst="ellipse">
              <a:avLst/>
            </a:prstGeom>
            <a:solidFill>
              <a:schemeClr val="accent1"/>
            </a:solid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59" name="Group 207">
              <a:extLst>
                <a:ext uri="{FF2B5EF4-FFF2-40B4-BE49-F238E27FC236}">
                  <a16:creationId xmlns:a16="http://schemas.microsoft.com/office/drawing/2014/main" id="{2C5719E0-15C6-F7FF-C578-190D30D6CF7C}"/>
                </a:ext>
              </a:extLst>
            </p:cNvPr>
            <p:cNvGrpSpPr>
              <a:grpSpLocks noChangeAspect="1"/>
            </p:cNvGrpSpPr>
            <p:nvPr/>
          </p:nvGrpSpPr>
          <p:grpSpPr bwMode="auto">
            <a:xfrm>
              <a:off x="1673057" y="3062650"/>
              <a:ext cx="523692" cy="513861"/>
              <a:chOff x="528" y="3153"/>
              <a:chExt cx="426" cy="418"/>
            </a:xfrm>
            <a:solidFill>
              <a:schemeClr val="bg1"/>
            </a:solidFill>
          </p:grpSpPr>
          <p:sp>
            <p:nvSpPr>
              <p:cNvPr id="60" name="Freeform 208">
                <a:extLst>
                  <a:ext uri="{FF2B5EF4-FFF2-40B4-BE49-F238E27FC236}">
                    <a16:creationId xmlns:a16="http://schemas.microsoft.com/office/drawing/2014/main" id="{A3A7543D-2FE9-5A1C-BA47-E5E1CF1DC377}"/>
                  </a:ext>
                </a:extLst>
              </p:cNvPr>
              <p:cNvSpPr>
                <a:spLocks/>
              </p:cNvSpPr>
              <p:nvPr/>
            </p:nvSpPr>
            <p:spPr bwMode="auto">
              <a:xfrm>
                <a:off x="617" y="3224"/>
                <a:ext cx="248" cy="18"/>
              </a:xfrm>
              <a:custGeom>
                <a:avLst/>
                <a:gdLst>
                  <a:gd name="T0" fmla="*/ 162 w 168"/>
                  <a:gd name="T1" fmla="*/ 12 h 12"/>
                  <a:gd name="T2" fmla="*/ 6 w 168"/>
                  <a:gd name="T3" fmla="*/ 12 h 12"/>
                  <a:gd name="T4" fmla="*/ 0 w 168"/>
                  <a:gd name="T5" fmla="*/ 6 h 12"/>
                  <a:gd name="T6" fmla="*/ 6 w 168"/>
                  <a:gd name="T7" fmla="*/ 0 h 12"/>
                  <a:gd name="T8" fmla="*/ 162 w 168"/>
                  <a:gd name="T9" fmla="*/ 0 h 12"/>
                  <a:gd name="T10" fmla="*/ 168 w 168"/>
                  <a:gd name="T11" fmla="*/ 6 h 12"/>
                  <a:gd name="T12" fmla="*/ 162 w 16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68" h="12">
                    <a:moveTo>
                      <a:pt x="162" y="12"/>
                    </a:moveTo>
                    <a:cubicBezTo>
                      <a:pt x="6" y="12"/>
                      <a:pt x="6" y="12"/>
                      <a:pt x="6" y="12"/>
                    </a:cubicBezTo>
                    <a:cubicBezTo>
                      <a:pt x="3" y="12"/>
                      <a:pt x="0" y="9"/>
                      <a:pt x="0" y="6"/>
                    </a:cubicBezTo>
                    <a:cubicBezTo>
                      <a:pt x="0" y="2"/>
                      <a:pt x="3" y="0"/>
                      <a:pt x="6" y="0"/>
                    </a:cubicBezTo>
                    <a:cubicBezTo>
                      <a:pt x="162" y="0"/>
                      <a:pt x="162" y="0"/>
                      <a:pt x="162" y="0"/>
                    </a:cubicBezTo>
                    <a:cubicBezTo>
                      <a:pt x="166" y="0"/>
                      <a:pt x="168" y="2"/>
                      <a:pt x="168" y="6"/>
                    </a:cubicBezTo>
                    <a:cubicBezTo>
                      <a:pt x="168" y="9"/>
                      <a:pt x="166" y="12"/>
                      <a:pt x="16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61" name="Freeform 209">
                <a:extLst>
                  <a:ext uri="{FF2B5EF4-FFF2-40B4-BE49-F238E27FC236}">
                    <a16:creationId xmlns:a16="http://schemas.microsoft.com/office/drawing/2014/main" id="{197A6949-520D-14B1-6445-57715E8AE4F8}"/>
                  </a:ext>
                </a:extLst>
              </p:cNvPr>
              <p:cNvSpPr>
                <a:spLocks noEditPoints="1"/>
              </p:cNvSpPr>
              <p:nvPr/>
            </p:nvSpPr>
            <p:spPr bwMode="auto">
              <a:xfrm>
                <a:off x="617" y="3155"/>
                <a:ext cx="250" cy="217"/>
              </a:xfrm>
              <a:custGeom>
                <a:avLst/>
                <a:gdLst>
                  <a:gd name="T0" fmla="*/ 84 w 169"/>
                  <a:gd name="T1" fmla="*/ 150 h 150"/>
                  <a:gd name="T2" fmla="*/ 80 w 169"/>
                  <a:gd name="T3" fmla="*/ 148 h 150"/>
                  <a:gd name="T4" fmla="*/ 2 w 169"/>
                  <a:gd name="T5" fmla="*/ 58 h 150"/>
                  <a:gd name="T6" fmla="*/ 1 w 169"/>
                  <a:gd name="T7" fmla="*/ 50 h 150"/>
                  <a:gd name="T8" fmla="*/ 37 w 169"/>
                  <a:gd name="T9" fmla="*/ 2 h 150"/>
                  <a:gd name="T10" fmla="*/ 42 w 169"/>
                  <a:gd name="T11" fmla="*/ 0 h 150"/>
                  <a:gd name="T12" fmla="*/ 126 w 169"/>
                  <a:gd name="T13" fmla="*/ 0 h 150"/>
                  <a:gd name="T14" fmla="*/ 131 w 169"/>
                  <a:gd name="T15" fmla="*/ 2 h 150"/>
                  <a:gd name="T16" fmla="*/ 167 w 169"/>
                  <a:gd name="T17" fmla="*/ 50 h 150"/>
                  <a:gd name="T18" fmla="*/ 167 w 169"/>
                  <a:gd name="T19" fmla="*/ 58 h 150"/>
                  <a:gd name="T20" fmla="*/ 89 w 169"/>
                  <a:gd name="T21" fmla="*/ 148 h 150"/>
                  <a:gd name="T22" fmla="*/ 84 w 169"/>
                  <a:gd name="T23" fmla="*/ 150 h 150"/>
                  <a:gd name="T24" fmla="*/ 14 w 169"/>
                  <a:gd name="T25" fmla="*/ 53 h 150"/>
                  <a:gd name="T26" fmla="*/ 84 w 169"/>
                  <a:gd name="T27" fmla="*/ 134 h 150"/>
                  <a:gd name="T28" fmla="*/ 155 w 169"/>
                  <a:gd name="T29" fmla="*/ 53 h 150"/>
                  <a:gd name="T30" fmla="*/ 123 w 169"/>
                  <a:gd name="T31" fmla="*/ 12 h 150"/>
                  <a:gd name="T32" fmla="*/ 45 w 169"/>
                  <a:gd name="T33" fmla="*/ 12 h 150"/>
                  <a:gd name="T34" fmla="*/ 14 w 169"/>
                  <a:gd name="T35" fmla="*/ 5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9" h="150">
                    <a:moveTo>
                      <a:pt x="84" y="150"/>
                    </a:moveTo>
                    <a:cubicBezTo>
                      <a:pt x="82" y="150"/>
                      <a:pt x="81" y="149"/>
                      <a:pt x="80" y="148"/>
                    </a:cubicBezTo>
                    <a:cubicBezTo>
                      <a:pt x="2" y="58"/>
                      <a:pt x="2" y="58"/>
                      <a:pt x="2" y="58"/>
                    </a:cubicBezTo>
                    <a:cubicBezTo>
                      <a:pt x="0" y="55"/>
                      <a:pt x="0" y="52"/>
                      <a:pt x="1" y="50"/>
                    </a:cubicBezTo>
                    <a:cubicBezTo>
                      <a:pt x="37" y="2"/>
                      <a:pt x="37" y="2"/>
                      <a:pt x="37" y="2"/>
                    </a:cubicBezTo>
                    <a:cubicBezTo>
                      <a:pt x="39" y="1"/>
                      <a:pt x="40" y="0"/>
                      <a:pt x="42" y="0"/>
                    </a:cubicBezTo>
                    <a:cubicBezTo>
                      <a:pt x="126" y="0"/>
                      <a:pt x="126" y="0"/>
                      <a:pt x="126" y="0"/>
                    </a:cubicBezTo>
                    <a:cubicBezTo>
                      <a:pt x="128" y="0"/>
                      <a:pt x="130" y="1"/>
                      <a:pt x="131" y="2"/>
                    </a:cubicBezTo>
                    <a:cubicBezTo>
                      <a:pt x="167" y="50"/>
                      <a:pt x="167" y="50"/>
                      <a:pt x="167" y="50"/>
                    </a:cubicBezTo>
                    <a:cubicBezTo>
                      <a:pt x="169" y="52"/>
                      <a:pt x="169" y="55"/>
                      <a:pt x="167" y="58"/>
                    </a:cubicBezTo>
                    <a:cubicBezTo>
                      <a:pt x="89" y="148"/>
                      <a:pt x="89" y="148"/>
                      <a:pt x="89" y="148"/>
                    </a:cubicBezTo>
                    <a:cubicBezTo>
                      <a:pt x="88" y="149"/>
                      <a:pt x="86" y="150"/>
                      <a:pt x="84" y="150"/>
                    </a:cubicBezTo>
                    <a:close/>
                    <a:moveTo>
                      <a:pt x="14" y="53"/>
                    </a:moveTo>
                    <a:cubicBezTo>
                      <a:pt x="84" y="134"/>
                      <a:pt x="84" y="134"/>
                      <a:pt x="84" y="134"/>
                    </a:cubicBezTo>
                    <a:cubicBezTo>
                      <a:pt x="155" y="53"/>
                      <a:pt x="155" y="53"/>
                      <a:pt x="155" y="53"/>
                    </a:cubicBezTo>
                    <a:cubicBezTo>
                      <a:pt x="123" y="12"/>
                      <a:pt x="123" y="12"/>
                      <a:pt x="123" y="12"/>
                    </a:cubicBezTo>
                    <a:cubicBezTo>
                      <a:pt x="45" y="12"/>
                      <a:pt x="45" y="12"/>
                      <a:pt x="45" y="12"/>
                    </a:cubicBezTo>
                    <a:lnTo>
                      <a:pt x="14"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62" name="Freeform 210">
                <a:extLst>
                  <a:ext uri="{FF2B5EF4-FFF2-40B4-BE49-F238E27FC236}">
                    <a16:creationId xmlns:a16="http://schemas.microsoft.com/office/drawing/2014/main" id="{7CF15AFC-346F-75E5-E5DC-5BFF8FBA38BA}"/>
                  </a:ext>
                </a:extLst>
              </p:cNvPr>
              <p:cNvSpPr>
                <a:spLocks noEditPoints="1"/>
              </p:cNvSpPr>
              <p:nvPr/>
            </p:nvSpPr>
            <p:spPr bwMode="auto">
              <a:xfrm>
                <a:off x="777" y="3502"/>
                <a:ext cx="124" cy="69"/>
              </a:xfrm>
              <a:custGeom>
                <a:avLst/>
                <a:gdLst>
                  <a:gd name="T0" fmla="*/ 78 w 84"/>
                  <a:gd name="T1" fmla="*/ 48 h 48"/>
                  <a:gd name="T2" fmla="*/ 6 w 84"/>
                  <a:gd name="T3" fmla="*/ 48 h 48"/>
                  <a:gd name="T4" fmla="*/ 0 w 84"/>
                  <a:gd name="T5" fmla="*/ 42 h 48"/>
                  <a:gd name="T6" fmla="*/ 0 w 84"/>
                  <a:gd name="T7" fmla="*/ 6 h 48"/>
                  <a:gd name="T8" fmla="*/ 6 w 84"/>
                  <a:gd name="T9" fmla="*/ 0 h 48"/>
                  <a:gd name="T10" fmla="*/ 78 w 84"/>
                  <a:gd name="T11" fmla="*/ 0 h 48"/>
                  <a:gd name="T12" fmla="*/ 84 w 84"/>
                  <a:gd name="T13" fmla="*/ 6 h 48"/>
                  <a:gd name="T14" fmla="*/ 84 w 84"/>
                  <a:gd name="T15" fmla="*/ 42 h 48"/>
                  <a:gd name="T16" fmla="*/ 78 w 84"/>
                  <a:gd name="T17" fmla="*/ 48 h 48"/>
                  <a:gd name="T18" fmla="*/ 12 w 84"/>
                  <a:gd name="T19" fmla="*/ 36 h 48"/>
                  <a:gd name="T20" fmla="*/ 72 w 84"/>
                  <a:gd name="T21" fmla="*/ 36 h 48"/>
                  <a:gd name="T22" fmla="*/ 72 w 84"/>
                  <a:gd name="T23" fmla="*/ 12 h 48"/>
                  <a:gd name="T24" fmla="*/ 12 w 84"/>
                  <a:gd name="T25" fmla="*/ 12 h 48"/>
                  <a:gd name="T26" fmla="*/ 12 w 84"/>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48">
                    <a:moveTo>
                      <a:pt x="78" y="48"/>
                    </a:moveTo>
                    <a:cubicBezTo>
                      <a:pt x="6" y="48"/>
                      <a:pt x="6" y="48"/>
                      <a:pt x="6" y="48"/>
                    </a:cubicBezTo>
                    <a:cubicBezTo>
                      <a:pt x="3" y="48"/>
                      <a:pt x="0" y="45"/>
                      <a:pt x="0" y="42"/>
                    </a:cubicBezTo>
                    <a:cubicBezTo>
                      <a:pt x="0" y="6"/>
                      <a:pt x="0" y="6"/>
                      <a:pt x="0" y="6"/>
                    </a:cubicBezTo>
                    <a:cubicBezTo>
                      <a:pt x="0" y="2"/>
                      <a:pt x="3" y="0"/>
                      <a:pt x="6" y="0"/>
                    </a:cubicBezTo>
                    <a:cubicBezTo>
                      <a:pt x="78" y="0"/>
                      <a:pt x="78" y="0"/>
                      <a:pt x="78" y="0"/>
                    </a:cubicBezTo>
                    <a:cubicBezTo>
                      <a:pt x="82" y="0"/>
                      <a:pt x="84" y="2"/>
                      <a:pt x="84" y="6"/>
                    </a:cubicBezTo>
                    <a:cubicBezTo>
                      <a:pt x="84" y="42"/>
                      <a:pt x="84" y="42"/>
                      <a:pt x="84" y="42"/>
                    </a:cubicBezTo>
                    <a:cubicBezTo>
                      <a:pt x="84" y="45"/>
                      <a:pt x="82" y="48"/>
                      <a:pt x="78" y="48"/>
                    </a:cubicBezTo>
                    <a:close/>
                    <a:moveTo>
                      <a:pt x="12" y="36"/>
                    </a:moveTo>
                    <a:cubicBezTo>
                      <a:pt x="72" y="36"/>
                      <a:pt x="72" y="36"/>
                      <a:pt x="72" y="36"/>
                    </a:cubicBezTo>
                    <a:cubicBezTo>
                      <a:pt x="72" y="12"/>
                      <a:pt x="72" y="12"/>
                      <a:pt x="72"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63" name="Freeform 211">
                <a:extLst>
                  <a:ext uri="{FF2B5EF4-FFF2-40B4-BE49-F238E27FC236}">
                    <a16:creationId xmlns:a16="http://schemas.microsoft.com/office/drawing/2014/main" id="{4DB80449-30D7-1E95-DA7E-4AD0E004DDFA}"/>
                  </a:ext>
                </a:extLst>
              </p:cNvPr>
              <p:cNvSpPr>
                <a:spLocks/>
              </p:cNvSpPr>
              <p:nvPr/>
            </p:nvSpPr>
            <p:spPr bwMode="auto">
              <a:xfrm>
                <a:off x="794" y="3262"/>
                <a:ext cx="160" cy="257"/>
              </a:xfrm>
              <a:custGeom>
                <a:avLst/>
                <a:gdLst>
                  <a:gd name="T0" fmla="*/ 54 w 108"/>
                  <a:gd name="T1" fmla="*/ 178 h 178"/>
                  <a:gd name="T2" fmla="*/ 48 w 108"/>
                  <a:gd name="T3" fmla="*/ 172 h 178"/>
                  <a:gd name="T4" fmla="*/ 48 w 108"/>
                  <a:gd name="T5" fmla="*/ 153 h 178"/>
                  <a:gd name="T6" fmla="*/ 50 w 108"/>
                  <a:gd name="T7" fmla="*/ 149 h 178"/>
                  <a:gd name="T8" fmla="*/ 96 w 108"/>
                  <a:gd name="T9" fmla="*/ 103 h 178"/>
                  <a:gd name="T10" fmla="*/ 96 w 108"/>
                  <a:gd name="T11" fmla="*/ 15 h 178"/>
                  <a:gd name="T12" fmla="*/ 93 w 108"/>
                  <a:gd name="T13" fmla="*/ 16 h 178"/>
                  <a:gd name="T14" fmla="*/ 78 w 108"/>
                  <a:gd name="T15" fmla="*/ 82 h 178"/>
                  <a:gd name="T16" fmla="*/ 76 w 108"/>
                  <a:gd name="T17" fmla="*/ 86 h 178"/>
                  <a:gd name="T18" fmla="*/ 41 w 108"/>
                  <a:gd name="T19" fmla="*/ 122 h 178"/>
                  <a:gd name="T20" fmla="*/ 34 w 108"/>
                  <a:gd name="T21" fmla="*/ 123 h 178"/>
                  <a:gd name="T22" fmla="*/ 31 w 108"/>
                  <a:gd name="T23" fmla="*/ 116 h 178"/>
                  <a:gd name="T24" fmla="*/ 39 w 108"/>
                  <a:gd name="T25" fmla="*/ 80 h 178"/>
                  <a:gd name="T26" fmla="*/ 37 w 108"/>
                  <a:gd name="T27" fmla="*/ 69 h 178"/>
                  <a:gd name="T28" fmla="*/ 30 w 108"/>
                  <a:gd name="T29" fmla="*/ 73 h 178"/>
                  <a:gd name="T30" fmla="*/ 12 w 108"/>
                  <a:gd name="T31" fmla="*/ 118 h 178"/>
                  <a:gd name="T32" fmla="*/ 12 w 108"/>
                  <a:gd name="T33" fmla="*/ 172 h 178"/>
                  <a:gd name="T34" fmla="*/ 6 w 108"/>
                  <a:gd name="T35" fmla="*/ 178 h 178"/>
                  <a:gd name="T36" fmla="*/ 0 w 108"/>
                  <a:gd name="T37" fmla="*/ 172 h 178"/>
                  <a:gd name="T38" fmla="*/ 0 w 108"/>
                  <a:gd name="T39" fmla="*/ 118 h 178"/>
                  <a:gd name="T40" fmla="*/ 0 w 108"/>
                  <a:gd name="T41" fmla="*/ 116 h 178"/>
                  <a:gd name="T42" fmla="*/ 20 w 108"/>
                  <a:gd name="T43" fmla="*/ 67 h 178"/>
                  <a:gd name="T44" fmla="*/ 41 w 108"/>
                  <a:gd name="T45" fmla="*/ 58 h 178"/>
                  <a:gd name="T46" fmla="*/ 51 w 108"/>
                  <a:gd name="T47" fmla="*/ 83 h 178"/>
                  <a:gd name="T48" fmla="*/ 47 w 108"/>
                  <a:gd name="T49" fmla="*/ 98 h 178"/>
                  <a:gd name="T50" fmla="*/ 66 w 108"/>
                  <a:gd name="T51" fmla="*/ 79 h 178"/>
                  <a:gd name="T52" fmla="*/ 87 w 108"/>
                  <a:gd name="T53" fmla="*/ 6 h 178"/>
                  <a:gd name="T54" fmla="*/ 104 w 108"/>
                  <a:gd name="T55" fmla="*/ 3 h 178"/>
                  <a:gd name="T56" fmla="*/ 108 w 108"/>
                  <a:gd name="T57" fmla="*/ 9 h 178"/>
                  <a:gd name="T58" fmla="*/ 108 w 108"/>
                  <a:gd name="T59" fmla="*/ 106 h 178"/>
                  <a:gd name="T60" fmla="*/ 106 w 108"/>
                  <a:gd name="T61" fmla="*/ 110 h 178"/>
                  <a:gd name="T62" fmla="*/ 60 w 108"/>
                  <a:gd name="T63" fmla="*/ 156 h 178"/>
                  <a:gd name="T64" fmla="*/ 60 w 108"/>
                  <a:gd name="T65" fmla="*/ 172 h 178"/>
                  <a:gd name="T66" fmla="*/ 54 w 108"/>
                  <a:gd name="T67"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8" h="178">
                    <a:moveTo>
                      <a:pt x="54" y="178"/>
                    </a:moveTo>
                    <a:cubicBezTo>
                      <a:pt x="51" y="178"/>
                      <a:pt x="48" y="175"/>
                      <a:pt x="48" y="172"/>
                    </a:cubicBezTo>
                    <a:cubicBezTo>
                      <a:pt x="48" y="153"/>
                      <a:pt x="48" y="153"/>
                      <a:pt x="48" y="153"/>
                    </a:cubicBezTo>
                    <a:cubicBezTo>
                      <a:pt x="48" y="152"/>
                      <a:pt x="49" y="150"/>
                      <a:pt x="50" y="149"/>
                    </a:cubicBezTo>
                    <a:cubicBezTo>
                      <a:pt x="50" y="149"/>
                      <a:pt x="84" y="115"/>
                      <a:pt x="96" y="103"/>
                    </a:cubicBezTo>
                    <a:cubicBezTo>
                      <a:pt x="96" y="15"/>
                      <a:pt x="96" y="15"/>
                      <a:pt x="96" y="15"/>
                    </a:cubicBezTo>
                    <a:cubicBezTo>
                      <a:pt x="95" y="15"/>
                      <a:pt x="94" y="16"/>
                      <a:pt x="93" y="16"/>
                    </a:cubicBezTo>
                    <a:cubicBezTo>
                      <a:pt x="88" y="21"/>
                      <a:pt x="78" y="35"/>
                      <a:pt x="78" y="82"/>
                    </a:cubicBezTo>
                    <a:cubicBezTo>
                      <a:pt x="78" y="83"/>
                      <a:pt x="78" y="85"/>
                      <a:pt x="76" y="86"/>
                    </a:cubicBezTo>
                    <a:cubicBezTo>
                      <a:pt x="41" y="122"/>
                      <a:pt x="41" y="122"/>
                      <a:pt x="41" y="122"/>
                    </a:cubicBezTo>
                    <a:cubicBezTo>
                      <a:pt x="39" y="123"/>
                      <a:pt x="36" y="124"/>
                      <a:pt x="34" y="123"/>
                    </a:cubicBezTo>
                    <a:cubicBezTo>
                      <a:pt x="31" y="121"/>
                      <a:pt x="30" y="119"/>
                      <a:pt x="31" y="116"/>
                    </a:cubicBezTo>
                    <a:cubicBezTo>
                      <a:pt x="39" y="80"/>
                      <a:pt x="39" y="80"/>
                      <a:pt x="39" y="80"/>
                    </a:cubicBezTo>
                    <a:cubicBezTo>
                      <a:pt x="40" y="74"/>
                      <a:pt x="39" y="70"/>
                      <a:pt x="37" y="69"/>
                    </a:cubicBezTo>
                    <a:cubicBezTo>
                      <a:pt x="34" y="69"/>
                      <a:pt x="32" y="70"/>
                      <a:pt x="30" y="73"/>
                    </a:cubicBezTo>
                    <a:cubicBezTo>
                      <a:pt x="24" y="83"/>
                      <a:pt x="15" y="108"/>
                      <a:pt x="12" y="118"/>
                    </a:cubicBezTo>
                    <a:cubicBezTo>
                      <a:pt x="12" y="172"/>
                      <a:pt x="12" y="172"/>
                      <a:pt x="12" y="172"/>
                    </a:cubicBezTo>
                    <a:cubicBezTo>
                      <a:pt x="12" y="175"/>
                      <a:pt x="10" y="178"/>
                      <a:pt x="6" y="178"/>
                    </a:cubicBezTo>
                    <a:cubicBezTo>
                      <a:pt x="3" y="178"/>
                      <a:pt x="0" y="175"/>
                      <a:pt x="0" y="172"/>
                    </a:cubicBezTo>
                    <a:cubicBezTo>
                      <a:pt x="0" y="118"/>
                      <a:pt x="0" y="118"/>
                      <a:pt x="0" y="118"/>
                    </a:cubicBezTo>
                    <a:cubicBezTo>
                      <a:pt x="0" y="117"/>
                      <a:pt x="0" y="116"/>
                      <a:pt x="0" y="116"/>
                    </a:cubicBezTo>
                    <a:cubicBezTo>
                      <a:pt x="1" y="114"/>
                      <a:pt x="11" y="80"/>
                      <a:pt x="20" y="67"/>
                    </a:cubicBezTo>
                    <a:cubicBezTo>
                      <a:pt x="26" y="57"/>
                      <a:pt x="35" y="56"/>
                      <a:pt x="41" y="58"/>
                    </a:cubicBezTo>
                    <a:cubicBezTo>
                      <a:pt x="48" y="61"/>
                      <a:pt x="54" y="70"/>
                      <a:pt x="51" y="83"/>
                    </a:cubicBezTo>
                    <a:cubicBezTo>
                      <a:pt x="47" y="98"/>
                      <a:pt x="47" y="98"/>
                      <a:pt x="47" y="98"/>
                    </a:cubicBezTo>
                    <a:cubicBezTo>
                      <a:pt x="66" y="79"/>
                      <a:pt x="66" y="79"/>
                      <a:pt x="66" y="79"/>
                    </a:cubicBezTo>
                    <a:cubicBezTo>
                      <a:pt x="67" y="40"/>
                      <a:pt x="73" y="16"/>
                      <a:pt x="87" y="6"/>
                    </a:cubicBezTo>
                    <a:cubicBezTo>
                      <a:pt x="95" y="0"/>
                      <a:pt x="103" y="3"/>
                      <a:pt x="104" y="3"/>
                    </a:cubicBezTo>
                    <a:cubicBezTo>
                      <a:pt x="107" y="4"/>
                      <a:pt x="108" y="6"/>
                      <a:pt x="108" y="9"/>
                    </a:cubicBezTo>
                    <a:cubicBezTo>
                      <a:pt x="108" y="106"/>
                      <a:pt x="108" y="106"/>
                      <a:pt x="108" y="106"/>
                    </a:cubicBezTo>
                    <a:cubicBezTo>
                      <a:pt x="108" y="107"/>
                      <a:pt x="108" y="109"/>
                      <a:pt x="106" y="110"/>
                    </a:cubicBezTo>
                    <a:cubicBezTo>
                      <a:pt x="98" y="118"/>
                      <a:pt x="68" y="148"/>
                      <a:pt x="60" y="156"/>
                    </a:cubicBezTo>
                    <a:cubicBezTo>
                      <a:pt x="60" y="172"/>
                      <a:pt x="60" y="172"/>
                      <a:pt x="60" y="172"/>
                    </a:cubicBezTo>
                    <a:cubicBezTo>
                      <a:pt x="60" y="175"/>
                      <a:pt x="58" y="178"/>
                      <a:pt x="54" y="1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64" name="Freeform 212">
                <a:extLst>
                  <a:ext uri="{FF2B5EF4-FFF2-40B4-BE49-F238E27FC236}">
                    <a16:creationId xmlns:a16="http://schemas.microsoft.com/office/drawing/2014/main" id="{82EFA14B-E6B4-37A6-AB42-29104081EC4F}"/>
                  </a:ext>
                </a:extLst>
              </p:cNvPr>
              <p:cNvSpPr>
                <a:spLocks noEditPoints="1"/>
              </p:cNvSpPr>
              <p:nvPr/>
            </p:nvSpPr>
            <p:spPr bwMode="auto">
              <a:xfrm>
                <a:off x="581" y="3502"/>
                <a:ext cx="124" cy="69"/>
              </a:xfrm>
              <a:custGeom>
                <a:avLst/>
                <a:gdLst>
                  <a:gd name="T0" fmla="*/ 78 w 84"/>
                  <a:gd name="T1" fmla="*/ 48 h 48"/>
                  <a:gd name="T2" fmla="*/ 6 w 84"/>
                  <a:gd name="T3" fmla="*/ 48 h 48"/>
                  <a:gd name="T4" fmla="*/ 0 w 84"/>
                  <a:gd name="T5" fmla="*/ 42 h 48"/>
                  <a:gd name="T6" fmla="*/ 0 w 84"/>
                  <a:gd name="T7" fmla="*/ 6 h 48"/>
                  <a:gd name="T8" fmla="*/ 6 w 84"/>
                  <a:gd name="T9" fmla="*/ 0 h 48"/>
                  <a:gd name="T10" fmla="*/ 78 w 84"/>
                  <a:gd name="T11" fmla="*/ 0 h 48"/>
                  <a:gd name="T12" fmla="*/ 84 w 84"/>
                  <a:gd name="T13" fmla="*/ 6 h 48"/>
                  <a:gd name="T14" fmla="*/ 84 w 84"/>
                  <a:gd name="T15" fmla="*/ 42 h 48"/>
                  <a:gd name="T16" fmla="*/ 78 w 84"/>
                  <a:gd name="T17" fmla="*/ 48 h 48"/>
                  <a:gd name="T18" fmla="*/ 12 w 84"/>
                  <a:gd name="T19" fmla="*/ 36 h 48"/>
                  <a:gd name="T20" fmla="*/ 72 w 84"/>
                  <a:gd name="T21" fmla="*/ 36 h 48"/>
                  <a:gd name="T22" fmla="*/ 72 w 84"/>
                  <a:gd name="T23" fmla="*/ 12 h 48"/>
                  <a:gd name="T24" fmla="*/ 12 w 84"/>
                  <a:gd name="T25" fmla="*/ 12 h 48"/>
                  <a:gd name="T26" fmla="*/ 12 w 84"/>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48">
                    <a:moveTo>
                      <a:pt x="78" y="48"/>
                    </a:moveTo>
                    <a:cubicBezTo>
                      <a:pt x="6" y="48"/>
                      <a:pt x="6" y="48"/>
                      <a:pt x="6" y="48"/>
                    </a:cubicBezTo>
                    <a:cubicBezTo>
                      <a:pt x="3" y="48"/>
                      <a:pt x="0" y="45"/>
                      <a:pt x="0" y="42"/>
                    </a:cubicBezTo>
                    <a:cubicBezTo>
                      <a:pt x="0" y="6"/>
                      <a:pt x="0" y="6"/>
                      <a:pt x="0" y="6"/>
                    </a:cubicBezTo>
                    <a:cubicBezTo>
                      <a:pt x="0" y="2"/>
                      <a:pt x="3" y="0"/>
                      <a:pt x="6" y="0"/>
                    </a:cubicBezTo>
                    <a:cubicBezTo>
                      <a:pt x="78" y="0"/>
                      <a:pt x="78" y="0"/>
                      <a:pt x="78" y="0"/>
                    </a:cubicBezTo>
                    <a:cubicBezTo>
                      <a:pt x="82" y="0"/>
                      <a:pt x="84" y="2"/>
                      <a:pt x="84" y="6"/>
                    </a:cubicBezTo>
                    <a:cubicBezTo>
                      <a:pt x="84" y="42"/>
                      <a:pt x="84" y="42"/>
                      <a:pt x="84" y="42"/>
                    </a:cubicBezTo>
                    <a:cubicBezTo>
                      <a:pt x="84" y="45"/>
                      <a:pt x="82" y="48"/>
                      <a:pt x="78" y="48"/>
                    </a:cubicBezTo>
                    <a:close/>
                    <a:moveTo>
                      <a:pt x="12" y="36"/>
                    </a:moveTo>
                    <a:cubicBezTo>
                      <a:pt x="72" y="36"/>
                      <a:pt x="72" y="36"/>
                      <a:pt x="72" y="36"/>
                    </a:cubicBezTo>
                    <a:cubicBezTo>
                      <a:pt x="72" y="12"/>
                      <a:pt x="72" y="12"/>
                      <a:pt x="72"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65" name="Freeform 213">
                <a:extLst>
                  <a:ext uri="{FF2B5EF4-FFF2-40B4-BE49-F238E27FC236}">
                    <a16:creationId xmlns:a16="http://schemas.microsoft.com/office/drawing/2014/main" id="{F0690CC1-404E-3018-ECF8-C7053F5E0FAA}"/>
                  </a:ext>
                </a:extLst>
              </p:cNvPr>
              <p:cNvSpPr>
                <a:spLocks/>
              </p:cNvSpPr>
              <p:nvPr/>
            </p:nvSpPr>
            <p:spPr bwMode="auto">
              <a:xfrm>
                <a:off x="528" y="3262"/>
                <a:ext cx="160" cy="257"/>
              </a:xfrm>
              <a:custGeom>
                <a:avLst/>
                <a:gdLst>
                  <a:gd name="T0" fmla="*/ 102 w 108"/>
                  <a:gd name="T1" fmla="*/ 178 h 178"/>
                  <a:gd name="T2" fmla="*/ 96 w 108"/>
                  <a:gd name="T3" fmla="*/ 172 h 178"/>
                  <a:gd name="T4" fmla="*/ 96 w 108"/>
                  <a:gd name="T5" fmla="*/ 118 h 178"/>
                  <a:gd name="T6" fmla="*/ 79 w 108"/>
                  <a:gd name="T7" fmla="*/ 73 h 178"/>
                  <a:gd name="T8" fmla="*/ 72 w 108"/>
                  <a:gd name="T9" fmla="*/ 69 h 178"/>
                  <a:gd name="T10" fmla="*/ 69 w 108"/>
                  <a:gd name="T11" fmla="*/ 80 h 178"/>
                  <a:gd name="T12" fmla="*/ 78 w 108"/>
                  <a:gd name="T13" fmla="*/ 116 h 178"/>
                  <a:gd name="T14" fmla="*/ 75 w 108"/>
                  <a:gd name="T15" fmla="*/ 123 h 178"/>
                  <a:gd name="T16" fmla="*/ 68 w 108"/>
                  <a:gd name="T17" fmla="*/ 122 h 178"/>
                  <a:gd name="T18" fmla="*/ 32 w 108"/>
                  <a:gd name="T19" fmla="*/ 86 h 178"/>
                  <a:gd name="T20" fmla="*/ 30 w 108"/>
                  <a:gd name="T21" fmla="*/ 82 h 178"/>
                  <a:gd name="T22" fmla="*/ 15 w 108"/>
                  <a:gd name="T23" fmla="*/ 16 h 178"/>
                  <a:gd name="T24" fmla="*/ 12 w 108"/>
                  <a:gd name="T25" fmla="*/ 15 h 178"/>
                  <a:gd name="T26" fmla="*/ 12 w 108"/>
                  <a:gd name="T27" fmla="*/ 103 h 178"/>
                  <a:gd name="T28" fmla="*/ 59 w 108"/>
                  <a:gd name="T29" fmla="*/ 149 h 178"/>
                  <a:gd name="T30" fmla="*/ 60 w 108"/>
                  <a:gd name="T31" fmla="*/ 153 h 178"/>
                  <a:gd name="T32" fmla="*/ 60 w 108"/>
                  <a:gd name="T33" fmla="*/ 172 h 178"/>
                  <a:gd name="T34" fmla="*/ 54 w 108"/>
                  <a:gd name="T35" fmla="*/ 178 h 178"/>
                  <a:gd name="T36" fmla="*/ 48 w 108"/>
                  <a:gd name="T37" fmla="*/ 172 h 178"/>
                  <a:gd name="T38" fmla="*/ 48 w 108"/>
                  <a:gd name="T39" fmla="*/ 156 h 178"/>
                  <a:gd name="T40" fmla="*/ 2 w 108"/>
                  <a:gd name="T41" fmla="*/ 110 h 178"/>
                  <a:gd name="T42" fmla="*/ 0 w 108"/>
                  <a:gd name="T43" fmla="*/ 106 h 178"/>
                  <a:gd name="T44" fmla="*/ 0 w 108"/>
                  <a:gd name="T45" fmla="*/ 9 h 178"/>
                  <a:gd name="T46" fmla="*/ 4 w 108"/>
                  <a:gd name="T47" fmla="*/ 3 h 178"/>
                  <a:gd name="T48" fmla="*/ 22 w 108"/>
                  <a:gd name="T49" fmla="*/ 6 h 178"/>
                  <a:gd name="T50" fmla="*/ 42 w 108"/>
                  <a:gd name="T51" fmla="*/ 79 h 178"/>
                  <a:gd name="T52" fmla="*/ 61 w 108"/>
                  <a:gd name="T53" fmla="*/ 98 h 178"/>
                  <a:gd name="T54" fmla="*/ 58 w 108"/>
                  <a:gd name="T55" fmla="*/ 83 h 178"/>
                  <a:gd name="T56" fmla="*/ 67 w 108"/>
                  <a:gd name="T57" fmla="*/ 58 h 178"/>
                  <a:gd name="T58" fmla="*/ 89 w 108"/>
                  <a:gd name="T59" fmla="*/ 67 h 178"/>
                  <a:gd name="T60" fmla="*/ 108 w 108"/>
                  <a:gd name="T61" fmla="*/ 116 h 178"/>
                  <a:gd name="T62" fmla="*/ 108 w 108"/>
                  <a:gd name="T63" fmla="*/ 118 h 178"/>
                  <a:gd name="T64" fmla="*/ 108 w 108"/>
                  <a:gd name="T65" fmla="*/ 172 h 178"/>
                  <a:gd name="T66" fmla="*/ 102 w 108"/>
                  <a:gd name="T67"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8" h="178">
                    <a:moveTo>
                      <a:pt x="102" y="178"/>
                    </a:moveTo>
                    <a:cubicBezTo>
                      <a:pt x="99" y="178"/>
                      <a:pt x="96" y="175"/>
                      <a:pt x="96" y="172"/>
                    </a:cubicBezTo>
                    <a:cubicBezTo>
                      <a:pt x="96" y="118"/>
                      <a:pt x="96" y="118"/>
                      <a:pt x="96" y="118"/>
                    </a:cubicBezTo>
                    <a:cubicBezTo>
                      <a:pt x="93" y="108"/>
                      <a:pt x="85" y="82"/>
                      <a:pt x="79" y="73"/>
                    </a:cubicBezTo>
                    <a:cubicBezTo>
                      <a:pt x="77" y="70"/>
                      <a:pt x="74" y="69"/>
                      <a:pt x="72" y="69"/>
                    </a:cubicBezTo>
                    <a:cubicBezTo>
                      <a:pt x="70" y="70"/>
                      <a:pt x="68" y="74"/>
                      <a:pt x="69" y="80"/>
                    </a:cubicBezTo>
                    <a:cubicBezTo>
                      <a:pt x="78" y="116"/>
                      <a:pt x="78" y="116"/>
                      <a:pt x="78" y="116"/>
                    </a:cubicBezTo>
                    <a:cubicBezTo>
                      <a:pt x="78" y="119"/>
                      <a:pt x="77" y="121"/>
                      <a:pt x="75" y="123"/>
                    </a:cubicBezTo>
                    <a:cubicBezTo>
                      <a:pt x="72" y="124"/>
                      <a:pt x="70" y="123"/>
                      <a:pt x="68" y="122"/>
                    </a:cubicBezTo>
                    <a:cubicBezTo>
                      <a:pt x="32" y="86"/>
                      <a:pt x="32" y="86"/>
                      <a:pt x="32" y="86"/>
                    </a:cubicBezTo>
                    <a:cubicBezTo>
                      <a:pt x="31" y="85"/>
                      <a:pt x="30" y="83"/>
                      <a:pt x="30" y="82"/>
                    </a:cubicBezTo>
                    <a:cubicBezTo>
                      <a:pt x="30" y="35"/>
                      <a:pt x="21" y="21"/>
                      <a:pt x="15" y="16"/>
                    </a:cubicBezTo>
                    <a:cubicBezTo>
                      <a:pt x="14" y="16"/>
                      <a:pt x="13" y="15"/>
                      <a:pt x="12" y="15"/>
                    </a:cubicBezTo>
                    <a:cubicBezTo>
                      <a:pt x="12" y="103"/>
                      <a:pt x="12" y="103"/>
                      <a:pt x="12" y="103"/>
                    </a:cubicBezTo>
                    <a:cubicBezTo>
                      <a:pt x="26" y="115"/>
                      <a:pt x="57" y="148"/>
                      <a:pt x="59" y="149"/>
                    </a:cubicBezTo>
                    <a:cubicBezTo>
                      <a:pt x="60" y="150"/>
                      <a:pt x="60" y="152"/>
                      <a:pt x="60" y="153"/>
                    </a:cubicBezTo>
                    <a:cubicBezTo>
                      <a:pt x="60" y="172"/>
                      <a:pt x="60" y="172"/>
                      <a:pt x="60" y="172"/>
                    </a:cubicBezTo>
                    <a:cubicBezTo>
                      <a:pt x="60" y="175"/>
                      <a:pt x="58" y="178"/>
                      <a:pt x="54" y="178"/>
                    </a:cubicBezTo>
                    <a:cubicBezTo>
                      <a:pt x="51" y="178"/>
                      <a:pt x="48" y="175"/>
                      <a:pt x="48" y="172"/>
                    </a:cubicBezTo>
                    <a:cubicBezTo>
                      <a:pt x="48" y="156"/>
                      <a:pt x="48" y="156"/>
                      <a:pt x="48" y="156"/>
                    </a:cubicBezTo>
                    <a:cubicBezTo>
                      <a:pt x="41" y="148"/>
                      <a:pt x="13" y="119"/>
                      <a:pt x="2" y="110"/>
                    </a:cubicBezTo>
                    <a:cubicBezTo>
                      <a:pt x="1" y="109"/>
                      <a:pt x="0" y="107"/>
                      <a:pt x="0" y="106"/>
                    </a:cubicBezTo>
                    <a:cubicBezTo>
                      <a:pt x="0" y="9"/>
                      <a:pt x="0" y="9"/>
                      <a:pt x="0" y="9"/>
                    </a:cubicBezTo>
                    <a:cubicBezTo>
                      <a:pt x="0" y="6"/>
                      <a:pt x="2" y="4"/>
                      <a:pt x="4" y="3"/>
                    </a:cubicBezTo>
                    <a:cubicBezTo>
                      <a:pt x="5" y="3"/>
                      <a:pt x="13" y="0"/>
                      <a:pt x="22" y="6"/>
                    </a:cubicBezTo>
                    <a:cubicBezTo>
                      <a:pt x="35" y="16"/>
                      <a:pt x="42" y="40"/>
                      <a:pt x="42" y="79"/>
                    </a:cubicBezTo>
                    <a:cubicBezTo>
                      <a:pt x="61" y="98"/>
                      <a:pt x="61" y="98"/>
                      <a:pt x="61" y="98"/>
                    </a:cubicBezTo>
                    <a:cubicBezTo>
                      <a:pt x="58" y="83"/>
                      <a:pt x="58" y="83"/>
                      <a:pt x="58" y="83"/>
                    </a:cubicBezTo>
                    <a:cubicBezTo>
                      <a:pt x="55" y="70"/>
                      <a:pt x="60" y="61"/>
                      <a:pt x="67" y="58"/>
                    </a:cubicBezTo>
                    <a:cubicBezTo>
                      <a:pt x="74" y="56"/>
                      <a:pt x="83" y="57"/>
                      <a:pt x="89" y="67"/>
                    </a:cubicBezTo>
                    <a:cubicBezTo>
                      <a:pt x="97" y="80"/>
                      <a:pt x="108" y="114"/>
                      <a:pt x="108" y="116"/>
                    </a:cubicBezTo>
                    <a:cubicBezTo>
                      <a:pt x="108" y="116"/>
                      <a:pt x="108" y="117"/>
                      <a:pt x="108" y="118"/>
                    </a:cubicBezTo>
                    <a:cubicBezTo>
                      <a:pt x="108" y="172"/>
                      <a:pt x="108" y="172"/>
                      <a:pt x="108" y="172"/>
                    </a:cubicBezTo>
                    <a:cubicBezTo>
                      <a:pt x="108" y="175"/>
                      <a:pt x="106" y="178"/>
                      <a:pt x="102" y="1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66" name="Freeform 214">
                <a:extLst>
                  <a:ext uri="{FF2B5EF4-FFF2-40B4-BE49-F238E27FC236}">
                    <a16:creationId xmlns:a16="http://schemas.microsoft.com/office/drawing/2014/main" id="{1E4E150E-DD11-5983-2A6D-BDD0B0E16A55}"/>
                  </a:ext>
                </a:extLst>
              </p:cNvPr>
              <p:cNvSpPr>
                <a:spLocks/>
              </p:cNvSpPr>
              <p:nvPr/>
            </p:nvSpPr>
            <p:spPr bwMode="auto">
              <a:xfrm>
                <a:off x="670" y="3153"/>
                <a:ext cx="81" cy="219"/>
              </a:xfrm>
              <a:custGeom>
                <a:avLst/>
                <a:gdLst>
                  <a:gd name="T0" fmla="*/ 48 w 55"/>
                  <a:gd name="T1" fmla="*/ 151 h 151"/>
                  <a:gd name="T2" fmla="*/ 43 w 55"/>
                  <a:gd name="T3" fmla="*/ 147 h 151"/>
                  <a:gd name="T4" fmla="*/ 12 w 55"/>
                  <a:gd name="T5" fmla="*/ 57 h 151"/>
                  <a:gd name="T6" fmla="*/ 12 w 55"/>
                  <a:gd name="T7" fmla="*/ 56 h 151"/>
                  <a:gd name="T8" fmla="*/ 0 w 55"/>
                  <a:gd name="T9" fmla="*/ 8 h 151"/>
                  <a:gd name="T10" fmla="*/ 5 w 55"/>
                  <a:gd name="T11" fmla="*/ 1 h 151"/>
                  <a:gd name="T12" fmla="*/ 12 w 55"/>
                  <a:gd name="T13" fmla="*/ 5 h 151"/>
                  <a:gd name="T14" fmla="*/ 24 w 55"/>
                  <a:gd name="T15" fmla="*/ 53 h 151"/>
                  <a:gd name="T16" fmla="*/ 54 w 55"/>
                  <a:gd name="T17" fmla="*/ 143 h 151"/>
                  <a:gd name="T18" fmla="*/ 50 w 55"/>
                  <a:gd name="T19" fmla="*/ 150 h 151"/>
                  <a:gd name="T20" fmla="*/ 48 w 55"/>
                  <a:gd name="T21"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 h="151">
                    <a:moveTo>
                      <a:pt x="48" y="151"/>
                    </a:moveTo>
                    <a:cubicBezTo>
                      <a:pt x="46" y="151"/>
                      <a:pt x="43" y="149"/>
                      <a:pt x="43" y="147"/>
                    </a:cubicBezTo>
                    <a:cubicBezTo>
                      <a:pt x="12" y="57"/>
                      <a:pt x="12" y="57"/>
                      <a:pt x="12" y="57"/>
                    </a:cubicBezTo>
                    <a:cubicBezTo>
                      <a:pt x="12" y="56"/>
                      <a:pt x="12" y="56"/>
                      <a:pt x="12" y="56"/>
                    </a:cubicBezTo>
                    <a:cubicBezTo>
                      <a:pt x="0" y="8"/>
                      <a:pt x="0" y="8"/>
                      <a:pt x="0" y="8"/>
                    </a:cubicBezTo>
                    <a:cubicBezTo>
                      <a:pt x="0" y="5"/>
                      <a:pt x="2" y="2"/>
                      <a:pt x="5" y="1"/>
                    </a:cubicBezTo>
                    <a:cubicBezTo>
                      <a:pt x="8" y="0"/>
                      <a:pt x="11" y="2"/>
                      <a:pt x="12" y="5"/>
                    </a:cubicBezTo>
                    <a:cubicBezTo>
                      <a:pt x="24" y="53"/>
                      <a:pt x="24" y="53"/>
                      <a:pt x="24" y="53"/>
                    </a:cubicBezTo>
                    <a:cubicBezTo>
                      <a:pt x="54" y="143"/>
                      <a:pt x="54" y="143"/>
                      <a:pt x="54" y="143"/>
                    </a:cubicBezTo>
                    <a:cubicBezTo>
                      <a:pt x="55" y="146"/>
                      <a:pt x="53" y="149"/>
                      <a:pt x="50" y="150"/>
                    </a:cubicBezTo>
                    <a:cubicBezTo>
                      <a:pt x="50" y="151"/>
                      <a:pt x="49" y="151"/>
                      <a:pt x="48" y="1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67" name="Freeform 215">
                <a:extLst>
                  <a:ext uri="{FF2B5EF4-FFF2-40B4-BE49-F238E27FC236}">
                    <a16:creationId xmlns:a16="http://schemas.microsoft.com/office/drawing/2014/main" id="{D632DF67-516F-A445-B9A3-B3B536F30043}"/>
                  </a:ext>
                </a:extLst>
              </p:cNvPr>
              <p:cNvSpPr>
                <a:spLocks/>
              </p:cNvSpPr>
              <p:nvPr/>
            </p:nvSpPr>
            <p:spPr bwMode="auto">
              <a:xfrm>
                <a:off x="732" y="3153"/>
                <a:ext cx="82" cy="219"/>
              </a:xfrm>
              <a:custGeom>
                <a:avLst/>
                <a:gdLst>
                  <a:gd name="T0" fmla="*/ 7 w 55"/>
                  <a:gd name="T1" fmla="*/ 151 h 151"/>
                  <a:gd name="T2" fmla="*/ 5 w 55"/>
                  <a:gd name="T3" fmla="*/ 150 h 151"/>
                  <a:gd name="T4" fmla="*/ 1 w 55"/>
                  <a:gd name="T5" fmla="*/ 143 h 151"/>
                  <a:gd name="T6" fmla="*/ 30 w 55"/>
                  <a:gd name="T7" fmla="*/ 53 h 151"/>
                  <a:gd name="T8" fmla="*/ 42 w 55"/>
                  <a:gd name="T9" fmla="*/ 5 h 151"/>
                  <a:gd name="T10" fmla="*/ 50 w 55"/>
                  <a:gd name="T11" fmla="*/ 1 h 151"/>
                  <a:gd name="T12" fmla="*/ 54 w 55"/>
                  <a:gd name="T13" fmla="*/ 8 h 151"/>
                  <a:gd name="T14" fmla="*/ 42 w 55"/>
                  <a:gd name="T15" fmla="*/ 56 h 151"/>
                  <a:gd name="T16" fmla="*/ 42 w 55"/>
                  <a:gd name="T17" fmla="*/ 57 h 151"/>
                  <a:gd name="T18" fmla="*/ 12 w 55"/>
                  <a:gd name="T19" fmla="*/ 147 h 151"/>
                  <a:gd name="T20" fmla="*/ 7 w 55"/>
                  <a:gd name="T21"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 h="151">
                    <a:moveTo>
                      <a:pt x="7" y="151"/>
                    </a:moveTo>
                    <a:cubicBezTo>
                      <a:pt x="6" y="151"/>
                      <a:pt x="5" y="151"/>
                      <a:pt x="5" y="150"/>
                    </a:cubicBezTo>
                    <a:cubicBezTo>
                      <a:pt x="2" y="149"/>
                      <a:pt x="0" y="146"/>
                      <a:pt x="1" y="143"/>
                    </a:cubicBezTo>
                    <a:cubicBezTo>
                      <a:pt x="30" y="53"/>
                      <a:pt x="30" y="53"/>
                      <a:pt x="30" y="53"/>
                    </a:cubicBezTo>
                    <a:cubicBezTo>
                      <a:pt x="42" y="5"/>
                      <a:pt x="42" y="5"/>
                      <a:pt x="42" y="5"/>
                    </a:cubicBezTo>
                    <a:cubicBezTo>
                      <a:pt x="43" y="2"/>
                      <a:pt x="46" y="0"/>
                      <a:pt x="50" y="1"/>
                    </a:cubicBezTo>
                    <a:cubicBezTo>
                      <a:pt x="53" y="2"/>
                      <a:pt x="55" y="5"/>
                      <a:pt x="54" y="8"/>
                    </a:cubicBezTo>
                    <a:cubicBezTo>
                      <a:pt x="42" y="56"/>
                      <a:pt x="42" y="56"/>
                      <a:pt x="42" y="56"/>
                    </a:cubicBezTo>
                    <a:cubicBezTo>
                      <a:pt x="42" y="56"/>
                      <a:pt x="42" y="56"/>
                      <a:pt x="42" y="57"/>
                    </a:cubicBezTo>
                    <a:cubicBezTo>
                      <a:pt x="12" y="147"/>
                      <a:pt x="12" y="147"/>
                      <a:pt x="12" y="147"/>
                    </a:cubicBezTo>
                    <a:cubicBezTo>
                      <a:pt x="12" y="149"/>
                      <a:pt x="9" y="151"/>
                      <a:pt x="7" y="1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grpSp>
      </p:grpSp>
      <p:grpSp>
        <p:nvGrpSpPr>
          <p:cNvPr id="105" name="Group 104">
            <a:extLst>
              <a:ext uri="{FF2B5EF4-FFF2-40B4-BE49-F238E27FC236}">
                <a16:creationId xmlns:a16="http://schemas.microsoft.com/office/drawing/2014/main" id="{F13EA5AE-1902-E080-3804-FE55451E5994}"/>
              </a:ext>
            </a:extLst>
          </p:cNvPr>
          <p:cNvGrpSpPr/>
          <p:nvPr/>
        </p:nvGrpSpPr>
        <p:grpSpPr>
          <a:xfrm>
            <a:off x="5733527" y="3052481"/>
            <a:ext cx="753951" cy="753951"/>
            <a:chOff x="5563861" y="2822930"/>
            <a:chExt cx="912281" cy="912281"/>
          </a:xfrm>
        </p:grpSpPr>
        <p:sp>
          <p:nvSpPr>
            <p:cNvPr id="53" name="Oval 52">
              <a:extLst>
                <a:ext uri="{FF2B5EF4-FFF2-40B4-BE49-F238E27FC236}">
                  <a16:creationId xmlns:a16="http://schemas.microsoft.com/office/drawing/2014/main" id="{88D5950D-3032-46D9-AF85-2D301655E703}"/>
                </a:ext>
              </a:extLst>
            </p:cNvPr>
            <p:cNvSpPr/>
            <p:nvPr/>
          </p:nvSpPr>
          <p:spPr>
            <a:xfrm>
              <a:off x="5563861" y="2822930"/>
              <a:ext cx="912281" cy="912281"/>
            </a:xfrm>
            <a:prstGeom prst="ellipse">
              <a:avLst/>
            </a:prstGeom>
            <a:solidFill>
              <a:schemeClr val="accent1"/>
            </a:solid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68" name="Group 67">
              <a:extLst>
                <a:ext uri="{FF2B5EF4-FFF2-40B4-BE49-F238E27FC236}">
                  <a16:creationId xmlns:a16="http://schemas.microsoft.com/office/drawing/2014/main" id="{89AD2380-C799-0DEE-62D6-E0703E3B3E5F}"/>
                </a:ext>
              </a:extLst>
            </p:cNvPr>
            <p:cNvGrpSpPr/>
            <p:nvPr/>
          </p:nvGrpSpPr>
          <p:grpSpPr>
            <a:xfrm>
              <a:off x="5712515" y="2987604"/>
              <a:ext cx="636272" cy="630907"/>
              <a:chOff x="7494588" y="5003801"/>
              <a:chExt cx="914401" cy="850900"/>
            </a:xfrm>
            <a:solidFill>
              <a:schemeClr val="bg1"/>
            </a:solidFill>
          </p:grpSpPr>
          <p:sp>
            <p:nvSpPr>
              <p:cNvPr id="69" name="Freeform 5">
                <a:extLst>
                  <a:ext uri="{FF2B5EF4-FFF2-40B4-BE49-F238E27FC236}">
                    <a16:creationId xmlns:a16="http://schemas.microsoft.com/office/drawing/2014/main" id="{B4B0A360-12E8-D3BC-51DD-CA716AB6E8D2}"/>
                  </a:ext>
                </a:extLst>
              </p:cNvPr>
              <p:cNvSpPr>
                <a:spLocks/>
              </p:cNvSpPr>
              <p:nvPr/>
            </p:nvSpPr>
            <p:spPr bwMode="auto">
              <a:xfrm>
                <a:off x="7585076" y="5657851"/>
                <a:ext cx="690563" cy="196850"/>
              </a:xfrm>
              <a:custGeom>
                <a:avLst/>
                <a:gdLst>
                  <a:gd name="T0" fmla="*/ 201 w 212"/>
                  <a:gd name="T1" fmla="*/ 5 h 60"/>
                  <a:gd name="T2" fmla="*/ 180 w 212"/>
                  <a:gd name="T3" fmla="*/ 24 h 60"/>
                  <a:gd name="T4" fmla="*/ 159 w 212"/>
                  <a:gd name="T5" fmla="*/ 4 h 60"/>
                  <a:gd name="T6" fmla="*/ 152 w 212"/>
                  <a:gd name="T7" fmla="*/ 3 h 60"/>
                  <a:gd name="T8" fmla="*/ 127 w 212"/>
                  <a:gd name="T9" fmla="*/ 13 h 60"/>
                  <a:gd name="T10" fmla="*/ 122 w 212"/>
                  <a:gd name="T11" fmla="*/ 19 h 60"/>
                  <a:gd name="T12" fmla="*/ 122 w 212"/>
                  <a:gd name="T13" fmla="*/ 48 h 60"/>
                  <a:gd name="T14" fmla="*/ 92 w 212"/>
                  <a:gd name="T15" fmla="*/ 48 h 60"/>
                  <a:gd name="T16" fmla="*/ 92 w 212"/>
                  <a:gd name="T17" fmla="*/ 19 h 60"/>
                  <a:gd name="T18" fmla="*/ 88 w 212"/>
                  <a:gd name="T19" fmla="*/ 13 h 60"/>
                  <a:gd name="T20" fmla="*/ 62 w 212"/>
                  <a:gd name="T21" fmla="*/ 3 h 60"/>
                  <a:gd name="T22" fmla="*/ 55 w 212"/>
                  <a:gd name="T23" fmla="*/ 4 h 60"/>
                  <a:gd name="T24" fmla="*/ 34 w 212"/>
                  <a:gd name="T25" fmla="*/ 24 h 60"/>
                  <a:gd name="T26" fmla="*/ 11 w 212"/>
                  <a:gd name="T27" fmla="*/ 2 h 60"/>
                  <a:gd name="T28" fmla="*/ 3 w 212"/>
                  <a:gd name="T29" fmla="*/ 3 h 60"/>
                  <a:gd name="T30" fmla="*/ 3 w 212"/>
                  <a:gd name="T31" fmla="*/ 11 h 60"/>
                  <a:gd name="T32" fmla="*/ 30 w 212"/>
                  <a:gd name="T33" fmla="*/ 37 h 60"/>
                  <a:gd name="T34" fmla="*/ 39 w 212"/>
                  <a:gd name="T35" fmla="*/ 37 h 60"/>
                  <a:gd name="T36" fmla="*/ 60 w 212"/>
                  <a:gd name="T37" fmla="*/ 15 h 60"/>
                  <a:gd name="T38" fmla="*/ 80 w 212"/>
                  <a:gd name="T39" fmla="*/ 23 h 60"/>
                  <a:gd name="T40" fmla="*/ 80 w 212"/>
                  <a:gd name="T41" fmla="*/ 54 h 60"/>
                  <a:gd name="T42" fmla="*/ 86 w 212"/>
                  <a:gd name="T43" fmla="*/ 60 h 60"/>
                  <a:gd name="T44" fmla="*/ 128 w 212"/>
                  <a:gd name="T45" fmla="*/ 60 h 60"/>
                  <a:gd name="T46" fmla="*/ 134 w 212"/>
                  <a:gd name="T47" fmla="*/ 54 h 60"/>
                  <a:gd name="T48" fmla="*/ 134 w 212"/>
                  <a:gd name="T49" fmla="*/ 23 h 60"/>
                  <a:gd name="T50" fmla="*/ 154 w 212"/>
                  <a:gd name="T51" fmla="*/ 15 h 60"/>
                  <a:gd name="T52" fmla="*/ 176 w 212"/>
                  <a:gd name="T53" fmla="*/ 37 h 60"/>
                  <a:gd name="T54" fmla="*/ 184 w 212"/>
                  <a:gd name="T55" fmla="*/ 37 h 60"/>
                  <a:gd name="T56" fmla="*/ 209 w 212"/>
                  <a:gd name="T57" fmla="*/ 13 h 60"/>
                  <a:gd name="T58" fmla="*/ 210 w 212"/>
                  <a:gd name="T59" fmla="*/ 5 h 60"/>
                  <a:gd name="T60" fmla="*/ 201 w 212"/>
                  <a:gd name="T61"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2" h="60">
                    <a:moveTo>
                      <a:pt x="201" y="5"/>
                    </a:moveTo>
                    <a:cubicBezTo>
                      <a:pt x="180" y="24"/>
                      <a:pt x="180" y="24"/>
                      <a:pt x="180" y="24"/>
                    </a:cubicBezTo>
                    <a:cubicBezTo>
                      <a:pt x="159" y="4"/>
                      <a:pt x="159" y="4"/>
                      <a:pt x="159" y="4"/>
                    </a:cubicBezTo>
                    <a:cubicBezTo>
                      <a:pt x="157" y="2"/>
                      <a:pt x="154" y="1"/>
                      <a:pt x="152" y="3"/>
                    </a:cubicBezTo>
                    <a:cubicBezTo>
                      <a:pt x="145" y="7"/>
                      <a:pt x="136" y="11"/>
                      <a:pt x="127" y="13"/>
                    </a:cubicBezTo>
                    <a:cubicBezTo>
                      <a:pt x="124" y="14"/>
                      <a:pt x="122" y="16"/>
                      <a:pt x="122" y="19"/>
                    </a:cubicBezTo>
                    <a:cubicBezTo>
                      <a:pt x="122" y="48"/>
                      <a:pt x="122" y="48"/>
                      <a:pt x="122" y="48"/>
                    </a:cubicBezTo>
                    <a:cubicBezTo>
                      <a:pt x="92" y="48"/>
                      <a:pt x="92" y="48"/>
                      <a:pt x="92" y="48"/>
                    </a:cubicBezTo>
                    <a:cubicBezTo>
                      <a:pt x="92" y="19"/>
                      <a:pt x="92" y="19"/>
                      <a:pt x="92" y="19"/>
                    </a:cubicBezTo>
                    <a:cubicBezTo>
                      <a:pt x="92" y="16"/>
                      <a:pt x="90" y="14"/>
                      <a:pt x="88" y="13"/>
                    </a:cubicBezTo>
                    <a:cubicBezTo>
                      <a:pt x="78" y="11"/>
                      <a:pt x="69" y="7"/>
                      <a:pt x="62" y="3"/>
                    </a:cubicBezTo>
                    <a:cubicBezTo>
                      <a:pt x="60" y="1"/>
                      <a:pt x="57" y="2"/>
                      <a:pt x="55" y="4"/>
                    </a:cubicBezTo>
                    <a:cubicBezTo>
                      <a:pt x="34" y="24"/>
                      <a:pt x="34" y="24"/>
                      <a:pt x="34" y="24"/>
                    </a:cubicBezTo>
                    <a:cubicBezTo>
                      <a:pt x="11" y="2"/>
                      <a:pt x="11" y="2"/>
                      <a:pt x="11" y="2"/>
                    </a:cubicBezTo>
                    <a:cubicBezTo>
                      <a:pt x="9" y="0"/>
                      <a:pt x="5" y="0"/>
                      <a:pt x="3" y="3"/>
                    </a:cubicBezTo>
                    <a:cubicBezTo>
                      <a:pt x="0" y="5"/>
                      <a:pt x="0" y="9"/>
                      <a:pt x="3" y="11"/>
                    </a:cubicBezTo>
                    <a:cubicBezTo>
                      <a:pt x="30" y="37"/>
                      <a:pt x="30" y="37"/>
                      <a:pt x="30" y="37"/>
                    </a:cubicBezTo>
                    <a:cubicBezTo>
                      <a:pt x="33" y="39"/>
                      <a:pt x="36" y="39"/>
                      <a:pt x="39" y="37"/>
                    </a:cubicBezTo>
                    <a:cubicBezTo>
                      <a:pt x="60" y="15"/>
                      <a:pt x="60" y="15"/>
                      <a:pt x="60" y="15"/>
                    </a:cubicBezTo>
                    <a:cubicBezTo>
                      <a:pt x="66" y="19"/>
                      <a:pt x="73" y="21"/>
                      <a:pt x="80" y="23"/>
                    </a:cubicBezTo>
                    <a:cubicBezTo>
                      <a:pt x="80" y="54"/>
                      <a:pt x="80" y="54"/>
                      <a:pt x="80" y="54"/>
                    </a:cubicBezTo>
                    <a:cubicBezTo>
                      <a:pt x="80" y="57"/>
                      <a:pt x="83" y="60"/>
                      <a:pt x="86" y="60"/>
                    </a:cubicBezTo>
                    <a:cubicBezTo>
                      <a:pt x="128" y="60"/>
                      <a:pt x="128" y="60"/>
                      <a:pt x="128" y="60"/>
                    </a:cubicBezTo>
                    <a:cubicBezTo>
                      <a:pt x="131" y="60"/>
                      <a:pt x="134" y="57"/>
                      <a:pt x="134" y="54"/>
                    </a:cubicBezTo>
                    <a:cubicBezTo>
                      <a:pt x="134" y="23"/>
                      <a:pt x="134" y="23"/>
                      <a:pt x="134" y="23"/>
                    </a:cubicBezTo>
                    <a:cubicBezTo>
                      <a:pt x="141" y="21"/>
                      <a:pt x="148" y="19"/>
                      <a:pt x="154" y="15"/>
                    </a:cubicBezTo>
                    <a:cubicBezTo>
                      <a:pt x="176" y="37"/>
                      <a:pt x="176" y="37"/>
                      <a:pt x="176" y="37"/>
                    </a:cubicBezTo>
                    <a:cubicBezTo>
                      <a:pt x="178" y="39"/>
                      <a:pt x="182" y="39"/>
                      <a:pt x="184" y="37"/>
                    </a:cubicBezTo>
                    <a:cubicBezTo>
                      <a:pt x="209" y="13"/>
                      <a:pt x="209" y="13"/>
                      <a:pt x="209" y="13"/>
                    </a:cubicBezTo>
                    <a:cubicBezTo>
                      <a:pt x="212" y="11"/>
                      <a:pt x="212" y="7"/>
                      <a:pt x="210" y="5"/>
                    </a:cubicBezTo>
                    <a:cubicBezTo>
                      <a:pt x="207" y="2"/>
                      <a:pt x="204" y="2"/>
                      <a:pt x="20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0" name="Freeform 6">
                <a:extLst>
                  <a:ext uri="{FF2B5EF4-FFF2-40B4-BE49-F238E27FC236}">
                    <a16:creationId xmlns:a16="http://schemas.microsoft.com/office/drawing/2014/main" id="{32CA6DB0-AA8A-4CCE-FB4A-29C22BD27C85}"/>
                  </a:ext>
                </a:extLst>
              </p:cNvPr>
              <p:cNvSpPr>
                <a:spLocks/>
              </p:cNvSpPr>
              <p:nvPr/>
            </p:nvSpPr>
            <p:spPr bwMode="auto">
              <a:xfrm>
                <a:off x="7507288" y="5003801"/>
                <a:ext cx="852488" cy="598488"/>
              </a:xfrm>
              <a:custGeom>
                <a:avLst/>
                <a:gdLst>
                  <a:gd name="T0" fmla="*/ 37 w 262"/>
                  <a:gd name="T1" fmla="*/ 157 h 183"/>
                  <a:gd name="T2" fmla="*/ 56 w 262"/>
                  <a:gd name="T3" fmla="*/ 181 h 183"/>
                  <a:gd name="T4" fmla="*/ 47 w 262"/>
                  <a:gd name="T5" fmla="*/ 149 h 183"/>
                  <a:gd name="T6" fmla="*/ 12 w 262"/>
                  <a:gd name="T7" fmla="*/ 145 h 183"/>
                  <a:gd name="T8" fmla="*/ 42 w 262"/>
                  <a:gd name="T9" fmla="*/ 116 h 183"/>
                  <a:gd name="T10" fmla="*/ 58 w 262"/>
                  <a:gd name="T11" fmla="*/ 86 h 183"/>
                  <a:gd name="T12" fmla="*/ 36 w 262"/>
                  <a:gd name="T13" fmla="*/ 58 h 183"/>
                  <a:gd name="T14" fmla="*/ 79 w 262"/>
                  <a:gd name="T15" fmla="*/ 56 h 183"/>
                  <a:gd name="T16" fmla="*/ 112 w 262"/>
                  <a:gd name="T17" fmla="*/ 47 h 183"/>
                  <a:gd name="T18" fmla="*/ 116 w 262"/>
                  <a:gd name="T19" fmla="*/ 12 h 183"/>
                  <a:gd name="T20" fmla="*/ 146 w 262"/>
                  <a:gd name="T21" fmla="*/ 41 h 183"/>
                  <a:gd name="T22" fmla="*/ 176 w 262"/>
                  <a:gd name="T23" fmla="*/ 57 h 183"/>
                  <a:gd name="T24" fmla="*/ 204 w 262"/>
                  <a:gd name="T25" fmla="*/ 35 h 183"/>
                  <a:gd name="T26" fmla="*/ 206 w 262"/>
                  <a:gd name="T27" fmla="*/ 78 h 183"/>
                  <a:gd name="T28" fmla="*/ 215 w 262"/>
                  <a:gd name="T29" fmla="*/ 112 h 183"/>
                  <a:gd name="T30" fmla="*/ 250 w 262"/>
                  <a:gd name="T31" fmla="*/ 116 h 183"/>
                  <a:gd name="T32" fmla="*/ 221 w 262"/>
                  <a:gd name="T33" fmla="*/ 145 h 183"/>
                  <a:gd name="T34" fmla="*/ 205 w 262"/>
                  <a:gd name="T35" fmla="*/ 173 h 183"/>
                  <a:gd name="T36" fmla="*/ 210 w 262"/>
                  <a:gd name="T37" fmla="*/ 182 h 183"/>
                  <a:gd name="T38" fmla="*/ 225 w 262"/>
                  <a:gd name="T39" fmla="*/ 157 h 183"/>
                  <a:gd name="T40" fmla="*/ 262 w 262"/>
                  <a:gd name="T41" fmla="*/ 151 h 183"/>
                  <a:gd name="T42" fmla="*/ 256 w 262"/>
                  <a:gd name="T43" fmla="*/ 104 h 183"/>
                  <a:gd name="T44" fmla="*/ 217 w 262"/>
                  <a:gd name="T45" fmla="*/ 83 h 183"/>
                  <a:gd name="T46" fmla="*/ 241 w 262"/>
                  <a:gd name="T47" fmla="*/ 58 h 183"/>
                  <a:gd name="T48" fmla="*/ 208 w 262"/>
                  <a:gd name="T49" fmla="*/ 23 h 183"/>
                  <a:gd name="T50" fmla="*/ 178 w 262"/>
                  <a:gd name="T51" fmla="*/ 44 h 183"/>
                  <a:gd name="T52" fmla="*/ 158 w 262"/>
                  <a:gd name="T53" fmla="*/ 6 h 183"/>
                  <a:gd name="T54" fmla="*/ 110 w 262"/>
                  <a:gd name="T55" fmla="*/ 0 h 183"/>
                  <a:gd name="T56" fmla="*/ 104 w 262"/>
                  <a:gd name="T57" fmla="*/ 36 h 183"/>
                  <a:gd name="T58" fmla="*/ 63 w 262"/>
                  <a:gd name="T59" fmla="*/ 23 h 183"/>
                  <a:gd name="T60" fmla="*/ 23 w 262"/>
                  <a:gd name="T61" fmla="*/ 53 h 183"/>
                  <a:gd name="T62" fmla="*/ 23 w 262"/>
                  <a:gd name="T63" fmla="*/ 62 h 183"/>
                  <a:gd name="T64" fmla="*/ 37 w 262"/>
                  <a:gd name="T65" fmla="*/ 104 h 183"/>
                  <a:gd name="T66" fmla="*/ 0 w 262"/>
                  <a:gd name="T67" fmla="*/ 110 h 183"/>
                  <a:gd name="T68" fmla="*/ 6 w 262"/>
                  <a:gd name="T69" fmla="*/ 15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2" h="183">
                    <a:moveTo>
                      <a:pt x="6" y="157"/>
                    </a:moveTo>
                    <a:cubicBezTo>
                      <a:pt x="37" y="157"/>
                      <a:pt x="37" y="157"/>
                      <a:pt x="37" y="157"/>
                    </a:cubicBezTo>
                    <a:cubicBezTo>
                      <a:pt x="39" y="164"/>
                      <a:pt x="43" y="172"/>
                      <a:pt x="47" y="179"/>
                    </a:cubicBezTo>
                    <a:cubicBezTo>
                      <a:pt x="49" y="182"/>
                      <a:pt x="53" y="183"/>
                      <a:pt x="56" y="181"/>
                    </a:cubicBezTo>
                    <a:cubicBezTo>
                      <a:pt x="58" y="180"/>
                      <a:pt x="59" y="176"/>
                      <a:pt x="58" y="173"/>
                    </a:cubicBezTo>
                    <a:cubicBezTo>
                      <a:pt x="53" y="165"/>
                      <a:pt x="49" y="157"/>
                      <a:pt x="47" y="149"/>
                    </a:cubicBezTo>
                    <a:cubicBezTo>
                      <a:pt x="47" y="147"/>
                      <a:pt x="44" y="145"/>
                      <a:pt x="42" y="145"/>
                    </a:cubicBezTo>
                    <a:cubicBezTo>
                      <a:pt x="12" y="145"/>
                      <a:pt x="12" y="145"/>
                      <a:pt x="12" y="145"/>
                    </a:cubicBezTo>
                    <a:cubicBezTo>
                      <a:pt x="12" y="116"/>
                      <a:pt x="12" y="116"/>
                      <a:pt x="12" y="116"/>
                    </a:cubicBezTo>
                    <a:cubicBezTo>
                      <a:pt x="42" y="116"/>
                      <a:pt x="42" y="116"/>
                      <a:pt x="42" y="116"/>
                    </a:cubicBezTo>
                    <a:cubicBezTo>
                      <a:pt x="44" y="116"/>
                      <a:pt x="47" y="114"/>
                      <a:pt x="47" y="112"/>
                    </a:cubicBezTo>
                    <a:cubicBezTo>
                      <a:pt x="50" y="102"/>
                      <a:pt x="54" y="92"/>
                      <a:pt x="58" y="86"/>
                    </a:cubicBezTo>
                    <a:cubicBezTo>
                      <a:pt x="59" y="83"/>
                      <a:pt x="59" y="80"/>
                      <a:pt x="57" y="78"/>
                    </a:cubicBezTo>
                    <a:cubicBezTo>
                      <a:pt x="36" y="58"/>
                      <a:pt x="36" y="58"/>
                      <a:pt x="36" y="58"/>
                    </a:cubicBezTo>
                    <a:cubicBezTo>
                      <a:pt x="58" y="35"/>
                      <a:pt x="58" y="35"/>
                      <a:pt x="58" y="35"/>
                    </a:cubicBezTo>
                    <a:cubicBezTo>
                      <a:pt x="79" y="56"/>
                      <a:pt x="79" y="56"/>
                      <a:pt x="79" y="56"/>
                    </a:cubicBezTo>
                    <a:cubicBezTo>
                      <a:pt x="81" y="58"/>
                      <a:pt x="84" y="58"/>
                      <a:pt x="86" y="57"/>
                    </a:cubicBezTo>
                    <a:cubicBezTo>
                      <a:pt x="93" y="53"/>
                      <a:pt x="102" y="49"/>
                      <a:pt x="112" y="47"/>
                    </a:cubicBezTo>
                    <a:cubicBezTo>
                      <a:pt x="114" y="46"/>
                      <a:pt x="116" y="44"/>
                      <a:pt x="116" y="41"/>
                    </a:cubicBezTo>
                    <a:cubicBezTo>
                      <a:pt x="116" y="12"/>
                      <a:pt x="116" y="12"/>
                      <a:pt x="116" y="12"/>
                    </a:cubicBezTo>
                    <a:cubicBezTo>
                      <a:pt x="146" y="12"/>
                      <a:pt x="146" y="12"/>
                      <a:pt x="146" y="12"/>
                    </a:cubicBezTo>
                    <a:cubicBezTo>
                      <a:pt x="146" y="41"/>
                      <a:pt x="146" y="41"/>
                      <a:pt x="146" y="41"/>
                    </a:cubicBezTo>
                    <a:cubicBezTo>
                      <a:pt x="146" y="44"/>
                      <a:pt x="148" y="46"/>
                      <a:pt x="151" y="47"/>
                    </a:cubicBezTo>
                    <a:cubicBezTo>
                      <a:pt x="160" y="49"/>
                      <a:pt x="169" y="53"/>
                      <a:pt x="176" y="57"/>
                    </a:cubicBezTo>
                    <a:cubicBezTo>
                      <a:pt x="178" y="58"/>
                      <a:pt x="181" y="58"/>
                      <a:pt x="183" y="56"/>
                    </a:cubicBezTo>
                    <a:cubicBezTo>
                      <a:pt x="204" y="35"/>
                      <a:pt x="204" y="35"/>
                      <a:pt x="204" y="35"/>
                    </a:cubicBezTo>
                    <a:cubicBezTo>
                      <a:pt x="226" y="58"/>
                      <a:pt x="226" y="58"/>
                      <a:pt x="226" y="58"/>
                    </a:cubicBezTo>
                    <a:cubicBezTo>
                      <a:pt x="206" y="78"/>
                      <a:pt x="206" y="78"/>
                      <a:pt x="206" y="78"/>
                    </a:cubicBezTo>
                    <a:cubicBezTo>
                      <a:pt x="204" y="80"/>
                      <a:pt x="203" y="83"/>
                      <a:pt x="205" y="86"/>
                    </a:cubicBezTo>
                    <a:cubicBezTo>
                      <a:pt x="209" y="92"/>
                      <a:pt x="212" y="102"/>
                      <a:pt x="215" y="112"/>
                    </a:cubicBezTo>
                    <a:cubicBezTo>
                      <a:pt x="216" y="114"/>
                      <a:pt x="218" y="116"/>
                      <a:pt x="221" y="116"/>
                    </a:cubicBezTo>
                    <a:cubicBezTo>
                      <a:pt x="250" y="116"/>
                      <a:pt x="250" y="116"/>
                      <a:pt x="250" y="116"/>
                    </a:cubicBezTo>
                    <a:cubicBezTo>
                      <a:pt x="250" y="145"/>
                      <a:pt x="250" y="145"/>
                      <a:pt x="250" y="145"/>
                    </a:cubicBezTo>
                    <a:cubicBezTo>
                      <a:pt x="221" y="145"/>
                      <a:pt x="221" y="145"/>
                      <a:pt x="221" y="145"/>
                    </a:cubicBezTo>
                    <a:cubicBezTo>
                      <a:pt x="218" y="145"/>
                      <a:pt x="216" y="147"/>
                      <a:pt x="215" y="149"/>
                    </a:cubicBezTo>
                    <a:cubicBezTo>
                      <a:pt x="213" y="157"/>
                      <a:pt x="210" y="165"/>
                      <a:pt x="205" y="173"/>
                    </a:cubicBezTo>
                    <a:cubicBezTo>
                      <a:pt x="203" y="176"/>
                      <a:pt x="204" y="180"/>
                      <a:pt x="207" y="181"/>
                    </a:cubicBezTo>
                    <a:cubicBezTo>
                      <a:pt x="208" y="182"/>
                      <a:pt x="209" y="182"/>
                      <a:pt x="210" y="182"/>
                    </a:cubicBezTo>
                    <a:cubicBezTo>
                      <a:pt x="212" y="182"/>
                      <a:pt x="214" y="181"/>
                      <a:pt x="215" y="179"/>
                    </a:cubicBezTo>
                    <a:cubicBezTo>
                      <a:pt x="220" y="172"/>
                      <a:pt x="223" y="164"/>
                      <a:pt x="225" y="157"/>
                    </a:cubicBezTo>
                    <a:cubicBezTo>
                      <a:pt x="256" y="157"/>
                      <a:pt x="256" y="157"/>
                      <a:pt x="256" y="157"/>
                    </a:cubicBezTo>
                    <a:cubicBezTo>
                      <a:pt x="259" y="157"/>
                      <a:pt x="262" y="154"/>
                      <a:pt x="262" y="151"/>
                    </a:cubicBezTo>
                    <a:cubicBezTo>
                      <a:pt x="262" y="110"/>
                      <a:pt x="262" y="110"/>
                      <a:pt x="262" y="110"/>
                    </a:cubicBezTo>
                    <a:cubicBezTo>
                      <a:pt x="262" y="107"/>
                      <a:pt x="259" y="104"/>
                      <a:pt x="256" y="104"/>
                    </a:cubicBezTo>
                    <a:cubicBezTo>
                      <a:pt x="225" y="104"/>
                      <a:pt x="225" y="104"/>
                      <a:pt x="225" y="104"/>
                    </a:cubicBezTo>
                    <a:cubicBezTo>
                      <a:pt x="223" y="97"/>
                      <a:pt x="220" y="90"/>
                      <a:pt x="217" y="83"/>
                    </a:cubicBezTo>
                    <a:cubicBezTo>
                      <a:pt x="239" y="62"/>
                      <a:pt x="239" y="62"/>
                      <a:pt x="239" y="62"/>
                    </a:cubicBezTo>
                    <a:cubicBezTo>
                      <a:pt x="240" y="61"/>
                      <a:pt x="241" y="59"/>
                      <a:pt x="241" y="58"/>
                    </a:cubicBezTo>
                    <a:cubicBezTo>
                      <a:pt x="241" y="56"/>
                      <a:pt x="240" y="54"/>
                      <a:pt x="239" y="53"/>
                    </a:cubicBezTo>
                    <a:cubicBezTo>
                      <a:pt x="208" y="23"/>
                      <a:pt x="208" y="23"/>
                      <a:pt x="208" y="23"/>
                    </a:cubicBezTo>
                    <a:cubicBezTo>
                      <a:pt x="206" y="20"/>
                      <a:pt x="202" y="20"/>
                      <a:pt x="200" y="23"/>
                    </a:cubicBezTo>
                    <a:cubicBezTo>
                      <a:pt x="178" y="44"/>
                      <a:pt x="178" y="44"/>
                      <a:pt x="178" y="44"/>
                    </a:cubicBezTo>
                    <a:cubicBezTo>
                      <a:pt x="172" y="41"/>
                      <a:pt x="165" y="38"/>
                      <a:pt x="158" y="36"/>
                    </a:cubicBezTo>
                    <a:cubicBezTo>
                      <a:pt x="158" y="6"/>
                      <a:pt x="158" y="6"/>
                      <a:pt x="158" y="6"/>
                    </a:cubicBezTo>
                    <a:cubicBezTo>
                      <a:pt x="158" y="2"/>
                      <a:pt x="155" y="0"/>
                      <a:pt x="152" y="0"/>
                    </a:cubicBezTo>
                    <a:cubicBezTo>
                      <a:pt x="110" y="0"/>
                      <a:pt x="110" y="0"/>
                      <a:pt x="110" y="0"/>
                    </a:cubicBezTo>
                    <a:cubicBezTo>
                      <a:pt x="107" y="0"/>
                      <a:pt x="104" y="2"/>
                      <a:pt x="104" y="6"/>
                    </a:cubicBezTo>
                    <a:cubicBezTo>
                      <a:pt x="104" y="36"/>
                      <a:pt x="104" y="36"/>
                      <a:pt x="104" y="36"/>
                    </a:cubicBezTo>
                    <a:cubicBezTo>
                      <a:pt x="97" y="38"/>
                      <a:pt x="90" y="41"/>
                      <a:pt x="84" y="44"/>
                    </a:cubicBezTo>
                    <a:cubicBezTo>
                      <a:pt x="63" y="23"/>
                      <a:pt x="63" y="23"/>
                      <a:pt x="63" y="23"/>
                    </a:cubicBezTo>
                    <a:cubicBezTo>
                      <a:pt x="60" y="20"/>
                      <a:pt x="56" y="20"/>
                      <a:pt x="54" y="23"/>
                    </a:cubicBezTo>
                    <a:cubicBezTo>
                      <a:pt x="23" y="53"/>
                      <a:pt x="23" y="53"/>
                      <a:pt x="23" y="53"/>
                    </a:cubicBezTo>
                    <a:cubicBezTo>
                      <a:pt x="22" y="54"/>
                      <a:pt x="22" y="56"/>
                      <a:pt x="22" y="58"/>
                    </a:cubicBezTo>
                    <a:cubicBezTo>
                      <a:pt x="22" y="59"/>
                      <a:pt x="22" y="61"/>
                      <a:pt x="23" y="62"/>
                    </a:cubicBezTo>
                    <a:cubicBezTo>
                      <a:pt x="45" y="84"/>
                      <a:pt x="45" y="84"/>
                      <a:pt x="45" y="84"/>
                    </a:cubicBezTo>
                    <a:cubicBezTo>
                      <a:pt x="42" y="90"/>
                      <a:pt x="39" y="97"/>
                      <a:pt x="37" y="104"/>
                    </a:cubicBezTo>
                    <a:cubicBezTo>
                      <a:pt x="6" y="104"/>
                      <a:pt x="6" y="104"/>
                      <a:pt x="6" y="104"/>
                    </a:cubicBezTo>
                    <a:cubicBezTo>
                      <a:pt x="3" y="104"/>
                      <a:pt x="0" y="107"/>
                      <a:pt x="0" y="110"/>
                    </a:cubicBezTo>
                    <a:cubicBezTo>
                      <a:pt x="0" y="151"/>
                      <a:pt x="0" y="151"/>
                      <a:pt x="0" y="151"/>
                    </a:cubicBezTo>
                    <a:cubicBezTo>
                      <a:pt x="0" y="154"/>
                      <a:pt x="3" y="157"/>
                      <a:pt x="6"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1" name="Freeform 7">
                <a:extLst>
                  <a:ext uri="{FF2B5EF4-FFF2-40B4-BE49-F238E27FC236}">
                    <a16:creationId xmlns:a16="http://schemas.microsoft.com/office/drawing/2014/main" id="{7B2EA4B5-542D-7720-74C0-4CF69BC06027}"/>
                  </a:ext>
                </a:extLst>
              </p:cNvPr>
              <p:cNvSpPr>
                <a:spLocks/>
              </p:cNvSpPr>
              <p:nvPr/>
            </p:nvSpPr>
            <p:spPr bwMode="auto">
              <a:xfrm>
                <a:off x="7885113" y="5176838"/>
                <a:ext cx="260350" cy="415925"/>
              </a:xfrm>
              <a:custGeom>
                <a:avLst/>
                <a:gdLst>
                  <a:gd name="T0" fmla="*/ 52 w 80"/>
                  <a:gd name="T1" fmla="*/ 126 h 127"/>
                  <a:gd name="T2" fmla="*/ 57 w 80"/>
                  <a:gd name="T3" fmla="*/ 127 h 127"/>
                  <a:gd name="T4" fmla="*/ 61 w 80"/>
                  <a:gd name="T5" fmla="*/ 126 h 127"/>
                  <a:gd name="T6" fmla="*/ 79 w 80"/>
                  <a:gd name="T7" fmla="*/ 79 h 127"/>
                  <a:gd name="T8" fmla="*/ 57 w 80"/>
                  <a:gd name="T9" fmla="*/ 32 h 127"/>
                  <a:gd name="T10" fmla="*/ 23 w 80"/>
                  <a:gd name="T11" fmla="*/ 17 h 127"/>
                  <a:gd name="T12" fmla="*/ 30 w 80"/>
                  <a:gd name="T13" fmla="*/ 12 h 127"/>
                  <a:gd name="T14" fmla="*/ 31 w 80"/>
                  <a:gd name="T15" fmla="*/ 3 h 127"/>
                  <a:gd name="T16" fmla="*/ 23 w 80"/>
                  <a:gd name="T17" fmla="*/ 2 h 127"/>
                  <a:gd name="T18" fmla="*/ 2 w 80"/>
                  <a:gd name="T19" fmla="*/ 18 h 127"/>
                  <a:gd name="T20" fmla="*/ 0 w 80"/>
                  <a:gd name="T21" fmla="*/ 22 h 127"/>
                  <a:gd name="T22" fmla="*/ 1 w 80"/>
                  <a:gd name="T23" fmla="*/ 27 h 127"/>
                  <a:gd name="T24" fmla="*/ 17 w 80"/>
                  <a:gd name="T25" fmla="*/ 46 h 127"/>
                  <a:gd name="T26" fmla="*/ 22 w 80"/>
                  <a:gd name="T27" fmla="*/ 48 h 127"/>
                  <a:gd name="T28" fmla="*/ 26 w 80"/>
                  <a:gd name="T29" fmla="*/ 47 h 127"/>
                  <a:gd name="T30" fmla="*/ 26 w 80"/>
                  <a:gd name="T31" fmla="*/ 38 h 127"/>
                  <a:gd name="T32" fmla="*/ 19 w 80"/>
                  <a:gd name="T33" fmla="*/ 29 h 127"/>
                  <a:gd name="T34" fmla="*/ 49 w 80"/>
                  <a:gd name="T35" fmla="*/ 41 h 127"/>
                  <a:gd name="T36" fmla="*/ 67 w 80"/>
                  <a:gd name="T37" fmla="*/ 79 h 127"/>
                  <a:gd name="T38" fmla="*/ 52 w 80"/>
                  <a:gd name="T39" fmla="*/ 117 h 127"/>
                  <a:gd name="T40" fmla="*/ 52 w 80"/>
                  <a:gd name="T41"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 h="127">
                    <a:moveTo>
                      <a:pt x="52" y="126"/>
                    </a:moveTo>
                    <a:cubicBezTo>
                      <a:pt x="54" y="127"/>
                      <a:pt x="55" y="127"/>
                      <a:pt x="57" y="127"/>
                    </a:cubicBezTo>
                    <a:cubicBezTo>
                      <a:pt x="58" y="127"/>
                      <a:pt x="60" y="127"/>
                      <a:pt x="61" y="126"/>
                    </a:cubicBezTo>
                    <a:cubicBezTo>
                      <a:pt x="73" y="113"/>
                      <a:pt x="80" y="96"/>
                      <a:pt x="79" y="79"/>
                    </a:cubicBezTo>
                    <a:cubicBezTo>
                      <a:pt x="78" y="61"/>
                      <a:pt x="70" y="44"/>
                      <a:pt x="57" y="32"/>
                    </a:cubicBezTo>
                    <a:cubicBezTo>
                      <a:pt x="47" y="24"/>
                      <a:pt x="35" y="19"/>
                      <a:pt x="23" y="17"/>
                    </a:cubicBezTo>
                    <a:cubicBezTo>
                      <a:pt x="30" y="12"/>
                      <a:pt x="30" y="12"/>
                      <a:pt x="30" y="12"/>
                    </a:cubicBezTo>
                    <a:cubicBezTo>
                      <a:pt x="33" y="10"/>
                      <a:pt x="33" y="6"/>
                      <a:pt x="31" y="3"/>
                    </a:cubicBezTo>
                    <a:cubicBezTo>
                      <a:pt x="29" y="1"/>
                      <a:pt x="25" y="0"/>
                      <a:pt x="23" y="2"/>
                    </a:cubicBezTo>
                    <a:cubicBezTo>
                      <a:pt x="2" y="18"/>
                      <a:pt x="2" y="18"/>
                      <a:pt x="2" y="18"/>
                    </a:cubicBezTo>
                    <a:cubicBezTo>
                      <a:pt x="1" y="19"/>
                      <a:pt x="0" y="21"/>
                      <a:pt x="0" y="22"/>
                    </a:cubicBezTo>
                    <a:cubicBezTo>
                      <a:pt x="0" y="24"/>
                      <a:pt x="0" y="26"/>
                      <a:pt x="1" y="27"/>
                    </a:cubicBezTo>
                    <a:cubicBezTo>
                      <a:pt x="17" y="46"/>
                      <a:pt x="17" y="46"/>
                      <a:pt x="17" y="46"/>
                    </a:cubicBezTo>
                    <a:cubicBezTo>
                      <a:pt x="18" y="47"/>
                      <a:pt x="20" y="48"/>
                      <a:pt x="22" y="48"/>
                    </a:cubicBezTo>
                    <a:cubicBezTo>
                      <a:pt x="23" y="48"/>
                      <a:pt x="24" y="48"/>
                      <a:pt x="26" y="47"/>
                    </a:cubicBezTo>
                    <a:cubicBezTo>
                      <a:pt x="28" y="45"/>
                      <a:pt x="29" y="41"/>
                      <a:pt x="26" y="38"/>
                    </a:cubicBezTo>
                    <a:cubicBezTo>
                      <a:pt x="19" y="29"/>
                      <a:pt x="19" y="29"/>
                      <a:pt x="19" y="29"/>
                    </a:cubicBezTo>
                    <a:cubicBezTo>
                      <a:pt x="30" y="30"/>
                      <a:pt x="40" y="34"/>
                      <a:pt x="49" y="41"/>
                    </a:cubicBezTo>
                    <a:cubicBezTo>
                      <a:pt x="60" y="51"/>
                      <a:pt x="66" y="64"/>
                      <a:pt x="67" y="79"/>
                    </a:cubicBezTo>
                    <a:cubicBezTo>
                      <a:pt x="68" y="93"/>
                      <a:pt x="62" y="107"/>
                      <a:pt x="52" y="117"/>
                    </a:cubicBezTo>
                    <a:cubicBezTo>
                      <a:pt x="50" y="120"/>
                      <a:pt x="50" y="123"/>
                      <a:pt x="52"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Freeform 8">
                <a:extLst>
                  <a:ext uri="{FF2B5EF4-FFF2-40B4-BE49-F238E27FC236}">
                    <a16:creationId xmlns:a16="http://schemas.microsoft.com/office/drawing/2014/main" id="{262D7B0F-EB64-CFD2-7B47-5A741AC762D5}"/>
                  </a:ext>
                </a:extLst>
              </p:cNvPr>
              <p:cNvSpPr>
                <a:spLocks/>
              </p:cNvSpPr>
              <p:nvPr/>
            </p:nvSpPr>
            <p:spPr bwMode="auto">
              <a:xfrm>
                <a:off x="7494588" y="5611813"/>
                <a:ext cx="288925" cy="39688"/>
              </a:xfrm>
              <a:custGeom>
                <a:avLst/>
                <a:gdLst>
                  <a:gd name="T0" fmla="*/ 89 w 89"/>
                  <a:gd name="T1" fmla="*/ 6 h 12"/>
                  <a:gd name="T2" fmla="*/ 83 w 89"/>
                  <a:gd name="T3" fmla="*/ 0 h 12"/>
                  <a:gd name="T4" fmla="*/ 6 w 89"/>
                  <a:gd name="T5" fmla="*/ 0 h 12"/>
                  <a:gd name="T6" fmla="*/ 0 w 89"/>
                  <a:gd name="T7" fmla="*/ 6 h 12"/>
                  <a:gd name="T8" fmla="*/ 6 w 89"/>
                  <a:gd name="T9" fmla="*/ 12 h 12"/>
                  <a:gd name="T10" fmla="*/ 83 w 89"/>
                  <a:gd name="T11" fmla="*/ 12 h 12"/>
                  <a:gd name="T12" fmla="*/ 89 w 89"/>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89" h="12">
                    <a:moveTo>
                      <a:pt x="89" y="6"/>
                    </a:moveTo>
                    <a:cubicBezTo>
                      <a:pt x="89" y="3"/>
                      <a:pt x="86" y="0"/>
                      <a:pt x="83" y="0"/>
                    </a:cubicBezTo>
                    <a:cubicBezTo>
                      <a:pt x="6" y="0"/>
                      <a:pt x="6" y="0"/>
                      <a:pt x="6" y="0"/>
                    </a:cubicBezTo>
                    <a:cubicBezTo>
                      <a:pt x="3" y="0"/>
                      <a:pt x="0" y="3"/>
                      <a:pt x="0" y="6"/>
                    </a:cubicBezTo>
                    <a:cubicBezTo>
                      <a:pt x="0" y="9"/>
                      <a:pt x="3" y="12"/>
                      <a:pt x="6" y="12"/>
                    </a:cubicBezTo>
                    <a:cubicBezTo>
                      <a:pt x="83" y="12"/>
                      <a:pt x="83" y="12"/>
                      <a:pt x="83" y="12"/>
                    </a:cubicBezTo>
                    <a:cubicBezTo>
                      <a:pt x="86" y="12"/>
                      <a:pt x="89" y="9"/>
                      <a:pt x="8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3" name="Freeform 9">
                <a:extLst>
                  <a:ext uri="{FF2B5EF4-FFF2-40B4-BE49-F238E27FC236}">
                    <a16:creationId xmlns:a16="http://schemas.microsoft.com/office/drawing/2014/main" id="{6FFE6AE6-C0B3-ABD4-D312-4E70914114B4}"/>
                  </a:ext>
                </a:extLst>
              </p:cNvPr>
              <p:cNvSpPr>
                <a:spLocks/>
              </p:cNvSpPr>
              <p:nvPr/>
            </p:nvSpPr>
            <p:spPr bwMode="auto">
              <a:xfrm>
                <a:off x="7721601" y="5251451"/>
                <a:ext cx="687388" cy="461963"/>
              </a:xfrm>
              <a:custGeom>
                <a:avLst/>
                <a:gdLst>
                  <a:gd name="T0" fmla="*/ 209 w 211"/>
                  <a:gd name="T1" fmla="*/ 112 h 141"/>
                  <a:gd name="T2" fmla="*/ 189 w 211"/>
                  <a:gd name="T3" fmla="*/ 93 h 141"/>
                  <a:gd name="T4" fmla="*/ 181 w 211"/>
                  <a:gd name="T5" fmla="*/ 93 h 141"/>
                  <a:gd name="T6" fmla="*/ 181 w 211"/>
                  <a:gd name="T7" fmla="*/ 102 h 141"/>
                  <a:gd name="T8" fmla="*/ 190 w 211"/>
                  <a:gd name="T9" fmla="*/ 110 h 141"/>
                  <a:gd name="T10" fmla="*/ 68 w 211"/>
                  <a:gd name="T11" fmla="*/ 110 h 141"/>
                  <a:gd name="T12" fmla="*/ 67 w 211"/>
                  <a:gd name="T13" fmla="*/ 110 h 141"/>
                  <a:gd name="T14" fmla="*/ 30 w 211"/>
                  <a:gd name="T15" fmla="*/ 96 h 141"/>
                  <a:gd name="T16" fmla="*/ 13 w 211"/>
                  <a:gd name="T17" fmla="*/ 60 h 141"/>
                  <a:gd name="T18" fmla="*/ 40 w 211"/>
                  <a:gd name="T19" fmla="*/ 13 h 141"/>
                  <a:gd name="T20" fmla="*/ 43 w 211"/>
                  <a:gd name="T21" fmla="*/ 4 h 141"/>
                  <a:gd name="T22" fmla="*/ 34 w 211"/>
                  <a:gd name="T23" fmla="*/ 2 h 141"/>
                  <a:gd name="T24" fmla="*/ 1 w 211"/>
                  <a:gd name="T25" fmla="*/ 60 h 141"/>
                  <a:gd name="T26" fmla="*/ 22 w 211"/>
                  <a:gd name="T27" fmla="*/ 105 h 141"/>
                  <a:gd name="T28" fmla="*/ 65 w 211"/>
                  <a:gd name="T29" fmla="*/ 122 h 141"/>
                  <a:gd name="T30" fmla="*/ 67 w 211"/>
                  <a:gd name="T31" fmla="*/ 122 h 141"/>
                  <a:gd name="T32" fmla="*/ 67 w 211"/>
                  <a:gd name="T33" fmla="*/ 122 h 141"/>
                  <a:gd name="T34" fmla="*/ 190 w 211"/>
                  <a:gd name="T35" fmla="*/ 122 h 141"/>
                  <a:gd name="T36" fmla="*/ 180 w 211"/>
                  <a:gd name="T37" fmla="*/ 130 h 141"/>
                  <a:gd name="T38" fmla="*/ 180 w 211"/>
                  <a:gd name="T39" fmla="*/ 138 h 141"/>
                  <a:gd name="T40" fmla="*/ 184 w 211"/>
                  <a:gd name="T41" fmla="*/ 141 h 141"/>
                  <a:gd name="T42" fmla="*/ 188 w 211"/>
                  <a:gd name="T43" fmla="*/ 139 h 141"/>
                  <a:gd name="T44" fmla="*/ 209 w 211"/>
                  <a:gd name="T45" fmla="*/ 121 h 141"/>
                  <a:gd name="T46" fmla="*/ 211 w 211"/>
                  <a:gd name="T47" fmla="*/ 116 h 141"/>
                  <a:gd name="T48" fmla="*/ 209 w 211"/>
                  <a:gd name="T49" fmla="*/ 1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1" h="141">
                    <a:moveTo>
                      <a:pt x="209" y="112"/>
                    </a:moveTo>
                    <a:cubicBezTo>
                      <a:pt x="189" y="93"/>
                      <a:pt x="189" y="93"/>
                      <a:pt x="189" y="93"/>
                    </a:cubicBezTo>
                    <a:cubicBezTo>
                      <a:pt x="187" y="91"/>
                      <a:pt x="183" y="91"/>
                      <a:pt x="181" y="93"/>
                    </a:cubicBezTo>
                    <a:cubicBezTo>
                      <a:pt x="178" y="95"/>
                      <a:pt x="178" y="99"/>
                      <a:pt x="181" y="102"/>
                    </a:cubicBezTo>
                    <a:cubicBezTo>
                      <a:pt x="190" y="110"/>
                      <a:pt x="190" y="110"/>
                      <a:pt x="190" y="110"/>
                    </a:cubicBezTo>
                    <a:cubicBezTo>
                      <a:pt x="68" y="110"/>
                      <a:pt x="68" y="110"/>
                      <a:pt x="68" y="110"/>
                    </a:cubicBezTo>
                    <a:cubicBezTo>
                      <a:pt x="67" y="110"/>
                      <a:pt x="67" y="110"/>
                      <a:pt x="67" y="110"/>
                    </a:cubicBezTo>
                    <a:cubicBezTo>
                      <a:pt x="53" y="110"/>
                      <a:pt x="40" y="105"/>
                      <a:pt x="30" y="96"/>
                    </a:cubicBezTo>
                    <a:cubicBezTo>
                      <a:pt x="20" y="87"/>
                      <a:pt x="14" y="74"/>
                      <a:pt x="13" y="60"/>
                    </a:cubicBezTo>
                    <a:cubicBezTo>
                      <a:pt x="13" y="40"/>
                      <a:pt x="23" y="22"/>
                      <a:pt x="40" y="13"/>
                    </a:cubicBezTo>
                    <a:cubicBezTo>
                      <a:pt x="43" y="11"/>
                      <a:pt x="44" y="7"/>
                      <a:pt x="43" y="4"/>
                    </a:cubicBezTo>
                    <a:cubicBezTo>
                      <a:pt x="41" y="1"/>
                      <a:pt x="37" y="0"/>
                      <a:pt x="34" y="2"/>
                    </a:cubicBezTo>
                    <a:cubicBezTo>
                      <a:pt x="13" y="14"/>
                      <a:pt x="0" y="36"/>
                      <a:pt x="1" y="60"/>
                    </a:cubicBezTo>
                    <a:cubicBezTo>
                      <a:pt x="2" y="77"/>
                      <a:pt x="9" y="93"/>
                      <a:pt x="22" y="105"/>
                    </a:cubicBezTo>
                    <a:cubicBezTo>
                      <a:pt x="34" y="116"/>
                      <a:pt x="49" y="122"/>
                      <a:pt x="65" y="122"/>
                    </a:cubicBezTo>
                    <a:cubicBezTo>
                      <a:pt x="66" y="122"/>
                      <a:pt x="66" y="122"/>
                      <a:pt x="67" y="122"/>
                    </a:cubicBezTo>
                    <a:cubicBezTo>
                      <a:pt x="67" y="122"/>
                      <a:pt x="67" y="122"/>
                      <a:pt x="67" y="122"/>
                    </a:cubicBezTo>
                    <a:cubicBezTo>
                      <a:pt x="190" y="122"/>
                      <a:pt x="190" y="122"/>
                      <a:pt x="190" y="122"/>
                    </a:cubicBezTo>
                    <a:cubicBezTo>
                      <a:pt x="180" y="130"/>
                      <a:pt x="180" y="130"/>
                      <a:pt x="180" y="130"/>
                    </a:cubicBezTo>
                    <a:cubicBezTo>
                      <a:pt x="178" y="132"/>
                      <a:pt x="177" y="136"/>
                      <a:pt x="180" y="138"/>
                    </a:cubicBezTo>
                    <a:cubicBezTo>
                      <a:pt x="181" y="140"/>
                      <a:pt x="182" y="141"/>
                      <a:pt x="184" y="141"/>
                    </a:cubicBezTo>
                    <a:cubicBezTo>
                      <a:pt x="186" y="141"/>
                      <a:pt x="187" y="140"/>
                      <a:pt x="188" y="139"/>
                    </a:cubicBezTo>
                    <a:cubicBezTo>
                      <a:pt x="209" y="121"/>
                      <a:pt x="209" y="121"/>
                      <a:pt x="209" y="121"/>
                    </a:cubicBezTo>
                    <a:cubicBezTo>
                      <a:pt x="210" y="120"/>
                      <a:pt x="211" y="118"/>
                      <a:pt x="211" y="116"/>
                    </a:cubicBezTo>
                    <a:cubicBezTo>
                      <a:pt x="211" y="115"/>
                      <a:pt x="211" y="113"/>
                      <a:pt x="209"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sp>
        <p:nvSpPr>
          <p:cNvPr id="75" name="Rectangle 1">
            <a:extLst>
              <a:ext uri="{FF2B5EF4-FFF2-40B4-BE49-F238E27FC236}">
                <a16:creationId xmlns:a16="http://schemas.microsoft.com/office/drawing/2014/main" id="{CF50455C-31D4-AA0D-9AFB-335D5A799246}"/>
              </a:ext>
            </a:extLst>
          </p:cNvPr>
          <p:cNvSpPr>
            <a:spLocks noChangeArrowheads="1"/>
          </p:cNvSpPr>
          <p:nvPr/>
        </p:nvSpPr>
        <p:spPr bwMode="auto">
          <a:xfrm>
            <a:off x="8748261" y="1316586"/>
            <a:ext cx="2654483" cy="270861"/>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all" spc="0" normalizeH="0" baseline="0" noProof="0">
                <a:ln>
                  <a:noFill/>
                </a:ln>
                <a:solidFill>
                  <a:schemeClr val="accent2"/>
                </a:solidFill>
                <a:effectLst/>
                <a:uLnTx/>
                <a:uFillTx/>
                <a:ea typeface="+mn-ea"/>
                <a:cs typeface="Arial" panose="020B0604020202020204" pitchFamily="34" charset="0"/>
              </a:rPr>
              <a:t>Modernization</a:t>
            </a:r>
          </a:p>
        </p:txBody>
      </p:sp>
      <p:sp>
        <p:nvSpPr>
          <p:cNvPr id="76" name="Textplatzhalter 7">
            <a:extLst>
              <a:ext uri="{FF2B5EF4-FFF2-40B4-BE49-F238E27FC236}">
                <a16:creationId xmlns:a16="http://schemas.microsoft.com/office/drawing/2014/main" id="{B150F479-571F-052C-CEF6-C41E7DF246CC}"/>
              </a:ext>
            </a:extLst>
          </p:cNvPr>
          <p:cNvSpPr txBox="1">
            <a:spLocks/>
          </p:cNvSpPr>
          <p:nvPr/>
        </p:nvSpPr>
        <p:spPr bwMode="gray">
          <a:xfrm>
            <a:off x="8750145" y="1811542"/>
            <a:ext cx="2916000" cy="870817"/>
          </a:xfrm>
          <a:prstGeom prst="rect">
            <a:avLst/>
          </a:prstGeom>
        </p:spPr>
        <p:txBody>
          <a:bodyPr lIns="0" tIns="0" rIns="0" bIns="0" anchor="ctr"/>
          <a:lstStyle>
            <a:lvl1pPr marL="0" indent="0" algn="l" defTabSz="914400" rtl="0" eaLnBrk="1" latinLnBrk="0" hangingPunct="1">
              <a:spcBef>
                <a:spcPts val="0"/>
              </a:spcBef>
              <a:spcAft>
                <a:spcPts val="600"/>
              </a:spcAft>
              <a:buFont typeface="Arial" panose="020B0604020202020204" pitchFamily="34" charset="0"/>
              <a:buNone/>
              <a:defRPr sz="1400" kern="1200" cap="none" baseline="0">
                <a:solidFill>
                  <a:schemeClr val="tx1"/>
                </a:solidFill>
                <a:latin typeface="+mn-lt"/>
                <a:ea typeface="+mn-ea"/>
                <a:cs typeface="+mn-cs"/>
              </a:defRPr>
            </a:lvl1pPr>
            <a:lvl2pPr marL="0" indent="0" algn="l" defTabSz="914400" rtl="0" eaLnBrk="1" latinLnBrk="0" hangingPunct="1">
              <a:spcBef>
                <a:spcPts val="0"/>
              </a:spcBef>
              <a:spcAft>
                <a:spcPts val="600"/>
              </a:spcAft>
              <a:buFont typeface="Arial" panose="020B0604020202020204" pitchFamily="34" charset="0"/>
              <a:buNone/>
              <a:defRPr sz="1400" kern="1200" cap="none">
                <a:solidFill>
                  <a:schemeClr val="tx1"/>
                </a:solidFill>
                <a:latin typeface="+mn-lt"/>
                <a:ea typeface="+mn-ea"/>
                <a:cs typeface="+mn-cs"/>
              </a:defRPr>
            </a:lvl2pPr>
            <a:lvl3pPr marL="0" indent="0" algn="l" defTabSz="914400" rtl="0" eaLnBrk="1" latinLnBrk="0" hangingPunct="1">
              <a:spcBef>
                <a:spcPts val="0"/>
              </a:spcBef>
              <a:spcAft>
                <a:spcPts val="600"/>
              </a:spcAft>
              <a:buClr>
                <a:schemeClr val="bg2"/>
              </a:buClr>
              <a:buFont typeface="Symbol" panose="05050102010706020507" pitchFamily="18" charset="2"/>
              <a:buNone/>
              <a:defRPr sz="1400" kern="1200" cap="none">
                <a:solidFill>
                  <a:schemeClr val="tx1"/>
                </a:solidFill>
                <a:latin typeface="+mn-lt"/>
                <a:ea typeface="+mn-ea"/>
                <a:cs typeface="+mn-cs"/>
              </a:defRPr>
            </a:lvl3pPr>
            <a:lvl4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4pPr>
            <a:lvl5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5pPr>
            <a:lvl6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6pPr>
            <a:lvl7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7pPr>
            <a:lvl8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8pPr>
            <a:lvl9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ea typeface="+mn-ea"/>
                <a:cs typeface="Arial" panose="020B0604020202020204" pitchFamily="34" charset="0"/>
              </a:rPr>
              <a:t>Data First Transformation approach towards Modular, Decoupled &amp; Integrated IT stack across BSS &amp; OSS landscape driven by Gen AI Philosophy</a:t>
            </a:r>
          </a:p>
        </p:txBody>
      </p:sp>
      <p:sp>
        <p:nvSpPr>
          <p:cNvPr id="86" name="Rectangle 85">
            <a:extLst>
              <a:ext uri="{FF2B5EF4-FFF2-40B4-BE49-F238E27FC236}">
                <a16:creationId xmlns:a16="http://schemas.microsoft.com/office/drawing/2014/main" id="{42F361E7-A515-F89B-EDC5-C743C50BCBA4}"/>
              </a:ext>
            </a:extLst>
          </p:cNvPr>
          <p:cNvSpPr/>
          <p:nvPr/>
        </p:nvSpPr>
        <p:spPr>
          <a:xfrm>
            <a:off x="2580851" y="5313261"/>
            <a:ext cx="1674744" cy="827566"/>
          </a:xfrm>
          <a:prstGeom prst="rect">
            <a:avLst/>
          </a:prstGeom>
        </p:spPr>
        <p:txBody>
          <a:bodyPr wrap="square" lIns="0" tIns="0" rIns="0" bIns="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i="0" u="none" strike="noStrike" kern="1200" cap="none" spc="0" normalizeH="0" baseline="0" noProof="0">
                <a:ln>
                  <a:noFill/>
                </a:ln>
                <a:solidFill>
                  <a:prstClr val="white"/>
                </a:solidFill>
                <a:effectLst/>
                <a:uLnTx/>
                <a:uFillTx/>
                <a:ea typeface="+mn-ea"/>
                <a:cs typeface="+mn-cs"/>
              </a:rPr>
              <a:t>Unified Cloud native BSS/OSS modular platforms supporting both mobile &amp; fixed line across CRM, Provisioning, Inventory Mgmt. etc.</a:t>
            </a:r>
            <a:r>
              <a:rPr kumimoji="0" lang="en-US" sz="1100" i="0" u="none" strike="noStrike" kern="1200" cap="none" spc="0" normalizeH="0" baseline="0" noProof="0">
                <a:ln>
                  <a:noFill/>
                </a:ln>
                <a:solidFill>
                  <a:schemeClr val="accent6">
                    <a:lumMod val="60000"/>
                    <a:lumOff val="40000"/>
                  </a:schemeClr>
                </a:solidFill>
                <a:effectLst/>
                <a:uLnTx/>
                <a:uFillTx/>
                <a:ea typeface="+mn-ea"/>
                <a:cs typeface="+mn-cs"/>
              </a:rPr>
              <a:t> </a:t>
            </a:r>
          </a:p>
        </p:txBody>
      </p:sp>
      <p:sp>
        <p:nvSpPr>
          <p:cNvPr id="87" name="Rectangle 86">
            <a:extLst>
              <a:ext uri="{FF2B5EF4-FFF2-40B4-BE49-F238E27FC236}">
                <a16:creationId xmlns:a16="http://schemas.microsoft.com/office/drawing/2014/main" id="{034931C7-913D-004F-0549-5382003B2E7C}"/>
              </a:ext>
            </a:extLst>
          </p:cNvPr>
          <p:cNvSpPr/>
          <p:nvPr/>
        </p:nvSpPr>
        <p:spPr>
          <a:xfrm>
            <a:off x="336854" y="5313261"/>
            <a:ext cx="1674744" cy="1015663"/>
          </a:xfrm>
          <a:prstGeom prst="rect">
            <a:avLst/>
          </a:prstGeom>
        </p:spPr>
        <p:txBody>
          <a:bodyPr wrap="square" lIns="0" tIns="0" rIns="0" bIns="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i="0" u="none" strike="noStrike" kern="1200" cap="none" spc="0" normalizeH="0" baseline="0" noProof="0">
                <a:ln>
                  <a:noFill/>
                </a:ln>
                <a:solidFill>
                  <a:prstClr val="white"/>
                </a:solidFill>
                <a:effectLst/>
                <a:uLnTx/>
                <a:uFillTx/>
                <a:ea typeface="+mn-ea"/>
                <a:cs typeface="+mn-cs"/>
              </a:rPr>
              <a:t>Consolidating legacy systems into simple modular platforms to reduce maintenance costs, licensing overheads  by removing duplication</a:t>
            </a:r>
          </a:p>
        </p:txBody>
      </p:sp>
      <p:sp>
        <p:nvSpPr>
          <p:cNvPr id="88" name="TextBox 87">
            <a:extLst>
              <a:ext uri="{FF2B5EF4-FFF2-40B4-BE49-F238E27FC236}">
                <a16:creationId xmlns:a16="http://schemas.microsoft.com/office/drawing/2014/main" id="{340B0687-79A4-3F1C-5425-39A0209F46C8}"/>
              </a:ext>
            </a:extLst>
          </p:cNvPr>
          <p:cNvSpPr txBox="1"/>
          <p:nvPr/>
        </p:nvSpPr>
        <p:spPr>
          <a:xfrm>
            <a:off x="4845206" y="5313261"/>
            <a:ext cx="1609053" cy="827565"/>
          </a:xfrm>
          <a:prstGeom prst="rect">
            <a:avLst/>
          </a:prstGeom>
        </p:spPr>
        <p:txBody>
          <a:bodyPr wrap="square" lIns="0" tIns="0" rIns="0" bIns="0">
            <a:noAutofit/>
          </a:bodyPr>
          <a:lstStyle>
            <a:defPPr>
              <a:defRPr lang="en-US"/>
            </a:defPPr>
            <a:lvl1pPr algn="ctr" defTabSz="914400">
              <a:lnSpc>
                <a:spcPct val="90000"/>
              </a:lnSpc>
              <a:defRPr sz="1200">
                <a:latin typeface="Ubuntu" panose="020B0504030602030204" pitchFamily="34" charset="0"/>
              </a:defRPr>
            </a:lvl1pPr>
          </a:lstStyle>
          <a:p>
            <a:pPr marL="0" marR="0" lvl="0" indent="0" defTabSz="914400" rtl="0" eaLnBrk="1" fontAlgn="auto" latinLnBrk="0" hangingPunct="1">
              <a:lnSpc>
                <a:spcPct val="90000"/>
              </a:lnSpc>
              <a:spcBef>
                <a:spcPts val="0"/>
              </a:spcBef>
              <a:spcAft>
                <a:spcPts val="0"/>
              </a:spcAft>
              <a:buClrTx/>
              <a:buSzTx/>
              <a:buFontTx/>
              <a:buNone/>
              <a:tabLst/>
              <a:defRPr/>
            </a:pPr>
            <a:r>
              <a:rPr kumimoji="0" lang="en-US" sz="1100" i="0" u="none" strike="noStrike" kern="1200" cap="none" spc="0" normalizeH="0" baseline="0" noProof="0">
                <a:ln>
                  <a:noFill/>
                </a:ln>
                <a:solidFill>
                  <a:prstClr val="white"/>
                </a:solidFill>
                <a:effectLst/>
                <a:uLnTx/>
                <a:uFillTx/>
                <a:latin typeface="+mn-lt"/>
                <a:ea typeface="+mn-ea"/>
                <a:cs typeface="+mn-cs"/>
              </a:rPr>
              <a:t>Product/Service locked flexible HW/SW design driving highly scalable inward-looking model  to improve ROI on </a:t>
            </a:r>
            <a:r>
              <a:rPr kumimoji="0" lang="en-US" sz="1100" i="0" u="none" strike="noStrike" kern="1200" cap="none" spc="0" normalizeH="0" baseline="0" noProof="0" err="1">
                <a:ln>
                  <a:noFill/>
                </a:ln>
                <a:solidFill>
                  <a:prstClr val="white"/>
                </a:solidFill>
                <a:effectLst/>
                <a:uLnTx/>
                <a:uFillTx/>
                <a:latin typeface="+mn-lt"/>
                <a:ea typeface="+mn-ea"/>
                <a:cs typeface="+mn-cs"/>
              </a:rPr>
              <a:t>G.fast</a:t>
            </a:r>
            <a:r>
              <a:rPr kumimoji="0" lang="en-US" sz="1100" i="0" u="none" strike="noStrike" kern="1200" cap="none" spc="0" normalizeH="0" baseline="0" noProof="0">
                <a:ln>
                  <a:noFill/>
                </a:ln>
                <a:solidFill>
                  <a:prstClr val="white"/>
                </a:solidFill>
                <a:effectLst/>
                <a:uLnTx/>
                <a:uFillTx/>
                <a:latin typeface="+mn-lt"/>
                <a:ea typeface="+mn-ea"/>
                <a:cs typeface="+mn-cs"/>
              </a:rPr>
              <a:t>, IMS etc.</a:t>
            </a:r>
          </a:p>
        </p:txBody>
      </p:sp>
      <p:sp>
        <p:nvSpPr>
          <p:cNvPr id="89" name="TextBox 88">
            <a:extLst>
              <a:ext uri="{FF2B5EF4-FFF2-40B4-BE49-F238E27FC236}">
                <a16:creationId xmlns:a16="http://schemas.microsoft.com/office/drawing/2014/main" id="{8363E655-5F77-CAB5-85D9-0CA4427B55B3}"/>
              </a:ext>
            </a:extLst>
          </p:cNvPr>
          <p:cNvSpPr txBox="1"/>
          <p:nvPr/>
        </p:nvSpPr>
        <p:spPr>
          <a:xfrm>
            <a:off x="7090850" y="5313261"/>
            <a:ext cx="2129349" cy="827565"/>
          </a:xfrm>
          <a:prstGeom prst="rect">
            <a:avLst/>
          </a:prstGeom>
        </p:spPr>
        <p:txBody>
          <a:bodyPr wrap="square" lIns="0" tIns="0" rIns="0" bIns="0">
            <a:noAutofit/>
          </a:bodyPr>
          <a:lstStyle>
            <a:defPPr>
              <a:defRPr lang="en-US"/>
            </a:defPPr>
            <a:lvl1pPr algn="ctr" defTabSz="914400">
              <a:lnSpc>
                <a:spcPct val="90000"/>
              </a:lnSpc>
              <a:defRPr sz="1200">
                <a:latin typeface="Ubuntu" panose="020B0504030602030204" pitchFamily="34" charset="0"/>
              </a:defRPr>
            </a:lvl1pPr>
          </a:lstStyle>
          <a:p>
            <a:pPr marL="0" marR="0" lvl="0" indent="0" defTabSz="914400" rtl="0" eaLnBrk="1" fontAlgn="auto" latinLnBrk="0" hangingPunct="1">
              <a:lnSpc>
                <a:spcPct val="90000"/>
              </a:lnSpc>
              <a:spcBef>
                <a:spcPts val="0"/>
              </a:spcBef>
              <a:spcAft>
                <a:spcPts val="0"/>
              </a:spcAft>
              <a:buClrTx/>
              <a:buSzTx/>
              <a:buFontTx/>
              <a:buNone/>
              <a:tabLst/>
              <a:defRPr/>
            </a:pPr>
            <a:r>
              <a:rPr kumimoji="0" lang="en-US" sz="1100" i="0" u="none" strike="noStrike" kern="1200" cap="none" spc="0" normalizeH="0" baseline="0" noProof="0">
                <a:ln>
                  <a:noFill/>
                </a:ln>
                <a:solidFill>
                  <a:prstClr val="white"/>
                </a:solidFill>
                <a:effectLst/>
                <a:uLnTx/>
                <a:uFillTx/>
                <a:latin typeface="+mn-lt"/>
                <a:ea typeface="+mn-ea"/>
                <a:cs typeface="+mn-cs"/>
              </a:rPr>
              <a:t> </a:t>
            </a:r>
            <a:r>
              <a:rPr lang="en-US" sz="1100" noProof="0">
                <a:solidFill>
                  <a:prstClr val="white"/>
                </a:solidFill>
                <a:latin typeface="+mn-lt"/>
              </a:rPr>
              <a:t>Transition towards Open API architecture design in line with industry standards  to enable faster time to market  &amp; superior monetization opportunity (Movilcash, Automation etc.)</a:t>
            </a:r>
            <a:endParaRPr kumimoji="0" lang="en-US" sz="1100" i="0" u="none" strike="noStrike" kern="1200" cap="none" spc="0" normalizeH="0" baseline="0" noProof="0">
              <a:ln>
                <a:noFill/>
              </a:ln>
              <a:solidFill>
                <a:prstClr val="white"/>
              </a:solidFill>
              <a:effectLst/>
              <a:uLnTx/>
              <a:uFillTx/>
              <a:latin typeface="+mn-lt"/>
              <a:ea typeface="+mn-ea"/>
              <a:cs typeface="+mn-cs"/>
            </a:endParaRPr>
          </a:p>
        </p:txBody>
      </p:sp>
      <p:sp>
        <p:nvSpPr>
          <p:cNvPr id="90" name="Oval 89">
            <a:extLst>
              <a:ext uri="{FF2B5EF4-FFF2-40B4-BE49-F238E27FC236}">
                <a16:creationId xmlns:a16="http://schemas.microsoft.com/office/drawing/2014/main" id="{9250CECA-4BED-016D-F510-CDCB6686176E}"/>
              </a:ext>
            </a:extLst>
          </p:cNvPr>
          <p:cNvSpPr/>
          <p:nvPr/>
        </p:nvSpPr>
        <p:spPr>
          <a:xfrm>
            <a:off x="1011113" y="4829001"/>
            <a:ext cx="356300" cy="319142"/>
          </a:xfrm>
          <a:prstGeom prst="ellipse">
            <a:avLst/>
          </a:prstGeom>
          <a:solidFill>
            <a:schemeClr val="accent1"/>
          </a:solidFill>
          <a:ln w="9525" cap="flat" cmpd="sng" algn="ctr">
            <a:noFill/>
            <a:prstDash val="solid"/>
          </a:ln>
          <a:effectLst>
            <a:outerShdw blurRad="40000" dist="23000" dir="5400000" rotWithShape="0">
              <a:srgbClr val="000000">
                <a:alpha val="35000"/>
              </a:srgbClr>
            </a:outerShdw>
          </a:effectLst>
        </p:spPr>
        <p:txBody>
          <a:bodyPr lIns="45720" r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bg1"/>
                </a:solidFill>
                <a:effectLst/>
                <a:uLnTx/>
                <a:uFillTx/>
                <a:ea typeface="+mn-ea"/>
                <a:cs typeface="+mn-cs"/>
              </a:rPr>
              <a:t>1</a:t>
            </a:r>
          </a:p>
        </p:txBody>
      </p:sp>
      <p:grpSp>
        <p:nvGrpSpPr>
          <p:cNvPr id="95" name="Group 94">
            <a:extLst>
              <a:ext uri="{FF2B5EF4-FFF2-40B4-BE49-F238E27FC236}">
                <a16:creationId xmlns:a16="http://schemas.microsoft.com/office/drawing/2014/main" id="{C8A00552-A36F-7CCA-BD7D-548A2C3964AA}"/>
              </a:ext>
            </a:extLst>
          </p:cNvPr>
          <p:cNvGrpSpPr/>
          <p:nvPr/>
        </p:nvGrpSpPr>
        <p:grpSpPr>
          <a:xfrm>
            <a:off x="9749891" y="3086751"/>
            <a:ext cx="685410" cy="685410"/>
            <a:chOff x="9467019" y="3242694"/>
            <a:chExt cx="912281" cy="912281"/>
          </a:xfrm>
          <a:solidFill>
            <a:schemeClr val="bg1"/>
          </a:solidFill>
        </p:grpSpPr>
        <p:sp>
          <p:nvSpPr>
            <p:cNvPr id="96" name="Oval 95">
              <a:extLst>
                <a:ext uri="{FF2B5EF4-FFF2-40B4-BE49-F238E27FC236}">
                  <a16:creationId xmlns:a16="http://schemas.microsoft.com/office/drawing/2014/main" id="{86155478-455C-B592-DFF9-E95B15278AEF}"/>
                </a:ext>
              </a:extLst>
            </p:cNvPr>
            <p:cNvSpPr/>
            <p:nvPr/>
          </p:nvSpPr>
          <p:spPr>
            <a:xfrm>
              <a:off x="9467019" y="3242694"/>
              <a:ext cx="912281" cy="912281"/>
            </a:xfrm>
            <a:prstGeom prst="ellipse">
              <a:avLst/>
            </a:prstGeom>
            <a:solidFill>
              <a:schemeClr val="accent1"/>
            </a:solid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prstClr val="white"/>
                </a:solidFill>
                <a:latin typeface="Aptos" panose="02110004020202020204"/>
              </a:endParaRPr>
            </a:p>
          </p:txBody>
        </p:sp>
        <p:grpSp>
          <p:nvGrpSpPr>
            <p:cNvPr id="97" name="Group 96">
              <a:extLst>
                <a:ext uri="{FF2B5EF4-FFF2-40B4-BE49-F238E27FC236}">
                  <a16:creationId xmlns:a16="http://schemas.microsoft.com/office/drawing/2014/main" id="{F7CCF016-C8FD-67B3-9569-AD86E65BA265}"/>
                </a:ext>
              </a:extLst>
            </p:cNvPr>
            <p:cNvGrpSpPr/>
            <p:nvPr/>
          </p:nvGrpSpPr>
          <p:grpSpPr>
            <a:xfrm>
              <a:off x="9679728" y="3435970"/>
              <a:ext cx="486862" cy="525728"/>
              <a:chOff x="4760109" y="803511"/>
              <a:chExt cx="2919482" cy="2776116"/>
            </a:xfrm>
            <a:grpFill/>
          </p:grpSpPr>
          <p:sp>
            <p:nvSpPr>
              <p:cNvPr id="98" name="Freeform 116">
                <a:extLst>
                  <a:ext uri="{FF2B5EF4-FFF2-40B4-BE49-F238E27FC236}">
                    <a16:creationId xmlns:a16="http://schemas.microsoft.com/office/drawing/2014/main" id="{DBB9F118-D7F9-4353-1E39-2A48E66D20A2}"/>
                  </a:ext>
                </a:extLst>
              </p:cNvPr>
              <p:cNvSpPr>
                <a:spLocks noEditPoints="1"/>
              </p:cNvSpPr>
              <p:nvPr/>
            </p:nvSpPr>
            <p:spPr bwMode="auto">
              <a:xfrm>
                <a:off x="4760109" y="803511"/>
                <a:ext cx="2919482" cy="2776116"/>
              </a:xfrm>
              <a:custGeom>
                <a:avLst/>
                <a:gdLst>
                  <a:gd name="T0" fmla="*/ 275 w 303"/>
                  <a:gd name="T1" fmla="*/ 162 h 288"/>
                  <a:gd name="T2" fmla="*/ 278 w 303"/>
                  <a:gd name="T3" fmla="*/ 162 h 288"/>
                  <a:gd name="T4" fmla="*/ 139 w 303"/>
                  <a:gd name="T5" fmla="*/ 22 h 288"/>
                  <a:gd name="T6" fmla="*/ 113 w 303"/>
                  <a:gd name="T7" fmla="*/ 0 h 288"/>
                  <a:gd name="T8" fmla="*/ 91 w 303"/>
                  <a:gd name="T9" fmla="*/ 37 h 288"/>
                  <a:gd name="T10" fmla="*/ 43 w 303"/>
                  <a:gd name="T11" fmla="*/ 84 h 288"/>
                  <a:gd name="T12" fmla="*/ 34 w 303"/>
                  <a:gd name="T13" fmla="*/ 83 h 288"/>
                  <a:gd name="T14" fmla="*/ 26 w 303"/>
                  <a:gd name="T15" fmla="*/ 150 h 288"/>
                  <a:gd name="T16" fmla="*/ 77 w 303"/>
                  <a:gd name="T17" fmla="*/ 249 h 288"/>
                  <a:gd name="T18" fmla="*/ 97 w 303"/>
                  <a:gd name="T19" fmla="*/ 288 h 288"/>
                  <a:gd name="T20" fmla="*/ 121 w 303"/>
                  <a:gd name="T21" fmla="*/ 271 h 288"/>
                  <a:gd name="T22" fmla="*/ 253 w 303"/>
                  <a:gd name="T23" fmla="*/ 225 h 288"/>
                  <a:gd name="T24" fmla="*/ 269 w 303"/>
                  <a:gd name="T25" fmla="*/ 229 h 288"/>
                  <a:gd name="T26" fmla="*/ 253 w 303"/>
                  <a:gd name="T27" fmla="*/ 165 h 288"/>
                  <a:gd name="T28" fmla="*/ 247 w 303"/>
                  <a:gd name="T29" fmla="*/ 170 h 288"/>
                  <a:gd name="T30" fmla="*/ 238 w 303"/>
                  <a:gd name="T31" fmla="*/ 209 h 288"/>
                  <a:gd name="T32" fmla="*/ 115 w 303"/>
                  <a:gd name="T33" fmla="*/ 224 h 288"/>
                  <a:gd name="T34" fmla="*/ 45 w 303"/>
                  <a:gd name="T35" fmla="*/ 148 h 288"/>
                  <a:gd name="T36" fmla="*/ 66 w 303"/>
                  <a:gd name="T37" fmla="*/ 104 h 288"/>
                  <a:gd name="T38" fmla="*/ 170 w 303"/>
                  <a:gd name="T39" fmla="*/ 134 h 288"/>
                  <a:gd name="T40" fmla="*/ 253 w 303"/>
                  <a:gd name="T41" fmla="*/ 165 h 288"/>
                  <a:gd name="T42" fmla="*/ 250 w 303"/>
                  <a:gd name="T43" fmla="*/ 168 h 288"/>
                  <a:gd name="T44" fmla="*/ 247 w 303"/>
                  <a:gd name="T45" fmla="*/ 170 h 288"/>
                  <a:gd name="T46" fmla="*/ 243 w 303"/>
                  <a:gd name="T47" fmla="*/ 174 h 288"/>
                  <a:gd name="T48" fmla="*/ 241 w 303"/>
                  <a:gd name="T49" fmla="*/ 177 h 288"/>
                  <a:gd name="T50" fmla="*/ 239 w 303"/>
                  <a:gd name="T51" fmla="*/ 181 h 288"/>
                  <a:gd name="T52" fmla="*/ 237 w 303"/>
                  <a:gd name="T53" fmla="*/ 186 h 288"/>
                  <a:gd name="T54" fmla="*/ 236 w 303"/>
                  <a:gd name="T55" fmla="*/ 190 h 288"/>
                  <a:gd name="T56" fmla="*/ 139 w 303"/>
                  <a:gd name="T57" fmla="*/ 91 h 288"/>
                  <a:gd name="T58" fmla="*/ 170 w 303"/>
                  <a:gd name="T59" fmla="*/ 123 h 288"/>
                  <a:gd name="T60" fmla="*/ 128 w 303"/>
                  <a:gd name="T61" fmla="*/ 25 h 288"/>
                  <a:gd name="T62" fmla="*/ 110 w 303"/>
                  <a:gd name="T63" fmla="*/ 39 h 288"/>
                  <a:gd name="T64" fmla="*/ 52 w 303"/>
                  <a:gd name="T65" fmla="*/ 88 h 288"/>
                  <a:gd name="T66" fmla="*/ 60 w 303"/>
                  <a:gd name="T67" fmla="*/ 77 h 288"/>
                  <a:gd name="T68" fmla="*/ 99 w 303"/>
                  <a:gd name="T69" fmla="*/ 45 h 288"/>
                  <a:gd name="T70" fmla="*/ 137 w 303"/>
                  <a:gd name="T71" fmla="*/ 33 h 288"/>
                  <a:gd name="T72" fmla="*/ 137 w 303"/>
                  <a:gd name="T73" fmla="*/ 32 h 288"/>
                  <a:gd name="T74" fmla="*/ 152 w 303"/>
                  <a:gd name="T75" fmla="*/ 31 h 288"/>
                  <a:gd name="T76" fmla="*/ 184 w 303"/>
                  <a:gd name="T77" fmla="*/ 36 h 288"/>
                  <a:gd name="T78" fmla="*/ 269 w 303"/>
                  <a:gd name="T79" fmla="*/ 140 h 288"/>
                  <a:gd name="T80" fmla="*/ 269 w 303"/>
                  <a:gd name="T81" fmla="*/ 148 h 288"/>
                  <a:gd name="T82" fmla="*/ 213 w 303"/>
                  <a:gd name="T83" fmla="*/ 91 h 288"/>
                  <a:gd name="T84" fmla="*/ 60 w 303"/>
                  <a:gd name="T85" fmla="*/ 94 h 288"/>
                  <a:gd name="T86" fmla="*/ 59 w 303"/>
                  <a:gd name="T87" fmla="*/ 94 h 288"/>
                  <a:gd name="T88" fmla="*/ 52 w 303"/>
                  <a:gd name="T89" fmla="*/ 88 h 288"/>
                  <a:gd name="T90" fmla="*/ 47 w 303"/>
                  <a:gd name="T91" fmla="*/ 97 h 288"/>
                  <a:gd name="T92" fmla="*/ 34 w 303"/>
                  <a:gd name="T93" fmla="*/ 140 h 288"/>
                  <a:gd name="T94" fmla="*/ 83 w 303"/>
                  <a:gd name="T95" fmla="*/ 263 h 288"/>
                  <a:gd name="T96" fmla="*/ 109 w 303"/>
                  <a:gd name="T97" fmla="*/ 255 h 288"/>
                  <a:gd name="T98" fmla="*/ 97 w 303"/>
                  <a:gd name="T99" fmla="*/ 278 h 288"/>
                  <a:gd name="T100" fmla="*/ 122 w 303"/>
                  <a:gd name="T101" fmla="*/ 261 h 288"/>
                  <a:gd name="T102" fmla="*/ 121 w 303"/>
                  <a:gd name="T103" fmla="*/ 260 h 288"/>
                  <a:gd name="T104" fmla="*/ 84 w 303"/>
                  <a:gd name="T105" fmla="*/ 242 h 288"/>
                  <a:gd name="T106" fmla="*/ 56 w 303"/>
                  <a:gd name="T107" fmla="*/ 213 h 288"/>
                  <a:gd name="T108" fmla="*/ 38 w 303"/>
                  <a:gd name="T109" fmla="*/ 165 h 288"/>
                  <a:gd name="T110" fmla="*/ 112 w 303"/>
                  <a:gd name="T111" fmla="*/ 233 h 288"/>
                  <a:gd name="T112" fmla="*/ 243 w 303"/>
                  <a:gd name="T113" fmla="*/ 218 h 288"/>
                  <a:gd name="T114" fmla="*/ 245 w 303"/>
                  <a:gd name="T115" fmla="*/ 219 h 288"/>
                  <a:gd name="T116" fmla="*/ 246 w 303"/>
                  <a:gd name="T117" fmla="*/ 195 h 288"/>
                  <a:gd name="T118" fmla="*/ 270 w 303"/>
                  <a:gd name="T119" fmla="*/ 219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3" h="288">
                    <a:moveTo>
                      <a:pt x="279" y="163"/>
                    </a:moveTo>
                    <a:cubicBezTo>
                      <a:pt x="279" y="163"/>
                      <a:pt x="279" y="163"/>
                      <a:pt x="279" y="163"/>
                    </a:cubicBezTo>
                    <a:cubicBezTo>
                      <a:pt x="278" y="162"/>
                      <a:pt x="277" y="162"/>
                      <a:pt x="275" y="162"/>
                    </a:cubicBezTo>
                    <a:cubicBezTo>
                      <a:pt x="277" y="162"/>
                      <a:pt x="278" y="162"/>
                      <a:pt x="279" y="163"/>
                    </a:cubicBezTo>
                    <a:cubicBezTo>
                      <a:pt x="278" y="162"/>
                      <a:pt x="278" y="162"/>
                      <a:pt x="278" y="162"/>
                    </a:cubicBezTo>
                    <a:cubicBezTo>
                      <a:pt x="278" y="162"/>
                      <a:pt x="278" y="162"/>
                      <a:pt x="278" y="162"/>
                    </a:cubicBezTo>
                    <a:cubicBezTo>
                      <a:pt x="279" y="157"/>
                      <a:pt x="279" y="152"/>
                      <a:pt x="279" y="148"/>
                    </a:cubicBezTo>
                    <a:cubicBezTo>
                      <a:pt x="279" y="78"/>
                      <a:pt x="223" y="21"/>
                      <a:pt x="153" y="21"/>
                    </a:cubicBezTo>
                    <a:cubicBezTo>
                      <a:pt x="148" y="21"/>
                      <a:pt x="144" y="21"/>
                      <a:pt x="139" y="22"/>
                    </a:cubicBezTo>
                    <a:cubicBezTo>
                      <a:pt x="139" y="22"/>
                      <a:pt x="139" y="22"/>
                      <a:pt x="139" y="22"/>
                    </a:cubicBezTo>
                    <a:cubicBezTo>
                      <a:pt x="138" y="21"/>
                      <a:pt x="138" y="21"/>
                      <a:pt x="138" y="21"/>
                    </a:cubicBezTo>
                    <a:cubicBezTo>
                      <a:pt x="136" y="9"/>
                      <a:pt x="125" y="0"/>
                      <a:pt x="113" y="0"/>
                    </a:cubicBezTo>
                    <a:cubicBezTo>
                      <a:pt x="100" y="0"/>
                      <a:pt x="88" y="11"/>
                      <a:pt x="88" y="25"/>
                    </a:cubicBezTo>
                    <a:cubicBezTo>
                      <a:pt x="88" y="29"/>
                      <a:pt x="89" y="33"/>
                      <a:pt x="91" y="36"/>
                    </a:cubicBezTo>
                    <a:cubicBezTo>
                      <a:pt x="91" y="37"/>
                      <a:pt x="91" y="37"/>
                      <a:pt x="91" y="37"/>
                    </a:cubicBezTo>
                    <a:cubicBezTo>
                      <a:pt x="91" y="37"/>
                      <a:pt x="91" y="37"/>
                      <a:pt x="91" y="37"/>
                    </a:cubicBezTo>
                    <a:cubicBezTo>
                      <a:pt x="71" y="48"/>
                      <a:pt x="55" y="64"/>
                      <a:pt x="44" y="83"/>
                    </a:cubicBezTo>
                    <a:cubicBezTo>
                      <a:pt x="43" y="84"/>
                      <a:pt x="43" y="84"/>
                      <a:pt x="43" y="84"/>
                    </a:cubicBezTo>
                    <a:cubicBezTo>
                      <a:pt x="43" y="84"/>
                      <a:pt x="43" y="84"/>
                      <a:pt x="43" y="84"/>
                    </a:cubicBezTo>
                    <a:cubicBezTo>
                      <a:pt x="41" y="84"/>
                      <a:pt x="39" y="83"/>
                      <a:pt x="38" y="83"/>
                    </a:cubicBezTo>
                    <a:cubicBezTo>
                      <a:pt x="37" y="83"/>
                      <a:pt x="36" y="83"/>
                      <a:pt x="34" y="83"/>
                    </a:cubicBezTo>
                    <a:cubicBezTo>
                      <a:pt x="15" y="83"/>
                      <a:pt x="0" y="98"/>
                      <a:pt x="0" y="117"/>
                    </a:cubicBezTo>
                    <a:cubicBezTo>
                      <a:pt x="0" y="132"/>
                      <a:pt x="11" y="146"/>
                      <a:pt x="25" y="150"/>
                    </a:cubicBezTo>
                    <a:cubicBezTo>
                      <a:pt x="26" y="150"/>
                      <a:pt x="26" y="150"/>
                      <a:pt x="26" y="150"/>
                    </a:cubicBezTo>
                    <a:cubicBezTo>
                      <a:pt x="26" y="151"/>
                      <a:pt x="26" y="151"/>
                      <a:pt x="26" y="151"/>
                    </a:cubicBezTo>
                    <a:cubicBezTo>
                      <a:pt x="27" y="189"/>
                      <a:pt x="45" y="226"/>
                      <a:pt x="76" y="249"/>
                    </a:cubicBezTo>
                    <a:cubicBezTo>
                      <a:pt x="77" y="249"/>
                      <a:pt x="77" y="249"/>
                      <a:pt x="77" y="249"/>
                    </a:cubicBezTo>
                    <a:cubicBezTo>
                      <a:pt x="76" y="250"/>
                      <a:pt x="76" y="250"/>
                      <a:pt x="76" y="250"/>
                    </a:cubicBezTo>
                    <a:cubicBezTo>
                      <a:pt x="73" y="255"/>
                      <a:pt x="72" y="259"/>
                      <a:pt x="72" y="263"/>
                    </a:cubicBezTo>
                    <a:cubicBezTo>
                      <a:pt x="72" y="278"/>
                      <a:pt x="83" y="288"/>
                      <a:pt x="97" y="288"/>
                    </a:cubicBezTo>
                    <a:cubicBezTo>
                      <a:pt x="108" y="288"/>
                      <a:pt x="117" y="282"/>
                      <a:pt x="120" y="272"/>
                    </a:cubicBezTo>
                    <a:cubicBezTo>
                      <a:pt x="121" y="271"/>
                      <a:pt x="121" y="271"/>
                      <a:pt x="121" y="271"/>
                    </a:cubicBezTo>
                    <a:cubicBezTo>
                      <a:pt x="121" y="271"/>
                      <a:pt x="121" y="271"/>
                      <a:pt x="121" y="271"/>
                    </a:cubicBezTo>
                    <a:cubicBezTo>
                      <a:pt x="131" y="273"/>
                      <a:pt x="141" y="275"/>
                      <a:pt x="153" y="275"/>
                    </a:cubicBezTo>
                    <a:cubicBezTo>
                      <a:pt x="191" y="275"/>
                      <a:pt x="228" y="257"/>
                      <a:pt x="253" y="226"/>
                    </a:cubicBezTo>
                    <a:cubicBezTo>
                      <a:pt x="253" y="225"/>
                      <a:pt x="253" y="225"/>
                      <a:pt x="253" y="225"/>
                    </a:cubicBezTo>
                    <a:cubicBezTo>
                      <a:pt x="254" y="226"/>
                      <a:pt x="254" y="226"/>
                      <a:pt x="254" y="226"/>
                    </a:cubicBezTo>
                    <a:cubicBezTo>
                      <a:pt x="256" y="227"/>
                      <a:pt x="259" y="228"/>
                      <a:pt x="262" y="228"/>
                    </a:cubicBezTo>
                    <a:cubicBezTo>
                      <a:pt x="265" y="229"/>
                      <a:pt x="267" y="229"/>
                      <a:pt x="269" y="229"/>
                    </a:cubicBezTo>
                    <a:cubicBezTo>
                      <a:pt x="288" y="229"/>
                      <a:pt x="303" y="214"/>
                      <a:pt x="303" y="195"/>
                    </a:cubicBezTo>
                    <a:cubicBezTo>
                      <a:pt x="303" y="180"/>
                      <a:pt x="293" y="167"/>
                      <a:pt x="279" y="163"/>
                    </a:cubicBezTo>
                    <a:close/>
                    <a:moveTo>
                      <a:pt x="253" y="165"/>
                    </a:moveTo>
                    <a:cubicBezTo>
                      <a:pt x="252" y="166"/>
                      <a:pt x="251" y="167"/>
                      <a:pt x="250" y="167"/>
                    </a:cubicBezTo>
                    <a:cubicBezTo>
                      <a:pt x="250" y="168"/>
                      <a:pt x="249" y="168"/>
                      <a:pt x="249" y="169"/>
                    </a:cubicBezTo>
                    <a:cubicBezTo>
                      <a:pt x="248" y="169"/>
                      <a:pt x="248" y="169"/>
                      <a:pt x="247" y="170"/>
                    </a:cubicBezTo>
                    <a:cubicBezTo>
                      <a:pt x="240" y="176"/>
                      <a:pt x="235" y="185"/>
                      <a:pt x="235" y="195"/>
                    </a:cubicBezTo>
                    <a:cubicBezTo>
                      <a:pt x="235" y="200"/>
                      <a:pt x="236" y="204"/>
                      <a:pt x="238" y="208"/>
                    </a:cubicBezTo>
                    <a:cubicBezTo>
                      <a:pt x="238" y="209"/>
                      <a:pt x="238" y="209"/>
                      <a:pt x="238" y="209"/>
                    </a:cubicBezTo>
                    <a:cubicBezTo>
                      <a:pt x="238" y="209"/>
                      <a:pt x="238" y="209"/>
                      <a:pt x="238" y="209"/>
                    </a:cubicBezTo>
                    <a:cubicBezTo>
                      <a:pt x="219" y="219"/>
                      <a:pt x="191" y="231"/>
                      <a:pt x="158" y="231"/>
                    </a:cubicBezTo>
                    <a:cubicBezTo>
                      <a:pt x="143" y="231"/>
                      <a:pt x="129" y="229"/>
                      <a:pt x="115" y="224"/>
                    </a:cubicBezTo>
                    <a:cubicBezTo>
                      <a:pt x="61" y="204"/>
                      <a:pt x="48" y="165"/>
                      <a:pt x="46" y="149"/>
                    </a:cubicBezTo>
                    <a:cubicBezTo>
                      <a:pt x="46" y="149"/>
                      <a:pt x="46" y="149"/>
                      <a:pt x="46" y="149"/>
                    </a:cubicBezTo>
                    <a:cubicBezTo>
                      <a:pt x="45" y="148"/>
                      <a:pt x="45" y="148"/>
                      <a:pt x="45" y="148"/>
                    </a:cubicBezTo>
                    <a:cubicBezTo>
                      <a:pt x="46" y="148"/>
                      <a:pt x="46" y="148"/>
                      <a:pt x="46" y="148"/>
                    </a:cubicBezTo>
                    <a:cubicBezTo>
                      <a:pt x="59" y="143"/>
                      <a:pt x="68" y="131"/>
                      <a:pt x="68" y="117"/>
                    </a:cubicBezTo>
                    <a:cubicBezTo>
                      <a:pt x="68" y="113"/>
                      <a:pt x="67" y="108"/>
                      <a:pt x="66" y="104"/>
                    </a:cubicBezTo>
                    <a:cubicBezTo>
                      <a:pt x="76" y="99"/>
                      <a:pt x="99" y="88"/>
                      <a:pt x="128" y="86"/>
                    </a:cubicBezTo>
                    <a:cubicBezTo>
                      <a:pt x="127" y="88"/>
                      <a:pt x="127" y="90"/>
                      <a:pt x="127" y="91"/>
                    </a:cubicBezTo>
                    <a:cubicBezTo>
                      <a:pt x="127" y="115"/>
                      <a:pt x="146" y="134"/>
                      <a:pt x="170" y="134"/>
                    </a:cubicBezTo>
                    <a:cubicBezTo>
                      <a:pt x="188" y="134"/>
                      <a:pt x="203" y="124"/>
                      <a:pt x="209" y="109"/>
                    </a:cubicBezTo>
                    <a:cubicBezTo>
                      <a:pt x="228" y="122"/>
                      <a:pt x="245" y="140"/>
                      <a:pt x="261" y="162"/>
                    </a:cubicBezTo>
                    <a:cubicBezTo>
                      <a:pt x="258" y="163"/>
                      <a:pt x="256" y="164"/>
                      <a:pt x="253" y="165"/>
                    </a:cubicBezTo>
                    <a:cubicBezTo>
                      <a:pt x="253" y="165"/>
                      <a:pt x="253" y="165"/>
                      <a:pt x="253" y="165"/>
                    </a:cubicBezTo>
                    <a:cubicBezTo>
                      <a:pt x="253" y="165"/>
                      <a:pt x="253" y="165"/>
                      <a:pt x="253" y="165"/>
                    </a:cubicBezTo>
                    <a:close/>
                    <a:moveTo>
                      <a:pt x="250" y="168"/>
                    </a:moveTo>
                    <a:cubicBezTo>
                      <a:pt x="250" y="168"/>
                      <a:pt x="249" y="168"/>
                      <a:pt x="249" y="168"/>
                    </a:cubicBezTo>
                    <a:cubicBezTo>
                      <a:pt x="249" y="168"/>
                      <a:pt x="250" y="168"/>
                      <a:pt x="250" y="168"/>
                    </a:cubicBezTo>
                    <a:close/>
                    <a:moveTo>
                      <a:pt x="247" y="170"/>
                    </a:moveTo>
                    <a:cubicBezTo>
                      <a:pt x="246" y="170"/>
                      <a:pt x="246" y="171"/>
                      <a:pt x="246" y="171"/>
                    </a:cubicBezTo>
                    <a:cubicBezTo>
                      <a:pt x="246" y="171"/>
                      <a:pt x="246" y="170"/>
                      <a:pt x="247" y="170"/>
                    </a:cubicBezTo>
                    <a:close/>
                    <a:moveTo>
                      <a:pt x="243" y="174"/>
                    </a:moveTo>
                    <a:cubicBezTo>
                      <a:pt x="243" y="174"/>
                      <a:pt x="243" y="174"/>
                      <a:pt x="243" y="174"/>
                    </a:cubicBezTo>
                    <a:cubicBezTo>
                      <a:pt x="243" y="174"/>
                      <a:pt x="243" y="174"/>
                      <a:pt x="243" y="174"/>
                    </a:cubicBezTo>
                    <a:close/>
                    <a:moveTo>
                      <a:pt x="241" y="177"/>
                    </a:moveTo>
                    <a:cubicBezTo>
                      <a:pt x="241" y="178"/>
                      <a:pt x="240" y="178"/>
                      <a:pt x="240" y="178"/>
                    </a:cubicBezTo>
                    <a:cubicBezTo>
                      <a:pt x="240" y="178"/>
                      <a:pt x="241" y="178"/>
                      <a:pt x="241" y="177"/>
                    </a:cubicBezTo>
                    <a:close/>
                    <a:moveTo>
                      <a:pt x="239" y="181"/>
                    </a:moveTo>
                    <a:cubicBezTo>
                      <a:pt x="239" y="181"/>
                      <a:pt x="238" y="182"/>
                      <a:pt x="238" y="182"/>
                    </a:cubicBezTo>
                    <a:cubicBezTo>
                      <a:pt x="238" y="182"/>
                      <a:pt x="239" y="181"/>
                      <a:pt x="239" y="181"/>
                    </a:cubicBezTo>
                    <a:close/>
                    <a:moveTo>
                      <a:pt x="237" y="186"/>
                    </a:moveTo>
                    <a:cubicBezTo>
                      <a:pt x="237" y="186"/>
                      <a:pt x="237" y="186"/>
                      <a:pt x="237" y="187"/>
                    </a:cubicBezTo>
                    <a:cubicBezTo>
                      <a:pt x="237" y="186"/>
                      <a:pt x="237" y="186"/>
                      <a:pt x="237" y="186"/>
                    </a:cubicBezTo>
                    <a:close/>
                    <a:moveTo>
                      <a:pt x="236" y="190"/>
                    </a:moveTo>
                    <a:cubicBezTo>
                      <a:pt x="236" y="190"/>
                      <a:pt x="236" y="191"/>
                      <a:pt x="236" y="191"/>
                    </a:cubicBezTo>
                    <a:cubicBezTo>
                      <a:pt x="236" y="191"/>
                      <a:pt x="236" y="190"/>
                      <a:pt x="236" y="190"/>
                    </a:cubicBezTo>
                    <a:close/>
                    <a:moveTo>
                      <a:pt x="139" y="91"/>
                    </a:moveTo>
                    <a:cubicBezTo>
                      <a:pt x="139" y="74"/>
                      <a:pt x="153" y="60"/>
                      <a:pt x="170" y="60"/>
                    </a:cubicBezTo>
                    <a:cubicBezTo>
                      <a:pt x="187" y="60"/>
                      <a:pt x="201" y="74"/>
                      <a:pt x="201" y="91"/>
                    </a:cubicBezTo>
                    <a:cubicBezTo>
                      <a:pt x="201" y="109"/>
                      <a:pt x="187" y="123"/>
                      <a:pt x="170" y="123"/>
                    </a:cubicBezTo>
                    <a:cubicBezTo>
                      <a:pt x="153" y="123"/>
                      <a:pt x="139" y="109"/>
                      <a:pt x="139" y="91"/>
                    </a:cubicBezTo>
                    <a:close/>
                    <a:moveTo>
                      <a:pt x="113" y="11"/>
                    </a:moveTo>
                    <a:cubicBezTo>
                      <a:pt x="122" y="11"/>
                      <a:pt x="128" y="17"/>
                      <a:pt x="128" y="25"/>
                    </a:cubicBezTo>
                    <a:cubicBezTo>
                      <a:pt x="128" y="28"/>
                      <a:pt x="127" y="32"/>
                      <a:pt x="124" y="35"/>
                    </a:cubicBezTo>
                    <a:cubicBezTo>
                      <a:pt x="122" y="38"/>
                      <a:pt x="118" y="40"/>
                      <a:pt x="113" y="40"/>
                    </a:cubicBezTo>
                    <a:cubicBezTo>
                      <a:pt x="112" y="40"/>
                      <a:pt x="111" y="40"/>
                      <a:pt x="110" y="39"/>
                    </a:cubicBezTo>
                    <a:cubicBezTo>
                      <a:pt x="103" y="38"/>
                      <a:pt x="99" y="31"/>
                      <a:pt x="99" y="25"/>
                    </a:cubicBezTo>
                    <a:cubicBezTo>
                      <a:pt x="99" y="17"/>
                      <a:pt x="105" y="11"/>
                      <a:pt x="113" y="11"/>
                    </a:cubicBezTo>
                    <a:close/>
                    <a:moveTo>
                      <a:pt x="52" y="88"/>
                    </a:moveTo>
                    <a:cubicBezTo>
                      <a:pt x="53" y="87"/>
                      <a:pt x="53" y="87"/>
                      <a:pt x="53" y="87"/>
                    </a:cubicBezTo>
                    <a:cubicBezTo>
                      <a:pt x="55" y="84"/>
                      <a:pt x="57" y="81"/>
                      <a:pt x="59" y="78"/>
                    </a:cubicBezTo>
                    <a:cubicBezTo>
                      <a:pt x="59" y="78"/>
                      <a:pt x="60" y="78"/>
                      <a:pt x="60" y="77"/>
                    </a:cubicBezTo>
                    <a:cubicBezTo>
                      <a:pt x="61" y="76"/>
                      <a:pt x="62" y="75"/>
                      <a:pt x="62" y="74"/>
                    </a:cubicBezTo>
                    <a:cubicBezTo>
                      <a:pt x="72" y="62"/>
                      <a:pt x="85" y="52"/>
                      <a:pt x="98" y="45"/>
                    </a:cubicBezTo>
                    <a:cubicBezTo>
                      <a:pt x="99" y="45"/>
                      <a:pt x="99" y="45"/>
                      <a:pt x="99" y="45"/>
                    </a:cubicBezTo>
                    <a:cubicBezTo>
                      <a:pt x="99" y="45"/>
                      <a:pt x="99" y="45"/>
                      <a:pt x="99" y="45"/>
                    </a:cubicBezTo>
                    <a:cubicBezTo>
                      <a:pt x="103" y="48"/>
                      <a:pt x="109" y="50"/>
                      <a:pt x="113" y="50"/>
                    </a:cubicBezTo>
                    <a:cubicBezTo>
                      <a:pt x="124" y="50"/>
                      <a:pt x="133" y="43"/>
                      <a:pt x="137" y="33"/>
                    </a:cubicBezTo>
                    <a:cubicBezTo>
                      <a:pt x="137" y="32"/>
                      <a:pt x="137" y="32"/>
                      <a:pt x="137" y="32"/>
                    </a:cubicBezTo>
                    <a:cubicBezTo>
                      <a:pt x="137" y="32"/>
                      <a:pt x="137" y="32"/>
                      <a:pt x="137" y="32"/>
                    </a:cubicBezTo>
                    <a:cubicBezTo>
                      <a:pt x="137" y="32"/>
                      <a:pt x="137" y="32"/>
                      <a:pt x="137" y="32"/>
                    </a:cubicBezTo>
                    <a:cubicBezTo>
                      <a:pt x="142" y="31"/>
                      <a:pt x="147" y="31"/>
                      <a:pt x="152" y="31"/>
                    </a:cubicBezTo>
                    <a:cubicBezTo>
                      <a:pt x="152" y="31"/>
                      <a:pt x="152" y="31"/>
                      <a:pt x="152" y="31"/>
                    </a:cubicBezTo>
                    <a:cubicBezTo>
                      <a:pt x="152" y="31"/>
                      <a:pt x="152" y="31"/>
                      <a:pt x="152" y="31"/>
                    </a:cubicBezTo>
                    <a:cubicBezTo>
                      <a:pt x="153" y="31"/>
                      <a:pt x="153" y="31"/>
                      <a:pt x="153" y="31"/>
                    </a:cubicBezTo>
                    <a:cubicBezTo>
                      <a:pt x="163" y="31"/>
                      <a:pt x="172" y="32"/>
                      <a:pt x="181" y="35"/>
                    </a:cubicBezTo>
                    <a:cubicBezTo>
                      <a:pt x="182" y="35"/>
                      <a:pt x="183" y="35"/>
                      <a:pt x="184" y="36"/>
                    </a:cubicBezTo>
                    <a:cubicBezTo>
                      <a:pt x="185" y="36"/>
                      <a:pt x="185" y="36"/>
                      <a:pt x="186" y="36"/>
                    </a:cubicBezTo>
                    <a:cubicBezTo>
                      <a:pt x="224" y="48"/>
                      <a:pt x="254" y="78"/>
                      <a:pt x="265" y="117"/>
                    </a:cubicBezTo>
                    <a:cubicBezTo>
                      <a:pt x="267" y="124"/>
                      <a:pt x="268" y="132"/>
                      <a:pt x="269" y="140"/>
                    </a:cubicBezTo>
                    <a:cubicBezTo>
                      <a:pt x="269" y="142"/>
                      <a:pt x="269" y="143"/>
                      <a:pt x="269" y="145"/>
                    </a:cubicBezTo>
                    <a:cubicBezTo>
                      <a:pt x="269" y="148"/>
                      <a:pt x="269" y="148"/>
                      <a:pt x="269" y="148"/>
                    </a:cubicBezTo>
                    <a:cubicBezTo>
                      <a:pt x="269" y="148"/>
                      <a:pt x="269" y="148"/>
                      <a:pt x="269" y="148"/>
                    </a:cubicBezTo>
                    <a:cubicBezTo>
                      <a:pt x="269" y="150"/>
                      <a:pt x="269" y="151"/>
                      <a:pt x="269" y="153"/>
                    </a:cubicBezTo>
                    <a:cubicBezTo>
                      <a:pt x="252" y="129"/>
                      <a:pt x="233" y="111"/>
                      <a:pt x="213" y="97"/>
                    </a:cubicBezTo>
                    <a:cubicBezTo>
                      <a:pt x="213" y="95"/>
                      <a:pt x="213" y="93"/>
                      <a:pt x="213" y="91"/>
                    </a:cubicBezTo>
                    <a:cubicBezTo>
                      <a:pt x="213" y="68"/>
                      <a:pt x="194" y="48"/>
                      <a:pt x="170" y="48"/>
                    </a:cubicBezTo>
                    <a:cubicBezTo>
                      <a:pt x="153" y="48"/>
                      <a:pt x="137" y="59"/>
                      <a:pt x="131" y="74"/>
                    </a:cubicBezTo>
                    <a:cubicBezTo>
                      <a:pt x="97" y="75"/>
                      <a:pt x="71" y="88"/>
                      <a:pt x="60" y="94"/>
                    </a:cubicBezTo>
                    <a:cubicBezTo>
                      <a:pt x="60" y="94"/>
                      <a:pt x="60" y="94"/>
                      <a:pt x="59" y="94"/>
                    </a:cubicBezTo>
                    <a:cubicBezTo>
                      <a:pt x="59" y="94"/>
                      <a:pt x="59" y="94"/>
                      <a:pt x="59" y="94"/>
                    </a:cubicBezTo>
                    <a:cubicBezTo>
                      <a:pt x="59" y="94"/>
                      <a:pt x="59" y="94"/>
                      <a:pt x="59" y="94"/>
                    </a:cubicBezTo>
                    <a:cubicBezTo>
                      <a:pt x="57" y="92"/>
                      <a:pt x="56" y="91"/>
                      <a:pt x="54" y="89"/>
                    </a:cubicBezTo>
                    <a:cubicBezTo>
                      <a:pt x="52" y="88"/>
                      <a:pt x="52" y="88"/>
                      <a:pt x="52" y="88"/>
                    </a:cubicBezTo>
                    <a:cubicBezTo>
                      <a:pt x="52" y="88"/>
                      <a:pt x="52" y="88"/>
                      <a:pt x="52" y="88"/>
                    </a:cubicBezTo>
                    <a:close/>
                    <a:moveTo>
                      <a:pt x="10" y="117"/>
                    </a:moveTo>
                    <a:cubicBezTo>
                      <a:pt x="10" y="104"/>
                      <a:pt x="21" y="93"/>
                      <a:pt x="34" y="93"/>
                    </a:cubicBezTo>
                    <a:cubicBezTo>
                      <a:pt x="39" y="93"/>
                      <a:pt x="44" y="95"/>
                      <a:pt x="47" y="97"/>
                    </a:cubicBezTo>
                    <a:cubicBezTo>
                      <a:pt x="54" y="102"/>
                      <a:pt x="58" y="109"/>
                      <a:pt x="58" y="117"/>
                    </a:cubicBezTo>
                    <a:cubicBezTo>
                      <a:pt x="58" y="129"/>
                      <a:pt x="48" y="139"/>
                      <a:pt x="36" y="140"/>
                    </a:cubicBezTo>
                    <a:cubicBezTo>
                      <a:pt x="36" y="140"/>
                      <a:pt x="35" y="140"/>
                      <a:pt x="34" y="140"/>
                    </a:cubicBezTo>
                    <a:cubicBezTo>
                      <a:pt x="21" y="140"/>
                      <a:pt x="10" y="130"/>
                      <a:pt x="10" y="117"/>
                    </a:cubicBezTo>
                    <a:close/>
                    <a:moveTo>
                      <a:pt x="97" y="278"/>
                    </a:moveTo>
                    <a:cubicBezTo>
                      <a:pt x="89" y="278"/>
                      <a:pt x="83" y="271"/>
                      <a:pt x="83" y="263"/>
                    </a:cubicBezTo>
                    <a:cubicBezTo>
                      <a:pt x="83" y="256"/>
                      <a:pt x="89" y="250"/>
                      <a:pt x="96" y="250"/>
                    </a:cubicBezTo>
                    <a:cubicBezTo>
                      <a:pt x="97" y="250"/>
                      <a:pt x="97" y="250"/>
                      <a:pt x="97" y="250"/>
                    </a:cubicBezTo>
                    <a:cubicBezTo>
                      <a:pt x="102" y="250"/>
                      <a:pt x="106" y="252"/>
                      <a:pt x="109" y="255"/>
                    </a:cubicBezTo>
                    <a:cubicBezTo>
                      <a:pt x="110" y="258"/>
                      <a:pt x="111" y="260"/>
                      <a:pt x="112" y="263"/>
                    </a:cubicBezTo>
                    <a:cubicBezTo>
                      <a:pt x="112" y="265"/>
                      <a:pt x="112" y="265"/>
                      <a:pt x="112" y="265"/>
                    </a:cubicBezTo>
                    <a:cubicBezTo>
                      <a:pt x="111" y="272"/>
                      <a:pt x="104" y="278"/>
                      <a:pt x="97" y="278"/>
                    </a:cubicBezTo>
                    <a:close/>
                    <a:moveTo>
                      <a:pt x="245" y="219"/>
                    </a:moveTo>
                    <a:cubicBezTo>
                      <a:pt x="222" y="248"/>
                      <a:pt x="189" y="264"/>
                      <a:pt x="153" y="264"/>
                    </a:cubicBezTo>
                    <a:cubicBezTo>
                      <a:pt x="141" y="264"/>
                      <a:pt x="131" y="263"/>
                      <a:pt x="122" y="261"/>
                    </a:cubicBezTo>
                    <a:cubicBezTo>
                      <a:pt x="121" y="261"/>
                      <a:pt x="121" y="261"/>
                      <a:pt x="121" y="261"/>
                    </a:cubicBezTo>
                    <a:cubicBezTo>
                      <a:pt x="121" y="260"/>
                      <a:pt x="121" y="260"/>
                      <a:pt x="121" y="260"/>
                    </a:cubicBezTo>
                    <a:cubicBezTo>
                      <a:pt x="121" y="260"/>
                      <a:pt x="121" y="260"/>
                      <a:pt x="121" y="260"/>
                    </a:cubicBezTo>
                    <a:cubicBezTo>
                      <a:pt x="119" y="248"/>
                      <a:pt x="110" y="239"/>
                      <a:pt x="97" y="239"/>
                    </a:cubicBezTo>
                    <a:cubicBezTo>
                      <a:pt x="93" y="239"/>
                      <a:pt x="89" y="240"/>
                      <a:pt x="85" y="242"/>
                    </a:cubicBezTo>
                    <a:cubicBezTo>
                      <a:pt x="84" y="242"/>
                      <a:pt x="84" y="242"/>
                      <a:pt x="84" y="242"/>
                    </a:cubicBezTo>
                    <a:cubicBezTo>
                      <a:pt x="84" y="242"/>
                      <a:pt x="84" y="242"/>
                      <a:pt x="84" y="242"/>
                    </a:cubicBezTo>
                    <a:cubicBezTo>
                      <a:pt x="84" y="242"/>
                      <a:pt x="84" y="242"/>
                      <a:pt x="84" y="242"/>
                    </a:cubicBezTo>
                    <a:cubicBezTo>
                      <a:pt x="73" y="234"/>
                      <a:pt x="63" y="224"/>
                      <a:pt x="56" y="213"/>
                    </a:cubicBezTo>
                    <a:cubicBezTo>
                      <a:pt x="55" y="211"/>
                      <a:pt x="54" y="209"/>
                      <a:pt x="52" y="207"/>
                    </a:cubicBezTo>
                    <a:cubicBezTo>
                      <a:pt x="45" y="195"/>
                      <a:pt x="40" y="181"/>
                      <a:pt x="38" y="166"/>
                    </a:cubicBezTo>
                    <a:cubicBezTo>
                      <a:pt x="38" y="165"/>
                      <a:pt x="38" y="165"/>
                      <a:pt x="38" y="165"/>
                    </a:cubicBezTo>
                    <a:cubicBezTo>
                      <a:pt x="39" y="165"/>
                      <a:pt x="39" y="165"/>
                      <a:pt x="39" y="165"/>
                    </a:cubicBezTo>
                    <a:cubicBezTo>
                      <a:pt x="40" y="166"/>
                      <a:pt x="40" y="166"/>
                      <a:pt x="40" y="166"/>
                    </a:cubicBezTo>
                    <a:cubicBezTo>
                      <a:pt x="45" y="183"/>
                      <a:pt x="62" y="216"/>
                      <a:pt x="112" y="233"/>
                    </a:cubicBezTo>
                    <a:cubicBezTo>
                      <a:pt x="126" y="238"/>
                      <a:pt x="141" y="241"/>
                      <a:pt x="159" y="241"/>
                    </a:cubicBezTo>
                    <a:cubicBezTo>
                      <a:pt x="197" y="241"/>
                      <a:pt x="228" y="227"/>
                      <a:pt x="243" y="218"/>
                    </a:cubicBezTo>
                    <a:cubicBezTo>
                      <a:pt x="243" y="218"/>
                      <a:pt x="243" y="218"/>
                      <a:pt x="243" y="218"/>
                    </a:cubicBezTo>
                    <a:cubicBezTo>
                      <a:pt x="244" y="218"/>
                      <a:pt x="244" y="218"/>
                      <a:pt x="244" y="218"/>
                    </a:cubicBezTo>
                    <a:cubicBezTo>
                      <a:pt x="246" y="218"/>
                      <a:pt x="246" y="218"/>
                      <a:pt x="246" y="218"/>
                    </a:cubicBezTo>
                    <a:cubicBezTo>
                      <a:pt x="245" y="219"/>
                      <a:pt x="245" y="219"/>
                      <a:pt x="245" y="219"/>
                    </a:cubicBezTo>
                    <a:close/>
                    <a:moveTo>
                      <a:pt x="270" y="219"/>
                    </a:moveTo>
                    <a:cubicBezTo>
                      <a:pt x="269" y="219"/>
                      <a:pt x="269" y="219"/>
                      <a:pt x="269" y="219"/>
                    </a:cubicBezTo>
                    <a:cubicBezTo>
                      <a:pt x="256" y="219"/>
                      <a:pt x="246" y="208"/>
                      <a:pt x="246" y="195"/>
                    </a:cubicBezTo>
                    <a:cubicBezTo>
                      <a:pt x="246" y="182"/>
                      <a:pt x="256" y="171"/>
                      <a:pt x="269" y="171"/>
                    </a:cubicBezTo>
                    <a:cubicBezTo>
                      <a:pt x="282" y="171"/>
                      <a:pt x="293" y="182"/>
                      <a:pt x="293" y="195"/>
                    </a:cubicBezTo>
                    <a:cubicBezTo>
                      <a:pt x="293" y="208"/>
                      <a:pt x="282" y="219"/>
                      <a:pt x="270" y="219"/>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latin typeface="Aptos" panose="02110004020202020204"/>
                </a:endParaRPr>
              </a:p>
            </p:txBody>
          </p:sp>
          <p:sp>
            <p:nvSpPr>
              <p:cNvPr id="99" name="Oval 98">
                <a:extLst>
                  <a:ext uri="{FF2B5EF4-FFF2-40B4-BE49-F238E27FC236}">
                    <a16:creationId xmlns:a16="http://schemas.microsoft.com/office/drawing/2014/main" id="{2E5FB715-A420-01C7-48F1-0F5DDA5DCF0A}"/>
                  </a:ext>
                </a:extLst>
              </p:cNvPr>
              <p:cNvSpPr/>
              <p:nvPr/>
            </p:nvSpPr>
            <p:spPr>
              <a:xfrm>
                <a:off x="7070973" y="2407517"/>
                <a:ext cx="565033" cy="565033"/>
              </a:xfrm>
              <a:prstGeom prst="ellips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prstClr val="white"/>
                  </a:solidFill>
                  <a:latin typeface="Aptos" panose="02110004020202020204"/>
                </a:endParaRPr>
              </a:p>
            </p:txBody>
          </p:sp>
          <p:sp>
            <p:nvSpPr>
              <p:cNvPr id="100" name="Oval 99">
                <a:extLst>
                  <a:ext uri="{FF2B5EF4-FFF2-40B4-BE49-F238E27FC236}">
                    <a16:creationId xmlns:a16="http://schemas.microsoft.com/office/drawing/2014/main" id="{858EF117-A934-8B4E-745D-59A083783F9F}"/>
                  </a:ext>
                </a:extLst>
              </p:cNvPr>
              <p:cNvSpPr/>
              <p:nvPr/>
            </p:nvSpPr>
            <p:spPr>
              <a:xfrm>
                <a:off x="5501016" y="3146814"/>
                <a:ext cx="395042" cy="395042"/>
              </a:xfrm>
              <a:prstGeom prst="ellips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prstClr val="white"/>
                  </a:solidFill>
                  <a:latin typeface="Aptos" panose="02110004020202020204"/>
                </a:endParaRPr>
              </a:p>
            </p:txBody>
          </p:sp>
          <p:sp>
            <p:nvSpPr>
              <p:cNvPr id="101" name="Oval 100">
                <a:extLst>
                  <a:ext uri="{FF2B5EF4-FFF2-40B4-BE49-F238E27FC236}">
                    <a16:creationId xmlns:a16="http://schemas.microsoft.com/office/drawing/2014/main" id="{B6271861-4C80-C2F6-957C-1A9D30070A2E}"/>
                  </a:ext>
                </a:extLst>
              </p:cNvPr>
              <p:cNvSpPr/>
              <p:nvPr/>
            </p:nvSpPr>
            <p:spPr>
              <a:xfrm>
                <a:off x="6035805" y="1324679"/>
                <a:ext cx="732243" cy="732243"/>
              </a:xfrm>
              <a:prstGeom prst="ellips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prstClr val="white"/>
                  </a:solidFill>
                  <a:latin typeface="Aptos" panose="02110004020202020204"/>
                </a:endParaRPr>
              </a:p>
            </p:txBody>
          </p:sp>
          <p:sp>
            <p:nvSpPr>
              <p:cNvPr id="102" name="Oval 101">
                <a:extLst>
                  <a:ext uri="{FF2B5EF4-FFF2-40B4-BE49-F238E27FC236}">
                    <a16:creationId xmlns:a16="http://schemas.microsoft.com/office/drawing/2014/main" id="{6D1576DE-D81F-DC63-0B42-2E07439B3D7C}"/>
                  </a:ext>
                </a:extLst>
              </p:cNvPr>
              <p:cNvSpPr/>
              <p:nvPr/>
            </p:nvSpPr>
            <p:spPr>
              <a:xfrm>
                <a:off x="5665341" y="859540"/>
                <a:ext cx="373220" cy="373220"/>
              </a:xfrm>
              <a:prstGeom prst="ellips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prstClr val="white"/>
                  </a:solidFill>
                  <a:latin typeface="Aptos" panose="02110004020202020204"/>
                </a:endParaRPr>
              </a:p>
            </p:txBody>
          </p:sp>
          <p:sp>
            <p:nvSpPr>
              <p:cNvPr id="103" name="Oval 102">
                <a:extLst>
                  <a:ext uri="{FF2B5EF4-FFF2-40B4-BE49-F238E27FC236}">
                    <a16:creationId xmlns:a16="http://schemas.microsoft.com/office/drawing/2014/main" id="{FC50301C-BFBE-1629-2FCC-C975C572B370}"/>
                  </a:ext>
                </a:extLst>
              </p:cNvPr>
              <p:cNvSpPr/>
              <p:nvPr/>
            </p:nvSpPr>
            <p:spPr>
              <a:xfrm>
                <a:off x="4799106" y="1640516"/>
                <a:ext cx="577458" cy="577457"/>
              </a:xfrm>
              <a:prstGeom prst="ellips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prstClr val="white"/>
                  </a:solidFill>
                  <a:latin typeface="Aptos" panose="02110004020202020204"/>
                </a:endParaRPr>
              </a:p>
            </p:txBody>
          </p:sp>
        </p:grpSp>
      </p:grpSp>
      <p:sp>
        <p:nvSpPr>
          <p:cNvPr id="6" name="Oval 5">
            <a:extLst>
              <a:ext uri="{FF2B5EF4-FFF2-40B4-BE49-F238E27FC236}">
                <a16:creationId xmlns:a16="http://schemas.microsoft.com/office/drawing/2014/main" id="{14C6D5A4-47E3-9A8D-D786-6122446D6F89}"/>
              </a:ext>
            </a:extLst>
          </p:cNvPr>
          <p:cNvSpPr/>
          <p:nvPr/>
        </p:nvSpPr>
        <p:spPr>
          <a:xfrm>
            <a:off x="3259013" y="4800426"/>
            <a:ext cx="356300" cy="319142"/>
          </a:xfrm>
          <a:prstGeom prst="ellipse">
            <a:avLst/>
          </a:prstGeom>
          <a:solidFill>
            <a:schemeClr val="accent1"/>
          </a:solidFill>
          <a:ln w="9525" cap="flat" cmpd="sng" algn="ctr">
            <a:noFill/>
            <a:prstDash val="solid"/>
          </a:ln>
          <a:effectLst>
            <a:outerShdw blurRad="40000" dist="23000" dir="5400000" rotWithShape="0">
              <a:srgbClr val="000000">
                <a:alpha val="35000"/>
              </a:srgbClr>
            </a:outerShdw>
          </a:effectLst>
        </p:spPr>
        <p:txBody>
          <a:bodyPr lIns="45720" r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noProof="0">
                <a:solidFill>
                  <a:schemeClr val="bg1"/>
                </a:solidFill>
              </a:rPr>
              <a:t>2</a:t>
            </a:r>
            <a:endParaRPr kumimoji="0" lang="en-US" sz="2000" b="1" i="0" u="none" strike="noStrike" kern="1200" cap="none" spc="0" normalizeH="0" baseline="0" noProof="0">
              <a:ln>
                <a:noFill/>
              </a:ln>
              <a:solidFill>
                <a:schemeClr val="bg1"/>
              </a:solidFill>
              <a:effectLst/>
              <a:uLnTx/>
              <a:uFillTx/>
              <a:ea typeface="+mn-ea"/>
              <a:cs typeface="+mn-cs"/>
            </a:endParaRPr>
          </a:p>
        </p:txBody>
      </p:sp>
      <p:sp>
        <p:nvSpPr>
          <p:cNvPr id="7" name="Oval 6">
            <a:extLst>
              <a:ext uri="{FF2B5EF4-FFF2-40B4-BE49-F238E27FC236}">
                <a16:creationId xmlns:a16="http://schemas.microsoft.com/office/drawing/2014/main" id="{3A50458C-7AE9-A30A-FB47-781664AC99F9}"/>
              </a:ext>
            </a:extLst>
          </p:cNvPr>
          <p:cNvSpPr/>
          <p:nvPr/>
        </p:nvSpPr>
        <p:spPr>
          <a:xfrm>
            <a:off x="5331580" y="4800426"/>
            <a:ext cx="356300" cy="319142"/>
          </a:xfrm>
          <a:prstGeom prst="ellipse">
            <a:avLst/>
          </a:prstGeom>
          <a:solidFill>
            <a:schemeClr val="accent1"/>
          </a:solidFill>
          <a:ln w="9525" cap="flat" cmpd="sng" algn="ctr">
            <a:noFill/>
            <a:prstDash val="solid"/>
          </a:ln>
          <a:effectLst>
            <a:outerShdw blurRad="40000" dist="23000" dir="5400000" rotWithShape="0">
              <a:srgbClr val="000000">
                <a:alpha val="35000"/>
              </a:srgbClr>
            </a:outerShdw>
          </a:effectLst>
        </p:spPr>
        <p:txBody>
          <a:bodyPr lIns="45720" r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bg1"/>
                </a:solidFill>
                <a:effectLst/>
                <a:uLnTx/>
                <a:uFillTx/>
                <a:ea typeface="+mn-ea"/>
                <a:cs typeface="+mn-cs"/>
              </a:rPr>
              <a:t>3</a:t>
            </a:r>
          </a:p>
        </p:txBody>
      </p:sp>
      <p:sp>
        <p:nvSpPr>
          <p:cNvPr id="8" name="TextBox 7">
            <a:extLst>
              <a:ext uri="{FF2B5EF4-FFF2-40B4-BE49-F238E27FC236}">
                <a16:creationId xmlns:a16="http://schemas.microsoft.com/office/drawing/2014/main" id="{40871B83-2019-036E-B247-857E6AEB56DF}"/>
              </a:ext>
            </a:extLst>
          </p:cNvPr>
          <p:cNvSpPr txBox="1"/>
          <p:nvPr/>
        </p:nvSpPr>
        <p:spPr>
          <a:xfrm>
            <a:off x="9649249" y="5313261"/>
            <a:ext cx="2129349" cy="827565"/>
          </a:xfrm>
          <a:prstGeom prst="rect">
            <a:avLst/>
          </a:prstGeom>
        </p:spPr>
        <p:txBody>
          <a:bodyPr wrap="square" lIns="0" tIns="0" rIns="0" bIns="0">
            <a:noAutofit/>
          </a:bodyPr>
          <a:lstStyle>
            <a:defPPr>
              <a:defRPr lang="en-US"/>
            </a:defPPr>
            <a:lvl1pPr algn="ctr" defTabSz="914400">
              <a:lnSpc>
                <a:spcPct val="90000"/>
              </a:lnSpc>
              <a:defRPr sz="1200">
                <a:latin typeface="Ubuntu" panose="020B0504030602030204" pitchFamily="34" charset="0"/>
              </a:defRPr>
            </a:lvl1pPr>
          </a:lstStyle>
          <a:p>
            <a:pPr marL="0" marR="0" lvl="0" indent="0" defTabSz="914400" rtl="0" eaLnBrk="1" fontAlgn="auto" latinLnBrk="0" hangingPunct="1">
              <a:lnSpc>
                <a:spcPct val="90000"/>
              </a:lnSpc>
              <a:spcBef>
                <a:spcPts val="0"/>
              </a:spcBef>
              <a:spcAft>
                <a:spcPts val="0"/>
              </a:spcAft>
              <a:buClrTx/>
              <a:buSzTx/>
              <a:buFontTx/>
              <a:buNone/>
              <a:tabLst/>
              <a:defRPr/>
            </a:pPr>
            <a:r>
              <a:rPr kumimoji="0" lang="en-US" sz="1100" i="0" u="none" strike="noStrike" kern="1200" cap="none" spc="0" normalizeH="0" baseline="0" noProof="0">
                <a:ln>
                  <a:noFill/>
                </a:ln>
                <a:solidFill>
                  <a:prstClr val="white"/>
                </a:solidFill>
                <a:effectLst/>
                <a:uLnTx/>
                <a:uFillTx/>
                <a:latin typeface="+mn-lt"/>
                <a:ea typeface="+mn-ea"/>
                <a:cs typeface="+mn-cs"/>
              </a:rPr>
              <a:t> </a:t>
            </a:r>
            <a:r>
              <a:rPr lang="en-US" sz="1100" noProof="0">
                <a:solidFill>
                  <a:prstClr val="white"/>
                </a:solidFill>
                <a:latin typeface="+mn-lt"/>
              </a:rPr>
              <a:t>AI driven phased BSS/OSS modernization program in line with Panama’s telecom regulations in line with market requirements, investment optimization </a:t>
            </a:r>
            <a:endParaRPr kumimoji="0" lang="en-US" sz="1100" i="0" u="none" strike="noStrike" kern="1200" cap="none" spc="0" normalizeH="0" baseline="0" noProof="0">
              <a:ln>
                <a:noFill/>
              </a:ln>
              <a:solidFill>
                <a:prstClr val="white"/>
              </a:solidFill>
              <a:effectLst/>
              <a:uLnTx/>
              <a:uFillTx/>
              <a:latin typeface="+mn-lt"/>
              <a:ea typeface="+mn-ea"/>
              <a:cs typeface="+mn-cs"/>
            </a:endParaRPr>
          </a:p>
        </p:txBody>
      </p:sp>
      <p:sp>
        <p:nvSpPr>
          <p:cNvPr id="9" name="Oval 8">
            <a:extLst>
              <a:ext uri="{FF2B5EF4-FFF2-40B4-BE49-F238E27FC236}">
                <a16:creationId xmlns:a16="http://schemas.microsoft.com/office/drawing/2014/main" id="{74A58B58-793E-F6D4-0D2D-E5D0AEEAD850}"/>
              </a:ext>
            </a:extLst>
          </p:cNvPr>
          <p:cNvSpPr/>
          <p:nvPr/>
        </p:nvSpPr>
        <p:spPr>
          <a:xfrm>
            <a:off x="7943634" y="4800426"/>
            <a:ext cx="356300" cy="319142"/>
          </a:xfrm>
          <a:prstGeom prst="ellipse">
            <a:avLst/>
          </a:prstGeom>
          <a:solidFill>
            <a:schemeClr val="accent1"/>
          </a:solidFill>
          <a:ln w="9525" cap="flat" cmpd="sng" algn="ctr">
            <a:noFill/>
            <a:prstDash val="solid"/>
          </a:ln>
          <a:effectLst>
            <a:outerShdw blurRad="40000" dist="23000" dir="5400000" rotWithShape="0">
              <a:srgbClr val="000000">
                <a:alpha val="35000"/>
              </a:srgbClr>
            </a:outerShdw>
          </a:effectLst>
        </p:spPr>
        <p:txBody>
          <a:bodyPr lIns="45720" r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bg1"/>
                </a:solidFill>
                <a:effectLst/>
                <a:uLnTx/>
                <a:uFillTx/>
                <a:ea typeface="+mn-ea"/>
                <a:cs typeface="+mn-cs"/>
              </a:rPr>
              <a:t>4</a:t>
            </a:r>
          </a:p>
        </p:txBody>
      </p:sp>
      <p:sp>
        <p:nvSpPr>
          <p:cNvPr id="10" name="Oval 9">
            <a:extLst>
              <a:ext uri="{FF2B5EF4-FFF2-40B4-BE49-F238E27FC236}">
                <a16:creationId xmlns:a16="http://schemas.microsoft.com/office/drawing/2014/main" id="{78033A46-E523-4B49-3C4F-31E9B11012DD}"/>
              </a:ext>
            </a:extLst>
          </p:cNvPr>
          <p:cNvSpPr/>
          <p:nvPr/>
        </p:nvSpPr>
        <p:spPr>
          <a:xfrm>
            <a:off x="10559126" y="4800426"/>
            <a:ext cx="356300" cy="319142"/>
          </a:xfrm>
          <a:prstGeom prst="ellipse">
            <a:avLst/>
          </a:prstGeom>
          <a:solidFill>
            <a:schemeClr val="accent1"/>
          </a:solidFill>
          <a:ln w="9525" cap="flat" cmpd="sng" algn="ctr">
            <a:noFill/>
            <a:prstDash val="solid"/>
          </a:ln>
          <a:effectLst>
            <a:outerShdw blurRad="40000" dist="23000" dir="5400000" rotWithShape="0">
              <a:srgbClr val="000000">
                <a:alpha val="35000"/>
              </a:srgbClr>
            </a:outerShdw>
          </a:effectLst>
        </p:spPr>
        <p:txBody>
          <a:bodyPr lIns="45720" r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bg1"/>
                </a:solidFill>
                <a:effectLst/>
                <a:uLnTx/>
                <a:uFillTx/>
                <a:ea typeface="+mn-ea"/>
                <a:cs typeface="+mn-cs"/>
              </a:rPr>
              <a:t>5</a:t>
            </a:r>
          </a:p>
        </p:txBody>
      </p:sp>
      <p:sp>
        <p:nvSpPr>
          <p:cNvPr id="11" name="Rectangle 10">
            <a:extLst>
              <a:ext uri="{FF2B5EF4-FFF2-40B4-BE49-F238E27FC236}">
                <a16:creationId xmlns:a16="http://schemas.microsoft.com/office/drawing/2014/main" id="{32371236-461D-3B84-36A5-F4F5FAB7BFB5}"/>
              </a:ext>
            </a:extLst>
          </p:cNvPr>
          <p:cNvSpPr/>
          <p:nvPr/>
        </p:nvSpPr>
        <p:spPr>
          <a:xfrm>
            <a:off x="317804" y="4590647"/>
            <a:ext cx="11441744" cy="1840763"/>
          </a:xfrm>
          <a:prstGeom prst="rect">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12" name="Right Arrow 223">
            <a:extLst>
              <a:ext uri="{FF2B5EF4-FFF2-40B4-BE49-F238E27FC236}">
                <a16:creationId xmlns:a16="http://schemas.microsoft.com/office/drawing/2014/main" id="{6FAB1AC8-9D12-21A3-9F29-7071B86547F0}"/>
              </a:ext>
            </a:extLst>
          </p:cNvPr>
          <p:cNvSpPr/>
          <p:nvPr/>
        </p:nvSpPr>
        <p:spPr>
          <a:xfrm>
            <a:off x="3997339" y="3479366"/>
            <a:ext cx="227447" cy="323800"/>
          </a:xfrm>
          <a:prstGeom prst="rightArrow">
            <a:avLst/>
          </a:prstGeom>
          <a:solidFill>
            <a:schemeClr val="accent1"/>
          </a:solidFill>
          <a:ln w="12700" cap="flat" cmpd="sng" algn="ctr">
            <a:noFill/>
            <a:prstDash val="solid"/>
            <a:miter lim="800000"/>
          </a:ln>
          <a:effectLst/>
        </p:spPr>
        <p:txBody>
          <a:bodyPr rtlCol="0" anchor="ctr"/>
          <a:lstStyle/>
          <a:p>
            <a:pPr algn="ctr" defTabSz="914400">
              <a:defRPr/>
            </a:pPr>
            <a:endParaRPr lang="en-US" kern="0" noProof="0">
              <a:solidFill>
                <a:prstClr val="white"/>
              </a:solidFill>
            </a:endParaRPr>
          </a:p>
        </p:txBody>
      </p:sp>
      <p:sp>
        <p:nvSpPr>
          <p:cNvPr id="13" name="Right Arrow 223">
            <a:extLst>
              <a:ext uri="{FF2B5EF4-FFF2-40B4-BE49-F238E27FC236}">
                <a16:creationId xmlns:a16="http://schemas.microsoft.com/office/drawing/2014/main" id="{9DBC2FA1-8C02-CF30-CDD5-9AF5A5BA258A}"/>
              </a:ext>
            </a:extLst>
          </p:cNvPr>
          <p:cNvSpPr/>
          <p:nvPr/>
        </p:nvSpPr>
        <p:spPr>
          <a:xfrm>
            <a:off x="7958613" y="3491038"/>
            <a:ext cx="227447" cy="323800"/>
          </a:xfrm>
          <a:prstGeom prst="rightArrow">
            <a:avLst/>
          </a:prstGeom>
          <a:solidFill>
            <a:schemeClr val="accent1"/>
          </a:solidFill>
          <a:ln w="12700" cap="flat" cmpd="sng" algn="ctr">
            <a:noFill/>
            <a:prstDash val="solid"/>
            <a:miter lim="800000"/>
          </a:ln>
          <a:effectLst/>
        </p:spPr>
        <p:txBody>
          <a:bodyPr rtlCol="0" anchor="ctr"/>
          <a:lstStyle/>
          <a:p>
            <a:pPr algn="ctr" defTabSz="914400">
              <a:defRPr/>
            </a:pPr>
            <a:endParaRPr lang="en-US" kern="0" noProof="0">
              <a:solidFill>
                <a:prstClr val="white"/>
              </a:solidFill>
            </a:endParaRPr>
          </a:p>
        </p:txBody>
      </p:sp>
    </p:spTree>
    <p:extLst>
      <p:ext uri="{BB962C8B-B14F-4D97-AF65-F5344CB8AC3E}">
        <p14:creationId xmlns:p14="http://schemas.microsoft.com/office/powerpoint/2010/main" val="1750649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D92D659-F1AA-46FE-B123-28A8FDDBAC1E}"/>
              </a:ext>
            </a:extLst>
          </p:cNvPr>
          <p:cNvSpPr txBox="1">
            <a:spLocks/>
          </p:cNvSpPr>
          <p:nvPr/>
        </p:nvSpPr>
        <p:spPr>
          <a:xfrm>
            <a:off x="453091" y="269166"/>
            <a:ext cx="11633255" cy="48128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prstClr val="white"/>
                </a:solidFill>
                <a:effectLst/>
                <a:uLnTx/>
                <a:uFillTx/>
                <a:ea typeface="+mj-ea"/>
                <a:cs typeface="+mj-cs"/>
              </a:rPr>
              <a:t>Methodology</a:t>
            </a:r>
            <a:r>
              <a:rPr kumimoji="0" lang="en-US" sz="2800" b="0" i="0" u="none" strike="noStrike" kern="1200" cap="none" spc="0" normalizeH="0" baseline="0" noProof="0">
                <a:ln>
                  <a:noFill/>
                </a:ln>
                <a:solidFill>
                  <a:prstClr val="white"/>
                </a:solidFill>
                <a:effectLst/>
                <a:uLnTx/>
                <a:uFillTx/>
                <a:ea typeface="+mj-ea"/>
                <a:cs typeface="+mj-cs"/>
              </a:rPr>
              <a:t> &amp; Assessment Framework</a:t>
            </a:r>
            <a:br>
              <a:rPr kumimoji="0" lang="en-US" sz="2800" b="0" i="0" u="none" strike="noStrike" kern="1200" cap="none" spc="0" normalizeH="0" baseline="0" noProof="0">
                <a:ln>
                  <a:noFill/>
                </a:ln>
                <a:solidFill>
                  <a:prstClr val="white"/>
                </a:solidFill>
                <a:effectLst/>
                <a:uLnTx/>
                <a:uFillTx/>
                <a:ea typeface="+mj-ea"/>
                <a:cs typeface="+mj-cs"/>
              </a:rPr>
            </a:br>
            <a:endParaRPr kumimoji="0" lang="en-US" sz="1600" b="0" i="0" u="none" strike="noStrike" kern="1200" cap="none" spc="0" normalizeH="0" baseline="0" noProof="0">
              <a:ln>
                <a:noFill/>
              </a:ln>
              <a:solidFill>
                <a:prstClr val="white"/>
              </a:solidFill>
              <a:effectLst/>
              <a:uLnTx/>
              <a:uFillTx/>
              <a:ea typeface="+mj-ea"/>
              <a:cs typeface="+mj-cs"/>
            </a:endParaRPr>
          </a:p>
        </p:txBody>
      </p:sp>
      <p:sp>
        <p:nvSpPr>
          <p:cNvPr id="82" name="Rectangle 81">
            <a:extLst>
              <a:ext uri="{FF2B5EF4-FFF2-40B4-BE49-F238E27FC236}">
                <a16:creationId xmlns:a16="http://schemas.microsoft.com/office/drawing/2014/main" id="{D87B781B-876F-C4D6-7BD9-7EFF93421BBB}"/>
              </a:ext>
            </a:extLst>
          </p:cNvPr>
          <p:cNvSpPr/>
          <p:nvPr/>
        </p:nvSpPr>
        <p:spPr>
          <a:xfrm>
            <a:off x="2124629" y="2403710"/>
            <a:ext cx="3916568" cy="3783509"/>
          </a:xfrm>
          <a:prstGeom prst="rect">
            <a:avLst/>
          </a:prstGeom>
          <a:solidFill>
            <a:schemeClr val="accent1"/>
          </a:solidFill>
          <a:ln w="12700" cap="flat" cmpd="sng" algn="ctr">
            <a:noFill/>
            <a:prstDash val="solid"/>
            <a:miter lim="800000"/>
          </a:ln>
          <a:effectLst/>
        </p:spPr>
        <p:txBody>
          <a:bodyPr rtlCol="0" anchor="ctr"/>
          <a:lstStyle/>
          <a:p>
            <a:pPr algn="ctr" defTabSz="914400">
              <a:spcBef>
                <a:spcPct val="0"/>
              </a:spcBef>
              <a:defRPr/>
            </a:pPr>
            <a:endParaRPr lang="en-US" sz="1600" noProof="0">
              <a:solidFill>
                <a:srgbClr val="FFFFFF"/>
              </a:solidFill>
            </a:endParaRPr>
          </a:p>
        </p:txBody>
      </p:sp>
      <p:sp>
        <p:nvSpPr>
          <p:cNvPr id="83" name="Rectangle 82">
            <a:extLst>
              <a:ext uri="{FF2B5EF4-FFF2-40B4-BE49-F238E27FC236}">
                <a16:creationId xmlns:a16="http://schemas.microsoft.com/office/drawing/2014/main" id="{687B1C6B-1966-7A16-49F7-C72C32A2F287}"/>
              </a:ext>
            </a:extLst>
          </p:cNvPr>
          <p:cNvSpPr/>
          <p:nvPr/>
        </p:nvSpPr>
        <p:spPr>
          <a:xfrm>
            <a:off x="533674" y="2403710"/>
            <a:ext cx="1361899" cy="3744920"/>
          </a:xfrm>
          <a:prstGeom prst="rect">
            <a:avLst/>
          </a:prstGeom>
          <a:solidFill>
            <a:schemeClr val="accent1"/>
          </a:solidFill>
          <a:ln w="12700" cap="flat" cmpd="sng" algn="ctr">
            <a:noFill/>
            <a:prstDash val="solid"/>
            <a:miter lim="800000"/>
          </a:ln>
          <a:effectLst/>
        </p:spPr>
        <p:txBody>
          <a:bodyPr rtlCol="0" anchor="ctr"/>
          <a:lstStyle/>
          <a:p>
            <a:pPr algn="ctr" defTabSz="914400">
              <a:spcBef>
                <a:spcPct val="0"/>
              </a:spcBef>
              <a:defRPr/>
            </a:pPr>
            <a:endParaRPr lang="en-US" sz="1600" noProof="0">
              <a:solidFill>
                <a:srgbClr val="FFFFFF"/>
              </a:solidFill>
            </a:endParaRPr>
          </a:p>
        </p:txBody>
      </p:sp>
      <p:sp>
        <p:nvSpPr>
          <p:cNvPr id="84" name="Rectangle 83">
            <a:extLst>
              <a:ext uri="{FF2B5EF4-FFF2-40B4-BE49-F238E27FC236}">
                <a16:creationId xmlns:a16="http://schemas.microsoft.com/office/drawing/2014/main" id="{C83533D0-C581-3A64-C74C-1BFBAB511782}"/>
              </a:ext>
            </a:extLst>
          </p:cNvPr>
          <p:cNvSpPr/>
          <p:nvPr/>
        </p:nvSpPr>
        <p:spPr>
          <a:xfrm>
            <a:off x="621501" y="2596141"/>
            <a:ext cx="1178013" cy="651382"/>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cs typeface="Calibri" panose="020F0502020204030204" pitchFamily="34" charset="0"/>
              </a:rPr>
              <a:t>Framework driven Modernization Assessment </a:t>
            </a:r>
          </a:p>
        </p:txBody>
      </p:sp>
      <p:sp>
        <p:nvSpPr>
          <p:cNvPr id="85" name="Rectangle 84">
            <a:extLst>
              <a:ext uri="{FF2B5EF4-FFF2-40B4-BE49-F238E27FC236}">
                <a16:creationId xmlns:a16="http://schemas.microsoft.com/office/drawing/2014/main" id="{71177CDE-75F4-F709-1F4C-CF673971F876}"/>
              </a:ext>
            </a:extLst>
          </p:cNvPr>
          <p:cNvSpPr/>
          <p:nvPr/>
        </p:nvSpPr>
        <p:spPr>
          <a:xfrm>
            <a:off x="622697" y="3547890"/>
            <a:ext cx="1178013" cy="577529"/>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cs typeface="Calibri" panose="020F0502020204030204" pitchFamily="34" charset="0"/>
              </a:rPr>
              <a:t>Baseline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cs typeface="Calibri" panose="020F0502020204030204" pitchFamily="34" charset="0"/>
              </a:rPr>
              <a:t>Current BSS/OSS landscape</a:t>
            </a:r>
          </a:p>
        </p:txBody>
      </p:sp>
      <p:sp>
        <p:nvSpPr>
          <p:cNvPr id="86" name="Rectangle 85">
            <a:extLst>
              <a:ext uri="{FF2B5EF4-FFF2-40B4-BE49-F238E27FC236}">
                <a16:creationId xmlns:a16="http://schemas.microsoft.com/office/drawing/2014/main" id="{B0329541-184F-5267-E852-80AB17116E36}"/>
              </a:ext>
            </a:extLst>
          </p:cNvPr>
          <p:cNvSpPr/>
          <p:nvPr/>
        </p:nvSpPr>
        <p:spPr>
          <a:xfrm>
            <a:off x="622697" y="4532843"/>
            <a:ext cx="1178013" cy="577529"/>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cs typeface="Calibri" panose="020F0502020204030204" pitchFamily="34" charset="0"/>
              </a:rPr>
              <a:t>Data Collection &amp; Monitoring</a:t>
            </a:r>
          </a:p>
        </p:txBody>
      </p:sp>
      <p:sp>
        <p:nvSpPr>
          <p:cNvPr id="87" name="Rectangle 86">
            <a:extLst>
              <a:ext uri="{FF2B5EF4-FFF2-40B4-BE49-F238E27FC236}">
                <a16:creationId xmlns:a16="http://schemas.microsoft.com/office/drawing/2014/main" id="{BC98D641-7FD8-892A-F919-2CD0C5664D82}"/>
              </a:ext>
            </a:extLst>
          </p:cNvPr>
          <p:cNvSpPr/>
          <p:nvPr/>
        </p:nvSpPr>
        <p:spPr>
          <a:xfrm>
            <a:off x="621500" y="5446807"/>
            <a:ext cx="1178013" cy="577529"/>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cs typeface="Calibri" panose="020F0502020204030204" pitchFamily="34" charset="0"/>
              </a:rPr>
              <a:t>Current Application Design</a:t>
            </a:r>
          </a:p>
        </p:txBody>
      </p:sp>
      <p:sp>
        <p:nvSpPr>
          <p:cNvPr id="88" name="Right Arrow 223">
            <a:extLst>
              <a:ext uri="{FF2B5EF4-FFF2-40B4-BE49-F238E27FC236}">
                <a16:creationId xmlns:a16="http://schemas.microsoft.com/office/drawing/2014/main" id="{A0528BA8-9868-722F-4BA0-ABCC2ECB6D64}"/>
              </a:ext>
            </a:extLst>
          </p:cNvPr>
          <p:cNvSpPr/>
          <p:nvPr/>
        </p:nvSpPr>
        <p:spPr>
          <a:xfrm>
            <a:off x="1835803" y="4195021"/>
            <a:ext cx="433014" cy="337821"/>
          </a:xfrm>
          <a:prstGeom prst="rightArrow">
            <a:avLst/>
          </a:prstGeom>
          <a:solidFill>
            <a:schemeClr val="bg1">
              <a:lumMod val="85000"/>
            </a:schemeClr>
          </a:solidFill>
          <a:ln w="12700" cap="flat" cmpd="sng" algn="ctr">
            <a:noFill/>
            <a:prstDash val="solid"/>
            <a:miter lim="800000"/>
          </a:ln>
          <a:effectLst/>
        </p:spPr>
        <p:txBody>
          <a:bodyPr rtlCol="0" anchor="ctr"/>
          <a:lstStyle/>
          <a:p>
            <a:pPr algn="ctr" defTabSz="914400">
              <a:defRPr/>
            </a:pPr>
            <a:endParaRPr lang="en-US" kern="0" noProof="0">
              <a:solidFill>
                <a:prstClr val="white"/>
              </a:solidFill>
            </a:endParaRPr>
          </a:p>
        </p:txBody>
      </p:sp>
      <p:cxnSp>
        <p:nvCxnSpPr>
          <p:cNvPr id="89" name="Straight Arrow Connector 88">
            <a:extLst>
              <a:ext uri="{FF2B5EF4-FFF2-40B4-BE49-F238E27FC236}">
                <a16:creationId xmlns:a16="http://schemas.microsoft.com/office/drawing/2014/main" id="{A47EEE98-8D13-7C35-43B8-A98B93ED776C}"/>
              </a:ext>
            </a:extLst>
          </p:cNvPr>
          <p:cNvCxnSpPr>
            <a:cxnSpLocks/>
            <a:stCxn id="84" idx="2"/>
            <a:endCxn id="85" idx="0"/>
          </p:cNvCxnSpPr>
          <p:nvPr/>
        </p:nvCxnSpPr>
        <p:spPr>
          <a:xfrm>
            <a:off x="1210508" y="3247523"/>
            <a:ext cx="1196" cy="300367"/>
          </a:xfrm>
          <a:prstGeom prst="straightConnector1">
            <a:avLst/>
          </a:prstGeom>
          <a:noFill/>
          <a:ln w="28575" cap="flat" cmpd="sng" algn="ctr">
            <a:solidFill>
              <a:sysClr val="window" lastClr="FFFFFF"/>
            </a:solidFill>
            <a:prstDash val="solid"/>
            <a:miter lim="800000"/>
            <a:tailEnd type="triangle"/>
          </a:ln>
          <a:effectLst/>
        </p:spPr>
      </p:cxnSp>
      <p:cxnSp>
        <p:nvCxnSpPr>
          <p:cNvPr id="90" name="Straight Arrow Connector 89">
            <a:extLst>
              <a:ext uri="{FF2B5EF4-FFF2-40B4-BE49-F238E27FC236}">
                <a16:creationId xmlns:a16="http://schemas.microsoft.com/office/drawing/2014/main" id="{DB303BA5-5E2A-5199-77C5-E68831FDBD71}"/>
              </a:ext>
            </a:extLst>
          </p:cNvPr>
          <p:cNvCxnSpPr>
            <a:cxnSpLocks/>
            <a:stCxn id="85" idx="2"/>
            <a:endCxn id="86" idx="0"/>
          </p:cNvCxnSpPr>
          <p:nvPr/>
        </p:nvCxnSpPr>
        <p:spPr>
          <a:xfrm>
            <a:off x="1211704" y="4125419"/>
            <a:ext cx="0" cy="407424"/>
          </a:xfrm>
          <a:prstGeom prst="straightConnector1">
            <a:avLst/>
          </a:prstGeom>
          <a:noFill/>
          <a:ln w="28575" cap="flat" cmpd="sng" algn="ctr">
            <a:solidFill>
              <a:sysClr val="window" lastClr="FFFFFF"/>
            </a:solidFill>
            <a:prstDash val="solid"/>
            <a:miter lim="800000"/>
            <a:tailEnd type="triangle"/>
          </a:ln>
          <a:effectLst/>
        </p:spPr>
      </p:cxnSp>
      <p:cxnSp>
        <p:nvCxnSpPr>
          <p:cNvPr id="91" name="Straight Arrow Connector 90">
            <a:extLst>
              <a:ext uri="{FF2B5EF4-FFF2-40B4-BE49-F238E27FC236}">
                <a16:creationId xmlns:a16="http://schemas.microsoft.com/office/drawing/2014/main" id="{55600C78-9367-A83F-26B3-A36B06A367BA}"/>
              </a:ext>
            </a:extLst>
          </p:cNvPr>
          <p:cNvCxnSpPr>
            <a:cxnSpLocks/>
            <a:stCxn id="86" idx="2"/>
            <a:endCxn id="87" idx="0"/>
          </p:cNvCxnSpPr>
          <p:nvPr/>
        </p:nvCxnSpPr>
        <p:spPr>
          <a:xfrm flipH="1">
            <a:off x="1210507" y="5110372"/>
            <a:ext cx="1197" cy="336435"/>
          </a:xfrm>
          <a:prstGeom prst="straightConnector1">
            <a:avLst/>
          </a:prstGeom>
          <a:noFill/>
          <a:ln w="28575" cap="flat" cmpd="sng" algn="ctr">
            <a:solidFill>
              <a:sysClr val="window" lastClr="FFFFFF"/>
            </a:solidFill>
            <a:prstDash val="solid"/>
            <a:miter lim="800000"/>
            <a:tailEnd type="triangle"/>
          </a:ln>
          <a:effectLst/>
        </p:spPr>
      </p:cxnSp>
      <p:sp>
        <p:nvSpPr>
          <p:cNvPr id="92" name="TextBox 91">
            <a:extLst>
              <a:ext uri="{FF2B5EF4-FFF2-40B4-BE49-F238E27FC236}">
                <a16:creationId xmlns:a16="http://schemas.microsoft.com/office/drawing/2014/main" id="{90FFD6BE-257E-53DA-6AF4-ADC954E15DAC}"/>
              </a:ext>
            </a:extLst>
          </p:cNvPr>
          <p:cNvSpPr txBox="1"/>
          <p:nvPr/>
        </p:nvSpPr>
        <p:spPr>
          <a:xfrm>
            <a:off x="2870588" y="2033866"/>
            <a:ext cx="2568085" cy="200055"/>
          </a:xfrm>
          <a:prstGeom prst="rect">
            <a:avLst/>
          </a:prstGeom>
          <a:noFill/>
        </p:spPr>
        <p:txBody>
          <a:bodyPr wrap="square" lIns="0" tIns="0" rIns="0" bIns="0" rtlCol="0" anchor="ctr">
            <a:spAutoFit/>
          </a:bodyPr>
          <a:lstStyle/>
          <a:p>
            <a:pPr algn="ctr" defTabSz="914400">
              <a:defRPr/>
            </a:pPr>
            <a:r>
              <a:rPr lang="en-US" sz="1300" b="1" kern="0" noProof="0">
                <a:solidFill>
                  <a:srgbClr val="0E2841">
                    <a:lumMod val="10000"/>
                    <a:lumOff val="90000"/>
                  </a:srgbClr>
                </a:solidFill>
                <a:effectLst>
                  <a:outerShdw blurRad="38100" dist="38100" dir="2700000" algn="tl">
                    <a:srgbClr val="000000">
                      <a:alpha val="43137"/>
                    </a:srgbClr>
                  </a:outerShdw>
                </a:effectLst>
                <a:cs typeface="Arial" charset="0"/>
              </a:rPr>
              <a:t>Applications </a:t>
            </a:r>
            <a:r>
              <a:rPr lang="en-US" sz="1300" b="1" kern="0" noProof="0">
                <a:solidFill>
                  <a:srgbClr val="0E2841">
                    <a:lumMod val="10000"/>
                    <a:lumOff val="90000"/>
                  </a:srgbClr>
                </a:solidFill>
                <a:cs typeface="Arial" charset="0"/>
              </a:rPr>
              <a:t>Evaluation</a:t>
            </a:r>
            <a:r>
              <a:rPr lang="en-US" sz="1300" b="1" kern="0" noProof="0">
                <a:solidFill>
                  <a:srgbClr val="0E2841">
                    <a:lumMod val="10000"/>
                    <a:lumOff val="90000"/>
                  </a:srgbClr>
                </a:solidFill>
                <a:effectLst>
                  <a:outerShdw blurRad="38100" dist="38100" dir="2700000" algn="tl">
                    <a:srgbClr val="000000">
                      <a:alpha val="43137"/>
                    </a:srgbClr>
                  </a:outerShdw>
                </a:effectLst>
                <a:cs typeface="Arial" charset="0"/>
              </a:rPr>
              <a:t> Drivers</a:t>
            </a:r>
          </a:p>
        </p:txBody>
      </p:sp>
      <p:sp>
        <p:nvSpPr>
          <p:cNvPr id="93" name="TextBox 92">
            <a:extLst>
              <a:ext uri="{FF2B5EF4-FFF2-40B4-BE49-F238E27FC236}">
                <a16:creationId xmlns:a16="http://schemas.microsoft.com/office/drawing/2014/main" id="{FB2E6740-4CD5-A2FA-E647-490CAC8E3AB7}"/>
              </a:ext>
            </a:extLst>
          </p:cNvPr>
          <p:cNvSpPr txBox="1"/>
          <p:nvPr/>
        </p:nvSpPr>
        <p:spPr>
          <a:xfrm>
            <a:off x="315280" y="2005192"/>
            <a:ext cx="1754037" cy="200055"/>
          </a:xfrm>
          <a:prstGeom prst="rect">
            <a:avLst/>
          </a:prstGeom>
          <a:noFill/>
        </p:spPr>
        <p:txBody>
          <a:bodyPr wrap="square" lIns="0" tIns="0" rIns="0" bIns="0" rtlCol="0" anchor="ctr">
            <a:spAutoFit/>
          </a:bodyPr>
          <a:lstStyle/>
          <a:p>
            <a:pPr algn="ctr" defTabSz="914400">
              <a:defRPr/>
            </a:pPr>
            <a:r>
              <a:rPr lang="en-US" sz="1300" b="1" kern="0" noProof="0">
                <a:solidFill>
                  <a:srgbClr val="0E2841">
                    <a:lumMod val="10000"/>
                    <a:lumOff val="90000"/>
                  </a:srgbClr>
                </a:solidFill>
                <a:cs typeface="Arial" charset="0"/>
              </a:rPr>
              <a:t>Discovery</a:t>
            </a:r>
          </a:p>
        </p:txBody>
      </p:sp>
      <p:sp>
        <p:nvSpPr>
          <p:cNvPr id="95" name="Rectangle 94">
            <a:extLst>
              <a:ext uri="{FF2B5EF4-FFF2-40B4-BE49-F238E27FC236}">
                <a16:creationId xmlns:a16="http://schemas.microsoft.com/office/drawing/2014/main" id="{3D3A541A-1E26-2218-5605-FFDDD1F85CE8}"/>
              </a:ext>
            </a:extLst>
          </p:cNvPr>
          <p:cNvSpPr/>
          <p:nvPr/>
        </p:nvSpPr>
        <p:spPr>
          <a:xfrm>
            <a:off x="2361556" y="2592817"/>
            <a:ext cx="1457981" cy="215073"/>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accent1">
                    <a:lumMod val="50000"/>
                  </a:schemeClr>
                </a:solidFill>
                <a:effectLst/>
                <a:uLnTx/>
                <a:uFillTx/>
              </a:rPr>
              <a:t>Business Value</a:t>
            </a:r>
          </a:p>
        </p:txBody>
      </p:sp>
      <p:sp>
        <p:nvSpPr>
          <p:cNvPr id="96" name="Rectangle 95">
            <a:extLst>
              <a:ext uri="{FF2B5EF4-FFF2-40B4-BE49-F238E27FC236}">
                <a16:creationId xmlns:a16="http://schemas.microsoft.com/office/drawing/2014/main" id="{C0DA9C37-EB11-04E2-BA2A-D4CA377C7A88}"/>
              </a:ext>
            </a:extLst>
          </p:cNvPr>
          <p:cNvSpPr/>
          <p:nvPr/>
        </p:nvSpPr>
        <p:spPr>
          <a:xfrm>
            <a:off x="4287645" y="2583852"/>
            <a:ext cx="1489082" cy="234109"/>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accent1">
                    <a:lumMod val="50000"/>
                  </a:schemeClr>
                </a:solidFill>
                <a:effectLst/>
                <a:uLnTx/>
                <a:uFillTx/>
              </a:rPr>
              <a:t>Tech Quotient</a:t>
            </a:r>
            <a:endParaRPr kumimoji="0" lang="en-US" sz="1200" b="1" i="0" u="none" strike="noStrike" kern="0" cap="none" spc="0" normalizeH="0" baseline="0" noProof="0">
              <a:ln>
                <a:noFill/>
              </a:ln>
              <a:solidFill>
                <a:schemeClr val="accent1">
                  <a:lumMod val="50000"/>
                </a:schemeClr>
              </a:solidFill>
              <a:effectLst/>
              <a:uLnTx/>
              <a:uFillTx/>
              <a:cs typeface="Calibri" panose="020F0502020204030204" pitchFamily="34" charset="0"/>
            </a:endParaRPr>
          </a:p>
        </p:txBody>
      </p:sp>
      <p:sp>
        <p:nvSpPr>
          <p:cNvPr id="97" name="TextBox 31">
            <a:extLst>
              <a:ext uri="{FF2B5EF4-FFF2-40B4-BE49-F238E27FC236}">
                <a16:creationId xmlns:a16="http://schemas.microsoft.com/office/drawing/2014/main" id="{D3FA0263-08E2-5618-5678-209CE78632BA}"/>
              </a:ext>
            </a:extLst>
          </p:cNvPr>
          <p:cNvSpPr txBox="1"/>
          <p:nvPr/>
        </p:nvSpPr>
        <p:spPr>
          <a:xfrm>
            <a:off x="2328570" y="2868136"/>
            <a:ext cx="1726874" cy="1556453"/>
          </a:xfrm>
          <a:prstGeom prst="rect">
            <a:avLst/>
          </a:prstGeom>
          <a:noFill/>
        </p:spPr>
        <p:txBody>
          <a:bodyPr vert="horz" wrap="square" lIns="90000" tIns="46800" rIns="90000" bIns="4680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prstClr val="white"/>
                </a:solidFill>
                <a:effectLst/>
                <a:uLnTx/>
                <a:uFillTx/>
                <a:ea typeface="+mn-ea"/>
                <a:cs typeface="+mn-cs"/>
              </a:rPr>
              <a:t>Performance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0"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Functionality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Reliability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Risks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Criticality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Cross Functionality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FFFFFF"/>
              </a:solidFill>
              <a:effectLst/>
              <a:uLnTx/>
              <a:uFillTx/>
              <a:ea typeface="+mn-ea"/>
              <a:cs typeface="+mn-cs"/>
            </a:endParaRPr>
          </a:p>
        </p:txBody>
      </p:sp>
      <p:sp>
        <p:nvSpPr>
          <p:cNvPr id="98" name="TextBox 31">
            <a:extLst>
              <a:ext uri="{FF2B5EF4-FFF2-40B4-BE49-F238E27FC236}">
                <a16:creationId xmlns:a16="http://schemas.microsoft.com/office/drawing/2014/main" id="{8530A888-D078-AF76-8DDE-73A9B3AB4B17}"/>
              </a:ext>
            </a:extLst>
          </p:cNvPr>
          <p:cNvSpPr txBox="1"/>
          <p:nvPr/>
        </p:nvSpPr>
        <p:spPr>
          <a:xfrm>
            <a:off x="4226246" y="2871251"/>
            <a:ext cx="1969245" cy="1710341"/>
          </a:xfrm>
          <a:prstGeom prst="rect">
            <a:avLst/>
          </a:prstGeom>
          <a:noFill/>
        </p:spPr>
        <p:txBody>
          <a:bodyPr vert="horz" wrap="square" lIns="90000" tIns="46800" rIns="90000" bIns="4680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prstClr val="white"/>
                </a:solidFill>
                <a:effectLst/>
                <a:uLnTx/>
                <a:uFillTx/>
                <a:ea typeface="+mn-ea"/>
                <a:cs typeface="+mn-cs"/>
              </a:rPr>
              <a:t>Platform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0"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Cloud Adaptability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EOL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Security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1"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Integration &amp; Tech Debt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GenAI  Adaptability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FFFFFF"/>
              </a:solidFill>
              <a:effectLst/>
              <a:uLnTx/>
              <a:uFillTx/>
              <a:ea typeface="+mn-ea"/>
              <a:cs typeface="+mn-cs"/>
            </a:endParaRPr>
          </a:p>
        </p:txBody>
      </p:sp>
      <p:sp>
        <p:nvSpPr>
          <p:cNvPr id="99" name="Rectangle 98">
            <a:extLst>
              <a:ext uri="{FF2B5EF4-FFF2-40B4-BE49-F238E27FC236}">
                <a16:creationId xmlns:a16="http://schemas.microsoft.com/office/drawing/2014/main" id="{3CF6283D-7407-1931-4065-5C087F8FFA19}"/>
              </a:ext>
            </a:extLst>
          </p:cNvPr>
          <p:cNvSpPr/>
          <p:nvPr/>
        </p:nvSpPr>
        <p:spPr>
          <a:xfrm>
            <a:off x="2361556" y="4413120"/>
            <a:ext cx="1457982" cy="223907"/>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accent1">
                    <a:lumMod val="50000"/>
                  </a:schemeClr>
                </a:solidFill>
                <a:effectLst/>
                <a:uLnTx/>
                <a:uFillTx/>
              </a:rPr>
              <a:t>Financial Returns</a:t>
            </a:r>
            <a:endParaRPr kumimoji="0" lang="en-US" sz="1200" b="1" i="0" u="none" strike="noStrike" kern="0" cap="none" spc="0" normalizeH="0" baseline="0" noProof="0">
              <a:ln>
                <a:noFill/>
              </a:ln>
              <a:solidFill>
                <a:schemeClr val="accent1">
                  <a:lumMod val="50000"/>
                </a:schemeClr>
              </a:solidFill>
              <a:effectLst/>
              <a:uLnTx/>
              <a:uFillTx/>
              <a:cs typeface="Calibri" panose="020F0502020204030204" pitchFamily="34" charset="0"/>
            </a:endParaRPr>
          </a:p>
        </p:txBody>
      </p:sp>
      <p:sp>
        <p:nvSpPr>
          <p:cNvPr id="100" name="Rectangle 99">
            <a:extLst>
              <a:ext uri="{FF2B5EF4-FFF2-40B4-BE49-F238E27FC236}">
                <a16:creationId xmlns:a16="http://schemas.microsoft.com/office/drawing/2014/main" id="{E86E509E-4908-EA96-5F83-36CC627FF317}"/>
              </a:ext>
            </a:extLst>
          </p:cNvPr>
          <p:cNvSpPr/>
          <p:nvPr/>
        </p:nvSpPr>
        <p:spPr>
          <a:xfrm>
            <a:off x="4287645" y="4413120"/>
            <a:ext cx="1457982" cy="223907"/>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accent1">
                    <a:lumMod val="50000"/>
                  </a:schemeClr>
                </a:solidFill>
                <a:effectLst/>
                <a:uLnTx/>
                <a:uFillTx/>
              </a:rPr>
              <a:t>Maturity</a:t>
            </a:r>
            <a:endParaRPr kumimoji="0" lang="en-US" sz="1200" b="1" i="0" u="none" strike="noStrike" kern="0" cap="none" spc="0" normalizeH="0" baseline="0" noProof="0">
              <a:ln>
                <a:noFill/>
              </a:ln>
              <a:solidFill>
                <a:schemeClr val="accent1">
                  <a:lumMod val="50000"/>
                </a:schemeClr>
              </a:solidFill>
              <a:effectLst/>
              <a:uLnTx/>
              <a:uFillTx/>
              <a:cs typeface="Calibri" panose="020F0502020204030204" pitchFamily="34" charset="0"/>
            </a:endParaRPr>
          </a:p>
        </p:txBody>
      </p:sp>
      <p:sp>
        <p:nvSpPr>
          <p:cNvPr id="101" name="TextBox 31">
            <a:extLst>
              <a:ext uri="{FF2B5EF4-FFF2-40B4-BE49-F238E27FC236}">
                <a16:creationId xmlns:a16="http://schemas.microsoft.com/office/drawing/2014/main" id="{683851E9-E17A-9785-F2D5-E606A5E26136}"/>
              </a:ext>
            </a:extLst>
          </p:cNvPr>
          <p:cNvSpPr txBox="1"/>
          <p:nvPr/>
        </p:nvSpPr>
        <p:spPr>
          <a:xfrm>
            <a:off x="2321288" y="4776305"/>
            <a:ext cx="1670787" cy="1402564"/>
          </a:xfrm>
          <a:prstGeom prst="rect">
            <a:avLst/>
          </a:prstGeom>
          <a:noFill/>
        </p:spPr>
        <p:txBody>
          <a:bodyPr vert="horz" wrap="square" lIns="90000" tIns="46800" rIns="90000" bIns="4680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prstClr val="white"/>
                </a:solidFill>
                <a:effectLst/>
                <a:uLnTx/>
                <a:uFillTx/>
                <a:ea typeface="+mn-ea"/>
                <a:cs typeface="+mn-cs"/>
              </a:rPr>
              <a:t>License costs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0"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Infrastructure costs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Support and maintenance costs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ea typeface="+mn-ea"/>
                <a:cs typeface="+mn-cs"/>
              </a:rPr>
              <a:t>Payback period / ROI</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FFFFFF"/>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FFFFFF"/>
              </a:solidFill>
              <a:effectLst/>
              <a:uLnTx/>
              <a:uFillTx/>
              <a:ea typeface="+mn-ea"/>
              <a:cs typeface="+mn-cs"/>
            </a:endParaRPr>
          </a:p>
        </p:txBody>
      </p:sp>
      <p:sp>
        <p:nvSpPr>
          <p:cNvPr id="102" name="TextBox 31">
            <a:extLst>
              <a:ext uri="{FF2B5EF4-FFF2-40B4-BE49-F238E27FC236}">
                <a16:creationId xmlns:a16="http://schemas.microsoft.com/office/drawing/2014/main" id="{9AA76B1B-11EC-66A1-EC55-D6A07E2F4D8C}"/>
              </a:ext>
            </a:extLst>
          </p:cNvPr>
          <p:cNvSpPr txBox="1"/>
          <p:nvPr/>
        </p:nvSpPr>
        <p:spPr>
          <a:xfrm>
            <a:off x="4250974" y="4731983"/>
            <a:ext cx="1790223" cy="1710341"/>
          </a:xfrm>
          <a:prstGeom prst="rect">
            <a:avLst/>
          </a:prstGeom>
          <a:noFill/>
        </p:spPr>
        <p:txBody>
          <a:bodyPr vert="horz" wrap="square" lIns="90000" tIns="46800" rIns="90000" bIns="4680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prstClr val="white"/>
                </a:solidFill>
                <a:effectLst/>
                <a:uLnTx/>
                <a:uFillTx/>
                <a:latin typeface="Aptos" panose="02110004020202020204"/>
                <a:ea typeface="+mn-ea"/>
                <a:cs typeface="+mn-cs"/>
              </a:rPr>
              <a:t>Capacity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0" i="0" u="none" strike="noStrike" kern="1200" cap="none" spc="0" normalizeH="0" baseline="0" noProof="0">
              <a:ln>
                <a:noFill/>
              </a:ln>
              <a:solidFill>
                <a:srgbClr val="FFFFFF"/>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latin typeface="Aptos" panose="02110004020202020204"/>
                <a:ea typeface="+mn-ea"/>
                <a:cs typeface="+mn-cs"/>
              </a:rPr>
              <a:t>Ease of Use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latin typeface="Aptos" panose="02110004020202020204"/>
                <a:ea typeface="+mn-ea"/>
                <a:cs typeface="+mn-cs"/>
              </a:rPr>
              <a:t>Legacy/COTS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latin typeface="Aptos" panose="02110004020202020204"/>
                <a:ea typeface="+mn-ea"/>
                <a:cs typeface="+mn-cs"/>
              </a:rPr>
              <a:t>Industry Adaptability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latin typeface="Aptos" panose="02110004020202020204"/>
                <a:ea typeface="+mn-ea"/>
                <a:cs typeface="+mn-cs"/>
              </a:rPr>
              <a:t>Vision Fitment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rgbClr val="FFFFFF"/>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FFFFFF"/>
                </a:solidFill>
                <a:effectLst/>
                <a:uLnTx/>
                <a:uFillTx/>
                <a:latin typeface="Aptos" panose="02110004020202020204"/>
                <a:ea typeface="+mn-ea"/>
                <a:cs typeface="+mn-cs"/>
              </a:rPr>
              <a:t>Ease of Customization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FFFFFF"/>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03" name="Graphic 2">
            <a:extLst>
              <a:ext uri="{FF2B5EF4-FFF2-40B4-BE49-F238E27FC236}">
                <a16:creationId xmlns:a16="http://schemas.microsoft.com/office/drawing/2014/main" id="{90B6E473-77C8-FA6E-B837-49D6C09C15A2}"/>
              </a:ext>
            </a:extLst>
          </p:cNvPr>
          <p:cNvSpPr>
            <a:spLocks noChangeAspect="1"/>
          </p:cNvSpPr>
          <p:nvPr/>
        </p:nvSpPr>
        <p:spPr>
          <a:xfrm>
            <a:off x="2519265" y="1996488"/>
            <a:ext cx="280736" cy="239452"/>
          </a:xfrm>
          <a:custGeom>
            <a:avLst/>
            <a:gdLst>
              <a:gd name="connsiteX0" fmla="*/ 455854 w 507998"/>
              <a:gd name="connsiteY0" fmla="*/ 69942 h 433292"/>
              <a:gd name="connsiteX1" fmla="*/ 351266 w 507998"/>
              <a:gd name="connsiteY1" fmla="*/ 69942 h 433292"/>
              <a:gd name="connsiteX2" fmla="*/ 351266 w 507998"/>
              <a:gd name="connsiteY2" fmla="*/ 42749 h 433292"/>
              <a:gd name="connsiteX3" fmla="*/ 305247 w 507998"/>
              <a:gd name="connsiteY3" fmla="*/ 18 h 433292"/>
              <a:gd name="connsiteX4" fmla="*/ 202900 w 507998"/>
              <a:gd name="connsiteY4" fmla="*/ 18 h 433292"/>
              <a:gd name="connsiteX5" fmla="*/ 157031 w 507998"/>
              <a:gd name="connsiteY5" fmla="*/ 42749 h 433292"/>
              <a:gd name="connsiteX6" fmla="*/ 157031 w 507998"/>
              <a:gd name="connsiteY6" fmla="*/ 69942 h 433292"/>
              <a:gd name="connsiteX7" fmla="*/ 52443 w 507998"/>
              <a:gd name="connsiteY7" fmla="*/ 69942 h 433292"/>
              <a:gd name="connsiteX8" fmla="*/ 0 w 507998"/>
              <a:gd name="connsiteY8" fmla="*/ 122086 h 433292"/>
              <a:gd name="connsiteX9" fmla="*/ 0 w 507998"/>
              <a:gd name="connsiteY9" fmla="*/ 122236 h 433292"/>
              <a:gd name="connsiteX10" fmla="*/ 0 w 507998"/>
              <a:gd name="connsiteY10" fmla="*/ 391176 h 433292"/>
              <a:gd name="connsiteX11" fmla="*/ 52294 w 507998"/>
              <a:gd name="connsiteY11" fmla="*/ 443470 h 433292"/>
              <a:gd name="connsiteX12" fmla="*/ 455704 w 507998"/>
              <a:gd name="connsiteY12" fmla="*/ 443470 h 433292"/>
              <a:gd name="connsiteX13" fmla="*/ 507998 w 507998"/>
              <a:gd name="connsiteY13" fmla="*/ 391176 h 433292"/>
              <a:gd name="connsiteX14" fmla="*/ 507998 w 507998"/>
              <a:gd name="connsiteY14" fmla="*/ 122236 h 433292"/>
              <a:gd name="connsiteX15" fmla="*/ 455854 w 507998"/>
              <a:gd name="connsiteY15" fmla="*/ 69942 h 433292"/>
              <a:gd name="connsiteX16" fmla="*/ 171972 w 507998"/>
              <a:gd name="connsiteY16" fmla="*/ 42749 h 433292"/>
              <a:gd name="connsiteX17" fmla="*/ 202900 w 507998"/>
              <a:gd name="connsiteY17" fmla="*/ 14959 h 433292"/>
              <a:gd name="connsiteX18" fmla="*/ 305247 w 507998"/>
              <a:gd name="connsiteY18" fmla="*/ 14959 h 433292"/>
              <a:gd name="connsiteX19" fmla="*/ 336175 w 507998"/>
              <a:gd name="connsiteY19" fmla="*/ 42749 h 433292"/>
              <a:gd name="connsiteX20" fmla="*/ 336175 w 507998"/>
              <a:gd name="connsiteY20" fmla="*/ 69942 h 433292"/>
              <a:gd name="connsiteX21" fmla="*/ 171823 w 507998"/>
              <a:gd name="connsiteY21" fmla="*/ 69942 h 433292"/>
              <a:gd name="connsiteX22" fmla="*/ 52443 w 507998"/>
              <a:gd name="connsiteY22" fmla="*/ 84883 h 433292"/>
              <a:gd name="connsiteX23" fmla="*/ 162261 w 507998"/>
              <a:gd name="connsiteY23" fmla="*/ 84883 h 433292"/>
              <a:gd name="connsiteX24" fmla="*/ 164651 w 507998"/>
              <a:gd name="connsiteY24" fmla="*/ 84883 h 433292"/>
              <a:gd name="connsiteX25" fmla="*/ 167191 w 507998"/>
              <a:gd name="connsiteY25" fmla="*/ 84883 h 433292"/>
              <a:gd name="connsiteX26" fmla="*/ 341106 w 507998"/>
              <a:gd name="connsiteY26" fmla="*/ 84883 h 433292"/>
              <a:gd name="connsiteX27" fmla="*/ 346186 w 507998"/>
              <a:gd name="connsiteY27" fmla="*/ 84883 h 433292"/>
              <a:gd name="connsiteX28" fmla="*/ 455854 w 507998"/>
              <a:gd name="connsiteY28" fmla="*/ 84883 h 433292"/>
              <a:gd name="connsiteX29" fmla="*/ 493057 w 507998"/>
              <a:gd name="connsiteY29" fmla="*/ 122236 h 433292"/>
              <a:gd name="connsiteX30" fmla="*/ 493057 w 507998"/>
              <a:gd name="connsiteY30" fmla="*/ 204412 h 433292"/>
              <a:gd name="connsiteX31" fmla="*/ 14941 w 507998"/>
              <a:gd name="connsiteY31" fmla="*/ 204412 h 433292"/>
              <a:gd name="connsiteX32" fmla="*/ 14941 w 507998"/>
              <a:gd name="connsiteY32" fmla="*/ 122236 h 433292"/>
              <a:gd name="connsiteX33" fmla="*/ 52294 w 507998"/>
              <a:gd name="connsiteY33" fmla="*/ 84883 h 433292"/>
              <a:gd name="connsiteX34" fmla="*/ 455854 w 507998"/>
              <a:gd name="connsiteY34" fmla="*/ 428529 h 433292"/>
              <a:gd name="connsiteX35" fmla="*/ 52294 w 507998"/>
              <a:gd name="connsiteY35" fmla="*/ 428529 h 433292"/>
              <a:gd name="connsiteX36" fmla="*/ 14941 w 507998"/>
              <a:gd name="connsiteY36" fmla="*/ 391176 h 433292"/>
              <a:gd name="connsiteX37" fmla="*/ 14941 w 507998"/>
              <a:gd name="connsiteY37" fmla="*/ 219353 h 433292"/>
              <a:gd name="connsiteX38" fmla="*/ 134470 w 507998"/>
              <a:gd name="connsiteY38" fmla="*/ 219353 h 433292"/>
              <a:gd name="connsiteX39" fmla="*/ 134470 w 507998"/>
              <a:gd name="connsiteY39" fmla="*/ 279118 h 433292"/>
              <a:gd name="connsiteX40" fmla="*/ 141941 w 507998"/>
              <a:gd name="connsiteY40" fmla="*/ 286589 h 433292"/>
              <a:gd name="connsiteX41" fmla="*/ 149411 w 507998"/>
              <a:gd name="connsiteY41" fmla="*/ 279118 h 433292"/>
              <a:gd name="connsiteX42" fmla="*/ 149411 w 507998"/>
              <a:gd name="connsiteY42" fmla="*/ 219353 h 433292"/>
              <a:gd name="connsiteX43" fmla="*/ 358587 w 507998"/>
              <a:gd name="connsiteY43" fmla="*/ 219353 h 433292"/>
              <a:gd name="connsiteX44" fmla="*/ 358587 w 507998"/>
              <a:gd name="connsiteY44" fmla="*/ 279118 h 433292"/>
              <a:gd name="connsiteX45" fmla="*/ 366057 w 507998"/>
              <a:gd name="connsiteY45" fmla="*/ 286589 h 433292"/>
              <a:gd name="connsiteX46" fmla="*/ 373528 w 507998"/>
              <a:gd name="connsiteY46" fmla="*/ 279118 h 433292"/>
              <a:gd name="connsiteX47" fmla="*/ 373528 w 507998"/>
              <a:gd name="connsiteY47" fmla="*/ 219353 h 433292"/>
              <a:gd name="connsiteX48" fmla="*/ 493057 w 507998"/>
              <a:gd name="connsiteY48" fmla="*/ 219353 h 433292"/>
              <a:gd name="connsiteX49" fmla="*/ 493057 w 507998"/>
              <a:gd name="connsiteY49" fmla="*/ 391176 h 433292"/>
              <a:gd name="connsiteX50" fmla="*/ 455854 w 507998"/>
              <a:gd name="connsiteY50" fmla="*/ 428529 h 43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07998" h="433292">
                <a:moveTo>
                  <a:pt x="455854" y="69942"/>
                </a:moveTo>
                <a:lnTo>
                  <a:pt x="351266" y="69942"/>
                </a:lnTo>
                <a:lnTo>
                  <a:pt x="351266" y="42749"/>
                </a:lnTo>
                <a:cubicBezTo>
                  <a:pt x="350135" y="18344"/>
                  <a:pt x="329668" y="-660"/>
                  <a:pt x="305247" y="18"/>
                </a:cubicBezTo>
                <a:lnTo>
                  <a:pt x="202900" y="18"/>
                </a:lnTo>
                <a:cubicBezTo>
                  <a:pt x="178536" y="-577"/>
                  <a:pt x="158161" y="18404"/>
                  <a:pt x="157031" y="42749"/>
                </a:cubicBezTo>
                <a:lnTo>
                  <a:pt x="157031" y="69942"/>
                </a:lnTo>
                <a:lnTo>
                  <a:pt x="52443" y="69942"/>
                </a:lnTo>
                <a:cubicBezTo>
                  <a:pt x="23562" y="69860"/>
                  <a:pt x="83" y="93205"/>
                  <a:pt x="0" y="122086"/>
                </a:cubicBezTo>
                <a:cubicBezTo>
                  <a:pt x="0" y="122136"/>
                  <a:pt x="0" y="122186"/>
                  <a:pt x="0" y="122236"/>
                </a:cubicBezTo>
                <a:lnTo>
                  <a:pt x="0" y="391176"/>
                </a:lnTo>
                <a:cubicBezTo>
                  <a:pt x="0" y="420058"/>
                  <a:pt x="23413" y="443470"/>
                  <a:pt x="52294" y="443470"/>
                </a:cubicBezTo>
                <a:lnTo>
                  <a:pt x="455704" y="443470"/>
                </a:lnTo>
                <a:cubicBezTo>
                  <a:pt x="484585" y="443470"/>
                  <a:pt x="507998" y="420058"/>
                  <a:pt x="507998" y="391176"/>
                </a:cubicBezTo>
                <a:lnTo>
                  <a:pt x="507998" y="122236"/>
                </a:lnTo>
                <a:cubicBezTo>
                  <a:pt x="507998" y="93413"/>
                  <a:pt x="484676" y="70024"/>
                  <a:pt x="455854" y="69942"/>
                </a:cubicBezTo>
                <a:close/>
                <a:moveTo>
                  <a:pt x="171972" y="42749"/>
                </a:moveTo>
                <a:cubicBezTo>
                  <a:pt x="173090" y="26656"/>
                  <a:pt x="186780" y="14355"/>
                  <a:pt x="202900" y="14959"/>
                </a:cubicBezTo>
                <a:lnTo>
                  <a:pt x="305247" y="14959"/>
                </a:lnTo>
                <a:cubicBezTo>
                  <a:pt x="321367" y="14355"/>
                  <a:pt x="335058" y="26656"/>
                  <a:pt x="336175" y="42749"/>
                </a:cubicBezTo>
                <a:lnTo>
                  <a:pt x="336175" y="69942"/>
                </a:lnTo>
                <a:lnTo>
                  <a:pt x="171823" y="69942"/>
                </a:lnTo>
                <a:close/>
                <a:moveTo>
                  <a:pt x="52443" y="84883"/>
                </a:moveTo>
                <a:lnTo>
                  <a:pt x="162261" y="84883"/>
                </a:lnTo>
                <a:cubicBezTo>
                  <a:pt x="163049" y="85036"/>
                  <a:pt x="163862" y="85036"/>
                  <a:pt x="164651" y="84883"/>
                </a:cubicBezTo>
                <a:cubicBezTo>
                  <a:pt x="165491" y="85038"/>
                  <a:pt x="166351" y="85038"/>
                  <a:pt x="167191" y="84883"/>
                </a:cubicBezTo>
                <a:lnTo>
                  <a:pt x="341106" y="84883"/>
                </a:lnTo>
                <a:cubicBezTo>
                  <a:pt x="342704" y="85683"/>
                  <a:pt x="344587" y="85683"/>
                  <a:pt x="346186" y="84883"/>
                </a:cubicBezTo>
                <a:lnTo>
                  <a:pt x="455854" y="84883"/>
                </a:lnTo>
                <a:cubicBezTo>
                  <a:pt x="476390" y="85047"/>
                  <a:pt x="492976" y="101699"/>
                  <a:pt x="493057" y="122236"/>
                </a:cubicBezTo>
                <a:lnTo>
                  <a:pt x="493057" y="204412"/>
                </a:lnTo>
                <a:lnTo>
                  <a:pt x="14941" y="204412"/>
                </a:lnTo>
                <a:lnTo>
                  <a:pt x="14941" y="122236"/>
                </a:lnTo>
                <a:cubicBezTo>
                  <a:pt x="15023" y="101641"/>
                  <a:pt x="31698" y="84965"/>
                  <a:pt x="52294" y="84883"/>
                </a:cubicBezTo>
                <a:close/>
                <a:moveTo>
                  <a:pt x="455854" y="428529"/>
                </a:moveTo>
                <a:lnTo>
                  <a:pt x="52294" y="428529"/>
                </a:lnTo>
                <a:cubicBezTo>
                  <a:pt x="31665" y="428529"/>
                  <a:pt x="14941" y="411806"/>
                  <a:pt x="14941" y="391176"/>
                </a:cubicBezTo>
                <a:lnTo>
                  <a:pt x="14941" y="219353"/>
                </a:lnTo>
                <a:lnTo>
                  <a:pt x="134470" y="219353"/>
                </a:lnTo>
                <a:lnTo>
                  <a:pt x="134470" y="279118"/>
                </a:lnTo>
                <a:cubicBezTo>
                  <a:pt x="134470" y="283243"/>
                  <a:pt x="137815" y="286589"/>
                  <a:pt x="141941" y="286589"/>
                </a:cubicBezTo>
                <a:cubicBezTo>
                  <a:pt x="146066" y="286589"/>
                  <a:pt x="149411" y="283243"/>
                  <a:pt x="149411" y="279118"/>
                </a:cubicBezTo>
                <a:lnTo>
                  <a:pt x="149411" y="219353"/>
                </a:lnTo>
                <a:lnTo>
                  <a:pt x="358587" y="219353"/>
                </a:lnTo>
                <a:lnTo>
                  <a:pt x="358587" y="279118"/>
                </a:lnTo>
                <a:cubicBezTo>
                  <a:pt x="358587" y="283243"/>
                  <a:pt x="361932" y="286589"/>
                  <a:pt x="366057" y="286589"/>
                </a:cubicBezTo>
                <a:cubicBezTo>
                  <a:pt x="370183" y="286589"/>
                  <a:pt x="373528" y="283243"/>
                  <a:pt x="373528" y="279118"/>
                </a:cubicBezTo>
                <a:lnTo>
                  <a:pt x="373528" y="219353"/>
                </a:lnTo>
                <a:lnTo>
                  <a:pt x="493057" y="219353"/>
                </a:lnTo>
                <a:lnTo>
                  <a:pt x="493057" y="391176"/>
                </a:lnTo>
                <a:cubicBezTo>
                  <a:pt x="493057" y="411747"/>
                  <a:pt x="476424" y="428447"/>
                  <a:pt x="455854" y="428529"/>
                </a:cubicBezTo>
                <a:close/>
              </a:path>
            </a:pathLst>
          </a:custGeom>
          <a:solidFill>
            <a:srgbClr val="FFFFFF"/>
          </a:solidFill>
          <a:ln w="9525"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04" name="Text Box 26">
            <a:extLst>
              <a:ext uri="{FF2B5EF4-FFF2-40B4-BE49-F238E27FC236}">
                <a16:creationId xmlns:a16="http://schemas.microsoft.com/office/drawing/2014/main" id="{F3F5D0A4-E59A-5F52-AA50-B52758319BC2}"/>
              </a:ext>
            </a:extLst>
          </p:cNvPr>
          <p:cNvSpPr txBox="1">
            <a:spLocks noChangeArrowheads="1"/>
          </p:cNvSpPr>
          <p:nvPr/>
        </p:nvSpPr>
        <p:spPr bwMode="auto">
          <a:xfrm>
            <a:off x="11024133" y="4813129"/>
            <a:ext cx="863635" cy="461280"/>
          </a:xfrm>
          <a:prstGeom prst="rect">
            <a:avLst/>
          </a:prstGeom>
          <a:noFill/>
          <a:ln w="9525" algn="ctr">
            <a:noFill/>
            <a:miter lim="800000"/>
            <a:headEnd/>
            <a:tailEnd/>
          </a:ln>
        </p:spPr>
        <p:txBody>
          <a:bodyPr wrap="square" lIns="0" tIns="0" rIns="0" bIns="0" anchor="ctr">
            <a:spAutoFit/>
          </a:bodyPr>
          <a:lstStyle/>
          <a:p>
            <a:pPr algn="ctr" defTabSz="539080">
              <a:spcBef>
                <a:spcPct val="50000"/>
              </a:spcBef>
              <a:defRPr/>
            </a:pPr>
            <a:r>
              <a:rPr lang="en-US" sz="999" noProof="0">
                <a:solidFill>
                  <a:prstClr val="white"/>
                </a:solidFill>
                <a:cs typeface="Arial" charset="0"/>
              </a:rPr>
              <a:t>Upgrades, Enhancements, Migrations</a:t>
            </a:r>
          </a:p>
        </p:txBody>
      </p:sp>
      <p:sp>
        <p:nvSpPr>
          <p:cNvPr id="105" name="Text Box 29">
            <a:extLst>
              <a:ext uri="{FF2B5EF4-FFF2-40B4-BE49-F238E27FC236}">
                <a16:creationId xmlns:a16="http://schemas.microsoft.com/office/drawing/2014/main" id="{05EDDE0B-D1BA-D5BA-6057-58FF7FCCB4D7}"/>
              </a:ext>
            </a:extLst>
          </p:cNvPr>
          <p:cNvSpPr txBox="1">
            <a:spLocks noChangeArrowheads="1"/>
          </p:cNvSpPr>
          <p:nvPr/>
        </p:nvSpPr>
        <p:spPr bwMode="auto">
          <a:xfrm>
            <a:off x="6717110" y="4813129"/>
            <a:ext cx="902619" cy="461280"/>
          </a:xfrm>
          <a:prstGeom prst="rect">
            <a:avLst/>
          </a:prstGeom>
          <a:noFill/>
          <a:ln w="9525" algn="ctr">
            <a:noFill/>
            <a:miter lim="800000"/>
            <a:headEnd/>
            <a:tailEnd/>
          </a:ln>
        </p:spPr>
        <p:txBody>
          <a:bodyPr wrap="square" lIns="0" tIns="0" rIns="0" bIns="0" anchor="ctr">
            <a:spAutoFit/>
          </a:bodyPr>
          <a:lstStyle/>
          <a:p>
            <a:pPr algn="ctr" defTabSz="539080">
              <a:defRPr/>
            </a:pPr>
            <a:r>
              <a:rPr lang="en-US" sz="999" noProof="0">
                <a:solidFill>
                  <a:prstClr val="white"/>
                </a:solidFill>
                <a:cs typeface="Arial" charset="0"/>
              </a:rPr>
              <a:t>Benchmark, Find Best-fit solutions</a:t>
            </a:r>
          </a:p>
        </p:txBody>
      </p:sp>
      <p:sp>
        <p:nvSpPr>
          <p:cNvPr id="106" name="Rectangle 105">
            <a:extLst>
              <a:ext uri="{FF2B5EF4-FFF2-40B4-BE49-F238E27FC236}">
                <a16:creationId xmlns:a16="http://schemas.microsoft.com/office/drawing/2014/main" id="{A6F5446D-93B0-F89E-5563-8D7603DD75CF}"/>
              </a:ext>
            </a:extLst>
          </p:cNvPr>
          <p:cNvSpPr/>
          <p:nvPr/>
        </p:nvSpPr>
        <p:spPr>
          <a:xfrm>
            <a:off x="7678841" y="2751711"/>
            <a:ext cx="1446095" cy="1284881"/>
          </a:xfrm>
          <a:prstGeom prst="rect">
            <a:avLst/>
          </a:prstGeom>
          <a:solidFill>
            <a:sysClr val="window" lastClr="FFFFFF">
              <a:lumMod val="85000"/>
            </a:sysClr>
          </a:solidFill>
          <a:ln w="9525" cap="flat" cmpd="sng" algn="ctr">
            <a:noFill/>
            <a:prstDash val="solid"/>
          </a:ln>
          <a:effectLst/>
        </p:spPr>
        <p:txBody>
          <a:bodyPr anchor="ctr"/>
          <a:lstStyle/>
          <a:p>
            <a:pPr algn="ctr" defTabSz="539080">
              <a:defRPr/>
            </a:pPr>
            <a:r>
              <a:rPr lang="en-US" sz="999" b="1" kern="0" noProof="0">
                <a:solidFill>
                  <a:prstClr val="black"/>
                </a:solidFill>
              </a:rPr>
              <a:t>Retire</a:t>
            </a:r>
          </a:p>
          <a:p>
            <a:pPr algn="ctr" defTabSz="539080">
              <a:defRPr/>
            </a:pPr>
            <a:r>
              <a:rPr lang="en-US" sz="900" kern="0" noProof="0">
                <a:solidFill>
                  <a:prstClr val="black"/>
                </a:solidFill>
              </a:rPr>
              <a:t>(</a:t>
            </a:r>
            <a:r>
              <a:rPr lang="en-US" sz="900" kern="0" noProof="0">
                <a:solidFill>
                  <a:prstClr val="black"/>
                </a:solidFill>
                <a:cs typeface="Arial" pitchFamily="34" charset="0"/>
              </a:rPr>
              <a:t>Low Business Criticality + Low Business Process Coverage + Negative Usage Trend + Low Application Uniqueness +) vs. TCO vs. Risk</a:t>
            </a:r>
            <a:r>
              <a:rPr lang="en-US" sz="900" kern="0" noProof="0">
                <a:solidFill>
                  <a:prstClr val="black"/>
                </a:solidFill>
              </a:rPr>
              <a:t>) </a:t>
            </a:r>
          </a:p>
        </p:txBody>
      </p:sp>
      <p:sp>
        <p:nvSpPr>
          <p:cNvPr id="107" name="Rectangle 106">
            <a:extLst>
              <a:ext uri="{FF2B5EF4-FFF2-40B4-BE49-F238E27FC236}">
                <a16:creationId xmlns:a16="http://schemas.microsoft.com/office/drawing/2014/main" id="{1450E151-69FF-B9B3-74CA-466BC30CA7D6}"/>
              </a:ext>
            </a:extLst>
          </p:cNvPr>
          <p:cNvSpPr/>
          <p:nvPr/>
        </p:nvSpPr>
        <p:spPr>
          <a:xfrm>
            <a:off x="9401030" y="2743173"/>
            <a:ext cx="1446008" cy="1302383"/>
          </a:xfrm>
          <a:prstGeom prst="rect">
            <a:avLst/>
          </a:prstGeom>
          <a:solidFill>
            <a:schemeClr val="accent2">
              <a:lumMod val="60000"/>
              <a:lumOff val="40000"/>
            </a:schemeClr>
          </a:solidFill>
          <a:ln w="12700" cap="flat" cmpd="sng" algn="ctr">
            <a:noFill/>
            <a:prstDash val="solid"/>
            <a:miter lim="800000"/>
          </a:ln>
          <a:effectLst/>
        </p:spPr>
        <p:txBody>
          <a:bodyPr rtlCol="0" anchor="ctr"/>
          <a:lstStyle/>
          <a:p>
            <a:pPr algn="ctr" defTabSz="914400">
              <a:spcBef>
                <a:spcPct val="0"/>
              </a:spcBef>
            </a:pPr>
            <a:r>
              <a:rPr lang="en-US" sz="1000" noProof="0"/>
              <a:t>Retain</a:t>
            </a:r>
          </a:p>
          <a:p>
            <a:pPr algn="ctr" defTabSz="914400">
              <a:spcBef>
                <a:spcPct val="0"/>
              </a:spcBef>
            </a:pPr>
            <a:r>
              <a:rPr lang="en-US" sz="1000" noProof="0"/>
              <a:t>(High Business Criticality + High Application Performance + High Application Maturity)  vs. TCO vs. Risk)</a:t>
            </a:r>
          </a:p>
        </p:txBody>
      </p:sp>
      <p:sp>
        <p:nvSpPr>
          <p:cNvPr id="108" name="Rectangle 107">
            <a:extLst>
              <a:ext uri="{FF2B5EF4-FFF2-40B4-BE49-F238E27FC236}">
                <a16:creationId xmlns:a16="http://schemas.microsoft.com/office/drawing/2014/main" id="{C11117FE-56FE-35DC-DC7F-0F6B87BC6AA1}"/>
              </a:ext>
            </a:extLst>
          </p:cNvPr>
          <p:cNvSpPr/>
          <p:nvPr/>
        </p:nvSpPr>
        <p:spPr>
          <a:xfrm>
            <a:off x="7649338" y="4304663"/>
            <a:ext cx="1446095" cy="1287354"/>
          </a:xfrm>
          <a:prstGeom prst="rect">
            <a:avLst/>
          </a:prstGeom>
          <a:solidFill>
            <a:schemeClr val="accent2">
              <a:lumMod val="60000"/>
              <a:lumOff val="40000"/>
            </a:schemeClr>
          </a:solidFill>
          <a:ln w="9525" cap="flat" cmpd="sng" algn="ctr">
            <a:noFill/>
            <a:prstDash val="solid"/>
          </a:ln>
          <a:effectLst/>
        </p:spPr>
        <p:txBody>
          <a:bodyPr anchor="ctr"/>
          <a:lstStyle/>
          <a:p>
            <a:pPr marL="0" marR="0" lvl="0" indent="0" algn="ctr" defTabSz="539080" eaLnBrk="1" fontAlgn="auto" latinLnBrk="0" hangingPunct="1">
              <a:lnSpc>
                <a:spcPct val="100000"/>
              </a:lnSpc>
              <a:spcBef>
                <a:spcPts val="0"/>
              </a:spcBef>
              <a:spcAft>
                <a:spcPts val="0"/>
              </a:spcAft>
              <a:buClrTx/>
              <a:buSzTx/>
              <a:buFontTx/>
              <a:buNone/>
              <a:tabLst/>
              <a:defRPr/>
            </a:pPr>
            <a:r>
              <a:rPr kumimoji="0" lang="en-US" sz="999" b="1" i="0" u="none" strike="noStrike" kern="0" cap="none" spc="0" normalizeH="0" baseline="0" noProof="0">
                <a:ln>
                  <a:noFill/>
                </a:ln>
                <a:effectLst/>
                <a:uLnTx/>
                <a:uFillTx/>
              </a:rPr>
              <a:t>Replace</a:t>
            </a:r>
          </a:p>
          <a:p>
            <a:pPr marL="0" marR="0" lvl="0" indent="0" algn="ctr" defTabSz="53908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cs typeface="Arial" pitchFamily="34" charset="0"/>
              </a:rPr>
              <a:t>(High Business Criticality + Low </a:t>
            </a:r>
            <a:r>
              <a:rPr lang="en-US" sz="1000" noProof="0"/>
              <a:t>Application</a:t>
            </a:r>
            <a:r>
              <a:rPr kumimoji="0" lang="en-US" sz="900" b="0" i="0" u="none" strike="noStrike" kern="0" cap="none" spc="0" normalizeH="0" baseline="0" noProof="0">
                <a:ln>
                  <a:noFill/>
                </a:ln>
                <a:effectLst/>
                <a:uLnTx/>
                <a:uFillTx/>
                <a:cs typeface="Arial" pitchFamily="34" charset="0"/>
              </a:rPr>
              <a:t> Performance + Low Application Maturity)  vs. TCO vs. Risk)</a:t>
            </a:r>
            <a:r>
              <a:rPr kumimoji="0" lang="en-US" sz="900" b="0" i="0" u="none" strike="noStrike" kern="0" cap="none" spc="0" normalizeH="0" baseline="0" noProof="0">
                <a:ln>
                  <a:noFill/>
                </a:ln>
                <a:effectLst/>
                <a:uLnTx/>
                <a:uFillTx/>
              </a:rPr>
              <a:t> </a:t>
            </a:r>
          </a:p>
        </p:txBody>
      </p:sp>
      <p:sp>
        <p:nvSpPr>
          <p:cNvPr id="109" name="Rectangle 108">
            <a:extLst>
              <a:ext uri="{FF2B5EF4-FFF2-40B4-BE49-F238E27FC236}">
                <a16:creationId xmlns:a16="http://schemas.microsoft.com/office/drawing/2014/main" id="{2B21CB4D-DF55-EFF2-D3D6-034B01887514}"/>
              </a:ext>
            </a:extLst>
          </p:cNvPr>
          <p:cNvSpPr/>
          <p:nvPr/>
        </p:nvSpPr>
        <p:spPr>
          <a:xfrm>
            <a:off x="9369719" y="4304663"/>
            <a:ext cx="1446095" cy="1287468"/>
          </a:xfrm>
          <a:prstGeom prst="rect">
            <a:avLst/>
          </a:prstGeom>
          <a:solidFill>
            <a:sysClr val="window" lastClr="FFFFFF">
              <a:lumMod val="85000"/>
            </a:sysClr>
          </a:solidFill>
          <a:ln w="9525" cap="flat" cmpd="sng" algn="ctr">
            <a:noFill/>
            <a:prstDash val="solid"/>
          </a:ln>
          <a:effectLst/>
        </p:spPr>
        <p:txBody>
          <a:bodyPr anchor="ctr"/>
          <a:lstStyle/>
          <a:p>
            <a:pPr algn="ctr" defTabSz="539080">
              <a:defRPr/>
            </a:pPr>
            <a:r>
              <a:rPr lang="en-US" sz="999" b="1" kern="0" noProof="0">
                <a:solidFill>
                  <a:prstClr val="black"/>
                </a:solidFill>
              </a:rPr>
              <a:t>Re-Engineer</a:t>
            </a:r>
          </a:p>
          <a:p>
            <a:pPr algn="ctr" defTabSz="539080">
              <a:defRPr/>
            </a:pPr>
            <a:r>
              <a:rPr lang="en-US" sz="999" kern="0" noProof="0">
                <a:solidFill>
                  <a:prstClr val="black"/>
                </a:solidFill>
                <a:cs typeface="Arial" pitchFamily="34" charset="0"/>
              </a:rPr>
              <a:t>(</a:t>
            </a:r>
            <a:r>
              <a:rPr lang="en-US" sz="900" kern="0" noProof="0">
                <a:solidFill>
                  <a:prstClr val="black"/>
                </a:solidFill>
                <a:cs typeface="Arial" pitchFamily="34" charset="0"/>
              </a:rPr>
              <a:t>High Business Criticality + Low Business Process Coverage + High Application Performance + Low Application Maturity)  vs. TCO vs. Risk</a:t>
            </a:r>
            <a:endParaRPr lang="en-US" sz="900" kern="0" noProof="0">
              <a:solidFill>
                <a:prstClr val="black"/>
              </a:solidFill>
            </a:endParaRPr>
          </a:p>
        </p:txBody>
      </p:sp>
      <p:cxnSp>
        <p:nvCxnSpPr>
          <p:cNvPr id="110" name="Straight Arrow Connector 109">
            <a:extLst>
              <a:ext uri="{FF2B5EF4-FFF2-40B4-BE49-F238E27FC236}">
                <a16:creationId xmlns:a16="http://schemas.microsoft.com/office/drawing/2014/main" id="{1867EF63-DF74-FB0D-8483-154A32EC31D0}"/>
              </a:ext>
            </a:extLst>
          </p:cNvPr>
          <p:cNvCxnSpPr/>
          <p:nvPr/>
        </p:nvCxnSpPr>
        <p:spPr>
          <a:xfrm>
            <a:off x="9245059" y="2656892"/>
            <a:ext cx="0" cy="3009685"/>
          </a:xfrm>
          <a:prstGeom prst="straightConnector1">
            <a:avLst/>
          </a:prstGeom>
          <a:noFill/>
          <a:ln w="19050" cap="flat" cmpd="sng" algn="ctr">
            <a:solidFill>
              <a:sysClr val="window" lastClr="FFFFFF"/>
            </a:solidFill>
            <a:prstDash val="solid"/>
            <a:headEnd type="arrow"/>
            <a:tailEnd type="arrow"/>
          </a:ln>
          <a:effectLst/>
        </p:spPr>
      </p:cxnSp>
      <p:cxnSp>
        <p:nvCxnSpPr>
          <p:cNvPr id="111" name="Straight Arrow Connector 110">
            <a:extLst>
              <a:ext uri="{FF2B5EF4-FFF2-40B4-BE49-F238E27FC236}">
                <a16:creationId xmlns:a16="http://schemas.microsoft.com/office/drawing/2014/main" id="{09EF4109-3853-6070-4F7A-94F43519AEA0}"/>
              </a:ext>
            </a:extLst>
          </p:cNvPr>
          <p:cNvCxnSpPr>
            <a:cxnSpLocks/>
          </p:cNvCxnSpPr>
          <p:nvPr/>
        </p:nvCxnSpPr>
        <p:spPr>
          <a:xfrm>
            <a:off x="7518464" y="4180633"/>
            <a:ext cx="3449352" cy="0"/>
          </a:xfrm>
          <a:prstGeom prst="straightConnector1">
            <a:avLst/>
          </a:prstGeom>
          <a:noFill/>
          <a:ln w="19050" cap="flat" cmpd="sng" algn="ctr">
            <a:solidFill>
              <a:sysClr val="window" lastClr="FFFFFF"/>
            </a:solidFill>
            <a:prstDash val="solid"/>
            <a:headEnd type="arrow"/>
            <a:tailEnd type="arrow"/>
          </a:ln>
          <a:effectLst/>
        </p:spPr>
      </p:cxnSp>
      <p:sp>
        <p:nvSpPr>
          <p:cNvPr id="112" name="Text Box 27">
            <a:extLst>
              <a:ext uri="{FF2B5EF4-FFF2-40B4-BE49-F238E27FC236}">
                <a16:creationId xmlns:a16="http://schemas.microsoft.com/office/drawing/2014/main" id="{ABC20523-B603-2311-5960-5E20055DC194}"/>
              </a:ext>
            </a:extLst>
          </p:cNvPr>
          <p:cNvSpPr txBox="1">
            <a:spLocks noChangeArrowheads="1"/>
          </p:cNvSpPr>
          <p:nvPr/>
        </p:nvSpPr>
        <p:spPr bwMode="auto">
          <a:xfrm>
            <a:off x="11024133" y="3044600"/>
            <a:ext cx="1014367" cy="768800"/>
          </a:xfrm>
          <a:prstGeom prst="rect">
            <a:avLst/>
          </a:prstGeom>
          <a:noFill/>
          <a:ln w="9525" algn="ctr">
            <a:noFill/>
            <a:miter lim="800000"/>
            <a:headEnd/>
            <a:tailEnd/>
          </a:ln>
        </p:spPr>
        <p:txBody>
          <a:bodyPr wrap="square" lIns="0" tIns="0" rIns="0" bIns="0" anchor="ctr">
            <a:spAutoFit/>
          </a:bodyPr>
          <a:lstStyle/>
          <a:p>
            <a:pPr algn="ctr" defTabSz="539080">
              <a:spcBef>
                <a:spcPct val="50000"/>
              </a:spcBef>
              <a:defRPr/>
            </a:pPr>
            <a:r>
              <a:rPr lang="en-US" sz="999" noProof="0">
                <a:solidFill>
                  <a:prstClr val="white"/>
                </a:solidFill>
                <a:cs typeface="Arial" charset="0"/>
              </a:rPr>
              <a:t>Minimal Changes, Superior applications, High Business value</a:t>
            </a:r>
          </a:p>
        </p:txBody>
      </p:sp>
      <p:sp>
        <p:nvSpPr>
          <p:cNvPr id="113" name="Text Box 30">
            <a:extLst>
              <a:ext uri="{FF2B5EF4-FFF2-40B4-BE49-F238E27FC236}">
                <a16:creationId xmlns:a16="http://schemas.microsoft.com/office/drawing/2014/main" id="{765BB546-7E61-49D8-BB29-9D9EB230235C}"/>
              </a:ext>
            </a:extLst>
          </p:cNvPr>
          <p:cNvSpPr txBox="1">
            <a:spLocks noChangeArrowheads="1"/>
          </p:cNvSpPr>
          <p:nvPr/>
        </p:nvSpPr>
        <p:spPr bwMode="auto">
          <a:xfrm>
            <a:off x="6547587" y="3275240"/>
            <a:ext cx="992879" cy="307520"/>
          </a:xfrm>
          <a:prstGeom prst="rect">
            <a:avLst/>
          </a:prstGeom>
          <a:noFill/>
          <a:ln w="9525" algn="ctr">
            <a:noFill/>
            <a:miter lim="800000"/>
            <a:headEnd/>
            <a:tailEnd/>
          </a:ln>
        </p:spPr>
        <p:txBody>
          <a:bodyPr wrap="square" lIns="0" tIns="0" rIns="0" bIns="0" anchor="ctr" anchorCtr="0">
            <a:spAutoFit/>
          </a:bodyPr>
          <a:lstStyle/>
          <a:p>
            <a:pPr algn="ctr" defTabSz="539080">
              <a:defRPr/>
            </a:pPr>
            <a:r>
              <a:rPr lang="en-US" sz="999" noProof="0">
                <a:solidFill>
                  <a:prstClr val="white"/>
                </a:solidFill>
                <a:cs typeface="Arial" charset="0"/>
              </a:rPr>
              <a:t>Sunset, Decommission</a:t>
            </a:r>
          </a:p>
        </p:txBody>
      </p:sp>
      <p:sp>
        <p:nvSpPr>
          <p:cNvPr id="114" name="Text Box 32">
            <a:extLst>
              <a:ext uri="{FF2B5EF4-FFF2-40B4-BE49-F238E27FC236}">
                <a16:creationId xmlns:a16="http://schemas.microsoft.com/office/drawing/2014/main" id="{615CD58B-B5A9-3B25-1943-F873D1D510EB}"/>
              </a:ext>
            </a:extLst>
          </p:cNvPr>
          <p:cNvSpPr txBox="1">
            <a:spLocks noChangeArrowheads="1"/>
          </p:cNvSpPr>
          <p:nvPr/>
        </p:nvSpPr>
        <p:spPr bwMode="auto">
          <a:xfrm>
            <a:off x="7437991" y="5692222"/>
            <a:ext cx="3610297" cy="614397"/>
          </a:xfrm>
          <a:prstGeom prst="rect">
            <a:avLst/>
          </a:prstGeom>
          <a:noFill/>
          <a:ln w="9525" algn="ctr">
            <a:noFill/>
            <a:miter lim="800000"/>
            <a:headEnd/>
            <a:tailEnd/>
          </a:ln>
        </p:spPr>
        <p:txBody>
          <a:bodyPr wrap="square" lIns="32632" rIns="32632" anchor="ctr">
            <a:noAutofit/>
          </a:bodyPr>
          <a:lstStyle/>
          <a:p>
            <a:pPr algn="ctr" defTabSz="539080">
              <a:spcBef>
                <a:spcPct val="50000"/>
              </a:spcBef>
              <a:defRPr/>
            </a:pPr>
            <a:r>
              <a:rPr lang="en-US" sz="1100" b="1" kern="0" noProof="0">
                <a:solidFill>
                  <a:prstClr val="white"/>
                </a:solidFill>
                <a:cs typeface="Arial" charset="0"/>
              </a:rPr>
              <a:t>Comparative Analysis along with Application quality score is used to map application to decide application disposition and future state</a:t>
            </a:r>
          </a:p>
        </p:txBody>
      </p:sp>
      <p:sp>
        <p:nvSpPr>
          <p:cNvPr id="115" name="Left Brace 114">
            <a:extLst>
              <a:ext uri="{FF2B5EF4-FFF2-40B4-BE49-F238E27FC236}">
                <a16:creationId xmlns:a16="http://schemas.microsoft.com/office/drawing/2014/main" id="{3153FDE7-7546-3CD4-F900-C141FED2B35F}"/>
              </a:ext>
            </a:extLst>
          </p:cNvPr>
          <p:cNvSpPr/>
          <p:nvPr/>
        </p:nvSpPr>
        <p:spPr>
          <a:xfrm rot="10800000">
            <a:off x="6269720" y="2451862"/>
            <a:ext cx="157744" cy="3609850"/>
          </a:xfrm>
          <a:prstGeom prst="leftBrace">
            <a:avLst>
              <a:gd name="adj1" fmla="val 40295"/>
              <a:gd name="adj2" fmla="val 50000"/>
            </a:avLst>
          </a:prstGeom>
          <a:noFill/>
          <a:ln w="28575" cap="flat" cmpd="sng" algn="ctr">
            <a:solidFill>
              <a:srgbClr val="6D6E71"/>
            </a:solidFill>
            <a:prstDash val="solid"/>
          </a:ln>
          <a:effectLst/>
        </p:spPr>
        <p:txBody>
          <a:bodyPr anchor="ctr"/>
          <a:lstStyle>
            <a:defPPr>
              <a:defRPr lang="en-GB"/>
            </a:defPPr>
            <a:lvl1pPr marL="216000" indent="-216000" algn="l" defTabSz="685800" rtl="0" eaLnBrk="1" latinLnBrk="0" hangingPunct="1">
              <a:lnSpc>
                <a:spcPct val="103000"/>
              </a:lnSpc>
              <a:spcBef>
                <a:spcPts val="200"/>
              </a:spcBef>
              <a:spcAft>
                <a:spcPts val="200"/>
              </a:spcAft>
              <a:buFont typeface="Wingdings 3" panose="05040102010807070707" pitchFamily="18" charset="2"/>
              <a:buChar char=""/>
              <a:defRPr sz="1400" kern="1200">
                <a:solidFill>
                  <a:schemeClr val="tx1"/>
                </a:solidFill>
                <a:latin typeface="+mn-lt"/>
                <a:ea typeface="+mn-ea"/>
                <a:cs typeface="+mn-cs"/>
              </a:defRPr>
            </a:lvl1pPr>
            <a:lvl2pPr marL="396000" indent="-180000" algn="l" defTabSz="685800" rtl="0" eaLnBrk="1" latinLnBrk="0" hangingPunct="1">
              <a:lnSpc>
                <a:spcPct val="103000"/>
              </a:lnSpc>
              <a:spcBef>
                <a:spcPts val="200"/>
              </a:spcBef>
              <a:spcAft>
                <a:spcPts val="200"/>
              </a:spcAft>
              <a:buFont typeface="Arial" panose="020B0604020202020204" pitchFamily="34" charset="0"/>
              <a:buChar char="•"/>
              <a:defRPr sz="1200" kern="1200">
                <a:solidFill>
                  <a:schemeClr val="tx1"/>
                </a:solidFill>
                <a:latin typeface="+mn-lt"/>
                <a:ea typeface="+mn-ea"/>
                <a:cs typeface="+mn-cs"/>
              </a:defRPr>
            </a:lvl2pPr>
            <a:lvl3pPr marL="558000" indent="-144000" algn="l" defTabSz="685800" rtl="0" eaLnBrk="1" latinLnBrk="0" hangingPunct="1">
              <a:lnSpc>
                <a:spcPct val="103000"/>
              </a:lnSpc>
              <a:spcBef>
                <a:spcPts val="200"/>
              </a:spcBef>
              <a:spcAft>
                <a:spcPts val="200"/>
              </a:spcAft>
              <a:buFont typeface="Arial" panose="020B0604030504040204" pitchFamily="34" charset="0"/>
              <a:buChar char="-"/>
              <a:defRPr sz="1000" kern="1200">
                <a:solidFill>
                  <a:schemeClr val="tx1"/>
                </a:solidFill>
                <a:latin typeface="+mn-lt"/>
                <a:ea typeface="+mn-ea"/>
                <a:cs typeface="+mn-cs"/>
              </a:defRPr>
            </a:lvl3pPr>
            <a:lvl4pPr marL="720000" indent="-144000" algn="l" defTabSz="685800" rtl="0" eaLnBrk="1" latinLnBrk="0" hangingPunct="1">
              <a:lnSpc>
                <a:spcPct val="103000"/>
              </a:lnSpc>
              <a:spcBef>
                <a:spcPts val="200"/>
              </a:spcBef>
              <a:spcAft>
                <a:spcPts val="200"/>
              </a:spcAft>
              <a:buFont typeface="Arial" panose="020B0604030504040204" pitchFamily="34" charset="0"/>
              <a:buChar char="-"/>
              <a:defRPr sz="1000" kern="1200">
                <a:solidFill>
                  <a:schemeClr val="tx1"/>
                </a:solidFill>
                <a:latin typeface="+mn-lt"/>
                <a:ea typeface="+mn-ea"/>
                <a:cs typeface="+mn-cs"/>
              </a:defRPr>
            </a:lvl4pPr>
            <a:lvl5pPr marL="882000" indent="-144000" algn="l" defTabSz="685800" rtl="0" eaLnBrk="1" latinLnBrk="0" hangingPunct="1">
              <a:lnSpc>
                <a:spcPct val="103000"/>
              </a:lnSpc>
              <a:spcBef>
                <a:spcPts val="200"/>
              </a:spcBef>
              <a:spcAft>
                <a:spcPts val="200"/>
              </a:spcAft>
              <a:buFont typeface="Arial" panose="020B0604030504040204" pitchFamily="34" charset="0"/>
              <a:buChar char="-"/>
              <a:defRPr sz="1000" kern="1200">
                <a:solidFill>
                  <a:schemeClr val="tx1"/>
                </a:solidFill>
                <a:latin typeface="+mn-lt"/>
                <a:ea typeface="+mn-ea"/>
                <a:cs typeface="+mn-cs"/>
              </a:defRPr>
            </a:lvl5pPr>
            <a:lvl6pPr marL="1044000" indent="-144000" algn="l" defTabSz="685800" rtl="0" eaLnBrk="1" latinLnBrk="0" hangingPunct="1">
              <a:lnSpc>
                <a:spcPct val="103000"/>
              </a:lnSpc>
              <a:spcBef>
                <a:spcPts val="200"/>
              </a:spcBef>
              <a:spcAft>
                <a:spcPts val="200"/>
              </a:spcAft>
              <a:buFont typeface="Arial" panose="020B0604020202020204" pitchFamily="34" charset="0"/>
              <a:buChar char="-"/>
              <a:defRPr sz="1000" kern="1200">
                <a:solidFill>
                  <a:schemeClr val="tx1"/>
                </a:solidFill>
                <a:latin typeface="+mn-lt"/>
                <a:ea typeface="+mn-ea"/>
                <a:cs typeface="+mn-cs"/>
              </a:defRPr>
            </a:lvl6pPr>
            <a:lvl7pPr marL="1206000" indent="-144000" algn="l" defTabSz="685800" rtl="0" eaLnBrk="1" latinLnBrk="0" hangingPunct="1">
              <a:lnSpc>
                <a:spcPct val="103000"/>
              </a:lnSpc>
              <a:spcBef>
                <a:spcPts val="200"/>
              </a:spcBef>
              <a:spcAft>
                <a:spcPts val="200"/>
              </a:spcAft>
              <a:buFont typeface="Arial" panose="020B0604020202020204" pitchFamily="34" charset="0"/>
              <a:buChar char="-"/>
              <a:defRPr sz="1000" kern="1200">
                <a:solidFill>
                  <a:schemeClr val="tx1"/>
                </a:solidFill>
                <a:latin typeface="+mn-lt"/>
                <a:ea typeface="+mn-ea"/>
                <a:cs typeface="+mn-cs"/>
              </a:defRPr>
            </a:lvl7pPr>
            <a:lvl8pPr marL="1368000" indent="-144000" algn="l" defTabSz="685800" rtl="0" eaLnBrk="1" latinLnBrk="0" hangingPunct="1">
              <a:lnSpc>
                <a:spcPct val="103000"/>
              </a:lnSpc>
              <a:spcBef>
                <a:spcPts val="200"/>
              </a:spcBef>
              <a:spcAft>
                <a:spcPts val="200"/>
              </a:spcAft>
              <a:buFont typeface="Arial" panose="020B0604020202020204" pitchFamily="34" charset="0"/>
              <a:buChar char="-"/>
              <a:defRPr sz="1000" kern="1200">
                <a:solidFill>
                  <a:schemeClr val="tx1"/>
                </a:solidFill>
                <a:latin typeface="+mn-lt"/>
                <a:ea typeface="+mn-ea"/>
                <a:cs typeface="+mn-cs"/>
              </a:defRPr>
            </a:lvl8pPr>
            <a:lvl9pPr marL="1530000" indent="-144000" algn="l" defTabSz="685800" rtl="0" eaLnBrk="1" latinLnBrk="0" hangingPunct="1">
              <a:lnSpc>
                <a:spcPct val="103000"/>
              </a:lnSpc>
              <a:spcBef>
                <a:spcPts val="200"/>
              </a:spcBef>
              <a:spcAft>
                <a:spcPts val="200"/>
              </a:spcAft>
              <a:buFont typeface="Arial" panose="020B0604020202020204" pitchFamily="34" charset="0"/>
              <a:buChar char="-"/>
              <a:defRPr sz="1000" kern="1200">
                <a:solidFill>
                  <a:schemeClr val="tx1"/>
                </a:solidFill>
                <a:latin typeface="+mn-lt"/>
                <a:ea typeface="+mn-ea"/>
                <a:cs typeface="+mn-cs"/>
              </a:defRPr>
            </a:lvl9pPr>
          </a:lstStyle>
          <a:p>
            <a:pPr marL="0" indent="0" algn="ctr" defTabSz="914400">
              <a:lnSpc>
                <a:spcPct val="100000"/>
              </a:lnSpc>
              <a:spcBef>
                <a:spcPts val="0"/>
              </a:spcBef>
              <a:spcAft>
                <a:spcPts val="0"/>
              </a:spcAft>
              <a:buFont typeface="Wingdings 3" panose="05040102010807070707" pitchFamily="18" charset="2"/>
              <a:buNone/>
              <a:defRPr/>
            </a:pPr>
            <a:endParaRPr lang="en-US" kern="0" noProof="0">
              <a:solidFill>
                <a:prstClr val="black"/>
              </a:solidFill>
            </a:endParaRPr>
          </a:p>
        </p:txBody>
      </p:sp>
      <p:sp>
        <p:nvSpPr>
          <p:cNvPr id="116" name="Title 1">
            <a:extLst>
              <a:ext uri="{FF2B5EF4-FFF2-40B4-BE49-F238E27FC236}">
                <a16:creationId xmlns:a16="http://schemas.microsoft.com/office/drawing/2014/main" id="{F4264A11-6253-97F1-8EA0-EB3761245895}"/>
              </a:ext>
            </a:extLst>
          </p:cNvPr>
          <p:cNvSpPr txBox="1">
            <a:spLocks/>
          </p:cNvSpPr>
          <p:nvPr/>
        </p:nvSpPr>
        <p:spPr>
          <a:xfrm>
            <a:off x="490940" y="846636"/>
            <a:ext cx="11479508" cy="5110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br>
              <a:rPr kumimoji="0" lang="en-US" sz="1200" b="0" i="0" u="none" strike="noStrike" kern="1200" cap="none" spc="0" normalizeH="0" baseline="0" noProof="0">
                <a:ln>
                  <a:noFill/>
                </a:ln>
                <a:solidFill>
                  <a:sysClr val="window" lastClr="FFFFFF"/>
                </a:solidFill>
                <a:effectLst/>
                <a:uLnTx/>
                <a:uFillTx/>
                <a:latin typeface="+mn-lt"/>
                <a:ea typeface="+mj-ea"/>
                <a:cs typeface="+mj-cs"/>
              </a:rPr>
            </a:br>
            <a:r>
              <a:rPr kumimoji="0" lang="en-US" sz="1200" b="0" i="0" u="none" strike="noStrike" kern="1200" cap="none" spc="0" normalizeH="0" baseline="0" noProof="0">
                <a:ln>
                  <a:noFill/>
                </a:ln>
                <a:solidFill>
                  <a:sysClr val="window" lastClr="FFFFFF"/>
                </a:solidFill>
                <a:effectLst/>
                <a:uLnTx/>
                <a:uFillTx/>
                <a:latin typeface="+mn-lt"/>
                <a:ea typeface="+mj-ea"/>
                <a:cs typeface="+mj-cs"/>
              </a:rPr>
              <a:t>Methodology is centered towards finalization of key drivers which will help to consolidate, simplify &amp; modernize Apps landscape  across Business Lines. Modernization assessment will be based  4- point framework guiding towards Apps Retirals, Retention, Replacement or Re-Engineering to improve CX, reduce technical debt &amp; overall costs. </a:t>
            </a:r>
          </a:p>
        </p:txBody>
      </p:sp>
      <p:sp>
        <p:nvSpPr>
          <p:cNvPr id="117" name="Rectangle 116">
            <a:extLst>
              <a:ext uri="{FF2B5EF4-FFF2-40B4-BE49-F238E27FC236}">
                <a16:creationId xmlns:a16="http://schemas.microsoft.com/office/drawing/2014/main" id="{B33D6454-97CE-A480-54FC-99F51277948F}"/>
              </a:ext>
            </a:extLst>
          </p:cNvPr>
          <p:cNvSpPr/>
          <p:nvPr/>
        </p:nvSpPr>
        <p:spPr>
          <a:xfrm>
            <a:off x="7634036" y="2115436"/>
            <a:ext cx="3181778" cy="432594"/>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53908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cs typeface="Arial" charset="0"/>
              </a:rPr>
              <a:t>Assessment Framework</a:t>
            </a:r>
            <a:endParaRPr lang="en-US" sz="1200" b="1" kern="0" noProof="0">
              <a:solidFill>
                <a:prstClr val="white"/>
              </a:solidFill>
              <a:cs typeface="Arial" charset="0"/>
            </a:endParaRPr>
          </a:p>
          <a:p>
            <a:pPr marL="0" marR="0" lvl="0" indent="0" algn="ctr" defTabSz="539080" eaLnBrk="1" fontAlgn="auto" latinLnBrk="0" hangingPunct="1">
              <a:lnSpc>
                <a:spcPct val="100000"/>
              </a:lnSpc>
              <a:spcBef>
                <a:spcPts val="0"/>
              </a:spcBef>
              <a:spcAft>
                <a:spcPts val="0"/>
              </a:spcAft>
              <a:buClrTx/>
              <a:buSzTx/>
              <a:buFontTx/>
              <a:buNone/>
              <a:tabLst/>
              <a:defRPr/>
            </a:pPr>
            <a:r>
              <a:rPr lang="en-US" sz="1100" b="1" kern="0" noProof="0">
                <a:solidFill>
                  <a:prstClr val="white"/>
                </a:solidFill>
                <a:cs typeface="Arial" charset="0"/>
              </a:rPr>
              <a:t>( will drive the Transformation Outcomes</a:t>
            </a:r>
            <a:r>
              <a:rPr lang="en-US" sz="1200" b="1" kern="0" noProof="0">
                <a:solidFill>
                  <a:prstClr val="white"/>
                </a:solidFill>
                <a:cs typeface="Arial" charset="0"/>
              </a:rPr>
              <a:t>)</a:t>
            </a:r>
            <a:endParaRPr kumimoji="0" lang="en-US" sz="1400" b="1" i="0" u="none" strike="noStrike" kern="0" cap="none" spc="0" normalizeH="0" baseline="0" noProof="0">
              <a:ln>
                <a:noFill/>
              </a:ln>
              <a:solidFill>
                <a:prstClr val="white"/>
              </a:solidFill>
              <a:effectLst/>
              <a:uLnTx/>
              <a:uFillTx/>
              <a:cs typeface="Arial" charset="0"/>
            </a:endParaRPr>
          </a:p>
        </p:txBody>
      </p:sp>
    </p:spTree>
    <p:extLst>
      <p:ext uri="{BB962C8B-B14F-4D97-AF65-F5344CB8AC3E}">
        <p14:creationId xmlns:p14="http://schemas.microsoft.com/office/powerpoint/2010/main" val="2098747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25A75B7-E3A4-3169-0219-22E2484B1994}"/>
              </a:ext>
            </a:extLst>
          </p:cNvPr>
          <p:cNvSpPr/>
          <p:nvPr/>
        </p:nvSpPr>
        <p:spPr>
          <a:xfrm>
            <a:off x="6789421" y="1174903"/>
            <a:ext cx="4814315" cy="37496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err="1"/>
          </a:p>
        </p:txBody>
      </p:sp>
      <p:sp>
        <p:nvSpPr>
          <p:cNvPr id="23" name="Rectangle 22">
            <a:extLst>
              <a:ext uri="{FF2B5EF4-FFF2-40B4-BE49-F238E27FC236}">
                <a16:creationId xmlns:a16="http://schemas.microsoft.com/office/drawing/2014/main" id="{5FF359B1-7641-81F3-6A3E-FD498ED7759A}"/>
              </a:ext>
            </a:extLst>
          </p:cNvPr>
          <p:cNvSpPr/>
          <p:nvPr/>
        </p:nvSpPr>
        <p:spPr>
          <a:xfrm>
            <a:off x="1847088" y="1205488"/>
            <a:ext cx="4814315" cy="37198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err="1"/>
          </a:p>
        </p:txBody>
      </p:sp>
      <p:sp>
        <p:nvSpPr>
          <p:cNvPr id="2" name="Title 1">
            <a:extLst>
              <a:ext uri="{FF2B5EF4-FFF2-40B4-BE49-F238E27FC236}">
                <a16:creationId xmlns:a16="http://schemas.microsoft.com/office/drawing/2014/main" id="{27DB2C80-7DE6-DA26-6B10-94256440C713}"/>
              </a:ext>
            </a:extLst>
          </p:cNvPr>
          <p:cNvSpPr>
            <a:spLocks noGrp="1"/>
          </p:cNvSpPr>
          <p:nvPr>
            <p:ph type="title"/>
          </p:nvPr>
        </p:nvSpPr>
        <p:spPr>
          <a:xfrm>
            <a:off x="231077" y="109191"/>
            <a:ext cx="10947772" cy="716711"/>
          </a:xfrm>
        </p:spPr>
        <p:txBody>
          <a:bodyPr/>
          <a:lstStyle/>
          <a:p>
            <a:r>
              <a:rPr lang="en-US"/>
              <a:t>Overview of onshore-offshore collaboration for efficient  program delivery​</a:t>
            </a:r>
            <a:endParaRPr lang="en-IN"/>
          </a:p>
        </p:txBody>
      </p:sp>
      <p:sp>
        <p:nvSpPr>
          <p:cNvPr id="4" name="Rectangle 3">
            <a:extLst>
              <a:ext uri="{FF2B5EF4-FFF2-40B4-BE49-F238E27FC236}">
                <a16:creationId xmlns:a16="http://schemas.microsoft.com/office/drawing/2014/main" id="{80D4283F-8A46-489A-B901-8B83837AEE29}"/>
              </a:ext>
            </a:extLst>
          </p:cNvPr>
          <p:cNvSpPr/>
          <p:nvPr/>
        </p:nvSpPr>
        <p:spPr>
          <a:xfrm>
            <a:off x="1847088" y="807615"/>
            <a:ext cx="4800600" cy="39050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Onshore Team</a:t>
            </a:r>
            <a:endParaRPr lang="en-IN" sz="1200" err="1"/>
          </a:p>
        </p:txBody>
      </p:sp>
      <p:sp>
        <p:nvSpPr>
          <p:cNvPr id="5" name="Rectangle 4">
            <a:extLst>
              <a:ext uri="{FF2B5EF4-FFF2-40B4-BE49-F238E27FC236}">
                <a16:creationId xmlns:a16="http://schemas.microsoft.com/office/drawing/2014/main" id="{E5647CE8-2A9A-4BCB-256C-C9CE2409EF06}"/>
              </a:ext>
            </a:extLst>
          </p:cNvPr>
          <p:cNvSpPr/>
          <p:nvPr/>
        </p:nvSpPr>
        <p:spPr>
          <a:xfrm>
            <a:off x="6803136" y="790854"/>
            <a:ext cx="4800600" cy="39050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Offshore Team</a:t>
            </a:r>
            <a:endParaRPr lang="en-IN" sz="1200" err="1"/>
          </a:p>
        </p:txBody>
      </p:sp>
      <p:sp>
        <p:nvSpPr>
          <p:cNvPr id="7" name="TextBox 6">
            <a:extLst>
              <a:ext uri="{FF2B5EF4-FFF2-40B4-BE49-F238E27FC236}">
                <a16:creationId xmlns:a16="http://schemas.microsoft.com/office/drawing/2014/main" id="{36062951-17C8-DAAD-2209-7D8F3D35A38F}"/>
              </a:ext>
            </a:extLst>
          </p:cNvPr>
          <p:cNvSpPr txBox="1"/>
          <p:nvPr/>
        </p:nvSpPr>
        <p:spPr>
          <a:xfrm>
            <a:off x="6830568" y="1265967"/>
            <a:ext cx="4773168" cy="57708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285750" indent="-285750">
              <a:buFont typeface="Arial" panose="020B0604020202020204" pitchFamily="34" charset="0"/>
              <a:buChar char="•"/>
            </a:pPr>
            <a:r>
              <a:rPr lang="en-US" sz="1050">
                <a:solidFill>
                  <a:schemeClr val="tx1"/>
                </a:solidFill>
                <a:latin typeface="Public Sans"/>
              </a:rPr>
              <a:t>Create Stakeholder list</a:t>
            </a:r>
          </a:p>
          <a:p>
            <a:pPr marL="285750" indent="-285750">
              <a:buFont typeface="Arial" panose="020B0604020202020204" pitchFamily="34" charset="0"/>
              <a:buChar char="•"/>
            </a:pPr>
            <a:r>
              <a:rPr lang="en-US" sz="1050">
                <a:solidFill>
                  <a:schemeClr val="tx1"/>
                </a:solidFill>
                <a:latin typeface="Public Sans"/>
              </a:rPr>
              <a:t>Prepare templates</a:t>
            </a:r>
          </a:p>
          <a:p>
            <a:pPr marL="285750" indent="-285750">
              <a:buFont typeface="Arial" panose="020B0604020202020204" pitchFamily="34" charset="0"/>
              <a:buChar char="•"/>
            </a:pPr>
            <a:r>
              <a:rPr lang="en-US" sz="1050">
                <a:solidFill>
                  <a:schemeClr val="tx1"/>
                </a:solidFill>
                <a:latin typeface="Public Sans"/>
              </a:rPr>
              <a:t>Reviews, daily stand-up meeting &amp; cadences with Onshore</a:t>
            </a:r>
          </a:p>
        </p:txBody>
      </p:sp>
      <p:sp>
        <p:nvSpPr>
          <p:cNvPr id="10" name="TextBox 9">
            <a:extLst>
              <a:ext uri="{FF2B5EF4-FFF2-40B4-BE49-F238E27FC236}">
                <a16:creationId xmlns:a16="http://schemas.microsoft.com/office/drawing/2014/main" id="{E201BA08-C0E7-F523-A105-5017A0529A72}"/>
              </a:ext>
            </a:extLst>
          </p:cNvPr>
          <p:cNvSpPr txBox="1"/>
          <p:nvPr/>
        </p:nvSpPr>
        <p:spPr>
          <a:xfrm>
            <a:off x="6803137" y="4188426"/>
            <a:ext cx="4800599" cy="67710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285750" lvl="0" indent="-285750">
              <a:spcAft>
                <a:spcPts val="300"/>
              </a:spcAft>
              <a:buFont typeface="Arial" panose="020B0604020202020204" pitchFamily="34" charset="0"/>
              <a:buChar char="•"/>
              <a:defRPr/>
            </a:pPr>
            <a:r>
              <a:rPr lang="en-US" sz="1050">
                <a:solidFill>
                  <a:schemeClr val="tx1"/>
                </a:solidFill>
                <a:latin typeface="Public Sans"/>
              </a:rPr>
              <a:t>Management of vendor Q&amp;A and clarifications</a:t>
            </a:r>
          </a:p>
          <a:p>
            <a:pPr marL="285750" lvl="0" indent="-285750">
              <a:spcAft>
                <a:spcPts val="300"/>
              </a:spcAft>
              <a:buFont typeface="Arial" panose="020B0604020202020204" pitchFamily="34" charset="0"/>
              <a:buChar char="•"/>
              <a:defRPr/>
            </a:pPr>
            <a:r>
              <a:rPr lang="en-US" sz="1050">
                <a:solidFill>
                  <a:schemeClr val="tx1"/>
                </a:solidFill>
                <a:latin typeface="Public Sans"/>
              </a:rPr>
              <a:t>Coordination of technical defenses and proof-of-concept</a:t>
            </a:r>
          </a:p>
          <a:p>
            <a:pPr marL="285750" indent="-285750">
              <a:spcAft>
                <a:spcPts val="300"/>
              </a:spcAft>
              <a:buFont typeface="Arial" panose="020B0604020202020204" pitchFamily="34" charset="0"/>
              <a:buChar char="•"/>
              <a:defRPr/>
            </a:pPr>
            <a:r>
              <a:rPr lang="en-US" sz="1050">
                <a:solidFill>
                  <a:schemeClr val="tx1"/>
                </a:solidFill>
                <a:latin typeface="Public Sans"/>
              </a:rPr>
              <a:t>Recommendations for sequencing replacements / upgrades</a:t>
            </a:r>
          </a:p>
        </p:txBody>
      </p:sp>
      <p:sp>
        <p:nvSpPr>
          <p:cNvPr id="11" name="Arrow: Right 10">
            <a:extLst>
              <a:ext uri="{FF2B5EF4-FFF2-40B4-BE49-F238E27FC236}">
                <a16:creationId xmlns:a16="http://schemas.microsoft.com/office/drawing/2014/main" id="{9424C6D1-3B15-EEFC-E6E9-999E4A17072D}"/>
              </a:ext>
            </a:extLst>
          </p:cNvPr>
          <p:cNvSpPr/>
          <p:nvPr/>
        </p:nvSpPr>
        <p:spPr>
          <a:xfrm>
            <a:off x="118872" y="1396000"/>
            <a:ext cx="1545336" cy="62179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Discover</a:t>
            </a:r>
            <a:endParaRPr lang="en-IN" sz="1000" err="1"/>
          </a:p>
        </p:txBody>
      </p:sp>
      <p:sp>
        <p:nvSpPr>
          <p:cNvPr id="12" name="Arrow: Right 11">
            <a:extLst>
              <a:ext uri="{FF2B5EF4-FFF2-40B4-BE49-F238E27FC236}">
                <a16:creationId xmlns:a16="http://schemas.microsoft.com/office/drawing/2014/main" id="{1FE46EBD-CE64-D210-F0C9-3B4810C2EAD2}"/>
              </a:ext>
            </a:extLst>
          </p:cNvPr>
          <p:cNvSpPr/>
          <p:nvPr/>
        </p:nvSpPr>
        <p:spPr>
          <a:xfrm>
            <a:off x="118872" y="2333653"/>
            <a:ext cx="1545336" cy="62179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Evaluate and Create</a:t>
            </a:r>
            <a:endParaRPr lang="en-IN" sz="1000" err="1"/>
          </a:p>
        </p:txBody>
      </p:sp>
      <p:sp>
        <p:nvSpPr>
          <p:cNvPr id="13" name="Arrow: Right 12">
            <a:extLst>
              <a:ext uri="{FF2B5EF4-FFF2-40B4-BE49-F238E27FC236}">
                <a16:creationId xmlns:a16="http://schemas.microsoft.com/office/drawing/2014/main" id="{A0683748-E4F7-7D84-FE7F-287E02E99163}"/>
              </a:ext>
            </a:extLst>
          </p:cNvPr>
          <p:cNvSpPr/>
          <p:nvPr/>
        </p:nvSpPr>
        <p:spPr>
          <a:xfrm>
            <a:off x="118872" y="3223027"/>
            <a:ext cx="1545336" cy="62179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Recommend</a:t>
            </a:r>
            <a:endParaRPr lang="en-IN" sz="1100" err="1"/>
          </a:p>
        </p:txBody>
      </p:sp>
      <p:sp>
        <p:nvSpPr>
          <p:cNvPr id="14" name="TextBox 13">
            <a:extLst>
              <a:ext uri="{FF2B5EF4-FFF2-40B4-BE49-F238E27FC236}">
                <a16:creationId xmlns:a16="http://schemas.microsoft.com/office/drawing/2014/main" id="{045B4128-F07F-1031-9B64-94A51625C5DC}"/>
              </a:ext>
            </a:extLst>
          </p:cNvPr>
          <p:cNvSpPr txBox="1"/>
          <p:nvPr/>
        </p:nvSpPr>
        <p:spPr>
          <a:xfrm>
            <a:off x="1847088" y="2128731"/>
            <a:ext cx="4800600" cy="1061829"/>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285750" indent="-285750">
              <a:buFont typeface="Arial" panose="020B0604020202020204" pitchFamily="34" charset="0"/>
              <a:buChar char="•"/>
            </a:pPr>
            <a:r>
              <a:rPr lang="en-US" sz="1050">
                <a:solidFill>
                  <a:schemeClr val="tx1"/>
                </a:solidFill>
                <a:latin typeface="Public Sans"/>
              </a:rPr>
              <a:t>Agree and approve the deliverables</a:t>
            </a:r>
          </a:p>
          <a:p>
            <a:pPr marL="285750" indent="-285750">
              <a:buFont typeface="Arial" panose="020B0604020202020204" pitchFamily="34" charset="0"/>
              <a:buChar char="•"/>
            </a:pPr>
            <a:r>
              <a:rPr lang="en-US" sz="1050">
                <a:solidFill>
                  <a:schemeClr val="tx1"/>
                </a:solidFill>
                <a:latin typeface="Public Sans"/>
              </a:rPr>
              <a:t>Assist the market scan of vendors with location specific view</a:t>
            </a:r>
          </a:p>
          <a:p>
            <a:pPr marL="285750" indent="-285750">
              <a:buFont typeface="Arial" panose="020B0604020202020204" pitchFamily="34" charset="0"/>
              <a:buChar char="•"/>
            </a:pPr>
            <a:r>
              <a:rPr lang="en-US" sz="1050">
                <a:solidFill>
                  <a:schemeClr val="tx1"/>
                </a:solidFill>
                <a:latin typeface="Public Sans"/>
              </a:rPr>
              <a:t>Review the draft RFP and </a:t>
            </a:r>
          </a:p>
          <a:p>
            <a:pPr marL="285750" indent="-285750">
              <a:buFont typeface="Arial" panose="020B0604020202020204" pitchFamily="34" charset="0"/>
              <a:buChar char="•"/>
            </a:pPr>
            <a:r>
              <a:rPr lang="en-US" sz="1050">
                <a:solidFill>
                  <a:schemeClr val="tx1"/>
                </a:solidFill>
                <a:latin typeface="Public Sans"/>
              </a:rPr>
              <a:t>Approve the proposed TCO model and Business case proposed</a:t>
            </a:r>
          </a:p>
          <a:p>
            <a:pPr marL="285750" indent="-285750">
              <a:buFont typeface="Arial" panose="020B0604020202020204" pitchFamily="34" charset="0"/>
              <a:buChar char="•"/>
            </a:pPr>
            <a:endParaRPr lang="en-US" sz="1050">
              <a:solidFill>
                <a:schemeClr val="tx1"/>
              </a:solidFill>
              <a:latin typeface="Public Sans"/>
            </a:endParaRPr>
          </a:p>
          <a:p>
            <a:pPr marL="285750" indent="-285750">
              <a:buFont typeface="Arial" panose="020B0604020202020204" pitchFamily="34" charset="0"/>
              <a:buChar char="•"/>
            </a:pPr>
            <a:endParaRPr lang="en-US" sz="1050">
              <a:solidFill>
                <a:schemeClr val="tx1"/>
              </a:solidFill>
              <a:latin typeface="Public Sans"/>
            </a:endParaRPr>
          </a:p>
        </p:txBody>
      </p:sp>
      <p:sp>
        <p:nvSpPr>
          <p:cNvPr id="15" name="TextBox 14">
            <a:extLst>
              <a:ext uri="{FF2B5EF4-FFF2-40B4-BE49-F238E27FC236}">
                <a16:creationId xmlns:a16="http://schemas.microsoft.com/office/drawing/2014/main" id="{3296C40F-B9E0-554D-B540-D3B7FFF89924}"/>
              </a:ext>
            </a:extLst>
          </p:cNvPr>
          <p:cNvSpPr txBox="1"/>
          <p:nvPr/>
        </p:nvSpPr>
        <p:spPr>
          <a:xfrm>
            <a:off x="1847088" y="1274417"/>
            <a:ext cx="4800600" cy="738664"/>
          </a:xfrm>
          <a:prstGeom prst="rect">
            <a:avLst/>
          </a:prstGeom>
        </p:spPr>
        <p:style>
          <a:lnRef idx="1">
            <a:schemeClr val="accent2"/>
          </a:lnRef>
          <a:fillRef idx="2">
            <a:schemeClr val="accent2"/>
          </a:fillRef>
          <a:effectRef idx="1">
            <a:schemeClr val="accent2"/>
          </a:effectRef>
          <a:fontRef idx="minor">
            <a:schemeClr val="dk1"/>
          </a:fontRef>
        </p:style>
        <p:txBody>
          <a:bodyPr wrap="square" lIns="91440" tIns="45720" rIns="91440" bIns="45720" anchor="t">
            <a:spAutoFit/>
          </a:bodyPr>
          <a:lstStyle/>
          <a:p>
            <a:pPr marL="285750" indent="-285750">
              <a:buFont typeface="Arial" panose="020B0604020202020204" pitchFamily="34" charset="0"/>
              <a:buChar char="•"/>
            </a:pPr>
            <a:r>
              <a:rPr lang="en-US" sz="1050">
                <a:solidFill>
                  <a:schemeClr val="tx1"/>
                </a:solidFill>
                <a:latin typeface="Public Sans"/>
              </a:rPr>
              <a:t>C</a:t>
            </a:r>
            <a:r>
              <a:rPr lang="en-US" sz="1050" b="0" i="0" u="none" strike="noStrike">
                <a:solidFill>
                  <a:schemeClr val="tx1"/>
                </a:solidFill>
                <a:effectLst/>
                <a:latin typeface="Public Sans"/>
              </a:rPr>
              <a:t>onducting works</a:t>
            </a:r>
            <a:r>
              <a:rPr lang="en-US" sz="1050">
                <a:solidFill>
                  <a:schemeClr val="tx1"/>
                </a:solidFill>
                <a:latin typeface="Public Sans"/>
              </a:rPr>
              <a:t>hops roles, gathering documents and other artefacts in line with pre-agreed timelines and milestone schedule</a:t>
            </a:r>
          </a:p>
          <a:p>
            <a:pPr marL="285750" indent="-285750">
              <a:buFont typeface="Arial" panose="020B0604020202020204" pitchFamily="34" charset="0"/>
              <a:buChar char="•"/>
            </a:pPr>
            <a:r>
              <a:rPr lang="en-US" sz="1050">
                <a:solidFill>
                  <a:schemeClr val="tx1"/>
                </a:solidFill>
                <a:latin typeface="Public Sans"/>
              </a:rPr>
              <a:t>E</a:t>
            </a:r>
            <a:r>
              <a:rPr lang="en-US" sz="1050" b="0" i="0" u="none" strike="noStrike">
                <a:solidFill>
                  <a:schemeClr val="tx1"/>
                </a:solidFill>
                <a:effectLst/>
                <a:latin typeface="Public Sans"/>
              </a:rPr>
              <a:t>ngaging stakeholders effectively across language barriers</a:t>
            </a:r>
            <a:endParaRPr lang="en-US" sz="1050">
              <a:solidFill>
                <a:schemeClr val="tx1"/>
              </a:solidFill>
              <a:latin typeface="Public Sans"/>
            </a:endParaRPr>
          </a:p>
          <a:p>
            <a:pPr marL="285750" indent="-285750">
              <a:buFont typeface="Arial" panose="020B0604020202020204" pitchFamily="34" charset="0"/>
              <a:buChar char="•"/>
            </a:pPr>
            <a:r>
              <a:rPr lang="en-US" sz="1050" b="0" i="0" u="none" strike="noStrike">
                <a:solidFill>
                  <a:schemeClr val="tx1"/>
                </a:solidFill>
                <a:effectLst/>
                <a:latin typeface="Public Sans"/>
              </a:rPr>
              <a:t>Ensuring strategic governance across the program</a:t>
            </a:r>
            <a:endParaRPr lang="en-IN" sz="1050">
              <a:solidFill>
                <a:schemeClr val="tx1"/>
              </a:solidFill>
              <a:latin typeface="Public Sans"/>
            </a:endParaRPr>
          </a:p>
        </p:txBody>
      </p:sp>
      <p:sp>
        <p:nvSpPr>
          <p:cNvPr id="17" name="TextBox 16">
            <a:extLst>
              <a:ext uri="{FF2B5EF4-FFF2-40B4-BE49-F238E27FC236}">
                <a16:creationId xmlns:a16="http://schemas.microsoft.com/office/drawing/2014/main" id="{CD15540E-159F-F322-7FC5-8F883A5C3D5F}"/>
              </a:ext>
            </a:extLst>
          </p:cNvPr>
          <p:cNvSpPr txBox="1"/>
          <p:nvPr/>
        </p:nvSpPr>
        <p:spPr>
          <a:xfrm>
            <a:off x="6803135" y="2152904"/>
            <a:ext cx="4814315" cy="1061829"/>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285750" indent="-285750">
              <a:buFont typeface="Arial" panose="020B0604020202020204" pitchFamily="34" charset="0"/>
              <a:buChar char="•"/>
            </a:pPr>
            <a:r>
              <a:rPr lang="en-US" sz="1050">
                <a:solidFill>
                  <a:schemeClr val="tx1"/>
                </a:solidFill>
                <a:latin typeface="Public Sans"/>
              </a:rPr>
              <a:t>Create TM based future assessment framework</a:t>
            </a:r>
          </a:p>
          <a:p>
            <a:pPr marL="285750" indent="-285750">
              <a:buFont typeface="Arial" panose="020B0604020202020204" pitchFamily="34" charset="0"/>
              <a:buChar char="•"/>
            </a:pPr>
            <a:r>
              <a:rPr lang="en-US" sz="1050">
                <a:solidFill>
                  <a:schemeClr val="tx1"/>
                </a:solidFill>
                <a:latin typeface="Public Sans"/>
              </a:rPr>
              <a:t>Market scan of OSS/BSS vendors and evaluation and documentation of pre-qualified vendors</a:t>
            </a:r>
          </a:p>
          <a:p>
            <a:pPr marL="285750" indent="-285750">
              <a:buFont typeface="Arial" panose="020B0604020202020204" pitchFamily="34" charset="0"/>
              <a:buChar char="•"/>
            </a:pPr>
            <a:r>
              <a:rPr lang="en-US" sz="1050">
                <a:solidFill>
                  <a:schemeClr val="tx1"/>
                </a:solidFill>
                <a:latin typeface="Public Sans"/>
              </a:rPr>
              <a:t>Drafting of the RFP technical sections </a:t>
            </a:r>
          </a:p>
          <a:p>
            <a:pPr marL="285750" indent="-285750" fontAlgn="ctr">
              <a:buFont typeface="Arial" panose="020B0604020202020204" pitchFamily="34" charset="0"/>
              <a:buChar char="•"/>
            </a:pPr>
            <a:r>
              <a:rPr lang="en-US" sz="1050">
                <a:solidFill>
                  <a:schemeClr val="tx1"/>
                </a:solidFill>
                <a:latin typeface="Public Sans"/>
              </a:rPr>
              <a:t>Detailed TCO model for proposed solutions</a:t>
            </a:r>
            <a:endParaRPr lang="en-IN" sz="1050">
              <a:solidFill>
                <a:schemeClr val="tx1"/>
              </a:solidFill>
              <a:latin typeface="Public Sans"/>
            </a:endParaRPr>
          </a:p>
          <a:p>
            <a:pPr marL="285750" indent="-285750" fontAlgn="ctr">
              <a:buFont typeface="Arial" panose="020B0604020202020204" pitchFamily="34" charset="0"/>
              <a:buChar char="•"/>
            </a:pPr>
            <a:r>
              <a:rPr lang="en-US" sz="1050">
                <a:solidFill>
                  <a:schemeClr val="tx1"/>
                </a:solidFill>
                <a:latin typeface="Public Sans"/>
              </a:rPr>
              <a:t>Comparative analysis of as-is </a:t>
            </a:r>
            <a:r>
              <a:rPr lang="en-US" sz="1050" err="1">
                <a:solidFill>
                  <a:schemeClr val="tx1"/>
                </a:solidFill>
                <a:latin typeface="Public Sans"/>
              </a:rPr>
              <a:t>OpEx</a:t>
            </a:r>
            <a:r>
              <a:rPr lang="en-US" sz="1050">
                <a:solidFill>
                  <a:schemeClr val="tx1"/>
                </a:solidFill>
                <a:latin typeface="Public Sans"/>
              </a:rPr>
              <a:t> vs. projected </a:t>
            </a:r>
            <a:r>
              <a:rPr lang="en-US" sz="1050" err="1">
                <a:solidFill>
                  <a:schemeClr val="tx1"/>
                </a:solidFill>
                <a:latin typeface="Public Sans"/>
              </a:rPr>
              <a:t>OpEx</a:t>
            </a:r>
            <a:endParaRPr lang="en-IN" sz="1100"/>
          </a:p>
        </p:txBody>
      </p:sp>
      <p:sp>
        <p:nvSpPr>
          <p:cNvPr id="18" name="TextBox 17">
            <a:extLst>
              <a:ext uri="{FF2B5EF4-FFF2-40B4-BE49-F238E27FC236}">
                <a16:creationId xmlns:a16="http://schemas.microsoft.com/office/drawing/2014/main" id="{096F02BB-4432-0D93-8FCB-85FE560DC75D}"/>
              </a:ext>
            </a:extLst>
          </p:cNvPr>
          <p:cNvSpPr txBox="1"/>
          <p:nvPr/>
        </p:nvSpPr>
        <p:spPr>
          <a:xfrm>
            <a:off x="1847088" y="3400776"/>
            <a:ext cx="4800600" cy="57708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285750" indent="-285750">
              <a:buFont typeface="Arial" panose="020B0604020202020204" pitchFamily="34" charset="0"/>
              <a:buChar char="•"/>
            </a:pPr>
            <a:r>
              <a:rPr lang="en-US" sz="1050">
                <a:solidFill>
                  <a:schemeClr val="tx1"/>
                </a:solidFill>
                <a:latin typeface="Public Sans"/>
              </a:rPr>
              <a:t>Assist Vendor management to ensure round the clock support</a:t>
            </a:r>
          </a:p>
          <a:p>
            <a:pPr marL="285750" indent="-285750">
              <a:buFont typeface="Arial" panose="020B0604020202020204" pitchFamily="34" charset="0"/>
              <a:buChar char="•"/>
            </a:pPr>
            <a:r>
              <a:rPr lang="en-US" sz="1050">
                <a:solidFill>
                  <a:schemeClr val="tx1"/>
                </a:solidFill>
                <a:latin typeface="Public Sans"/>
              </a:rPr>
              <a:t>Review and assist the vendor evaluation and recommendations</a:t>
            </a:r>
          </a:p>
          <a:p>
            <a:pPr marL="285750" indent="-285750">
              <a:buFont typeface="Arial" panose="020B0604020202020204" pitchFamily="34" charset="0"/>
              <a:buChar char="•"/>
            </a:pPr>
            <a:endParaRPr lang="en-IN" sz="1050">
              <a:solidFill>
                <a:schemeClr val="tx1"/>
              </a:solidFill>
              <a:latin typeface="Public Sans"/>
            </a:endParaRPr>
          </a:p>
        </p:txBody>
      </p:sp>
      <p:sp>
        <p:nvSpPr>
          <p:cNvPr id="19" name="Arrow: Right 18">
            <a:extLst>
              <a:ext uri="{FF2B5EF4-FFF2-40B4-BE49-F238E27FC236}">
                <a16:creationId xmlns:a16="http://schemas.microsoft.com/office/drawing/2014/main" id="{BBE0346D-D629-0C82-1588-0451D287D405}"/>
              </a:ext>
            </a:extLst>
          </p:cNvPr>
          <p:cNvSpPr/>
          <p:nvPr/>
        </p:nvSpPr>
        <p:spPr>
          <a:xfrm>
            <a:off x="118872" y="4265192"/>
            <a:ext cx="1545336" cy="62179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Support</a:t>
            </a:r>
            <a:endParaRPr lang="en-IN" sz="1100" err="1"/>
          </a:p>
        </p:txBody>
      </p:sp>
      <p:sp>
        <p:nvSpPr>
          <p:cNvPr id="20" name="TextBox 19">
            <a:extLst>
              <a:ext uri="{FF2B5EF4-FFF2-40B4-BE49-F238E27FC236}">
                <a16:creationId xmlns:a16="http://schemas.microsoft.com/office/drawing/2014/main" id="{6FF71978-DBD9-0180-7D65-18E3168F4ABF}"/>
              </a:ext>
            </a:extLst>
          </p:cNvPr>
          <p:cNvSpPr txBox="1"/>
          <p:nvPr/>
        </p:nvSpPr>
        <p:spPr>
          <a:xfrm>
            <a:off x="1847088" y="4218168"/>
            <a:ext cx="4800600" cy="67710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285750" lvl="0" indent="-285750">
              <a:spcAft>
                <a:spcPts val="300"/>
              </a:spcAft>
              <a:buFont typeface="Arial" panose="020B0604020202020204" pitchFamily="34" charset="0"/>
              <a:buChar char="•"/>
              <a:defRPr/>
            </a:pPr>
            <a:r>
              <a:rPr lang="en-US" sz="1050">
                <a:solidFill>
                  <a:schemeClr val="tx1"/>
                </a:solidFill>
                <a:latin typeface="Public Sans"/>
              </a:rPr>
              <a:t>Support in negotiations for licensing, hosting, and managed services.</a:t>
            </a:r>
          </a:p>
          <a:p>
            <a:pPr marL="285750" lvl="0" indent="-285750">
              <a:spcAft>
                <a:spcPts val="300"/>
              </a:spcAft>
              <a:buFont typeface="Arial" panose="020B0604020202020204" pitchFamily="34" charset="0"/>
              <a:buChar char="•"/>
              <a:defRPr/>
            </a:pPr>
            <a:r>
              <a:rPr lang="en-US" sz="1050">
                <a:solidFill>
                  <a:schemeClr val="tx1"/>
                </a:solidFill>
                <a:latin typeface="Public Sans"/>
              </a:rPr>
              <a:t>Review of high-level implementation plan</a:t>
            </a:r>
          </a:p>
          <a:p>
            <a:pPr marL="285750" lvl="0" indent="-285750">
              <a:spcAft>
                <a:spcPts val="300"/>
              </a:spcAft>
              <a:buFont typeface="Arial" panose="020B0604020202020204" pitchFamily="34" charset="0"/>
              <a:buChar char="•"/>
              <a:defRPr/>
            </a:pPr>
            <a:endParaRPr lang="en-US" sz="1050">
              <a:solidFill>
                <a:schemeClr val="tx1"/>
              </a:solidFill>
              <a:latin typeface="Public Sans"/>
            </a:endParaRPr>
          </a:p>
        </p:txBody>
      </p:sp>
      <p:sp>
        <p:nvSpPr>
          <p:cNvPr id="22" name="TextBox 21">
            <a:extLst>
              <a:ext uri="{FF2B5EF4-FFF2-40B4-BE49-F238E27FC236}">
                <a16:creationId xmlns:a16="http://schemas.microsoft.com/office/drawing/2014/main" id="{AC1D8499-7F21-6A09-52DD-DD5E970E52AA}"/>
              </a:ext>
            </a:extLst>
          </p:cNvPr>
          <p:cNvSpPr txBox="1"/>
          <p:nvPr/>
        </p:nvSpPr>
        <p:spPr>
          <a:xfrm>
            <a:off x="6793992" y="3421436"/>
            <a:ext cx="4800600" cy="638636"/>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285750" lvl="0" indent="-285750">
              <a:spcAft>
                <a:spcPts val="300"/>
              </a:spcAft>
              <a:buFont typeface="Arial" panose="020B0604020202020204" pitchFamily="34" charset="0"/>
              <a:buChar char="•"/>
              <a:defRPr/>
            </a:pPr>
            <a:r>
              <a:rPr lang="en-US" sz="1050">
                <a:solidFill>
                  <a:schemeClr val="tx1"/>
                </a:solidFill>
                <a:latin typeface="Public Sans"/>
              </a:rPr>
              <a:t>Review of SLAs, warranties, and penalties for non-performance</a:t>
            </a:r>
          </a:p>
          <a:p>
            <a:pPr marL="285750" lvl="0" indent="-285750">
              <a:spcAft>
                <a:spcPts val="300"/>
              </a:spcAft>
              <a:buFont typeface="Arial" panose="020B0604020202020204" pitchFamily="34" charset="0"/>
              <a:buChar char="•"/>
              <a:defRPr/>
            </a:pPr>
            <a:r>
              <a:rPr lang="en-US" sz="1050">
                <a:solidFill>
                  <a:schemeClr val="tx1"/>
                </a:solidFill>
                <a:latin typeface="Public Sans"/>
              </a:rPr>
              <a:t>Definition of high-level implementation plan &amp; Identification of risks and mitigation strategies</a:t>
            </a:r>
          </a:p>
        </p:txBody>
      </p:sp>
      <p:pic>
        <p:nvPicPr>
          <p:cNvPr id="1026" name="Picture 2">
            <a:extLst>
              <a:ext uri="{FF2B5EF4-FFF2-40B4-BE49-F238E27FC236}">
                <a16:creationId xmlns:a16="http://schemas.microsoft.com/office/drawing/2014/main" id="{ED83865F-E93F-CFC8-425F-5ECCE79B55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872" y="5540053"/>
            <a:ext cx="12192000" cy="974725"/>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32912AED-F4F5-32D7-C88D-4FF0C864473E}"/>
              </a:ext>
            </a:extLst>
          </p:cNvPr>
          <p:cNvSpPr txBox="1"/>
          <p:nvPr/>
        </p:nvSpPr>
        <p:spPr>
          <a:xfrm>
            <a:off x="118872" y="5496916"/>
            <a:ext cx="2889504" cy="276999"/>
          </a:xfrm>
          <a:prstGeom prst="rect">
            <a:avLst/>
          </a:prstGeom>
          <a:noFill/>
        </p:spPr>
        <p:txBody>
          <a:bodyPr wrap="square">
            <a:spAutoFit/>
          </a:bodyPr>
          <a:lstStyle>
            <a:defPPr>
              <a:defRPr lang="en-US"/>
            </a:defPPr>
            <a:lvl1pPr>
              <a:defRPr sz="1100"/>
            </a:lvl1pPr>
          </a:lstStyle>
          <a:p>
            <a:r>
              <a:rPr lang="en-US" sz="1200"/>
              <a:t>Time Zone Synchronization​</a:t>
            </a:r>
            <a:endParaRPr lang="en-IN" sz="1200"/>
          </a:p>
        </p:txBody>
      </p:sp>
      <p:sp>
        <p:nvSpPr>
          <p:cNvPr id="30" name="TextBox 29">
            <a:extLst>
              <a:ext uri="{FF2B5EF4-FFF2-40B4-BE49-F238E27FC236}">
                <a16:creationId xmlns:a16="http://schemas.microsoft.com/office/drawing/2014/main" id="{CCBEC655-66D2-70D0-9928-EE027CE08AC6}"/>
              </a:ext>
            </a:extLst>
          </p:cNvPr>
          <p:cNvSpPr txBox="1"/>
          <p:nvPr/>
        </p:nvSpPr>
        <p:spPr>
          <a:xfrm>
            <a:off x="3087624" y="5496916"/>
            <a:ext cx="2889504" cy="276999"/>
          </a:xfrm>
          <a:prstGeom prst="rect">
            <a:avLst/>
          </a:prstGeom>
          <a:noFill/>
        </p:spPr>
        <p:txBody>
          <a:bodyPr wrap="square">
            <a:spAutoFit/>
          </a:bodyPr>
          <a:lstStyle/>
          <a:p>
            <a:r>
              <a:rPr lang="en-US" sz="1200"/>
              <a:t>Divide &amp; Conquer Approach​</a:t>
            </a:r>
            <a:endParaRPr lang="en-IN" sz="1000"/>
          </a:p>
        </p:txBody>
      </p:sp>
      <p:sp>
        <p:nvSpPr>
          <p:cNvPr id="31" name="TextBox 30">
            <a:extLst>
              <a:ext uri="{FF2B5EF4-FFF2-40B4-BE49-F238E27FC236}">
                <a16:creationId xmlns:a16="http://schemas.microsoft.com/office/drawing/2014/main" id="{A0913F12-967F-0037-EA94-4FFBFA976BCE}"/>
              </a:ext>
            </a:extLst>
          </p:cNvPr>
          <p:cNvSpPr txBox="1"/>
          <p:nvPr/>
        </p:nvSpPr>
        <p:spPr>
          <a:xfrm>
            <a:off x="6056376" y="5528353"/>
            <a:ext cx="2889504" cy="276999"/>
          </a:xfrm>
          <a:prstGeom prst="rect">
            <a:avLst/>
          </a:prstGeom>
          <a:noFill/>
        </p:spPr>
        <p:txBody>
          <a:bodyPr wrap="square">
            <a:spAutoFit/>
          </a:bodyPr>
          <a:lstStyle/>
          <a:p>
            <a:r>
              <a:rPr lang="en-US" sz="1200"/>
              <a:t>Governance Cadence​</a:t>
            </a:r>
            <a:endParaRPr lang="en-IN" sz="1000"/>
          </a:p>
        </p:txBody>
      </p:sp>
      <p:sp>
        <p:nvSpPr>
          <p:cNvPr id="33" name="TextBox 32">
            <a:extLst>
              <a:ext uri="{FF2B5EF4-FFF2-40B4-BE49-F238E27FC236}">
                <a16:creationId xmlns:a16="http://schemas.microsoft.com/office/drawing/2014/main" id="{7DF562CD-0995-CB28-F634-5778DF44ACB3}"/>
              </a:ext>
            </a:extLst>
          </p:cNvPr>
          <p:cNvSpPr txBox="1"/>
          <p:nvPr/>
        </p:nvSpPr>
        <p:spPr>
          <a:xfrm>
            <a:off x="9092184" y="5498867"/>
            <a:ext cx="3099816" cy="276999"/>
          </a:xfrm>
          <a:prstGeom prst="rect">
            <a:avLst/>
          </a:prstGeom>
          <a:noFill/>
        </p:spPr>
        <p:txBody>
          <a:bodyPr wrap="square">
            <a:spAutoFit/>
          </a:bodyPr>
          <a:lstStyle>
            <a:defPPr>
              <a:defRPr lang="en-US"/>
            </a:defPPr>
            <a:lvl1pPr>
              <a:defRPr sz="1100"/>
            </a:lvl1pPr>
          </a:lstStyle>
          <a:p>
            <a:r>
              <a:rPr lang="en-US" sz="1200"/>
              <a:t>Knowledge Transfer &amp; Documentation​</a:t>
            </a:r>
            <a:endParaRPr lang="en-IN" sz="1200"/>
          </a:p>
        </p:txBody>
      </p:sp>
      <p:sp>
        <p:nvSpPr>
          <p:cNvPr id="35" name="TextBox 34">
            <a:extLst>
              <a:ext uri="{FF2B5EF4-FFF2-40B4-BE49-F238E27FC236}">
                <a16:creationId xmlns:a16="http://schemas.microsoft.com/office/drawing/2014/main" id="{C43C0245-085F-7769-60BD-9DC1BA4E74F8}"/>
              </a:ext>
            </a:extLst>
          </p:cNvPr>
          <p:cNvSpPr txBox="1"/>
          <p:nvPr/>
        </p:nvSpPr>
        <p:spPr>
          <a:xfrm>
            <a:off x="118872" y="5798044"/>
            <a:ext cx="2743200" cy="600164"/>
          </a:xfrm>
          <a:prstGeom prst="rect">
            <a:avLst/>
          </a:prstGeom>
          <a:noFill/>
        </p:spPr>
        <p:txBody>
          <a:bodyPr wrap="square">
            <a:spAutoFit/>
          </a:bodyPr>
          <a:lstStyle/>
          <a:p>
            <a:r>
              <a:rPr lang="en-US" sz="1100" b="0" i="0" u="none" strike="noStrike">
                <a:effectLst/>
              </a:rPr>
              <a:t>Ensure 3–4 hour daily overlap (e.g., 2–6 PM IST with EST mornings) for real-time collaboration.</a:t>
            </a:r>
            <a:endParaRPr lang="en-IN" sz="1100"/>
          </a:p>
        </p:txBody>
      </p:sp>
      <p:sp>
        <p:nvSpPr>
          <p:cNvPr id="37" name="TextBox 36">
            <a:extLst>
              <a:ext uri="{FF2B5EF4-FFF2-40B4-BE49-F238E27FC236}">
                <a16:creationId xmlns:a16="http://schemas.microsoft.com/office/drawing/2014/main" id="{918F2AA1-B643-5909-5587-956F7AF4B744}"/>
              </a:ext>
            </a:extLst>
          </p:cNvPr>
          <p:cNvSpPr txBox="1"/>
          <p:nvPr/>
        </p:nvSpPr>
        <p:spPr>
          <a:xfrm>
            <a:off x="3238500" y="5719858"/>
            <a:ext cx="2996184" cy="769441"/>
          </a:xfrm>
          <a:prstGeom prst="rect">
            <a:avLst/>
          </a:prstGeom>
          <a:noFill/>
        </p:spPr>
        <p:txBody>
          <a:bodyPr wrap="square">
            <a:spAutoFit/>
          </a:bodyPr>
          <a:lstStyle>
            <a:defPPr>
              <a:defRPr lang="en-US"/>
            </a:defPPr>
            <a:lvl1pPr>
              <a:defRPr sz="1100" b="0" i="0" u="none" strike="noStrike">
                <a:effectLst/>
              </a:defRPr>
            </a:lvl1pPr>
          </a:lstStyle>
          <a:p>
            <a:r>
              <a:rPr lang="en-US"/>
              <a:t>Onshore leads workshops and stakeholder meetings; offshore executes analysis, documentation, and technical builds concurrently.​</a:t>
            </a:r>
            <a:endParaRPr lang="en-IN"/>
          </a:p>
        </p:txBody>
      </p:sp>
      <p:sp>
        <p:nvSpPr>
          <p:cNvPr id="38" name="Description of a primary heading-2">
            <a:extLst>
              <a:ext uri="{FF2B5EF4-FFF2-40B4-BE49-F238E27FC236}">
                <a16:creationId xmlns:a16="http://schemas.microsoft.com/office/drawing/2014/main" id="{111B4A49-B930-4A89-A1CD-6CA2B3D95AED}"/>
              </a:ext>
            </a:extLst>
          </p:cNvPr>
          <p:cNvSpPr txBox="1"/>
          <p:nvPr/>
        </p:nvSpPr>
        <p:spPr>
          <a:xfrm>
            <a:off x="6234684" y="5757919"/>
            <a:ext cx="2636520" cy="600164"/>
          </a:xfrm>
          <a:prstGeom prst="rect">
            <a:avLst/>
          </a:prstGeom>
          <a:noFill/>
        </p:spPr>
        <p:txBody>
          <a:bodyPr wrap="square">
            <a:spAutoFit/>
          </a:bodyPr>
          <a:lstStyle>
            <a:defPPr>
              <a:defRPr lang="en-US"/>
            </a:defPPr>
            <a:lvl1pPr>
              <a:defRPr sz="1100"/>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Scheduled meetings include Monday planning calls, daily 15-minute syncs, and Friday deliverable reviews.</a:t>
            </a:r>
          </a:p>
        </p:txBody>
      </p:sp>
      <p:sp>
        <p:nvSpPr>
          <p:cNvPr id="40" name="TextBox 39">
            <a:extLst>
              <a:ext uri="{FF2B5EF4-FFF2-40B4-BE49-F238E27FC236}">
                <a16:creationId xmlns:a16="http://schemas.microsoft.com/office/drawing/2014/main" id="{8948A436-7698-06B3-CB1D-123CE79D0B18}"/>
              </a:ext>
            </a:extLst>
          </p:cNvPr>
          <p:cNvSpPr txBox="1"/>
          <p:nvPr/>
        </p:nvSpPr>
        <p:spPr>
          <a:xfrm>
            <a:off x="9210292" y="5757919"/>
            <a:ext cx="3157728" cy="600164"/>
          </a:xfrm>
          <a:prstGeom prst="rect">
            <a:avLst/>
          </a:prstGeom>
          <a:noFill/>
        </p:spPr>
        <p:txBody>
          <a:bodyPr wrap="square">
            <a:spAutoFit/>
          </a:bodyPr>
          <a:lstStyle>
            <a:defPPr>
              <a:defRPr lang="en-US"/>
            </a:defPPr>
            <a:lvl1pPr>
              <a:defRPr sz="1100" b="0" i="0" u="none" strike="noStrike">
                <a:effectLst/>
              </a:defRPr>
            </a:lvl1pPr>
          </a:lstStyle>
          <a:p>
            <a:r>
              <a:rPr lang="en-US"/>
              <a:t>Weekly documentation handoffs, cross-team peer reviews, and offshore upskilling led by onshore design authority.​</a:t>
            </a:r>
            <a:endParaRPr lang="en-IN"/>
          </a:p>
        </p:txBody>
      </p:sp>
      <p:sp>
        <p:nvSpPr>
          <p:cNvPr id="41" name="Rectangle: Rounded Corners 40">
            <a:extLst>
              <a:ext uri="{FF2B5EF4-FFF2-40B4-BE49-F238E27FC236}">
                <a16:creationId xmlns:a16="http://schemas.microsoft.com/office/drawing/2014/main" id="{5C3EFC93-BCA4-AAC7-5882-4F98AC2C9413}"/>
              </a:ext>
            </a:extLst>
          </p:cNvPr>
          <p:cNvSpPr/>
          <p:nvPr/>
        </p:nvSpPr>
        <p:spPr>
          <a:xfrm>
            <a:off x="118872" y="5134138"/>
            <a:ext cx="2791968" cy="324446"/>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a:t>How do we collaborate </a:t>
            </a:r>
            <a:endParaRPr lang="en-IN" sz="1200" err="1"/>
          </a:p>
        </p:txBody>
      </p:sp>
    </p:spTree>
    <p:extLst>
      <p:ext uri="{BB962C8B-B14F-4D97-AF65-F5344CB8AC3E}">
        <p14:creationId xmlns:p14="http://schemas.microsoft.com/office/powerpoint/2010/main" val="3909733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237BB-8FDC-34B7-70A5-801478C6F86C}"/>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C50F7BBC-A85A-EE04-C494-1A96DEBB029F}"/>
              </a:ext>
            </a:extLst>
          </p:cNvPr>
          <p:cNvSpPr txBox="1">
            <a:spLocks/>
          </p:cNvSpPr>
          <p:nvPr/>
        </p:nvSpPr>
        <p:spPr>
          <a:xfrm>
            <a:off x="267975" y="222413"/>
            <a:ext cx="10515600" cy="511062"/>
          </a:xfrm>
          <a:prstGeom prst="rect">
            <a:avLst/>
          </a:prstGeom>
        </p:spPr>
        <p:txBody>
          <a:bodyPr vert="horz" lIns="0" tIns="0" rIns="0" bIns="0" rtlCol="0" anchor="t">
            <a:noAutofit/>
          </a:bodyPr>
          <a:lstStyle>
            <a:lvl1pPr marR="0" indent="0" defTabSz="914400" fontAlgn="auto">
              <a:lnSpc>
                <a:spcPct val="90000"/>
              </a:lnSpc>
              <a:spcBef>
                <a:spcPct val="0"/>
              </a:spcBef>
              <a:spcAft>
                <a:spcPts val="0"/>
              </a:spcAft>
              <a:buClrTx/>
              <a:buSzTx/>
              <a:buFontTx/>
              <a:buNone/>
              <a:tabLst/>
              <a:defRPr kumimoji="0" lang="en-US" sz="2400" b="0" i="0" u="none" strike="noStrike" cap="all" spc="0" normalizeH="0" baseline="0" noProof="0">
                <a:ln>
                  <a:noFill/>
                </a:ln>
                <a:solidFill>
                  <a:schemeClr val="bg1"/>
                </a:solidFill>
                <a:effectLst/>
                <a:uLnTx/>
                <a:uFillTx/>
                <a:latin typeface="+mj-lt"/>
                <a:ea typeface="+mj-ea"/>
                <a:cs typeface="+mj-cs"/>
              </a:defRPr>
            </a:lvl1pPr>
          </a:lstStyle>
          <a:p>
            <a:r>
              <a:rPr lang="en-US" cap="none" noProof="0"/>
              <a:t>We propose to start Discovery where we assess your existing ecosystem​</a:t>
            </a:r>
            <a:endParaRPr lang="en-US" cap="none" noProof="0">
              <a:latin typeface="+mn-lt"/>
            </a:endParaRPr>
          </a:p>
        </p:txBody>
      </p:sp>
      <p:grpSp>
        <p:nvGrpSpPr>
          <p:cNvPr id="29" name="Group 28">
            <a:extLst>
              <a:ext uri="{FF2B5EF4-FFF2-40B4-BE49-F238E27FC236}">
                <a16:creationId xmlns:a16="http://schemas.microsoft.com/office/drawing/2014/main" id="{82EB32A8-4344-223F-6DC3-FC1D89D1DA8C}"/>
              </a:ext>
            </a:extLst>
          </p:cNvPr>
          <p:cNvGrpSpPr/>
          <p:nvPr/>
        </p:nvGrpSpPr>
        <p:grpSpPr>
          <a:xfrm>
            <a:off x="377798" y="723877"/>
            <a:ext cx="5718191" cy="278339"/>
            <a:chOff x="377799" y="723878"/>
            <a:chExt cx="5130530" cy="208800"/>
          </a:xfrm>
        </p:grpSpPr>
        <p:sp>
          <p:nvSpPr>
            <p:cNvPr id="3" name="Arrow: Chevron 2">
              <a:extLst>
                <a:ext uri="{FF2B5EF4-FFF2-40B4-BE49-F238E27FC236}">
                  <a16:creationId xmlns:a16="http://schemas.microsoft.com/office/drawing/2014/main" id="{23600EF1-AA8F-E96D-297A-3902ACBED523}"/>
                </a:ext>
              </a:extLst>
            </p:cNvPr>
            <p:cNvSpPr/>
            <p:nvPr/>
          </p:nvSpPr>
          <p:spPr>
            <a:xfrm>
              <a:off x="377799" y="723878"/>
              <a:ext cx="1270800" cy="208800"/>
            </a:xfrm>
            <a:prstGeom prst="chevron">
              <a:avLst/>
            </a:prstGeom>
            <a:solidFill>
              <a:srgbClr val="178C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noProof="0">
                  <a:solidFill>
                    <a:schemeClr val="bg1"/>
                  </a:solidFill>
                </a:rPr>
                <a:t>Discover</a:t>
              </a:r>
            </a:p>
          </p:txBody>
        </p:sp>
        <p:sp>
          <p:nvSpPr>
            <p:cNvPr id="4" name="Arrow: Chevron 3">
              <a:extLst>
                <a:ext uri="{FF2B5EF4-FFF2-40B4-BE49-F238E27FC236}">
                  <a16:creationId xmlns:a16="http://schemas.microsoft.com/office/drawing/2014/main" id="{3435F6A9-8F21-C021-D230-AF5B1F3E8EA0}"/>
                </a:ext>
              </a:extLst>
            </p:cNvPr>
            <p:cNvSpPr/>
            <p:nvPr/>
          </p:nvSpPr>
          <p:spPr>
            <a:xfrm>
              <a:off x="1664376" y="72387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Evaluate &amp; Create</a:t>
              </a:r>
            </a:p>
          </p:txBody>
        </p:sp>
        <p:sp>
          <p:nvSpPr>
            <p:cNvPr id="20" name="Arrow: Chevron 19">
              <a:extLst>
                <a:ext uri="{FF2B5EF4-FFF2-40B4-BE49-F238E27FC236}">
                  <a16:creationId xmlns:a16="http://schemas.microsoft.com/office/drawing/2014/main" id="{74610D80-6A41-43FC-F91F-CB2A69716FEE}"/>
                </a:ext>
              </a:extLst>
            </p:cNvPr>
            <p:cNvSpPr/>
            <p:nvPr/>
          </p:nvSpPr>
          <p:spPr>
            <a:xfrm>
              <a:off x="2950953" y="72387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Recommend</a:t>
              </a:r>
            </a:p>
          </p:txBody>
        </p:sp>
        <p:sp>
          <p:nvSpPr>
            <p:cNvPr id="28" name="Arrow: Chevron 27">
              <a:extLst>
                <a:ext uri="{FF2B5EF4-FFF2-40B4-BE49-F238E27FC236}">
                  <a16:creationId xmlns:a16="http://schemas.microsoft.com/office/drawing/2014/main" id="{014B7C67-B373-8B97-2533-E9F1662BA57D}"/>
                </a:ext>
              </a:extLst>
            </p:cNvPr>
            <p:cNvSpPr/>
            <p:nvPr/>
          </p:nvSpPr>
          <p:spPr>
            <a:xfrm>
              <a:off x="4237529" y="72387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Support</a:t>
              </a:r>
            </a:p>
          </p:txBody>
        </p:sp>
      </p:grpSp>
      <p:grpSp>
        <p:nvGrpSpPr>
          <p:cNvPr id="8" name="Group 7">
            <a:extLst>
              <a:ext uri="{FF2B5EF4-FFF2-40B4-BE49-F238E27FC236}">
                <a16:creationId xmlns:a16="http://schemas.microsoft.com/office/drawing/2014/main" id="{B83A072C-65E0-32C7-8C69-5724EB264602}"/>
              </a:ext>
            </a:extLst>
          </p:cNvPr>
          <p:cNvGrpSpPr/>
          <p:nvPr/>
        </p:nvGrpSpPr>
        <p:grpSpPr>
          <a:xfrm>
            <a:off x="131064" y="1087882"/>
            <a:ext cx="11888898" cy="5445789"/>
            <a:chOff x="131064" y="1087882"/>
            <a:chExt cx="11888898" cy="5445789"/>
          </a:xfrm>
        </p:grpSpPr>
        <p:sp>
          <p:nvSpPr>
            <p:cNvPr id="2" name="Rectangle 1">
              <a:extLst>
                <a:ext uri="{FF2B5EF4-FFF2-40B4-BE49-F238E27FC236}">
                  <a16:creationId xmlns:a16="http://schemas.microsoft.com/office/drawing/2014/main" id="{91CDECBC-7393-9521-F760-2448EFF8B925}"/>
                </a:ext>
              </a:extLst>
            </p:cNvPr>
            <p:cNvSpPr/>
            <p:nvPr/>
          </p:nvSpPr>
          <p:spPr>
            <a:xfrm>
              <a:off x="683017" y="6210071"/>
              <a:ext cx="11297911" cy="2771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noProof="0">
                  <a:solidFill>
                    <a:schemeClr val="bg1"/>
                  </a:solidFill>
                </a:rPr>
                <a:t>Current State Assessment Report</a:t>
              </a:r>
            </a:p>
          </p:txBody>
        </p:sp>
        <p:sp>
          <p:nvSpPr>
            <p:cNvPr id="5" name="Rectangle: Rounded Corners 4">
              <a:extLst>
                <a:ext uri="{FF2B5EF4-FFF2-40B4-BE49-F238E27FC236}">
                  <a16:creationId xmlns:a16="http://schemas.microsoft.com/office/drawing/2014/main" id="{C47A9477-E5A8-5CFC-227E-32CB6CE98852}"/>
                </a:ext>
              </a:extLst>
            </p:cNvPr>
            <p:cNvSpPr/>
            <p:nvPr/>
          </p:nvSpPr>
          <p:spPr>
            <a:xfrm>
              <a:off x="695752" y="1096452"/>
              <a:ext cx="1922400" cy="772160"/>
            </a:xfrm>
            <a:prstGeom prst="roundRect">
              <a:avLst/>
            </a:prstGeom>
            <a:solidFill>
              <a:schemeClr val="accent1"/>
            </a:solidFill>
            <a:ln>
              <a:no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p>
              <a:pPr algn="ctr"/>
              <a:endParaRPr lang="en-US" sz="1100" b="1" noProof="0">
                <a:solidFill>
                  <a:schemeClr val="bg1"/>
                </a:solidFill>
              </a:endParaRPr>
            </a:p>
            <a:p>
              <a:pPr algn="ctr"/>
              <a:r>
                <a:rPr lang="en-US" sz="1100" b="1" noProof="0">
                  <a:solidFill>
                    <a:schemeClr val="bg1"/>
                  </a:solidFill>
                </a:rPr>
                <a:t>Understand and document the Business processes across all products</a:t>
              </a:r>
            </a:p>
            <a:p>
              <a:pPr algn="ctr"/>
              <a:endParaRPr lang="en-US" sz="1100" b="1" noProof="0">
                <a:solidFill>
                  <a:schemeClr val="bg1"/>
                </a:solidFill>
              </a:endParaRPr>
            </a:p>
          </p:txBody>
        </p:sp>
        <p:sp>
          <p:nvSpPr>
            <p:cNvPr id="6" name="Rectangle: Rounded Corners 5">
              <a:extLst>
                <a:ext uri="{FF2B5EF4-FFF2-40B4-BE49-F238E27FC236}">
                  <a16:creationId xmlns:a16="http://schemas.microsoft.com/office/drawing/2014/main" id="{2EA914D5-A498-FA6D-B240-C8D6564BD166}"/>
                </a:ext>
              </a:extLst>
            </p:cNvPr>
            <p:cNvSpPr/>
            <p:nvPr/>
          </p:nvSpPr>
          <p:spPr>
            <a:xfrm>
              <a:off x="3022788" y="1096452"/>
              <a:ext cx="1922400" cy="772160"/>
            </a:xfrm>
            <a:prstGeom prst="roundRect">
              <a:avLst/>
            </a:prstGeom>
            <a:solidFill>
              <a:schemeClr val="accent1"/>
            </a:solidFill>
            <a:ln>
              <a:no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p>
              <a:pPr algn="ctr"/>
              <a:r>
                <a:rPr lang="en-US" sz="1100" b="1" noProof="0">
                  <a:solidFill>
                    <a:schemeClr val="bg1"/>
                  </a:solidFill>
                </a:rPr>
                <a:t>Understand the OSS/BSS ecosystem</a:t>
              </a:r>
            </a:p>
          </p:txBody>
        </p:sp>
        <p:sp>
          <p:nvSpPr>
            <p:cNvPr id="7" name="Rectangle: Rounded Corners 6">
              <a:extLst>
                <a:ext uri="{FF2B5EF4-FFF2-40B4-BE49-F238E27FC236}">
                  <a16:creationId xmlns:a16="http://schemas.microsoft.com/office/drawing/2014/main" id="{3954F417-757E-E192-6752-4D03331CD2AA}"/>
                </a:ext>
              </a:extLst>
            </p:cNvPr>
            <p:cNvSpPr/>
            <p:nvPr/>
          </p:nvSpPr>
          <p:spPr>
            <a:xfrm>
              <a:off x="5349824" y="1096452"/>
              <a:ext cx="1922400" cy="772160"/>
            </a:xfrm>
            <a:prstGeom prst="roundRect">
              <a:avLst/>
            </a:prstGeom>
            <a:solidFill>
              <a:schemeClr val="accent1"/>
            </a:solidFill>
            <a:ln>
              <a:no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p>
              <a:pPr algn="ctr"/>
              <a:r>
                <a:rPr lang="en-US" sz="1100" b="1" noProof="0">
                  <a:solidFill>
                    <a:schemeClr val="bg1"/>
                  </a:solidFill>
                </a:rPr>
                <a:t>Architectural Assessment </a:t>
              </a:r>
            </a:p>
          </p:txBody>
        </p:sp>
        <p:sp>
          <p:nvSpPr>
            <p:cNvPr id="9" name="Rectangle: Rounded Corners 8">
              <a:extLst>
                <a:ext uri="{FF2B5EF4-FFF2-40B4-BE49-F238E27FC236}">
                  <a16:creationId xmlns:a16="http://schemas.microsoft.com/office/drawing/2014/main" id="{9B53358B-32D3-7E04-C32F-DBE15CDAD9EE}"/>
                </a:ext>
              </a:extLst>
            </p:cNvPr>
            <p:cNvSpPr/>
            <p:nvPr/>
          </p:nvSpPr>
          <p:spPr>
            <a:xfrm>
              <a:off x="7676861" y="1096452"/>
              <a:ext cx="4343101" cy="772160"/>
            </a:xfrm>
            <a:prstGeom prst="roundRect">
              <a:avLst/>
            </a:prstGeom>
            <a:solidFill>
              <a:schemeClr val="accent1"/>
            </a:solidFill>
            <a:ln>
              <a:no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p>
              <a:pPr algn="ctr"/>
              <a:r>
                <a:rPr lang="en-US" sz="1100" b="1" noProof="0">
                  <a:solidFill>
                    <a:schemeClr val="bg1"/>
                  </a:solidFill>
                </a:rPr>
                <a:t>Financial Assessment</a:t>
              </a:r>
            </a:p>
          </p:txBody>
        </p:sp>
        <p:cxnSp>
          <p:nvCxnSpPr>
            <p:cNvPr id="10" name="Straight Connector 9">
              <a:extLst>
                <a:ext uri="{FF2B5EF4-FFF2-40B4-BE49-F238E27FC236}">
                  <a16:creationId xmlns:a16="http://schemas.microsoft.com/office/drawing/2014/main" id="{4C384E78-D086-3CB5-B395-2870EF5383E7}"/>
                </a:ext>
              </a:extLst>
            </p:cNvPr>
            <p:cNvCxnSpPr>
              <a:cxnSpLocks/>
            </p:cNvCxnSpPr>
            <p:nvPr/>
          </p:nvCxnSpPr>
          <p:spPr>
            <a:xfrm>
              <a:off x="2795658" y="2016023"/>
              <a:ext cx="0" cy="26424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4A13C2C-0DED-B3C7-5011-0A85E27A6FD4}"/>
                </a:ext>
              </a:extLst>
            </p:cNvPr>
            <p:cNvCxnSpPr>
              <a:cxnSpLocks/>
            </p:cNvCxnSpPr>
            <p:nvPr/>
          </p:nvCxnSpPr>
          <p:spPr>
            <a:xfrm>
              <a:off x="5150817" y="2016023"/>
              <a:ext cx="0" cy="26424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EFCE4DB-72C8-F3DA-A7D8-C2EBD6C4BE60}"/>
                </a:ext>
              </a:extLst>
            </p:cNvPr>
            <p:cNvCxnSpPr>
              <a:cxnSpLocks/>
            </p:cNvCxnSpPr>
            <p:nvPr/>
          </p:nvCxnSpPr>
          <p:spPr>
            <a:xfrm>
              <a:off x="7505976" y="2016023"/>
              <a:ext cx="0" cy="26424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0D2EF190-7BEB-8923-6A29-16467B3AD10D}"/>
                </a:ext>
              </a:extLst>
            </p:cNvPr>
            <p:cNvSpPr/>
            <p:nvPr/>
          </p:nvSpPr>
          <p:spPr>
            <a:xfrm>
              <a:off x="695752" y="1960394"/>
              <a:ext cx="1922400" cy="2765609"/>
            </a:xfrm>
            <a:prstGeom prst="rect">
              <a:avLst/>
            </a:prstGeom>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t"/>
            <a:lstStyle/>
            <a:p>
              <a:pPr algn="ctr"/>
              <a:r>
                <a:rPr lang="en-US" sz="1000" noProof="0">
                  <a:solidFill>
                    <a:schemeClr val="tx1"/>
                  </a:solidFill>
                </a:rPr>
                <a:t>As is Processes documentation</a:t>
              </a:r>
            </a:p>
            <a:p>
              <a:pPr algn="ctr"/>
              <a:r>
                <a:rPr lang="en-US" sz="1000" noProof="0">
                  <a:solidFill>
                    <a:schemeClr val="tx1"/>
                  </a:solidFill>
                </a:rPr>
                <a:t>(mapped to L3)</a:t>
              </a:r>
            </a:p>
            <a:p>
              <a:pPr algn="ctr">
                <a:spcAft>
                  <a:spcPts val="600"/>
                </a:spcAft>
              </a:pPr>
              <a:endParaRPr lang="en-US" sz="1000" b="1" noProof="0">
                <a:solidFill>
                  <a:schemeClr val="tx1"/>
                </a:solidFill>
              </a:endParaRPr>
            </a:p>
            <a:p>
              <a:pPr algn="ctr">
                <a:spcAft>
                  <a:spcPts val="600"/>
                </a:spcAft>
              </a:pPr>
              <a:endParaRPr lang="en-US" sz="1000" noProof="0">
                <a:solidFill>
                  <a:schemeClr val="tx1"/>
                </a:solidFill>
              </a:endParaRPr>
            </a:p>
            <a:p>
              <a:pPr marL="87313" indent="-87313">
                <a:spcAft>
                  <a:spcPts val="600"/>
                </a:spcAft>
                <a:buFont typeface="Arial" panose="020B0604020202020204" pitchFamily="34" charset="0"/>
                <a:buChar char="•"/>
              </a:pPr>
              <a:endParaRPr lang="en-US" sz="1000" noProof="0">
                <a:solidFill>
                  <a:schemeClr val="tx1"/>
                </a:solidFill>
              </a:endParaRPr>
            </a:p>
            <a:p>
              <a:pPr marL="87313" indent="-87313">
                <a:spcAft>
                  <a:spcPts val="600"/>
                </a:spcAft>
                <a:buFont typeface="Arial" panose="020B0604020202020204" pitchFamily="34" charset="0"/>
                <a:buChar char="•"/>
              </a:pPr>
              <a:endParaRPr lang="en-US" sz="1000" noProof="0">
                <a:solidFill>
                  <a:schemeClr val="tx1"/>
                </a:solidFill>
              </a:endParaRPr>
            </a:p>
            <a:p>
              <a:pPr marL="87313" indent="-87313">
                <a:spcAft>
                  <a:spcPts val="600"/>
                </a:spcAft>
                <a:buFont typeface="Arial" panose="020B0604020202020204" pitchFamily="34" charset="0"/>
                <a:buChar char="•"/>
              </a:pPr>
              <a:endParaRPr lang="en-US" sz="1000" noProof="0">
                <a:solidFill>
                  <a:schemeClr val="tx1"/>
                </a:solidFill>
              </a:endParaRPr>
            </a:p>
            <a:p>
              <a:pPr marL="285750" indent="-285750">
                <a:spcAft>
                  <a:spcPts val="600"/>
                </a:spcAft>
                <a:buFont typeface="Arial" panose="020B0604020202020204" pitchFamily="34" charset="0"/>
                <a:buChar char="•"/>
              </a:pPr>
              <a:endParaRPr lang="en-US" sz="1000" noProof="0">
                <a:solidFill>
                  <a:schemeClr val="tx1"/>
                </a:solidFill>
              </a:endParaRPr>
            </a:p>
          </p:txBody>
        </p:sp>
        <p:sp>
          <p:nvSpPr>
            <p:cNvPr id="16" name="Rectangle 15">
              <a:extLst>
                <a:ext uri="{FF2B5EF4-FFF2-40B4-BE49-F238E27FC236}">
                  <a16:creationId xmlns:a16="http://schemas.microsoft.com/office/drawing/2014/main" id="{1C77B7FF-ED8B-E8C3-42D1-0E9DA23D19C0}"/>
                </a:ext>
              </a:extLst>
            </p:cNvPr>
            <p:cNvSpPr/>
            <p:nvPr/>
          </p:nvSpPr>
          <p:spPr>
            <a:xfrm>
              <a:off x="5350129" y="1950869"/>
              <a:ext cx="1922400" cy="2764800"/>
            </a:xfrm>
            <a:prstGeom prst="rect">
              <a:avLst/>
            </a:prstGeom>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t"/>
            <a:lstStyle/>
            <a:p>
              <a:pPr marL="285750" indent="-285750">
                <a:spcAft>
                  <a:spcPts val="600"/>
                </a:spcAft>
                <a:buFont typeface="Arial" panose="020B0604020202020204" pitchFamily="34" charset="0"/>
                <a:buChar char="•"/>
              </a:pPr>
              <a:endParaRPr lang="en-US" sz="1000" noProof="0">
                <a:solidFill>
                  <a:schemeClr val="tx1"/>
                </a:solidFill>
              </a:endParaRPr>
            </a:p>
            <a:p>
              <a:pPr marL="285750" indent="-285750">
                <a:spcAft>
                  <a:spcPts val="600"/>
                </a:spcAft>
                <a:buFont typeface="Arial" panose="020B0604020202020204" pitchFamily="34" charset="0"/>
                <a:buChar char="•"/>
              </a:pPr>
              <a:endParaRPr lang="en-US" sz="1000" noProof="0">
                <a:solidFill>
                  <a:schemeClr val="tx1"/>
                </a:solidFill>
              </a:endParaRPr>
            </a:p>
            <a:p>
              <a:pPr marL="87313" indent="-87313">
                <a:spcAft>
                  <a:spcPts val="600"/>
                </a:spcAft>
                <a:buFont typeface="Arial" panose="020B0604020202020204" pitchFamily="34" charset="0"/>
                <a:buChar char="•"/>
              </a:pPr>
              <a:endParaRPr lang="en-US" sz="1000" noProof="0">
                <a:solidFill>
                  <a:schemeClr val="tx1"/>
                </a:solidFill>
              </a:endParaRPr>
            </a:p>
            <a:p>
              <a:pPr marL="87313" indent="-87313">
                <a:spcAft>
                  <a:spcPts val="600"/>
                </a:spcAft>
                <a:buFont typeface="Arial" panose="020B0604020202020204" pitchFamily="34" charset="0"/>
                <a:buChar char="•"/>
              </a:pPr>
              <a:endParaRPr lang="en-US" sz="1000" noProof="0">
                <a:solidFill>
                  <a:schemeClr val="tx1"/>
                </a:solidFill>
              </a:endParaRPr>
            </a:p>
            <a:p>
              <a:pPr>
                <a:spcAft>
                  <a:spcPts val="600"/>
                </a:spcAft>
              </a:pPr>
              <a:endParaRPr lang="en-US" sz="1000" noProof="0">
                <a:solidFill>
                  <a:schemeClr val="tx1"/>
                </a:solidFill>
              </a:endParaRPr>
            </a:p>
          </p:txBody>
        </p:sp>
        <p:sp>
          <p:nvSpPr>
            <p:cNvPr id="18" name="Rectangle: Rounded Corners 17">
              <a:extLst>
                <a:ext uri="{FF2B5EF4-FFF2-40B4-BE49-F238E27FC236}">
                  <a16:creationId xmlns:a16="http://schemas.microsoft.com/office/drawing/2014/main" id="{A04211E3-A9DA-0CEC-4099-50B24523E251}"/>
                </a:ext>
              </a:extLst>
            </p:cNvPr>
            <p:cNvSpPr/>
            <p:nvPr/>
          </p:nvSpPr>
          <p:spPr>
            <a:xfrm rot="16200000">
              <a:off x="-1504538" y="2723486"/>
              <a:ext cx="3655614" cy="38440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solidFill>
                    <a:schemeClr val="bg1"/>
                  </a:solidFill>
                </a:rPr>
                <a:t>Activities</a:t>
              </a:r>
            </a:p>
          </p:txBody>
        </p:sp>
        <p:sp>
          <p:nvSpPr>
            <p:cNvPr id="19" name="Rectangle: Rounded Corners 18">
              <a:extLst>
                <a:ext uri="{FF2B5EF4-FFF2-40B4-BE49-F238E27FC236}">
                  <a16:creationId xmlns:a16="http://schemas.microsoft.com/office/drawing/2014/main" id="{BC75B0D9-3F72-8296-F703-647B1E6F9F08}"/>
                </a:ext>
              </a:extLst>
            </p:cNvPr>
            <p:cNvSpPr/>
            <p:nvPr/>
          </p:nvSpPr>
          <p:spPr>
            <a:xfrm rot="16200000">
              <a:off x="-364738" y="5653461"/>
              <a:ext cx="1376012" cy="384408"/>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noProof="0">
                  <a:solidFill>
                    <a:schemeClr val="bg1"/>
                  </a:solidFill>
                </a:rPr>
                <a:t>Deliverable will cover</a:t>
              </a:r>
            </a:p>
          </p:txBody>
        </p:sp>
        <p:sp>
          <p:nvSpPr>
            <p:cNvPr id="21" name="Rectangle 20">
              <a:extLst>
                <a:ext uri="{FF2B5EF4-FFF2-40B4-BE49-F238E27FC236}">
                  <a16:creationId xmlns:a16="http://schemas.microsoft.com/office/drawing/2014/main" id="{9D8A2586-AA09-D2DA-55C9-5BF869BB7FE5}"/>
                </a:ext>
              </a:extLst>
            </p:cNvPr>
            <p:cNvSpPr/>
            <p:nvPr/>
          </p:nvSpPr>
          <p:spPr>
            <a:xfrm>
              <a:off x="3043643" y="5277173"/>
              <a:ext cx="1922400" cy="756000"/>
            </a:xfrm>
            <a:prstGeom prst="rect">
              <a:avLst/>
            </a:prstGeom>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t"/>
            <a:lstStyle/>
            <a:p>
              <a:pPr algn="ctr">
                <a:spcAft>
                  <a:spcPts val="600"/>
                </a:spcAft>
              </a:pPr>
              <a:endParaRPr lang="en-US" sz="1000" b="1" noProof="0">
                <a:solidFill>
                  <a:schemeClr val="tx1"/>
                </a:solidFill>
              </a:endParaRPr>
            </a:p>
            <a:p>
              <a:pPr algn="ctr">
                <a:spcAft>
                  <a:spcPts val="600"/>
                </a:spcAft>
              </a:pPr>
              <a:r>
                <a:rPr lang="en-US" sz="1000" b="1" noProof="0">
                  <a:solidFill>
                    <a:schemeClr val="tx1"/>
                  </a:solidFill>
                </a:rPr>
                <a:t>High level static diagram of architecture</a:t>
              </a:r>
            </a:p>
          </p:txBody>
        </p:sp>
        <p:sp>
          <p:nvSpPr>
            <p:cNvPr id="23" name="Rectangle 22">
              <a:extLst>
                <a:ext uri="{FF2B5EF4-FFF2-40B4-BE49-F238E27FC236}">
                  <a16:creationId xmlns:a16="http://schemas.microsoft.com/office/drawing/2014/main" id="{57E5376E-61CF-D96D-D554-8E3ABFB25DBD}"/>
                </a:ext>
              </a:extLst>
            </p:cNvPr>
            <p:cNvSpPr/>
            <p:nvPr/>
          </p:nvSpPr>
          <p:spPr>
            <a:xfrm>
              <a:off x="5391534" y="5277173"/>
              <a:ext cx="1922400" cy="756000"/>
            </a:xfrm>
            <a:prstGeom prst="rect">
              <a:avLst/>
            </a:prstGeom>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t"/>
            <a:lstStyle/>
            <a:p>
              <a:pPr algn="ctr">
                <a:spcAft>
                  <a:spcPts val="600"/>
                </a:spcAft>
              </a:pPr>
              <a:endParaRPr lang="en-US" sz="1000" b="1" noProof="0">
                <a:solidFill>
                  <a:schemeClr val="tx1"/>
                </a:solidFill>
              </a:endParaRPr>
            </a:p>
            <a:p>
              <a:pPr algn="ctr">
                <a:spcAft>
                  <a:spcPts val="600"/>
                </a:spcAft>
              </a:pPr>
              <a:r>
                <a:rPr lang="en-US" sz="1000" b="1" noProof="0">
                  <a:solidFill>
                    <a:schemeClr val="tx1"/>
                  </a:solidFill>
                </a:rPr>
                <a:t>High level architectural and integration diagrams </a:t>
              </a:r>
            </a:p>
          </p:txBody>
        </p:sp>
        <p:sp>
          <p:nvSpPr>
            <p:cNvPr id="24" name="Rectangle 23">
              <a:extLst>
                <a:ext uri="{FF2B5EF4-FFF2-40B4-BE49-F238E27FC236}">
                  <a16:creationId xmlns:a16="http://schemas.microsoft.com/office/drawing/2014/main" id="{1A7B4707-1013-63F8-E88D-2FEF62705A64}"/>
                </a:ext>
              </a:extLst>
            </p:cNvPr>
            <p:cNvSpPr/>
            <p:nvPr/>
          </p:nvSpPr>
          <p:spPr>
            <a:xfrm>
              <a:off x="7739424" y="1949086"/>
              <a:ext cx="4252353" cy="2764800"/>
            </a:xfrm>
            <a:prstGeom prst="rect">
              <a:avLst/>
            </a:prstGeom>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t"/>
            <a:lstStyle/>
            <a:p>
              <a:pPr marL="87313" indent="-87313">
                <a:spcAft>
                  <a:spcPts val="600"/>
                </a:spcAft>
                <a:buFont typeface="Arial" panose="020B0604020202020204" pitchFamily="34" charset="0"/>
                <a:buChar char="•"/>
              </a:pPr>
              <a:endParaRPr lang="en-US" sz="1000" noProof="0">
                <a:solidFill>
                  <a:schemeClr val="tx1"/>
                </a:solidFill>
              </a:endParaRPr>
            </a:p>
          </p:txBody>
        </p:sp>
        <p:sp>
          <p:nvSpPr>
            <p:cNvPr id="25" name="Rectangle 24">
              <a:extLst>
                <a:ext uri="{FF2B5EF4-FFF2-40B4-BE49-F238E27FC236}">
                  <a16:creationId xmlns:a16="http://schemas.microsoft.com/office/drawing/2014/main" id="{6CDFD133-96F2-8076-7D2B-27D86EDB05CA}"/>
                </a:ext>
              </a:extLst>
            </p:cNvPr>
            <p:cNvSpPr/>
            <p:nvPr/>
          </p:nvSpPr>
          <p:spPr>
            <a:xfrm>
              <a:off x="7739424" y="5277173"/>
              <a:ext cx="4241504" cy="756000"/>
            </a:xfrm>
            <a:prstGeom prst="rect">
              <a:avLst/>
            </a:prstGeom>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t"/>
            <a:lstStyle/>
            <a:p>
              <a:pPr algn="ctr">
                <a:spcAft>
                  <a:spcPts val="600"/>
                </a:spcAft>
              </a:pPr>
              <a:endParaRPr lang="en-US" sz="1000" b="1" noProof="0">
                <a:solidFill>
                  <a:schemeClr val="tx1"/>
                </a:solidFill>
              </a:endParaRPr>
            </a:p>
            <a:p>
              <a:pPr algn="ctr">
                <a:spcAft>
                  <a:spcPts val="600"/>
                </a:spcAft>
              </a:pPr>
              <a:r>
                <a:rPr lang="en-US" sz="1000" b="1" noProof="0">
                  <a:solidFill>
                    <a:schemeClr val="tx1"/>
                  </a:solidFill>
                </a:rPr>
                <a:t>As-Is TCO Assessment</a:t>
              </a:r>
            </a:p>
          </p:txBody>
        </p:sp>
        <p:sp>
          <p:nvSpPr>
            <p:cNvPr id="31" name="Rectangle 30">
              <a:extLst>
                <a:ext uri="{FF2B5EF4-FFF2-40B4-BE49-F238E27FC236}">
                  <a16:creationId xmlns:a16="http://schemas.microsoft.com/office/drawing/2014/main" id="{3DACBDBC-02FA-B539-9778-4ADE43851B7E}"/>
                </a:ext>
              </a:extLst>
            </p:cNvPr>
            <p:cNvSpPr/>
            <p:nvPr/>
          </p:nvSpPr>
          <p:spPr>
            <a:xfrm>
              <a:off x="683017" y="5277173"/>
              <a:ext cx="1922400" cy="756000"/>
            </a:xfrm>
            <a:prstGeom prst="rect">
              <a:avLst/>
            </a:prstGeom>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t"/>
            <a:lstStyle/>
            <a:p>
              <a:pPr algn="ctr">
                <a:spcAft>
                  <a:spcPts val="600"/>
                </a:spcAft>
              </a:pPr>
              <a:endParaRPr lang="en-US" sz="1000" b="1" noProof="0">
                <a:solidFill>
                  <a:schemeClr val="tx1"/>
                </a:solidFill>
              </a:endParaRPr>
            </a:p>
            <a:p>
              <a:pPr algn="ctr">
                <a:spcAft>
                  <a:spcPts val="600"/>
                </a:spcAft>
              </a:pPr>
              <a:r>
                <a:rPr lang="en-US" sz="1000" b="1" noProof="0">
                  <a:solidFill>
                    <a:schemeClr val="tx1"/>
                  </a:solidFill>
                </a:rPr>
                <a:t>As-is Business process flows for each Product Line</a:t>
              </a:r>
            </a:p>
          </p:txBody>
        </p:sp>
        <p:sp>
          <p:nvSpPr>
            <p:cNvPr id="35" name="Isosceles Triangle 34">
              <a:extLst>
                <a:ext uri="{FF2B5EF4-FFF2-40B4-BE49-F238E27FC236}">
                  <a16:creationId xmlns:a16="http://schemas.microsoft.com/office/drawing/2014/main" id="{935E2B02-C8E7-8757-2F40-BCAD2467D70A}"/>
                </a:ext>
              </a:extLst>
            </p:cNvPr>
            <p:cNvSpPr/>
            <p:nvPr/>
          </p:nvSpPr>
          <p:spPr>
            <a:xfrm rot="10800000">
              <a:off x="787944" y="4826142"/>
              <a:ext cx="11232017" cy="368196"/>
            </a:xfrm>
            <a:prstGeom prst="triangle">
              <a:avLst>
                <a:gd name="adj" fmla="val 49362"/>
              </a:avLst>
            </a:prstGeom>
            <a:solidFill>
              <a:schemeClr val="accent4">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pic>
          <p:nvPicPr>
            <p:cNvPr id="17" name="Picture 16">
              <a:extLst>
                <a:ext uri="{FF2B5EF4-FFF2-40B4-BE49-F238E27FC236}">
                  <a16:creationId xmlns:a16="http://schemas.microsoft.com/office/drawing/2014/main" id="{A03E38A3-68EC-7B22-10C0-7560A4356461}"/>
                </a:ext>
              </a:extLst>
            </p:cNvPr>
            <p:cNvPicPr>
              <a:picLocks noChangeAspect="1"/>
            </p:cNvPicPr>
            <p:nvPr/>
          </p:nvPicPr>
          <p:blipFill>
            <a:blip r:embed="rId2">
              <a:clrChange>
                <a:clrFrom>
                  <a:srgbClr val="FEFDFD"/>
                </a:clrFrom>
                <a:clrTo>
                  <a:srgbClr val="FEFDFD">
                    <a:alpha val="0"/>
                  </a:srgbClr>
                </a:clrTo>
              </a:clrChange>
            </a:blip>
            <a:stretch>
              <a:fillRect/>
            </a:stretch>
          </p:blipFill>
          <p:spPr>
            <a:xfrm>
              <a:off x="800546" y="2568533"/>
              <a:ext cx="514223" cy="662229"/>
            </a:xfrm>
            <a:prstGeom prst="rect">
              <a:avLst/>
            </a:prstGeom>
          </p:spPr>
        </p:pic>
        <p:pic>
          <p:nvPicPr>
            <p:cNvPr id="27" name="Picture 26">
              <a:extLst>
                <a:ext uri="{FF2B5EF4-FFF2-40B4-BE49-F238E27FC236}">
                  <a16:creationId xmlns:a16="http://schemas.microsoft.com/office/drawing/2014/main" id="{FAC99DE4-BE57-2890-938A-91BB69126FAF}"/>
                </a:ext>
              </a:extLst>
            </p:cNvPr>
            <p:cNvPicPr>
              <a:picLocks noChangeAspect="1"/>
            </p:cNvPicPr>
            <p:nvPr/>
          </p:nvPicPr>
          <p:blipFill>
            <a:blip r:embed="rId3">
              <a:clrChange>
                <a:clrFrom>
                  <a:srgbClr val="FFFEFE"/>
                </a:clrFrom>
                <a:clrTo>
                  <a:srgbClr val="FFFEFE">
                    <a:alpha val="0"/>
                  </a:srgbClr>
                </a:clrTo>
              </a:clrChange>
            </a:blip>
            <a:stretch>
              <a:fillRect/>
            </a:stretch>
          </p:blipFill>
          <p:spPr>
            <a:xfrm>
              <a:off x="1627464" y="2568533"/>
              <a:ext cx="730969" cy="647719"/>
            </a:xfrm>
            <a:prstGeom prst="rect">
              <a:avLst/>
            </a:prstGeom>
          </p:spPr>
        </p:pic>
        <p:pic>
          <p:nvPicPr>
            <p:cNvPr id="30" name="Picture 29">
              <a:extLst>
                <a:ext uri="{FF2B5EF4-FFF2-40B4-BE49-F238E27FC236}">
                  <a16:creationId xmlns:a16="http://schemas.microsoft.com/office/drawing/2014/main" id="{44F0BDA5-3544-9AB6-C9E8-A846E6E2C9D3}"/>
                </a:ext>
              </a:extLst>
            </p:cNvPr>
            <p:cNvPicPr>
              <a:picLocks noChangeAspect="1"/>
            </p:cNvPicPr>
            <p:nvPr/>
          </p:nvPicPr>
          <p:blipFill>
            <a:blip r:embed="rId4">
              <a:clrChange>
                <a:clrFrom>
                  <a:srgbClr val="FEFFFD"/>
                </a:clrFrom>
                <a:clrTo>
                  <a:srgbClr val="FEFFFD">
                    <a:alpha val="0"/>
                  </a:srgbClr>
                </a:clrTo>
              </a:clrChange>
            </a:blip>
            <a:stretch>
              <a:fillRect/>
            </a:stretch>
          </p:blipFill>
          <p:spPr>
            <a:xfrm>
              <a:off x="1226861" y="3258995"/>
              <a:ext cx="514224" cy="584119"/>
            </a:xfrm>
            <a:prstGeom prst="rect">
              <a:avLst/>
            </a:prstGeom>
          </p:spPr>
        </p:pic>
        <p:pic>
          <p:nvPicPr>
            <p:cNvPr id="33" name="Picture 32">
              <a:extLst>
                <a:ext uri="{FF2B5EF4-FFF2-40B4-BE49-F238E27FC236}">
                  <a16:creationId xmlns:a16="http://schemas.microsoft.com/office/drawing/2014/main" id="{E4F1EFCE-9F7E-ED67-30E3-429E49C02FC5}"/>
                </a:ext>
              </a:extLst>
            </p:cNvPr>
            <p:cNvPicPr>
              <a:picLocks noChangeAspect="1"/>
            </p:cNvPicPr>
            <p:nvPr/>
          </p:nvPicPr>
          <p:blipFill>
            <a:blip r:embed="rId5">
              <a:clrChange>
                <a:clrFrom>
                  <a:srgbClr val="FFFFFE"/>
                </a:clrFrom>
                <a:clrTo>
                  <a:srgbClr val="FFFFFE">
                    <a:alpha val="0"/>
                  </a:srgbClr>
                </a:clrTo>
              </a:clrChange>
            </a:blip>
            <a:stretch>
              <a:fillRect/>
            </a:stretch>
          </p:blipFill>
          <p:spPr>
            <a:xfrm>
              <a:off x="1917987" y="3316116"/>
              <a:ext cx="439373" cy="474407"/>
            </a:xfrm>
            <a:prstGeom prst="rect">
              <a:avLst/>
            </a:prstGeom>
          </p:spPr>
        </p:pic>
        <p:pic>
          <p:nvPicPr>
            <p:cNvPr id="36" name="Picture 35">
              <a:extLst>
                <a:ext uri="{FF2B5EF4-FFF2-40B4-BE49-F238E27FC236}">
                  <a16:creationId xmlns:a16="http://schemas.microsoft.com/office/drawing/2014/main" id="{98B64E83-2008-0CB0-C96E-AEB0900ED6CF}"/>
                </a:ext>
              </a:extLst>
            </p:cNvPr>
            <p:cNvPicPr>
              <a:picLocks noChangeAspect="1"/>
            </p:cNvPicPr>
            <p:nvPr/>
          </p:nvPicPr>
          <p:blipFill>
            <a:blip r:embed="rId6">
              <a:clrChange>
                <a:clrFrom>
                  <a:srgbClr val="FFFFFE"/>
                </a:clrFrom>
                <a:clrTo>
                  <a:srgbClr val="FFFFFE">
                    <a:alpha val="0"/>
                  </a:srgbClr>
                </a:clrTo>
              </a:clrChange>
            </a:blip>
            <a:stretch>
              <a:fillRect/>
            </a:stretch>
          </p:blipFill>
          <p:spPr>
            <a:xfrm>
              <a:off x="811482" y="3923144"/>
              <a:ext cx="614982" cy="717194"/>
            </a:xfrm>
            <a:prstGeom prst="rect">
              <a:avLst/>
            </a:prstGeom>
          </p:spPr>
        </p:pic>
        <p:pic>
          <p:nvPicPr>
            <p:cNvPr id="38" name="Picture 37">
              <a:extLst>
                <a:ext uri="{FF2B5EF4-FFF2-40B4-BE49-F238E27FC236}">
                  <a16:creationId xmlns:a16="http://schemas.microsoft.com/office/drawing/2014/main" id="{3F01325A-79E6-E20D-C536-8995FC765948}"/>
                </a:ext>
              </a:extLst>
            </p:cNvPr>
            <p:cNvPicPr>
              <a:picLocks noChangeAspect="1"/>
            </p:cNvPicPr>
            <p:nvPr/>
          </p:nvPicPr>
          <p:blipFill>
            <a:blip r:embed="rId7">
              <a:clrChange>
                <a:clrFrom>
                  <a:srgbClr val="FFFFFE"/>
                </a:clrFrom>
                <a:clrTo>
                  <a:srgbClr val="FFFFFE">
                    <a:alpha val="0"/>
                  </a:srgbClr>
                </a:clrTo>
              </a:clrChange>
            </a:blip>
            <a:stretch>
              <a:fillRect/>
            </a:stretch>
          </p:blipFill>
          <p:spPr>
            <a:xfrm>
              <a:off x="1664376" y="3980839"/>
              <a:ext cx="539496" cy="693897"/>
            </a:xfrm>
            <a:prstGeom prst="rect">
              <a:avLst/>
            </a:prstGeom>
          </p:spPr>
        </p:pic>
        <p:grpSp>
          <p:nvGrpSpPr>
            <p:cNvPr id="22" name="Group 21">
              <a:extLst>
                <a:ext uri="{FF2B5EF4-FFF2-40B4-BE49-F238E27FC236}">
                  <a16:creationId xmlns:a16="http://schemas.microsoft.com/office/drawing/2014/main" id="{4732388C-EC81-65DA-71FF-B33728CF40F9}"/>
                </a:ext>
              </a:extLst>
            </p:cNvPr>
            <p:cNvGrpSpPr/>
            <p:nvPr/>
          </p:nvGrpSpPr>
          <p:grpSpPr>
            <a:xfrm>
              <a:off x="3022788" y="1960394"/>
              <a:ext cx="1922400" cy="2764800"/>
              <a:chOff x="2990505" y="1960394"/>
              <a:chExt cx="1922400" cy="2764800"/>
            </a:xfrm>
          </p:grpSpPr>
          <p:sp>
            <p:nvSpPr>
              <p:cNvPr id="15" name="Rectangle 14">
                <a:extLst>
                  <a:ext uri="{FF2B5EF4-FFF2-40B4-BE49-F238E27FC236}">
                    <a16:creationId xmlns:a16="http://schemas.microsoft.com/office/drawing/2014/main" id="{5D196F61-C5B9-50DC-07A4-27D8B1AD86EB}"/>
                  </a:ext>
                </a:extLst>
              </p:cNvPr>
              <p:cNvSpPr/>
              <p:nvPr/>
            </p:nvSpPr>
            <p:spPr>
              <a:xfrm>
                <a:off x="2990505" y="1960394"/>
                <a:ext cx="1922400" cy="2764800"/>
              </a:xfrm>
              <a:prstGeom prst="rect">
                <a:avLst/>
              </a:prstGeom>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t"/>
              <a:lstStyle/>
              <a:p>
                <a:pPr algn="ctr">
                  <a:spcAft>
                    <a:spcPts val="600"/>
                  </a:spcAft>
                </a:pPr>
                <a:r>
                  <a:rPr lang="en-US" sz="1000" noProof="0">
                    <a:solidFill>
                      <a:schemeClr val="tx1"/>
                    </a:solidFill>
                  </a:rPr>
                  <a:t>Understand existing IT ecosystem</a:t>
                </a:r>
                <a:r>
                  <a:rPr lang="en-US" sz="1000">
                    <a:solidFill>
                      <a:schemeClr val="tx1"/>
                    </a:solidFill>
                  </a:rPr>
                  <a:t> </a:t>
                </a:r>
                <a:r>
                  <a:rPr lang="en-US" sz="1000" noProof="0">
                    <a:solidFill>
                      <a:schemeClr val="tx1"/>
                    </a:solidFill>
                  </a:rPr>
                  <a:t> </a:t>
                </a:r>
              </a:p>
            </p:txBody>
          </p:sp>
          <p:sp>
            <p:nvSpPr>
              <p:cNvPr id="39" name="Rectangle 38">
                <a:extLst>
                  <a:ext uri="{FF2B5EF4-FFF2-40B4-BE49-F238E27FC236}">
                    <a16:creationId xmlns:a16="http://schemas.microsoft.com/office/drawing/2014/main" id="{377506DB-6760-8147-99B4-D6CE0631807D}"/>
                  </a:ext>
                </a:extLst>
              </p:cNvPr>
              <p:cNvSpPr/>
              <p:nvPr/>
            </p:nvSpPr>
            <p:spPr>
              <a:xfrm>
                <a:off x="3020329" y="2534665"/>
                <a:ext cx="832789" cy="2816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a:t>CRM</a:t>
                </a:r>
              </a:p>
            </p:txBody>
          </p:sp>
          <p:sp>
            <p:nvSpPr>
              <p:cNvPr id="40" name="Rectangle 39">
                <a:extLst>
                  <a:ext uri="{FF2B5EF4-FFF2-40B4-BE49-F238E27FC236}">
                    <a16:creationId xmlns:a16="http://schemas.microsoft.com/office/drawing/2014/main" id="{9D994AAC-DD87-501B-914C-EA98C666B278}"/>
                  </a:ext>
                </a:extLst>
              </p:cNvPr>
              <p:cNvSpPr/>
              <p:nvPr/>
            </p:nvSpPr>
            <p:spPr>
              <a:xfrm>
                <a:off x="3981534" y="2534664"/>
                <a:ext cx="832789" cy="2816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a:t>Billing</a:t>
                </a:r>
              </a:p>
            </p:txBody>
          </p:sp>
          <p:sp>
            <p:nvSpPr>
              <p:cNvPr id="41" name="Rectangle 40">
                <a:extLst>
                  <a:ext uri="{FF2B5EF4-FFF2-40B4-BE49-F238E27FC236}">
                    <a16:creationId xmlns:a16="http://schemas.microsoft.com/office/drawing/2014/main" id="{97F98D27-6A11-BC9E-315C-8F60A024233D}"/>
                  </a:ext>
                </a:extLst>
              </p:cNvPr>
              <p:cNvSpPr/>
              <p:nvPr/>
            </p:nvSpPr>
            <p:spPr>
              <a:xfrm>
                <a:off x="3020329" y="2950086"/>
                <a:ext cx="832789" cy="2816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a:t>CPQ</a:t>
                </a:r>
              </a:p>
            </p:txBody>
          </p:sp>
          <p:sp>
            <p:nvSpPr>
              <p:cNvPr id="42" name="Rectangle 41">
                <a:extLst>
                  <a:ext uri="{FF2B5EF4-FFF2-40B4-BE49-F238E27FC236}">
                    <a16:creationId xmlns:a16="http://schemas.microsoft.com/office/drawing/2014/main" id="{ED4FB197-1B5D-FB98-03F6-CAA9F85BC075}"/>
                  </a:ext>
                </a:extLst>
              </p:cNvPr>
              <p:cNvSpPr/>
              <p:nvPr/>
            </p:nvSpPr>
            <p:spPr>
              <a:xfrm>
                <a:off x="3947928" y="2950085"/>
                <a:ext cx="900000" cy="332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a:t>Provisioning</a:t>
                </a:r>
              </a:p>
            </p:txBody>
          </p:sp>
          <p:sp>
            <p:nvSpPr>
              <p:cNvPr id="43" name="Rectangle 42">
                <a:extLst>
                  <a:ext uri="{FF2B5EF4-FFF2-40B4-BE49-F238E27FC236}">
                    <a16:creationId xmlns:a16="http://schemas.microsoft.com/office/drawing/2014/main" id="{E57A038B-86BE-65B0-06F3-D7E64F384BB5}"/>
                  </a:ext>
                </a:extLst>
              </p:cNvPr>
              <p:cNvSpPr/>
              <p:nvPr/>
            </p:nvSpPr>
            <p:spPr>
              <a:xfrm>
                <a:off x="3020329" y="3377144"/>
                <a:ext cx="832789" cy="2816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a:t>Mediation</a:t>
                </a:r>
              </a:p>
            </p:txBody>
          </p:sp>
          <p:sp>
            <p:nvSpPr>
              <p:cNvPr id="44" name="Rectangle 43">
                <a:extLst>
                  <a:ext uri="{FF2B5EF4-FFF2-40B4-BE49-F238E27FC236}">
                    <a16:creationId xmlns:a16="http://schemas.microsoft.com/office/drawing/2014/main" id="{77FC3FA7-05C9-0D39-8F82-A119B7D12934}"/>
                  </a:ext>
                </a:extLst>
              </p:cNvPr>
              <p:cNvSpPr/>
              <p:nvPr/>
            </p:nvSpPr>
            <p:spPr>
              <a:xfrm>
                <a:off x="3982128" y="3354182"/>
                <a:ext cx="831600" cy="332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a:t>WFM</a:t>
                </a:r>
              </a:p>
            </p:txBody>
          </p:sp>
          <p:sp>
            <p:nvSpPr>
              <p:cNvPr id="45" name="Rectangle 44">
                <a:extLst>
                  <a:ext uri="{FF2B5EF4-FFF2-40B4-BE49-F238E27FC236}">
                    <a16:creationId xmlns:a16="http://schemas.microsoft.com/office/drawing/2014/main" id="{15D498F9-7CE8-4FB9-8907-77DE5641365E}"/>
                  </a:ext>
                </a:extLst>
              </p:cNvPr>
              <p:cNvSpPr/>
              <p:nvPr/>
            </p:nvSpPr>
            <p:spPr>
              <a:xfrm>
                <a:off x="3020923" y="3788112"/>
                <a:ext cx="831600" cy="332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a:t>Product catalog</a:t>
                </a:r>
              </a:p>
            </p:txBody>
          </p:sp>
          <p:sp>
            <p:nvSpPr>
              <p:cNvPr id="46" name="Rectangle 45">
                <a:extLst>
                  <a:ext uri="{FF2B5EF4-FFF2-40B4-BE49-F238E27FC236}">
                    <a16:creationId xmlns:a16="http://schemas.microsoft.com/office/drawing/2014/main" id="{48BAEC7A-E1E5-05C1-A58A-B7B50453272B}"/>
                  </a:ext>
                </a:extLst>
              </p:cNvPr>
              <p:cNvSpPr/>
              <p:nvPr/>
            </p:nvSpPr>
            <p:spPr>
              <a:xfrm>
                <a:off x="3982128" y="3794047"/>
                <a:ext cx="831600" cy="332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a:t>ESB</a:t>
                </a:r>
              </a:p>
            </p:txBody>
          </p:sp>
        </p:grpSp>
        <p:pic>
          <p:nvPicPr>
            <p:cNvPr id="49" name="Picture 48" descr="A diagram of a business process&#10;&#10;AI-generated content may be incorrect.">
              <a:extLst>
                <a:ext uri="{FF2B5EF4-FFF2-40B4-BE49-F238E27FC236}">
                  <a16:creationId xmlns:a16="http://schemas.microsoft.com/office/drawing/2014/main" id="{47B51D4C-916F-29EC-5757-8B3E0472C0D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91629" y="2073007"/>
              <a:ext cx="1143059" cy="864498"/>
            </a:xfrm>
            <a:prstGeom prst="rect">
              <a:avLst/>
            </a:prstGeom>
          </p:spPr>
        </p:pic>
        <p:sp>
          <p:nvSpPr>
            <p:cNvPr id="50" name="TextBox 49">
              <a:extLst>
                <a:ext uri="{FF2B5EF4-FFF2-40B4-BE49-F238E27FC236}">
                  <a16:creationId xmlns:a16="http://schemas.microsoft.com/office/drawing/2014/main" id="{0BC26AC2-DE28-4B2C-2DEE-DF442D75D32F}"/>
                </a:ext>
              </a:extLst>
            </p:cNvPr>
            <p:cNvSpPr txBox="1"/>
            <p:nvPr/>
          </p:nvSpPr>
          <p:spPr>
            <a:xfrm>
              <a:off x="5384265" y="2950905"/>
              <a:ext cx="1698569" cy="246221"/>
            </a:xfrm>
            <a:prstGeom prst="rect">
              <a:avLst/>
            </a:prstGeom>
            <a:noFill/>
          </p:spPr>
          <p:txBody>
            <a:bodyPr wrap="square" rtlCol="0">
              <a:spAutoFit/>
            </a:bodyPr>
            <a:lstStyle/>
            <a:p>
              <a:r>
                <a:rPr lang="en-US" sz="1000" noProof="0"/>
                <a:t>Architectural diagrams</a:t>
              </a:r>
            </a:p>
          </p:txBody>
        </p:sp>
        <p:pic>
          <p:nvPicPr>
            <p:cNvPr id="52" name="Picture 51">
              <a:extLst>
                <a:ext uri="{FF2B5EF4-FFF2-40B4-BE49-F238E27FC236}">
                  <a16:creationId xmlns:a16="http://schemas.microsoft.com/office/drawing/2014/main" id="{5E3B2B26-C8B0-1CD0-5DAA-EA5021442E9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559763" y="3161663"/>
              <a:ext cx="567015" cy="663617"/>
            </a:xfrm>
            <a:prstGeom prst="rect">
              <a:avLst/>
            </a:prstGeom>
          </p:spPr>
        </p:pic>
        <p:pic>
          <p:nvPicPr>
            <p:cNvPr id="54" name="Picture 53">
              <a:extLst>
                <a:ext uri="{FF2B5EF4-FFF2-40B4-BE49-F238E27FC236}">
                  <a16:creationId xmlns:a16="http://schemas.microsoft.com/office/drawing/2014/main" id="{734AAF26-A504-4433-8CD6-309D0FF8CA6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408996" y="4039226"/>
              <a:ext cx="1024168" cy="641726"/>
            </a:xfrm>
            <a:prstGeom prst="rect">
              <a:avLst/>
            </a:prstGeom>
          </p:spPr>
        </p:pic>
        <p:sp>
          <p:nvSpPr>
            <p:cNvPr id="55" name="TextBox 54">
              <a:extLst>
                <a:ext uri="{FF2B5EF4-FFF2-40B4-BE49-F238E27FC236}">
                  <a16:creationId xmlns:a16="http://schemas.microsoft.com/office/drawing/2014/main" id="{3DBE70F6-3191-AFC1-7699-B166D9006B7E}"/>
                </a:ext>
              </a:extLst>
            </p:cNvPr>
            <p:cNvSpPr txBox="1"/>
            <p:nvPr/>
          </p:nvSpPr>
          <p:spPr>
            <a:xfrm>
              <a:off x="6393799" y="4236979"/>
              <a:ext cx="878729" cy="246221"/>
            </a:xfrm>
            <a:prstGeom prst="rect">
              <a:avLst/>
            </a:prstGeom>
            <a:noFill/>
          </p:spPr>
          <p:txBody>
            <a:bodyPr wrap="square" rtlCol="0">
              <a:spAutoFit/>
            </a:bodyPr>
            <a:lstStyle/>
            <a:p>
              <a:r>
                <a:rPr lang="en-US" sz="1000" noProof="0"/>
                <a:t>Interfaces</a:t>
              </a:r>
            </a:p>
          </p:txBody>
        </p:sp>
        <p:sp>
          <p:nvSpPr>
            <p:cNvPr id="56" name="TextBox 55">
              <a:extLst>
                <a:ext uri="{FF2B5EF4-FFF2-40B4-BE49-F238E27FC236}">
                  <a16:creationId xmlns:a16="http://schemas.microsoft.com/office/drawing/2014/main" id="{A276DE2E-D78E-0FDD-84AC-A3C7EDC10891}"/>
                </a:ext>
              </a:extLst>
            </p:cNvPr>
            <p:cNvSpPr txBox="1"/>
            <p:nvPr/>
          </p:nvSpPr>
          <p:spPr>
            <a:xfrm>
              <a:off x="5298166" y="3370361"/>
              <a:ext cx="1305067" cy="246221"/>
            </a:xfrm>
            <a:prstGeom prst="rect">
              <a:avLst/>
            </a:prstGeom>
            <a:noFill/>
          </p:spPr>
          <p:txBody>
            <a:bodyPr wrap="square" rtlCol="0">
              <a:spAutoFit/>
            </a:bodyPr>
            <a:lstStyle/>
            <a:p>
              <a:r>
                <a:rPr lang="en-US" sz="1000" noProof="0"/>
                <a:t>Data flow diagrams</a:t>
              </a:r>
            </a:p>
          </p:txBody>
        </p:sp>
        <p:pic>
          <p:nvPicPr>
            <p:cNvPr id="60" name="Picture 59" descr="A person and two kids talking&#10;&#10;AI-generated content may be incorrect.">
              <a:extLst>
                <a:ext uri="{FF2B5EF4-FFF2-40B4-BE49-F238E27FC236}">
                  <a16:creationId xmlns:a16="http://schemas.microsoft.com/office/drawing/2014/main" id="{36A89F59-73E2-1307-8A61-92C99B51EEC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856149" y="1971631"/>
              <a:ext cx="967410" cy="644940"/>
            </a:xfrm>
            <a:prstGeom prst="rect">
              <a:avLst/>
            </a:prstGeom>
          </p:spPr>
        </p:pic>
        <p:sp>
          <p:nvSpPr>
            <p:cNvPr id="62" name="TextBox 61">
              <a:extLst>
                <a:ext uri="{FF2B5EF4-FFF2-40B4-BE49-F238E27FC236}">
                  <a16:creationId xmlns:a16="http://schemas.microsoft.com/office/drawing/2014/main" id="{95E539C3-A7A1-E8DD-C26B-A0FCD02D4380}"/>
                </a:ext>
              </a:extLst>
            </p:cNvPr>
            <p:cNvSpPr txBox="1"/>
            <p:nvPr/>
          </p:nvSpPr>
          <p:spPr>
            <a:xfrm>
              <a:off x="8823559" y="1988143"/>
              <a:ext cx="2813321" cy="246221"/>
            </a:xfrm>
            <a:prstGeom prst="rect">
              <a:avLst/>
            </a:prstGeom>
            <a:noFill/>
          </p:spPr>
          <p:txBody>
            <a:bodyPr wrap="square" lIns="91440" tIns="45720" rIns="91440" bIns="45720" anchor="t">
              <a:spAutoFit/>
            </a:bodyPr>
            <a:lstStyle/>
            <a:p>
              <a:pPr>
                <a:spcAft>
                  <a:spcPts val="600"/>
                </a:spcAft>
              </a:pPr>
              <a:r>
                <a:rPr lang="en-US" sz="1000" noProof="0"/>
                <a:t>Kick off discussion with key stakeholders </a:t>
              </a:r>
            </a:p>
          </p:txBody>
        </p:sp>
        <p:pic>
          <p:nvPicPr>
            <p:cNvPr id="64" name="Picture 63" descr="A group of people sitting around a table&#10;&#10;AI-generated content may be incorrect.">
              <a:extLst>
                <a:ext uri="{FF2B5EF4-FFF2-40B4-BE49-F238E27FC236}">
                  <a16:creationId xmlns:a16="http://schemas.microsoft.com/office/drawing/2014/main" id="{3EE579BE-60DF-2D8E-B7AA-0150F283B44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381114" y="2640545"/>
              <a:ext cx="774440" cy="657143"/>
            </a:xfrm>
            <a:prstGeom prst="rect">
              <a:avLst/>
            </a:prstGeom>
          </p:spPr>
        </p:pic>
        <p:sp>
          <p:nvSpPr>
            <p:cNvPr id="66" name="TextBox 65">
              <a:extLst>
                <a:ext uri="{FF2B5EF4-FFF2-40B4-BE49-F238E27FC236}">
                  <a16:creationId xmlns:a16="http://schemas.microsoft.com/office/drawing/2014/main" id="{1887357E-673F-21A1-13BD-9EFB83876344}"/>
                </a:ext>
              </a:extLst>
            </p:cNvPr>
            <p:cNvSpPr txBox="1"/>
            <p:nvPr/>
          </p:nvSpPr>
          <p:spPr>
            <a:xfrm>
              <a:off x="9155554" y="2724304"/>
              <a:ext cx="2813321" cy="507831"/>
            </a:xfrm>
            <a:prstGeom prst="rect">
              <a:avLst/>
            </a:prstGeom>
            <a:noFill/>
          </p:spPr>
          <p:txBody>
            <a:bodyPr wrap="square">
              <a:spAutoFit/>
            </a:bodyPr>
            <a:lstStyle/>
            <a:p>
              <a:pPr>
                <a:spcAft>
                  <a:spcPts val="600"/>
                </a:spcAft>
              </a:pPr>
              <a:r>
                <a:rPr lang="en-US" sz="900" noProof="0">
                  <a:solidFill>
                    <a:schemeClr val="tx1"/>
                  </a:solidFill>
                </a:rPr>
                <a:t>Focus interviews on investment rationale  and scope for proposed solutions and transformation scenarios</a:t>
              </a:r>
            </a:p>
          </p:txBody>
        </p:sp>
        <p:pic>
          <p:nvPicPr>
            <p:cNvPr id="68" name="Picture 67" descr="A paper with instructions and a green and white background&#10;&#10;AI-generated content may be incorrect.">
              <a:extLst>
                <a:ext uri="{FF2B5EF4-FFF2-40B4-BE49-F238E27FC236}">
                  <a16:creationId xmlns:a16="http://schemas.microsoft.com/office/drawing/2014/main" id="{BD6C4A6C-1690-BEDD-4946-DA4C153B07D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856149" y="3367137"/>
              <a:ext cx="765745" cy="1084174"/>
            </a:xfrm>
            <a:prstGeom prst="rect">
              <a:avLst/>
            </a:prstGeom>
          </p:spPr>
        </p:pic>
        <p:sp>
          <p:nvSpPr>
            <p:cNvPr id="69" name="TextBox 68">
              <a:extLst>
                <a:ext uri="{FF2B5EF4-FFF2-40B4-BE49-F238E27FC236}">
                  <a16:creationId xmlns:a16="http://schemas.microsoft.com/office/drawing/2014/main" id="{962BC6CE-F9B9-D2C2-CF83-CC2902F2A987}"/>
                </a:ext>
              </a:extLst>
            </p:cNvPr>
            <p:cNvSpPr txBox="1"/>
            <p:nvPr/>
          </p:nvSpPr>
          <p:spPr>
            <a:xfrm>
              <a:off x="8607012" y="3388980"/>
              <a:ext cx="3339376" cy="646331"/>
            </a:xfrm>
            <a:prstGeom prst="rect">
              <a:avLst/>
            </a:prstGeom>
            <a:noFill/>
          </p:spPr>
          <p:txBody>
            <a:bodyPr wrap="square" rtlCol="0">
              <a:spAutoFit/>
            </a:bodyPr>
            <a:lstStyle/>
            <a:p>
              <a:r>
                <a:rPr lang="en-US" sz="900" noProof="0"/>
                <a:t>Issue questionnaire to understand the existing spend (CapEx</a:t>
              </a:r>
            </a:p>
            <a:p>
              <a:r>
                <a:rPr lang="en-US" sz="900" noProof="0"/>
                <a:t> and OpEx), including license, infrastructure and </a:t>
              </a:r>
            </a:p>
            <a:p>
              <a:r>
                <a:rPr lang="en-US" sz="900" noProof="0"/>
                <a:t>support &amp; maintenance costs</a:t>
              </a:r>
            </a:p>
            <a:p>
              <a:endParaRPr lang="en-US" sz="900" noProof="0"/>
            </a:p>
          </p:txBody>
        </p:sp>
        <p:pic>
          <p:nvPicPr>
            <p:cNvPr id="71" name="Picture 70" descr="A group of tags with text&#10;&#10;AI-generated content may be incorrect.">
              <a:extLst>
                <a:ext uri="{FF2B5EF4-FFF2-40B4-BE49-F238E27FC236}">
                  <a16:creationId xmlns:a16="http://schemas.microsoft.com/office/drawing/2014/main" id="{406B7303-0A2B-4A9C-B8CC-6C474BA9A15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673857" y="3978436"/>
              <a:ext cx="605761" cy="494125"/>
            </a:xfrm>
            <a:prstGeom prst="rect">
              <a:avLst/>
            </a:prstGeom>
          </p:spPr>
        </p:pic>
        <p:sp>
          <p:nvSpPr>
            <p:cNvPr id="72" name="TextBox 71">
              <a:extLst>
                <a:ext uri="{FF2B5EF4-FFF2-40B4-BE49-F238E27FC236}">
                  <a16:creationId xmlns:a16="http://schemas.microsoft.com/office/drawing/2014/main" id="{B3D34B06-E177-CCD0-08E8-492E1EC53A94}"/>
                </a:ext>
              </a:extLst>
            </p:cNvPr>
            <p:cNvSpPr txBox="1"/>
            <p:nvPr/>
          </p:nvSpPr>
          <p:spPr>
            <a:xfrm>
              <a:off x="9236842" y="3989396"/>
              <a:ext cx="2727029" cy="646331"/>
            </a:xfrm>
            <a:prstGeom prst="rect">
              <a:avLst/>
            </a:prstGeom>
            <a:noFill/>
          </p:spPr>
          <p:txBody>
            <a:bodyPr wrap="square" rtlCol="0">
              <a:spAutoFit/>
            </a:bodyPr>
            <a:lstStyle/>
            <a:p>
              <a:r>
                <a:rPr lang="en-US" sz="900" noProof="0"/>
                <a:t>Analyze existing BSS and OSS costs to build as-is </a:t>
              </a:r>
            </a:p>
            <a:p>
              <a:r>
                <a:rPr lang="en-US" sz="900" noProof="0"/>
                <a:t>TCO model and  identify high level cost levers </a:t>
              </a:r>
            </a:p>
            <a:p>
              <a:r>
                <a:rPr lang="en-US" sz="900" noProof="0"/>
                <a:t>based on initial assessment</a:t>
              </a:r>
            </a:p>
            <a:p>
              <a:endParaRPr lang="en-US" sz="900" noProof="0"/>
            </a:p>
          </p:txBody>
        </p:sp>
      </p:grpSp>
    </p:spTree>
    <p:extLst>
      <p:ext uri="{BB962C8B-B14F-4D97-AF65-F5344CB8AC3E}">
        <p14:creationId xmlns:p14="http://schemas.microsoft.com/office/powerpoint/2010/main" val="1848293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E6D4B-3FF7-0773-1FC5-AD160EF80BF2}"/>
            </a:ext>
          </a:extLst>
        </p:cNvPr>
        <p:cNvGrpSpPr/>
        <p:nvPr/>
      </p:nvGrpSpPr>
      <p:grpSpPr>
        <a:xfrm>
          <a:off x="0" y="0"/>
          <a:ext cx="0" cy="0"/>
          <a:chOff x="0" y="0"/>
          <a:chExt cx="0" cy="0"/>
        </a:xfrm>
      </p:grpSpPr>
      <p:sp>
        <p:nvSpPr>
          <p:cNvPr id="138" name="TextBox 137">
            <a:extLst>
              <a:ext uri="{FF2B5EF4-FFF2-40B4-BE49-F238E27FC236}">
                <a16:creationId xmlns:a16="http://schemas.microsoft.com/office/drawing/2014/main" id="{6674650A-B299-64F9-C3C0-F626C810B624}"/>
              </a:ext>
            </a:extLst>
          </p:cNvPr>
          <p:cNvSpPr txBox="1"/>
          <p:nvPr/>
        </p:nvSpPr>
        <p:spPr>
          <a:xfrm>
            <a:off x="297826" y="486844"/>
            <a:ext cx="10370174" cy="584775"/>
          </a:xfrm>
          <a:prstGeom prst="rect">
            <a:avLst/>
          </a:prstGeom>
          <a:noFill/>
        </p:spPr>
        <p:txBody>
          <a:bodyPr wrap="square" lIns="91440" tIns="45720" rIns="91440" bIns="45720" anchor="t">
            <a:spAutoFit/>
          </a:bodyPr>
          <a:lstStyle/>
          <a:p>
            <a:pPr>
              <a:defRPr/>
            </a:pPr>
            <a:r>
              <a:rPr lang="en-US" sz="1600" noProof="0">
                <a:solidFill>
                  <a:schemeClr val="bg1"/>
                </a:solidFill>
                <a:latin typeface="Calibri"/>
                <a:cs typeface="Calibri"/>
              </a:rPr>
              <a:t>Vendor evaluation will be structured around defined categories, with subgroup criteria, grading,</a:t>
            </a:r>
            <a:r>
              <a:rPr lang="en-US" sz="1600">
                <a:solidFill>
                  <a:schemeClr val="bg1"/>
                </a:solidFill>
                <a:latin typeface="Calibri"/>
                <a:cs typeface="Calibri"/>
              </a:rPr>
              <a:t> </a:t>
            </a:r>
            <a:r>
              <a:rPr lang="en-US" sz="1600" noProof="0">
                <a:solidFill>
                  <a:schemeClr val="bg1"/>
                </a:solidFill>
                <a:latin typeface="Calibri"/>
                <a:cs typeface="Calibri"/>
              </a:rPr>
              <a:t>scoring</a:t>
            </a:r>
            <a:r>
              <a:rPr lang="en-US" sz="1600">
                <a:solidFill>
                  <a:schemeClr val="bg1"/>
                </a:solidFill>
                <a:latin typeface="Calibri"/>
                <a:cs typeface="Calibri"/>
              </a:rPr>
              <a:t> and Future</a:t>
            </a:r>
            <a:r>
              <a:rPr lang="en-US" sz="1600" noProof="0">
                <a:solidFill>
                  <a:schemeClr val="bg1"/>
                </a:solidFill>
                <a:latin typeface="Calibri"/>
                <a:cs typeface="Calibri"/>
              </a:rPr>
              <a:t> State collaborators.</a:t>
            </a:r>
          </a:p>
        </p:txBody>
      </p:sp>
      <p:sp>
        <p:nvSpPr>
          <p:cNvPr id="139" name="Title 1">
            <a:extLst>
              <a:ext uri="{FF2B5EF4-FFF2-40B4-BE49-F238E27FC236}">
                <a16:creationId xmlns:a16="http://schemas.microsoft.com/office/drawing/2014/main" id="{C6626A8E-DCB4-D541-C0F6-ED018FD136CB}"/>
              </a:ext>
            </a:extLst>
          </p:cNvPr>
          <p:cNvSpPr>
            <a:spLocks noGrp="1"/>
          </p:cNvSpPr>
          <p:nvPr>
            <p:ph type="title"/>
          </p:nvPr>
        </p:nvSpPr>
        <p:spPr>
          <a:xfrm>
            <a:off x="344744" y="203648"/>
            <a:ext cx="10873877" cy="379188"/>
          </a:xfrm>
        </p:spPr>
        <p:txBody>
          <a:bodyPr vert="horz" anchor="t"/>
          <a:lstStyle/>
          <a:p>
            <a:r>
              <a:rPr lang="en-US" sz="2400" cap="none" noProof="0"/>
              <a:t>Our </a:t>
            </a:r>
            <a:r>
              <a:rPr lang="en-US" cap="none" noProof="0"/>
              <a:t>vendor market analysis </a:t>
            </a:r>
            <a:r>
              <a:rPr lang="en-US" sz="2400" cap="none" noProof="0"/>
              <a:t>&amp; </a:t>
            </a:r>
            <a:r>
              <a:rPr lang="en-US" cap="none" noProof="0"/>
              <a:t>pre-selection approach</a:t>
            </a:r>
            <a:r>
              <a:rPr lang="en-US" sz="2400" cap="none" noProof="0"/>
              <a:t> </a:t>
            </a:r>
          </a:p>
        </p:txBody>
      </p:sp>
      <p:sp>
        <p:nvSpPr>
          <p:cNvPr id="147" name="TextBox 146">
            <a:extLst>
              <a:ext uri="{FF2B5EF4-FFF2-40B4-BE49-F238E27FC236}">
                <a16:creationId xmlns:a16="http://schemas.microsoft.com/office/drawing/2014/main" id="{17409D4F-0B00-6D6B-85BA-795D6CABF77E}"/>
              </a:ext>
            </a:extLst>
          </p:cNvPr>
          <p:cNvSpPr txBox="1"/>
          <p:nvPr/>
        </p:nvSpPr>
        <p:spPr>
          <a:xfrm>
            <a:off x="755664" y="6113455"/>
            <a:ext cx="10680672" cy="307777"/>
          </a:xfrm>
          <a:prstGeom prst="rect">
            <a:avLst/>
          </a:prstGeom>
          <a:noFill/>
        </p:spPr>
        <p:txBody>
          <a:bodyPr wrap="square">
            <a:spAutoFit/>
          </a:bodyPr>
          <a:lstStyle/>
          <a:p>
            <a:pPr algn="ctr"/>
            <a:r>
              <a:rPr lang="en-US" sz="1400" b="1" noProof="0">
                <a:solidFill>
                  <a:schemeClr val="bg1"/>
                </a:solidFill>
              </a:rPr>
              <a:t>Market analysis and vendor evaluation will drive a focused shortlist for high-impact RFP execution</a:t>
            </a:r>
          </a:p>
        </p:txBody>
      </p:sp>
      <p:grpSp>
        <p:nvGrpSpPr>
          <p:cNvPr id="9" name="Group 8">
            <a:extLst>
              <a:ext uri="{FF2B5EF4-FFF2-40B4-BE49-F238E27FC236}">
                <a16:creationId xmlns:a16="http://schemas.microsoft.com/office/drawing/2014/main" id="{33EACDD3-0EDF-67B3-CE8C-1A1A54BF5D6D}"/>
              </a:ext>
            </a:extLst>
          </p:cNvPr>
          <p:cNvGrpSpPr/>
          <p:nvPr/>
        </p:nvGrpSpPr>
        <p:grpSpPr>
          <a:xfrm>
            <a:off x="344744" y="1514544"/>
            <a:ext cx="11704382" cy="4552882"/>
            <a:chOff x="344744" y="1514544"/>
            <a:chExt cx="11704382" cy="4552882"/>
          </a:xfrm>
        </p:grpSpPr>
        <p:sp>
          <p:nvSpPr>
            <p:cNvPr id="122" name="AutoShape 12">
              <a:extLst>
                <a:ext uri="{FF2B5EF4-FFF2-40B4-BE49-F238E27FC236}">
                  <a16:creationId xmlns:a16="http://schemas.microsoft.com/office/drawing/2014/main" id="{6D2FF49E-B02C-2779-0458-8104EE1D8D46}"/>
                </a:ext>
              </a:extLst>
            </p:cNvPr>
            <p:cNvSpPr>
              <a:spLocks noChangeArrowheads="1"/>
            </p:cNvSpPr>
            <p:nvPr/>
          </p:nvSpPr>
          <p:spPr bwMode="gray">
            <a:xfrm>
              <a:off x="467307" y="5485391"/>
              <a:ext cx="1568878" cy="439624"/>
            </a:xfrm>
            <a:prstGeom prst="homePlate">
              <a:avLst>
                <a:gd name="adj" fmla="val 31351"/>
              </a:avLst>
            </a:prstGeom>
            <a:solidFill>
              <a:schemeClr val="accent1"/>
            </a:solidFill>
            <a:ln w="12700" algn="ctr">
              <a:noFill/>
              <a:miter lim="800000"/>
              <a:headEnd/>
              <a:tailEnd/>
            </a:ln>
            <a:effectLst/>
          </p:spPr>
          <p:txBody>
            <a:bodyPr anchor="ctr"/>
            <a:lstStyle/>
            <a:p>
              <a:pPr marL="0" marR="0" lvl="0" indent="0" algn="ctr" defTabSz="914400" eaLnBrk="0" fontAlgn="auto" latinLnBrk="0" hangingPunct="0">
                <a:lnSpc>
                  <a:spcPct val="100000"/>
                </a:lnSpc>
                <a:spcBef>
                  <a:spcPts val="0"/>
                </a:spcBef>
                <a:spcAft>
                  <a:spcPct val="10000"/>
                </a:spcAft>
                <a:buClr>
                  <a:srgbClr val="0071CE"/>
                </a:buClr>
                <a:buSzTx/>
                <a:buFont typeface="Wingdings" pitchFamily="2" charset="2"/>
                <a:buNone/>
                <a:tabLst/>
                <a:defRPr/>
              </a:pPr>
              <a:r>
                <a:rPr kumimoji="0" lang="en-US" sz="1400" b="0" i="0" u="none" strike="noStrike" kern="0" cap="none" spc="0" normalizeH="0" baseline="0" noProof="0">
                  <a:ln>
                    <a:noFill/>
                  </a:ln>
                  <a:solidFill>
                    <a:schemeClr val="bg1"/>
                  </a:solidFill>
                  <a:effectLst/>
                  <a:uLnTx/>
                  <a:uFillTx/>
                  <a:latin typeface="Calibri"/>
                  <a:cs typeface="Calibri" pitchFamily="34" charset="0"/>
                </a:rPr>
                <a:t>Corporate Social Responsibility</a:t>
              </a:r>
            </a:p>
          </p:txBody>
        </p:sp>
        <p:sp>
          <p:nvSpPr>
            <p:cNvPr id="123" name="Rectangle 122">
              <a:extLst>
                <a:ext uri="{FF2B5EF4-FFF2-40B4-BE49-F238E27FC236}">
                  <a16:creationId xmlns:a16="http://schemas.microsoft.com/office/drawing/2014/main" id="{77DE6BE0-F003-D778-944D-0CB5B78F98B0}"/>
                </a:ext>
              </a:extLst>
            </p:cNvPr>
            <p:cNvSpPr/>
            <p:nvPr/>
          </p:nvSpPr>
          <p:spPr>
            <a:xfrm>
              <a:off x="2063619" y="1917754"/>
              <a:ext cx="1498104" cy="531812"/>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Economical Status</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Financial Status</a:t>
              </a:r>
            </a:p>
          </p:txBody>
        </p:sp>
        <p:sp>
          <p:nvSpPr>
            <p:cNvPr id="124" name="Rectangle 123">
              <a:extLst>
                <a:ext uri="{FF2B5EF4-FFF2-40B4-BE49-F238E27FC236}">
                  <a16:creationId xmlns:a16="http://schemas.microsoft.com/office/drawing/2014/main" id="{7C86C346-2F8F-281A-F25F-7B7E6A7DA450}"/>
                </a:ext>
              </a:extLst>
            </p:cNvPr>
            <p:cNvSpPr/>
            <p:nvPr/>
          </p:nvSpPr>
          <p:spPr>
            <a:xfrm>
              <a:off x="3764974" y="1917753"/>
              <a:ext cx="1496351" cy="531813"/>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Credit Score</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Liabilities</a:t>
              </a:r>
            </a:p>
          </p:txBody>
        </p:sp>
        <p:sp>
          <p:nvSpPr>
            <p:cNvPr id="125" name="Rectangle 124">
              <a:extLst>
                <a:ext uri="{FF2B5EF4-FFF2-40B4-BE49-F238E27FC236}">
                  <a16:creationId xmlns:a16="http://schemas.microsoft.com/office/drawing/2014/main" id="{09338915-D253-9BA6-5AAA-7C18FD656691}"/>
                </a:ext>
              </a:extLst>
            </p:cNvPr>
            <p:cNvSpPr/>
            <p:nvPr/>
          </p:nvSpPr>
          <p:spPr>
            <a:xfrm>
              <a:off x="3763223" y="3539060"/>
              <a:ext cx="1498102" cy="533400"/>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Management &amp; Organization</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Flexibility</a:t>
              </a:r>
            </a:p>
            <a:p>
              <a:pPr marR="0" lvl="0" defTabSz="914400" eaLnBrk="1" fontAlgn="auto" latinLnBrk="0" hangingPunct="1">
                <a:lnSpc>
                  <a:spcPct val="100000"/>
                </a:lnSpc>
                <a:spcBef>
                  <a:spcPts val="0"/>
                </a:spcBef>
                <a:spcAft>
                  <a:spcPts val="0"/>
                </a:spcAft>
                <a:buClrTx/>
                <a:buSzTx/>
                <a:tabLst/>
                <a:defRPr/>
              </a:pPr>
              <a:endParaRPr kumimoji="0" lang="en-US" sz="1067" b="0" i="0" u="none" strike="noStrike" kern="0" cap="none" spc="0" normalizeH="0" baseline="0" noProof="0">
                <a:ln>
                  <a:noFill/>
                </a:ln>
                <a:solidFill>
                  <a:schemeClr val="bg1"/>
                </a:solidFill>
                <a:effectLst/>
                <a:uLnTx/>
                <a:uFillTx/>
                <a:latin typeface="Calibri"/>
                <a:ea typeface="+mn-ea"/>
                <a:cs typeface="Calibri" pitchFamily="34" charset="0"/>
              </a:endParaRPr>
            </a:p>
          </p:txBody>
        </p:sp>
        <p:sp>
          <p:nvSpPr>
            <p:cNvPr id="126" name="Rectangle 125">
              <a:extLst>
                <a:ext uri="{FF2B5EF4-FFF2-40B4-BE49-F238E27FC236}">
                  <a16:creationId xmlns:a16="http://schemas.microsoft.com/office/drawing/2014/main" id="{E38CA72E-5674-9AE7-07EB-F53696933241}"/>
                </a:ext>
              </a:extLst>
            </p:cNvPr>
            <p:cNvSpPr/>
            <p:nvPr/>
          </p:nvSpPr>
          <p:spPr>
            <a:xfrm>
              <a:off x="2019745" y="4171031"/>
              <a:ext cx="2058795" cy="531812"/>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Amount Of Past Business</a:t>
              </a:r>
            </a:p>
            <a:p>
              <a:pPr marR="0" lvl="0" defTabSz="914400" eaLnBrk="1" fontAlgn="auto" latinLnBrk="0" hangingPunct="1">
                <a:lnSpc>
                  <a:spcPct val="100000"/>
                </a:lnSpc>
                <a:spcBef>
                  <a:spcPts val="0"/>
                </a:spcBef>
                <a:spcAft>
                  <a:spcPts val="0"/>
                </a:spcAft>
                <a:buClrTx/>
                <a:buSzTx/>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 &amp; Strategic Fit</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Customer Relationship</a:t>
              </a:r>
            </a:p>
          </p:txBody>
        </p:sp>
        <p:sp>
          <p:nvSpPr>
            <p:cNvPr id="127" name="Rectangle 126">
              <a:extLst>
                <a:ext uri="{FF2B5EF4-FFF2-40B4-BE49-F238E27FC236}">
                  <a16:creationId xmlns:a16="http://schemas.microsoft.com/office/drawing/2014/main" id="{9F630382-F85A-B51F-0E32-BEA25A755FAF}"/>
                </a:ext>
              </a:extLst>
            </p:cNvPr>
            <p:cNvSpPr/>
            <p:nvPr/>
          </p:nvSpPr>
          <p:spPr>
            <a:xfrm>
              <a:off x="3719348" y="4159918"/>
              <a:ext cx="1788963" cy="446923"/>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Packaging Abilities</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Performance History</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Warranties &amp; Claims</a:t>
              </a:r>
            </a:p>
          </p:txBody>
        </p:sp>
        <p:sp>
          <p:nvSpPr>
            <p:cNvPr id="128" name="Rectangle 127">
              <a:extLst>
                <a:ext uri="{FF2B5EF4-FFF2-40B4-BE49-F238E27FC236}">
                  <a16:creationId xmlns:a16="http://schemas.microsoft.com/office/drawing/2014/main" id="{E04A6EE9-A23E-8735-38DF-152A0FE4F2F9}"/>
                </a:ext>
              </a:extLst>
            </p:cNvPr>
            <p:cNvSpPr/>
            <p:nvPr/>
          </p:nvSpPr>
          <p:spPr>
            <a:xfrm>
              <a:off x="2047849" y="4834187"/>
              <a:ext cx="1985207" cy="531812"/>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Cultural Congruence</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ITC Systems</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Labor Relations</a:t>
              </a:r>
            </a:p>
          </p:txBody>
        </p:sp>
        <p:sp>
          <p:nvSpPr>
            <p:cNvPr id="129" name="Rectangle 128">
              <a:extLst>
                <a:ext uri="{FF2B5EF4-FFF2-40B4-BE49-F238E27FC236}">
                  <a16:creationId xmlns:a16="http://schemas.microsoft.com/office/drawing/2014/main" id="{A2F498FF-0069-474B-17E1-C3CAF5B5EA1D}"/>
                </a:ext>
              </a:extLst>
            </p:cNvPr>
            <p:cNvSpPr/>
            <p:nvPr/>
          </p:nvSpPr>
          <p:spPr>
            <a:xfrm>
              <a:off x="3747451" y="4846104"/>
              <a:ext cx="1564686" cy="531813"/>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Personnel Training</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Safety Awareness</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Procedures</a:t>
              </a:r>
            </a:p>
          </p:txBody>
        </p:sp>
        <p:sp>
          <p:nvSpPr>
            <p:cNvPr id="130" name="Rectangle 129">
              <a:extLst>
                <a:ext uri="{FF2B5EF4-FFF2-40B4-BE49-F238E27FC236}">
                  <a16:creationId xmlns:a16="http://schemas.microsoft.com/office/drawing/2014/main" id="{682C8369-D9B9-1D3E-88AD-3EE9E22809ED}"/>
                </a:ext>
              </a:extLst>
            </p:cNvPr>
            <p:cNvSpPr/>
            <p:nvPr/>
          </p:nvSpPr>
          <p:spPr>
            <a:xfrm>
              <a:off x="2099493" y="5429181"/>
              <a:ext cx="1513874" cy="531812"/>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Environmental</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Competency</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Environmental Policies</a:t>
              </a:r>
            </a:p>
          </p:txBody>
        </p:sp>
        <p:sp>
          <p:nvSpPr>
            <p:cNvPr id="131" name="Rectangle 130">
              <a:extLst>
                <a:ext uri="{FF2B5EF4-FFF2-40B4-BE49-F238E27FC236}">
                  <a16:creationId xmlns:a16="http://schemas.microsoft.com/office/drawing/2014/main" id="{2C23A527-E0D3-48BC-33D4-0A4BBC54FCC6}"/>
                </a:ext>
              </a:extLst>
            </p:cNvPr>
            <p:cNvSpPr/>
            <p:nvPr/>
          </p:nvSpPr>
          <p:spPr>
            <a:xfrm>
              <a:off x="2063619" y="3585407"/>
              <a:ext cx="2041274" cy="533400"/>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Cost, Innovation </a:t>
              </a:r>
              <a:r>
                <a:rPr lang="en-US" sz="1067" kern="0" noProof="0">
                  <a:solidFill>
                    <a:schemeClr val="bg1"/>
                  </a:solidFill>
                  <a:latin typeface="Calibri"/>
                  <a:cs typeface="Calibri" pitchFamily="34" charset="0"/>
                </a:rPr>
                <a:t>&amp; </a:t>
              </a: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R&amp;D</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Product Reliability</a:t>
              </a:r>
            </a:p>
            <a:p>
              <a:pPr marR="0" lvl="0" defTabSz="914400" eaLnBrk="1" fontAlgn="auto" latinLnBrk="0" hangingPunct="1">
                <a:lnSpc>
                  <a:spcPct val="100000"/>
                </a:lnSpc>
                <a:spcBef>
                  <a:spcPts val="0"/>
                </a:spcBef>
                <a:spcAft>
                  <a:spcPts val="0"/>
                </a:spcAft>
                <a:buClrTx/>
                <a:buSzTx/>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Quality</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67" b="0" i="0" u="none" strike="noStrike" kern="0" cap="none" spc="0" normalizeH="0" baseline="0" noProof="0">
                <a:ln>
                  <a:noFill/>
                </a:ln>
                <a:solidFill>
                  <a:schemeClr val="bg1"/>
                </a:solidFill>
                <a:effectLst/>
                <a:uLnTx/>
                <a:uFillTx/>
                <a:latin typeface="Calibri"/>
                <a:ea typeface="+mn-ea"/>
                <a:cs typeface="Calibri" pitchFamily="34" charset="0"/>
              </a:endParaRPr>
            </a:p>
          </p:txBody>
        </p:sp>
        <p:cxnSp>
          <p:nvCxnSpPr>
            <p:cNvPr id="132" name="Straight Connector 131">
              <a:extLst>
                <a:ext uri="{FF2B5EF4-FFF2-40B4-BE49-F238E27FC236}">
                  <a16:creationId xmlns:a16="http://schemas.microsoft.com/office/drawing/2014/main" id="{2A4E3A63-0B5D-9C93-E5B2-3840E51F26A5}"/>
                </a:ext>
              </a:extLst>
            </p:cNvPr>
            <p:cNvCxnSpPr/>
            <p:nvPr/>
          </p:nvCxnSpPr>
          <p:spPr>
            <a:xfrm>
              <a:off x="410156" y="2449566"/>
              <a:ext cx="4813204" cy="0"/>
            </a:xfrm>
            <a:prstGeom prst="line">
              <a:avLst/>
            </a:prstGeom>
            <a:noFill/>
            <a:ln w="3175" cap="flat" cmpd="sng" algn="ctr">
              <a:solidFill>
                <a:srgbClr val="FFFFFF">
                  <a:lumMod val="75000"/>
                </a:srgbClr>
              </a:solidFill>
              <a:prstDash val="lgDash"/>
              <a:miter lim="800000"/>
            </a:ln>
            <a:effectLst/>
          </p:spPr>
        </p:cxnSp>
        <p:cxnSp>
          <p:nvCxnSpPr>
            <p:cNvPr id="133" name="Straight Connector 132">
              <a:extLst>
                <a:ext uri="{FF2B5EF4-FFF2-40B4-BE49-F238E27FC236}">
                  <a16:creationId xmlns:a16="http://schemas.microsoft.com/office/drawing/2014/main" id="{AB845935-7CBB-6359-5686-4DE7D4863781}"/>
                </a:ext>
              </a:extLst>
            </p:cNvPr>
            <p:cNvCxnSpPr/>
            <p:nvPr/>
          </p:nvCxnSpPr>
          <p:spPr>
            <a:xfrm>
              <a:off x="424385" y="4141835"/>
              <a:ext cx="4813204" cy="0"/>
            </a:xfrm>
            <a:prstGeom prst="line">
              <a:avLst/>
            </a:prstGeom>
            <a:noFill/>
            <a:ln w="3175" cap="flat" cmpd="sng" algn="ctr">
              <a:solidFill>
                <a:srgbClr val="FFFFFF">
                  <a:lumMod val="75000"/>
                </a:srgbClr>
              </a:solidFill>
              <a:prstDash val="lgDash"/>
              <a:miter lim="800000"/>
            </a:ln>
            <a:effectLst/>
          </p:spPr>
        </p:cxnSp>
        <p:cxnSp>
          <p:nvCxnSpPr>
            <p:cNvPr id="134" name="Straight Connector 133">
              <a:extLst>
                <a:ext uri="{FF2B5EF4-FFF2-40B4-BE49-F238E27FC236}">
                  <a16:creationId xmlns:a16="http://schemas.microsoft.com/office/drawing/2014/main" id="{73B048D2-2914-C0B9-3496-B08BFBB0A833}"/>
                </a:ext>
              </a:extLst>
            </p:cNvPr>
            <p:cNvCxnSpPr/>
            <p:nvPr/>
          </p:nvCxnSpPr>
          <p:spPr>
            <a:xfrm>
              <a:off x="391106" y="4806759"/>
              <a:ext cx="4813204" cy="0"/>
            </a:xfrm>
            <a:prstGeom prst="line">
              <a:avLst/>
            </a:prstGeom>
            <a:noFill/>
            <a:ln w="3175" cap="flat" cmpd="sng" algn="ctr">
              <a:solidFill>
                <a:srgbClr val="FFFFFF">
                  <a:lumMod val="75000"/>
                </a:srgbClr>
              </a:solidFill>
              <a:prstDash val="lgDash"/>
              <a:miter lim="800000"/>
            </a:ln>
            <a:effectLst/>
          </p:spPr>
        </p:cxnSp>
        <p:cxnSp>
          <p:nvCxnSpPr>
            <p:cNvPr id="135" name="Straight Connector 134">
              <a:extLst>
                <a:ext uri="{FF2B5EF4-FFF2-40B4-BE49-F238E27FC236}">
                  <a16:creationId xmlns:a16="http://schemas.microsoft.com/office/drawing/2014/main" id="{D90D9F6C-2317-BBF3-D8F0-D23A2E52338A}"/>
                </a:ext>
              </a:extLst>
            </p:cNvPr>
            <p:cNvCxnSpPr/>
            <p:nvPr/>
          </p:nvCxnSpPr>
          <p:spPr>
            <a:xfrm>
              <a:off x="432349" y="5429181"/>
              <a:ext cx="4813204" cy="0"/>
            </a:xfrm>
            <a:prstGeom prst="line">
              <a:avLst/>
            </a:prstGeom>
            <a:noFill/>
            <a:ln w="3175" cap="flat" cmpd="sng" algn="ctr">
              <a:solidFill>
                <a:srgbClr val="FFFFFF">
                  <a:lumMod val="75000"/>
                </a:srgbClr>
              </a:solidFill>
              <a:prstDash val="lgDash"/>
              <a:miter lim="800000"/>
            </a:ln>
            <a:effectLst/>
          </p:spPr>
        </p:cxnSp>
        <p:sp>
          <p:nvSpPr>
            <p:cNvPr id="136" name="Rectangle 135">
              <a:extLst>
                <a:ext uri="{FF2B5EF4-FFF2-40B4-BE49-F238E27FC236}">
                  <a16:creationId xmlns:a16="http://schemas.microsoft.com/office/drawing/2014/main" id="{92A24124-113F-659D-8604-9C8077E7FBD4}"/>
                </a:ext>
              </a:extLst>
            </p:cNvPr>
            <p:cNvSpPr/>
            <p:nvPr/>
          </p:nvSpPr>
          <p:spPr>
            <a:xfrm>
              <a:off x="3795592" y="5485392"/>
              <a:ext cx="1562934" cy="533400"/>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Design For</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Environment</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Pollution Reduction</a:t>
              </a:r>
            </a:p>
          </p:txBody>
        </p:sp>
        <p:grpSp>
          <p:nvGrpSpPr>
            <p:cNvPr id="8" name="Group 7">
              <a:extLst>
                <a:ext uri="{FF2B5EF4-FFF2-40B4-BE49-F238E27FC236}">
                  <a16:creationId xmlns:a16="http://schemas.microsoft.com/office/drawing/2014/main" id="{F38C3AA1-E874-6DA2-D0D9-FA45521B8370}"/>
                </a:ext>
              </a:extLst>
            </p:cNvPr>
            <p:cNvGrpSpPr/>
            <p:nvPr/>
          </p:nvGrpSpPr>
          <p:grpSpPr>
            <a:xfrm>
              <a:off x="344744" y="1514544"/>
              <a:ext cx="11704382" cy="4552882"/>
              <a:chOff x="344744" y="1514544"/>
              <a:chExt cx="11704382" cy="4552882"/>
            </a:xfrm>
          </p:grpSpPr>
          <p:grpSp>
            <p:nvGrpSpPr>
              <p:cNvPr id="228" name="Group 227">
                <a:extLst>
                  <a:ext uri="{FF2B5EF4-FFF2-40B4-BE49-F238E27FC236}">
                    <a16:creationId xmlns:a16="http://schemas.microsoft.com/office/drawing/2014/main" id="{C05C703D-A112-F117-3395-91267BBA2009}"/>
                  </a:ext>
                </a:extLst>
              </p:cNvPr>
              <p:cNvGrpSpPr/>
              <p:nvPr/>
            </p:nvGrpSpPr>
            <p:grpSpPr>
              <a:xfrm>
                <a:off x="5536415" y="1974069"/>
                <a:ext cx="6436511" cy="4022144"/>
                <a:chOff x="442027" y="1179295"/>
                <a:chExt cx="5352513" cy="3280040"/>
              </a:xfrm>
            </p:grpSpPr>
            <p:grpSp>
              <p:nvGrpSpPr>
                <p:cNvPr id="230" name="Group 229">
                  <a:extLst>
                    <a:ext uri="{FF2B5EF4-FFF2-40B4-BE49-F238E27FC236}">
                      <a16:creationId xmlns:a16="http://schemas.microsoft.com/office/drawing/2014/main" id="{97295D6B-E813-43CA-4D2A-A716C87220A5}"/>
                    </a:ext>
                  </a:extLst>
                </p:cNvPr>
                <p:cNvGrpSpPr/>
                <p:nvPr/>
              </p:nvGrpSpPr>
              <p:grpSpPr>
                <a:xfrm>
                  <a:off x="442027" y="3153507"/>
                  <a:ext cx="2594394" cy="1305828"/>
                  <a:chOff x="478915" y="3139597"/>
                  <a:chExt cx="2594394" cy="1305828"/>
                </a:xfrm>
              </p:grpSpPr>
              <p:pic>
                <p:nvPicPr>
                  <p:cNvPr id="239" name="Picture 238">
                    <a:extLst>
                      <a:ext uri="{FF2B5EF4-FFF2-40B4-BE49-F238E27FC236}">
                        <a16:creationId xmlns:a16="http://schemas.microsoft.com/office/drawing/2014/main" id="{D20F5F7C-593A-4DFF-D835-7845A4EF8C1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8916" y="3319058"/>
                    <a:ext cx="2594393" cy="1126367"/>
                  </a:xfrm>
                  <a:prstGeom prst="rect">
                    <a:avLst/>
                  </a:prstGeom>
                  <a:effectLst>
                    <a:outerShdw blurRad="63500" sx="102000" sy="102000" algn="ctr" rotWithShape="0">
                      <a:prstClr val="black">
                        <a:alpha val="40000"/>
                      </a:prstClr>
                    </a:outerShdw>
                  </a:effectLst>
                </p:spPr>
              </p:pic>
              <p:sp>
                <p:nvSpPr>
                  <p:cNvPr id="240" name="Content Placeholder 17">
                    <a:extLst>
                      <a:ext uri="{FF2B5EF4-FFF2-40B4-BE49-F238E27FC236}">
                        <a16:creationId xmlns:a16="http://schemas.microsoft.com/office/drawing/2014/main" id="{0D69F526-F018-AB3F-69BA-1C6FE0C9666E}"/>
                      </a:ext>
                    </a:extLst>
                  </p:cNvPr>
                  <p:cNvSpPr txBox="1">
                    <a:spLocks/>
                  </p:cNvSpPr>
                  <p:nvPr/>
                </p:nvSpPr>
                <p:spPr>
                  <a:xfrm>
                    <a:off x="478915" y="3139597"/>
                    <a:ext cx="2377440" cy="193890"/>
                  </a:xfrm>
                  <a:prstGeom prst="rect">
                    <a:avLst/>
                  </a:prstGeom>
                </p:spPr>
                <p:txBody>
                  <a:bodyPr wrap="square" lIns="0">
                    <a:spAutoFit/>
                  </a:bodyPr>
                  <a:lstStyle>
                    <a:lvl1pPr marL="0" marR="0" indent="0" algn="l" defTabSz="914400" rtl="0" eaLnBrk="1" fontAlgn="base" latinLnBrk="0" hangingPunct="1">
                      <a:lnSpc>
                        <a:spcPct val="90000"/>
                      </a:lnSpc>
                      <a:spcBef>
                        <a:spcPts val="400"/>
                      </a:spcBef>
                      <a:spcAft>
                        <a:spcPts val="0"/>
                      </a:spcAft>
                      <a:buClr>
                        <a:srgbClr val="B10034"/>
                      </a:buClr>
                      <a:buSzPct val="100000"/>
                      <a:buFont typeface="Wingdings" pitchFamily="2" charset="2"/>
                      <a:buNone/>
                      <a:tabLst/>
                      <a:defRPr lang="en-US" sz="1400" b="0" kern="1200" noProof="0" dirty="0" smtClean="0">
                        <a:solidFill>
                          <a:schemeClr val="tx1"/>
                        </a:solidFill>
                        <a:latin typeface="+mn-lt"/>
                        <a:ea typeface="+mn-ea"/>
                        <a:cs typeface="+mn-cs"/>
                      </a:defRPr>
                    </a:lvl1pPr>
                    <a:lvl2pPr marL="180975" marR="0" indent="-180975" algn="l" defTabSz="914400" rtl="0" eaLnBrk="1" fontAlgn="base" latinLnBrk="0" hangingPunct="1">
                      <a:lnSpc>
                        <a:spcPct val="90000"/>
                      </a:lnSpc>
                      <a:spcBef>
                        <a:spcPts val="400"/>
                      </a:spcBef>
                      <a:spcAft>
                        <a:spcPts val="0"/>
                      </a:spcAft>
                      <a:buClr>
                        <a:schemeClr val="tx2"/>
                      </a:buClr>
                      <a:buSzTx/>
                      <a:buFont typeface="Wingdings" pitchFamily="2" charset="2"/>
                      <a:buChar char="§"/>
                      <a:tabLst/>
                      <a:defRPr lang="en-US" sz="1400" kern="1200" noProof="0" dirty="0" smtClean="0">
                        <a:solidFill>
                          <a:schemeClr val="tx1"/>
                        </a:solidFill>
                        <a:latin typeface="+mn-lt"/>
                        <a:ea typeface="+mn-ea"/>
                        <a:cs typeface="+mn-cs"/>
                      </a:defRPr>
                    </a:lvl2pPr>
                    <a:lvl3pPr marL="361950" marR="0" indent="-180975" algn="l" defTabSz="914400" rtl="0" eaLnBrk="1" fontAlgn="base" latinLnBrk="0" hangingPunct="1">
                      <a:lnSpc>
                        <a:spcPct val="90000"/>
                      </a:lnSpc>
                      <a:spcBef>
                        <a:spcPts val="400"/>
                      </a:spcBef>
                      <a:spcAft>
                        <a:spcPts val="0"/>
                      </a:spcAft>
                      <a:buClr>
                        <a:schemeClr val="tx2"/>
                      </a:buClr>
                      <a:buSzTx/>
                      <a:buFont typeface="Symbol" pitchFamily="18" charset="2"/>
                      <a:buChar char="-"/>
                      <a:tabLst/>
                      <a:defRPr lang="en-US" sz="1400" kern="1200" noProof="0" dirty="0" smtClean="0">
                        <a:solidFill>
                          <a:schemeClr val="tx1"/>
                        </a:solidFill>
                        <a:latin typeface="+mn-lt"/>
                        <a:ea typeface="+mn-ea"/>
                        <a:cs typeface="+mn-cs"/>
                      </a:defRPr>
                    </a:lvl3pPr>
                    <a:lvl4pPr marL="534988" marR="0" indent="-173038" algn="l" defTabSz="914400" rtl="0" eaLnBrk="1" fontAlgn="base" latinLnBrk="0" hangingPunct="1">
                      <a:lnSpc>
                        <a:spcPct val="90000"/>
                      </a:lnSpc>
                      <a:spcBef>
                        <a:spcPts val="400"/>
                      </a:spcBef>
                      <a:spcAft>
                        <a:spcPts val="0"/>
                      </a:spcAft>
                      <a:buClr>
                        <a:schemeClr val="tx2"/>
                      </a:buClr>
                      <a:buSzTx/>
                      <a:buFont typeface="Arial" pitchFamily="34" charset="0"/>
                      <a:buChar char="•"/>
                      <a:tabLst/>
                      <a:defRPr lang="en-US" sz="1400" kern="1200" noProof="0" dirty="0" smtClean="0">
                        <a:solidFill>
                          <a:schemeClr val="tx1"/>
                        </a:solidFill>
                        <a:latin typeface="+mn-lt"/>
                        <a:ea typeface="+mn-ea"/>
                        <a:cs typeface="+mn-cs"/>
                      </a:defRPr>
                    </a:lvl4pPr>
                    <a:lvl5pPr marL="715963" marR="0" indent="-180975" algn="l" defTabSz="914400" rtl="0" eaLnBrk="1" fontAlgn="base" latinLnBrk="0" hangingPunct="1">
                      <a:lnSpc>
                        <a:spcPct val="90000"/>
                      </a:lnSpc>
                      <a:spcBef>
                        <a:spcPts val="400"/>
                      </a:spcBef>
                      <a:spcAft>
                        <a:spcPts val="0"/>
                      </a:spcAft>
                      <a:buClr>
                        <a:srgbClr val="B10034"/>
                      </a:buClr>
                      <a:buSzTx/>
                      <a:buFont typeface="Symbol" pitchFamily="18" charset="2"/>
                      <a:buChar char="-"/>
                      <a:tabLst/>
                      <a:defRPr sz="1200" kern="1200">
                        <a:solidFill>
                          <a:schemeClr val="tx1"/>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50" b="1" noProof="0">
                        <a:solidFill>
                          <a:schemeClr val="bg1"/>
                        </a:solidFill>
                        <a:latin typeface="+mj-lt"/>
                      </a:rPr>
                      <a:t>QUALITATIVE VENDOR COMPARISON</a:t>
                    </a:r>
                  </a:p>
                </p:txBody>
              </p:sp>
            </p:grpSp>
            <p:sp>
              <p:nvSpPr>
                <p:cNvPr id="231" name="Content Placeholder 17">
                  <a:extLst>
                    <a:ext uri="{FF2B5EF4-FFF2-40B4-BE49-F238E27FC236}">
                      <a16:creationId xmlns:a16="http://schemas.microsoft.com/office/drawing/2014/main" id="{A8CBAF61-B0AD-F85C-5515-16BFCA814754}"/>
                    </a:ext>
                  </a:extLst>
                </p:cNvPr>
                <p:cNvSpPr txBox="1">
                  <a:spLocks/>
                </p:cNvSpPr>
                <p:nvPr/>
              </p:nvSpPr>
              <p:spPr>
                <a:xfrm>
                  <a:off x="3312595" y="3147684"/>
                  <a:ext cx="2377440" cy="193890"/>
                </a:xfrm>
                <a:prstGeom prst="rect">
                  <a:avLst/>
                </a:prstGeom>
              </p:spPr>
              <p:txBody>
                <a:bodyPr wrap="square" lIns="0">
                  <a:spAutoFit/>
                </a:bodyPr>
                <a:lstStyle>
                  <a:lvl1pPr marL="0" marR="0" indent="0" algn="l" defTabSz="914400" rtl="0" eaLnBrk="1" fontAlgn="base" latinLnBrk="0" hangingPunct="1">
                    <a:lnSpc>
                      <a:spcPct val="90000"/>
                    </a:lnSpc>
                    <a:spcBef>
                      <a:spcPts val="400"/>
                    </a:spcBef>
                    <a:spcAft>
                      <a:spcPts val="0"/>
                    </a:spcAft>
                    <a:buClr>
                      <a:srgbClr val="B10034"/>
                    </a:buClr>
                    <a:buSzPct val="100000"/>
                    <a:buFont typeface="Wingdings" pitchFamily="2" charset="2"/>
                    <a:buNone/>
                    <a:tabLst/>
                    <a:defRPr lang="en-US" sz="1400" b="0" kern="1200" noProof="0" dirty="0" smtClean="0">
                      <a:solidFill>
                        <a:schemeClr val="tx1"/>
                      </a:solidFill>
                      <a:latin typeface="+mn-lt"/>
                      <a:ea typeface="+mn-ea"/>
                      <a:cs typeface="+mn-cs"/>
                    </a:defRPr>
                  </a:lvl1pPr>
                  <a:lvl2pPr marL="180975" marR="0" indent="-180975" algn="l" defTabSz="914400" rtl="0" eaLnBrk="1" fontAlgn="base" latinLnBrk="0" hangingPunct="1">
                    <a:lnSpc>
                      <a:spcPct val="90000"/>
                    </a:lnSpc>
                    <a:spcBef>
                      <a:spcPts val="400"/>
                    </a:spcBef>
                    <a:spcAft>
                      <a:spcPts val="0"/>
                    </a:spcAft>
                    <a:buClr>
                      <a:schemeClr val="tx2"/>
                    </a:buClr>
                    <a:buSzTx/>
                    <a:buFont typeface="Wingdings" pitchFamily="2" charset="2"/>
                    <a:buChar char="§"/>
                    <a:tabLst/>
                    <a:defRPr lang="en-US" sz="1400" kern="1200" noProof="0" dirty="0" smtClean="0">
                      <a:solidFill>
                        <a:schemeClr val="tx1"/>
                      </a:solidFill>
                      <a:latin typeface="+mn-lt"/>
                      <a:ea typeface="+mn-ea"/>
                      <a:cs typeface="+mn-cs"/>
                    </a:defRPr>
                  </a:lvl2pPr>
                  <a:lvl3pPr marL="361950" marR="0" indent="-180975" algn="l" defTabSz="914400" rtl="0" eaLnBrk="1" fontAlgn="base" latinLnBrk="0" hangingPunct="1">
                    <a:lnSpc>
                      <a:spcPct val="90000"/>
                    </a:lnSpc>
                    <a:spcBef>
                      <a:spcPts val="400"/>
                    </a:spcBef>
                    <a:spcAft>
                      <a:spcPts val="0"/>
                    </a:spcAft>
                    <a:buClr>
                      <a:schemeClr val="tx2"/>
                    </a:buClr>
                    <a:buSzTx/>
                    <a:buFont typeface="Symbol" pitchFamily="18" charset="2"/>
                    <a:buChar char="-"/>
                    <a:tabLst/>
                    <a:defRPr lang="en-US" sz="1400" kern="1200" noProof="0" dirty="0" smtClean="0">
                      <a:solidFill>
                        <a:schemeClr val="tx1"/>
                      </a:solidFill>
                      <a:latin typeface="+mn-lt"/>
                      <a:ea typeface="+mn-ea"/>
                      <a:cs typeface="+mn-cs"/>
                    </a:defRPr>
                  </a:lvl3pPr>
                  <a:lvl4pPr marL="534988" marR="0" indent="-173038" algn="l" defTabSz="914400" rtl="0" eaLnBrk="1" fontAlgn="base" latinLnBrk="0" hangingPunct="1">
                    <a:lnSpc>
                      <a:spcPct val="90000"/>
                    </a:lnSpc>
                    <a:spcBef>
                      <a:spcPts val="400"/>
                    </a:spcBef>
                    <a:spcAft>
                      <a:spcPts val="0"/>
                    </a:spcAft>
                    <a:buClr>
                      <a:schemeClr val="tx2"/>
                    </a:buClr>
                    <a:buSzTx/>
                    <a:buFont typeface="Arial" pitchFamily="34" charset="0"/>
                    <a:buChar char="•"/>
                    <a:tabLst/>
                    <a:defRPr lang="en-US" sz="1400" kern="1200" noProof="0" dirty="0" smtClean="0">
                      <a:solidFill>
                        <a:schemeClr val="tx1"/>
                      </a:solidFill>
                      <a:latin typeface="+mn-lt"/>
                      <a:ea typeface="+mn-ea"/>
                      <a:cs typeface="+mn-cs"/>
                    </a:defRPr>
                  </a:lvl4pPr>
                  <a:lvl5pPr marL="715963" marR="0" indent="-180975" algn="l" defTabSz="914400" rtl="0" eaLnBrk="1" fontAlgn="base" latinLnBrk="0" hangingPunct="1">
                    <a:lnSpc>
                      <a:spcPct val="90000"/>
                    </a:lnSpc>
                    <a:spcBef>
                      <a:spcPts val="400"/>
                    </a:spcBef>
                    <a:spcAft>
                      <a:spcPts val="0"/>
                    </a:spcAft>
                    <a:buClr>
                      <a:srgbClr val="B10034"/>
                    </a:buClr>
                    <a:buSzTx/>
                    <a:buFont typeface="Symbol" pitchFamily="18" charset="2"/>
                    <a:buChar char="-"/>
                    <a:tabLst/>
                    <a:defRPr sz="1200" kern="1200">
                      <a:solidFill>
                        <a:schemeClr val="tx1"/>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50" b="1" noProof="0">
                      <a:solidFill>
                        <a:schemeClr val="bg1"/>
                      </a:solidFill>
                      <a:latin typeface="+mj-lt"/>
                    </a:rPr>
                    <a:t>SECONDARY RESEARCH OVERVIEW</a:t>
                  </a:r>
                </a:p>
              </p:txBody>
            </p:sp>
            <p:pic>
              <p:nvPicPr>
                <p:cNvPr id="232" name="Picture 231">
                  <a:extLst>
                    <a:ext uri="{FF2B5EF4-FFF2-40B4-BE49-F238E27FC236}">
                      <a16:creationId xmlns:a16="http://schemas.microsoft.com/office/drawing/2014/main" id="{2AC24B72-AF8C-AFE5-E0C3-BA0E7897044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312595" y="3332967"/>
                  <a:ext cx="2478900" cy="1119174"/>
                </a:xfrm>
                <a:prstGeom prst="rect">
                  <a:avLst/>
                </a:prstGeom>
                <a:effectLst>
                  <a:outerShdw blurRad="63500" sx="102000" sy="102000" algn="ctr" rotWithShape="0">
                    <a:prstClr val="black">
                      <a:alpha val="40000"/>
                    </a:prstClr>
                  </a:outerShdw>
                </a:effectLst>
              </p:spPr>
            </p:pic>
            <p:pic>
              <p:nvPicPr>
                <p:cNvPr id="233" name="Picture 8">
                  <a:extLst>
                    <a:ext uri="{FF2B5EF4-FFF2-40B4-BE49-F238E27FC236}">
                      <a16:creationId xmlns:a16="http://schemas.microsoft.com/office/drawing/2014/main" id="{6FBD7C46-CC21-368F-2BF4-CF26C425EF9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42028" y="1383407"/>
                  <a:ext cx="2679594" cy="1642871"/>
                </a:xfrm>
                <a:prstGeom prst="rect">
                  <a:avLst/>
                </a:prstGeom>
                <a:effectLst>
                  <a:outerShdw blurRad="63500" sx="102000" sy="102000" algn="ctr" rotWithShape="0">
                    <a:prstClr val="black">
                      <a:alpha val="40000"/>
                    </a:prstClr>
                  </a:outerShdw>
                </a:effectLst>
              </p:spPr>
            </p:pic>
            <p:sp>
              <p:nvSpPr>
                <p:cNvPr id="234" name="Content Placeholder 17">
                  <a:extLst>
                    <a:ext uri="{FF2B5EF4-FFF2-40B4-BE49-F238E27FC236}">
                      <a16:creationId xmlns:a16="http://schemas.microsoft.com/office/drawing/2014/main" id="{FEA1D946-C48A-AF3B-D5AF-CD2AB88FA861}"/>
                    </a:ext>
                  </a:extLst>
                </p:cNvPr>
                <p:cNvSpPr txBox="1">
                  <a:spLocks/>
                </p:cNvSpPr>
                <p:nvPr/>
              </p:nvSpPr>
              <p:spPr>
                <a:xfrm>
                  <a:off x="448143" y="1209574"/>
                  <a:ext cx="2377440" cy="193890"/>
                </a:xfrm>
                <a:prstGeom prst="rect">
                  <a:avLst/>
                </a:prstGeom>
              </p:spPr>
              <p:txBody>
                <a:bodyPr wrap="square" lIns="0">
                  <a:spAutoFit/>
                </a:bodyPr>
                <a:lstStyle>
                  <a:lvl1pPr marL="0" marR="0" indent="0" algn="l" defTabSz="914400" rtl="0" eaLnBrk="1" fontAlgn="base" latinLnBrk="0" hangingPunct="1">
                    <a:lnSpc>
                      <a:spcPct val="90000"/>
                    </a:lnSpc>
                    <a:spcBef>
                      <a:spcPts val="400"/>
                    </a:spcBef>
                    <a:spcAft>
                      <a:spcPts val="0"/>
                    </a:spcAft>
                    <a:buClr>
                      <a:srgbClr val="B10034"/>
                    </a:buClr>
                    <a:buSzPct val="100000"/>
                    <a:buFont typeface="Wingdings" pitchFamily="2" charset="2"/>
                    <a:buNone/>
                    <a:tabLst/>
                    <a:defRPr lang="en-US" sz="1400" b="0" kern="1200" noProof="0" dirty="0" smtClean="0">
                      <a:solidFill>
                        <a:schemeClr val="tx1"/>
                      </a:solidFill>
                      <a:latin typeface="+mn-lt"/>
                      <a:ea typeface="+mn-ea"/>
                      <a:cs typeface="+mn-cs"/>
                    </a:defRPr>
                  </a:lvl1pPr>
                  <a:lvl2pPr marL="180975" marR="0" indent="-180975" algn="l" defTabSz="914400" rtl="0" eaLnBrk="1" fontAlgn="base" latinLnBrk="0" hangingPunct="1">
                    <a:lnSpc>
                      <a:spcPct val="90000"/>
                    </a:lnSpc>
                    <a:spcBef>
                      <a:spcPts val="400"/>
                    </a:spcBef>
                    <a:spcAft>
                      <a:spcPts val="0"/>
                    </a:spcAft>
                    <a:buClr>
                      <a:schemeClr val="tx2"/>
                    </a:buClr>
                    <a:buSzTx/>
                    <a:buFont typeface="Wingdings" pitchFamily="2" charset="2"/>
                    <a:buChar char="§"/>
                    <a:tabLst/>
                    <a:defRPr lang="en-US" sz="1400" kern="1200" noProof="0" dirty="0" smtClean="0">
                      <a:solidFill>
                        <a:schemeClr val="tx1"/>
                      </a:solidFill>
                      <a:latin typeface="+mn-lt"/>
                      <a:ea typeface="+mn-ea"/>
                      <a:cs typeface="+mn-cs"/>
                    </a:defRPr>
                  </a:lvl2pPr>
                  <a:lvl3pPr marL="361950" marR="0" indent="-180975" algn="l" defTabSz="914400" rtl="0" eaLnBrk="1" fontAlgn="base" latinLnBrk="0" hangingPunct="1">
                    <a:lnSpc>
                      <a:spcPct val="90000"/>
                    </a:lnSpc>
                    <a:spcBef>
                      <a:spcPts val="400"/>
                    </a:spcBef>
                    <a:spcAft>
                      <a:spcPts val="0"/>
                    </a:spcAft>
                    <a:buClr>
                      <a:schemeClr val="tx2"/>
                    </a:buClr>
                    <a:buSzTx/>
                    <a:buFont typeface="Symbol" pitchFamily="18" charset="2"/>
                    <a:buChar char="-"/>
                    <a:tabLst/>
                    <a:defRPr lang="en-US" sz="1400" kern="1200" noProof="0" dirty="0" smtClean="0">
                      <a:solidFill>
                        <a:schemeClr val="tx1"/>
                      </a:solidFill>
                      <a:latin typeface="+mn-lt"/>
                      <a:ea typeface="+mn-ea"/>
                      <a:cs typeface="+mn-cs"/>
                    </a:defRPr>
                  </a:lvl3pPr>
                  <a:lvl4pPr marL="534988" marR="0" indent="-173038" algn="l" defTabSz="914400" rtl="0" eaLnBrk="1" fontAlgn="base" latinLnBrk="0" hangingPunct="1">
                    <a:lnSpc>
                      <a:spcPct val="90000"/>
                    </a:lnSpc>
                    <a:spcBef>
                      <a:spcPts val="400"/>
                    </a:spcBef>
                    <a:spcAft>
                      <a:spcPts val="0"/>
                    </a:spcAft>
                    <a:buClr>
                      <a:schemeClr val="tx2"/>
                    </a:buClr>
                    <a:buSzTx/>
                    <a:buFont typeface="Arial" pitchFamily="34" charset="0"/>
                    <a:buChar char="•"/>
                    <a:tabLst/>
                    <a:defRPr lang="en-US" sz="1400" kern="1200" noProof="0" dirty="0" smtClean="0">
                      <a:solidFill>
                        <a:schemeClr val="tx1"/>
                      </a:solidFill>
                      <a:latin typeface="+mn-lt"/>
                      <a:ea typeface="+mn-ea"/>
                      <a:cs typeface="+mn-cs"/>
                    </a:defRPr>
                  </a:lvl4pPr>
                  <a:lvl5pPr marL="715963" marR="0" indent="-180975" algn="l" defTabSz="914400" rtl="0" eaLnBrk="1" fontAlgn="base" latinLnBrk="0" hangingPunct="1">
                    <a:lnSpc>
                      <a:spcPct val="90000"/>
                    </a:lnSpc>
                    <a:spcBef>
                      <a:spcPts val="400"/>
                    </a:spcBef>
                    <a:spcAft>
                      <a:spcPts val="0"/>
                    </a:spcAft>
                    <a:buClr>
                      <a:srgbClr val="B10034"/>
                    </a:buClr>
                    <a:buSzTx/>
                    <a:buFont typeface="Symbol" pitchFamily="18" charset="2"/>
                    <a:buChar char="-"/>
                    <a:tabLst/>
                    <a:defRPr sz="1200" kern="1200">
                      <a:solidFill>
                        <a:schemeClr val="tx1"/>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50" b="1" noProof="0">
                      <a:solidFill>
                        <a:schemeClr val="bg1"/>
                      </a:solidFill>
                      <a:latin typeface="+mj-lt"/>
                    </a:rPr>
                    <a:t>INDIVIDUAL VENDOR EVALUATIONS</a:t>
                  </a:r>
                </a:p>
              </p:txBody>
            </p:sp>
            <p:sp>
              <p:nvSpPr>
                <p:cNvPr id="235" name="Content Placeholder 17">
                  <a:extLst>
                    <a:ext uri="{FF2B5EF4-FFF2-40B4-BE49-F238E27FC236}">
                      <a16:creationId xmlns:a16="http://schemas.microsoft.com/office/drawing/2014/main" id="{ECDDA66B-1BA5-9231-657F-D9644C56ABB8}"/>
                    </a:ext>
                  </a:extLst>
                </p:cNvPr>
                <p:cNvSpPr txBox="1">
                  <a:spLocks/>
                </p:cNvSpPr>
                <p:nvPr/>
              </p:nvSpPr>
              <p:spPr>
                <a:xfrm>
                  <a:off x="3312595" y="1179295"/>
                  <a:ext cx="2377440" cy="193890"/>
                </a:xfrm>
                <a:prstGeom prst="rect">
                  <a:avLst/>
                </a:prstGeom>
              </p:spPr>
              <p:txBody>
                <a:bodyPr wrap="square" lIns="0">
                  <a:spAutoFit/>
                </a:bodyPr>
                <a:lstStyle>
                  <a:lvl1pPr marL="0" marR="0" indent="0" algn="l" defTabSz="914400" rtl="0" eaLnBrk="1" fontAlgn="base" latinLnBrk="0" hangingPunct="1">
                    <a:lnSpc>
                      <a:spcPct val="90000"/>
                    </a:lnSpc>
                    <a:spcBef>
                      <a:spcPts val="400"/>
                    </a:spcBef>
                    <a:spcAft>
                      <a:spcPts val="0"/>
                    </a:spcAft>
                    <a:buClr>
                      <a:srgbClr val="B10034"/>
                    </a:buClr>
                    <a:buSzPct val="100000"/>
                    <a:buFont typeface="Wingdings" pitchFamily="2" charset="2"/>
                    <a:buNone/>
                    <a:tabLst/>
                    <a:defRPr lang="en-US" sz="1400" b="0" kern="1200" noProof="0" dirty="0" smtClean="0">
                      <a:solidFill>
                        <a:schemeClr val="tx1"/>
                      </a:solidFill>
                      <a:latin typeface="+mn-lt"/>
                      <a:ea typeface="+mn-ea"/>
                      <a:cs typeface="+mn-cs"/>
                    </a:defRPr>
                  </a:lvl1pPr>
                  <a:lvl2pPr marL="180975" marR="0" indent="-180975" algn="l" defTabSz="914400" rtl="0" eaLnBrk="1" fontAlgn="base" latinLnBrk="0" hangingPunct="1">
                    <a:lnSpc>
                      <a:spcPct val="90000"/>
                    </a:lnSpc>
                    <a:spcBef>
                      <a:spcPts val="400"/>
                    </a:spcBef>
                    <a:spcAft>
                      <a:spcPts val="0"/>
                    </a:spcAft>
                    <a:buClr>
                      <a:schemeClr val="tx2"/>
                    </a:buClr>
                    <a:buSzTx/>
                    <a:buFont typeface="Wingdings" pitchFamily="2" charset="2"/>
                    <a:buChar char="§"/>
                    <a:tabLst/>
                    <a:defRPr lang="en-US" sz="1400" kern="1200" noProof="0" dirty="0" smtClean="0">
                      <a:solidFill>
                        <a:schemeClr val="tx1"/>
                      </a:solidFill>
                      <a:latin typeface="+mn-lt"/>
                      <a:ea typeface="+mn-ea"/>
                      <a:cs typeface="+mn-cs"/>
                    </a:defRPr>
                  </a:lvl2pPr>
                  <a:lvl3pPr marL="361950" marR="0" indent="-180975" algn="l" defTabSz="914400" rtl="0" eaLnBrk="1" fontAlgn="base" latinLnBrk="0" hangingPunct="1">
                    <a:lnSpc>
                      <a:spcPct val="90000"/>
                    </a:lnSpc>
                    <a:spcBef>
                      <a:spcPts val="400"/>
                    </a:spcBef>
                    <a:spcAft>
                      <a:spcPts val="0"/>
                    </a:spcAft>
                    <a:buClr>
                      <a:schemeClr val="tx2"/>
                    </a:buClr>
                    <a:buSzTx/>
                    <a:buFont typeface="Symbol" pitchFamily="18" charset="2"/>
                    <a:buChar char="-"/>
                    <a:tabLst/>
                    <a:defRPr lang="en-US" sz="1400" kern="1200" noProof="0" dirty="0" smtClean="0">
                      <a:solidFill>
                        <a:schemeClr val="tx1"/>
                      </a:solidFill>
                      <a:latin typeface="+mn-lt"/>
                      <a:ea typeface="+mn-ea"/>
                      <a:cs typeface="+mn-cs"/>
                    </a:defRPr>
                  </a:lvl3pPr>
                  <a:lvl4pPr marL="534988" marR="0" indent="-173038" algn="l" defTabSz="914400" rtl="0" eaLnBrk="1" fontAlgn="base" latinLnBrk="0" hangingPunct="1">
                    <a:lnSpc>
                      <a:spcPct val="90000"/>
                    </a:lnSpc>
                    <a:spcBef>
                      <a:spcPts val="400"/>
                    </a:spcBef>
                    <a:spcAft>
                      <a:spcPts val="0"/>
                    </a:spcAft>
                    <a:buClr>
                      <a:schemeClr val="tx2"/>
                    </a:buClr>
                    <a:buSzTx/>
                    <a:buFont typeface="Arial" pitchFamily="34" charset="0"/>
                    <a:buChar char="•"/>
                    <a:tabLst/>
                    <a:defRPr lang="en-US" sz="1400" kern="1200" noProof="0" dirty="0" smtClean="0">
                      <a:solidFill>
                        <a:schemeClr val="tx1"/>
                      </a:solidFill>
                      <a:latin typeface="+mn-lt"/>
                      <a:ea typeface="+mn-ea"/>
                      <a:cs typeface="+mn-cs"/>
                    </a:defRPr>
                  </a:lvl4pPr>
                  <a:lvl5pPr marL="715963" marR="0" indent="-180975" algn="l" defTabSz="914400" rtl="0" eaLnBrk="1" fontAlgn="base" latinLnBrk="0" hangingPunct="1">
                    <a:lnSpc>
                      <a:spcPct val="90000"/>
                    </a:lnSpc>
                    <a:spcBef>
                      <a:spcPts val="400"/>
                    </a:spcBef>
                    <a:spcAft>
                      <a:spcPts val="0"/>
                    </a:spcAft>
                    <a:buClr>
                      <a:srgbClr val="B10034"/>
                    </a:buClr>
                    <a:buSzTx/>
                    <a:buFont typeface="Symbol" pitchFamily="18" charset="2"/>
                    <a:buChar char="-"/>
                    <a:tabLst/>
                    <a:defRPr sz="1200" kern="1200">
                      <a:solidFill>
                        <a:schemeClr val="tx1"/>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50" b="1" noProof="0">
                      <a:solidFill>
                        <a:schemeClr val="bg1"/>
                      </a:solidFill>
                      <a:latin typeface="+mj-lt"/>
                    </a:rPr>
                    <a:t>AGGREGATED QUANTITATIVE EVALUATIONS</a:t>
                  </a:r>
                </a:p>
              </p:txBody>
            </p:sp>
            <p:grpSp>
              <p:nvGrpSpPr>
                <p:cNvPr id="236" name="Group 235">
                  <a:extLst>
                    <a:ext uri="{FF2B5EF4-FFF2-40B4-BE49-F238E27FC236}">
                      <a16:creationId xmlns:a16="http://schemas.microsoft.com/office/drawing/2014/main" id="{2B386EA6-3427-6ED4-0489-080D844806F1}"/>
                    </a:ext>
                  </a:extLst>
                </p:cNvPr>
                <p:cNvGrpSpPr/>
                <p:nvPr/>
              </p:nvGrpSpPr>
              <p:grpSpPr>
                <a:xfrm>
                  <a:off x="3312597" y="1383403"/>
                  <a:ext cx="2481943" cy="1642873"/>
                  <a:chOff x="4884973" y="1396815"/>
                  <a:chExt cx="2788023" cy="1845475"/>
                </a:xfrm>
              </p:grpSpPr>
              <p:pic>
                <p:nvPicPr>
                  <p:cNvPr id="237" name="Picture 236">
                    <a:extLst>
                      <a:ext uri="{FF2B5EF4-FFF2-40B4-BE49-F238E27FC236}">
                        <a16:creationId xmlns:a16="http://schemas.microsoft.com/office/drawing/2014/main" id="{C1A4C0B5-5809-2D96-B378-C207B078BF4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106998" y="2127854"/>
                    <a:ext cx="2565998" cy="1114436"/>
                  </a:xfrm>
                  <a:prstGeom prst="rect">
                    <a:avLst/>
                  </a:prstGeom>
                  <a:effectLst>
                    <a:outerShdw blurRad="63500" sx="102000" sy="102000" algn="ctr" rotWithShape="0">
                      <a:prstClr val="black">
                        <a:alpha val="40000"/>
                      </a:prstClr>
                    </a:outerShdw>
                  </a:effectLst>
                </p:spPr>
              </p:pic>
              <p:pic>
                <p:nvPicPr>
                  <p:cNvPr id="238" name="Picture 237">
                    <a:extLst>
                      <a:ext uri="{FF2B5EF4-FFF2-40B4-BE49-F238E27FC236}">
                        <a16:creationId xmlns:a16="http://schemas.microsoft.com/office/drawing/2014/main" id="{8DA196A7-2442-7CDF-D253-AC069175792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884973" y="1396815"/>
                    <a:ext cx="2565998" cy="1300163"/>
                  </a:xfrm>
                  <a:prstGeom prst="rect">
                    <a:avLst/>
                  </a:prstGeom>
                  <a:effectLst>
                    <a:outerShdw blurRad="63500" sx="102000" sy="102000" algn="ctr" rotWithShape="0">
                      <a:prstClr val="black">
                        <a:alpha val="40000"/>
                      </a:prstClr>
                    </a:outerShdw>
                  </a:effectLst>
                </p:spPr>
              </p:pic>
            </p:grpSp>
          </p:grpSp>
          <p:sp>
            <p:nvSpPr>
              <p:cNvPr id="242" name="Rectangle 241">
                <a:extLst>
                  <a:ext uri="{FF2B5EF4-FFF2-40B4-BE49-F238E27FC236}">
                    <a16:creationId xmlns:a16="http://schemas.microsoft.com/office/drawing/2014/main" id="{BE4D1B75-7A49-9938-D8A2-6223FC814304}"/>
                  </a:ext>
                </a:extLst>
              </p:cNvPr>
              <p:cNvSpPr/>
              <p:nvPr/>
            </p:nvSpPr>
            <p:spPr>
              <a:xfrm>
                <a:off x="5446156" y="1807544"/>
                <a:ext cx="6602970" cy="4259882"/>
              </a:xfrm>
              <a:prstGeom prst="rect">
                <a:avLst/>
              </a:prstGeom>
              <a:noFill/>
              <a:ln w="6350" cap="flat" cmpd="sng" algn="ctr">
                <a:solidFill>
                  <a:srgbClr val="FFFFFF">
                    <a:lumMod val="65000"/>
                  </a:srgbClr>
                </a:solidFill>
                <a:prstDash val="solid"/>
                <a:miter lim="800000"/>
              </a:ln>
              <a:effectLst/>
            </p:spPr>
            <p:txBody>
              <a:bodyPr anchor="ctr"/>
              <a:lstStyle/>
              <a:p>
                <a:pPr algn="ctr"/>
                <a:endParaRPr lang="en-US" sz="800" kern="0" noProof="0">
                  <a:solidFill>
                    <a:schemeClr val="bg1"/>
                  </a:solidFill>
                  <a:latin typeface="Calibri"/>
                  <a:cs typeface="Calibri" pitchFamily="34" charset="0"/>
                </a:endParaRPr>
              </a:p>
            </p:txBody>
          </p:sp>
          <p:sp>
            <p:nvSpPr>
              <p:cNvPr id="243" name="Content Placeholder 1">
                <a:extLst>
                  <a:ext uri="{FF2B5EF4-FFF2-40B4-BE49-F238E27FC236}">
                    <a16:creationId xmlns:a16="http://schemas.microsoft.com/office/drawing/2014/main" id="{D9C3A30C-C2BD-B729-91DE-7CE40BBFB7F9}"/>
                  </a:ext>
                </a:extLst>
              </p:cNvPr>
              <p:cNvSpPr txBox="1">
                <a:spLocks/>
              </p:cNvSpPr>
              <p:nvPr/>
            </p:nvSpPr>
            <p:spPr>
              <a:xfrm>
                <a:off x="344744" y="1514544"/>
                <a:ext cx="4962138" cy="284442"/>
              </a:xfrm>
              <a:prstGeom prst="rect">
                <a:avLst/>
              </a:prstGeom>
            </p:spPr>
            <p:txBody>
              <a:bodyPr wrap="square" lIns="0">
                <a:spAutoFit/>
              </a:bodyPr>
              <a:lstStyle>
                <a:defPPr>
                  <a:defRPr lang="en-US"/>
                </a:defPPr>
                <a:lvl1pPr marR="0" indent="0" fontAlgn="base">
                  <a:lnSpc>
                    <a:spcPct val="90000"/>
                  </a:lnSpc>
                  <a:spcBef>
                    <a:spcPts val="400"/>
                  </a:spcBef>
                  <a:spcAft>
                    <a:spcPts val="0"/>
                  </a:spcAft>
                  <a:buClr>
                    <a:srgbClr val="B10034"/>
                  </a:buClr>
                  <a:buSzPct val="100000"/>
                  <a:buFont typeface="Wingdings" pitchFamily="2" charset="2"/>
                  <a:buNone/>
                  <a:tabLst/>
                  <a:defRPr sz="1050" b="1">
                    <a:solidFill>
                      <a:srgbClr val="00BFBF"/>
                    </a:solidFill>
                    <a:latin typeface="+mj-lt"/>
                  </a:defRPr>
                </a:lvl1pPr>
                <a:lvl2pPr marL="180975" marR="0" indent="-180975" fontAlgn="base">
                  <a:lnSpc>
                    <a:spcPct val="90000"/>
                  </a:lnSpc>
                  <a:spcBef>
                    <a:spcPts val="400"/>
                  </a:spcBef>
                  <a:spcAft>
                    <a:spcPts val="0"/>
                  </a:spcAft>
                  <a:buClr>
                    <a:schemeClr val="tx2"/>
                  </a:buClr>
                  <a:buSzTx/>
                  <a:buFont typeface="Wingdings" pitchFamily="2" charset="2"/>
                  <a:buChar char="§"/>
                  <a:tabLst/>
                  <a:defRPr sz="1400"/>
                </a:lvl2pPr>
                <a:lvl3pPr marL="361950" marR="0" indent="-180975" fontAlgn="base">
                  <a:lnSpc>
                    <a:spcPct val="90000"/>
                  </a:lnSpc>
                  <a:spcBef>
                    <a:spcPts val="400"/>
                  </a:spcBef>
                  <a:spcAft>
                    <a:spcPts val="0"/>
                  </a:spcAft>
                  <a:buClr>
                    <a:schemeClr val="tx2"/>
                  </a:buClr>
                  <a:buSzTx/>
                  <a:buFont typeface="Symbol" pitchFamily="18" charset="2"/>
                  <a:buChar char="-"/>
                  <a:tabLst/>
                  <a:defRPr sz="1400"/>
                </a:lvl3pPr>
                <a:lvl4pPr marL="534988" marR="0" indent="-173038" fontAlgn="base">
                  <a:lnSpc>
                    <a:spcPct val="90000"/>
                  </a:lnSpc>
                  <a:spcBef>
                    <a:spcPts val="400"/>
                  </a:spcBef>
                  <a:spcAft>
                    <a:spcPts val="0"/>
                  </a:spcAft>
                  <a:buClr>
                    <a:schemeClr val="tx2"/>
                  </a:buClr>
                  <a:buSzTx/>
                  <a:buFont typeface="Arial" pitchFamily="34" charset="0"/>
                  <a:buChar char="•"/>
                  <a:tabLst/>
                  <a:defRPr sz="1400"/>
                </a:lvl4pPr>
                <a:lvl5pPr marL="715963" marR="0" indent="-180975" fontAlgn="base">
                  <a:lnSpc>
                    <a:spcPct val="90000"/>
                  </a:lnSpc>
                  <a:spcBef>
                    <a:spcPts val="400"/>
                  </a:spcBef>
                  <a:spcAft>
                    <a:spcPts val="0"/>
                  </a:spcAft>
                  <a:buClr>
                    <a:srgbClr val="B10034"/>
                  </a:buClr>
                  <a:buSzTx/>
                  <a:buFont typeface="Symbol" pitchFamily="18" charset="2"/>
                  <a:buChar char="-"/>
                  <a:tabLst/>
                  <a:defRPr sz="1200"/>
                </a:lvl5pPr>
                <a:lvl6pPr marL="2514441" indent="-228586" defTabSz="914342">
                  <a:spcBef>
                    <a:spcPct val="20000"/>
                  </a:spcBef>
                  <a:buFont typeface="Arial" pitchFamily="34" charset="0"/>
                  <a:buChar char="•"/>
                  <a:defRPr sz="2000"/>
                </a:lvl6pPr>
                <a:lvl7pPr marL="2971612" indent="-228586" defTabSz="914342">
                  <a:spcBef>
                    <a:spcPct val="20000"/>
                  </a:spcBef>
                  <a:buFont typeface="Arial" pitchFamily="34" charset="0"/>
                  <a:buChar char="•"/>
                  <a:defRPr sz="2000"/>
                </a:lvl7pPr>
                <a:lvl8pPr marL="3428783" indent="-228586" defTabSz="914342">
                  <a:spcBef>
                    <a:spcPct val="20000"/>
                  </a:spcBef>
                  <a:buFont typeface="Arial" pitchFamily="34" charset="0"/>
                  <a:buChar char="•"/>
                  <a:defRPr sz="2000"/>
                </a:lvl8pPr>
                <a:lvl9pPr marL="3885954" indent="-228586" defTabSz="914342">
                  <a:spcBef>
                    <a:spcPct val="20000"/>
                  </a:spcBef>
                  <a:buFont typeface="Arial" pitchFamily="34" charset="0"/>
                  <a:buChar char="•"/>
                  <a:defRPr sz="2000"/>
                </a:lvl9pPr>
              </a:lstStyle>
              <a:p>
                <a:pPr algn="ctr"/>
                <a:r>
                  <a:rPr lang="en-US" sz="1400" b="0" noProof="0">
                    <a:solidFill>
                      <a:schemeClr val="bg1"/>
                    </a:solidFill>
                  </a:rPr>
                  <a:t>Supplier scorecards dimensions</a:t>
                </a:r>
              </a:p>
            </p:txBody>
          </p:sp>
          <p:sp>
            <p:nvSpPr>
              <p:cNvPr id="244" name="Content Placeholder 1">
                <a:extLst>
                  <a:ext uri="{FF2B5EF4-FFF2-40B4-BE49-F238E27FC236}">
                    <a16:creationId xmlns:a16="http://schemas.microsoft.com/office/drawing/2014/main" id="{F7B52D63-B42B-C83E-B6D7-D08FD42C0574}"/>
                  </a:ext>
                </a:extLst>
              </p:cNvPr>
              <p:cNvSpPr txBox="1">
                <a:spLocks/>
              </p:cNvSpPr>
              <p:nvPr/>
            </p:nvSpPr>
            <p:spPr>
              <a:xfrm>
                <a:off x="6443686" y="1514544"/>
                <a:ext cx="4962138" cy="284442"/>
              </a:xfrm>
              <a:prstGeom prst="rect">
                <a:avLst/>
              </a:prstGeom>
            </p:spPr>
            <p:txBody>
              <a:bodyPr wrap="square" lIns="0">
                <a:spAutoFit/>
              </a:bodyPr>
              <a:lstStyle>
                <a:defPPr>
                  <a:defRPr lang="en-US"/>
                </a:defPPr>
                <a:lvl1pPr marR="0" indent="0" fontAlgn="base">
                  <a:lnSpc>
                    <a:spcPct val="90000"/>
                  </a:lnSpc>
                  <a:spcBef>
                    <a:spcPts val="400"/>
                  </a:spcBef>
                  <a:spcAft>
                    <a:spcPts val="0"/>
                  </a:spcAft>
                  <a:buClr>
                    <a:srgbClr val="B10034"/>
                  </a:buClr>
                  <a:buSzPct val="100000"/>
                  <a:buFont typeface="Wingdings" pitchFamily="2" charset="2"/>
                  <a:buNone/>
                  <a:tabLst/>
                  <a:defRPr sz="1050" b="1">
                    <a:solidFill>
                      <a:srgbClr val="00BFBF"/>
                    </a:solidFill>
                    <a:latin typeface="+mj-lt"/>
                  </a:defRPr>
                </a:lvl1pPr>
                <a:lvl2pPr marL="180975" marR="0" indent="-180975" fontAlgn="base">
                  <a:lnSpc>
                    <a:spcPct val="90000"/>
                  </a:lnSpc>
                  <a:spcBef>
                    <a:spcPts val="400"/>
                  </a:spcBef>
                  <a:spcAft>
                    <a:spcPts val="0"/>
                  </a:spcAft>
                  <a:buClr>
                    <a:schemeClr val="tx2"/>
                  </a:buClr>
                  <a:buSzTx/>
                  <a:buFont typeface="Wingdings" pitchFamily="2" charset="2"/>
                  <a:buChar char="§"/>
                  <a:tabLst/>
                  <a:defRPr sz="1400"/>
                </a:lvl2pPr>
                <a:lvl3pPr marL="361950" marR="0" indent="-180975" fontAlgn="base">
                  <a:lnSpc>
                    <a:spcPct val="90000"/>
                  </a:lnSpc>
                  <a:spcBef>
                    <a:spcPts val="400"/>
                  </a:spcBef>
                  <a:spcAft>
                    <a:spcPts val="0"/>
                  </a:spcAft>
                  <a:buClr>
                    <a:schemeClr val="tx2"/>
                  </a:buClr>
                  <a:buSzTx/>
                  <a:buFont typeface="Symbol" pitchFamily="18" charset="2"/>
                  <a:buChar char="-"/>
                  <a:tabLst/>
                  <a:defRPr sz="1400"/>
                </a:lvl3pPr>
                <a:lvl4pPr marL="534988" marR="0" indent="-173038" fontAlgn="base">
                  <a:lnSpc>
                    <a:spcPct val="90000"/>
                  </a:lnSpc>
                  <a:spcBef>
                    <a:spcPts val="400"/>
                  </a:spcBef>
                  <a:spcAft>
                    <a:spcPts val="0"/>
                  </a:spcAft>
                  <a:buClr>
                    <a:schemeClr val="tx2"/>
                  </a:buClr>
                  <a:buSzTx/>
                  <a:buFont typeface="Arial" pitchFamily="34" charset="0"/>
                  <a:buChar char="•"/>
                  <a:tabLst/>
                  <a:defRPr sz="1400"/>
                </a:lvl4pPr>
                <a:lvl5pPr marL="715963" marR="0" indent="-180975" fontAlgn="base">
                  <a:lnSpc>
                    <a:spcPct val="90000"/>
                  </a:lnSpc>
                  <a:spcBef>
                    <a:spcPts val="400"/>
                  </a:spcBef>
                  <a:spcAft>
                    <a:spcPts val="0"/>
                  </a:spcAft>
                  <a:buClr>
                    <a:srgbClr val="B10034"/>
                  </a:buClr>
                  <a:buSzTx/>
                  <a:buFont typeface="Symbol" pitchFamily="18" charset="2"/>
                  <a:buChar char="-"/>
                  <a:tabLst/>
                  <a:defRPr sz="1200"/>
                </a:lvl5pPr>
                <a:lvl6pPr marL="2514441" indent="-228586" defTabSz="914342">
                  <a:spcBef>
                    <a:spcPct val="20000"/>
                  </a:spcBef>
                  <a:buFont typeface="Arial" pitchFamily="34" charset="0"/>
                  <a:buChar char="•"/>
                  <a:defRPr sz="2000"/>
                </a:lvl6pPr>
                <a:lvl7pPr marL="2971612" indent="-228586" defTabSz="914342">
                  <a:spcBef>
                    <a:spcPct val="20000"/>
                  </a:spcBef>
                  <a:buFont typeface="Arial" pitchFamily="34" charset="0"/>
                  <a:buChar char="•"/>
                  <a:defRPr sz="2000"/>
                </a:lvl7pPr>
                <a:lvl8pPr marL="3428783" indent="-228586" defTabSz="914342">
                  <a:spcBef>
                    <a:spcPct val="20000"/>
                  </a:spcBef>
                  <a:buFont typeface="Arial" pitchFamily="34" charset="0"/>
                  <a:buChar char="•"/>
                  <a:defRPr sz="2000"/>
                </a:lvl8pPr>
                <a:lvl9pPr marL="3885954" indent="-228586" defTabSz="914342">
                  <a:spcBef>
                    <a:spcPct val="20000"/>
                  </a:spcBef>
                  <a:buFont typeface="Arial" pitchFamily="34" charset="0"/>
                  <a:buChar char="•"/>
                  <a:defRPr sz="2000"/>
                </a:lvl9pPr>
              </a:lstStyle>
              <a:p>
                <a:pPr algn="ctr"/>
                <a:r>
                  <a:rPr lang="en-US" sz="1400" b="0" noProof="0">
                    <a:solidFill>
                      <a:schemeClr val="bg1"/>
                    </a:solidFill>
                  </a:rPr>
                  <a:t>Illustrative example Vendor Evaluation</a:t>
                </a:r>
              </a:p>
            </p:txBody>
          </p:sp>
          <p:grpSp>
            <p:nvGrpSpPr>
              <p:cNvPr id="23" name="Group 22">
                <a:extLst>
                  <a:ext uri="{FF2B5EF4-FFF2-40B4-BE49-F238E27FC236}">
                    <a16:creationId xmlns:a16="http://schemas.microsoft.com/office/drawing/2014/main" id="{9207AC5D-6041-9A3F-AC8F-C2E56B6DED01}"/>
                  </a:ext>
                </a:extLst>
              </p:cNvPr>
              <p:cNvGrpSpPr/>
              <p:nvPr/>
            </p:nvGrpSpPr>
            <p:grpSpPr>
              <a:xfrm>
                <a:off x="344744" y="1807544"/>
                <a:ext cx="4962137" cy="4259882"/>
                <a:chOff x="344744" y="1807544"/>
                <a:chExt cx="4962137" cy="4259882"/>
              </a:xfrm>
            </p:grpSpPr>
            <p:sp>
              <p:nvSpPr>
                <p:cNvPr id="117" name="Rectangle 116">
                  <a:extLst>
                    <a:ext uri="{FF2B5EF4-FFF2-40B4-BE49-F238E27FC236}">
                      <a16:creationId xmlns:a16="http://schemas.microsoft.com/office/drawing/2014/main" id="{F9E31BBB-0293-375B-8056-AD0D1159BA3C}"/>
                    </a:ext>
                  </a:extLst>
                </p:cNvPr>
                <p:cNvSpPr/>
                <p:nvPr/>
              </p:nvSpPr>
              <p:spPr>
                <a:xfrm>
                  <a:off x="344744" y="1807544"/>
                  <a:ext cx="4962137" cy="4259882"/>
                </a:xfrm>
                <a:prstGeom prst="rect">
                  <a:avLst/>
                </a:prstGeom>
                <a:noFill/>
                <a:ln w="6350" cap="flat" cmpd="sng" algn="ctr">
                  <a:solidFill>
                    <a:srgbClr val="FFFFFF">
                      <a:lumMod val="65000"/>
                    </a:srgb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chemeClr val="bg1"/>
                    </a:solidFill>
                    <a:effectLst/>
                    <a:uLnTx/>
                    <a:uFillTx/>
                    <a:latin typeface="Calibri"/>
                    <a:ea typeface="+mn-ea"/>
                    <a:cs typeface="Calibri" pitchFamily="34" charset="0"/>
                  </a:endParaRPr>
                </a:p>
              </p:txBody>
            </p:sp>
            <p:sp>
              <p:nvSpPr>
                <p:cNvPr id="118" name="AutoShape 9">
                  <a:extLst>
                    <a:ext uri="{FF2B5EF4-FFF2-40B4-BE49-F238E27FC236}">
                      <a16:creationId xmlns:a16="http://schemas.microsoft.com/office/drawing/2014/main" id="{6FB11A50-F413-3EDE-FF35-65748A7E236F}"/>
                    </a:ext>
                  </a:extLst>
                </p:cNvPr>
                <p:cNvSpPr>
                  <a:spLocks noChangeArrowheads="1"/>
                </p:cNvSpPr>
                <p:nvPr/>
              </p:nvSpPr>
              <p:spPr bwMode="gray">
                <a:xfrm>
                  <a:off x="467235" y="1939599"/>
                  <a:ext cx="1569966" cy="362949"/>
                </a:xfrm>
                <a:prstGeom prst="homePlate">
                  <a:avLst>
                    <a:gd name="adj" fmla="val 31420"/>
                  </a:avLst>
                </a:prstGeom>
                <a:solidFill>
                  <a:schemeClr val="accent1"/>
                </a:solidFill>
                <a:ln w="12700" algn="ctr">
                  <a:noFill/>
                  <a:miter lim="800000"/>
                  <a:headEnd/>
                  <a:tailEnd/>
                </a:ln>
                <a:effectLst/>
              </p:spPr>
              <p:txBody>
                <a:bodyPr anchor="ctr"/>
                <a:lstStyle/>
                <a:p>
                  <a:pPr marL="0" marR="0" lvl="0" indent="0" algn="ctr" defTabSz="914400" eaLnBrk="0" fontAlgn="auto" latinLnBrk="0" hangingPunct="0">
                    <a:lnSpc>
                      <a:spcPct val="100000"/>
                    </a:lnSpc>
                    <a:spcBef>
                      <a:spcPts val="0"/>
                    </a:spcBef>
                    <a:spcAft>
                      <a:spcPct val="10000"/>
                    </a:spcAft>
                    <a:buClr>
                      <a:srgbClr val="0071CE"/>
                    </a:buClr>
                    <a:buSzTx/>
                    <a:buFont typeface="Wingdings" pitchFamily="2" charset="2"/>
                    <a:buNone/>
                    <a:tabLst/>
                    <a:defRPr/>
                  </a:pPr>
                  <a:r>
                    <a:rPr kumimoji="0" lang="en-US" sz="1400" b="0" i="0" u="none" strike="noStrike" kern="0" cap="none" spc="0" normalizeH="0" baseline="0" noProof="0">
                      <a:ln>
                        <a:noFill/>
                      </a:ln>
                      <a:solidFill>
                        <a:schemeClr val="bg1"/>
                      </a:solidFill>
                      <a:effectLst/>
                      <a:uLnTx/>
                      <a:uFillTx/>
                      <a:latin typeface="Calibri"/>
                      <a:cs typeface="Calibri" pitchFamily="34" charset="0"/>
                    </a:rPr>
                    <a:t>Financial</a:t>
                  </a:r>
                </a:p>
              </p:txBody>
            </p:sp>
            <p:sp>
              <p:nvSpPr>
                <p:cNvPr id="119" name="AutoShape 10">
                  <a:extLst>
                    <a:ext uri="{FF2B5EF4-FFF2-40B4-BE49-F238E27FC236}">
                      <a16:creationId xmlns:a16="http://schemas.microsoft.com/office/drawing/2014/main" id="{087EB969-B132-7B61-A051-8C851DD2714C}"/>
                    </a:ext>
                  </a:extLst>
                </p:cNvPr>
                <p:cNvSpPr>
                  <a:spLocks noChangeArrowheads="1"/>
                </p:cNvSpPr>
                <p:nvPr/>
              </p:nvSpPr>
              <p:spPr bwMode="gray">
                <a:xfrm>
                  <a:off x="467307" y="3665128"/>
                  <a:ext cx="1568878" cy="362949"/>
                </a:xfrm>
                <a:prstGeom prst="homePlate">
                  <a:avLst>
                    <a:gd name="adj" fmla="val 31351"/>
                  </a:avLst>
                </a:prstGeom>
                <a:solidFill>
                  <a:schemeClr val="accent1"/>
                </a:solidFill>
                <a:ln w="12700" algn="ctr">
                  <a:noFill/>
                  <a:miter lim="800000"/>
                  <a:headEnd/>
                  <a:tailEnd/>
                </a:ln>
                <a:effectLst/>
              </p:spPr>
              <p:txBody>
                <a:bodyPr anchor="ctr"/>
                <a:lstStyle/>
                <a:p>
                  <a:pPr marL="0" marR="0" lvl="0" indent="0" algn="ctr" defTabSz="914400" eaLnBrk="0" fontAlgn="auto" latinLnBrk="0" hangingPunct="0">
                    <a:lnSpc>
                      <a:spcPct val="100000"/>
                    </a:lnSpc>
                    <a:spcBef>
                      <a:spcPts val="0"/>
                    </a:spcBef>
                    <a:spcAft>
                      <a:spcPct val="10000"/>
                    </a:spcAft>
                    <a:buClr>
                      <a:srgbClr val="0071CE"/>
                    </a:buClr>
                    <a:buSzTx/>
                    <a:buFont typeface="Wingdings" pitchFamily="2" charset="2"/>
                    <a:buNone/>
                    <a:tabLst/>
                    <a:defRPr/>
                  </a:pPr>
                  <a:r>
                    <a:rPr kumimoji="0" lang="en-US" sz="1400" b="0" i="0" u="none" strike="noStrike" kern="0" cap="none" spc="0" normalizeH="0" baseline="0" noProof="0">
                      <a:ln>
                        <a:noFill/>
                      </a:ln>
                      <a:solidFill>
                        <a:schemeClr val="bg1"/>
                      </a:solidFill>
                      <a:effectLst/>
                      <a:uLnTx/>
                      <a:uFillTx/>
                      <a:latin typeface="Calibri"/>
                      <a:cs typeface="Calibri" pitchFamily="34" charset="0"/>
                    </a:rPr>
                    <a:t>Operational</a:t>
                  </a:r>
                </a:p>
              </p:txBody>
            </p:sp>
            <p:sp>
              <p:nvSpPr>
                <p:cNvPr id="121" name="AutoShape 12">
                  <a:extLst>
                    <a:ext uri="{FF2B5EF4-FFF2-40B4-BE49-F238E27FC236}">
                      <a16:creationId xmlns:a16="http://schemas.microsoft.com/office/drawing/2014/main" id="{4886662E-8AEB-B6DA-343C-56472AC783C3}"/>
                    </a:ext>
                  </a:extLst>
                </p:cNvPr>
                <p:cNvSpPr>
                  <a:spLocks noChangeArrowheads="1"/>
                </p:cNvSpPr>
                <p:nvPr/>
              </p:nvSpPr>
              <p:spPr bwMode="gray">
                <a:xfrm>
                  <a:off x="467307" y="4856435"/>
                  <a:ext cx="1568878" cy="362949"/>
                </a:xfrm>
                <a:prstGeom prst="homePlate">
                  <a:avLst>
                    <a:gd name="adj" fmla="val 31351"/>
                  </a:avLst>
                </a:prstGeom>
                <a:solidFill>
                  <a:schemeClr val="accent1"/>
                </a:solidFill>
                <a:ln w="12700" algn="ctr">
                  <a:noFill/>
                  <a:miter lim="800000"/>
                  <a:headEnd/>
                  <a:tailEnd/>
                </a:ln>
                <a:effectLst/>
              </p:spPr>
              <p:txBody>
                <a:bodyPr anchor="ctr"/>
                <a:lstStyle/>
                <a:p>
                  <a:pPr marL="0" marR="0" lvl="0" indent="0" algn="ctr" defTabSz="914400" eaLnBrk="1" fontAlgn="auto" latinLnBrk="0" hangingPunct="1">
                    <a:lnSpc>
                      <a:spcPts val="1500"/>
                    </a:lnSpc>
                    <a:spcBef>
                      <a:spcPts val="0"/>
                    </a:spcBef>
                    <a:spcAft>
                      <a:spcPct val="10000"/>
                    </a:spcAft>
                    <a:buClr>
                      <a:srgbClr val="0071CE"/>
                    </a:buClr>
                    <a:buSzTx/>
                    <a:buFontTx/>
                    <a:buNone/>
                    <a:tabLst/>
                    <a:defRPr/>
                  </a:pPr>
                  <a:r>
                    <a:rPr kumimoji="0" lang="en-US" sz="1400" b="0" i="0" u="none" strike="noStrike" kern="0" cap="none" spc="0" normalizeH="0" baseline="0" noProof="0">
                      <a:ln>
                        <a:noFill/>
                      </a:ln>
                      <a:solidFill>
                        <a:schemeClr val="bg1"/>
                      </a:solidFill>
                      <a:effectLst/>
                      <a:uLnTx/>
                      <a:uFillTx/>
                      <a:latin typeface="Calibri"/>
                      <a:cs typeface="Calibri" pitchFamily="34" charset="0"/>
                    </a:rPr>
                    <a:t>Continuous Learning</a:t>
                  </a:r>
                </a:p>
              </p:txBody>
            </p:sp>
            <p:sp>
              <p:nvSpPr>
                <p:cNvPr id="13" name="AutoShape 12">
                  <a:extLst>
                    <a:ext uri="{FF2B5EF4-FFF2-40B4-BE49-F238E27FC236}">
                      <a16:creationId xmlns:a16="http://schemas.microsoft.com/office/drawing/2014/main" id="{5A567BFD-565D-ADE9-4873-BB71690F8FFE}"/>
                    </a:ext>
                  </a:extLst>
                </p:cNvPr>
                <p:cNvSpPr>
                  <a:spLocks noChangeArrowheads="1"/>
                </p:cNvSpPr>
                <p:nvPr/>
              </p:nvSpPr>
              <p:spPr bwMode="gray">
                <a:xfrm>
                  <a:off x="467307" y="4271890"/>
                  <a:ext cx="1568878" cy="362949"/>
                </a:xfrm>
                <a:prstGeom prst="homePlate">
                  <a:avLst>
                    <a:gd name="adj" fmla="val 31351"/>
                  </a:avLst>
                </a:prstGeom>
                <a:solidFill>
                  <a:schemeClr val="accent1"/>
                </a:solidFill>
                <a:ln w="12700" algn="ctr">
                  <a:noFill/>
                  <a:miter lim="800000"/>
                  <a:headEnd/>
                  <a:tailEnd/>
                </a:ln>
                <a:effectLst/>
              </p:spPr>
              <p:txBody>
                <a:bodyPr anchor="ctr"/>
                <a:lstStyle/>
                <a:p>
                  <a:pPr marL="0" marR="0" lvl="0" indent="0" algn="ctr" defTabSz="914400" eaLnBrk="0" fontAlgn="auto" latinLnBrk="0" hangingPunct="0">
                    <a:lnSpc>
                      <a:spcPct val="100000"/>
                    </a:lnSpc>
                    <a:spcBef>
                      <a:spcPts val="0"/>
                    </a:spcBef>
                    <a:spcAft>
                      <a:spcPct val="10000"/>
                    </a:spcAft>
                    <a:buClr>
                      <a:srgbClr val="0071CE"/>
                    </a:buClr>
                    <a:buSzTx/>
                    <a:buFont typeface="Wingdings" pitchFamily="2" charset="2"/>
                    <a:buNone/>
                    <a:tabLst/>
                    <a:defRPr/>
                  </a:pPr>
                  <a:r>
                    <a:rPr kumimoji="0" lang="en-US" sz="1400" b="0" i="0" u="none" strike="noStrike" kern="0" cap="none" spc="0" normalizeH="0" baseline="0" noProof="0">
                      <a:ln>
                        <a:noFill/>
                      </a:ln>
                      <a:solidFill>
                        <a:schemeClr val="bg1"/>
                      </a:solidFill>
                      <a:effectLst/>
                      <a:uLnTx/>
                      <a:uFillTx/>
                      <a:latin typeface="Calibri"/>
                      <a:cs typeface="Calibri" pitchFamily="34" charset="0"/>
                    </a:rPr>
                    <a:t>Customer</a:t>
                  </a:r>
                </a:p>
              </p:txBody>
            </p:sp>
            <p:sp>
              <p:nvSpPr>
                <p:cNvPr id="15" name="AutoShape 9">
                  <a:extLst>
                    <a:ext uri="{FF2B5EF4-FFF2-40B4-BE49-F238E27FC236}">
                      <a16:creationId xmlns:a16="http://schemas.microsoft.com/office/drawing/2014/main" id="{A2421CFC-7101-9BD7-2EE5-86CB6F206956}"/>
                    </a:ext>
                  </a:extLst>
                </p:cNvPr>
                <p:cNvSpPr>
                  <a:spLocks noChangeArrowheads="1"/>
                </p:cNvSpPr>
                <p:nvPr/>
              </p:nvSpPr>
              <p:spPr bwMode="gray">
                <a:xfrm>
                  <a:off x="467235" y="2579455"/>
                  <a:ext cx="1569966" cy="362949"/>
                </a:xfrm>
                <a:prstGeom prst="homePlate">
                  <a:avLst>
                    <a:gd name="adj" fmla="val 31420"/>
                  </a:avLst>
                </a:prstGeom>
                <a:solidFill>
                  <a:schemeClr val="accent1"/>
                </a:solidFill>
                <a:ln w="12700" algn="ctr">
                  <a:noFill/>
                  <a:miter lim="800000"/>
                  <a:headEnd/>
                  <a:tailEnd/>
                </a:ln>
                <a:effectLst/>
              </p:spPr>
              <p:txBody>
                <a:bodyPr anchor="ctr"/>
                <a:lstStyle/>
                <a:p>
                  <a:pPr marL="0" marR="0" lvl="0" indent="0" algn="ctr" defTabSz="914400" eaLnBrk="0" fontAlgn="auto" latinLnBrk="0" hangingPunct="0">
                    <a:lnSpc>
                      <a:spcPct val="100000"/>
                    </a:lnSpc>
                    <a:spcBef>
                      <a:spcPts val="0"/>
                    </a:spcBef>
                    <a:spcAft>
                      <a:spcPct val="10000"/>
                    </a:spcAft>
                    <a:buClr>
                      <a:srgbClr val="0071CE"/>
                    </a:buClr>
                    <a:buSzTx/>
                    <a:buFont typeface="Wingdings" pitchFamily="2" charset="2"/>
                    <a:buNone/>
                    <a:tabLst/>
                    <a:defRPr/>
                  </a:pPr>
                  <a:r>
                    <a:rPr lang="en-US" sz="1400" kern="0" noProof="0">
                      <a:solidFill>
                        <a:schemeClr val="bg1"/>
                      </a:solidFill>
                      <a:latin typeface="Calibri"/>
                      <a:cs typeface="Calibri" pitchFamily="34" charset="0"/>
                    </a:rPr>
                    <a:t>Technical</a:t>
                  </a:r>
                  <a:endParaRPr kumimoji="0" lang="en-US" sz="1400" b="0" i="0" u="none" strike="noStrike" kern="0" cap="none" spc="0" normalizeH="0" baseline="0" noProof="0">
                    <a:ln>
                      <a:noFill/>
                    </a:ln>
                    <a:solidFill>
                      <a:schemeClr val="bg1"/>
                    </a:solidFill>
                    <a:effectLst/>
                    <a:uLnTx/>
                    <a:uFillTx/>
                    <a:latin typeface="Calibri"/>
                    <a:cs typeface="Calibri" pitchFamily="34" charset="0"/>
                  </a:endParaRPr>
                </a:p>
              </p:txBody>
            </p:sp>
            <p:sp>
              <p:nvSpPr>
                <p:cNvPr id="16" name="AutoShape 9">
                  <a:extLst>
                    <a:ext uri="{FF2B5EF4-FFF2-40B4-BE49-F238E27FC236}">
                      <a16:creationId xmlns:a16="http://schemas.microsoft.com/office/drawing/2014/main" id="{6B0F2627-3102-FD17-BB4B-B6E5CA08E496}"/>
                    </a:ext>
                  </a:extLst>
                </p:cNvPr>
                <p:cNvSpPr>
                  <a:spLocks noChangeArrowheads="1"/>
                </p:cNvSpPr>
                <p:nvPr/>
              </p:nvSpPr>
              <p:spPr bwMode="gray">
                <a:xfrm>
                  <a:off x="476593" y="3121392"/>
                  <a:ext cx="1569966" cy="363899"/>
                </a:xfrm>
                <a:prstGeom prst="homePlate">
                  <a:avLst>
                    <a:gd name="adj" fmla="val 31420"/>
                  </a:avLst>
                </a:prstGeom>
                <a:solidFill>
                  <a:schemeClr val="accent1"/>
                </a:solidFill>
                <a:ln w="12700" algn="ctr">
                  <a:noFill/>
                  <a:miter lim="800000"/>
                  <a:headEnd/>
                  <a:tailEnd/>
                </a:ln>
                <a:effectLst/>
              </p:spPr>
              <p:txBody>
                <a:bodyPr anchor="ctr"/>
                <a:lstStyle/>
                <a:p>
                  <a:pPr marL="0" marR="0" lvl="0" indent="0" algn="ctr" defTabSz="914400" eaLnBrk="0" fontAlgn="auto" latinLnBrk="0" hangingPunct="0">
                    <a:lnSpc>
                      <a:spcPct val="100000"/>
                    </a:lnSpc>
                    <a:spcBef>
                      <a:spcPts val="0"/>
                    </a:spcBef>
                    <a:spcAft>
                      <a:spcPct val="10000"/>
                    </a:spcAft>
                    <a:buClr>
                      <a:srgbClr val="0071CE"/>
                    </a:buClr>
                    <a:buSzTx/>
                    <a:buFont typeface="Wingdings" pitchFamily="2" charset="2"/>
                    <a:buNone/>
                    <a:tabLst/>
                    <a:defRPr/>
                  </a:pPr>
                  <a:r>
                    <a:rPr lang="en-US" sz="1400" kern="0" noProof="0">
                      <a:solidFill>
                        <a:schemeClr val="bg1"/>
                      </a:solidFill>
                      <a:latin typeface="Calibri"/>
                      <a:cs typeface="Calibri" pitchFamily="34" charset="0"/>
                    </a:rPr>
                    <a:t>Functional</a:t>
                  </a:r>
                  <a:endParaRPr kumimoji="0" lang="en-US" sz="1400" b="0" i="0" u="none" strike="noStrike" kern="0" cap="none" spc="0" normalizeH="0" baseline="0" noProof="0">
                    <a:ln>
                      <a:noFill/>
                    </a:ln>
                    <a:solidFill>
                      <a:schemeClr val="bg1"/>
                    </a:solidFill>
                    <a:effectLst/>
                    <a:uLnTx/>
                    <a:uFillTx/>
                    <a:latin typeface="Calibri"/>
                    <a:cs typeface="Calibri" pitchFamily="34" charset="0"/>
                  </a:endParaRPr>
                </a:p>
              </p:txBody>
            </p:sp>
          </p:grpSp>
        </p:grpSp>
        <p:cxnSp>
          <p:nvCxnSpPr>
            <p:cNvPr id="17" name="Straight Connector 16">
              <a:extLst>
                <a:ext uri="{FF2B5EF4-FFF2-40B4-BE49-F238E27FC236}">
                  <a16:creationId xmlns:a16="http://schemas.microsoft.com/office/drawing/2014/main" id="{CD932F19-E926-38FE-2872-774005459CF1}"/>
                </a:ext>
              </a:extLst>
            </p:cNvPr>
            <p:cNvCxnSpPr/>
            <p:nvPr/>
          </p:nvCxnSpPr>
          <p:spPr>
            <a:xfrm>
              <a:off x="432349" y="3020532"/>
              <a:ext cx="4813204" cy="0"/>
            </a:xfrm>
            <a:prstGeom prst="line">
              <a:avLst/>
            </a:prstGeom>
            <a:noFill/>
            <a:ln w="3175" cap="flat" cmpd="sng" algn="ctr">
              <a:solidFill>
                <a:srgbClr val="FFFFFF">
                  <a:lumMod val="75000"/>
                </a:srgbClr>
              </a:solidFill>
              <a:prstDash val="lgDash"/>
              <a:miter lim="800000"/>
            </a:ln>
            <a:effectLst/>
          </p:spPr>
        </p:cxnSp>
        <p:cxnSp>
          <p:nvCxnSpPr>
            <p:cNvPr id="18" name="Straight Connector 17">
              <a:extLst>
                <a:ext uri="{FF2B5EF4-FFF2-40B4-BE49-F238E27FC236}">
                  <a16:creationId xmlns:a16="http://schemas.microsoft.com/office/drawing/2014/main" id="{2B154606-C2BC-067C-8EDE-6663A9292963}"/>
                </a:ext>
              </a:extLst>
            </p:cNvPr>
            <p:cNvCxnSpPr/>
            <p:nvPr/>
          </p:nvCxnSpPr>
          <p:spPr>
            <a:xfrm>
              <a:off x="449828" y="3571875"/>
              <a:ext cx="4813204" cy="0"/>
            </a:xfrm>
            <a:prstGeom prst="line">
              <a:avLst/>
            </a:prstGeom>
            <a:noFill/>
            <a:ln w="3175" cap="flat" cmpd="sng" algn="ctr">
              <a:solidFill>
                <a:srgbClr val="FFFFFF">
                  <a:lumMod val="75000"/>
                </a:srgbClr>
              </a:solidFill>
              <a:prstDash val="lgDash"/>
              <a:miter lim="800000"/>
            </a:ln>
            <a:effectLst/>
          </p:spPr>
        </p:cxnSp>
        <p:sp>
          <p:nvSpPr>
            <p:cNvPr id="19" name="Rectangle 18">
              <a:extLst>
                <a:ext uri="{FF2B5EF4-FFF2-40B4-BE49-F238E27FC236}">
                  <a16:creationId xmlns:a16="http://schemas.microsoft.com/office/drawing/2014/main" id="{267BA21C-A91D-86EB-5E10-69FB7C6AB175}"/>
                </a:ext>
              </a:extLst>
            </p:cNvPr>
            <p:cNvSpPr/>
            <p:nvPr/>
          </p:nvSpPr>
          <p:spPr>
            <a:xfrm>
              <a:off x="2107378" y="2535985"/>
              <a:ext cx="1498104" cy="531812"/>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Technical Know How</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Provisioning</a:t>
              </a:r>
            </a:p>
          </p:txBody>
        </p:sp>
        <p:sp>
          <p:nvSpPr>
            <p:cNvPr id="20" name="Rectangle 19">
              <a:extLst>
                <a:ext uri="{FF2B5EF4-FFF2-40B4-BE49-F238E27FC236}">
                  <a16:creationId xmlns:a16="http://schemas.microsoft.com/office/drawing/2014/main" id="{72FFBBD3-0416-9FD0-96BE-999377B4EEBA}"/>
                </a:ext>
              </a:extLst>
            </p:cNvPr>
            <p:cNvSpPr/>
            <p:nvPr/>
          </p:nvSpPr>
          <p:spPr>
            <a:xfrm>
              <a:off x="3707129" y="2517558"/>
              <a:ext cx="1498104" cy="531812"/>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Data Integration</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Modularity of Solution</a:t>
              </a:r>
            </a:p>
          </p:txBody>
        </p:sp>
        <p:sp>
          <p:nvSpPr>
            <p:cNvPr id="21" name="Rectangle 20">
              <a:extLst>
                <a:ext uri="{FF2B5EF4-FFF2-40B4-BE49-F238E27FC236}">
                  <a16:creationId xmlns:a16="http://schemas.microsoft.com/office/drawing/2014/main" id="{68DA4E09-993C-B96F-4677-FEA5123F0A26}"/>
                </a:ext>
              </a:extLst>
            </p:cNvPr>
            <p:cNvSpPr/>
            <p:nvPr/>
          </p:nvSpPr>
          <p:spPr>
            <a:xfrm>
              <a:off x="2107378" y="3060683"/>
              <a:ext cx="1341965" cy="531812"/>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Change Management</a:t>
              </a:r>
            </a:p>
          </p:txBody>
        </p:sp>
        <p:sp>
          <p:nvSpPr>
            <p:cNvPr id="22" name="Rectangle 21">
              <a:extLst>
                <a:ext uri="{FF2B5EF4-FFF2-40B4-BE49-F238E27FC236}">
                  <a16:creationId xmlns:a16="http://schemas.microsoft.com/office/drawing/2014/main" id="{502D1F52-9339-EB40-9304-5BCF3BFE884E}"/>
                </a:ext>
              </a:extLst>
            </p:cNvPr>
            <p:cNvSpPr/>
            <p:nvPr/>
          </p:nvSpPr>
          <p:spPr>
            <a:xfrm>
              <a:off x="3727120" y="3050990"/>
              <a:ext cx="1341965" cy="531812"/>
            </a:xfrm>
            <a:prstGeom prst="rect">
              <a:avLst/>
            </a:prstGeom>
            <a:noFill/>
            <a:ln w="6350" cap="flat" cmpd="sng" algn="ctr">
              <a:noFill/>
              <a:prstDash val="solid"/>
              <a:miter lim="800000"/>
            </a:ln>
            <a:effectLst/>
          </p:spPr>
          <p:txBody>
            <a:bodyPr anchor="t"/>
            <a:lstStyle/>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0" cap="none" spc="0" normalizeH="0" baseline="0" noProof="0">
                  <a:ln>
                    <a:noFill/>
                  </a:ln>
                  <a:solidFill>
                    <a:schemeClr val="bg1"/>
                  </a:solidFill>
                  <a:effectLst/>
                  <a:uLnTx/>
                  <a:uFillTx/>
                  <a:latin typeface="Calibri"/>
                  <a:ea typeface="+mn-ea"/>
                  <a:cs typeface="Calibri" pitchFamily="34" charset="0"/>
                </a:rPr>
                <a:t>Scalability</a:t>
              </a:r>
            </a:p>
            <a:p>
              <a:pPr marL="76198" marR="0" lvl="0" indent="-7619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67" kern="0" noProof="0">
                  <a:solidFill>
                    <a:schemeClr val="bg1"/>
                  </a:solidFill>
                  <a:latin typeface="Calibri"/>
                  <a:cs typeface="Calibri" pitchFamily="34" charset="0"/>
                </a:rPr>
                <a:t>Digital Strategy</a:t>
              </a:r>
              <a:endParaRPr kumimoji="0" lang="en-US" sz="1067" b="0" i="0" u="none" strike="noStrike" kern="0" cap="none" spc="0" normalizeH="0" baseline="0" noProof="0">
                <a:ln>
                  <a:noFill/>
                </a:ln>
                <a:solidFill>
                  <a:schemeClr val="bg1"/>
                </a:solidFill>
                <a:effectLst/>
                <a:uLnTx/>
                <a:uFillTx/>
                <a:latin typeface="Calibri"/>
                <a:ea typeface="+mn-ea"/>
                <a:cs typeface="Calibri" pitchFamily="34" charset="0"/>
              </a:endParaRPr>
            </a:p>
          </p:txBody>
        </p:sp>
      </p:grpSp>
      <p:grpSp>
        <p:nvGrpSpPr>
          <p:cNvPr id="7" name="Group 6">
            <a:extLst>
              <a:ext uri="{FF2B5EF4-FFF2-40B4-BE49-F238E27FC236}">
                <a16:creationId xmlns:a16="http://schemas.microsoft.com/office/drawing/2014/main" id="{5F750551-B9D6-DCA5-8BCF-99DAB1CA1F1D}"/>
              </a:ext>
            </a:extLst>
          </p:cNvPr>
          <p:cNvGrpSpPr/>
          <p:nvPr/>
        </p:nvGrpSpPr>
        <p:grpSpPr>
          <a:xfrm>
            <a:off x="377798" y="1062547"/>
            <a:ext cx="5602379" cy="372973"/>
            <a:chOff x="377799" y="1062548"/>
            <a:chExt cx="5130530" cy="208800"/>
          </a:xfrm>
        </p:grpSpPr>
        <p:sp>
          <p:nvSpPr>
            <p:cNvPr id="3" name="Arrow: Chevron 2">
              <a:extLst>
                <a:ext uri="{FF2B5EF4-FFF2-40B4-BE49-F238E27FC236}">
                  <a16:creationId xmlns:a16="http://schemas.microsoft.com/office/drawing/2014/main" id="{4FA05459-D114-F434-EA0B-BC5BB5149F33}"/>
                </a:ext>
              </a:extLst>
            </p:cNvPr>
            <p:cNvSpPr/>
            <p:nvPr/>
          </p:nvSpPr>
          <p:spPr>
            <a:xfrm>
              <a:off x="37779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solidFill>
                </a:rPr>
                <a:t>Discover</a:t>
              </a:r>
            </a:p>
          </p:txBody>
        </p:sp>
        <p:sp>
          <p:nvSpPr>
            <p:cNvPr id="4" name="Arrow: Chevron 3">
              <a:extLst>
                <a:ext uri="{FF2B5EF4-FFF2-40B4-BE49-F238E27FC236}">
                  <a16:creationId xmlns:a16="http://schemas.microsoft.com/office/drawing/2014/main" id="{12758FBA-D0FD-7756-E4E6-B4E86F7C5F3B}"/>
                </a:ext>
              </a:extLst>
            </p:cNvPr>
            <p:cNvSpPr/>
            <p:nvPr/>
          </p:nvSpPr>
          <p:spPr>
            <a:xfrm>
              <a:off x="1664376" y="1062548"/>
              <a:ext cx="1270800" cy="208800"/>
            </a:xfrm>
            <a:prstGeom prst="chevron">
              <a:avLst/>
            </a:prstGeom>
            <a:solidFill>
              <a:srgbClr val="178C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bg1"/>
                  </a:solidFill>
                </a:rPr>
                <a:t>Evaluate &amp; Create</a:t>
              </a:r>
            </a:p>
          </p:txBody>
        </p:sp>
        <p:sp>
          <p:nvSpPr>
            <p:cNvPr id="5" name="Arrow: Chevron 4">
              <a:extLst>
                <a:ext uri="{FF2B5EF4-FFF2-40B4-BE49-F238E27FC236}">
                  <a16:creationId xmlns:a16="http://schemas.microsoft.com/office/drawing/2014/main" id="{55E4B29D-7EC6-2DCD-AD4E-1CA73208E5F2}"/>
                </a:ext>
              </a:extLst>
            </p:cNvPr>
            <p:cNvSpPr/>
            <p:nvPr/>
          </p:nvSpPr>
          <p:spPr>
            <a:xfrm>
              <a:off x="2950953"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solidFill>
                </a:rPr>
                <a:t>Recommend</a:t>
              </a:r>
            </a:p>
          </p:txBody>
        </p:sp>
        <p:sp>
          <p:nvSpPr>
            <p:cNvPr id="6" name="Arrow: Chevron 5">
              <a:extLst>
                <a:ext uri="{FF2B5EF4-FFF2-40B4-BE49-F238E27FC236}">
                  <a16:creationId xmlns:a16="http://schemas.microsoft.com/office/drawing/2014/main" id="{BBE09B9E-A64D-5CF5-3C60-05459263788F}"/>
                </a:ext>
              </a:extLst>
            </p:cNvPr>
            <p:cNvSpPr/>
            <p:nvPr/>
          </p:nvSpPr>
          <p:spPr>
            <a:xfrm>
              <a:off x="423752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solidFill>
                </a:rPr>
                <a:t>Support</a:t>
              </a:r>
            </a:p>
          </p:txBody>
        </p:sp>
      </p:grpSp>
    </p:spTree>
    <p:extLst>
      <p:ext uri="{BB962C8B-B14F-4D97-AF65-F5344CB8AC3E}">
        <p14:creationId xmlns:p14="http://schemas.microsoft.com/office/powerpoint/2010/main" val="2368270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C9D13632-6442-7358-A963-23871D845EA0}"/>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650B51A3-C773-B2F6-2D05-0D4F8D98CAF0}"/>
              </a:ext>
            </a:extLst>
          </p:cNvPr>
          <p:cNvSpPr txBox="1"/>
          <p:nvPr/>
        </p:nvSpPr>
        <p:spPr>
          <a:xfrm>
            <a:off x="550156" y="1250927"/>
            <a:ext cx="11203448" cy="430887"/>
          </a:xfrm>
          <a:prstGeom prst="rect">
            <a:avLst/>
          </a:prstGeom>
        </p:spPr>
        <p:txBody>
          <a:bodyPr vert="horz" lIns="0" tIns="0" rIns="0" bIns="0" rtlCol="0" anchor="t">
            <a:noAutofit/>
          </a:bodyPr>
          <a:lstStyle>
            <a:lvl1pPr indent="0">
              <a:lnSpc>
                <a:spcPct val="100000"/>
              </a:lnSpc>
              <a:spcBef>
                <a:spcPts val="0"/>
              </a:spcBef>
              <a:spcAft>
                <a:spcPts val="600"/>
              </a:spcAft>
              <a:buFont typeface="Arial" panose="020B0604020202020204" pitchFamily="34" charset="0"/>
              <a:buNone/>
              <a:defRPr sz="1400" baseline="0">
                <a:solidFill>
                  <a:schemeClr val="accent2"/>
                </a:solidFill>
                <a:latin typeface="Ubuntu" panose="020B0504030602030204" pitchFamily="34" charset="0"/>
              </a:defRPr>
            </a:lvl1pPr>
            <a:lvl2pPr marL="177800" indent="-177800">
              <a:lnSpc>
                <a:spcPct val="100000"/>
              </a:lnSpc>
              <a:spcBef>
                <a:spcPts val="0"/>
              </a:spcBef>
              <a:spcAft>
                <a:spcPts val="600"/>
              </a:spcAft>
              <a:buClr>
                <a:schemeClr val="accent1"/>
              </a:buClr>
              <a:buFont typeface="Wingdings" panose="05000000000000000000" pitchFamily="2" charset="2"/>
              <a:buChar char="§"/>
              <a:defRPr baseline="0">
                <a:solidFill>
                  <a:schemeClr val="bg1"/>
                </a:solidFill>
                <a:latin typeface="Ubuntu" panose="020B0504030602030204" pitchFamily="34" charset="0"/>
              </a:defRPr>
            </a:lvl2pPr>
            <a:lvl3pPr marL="361950" indent="-184150">
              <a:lnSpc>
                <a:spcPct val="100000"/>
              </a:lnSpc>
              <a:spcBef>
                <a:spcPts val="0"/>
              </a:spcBef>
              <a:spcAft>
                <a:spcPts val="600"/>
              </a:spcAft>
              <a:buClr>
                <a:schemeClr val="accent2"/>
              </a:buClr>
              <a:buFont typeface="Arial" panose="020B0604020202020204" pitchFamily="34" charset="0"/>
              <a:buChar char="•"/>
              <a:defRPr sz="1600" baseline="0">
                <a:solidFill>
                  <a:schemeClr val="bg1"/>
                </a:solidFill>
                <a:latin typeface="Ubuntu" panose="020B0504030602030204" pitchFamily="34" charset="0"/>
              </a:defRPr>
            </a:lvl3pPr>
            <a:lvl4pPr marL="539750" indent="-177800">
              <a:lnSpc>
                <a:spcPct val="100000"/>
              </a:lnSpc>
              <a:spcBef>
                <a:spcPts val="0"/>
              </a:spcBef>
              <a:spcAft>
                <a:spcPts val="600"/>
              </a:spcAft>
              <a:buClr>
                <a:schemeClr val="tx1"/>
              </a:buClr>
              <a:buFont typeface="Ubuntu" panose="020B0504030602030204" pitchFamily="34" charset="0"/>
              <a:buChar char="–"/>
              <a:defRPr sz="1400" baseline="0">
                <a:solidFill>
                  <a:schemeClr val="bg1"/>
                </a:solidFill>
                <a:latin typeface="Ubuntu" panose="020B0504030602030204" pitchFamily="34" charset="0"/>
              </a:defRPr>
            </a:lvl4pPr>
            <a:lvl5pPr marL="717550" indent="-177800">
              <a:lnSpc>
                <a:spcPct val="100000"/>
              </a:lnSpc>
              <a:spcBef>
                <a:spcPts val="0"/>
              </a:spcBef>
              <a:spcAft>
                <a:spcPts val="600"/>
              </a:spcAft>
              <a:buClr>
                <a:schemeClr val="accent3"/>
              </a:buClr>
              <a:buFont typeface="Arial" panose="020B0604020202020204" pitchFamily="34" charset="0"/>
              <a:buChar char="•"/>
              <a:defRPr sz="1400" baseline="0">
                <a:solidFill>
                  <a:schemeClr val="bg1"/>
                </a:solidFill>
                <a:latin typeface="Ubuntu" panose="020B0504030602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rPr>
              <a:t>We will work in collaboration to build a comprehensive view of current state costs, investments required for proposed transformations and target state costs along with potential benefits</a:t>
            </a:r>
          </a:p>
        </p:txBody>
      </p:sp>
      <p:sp>
        <p:nvSpPr>
          <p:cNvPr id="25" name="Title 1">
            <a:extLst>
              <a:ext uri="{FF2B5EF4-FFF2-40B4-BE49-F238E27FC236}">
                <a16:creationId xmlns:a16="http://schemas.microsoft.com/office/drawing/2014/main" id="{8107DAC1-0F31-1420-A258-1D59EE8CC799}"/>
              </a:ext>
            </a:extLst>
          </p:cNvPr>
          <p:cNvSpPr txBox="1">
            <a:spLocks/>
          </p:cNvSpPr>
          <p:nvPr/>
        </p:nvSpPr>
        <p:spPr>
          <a:xfrm>
            <a:off x="515470" y="158365"/>
            <a:ext cx="9638623" cy="511062"/>
          </a:xfrm>
          <a:prstGeom prst="rect">
            <a:avLst/>
          </a:prstGeom>
        </p:spPr>
        <p:txBody>
          <a:bodyPr vert="horz" lIns="0" tIns="0" rIns="0" bIns="0" rtlCol="0" anchor="t">
            <a:noAutofit/>
          </a:bodyPr>
          <a:lstStyle>
            <a:lvl1pPr marR="0" indent="0" defTabSz="914400" fontAlgn="auto">
              <a:lnSpc>
                <a:spcPct val="90000"/>
              </a:lnSpc>
              <a:spcBef>
                <a:spcPct val="0"/>
              </a:spcBef>
              <a:spcAft>
                <a:spcPts val="0"/>
              </a:spcAft>
              <a:buClrTx/>
              <a:buSzTx/>
              <a:buFontTx/>
              <a:buNone/>
              <a:tabLst/>
              <a:defRPr kumimoji="0" lang="en-US" sz="2400" b="0" i="0" u="none" strike="noStrike" cap="all" spc="0" normalizeH="0" baseline="0" noProof="0">
                <a:ln>
                  <a:noFill/>
                </a:ln>
                <a:solidFill>
                  <a:schemeClr val="bg1"/>
                </a:solidFill>
                <a:effectLst/>
                <a:uLnTx/>
                <a:uFillTx/>
                <a:latin typeface="+mj-lt"/>
                <a:ea typeface="+mj-ea"/>
                <a:cs typeface="+mj-cs"/>
              </a:defRPr>
            </a:lvl1pPr>
          </a:lstStyle>
          <a:p>
            <a:r>
              <a:rPr lang="en-US" sz="2400" cap="none" noProof="0"/>
              <a:t>A structured methodology that identifies IT TCO and drives potential opportunities through business case</a:t>
            </a:r>
            <a:br>
              <a:rPr lang="en-US" sz="2400" cap="none" noProof="0"/>
            </a:br>
            <a:endParaRPr lang="en-US" noProof="0">
              <a:latin typeface="+mn-lt"/>
            </a:endParaRPr>
          </a:p>
        </p:txBody>
      </p:sp>
      <p:grpSp>
        <p:nvGrpSpPr>
          <p:cNvPr id="2" name="Group 1">
            <a:extLst>
              <a:ext uri="{FF2B5EF4-FFF2-40B4-BE49-F238E27FC236}">
                <a16:creationId xmlns:a16="http://schemas.microsoft.com/office/drawing/2014/main" id="{7A54866B-46CF-A75E-8A96-2B0F8E5DBD18}"/>
              </a:ext>
            </a:extLst>
          </p:cNvPr>
          <p:cNvGrpSpPr/>
          <p:nvPr/>
        </p:nvGrpSpPr>
        <p:grpSpPr>
          <a:xfrm>
            <a:off x="369113" y="1751335"/>
            <a:ext cx="11281853" cy="4971554"/>
            <a:chOff x="369113" y="1751335"/>
            <a:chExt cx="11281853" cy="4971554"/>
          </a:xfrm>
        </p:grpSpPr>
        <p:sp>
          <p:nvSpPr>
            <p:cNvPr id="4" name="Rectangle 3">
              <a:extLst>
                <a:ext uri="{FF2B5EF4-FFF2-40B4-BE49-F238E27FC236}">
                  <a16:creationId xmlns:a16="http://schemas.microsoft.com/office/drawing/2014/main" id="{700BECA1-75D2-A0F1-58FB-5D39FC8240B4}"/>
                </a:ext>
              </a:extLst>
            </p:cNvPr>
            <p:cNvSpPr/>
            <p:nvPr/>
          </p:nvSpPr>
          <p:spPr>
            <a:xfrm rot="5400000" flipH="1">
              <a:off x="-958623" y="3706075"/>
              <a:ext cx="3096000" cy="336623"/>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noProof="0">
                <a:solidFill>
                  <a:schemeClr val="bg1"/>
                </a:solidFill>
              </a:endParaRPr>
            </a:p>
          </p:txBody>
        </p:sp>
        <p:sp>
          <p:nvSpPr>
            <p:cNvPr id="5" name="Rectangle: Rounded Corners 4">
              <a:extLst>
                <a:ext uri="{FF2B5EF4-FFF2-40B4-BE49-F238E27FC236}">
                  <a16:creationId xmlns:a16="http://schemas.microsoft.com/office/drawing/2014/main" id="{FC0AE256-8267-94AF-F674-A3B9C3D3FB85}"/>
                </a:ext>
              </a:extLst>
            </p:cNvPr>
            <p:cNvSpPr/>
            <p:nvPr/>
          </p:nvSpPr>
          <p:spPr>
            <a:xfrm>
              <a:off x="1139603" y="1751335"/>
              <a:ext cx="6885638" cy="429137"/>
            </a:xfrm>
            <a:prstGeom prst="roundRect">
              <a:avLst>
                <a:gd name="adj" fmla="val 79695"/>
              </a:avLst>
            </a:prstGeom>
            <a:solidFill>
              <a:schemeClr val="accent1"/>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p>
              <a:pPr algn="ctr"/>
              <a:r>
                <a:rPr lang="en-US" sz="1100" b="1" noProof="0">
                  <a:solidFill>
                    <a:schemeClr val="bg1"/>
                  </a:solidFill>
                </a:rPr>
                <a:t>Target State TCO &amp; Transformation Scenario Analysis</a:t>
              </a:r>
            </a:p>
          </p:txBody>
        </p:sp>
        <p:sp>
          <p:nvSpPr>
            <p:cNvPr id="6" name="Rectangle 5">
              <a:extLst>
                <a:ext uri="{FF2B5EF4-FFF2-40B4-BE49-F238E27FC236}">
                  <a16:creationId xmlns:a16="http://schemas.microsoft.com/office/drawing/2014/main" id="{54D4098E-57F3-8831-CA41-5FB6B0F8BC30}"/>
                </a:ext>
              </a:extLst>
            </p:cNvPr>
            <p:cNvSpPr/>
            <p:nvPr/>
          </p:nvSpPr>
          <p:spPr>
            <a:xfrm rot="16200000">
              <a:off x="-712455" y="3587792"/>
              <a:ext cx="2604644" cy="44150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Key activities </a:t>
              </a:r>
            </a:p>
          </p:txBody>
        </p:sp>
        <p:sp>
          <p:nvSpPr>
            <p:cNvPr id="7" name="TextBox 6">
              <a:extLst>
                <a:ext uri="{FF2B5EF4-FFF2-40B4-BE49-F238E27FC236}">
                  <a16:creationId xmlns:a16="http://schemas.microsoft.com/office/drawing/2014/main" id="{679E04ED-0878-DD81-9BDF-6FC50D088671}"/>
                </a:ext>
              </a:extLst>
            </p:cNvPr>
            <p:cNvSpPr txBox="1"/>
            <p:nvPr/>
          </p:nvSpPr>
          <p:spPr>
            <a:xfrm>
              <a:off x="6100101" y="6316921"/>
              <a:ext cx="121244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300"/>
                </a:spcAft>
                <a:buClr>
                  <a:srgbClr val="0070AD"/>
                </a:buClr>
                <a:buSzTx/>
                <a:buFontTx/>
                <a:buNone/>
                <a:tabLst/>
                <a:defRPr/>
              </a:pPr>
              <a:r>
                <a:rPr kumimoji="0" lang="en-US" sz="800" b="0" i="0" u="none" strike="noStrike" kern="0" cap="none" spc="0" normalizeH="0" baseline="0" noProof="0">
                  <a:ln>
                    <a:noFill/>
                  </a:ln>
                  <a:solidFill>
                    <a:schemeClr val="bg1"/>
                  </a:solidFill>
                  <a:effectLst/>
                  <a:uLnTx/>
                  <a:uFillTx/>
                  <a:latin typeface="Ubuntu" panose="020B0504030602030204" pitchFamily="34" charset="0"/>
                  <a:ea typeface="+mn-ea"/>
                  <a:cs typeface="+mn-cs"/>
                </a:rPr>
                <a:t>Transformation Scenario Analysis</a:t>
              </a:r>
            </a:p>
          </p:txBody>
        </p:sp>
        <p:sp>
          <p:nvSpPr>
            <p:cNvPr id="8" name="TextBox 7">
              <a:extLst>
                <a:ext uri="{FF2B5EF4-FFF2-40B4-BE49-F238E27FC236}">
                  <a16:creationId xmlns:a16="http://schemas.microsoft.com/office/drawing/2014/main" id="{4D709F92-0A01-8145-49C8-FF55DC86E4B0}"/>
                </a:ext>
              </a:extLst>
            </p:cNvPr>
            <p:cNvSpPr txBox="1"/>
            <p:nvPr/>
          </p:nvSpPr>
          <p:spPr>
            <a:xfrm>
              <a:off x="1483890" y="6316921"/>
              <a:ext cx="1261390"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300"/>
                </a:spcAft>
                <a:buClr>
                  <a:srgbClr val="0070AD"/>
                </a:buClr>
                <a:buSzTx/>
                <a:buFontTx/>
                <a:buNone/>
                <a:tabLst/>
                <a:defRPr/>
              </a:pPr>
              <a:r>
                <a:rPr kumimoji="0" lang="en-US" sz="800" b="0" i="0" u="none" strike="noStrike" kern="0" cap="none" spc="0" normalizeH="0" baseline="0" noProof="0">
                  <a:ln>
                    <a:noFill/>
                  </a:ln>
                  <a:solidFill>
                    <a:schemeClr val="bg1"/>
                  </a:solidFill>
                  <a:effectLst/>
                  <a:uLnTx/>
                  <a:uFillTx/>
                  <a:latin typeface="Ubuntu" panose="020B0504030602030204" pitchFamily="34" charset="0"/>
                  <a:ea typeface="+mn-ea"/>
                  <a:cs typeface="+mn-cs"/>
                </a:rPr>
                <a:t>To-Be TCO and Transformation Cost Assessment</a:t>
              </a:r>
            </a:p>
          </p:txBody>
        </p:sp>
        <p:pic>
          <p:nvPicPr>
            <p:cNvPr id="9" name="Picture 8">
              <a:extLst>
                <a:ext uri="{FF2B5EF4-FFF2-40B4-BE49-F238E27FC236}">
                  <a16:creationId xmlns:a16="http://schemas.microsoft.com/office/drawing/2014/main" id="{7E6F6C7A-BBB2-4297-F694-67EF62192010}"/>
                </a:ext>
              </a:extLst>
            </p:cNvPr>
            <p:cNvPicPr>
              <a:picLocks noChangeAspect="1"/>
            </p:cNvPicPr>
            <p:nvPr/>
          </p:nvPicPr>
          <p:blipFill>
            <a:blip r:embed="rId7"/>
            <a:stretch>
              <a:fillRect/>
            </a:stretch>
          </p:blipFill>
          <p:spPr>
            <a:xfrm>
              <a:off x="1510273" y="5588376"/>
              <a:ext cx="1243213" cy="650540"/>
            </a:xfrm>
            <a:prstGeom prst="rect">
              <a:avLst/>
            </a:prstGeom>
            <a:ln w="3016">
              <a:solidFill>
                <a:schemeClr val="accent1"/>
              </a:solidFill>
            </a:ln>
            <a:effectLst/>
          </p:spPr>
        </p:pic>
        <p:pic>
          <p:nvPicPr>
            <p:cNvPr id="10" name="Picture 9">
              <a:extLst>
                <a:ext uri="{FF2B5EF4-FFF2-40B4-BE49-F238E27FC236}">
                  <a16:creationId xmlns:a16="http://schemas.microsoft.com/office/drawing/2014/main" id="{498CEED7-BC5A-0F71-96BC-CE191B71C04A}"/>
                </a:ext>
              </a:extLst>
            </p:cNvPr>
            <p:cNvPicPr>
              <a:picLocks noChangeAspect="1"/>
            </p:cNvPicPr>
            <p:nvPr/>
          </p:nvPicPr>
          <p:blipFill>
            <a:blip r:embed="rId8"/>
            <a:stretch>
              <a:fillRect/>
            </a:stretch>
          </p:blipFill>
          <p:spPr>
            <a:xfrm>
              <a:off x="6130289" y="5625753"/>
              <a:ext cx="1215112" cy="575786"/>
            </a:xfrm>
            <a:prstGeom prst="rect">
              <a:avLst/>
            </a:prstGeom>
            <a:ln w="3016">
              <a:solidFill>
                <a:schemeClr val="accent1"/>
              </a:solidFill>
            </a:ln>
            <a:effectLst/>
          </p:spPr>
        </p:pic>
        <p:sp>
          <p:nvSpPr>
            <p:cNvPr id="11" name="Rectangle 10">
              <a:extLst>
                <a:ext uri="{FF2B5EF4-FFF2-40B4-BE49-F238E27FC236}">
                  <a16:creationId xmlns:a16="http://schemas.microsoft.com/office/drawing/2014/main" id="{039C9174-7D5F-C906-E337-D6889C80D370}"/>
                </a:ext>
              </a:extLst>
            </p:cNvPr>
            <p:cNvSpPr/>
            <p:nvPr/>
          </p:nvSpPr>
          <p:spPr>
            <a:xfrm rot="5400000" flipH="1">
              <a:off x="57581" y="5957386"/>
              <a:ext cx="1061158" cy="336623"/>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noProof="0">
                <a:solidFill>
                  <a:schemeClr val="bg1"/>
                </a:solidFill>
              </a:endParaRPr>
            </a:p>
          </p:txBody>
        </p:sp>
        <p:sp>
          <p:nvSpPr>
            <p:cNvPr id="12" name="Rectangle 11">
              <a:extLst>
                <a:ext uri="{FF2B5EF4-FFF2-40B4-BE49-F238E27FC236}">
                  <a16:creationId xmlns:a16="http://schemas.microsoft.com/office/drawing/2014/main" id="{BFC79C1B-AE95-17F6-F8B8-B2314678A48A}"/>
                </a:ext>
              </a:extLst>
            </p:cNvPr>
            <p:cNvSpPr/>
            <p:nvPr/>
          </p:nvSpPr>
          <p:spPr>
            <a:xfrm rot="16200000">
              <a:off x="51254" y="6052600"/>
              <a:ext cx="1061160" cy="14619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Work Products</a:t>
              </a:r>
            </a:p>
          </p:txBody>
        </p:sp>
        <p:sp>
          <p:nvSpPr>
            <p:cNvPr id="13" name="Freeform 182">
              <a:extLst>
                <a:ext uri="{FF2B5EF4-FFF2-40B4-BE49-F238E27FC236}">
                  <a16:creationId xmlns:a16="http://schemas.microsoft.com/office/drawing/2014/main" id="{44FD8E0F-6089-626A-20C6-0047AC097D18}"/>
                </a:ext>
              </a:extLst>
            </p:cNvPr>
            <p:cNvSpPr>
              <a:spLocks/>
            </p:cNvSpPr>
            <p:nvPr/>
          </p:nvSpPr>
          <p:spPr bwMode="auto">
            <a:xfrm>
              <a:off x="1184547" y="1779498"/>
              <a:ext cx="360000" cy="360000"/>
            </a:xfrm>
            <a:prstGeom prst="ellipse">
              <a:avLst/>
            </a:prstGeom>
            <a:solidFill>
              <a:schemeClr val="bg1"/>
            </a:solidFill>
            <a:ln>
              <a:noFill/>
            </a:ln>
          </p:spPr>
          <p:txBody>
            <a:bodyPr vert="horz" wrap="square" lIns="86868" tIns="43434" rIns="86868" bIns="4343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cxnSp>
          <p:nvCxnSpPr>
            <p:cNvPr id="14" name="Straight Connector 13">
              <a:extLst>
                <a:ext uri="{FF2B5EF4-FFF2-40B4-BE49-F238E27FC236}">
                  <a16:creationId xmlns:a16="http://schemas.microsoft.com/office/drawing/2014/main" id="{DB1C7EDA-E5A2-ED16-B59F-9E0E76414E65}"/>
                </a:ext>
              </a:extLst>
            </p:cNvPr>
            <p:cNvCxnSpPr>
              <a:cxnSpLocks/>
            </p:cNvCxnSpPr>
            <p:nvPr/>
          </p:nvCxnSpPr>
          <p:spPr>
            <a:xfrm>
              <a:off x="4581128" y="2416388"/>
              <a:ext cx="0" cy="1666115"/>
            </a:xfrm>
            <a:prstGeom prst="line">
              <a:avLst/>
            </a:prstGeom>
            <a:ln w="6032">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 name="Rectangle 3">
              <a:extLst>
                <a:ext uri="{FF2B5EF4-FFF2-40B4-BE49-F238E27FC236}">
                  <a16:creationId xmlns:a16="http://schemas.microsoft.com/office/drawing/2014/main" id="{D91FCC90-A1FB-B2CF-09AA-EDE6C56A6935}"/>
                </a:ext>
              </a:extLst>
            </p:cNvPr>
            <p:cNvSpPr>
              <a:spLocks noChangeArrowheads="1"/>
            </p:cNvSpPr>
            <p:nvPr>
              <p:custDataLst>
                <p:tags r:id="rId2"/>
              </p:custDataLst>
            </p:nvPr>
          </p:nvSpPr>
          <p:spPr bwMode="auto">
            <a:xfrm>
              <a:off x="1139602" y="2384904"/>
              <a:ext cx="3347185" cy="228600"/>
            </a:xfrm>
            <a:prstGeom prst="roundRect">
              <a:avLst>
                <a:gd name="adj" fmla="val 204724"/>
              </a:avLst>
            </a:prstGeom>
            <a:solidFill>
              <a:srgbClr val="136E8E"/>
            </a:solidFill>
            <a:ln>
              <a:headEnd/>
              <a:tailEnd/>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Ubuntu"/>
                  <a:ea typeface="+mn-ea"/>
                  <a:cs typeface="+mn-cs"/>
                </a:rPr>
                <a:t>Target State Costs-Benefits Analysis</a:t>
              </a:r>
            </a:p>
          </p:txBody>
        </p:sp>
        <p:sp>
          <p:nvSpPr>
            <p:cNvPr id="16" name="Rectangle 15">
              <a:extLst>
                <a:ext uri="{FF2B5EF4-FFF2-40B4-BE49-F238E27FC236}">
                  <a16:creationId xmlns:a16="http://schemas.microsoft.com/office/drawing/2014/main" id="{3A87D83E-698C-C59C-726A-B97792856C68}"/>
                </a:ext>
              </a:extLst>
            </p:cNvPr>
            <p:cNvSpPr/>
            <p:nvPr/>
          </p:nvSpPr>
          <p:spPr>
            <a:xfrm>
              <a:off x="1140895" y="2721543"/>
              <a:ext cx="3344598" cy="13080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144000" marR="0" lvl="0" indent="-144000" algn="l" defTabSz="914400" rtl="0" eaLnBrk="1" fontAlgn="auto" latinLnBrk="0" hangingPunct="1">
                <a:lnSpc>
                  <a:spcPct val="100000"/>
                </a:lnSpc>
                <a:spcBef>
                  <a:spcPts val="0"/>
                </a:spcBef>
                <a:spcAft>
                  <a:spcPts val="300"/>
                </a:spcAft>
                <a:buClr>
                  <a:srgbClr val="FFFFFF"/>
                </a:buClr>
                <a:buSzPct val="100000"/>
                <a:buFont typeface="Wingdings" panose="05000000000000000000" pitchFamily="2" charset="2"/>
                <a:buChar char="§"/>
                <a:tabLst/>
                <a:defRPr/>
              </a:pPr>
              <a:r>
                <a:rPr kumimoji="0" lang="en-US" sz="1000" b="0" i="0" u="none" strike="noStrike" kern="0" cap="none" spc="0" normalizeH="0" baseline="0" noProof="0">
                  <a:ln>
                    <a:noFill/>
                  </a:ln>
                  <a:solidFill>
                    <a:schemeClr val="bg1"/>
                  </a:solidFill>
                  <a:effectLst/>
                  <a:uLnTx/>
                  <a:uFillTx/>
                  <a:latin typeface="Ubuntu"/>
                  <a:ea typeface="+mn-ea"/>
                  <a:cs typeface="+mn-cs"/>
                </a:rPr>
                <a:t>Analyze the target state cost inputs to build the To-be TCO model (</a:t>
              </a:r>
              <a:r>
                <a:rPr kumimoji="0" lang="en-US" sz="1000" b="0" i="0" u="none" strike="noStrike" kern="0" cap="none" spc="0" normalizeH="0" baseline="0" noProof="0" err="1">
                  <a:ln>
                    <a:noFill/>
                  </a:ln>
                  <a:solidFill>
                    <a:schemeClr val="bg1"/>
                  </a:solidFill>
                  <a:effectLst/>
                  <a:uLnTx/>
                  <a:uFillTx/>
                  <a:latin typeface="Ubuntu"/>
                  <a:ea typeface="+mn-ea"/>
                  <a:cs typeface="+mn-cs"/>
                </a:rPr>
                <a:t>CapEx</a:t>
              </a:r>
              <a:r>
                <a:rPr kumimoji="0" lang="en-US" sz="1000" b="0" i="0" u="none" strike="noStrike" kern="0" cap="none" spc="0" normalizeH="0" baseline="0" noProof="0">
                  <a:ln>
                    <a:noFill/>
                  </a:ln>
                  <a:solidFill>
                    <a:schemeClr val="bg1"/>
                  </a:solidFill>
                  <a:effectLst/>
                  <a:uLnTx/>
                  <a:uFillTx/>
                  <a:latin typeface="Ubuntu"/>
                  <a:ea typeface="+mn-ea"/>
                  <a:cs typeface="+mn-cs"/>
                </a:rPr>
                <a:t> and </a:t>
              </a:r>
              <a:r>
                <a:rPr kumimoji="0" lang="en-US" sz="1000" b="0" i="0" u="none" strike="noStrike" kern="0" cap="none" spc="0" normalizeH="0" baseline="0" noProof="0" err="1">
                  <a:ln>
                    <a:noFill/>
                  </a:ln>
                  <a:solidFill>
                    <a:schemeClr val="bg1"/>
                  </a:solidFill>
                  <a:effectLst/>
                  <a:uLnTx/>
                  <a:uFillTx/>
                  <a:latin typeface="Ubuntu"/>
                  <a:ea typeface="+mn-ea"/>
                  <a:cs typeface="+mn-cs"/>
                </a:rPr>
                <a:t>OpEx</a:t>
              </a:r>
              <a:r>
                <a:rPr kumimoji="0" lang="en-US" sz="1000" b="0" i="0" u="none" strike="noStrike" kern="0" cap="none" spc="0" normalizeH="0" baseline="0" noProof="0">
                  <a:ln>
                    <a:noFill/>
                  </a:ln>
                  <a:solidFill>
                    <a:schemeClr val="bg1"/>
                  </a:solidFill>
                  <a:effectLst/>
                  <a:uLnTx/>
                  <a:uFillTx/>
                  <a:latin typeface="Ubuntu"/>
                  <a:ea typeface="+mn-ea"/>
                  <a:cs typeface="+mn-cs"/>
                </a:rPr>
                <a:t>) </a:t>
              </a:r>
            </a:p>
            <a:p>
              <a:pPr marL="144000" marR="0" lvl="0" indent="-144000" algn="l" defTabSz="914400" rtl="0" eaLnBrk="1" fontAlgn="auto" latinLnBrk="0" hangingPunct="1">
                <a:lnSpc>
                  <a:spcPct val="100000"/>
                </a:lnSpc>
                <a:spcBef>
                  <a:spcPts val="0"/>
                </a:spcBef>
                <a:spcAft>
                  <a:spcPts val="300"/>
                </a:spcAft>
                <a:buClr>
                  <a:srgbClr val="FFFFFF"/>
                </a:buClr>
                <a:buSzPct val="100000"/>
                <a:buFont typeface="Wingdings" panose="05000000000000000000" pitchFamily="2" charset="2"/>
                <a:buChar char="§"/>
                <a:tabLst/>
                <a:defRPr/>
              </a:pPr>
              <a:r>
                <a:rPr kumimoji="0" lang="en-US" sz="1000" b="0" i="0" u="none" strike="noStrike" kern="0" cap="none" spc="0" normalizeH="0" baseline="0" noProof="0">
                  <a:ln>
                    <a:noFill/>
                  </a:ln>
                  <a:solidFill>
                    <a:schemeClr val="bg1"/>
                  </a:solidFill>
                  <a:effectLst/>
                  <a:uLnTx/>
                  <a:uFillTx/>
                  <a:latin typeface="Ubuntu"/>
                  <a:ea typeface="+mn-ea"/>
                  <a:cs typeface="+mn-cs"/>
                </a:rPr>
                <a:t>Estimate Target state technology costs (license, infrastructure and support &amp; maintenance) to build To-be TCO model for identified initiatives</a:t>
              </a:r>
            </a:p>
            <a:p>
              <a:pPr marL="144000" marR="0" lvl="0" indent="-144000" algn="l" defTabSz="914400" rtl="0" eaLnBrk="1" fontAlgn="auto" latinLnBrk="0" hangingPunct="1">
                <a:lnSpc>
                  <a:spcPct val="100000"/>
                </a:lnSpc>
                <a:spcBef>
                  <a:spcPts val="0"/>
                </a:spcBef>
                <a:spcAft>
                  <a:spcPts val="300"/>
                </a:spcAft>
                <a:buClr>
                  <a:srgbClr val="FFFFFF"/>
                </a:buClr>
                <a:buSzPct val="100000"/>
                <a:buFont typeface="Wingdings" panose="05000000000000000000" pitchFamily="2" charset="2"/>
                <a:buChar char="§"/>
                <a:tabLst/>
                <a:defRPr/>
              </a:pPr>
              <a:r>
                <a:rPr kumimoji="0" lang="en-US" sz="1000" b="0" i="0" u="none" strike="noStrike" kern="0" cap="none" spc="0" normalizeH="0" baseline="0" noProof="0">
                  <a:ln>
                    <a:noFill/>
                  </a:ln>
                  <a:solidFill>
                    <a:schemeClr val="bg1"/>
                  </a:solidFill>
                  <a:effectLst/>
                  <a:uLnTx/>
                  <a:uFillTx/>
                  <a:latin typeface="Ubuntu"/>
                  <a:ea typeface="+mn-ea"/>
                  <a:cs typeface="+mn-cs"/>
                </a:rPr>
                <a:t>Provide insights on indicative potential benefits by initiative based on industry standard benchmarks &amp; Capgemini experience</a:t>
              </a:r>
            </a:p>
          </p:txBody>
        </p:sp>
        <p:sp>
          <p:nvSpPr>
            <p:cNvPr id="17" name="Rectangle 3">
              <a:extLst>
                <a:ext uri="{FF2B5EF4-FFF2-40B4-BE49-F238E27FC236}">
                  <a16:creationId xmlns:a16="http://schemas.microsoft.com/office/drawing/2014/main" id="{2E6E7BB1-65F3-7C85-AB99-45974152D3A9}"/>
                </a:ext>
              </a:extLst>
            </p:cNvPr>
            <p:cNvSpPr>
              <a:spLocks noChangeArrowheads="1"/>
            </p:cNvSpPr>
            <p:nvPr>
              <p:custDataLst>
                <p:tags r:id="rId3"/>
              </p:custDataLst>
            </p:nvPr>
          </p:nvSpPr>
          <p:spPr bwMode="auto">
            <a:xfrm>
              <a:off x="4678057" y="2384904"/>
              <a:ext cx="3347185" cy="228600"/>
            </a:xfrm>
            <a:prstGeom prst="roundRect">
              <a:avLst>
                <a:gd name="adj" fmla="val 204724"/>
              </a:avLst>
            </a:prstGeom>
            <a:solidFill>
              <a:srgbClr val="136E8E"/>
            </a:solidFill>
            <a:ln>
              <a:headEnd/>
              <a:tailEnd/>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Ubuntu"/>
                  <a:ea typeface="+mn-ea"/>
                  <a:cs typeface="+mn-cs"/>
                </a:rPr>
                <a:t>Transformation Cost Analysis</a:t>
              </a:r>
            </a:p>
          </p:txBody>
        </p:sp>
        <p:sp>
          <p:nvSpPr>
            <p:cNvPr id="18" name="Rectangle 17">
              <a:extLst>
                <a:ext uri="{FF2B5EF4-FFF2-40B4-BE49-F238E27FC236}">
                  <a16:creationId xmlns:a16="http://schemas.microsoft.com/office/drawing/2014/main" id="{D11BE166-9888-2F61-B0D1-DFF288586B9C}"/>
                </a:ext>
              </a:extLst>
            </p:cNvPr>
            <p:cNvSpPr/>
            <p:nvPr/>
          </p:nvSpPr>
          <p:spPr>
            <a:xfrm>
              <a:off x="4678057" y="2716213"/>
              <a:ext cx="3347185" cy="9618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171450" marR="0" lvl="0" indent="-171450" algn="l" defTabSz="914400" rtl="0" eaLnBrk="1" fontAlgn="auto" latinLnBrk="0" hangingPunct="1">
                <a:lnSpc>
                  <a:spcPct val="100000"/>
                </a:lnSpc>
                <a:spcBef>
                  <a:spcPts val="0"/>
                </a:spcBef>
                <a:spcAft>
                  <a:spcPts val="300"/>
                </a:spcAft>
                <a:buClr>
                  <a:srgbClr val="FFFFFF"/>
                </a:buClr>
                <a:buSzPct val="100000"/>
                <a:buFont typeface="Wingdings" panose="05000000000000000000" pitchFamily="2" charset="2"/>
                <a:buChar char="§"/>
                <a:tabLst/>
                <a:defRPr/>
              </a:pPr>
              <a:r>
                <a:rPr kumimoji="0" lang="en-US" sz="1000" b="0"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rPr>
                <a:t>Evaluate the resource effort required for implementation considering customization requirements, integration with existing systems, change management and trainings</a:t>
              </a:r>
            </a:p>
            <a:p>
              <a:pPr marL="171450" marR="0" lvl="0" indent="-171450" algn="l" defTabSz="914400" rtl="0" eaLnBrk="1" fontAlgn="auto" latinLnBrk="0" hangingPunct="1">
                <a:lnSpc>
                  <a:spcPct val="100000"/>
                </a:lnSpc>
                <a:spcBef>
                  <a:spcPts val="0"/>
                </a:spcBef>
                <a:spcAft>
                  <a:spcPts val="300"/>
                </a:spcAft>
                <a:buClr>
                  <a:srgbClr val="FFFFFF"/>
                </a:buClr>
                <a:buSzPct val="100000"/>
                <a:buFont typeface="Wingdings" panose="05000000000000000000" pitchFamily="2" charset="2"/>
                <a:buChar char="§"/>
                <a:tabLst/>
                <a:defRPr/>
              </a:pPr>
              <a:r>
                <a:rPr kumimoji="0" lang="en-US" sz="1000" b="0"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rPr>
                <a:t>Calculate transformation costs (</a:t>
              </a:r>
              <a:r>
                <a:rPr kumimoji="0" lang="en-US" sz="1000" b="0" i="0" u="none" strike="noStrike" kern="1200" cap="none" spc="0" normalizeH="0" baseline="0" noProof="0" err="1">
                  <a:ln>
                    <a:noFill/>
                  </a:ln>
                  <a:solidFill>
                    <a:schemeClr val="bg1"/>
                  </a:solidFill>
                  <a:effectLst/>
                  <a:uLnTx/>
                  <a:uFillTx/>
                  <a:latin typeface="Ubuntu" panose="020B0504030602030204" pitchFamily="34" charset="0"/>
                  <a:ea typeface="Verdana" panose="020B0604030504040204" pitchFamily="34" charset="0"/>
                  <a:cs typeface="+mn-cs"/>
                </a:rPr>
                <a:t>CapEx</a:t>
              </a:r>
              <a:r>
                <a:rPr kumimoji="0" lang="en-US" sz="1000" b="0"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rPr>
                <a:t>) based on estimated efforts and resources</a:t>
              </a:r>
            </a:p>
          </p:txBody>
        </p:sp>
        <p:sp>
          <p:nvSpPr>
            <p:cNvPr id="19" name="Rectangle 3">
              <a:extLst>
                <a:ext uri="{FF2B5EF4-FFF2-40B4-BE49-F238E27FC236}">
                  <a16:creationId xmlns:a16="http://schemas.microsoft.com/office/drawing/2014/main" id="{B3ED4774-3306-B483-4EBB-83AB2F870ADC}"/>
                </a:ext>
              </a:extLst>
            </p:cNvPr>
            <p:cNvSpPr>
              <a:spLocks noChangeArrowheads="1"/>
            </p:cNvSpPr>
            <p:nvPr>
              <p:custDataLst>
                <p:tags r:id="rId4"/>
              </p:custDataLst>
            </p:nvPr>
          </p:nvSpPr>
          <p:spPr bwMode="auto">
            <a:xfrm>
              <a:off x="1139603" y="4210639"/>
              <a:ext cx="6885639" cy="228600"/>
            </a:xfrm>
            <a:prstGeom prst="roundRect">
              <a:avLst>
                <a:gd name="adj" fmla="val 204724"/>
              </a:avLst>
            </a:prstGeom>
            <a:solidFill>
              <a:srgbClr val="197799"/>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p>
              <a:pPr algn="ctr"/>
              <a:r>
                <a:rPr lang="en-US" sz="1100" b="1" noProof="0">
                  <a:solidFill>
                    <a:schemeClr val="bg1"/>
                  </a:solidFill>
                </a:rPr>
                <a:t>Transformation Scenario Analysis</a:t>
              </a:r>
            </a:p>
          </p:txBody>
        </p:sp>
        <p:sp>
          <p:nvSpPr>
            <p:cNvPr id="20" name="Rectangle 19">
              <a:extLst>
                <a:ext uri="{FF2B5EF4-FFF2-40B4-BE49-F238E27FC236}">
                  <a16:creationId xmlns:a16="http://schemas.microsoft.com/office/drawing/2014/main" id="{43B80DF9-5DBC-8CFC-BB0C-B2F05B099E3D}"/>
                </a:ext>
              </a:extLst>
            </p:cNvPr>
            <p:cNvSpPr/>
            <p:nvPr/>
          </p:nvSpPr>
          <p:spPr>
            <a:xfrm>
              <a:off x="1139603" y="4515609"/>
              <a:ext cx="6885639" cy="8463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144000" marR="0" lvl="0" indent="-144000" algn="l" defTabSz="914400" rtl="0" eaLnBrk="1" fontAlgn="auto" latinLnBrk="0" hangingPunct="1">
                <a:lnSpc>
                  <a:spcPct val="100000"/>
                </a:lnSpc>
                <a:spcBef>
                  <a:spcPts val="0"/>
                </a:spcBef>
                <a:spcAft>
                  <a:spcPts val="300"/>
                </a:spcAft>
                <a:buClr>
                  <a:srgbClr val="FFFFFF"/>
                </a:buClr>
                <a:buSzPct val="100000"/>
                <a:buFont typeface="Wingdings" panose="05000000000000000000" pitchFamily="2" charset="2"/>
                <a:buChar char="§"/>
                <a:tabLst/>
                <a:defRPr/>
              </a:pPr>
              <a:r>
                <a:rPr kumimoji="0" lang="en-US" sz="1000" b="0" i="0" u="none" strike="noStrike" kern="0" cap="none" spc="0" normalizeH="0" baseline="0" noProof="0">
                  <a:ln>
                    <a:noFill/>
                  </a:ln>
                  <a:solidFill>
                    <a:schemeClr val="bg1"/>
                  </a:solidFill>
                  <a:effectLst/>
                  <a:uLnTx/>
                  <a:uFillTx/>
                  <a:latin typeface="Ubuntu"/>
                  <a:ea typeface="+mn-ea"/>
                  <a:cs typeface="+mn-cs"/>
                </a:rPr>
                <a:t>Perform financial analysis for transformation scenarios (e.g. reuse vs build vs buy, standard vs customization) by comparing total costs and benefits of each option over the lifecycle of solution</a:t>
              </a:r>
            </a:p>
            <a:p>
              <a:pPr marL="144000" marR="0" lvl="0" indent="-144000" algn="l" defTabSz="914400" rtl="0" eaLnBrk="1" fontAlgn="auto" latinLnBrk="0" hangingPunct="1">
                <a:lnSpc>
                  <a:spcPct val="100000"/>
                </a:lnSpc>
                <a:spcBef>
                  <a:spcPts val="0"/>
                </a:spcBef>
                <a:spcAft>
                  <a:spcPts val="300"/>
                </a:spcAft>
                <a:buClr>
                  <a:srgbClr val="FFFFFF"/>
                </a:buClr>
                <a:buSzPct val="100000"/>
                <a:buFont typeface="Wingdings" panose="05000000000000000000" pitchFamily="2" charset="2"/>
                <a:buChar char="§"/>
                <a:tabLst/>
                <a:defRPr/>
              </a:pPr>
              <a:r>
                <a:rPr kumimoji="0" lang="en-US" sz="1000" b="0" i="0" u="none" strike="noStrike" kern="0" cap="none" spc="0" normalizeH="0" baseline="0" noProof="0">
                  <a:ln>
                    <a:noFill/>
                  </a:ln>
                  <a:solidFill>
                    <a:schemeClr val="bg1"/>
                  </a:solidFill>
                  <a:effectLst/>
                  <a:uLnTx/>
                  <a:uFillTx/>
                  <a:latin typeface="Ubuntu"/>
                  <a:ea typeface="+mn-ea"/>
                  <a:cs typeface="+mn-cs"/>
                </a:rPr>
                <a:t>Iteratively build on the financial analysis model for conservative, realistic and aggressive scenarios, and conduct periodic review with +</a:t>
              </a:r>
              <a:r>
                <a:rPr kumimoji="0" lang="en-US" sz="1000" b="0" i="0" u="none" strike="noStrike" kern="0" cap="none" spc="0" normalizeH="0" baseline="0" noProof="0" err="1">
                  <a:ln>
                    <a:noFill/>
                  </a:ln>
                  <a:solidFill>
                    <a:schemeClr val="bg1"/>
                  </a:solidFill>
                  <a:effectLst/>
                  <a:uLnTx/>
                  <a:uFillTx/>
                  <a:latin typeface="Ubuntu"/>
                  <a:ea typeface="+mn-ea"/>
                  <a:cs typeface="+mn-cs"/>
                </a:rPr>
                <a:t>Móvil</a:t>
              </a:r>
              <a:r>
                <a:rPr kumimoji="0" lang="en-US" sz="1000" b="0" i="0" u="none" strike="noStrike" kern="0" cap="none" spc="0" normalizeH="0" baseline="0" noProof="0">
                  <a:ln>
                    <a:noFill/>
                  </a:ln>
                  <a:solidFill>
                    <a:schemeClr val="bg1"/>
                  </a:solidFill>
                  <a:effectLst/>
                  <a:uLnTx/>
                  <a:uFillTx/>
                  <a:latin typeface="Ubuntu"/>
                  <a:ea typeface="+mn-ea"/>
                  <a:cs typeface="+mn-cs"/>
                </a:rPr>
                <a:t> key stakeholders</a:t>
              </a:r>
            </a:p>
            <a:p>
              <a:pPr marL="144000" marR="0" lvl="0" indent="-144000" algn="l" defTabSz="914400" rtl="0" eaLnBrk="1" fontAlgn="auto" latinLnBrk="0" hangingPunct="1">
                <a:lnSpc>
                  <a:spcPct val="100000"/>
                </a:lnSpc>
                <a:spcBef>
                  <a:spcPts val="0"/>
                </a:spcBef>
                <a:spcAft>
                  <a:spcPts val="300"/>
                </a:spcAft>
                <a:buClr>
                  <a:srgbClr val="FFFFFF"/>
                </a:buClr>
                <a:buSzPct val="100000"/>
                <a:buFont typeface="Wingdings" panose="05000000000000000000" pitchFamily="2" charset="2"/>
                <a:buChar char="§"/>
                <a:tabLst/>
                <a:defRPr/>
              </a:pPr>
              <a:r>
                <a:rPr kumimoji="0" lang="en-US" sz="1000" b="0" i="0" u="none" strike="noStrike" kern="0" cap="none" spc="0" normalizeH="0" baseline="0" noProof="0">
                  <a:ln>
                    <a:noFill/>
                  </a:ln>
                  <a:solidFill>
                    <a:schemeClr val="bg1"/>
                  </a:solidFill>
                  <a:effectLst/>
                  <a:uLnTx/>
                  <a:uFillTx/>
                  <a:latin typeface="Ubuntu"/>
                  <a:ea typeface="+mn-ea"/>
                  <a:cs typeface="+mn-cs"/>
                </a:rPr>
                <a:t>Recommend the most optimum solution and scenario for identified </a:t>
              </a:r>
              <a:r>
                <a:rPr kumimoji="0" lang="en-US" sz="1000" b="0" i="0" u="none" strike="noStrike" kern="0" cap="none" spc="0" normalizeH="0" baseline="0" noProof="0">
                  <a:ln>
                    <a:noFill/>
                  </a:ln>
                  <a:solidFill>
                    <a:schemeClr val="bg1"/>
                  </a:solidFill>
                  <a:effectLst/>
                  <a:uLnTx/>
                  <a:uFillTx/>
                  <a:latin typeface="Ubuntu" panose="020B0504030602030204" pitchFamily="34" charset="0"/>
                  <a:ea typeface="+mn-ea"/>
                  <a:cs typeface="+mn-cs"/>
                </a:rPr>
                <a:t>initiatives</a:t>
              </a:r>
              <a:endParaRPr kumimoji="0" lang="en-US" sz="1000" b="0" i="0" u="none" strike="noStrike" kern="0" cap="none" spc="0" normalizeH="0" baseline="0" noProof="0">
                <a:ln>
                  <a:noFill/>
                </a:ln>
                <a:solidFill>
                  <a:schemeClr val="bg1"/>
                </a:solidFill>
                <a:effectLst/>
                <a:uLnTx/>
                <a:uFillTx/>
                <a:latin typeface="Ubuntu"/>
                <a:ea typeface="+mn-ea"/>
                <a:cs typeface="+mn-cs"/>
              </a:endParaRPr>
            </a:p>
          </p:txBody>
        </p:sp>
        <p:pic>
          <p:nvPicPr>
            <p:cNvPr id="22" name="Graphic 21" descr="Bullseye outline">
              <a:extLst>
                <a:ext uri="{FF2B5EF4-FFF2-40B4-BE49-F238E27FC236}">
                  <a16:creationId xmlns:a16="http://schemas.microsoft.com/office/drawing/2014/main" id="{12DC5677-32AF-476F-BF19-8E4A056367A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33206" y="1828156"/>
              <a:ext cx="262684" cy="262684"/>
            </a:xfrm>
            <a:prstGeom prst="rect">
              <a:avLst/>
            </a:prstGeom>
          </p:spPr>
        </p:pic>
        <p:sp>
          <p:nvSpPr>
            <p:cNvPr id="23" name="TextBox 22">
              <a:extLst>
                <a:ext uri="{FF2B5EF4-FFF2-40B4-BE49-F238E27FC236}">
                  <a16:creationId xmlns:a16="http://schemas.microsoft.com/office/drawing/2014/main" id="{6F70BDB8-35BB-79B3-1B11-404F985E2AB3}"/>
                </a:ext>
              </a:extLst>
            </p:cNvPr>
            <p:cNvSpPr txBox="1"/>
            <p:nvPr/>
          </p:nvSpPr>
          <p:spPr>
            <a:xfrm>
              <a:off x="3757370" y="6355854"/>
              <a:ext cx="1443648"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300"/>
                </a:spcAft>
                <a:buClr>
                  <a:srgbClr val="0070AD"/>
                </a:buClr>
                <a:buSzTx/>
                <a:buFontTx/>
                <a:buNone/>
                <a:tabLst/>
                <a:defRPr/>
              </a:pPr>
              <a:r>
                <a:rPr kumimoji="0" lang="en-US" sz="800" b="0" i="0" u="none" strike="noStrike" kern="0" cap="none" spc="0" normalizeH="0" baseline="0" noProof="0">
                  <a:ln>
                    <a:noFill/>
                  </a:ln>
                  <a:solidFill>
                    <a:schemeClr val="bg1"/>
                  </a:solidFill>
                  <a:effectLst/>
                  <a:uLnTx/>
                  <a:uFillTx/>
                  <a:latin typeface="Ubuntu" panose="020B0504030602030204" pitchFamily="34" charset="0"/>
                  <a:ea typeface="+mn-ea"/>
                  <a:cs typeface="+mn-cs"/>
                </a:rPr>
                <a:t>Potential Benefits Driver Assessment</a:t>
              </a:r>
            </a:p>
          </p:txBody>
        </p:sp>
        <p:pic>
          <p:nvPicPr>
            <p:cNvPr id="24" name="Picture 23">
              <a:extLst>
                <a:ext uri="{FF2B5EF4-FFF2-40B4-BE49-F238E27FC236}">
                  <a16:creationId xmlns:a16="http://schemas.microsoft.com/office/drawing/2014/main" id="{3A36ECE7-5184-8E9A-A3C2-0425EA43CF4C}"/>
                </a:ext>
              </a:extLst>
            </p:cNvPr>
            <p:cNvPicPr>
              <a:picLocks noChangeAspect="1"/>
            </p:cNvPicPr>
            <p:nvPr/>
          </p:nvPicPr>
          <p:blipFill>
            <a:blip r:embed="rId11"/>
            <a:stretch>
              <a:fillRect/>
            </a:stretch>
          </p:blipFill>
          <p:spPr>
            <a:xfrm>
              <a:off x="3882646" y="5613701"/>
              <a:ext cx="1164465" cy="599890"/>
            </a:xfrm>
            <a:prstGeom prst="rect">
              <a:avLst/>
            </a:prstGeom>
            <a:ln w="3016">
              <a:solidFill>
                <a:schemeClr val="accent1"/>
              </a:solidFill>
            </a:ln>
            <a:effectLst/>
          </p:spPr>
        </p:pic>
        <p:sp>
          <p:nvSpPr>
            <p:cNvPr id="29" name="TextBox 28">
              <a:extLst>
                <a:ext uri="{FF2B5EF4-FFF2-40B4-BE49-F238E27FC236}">
                  <a16:creationId xmlns:a16="http://schemas.microsoft.com/office/drawing/2014/main" id="{F6AAC965-162F-1E68-4149-5ECDAD46AF3D}"/>
                </a:ext>
              </a:extLst>
            </p:cNvPr>
            <p:cNvSpPr txBox="1"/>
            <p:nvPr/>
          </p:nvSpPr>
          <p:spPr>
            <a:xfrm>
              <a:off x="9582431" y="6316921"/>
              <a:ext cx="1333688"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300"/>
                </a:spcAft>
                <a:buClr>
                  <a:srgbClr val="0070AD"/>
                </a:buClr>
                <a:buSzTx/>
                <a:buFontTx/>
                <a:buNone/>
                <a:tabLst/>
                <a:defRPr/>
              </a:pPr>
              <a:r>
                <a:rPr kumimoji="0" lang="en-US" sz="800" b="0" i="0" u="none" strike="noStrike" kern="0" cap="none" spc="0" normalizeH="0" baseline="0" noProof="0">
                  <a:ln>
                    <a:noFill/>
                  </a:ln>
                  <a:solidFill>
                    <a:schemeClr val="bg1"/>
                  </a:solidFill>
                  <a:effectLst/>
                  <a:uLnTx/>
                  <a:uFillTx/>
                  <a:latin typeface="Ubuntu" panose="020B0504030602030204" pitchFamily="34" charset="0"/>
                  <a:ea typeface="+mn-ea"/>
                  <a:cs typeface="+mn-cs"/>
                </a:rPr>
                <a:t>YoY Financial Analysis with ROI and Payback Period</a:t>
              </a:r>
            </a:p>
          </p:txBody>
        </p:sp>
        <p:grpSp>
          <p:nvGrpSpPr>
            <p:cNvPr id="30" name="Group 29">
              <a:extLst>
                <a:ext uri="{FF2B5EF4-FFF2-40B4-BE49-F238E27FC236}">
                  <a16:creationId xmlns:a16="http://schemas.microsoft.com/office/drawing/2014/main" id="{74C75D1E-E247-C5C4-5638-4907BFE6B886}"/>
                </a:ext>
              </a:extLst>
            </p:cNvPr>
            <p:cNvGrpSpPr/>
            <p:nvPr/>
          </p:nvGrpSpPr>
          <p:grpSpPr>
            <a:xfrm>
              <a:off x="8770405" y="1800032"/>
              <a:ext cx="346382" cy="331742"/>
              <a:chOff x="9068394" y="1956126"/>
              <a:chExt cx="443685" cy="431675"/>
            </a:xfrm>
          </p:grpSpPr>
          <p:sp>
            <p:nvSpPr>
              <p:cNvPr id="31" name="Freeform 182">
                <a:extLst>
                  <a:ext uri="{FF2B5EF4-FFF2-40B4-BE49-F238E27FC236}">
                    <a16:creationId xmlns:a16="http://schemas.microsoft.com/office/drawing/2014/main" id="{3C68A01D-4ED7-51DD-B72B-658D6C08BC16}"/>
                  </a:ext>
                </a:extLst>
              </p:cNvPr>
              <p:cNvSpPr>
                <a:spLocks/>
              </p:cNvSpPr>
              <p:nvPr/>
            </p:nvSpPr>
            <p:spPr bwMode="auto">
              <a:xfrm>
                <a:off x="9068394" y="1956126"/>
                <a:ext cx="443685" cy="431675"/>
              </a:xfrm>
              <a:custGeom>
                <a:avLst/>
                <a:gdLst>
                  <a:gd name="T0" fmla="*/ 36 w 249"/>
                  <a:gd name="T1" fmla="*/ 182 h 233"/>
                  <a:gd name="T2" fmla="*/ 60 w 249"/>
                  <a:gd name="T3" fmla="*/ 35 h 233"/>
                  <a:gd name="T4" fmla="*/ 214 w 249"/>
                  <a:gd name="T5" fmla="*/ 57 h 233"/>
                  <a:gd name="T6" fmla="*/ 186 w 249"/>
                  <a:gd name="T7" fmla="*/ 199 h 233"/>
                  <a:gd name="T8" fmla="*/ 36 w 249"/>
                  <a:gd name="T9" fmla="*/ 182 h 233"/>
                </a:gdLst>
                <a:ahLst/>
                <a:cxnLst>
                  <a:cxn ang="0">
                    <a:pos x="T0" y="T1"/>
                  </a:cxn>
                  <a:cxn ang="0">
                    <a:pos x="T2" y="T3"/>
                  </a:cxn>
                  <a:cxn ang="0">
                    <a:pos x="T4" y="T5"/>
                  </a:cxn>
                  <a:cxn ang="0">
                    <a:pos x="T6" y="T7"/>
                  </a:cxn>
                  <a:cxn ang="0">
                    <a:pos x="T8" y="T9"/>
                  </a:cxn>
                </a:cxnLst>
                <a:rect l="0" t="0" r="r" b="b"/>
                <a:pathLst>
                  <a:path w="249" h="233">
                    <a:moveTo>
                      <a:pt x="36" y="182"/>
                    </a:moveTo>
                    <a:cubicBezTo>
                      <a:pt x="0" y="136"/>
                      <a:pt x="11" y="70"/>
                      <a:pt x="60" y="35"/>
                    </a:cubicBezTo>
                    <a:cubicBezTo>
                      <a:pt x="109" y="0"/>
                      <a:pt x="178" y="10"/>
                      <a:pt x="214" y="57"/>
                    </a:cubicBezTo>
                    <a:cubicBezTo>
                      <a:pt x="249" y="103"/>
                      <a:pt x="235" y="164"/>
                      <a:pt x="186" y="199"/>
                    </a:cubicBezTo>
                    <a:cubicBezTo>
                      <a:pt x="137" y="233"/>
                      <a:pt x="72" y="229"/>
                      <a:pt x="36" y="182"/>
                    </a:cubicBezTo>
                  </a:path>
                </a:pathLst>
              </a:custGeom>
              <a:solidFill>
                <a:schemeClr val="bg1"/>
              </a:solidFill>
              <a:ln>
                <a:noFill/>
              </a:ln>
            </p:spPr>
            <p:txBody>
              <a:bodyPr vert="horz" wrap="square" lIns="86868" tIns="43434" rIns="86868" bIns="4343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32" name="Freeform 199">
                <a:extLst>
                  <a:ext uri="{FF2B5EF4-FFF2-40B4-BE49-F238E27FC236}">
                    <a16:creationId xmlns:a16="http://schemas.microsoft.com/office/drawing/2014/main" id="{78C5CBE0-AA5B-549E-AC8A-7DF9361AE0D4}"/>
                  </a:ext>
                </a:extLst>
              </p:cNvPr>
              <p:cNvSpPr>
                <a:spLocks noEditPoints="1"/>
              </p:cNvSpPr>
              <p:nvPr/>
            </p:nvSpPr>
            <p:spPr bwMode="auto">
              <a:xfrm>
                <a:off x="9202973" y="2072781"/>
                <a:ext cx="234708" cy="198365"/>
              </a:xfrm>
              <a:custGeom>
                <a:avLst/>
                <a:gdLst>
                  <a:gd name="T0" fmla="*/ 108 w 132"/>
                  <a:gd name="T1" fmla="*/ 60 h 107"/>
                  <a:gd name="T2" fmla="*/ 99 w 132"/>
                  <a:gd name="T3" fmla="*/ 64 h 107"/>
                  <a:gd name="T4" fmla="*/ 67 w 132"/>
                  <a:gd name="T5" fmla="*/ 33 h 107"/>
                  <a:gd name="T6" fmla="*/ 52 w 132"/>
                  <a:gd name="T7" fmla="*/ 28 h 107"/>
                  <a:gd name="T8" fmla="*/ 43 w 132"/>
                  <a:gd name="T9" fmla="*/ 29 h 107"/>
                  <a:gd name="T10" fmla="*/ 17 w 132"/>
                  <a:gd name="T11" fmla="*/ 34 h 107"/>
                  <a:gd name="T12" fmla="*/ 32 w 132"/>
                  <a:gd name="T13" fmla="*/ 16 h 107"/>
                  <a:gd name="T14" fmla="*/ 60 w 132"/>
                  <a:gd name="T15" fmla="*/ 6 h 107"/>
                  <a:gd name="T16" fmla="*/ 87 w 132"/>
                  <a:gd name="T17" fmla="*/ 12 h 107"/>
                  <a:gd name="T18" fmla="*/ 108 w 132"/>
                  <a:gd name="T19" fmla="*/ 60 h 107"/>
                  <a:gd name="T20" fmla="*/ 46 w 132"/>
                  <a:gd name="T21" fmla="*/ 87 h 107"/>
                  <a:gd name="T22" fmla="*/ 38 w 132"/>
                  <a:gd name="T23" fmla="*/ 95 h 107"/>
                  <a:gd name="T24" fmla="*/ 38 w 132"/>
                  <a:gd name="T25" fmla="*/ 105 h 107"/>
                  <a:gd name="T26" fmla="*/ 38 w 132"/>
                  <a:gd name="T27" fmla="*/ 105 h 107"/>
                  <a:gd name="T28" fmla="*/ 47 w 132"/>
                  <a:gd name="T29" fmla="*/ 105 h 107"/>
                  <a:gd name="T30" fmla="*/ 55 w 132"/>
                  <a:gd name="T31" fmla="*/ 97 h 107"/>
                  <a:gd name="T32" fmla="*/ 55 w 132"/>
                  <a:gd name="T33" fmla="*/ 87 h 107"/>
                  <a:gd name="T34" fmla="*/ 55 w 132"/>
                  <a:gd name="T35" fmla="*/ 87 h 107"/>
                  <a:gd name="T36" fmla="*/ 46 w 132"/>
                  <a:gd name="T37" fmla="*/ 87 h 107"/>
                  <a:gd name="T38" fmla="*/ 18 w 132"/>
                  <a:gd name="T39" fmla="*/ 59 h 107"/>
                  <a:gd name="T40" fmla="*/ 18 w 132"/>
                  <a:gd name="T41" fmla="*/ 59 h 107"/>
                  <a:gd name="T42" fmla="*/ 18 w 132"/>
                  <a:gd name="T43" fmla="*/ 69 h 107"/>
                  <a:gd name="T44" fmla="*/ 7 w 132"/>
                  <a:gd name="T45" fmla="*/ 79 h 107"/>
                  <a:gd name="T46" fmla="*/ 0 w 132"/>
                  <a:gd name="T47" fmla="*/ 76 h 107"/>
                  <a:gd name="T48" fmla="*/ 0 w 132"/>
                  <a:gd name="T49" fmla="*/ 76 h 107"/>
                  <a:gd name="T50" fmla="*/ 7 w 132"/>
                  <a:gd name="T51" fmla="*/ 60 h 107"/>
                  <a:gd name="T52" fmla="*/ 8 w 132"/>
                  <a:gd name="T53" fmla="*/ 59 h 107"/>
                  <a:gd name="T54" fmla="*/ 18 w 132"/>
                  <a:gd name="T55" fmla="*/ 59 h 107"/>
                  <a:gd name="T56" fmla="*/ 44 w 132"/>
                  <a:gd name="T57" fmla="*/ 77 h 107"/>
                  <a:gd name="T58" fmla="*/ 44 w 132"/>
                  <a:gd name="T59" fmla="*/ 77 h 107"/>
                  <a:gd name="T60" fmla="*/ 44 w 132"/>
                  <a:gd name="T61" fmla="*/ 87 h 107"/>
                  <a:gd name="T62" fmla="*/ 34 w 132"/>
                  <a:gd name="T63" fmla="*/ 97 h 107"/>
                  <a:gd name="T64" fmla="*/ 24 w 132"/>
                  <a:gd name="T65" fmla="*/ 97 h 107"/>
                  <a:gd name="T66" fmla="*/ 24 w 132"/>
                  <a:gd name="T67" fmla="*/ 97 h 107"/>
                  <a:gd name="T68" fmla="*/ 24 w 132"/>
                  <a:gd name="T69" fmla="*/ 87 h 107"/>
                  <a:gd name="T70" fmla="*/ 34 w 132"/>
                  <a:gd name="T71" fmla="*/ 77 h 107"/>
                  <a:gd name="T72" fmla="*/ 44 w 132"/>
                  <a:gd name="T73" fmla="*/ 77 h 107"/>
                  <a:gd name="T74" fmla="*/ 31 w 132"/>
                  <a:gd name="T75" fmla="*/ 68 h 107"/>
                  <a:gd name="T76" fmla="*/ 31 w 132"/>
                  <a:gd name="T77" fmla="*/ 68 h 107"/>
                  <a:gd name="T78" fmla="*/ 31 w 132"/>
                  <a:gd name="T79" fmla="*/ 78 h 107"/>
                  <a:gd name="T80" fmla="*/ 29 w 132"/>
                  <a:gd name="T81" fmla="*/ 80 h 107"/>
                  <a:gd name="T82" fmla="*/ 12 w 132"/>
                  <a:gd name="T83" fmla="*/ 86 h 107"/>
                  <a:gd name="T84" fmla="*/ 12 w 132"/>
                  <a:gd name="T85" fmla="*/ 86 h 107"/>
                  <a:gd name="T86" fmla="*/ 10 w 132"/>
                  <a:gd name="T87" fmla="*/ 80 h 107"/>
                  <a:gd name="T88" fmla="*/ 24 w 132"/>
                  <a:gd name="T89" fmla="*/ 65 h 107"/>
                  <a:gd name="T90" fmla="*/ 31 w 132"/>
                  <a:gd name="T91" fmla="*/ 68 h 107"/>
                  <a:gd name="T92" fmla="*/ 89 w 132"/>
                  <a:gd name="T93" fmla="*/ 8 h 107"/>
                  <a:gd name="T94" fmla="*/ 112 w 132"/>
                  <a:gd name="T95" fmla="*/ 63 h 107"/>
                  <a:gd name="T96" fmla="*/ 132 w 132"/>
                  <a:gd name="T97" fmla="*/ 58 h 107"/>
                  <a:gd name="T98" fmla="*/ 111 w 132"/>
                  <a:gd name="T99" fmla="*/ 8 h 107"/>
                  <a:gd name="T100" fmla="*/ 97 w 132"/>
                  <a:gd name="T101" fmla="*/ 4 h 107"/>
                  <a:gd name="T102" fmla="*/ 89 w 132"/>
                  <a:gd name="T103" fmla="*/ 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2" h="107">
                    <a:moveTo>
                      <a:pt x="108" y="60"/>
                    </a:moveTo>
                    <a:cubicBezTo>
                      <a:pt x="99" y="64"/>
                      <a:pt x="99" y="64"/>
                      <a:pt x="99" y="64"/>
                    </a:cubicBezTo>
                    <a:cubicBezTo>
                      <a:pt x="67" y="33"/>
                      <a:pt x="67" y="33"/>
                      <a:pt x="67" y="33"/>
                    </a:cubicBezTo>
                    <a:cubicBezTo>
                      <a:pt x="52" y="28"/>
                      <a:pt x="52" y="28"/>
                      <a:pt x="52" y="28"/>
                    </a:cubicBezTo>
                    <a:cubicBezTo>
                      <a:pt x="43" y="29"/>
                      <a:pt x="43" y="29"/>
                      <a:pt x="43" y="29"/>
                    </a:cubicBezTo>
                    <a:cubicBezTo>
                      <a:pt x="43" y="29"/>
                      <a:pt x="29" y="42"/>
                      <a:pt x="17" y="34"/>
                    </a:cubicBezTo>
                    <a:cubicBezTo>
                      <a:pt x="20" y="30"/>
                      <a:pt x="27" y="22"/>
                      <a:pt x="32" y="16"/>
                    </a:cubicBezTo>
                    <a:cubicBezTo>
                      <a:pt x="38" y="13"/>
                      <a:pt x="50" y="8"/>
                      <a:pt x="60" y="6"/>
                    </a:cubicBezTo>
                    <a:cubicBezTo>
                      <a:pt x="65" y="5"/>
                      <a:pt x="87" y="12"/>
                      <a:pt x="87" y="12"/>
                    </a:cubicBezTo>
                    <a:lnTo>
                      <a:pt x="108" y="60"/>
                    </a:lnTo>
                    <a:close/>
                    <a:moveTo>
                      <a:pt x="46" y="87"/>
                    </a:moveTo>
                    <a:cubicBezTo>
                      <a:pt x="38" y="95"/>
                      <a:pt x="38" y="95"/>
                      <a:pt x="38" y="95"/>
                    </a:cubicBezTo>
                    <a:cubicBezTo>
                      <a:pt x="35" y="98"/>
                      <a:pt x="35" y="102"/>
                      <a:pt x="38" y="105"/>
                    </a:cubicBezTo>
                    <a:cubicBezTo>
                      <a:pt x="38" y="105"/>
                      <a:pt x="38" y="105"/>
                      <a:pt x="38" y="105"/>
                    </a:cubicBezTo>
                    <a:cubicBezTo>
                      <a:pt x="40" y="107"/>
                      <a:pt x="45" y="107"/>
                      <a:pt x="47" y="105"/>
                    </a:cubicBezTo>
                    <a:cubicBezTo>
                      <a:pt x="55" y="97"/>
                      <a:pt x="55" y="97"/>
                      <a:pt x="55" y="97"/>
                    </a:cubicBezTo>
                    <a:cubicBezTo>
                      <a:pt x="58" y="94"/>
                      <a:pt x="58" y="90"/>
                      <a:pt x="55" y="87"/>
                    </a:cubicBezTo>
                    <a:cubicBezTo>
                      <a:pt x="55" y="87"/>
                      <a:pt x="55" y="87"/>
                      <a:pt x="55" y="87"/>
                    </a:cubicBezTo>
                    <a:cubicBezTo>
                      <a:pt x="53" y="85"/>
                      <a:pt x="48" y="85"/>
                      <a:pt x="46" y="87"/>
                    </a:cubicBezTo>
                    <a:close/>
                    <a:moveTo>
                      <a:pt x="18" y="59"/>
                    </a:moveTo>
                    <a:cubicBezTo>
                      <a:pt x="18" y="59"/>
                      <a:pt x="18" y="59"/>
                      <a:pt x="18" y="59"/>
                    </a:cubicBezTo>
                    <a:cubicBezTo>
                      <a:pt x="21" y="62"/>
                      <a:pt x="21" y="66"/>
                      <a:pt x="18" y="69"/>
                    </a:cubicBezTo>
                    <a:cubicBezTo>
                      <a:pt x="7" y="79"/>
                      <a:pt x="7" y="79"/>
                      <a:pt x="7" y="79"/>
                    </a:cubicBezTo>
                    <a:cubicBezTo>
                      <a:pt x="5" y="82"/>
                      <a:pt x="0" y="80"/>
                      <a:pt x="0" y="76"/>
                    </a:cubicBezTo>
                    <a:cubicBezTo>
                      <a:pt x="0" y="76"/>
                      <a:pt x="0" y="76"/>
                      <a:pt x="0" y="76"/>
                    </a:cubicBezTo>
                    <a:cubicBezTo>
                      <a:pt x="0" y="71"/>
                      <a:pt x="4" y="64"/>
                      <a:pt x="7" y="60"/>
                    </a:cubicBezTo>
                    <a:cubicBezTo>
                      <a:pt x="8" y="59"/>
                      <a:pt x="8" y="59"/>
                      <a:pt x="8" y="59"/>
                    </a:cubicBezTo>
                    <a:cubicBezTo>
                      <a:pt x="11" y="56"/>
                      <a:pt x="15" y="56"/>
                      <a:pt x="18" y="59"/>
                    </a:cubicBezTo>
                    <a:close/>
                    <a:moveTo>
                      <a:pt x="44" y="77"/>
                    </a:moveTo>
                    <a:cubicBezTo>
                      <a:pt x="44" y="77"/>
                      <a:pt x="44" y="77"/>
                      <a:pt x="44" y="77"/>
                    </a:cubicBezTo>
                    <a:cubicBezTo>
                      <a:pt x="46" y="80"/>
                      <a:pt x="46" y="84"/>
                      <a:pt x="44" y="87"/>
                    </a:cubicBezTo>
                    <a:cubicBezTo>
                      <a:pt x="34" y="97"/>
                      <a:pt x="34" y="97"/>
                      <a:pt x="34" y="97"/>
                    </a:cubicBezTo>
                    <a:cubicBezTo>
                      <a:pt x="31" y="99"/>
                      <a:pt x="27" y="99"/>
                      <a:pt x="24" y="97"/>
                    </a:cubicBezTo>
                    <a:cubicBezTo>
                      <a:pt x="24" y="97"/>
                      <a:pt x="24" y="97"/>
                      <a:pt x="24" y="97"/>
                    </a:cubicBezTo>
                    <a:cubicBezTo>
                      <a:pt x="21" y="94"/>
                      <a:pt x="21" y="90"/>
                      <a:pt x="24" y="87"/>
                    </a:cubicBezTo>
                    <a:cubicBezTo>
                      <a:pt x="34" y="77"/>
                      <a:pt x="34" y="77"/>
                      <a:pt x="34" y="77"/>
                    </a:cubicBezTo>
                    <a:cubicBezTo>
                      <a:pt x="37" y="74"/>
                      <a:pt x="41" y="74"/>
                      <a:pt x="44" y="77"/>
                    </a:cubicBezTo>
                    <a:close/>
                    <a:moveTo>
                      <a:pt x="31" y="68"/>
                    </a:moveTo>
                    <a:cubicBezTo>
                      <a:pt x="31" y="68"/>
                      <a:pt x="31" y="68"/>
                      <a:pt x="31" y="68"/>
                    </a:cubicBezTo>
                    <a:cubicBezTo>
                      <a:pt x="34" y="71"/>
                      <a:pt x="34" y="75"/>
                      <a:pt x="31" y="78"/>
                    </a:cubicBezTo>
                    <a:cubicBezTo>
                      <a:pt x="29" y="80"/>
                      <a:pt x="29" y="80"/>
                      <a:pt x="29" y="80"/>
                    </a:cubicBezTo>
                    <a:cubicBezTo>
                      <a:pt x="25" y="83"/>
                      <a:pt x="18" y="86"/>
                      <a:pt x="12" y="86"/>
                    </a:cubicBezTo>
                    <a:cubicBezTo>
                      <a:pt x="12" y="86"/>
                      <a:pt x="12" y="86"/>
                      <a:pt x="12" y="86"/>
                    </a:cubicBezTo>
                    <a:cubicBezTo>
                      <a:pt x="9" y="86"/>
                      <a:pt x="7" y="82"/>
                      <a:pt x="10" y="80"/>
                    </a:cubicBezTo>
                    <a:cubicBezTo>
                      <a:pt x="24" y="65"/>
                      <a:pt x="24" y="65"/>
                      <a:pt x="24" y="65"/>
                    </a:cubicBezTo>
                    <a:cubicBezTo>
                      <a:pt x="27" y="63"/>
                      <a:pt x="31" y="64"/>
                      <a:pt x="31" y="68"/>
                    </a:cubicBezTo>
                    <a:close/>
                    <a:moveTo>
                      <a:pt x="89" y="8"/>
                    </a:moveTo>
                    <a:cubicBezTo>
                      <a:pt x="112" y="63"/>
                      <a:pt x="112" y="63"/>
                      <a:pt x="112" y="63"/>
                    </a:cubicBezTo>
                    <a:cubicBezTo>
                      <a:pt x="132" y="58"/>
                      <a:pt x="132" y="58"/>
                      <a:pt x="132" y="58"/>
                    </a:cubicBezTo>
                    <a:cubicBezTo>
                      <a:pt x="111" y="8"/>
                      <a:pt x="111" y="8"/>
                      <a:pt x="111" y="8"/>
                    </a:cubicBezTo>
                    <a:cubicBezTo>
                      <a:pt x="109" y="3"/>
                      <a:pt x="102" y="0"/>
                      <a:pt x="97" y="4"/>
                    </a:cubicBezTo>
                    <a:lnTo>
                      <a:pt x="89" y="8"/>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6868" tIns="43434" rIns="86868" bIns="4343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33" name="Freeform 200">
                <a:extLst>
                  <a:ext uri="{FF2B5EF4-FFF2-40B4-BE49-F238E27FC236}">
                    <a16:creationId xmlns:a16="http://schemas.microsoft.com/office/drawing/2014/main" id="{5B39CE8C-B537-4F58-2021-FCD831179037}"/>
                  </a:ext>
                </a:extLst>
              </p:cNvPr>
              <p:cNvSpPr>
                <a:spLocks noEditPoints="1"/>
              </p:cNvSpPr>
              <p:nvPr/>
            </p:nvSpPr>
            <p:spPr bwMode="auto">
              <a:xfrm>
                <a:off x="9153399" y="2072781"/>
                <a:ext cx="239974" cy="198365"/>
              </a:xfrm>
              <a:custGeom>
                <a:avLst/>
                <a:gdLst>
                  <a:gd name="T0" fmla="*/ 100 w 135"/>
                  <a:gd name="T1" fmla="*/ 100 h 107"/>
                  <a:gd name="T2" fmla="*/ 86 w 135"/>
                  <a:gd name="T3" fmla="*/ 107 h 107"/>
                  <a:gd name="T4" fmla="*/ 92 w 135"/>
                  <a:gd name="T5" fmla="*/ 101 h 107"/>
                  <a:gd name="T6" fmla="*/ 94 w 135"/>
                  <a:gd name="T7" fmla="*/ 95 h 107"/>
                  <a:gd name="T8" fmla="*/ 94 w 135"/>
                  <a:gd name="T9" fmla="*/ 95 h 107"/>
                  <a:gd name="T10" fmla="*/ 100 w 135"/>
                  <a:gd name="T11" fmla="*/ 100 h 107"/>
                  <a:gd name="T12" fmla="*/ 132 w 135"/>
                  <a:gd name="T13" fmla="*/ 70 h 107"/>
                  <a:gd name="T14" fmla="*/ 132 w 135"/>
                  <a:gd name="T15" fmla="*/ 70 h 107"/>
                  <a:gd name="T16" fmla="*/ 99 w 135"/>
                  <a:gd name="T17" fmla="*/ 38 h 107"/>
                  <a:gd name="T18" fmla="*/ 86 w 135"/>
                  <a:gd name="T19" fmla="*/ 34 h 107"/>
                  <a:gd name="T20" fmla="*/ 78 w 135"/>
                  <a:gd name="T21" fmla="*/ 34 h 107"/>
                  <a:gd name="T22" fmla="*/ 59 w 135"/>
                  <a:gd name="T23" fmla="*/ 42 h 107"/>
                  <a:gd name="T24" fmla="*/ 50 w 135"/>
                  <a:gd name="T25" fmla="*/ 39 h 107"/>
                  <a:gd name="T26" fmla="*/ 48 w 135"/>
                  <a:gd name="T27" fmla="*/ 38 h 107"/>
                  <a:gd name="T28" fmla="*/ 49 w 135"/>
                  <a:gd name="T29" fmla="*/ 36 h 107"/>
                  <a:gd name="T30" fmla="*/ 65 w 135"/>
                  <a:gd name="T31" fmla="*/ 17 h 107"/>
                  <a:gd name="T32" fmla="*/ 65 w 135"/>
                  <a:gd name="T33" fmla="*/ 16 h 107"/>
                  <a:gd name="T34" fmla="*/ 78 w 135"/>
                  <a:gd name="T35" fmla="*/ 11 h 107"/>
                  <a:gd name="T36" fmla="*/ 63 w 135"/>
                  <a:gd name="T37" fmla="*/ 8 h 107"/>
                  <a:gd name="T38" fmla="*/ 43 w 135"/>
                  <a:gd name="T39" fmla="*/ 15 h 107"/>
                  <a:gd name="T40" fmla="*/ 23 w 135"/>
                  <a:gd name="T41" fmla="*/ 64 h 107"/>
                  <a:gd name="T42" fmla="*/ 31 w 135"/>
                  <a:gd name="T43" fmla="*/ 69 h 107"/>
                  <a:gd name="T44" fmla="*/ 33 w 135"/>
                  <a:gd name="T45" fmla="*/ 68 h 107"/>
                  <a:gd name="T46" fmla="*/ 40 w 135"/>
                  <a:gd name="T47" fmla="*/ 60 h 107"/>
                  <a:gd name="T48" fmla="*/ 46 w 135"/>
                  <a:gd name="T49" fmla="*/ 57 h 107"/>
                  <a:gd name="T50" fmla="*/ 54 w 135"/>
                  <a:gd name="T51" fmla="*/ 60 h 107"/>
                  <a:gd name="T52" fmla="*/ 57 w 135"/>
                  <a:gd name="T53" fmla="*/ 67 h 107"/>
                  <a:gd name="T54" fmla="*/ 57 w 135"/>
                  <a:gd name="T55" fmla="*/ 67 h 107"/>
                  <a:gd name="T56" fmla="*/ 60 w 135"/>
                  <a:gd name="T57" fmla="*/ 66 h 107"/>
                  <a:gd name="T58" fmla="*/ 67 w 135"/>
                  <a:gd name="T59" fmla="*/ 69 h 107"/>
                  <a:gd name="T60" fmla="*/ 70 w 135"/>
                  <a:gd name="T61" fmla="*/ 76 h 107"/>
                  <a:gd name="T62" fmla="*/ 73 w 135"/>
                  <a:gd name="T63" fmla="*/ 75 h 107"/>
                  <a:gd name="T64" fmla="*/ 80 w 135"/>
                  <a:gd name="T65" fmla="*/ 78 h 107"/>
                  <a:gd name="T66" fmla="*/ 82 w 135"/>
                  <a:gd name="T67" fmla="*/ 86 h 107"/>
                  <a:gd name="T68" fmla="*/ 85 w 135"/>
                  <a:gd name="T69" fmla="*/ 86 h 107"/>
                  <a:gd name="T70" fmla="*/ 90 w 135"/>
                  <a:gd name="T71" fmla="*/ 87 h 107"/>
                  <a:gd name="T72" fmla="*/ 90 w 135"/>
                  <a:gd name="T73" fmla="*/ 88 h 107"/>
                  <a:gd name="T74" fmla="*/ 92 w 135"/>
                  <a:gd name="T75" fmla="*/ 89 h 107"/>
                  <a:gd name="T76" fmla="*/ 102 w 135"/>
                  <a:gd name="T77" fmla="*/ 99 h 107"/>
                  <a:gd name="T78" fmla="*/ 110 w 135"/>
                  <a:gd name="T79" fmla="*/ 92 h 107"/>
                  <a:gd name="T80" fmla="*/ 89 w 135"/>
                  <a:gd name="T81" fmla="*/ 70 h 107"/>
                  <a:gd name="T82" fmla="*/ 89 w 135"/>
                  <a:gd name="T83" fmla="*/ 68 h 107"/>
                  <a:gd name="T84" fmla="*/ 91 w 135"/>
                  <a:gd name="T85" fmla="*/ 68 h 107"/>
                  <a:gd name="T86" fmla="*/ 112 w 135"/>
                  <a:gd name="T87" fmla="*/ 90 h 107"/>
                  <a:gd name="T88" fmla="*/ 121 w 135"/>
                  <a:gd name="T89" fmla="*/ 81 h 107"/>
                  <a:gd name="T90" fmla="*/ 100 w 135"/>
                  <a:gd name="T91" fmla="*/ 60 h 107"/>
                  <a:gd name="T92" fmla="*/ 100 w 135"/>
                  <a:gd name="T93" fmla="*/ 58 h 107"/>
                  <a:gd name="T94" fmla="*/ 102 w 135"/>
                  <a:gd name="T95" fmla="*/ 58 h 107"/>
                  <a:gd name="T96" fmla="*/ 124 w 135"/>
                  <a:gd name="T97" fmla="*/ 80 h 107"/>
                  <a:gd name="T98" fmla="*/ 132 w 135"/>
                  <a:gd name="T99" fmla="*/ 70 h 107"/>
                  <a:gd name="T100" fmla="*/ 24 w 135"/>
                  <a:gd name="T101" fmla="*/ 0 h 107"/>
                  <a:gd name="T102" fmla="*/ 2 w 135"/>
                  <a:gd name="T103" fmla="*/ 52 h 107"/>
                  <a:gd name="T104" fmla="*/ 8 w 135"/>
                  <a:gd name="T105" fmla="*/ 63 h 107"/>
                  <a:gd name="T106" fmla="*/ 19 w 135"/>
                  <a:gd name="T107" fmla="*/ 66 h 107"/>
                  <a:gd name="T108" fmla="*/ 41 w 135"/>
                  <a:gd name="T109" fmla="*/ 11 h 107"/>
                  <a:gd name="T110" fmla="*/ 24 w 135"/>
                  <a:gd name="T11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5" h="107">
                    <a:moveTo>
                      <a:pt x="100" y="100"/>
                    </a:moveTo>
                    <a:cubicBezTo>
                      <a:pt x="96" y="107"/>
                      <a:pt x="88" y="107"/>
                      <a:pt x="86" y="107"/>
                    </a:cubicBezTo>
                    <a:cubicBezTo>
                      <a:pt x="92" y="101"/>
                      <a:pt x="92" y="101"/>
                      <a:pt x="92" y="101"/>
                    </a:cubicBezTo>
                    <a:cubicBezTo>
                      <a:pt x="93" y="100"/>
                      <a:pt x="94" y="97"/>
                      <a:pt x="94" y="95"/>
                    </a:cubicBezTo>
                    <a:cubicBezTo>
                      <a:pt x="94" y="95"/>
                      <a:pt x="94" y="95"/>
                      <a:pt x="94" y="95"/>
                    </a:cubicBezTo>
                    <a:lnTo>
                      <a:pt x="100" y="100"/>
                    </a:lnTo>
                    <a:close/>
                    <a:moveTo>
                      <a:pt x="132" y="70"/>
                    </a:moveTo>
                    <a:cubicBezTo>
                      <a:pt x="132" y="70"/>
                      <a:pt x="132" y="70"/>
                      <a:pt x="132" y="70"/>
                    </a:cubicBezTo>
                    <a:cubicBezTo>
                      <a:pt x="99" y="38"/>
                      <a:pt x="99" y="38"/>
                      <a:pt x="99" y="38"/>
                    </a:cubicBezTo>
                    <a:cubicBezTo>
                      <a:pt x="86" y="34"/>
                      <a:pt x="86" y="34"/>
                      <a:pt x="86" y="34"/>
                    </a:cubicBezTo>
                    <a:cubicBezTo>
                      <a:pt x="78" y="34"/>
                      <a:pt x="78" y="34"/>
                      <a:pt x="78" y="34"/>
                    </a:cubicBezTo>
                    <a:cubicBezTo>
                      <a:pt x="76" y="36"/>
                      <a:pt x="68" y="42"/>
                      <a:pt x="59" y="42"/>
                    </a:cubicBezTo>
                    <a:cubicBezTo>
                      <a:pt x="56" y="42"/>
                      <a:pt x="53" y="41"/>
                      <a:pt x="50" y="39"/>
                    </a:cubicBezTo>
                    <a:cubicBezTo>
                      <a:pt x="48" y="38"/>
                      <a:pt x="48" y="38"/>
                      <a:pt x="48" y="38"/>
                    </a:cubicBezTo>
                    <a:cubicBezTo>
                      <a:pt x="49" y="36"/>
                      <a:pt x="49" y="36"/>
                      <a:pt x="49" y="36"/>
                    </a:cubicBezTo>
                    <a:cubicBezTo>
                      <a:pt x="51" y="31"/>
                      <a:pt x="65" y="17"/>
                      <a:pt x="65" y="17"/>
                    </a:cubicBezTo>
                    <a:cubicBezTo>
                      <a:pt x="65" y="16"/>
                      <a:pt x="65" y="16"/>
                      <a:pt x="65" y="16"/>
                    </a:cubicBezTo>
                    <a:cubicBezTo>
                      <a:pt x="67" y="16"/>
                      <a:pt x="72" y="13"/>
                      <a:pt x="78" y="11"/>
                    </a:cubicBezTo>
                    <a:cubicBezTo>
                      <a:pt x="72" y="9"/>
                      <a:pt x="66" y="8"/>
                      <a:pt x="63" y="8"/>
                    </a:cubicBezTo>
                    <a:cubicBezTo>
                      <a:pt x="60" y="8"/>
                      <a:pt x="43" y="15"/>
                      <a:pt x="43" y="15"/>
                    </a:cubicBezTo>
                    <a:cubicBezTo>
                      <a:pt x="23" y="64"/>
                      <a:pt x="23" y="64"/>
                      <a:pt x="23" y="64"/>
                    </a:cubicBezTo>
                    <a:cubicBezTo>
                      <a:pt x="31" y="69"/>
                      <a:pt x="31" y="69"/>
                      <a:pt x="31" y="69"/>
                    </a:cubicBezTo>
                    <a:cubicBezTo>
                      <a:pt x="32" y="69"/>
                      <a:pt x="32" y="68"/>
                      <a:pt x="33" y="68"/>
                    </a:cubicBezTo>
                    <a:cubicBezTo>
                      <a:pt x="40" y="60"/>
                      <a:pt x="40" y="60"/>
                      <a:pt x="40" y="60"/>
                    </a:cubicBezTo>
                    <a:cubicBezTo>
                      <a:pt x="42" y="59"/>
                      <a:pt x="44" y="58"/>
                      <a:pt x="46" y="57"/>
                    </a:cubicBezTo>
                    <a:cubicBezTo>
                      <a:pt x="49" y="57"/>
                      <a:pt x="52" y="58"/>
                      <a:pt x="54" y="60"/>
                    </a:cubicBezTo>
                    <a:cubicBezTo>
                      <a:pt x="56" y="62"/>
                      <a:pt x="57" y="64"/>
                      <a:pt x="57" y="67"/>
                    </a:cubicBezTo>
                    <a:cubicBezTo>
                      <a:pt x="57" y="67"/>
                      <a:pt x="57" y="67"/>
                      <a:pt x="57" y="67"/>
                    </a:cubicBezTo>
                    <a:cubicBezTo>
                      <a:pt x="58" y="66"/>
                      <a:pt x="59" y="66"/>
                      <a:pt x="60" y="66"/>
                    </a:cubicBezTo>
                    <a:cubicBezTo>
                      <a:pt x="63" y="66"/>
                      <a:pt x="65" y="67"/>
                      <a:pt x="67" y="69"/>
                    </a:cubicBezTo>
                    <a:cubicBezTo>
                      <a:pt x="69" y="71"/>
                      <a:pt x="70" y="73"/>
                      <a:pt x="70" y="76"/>
                    </a:cubicBezTo>
                    <a:cubicBezTo>
                      <a:pt x="71" y="76"/>
                      <a:pt x="72" y="75"/>
                      <a:pt x="73" y="75"/>
                    </a:cubicBezTo>
                    <a:cubicBezTo>
                      <a:pt x="75" y="75"/>
                      <a:pt x="78" y="76"/>
                      <a:pt x="80" y="78"/>
                    </a:cubicBezTo>
                    <a:cubicBezTo>
                      <a:pt x="82" y="80"/>
                      <a:pt x="83" y="83"/>
                      <a:pt x="82" y="86"/>
                    </a:cubicBezTo>
                    <a:cubicBezTo>
                      <a:pt x="83" y="86"/>
                      <a:pt x="84" y="86"/>
                      <a:pt x="85" y="86"/>
                    </a:cubicBezTo>
                    <a:cubicBezTo>
                      <a:pt x="87" y="86"/>
                      <a:pt x="89" y="86"/>
                      <a:pt x="90" y="87"/>
                    </a:cubicBezTo>
                    <a:cubicBezTo>
                      <a:pt x="90" y="87"/>
                      <a:pt x="90" y="87"/>
                      <a:pt x="90" y="88"/>
                    </a:cubicBezTo>
                    <a:cubicBezTo>
                      <a:pt x="91" y="88"/>
                      <a:pt x="92" y="89"/>
                      <a:pt x="92" y="89"/>
                    </a:cubicBezTo>
                    <a:cubicBezTo>
                      <a:pt x="102" y="99"/>
                      <a:pt x="102" y="99"/>
                      <a:pt x="102" y="99"/>
                    </a:cubicBezTo>
                    <a:cubicBezTo>
                      <a:pt x="105" y="99"/>
                      <a:pt x="110" y="96"/>
                      <a:pt x="110" y="92"/>
                    </a:cubicBezTo>
                    <a:cubicBezTo>
                      <a:pt x="89" y="70"/>
                      <a:pt x="89" y="70"/>
                      <a:pt x="89" y="70"/>
                    </a:cubicBezTo>
                    <a:cubicBezTo>
                      <a:pt x="88" y="70"/>
                      <a:pt x="88" y="69"/>
                      <a:pt x="89" y="68"/>
                    </a:cubicBezTo>
                    <a:cubicBezTo>
                      <a:pt x="89" y="68"/>
                      <a:pt x="90" y="68"/>
                      <a:pt x="91" y="68"/>
                    </a:cubicBezTo>
                    <a:cubicBezTo>
                      <a:pt x="112" y="90"/>
                      <a:pt x="112" y="90"/>
                      <a:pt x="112" y="90"/>
                    </a:cubicBezTo>
                    <a:cubicBezTo>
                      <a:pt x="116" y="90"/>
                      <a:pt x="122" y="86"/>
                      <a:pt x="121" y="81"/>
                    </a:cubicBezTo>
                    <a:cubicBezTo>
                      <a:pt x="100" y="60"/>
                      <a:pt x="100" y="60"/>
                      <a:pt x="100" y="60"/>
                    </a:cubicBezTo>
                    <a:cubicBezTo>
                      <a:pt x="99" y="59"/>
                      <a:pt x="99" y="58"/>
                      <a:pt x="100" y="58"/>
                    </a:cubicBezTo>
                    <a:cubicBezTo>
                      <a:pt x="100" y="57"/>
                      <a:pt x="101" y="57"/>
                      <a:pt x="102" y="58"/>
                    </a:cubicBezTo>
                    <a:cubicBezTo>
                      <a:pt x="124" y="80"/>
                      <a:pt x="124" y="80"/>
                      <a:pt x="124" y="80"/>
                    </a:cubicBezTo>
                    <a:cubicBezTo>
                      <a:pt x="129" y="80"/>
                      <a:pt x="135" y="76"/>
                      <a:pt x="132" y="70"/>
                    </a:cubicBezTo>
                    <a:close/>
                    <a:moveTo>
                      <a:pt x="24" y="0"/>
                    </a:moveTo>
                    <a:cubicBezTo>
                      <a:pt x="2" y="52"/>
                      <a:pt x="2" y="52"/>
                      <a:pt x="2" y="52"/>
                    </a:cubicBezTo>
                    <a:cubicBezTo>
                      <a:pt x="0" y="57"/>
                      <a:pt x="3" y="62"/>
                      <a:pt x="8" y="63"/>
                    </a:cubicBezTo>
                    <a:cubicBezTo>
                      <a:pt x="19" y="66"/>
                      <a:pt x="19" y="66"/>
                      <a:pt x="19" y="66"/>
                    </a:cubicBezTo>
                    <a:cubicBezTo>
                      <a:pt x="41" y="11"/>
                      <a:pt x="41" y="11"/>
                      <a:pt x="41" y="11"/>
                    </a:cubicBezTo>
                    <a:lnTo>
                      <a:pt x="24" y="0"/>
                    </a:lnTo>
                    <a:close/>
                  </a:path>
                </a:pathLst>
              </a:custGeom>
              <a:solidFill>
                <a:schemeClr val="accent3"/>
              </a:solidFill>
              <a:ln>
                <a:noFill/>
              </a:ln>
            </p:spPr>
            <p:txBody>
              <a:bodyPr vert="horz" wrap="square" lIns="86868" tIns="43434" rIns="86868" bIns="4343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grpSp>
        <p:sp>
          <p:nvSpPr>
            <p:cNvPr id="34" name="Rectangle: Rounded Corners 33">
              <a:extLst>
                <a:ext uri="{FF2B5EF4-FFF2-40B4-BE49-F238E27FC236}">
                  <a16:creationId xmlns:a16="http://schemas.microsoft.com/office/drawing/2014/main" id="{14B56F8B-AA7C-54CF-150A-C2B35E8E8B49}"/>
                </a:ext>
              </a:extLst>
            </p:cNvPr>
            <p:cNvSpPr/>
            <p:nvPr/>
          </p:nvSpPr>
          <p:spPr>
            <a:xfrm>
              <a:off x="8720859" y="1751335"/>
              <a:ext cx="2913793" cy="429137"/>
            </a:xfrm>
            <a:prstGeom prst="roundRect">
              <a:avLst>
                <a:gd name="adj" fmla="val 79695"/>
              </a:avLst>
            </a:prstGeom>
            <a:solidFill>
              <a:schemeClr val="accent1"/>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p>
              <a:pPr algn="ctr"/>
              <a:r>
                <a:rPr lang="en-US" sz="1100" b="1" noProof="0">
                  <a:solidFill>
                    <a:schemeClr val="bg1"/>
                  </a:solidFill>
                </a:rPr>
                <a:t>Business Case Presentation</a:t>
              </a:r>
            </a:p>
          </p:txBody>
        </p:sp>
        <p:grpSp>
          <p:nvGrpSpPr>
            <p:cNvPr id="35" name="Group 34">
              <a:extLst>
                <a:ext uri="{FF2B5EF4-FFF2-40B4-BE49-F238E27FC236}">
                  <a16:creationId xmlns:a16="http://schemas.microsoft.com/office/drawing/2014/main" id="{96862D93-3CF2-44E1-44F9-6A9E61FC7A89}"/>
                </a:ext>
              </a:extLst>
            </p:cNvPr>
            <p:cNvGrpSpPr/>
            <p:nvPr/>
          </p:nvGrpSpPr>
          <p:grpSpPr>
            <a:xfrm>
              <a:off x="8720859" y="2404112"/>
              <a:ext cx="2930107" cy="1835727"/>
              <a:chOff x="9244900" y="2404112"/>
              <a:chExt cx="2403132" cy="1835727"/>
            </a:xfrm>
          </p:grpSpPr>
          <p:sp>
            <p:nvSpPr>
              <p:cNvPr id="36" name="Rectangle 3">
                <a:extLst>
                  <a:ext uri="{FF2B5EF4-FFF2-40B4-BE49-F238E27FC236}">
                    <a16:creationId xmlns:a16="http://schemas.microsoft.com/office/drawing/2014/main" id="{60FC74CE-61BD-A46C-EB0F-DF577C485B45}"/>
                  </a:ext>
                </a:extLst>
              </p:cNvPr>
              <p:cNvSpPr>
                <a:spLocks noChangeArrowheads="1"/>
              </p:cNvSpPr>
              <p:nvPr>
                <p:custDataLst>
                  <p:tags r:id="rId5"/>
                </p:custDataLst>
              </p:nvPr>
            </p:nvSpPr>
            <p:spPr bwMode="auto">
              <a:xfrm>
                <a:off x="9258280" y="2404112"/>
                <a:ext cx="2389752" cy="228600"/>
              </a:xfrm>
              <a:prstGeom prst="roundRect">
                <a:avLst>
                  <a:gd name="adj" fmla="val 204724"/>
                </a:avLst>
              </a:prstGeom>
              <a:solidFill>
                <a:srgbClr val="197799"/>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p>
                <a:pPr algn="ctr"/>
                <a:r>
                  <a:rPr lang="en-US" sz="1100" b="1" noProof="0">
                    <a:solidFill>
                      <a:schemeClr val="bg1"/>
                    </a:solidFill>
                  </a:rPr>
                  <a:t>Business Case Presentation</a:t>
                </a:r>
              </a:p>
            </p:txBody>
          </p:sp>
          <p:sp>
            <p:nvSpPr>
              <p:cNvPr id="37" name="Rectangle 36">
                <a:extLst>
                  <a:ext uri="{FF2B5EF4-FFF2-40B4-BE49-F238E27FC236}">
                    <a16:creationId xmlns:a16="http://schemas.microsoft.com/office/drawing/2014/main" id="{479C9C33-1A3C-025F-38D1-E89CF93CBD5E}"/>
                  </a:ext>
                </a:extLst>
              </p:cNvPr>
              <p:cNvSpPr/>
              <p:nvPr/>
            </p:nvSpPr>
            <p:spPr>
              <a:xfrm>
                <a:off x="9244900" y="2777900"/>
                <a:ext cx="2389752" cy="1461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171450" indent="-171450" defTabSz="914400">
                  <a:spcAft>
                    <a:spcPts val="300"/>
                  </a:spcAft>
                  <a:buClr>
                    <a:srgbClr val="FFFFFF"/>
                  </a:buClr>
                  <a:buSzPct val="100000"/>
                  <a:buFont typeface="Wingdings" panose="05000000000000000000" pitchFamily="2" charset="2"/>
                  <a:buChar char="§"/>
                </a:pPr>
                <a:r>
                  <a:rPr lang="en-US" sz="1000">
                    <a:solidFill>
                      <a:schemeClr val="bg1"/>
                    </a:solidFill>
                    <a:latin typeface="Ubuntu"/>
                    <a:ea typeface="Verdana"/>
                  </a:rPr>
                  <a:t>Prepare financial business case (ROI, payback period) for proposed solutions and transformation scenarios based on cost estimates, potential benefits and investments</a:t>
                </a:r>
              </a:p>
              <a:p>
                <a:pPr marL="171450" indent="-171450" defTabSz="914400">
                  <a:spcAft>
                    <a:spcPts val="300"/>
                  </a:spcAft>
                  <a:buClr>
                    <a:srgbClr val="FFFFFF"/>
                  </a:buClr>
                  <a:buSzPct val="100000"/>
                  <a:buFont typeface="Wingdings" panose="05000000000000000000" pitchFamily="2" charset="2"/>
                  <a:buChar char="§"/>
                </a:pPr>
                <a:r>
                  <a:rPr lang="en-US" sz="1000">
                    <a:solidFill>
                      <a:schemeClr val="bg1"/>
                    </a:solidFill>
                    <a:latin typeface="Ubuntu"/>
                    <a:ea typeface="Verdana"/>
                  </a:rPr>
                  <a:t>Align business case with  financial governance requirements</a:t>
                </a:r>
              </a:p>
              <a:p>
                <a:pPr marL="171450" indent="-171450" defTabSz="914400">
                  <a:spcAft>
                    <a:spcPts val="300"/>
                  </a:spcAft>
                  <a:buClr>
                    <a:srgbClr val="FFFFFF"/>
                  </a:buClr>
                  <a:buSzPct val="100000"/>
                  <a:buFont typeface="Wingdings" panose="05000000000000000000" pitchFamily="2" charset="2"/>
                  <a:buChar char="§"/>
                </a:pPr>
                <a:r>
                  <a:rPr lang="en-US" sz="1000">
                    <a:solidFill>
                      <a:schemeClr val="bg1"/>
                    </a:solidFill>
                    <a:latin typeface="Ubuntu"/>
                    <a:ea typeface="Verdana"/>
                  </a:rPr>
                  <a:t>Validate business case with key  stakeholders and propose investment decisions based on business case findings</a:t>
                </a:r>
              </a:p>
            </p:txBody>
          </p:sp>
        </p:grpSp>
        <p:sp>
          <p:nvSpPr>
            <p:cNvPr id="38" name="Freeform 182">
              <a:extLst>
                <a:ext uri="{FF2B5EF4-FFF2-40B4-BE49-F238E27FC236}">
                  <a16:creationId xmlns:a16="http://schemas.microsoft.com/office/drawing/2014/main" id="{A9C83DC3-CF1D-4C85-DA21-0241D1D3AA25}"/>
                </a:ext>
              </a:extLst>
            </p:cNvPr>
            <p:cNvSpPr>
              <a:spLocks/>
            </p:cNvSpPr>
            <p:nvPr/>
          </p:nvSpPr>
          <p:spPr bwMode="auto">
            <a:xfrm>
              <a:off x="8779695" y="1779498"/>
              <a:ext cx="360000" cy="360000"/>
            </a:xfrm>
            <a:prstGeom prst="ellipse">
              <a:avLst/>
            </a:prstGeom>
            <a:solidFill>
              <a:schemeClr val="bg1"/>
            </a:solidFill>
            <a:ln>
              <a:noFill/>
            </a:ln>
          </p:spPr>
          <p:txBody>
            <a:bodyPr vert="horz" wrap="square" lIns="86868" tIns="43434" rIns="86868" bIns="4343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pic>
          <p:nvPicPr>
            <p:cNvPr id="39" name="Graphic 38" descr="Presentation with pie chart outline">
              <a:extLst>
                <a:ext uri="{FF2B5EF4-FFF2-40B4-BE49-F238E27FC236}">
                  <a16:creationId xmlns:a16="http://schemas.microsoft.com/office/drawing/2014/main" id="{15C0D92E-5D4F-E690-FC28-626B23CE224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828352" y="1828156"/>
              <a:ext cx="262684" cy="262684"/>
            </a:xfrm>
            <a:prstGeom prst="rect">
              <a:avLst/>
            </a:prstGeom>
          </p:spPr>
        </p:pic>
        <p:pic>
          <p:nvPicPr>
            <p:cNvPr id="40" name="Picture 39">
              <a:extLst>
                <a:ext uri="{FF2B5EF4-FFF2-40B4-BE49-F238E27FC236}">
                  <a16:creationId xmlns:a16="http://schemas.microsoft.com/office/drawing/2014/main" id="{700BA21C-EF48-33FD-3A91-2E3DB2D8C108}"/>
                </a:ext>
              </a:extLst>
            </p:cNvPr>
            <p:cNvPicPr>
              <a:picLocks noChangeAspect="1"/>
            </p:cNvPicPr>
            <p:nvPr/>
          </p:nvPicPr>
          <p:blipFill>
            <a:blip r:embed="rId14"/>
            <a:stretch>
              <a:fillRect/>
            </a:stretch>
          </p:blipFill>
          <p:spPr>
            <a:xfrm>
              <a:off x="9659694" y="5585746"/>
              <a:ext cx="1179162" cy="655800"/>
            </a:xfrm>
            <a:prstGeom prst="rect">
              <a:avLst/>
            </a:prstGeom>
          </p:spPr>
        </p:pic>
        <p:cxnSp>
          <p:nvCxnSpPr>
            <p:cNvPr id="42" name="Straight Connector 41">
              <a:extLst>
                <a:ext uri="{FF2B5EF4-FFF2-40B4-BE49-F238E27FC236}">
                  <a16:creationId xmlns:a16="http://schemas.microsoft.com/office/drawing/2014/main" id="{530A5774-9E54-4E1D-1A4B-36C955CCABDB}"/>
                </a:ext>
              </a:extLst>
            </p:cNvPr>
            <p:cNvCxnSpPr>
              <a:cxnSpLocks/>
            </p:cNvCxnSpPr>
            <p:nvPr/>
          </p:nvCxnSpPr>
          <p:spPr>
            <a:xfrm>
              <a:off x="8361746" y="2392999"/>
              <a:ext cx="0" cy="4329890"/>
            </a:xfrm>
            <a:prstGeom prst="line">
              <a:avLst/>
            </a:prstGeom>
            <a:ln>
              <a:solidFill>
                <a:schemeClr val="bg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6" name="Isosceles Triangle 25">
              <a:extLst>
                <a:ext uri="{FF2B5EF4-FFF2-40B4-BE49-F238E27FC236}">
                  <a16:creationId xmlns:a16="http://schemas.microsoft.com/office/drawing/2014/main" id="{AFE188CD-1998-F0F2-1D71-FF5F19DED127}"/>
                </a:ext>
              </a:extLst>
            </p:cNvPr>
            <p:cNvSpPr/>
            <p:nvPr/>
          </p:nvSpPr>
          <p:spPr>
            <a:xfrm rot="16200000" flipV="1">
              <a:off x="7576078" y="4467895"/>
              <a:ext cx="1751435" cy="180099"/>
            </a:xfrm>
            <a:prstGeom prst="triangl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50" name="Group 49">
            <a:extLst>
              <a:ext uri="{FF2B5EF4-FFF2-40B4-BE49-F238E27FC236}">
                <a16:creationId xmlns:a16="http://schemas.microsoft.com/office/drawing/2014/main" id="{1124488A-503A-B09E-D3B4-CB74C37BF863}"/>
              </a:ext>
            </a:extLst>
          </p:cNvPr>
          <p:cNvGrpSpPr/>
          <p:nvPr/>
        </p:nvGrpSpPr>
        <p:grpSpPr>
          <a:xfrm>
            <a:off x="377798" y="849265"/>
            <a:ext cx="5355490" cy="354347"/>
            <a:chOff x="377799" y="1062548"/>
            <a:chExt cx="5130530" cy="208800"/>
          </a:xfrm>
        </p:grpSpPr>
        <p:sp>
          <p:nvSpPr>
            <p:cNvPr id="51" name="Arrow: Chevron 50">
              <a:extLst>
                <a:ext uri="{FF2B5EF4-FFF2-40B4-BE49-F238E27FC236}">
                  <a16:creationId xmlns:a16="http://schemas.microsoft.com/office/drawing/2014/main" id="{727816DE-EB0B-E1CA-488D-A8F1575F56FF}"/>
                </a:ext>
              </a:extLst>
            </p:cNvPr>
            <p:cNvSpPr/>
            <p:nvPr/>
          </p:nvSpPr>
          <p:spPr>
            <a:xfrm>
              <a:off x="37779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Discover</a:t>
              </a:r>
            </a:p>
          </p:txBody>
        </p:sp>
        <p:sp>
          <p:nvSpPr>
            <p:cNvPr id="52" name="Arrow: Chevron 51">
              <a:extLst>
                <a:ext uri="{FF2B5EF4-FFF2-40B4-BE49-F238E27FC236}">
                  <a16:creationId xmlns:a16="http://schemas.microsoft.com/office/drawing/2014/main" id="{A10A9B7B-91AD-FFEA-CFCF-5B826B176118}"/>
                </a:ext>
              </a:extLst>
            </p:cNvPr>
            <p:cNvSpPr/>
            <p:nvPr/>
          </p:nvSpPr>
          <p:spPr>
            <a:xfrm>
              <a:off x="1664376" y="1062548"/>
              <a:ext cx="1270800" cy="208800"/>
            </a:xfrm>
            <a:prstGeom prst="chevron">
              <a:avLst/>
            </a:prstGeom>
            <a:solidFill>
              <a:srgbClr val="178C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bg1"/>
                  </a:solidFill>
                </a:rPr>
                <a:t>Evaluate &amp; Create</a:t>
              </a:r>
            </a:p>
          </p:txBody>
        </p:sp>
        <p:sp>
          <p:nvSpPr>
            <p:cNvPr id="53" name="Arrow: Chevron 52">
              <a:extLst>
                <a:ext uri="{FF2B5EF4-FFF2-40B4-BE49-F238E27FC236}">
                  <a16:creationId xmlns:a16="http://schemas.microsoft.com/office/drawing/2014/main" id="{16798972-269F-D3E1-015E-81683F0DC50E}"/>
                </a:ext>
              </a:extLst>
            </p:cNvPr>
            <p:cNvSpPr/>
            <p:nvPr/>
          </p:nvSpPr>
          <p:spPr>
            <a:xfrm>
              <a:off x="2950953"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Recommend</a:t>
              </a:r>
            </a:p>
          </p:txBody>
        </p:sp>
        <p:sp>
          <p:nvSpPr>
            <p:cNvPr id="54" name="Arrow: Chevron 53">
              <a:extLst>
                <a:ext uri="{FF2B5EF4-FFF2-40B4-BE49-F238E27FC236}">
                  <a16:creationId xmlns:a16="http://schemas.microsoft.com/office/drawing/2014/main" id="{C9180698-BF5B-F914-115F-D5F5AA6D3D4A}"/>
                </a:ext>
              </a:extLst>
            </p:cNvPr>
            <p:cNvSpPr/>
            <p:nvPr/>
          </p:nvSpPr>
          <p:spPr>
            <a:xfrm>
              <a:off x="423752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Support</a:t>
              </a:r>
            </a:p>
          </p:txBody>
        </p:sp>
      </p:grpSp>
    </p:spTree>
    <p:extLst>
      <p:ext uri="{BB962C8B-B14F-4D97-AF65-F5344CB8AC3E}">
        <p14:creationId xmlns:p14="http://schemas.microsoft.com/office/powerpoint/2010/main" val="176301824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18DD5-DB02-8385-27A2-44DACE876F55}"/>
            </a:ext>
          </a:extLst>
        </p:cNvPr>
        <p:cNvGrpSpPr/>
        <p:nvPr/>
      </p:nvGrpSpPr>
      <p:grpSpPr>
        <a:xfrm>
          <a:off x="0" y="0"/>
          <a:ext cx="0" cy="0"/>
          <a:chOff x="0" y="0"/>
          <a:chExt cx="0" cy="0"/>
        </a:xfrm>
      </p:grpSpPr>
      <p:sp>
        <p:nvSpPr>
          <p:cNvPr id="70" name="Title 1">
            <a:extLst>
              <a:ext uri="{FF2B5EF4-FFF2-40B4-BE49-F238E27FC236}">
                <a16:creationId xmlns:a16="http://schemas.microsoft.com/office/drawing/2014/main" id="{C770C2B0-0004-CEDD-2AB7-D327B3E60484}"/>
              </a:ext>
            </a:extLst>
          </p:cNvPr>
          <p:cNvSpPr txBox="1">
            <a:spLocks/>
          </p:cNvSpPr>
          <p:nvPr/>
        </p:nvSpPr>
        <p:spPr>
          <a:xfrm>
            <a:off x="515470" y="158365"/>
            <a:ext cx="10095823" cy="511062"/>
          </a:xfrm>
          <a:prstGeom prst="rect">
            <a:avLst/>
          </a:prstGeom>
        </p:spPr>
        <p:txBody>
          <a:bodyPr vert="horz" lIns="0" tIns="0" rIns="0" bIns="0" rtlCol="0" anchor="t">
            <a:noAutofit/>
          </a:bodyPr>
          <a:lstStyle>
            <a:lvl1pPr marR="0" indent="0" defTabSz="914400" fontAlgn="auto">
              <a:lnSpc>
                <a:spcPct val="90000"/>
              </a:lnSpc>
              <a:spcBef>
                <a:spcPct val="0"/>
              </a:spcBef>
              <a:spcAft>
                <a:spcPts val="0"/>
              </a:spcAft>
              <a:buClrTx/>
              <a:buSzTx/>
              <a:buFontTx/>
              <a:buNone/>
              <a:tabLst/>
              <a:defRPr kumimoji="0" lang="en-US" sz="2400" b="0" i="0" u="none" strike="noStrike" cap="all" spc="0" normalizeH="0" baseline="0" noProof="0">
                <a:ln>
                  <a:noFill/>
                </a:ln>
                <a:solidFill>
                  <a:schemeClr val="bg1"/>
                </a:solidFill>
                <a:effectLst/>
                <a:uLnTx/>
                <a:uFillTx/>
                <a:latin typeface="+mj-lt"/>
                <a:ea typeface="+mj-ea"/>
                <a:cs typeface="+mj-cs"/>
              </a:defRPr>
            </a:lvl1pPr>
          </a:lstStyle>
          <a:p>
            <a:r>
              <a:rPr lang="en-US" sz="2400" cap="none" noProof="0"/>
              <a:t>We will utilize a robust IT cost modelling framework to quantify costs and benefits that support data-driven decisions </a:t>
            </a:r>
            <a:r>
              <a:rPr lang="en-US" cap="none" noProof="0"/>
              <a:t>t</a:t>
            </a:r>
            <a:r>
              <a:rPr lang="en-US" sz="2400" cap="none" noProof="0"/>
              <a:t>hrough business case </a:t>
            </a:r>
            <a:br>
              <a:rPr lang="en-US" sz="2400" cap="none" noProof="0"/>
            </a:br>
            <a:endParaRPr lang="en-US" cap="none" noProof="0">
              <a:latin typeface="+mn-lt"/>
            </a:endParaRPr>
          </a:p>
        </p:txBody>
      </p:sp>
      <p:grpSp>
        <p:nvGrpSpPr>
          <p:cNvPr id="66" name="Group 65">
            <a:extLst>
              <a:ext uri="{FF2B5EF4-FFF2-40B4-BE49-F238E27FC236}">
                <a16:creationId xmlns:a16="http://schemas.microsoft.com/office/drawing/2014/main" id="{C2B7CF9C-AA35-6410-449B-DAF6AD999163}"/>
              </a:ext>
            </a:extLst>
          </p:cNvPr>
          <p:cNvGrpSpPr/>
          <p:nvPr/>
        </p:nvGrpSpPr>
        <p:grpSpPr>
          <a:xfrm>
            <a:off x="377798" y="850879"/>
            <a:ext cx="5392066" cy="308983"/>
            <a:chOff x="377799" y="1062548"/>
            <a:chExt cx="5130530" cy="208800"/>
          </a:xfrm>
        </p:grpSpPr>
        <p:sp>
          <p:nvSpPr>
            <p:cNvPr id="71" name="Arrow: Chevron 70">
              <a:extLst>
                <a:ext uri="{FF2B5EF4-FFF2-40B4-BE49-F238E27FC236}">
                  <a16:creationId xmlns:a16="http://schemas.microsoft.com/office/drawing/2014/main" id="{4584DF18-5721-52B7-2F12-D5E9EE57387A}"/>
                </a:ext>
              </a:extLst>
            </p:cNvPr>
            <p:cNvSpPr/>
            <p:nvPr/>
          </p:nvSpPr>
          <p:spPr>
            <a:xfrm>
              <a:off x="37779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solidFill>
                </a:rPr>
                <a:t>Discover</a:t>
              </a:r>
            </a:p>
          </p:txBody>
        </p:sp>
        <p:sp>
          <p:nvSpPr>
            <p:cNvPr id="72" name="Arrow: Chevron 71">
              <a:extLst>
                <a:ext uri="{FF2B5EF4-FFF2-40B4-BE49-F238E27FC236}">
                  <a16:creationId xmlns:a16="http://schemas.microsoft.com/office/drawing/2014/main" id="{B6881AF8-92D3-8CAD-DC7B-08AD973340ED}"/>
                </a:ext>
              </a:extLst>
            </p:cNvPr>
            <p:cNvSpPr/>
            <p:nvPr/>
          </p:nvSpPr>
          <p:spPr>
            <a:xfrm>
              <a:off x="1664376" y="1062548"/>
              <a:ext cx="1270800" cy="208800"/>
            </a:xfrm>
            <a:prstGeom prst="chevron">
              <a:avLst/>
            </a:prstGeom>
            <a:solidFill>
              <a:srgbClr val="178C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bg1"/>
                  </a:solidFill>
                </a:rPr>
                <a:t>Evaluate &amp; Create</a:t>
              </a:r>
            </a:p>
          </p:txBody>
        </p:sp>
        <p:sp>
          <p:nvSpPr>
            <p:cNvPr id="73" name="Arrow: Chevron 72">
              <a:extLst>
                <a:ext uri="{FF2B5EF4-FFF2-40B4-BE49-F238E27FC236}">
                  <a16:creationId xmlns:a16="http://schemas.microsoft.com/office/drawing/2014/main" id="{6121CFF9-C8D5-6C36-1B93-044AA976491A}"/>
                </a:ext>
              </a:extLst>
            </p:cNvPr>
            <p:cNvSpPr/>
            <p:nvPr/>
          </p:nvSpPr>
          <p:spPr>
            <a:xfrm>
              <a:off x="2950953"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solidFill>
                </a:rPr>
                <a:t>Recommend</a:t>
              </a:r>
            </a:p>
          </p:txBody>
        </p:sp>
        <p:sp>
          <p:nvSpPr>
            <p:cNvPr id="75" name="Arrow: Chevron 74">
              <a:extLst>
                <a:ext uri="{FF2B5EF4-FFF2-40B4-BE49-F238E27FC236}">
                  <a16:creationId xmlns:a16="http://schemas.microsoft.com/office/drawing/2014/main" id="{0F604DDE-6E54-5251-4A67-C32BD7FC1054}"/>
                </a:ext>
              </a:extLst>
            </p:cNvPr>
            <p:cNvSpPr/>
            <p:nvPr/>
          </p:nvSpPr>
          <p:spPr>
            <a:xfrm>
              <a:off x="423752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solidFill>
                </a:rPr>
                <a:t>Support</a:t>
              </a:r>
            </a:p>
          </p:txBody>
        </p:sp>
      </p:grpSp>
      <p:grpSp>
        <p:nvGrpSpPr>
          <p:cNvPr id="74" name="Group 73">
            <a:extLst>
              <a:ext uri="{FF2B5EF4-FFF2-40B4-BE49-F238E27FC236}">
                <a16:creationId xmlns:a16="http://schemas.microsoft.com/office/drawing/2014/main" id="{D096CE1F-3D36-C7E3-6F60-66581E79483F}"/>
              </a:ext>
            </a:extLst>
          </p:cNvPr>
          <p:cNvGrpSpPr/>
          <p:nvPr/>
        </p:nvGrpSpPr>
        <p:grpSpPr>
          <a:xfrm>
            <a:off x="209007" y="1187903"/>
            <a:ext cx="11899484" cy="5499218"/>
            <a:chOff x="209007" y="1187903"/>
            <a:chExt cx="11899484" cy="5499218"/>
          </a:xfrm>
        </p:grpSpPr>
        <p:sp>
          <p:nvSpPr>
            <p:cNvPr id="24" name="Arrow: Up 23">
              <a:extLst>
                <a:ext uri="{FF2B5EF4-FFF2-40B4-BE49-F238E27FC236}">
                  <a16:creationId xmlns:a16="http://schemas.microsoft.com/office/drawing/2014/main" id="{04745A2D-DA96-5D54-B648-0192C7CB7A59}"/>
                </a:ext>
              </a:extLst>
            </p:cNvPr>
            <p:cNvSpPr/>
            <p:nvPr/>
          </p:nvSpPr>
          <p:spPr bwMode="auto">
            <a:xfrm>
              <a:off x="3975597" y="1896346"/>
              <a:ext cx="284356" cy="307219"/>
            </a:xfrm>
            <a:prstGeom prst="upArrow">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chemeClr val="bg1"/>
                </a:solidFill>
                <a:effectLst/>
                <a:uLnTx/>
                <a:uFillTx/>
                <a:latin typeface="Ubuntu"/>
                <a:ea typeface="ＭＳ Ｐゴシック" charset="0"/>
                <a:cs typeface="+mn-cs"/>
              </a:endParaRPr>
            </a:p>
          </p:txBody>
        </p:sp>
        <p:sp>
          <p:nvSpPr>
            <p:cNvPr id="2" name="TextBox 89">
              <a:extLst>
                <a:ext uri="{FF2B5EF4-FFF2-40B4-BE49-F238E27FC236}">
                  <a16:creationId xmlns:a16="http://schemas.microsoft.com/office/drawing/2014/main" id="{2D7F99D0-C7E4-78E4-77D3-1CCC7B057427}"/>
                </a:ext>
              </a:extLst>
            </p:cNvPr>
            <p:cNvSpPr txBox="1"/>
            <p:nvPr/>
          </p:nvSpPr>
          <p:spPr>
            <a:xfrm>
              <a:off x="7055385" y="4142166"/>
              <a:ext cx="2188199" cy="503590"/>
            </a:xfrm>
            <a:prstGeom prst="rect">
              <a:avLst/>
            </a:prstGeom>
            <a:noFill/>
          </p:spPr>
          <p:txBody>
            <a:bodyPr wrap="square" lIns="36000" tIns="36000" rIns="36000" bIns="36000" rtlCol="0" anchor="t">
              <a:spAutoFit/>
            </a:bodyPr>
            <a:lstStyle/>
            <a:p>
              <a:pPr lvl="0" algn="ctr" defTabSz="914400">
                <a:defRPr/>
              </a:pPr>
              <a:r>
                <a:rPr kumimoji="0" lang="en-US" sz="1400" b="1" i="0" u="none" strike="noStrike" kern="1200" cap="none" spc="0" normalizeH="0" baseline="0" noProof="0">
                  <a:ln>
                    <a:noFill/>
                  </a:ln>
                  <a:solidFill>
                    <a:schemeClr val="bg1"/>
                  </a:solidFill>
                  <a:effectLst/>
                  <a:uLnTx/>
                  <a:uFillTx/>
                  <a:latin typeface="Ubuntu"/>
                  <a:ea typeface="Verdana" panose="020B0604030504040204" pitchFamily="34" charset="0"/>
                  <a:cs typeface="Arial" pitchFamily="34" charset="0"/>
                </a:rPr>
                <a:t>Target State Cost &amp; Benefit Estimation</a:t>
              </a:r>
            </a:p>
          </p:txBody>
        </p:sp>
        <p:sp>
          <p:nvSpPr>
            <p:cNvPr id="3" name="TextBox 2">
              <a:extLst>
                <a:ext uri="{FF2B5EF4-FFF2-40B4-BE49-F238E27FC236}">
                  <a16:creationId xmlns:a16="http://schemas.microsoft.com/office/drawing/2014/main" id="{D67EB002-354D-8B7F-B801-5A4F4487442F}"/>
                </a:ext>
              </a:extLst>
            </p:cNvPr>
            <p:cNvSpPr txBox="1"/>
            <p:nvPr/>
          </p:nvSpPr>
          <p:spPr>
            <a:xfrm>
              <a:off x="4194485" y="4153876"/>
              <a:ext cx="2455270" cy="503590"/>
            </a:xfrm>
            <a:prstGeom prst="rect">
              <a:avLst/>
            </a:prstGeom>
            <a:noFill/>
          </p:spPr>
          <p:txBody>
            <a:bodyPr wrap="square" lIns="36000" tIns="36000" rIns="3600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a:ea typeface="Verdana" panose="020B0604030504040204" pitchFamily="34" charset="0"/>
                  <a:cs typeface="Arial" pitchFamily="34" charset="0"/>
                </a:rPr>
                <a:t>Estimated Transformation Cost</a:t>
              </a:r>
            </a:p>
          </p:txBody>
        </p:sp>
        <p:sp>
          <p:nvSpPr>
            <p:cNvPr id="4" name="Ellipse 89">
              <a:extLst>
                <a:ext uri="{FF2B5EF4-FFF2-40B4-BE49-F238E27FC236}">
                  <a16:creationId xmlns:a16="http://schemas.microsoft.com/office/drawing/2014/main" id="{6657AA1E-D28E-2908-17A8-E380D6F21AB6}"/>
                </a:ext>
              </a:extLst>
            </p:cNvPr>
            <p:cNvSpPr/>
            <p:nvPr/>
          </p:nvSpPr>
          <p:spPr>
            <a:xfrm>
              <a:off x="6830514" y="4201002"/>
              <a:ext cx="376563" cy="263249"/>
            </a:xfrm>
            <a:prstGeom prst="ellipse">
              <a:avLst/>
            </a:prstGeom>
            <a:solidFill>
              <a:schemeClr val="accent1"/>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chemeClr val="bg1"/>
                  </a:solidFill>
                  <a:effectLst/>
                  <a:uLnTx/>
                  <a:uFillTx/>
                  <a:latin typeface="Ubuntu"/>
                  <a:ea typeface="ＭＳ Ｐゴシック"/>
                  <a:cs typeface="+mn-cs"/>
                </a:rPr>
                <a:t>3</a:t>
              </a:r>
            </a:p>
          </p:txBody>
        </p:sp>
        <p:sp>
          <p:nvSpPr>
            <p:cNvPr id="5" name="TextBox 87">
              <a:extLst>
                <a:ext uri="{FF2B5EF4-FFF2-40B4-BE49-F238E27FC236}">
                  <a16:creationId xmlns:a16="http://schemas.microsoft.com/office/drawing/2014/main" id="{FFEC1178-EE7A-BDF3-A4DD-CE2BCC21B003}"/>
                </a:ext>
              </a:extLst>
            </p:cNvPr>
            <p:cNvSpPr txBox="1"/>
            <p:nvPr/>
          </p:nvSpPr>
          <p:spPr>
            <a:xfrm>
              <a:off x="9997106" y="4160572"/>
              <a:ext cx="1694534" cy="503590"/>
            </a:xfrm>
            <a:prstGeom prst="rect">
              <a:avLst/>
            </a:prstGeom>
            <a:noFill/>
          </p:spPr>
          <p:txBody>
            <a:bodyPr wrap="square" lIns="36000" tIns="36000" rIns="3600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a:ea typeface="Verdana" panose="020B0604030504040204" pitchFamily="34" charset="0"/>
                  <a:cs typeface="Arial" pitchFamily="34" charset="0"/>
                </a:rPr>
                <a:t>Summary of Cost Benefits</a:t>
              </a:r>
            </a:p>
          </p:txBody>
        </p:sp>
        <p:sp>
          <p:nvSpPr>
            <p:cNvPr id="6" name="Ellipse 94">
              <a:extLst>
                <a:ext uri="{FF2B5EF4-FFF2-40B4-BE49-F238E27FC236}">
                  <a16:creationId xmlns:a16="http://schemas.microsoft.com/office/drawing/2014/main" id="{073F408D-72C6-2071-F914-D1B0F71C4290}"/>
                </a:ext>
              </a:extLst>
            </p:cNvPr>
            <p:cNvSpPr/>
            <p:nvPr/>
          </p:nvSpPr>
          <p:spPr>
            <a:xfrm>
              <a:off x="9627329" y="4201002"/>
              <a:ext cx="374971" cy="263249"/>
            </a:xfrm>
            <a:prstGeom prst="ellipse">
              <a:avLst/>
            </a:prstGeom>
            <a:solidFill>
              <a:schemeClr val="accent1"/>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chemeClr val="bg1"/>
                  </a:solidFill>
                  <a:effectLst/>
                  <a:uLnTx/>
                  <a:uFillTx/>
                  <a:latin typeface="Ubuntu"/>
                  <a:ea typeface="ＭＳ Ｐゴシック"/>
                  <a:cs typeface="+mn-cs"/>
                </a:rPr>
                <a:t>4</a:t>
              </a:r>
            </a:p>
          </p:txBody>
        </p:sp>
        <p:sp>
          <p:nvSpPr>
            <p:cNvPr id="7" name="TextBox 81">
              <a:extLst>
                <a:ext uri="{FF2B5EF4-FFF2-40B4-BE49-F238E27FC236}">
                  <a16:creationId xmlns:a16="http://schemas.microsoft.com/office/drawing/2014/main" id="{9410B4C3-4A10-B7DF-3B57-52B4CE5390A0}"/>
                </a:ext>
              </a:extLst>
            </p:cNvPr>
            <p:cNvSpPr txBox="1"/>
            <p:nvPr/>
          </p:nvSpPr>
          <p:spPr>
            <a:xfrm>
              <a:off x="1691805" y="4153876"/>
              <a:ext cx="1751435" cy="672867"/>
            </a:xfrm>
            <a:prstGeom prst="rect">
              <a:avLst/>
            </a:prstGeom>
            <a:noFill/>
          </p:spPr>
          <p:txBody>
            <a:bodyPr wrap="square" lIns="36000" tIns="36000" rIns="36000" bIns="36000" rtlCol="0" anchor="t">
              <a:spAutoFit/>
            </a:bodyPr>
            <a:lstStyle/>
            <a:p>
              <a:pPr algn="ctr" defTabSz="914400">
                <a:defRPr/>
              </a:pPr>
              <a:r>
                <a:rPr lang="en-US" sz="1400" b="1" noProof="0">
                  <a:solidFill>
                    <a:schemeClr val="bg1"/>
                  </a:solidFill>
                  <a:latin typeface="Ubuntu"/>
                  <a:ea typeface="Verdana" panose="020B0604030504040204" pitchFamily="34" charset="0"/>
                  <a:cs typeface="Arial" pitchFamily="34" charset="0"/>
                </a:rPr>
                <a:t>+Móvil’s </a:t>
              </a:r>
              <a:r>
                <a:rPr kumimoji="0" lang="en-US" sz="1400" b="1" i="0" u="none" strike="noStrike" kern="1200" cap="none" spc="0" normalizeH="0" baseline="0" noProof="0">
                  <a:ln>
                    <a:noFill/>
                  </a:ln>
                  <a:solidFill>
                    <a:schemeClr val="bg1"/>
                  </a:solidFill>
                  <a:effectLst/>
                  <a:uLnTx/>
                  <a:uFillTx/>
                  <a:latin typeface="Ubuntu"/>
                  <a:ea typeface="Verdana" panose="020B0604030504040204" pitchFamily="34" charset="0"/>
                  <a:cs typeface="Arial" pitchFamily="34" charset="0"/>
                </a:rPr>
                <a:t>Current State Cost </a:t>
              </a:r>
            </a:p>
            <a:p>
              <a:pPr algn="ctr" defTabSz="914400">
                <a:defRPr/>
              </a:pPr>
              <a:r>
                <a:rPr kumimoji="0" lang="en-US" sz="1100" b="0" i="1" u="none" strike="noStrike" kern="1200" cap="none" spc="0" normalizeH="0" baseline="0" noProof="0">
                  <a:ln>
                    <a:noFill/>
                  </a:ln>
                  <a:solidFill>
                    <a:schemeClr val="bg1"/>
                  </a:solidFill>
                  <a:effectLst/>
                  <a:uLnTx/>
                  <a:uFillTx/>
                  <a:latin typeface="Ubuntu"/>
                  <a:ea typeface="Verdana" panose="020B0604030504040204" pitchFamily="34" charset="0"/>
                  <a:cs typeface="Arial" pitchFamily="34" charset="0"/>
                </a:rPr>
                <a:t>(Baseline Costs)</a:t>
              </a:r>
              <a:endParaRPr kumimoji="0" lang="en-US" sz="1400" b="0" i="1" u="none" strike="noStrike" kern="1200" cap="none" spc="0" normalizeH="0" baseline="0" noProof="0">
                <a:ln>
                  <a:noFill/>
                </a:ln>
                <a:solidFill>
                  <a:schemeClr val="bg1"/>
                </a:solidFill>
                <a:effectLst/>
                <a:uLnTx/>
                <a:uFillTx/>
                <a:latin typeface="Ubuntu"/>
                <a:ea typeface="Verdana" panose="020B0604030504040204" pitchFamily="34" charset="0"/>
                <a:cs typeface="Arial" pitchFamily="34" charset="0"/>
              </a:endParaRPr>
            </a:p>
          </p:txBody>
        </p:sp>
        <p:sp>
          <p:nvSpPr>
            <p:cNvPr id="8" name="Ellipse 96">
              <a:extLst>
                <a:ext uri="{FF2B5EF4-FFF2-40B4-BE49-F238E27FC236}">
                  <a16:creationId xmlns:a16="http://schemas.microsoft.com/office/drawing/2014/main" id="{8E6A3F38-1D60-FD6C-6113-762B2CEEB586}"/>
                </a:ext>
              </a:extLst>
            </p:cNvPr>
            <p:cNvSpPr/>
            <p:nvPr/>
          </p:nvSpPr>
          <p:spPr>
            <a:xfrm>
              <a:off x="1391007" y="4192084"/>
              <a:ext cx="376563" cy="263249"/>
            </a:xfrm>
            <a:prstGeom prst="ellipse">
              <a:avLst/>
            </a:prstGeom>
            <a:solidFill>
              <a:schemeClr val="accent1"/>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chemeClr val="bg1"/>
                  </a:solidFill>
                  <a:effectLst/>
                  <a:uLnTx/>
                  <a:uFillTx/>
                  <a:latin typeface="Ubuntu"/>
                  <a:ea typeface="ＭＳ Ｐゴシック"/>
                  <a:cs typeface="+mn-cs"/>
                </a:rPr>
                <a:t>1</a:t>
              </a:r>
            </a:p>
          </p:txBody>
        </p:sp>
        <p:sp>
          <p:nvSpPr>
            <p:cNvPr id="9" name="Rectangle 8">
              <a:extLst>
                <a:ext uri="{FF2B5EF4-FFF2-40B4-BE49-F238E27FC236}">
                  <a16:creationId xmlns:a16="http://schemas.microsoft.com/office/drawing/2014/main" id="{84A4300C-178C-D0FE-82EB-91D2444CC05F}"/>
                </a:ext>
              </a:extLst>
            </p:cNvPr>
            <p:cNvSpPr/>
            <p:nvPr/>
          </p:nvSpPr>
          <p:spPr>
            <a:xfrm>
              <a:off x="1610459" y="3125648"/>
              <a:ext cx="1694534" cy="193808"/>
            </a:xfrm>
            <a:prstGeom prst="rect">
              <a:avLst/>
            </a:prstGeom>
            <a:solidFill>
              <a:schemeClr val="accent1"/>
            </a:solid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0" noProof="0">
                  <a:solidFill>
                    <a:schemeClr val="bg1"/>
                  </a:solidFill>
                  <a:latin typeface="Ubuntu"/>
                  <a:ea typeface="ＭＳ Ｐゴシック"/>
                </a:rPr>
                <a:t>As-Is </a:t>
              </a:r>
              <a:r>
                <a:rPr kumimoji="0" lang="en-US" sz="800" b="0" i="0" u="none" strike="noStrike" kern="0" cap="none" spc="0" normalizeH="0" baseline="0" noProof="0">
                  <a:ln>
                    <a:noFill/>
                  </a:ln>
                  <a:solidFill>
                    <a:schemeClr val="bg1"/>
                  </a:solidFill>
                  <a:effectLst/>
                  <a:uLnTx/>
                  <a:uFillTx/>
                  <a:latin typeface="Ubuntu"/>
                  <a:ea typeface="ＭＳ Ｐゴシック"/>
                  <a:cs typeface="+mn-cs"/>
                </a:rPr>
                <a:t>License Costs</a:t>
              </a:r>
            </a:p>
          </p:txBody>
        </p:sp>
        <p:sp>
          <p:nvSpPr>
            <p:cNvPr id="10" name="Rectangle 9">
              <a:extLst>
                <a:ext uri="{FF2B5EF4-FFF2-40B4-BE49-F238E27FC236}">
                  <a16:creationId xmlns:a16="http://schemas.microsoft.com/office/drawing/2014/main" id="{9FD64F96-47AE-F007-B787-9DC6BC958EB9}"/>
                </a:ext>
              </a:extLst>
            </p:cNvPr>
            <p:cNvSpPr/>
            <p:nvPr/>
          </p:nvSpPr>
          <p:spPr>
            <a:xfrm>
              <a:off x="1610458" y="3535964"/>
              <a:ext cx="1694534" cy="528655"/>
            </a:xfrm>
            <a:prstGeom prst="rect">
              <a:avLst/>
            </a:prstGeom>
            <a:solidFill>
              <a:schemeClr val="accent2">
                <a:lumMod val="60000"/>
                <a:lumOff val="40000"/>
              </a:schemeClr>
            </a:solidFill>
            <a:ln w="25400" cap="flat" cmpd="sng" algn="ctr">
              <a:noFill/>
              <a:prstDash val="solid"/>
            </a:ln>
            <a:effectLst/>
          </p:spPr>
          <p:txBody>
            <a:bodyPr lIns="0" tIns="0" rIns="0" bIns="0" rtlCol="0" anchor="ctr">
              <a:noAutofit/>
            </a:bodyPr>
            <a:lstStyle/>
            <a:p>
              <a:pPr lvl="0" algn="ctr" defTabSz="914400">
                <a:defRPr/>
              </a:pPr>
              <a:r>
                <a:rPr lang="en-US" sz="800" kern="0" noProof="0">
                  <a:solidFill>
                    <a:schemeClr val="bg1"/>
                  </a:solidFill>
                  <a:ea typeface="ＭＳ Ｐゴシック"/>
                </a:rPr>
                <a:t>IT </a:t>
              </a:r>
              <a:r>
                <a:rPr kumimoji="0" lang="en-US" sz="800" b="0" i="0" u="none" strike="noStrike" kern="0" cap="none" spc="0" normalizeH="0" baseline="0" noProof="0">
                  <a:ln>
                    <a:noFill/>
                  </a:ln>
                  <a:solidFill>
                    <a:schemeClr val="bg1"/>
                  </a:solidFill>
                  <a:effectLst/>
                  <a:uLnTx/>
                  <a:uFillTx/>
                  <a:latin typeface="Ubuntu"/>
                  <a:ea typeface="ＭＳ Ｐゴシック"/>
                  <a:cs typeface="+mn-cs"/>
                </a:rPr>
                <a:t>Operations (People Costs) + AI Costs</a:t>
              </a:r>
            </a:p>
          </p:txBody>
        </p:sp>
        <p:sp>
          <p:nvSpPr>
            <p:cNvPr id="11" name="Rectangle 10">
              <a:extLst>
                <a:ext uri="{FF2B5EF4-FFF2-40B4-BE49-F238E27FC236}">
                  <a16:creationId xmlns:a16="http://schemas.microsoft.com/office/drawing/2014/main" id="{01582226-22AD-3BB8-422E-1FCA239093E8}"/>
                </a:ext>
              </a:extLst>
            </p:cNvPr>
            <p:cNvSpPr/>
            <p:nvPr/>
          </p:nvSpPr>
          <p:spPr>
            <a:xfrm>
              <a:off x="1610458" y="3326678"/>
              <a:ext cx="1694534" cy="202065"/>
            </a:xfrm>
            <a:prstGeom prst="rect">
              <a:avLst/>
            </a:prstGeom>
            <a:solidFill>
              <a:schemeClr val="accent2"/>
            </a:solidFill>
            <a:ln w="25400" cap="flat" cmpd="sng" algn="ctr">
              <a:noFill/>
              <a:prstDash val="solid"/>
            </a:ln>
            <a:effectLst/>
          </p:spPr>
          <p:txBody>
            <a:bodyPr lIns="0" tIns="0" rIns="0" bIns="0" rtlCol="0" anchor="ctr">
              <a:noAutofit/>
            </a:bodyPr>
            <a:lstStyle/>
            <a:p>
              <a:pPr lvl="0" algn="ctr" defTabSz="914400">
                <a:defRPr/>
              </a:pPr>
              <a:r>
                <a:rPr lang="en-US" sz="800" kern="0" noProof="0">
                  <a:solidFill>
                    <a:schemeClr val="bg1"/>
                  </a:solidFill>
                  <a:ea typeface="ＭＳ Ｐゴシック"/>
                </a:rPr>
                <a:t>As-Is</a:t>
              </a:r>
              <a:r>
                <a:rPr kumimoji="0" lang="en-US" sz="800" b="0" i="0" u="none" strike="noStrike" kern="0" cap="none" spc="0" normalizeH="0" baseline="0" noProof="0">
                  <a:ln>
                    <a:noFill/>
                  </a:ln>
                  <a:solidFill>
                    <a:schemeClr val="bg1"/>
                  </a:solidFill>
                  <a:effectLst/>
                  <a:uLnTx/>
                  <a:uFillTx/>
                  <a:latin typeface="Ubuntu"/>
                  <a:ea typeface="ＭＳ Ｐゴシック"/>
                  <a:cs typeface="+mn-cs"/>
                </a:rPr>
                <a:t> Infrastructure Costs</a:t>
              </a:r>
            </a:p>
          </p:txBody>
        </p:sp>
        <p:sp>
          <p:nvSpPr>
            <p:cNvPr id="12" name="Accolade ouvrante 106">
              <a:extLst>
                <a:ext uri="{FF2B5EF4-FFF2-40B4-BE49-F238E27FC236}">
                  <a16:creationId xmlns:a16="http://schemas.microsoft.com/office/drawing/2014/main" id="{02680295-0A38-6F63-CDAB-C8D4F19A57A4}"/>
                </a:ext>
              </a:extLst>
            </p:cNvPr>
            <p:cNvSpPr/>
            <p:nvPr/>
          </p:nvSpPr>
          <p:spPr>
            <a:xfrm>
              <a:off x="1379743" y="3144326"/>
              <a:ext cx="154215" cy="919296"/>
            </a:xfrm>
            <a:prstGeom prst="leftBrace">
              <a:avLst>
                <a:gd name="adj1" fmla="val 151572"/>
                <a:gd name="adj2" fmla="val 50000"/>
              </a:avLst>
            </a:prstGeom>
            <a:noFill/>
            <a:ln w="28575" cap="flat" cmpd="sng" algn="ctr">
              <a:solidFill>
                <a:srgbClr val="666366">
                  <a:shade val="95000"/>
                  <a:satMod val="10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Ubuntu"/>
                <a:ea typeface="ＭＳ Ｐゴシック"/>
                <a:cs typeface="+mn-cs"/>
              </a:endParaRPr>
            </a:p>
          </p:txBody>
        </p:sp>
        <p:sp>
          <p:nvSpPr>
            <p:cNvPr id="13" name="ZoneTexte 107">
              <a:extLst>
                <a:ext uri="{FF2B5EF4-FFF2-40B4-BE49-F238E27FC236}">
                  <a16:creationId xmlns:a16="http://schemas.microsoft.com/office/drawing/2014/main" id="{F8D207B3-1283-7A61-B360-175D79331015}"/>
                </a:ext>
              </a:extLst>
            </p:cNvPr>
            <p:cNvSpPr txBox="1"/>
            <p:nvPr/>
          </p:nvSpPr>
          <p:spPr>
            <a:xfrm>
              <a:off x="1043067" y="3457433"/>
              <a:ext cx="31290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solidFill>
                    <a:schemeClr val="bg1"/>
                  </a:solidFill>
                  <a:latin typeface="Ubuntu"/>
                  <a:ea typeface="ＭＳ Ｐゴシック"/>
                </a:rPr>
                <a:t>IT</a:t>
              </a:r>
              <a:endParaRPr kumimoji="0" lang="en-US" sz="1200" b="0" i="0" u="none" strike="noStrike" kern="1200" cap="none" spc="0" normalizeH="0" baseline="0" noProof="0">
                <a:ln>
                  <a:noFill/>
                </a:ln>
                <a:solidFill>
                  <a:schemeClr val="bg1"/>
                </a:solidFill>
                <a:effectLst/>
                <a:uLnTx/>
                <a:uFillTx/>
                <a:latin typeface="Ubuntu"/>
                <a:ea typeface="ＭＳ Ｐゴシック"/>
                <a:cs typeface="+mn-cs"/>
              </a:endParaRPr>
            </a:p>
          </p:txBody>
        </p:sp>
        <p:sp>
          <p:nvSpPr>
            <p:cNvPr id="16" name="Rectangle 15">
              <a:extLst>
                <a:ext uri="{FF2B5EF4-FFF2-40B4-BE49-F238E27FC236}">
                  <a16:creationId xmlns:a16="http://schemas.microsoft.com/office/drawing/2014/main" id="{C55A13CC-9D67-7328-598E-F87A66CFA50F}"/>
                </a:ext>
              </a:extLst>
            </p:cNvPr>
            <p:cNvSpPr/>
            <p:nvPr/>
          </p:nvSpPr>
          <p:spPr>
            <a:xfrm>
              <a:off x="10173019" y="3048110"/>
              <a:ext cx="1694534" cy="544334"/>
            </a:xfrm>
            <a:prstGeom prst="rect">
              <a:avLst/>
            </a:prstGeom>
            <a:pattFill prst="dkDnDiag">
              <a:fgClr>
                <a:srgbClr val="BD4709"/>
              </a:fgClr>
              <a:bgClr>
                <a:srgbClr val="272936"/>
              </a:bgClr>
            </a:patt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1"/>
                  </a:solidFill>
                  <a:effectLst/>
                  <a:uLnTx/>
                  <a:uFillTx/>
                  <a:latin typeface="Ubuntu"/>
                  <a:ea typeface="ＭＳ Ｐゴシック"/>
                  <a:cs typeface="+mn-cs"/>
                </a:rPr>
                <a:t>Operations (Productivity Improvement)</a:t>
              </a:r>
            </a:p>
          </p:txBody>
        </p:sp>
        <p:sp>
          <p:nvSpPr>
            <p:cNvPr id="17" name="Rectangle 16">
              <a:extLst>
                <a:ext uri="{FF2B5EF4-FFF2-40B4-BE49-F238E27FC236}">
                  <a16:creationId xmlns:a16="http://schemas.microsoft.com/office/drawing/2014/main" id="{3EF4C61A-75A2-38B1-FA8B-A0D909B09573}"/>
                </a:ext>
              </a:extLst>
            </p:cNvPr>
            <p:cNvSpPr/>
            <p:nvPr/>
          </p:nvSpPr>
          <p:spPr>
            <a:xfrm>
              <a:off x="10173019" y="3715973"/>
              <a:ext cx="1694534" cy="80087"/>
            </a:xfrm>
            <a:prstGeom prst="rect">
              <a:avLst/>
            </a:prstGeom>
            <a:pattFill prst="dkDnDiag">
              <a:fgClr>
                <a:srgbClr val="BD4709"/>
              </a:fgClr>
              <a:bgClr>
                <a:srgbClr val="272936"/>
              </a:bgClr>
            </a:patt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1"/>
                  </a:solidFill>
                  <a:effectLst/>
                  <a:uLnTx/>
                  <a:uFillTx/>
                  <a:latin typeface="Ubuntu"/>
                  <a:ea typeface="ＭＳ Ｐゴシック"/>
                  <a:cs typeface="+mn-cs"/>
                </a:rPr>
                <a:t>Infrastructure Cost Reduction</a:t>
              </a:r>
            </a:p>
          </p:txBody>
        </p:sp>
        <p:sp>
          <p:nvSpPr>
            <p:cNvPr id="18" name="Rectangle 17">
              <a:extLst>
                <a:ext uri="{FF2B5EF4-FFF2-40B4-BE49-F238E27FC236}">
                  <a16:creationId xmlns:a16="http://schemas.microsoft.com/office/drawing/2014/main" id="{81F2FCED-7405-F89A-09EA-20B64C470915}"/>
                </a:ext>
              </a:extLst>
            </p:cNvPr>
            <p:cNvSpPr/>
            <p:nvPr/>
          </p:nvSpPr>
          <p:spPr>
            <a:xfrm>
              <a:off x="10173019" y="3608163"/>
              <a:ext cx="1694534" cy="92090"/>
            </a:xfrm>
            <a:prstGeom prst="rect">
              <a:avLst/>
            </a:prstGeom>
            <a:pattFill prst="dkDnDiag">
              <a:fgClr>
                <a:srgbClr val="BD4709"/>
              </a:fgClr>
              <a:bgClr>
                <a:srgbClr val="272936"/>
              </a:bgClr>
            </a:patt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1"/>
                  </a:solidFill>
                  <a:effectLst/>
                  <a:uLnTx/>
                  <a:uFillTx/>
                  <a:latin typeface="Ubuntu"/>
                  <a:ea typeface="ＭＳ Ｐゴシック"/>
                  <a:cs typeface="+mn-cs"/>
                </a:rPr>
                <a:t>License Cost Reduction</a:t>
              </a:r>
            </a:p>
          </p:txBody>
        </p:sp>
        <p:sp>
          <p:nvSpPr>
            <p:cNvPr id="19" name="Rectangle 18">
              <a:extLst>
                <a:ext uri="{FF2B5EF4-FFF2-40B4-BE49-F238E27FC236}">
                  <a16:creationId xmlns:a16="http://schemas.microsoft.com/office/drawing/2014/main" id="{F30E93CC-5317-1DC3-4072-0CB01EC453CC}"/>
                </a:ext>
              </a:extLst>
            </p:cNvPr>
            <p:cNvSpPr/>
            <p:nvPr/>
          </p:nvSpPr>
          <p:spPr>
            <a:xfrm>
              <a:off x="10173019" y="3811780"/>
              <a:ext cx="1694534" cy="259933"/>
            </a:xfrm>
            <a:prstGeom prst="rect">
              <a:avLst/>
            </a:prstGeom>
            <a:pattFill prst="dkDnDiag">
              <a:fgClr>
                <a:srgbClr val="BD4709"/>
              </a:fgClr>
              <a:bgClr>
                <a:srgbClr val="272936"/>
              </a:bgClr>
            </a:patt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1"/>
                  </a:solidFill>
                  <a:effectLst/>
                  <a:uLnTx/>
                  <a:uFillTx/>
                  <a:latin typeface="Ubuntu"/>
                  <a:ea typeface="ＭＳ Ｐゴシック"/>
                  <a:cs typeface="+mn-cs"/>
                </a:rPr>
                <a:t>IT  Operations (IT People Cost Reduction)</a:t>
              </a:r>
            </a:p>
          </p:txBody>
        </p:sp>
        <p:cxnSp>
          <p:nvCxnSpPr>
            <p:cNvPr id="20" name="Straight Connector 19">
              <a:extLst>
                <a:ext uri="{FF2B5EF4-FFF2-40B4-BE49-F238E27FC236}">
                  <a16:creationId xmlns:a16="http://schemas.microsoft.com/office/drawing/2014/main" id="{B9943278-D12D-BC9E-5EE5-60E9DC45DEE5}"/>
                </a:ext>
              </a:extLst>
            </p:cNvPr>
            <p:cNvCxnSpPr>
              <a:cxnSpLocks/>
            </p:cNvCxnSpPr>
            <p:nvPr/>
          </p:nvCxnSpPr>
          <p:spPr bwMode="auto">
            <a:xfrm>
              <a:off x="3304991" y="3529390"/>
              <a:ext cx="3846562" cy="501"/>
            </a:xfrm>
            <a:prstGeom prst="line">
              <a:avLst/>
            </a:prstGeom>
            <a:solidFill>
              <a:srgbClr val="666366"/>
            </a:solidFill>
            <a:ln w="9525" cap="flat" cmpd="sng" algn="ctr">
              <a:solidFill>
                <a:srgbClr val="FFFFFF">
                  <a:lumMod val="50000"/>
                </a:srgbClr>
              </a:solidFill>
              <a:prstDash val="dash"/>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1" name="Straight Connector 20">
              <a:extLst>
                <a:ext uri="{FF2B5EF4-FFF2-40B4-BE49-F238E27FC236}">
                  <a16:creationId xmlns:a16="http://schemas.microsoft.com/office/drawing/2014/main" id="{B4A5E334-CE40-3302-7831-48EAD16574C8}"/>
                </a:ext>
              </a:extLst>
            </p:cNvPr>
            <p:cNvCxnSpPr>
              <a:cxnSpLocks/>
            </p:cNvCxnSpPr>
            <p:nvPr/>
          </p:nvCxnSpPr>
          <p:spPr bwMode="auto">
            <a:xfrm>
              <a:off x="3304992" y="3115255"/>
              <a:ext cx="3849715" cy="3849"/>
            </a:xfrm>
            <a:prstGeom prst="line">
              <a:avLst/>
            </a:prstGeom>
            <a:solidFill>
              <a:srgbClr val="666366"/>
            </a:solidFill>
            <a:ln w="9525" cap="flat" cmpd="sng" algn="ctr">
              <a:solidFill>
                <a:srgbClr val="FFFFFF">
                  <a:lumMod val="50000"/>
                </a:srgbClr>
              </a:solidFill>
              <a:prstDash val="dash"/>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2" name="Straight Connector 21">
              <a:extLst>
                <a:ext uri="{FF2B5EF4-FFF2-40B4-BE49-F238E27FC236}">
                  <a16:creationId xmlns:a16="http://schemas.microsoft.com/office/drawing/2014/main" id="{E258D176-A169-9826-EF81-AF8F75B83CB5}"/>
                </a:ext>
              </a:extLst>
            </p:cNvPr>
            <p:cNvCxnSpPr>
              <a:cxnSpLocks/>
            </p:cNvCxnSpPr>
            <p:nvPr/>
          </p:nvCxnSpPr>
          <p:spPr bwMode="auto">
            <a:xfrm>
              <a:off x="3304991" y="3318931"/>
              <a:ext cx="3840944" cy="13927"/>
            </a:xfrm>
            <a:prstGeom prst="line">
              <a:avLst/>
            </a:prstGeom>
            <a:solidFill>
              <a:srgbClr val="666366"/>
            </a:solidFill>
            <a:ln w="9525" cap="flat" cmpd="sng" algn="ctr">
              <a:solidFill>
                <a:srgbClr val="FFFFFF">
                  <a:lumMod val="50000"/>
                </a:srgbClr>
              </a:solidFill>
              <a:prstDash val="dash"/>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3" name="Straight Connector 22">
              <a:extLst>
                <a:ext uri="{FF2B5EF4-FFF2-40B4-BE49-F238E27FC236}">
                  <a16:creationId xmlns:a16="http://schemas.microsoft.com/office/drawing/2014/main" id="{A30571DD-2A83-BF25-72D2-541A29F3A541}"/>
                </a:ext>
              </a:extLst>
            </p:cNvPr>
            <p:cNvCxnSpPr>
              <a:cxnSpLocks/>
            </p:cNvCxnSpPr>
            <p:nvPr/>
          </p:nvCxnSpPr>
          <p:spPr bwMode="auto">
            <a:xfrm>
              <a:off x="612932" y="4068735"/>
              <a:ext cx="11448000" cy="0"/>
            </a:xfrm>
            <a:prstGeom prst="line">
              <a:avLst/>
            </a:prstGeom>
            <a:solidFill>
              <a:srgbClr val="666366"/>
            </a:solidFill>
            <a:ln w="9525" cap="flat" cmpd="sng" algn="ctr">
              <a:solidFill>
                <a:srgbClr val="C2BFBD">
                  <a:lumMod val="75000"/>
                </a:srgbClr>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nvGrpSpPr>
            <p:cNvPr id="76" name="Group 75">
              <a:extLst>
                <a:ext uri="{FF2B5EF4-FFF2-40B4-BE49-F238E27FC236}">
                  <a16:creationId xmlns:a16="http://schemas.microsoft.com/office/drawing/2014/main" id="{11D7473A-AB1D-4E54-4BF2-3F0F4F905D2D}"/>
                </a:ext>
              </a:extLst>
            </p:cNvPr>
            <p:cNvGrpSpPr/>
            <p:nvPr/>
          </p:nvGrpSpPr>
          <p:grpSpPr>
            <a:xfrm>
              <a:off x="4357214" y="1187903"/>
              <a:ext cx="1694534" cy="1103646"/>
              <a:chOff x="4357214" y="1187902"/>
              <a:chExt cx="1694534" cy="1316169"/>
            </a:xfrm>
          </p:grpSpPr>
          <p:sp>
            <p:nvSpPr>
              <p:cNvPr id="36" name="Rectangle 35">
                <a:extLst>
                  <a:ext uri="{FF2B5EF4-FFF2-40B4-BE49-F238E27FC236}">
                    <a16:creationId xmlns:a16="http://schemas.microsoft.com/office/drawing/2014/main" id="{1D8885E7-9AD9-3373-9773-5B6CFDA7676D}"/>
                  </a:ext>
                </a:extLst>
              </p:cNvPr>
              <p:cNvSpPr/>
              <p:nvPr/>
            </p:nvSpPr>
            <p:spPr bwMode="auto">
              <a:xfrm>
                <a:off x="4357214" y="2169558"/>
                <a:ext cx="1694534" cy="334513"/>
              </a:xfrm>
              <a:prstGeom prst="rect">
                <a:avLst/>
              </a:prstGeom>
              <a:solidFill>
                <a:srgbClr val="FF8E12">
                  <a:alpha val="62000"/>
                </a:srgbClr>
              </a:solidFill>
              <a:ln w="25400" cap="flat" cmpd="sng" algn="ctr">
                <a:noFill/>
                <a:prstDash val="soli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Ubuntu"/>
                    <a:ea typeface="ＭＳ Ｐゴシック"/>
                    <a:cs typeface="+mn-cs"/>
                  </a:rPr>
                  <a:t>Other One-time Costs</a:t>
                </a:r>
              </a:p>
            </p:txBody>
          </p:sp>
          <p:sp>
            <p:nvSpPr>
              <p:cNvPr id="41" name="Rectangle 40">
                <a:extLst>
                  <a:ext uri="{FF2B5EF4-FFF2-40B4-BE49-F238E27FC236}">
                    <a16:creationId xmlns:a16="http://schemas.microsoft.com/office/drawing/2014/main" id="{77B701A0-EC69-A54C-A69D-0096A8EFA0F0}"/>
                  </a:ext>
                </a:extLst>
              </p:cNvPr>
              <p:cNvSpPr/>
              <p:nvPr/>
            </p:nvSpPr>
            <p:spPr bwMode="auto">
              <a:xfrm>
                <a:off x="4357214" y="1813074"/>
                <a:ext cx="1694534" cy="159202"/>
              </a:xfrm>
              <a:prstGeom prst="rect">
                <a:avLst/>
              </a:prstGeom>
              <a:solidFill>
                <a:srgbClr val="FF8E12">
                  <a:alpha val="62000"/>
                </a:srgbClr>
              </a:solidFill>
              <a:ln w="25400" cap="flat" cmpd="sng" algn="ctr">
                <a:noFill/>
                <a:prstDash val="soli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Ubuntu"/>
                    <a:ea typeface="ＭＳ Ｐゴシック"/>
                    <a:cs typeface="+mn-cs"/>
                  </a:rPr>
                  <a:t>Training Costs</a:t>
                </a:r>
              </a:p>
            </p:txBody>
          </p:sp>
          <p:sp>
            <p:nvSpPr>
              <p:cNvPr id="14" name="Rectangle 13">
                <a:extLst>
                  <a:ext uri="{FF2B5EF4-FFF2-40B4-BE49-F238E27FC236}">
                    <a16:creationId xmlns:a16="http://schemas.microsoft.com/office/drawing/2014/main" id="{8BC6A1DE-A569-5B6E-BF03-60565D4D9788}"/>
                  </a:ext>
                </a:extLst>
              </p:cNvPr>
              <p:cNvSpPr/>
              <p:nvPr/>
            </p:nvSpPr>
            <p:spPr bwMode="auto">
              <a:xfrm>
                <a:off x="4357214" y="1364399"/>
                <a:ext cx="1694534" cy="429634"/>
              </a:xfrm>
              <a:prstGeom prst="rect">
                <a:avLst/>
              </a:prstGeom>
              <a:solidFill>
                <a:srgbClr val="FF8E12">
                  <a:alpha val="62000"/>
                </a:srgbClr>
              </a:solidFill>
              <a:ln w="25400" cap="flat" cmpd="sng" algn="ctr">
                <a:noFill/>
                <a:prstDash val="soli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Ubuntu"/>
                    <a:ea typeface="ＭＳ Ｐゴシック"/>
                    <a:cs typeface="+mn-cs"/>
                  </a:rPr>
                  <a:t>Implementation Costs</a:t>
                </a:r>
              </a:p>
            </p:txBody>
          </p:sp>
          <p:sp>
            <p:nvSpPr>
              <p:cNvPr id="15" name="Rectangle 14">
                <a:extLst>
                  <a:ext uri="{FF2B5EF4-FFF2-40B4-BE49-F238E27FC236}">
                    <a16:creationId xmlns:a16="http://schemas.microsoft.com/office/drawing/2014/main" id="{E8794313-668D-4837-CC5A-6EE8B05E4566}"/>
                  </a:ext>
                </a:extLst>
              </p:cNvPr>
              <p:cNvSpPr/>
              <p:nvPr/>
            </p:nvSpPr>
            <p:spPr bwMode="auto">
              <a:xfrm>
                <a:off x="4357214" y="1991316"/>
                <a:ext cx="1694534" cy="159202"/>
              </a:xfrm>
              <a:prstGeom prst="rect">
                <a:avLst/>
              </a:prstGeom>
              <a:solidFill>
                <a:srgbClr val="FF8E12">
                  <a:alpha val="62000"/>
                </a:srgbClr>
              </a:solidFill>
              <a:ln w="25400" cap="flat" cmpd="sng" algn="ctr">
                <a:noFill/>
                <a:prstDash val="soli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Ubuntu"/>
                    <a:ea typeface="ＭＳ Ｐゴシック"/>
                    <a:cs typeface="+mn-cs"/>
                  </a:rPr>
                  <a:t>Dual Run Costs</a:t>
                </a:r>
              </a:p>
            </p:txBody>
          </p:sp>
          <p:sp>
            <p:nvSpPr>
              <p:cNvPr id="25" name="ZoneTexte 107">
                <a:extLst>
                  <a:ext uri="{FF2B5EF4-FFF2-40B4-BE49-F238E27FC236}">
                    <a16:creationId xmlns:a16="http://schemas.microsoft.com/office/drawing/2014/main" id="{0ACA14C6-DAD7-1693-EE60-B1122EE8BFC8}"/>
                  </a:ext>
                </a:extLst>
              </p:cNvPr>
              <p:cNvSpPr txBox="1"/>
              <p:nvPr/>
            </p:nvSpPr>
            <p:spPr>
              <a:xfrm>
                <a:off x="4381126" y="1187902"/>
                <a:ext cx="1580215" cy="178619"/>
              </a:xfrm>
              <a:prstGeom prst="rect">
                <a:avLst/>
              </a:prstGeom>
              <a:noFill/>
            </p:spPr>
            <p:txBody>
              <a:bodyPr wrap="square" lIns="0" tIns="0" rIns="0" bIns="0" rtlCol="0">
                <a:noAutofit/>
              </a:bodyPr>
              <a:lstStyle>
                <a:defPPr>
                  <a:defRPr lang="en-US"/>
                </a:defPPr>
                <a:lvl1pPr marR="0" lvl="0" indent="0" algn="ctr" fontAlgn="auto">
                  <a:lnSpc>
                    <a:spcPct val="100000"/>
                  </a:lnSpc>
                  <a:spcBef>
                    <a:spcPts val="0"/>
                  </a:spcBef>
                  <a:spcAft>
                    <a:spcPts val="0"/>
                  </a:spcAft>
                  <a:buClrTx/>
                  <a:buSzTx/>
                  <a:buFontTx/>
                  <a:buNone/>
                  <a:tabLst/>
                  <a:defRPr kumimoji="0" sz="1000" strike="noStrike" cap="none" spc="0" normalizeH="0">
                    <a:ln>
                      <a:noFill/>
                    </a:ln>
                    <a:solidFill>
                      <a:prstClr val="black"/>
                    </a:solidFill>
                    <a:effectLst/>
                    <a:uLnTx/>
                    <a:uFillTx/>
                    <a:latin typeface="Toyota Display"/>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0" cap="none" spc="0" normalizeH="0" baseline="0" noProof="0">
                    <a:ln>
                      <a:noFill/>
                    </a:ln>
                    <a:solidFill>
                      <a:schemeClr val="bg1"/>
                    </a:solidFill>
                    <a:effectLst/>
                    <a:uLnTx/>
                    <a:uFillTx/>
                    <a:latin typeface="Ubuntu"/>
                    <a:ea typeface="ＭＳ Ｐゴシック"/>
                    <a:cs typeface="+mn-cs"/>
                  </a:rPr>
                  <a:t>Project Investment</a:t>
                </a:r>
              </a:p>
            </p:txBody>
          </p:sp>
        </p:grpSp>
        <p:sp>
          <p:nvSpPr>
            <p:cNvPr id="26" name="Rectangle 25">
              <a:extLst>
                <a:ext uri="{FF2B5EF4-FFF2-40B4-BE49-F238E27FC236}">
                  <a16:creationId xmlns:a16="http://schemas.microsoft.com/office/drawing/2014/main" id="{3D7A9339-65A8-63BE-B7AF-4D2C77507CB3}"/>
                </a:ext>
              </a:extLst>
            </p:cNvPr>
            <p:cNvSpPr/>
            <p:nvPr/>
          </p:nvSpPr>
          <p:spPr>
            <a:xfrm>
              <a:off x="7154707" y="3802910"/>
              <a:ext cx="1694534" cy="261491"/>
            </a:xfrm>
            <a:prstGeom prst="rect">
              <a:avLst/>
            </a:prstGeom>
            <a:solidFill>
              <a:schemeClr val="accent2">
                <a:lumMod val="60000"/>
                <a:lumOff val="40000"/>
              </a:schemeClr>
            </a:solidFill>
            <a:ln w="25400" cap="flat" cmpd="sng" algn="ctr">
              <a:noFill/>
              <a:prstDash val="solid"/>
            </a:ln>
            <a:effectLst/>
          </p:spPr>
          <p:txBody>
            <a:bodyPr lIns="0" tIns="0" rIns="0" bIns="0" rtlCol="0" anchor="ctr">
              <a:noAutofit/>
            </a:bodyPr>
            <a:lstStyle/>
            <a:p>
              <a:pPr lvl="0" algn="ctr" defTabSz="914400">
                <a:defRPr/>
              </a:pPr>
              <a:r>
                <a:rPr kumimoji="0" lang="en-US" sz="800" b="0" i="0" u="none" strike="noStrike" kern="0" cap="none" spc="0" normalizeH="0" baseline="0" noProof="0">
                  <a:ln>
                    <a:noFill/>
                  </a:ln>
                  <a:solidFill>
                    <a:schemeClr val="bg1"/>
                  </a:solidFill>
                  <a:effectLst/>
                  <a:uLnTx/>
                  <a:uFillTx/>
                  <a:latin typeface="Ubuntu"/>
                  <a:ea typeface="ＭＳ Ｐゴシック"/>
                  <a:cs typeface="+mn-cs"/>
                </a:rPr>
                <a:t>To-Be IT Operations (People Costs)</a:t>
              </a:r>
              <a:r>
                <a:rPr lang="en-US" sz="800" kern="0" noProof="0">
                  <a:solidFill>
                    <a:schemeClr val="bg1"/>
                  </a:solidFill>
                  <a:ea typeface="ＭＳ Ｐゴシック"/>
                </a:rPr>
                <a:t> + AI Costs</a:t>
              </a:r>
              <a:endParaRPr kumimoji="0" lang="en-US" sz="800" b="0" i="0" u="none" strike="noStrike" kern="0" cap="none" spc="0" normalizeH="0" baseline="0" noProof="0">
                <a:ln>
                  <a:noFill/>
                </a:ln>
                <a:solidFill>
                  <a:schemeClr val="bg1"/>
                </a:solidFill>
                <a:effectLst/>
                <a:uLnTx/>
                <a:uFillTx/>
                <a:latin typeface="Ubuntu"/>
                <a:ea typeface="ＭＳ Ｐゴシック"/>
                <a:cs typeface="+mn-cs"/>
              </a:endParaRPr>
            </a:p>
          </p:txBody>
        </p:sp>
        <p:sp>
          <p:nvSpPr>
            <p:cNvPr id="27" name="Rectangle 26">
              <a:extLst>
                <a:ext uri="{FF2B5EF4-FFF2-40B4-BE49-F238E27FC236}">
                  <a16:creationId xmlns:a16="http://schemas.microsoft.com/office/drawing/2014/main" id="{00564219-91AC-F76F-3668-4FD43B68D4DC}"/>
                </a:ext>
              </a:extLst>
            </p:cNvPr>
            <p:cNvSpPr/>
            <p:nvPr/>
          </p:nvSpPr>
          <p:spPr>
            <a:xfrm>
              <a:off x="7154707" y="3227186"/>
              <a:ext cx="1694534" cy="105409"/>
            </a:xfrm>
            <a:prstGeom prst="rect">
              <a:avLst/>
            </a:prstGeom>
            <a:solidFill>
              <a:schemeClr val="accent1"/>
            </a:solid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0" noProof="0">
                  <a:solidFill>
                    <a:schemeClr val="bg1"/>
                  </a:solidFill>
                  <a:latin typeface="Ubuntu"/>
                  <a:ea typeface="ＭＳ Ｐゴシック"/>
                </a:rPr>
                <a:t>To-Be</a:t>
              </a:r>
              <a:r>
                <a:rPr kumimoji="0" lang="en-US" sz="800" b="0" i="0" u="none" strike="noStrike" kern="0" cap="none" spc="0" normalizeH="0" baseline="0" noProof="0">
                  <a:ln>
                    <a:noFill/>
                  </a:ln>
                  <a:solidFill>
                    <a:schemeClr val="bg1"/>
                  </a:solidFill>
                  <a:effectLst/>
                  <a:uLnTx/>
                  <a:uFillTx/>
                  <a:latin typeface="Ubuntu"/>
                  <a:ea typeface="ＭＳ Ｐゴシック"/>
                  <a:cs typeface="+mn-cs"/>
                </a:rPr>
                <a:t> License Costs</a:t>
              </a:r>
            </a:p>
          </p:txBody>
        </p:sp>
        <p:sp>
          <p:nvSpPr>
            <p:cNvPr id="28" name="Rectangle 27">
              <a:extLst>
                <a:ext uri="{FF2B5EF4-FFF2-40B4-BE49-F238E27FC236}">
                  <a16:creationId xmlns:a16="http://schemas.microsoft.com/office/drawing/2014/main" id="{5B1FB788-412F-442E-9A50-77CB6D577D69}"/>
                </a:ext>
              </a:extLst>
            </p:cNvPr>
            <p:cNvSpPr/>
            <p:nvPr/>
          </p:nvSpPr>
          <p:spPr>
            <a:xfrm>
              <a:off x="7154707" y="3425770"/>
              <a:ext cx="1694534" cy="104122"/>
            </a:xfrm>
            <a:prstGeom prst="rect">
              <a:avLst/>
            </a:prstGeom>
            <a:solidFill>
              <a:schemeClr val="accent2"/>
            </a:solid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0" noProof="0">
                  <a:solidFill>
                    <a:schemeClr val="bg1"/>
                  </a:solidFill>
                  <a:latin typeface="Ubuntu"/>
                  <a:ea typeface="ＭＳ Ｐゴシック"/>
                </a:rPr>
                <a:t>To-Be </a:t>
              </a:r>
              <a:r>
                <a:rPr kumimoji="0" lang="en-US" sz="800" b="0" i="0" u="none" strike="noStrike" kern="0" cap="none" spc="0" normalizeH="0" baseline="0" noProof="0">
                  <a:ln>
                    <a:noFill/>
                  </a:ln>
                  <a:solidFill>
                    <a:schemeClr val="bg1"/>
                  </a:solidFill>
                  <a:effectLst/>
                  <a:uLnTx/>
                  <a:uFillTx/>
                  <a:latin typeface="Ubuntu"/>
                  <a:ea typeface="ＭＳ Ｐゴシック"/>
                  <a:cs typeface="+mn-cs"/>
                </a:rPr>
                <a:t>Infrastructure Costs</a:t>
              </a:r>
            </a:p>
          </p:txBody>
        </p:sp>
        <p:sp>
          <p:nvSpPr>
            <p:cNvPr id="29" name="Rectangle 28">
              <a:extLst>
                <a:ext uri="{FF2B5EF4-FFF2-40B4-BE49-F238E27FC236}">
                  <a16:creationId xmlns:a16="http://schemas.microsoft.com/office/drawing/2014/main" id="{61BA285B-BC6C-333B-9731-BCC5B9D0B76E}"/>
                </a:ext>
              </a:extLst>
            </p:cNvPr>
            <p:cNvSpPr/>
            <p:nvPr/>
          </p:nvSpPr>
          <p:spPr>
            <a:xfrm>
              <a:off x="7154707" y="3339139"/>
              <a:ext cx="1694534" cy="80087"/>
            </a:xfrm>
            <a:prstGeom prst="rect">
              <a:avLst/>
            </a:prstGeom>
            <a:pattFill prst="dkDnDiag">
              <a:fgClr>
                <a:srgbClr val="BD4709"/>
              </a:fgClr>
              <a:bgClr>
                <a:srgbClr val="272936"/>
              </a:bgClr>
            </a:patt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1"/>
                  </a:solidFill>
                  <a:effectLst/>
                  <a:uLnTx/>
                  <a:uFillTx/>
                  <a:latin typeface="Ubuntu"/>
                  <a:ea typeface="ＭＳ Ｐゴシック"/>
                  <a:cs typeface="+mn-cs"/>
                </a:rPr>
                <a:t>Infrastructure Cost Reduction</a:t>
              </a:r>
            </a:p>
          </p:txBody>
        </p:sp>
        <p:sp>
          <p:nvSpPr>
            <p:cNvPr id="30" name="Rectangle 29">
              <a:extLst>
                <a:ext uri="{FF2B5EF4-FFF2-40B4-BE49-F238E27FC236}">
                  <a16:creationId xmlns:a16="http://schemas.microsoft.com/office/drawing/2014/main" id="{7D34D83B-8938-F6C3-36AE-0DF86B1B2DE7}"/>
                </a:ext>
              </a:extLst>
            </p:cNvPr>
            <p:cNvSpPr/>
            <p:nvPr/>
          </p:nvSpPr>
          <p:spPr>
            <a:xfrm>
              <a:off x="7154707" y="3128554"/>
              <a:ext cx="1694534" cy="92090"/>
            </a:xfrm>
            <a:prstGeom prst="rect">
              <a:avLst/>
            </a:prstGeom>
            <a:pattFill prst="dkDnDiag">
              <a:fgClr>
                <a:srgbClr val="BD4709"/>
              </a:fgClr>
              <a:bgClr>
                <a:srgbClr val="272936"/>
              </a:bgClr>
            </a:patt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1"/>
                  </a:solidFill>
                  <a:effectLst/>
                  <a:uLnTx/>
                  <a:uFillTx/>
                  <a:latin typeface="Ubuntu"/>
                  <a:ea typeface="ＭＳ Ｐゴシック"/>
                  <a:cs typeface="+mn-cs"/>
                </a:rPr>
                <a:t>License Cost Reduction</a:t>
              </a:r>
            </a:p>
          </p:txBody>
        </p:sp>
        <p:sp>
          <p:nvSpPr>
            <p:cNvPr id="31" name="Rectangle 30">
              <a:extLst>
                <a:ext uri="{FF2B5EF4-FFF2-40B4-BE49-F238E27FC236}">
                  <a16:creationId xmlns:a16="http://schemas.microsoft.com/office/drawing/2014/main" id="{71D2EB94-F388-2DC4-1514-4CF22BFE376A}"/>
                </a:ext>
              </a:extLst>
            </p:cNvPr>
            <p:cNvSpPr/>
            <p:nvPr/>
          </p:nvSpPr>
          <p:spPr>
            <a:xfrm>
              <a:off x="7154707" y="3536435"/>
              <a:ext cx="1694534" cy="259933"/>
            </a:xfrm>
            <a:prstGeom prst="rect">
              <a:avLst/>
            </a:prstGeom>
            <a:pattFill prst="dkDnDiag">
              <a:fgClr>
                <a:srgbClr val="BD4709"/>
              </a:fgClr>
              <a:bgClr>
                <a:srgbClr val="272936"/>
              </a:bgClr>
            </a:patt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0" noProof="0">
                  <a:solidFill>
                    <a:schemeClr val="bg1"/>
                  </a:solidFill>
                  <a:latin typeface="Ubuntu"/>
                  <a:ea typeface="ＭＳ Ｐゴシック"/>
                </a:rPr>
                <a:t>IT </a:t>
              </a:r>
              <a:r>
                <a:rPr kumimoji="0" lang="en-US" sz="800" b="0" i="0" u="none" strike="noStrike" kern="0" cap="none" spc="0" normalizeH="0" baseline="0" noProof="0">
                  <a:ln>
                    <a:noFill/>
                  </a:ln>
                  <a:solidFill>
                    <a:schemeClr val="bg1"/>
                  </a:solidFill>
                  <a:effectLst/>
                  <a:uLnTx/>
                  <a:uFillTx/>
                  <a:latin typeface="Ubuntu"/>
                  <a:ea typeface="ＭＳ Ｐゴシック"/>
                  <a:cs typeface="+mn-cs"/>
                </a:rPr>
                <a:t>Operations (People Cost Reduction)</a:t>
              </a:r>
            </a:p>
          </p:txBody>
        </p:sp>
        <p:sp>
          <p:nvSpPr>
            <p:cNvPr id="32" name="Arrow: Up 31">
              <a:extLst>
                <a:ext uri="{FF2B5EF4-FFF2-40B4-BE49-F238E27FC236}">
                  <a16:creationId xmlns:a16="http://schemas.microsoft.com/office/drawing/2014/main" id="{E82AE372-7D47-65BA-62B5-F31B8C1711C3}"/>
                </a:ext>
              </a:extLst>
            </p:cNvPr>
            <p:cNvSpPr/>
            <p:nvPr/>
          </p:nvSpPr>
          <p:spPr bwMode="auto">
            <a:xfrm rot="10800000">
              <a:off x="6900994" y="3173169"/>
              <a:ext cx="154391" cy="126360"/>
            </a:xfrm>
            <a:prstGeom prst="upArrow">
              <a:avLst/>
            </a:prstGeom>
            <a:solidFill>
              <a:srgbClr val="33B569"/>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chemeClr val="bg1"/>
                </a:solidFill>
                <a:effectLst/>
                <a:uLnTx/>
                <a:uFillTx/>
                <a:latin typeface="Ubuntu"/>
                <a:ea typeface="ＭＳ Ｐゴシック" charset="0"/>
                <a:cs typeface="+mn-cs"/>
              </a:endParaRPr>
            </a:p>
          </p:txBody>
        </p:sp>
        <p:sp>
          <p:nvSpPr>
            <p:cNvPr id="33" name="Arrow: Up 32">
              <a:extLst>
                <a:ext uri="{FF2B5EF4-FFF2-40B4-BE49-F238E27FC236}">
                  <a16:creationId xmlns:a16="http://schemas.microsoft.com/office/drawing/2014/main" id="{060FB291-2129-CD10-4668-0FF19A6D3C56}"/>
                </a:ext>
              </a:extLst>
            </p:cNvPr>
            <p:cNvSpPr/>
            <p:nvPr/>
          </p:nvSpPr>
          <p:spPr bwMode="auto">
            <a:xfrm rot="10800000">
              <a:off x="6900994" y="3370861"/>
              <a:ext cx="154391" cy="126360"/>
            </a:xfrm>
            <a:prstGeom prst="upArrow">
              <a:avLst/>
            </a:prstGeom>
            <a:solidFill>
              <a:srgbClr val="33B569"/>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chemeClr val="bg1"/>
                </a:solidFill>
                <a:effectLst/>
                <a:uLnTx/>
                <a:uFillTx/>
                <a:latin typeface="Ubuntu"/>
                <a:ea typeface="ＭＳ Ｐゴシック" charset="0"/>
                <a:cs typeface="+mn-cs"/>
              </a:endParaRPr>
            </a:p>
          </p:txBody>
        </p:sp>
        <p:sp>
          <p:nvSpPr>
            <p:cNvPr id="34" name="Arrow: Up 33">
              <a:extLst>
                <a:ext uri="{FF2B5EF4-FFF2-40B4-BE49-F238E27FC236}">
                  <a16:creationId xmlns:a16="http://schemas.microsoft.com/office/drawing/2014/main" id="{61C424AE-BCF9-4256-339D-604416231C71}"/>
                </a:ext>
              </a:extLst>
            </p:cNvPr>
            <p:cNvSpPr/>
            <p:nvPr/>
          </p:nvSpPr>
          <p:spPr bwMode="auto">
            <a:xfrm rot="10800000">
              <a:off x="6900994" y="3885831"/>
              <a:ext cx="154391" cy="126360"/>
            </a:xfrm>
            <a:prstGeom prst="upArrow">
              <a:avLst/>
            </a:prstGeom>
            <a:solidFill>
              <a:srgbClr val="33B569"/>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chemeClr val="bg1"/>
                </a:solidFill>
                <a:effectLst/>
                <a:uLnTx/>
                <a:uFillTx/>
                <a:latin typeface="Ubuntu"/>
                <a:ea typeface="ＭＳ Ｐゴシック" charset="0"/>
                <a:cs typeface="+mn-cs"/>
              </a:endParaRPr>
            </a:p>
          </p:txBody>
        </p:sp>
        <p:sp>
          <p:nvSpPr>
            <p:cNvPr id="35" name="Ellipse 87">
              <a:extLst>
                <a:ext uri="{FF2B5EF4-FFF2-40B4-BE49-F238E27FC236}">
                  <a16:creationId xmlns:a16="http://schemas.microsoft.com/office/drawing/2014/main" id="{9874A7B1-8C41-5B82-9A6D-A85C3ECE4F33}"/>
                </a:ext>
              </a:extLst>
            </p:cNvPr>
            <p:cNvSpPr/>
            <p:nvPr/>
          </p:nvSpPr>
          <p:spPr>
            <a:xfrm>
              <a:off x="3831672" y="4201002"/>
              <a:ext cx="376563" cy="263249"/>
            </a:xfrm>
            <a:prstGeom prst="ellipse">
              <a:avLst/>
            </a:prstGeom>
            <a:solidFill>
              <a:schemeClr val="accent1"/>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chemeClr val="bg1"/>
                  </a:solidFill>
                  <a:effectLst/>
                  <a:uLnTx/>
                  <a:uFillTx/>
                  <a:latin typeface="Ubuntu"/>
                  <a:ea typeface="ＭＳ Ｐゴシック"/>
                  <a:cs typeface="+mn-cs"/>
                </a:rPr>
                <a:t>2</a:t>
              </a:r>
            </a:p>
          </p:txBody>
        </p:sp>
        <p:sp>
          <p:nvSpPr>
            <p:cNvPr id="37" name="ZoneTexte 105">
              <a:extLst>
                <a:ext uri="{FF2B5EF4-FFF2-40B4-BE49-F238E27FC236}">
                  <a16:creationId xmlns:a16="http://schemas.microsoft.com/office/drawing/2014/main" id="{506005DD-63F5-1E47-1229-F351F02E6932}"/>
                </a:ext>
              </a:extLst>
            </p:cNvPr>
            <p:cNvSpPr txBox="1"/>
            <p:nvPr/>
          </p:nvSpPr>
          <p:spPr>
            <a:xfrm rot="16200000">
              <a:off x="9516369" y="3096789"/>
              <a:ext cx="720446" cy="461665"/>
            </a:xfrm>
            <a:prstGeom prst="rect">
              <a:avLst/>
            </a:prstGeom>
            <a:noFill/>
          </p:spPr>
          <p:txBody>
            <a:bodyPr wrap="squar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000" strike="noStrike" cap="none" spc="0" normalizeH="0">
                  <a:ln>
                    <a:noFill/>
                  </a:ln>
                  <a:solidFill>
                    <a:prstClr val="black"/>
                  </a:solidFill>
                  <a:effectLst/>
                  <a:uLnTx/>
                  <a:uFillTx/>
                  <a:latin typeface="Toyota Display"/>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0" cap="none" spc="0" normalizeH="0" baseline="0" noProof="0">
                  <a:ln>
                    <a:noFill/>
                  </a:ln>
                  <a:solidFill>
                    <a:schemeClr val="bg1"/>
                  </a:solidFill>
                  <a:effectLst/>
                  <a:uLnTx/>
                  <a:uFillTx/>
                  <a:latin typeface="Ubuntu"/>
                  <a:ea typeface="ＭＳ Ｐゴシック"/>
                  <a:cs typeface="+mn-cs"/>
                </a:rPr>
                <a:t>Process Efficiency Benefits</a:t>
              </a:r>
            </a:p>
          </p:txBody>
        </p:sp>
        <p:sp>
          <p:nvSpPr>
            <p:cNvPr id="38" name="ZoneTexte 105">
              <a:extLst>
                <a:ext uri="{FF2B5EF4-FFF2-40B4-BE49-F238E27FC236}">
                  <a16:creationId xmlns:a16="http://schemas.microsoft.com/office/drawing/2014/main" id="{726D410A-6823-9DEB-0C21-1F53858ACDD4}"/>
                </a:ext>
              </a:extLst>
            </p:cNvPr>
            <p:cNvSpPr txBox="1"/>
            <p:nvPr/>
          </p:nvSpPr>
          <p:spPr>
            <a:xfrm rot="16200000">
              <a:off x="9617177" y="3672377"/>
              <a:ext cx="505848" cy="307777"/>
            </a:xfrm>
            <a:prstGeom prst="rect">
              <a:avLst/>
            </a:prstGeom>
            <a:noFill/>
          </p:spPr>
          <p:txBody>
            <a:bodyPr wrap="squar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000" strike="noStrike" cap="none" spc="0" normalizeH="0">
                  <a:ln>
                    <a:noFill/>
                  </a:ln>
                  <a:solidFill>
                    <a:prstClr val="black"/>
                  </a:solidFill>
                  <a:effectLst/>
                  <a:uLnTx/>
                  <a:uFillTx/>
                  <a:latin typeface="Toyota Display"/>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0" cap="none" spc="0" normalizeH="0" baseline="0" noProof="0">
                  <a:ln>
                    <a:noFill/>
                  </a:ln>
                  <a:solidFill>
                    <a:schemeClr val="bg1"/>
                  </a:solidFill>
                  <a:effectLst/>
                  <a:uLnTx/>
                  <a:uFillTx/>
                  <a:latin typeface="Ubuntu"/>
                  <a:ea typeface="ＭＳ Ｐゴシック"/>
                  <a:cs typeface="+mn-cs"/>
                </a:rPr>
                <a:t>IT TCO Benefits</a:t>
              </a:r>
            </a:p>
          </p:txBody>
        </p:sp>
        <p:sp>
          <p:nvSpPr>
            <p:cNvPr id="39" name="ZoneTexte 105">
              <a:extLst>
                <a:ext uri="{FF2B5EF4-FFF2-40B4-BE49-F238E27FC236}">
                  <a16:creationId xmlns:a16="http://schemas.microsoft.com/office/drawing/2014/main" id="{ABEF2B64-3027-988D-6439-ADF50A949684}"/>
                </a:ext>
              </a:extLst>
            </p:cNvPr>
            <p:cNvSpPr txBox="1"/>
            <p:nvPr/>
          </p:nvSpPr>
          <p:spPr>
            <a:xfrm>
              <a:off x="8905510" y="3326481"/>
              <a:ext cx="618095" cy="461665"/>
            </a:xfrm>
            <a:prstGeom prst="rect">
              <a:avLst/>
            </a:prstGeom>
            <a:noFill/>
          </p:spPr>
          <p:txBody>
            <a:bodyPr wrap="squar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000" strike="noStrike" cap="none" spc="0" normalizeH="0">
                  <a:ln>
                    <a:noFill/>
                  </a:ln>
                  <a:solidFill>
                    <a:prstClr val="black"/>
                  </a:solidFill>
                  <a:effectLst/>
                  <a:uLnTx/>
                  <a:uFillTx/>
                  <a:latin typeface="Toyota Display"/>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0" cap="none" spc="0" normalizeH="0" baseline="0" noProof="0">
                  <a:ln>
                    <a:noFill/>
                  </a:ln>
                  <a:solidFill>
                    <a:schemeClr val="bg1"/>
                  </a:solidFill>
                  <a:effectLst/>
                  <a:uLnTx/>
                  <a:uFillTx/>
                  <a:latin typeface="Ubuntu"/>
                  <a:ea typeface="ＭＳ Ｐゴシック"/>
                  <a:cs typeface="+mn-cs"/>
                </a:rPr>
                <a:t>Total Cost Benefits</a:t>
              </a:r>
            </a:p>
          </p:txBody>
        </p:sp>
        <p:sp>
          <p:nvSpPr>
            <p:cNvPr id="40" name="Left Brace 39">
              <a:extLst>
                <a:ext uri="{FF2B5EF4-FFF2-40B4-BE49-F238E27FC236}">
                  <a16:creationId xmlns:a16="http://schemas.microsoft.com/office/drawing/2014/main" id="{D7088FFB-25E7-91AB-6724-9186C2A470C1}"/>
                </a:ext>
              </a:extLst>
            </p:cNvPr>
            <p:cNvSpPr/>
            <p:nvPr/>
          </p:nvSpPr>
          <p:spPr>
            <a:xfrm>
              <a:off x="9440620" y="3039611"/>
              <a:ext cx="325130" cy="101443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Ubuntu"/>
                <a:ea typeface="+mn-ea"/>
                <a:cs typeface="+mn-cs"/>
              </a:endParaRPr>
            </a:p>
          </p:txBody>
        </p:sp>
        <p:sp>
          <p:nvSpPr>
            <p:cNvPr id="42" name="Rectangle 41">
              <a:extLst>
                <a:ext uri="{FF2B5EF4-FFF2-40B4-BE49-F238E27FC236}">
                  <a16:creationId xmlns:a16="http://schemas.microsoft.com/office/drawing/2014/main" id="{C0E13C0F-9604-7B75-87C3-79745930150D}"/>
                </a:ext>
              </a:extLst>
            </p:cNvPr>
            <p:cNvSpPr/>
            <p:nvPr/>
          </p:nvSpPr>
          <p:spPr>
            <a:xfrm>
              <a:off x="1610458" y="2313284"/>
              <a:ext cx="1694534" cy="805143"/>
            </a:xfrm>
            <a:prstGeom prst="rect">
              <a:avLst/>
            </a:prstGeom>
            <a:solidFill>
              <a:schemeClr val="accent5"/>
            </a:solid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1"/>
                  </a:solidFill>
                  <a:effectLst/>
                  <a:uLnTx/>
                  <a:uFillTx/>
                  <a:latin typeface="Ubuntu"/>
                  <a:ea typeface="ＭＳ Ｐゴシック"/>
                  <a:cs typeface="+mn-cs"/>
                </a:rPr>
                <a:t>As-Is Operations (People Costs) + AI Costs</a:t>
              </a:r>
            </a:p>
          </p:txBody>
        </p:sp>
        <p:sp>
          <p:nvSpPr>
            <p:cNvPr id="43" name="Accolade ouvrante 102">
              <a:extLst>
                <a:ext uri="{FF2B5EF4-FFF2-40B4-BE49-F238E27FC236}">
                  <a16:creationId xmlns:a16="http://schemas.microsoft.com/office/drawing/2014/main" id="{1AA8532D-CBCC-2623-6B21-75882CA6DB91}"/>
                </a:ext>
              </a:extLst>
            </p:cNvPr>
            <p:cNvSpPr/>
            <p:nvPr/>
          </p:nvSpPr>
          <p:spPr>
            <a:xfrm>
              <a:off x="1405363" y="2313284"/>
              <a:ext cx="128595" cy="828836"/>
            </a:xfrm>
            <a:prstGeom prst="leftBrace">
              <a:avLst>
                <a:gd name="adj1" fmla="val 307038"/>
                <a:gd name="adj2" fmla="val 50000"/>
              </a:avLst>
            </a:prstGeom>
            <a:noFill/>
            <a:ln w="28575" cap="flat" cmpd="sng" algn="ctr">
              <a:solidFill>
                <a:srgbClr val="666366">
                  <a:shade val="95000"/>
                  <a:satMod val="10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Ubuntu"/>
                <a:ea typeface="ＭＳ Ｐゴシック"/>
                <a:cs typeface="+mn-cs"/>
              </a:endParaRPr>
            </a:p>
          </p:txBody>
        </p:sp>
        <p:sp>
          <p:nvSpPr>
            <p:cNvPr id="44" name="ZoneTexte 107">
              <a:extLst>
                <a:ext uri="{FF2B5EF4-FFF2-40B4-BE49-F238E27FC236}">
                  <a16:creationId xmlns:a16="http://schemas.microsoft.com/office/drawing/2014/main" id="{AF5A092C-C932-3131-4E4B-E655F1016130}"/>
                </a:ext>
              </a:extLst>
            </p:cNvPr>
            <p:cNvSpPr txBox="1"/>
            <p:nvPr/>
          </p:nvSpPr>
          <p:spPr>
            <a:xfrm>
              <a:off x="650708" y="2497220"/>
              <a:ext cx="89415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Ubuntu"/>
                  <a:ea typeface="ＭＳ Ｐゴシック"/>
                  <a:cs typeface="+mn-cs"/>
                </a:rPr>
                <a:t>Business Ops</a:t>
              </a:r>
            </a:p>
          </p:txBody>
        </p:sp>
        <p:cxnSp>
          <p:nvCxnSpPr>
            <p:cNvPr id="45" name="Straight Connector 44">
              <a:extLst>
                <a:ext uri="{FF2B5EF4-FFF2-40B4-BE49-F238E27FC236}">
                  <a16:creationId xmlns:a16="http://schemas.microsoft.com/office/drawing/2014/main" id="{6A69B2A4-1FA2-B541-F5BE-3FAF8B9EB35F}"/>
                </a:ext>
              </a:extLst>
            </p:cNvPr>
            <p:cNvCxnSpPr>
              <a:cxnSpLocks/>
            </p:cNvCxnSpPr>
            <p:nvPr/>
          </p:nvCxnSpPr>
          <p:spPr bwMode="auto">
            <a:xfrm>
              <a:off x="3279618" y="2313284"/>
              <a:ext cx="3866317" cy="18758"/>
            </a:xfrm>
            <a:prstGeom prst="line">
              <a:avLst/>
            </a:prstGeom>
            <a:solidFill>
              <a:srgbClr val="666366"/>
            </a:solidFill>
            <a:ln w="9525" cap="flat" cmpd="sng" algn="ctr">
              <a:solidFill>
                <a:srgbClr val="FFFFFF">
                  <a:lumMod val="50000"/>
                </a:srgbClr>
              </a:solidFill>
              <a:prstDash val="dash"/>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46" name="Rectangle 45">
              <a:extLst>
                <a:ext uri="{FF2B5EF4-FFF2-40B4-BE49-F238E27FC236}">
                  <a16:creationId xmlns:a16="http://schemas.microsoft.com/office/drawing/2014/main" id="{A9925D68-0FA6-6087-16D1-778434A1D188}"/>
                </a:ext>
              </a:extLst>
            </p:cNvPr>
            <p:cNvSpPr/>
            <p:nvPr/>
          </p:nvSpPr>
          <p:spPr>
            <a:xfrm>
              <a:off x="7154707" y="2714205"/>
              <a:ext cx="1694534" cy="407806"/>
            </a:xfrm>
            <a:prstGeom prst="rect">
              <a:avLst/>
            </a:prstGeom>
            <a:solidFill>
              <a:schemeClr val="accent5"/>
            </a:solidFill>
            <a:ln w="25400" cap="flat" cmpd="sng" algn="ctr">
              <a:noFill/>
              <a:prstDash val="solid"/>
            </a:ln>
            <a:effectLst/>
          </p:spPr>
          <p:txBody>
            <a:bodyPr lIns="0" tIns="0" rIns="0" bIns="0" rtlCol="0" anchor="ctr">
              <a:noAutofit/>
            </a:bodyPr>
            <a:lstStyle/>
            <a:p>
              <a:pPr lvl="0" algn="ctr" defTabSz="914400">
                <a:defRPr/>
              </a:pPr>
              <a:r>
                <a:rPr lang="en-US" sz="800" kern="0" noProof="0">
                  <a:solidFill>
                    <a:schemeClr val="bg1"/>
                  </a:solidFill>
                  <a:latin typeface="Ubuntu"/>
                  <a:ea typeface="ＭＳ Ｐゴシック"/>
                </a:rPr>
                <a:t>To-Be</a:t>
              </a:r>
              <a:r>
                <a:rPr kumimoji="0" lang="en-US" sz="800" b="0" i="0" u="none" strike="noStrike" kern="0" cap="none" spc="0" normalizeH="0" baseline="0" noProof="0">
                  <a:ln>
                    <a:noFill/>
                  </a:ln>
                  <a:solidFill>
                    <a:schemeClr val="bg1"/>
                  </a:solidFill>
                  <a:effectLst/>
                  <a:uLnTx/>
                  <a:uFillTx/>
                  <a:latin typeface="Ubuntu"/>
                  <a:ea typeface="ＭＳ Ｐゴシック"/>
                  <a:cs typeface="+mn-cs"/>
                </a:rPr>
                <a:t> Operations (People Costs)</a:t>
              </a:r>
              <a:r>
                <a:rPr lang="en-US" sz="800" kern="0" noProof="0">
                  <a:solidFill>
                    <a:schemeClr val="bg1"/>
                  </a:solidFill>
                  <a:ea typeface="ＭＳ Ｐゴシック"/>
                </a:rPr>
                <a:t> + AI Costs</a:t>
              </a:r>
              <a:endParaRPr kumimoji="0" lang="en-US" sz="800" b="0" i="0" u="none" strike="noStrike" kern="0" cap="none" spc="0" normalizeH="0" baseline="0" noProof="0">
                <a:ln>
                  <a:noFill/>
                </a:ln>
                <a:solidFill>
                  <a:schemeClr val="bg1"/>
                </a:solidFill>
                <a:effectLst/>
                <a:uLnTx/>
                <a:uFillTx/>
                <a:latin typeface="Ubuntu"/>
                <a:ea typeface="ＭＳ Ｐゴシック"/>
                <a:cs typeface="+mn-cs"/>
              </a:endParaRPr>
            </a:p>
          </p:txBody>
        </p:sp>
        <p:sp>
          <p:nvSpPr>
            <p:cNvPr id="47" name="Rectangle 46">
              <a:extLst>
                <a:ext uri="{FF2B5EF4-FFF2-40B4-BE49-F238E27FC236}">
                  <a16:creationId xmlns:a16="http://schemas.microsoft.com/office/drawing/2014/main" id="{8CE49004-6E3E-4AD9-54BC-4C3F84CF4764}"/>
                </a:ext>
              </a:extLst>
            </p:cNvPr>
            <p:cNvSpPr/>
            <p:nvPr/>
          </p:nvSpPr>
          <p:spPr>
            <a:xfrm>
              <a:off x="7145935" y="2332041"/>
              <a:ext cx="1703306" cy="385271"/>
            </a:xfrm>
            <a:prstGeom prst="rect">
              <a:avLst/>
            </a:prstGeom>
            <a:pattFill prst="dkDnDiag">
              <a:fgClr>
                <a:srgbClr val="BD4709"/>
              </a:fgClr>
              <a:bgClr>
                <a:srgbClr val="272936"/>
              </a:bgClr>
            </a:pattFill>
            <a:ln w="25400" cap="flat" cmpd="sng" algn="ctr">
              <a:noFill/>
              <a:prstDash val="solid"/>
            </a:ln>
            <a:effectLst/>
          </p:spPr>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1"/>
                  </a:solidFill>
                  <a:effectLst/>
                  <a:uLnTx/>
                  <a:uFillTx/>
                  <a:latin typeface="Ubuntu"/>
                  <a:ea typeface="ＭＳ Ｐゴシック"/>
                  <a:cs typeface="+mn-cs"/>
                </a:rPr>
                <a:t>Operations (Productivity Improvement)</a:t>
              </a:r>
            </a:p>
          </p:txBody>
        </p:sp>
        <p:sp>
          <p:nvSpPr>
            <p:cNvPr id="48" name="Arrow: Up 47">
              <a:extLst>
                <a:ext uri="{FF2B5EF4-FFF2-40B4-BE49-F238E27FC236}">
                  <a16:creationId xmlns:a16="http://schemas.microsoft.com/office/drawing/2014/main" id="{6D444174-E284-EFF2-5F68-FB8E292C6804}"/>
                </a:ext>
              </a:extLst>
            </p:cNvPr>
            <p:cNvSpPr/>
            <p:nvPr/>
          </p:nvSpPr>
          <p:spPr bwMode="auto">
            <a:xfrm rot="10800000">
              <a:off x="6900994" y="2887168"/>
              <a:ext cx="154391" cy="126360"/>
            </a:xfrm>
            <a:prstGeom prst="upArrow">
              <a:avLst/>
            </a:prstGeom>
            <a:solidFill>
              <a:srgbClr val="33B569"/>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chemeClr val="bg1"/>
                </a:solidFill>
                <a:effectLst/>
                <a:uLnTx/>
                <a:uFillTx/>
                <a:latin typeface="Ubuntu"/>
                <a:ea typeface="ＭＳ Ｐゴシック" charset="0"/>
                <a:cs typeface="+mn-cs"/>
              </a:endParaRPr>
            </a:p>
          </p:txBody>
        </p:sp>
        <p:sp>
          <p:nvSpPr>
            <p:cNvPr id="49" name="Isosceles Triangle 48">
              <a:extLst>
                <a:ext uri="{FF2B5EF4-FFF2-40B4-BE49-F238E27FC236}">
                  <a16:creationId xmlns:a16="http://schemas.microsoft.com/office/drawing/2014/main" id="{8EEE5B6E-AA22-861D-B503-82ADC30F566C}"/>
                </a:ext>
              </a:extLst>
            </p:cNvPr>
            <p:cNvSpPr/>
            <p:nvPr/>
          </p:nvSpPr>
          <p:spPr>
            <a:xfrm flipV="1">
              <a:off x="5341385" y="4877601"/>
              <a:ext cx="1751435" cy="180099"/>
            </a:xfrm>
            <a:prstGeom prst="triangle">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Ubuntu"/>
                <a:ea typeface="+mn-ea"/>
                <a:cs typeface="+mn-cs"/>
              </a:endParaRPr>
            </a:p>
          </p:txBody>
        </p:sp>
        <p:sp>
          <p:nvSpPr>
            <p:cNvPr id="50" name="Rectangle 49">
              <a:extLst>
                <a:ext uri="{FF2B5EF4-FFF2-40B4-BE49-F238E27FC236}">
                  <a16:creationId xmlns:a16="http://schemas.microsoft.com/office/drawing/2014/main" id="{583CC78E-D347-850F-1F6D-9C1164CC7003}"/>
                </a:ext>
              </a:extLst>
            </p:cNvPr>
            <p:cNvSpPr/>
            <p:nvPr/>
          </p:nvSpPr>
          <p:spPr>
            <a:xfrm>
              <a:off x="836617" y="5528167"/>
              <a:ext cx="1937321" cy="55289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chemeClr val="bg1"/>
                  </a:solidFill>
                  <a:effectLst/>
                  <a:uLnTx/>
                  <a:uFillTx/>
                  <a:latin typeface="Ubuntu"/>
                  <a:ea typeface="+mn-ea"/>
                  <a:cs typeface="+mn-cs"/>
                </a:rPr>
                <a:t>Informed Decision Making</a:t>
              </a:r>
            </a:p>
          </p:txBody>
        </p:sp>
        <p:sp>
          <p:nvSpPr>
            <p:cNvPr id="51" name="Rectangle 50">
              <a:extLst>
                <a:ext uri="{FF2B5EF4-FFF2-40B4-BE49-F238E27FC236}">
                  <a16:creationId xmlns:a16="http://schemas.microsoft.com/office/drawing/2014/main" id="{78E88FF0-A155-1F0C-5CF6-1A2CED536D57}"/>
                </a:ext>
              </a:extLst>
            </p:cNvPr>
            <p:cNvSpPr/>
            <p:nvPr/>
          </p:nvSpPr>
          <p:spPr>
            <a:xfrm>
              <a:off x="5408159" y="5528167"/>
              <a:ext cx="1937321" cy="55289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chemeClr val="bg1"/>
                  </a:solidFill>
                  <a:effectLst/>
                  <a:uLnTx/>
                  <a:uFillTx/>
                  <a:latin typeface="Ubuntu"/>
                  <a:ea typeface="+mn-ea"/>
                  <a:cs typeface="+mn-cs"/>
                </a:rPr>
                <a:t>Alignment with Business Goals</a:t>
              </a:r>
            </a:p>
          </p:txBody>
        </p:sp>
        <p:sp>
          <p:nvSpPr>
            <p:cNvPr id="52" name="Rectangle 51">
              <a:extLst>
                <a:ext uri="{FF2B5EF4-FFF2-40B4-BE49-F238E27FC236}">
                  <a16:creationId xmlns:a16="http://schemas.microsoft.com/office/drawing/2014/main" id="{51D11948-7568-535F-4389-FBEE8A05C82B}"/>
                </a:ext>
              </a:extLst>
            </p:cNvPr>
            <p:cNvSpPr/>
            <p:nvPr/>
          </p:nvSpPr>
          <p:spPr>
            <a:xfrm>
              <a:off x="3122388" y="5528167"/>
              <a:ext cx="2091388" cy="55289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chemeClr val="bg1"/>
                  </a:solidFill>
                  <a:effectLst/>
                  <a:uLnTx/>
                  <a:uFillTx/>
                  <a:latin typeface="Ubuntu"/>
                  <a:ea typeface="+mn-ea"/>
                  <a:cs typeface="+mn-cs"/>
                </a:rPr>
                <a:t>Prioritization of Initiatives</a:t>
              </a:r>
            </a:p>
          </p:txBody>
        </p:sp>
        <p:sp>
          <p:nvSpPr>
            <p:cNvPr id="53" name="Rectangle 52">
              <a:extLst>
                <a:ext uri="{FF2B5EF4-FFF2-40B4-BE49-F238E27FC236}">
                  <a16:creationId xmlns:a16="http://schemas.microsoft.com/office/drawing/2014/main" id="{E2BF4338-D3C5-A811-3A4E-08B8579C9D1C}"/>
                </a:ext>
              </a:extLst>
            </p:cNvPr>
            <p:cNvSpPr/>
            <p:nvPr/>
          </p:nvSpPr>
          <p:spPr>
            <a:xfrm>
              <a:off x="9979179" y="5528167"/>
              <a:ext cx="1936800" cy="55289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chemeClr val="bg1"/>
                  </a:solidFill>
                  <a:effectLst/>
                  <a:uLnTx/>
                  <a:uFillTx/>
                  <a:latin typeface="Ubuntu"/>
                  <a:ea typeface="+mn-ea"/>
                  <a:cs typeface="+mn-cs"/>
                </a:rPr>
                <a:t>Improved Governance &amp; Accountability</a:t>
              </a:r>
            </a:p>
          </p:txBody>
        </p:sp>
        <p:sp>
          <p:nvSpPr>
            <p:cNvPr id="54" name="Rectangle 53">
              <a:extLst>
                <a:ext uri="{FF2B5EF4-FFF2-40B4-BE49-F238E27FC236}">
                  <a16:creationId xmlns:a16="http://schemas.microsoft.com/office/drawing/2014/main" id="{1484F01D-8839-DFD2-DC66-6E549F01381A}"/>
                </a:ext>
              </a:extLst>
            </p:cNvPr>
            <p:cNvSpPr/>
            <p:nvPr/>
          </p:nvSpPr>
          <p:spPr>
            <a:xfrm>
              <a:off x="7693930" y="5528167"/>
              <a:ext cx="1936800" cy="55289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chemeClr val="bg1"/>
                  </a:solidFill>
                  <a:effectLst/>
                  <a:uLnTx/>
                  <a:uFillTx/>
                  <a:latin typeface="Ubuntu"/>
                  <a:ea typeface="+mn-ea"/>
                  <a:cs typeface="+mn-cs"/>
                </a:rPr>
                <a:t>Performance Tracking &amp; ROI Realization</a:t>
              </a:r>
            </a:p>
          </p:txBody>
        </p:sp>
        <p:sp>
          <p:nvSpPr>
            <p:cNvPr id="55" name="Rectangle 54">
              <a:extLst>
                <a:ext uri="{FF2B5EF4-FFF2-40B4-BE49-F238E27FC236}">
                  <a16:creationId xmlns:a16="http://schemas.microsoft.com/office/drawing/2014/main" id="{41B91845-BD92-58C8-0625-C3F3B540686B}"/>
                </a:ext>
              </a:extLst>
            </p:cNvPr>
            <p:cNvSpPr/>
            <p:nvPr/>
          </p:nvSpPr>
          <p:spPr>
            <a:xfrm>
              <a:off x="747599" y="6085504"/>
              <a:ext cx="2131053" cy="55289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1"/>
                  </a:solidFill>
                  <a:effectLst/>
                  <a:uLnTx/>
                  <a:uFillTx/>
                  <a:latin typeface="Ubuntu"/>
                  <a:ea typeface="+mn-ea"/>
                  <a:cs typeface="+mn-cs"/>
                </a:rPr>
                <a:t>Data-driven decisions by comparing  complete OSS/BSS infra and operation costs and expected returns</a:t>
              </a:r>
            </a:p>
          </p:txBody>
        </p:sp>
        <p:sp>
          <p:nvSpPr>
            <p:cNvPr id="56" name="Rectangle 55">
              <a:extLst>
                <a:ext uri="{FF2B5EF4-FFF2-40B4-BE49-F238E27FC236}">
                  <a16:creationId xmlns:a16="http://schemas.microsoft.com/office/drawing/2014/main" id="{16CEE15A-8856-0704-D19A-0066B7A0AC2F}"/>
                </a:ext>
              </a:extLst>
            </p:cNvPr>
            <p:cNvSpPr/>
            <p:nvPr/>
          </p:nvSpPr>
          <p:spPr>
            <a:xfrm>
              <a:off x="5400116" y="6112430"/>
              <a:ext cx="2091389" cy="55289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r>
                <a:rPr lang="en-US" sz="1050" noProof="0">
                  <a:solidFill>
                    <a:schemeClr val="bg1"/>
                  </a:solidFill>
                  <a:latin typeface="Ubuntu"/>
                </a:rPr>
                <a:t>Clear alignment between IT transformation initiatives and</a:t>
              </a:r>
              <a:r>
                <a:rPr lang="en-US" sz="1050" kern="0" noProof="0">
                  <a:solidFill>
                    <a:schemeClr val="bg1"/>
                  </a:solidFill>
                  <a:latin typeface="Ubuntu"/>
                </a:rPr>
                <a:t> </a:t>
              </a:r>
              <a:r>
                <a:rPr lang="en-US" sz="1050" noProof="0">
                  <a:solidFill>
                    <a:schemeClr val="bg1"/>
                  </a:solidFill>
                  <a:latin typeface="Ubuntu"/>
                </a:rPr>
                <a:t>defined business objectives</a:t>
              </a:r>
            </a:p>
          </p:txBody>
        </p:sp>
        <p:sp>
          <p:nvSpPr>
            <p:cNvPr id="57" name="Rectangle 56">
              <a:extLst>
                <a:ext uri="{FF2B5EF4-FFF2-40B4-BE49-F238E27FC236}">
                  <a16:creationId xmlns:a16="http://schemas.microsoft.com/office/drawing/2014/main" id="{529E8431-3625-4194-FBB3-35CECF0E5724}"/>
                </a:ext>
              </a:extLst>
            </p:cNvPr>
            <p:cNvSpPr/>
            <p:nvPr/>
          </p:nvSpPr>
          <p:spPr>
            <a:xfrm>
              <a:off x="3025327" y="6134228"/>
              <a:ext cx="2131053" cy="55289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defRPr/>
              </a:pPr>
              <a:r>
                <a:rPr lang="en-US" sz="1050" noProof="0">
                  <a:solidFill>
                    <a:schemeClr val="bg1"/>
                  </a:solidFill>
                  <a:latin typeface="Ubuntu"/>
                </a:rPr>
                <a:t>Ranking &amp; prioritization of</a:t>
              </a:r>
              <a:r>
                <a:rPr lang="en-US" sz="1050">
                  <a:solidFill>
                    <a:schemeClr val="bg1"/>
                  </a:solidFill>
                  <a:latin typeface="Ubuntu"/>
                </a:rPr>
                <a:t> </a:t>
              </a:r>
              <a:r>
                <a:rPr lang="en-US" sz="1050" kern="0" noProof="0">
                  <a:solidFill>
                    <a:schemeClr val="bg1"/>
                  </a:solidFill>
                  <a:latin typeface="Ubuntu"/>
                </a:rPr>
                <a:t> </a:t>
              </a:r>
              <a:r>
                <a:rPr lang="en-US" sz="1050" noProof="0">
                  <a:solidFill>
                    <a:schemeClr val="bg1"/>
                  </a:solidFill>
                  <a:latin typeface="Ubuntu"/>
                </a:rPr>
                <a:t>initiatives based</a:t>
              </a:r>
              <a:r>
                <a:rPr kumimoji="0" lang="en-US" sz="1050" b="0" i="0" u="none" strike="noStrike" kern="1200" cap="none" spc="0" normalizeH="0" baseline="0" noProof="0">
                  <a:ln>
                    <a:noFill/>
                  </a:ln>
                  <a:solidFill>
                    <a:schemeClr val="bg1"/>
                  </a:solidFill>
                  <a:effectLst/>
                  <a:uLnTx/>
                  <a:uFillTx/>
                  <a:latin typeface="Ubuntu"/>
                  <a:ea typeface="+mn-ea"/>
                  <a:cs typeface="+mn-cs"/>
                </a:rPr>
                <a:t> on ROI,</a:t>
              </a:r>
              <a:r>
                <a:rPr lang="en-US" sz="1050" noProof="0">
                  <a:solidFill>
                    <a:schemeClr val="bg1"/>
                  </a:solidFill>
                </a:rPr>
                <a:t> </a:t>
              </a:r>
              <a:r>
                <a:rPr kumimoji="0" lang="en-US" sz="1050" b="0" i="0" u="none" strike="noStrike" kern="1200" cap="none" spc="0" normalizeH="0" baseline="0" noProof="0">
                  <a:ln>
                    <a:noFill/>
                  </a:ln>
                  <a:solidFill>
                    <a:schemeClr val="bg1"/>
                  </a:solidFill>
                  <a:effectLst/>
                  <a:uLnTx/>
                  <a:uFillTx/>
                  <a:latin typeface="Ubuntu"/>
                  <a:ea typeface="+mn-ea"/>
                  <a:cs typeface="+mn-cs"/>
                </a:rPr>
                <a:t>strategic alignment and feasibility</a:t>
              </a:r>
            </a:p>
          </p:txBody>
        </p:sp>
        <p:sp>
          <p:nvSpPr>
            <p:cNvPr id="58" name="Rectangle 57">
              <a:extLst>
                <a:ext uri="{FF2B5EF4-FFF2-40B4-BE49-F238E27FC236}">
                  <a16:creationId xmlns:a16="http://schemas.microsoft.com/office/drawing/2014/main" id="{702378ED-A5AC-72DD-4760-95248BD07CBC}"/>
                </a:ext>
              </a:extLst>
            </p:cNvPr>
            <p:cNvSpPr/>
            <p:nvPr/>
          </p:nvSpPr>
          <p:spPr>
            <a:xfrm>
              <a:off x="9882053" y="6025006"/>
              <a:ext cx="2131053" cy="55289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defRPr/>
              </a:pPr>
              <a:r>
                <a:rPr kumimoji="0" lang="en-US" sz="1050" b="0" i="0" u="none" strike="noStrike" kern="1200" cap="none" spc="0" normalizeH="0" baseline="0" noProof="0">
                  <a:ln>
                    <a:noFill/>
                  </a:ln>
                  <a:solidFill>
                    <a:schemeClr val="bg1"/>
                  </a:solidFill>
                  <a:effectLst/>
                  <a:uLnTx/>
                  <a:uFillTx/>
                  <a:latin typeface="Ubuntu"/>
                  <a:ea typeface="+mn-ea"/>
                  <a:cs typeface="+mn-cs"/>
                </a:rPr>
                <a:t>Strong financial governance by aligning IT investments with strategic business priorities</a:t>
              </a:r>
            </a:p>
          </p:txBody>
        </p:sp>
        <p:sp>
          <p:nvSpPr>
            <p:cNvPr id="59" name="Rectangle 58">
              <a:extLst>
                <a:ext uri="{FF2B5EF4-FFF2-40B4-BE49-F238E27FC236}">
                  <a16:creationId xmlns:a16="http://schemas.microsoft.com/office/drawing/2014/main" id="{C4C148B4-C812-238E-CBB2-804D89798AAC}"/>
                </a:ext>
              </a:extLst>
            </p:cNvPr>
            <p:cNvSpPr/>
            <p:nvPr/>
          </p:nvSpPr>
          <p:spPr>
            <a:xfrm>
              <a:off x="7596479" y="6025006"/>
              <a:ext cx="2131053" cy="55289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1"/>
                  </a:solidFill>
                  <a:effectLst/>
                  <a:uLnTx/>
                  <a:uFillTx/>
                  <a:latin typeface="Ubuntu"/>
                  <a:ea typeface="+mn-ea"/>
                  <a:cs typeface="+mn-cs"/>
                </a:rPr>
                <a:t>Baseline for measuring transformation benefits and tracking ROI over time</a:t>
              </a:r>
            </a:p>
          </p:txBody>
        </p:sp>
        <p:pic>
          <p:nvPicPr>
            <p:cNvPr id="60" name="Graphic 59" descr="Badge Tick outline">
              <a:extLst>
                <a:ext uri="{FF2B5EF4-FFF2-40B4-BE49-F238E27FC236}">
                  <a16:creationId xmlns:a16="http://schemas.microsoft.com/office/drawing/2014/main" id="{06476CB5-81D7-6E78-C6B0-270895CACD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53682" y="5182778"/>
              <a:ext cx="387795" cy="387795"/>
            </a:xfrm>
            <a:prstGeom prst="rect">
              <a:avLst/>
            </a:prstGeom>
          </p:spPr>
        </p:pic>
        <p:pic>
          <p:nvPicPr>
            <p:cNvPr id="61" name="Graphic 60" descr="Continuous Improvement outline">
              <a:extLst>
                <a:ext uri="{FF2B5EF4-FFF2-40B4-BE49-F238E27FC236}">
                  <a16:creationId xmlns:a16="http://schemas.microsoft.com/office/drawing/2014/main" id="{59B571FE-1DA4-0216-8091-8A8FB1DC3D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68108" y="5182778"/>
              <a:ext cx="387795" cy="387795"/>
            </a:xfrm>
            <a:prstGeom prst="rect">
              <a:avLst/>
            </a:prstGeom>
          </p:spPr>
        </p:pic>
        <p:pic>
          <p:nvPicPr>
            <p:cNvPr id="62" name="Graphic 61" descr="Eye Scan outline">
              <a:extLst>
                <a:ext uri="{FF2B5EF4-FFF2-40B4-BE49-F238E27FC236}">
                  <a16:creationId xmlns:a16="http://schemas.microsoft.com/office/drawing/2014/main" id="{03AF1211-E2AD-6B1D-C89C-FE725A545D2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11380" y="5182778"/>
              <a:ext cx="387795" cy="387795"/>
            </a:xfrm>
            <a:prstGeom prst="rect">
              <a:avLst/>
            </a:prstGeom>
          </p:spPr>
        </p:pic>
        <p:pic>
          <p:nvPicPr>
            <p:cNvPr id="63" name="Graphic 62" descr="Gears outline">
              <a:extLst>
                <a:ext uri="{FF2B5EF4-FFF2-40B4-BE49-F238E27FC236}">
                  <a16:creationId xmlns:a16="http://schemas.microsoft.com/office/drawing/2014/main" id="{B821B687-85E5-9874-896D-62408EFCED5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82532" y="5182778"/>
              <a:ext cx="387795" cy="387795"/>
            </a:xfrm>
            <a:prstGeom prst="rect">
              <a:avLst/>
            </a:prstGeom>
          </p:spPr>
        </p:pic>
        <p:pic>
          <p:nvPicPr>
            <p:cNvPr id="64" name="Graphic 63" descr="Priorities outline">
              <a:extLst>
                <a:ext uri="{FF2B5EF4-FFF2-40B4-BE49-F238E27FC236}">
                  <a16:creationId xmlns:a16="http://schemas.microsoft.com/office/drawing/2014/main" id="{4C8DDA1B-E206-4210-708E-A92737011CE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896956" y="5182778"/>
              <a:ext cx="387795" cy="387795"/>
            </a:xfrm>
            <a:prstGeom prst="rect">
              <a:avLst/>
            </a:prstGeom>
          </p:spPr>
        </p:pic>
        <p:cxnSp>
          <p:nvCxnSpPr>
            <p:cNvPr id="65" name="Straight Connector 64">
              <a:extLst>
                <a:ext uri="{FF2B5EF4-FFF2-40B4-BE49-F238E27FC236}">
                  <a16:creationId xmlns:a16="http://schemas.microsoft.com/office/drawing/2014/main" id="{DB5BBADB-626C-41CD-470D-9BA327C8772D}"/>
                </a:ext>
              </a:extLst>
            </p:cNvPr>
            <p:cNvCxnSpPr>
              <a:cxnSpLocks/>
            </p:cNvCxnSpPr>
            <p:nvPr/>
          </p:nvCxnSpPr>
          <p:spPr>
            <a:xfrm>
              <a:off x="325712" y="4877601"/>
              <a:ext cx="1178277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8CC8F910-71F1-E867-BA06-EA7FF6FAD1BD}"/>
                </a:ext>
              </a:extLst>
            </p:cNvPr>
            <p:cNvSpPr/>
            <p:nvPr/>
          </p:nvSpPr>
          <p:spPr>
            <a:xfrm rot="16200000">
              <a:off x="-1386012" y="2843588"/>
              <a:ext cx="3510528" cy="32049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solidFill>
                    <a:schemeClr val="bg1"/>
                  </a:solidFill>
                </a:rPr>
                <a:t>+Móvil’s  TCO and Business Case Building Blocks</a:t>
              </a:r>
            </a:p>
          </p:txBody>
        </p:sp>
        <p:sp>
          <p:nvSpPr>
            <p:cNvPr id="68" name="Rectangle 67">
              <a:extLst>
                <a:ext uri="{FF2B5EF4-FFF2-40B4-BE49-F238E27FC236}">
                  <a16:creationId xmlns:a16="http://schemas.microsoft.com/office/drawing/2014/main" id="{4314EB68-C185-1542-9DC0-3ED4E2157FAC}"/>
                </a:ext>
              </a:extLst>
            </p:cNvPr>
            <p:cNvSpPr/>
            <p:nvPr/>
          </p:nvSpPr>
          <p:spPr>
            <a:xfrm rot="5400000" flipH="1" flipV="1">
              <a:off x="-366748" y="5719850"/>
              <a:ext cx="1476000" cy="3204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noProof="0">
                <a:solidFill>
                  <a:schemeClr val="bg1"/>
                </a:solidFill>
              </a:endParaRPr>
            </a:p>
          </p:txBody>
        </p:sp>
        <p:sp>
          <p:nvSpPr>
            <p:cNvPr id="69" name="Rectangle 68">
              <a:extLst>
                <a:ext uri="{FF2B5EF4-FFF2-40B4-BE49-F238E27FC236}">
                  <a16:creationId xmlns:a16="http://schemas.microsoft.com/office/drawing/2014/main" id="{B067A2A7-C2B2-7EF7-B713-361F3BA6B0DC}"/>
                </a:ext>
              </a:extLst>
            </p:cNvPr>
            <p:cNvSpPr/>
            <p:nvPr/>
          </p:nvSpPr>
          <p:spPr>
            <a:xfrm rot="16200000">
              <a:off x="-161325" y="5846874"/>
              <a:ext cx="1061160" cy="320493"/>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solidFill>
                    <a:schemeClr val="bg1"/>
                  </a:solidFill>
                </a:rPr>
                <a:t>Key Benefits</a:t>
              </a:r>
            </a:p>
          </p:txBody>
        </p:sp>
      </p:grpSp>
    </p:spTree>
    <p:extLst>
      <p:ext uri="{BB962C8B-B14F-4D97-AF65-F5344CB8AC3E}">
        <p14:creationId xmlns:p14="http://schemas.microsoft.com/office/powerpoint/2010/main" val="789459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23840-6F66-E8E6-BF1F-EB16F1149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8A3DD-0150-9162-305B-E7634A83530F}"/>
              </a:ext>
            </a:extLst>
          </p:cNvPr>
          <p:cNvSpPr>
            <a:spLocks noGrp="1"/>
          </p:cNvSpPr>
          <p:nvPr>
            <p:ph type="title"/>
          </p:nvPr>
        </p:nvSpPr>
        <p:spPr/>
        <p:txBody>
          <a:bodyPr vert="horz" lIns="91440" tIns="45720" rIns="91440" bIns="45720" rtlCol="0" anchor="ctr" anchorCtr="0">
            <a:normAutofit fontScale="90000"/>
          </a:bodyPr>
          <a:lstStyle/>
          <a:p>
            <a:r>
              <a:rPr lang="en-US" sz="2700" cap="none">
                <a:ea typeface="+mn-ea"/>
                <a:cs typeface="+mn-cs"/>
              </a:rPr>
              <a:t>…..a</a:t>
            </a:r>
            <a:r>
              <a:rPr lang="en-US" sz="2700" cap="none" noProof="0" err="1">
                <a:ea typeface="+mn-ea"/>
                <a:cs typeface="+mn-cs"/>
              </a:rPr>
              <a:t>nd</a:t>
            </a:r>
            <a:r>
              <a:rPr lang="en-US" sz="2700" cap="none" noProof="0">
                <a:ea typeface="+mn-ea"/>
                <a:cs typeface="+mn-cs"/>
              </a:rPr>
              <a:t> enabled by leveraging TM forum’s ODA components</a:t>
            </a:r>
            <a:br>
              <a:rPr lang="en-US" cap="none" noProof="0">
                <a:latin typeface="+mn-lt"/>
                <a:ea typeface="+mn-ea"/>
                <a:cs typeface="+mn-cs"/>
              </a:rPr>
            </a:br>
            <a:r>
              <a:rPr lang="en-US" sz="1600" b="1" cap="none" noProof="0">
                <a:solidFill>
                  <a:schemeClr val="accent2"/>
                </a:solidFill>
                <a:latin typeface="+mn-lt"/>
                <a:ea typeface="+mn-ea"/>
                <a:cs typeface="+mn-cs"/>
              </a:rPr>
              <a:t>The transformation roadmap will be defined based on ODA architecture and then refined functional and technical requirements will be drafted</a:t>
            </a:r>
            <a:endParaRPr lang="en-US" b="1" cap="none" noProof="0">
              <a:solidFill>
                <a:schemeClr val="accent2"/>
              </a:solidFill>
              <a:latin typeface="+mn-lt"/>
              <a:ea typeface="+mn-ea"/>
              <a:cs typeface="+mn-cs"/>
            </a:endParaRPr>
          </a:p>
        </p:txBody>
      </p:sp>
      <p:pic>
        <p:nvPicPr>
          <p:cNvPr id="3" name="object 17">
            <a:extLst>
              <a:ext uri="{FF2B5EF4-FFF2-40B4-BE49-F238E27FC236}">
                <a16:creationId xmlns:a16="http://schemas.microsoft.com/office/drawing/2014/main" id="{5553AB37-4B66-91D5-1DBA-F7A0DA6C497A}"/>
              </a:ext>
            </a:extLst>
          </p:cNvPr>
          <p:cNvPicPr/>
          <p:nvPr/>
        </p:nvPicPr>
        <p:blipFill>
          <a:blip r:embed="rId2" cstate="print"/>
          <a:srcRect b="1768"/>
          <a:stretch>
            <a:fillRect/>
          </a:stretch>
        </p:blipFill>
        <p:spPr>
          <a:xfrm>
            <a:off x="998448" y="1765856"/>
            <a:ext cx="9725686" cy="4240529"/>
          </a:xfrm>
          <a:prstGeom prst="rect">
            <a:avLst/>
          </a:prstGeom>
          <a:ln w="38100" cap="sq">
            <a:noFill/>
            <a:prstDash val="solid"/>
            <a:miter lim="800000"/>
          </a:ln>
          <a:effectLst>
            <a:outerShdw blurRad="50800" dist="38100" dir="2700000" algn="tl" rotWithShape="0">
              <a:srgbClr val="000000">
                <a:alpha val="43000"/>
              </a:srgbClr>
            </a:outerShdw>
          </a:effectLst>
        </p:spPr>
      </p:pic>
      <p:sp>
        <p:nvSpPr>
          <p:cNvPr id="4" name="object 10">
            <a:extLst>
              <a:ext uri="{FF2B5EF4-FFF2-40B4-BE49-F238E27FC236}">
                <a16:creationId xmlns:a16="http://schemas.microsoft.com/office/drawing/2014/main" id="{E868FF09-1890-7D69-8B5E-90AEFE81A2A8}"/>
              </a:ext>
            </a:extLst>
          </p:cNvPr>
          <p:cNvSpPr txBox="1"/>
          <p:nvPr/>
        </p:nvSpPr>
        <p:spPr>
          <a:xfrm>
            <a:off x="535172" y="6055463"/>
            <a:ext cx="11248841" cy="395621"/>
          </a:xfrm>
          <a:prstGeom prst="rect">
            <a:avLst/>
          </a:prstGeom>
        </p:spPr>
        <p:txBody>
          <a:bodyPr vert="horz" wrap="square" lIns="0" tIns="13335" rIns="0" bIns="0" rtlCol="0">
            <a:spAutoFit/>
          </a:bodyPr>
          <a:lstStyle/>
          <a:p>
            <a:pPr marL="183515" marR="5080" indent="-171450">
              <a:lnSpc>
                <a:spcPct val="100000"/>
              </a:lnSpc>
              <a:spcBef>
                <a:spcPts val="105"/>
              </a:spcBef>
              <a:buClr>
                <a:schemeClr val="accent2"/>
              </a:buClr>
              <a:buFont typeface="Arial" panose="020B0604020202020204" pitchFamily="34" charset="0"/>
              <a:buChar char="•"/>
              <a:tabLst>
                <a:tab pos="283845" algn="l"/>
              </a:tabLst>
            </a:pPr>
            <a:r>
              <a:rPr lang="en-US" sz="1200" noProof="0">
                <a:solidFill>
                  <a:schemeClr val="bg1"/>
                </a:solidFill>
                <a:latin typeface="+mj-lt"/>
                <a:cs typeface="Calibri"/>
              </a:rPr>
              <a:t>ODA</a:t>
            </a:r>
            <a:r>
              <a:rPr lang="en-US" sz="1200" spc="-90" noProof="0">
                <a:solidFill>
                  <a:schemeClr val="bg1"/>
                </a:solidFill>
                <a:latin typeface="+mj-lt"/>
                <a:cs typeface="Calibri"/>
              </a:rPr>
              <a:t> </a:t>
            </a:r>
            <a:r>
              <a:rPr lang="en-US" sz="1200" noProof="0">
                <a:solidFill>
                  <a:schemeClr val="bg1"/>
                </a:solidFill>
                <a:latin typeface="+mj-lt"/>
                <a:cs typeface="Calibri"/>
              </a:rPr>
              <a:t>is</a:t>
            </a:r>
            <a:r>
              <a:rPr lang="en-US" sz="1200" spc="-55" noProof="0">
                <a:solidFill>
                  <a:schemeClr val="bg1"/>
                </a:solidFill>
                <a:latin typeface="+mj-lt"/>
                <a:cs typeface="Calibri"/>
              </a:rPr>
              <a:t> </a:t>
            </a:r>
            <a:r>
              <a:rPr lang="en-US" sz="1200" noProof="0">
                <a:solidFill>
                  <a:schemeClr val="bg1"/>
                </a:solidFill>
                <a:latin typeface="+mj-lt"/>
                <a:cs typeface="Calibri"/>
              </a:rPr>
              <a:t>a</a:t>
            </a:r>
            <a:r>
              <a:rPr lang="en-US" sz="1200" spc="-60" noProof="0">
                <a:solidFill>
                  <a:schemeClr val="bg1"/>
                </a:solidFill>
                <a:latin typeface="+mj-lt"/>
                <a:cs typeface="Calibri"/>
              </a:rPr>
              <a:t> </a:t>
            </a:r>
            <a:r>
              <a:rPr lang="en-US" sz="1200" noProof="0">
                <a:solidFill>
                  <a:schemeClr val="bg1"/>
                </a:solidFill>
                <a:latin typeface="+mj-lt"/>
                <a:cs typeface="Calibri"/>
              </a:rPr>
              <a:t>complete</a:t>
            </a:r>
            <a:r>
              <a:rPr lang="en-US" sz="1200" spc="-60" noProof="0">
                <a:solidFill>
                  <a:schemeClr val="bg1"/>
                </a:solidFill>
                <a:latin typeface="+mj-lt"/>
                <a:cs typeface="Calibri"/>
              </a:rPr>
              <a:t> </a:t>
            </a:r>
            <a:r>
              <a:rPr lang="en-US" sz="1200" noProof="0">
                <a:solidFill>
                  <a:schemeClr val="bg1"/>
                </a:solidFill>
                <a:latin typeface="+mj-lt"/>
                <a:cs typeface="Calibri"/>
              </a:rPr>
              <a:t>enterprise</a:t>
            </a:r>
            <a:r>
              <a:rPr lang="en-US" sz="1200" spc="-40" noProof="0">
                <a:solidFill>
                  <a:schemeClr val="bg1"/>
                </a:solidFill>
                <a:latin typeface="+mj-lt"/>
                <a:cs typeface="Calibri"/>
              </a:rPr>
              <a:t> </a:t>
            </a:r>
            <a:r>
              <a:rPr lang="en-US" sz="1200" spc="-10" noProof="0">
                <a:solidFill>
                  <a:schemeClr val="bg1"/>
                </a:solidFill>
                <a:latin typeface="+mj-lt"/>
                <a:cs typeface="Calibri"/>
              </a:rPr>
              <a:t>architecture</a:t>
            </a:r>
            <a:r>
              <a:rPr lang="en-US" sz="1200" spc="-60" noProof="0">
                <a:solidFill>
                  <a:schemeClr val="bg1"/>
                </a:solidFill>
                <a:latin typeface="+mj-lt"/>
                <a:cs typeface="Calibri"/>
              </a:rPr>
              <a:t> </a:t>
            </a:r>
            <a:r>
              <a:rPr lang="en-US" sz="1200" noProof="0">
                <a:solidFill>
                  <a:schemeClr val="bg1"/>
                </a:solidFill>
                <a:latin typeface="+mj-lt"/>
                <a:cs typeface="Calibri"/>
              </a:rPr>
              <a:t>blueprint</a:t>
            </a:r>
            <a:r>
              <a:rPr lang="en-US" sz="1200" spc="-60" noProof="0">
                <a:solidFill>
                  <a:schemeClr val="bg1"/>
                </a:solidFill>
                <a:latin typeface="+mj-lt"/>
                <a:cs typeface="Calibri"/>
              </a:rPr>
              <a:t> </a:t>
            </a:r>
            <a:r>
              <a:rPr lang="en-US" sz="1200" spc="-25" noProof="0">
                <a:solidFill>
                  <a:schemeClr val="bg1"/>
                </a:solidFill>
                <a:latin typeface="+mj-lt"/>
                <a:cs typeface="Calibri"/>
              </a:rPr>
              <a:t>for </a:t>
            </a:r>
            <a:r>
              <a:rPr lang="en-US" sz="1200" noProof="0">
                <a:solidFill>
                  <a:schemeClr val="bg1"/>
                </a:solidFill>
                <a:latin typeface="+mj-lt"/>
                <a:cs typeface="Calibri"/>
              </a:rPr>
              <a:t>open</a:t>
            </a:r>
            <a:r>
              <a:rPr lang="en-US" sz="1200" spc="-60" noProof="0">
                <a:solidFill>
                  <a:schemeClr val="bg1"/>
                </a:solidFill>
                <a:latin typeface="+mj-lt"/>
                <a:cs typeface="Calibri"/>
              </a:rPr>
              <a:t> </a:t>
            </a:r>
            <a:r>
              <a:rPr lang="en-US" sz="1200" noProof="0">
                <a:solidFill>
                  <a:schemeClr val="bg1"/>
                </a:solidFill>
                <a:latin typeface="+mj-lt"/>
                <a:cs typeface="Calibri"/>
              </a:rPr>
              <a:t>digital</a:t>
            </a:r>
            <a:r>
              <a:rPr lang="en-US" sz="1200" spc="-35" noProof="0">
                <a:solidFill>
                  <a:schemeClr val="bg1"/>
                </a:solidFill>
                <a:latin typeface="+mj-lt"/>
                <a:cs typeface="Calibri"/>
              </a:rPr>
              <a:t> </a:t>
            </a:r>
            <a:r>
              <a:rPr lang="en-US" sz="1200" spc="-10" noProof="0">
                <a:solidFill>
                  <a:schemeClr val="bg1"/>
                </a:solidFill>
                <a:latin typeface="+mj-lt"/>
                <a:cs typeface="Calibri"/>
              </a:rPr>
              <a:t>platforms,</a:t>
            </a:r>
            <a:r>
              <a:rPr lang="en-US" sz="1200" spc="-25" noProof="0">
                <a:solidFill>
                  <a:schemeClr val="bg1"/>
                </a:solidFill>
                <a:latin typeface="+mj-lt"/>
                <a:cs typeface="Calibri"/>
              </a:rPr>
              <a:t> </a:t>
            </a:r>
            <a:r>
              <a:rPr lang="en-US" sz="1200" noProof="0">
                <a:solidFill>
                  <a:schemeClr val="bg1"/>
                </a:solidFill>
                <a:latin typeface="+mj-lt"/>
                <a:cs typeface="Calibri"/>
              </a:rPr>
              <a:t>replacing</a:t>
            </a:r>
            <a:r>
              <a:rPr lang="en-US" sz="1200" spc="-40" noProof="0">
                <a:solidFill>
                  <a:schemeClr val="bg1"/>
                </a:solidFill>
                <a:latin typeface="+mj-lt"/>
                <a:cs typeface="Calibri"/>
              </a:rPr>
              <a:t> </a:t>
            </a:r>
            <a:r>
              <a:rPr lang="en-US" sz="1200" spc="-10" noProof="0">
                <a:solidFill>
                  <a:schemeClr val="bg1"/>
                </a:solidFill>
                <a:latin typeface="+mj-lt"/>
                <a:cs typeface="Calibri"/>
              </a:rPr>
              <a:t>traditional</a:t>
            </a:r>
            <a:r>
              <a:rPr lang="en-US" sz="1200" spc="-35" noProof="0">
                <a:solidFill>
                  <a:schemeClr val="bg1"/>
                </a:solidFill>
                <a:latin typeface="+mj-lt"/>
                <a:cs typeface="Calibri"/>
              </a:rPr>
              <a:t> </a:t>
            </a:r>
            <a:r>
              <a:rPr lang="en-US" sz="1200" spc="-10" noProof="0">
                <a:solidFill>
                  <a:schemeClr val="bg1"/>
                </a:solidFill>
                <a:latin typeface="+mj-lt"/>
                <a:cs typeface="Calibri"/>
              </a:rPr>
              <a:t>operational</a:t>
            </a:r>
            <a:r>
              <a:rPr lang="en-US" sz="1200" spc="-40" noProof="0">
                <a:solidFill>
                  <a:schemeClr val="bg1"/>
                </a:solidFill>
                <a:latin typeface="+mj-lt"/>
                <a:cs typeface="Calibri"/>
              </a:rPr>
              <a:t> </a:t>
            </a:r>
            <a:r>
              <a:rPr lang="en-US" sz="1200" spc="-25" noProof="0">
                <a:solidFill>
                  <a:schemeClr val="bg1"/>
                </a:solidFill>
                <a:latin typeface="+mj-lt"/>
                <a:cs typeface="Calibri"/>
              </a:rPr>
              <a:t>and </a:t>
            </a:r>
            <a:r>
              <a:rPr lang="en-US" sz="1200" noProof="0">
                <a:solidFill>
                  <a:schemeClr val="bg1"/>
                </a:solidFill>
                <a:latin typeface="+mj-lt"/>
                <a:cs typeface="Calibri"/>
              </a:rPr>
              <a:t>business</a:t>
            </a:r>
            <a:r>
              <a:rPr lang="en-US" sz="1200" spc="-40" noProof="0">
                <a:solidFill>
                  <a:schemeClr val="bg1"/>
                </a:solidFill>
                <a:latin typeface="+mj-lt"/>
                <a:cs typeface="Calibri"/>
              </a:rPr>
              <a:t> </a:t>
            </a:r>
            <a:r>
              <a:rPr lang="en-US" sz="1200" noProof="0">
                <a:solidFill>
                  <a:schemeClr val="bg1"/>
                </a:solidFill>
                <a:latin typeface="+mj-lt"/>
                <a:cs typeface="Calibri"/>
              </a:rPr>
              <a:t>support</a:t>
            </a:r>
            <a:r>
              <a:rPr lang="en-US" sz="1200" spc="-65" noProof="0">
                <a:solidFill>
                  <a:schemeClr val="bg1"/>
                </a:solidFill>
                <a:latin typeface="+mj-lt"/>
                <a:cs typeface="Calibri"/>
              </a:rPr>
              <a:t> </a:t>
            </a:r>
            <a:r>
              <a:rPr lang="en-US" sz="1200" spc="-10" noProof="0">
                <a:solidFill>
                  <a:schemeClr val="bg1"/>
                </a:solidFill>
                <a:latin typeface="+mj-lt"/>
                <a:cs typeface="Calibri"/>
              </a:rPr>
              <a:t>systems</a:t>
            </a:r>
          </a:p>
          <a:p>
            <a:pPr marL="183515" marR="5080" indent="-171450">
              <a:lnSpc>
                <a:spcPct val="100000"/>
              </a:lnSpc>
              <a:spcBef>
                <a:spcPts val="105"/>
              </a:spcBef>
              <a:buClr>
                <a:schemeClr val="accent2"/>
              </a:buClr>
              <a:buFont typeface="Arial" panose="020B0604020202020204" pitchFamily="34" charset="0"/>
              <a:buChar char="•"/>
              <a:tabLst>
                <a:tab pos="283845" algn="l"/>
              </a:tabLst>
            </a:pPr>
            <a:r>
              <a:rPr lang="en-US" sz="1200" noProof="0">
                <a:solidFill>
                  <a:schemeClr val="bg1"/>
                </a:solidFill>
                <a:latin typeface="+mj-lt"/>
                <a:cs typeface="Calibri"/>
              </a:rPr>
              <a:t>Comprises</a:t>
            </a:r>
            <a:r>
              <a:rPr lang="en-US" sz="1200" spc="-65" noProof="0">
                <a:solidFill>
                  <a:schemeClr val="bg1"/>
                </a:solidFill>
                <a:latin typeface="+mj-lt"/>
                <a:cs typeface="Calibri"/>
              </a:rPr>
              <a:t> </a:t>
            </a:r>
            <a:r>
              <a:rPr lang="en-US" sz="1200" spc="-10" noProof="0">
                <a:solidFill>
                  <a:schemeClr val="bg1"/>
                </a:solidFill>
                <a:latin typeface="+mj-lt"/>
                <a:cs typeface="Calibri"/>
              </a:rPr>
              <a:t>standardized,</a:t>
            </a:r>
            <a:r>
              <a:rPr lang="en-US" sz="1200" spc="-60" noProof="0">
                <a:solidFill>
                  <a:schemeClr val="bg1"/>
                </a:solidFill>
                <a:latin typeface="+mj-lt"/>
                <a:cs typeface="Calibri"/>
              </a:rPr>
              <a:t> </a:t>
            </a:r>
            <a:r>
              <a:rPr lang="en-US" sz="1200" noProof="0">
                <a:solidFill>
                  <a:schemeClr val="bg1"/>
                </a:solidFill>
                <a:latin typeface="+mj-lt"/>
                <a:cs typeface="Calibri"/>
              </a:rPr>
              <a:t>reusable,</a:t>
            </a:r>
            <a:r>
              <a:rPr lang="en-US" sz="1200" spc="-50" noProof="0">
                <a:solidFill>
                  <a:schemeClr val="bg1"/>
                </a:solidFill>
                <a:latin typeface="+mj-lt"/>
                <a:cs typeface="Calibri"/>
              </a:rPr>
              <a:t> </a:t>
            </a:r>
            <a:r>
              <a:rPr lang="en-US" sz="1200" noProof="0">
                <a:solidFill>
                  <a:schemeClr val="bg1"/>
                </a:solidFill>
                <a:latin typeface="+mj-lt"/>
                <a:cs typeface="Calibri"/>
              </a:rPr>
              <a:t>cloud</a:t>
            </a:r>
            <a:r>
              <a:rPr lang="en-US" sz="1200" spc="-75" noProof="0">
                <a:solidFill>
                  <a:schemeClr val="bg1"/>
                </a:solidFill>
                <a:latin typeface="+mj-lt"/>
                <a:cs typeface="Calibri"/>
              </a:rPr>
              <a:t> </a:t>
            </a:r>
            <a:r>
              <a:rPr lang="en-US" sz="1200" noProof="0">
                <a:solidFill>
                  <a:schemeClr val="bg1"/>
                </a:solidFill>
                <a:latin typeface="+mj-lt"/>
                <a:cs typeface="Calibri"/>
              </a:rPr>
              <a:t>native</a:t>
            </a:r>
            <a:r>
              <a:rPr lang="en-US" sz="1200" spc="-50" noProof="0">
                <a:solidFill>
                  <a:schemeClr val="bg1"/>
                </a:solidFill>
                <a:latin typeface="+mj-lt"/>
                <a:cs typeface="Calibri"/>
              </a:rPr>
              <a:t> </a:t>
            </a:r>
            <a:r>
              <a:rPr lang="en-US" sz="1200" spc="-10" noProof="0">
                <a:solidFill>
                  <a:schemeClr val="bg1"/>
                </a:solidFill>
                <a:latin typeface="+mj-lt"/>
                <a:cs typeface="Calibri"/>
              </a:rPr>
              <a:t>software components</a:t>
            </a:r>
            <a:r>
              <a:rPr lang="en-US" sz="1200" spc="-55" noProof="0">
                <a:solidFill>
                  <a:schemeClr val="bg1"/>
                </a:solidFill>
                <a:latin typeface="+mj-lt"/>
                <a:cs typeface="Calibri"/>
              </a:rPr>
              <a:t> </a:t>
            </a:r>
            <a:r>
              <a:rPr lang="en-US" sz="1200" spc="-10" noProof="0">
                <a:solidFill>
                  <a:schemeClr val="bg1"/>
                </a:solidFill>
                <a:latin typeface="+mj-lt"/>
                <a:cs typeface="Calibri"/>
              </a:rPr>
              <a:t>organized</a:t>
            </a:r>
            <a:r>
              <a:rPr lang="en-US" sz="1200" spc="-40" noProof="0">
                <a:solidFill>
                  <a:schemeClr val="bg1"/>
                </a:solidFill>
                <a:latin typeface="+mj-lt"/>
                <a:cs typeface="Calibri"/>
              </a:rPr>
              <a:t> </a:t>
            </a:r>
            <a:r>
              <a:rPr lang="en-US" sz="1200" noProof="0">
                <a:solidFill>
                  <a:schemeClr val="bg1"/>
                </a:solidFill>
                <a:latin typeface="+mj-lt"/>
                <a:cs typeface="Calibri"/>
              </a:rPr>
              <a:t>into</a:t>
            </a:r>
            <a:r>
              <a:rPr lang="en-US" sz="1200" spc="-30" noProof="0">
                <a:solidFill>
                  <a:schemeClr val="bg1"/>
                </a:solidFill>
                <a:latin typeface="+mj-lt"/>
                <a:cs typeface="Calibri"/>
              </a:rPr>
              <a:t> </a:t>
            </a:r>
            <a:r>
              <a:rPr lang="en-US" sz="1200" noProof="0">
                <a:solidFill>
                  <a:schemeClr val="bg1"/>
                </a:solidFill>
                <a:latin typeface="+mj-lt"/>
                <a:cs typeface="Calibri"/>
              </a:rPr>
              <a:t>loosely</a:t>
            </a:r>
            <a:r>
              <a:rPr lang="en-US" sz="1200" spc="-35" noProof="0">
                <a:solidFill>
                  <a:schemeClr val="bg1"/>
                </a:solidFill>
                <a:latin typeface="+mj-lt"/>
                <a:cs typeface="Calibri"/>
              </a:rPr>
              <a:t> </a:t>
            </a:r>
            <a:r>
              <a:rPr lang="en-US" sz="1200" noProof="0">
                <a:solidFill>
                  <a:schemeClr val="bg1"/>
                </a:solidFill>
                <a:latin typeface="+mj-lt"/>
                <a:cs typeface="Calibri"/>
              </a:rPr>
              <a:t>coupled</a:t>
            </a:r>
            <a:r>
              <a:rPr lang="en-US" sz="1200" spc="-50" noProof="0">
                <a:solidFill>
                  <a:schemeClr val="bg1"/>
                </a:solidFill>
                <a:latin typeface="+mj-lt"/>
                <a:cs typeface="Calibri"/>
              </a:rPr>
              <a:t> </a:t>
            </a:r>
            <a:r>
              <a:rPr lang="en-US" sz="1200" spc="-10" noProof="0">
                <a:solidFill>
                  <a:schemeClr val="bg1"/>
                </a:solidFill>
                <a:latin typeface="+mj-lt"/>
                <a:cs typeface="Calibri"/>
              </a:rPr>
              <a:t>domains</a:t>
            </a:r>
          </a:p>
        </p:txBody>
      </p:sp>
      <p:grpSp>
        <p:nvGrpSpPr>
          <p:cNvPr id="6" name="Group 5">
            <a:extLst>
              <a:ext uri="{FF2B5EF4-FFF2-40B4-BE49-F238E27FC236}">
                <a16:creationId xmlns:a16="http://schemas.microsoft.com/office/drawing/2014/main" id="{A1E5ED32-90E3-5FD1-16FB-4A44821FB15F}"/>
              </a:ext>
            </a:extLst>
          </p:cNvPr>
          <p:cNvGrpSpPr/>
          <p:nvPr/>
        </p:nvGrpSpPr>
        <p:grpSpPr>
          <a:xfrm>
            <a:off x="377798" y="1291285"/>
            <a:ext cx="5483493" cy="305930"/>
            <a:chOff x="377799" y="1062548"/>
            <a:chExt cx="5130530" cy="208800"/>
          </a:xfrm>
        </p:grpSpPr>
        <p:sp>
          <p:nvSpPr>
            <p:cNvPr id="7" name="Arrow: Chevron 6">
              <a:extLst>
                <a:ext uri="{FF2B5EF4-FFF2-40B4-BE49-F238E27FC236}">
                  <a16:creationId xmlns:a16="http://schemas.microsoft.com/office/drawing/2014/main" id="{E5583A6D-AEDC-5E0D-FE9C-B7D93CE2C331}"/>
                </a:ext>
              </a:extLst>
            </p:cNvPr>
            <p:cNvSpPr/>
            <p:nvPr/>
          </p:nvSpPr>
          <p:spPr>
            <a:xfrm>
              <a:off x="37779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Discover</a:t>
              </a:r>
            </a:p>
          </p:txBody>
        </p:sp>
        <p:sp>
          <p:nvSpPr>
            <p:cNvPr id="8" name="Arrow: Chevron 7">
              <a:extLst>
                <a:ext uri="{FF2B5EF4-FFF2-40B4-BE49-F238E27FC236}">
                  <a16:creationId xmlns:a16="http://schemas.microsoft.com/office/drawing/2014/main" id="{CA0E64CB-2D9C-7949-DF0D-19DDD152C1C5}"/>
                </a:ext>
              </a:extLst>
            </p:cNvPr>
            <p:cNvSpPr/>
            <p:nvPr/>
          </p:nvSpPr>
          <p:spPr>
            <a:xfrm>
              <a:off x="1664376"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noProof="0">
                <a:solidFill>
                  <a:schemeClr val="bg1">
                    <a:lumMod val="50000"/>
                  </a:schemeClr>
                </a:solidFill>
              </a:endParaRPr>
            </a:p>
            <a:p>
              <a:pPr algn="ctr"/>
              <a:r>
                <a:rPr lang="en-US" sz="1050" noProof="0">
                  <a:solidFill>
                    <a:schemeClr val="bg1">
                      <a:lumMod val="50000"/>
                    </a:schemeClr>
                  </a:solidFill>
                </a:rPr>
                <a:t>Evaluate &amp; Create</a:t>
              </a:r>
            </a:p>
            <a:p>
              <a:pPr algn="ctr"/>
              <a:endParaRPr lang="en-US" sz="1050" noProof="0">
                <a:solidFill>
                  <a:schemeClr val="bg1">
                    <a:lumMod val="50000"/>
                  </a:schemeClr>
                </a:solidFill>
              </a:endParaRPr>
            </a:p>
          </p:txBody>
        </p:sp>
        <p:sp>
          <p:nvSpPr>
            <p:cNvPr id="9" name="Arrow: Chevron 8">
              <a:extLst>
                <a:ext uri="{FF2B5EF4-FFF2-40B4-BE49-F238E27FC236}">
                  <a16:creationId xmlns:a16="http://schemas.microsoft.com/office/drawing/2014/main" id="{18FC03DB-3119-A665-A255-617B06C82604}"/>
                </a:ext>
              </a:extLst>
            </p:cNvPr>
            <p:cNvSpPr/>
            <p:nvPr/>
          </p:nvSpPr>
          <p:spPr>
            <a:xfrm>
              <a:off x="2950953" y="1062548"/>
              <a:ext cx="1270800" cy="208800"/>
            </a:xfrm>
            <a:prstGeom prst="chevron">
              <a:avLst/>
            </a:prstGeom>
            <a:solidFill>
              <a:srgbClr val="178C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solidFill>
                </a:rPr>
                <a:t>Recommend</a:t>
              </a:r>
            </a:p>
          </p:txBody>
        </p:sp>
        <p:sp>
          <p:nvSpPr>
            <p:cNvPr id="10" name="Arrow: Chevron 9">
              <a:extLst>
                <a:ext uri="{FF2B5EF4-FFF2-40B4-BE49-F238E27FC236}">
                  <a16:creationId xmlns:a16="http://schemas.microsoft.com/office/drawing/2014/main" id="{19ED3C21-4A26-9DF8-8AE1-CFA64E5E05E1}"/>
                </a:ext>
              </a:extLst>
            </p:cNvPr>
            <p:cNvSpPr/>
            <p:nvPr/>
          </p:nvSpPr>
          <p:spPr>
            <a:xfrm>
              <a:off x="423752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Support</a:t>
              </a:r>
            </a:p>
          </p:txBody>
        </p:sp>
      </p:grpSp>
    </p:spTree>
    <p:extLst>
      <p:ext uri="{BB962C8B-B14F-4D97-AF65-F5344CB8AC3E}">
        <p14:creationId xmlns:p14="http://schemas.microsoft.com/office/powerpoint/2010/main" val="2808848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7DB4-9711-7FE6-96A8-4796F7D75C1D}"/>
              </a:ext>
            </a:extLst>
          </p:cNvPr>
          <p:cNvSpPr>
            <a:spLocks noGrp="1"/>
          </p:cNvSpPr>
          <p:nvPr>
            <p:ph type="title"/>
          </p:nvPr>
        </p:nvSpPr>
        <p:spPr>
          <a:xfrm>
            <a:off x="404813" y="269976"/>
            <a:ext cx="10947772" cy="377622"/>
          </a:xfrm>
        </p:spPr>
        <p:txBody>
          <a:bodyPr/>
          <a:lstStyle/>
          <a:p>
            <a:r>
              <a:rPr lang="en-US" cap="none" noProof="0"/>
              <a:t>Structured support for RFP execution &amp; vendor assessment</a:t>
            </a:r>
            <a:endParaRPr lang="en-US" noProof="0"/>
          </a:p>
        </p:txBody>
      </p:sp>
      <p:sp>
        <p:nvSpPr>
          <p:cNvPr id="9" name="TextBox 8">
            <a:extLst>
              <a:ext uri="{FF2B5EF4-FFF2-40B4-BE49-F238E27FC236}">
                <a16:creationId xmlns:a16="http://schemas.microsoft.com/office/drawing/2014/main" id="{C7211233-89FD-F8C3-F158-C2E8F6105386}"/>
              </a:ext>
            </a:extLst>
          </p:cNvPr>
          <p:cNvSpPr txBox="1"/>
          <p:nvPr/>
        </p:nvSpPr>
        <p:spPr>
          <a:xfrm>
            <a:off x="240030" y="724533"/>
            <a:ext cx="10667047"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Ubuntu"/>
                <a:ea typeface="+mn-ea"/>
                <a:cs typeface="+mn-cs"/>
              </a:rPr>
              <a:t>A structured, multi-phase approach to RFP execution and vendor assessment—covering drafting, engagement, validation, and decision-making to ensure strategic alignment and transparency</a:t>
            </a:r>
          </a:p>
        </p:txBody>
      </p:sp>
      <p:sp>
        <p:nvSpPr>
          <p:cNvPr id="27" name="TextBox 26">
            <a:extLst>
              <a:ext uri="{FF2B5EF4-FFF2-40B4-BE49-F238E27FC236}">
                <a16:creationId xmlns:a16="http://schemas.microsoft.com/office/drawing/2014/main" id="{3FA5A22A-C4F8-4BA4-2300-F646D286635C}"/>
              </a:ext>
            </a:extLst>
          </p:cNvPr>
          <p:cNvSpPr txBox="1"/>
          <p:nvPr/>
        </p:nvSpPr>
        <p:spPr>
          <a:xfrm>
            <a:off x="186331" y="3911157"/>
            <a:ext cx="2539204" cy="2927404"/>
          </a:xfrm>
          <a:prstGeom prst="rect">
            <a:avLst/>
          </a:prstGeom>
          <a:noFill/>
        </p:spPr>
        <p:txBody>
          <a:bodyPr wrap="square">
            <a:spAutoFit/>
          </a:bodyPr>
          <a:lstStyle/>
          <a:p>
            <a:pPr marL="171450" indent="-171450">
              <a:lnSpc>
                <a:spcPct val="150000"/>
              </a:lnSpc>
              <a:spcAft>
                <a:spcPts val="300"/>
              </a:spcAft>
              <a:buFont typeface="Arial" panose="020B0604020202020204" pitchFamily="34" charset="0"/>
              <a:buChar char="•"/>
            </a:pPr>
            <a:r>
              <a:rPr lang="en-US" sz="1100" i="1" noProof="0">
                <a:solidFill>
                  <a:schemeClr val="bg1"/>
                </a:solidFill>
              </a:rPr>
              <a:t>With a clear understanding of provider differentiators, we've developed an RFI framework to capture precise, requirement-based responses.</a:t>
            </a:r>
          </a:p>
          <a:p>
            <a:pPr marL="171450" indent="-171450">
              <a:lnSpc>
                <a:spcPct val="150000"/>
              </a:lnSpc>
              <a:spcAft>
                <a:spcPts val="300"/>
              </a:spcAft>
              <a:buFont typeface="Arial" panose="020B0604020202020204" pitchFamily="34" charset="0"/>
              <a:buChar char="•"/>
            </a:pPr>
            <a:r>
              <a:rPr lang="en-US" sz="1100" i="1" noProof="0">
                <a:solidFill>
                  <a:schemeClr val="bg1"/>
                </a:solidFill>
                <a:cs typeface="Segoe UI Light" panose="020B0502040204020203" pitchFamily="34" charset="0"/>
              </a:rPr>
              <a:t>Define objectives, architecture, and evaluation criteria; initiate RFP process with shortlisted vendors, leveraging Gen AI to assist in RFP generation</a:t>
            </a:r>
          </a:p>
          <a:p>
            <a:pPr>
              <a:lnSpc>
                <a:spcPct val="150000"/>
              </a:lnSpc>
              <a:spcAft>
                <a:spcPts val="300"/>
              </a:spcAft>
            </a:pPr>
            <a:endParaRPr lang="en-US" sz="1100" i="1" noProof="0">
              <a:solidFill>
                <a:schemeClr val="bg1"/>
              </a:solidFill>
            </a:endParaRPr>
          </a:p>
        </p:txBody>
      </p:sp>
      <p:sp>
        <p:nvSpPr>
          <p:cNvPr id="28" name="TextBox 27">
            <a:extLst>
              <a:ext uri="{FF2B5EF4-FFF2-40B4-BE49-F238E27FC236}">
                <a16:creationId xmlns:a16="http://schemas.microsoft.com/office/drawing/2014/main" id="{DB87A709-5625-8767-1674-0484A2D79682}"/>
              </a:ext>
            </a:extLst>
          </p:cNvPr>
          <p:cNvSpPr txBox="1"/>
          <p:nvPr/>
        </p:nvSpPr>
        <p:spPr>
          <a:xfrm>
            <a:off x="3166310" y="3911157"/>
            <a:ext cx="2573664" cy="2381101"/>
          </a:xfrm>
          <a:prstGeom prst="rect">
            <a:avLst/>
          </a:prstGeom>
          <a:noFill/>
        </p:spPr>
        <p:txBody>
          <a:bodyPr wrap="square">
            <a:spAutoFit/>
          </a:bodyPr>
          <a:lstStyle>
            <a:defPPr>
              <a:defRPr lang="en-US"/>
            </a:defPPr>
            <a:lvl1pPr>
              <a:lnSpc>
                <a:spcPct val="150000"/>
              </a:lnSpc>
              <a:spcAft>
                <a:spcPts val="300"/>
              </a:spcAft>
              <a:defRPr sz="1100" i="1">
                <a:solidFill>
                  <a:schemeClr val="bg1"/>
                </a:solidFill>
              </a:defRPr>
            </a:lvl1pPr>
          </a:lstStyle>
          <a:p>
            <a:pPr marL="171450" indent="-171450">
              <a:buFont typeface="Arial" panose="020B0604020202020204" pitchFamily="34" charset="0"/>
              <a:buChar char="•"/>
            </a:pPr>
            <a:r>
              <a:rPr lang="en-US" noProof="0"/>
              <a:t>Structured engagement model ensures consistent communication, alignment, and responsiveness across shortlisted vendors</a:t>
            </a:r>
          </a:p>
          <a:p>
            <a:pPr marL="171450" indent="-171450">
              <a:buFont typeface="Arial" panose="020B0604020202020204" pitchFamily="34" charset="0"/>
              <a:buChar char="•"/>
            </a:pPr>
            <a:r>
              <a:rPr lang="en-US" noProof="0"/>
              <a:t>Manage vendor queries, refine evaluation criteria, and communication—enhanced through Gen AI-driven communication management</a:t>
            </a:r>
          </a:p>
        </p:txBody>
      </p:sp>
      <p:sp>
        <p:nvSpPr>
          <p:cNvPr id="29" name="TextBox 28">
            <a:extLst>
              <a:ext uri="{FF2B5EF4-FFF2-40B4-BE49-F238E27FC236}">
                <a16:creationId xmlns:a16="http://schemas.microsoft.com/office/drawing/2014/main" id="{4524F659-E16C-B200-F4AB-71E5C1E5D7C3}"/>
              </a:ext>
            </a:extLst>
          </p:cNvPr>
          <p:cNvSpPr txBox="1"/>
          <p:nvPr/>
        </p:nvSpPr>
        <p:spPr>
          <a:xfrm>
            <a:off x="6142391" y="3911157"/>
            <a:ext cx="2573664" cy="2673489"/>
          </a:xfrm>
          <a:prstGeom prst="rect">
            <a:avLst/>
          </a:prstGeom>
          <a:noFill/>
        </p:spPr>
        <p:txBody>
          <a:bodyPr wrap="square">
            <a:spAutoFit/>
          </a:bodyPr>
          <a:lstStyle>
            <a:defPPr>
              <a:defRPr lang="en-US"/>
            </a:defPPr>
            <a:lvl1pPr>
              <a:lnSpc>
                <a:spcPct val="150000"/>
              </a:lnSpc>
              <a:spcAft>
                <a:spcPts val="300"/>
              </a:spcAft>
              <a:defRPr sz="1100" i="1">
                <a:solidFill>
                  <a:schemeClr val="bg1"/>
                </a:solidFill>
              </a:defRPr>
            </a:lvl1pPr>
          </a:lstStyle>
          <a:p>
            <a:pPr marL="171450" indent="-171450">
              <a:buFont typeface="Arial" panose="020B0604020202020204" pitchFamily="34" charset="0"/>
              <a:buChar char="•"/>
            </a:pPr>
            <a:r>
              <a:rPr lang="en-US" noProof="0"/>
              <a:t>Hands-on validation through PoC and technical scoring ensures solution feasibility and alignment  your requirements</a:t>
            </a:r>
          </a:p>
          <a:p>
            <a:pPr marL="171450" indent="-171450">
              <a:buFont typeface="Arial" panose="020B0604020202020204" pitchFamily="34" charset="0"/>
              <a:buChar char="•"/>
            </a:pPr>
            <a:r>
              <a:rPr lang="en-US" noProof="0"/>
              <a:t>Conduct workshops to validate feasibility, assess performance, and refine proposals—enhanced by Gen AI to streamline and strengthen the evaluation process</a:t>
            </a:r>
          </a:p>
          <a:p>
            <a:endParaRPr lang="en-US" noProof="0"/>
          </a:p>
        </p:txBody>
      </p:sp>
      <p:grpSp>
        <p:nvGrpSpPr>
          <p:cNvPr id="3" name="Group 2">
            <a:extLst>
              <a:ext uri="{FF2B5EF4-FFF2-40B4-BE49-F238E27FC236}">
                <a16:creationId xmlns:a16="http://schemas.microsoft.com/office/drawing/2014/main" id="{6ABBA78E-7E59-4D95-BC35-F14821FE7D0A}"/>
              </a:ext>
            </a:extLst>
          </p:cNvPr>
          <p:cNvGrpSpPr/>
          <p:nvPr/>
        </p:nvGrpSpPr>
        <p:grpSpPr>
          <a:xfrm>
            <a:off x="353840" y="1736020"/>
            <a:ext cx="11265596" cy="2046608"/>
            <a:chOff x="353840" y="1736020"/>
            <a:chExt cx="11265596" cy="2046608"/>
          </a:xfrm>
        </p:grpSpPr>
        <p:sp>
          <p:nvSpPr>
            <p:cNvPr id="17" name="Chevron 6">
              <a:extLst>
                <a:ext uri="{FF2B5EF4-FFF2-40B4-BE49-F238E27FC236}">
                  <a16:creationId xmlns:a16="http://schemas.microsoft.com/office/drawing/2014/main" id="{97382369-81DC-55C5-9199-EAEBA5807FEC}"/>
                </a:ext>
              </a:extLst>
            </p:cNvPr>
            <p:cNvSpPr/>
            <p:nvPr>
              <p:custDataLst>
                <p:tags r:id="rId1"/>
              </p:custDataLst>
            </p:nvPr>
          </p:nvSpPr>
          <p:spPr bwMode="auto">
            <a:xfrm>
              <a:off x="404813" y="1736020"/>
              <a:ext cx="2422800" cy="418643"/>
            </a:xfrm>
            <a:prstGeom prst="chevron">
              <a:avLst>
                <a:gd name="adj" fmla="val 50000"/>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0" tIns="43200" rIns="0" bIns="0" rtlCol="0" anchor="ctr" anchorCtr="0"/>
            <a:lstStyle/>
            <a:p>
              <a:pPr algn="ctr" defTabSz="914364">
                <a:defRPr/>
              </a:pPr>
              <a:r>
                <a:rPr lang="en-US" sz="1050" b="1" noProof="0">
                  <a:solidFill>
                    <a:srgbClr val="FFFFFF"/>
                  </a:solidFill>
                  <a:cs typeface="Segoe UI" panose="020B0502040204020203" pitchFamily="34" charset="0"/>
                </a:rPr>
                <a:t>Technical RFP Drafting</a:t>
              </a:r>
              <a:endParaRPr lang="en-US" sz="1050" noProof="0">
                <a:solidFill>
                  <a:srgbClr val="FFFFFF"/>
                </a:solidFill>
                <a:cs typeface="Segoe UI Light" panose="020B0502040204020203" pitchFamily="34" charset="0"/>
              </a:endParaRPr>
            </a:p>
          </p:txBody>
        </p:sp>
        <p:pic>
          <p:nvPicPr>
            <p:cNvPr id="19" name="Picture 18">
              <a:extLst>
                <a:ext uri="{FF2B5EF4-FFF2-40B4-BE49-F238E27FC236}">
                  <a16:creationId xmlns:a16="http://schemas.microsoft.com/office/drawing/2014/main" id="{2FE6543D-D7B6-C5BC-66C7-6173C11E6E7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353840" y="2504125"/>
              <a:ext cx="2204187" cy="1273478"/>
            </a:xfrm>
            <a:prstGeom prst="rect">
              <a:avLst/>
            </a:prstGeom>
          </p:spPr>
        </p:pic>
        <p:sp>
          <p:nvSpPr>
            <p:cNvPr id="15" name="Chevron 6">
              <a:extLst>
                <a:ext uri="{FF2B5EF4-FFF2-40B4-BE49-F238E27FC236}">
                  <a16:creationId xmlns:a16="http://schemas.microsoft.com/office/drawing/2014/main" id="{56ED2519-8E8D-9B46-5A78-CC2F7ECFC287}"/>
                </a:ext>
              </a:extLst>
            </p:cNvPr>
            <p:cNvSpPr/>
            <p:nvPr>
              <p:custDataLst>
                <p:tags r:id="rId2"/>
              </p:custDataLst>
            </p:nvPr>
          </p:nvSpPr>
          <p:spPr bwMode="auto">
            <a:xfrm>
              <a:off x="3241742" y="1736020"/>
              <a:ext cx="2422800" cy="418643"/>
            </a:xfrm>
            <a:prstGeom prst="chevron">
              <a:avLst>
                <a:gd name="adj" fmla="val 50000"/>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0" tIns="43200" rIns="0" bIns="0" rtlCol="0" anchor="ctr" anchorCtr="0"/>
            <a:lstStyle/>
            <a:p>
              <a:pPr algn="ctr" defTabSz="914364">
                <a:defRPr/>
              </a:pPr>
              <a:r>
                <a:rPr lang="en-US" sz="1050" b="1" noProof="0">
                  <a:solidFill>
                    <a:srgbClr val="FFFFFF"/>
                  </a:solidFill>
                  <a:cs typeface="Segoe UI" panose="020B0502040204020203" pitchFamily="34" charset="0"/>
                </a:rPr>
                <a:t>Vendor Interaction Management</a:t>
              </a:r>
              <a:endParaRPr lang="en-US" sz="1050" noProof="0">
                <a:solidFill>
                  <a:srgbClr val="FFFFFF"/>
                </a:solidFill>
                <a:cs typeface="Segoe UI Light" panose="020B0502040204020203" pitchFamily="34" charset="0"/>
              </a:endParaRPr>
            </a:p>
          </p:txBody>
        </p:sp>
        <p:grpSp>
          <p:nvGrpSpPr>
            <p:cNvPr id="21" name="Group 20">
              <a:extLst>
                <a:ext uri="{FF2B5EF4-FFF2-40B4-BE49-F238E27FC236}">
                  <a16:creationId xmlns:a16="http://schemas.microsoft.com/office/drawing/2014/main" id="{A95641C0-F34E-637D-0D66-49F5A3B783E8}"/>
                </a:ext>
              </a:extLst>
            </p:cNvPr>
            <p:cNvGrpSpPr/>
            <p:nvPr/>
          </p:nvGrpSpPr>
          <p:grpSpPr>
            <a:xfrm>
              <a:off x="3262661" y="2487516"/>
              <a:ext cx="2401881" cy="1290087"/>
              <a:chOff x="8927854" y="3877272"/>
              <a:chExt cx="2030329" cy="1179857"/>
            </a:xfrm>
          </p:grpSpPr>
          <p:grpSp>
            <p:nvGrpSpPr>
              <p:cNvPr id="22" name="Group 21">
                <a:extLst>
                  <a:ext uri="{FF2B5EF4-FFF2-40B4-BE49-F238E27FC236}">
                    <a16:creationId xmlns:a16="http://schemas.microsoft.com/office/drawing/2014/main" id="{58F0CA5F-A9F7-3670-9A58-C0F77DC518C5}"/>
                  </a:ext>
                </a:extLst>
              </p:cNvPr>
              <p:cNvGrpSpPr>
                <a:grpSpLocks/>
              </p:cNvGrpSpPr>
              <p:nvPr/>
            </p:nvGrpSpPr>
            <p:grpSpPr>
              <a:xfrm>
                <a:off x="8927854" y="3877272"/>
                <a:ext cx="2030329" cy="1179857"/>
                <a:chOff x="677603" y="2522435"/>
                <a:chExt cx="2707104" cy="1573142"/>
              </a:xfrm>
            </p:grpSpPr>
            <p:pic>
              <p:nvPicPr>
                <p:cNvPr id="24" name="Picture 3" descr="C:\Users\atekin\Desktop\01_Capgemini Consulting\50_PROSPECTS &amp; PROPOSALS\Diehl Controls\20_Proposal Input\point-of-view-category-management-v10-final-8-638.jpg">
                  <a:extLst>
                    <a:ext uri="{FF2B5EF4-FFF2-40B4-BE49-F238E27FC236}">
                      <a16:creationId xmlns:a16="http://schemas.microsoft.com/office/drawing/2014/main" id="{80DDFF52-65A5-42B3-632C-EEC8FDD2FE85}"/>
                    </a:ext>
                  </a:extLst>
                </p:cNvPr>
                <p:cNvPicPr>
                  <a:picLocks noChangeArrowheads="1"/>
                </p:cNvPicPr>
                <p:nvPr/>
              </p:nvPicPr>
              <p:blipFill>
                <a:blip r:embed="rId7" cstate="print">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936704" y="2522435"/>
                  <a:ext cx="2205786" cy="1126092"/>
                </a:xfrm>
                <a:prstGeom prst="rect">
                  <a:avLst/>
                </a:prstGeom>
                <a:noFill/>
                <a:effectLst>
                  <a:outerShdw blurRad="50800" dist="38100" dir="2700000" algn="tl" rotWithShape="0">
                    <a:prstClr val="black">
                      <a:alpha val="40000"/>
                    </a:prstClr>
                  </a:outerShdw>
                </a:effectLst>
              </p:spPr>
            </p:pic>
            <p:pic>
              <p:nvPicPr>
                <p:cNvPr id="25" name="Picture 24">
                  <a:extLst>
                    <a:ext uri="{FF2B5EF4-FFF2-40B4-BE49-F238E27FC236}">
                      <a16:creationId xmlns:a16="http://schemas.microsoft.com/office/drawing/2014/main" id="{8D229D84-6E02-8945-1872-339FE5343C4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677603" y="2846802"/>
                  <a:ext cx="2707104" cy="1248775"/>
                </a:xfrm>
                <a:prstGeom prst="rect">
                  <a:avLst/>
                </a:prstGeom>
              </p:spPr>
            </p:pic>
          </p:grpSp>
          <p:sp>
            <p:nvSpPr>
              <p:cNvPr id="23" name="Rectangle 22">
                <a:extLst>
                  <a:ext uri="{FF2B5EF4-FFF2-40B4-BE49-F238E27FC236}">
                    <a16:creationId xmlns:a16="http://schemas.microsoft.com/office/drawing/2014/main" id="{EC7BD17B-5C21-176C-EBBD-376E6E7BCE26}"/>
                  </a:ext>
                </a:extLst>
              </p:cNvPr>
              <p:cNvSpPr/>
              <p:nvPr/>
            </p:nvSpPr>
            <p:spPr>
              <a:xfrm>
                <a:off x="10488488" y="4160359"/>
                <a:ext cx="288032" cy="6072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grpSp>
        <p:sp>
          <p:nvSpPr>
            <p:cNvPr id="16" name="Chevron 7">
              <a:extLst>
                <a:ext uri="{FF2B5EF4-FFF2-40B4-BE49-F238E27FC236}">
                  <a16:creationId xmlns:a16="http://schemas.microsoft.com/office/drawing/2014/main" id="{C1B4D550-D28E-F959-3D9B-B3DDCFB23B4F}"/>
                </a:ext>
              </a:extLst>
            </p:cNvPr>
            <p:cNvSpPr/>
            <p:nvPr>
              <p:custDataLst>
                <p:tags r:id="rId3"/>
              </p:custDataLst>
            </p:nvPr>
          </p:nvSpPr>
          <p:spPr bwMode="auto">
            <a:xfrm>
              <a:off x="6263006" y="1736020"/>
              <a:ext cx="2422800" cy="418643"/>
            </a:xfrm>
            <a:prstGeom prst="chevron">
              <a:avLst>
                <a:gd name="adj" fmla="val 50000"/>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0" tIns="43200" rIns="0" bIns="0" rtlCol="0" anchor="ctr" anchorCtr="0"/>
            <a:lstStyle/>
            <a:p>
              <a:pPr algn="ctr" defTabSz="914364">
                <a:defRPr/>
              </a:pPr>
              <a:r>
                <a:rPr lang="en-US" sz="1050" b="1" noProof="0">
                  <a:solidFill>
                    <a:srgbClr val="FFFFFF"/>
                  </a:solidFill>
                  <a:cs typeface="Segoe UI" panose="020B0502040204020203" pitchFamily="34" charset="0"/>
                </a:rPr>
                <a:t>Technical Validation &amp; PoC</a:t>
              </a:r>
              <a:endParaRPr lang="en-US" sz="1050" noProof="0">
                <a:solidFill>
                  <a:srgbClr val="FFFFFF"/>
                </a:solidFill>
                <a:cs typeface="Segoe UI Light" panose="020B0502040204020203" pitchFamily="34" charset="0"/>
              </a:endParaRPr>
            </a:p>
          </p:txBody>
        </p:sp>
        <p:pic>
          <p:nvPicPr>
            <p:cNvPr id="26" name="Picture 25">
              <a:extLst>
                <a:ext uri="{FF2B5EF4-FFF2-40B4-BE49-F238E27FC236}">
                  <a16:creationId xmlns:a16="http://schemas.microsoft.com/office/drawing/2014/main" id="{EDE0517F-447C-180D-ACDE-D82F800764D9}"/>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6422019" y="2538120"/>
              <a:ext cx="2014408" cy="1244508"/>
            </a:xfrm>
            <a:prstGeom prst="rect">
              <a:avLst/>
            </a:prstGeom>
            <a:ln>
              <a:solidFill>
                <a:schemeClr val="bg1">
                  <a:lumMod val="75000"/>
                </a:schemeClr>
              </a:solidFill>
            </a:ln>
          </p:spPr>
        </p:pic>
        <p:sp>
          <p:nvSpPr>
            <p:cNvPr id="18" name="Chevron 7">
              <a:extLst>
                <a:ext uri="{FF2B5EF4-FFF2-40B4-BE49-F238E27FC236}">
                  <a16:creationId xmlns:a16="http://schemas.microsoft.com/office/drawing/2014/main" id="{892E2902-1FF2-E6B1-59C5-0CBF64C5E1E6}"/>
                </a:ext>
              </a:extLst>
            </p:cNvPr>
            <p:cNvSpPr/>
            <p:nvPr>
              <p:custDataLst>
                <p:tags r:id="rId4"/>
              </p:custDataLst>
            </p:nvPr>
          </p:nvSpPr>
          <p:spPr bwMode="auto">
            <a:xfrm>
              <a:off x="9196636" y="1736020"/>
              <a:ext cx="2422800" cy="418643"/>
            </a:xfrm>
            <a:prstGeom prst="chevron">
              <a:avLst>
                <a:gd name="adj" fmla="val 50000"/>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0" tIns="43200" rIns="0" bIns="0" rtlCol="0" anchor="ctr" anchorCtr="0"/>
            <a:lstStyle/>
            <a:p>
              <a:pPr algn="ctr" defTabSz="914364">
                <a:defRPr/>
              </a:pPr>
              <a:r>
                <a:rPr lang="en-US" sz="1050" b="1" noProof="0">
                  <a:solidFill>
                    <a:schemeClr val="bg1"/>
                  </a:solidFill>
                  <a:cs typeface="Segoe UI" panose="020B0502040204020203" pitchFamily="34" charset="0"/>
                </a:rPr>
                <a:t>Decision Matrix</a:t>
              </a:r>
              <a:endParaRPr lang="en-US" sz="1050" noProof="0">
                <a:solidFill>
                  <a:schemeClr val="bg1"/>
                </a:solidFill>
                <a:cs typeface="Segoe UI Light" panose="020B0502040204020203" pitchFamily="34" charset="0"/>
              </a:endParaRPr>
            </a:p>
          </p:txBody>
        </p:sp>
        <p:pic>
          <p:nvPicPr>
            <p:cNvPr id="20" name="Picture 19">
              <a:extLst>
                <a:ext uri="{FF2B5EF4-FFF2-40B4-BE49-F238E27FC236}">
                  <a16:creationId xmlns:a16="http://schemas.microsoft.com/office/drawing/2014/main" id="{927E9081-7CD7-9F41-60DC-701EA272ACE9}"/>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9286959" y="2538120"/>
              <a:ext cx="2014408" cy="1219089"/>
            </a:xfrm>
            <a:prstGeom prst="rect">
              <a:avLst/>
            </a:prstGeom>
            <a:ln>
              <a:noFill/>
            </a:ln>
          </p:spPr>
        </p:pic>
      </p:grpSp>
      <p:sp>
        <p:nvSpPr>
          <p:cNvPr id="30" name="TextBox 29">
            <a:extLst>
              <a:ext uri="{FF2B5EF4-FFF2-40B4-BE49-F238E27FC236}">
                <a16:creationId xmlns:a16="http://schemas.microsoft.com/office/drawing/2014/main" id="{FC610389-96AC-A31E-5DC1-95E9952F736E}"/>
              </a:ext>
            </a:extLst>
          </p:cNvPr>
          <p:cNvSpPr txBox="1"/>
          <p:nvPr/>
        </p:nvSpPr>
        <p:spPr>
          <a:xfrm>
            <a:off x="9156830" y="3911157"/>
            <a:ext cx="2502411" cy="2927404"/>
          </a:xfrm>
          <a:prstGeom prst="rect">
            <a:avLst/>
          </a:prstGeom>
          <a:noFill/>
        </p:spPr>
        <p:txBody>
          <a:bodyPr wrap="square">
            <a:spAutoFit/>
          </a:bodyPr>
          <a:lstStyle>
            <a:defPPr>
              <a:defRPr lang="en-US"/>
            </a:defPPr>
            <a:lvl1pPr>
              <a:lnSpc>
                <a:spcPct val="150000"/>
              </a:lnSpc>
              <a:spcAft>
                <a:spcPts val="300"/>
              </a:spcAft>
              <a:defRPr sz="1100" i="1">
                <a:solidFill>
                  <a:schemeClr val="bg1"/>
                </a:solidFill>
              </a:defRPr>
            </a:lvl1pPr>
          </a:lstStyle>
          <a:p>
            <a:pPr marL="171450" indent="-171450">
              <a:buFont typeface="Arial" panose="020B0604020202020204" pitchFamily="34" charset="0"/>
              <a:buChar char="•"/>
            </a:pPr>
            <a:r>
              <a:rPr lang="en-US" noProof="0"/>
              <a:t>A weighted decision matrix enables objective vendor selection based on strategic fit, technical merit, and business value.</a:t>
            </a:r>
          </a:p>
          <a:p>
            <a:pPr marL="171450" indent="-171450">
              <a:buFont typeface="Arial" panose="020B0604020202020204" pitchFamily="34" charset="0"/>
              <a:buChar char="•"/>
            </a:pPr>
            <a:r>
              <a:rPr lang="en-US" noProof="0"/>
              <a:t>Score vendors on </a:t>
            </a:r>
            <a:r>
              <a:rPr lang="en-US" b="1" noProof="0"/>
              <a:t>Functional, technical, Technological, Financial, and TCO fit</a:t>
            </a:r>
            <a:r>
              <a:rPr lang="en-US" noProof="0"/>
              <a:t>; finalize  vendor supported by Gen AI for parameter-based evaluation and final recommendations</a:t>
            </a:r>
          </a:p>
          <a:p>
            <a:endParaRPr lang="en-US" noProof="0"/>
          </a:p>
        </p:txBody>
      </p:sp>
      <p:cxnSp>
        <p:nvCxnSpPr>
          <p:cNvPr id="35" name="Straight Connector 34">
            <a:extLst>
              <a:ext uri="{FF2B5EF4-FFF2-40B4-BE49-F238E27FC236}">
                <a16:creationId xmlns:a16="http://schemas.microsoft.com/office/drawing/2014/main" id="{9640FFDA-0B49-9087-7227-5E5A13878ED5}"/>
              </a:ext>
            </a:extLst>
          </p:cNvPr>
          <p:cNvCxnSpPr>
            <a:cxnSpLocks/>
          </p:cNvCxnSpPr>
          <p:nvPr/>
        </p:nvCxnSpPr>
        <p:spPr>
          <a:xfrm>
            <a:off x="3002732" y="1945341"/>
            <a:ext cx="0" cy="4295775"/>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C0E2E61E-D379-F763-460E-30722C12F17B}"/>
              </a:ext>
            </a:extLst>
          </p:cNvPr>
          <p:cNvCxnSpPr>
            <a:cxnSpLocks/>
          </p:cNvCxnSpPr>
          <p:nvPr/>
        </p:nvCxnSpPr>
        <p:spPr>
          <a:xfrm>
            <a:off x="5978342" y="1915253"/>
            <a:ext cx="0" cy="4295775"/>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Straight Connector 36">
            <a:extLst>
              <a:ext uri="{FF2B5EF4-FFF2-40B4-BE49-F238E27FC236}">
                <a16:creationId xmlns:a16="http://schemas.microsoft.com/office/drawing/2014/main" id="{3188E07D-1418-4A42-F984-CA42CDC01DD6}"/>
              </a:ext>
            </a:extLst>
          </p:cNvPr>
          <p:cNvCxnSpPr>
            <a:cxnSpLocks/>
          </p:cNvCxnSpPr>
          <p:nvPr/>
        </p:nvCxnSpPr>
        <p:spPr>
          <a:xfrm>
            <a:off x="8953952" y="1885165"/>
            <a:ext cx="0" cy="4295775"/>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40" name="Group 39">
            <a:extLst>
              <a:ext uri="{FF2B5EF4-FFF2-40B4-BE49-F238E27FC236}">
                <a16:creationId xmlns:a16="http://schemas.microsoft.com/office/drawing/2014/main" id="{383B5699-13B6-F1B0-4940-F7D5DADBD75F}"/>
              </a:ext>
            </a:extLst>
          </p:cNvPr>
          <p:cNvGrpSpPr/>
          <p:nvPr/>
        </p:nvGrpSpPr>
        <p:grpSpPr>
          <a:xfrm>
            <a:off x="377798" y="1291285"/>
            <a:ext cx="5483493" cy="305930"/>
            <a:chOff x="377799" y="1062548"/>
            <a:chExt cx="5130530" cy="208800"/>
          </a:xfrm>
        </p:grpSpPr>
        <p:sp>
          <p:nvSpPr>
            <p:cNvPr id="41" name="Arrow: Chevron 40">
              <a:extLst>
                <a:ext uri="{FF2B5EF4-FFF2-40B4-BE49-F238E27FC236}">
                  <a16:creationId xmlns:a16="http://schemas.microsoft.com/office/drawing/2014/main" id="{693C73EC-BC94-3B66-AE43-C0F077FA6C65}"/>
                </a:ext>
              </a:extLst>
            </p:cNvPr>
            <p:cNvSpPr/>
            <p:nvPr/>
          </p:nvSpPr>
          <p:spPr>
            <a:xfrm>
              <a:off x="37779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Discover</a:t>
              </a:r>
            </a:p>
          </p:txBody>
        </p:sp>
        <p:sp>
          <p:nvSpPr>
            <p:cNvPr id="42" name="Arrow: Chevron 41">
              <a:extLst>
                <a:ext uri="{FF2B5EF4-FFF2-40B4-BE49-F238E27FC236}">
                  <a16:creationId xmlns:a16="http://schemas.microsoft.com/office/drawing/2014/main" id="{128C795C-8E2A-6FFA-3AB9-66AC8C27516D}"/>
                </a:ext>
              </a:extLst>
            </p:cNvPr>
            <p:cNvSpPr/>
            <p:nvPr/>
          </p:nvSpPr>
          <p:spPr>
            <a:xfrm>
              <a:off x="1664376"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noProof="0">
                <a:solidFill>
                  <a:schemeClr val="bg1">
                    <a:lumMod val="50000"/>
                  </a:schemeClr>
                </a:solidFill>
              </a:endParaRPr>
            </a:p>
            <a:p>
              <a:pPr algn="ctr"/>
              <a:r>
                <a:rPr lang="en-US" sz="1050" noProof="0">
                  <a:solidFill>
                    <a:schemeClr val="bg1">
                      <a:lumMod val="50000"/>
                    </a:schemeClr>
                  </a:solidFill>
                </a:rPr>
                <a:t>Evaluate &amp; Create</a:t>
              </a:r>
            </a:p>
            <a:p>
              <a:pPr algn="ctr"/>
              <a:endParaRPr lang="en-US" sz="1050" noProof="0">
                <a:solidFill>
                  <a:schemeClr val="bg1">
                    <a:lumMod val="50000"/>
                  </a:schemeClr>
                </a:solidFill>
              </a:endParaRPr>
            </a:p>
          </p:txBody>
        </p:sp>
        <p:sp>
          <p:nvSpPr>
            <p:cNvPr id="43" name="Arrow: Chevron 42">
              <a:extLst>
                <a:ext uri="{FF2B5EF4-FFF2-40B4-BE49-F238E27FC236}">
                  <a16:creationId xmlns:a16="http://schemas.microsoft.com/office/drawing/2014/main" id="{39D865AD-1809-ECB2-FC3F-4067F1C20CF2}"/>
                </a:ext>
              </a:extLst>
            </p:cNvPr>
            <p:cNvSpPr/>
            <p:nvPr/>
          </p:nvSpPr>
          <p:spPr>
            <a:xfrm>
              <a:off x="2950953" y="1062548"/>
              <a:ext cx="1270800" cy="208800"/>
            </a:xfrm>
            <a:prstGeom prst="chevron">
              <a:avLst/>
            </a:prstGeom>
            <a:solidFill>
              <a:srgbClr val="178C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solidFill>
                </a:rPr>
                <a:t>Recommend</a:t>
              </a:r>
            </a:p>
          </p:txBody>
        </p:sp>
        <p:sp>
          <p:nvSpPr>
            <p:cNvPr id="44" name="Arrow: Chevron 43">
              <a:extLst>
                <a:ext uri="{FF2B5EF4-FFF2-40B4-BE49-F238E27FC236}">
                  <a16:creationId xmlns:a16="http://schemas.microsoft.com/office/drawing/2014/main" id="{4640474A-3271-85BC-1C0B-FD4592C0A188}"/>
                </a:ext>
              </a:extLst>
            </p:cNvPr>
            <p:cNvSpPr/>
            <p:nvPr/>
          </p:nvSpPr>
          <p:spPr>
            <a:xfrm>
              <a:off x="423752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Support</a:t>
              </a:r>
            </a:p>
          </p:txBody>
        </p:sp>
      </p:grpSp>
    </p:spTree>
    <p:extLst>
      <p:ext uri="{BB962C8B-B14F-4D97-AF65-F5344CB8AC3E}">
        <p14:creationId xmlns:p14="http://schemas.microsoft.com/office/powerpoint/2010/main" val="1219104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D4D26-7804-834B-2B97-B97B076AC4A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D6006E4-1277-4D44-C9A8-91EE18A64ACB}"/>
              </a:ext>
            </a:extLst>
          </p:cNvPr>
          <p:cNvSpPr txBox="1">
            <a:spLocks/>
          </p:cNvSpPr>
          <p:nvPr/>
        </p:nvSpPr>
        <p:spPr>
          <a:xfrm>
            <a:off x="386395" y="251553"/>
            <a:ext cx="10173866" cy="511062"/>
          </a:xfrm>
          <a:prstGeom prst="rect">
            <a:avLst/>
          </a:prstGeom>
        </p:spPr>
        <p:txBody>
          <a:bodyPr vert="horz" lIns="0" tIns="0" rIns="0" bIns="0" rtlCol="0" anchor="t">
            <a:noAutofit/>
          </a:bodyPr>
          <a:lstStyle>
            <a:lvl1pPr marR="0" indent="0" defTabSz="914400" fontAlgn="auto">
              <a:lnSpc>
                <a:spcPct val="90000"/>
              </a:lnSpc>
              <a:spcBef>
                <a:spcPct val="0"/>
              </a:spcBef>
              <a:spcAft>
                <a:spcPts val="0"/>
              </a:spcAft>
              <a:buClrTx/>
              <a:buSzTx/>
              <a:buFontTx/>
              <a:buNone/>
              <a:tabLst/>
              <a:defRPr kumimoji="0" lang="en-US" sz="2400" b="0" i="0" u="none" strike="noStrike" cap="all" spc="0" normalizeH="0" baseline="0" noProof="0">
                <a:ln>
                  <a:noFill/>
                </a:ln>
                <a:solidFill>
                  <a:schemeClr val="bg1"/>
                </a:solidFill>
                <a:effectLst/>
                <a:uLnTx/>
                <a:uFillTx/>
                <a:latin typeface="+mj-lt"/>
                <a:ea typeface="+mj-ea"/>
                <a:cs typeface="+mj-cs"/>
              </a:defRPr>
            </a:lvl1pPr>
          </a:lstStyle>
          <a:p>
            <a:r>
              <a:rPr lang="en-US" cap="none" noProof="0"/>
              <a:t>Contracting support and high-level implementation planning</a:t>
            </a:r>
            <a:endParaRPr lang="en-US" cap="none" noProof="0">
              <a:latin typeface="+mn-lt"/>
            </a:endParaRPr>
          </a:p>
        </p:txBody>
      </p:sp>
      <p:sp>
        <p:nvSpPr>
          <p:cNvPr id="47" name="TextBox 46">
            <a:extLst>
              <a:ext uri="{FF2B5EF4-FFF2-40B4-BE49-F238E27FC236}">
                <a16:creationId xmlns:a16="http://schemas.microsoft.com/office/drawing/2014/main" id="{DCE69A26-51D7-3551-0777-F71420843084}"/>
              </a:ext>
            </a:extLst>
          </p:cNvPr>
          <p:cNvSpPr txBox="1"/>
          <p:nvPr/>
        </p:nvSpPr>
        <p:spPr>
          <a:xfrm>
            <a:off x="320487" y="905095"/>
            <a:ext cx="11709587" cy="523220"/>
          </a:xfrm>
          <a:prstGeom prst="rect">
            <a:avLst/>
          </a:prstGeom>
          <a:noFill/>
        </p:spPr>
        <p:txBody>
          <a:bodyPr wrap="square">
            <a:spAutoFit/>
          </a:bodyPr>
          <a:lstStyle/>
          <a:p>
            <a:pPr>
              <a:defRPr/>
            </a:pPr>
            <a:r>
              <a:rPr lang="en-US" sz="1400" b="1" noProof="0">
                <a:solidFill>
                  <a:schemeClr val="accent2"/>
                </a:solidFill>
                <a:cs typeface="Calibri" pitchFamily="34" charset="0"/>
              </a:rPr>
              <a:t>Establishing a negotiation strategy outline, objectives and contract amendments for negotiation of the contract to align vendor performance to the digital transformation objectives and planned business outcomes.</a:t>
            </a:r>
          </a:p>
        </p:txBody>
      </p:sp>
      <p:grpSp>
        <p:nvGrpSpPr>
          <p:cNvPr id="2" name="Group 1">
            <a:extLst>
              <a:ext uri="{FF2B5EF4-FFF2-40B4-BE49-F238E27FC236}">
                <a16:creationId xmlns:a16="http://schemas.microsoft.com/office/drawing/2014/main" id="{EB5D7072-4DB6-5745-BDC4-1D4D8909DBA3}"/>
              </a:ext>
            </a:extLst>
          </p:cNvPr>
          <p:cNvGrpSpPr/>
          <p:nvPr/>
        </p:nvGrpSpPr>
        <p:grpSpPr>
          <a:xfrm>
            <a:off x="204610" y="2170777"/>
            <a:ext cx="11782779" cy="4466496"/>
            <a:chOff x="204610" y="2170777"/>
            <a:chExt cx="11782779" cy="4466496"/>
          </a:xfrm>
        </p:grpSpPr>
        <p:sp>
          <p:nvSpPr>
            <p:cNvPr id="34" name="Rectangle 33">
              <a:extLst>
                <a:ext uri="{FF2B5EF4-FFF2-40B4-BE49-F238E27FC236}">
                  <a16:creationId xmlns:a16="http://schemas.microsoft.com/office/drawing/2014/main" id="{8AFB6A2B-17D8-028F-543C-58979B9FEB39}"/>
                </a:ext>
              </a:extLst>
            </p:cNvPr>
            <p:cNvSpPr/>
            <p:nvPr/>
          </p:nvSpPr>
          <p:spPr>
            <a:xfrm>
              <a:off x="320487" y="2612272"/>
              <a:ext cx="2664253" cy="1237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975" lvl="0" indent="-180975">
                <a:buFont typeface="Arial" panose="020B0604020202020204" pitchFamily="34" charset="0"/>
                <a:buChar char="•"/>
              </a:pPr>
              <a:r>
                <a:rPr lang="en-US" sz="1050" noProof="0"/>
                <a:t>Define objectives clarifying the business goals, scope of services and expected outcomes</a:t>
              </a:r>
            </a:p>
            <a:p>
              <a:pPr marL="180975" lvl="0" indent="-180975">
                <a:buFont typeface="Arial" panose="020B0604020202020204" pitchFamily="34" charset="0"/>
                <a:buChar char="•"/>
              </a:pPr>
              <a:r>
                <a:rPr lang="en-US" sz="1050" noProof="0"/>
                <a:t>Assess potential risks – legal, financial, security, Business continuity</a:t>
              </a:r>
            </a:p>
            <a:p>
              <a:pPr marL="180975" lvl="0" indent="-180975">
                <a:buFont typeface="Arial" panose="020B0604020202020204" pitchFamily="34" charset="0"/>
                <a:buChar char="•"/>
              </a:pPr>
              <a:r>
                <a:rPr lang="en-US" sz="1050" noProof="0"/>
                <a:t>Collect requirements for compliance, data protection needs, SLAs</a:t>
              </a:r>
            </a:p>
          </p:txBody>
        </p:sp>
        <p:sp>
          <p:nvSpPr>
            <p:cNvPr id="30" name="TextBox 29">
              <a:extLst>
                <a:ext uri="{FF2B5EF4-FFF2-40B4-BE49-F238E27FC236}">
                  <a16:creationId xmlns:a16="http://schemas.microsoft.com/office/drawing/2014/main" id="{901812CA-8BAA-26CD-17A8-3F18609512BD}"/>
                </a:ext>
              </a:extLst>
            </p:cNvPr>
            <p:cNvSpPr txBox="1"/>
            <p:nvPr/>
          </p:nvSpPr>
          <p:spPr>
            <a:xfrm>
              <a:off x="739754" y="2195161"/>
              <a:ext cx="1754037" cy="184666"/>
            </a:xfrm>
            <a:prstGeom prst="rect">
              <a:avLst/>
            </a:prstGeom>
            <a:noFill/>
          </p:spPr>
          <p:txBody>
            <a:bodyPr wrap="square" lIns="0" tIns="0" rIns="0" bIns="0" rtlCol="0" anchor="ctr">
              <a:spAutoFit/>
            </a:bodyPr>
            <a:lstStyle/>
            <a:p>
              <a:pPr lvl="0" algn="ctr" defTabSz="539080">
                <a:defRPr/>
              </a:pPr>
              <a:r>
                <a:rPr lang="en-US" sz="1200" b="1" kern="0" noProof="0">
                  <a:solidFill>
                    <a:prstClr val="white"/>
                  </a:solidFill>
                </a:rPr>
                <a:t>PREPARE</a:t>
              </a:r>
            </a:p>
          </p:txBody>
        </p:sp>
        <p:sp>
          <p:nvSpPr>
            <p:cNvPr id="31" name="Rectangle 30">
              <a:extLst>
                <a:ext uri="{FF2B5EF4-FFF2-40B4-BE49-F238E27FC236}">
                  <a16:creationId xmlns:a16="http://schemas.microsoft.com/office/drawing/2014/main" id="{FF47EA96-18E5-8684-1B9B-2F047564C033}"/>
                </a:ext>
              </a:extLst>
            </p:cNvPr>
            <p:cNvSpPr/>
            <p:nvPr/>
          </p:nvSpPr>
          <p:spPr>
            <a:xfrm>
              <a:off x="3230519" y="2612272"/>
              <a:ext cx="2664253" cy="1237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50000"/>
                </a:lnSpc>
                <a:spcBef>
                  <a:spcPts val="0"/>
                </a:spcBef>
                <a:spcAft>
                  <a:spcPts val="0"/>
                </a:spcAft>
                <a:buClrTx/>
                <a:buSzTx/>
                <a:tabLst/>
                <a:defRPr/>
              </a:pPr>
              <a:r>
                <a:rPr kumimoji="0" lang="en-US" sz="1050" b="0" i="0" u="none" strike="noStrike" kern="1200" cap="none" spc="0" normalizeH="0" baseline="0" noProof="0">
                  <a:ln>
                    <a:noFill/>
                  </a:ln>
                  <a:solidFill>
                    <a:srgbClr val="FFFFFF"/>
                  </a:solidFill>
                  <a:effectLst/>
                  <a:uLnTx/>
                  <a:uFillTx/>
                  <a:latin typeface="Ubuntu"/>
                  <a:ea typeface="+mn-ea"/>
                  <a:cs typeface="+mn-cs"/>
                </a:rPr>
                <a:t>Review Key Clauses including</a:t>
              </a:r>
            </a:p>
            <a:p>
              <a:pPr marL="449263" marR="0" lvl="1" indent="-182563" algn="l" defTabSz="457200" rtl="0" eaLnBrk="1" fontAlgn="auto" latinLnBrk="0" hangingPunct="1">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mn-cs"/>
                </a:rPr>
                <a:t>Service Level Agreements</a:t>
              </a:r>
            </a:p>
            <a:p>
              <a:pPr marL="449263" marR="0" lvl="1" indent="-182563" algn="l" defTabSz="457200" rtl="0" eaLnBrk="1" fontAlgn="auto" latinLnBrk="0" hangingPunct="1">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mn-cs"/>
                </a:rPr>
                <a:t> Data protection &amp; privacy</a:t>
              </a:r>
            </a:p>
            <a:p>
              <a:pPr marL="449263" marR="0" lvl="1" indent="-182563" algn="l" defTabSz="457200" rtl="0" eaLnBrk="1" fontAlgn="auto" latinLnBrk="0" hangingPunct="1">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mn-cs"/>
                </a:rPr>
                <a:t> Confidentiality &amp; NDA</a:t>
              </a:r>
            </a:p>
            <a:p>
              <a:pPr marL="449263" marR="0" lvl="1" indent="-182563" algn="l" defTabSz="457200" rtl="0" eaLnBrk="1" fontAlgn="auto" latinLnBrk="0" hangingPunct="1">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mn-cs"/>
                </a:rPr>
                <a:t>Termination &amp; exit criteria</a:t>
              </a:r>
            </a:p>
            <a:p>
              <a:pPr marL="449263" marR="0" lvl="1" indent="-182563" algn="l" defTabSz="457200" rtl="0" eaLnBrk="1" fontAlgn="auto" latinLnBrk="0" hangingPunct="1">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mn-cs"/>
                </a:rPr>
                <a:t>Vendor feedback  / concerns </a:t>
              </a:r>
            </a:p>
          </p:txBody>
        </p:sp>
        <p:sp>
          <p:nvSpPr>
            <p:cNvPr id="36" name="Rectangle 35">
              <a:extLst>
                <a:ext uri="{FF2B5EF4-FFF2-40B4-BE49-F238E27FC236}">
                  <a16:creationId xmlns:a16="http://schemas.microsoft.com/office/drawing/2014/main" id="{1CC34280-CAE3-5D85-2E1D-170B00B1F798}"/>
                </a:ext>
              </a:extLst>
            </p:cNvPr>
            <p:cNvSpPr/>
            <p:nvPr/>
          </p:nvSpPr>
          <p:spPr>
            <a:xfrm>
              <a:off x="6212522" y="2612272"/>
              <a:ext cx="2664253" cy="1237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975" lvl="0" indent="-180975">
                <a:buFont typeface="Arial" panose="020B0604020202020204" pitchFamily="34" charset="0"/>
                <a:buChar char="•"/>
              </a:pPr>
              <a:r>
                <a:rPr lang="en-US" sz="1050" noProof="0"/>
                <a:t>Support development of the negotiation strategy, challenge and share best practice</a:t>
              </a:r>
            </a:p>
            <a:p>
              <a:pPr marL="180975" lvl="0" indent="-180975">
                <a:buFont typeface="Arial" panose="020B0604020202020204" pitchFamily="34" charset="0"/>
                <a:buChar char="•"/>
              </a:pPr>
              <a:r>
                <a:rPr lang="en-US" sz="1050" noProof="0"/>
                <a:t>Security provisions (high level data encryption standards, residency, access controls) ,Legal &amp; Regulatory T&amp;Cs </a:t>
              </a:r>
            </a:p>
          </p:txBody>
        </p:sp>
        <p:sp>
          <p:nvSpPr>
            <p:cNvPr id="37" name="Rectangle 36">
              <a:extLst>
                <a:ext uri="{FF2B5EF4-FFF2-40B4-BE49-F238E27FC236}">
                  <a16:creationId xmlns:a16="http://schemas.microsoft.com/office/drawing/2014/main" id="{E7346F23-5503-7C17-9791-314671A52D2A}"/>
                </a:ext>
              </a:extLst>
            </p:cNvPr>
            <p:cNvSpPr/>
            <p:nvPr/>
          </p:nvSpPr>
          <p:spPr>
            <a:xfrm>
              <a:off x="9233088" y="2612272"/>
              <a:ext cx="2664253" cy="1237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80975" indent="-180975">
                <a:buFont typeface="Arial" panose="020B0604020202020204" pitchFamily="34" charset="0"/>
                <a:buChar char="•"/>
              </a:pPr>
              <a:r>
                <a:rPr lang="en-US" sz="1050" noProof="0"/>
                <a:t>Review key contract clauses, terms and SLA’s intended to improve the vendor’s business &amp;reducing the risks</a:t>
              </a:r>
              <a:endParaRPr lang="en-US"/>
            </a:p>
            <a:p>
              <a:pPr marL="180975" indent="-180975">
                <a:buFont typeface="Arial" panose="020B0604020202020204" pitchFamily="34" charset="0"/>
                <a:buChar char="•"/>
              </a:pPr>
              <a:r>
                <a:rPr lang="en-US" sz="1050"/>
                <a:t> </a:t>
              </a:r>
              <a:r>
                <a:rPr lang="en-US" sz="1050" noProof="0"/>
                <a:t>Secure mutual agreement – Approvals &amp; Sign Offs </a:t>
              </a:r>
              <a:endParaRPr lang="en-US"/>
            </a:p>
          </p:txBody>
        </p:sp>
        <p:sp>
          <p:nvSpPr>
            <p:cNvPr id="40" name="TextBox 39">
              <a:extLst>
                <a:ext uri="{FF2B5EF4-FFF2-40B4-BE49-F238E27FC236}">
                  <a16:creationId xmlns:a16="http://schemas.microsoft.com/office/drawing/2014/main" id="{D44D03F1-27E8-866C-CF2B-275C6345B9C1}"/>
                </a:ext>
              </a:extLst>
            </p:cNvPr>
            <p:cNvSpPr txBox="1"/>
            <p:nvPr/>
          </p:nvSpPr>
          <p:spPr>
            <a:xfrm>
              <a:off x="3114535" y="2196655"/>
              <a:ext cx="2824895" cy="184666"/>
            </a:xfrm>
            <a:prstGeom prst="rect">
              <a:avLst/>
            </a:prstGeom>
            <a:noFill/>
          </p:spPr>
          <p:txBody>
            <a:bodyPr wrap="square" lIns="0" tIns="0" rIns="0" bIns="0" rtlCol="0" anchor="ctr">
              <a:spAutoFit/>
            </a:bodyPr>
            <a:lstStyle/>
            <a:p>
              <a:pPr lvl="0" algn="ctr" defTabSz="539080">
                <a:defRPr/>
              </a:pPr>
              <a:r>
                <a:rPr lang="en-US" sz="1200" b="1" kern="0" noProof="0">
                  <a:solidFill>
                    <a:prstClr val="white"/>
                  </a:solidFill>
                </a:rPr>
                <a:t>INITIAL DRAFT &amp; VENDOR REVIEW</a:t>
              </a:r>
            </a:p>
          </p:txBody>
        </p:sp>
        <p:sp>
          <p:nvSpPr>
            <p:cNvPr id="41" name="TextBox 40">
              <a:extLst>
                <a:ext uri="{FF2B5EF4-FFF2-40B4-BE49-F238E27FC236}">
                  <a16:creationId xmlns:a16="http://schemas.microsoft.com/office/drawing/2014/main" id="{BCAC6E37-644D-C99C-B20C-A9A2578C7392}"/>
                </a:ext>
              </a:extLst>
            </p:cNvPr>
            <p:cNvSpPr txBox="1"/>
            <p:nvPr/>
          </p:nvSpPr>
          <p:spPr>
            <a:xfrm>
              <a:off x="6096399" y="2195161"/>
              <a:ext cx="2824895" cy="184666"/>
            </a:xfrm>
            <a:prstGeom prst="rect">
              <a:avLst/>
            </a:prstGeom>
            <a:noFill/>
          </p:spPr>
          <p:txBody>
            <a:bodyPr wrap="square" lIns="0" tIns="0" rIns="0" bIns="0" rtlCol="0" anchor="ctr">
              <a:spAutoFit/>
            </a:bodyPr>
            <a:lstStyle/>
            <a:p>
              <a:pPr lvl="0" algn="ctr" defTabSz="539080">
                <a:defRPr/>
              </a:pPr>
              <a:r>
                <a:rPr lang="en-US" sz="1200" b="1" kern="0" noProof="0">
                  <a:solidFill>
                    <a:prstClr val="white"/>
                  </a:solidFill>
                </a:rPr>
                <a:t>SUPPORT NEGOTIATION &amp; REVIEW</a:t>
              </a:r>
            </a:p>
          </p:txBody>
        </p:sp>
        <p:sp>
          <p:nvSpPr>
            <p:cNvPr id="42" name="TextBox 41">
              <a:extLst>
                <a:ext uri="{FF2B5EF4-FFF2-40B4-BE49-F238E27FC236}">
                  <a16:creationId xmlns:a16="http://schemas.microsoft.com/office/drawing/2014/main" id="{26FF32EF-C890-477E-5548-6225904F4DBB}"/>
                </a:ext>
              </a:extLst>
            </p:cNvPr>
            <p:cNvSpPr txBox="1"/>
            <p:nvPr/>
          </p:nvSpPr>
          <p:spPr>
            <a:xfrm>
              <a:off x="9276218" y="2170777"/>
              <a:ext cx="2568086" cy="184666"/>
            </a:xfrm>
            <a:prstGeom prst="rect">
              <a:avLst/>
            </a:prstGeom>
            <a:noFill/>
          </p:spPr>
          <p:txBody>
            <a:bodyPr wrap="square" lIns="0" tIns="0" rIns="0" bIns="0" rtlCol="0" anchor="ctr">
              <a:spAutoFit/>
            </a:bodyPr>
            <a:lstStyle/>
            <a:p>
              <a:pPr lvl="0" algn="ctr" defTabSz="539080">
                <a:defRPr/>
              </a:pPr>
              <a:r>
                <a:rPr lang="en-US" sz="1200" b="1" kern="0" noProof="0">
                  <a:solidFill>
                    <a:prstClr val="white"/>
                  </a:solidFill>
                </a:rPr>
                <a:t>FINALISATION &amp; EXECUTION</a:t>
              </a:r>
            </a:p>
          </p:txBody>
        </p:sp>
        <p:sp>
          <p:nvSpPr>
            <p:cNvPr id="43" name="Abgerundetes Rechteck 8">
              <a:extLst>
                <a:ext uri="{FF2B5EF4-FFF2-40B4-BE49-F238E27FC236}">
                  <a16:creationId xmlns:a16="http://schemas.microsoft.com/office/drawing/2014/main" id="{846F281A-2332-DA59-5201-5DB31BF5A4D8}"/>
                </a:ext>
              </a:extLst>
            </p:cNvPr>
            <p:cNvSpPr/>
            <p:nvPr/>
          </p:nvSpPr>
          <p:spPr>
            <a:xfrm>
              <a:off x="1386735" y="4440401"/>
              <a:ext cx="1751750" cy="999543"/>
            </a:xfrm>
            <a:prstGeom prst="roundRect">
              <a:avLst>
                <a:gd name="adj" fmla="val 0"/>
              </a:avLst>
            </a:prstGeom>
            <a:solidFill>
              <a:schemeClr val="bg1">
                <a:lumMod val="95000"/>
                <a:alpha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2121" tIns="26060" rIns="52121" bIns="26060" rtlCol="0" anchor="t" anchorCtr="0"/>
            <a:lstStyle/>
            <a:p>
              <a:pPr algn="ctr">
                <a:lnSpc>
                  <a:spcPct val="90000"/>
                </a:lnSpc>
              </a:pPr>
              <a:r>
                <a:rPr lang="en-US" sz="1100" b="1" noProof="0">
                  <a:solidFill>
                    <a:schemeClr val="tx1"/>
                  </a:solidFill>
                </a:rPr>
                <a:t>Negotiation Strategy</a:t>
              </a:r>
            </a:p>
          </p:txBody>
        </p:sp>
        <p:pic>
          <p:nvPicPr>
            <p:cNvPr id="44" name="Picture 40">
              <a:extLst>
                <a:ext uri="{FF2B5EF4-FFF2-40B4-BE49-F238E27FC236}">
                  <a16:creationId xmlns:a16="http://schemas.microsoft.com/office/drawing/2014/main" id="{AD6C3E42-A43B-F9B5-D820-CE0907F5EF72}"/>
                </a:ext>
              </a:extLst>
            </p:cNvPr>
            <p:cNvPicPr>
              <a:picLocks noChangeAspect="1" noChangeArrowheads="1"/>
            </p:cNvPicPr>
            <p:nvPr/>
          </p:nvPicPr>
          <p:blipFill>
            <a:blip r:embed="rId3" cstate="screen"/>
            <a:srcRect/>
            <a:stretch>
              <a:fillRect/>
            </a:stretch>
          </p:blipFill>
          <p:spPr bwMode="auto">
            <a:xfrm>
              <a:off x="1699401" y="4745195"/>
              <a:ext cx="1104700" cy="591208"/>
            </a:xfrm>
            <a:prstGeom prst="rect">
              <a:avLst/>
            </a:prstGeom>
            <a:noFill/>
            <a:ln w="9525">
              <a:noFill/>
              <a:miter lim="800000"/>
              <a:headEnd/>
              <a:tailEnd/>
            </a:ln>
          </p:spPr>
        </p:pic>
        <p:sp>
          <p:nvSpPr>
            <p:cNvPr id="45" name="Abgerundetes Rechteck 9">
              <a:extLst>
                <a:ext uri="{FF2B5EF4-FFF2-40B4-BE49-F238E27FC236}">
                  <a16:creationId xmlns:a16="http://schemas.microsoft.com/office/drawing/2014/main" id="{4D226151-32D1-2320-DD9F-8F86EC7BF5D4}"/>
                </a:ext>
              </a:extLst>
            </p:cNvPr>
            <p:cNvSpPr/>
            <p:nvPr/>
          </p:nvSpPr>
          <p:spPr>
            <a:xfrm>
              <a:off x="3777233" y="4440401"/>
              <a:ext cx="1751749" cy="999543"/>
            </a:xfrm>
            <a:prstGeom prst="roundRect">
              <a:avLst>
                <a:gd name="adj" fmla="val 0"/>
              </a:avLst>
            </a:prstGeom>
            <a:solidFill>
              <a:schemeClr val="bg1">
                <a:lumMod val="95000"/>
                <a:alpha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2121" tIns="26060" rIns="52121" bIns="26060" rtlCol="0" anchor="t" anchorCtr="0"/>
            <a:lstStyle/>
            <a:p>
              <a:pPr algn="ctr">
                <a:lnSpc>
                  <a:spcPct val="90000"/>
                </a:lnSpc>
              </a:pPr>
              <a:r>
                <a:rPr lang="en-US" sz="1100" b="1" noProof="0">
                  <a:solidFill>
                    <a:schemeClr val="tx1"/>
                  </a:solidFill>
                </a:rPr>
                <a:t>Negotiation Briefs</a:t>
              </a:r>
            </a:p>
          </p:txBody>
        </p:sp>
        <p:pic>
          <p:nvPicPr>
            <p:cNvPr id="46" name="Picture 5">
              <a:extLst>
                <a:ext uri="{FF2B5EF4-FFF2-40B4-BE49-F238E27FC236}">
                  <a16:creationId xmlns:a16="http://schemas.microsoft.com/office/drawing/2014/main" id="{A105AE69-BD3A-F5D7-1B22-A95CE4EA79B1}"/>
                </a:ext>
              </a:extLst>
            </p:cNvPr>
            <p:cNvPicPr>
              <a:picLocks noChangeAspect="1" noChangeArrowheads="1"/>
            </p:cNvPicPr>
            <p:nvPr/>
          </p:nvPicPr>
          <p:blipFill>
            <a:blip r:embed="rId4" cstate="screen"/>
            <a:srcRect/>
            <a:stretch>
              <a:fillRect/>
            </a:stretch>
          </p:blipFill>
          <p:spPr bwMode="auto">
            <a:xfrm>
              <a:off x="4390933" y="4739411"/>
              <a:ext cx="803573" cy="489699"/>
            </a:xfrm>
            <a:prstGeom prst="rect">
              <a:avLst/>
            </a:prstGeom>
            <a:noFill/>
            <a:ln w="5429">
              <a:solidFill>
                <a:schemeClr val="bg1">
                  <a:lumMod val="50000"/>
                </a:schemeClr>
              </a:solidFill>
              <a:miter lim="800000"/>
              <a:headEnd/>
              <a:tailEnd/>
            </a:ln>
            <a:effectLst/>
          </p:spPr>
        </p:pic>
        <p:pic>
          <p:nvPicPr>
            <p:cNvPr id="48" name="Picture 4">
              <a:extLst>
                <a:ext uri="{FF2B5EF4-FFF2-40B4-BE49-F238E27FC236}">
                  <a16:creationId xmlns:a16="http://schemas.microsoft.com/office/drawing/2014/main" id="{29D4D10B-B837-A71B-F2C9-A51EF09CB7CC}"/>
                </a:ext>
              </a:extLst>
            </p:cNvPr>
            <p:cNvPicPr>
              <a:picLocks noChangeAspect="1" noChangeArrowheads="1"/>
            </p:cNvPicPr>
            <p:nvPr/>
          </p:nvPicPr>
          <p:blipFill>
            <a:blip r:embed="rId5" cstate="screen"/>
            <a:srcRect/>
            <a:stretch>
              <a:fillRect/>
            </a:stretch>
          </p:blipFill>
          <p:spPr bwMode="auto">
            <a:xfrm>
              <a:off x="4223577" y="4776208"/>
              <a:ext cx="803573" cy="489699"/>
            </a:xfrm>
            <a:prstGeom prst="rect">
              <a:avLst/>
            </a:prstGeom>
            <a:noFill/>
            <a:ln w="5429">
              <a:solidFill>
                <a:schemeClr val="bg1">
                  <a:lumMod val="50000"/>
                </a:schemeClr>
              </a:solidFill>
              <a:miter lim="800000"/>
              <a:headEnd/>
              <a:tailEnd/>
            </a:ln>
            <a:effectLst/>
          </p:spPr>
        </p:pic>
        <p:pic>
          <p:nvPicPr>
            <p:cNvPr id="49" name="Picture 4">
              <a:extLst>
                <a:ext uri="{FF2B5EF4-FFF2-40B4-BE49-F238E27FC236}">
                  <a16:creationId xmlns:a16="http://schemas.microsoft.com/office/drawing/2014/main" id="{55E72E2A-A495-B359-0B7F-8DEA35ECCA2B}"/>
                </a:ext>
              </a:extLst>
            </p:cNvPr>
            <p:cNvPicPr>
              <a:picLocks noChangeAspect="1" noChangeArrowheads="1"/>
            </p:cNvPicPr>
            <p:nvPr/>
          </p:nvPicPr>
          <p:blipFill>
            <a:blip r:embed="rId6" cstate="screen"/>
            <a:srcRect/>
            <a:stretch>
              <a:fillRect/>
            </a:stretch>
          </p:blipFill>
          <p:spPr bwMode="auto">
            <a:xfrm>
              <a:off x="4056222" y="4813004"/>
              <a:ext cx="803573" cy="489699"/>
            </a:xfrm>
            <a:prstGeom prst="rect">
              <a:avLst/>
            </a:prstGeom>
            <a:noFill/>
            <a:ln w="5429">
              <a:solidFill>
                <a:schemeClr val="bg1">
                  <a:lumMod val="50000"/>
                </a:schemeClr>
              </a:solidFill>
              <a:miter lim="800000"/>
              <a:headEnd/>
              <a:tailEnd/>
            </a:ln>
            <a:effectLst/>
          </p:spPr>
        </p:pic>
        <p:sp>
          <p:nvSpPr>
            <p:cNvPr id="50" name="Abgerundetes Rechteck 8">
              <a:extLst>
                <a:ext uri="{FF2B5EF4-FFF2-40B4-BE49-F238E27FC236}">
                  <a16:creationId xmlns:a16="http://schemas.microsoft.com/office/drawing/2014/main" id="{97F5F481-F17B-C171-6B97-9576F8F7AA89}"/>
                </a:ext>
              </a:extLst>
            </p:cNvPr>
            <p:cNvSpPr/>
            <p:nvPr/>
          </p:nvSpPr>
          <p:spPr>
            <a:xfrm>
              <a:off x="5971561" y="4443480"/>
              <a:ext cx="1751750" cy="999543"/>
            </a:xfrm>
            <a:prstGeom prst="roundRect">
              <a:avLst>
                <a:gd name="adj" fmla="val 0"/>
              </a:avLst>
            </a:prstGeom>
            <a:solidFill>
              <a:schemeClr val="bg1">
                <a:lumMod val="95000"/>
                <a:alpha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2121" tIns="26060" rIns="52121" bIns="26060" rtlCol="0" anchor="t" anchorCtr="0"/>
            <a:lstStyle/>
            <a:p>
              <a:pPr algn="ctr">
                <a:lnSpc>
                  <a:spcPct val="90000"/>
                </a:lnSpc>
              </a:pPr>
              <a:r>
                <a:rPr lang="en-US" sz="1100" b="1" noProof="0">
                  <a:solidFill>
                    <a:schemeClr val="tx1"/>
                  </a:solidFill>
                </a:rPr>
                <a:t>War Gaming</a:t>
              </a:r>
            </a:p>
          </p:txBody>
        </p:sp>
        <p:sp>
          <p:nvSpPr>
            <p:cNvPr id="52" name="Abgerundetes Rechteck 9">
              <a:extLst>
                <a:ext uri="{FF2B5EF4-FFF2-40B4-BE49-F238E27FC236}">
                  <a16:creationId xmlns:a16="http://schemas.microsoft.com/office/drawing/2014/main" id="{FFF9A78C-5E17-74D4-8319-D5BEDC48FC74}"/>
                </a:ext>
              </a:extLst>
            </p:cNvPr>
            <p:cNvSpPr/>
            <p:nvPr/>
          </p:nvSpPr>
          <p:spPr>
            <a:xfrm>
              <a:off x="8370686" y="4452106"/>
              <a:ext cx="1751749" cy="999543"/>
            </a:xfrm>
            <a:prstGeom prst="roundRect">
              <a:avLst>
                <a:gd name="adj" fmla="val 0"/>
              </a:avLst>
            </a:prstGeom>
            <a:solidFill>
              <a:schemeClr val="bg1">
                <a:lumMod val="95000"/>
                <a:alpha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2121" tIns="26060" rIns="52121" bIns="26060" rtlCol="0" anchor="t" anchorCtr="0"/>
            <a:lstStyle/>
            <a:p>
              <a:pPr algn="ctr">
                <a:lnSpc>
                  <a:spcPct val="90000"/>
                </a:lnSpc>
              </a:pPr>
              <a:r>
                <a:rPr lang="en-US" sz="1100" b="1" noProof="0">
                  <a:solidFill>
                    <a:schemeClr val="tx1"/>
                  </a:solidFill>
                </a:rPr>
                <a:t>Pricing Simulation</a:t>
              </a:r>
            </a:p>
          </p:txBody>
        </p:sp>
        <p:pic>
          <p:nvPicPr>
            <p:cNvPr id="56" name="Picture 38">
              <a:extLst>
                <a:ext uri="{FF2B5EF4-FFF2-40B4-BE49-F238E27FC236}">
                  <a16:creationId xmlns:a16="http://schemas.microsoft.com/office/drawing/2014/main" id="{46BA1C1E-6A76-F1DA-E2D7-C9C1616D6E42}"/>
                </a:ext>
              </a:extLst>
            </p:cNvPr>
            <p:cNvPicPr>
              <a:picLocks noChangeAspect="1" noChangeArrowheads="1"/>
            </p:cNvPicPr>
            <p:nvPr/>
          </p:nvPicPr>
          <p:blipFill>
            <a:blip r:embed="rId7" cstate="screen"/>
            <a:srcRect/>
            <a:stretch>
              <a:fillRect/>
            </a:stretch>
          </p:blipFill>
          <p:spPr bwMode="auto">
            <a:xfrm>
              <a:off x="6266559" y="4780723"/>
              <a:ext cx="1134161" cy="502900"/>
            </a:xfrm>
            <a:prstGeom prst="rect">
              <a:avLst/>
            </a:prstGeom>
            <a:noFill/>
            <a:ln w="9525">
              <a:noFill/>
              <a:miter lim="800000"/>
              <a:headEnd/>
              <a:tailEnd/>
            </a:ln>
          </p:spPr>
        </p:pic>
        <p:pic>
          <p:nvPicPr>
            <p:cNvPr id="57" name="Picture 41">
              <a:extLst>
                <a:ext uri="{FF2B5EF4-FFF2-40B4-BE49-F238E27FC236}">
                  <a16:creationId xmlns:a16="http://schemas.microsoft.com/office/drawing/2014/main" id="{1EFCAA03-5B9F-04E4-8A21-6BCA0429A9D3}"/>
                </a:ext>
              </a:extLst>
            </p:cNvPr>
            <p:cNvPicPr>
              <a:picLocks noChangeAspect="1" noChangeArrowheads="1"/>
            </p:cNvPicPr>
            <p:nvPr/>
          </p:nvPicPr>
          <p:blipFill>
            <a:blip r:embed="rId8" cstate="screen"/>
            <a:srcRect/>
            <a:stretch>
              <a:fillRect/>
            </a:stretch>
          </p:blipFill>
          <p:spPr bwMode="auto">
            <a:xfrm>
              <a:off x="8784018" y="4761711"/>
              <a:ext cx="925084" cy="575428"/>
            </a:xfrm>
            <a:prstGeom prst="rect">
              <a:avLst/>
            </a:prstGeom>
            <a:noFill/>
            <a:ln w="9525">
              <a:noFill/>
              <a:miter lim="800000"/>
              <a:headEnd/>
              <a:tailEnd/>
            </a:ln>
          </p:spPr>
        </p:pic>
        <p:sp>
          <p:nvSpPr>
            <p:cNvPr id="58" name="Abgerundetes Rechteck 9">
              <a:extLst>
                <a:ext uri="{FF2B5EF4-FFF2-40B4-BE49-F238E27FC236}">
                  <a16:creationId xmlns:a16="http://schemas.microsoft.com/office/drawing/2014/main" id="{8EE0A066-5F03-7061-0E11-D88CA6C60228}"/>
                </a:ext>
              </a:extLst>
            </p:cNvPr>
            <p:cNvSpPr/>
            <p:nvPr/>
          </p:nvSpPr>
          <p:spPr>
            <a:xfrm>
              <a:off x="7342020" y="5637729"/>
              <a:ext cx="1971393" cy="999543"/>
            </a:xfrm>
            <a:prstGeom prst="roundRect">
              <a:avLst>
                <a:gd name="adj" fmla="val 0"/>
              </a:avLst>
            </a:prstGeom>
            <a:solidFill>
              <a:schemeClr val="bg1">
                <a:lumMod val="95000"/>
                <a:alpha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2121" tIns="26060" rIns="52121" bIns="26060" rtlCol="0" anchor="t" anchorCtr="0"/>
            <a:lstStyle/>
            <a:p>
              <a:pPr algn="ctr">
                <a:lnSpc>
                  <a:spcPct val="90000"/>
                </a:lnSpc>
              </a:pPr>
              <a:r>
                <a:rPr lang="en-US" sz="1100" b="1" noProof="0">
                  <a:solidFill>
                    <a:schemeClr val="tx1"/>
                  </a:solidFill>
                </a:rPr>
                <a:t>Telecom Business /Operations KPI Catalogue</a:t>
              </a:r>
            </a:p>
          </p:txBody>
        </p:sp>
        <p:sp>
          <p:nvSpPr>
            <p:cNvPr id="59" name="Abgerundetes Rechteck 9">
              <a:extLst>
                <a:ext uri="{FF2B5EF4-FFF2-40B4-BE49-F238E27FC236}">
                  <a16:creationId xmlns:a16="http://schemas.microsoft.com/office/drawing/2014/main" id="{B4198B2F-2800-FFE4-917B-142BA2B02448}"/>
                </a:ext>
              </a:extLst>
            </p:cNvPr>
            <p:cNvSpPr/>
            <p:nvPr/>
          </p:nvSpPr>
          <p:spPr>
            <a:xfrm>
              <a:off x="2878587" y="5637730"/>
              <a:ext cx="1751749" cy="999543"/>
            </a:xfrm>
            <a:prstGeom prst="roundRect">
              <a:avLst>
                <a:gd name="adj" fmla="val 0"/>
              </a:avLst>
            </a:prstGeom>
            <a:solidFill>
              <a:schemeClr val="bg1">
                <a:lumMod val="95000"/>
                <a:alpha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2121" tIns="26060" rIns="52121" bIns="26060" rtlCol="0" anchor="t" anchorCtr="0"/>
            <a:lstStyle/>
            <a:p>
              <a:pPr algn="ctr">
                <a:lnSpc>
                  <a:spcPct val="90000"/>
                </a:lnSpc>
              </a:pPr>
              <a:r>
                <a:rPr lang="en-US" sz="1100" b="1" noProof="0">
                  <a:solidFill>
                    <a:schemeClr val="tx1"/>
                  </a:solidFill>
                </a:rPr>
                <a:t>Pricing Benchmarking (as of RFI)</a:t>
              </a:r>
            </a:p>
          </p:txBody>
        </p:sp>
        <p:sp>
          <p:nvSpPr>
            <p:cNvPr id="60" name="Abgerundetes Rechteck 9">
              <a:extLst>
                <a:ext uri="{FF2B5EF4-FFF2-40B4-BE49-F238E27FC236}">
                  <a16:creationId xmlns:a16="http://schemas.microsoft.com/office/drawing/2014/main" id="{46ED15EA-7E1B-876C-B21F-B0652F140C68}"/>
                </a:ext>
              </a:extLst>
            </p:cNvPr>
            <p:cNvSpPr/>
            <p:nvPr/>
          </p:nvSpPr>
          <p:spPr>
            <a:xfrm>
              <a:off x="5054599" y="5637729"/>
              <a:ext cx="1751749" cy="999543"/>
            </a:xfrm>
            <a:prstGeom prst="roundRect">
              <a:avLst>
                <a:gd name="adj" fmla="val 0"/>
              </a:avLst>
            </a:prstGeom>
            <a:solidFill>
              <a:schemeClr val="bg1">
                <a:lumMod val="95000"/>
                <a:alpha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2121" tIns="26060" rIns="52121" bIns="26060" rtlCol="0" anchor="t" anchorCtr="0"/>
            <a:lstStyle/>
            <a:p>
              <a:pPr algn="ctr">
                <a:lnSpc>
                  <a:spcPct val="90000"/>
                </a:lnSpc>
              </a:pPr>
              <a:r>
                <a:rPr lang="en-US" sz="1100" b="1" noProof="0">
                  <a:solidFill>
                    <a:schemeClr val="tx1"/>
                  </a:solidFill>
                </a:rPr>
                <a:t>Business Case Impact</a:t>
              </a:r>
            </a:p>
          </p:txBody>
        </p:sp>
        <p:pic>
          <p:nvPicPr>
            <p:cNvPr id="61" name="Picture 37">
              <a:extLst>
                <a:ext uri="{FF2B5EF4-FFF2-40B4-BE49-F238E27FC236}">
                  <a16:creationId xmlns:a16="http://schemas.microsoft.com/office/drawing/2014/main" id="{E8E991DA-CC8B-C1A5-ABD7-4FB13715747A}"/>
                </a:ext>
              </a:extLst>
            </p:cNvPr>
            <p:cNvPicPr>
              <a:picLocks noChangeAspect="1" noChangeArrowheads="1"/>
            </p:cNvPicPr>
            <p:nvPr/>
          </p:nvPicPr>
          <p:blipFill>
            <a:blip r:embed="rId9" cstate="screen"/>
            <a:srcRect/>
            <a:stretch>
              <a:fillRect/>
            </a:stretch>
          </p:blipFill>
          <p:spPr bwMode="auto">
            <a:xfrm>
              <a:off x="3301422" y="6054596"/>
              <a:ext cx="951623" cy="488277"/>
            </a:xfrm>
            <a:prstGeom prst="rect">
              <a:avLst/>
            </a:prstGeom>
            <a:noFill/>
            <a:ln w="9525">
              <a:noFill/>
              <a:miter lim="800000"/>
              <a:headEnd/>
              <a:tailEnd/>
            </a:ln>
          </p:spPr>
        </p:pic>
        <p:pic>
          <p:nvPicPr>
            <p:cNvPr id="62" name="Picture 42">
              <a:extLst>
                <a:ext uri="{FF2B5EF4-FFF2-40B4-BE49-F238E27FC236}">
                  <a16:creationId xmlns:a16="http://schemas.microsoft.com/office/drawing/2014/main" id="{0C9E3A62-EA77-FA04-A992-927522DA2029}"/>
                </a:ext>
              </a:extLst>
            </p:cNvPr>
            <p:cNvPicPr>
              <a:picLocks noChangeAspect="1" noChangeArrowheads="1"/>
            </p:cNvPicPr>
            <p:nvPr/>
          </p:nvPicPr>
          <p:blipFill>
            <a:blip r:embed="rId10" cstate="screen"/>
            <a:srcRect/>
            <a:stretch>
              <a:fillRect/>
            </a:stretch>
          </p:blipFill>
          <p:spPr bwMode="auto">
            <a:xfrm>
              <a:off x="5478775" y="5988971"/>
              <a:ext cx="921308" cy="565593"/>
            </a:xfrm>
            <a:prstGeom prst="rect">
              <a:avLst/>
            </a:prstGeom>
            <a:noFill/>
            <a:ln w="9525">
              <a:noFill/>
              <a:miter lim="800000"/>
              <a:headEnd/>
              <a:tailEnd/>
            </a:ln>
          </p:spPr>
        </p:pic>
        <p:pic>
          <p:nvPicPr>
            <p:cNvPr id="63" name="Picture 35">
              <a:extLst>
                <a:ext uri="{FF2B5EF4-FFF2-40B4-BE49-F238E27FC236}">
                  <a16:creationId xmlns:a16="http://schemas.microsoft.com/office/drawing/2014/main" id="{126DEE54-F505-A062-635E-513EB6E77D70}"/>
                </a:ext>
              </a:extLst>
            </p:cNvPr>
            <p:cNvPicPr>
              <a:picLocks noChangeAspect="1" noChangeArrowheads="1"/>
            </p:cNvPicPr>
            <p:nvPr/>
          </p:nvPicPr>
          <p:blipFill>
            <a:blip r:embed="rId11" cstate="screen"/>
            <a:srcRect/>
            <a:stretch>
              <a:fillRect/>
            </a:stretch>
          </p:blipFill>
          <p:spPr bwMode="auto">
            <a:xfrm>
              <a:off x="7448464" y="6048765"/>
              <a:ext cx="837505" cy="463256"/>
            </a:xfrm>
            <a:prstGeom prst="rect">
              <a:avLst/>
            </a:prstGeom>
            <a:noFill/>
            <a:ln w="9525">
              <a:noFill/>
              <a:miter lim="800000"/>
              <a:headEnd/>
              <a:tailEnd/>
            </a:ln>
          </p:spPr>
        </p:pic>
        <p:pic>
          <p:nvPicPr>
            <p:cNvPr id="64" name="Picture 43">
              <a:extLst>
                <a:ext uri="{FF2B5EF4-FFF2-40B4-BE49-F238E27FC236}">
                  <a16:creationId xmlns:a16="http://schemas.microsoft.com/office/drawing/2014/main" id="{6E8B9CAD-E578-7D7B-A648-ECDF0BAEB1E1}"/>
                </a:ext>
              </a:extLst>
            </p:cNvPr>
            <p:cNvPicPr>
              <a:picLocks noChangeAspect="1" noChangeArrowheads="1"/>
            </p:cNvPicPr>
            <p:nvPr/>
          </p:nvPicPr>
          <p:blipFill>
            <a:blip r:embed="rId12" cstate="screen"/>
            <a:srcRect/>
            <a:stretch>
              <a:fillRect/>
            </a:stretch>
          </p:blipFill>
          <p:spPr bwMode="auto">
            <a:xfrm>
              <a:off x="8348788" y="6048765"/>
              <a:ext cx="904243" cy="463256"/>
            </a:xfrm>
            <a:prstGeom prst="rect">
              <a:avLst/>
            </a:prstGeom>
            <a:noFill/>
            <a:ln w="9525">
              <a:noFill/>
              <a:miter lim="800000"/>
              <a:headEnd/>
              <a:tailEnd/>
            </a:ln>
          </p:spPr>
        </p:pic>
        <p:sp>
          <p:nvSpPr>
            <p:cNvPr id="65" name="Isosceles Triangle 64">
              <a:extLst>
                <a:ext uri="{FF2B5EF4-FFF2-40B4-BE49-F238E27FC236}">
                  <a16:creationId xmlns:a16="http://schemas.microsoft.com/office/drawing/2014/main" id="{CF1FB5C8-8FAA-FAD4-BF58-D0B152EF5896}"/>
                </a:ext>
              </a:extLst>
            </p:cNvPr>
            <p:cNvSpPr/>
            <p:nvPr/>
          </p:nvSpPr>
          <p:spPr>
            <a:xfrm flipV="1">
              <a:off x="5015673" y="4049468"/>
              <a:ext cx="1751435" cy="180099"/>
            </a:xfrm>
            <a:prstGeom prst="triangl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a:ea typeface="+mn-ea"/>
                <a:cs typeface="+mn-cs"/>
              </a:endParaRPr>
            </a:p>
          </p:txBody>
        </p:sp>
        <p:cxnSp>
          <p:nvCxnSpPr>
            <p:cNvPr id="66" name="Straight Connector 65">
              <a:extLst>
                <a:ext uri="{FF2B5EF4-FFF2-40B4-BE49-F238E27FC236}">
                  <a16:creationId xmlns:a16="http://schemas.microsoft.com/office/drawing/2014/main" id="{3FE4A1ED-B886-00F9-2651-EC401E9754F9}"/>
                </a:ext>
              </a:extLst>
            </p:cNvPr>
            <p:cNvCxnSpPr>
              <a:cxnSpLocks/>
            </p:cNvCxnSpPr>
            <p:nvPr/>
          </p:nvCxnSpPr>
          <p:spPr>
            <a:xfrm>
              <a:off x="204610" y="4049468"/>
              <a:ext cx="11782779" cy="0"/>
            </a:xfrm>
            <a:prstGeom prst="line">
              <a:avLst/>
            </a:prstGeom>
            <a:solidFill>
              <a:schemeClr val="tx1"/>
            </a:solidFill>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29DFE463-59E7-16D9-0B6C-E08C384E740A}"/>
              </a:ext>
            </a:extLst>
          </p:cNvPr>
          <p:cNvGrpSpPr/>
          <p:nvPr/>
        </p:nvGrpSpPr>
        <p:grpSpPr>
          <a:xfrm>
            <a:off x="377798" y="1465111"/>
            <a:ext cx="5151186" cy="348104"/>
            <a:chOff x="377799" y="1062548"/>
            <a:chExt cx="5130530" cy="208800"/>
          </a:xfrm>
        </p:grpSpPr>
        <p:sp>
          <p:nvSpPr>
            <p:cNvPr id="9" name="Arrow: Chevron 8">
              <a:extLst>
                <a:ext uri="{FF2B5EF4-FFF2-40B4-BE49-F238E27FC236}">
                  <a16:creationId xmlns:a16="http://schemas.microsoft.com/office/drawing/2014/main" id="{36C2DC67-D234-5504-BF63-C1FBDC5AED4F}"/>
                </a:ext>
              </a:extLst>
            </p:cNvPr>
            <p:cNvSpPr/>
            <p:nvPr/>
          </p:nvSpPr>
          <p:spPr>
            <a:xfrm>
              <a:off x="37779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Discover</a:t>
              </a:r>
            </a:p>
          </p:txBody>
        </p:sp>
        <p:sp>
          <p:nvSpPr>
            <p:cNvPr id="10" name="Arrow: Chevron 9">
              <a:extLst>
                <a:ext uri="{FF2B5EF4-FFF2-40B4-BE49-F238E27FC236}">
                  <a16:creationId xmlns:a16="http://schemas.microsoft.com/office/drawing/2014/main" id="{1835BDD4-CCAB-6826-C9D6-C0C35BE736B0}"/>
                </a:ext>
              </a:extLst>
            </p:cNvPr>
            <p:cNvSpPr/>
            <p:nvPr/>
          </p:nvSpPr>
          <p:spPr>
            <a:xfrm>
              <a:off x="1664376"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bg1">
                    <a:lumMod val="50000"/>
                  </a:schemeClr>
                </a:solidFill>
              </a:endParaRPr>
            </a:p>
            <a:p>
              <a:pPr algn="ctr"/>
              <a:r>
                <a:rPr lang="en-US" sz="1050">
                  <a:solidFill>
                    <a:schemeClr val="bg1">
                      <a:lumMod val="50000"/>
                    </a:schemeClr>
                  </a:solidFill>
                </a:rPr>
                <a:t>Evaluate &amp; Create</a:t>
              </a:r>
            </a:p>
            <a:p>
              <a:pPr algn="ctr"/>
              <a:endParaRPr lang="en-US" sz="1050" noProof="0">
                <a:solidFill>
                  <a:schemeClr val="bg1">
                    <a:lumMod val="50000"/>
                  </a:schemeClr>
                </a:solidFill>
              </a:endParaRPr>
            </a:p>
          </p:txBody>
        </p:sp>
        <p:sp>
          <p:nvSpPr>
            <p:cNvPr id="11" name="Arrow: Chevron 10">
              <a:extLst>
                <a:ext uri="{FF2B5EF4-FFF2-40B4-BE49-F238E27FC236}">
                  <a16:creationId xmlns:a16="http://schemas.microsoft.com/office/drawing/2014/main" id="{8397D2B0-FAF2-8BEF-B09A-94CD8E2CF944}"/>
                </a:ext>
              </a:extLst>
            </p:cNvPr>
            <p:cNvSpPr/>
            <p:nvPr/>
          </p:nvSpPr>
          <p:spPr>
            <a:xfrm>
              <a:off x="2950953"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Recommend</a:t>
              </a:r>
            </a:p>
          </p:txBody>
        </p:sp>
        <p:sp>
          <p:nvSpPr>
            <p:cNvPr id="12" name="Arrow: Chevron 11">
              <a:extLst>
                <a:ext uri="{FF2B5EF4-FFF2-40B4-BE49-F238E27FC236}">
                  <a16:creationId xmlns:a16="http://schemas.microsoft.com/office/drawing/2014/main" id="{1A524421-FA08-D616-F749-F603E27D777B}"/>
                </a:ext>
              </a:extLst>
            </p:cNvPr>
            <p:cNvSpPr/>
            <p:nvPr/>
          </p:nvSpPr>
          <p:spPr>
            <a:xfrm>
              <a:off x="4237529" y="1062548"/>
              <a:ext cx="1270800" cy="208800"/>
            </a:xfrm>
            <a:prstGeom prst="chevron">
              <a:avLst/>
            </a:prstGeom>
            <a:solidFill>
              <a:srgbClr val="178C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solidFill>
                </a:rPr>
                <a:t>Support</a:t>
              </a:r>
            </a:p>
          </p:txBody>
        </p:sp>
      </p:grpSp>
    </p:spTree>
    <p:extLst>
      <p:ext uri="{BB962C8B-B14F-4D97-AF65-F5344CB8AC3E}">
        <p14:creationId xmlns:p14="http://schemas.microsoft.com/office/powerpoint/2010/main" val="296747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6512-138C-402D-2E00-9365BF891052}"/>
              </a:ext>
            </a:extLst>
          </p:cNvPr>
          <p:cNvSpPr>
            <a:spLocks noGrp="1"/>
          </p:cNvSpPr>
          <p:nvPr>
            <p:ph type="title"/>
          </p:nvPr>
        </p:nvSpPr>
        <p:spPr/>
        <p:txBody>
          <a:bodyPr/>
          <a:lstStyle/>
          <a:p>
            <a:r>
              <a:rPr lang="en-US" cap="none" noProof="0"/>
              <a:t>Statement on tax, audit, legal &amp; regulatory services</a:t>
            </a:r>
            <a:br>
              <a:rPr lang="en-US" cap="none" noProof="0"/>
            </a:br>
            <a:endParaRPr lang="en-US" cap="none" noProof="0"/>
          </a:p>
        </p:txBody>
      </p:sp>
      <p:sp>
        <p:nvSpPr>
          <p:cNvPr id="3" name="Text Placeholder 2">
            <a:extLst>
              <a:ext uri="{FF2B5EF4-FFF2-40B4-BE49-F238E27FC236}">
                <a16:creationId xmlns:a16="http://schemas.microsoft.com/office/drawing/2014/main" id="{F87FB455-CE83-B05E-8997-DC50399A262D}"/>
              </a:ext>
            </a:extLst>
          </p:cNvPr>
          <p:cNvSpPr>
            <a:spLocks noGrp="1"/>
          </p:cNvSpPr>
          <p:nvPr>
            <p:ph type="body" sz="quarter" idx="10"/>
          </p:nvPr>
        </p:nvSpPr>
        <p:spPr>
          <a:xfrm>
            <a:off x="404813" y="2280665"/>
            <a:ext cx="11174253" cy="2931416"/>
          </a:xfrm>
        </p:spPr>
        <p:txBody>
          <a:bodyPr/>
          <a:lstStyle/>
          <a:p>
            <a:pPr algn="just">
              <a:lnSpc>
                <a:spcPct val="150000"/>
              </a:lnSpc>
            </a:pPr>
            <a:r>
              <a:rPr lang="en-US" sz="1400" i="1" noProof="0"/>
              <a:t>Capgemini has no permit to deliver accounting, tax, audit, legal or regulatory services (‘legal advice’), that are strictly regulated and out of scope of Capgemini’s consulting perimeter. Any high-level assessment ran by Capgemini Invent, as well as any material created by Capgemini as part of its services, do not, and are not intended to, constitute legal advice or other professional advice or an opinion of any kind. Capgemini does not warrant or guarantee the quality, accuracy or completeness of such high-level assessment and materials. </a:t>
            </a:r>
          </a:p>
          <a:p>
            <a:pPr algn="just">
              <a:lnSpc>
                <a:spcPct val="150000"/>
              </a:lnSpc>
            </a:pPr>
            <a:endParaRPr lang="en-US" sz="1400" i="1" noProof="0"/>
          </a:p>
          <a:p>
            <a:pPr algn="just">
              <a:lnSpc>
                <a:spcPct val="150000"/>
              </a:lnSpc>
            </a:pPr>
            <a:r>
              <a:rPr lang="en-US" sz="1400" i="1" noProof="0"/>
              <a:t>Capgemini’s assessment and materials must hence be reviewed, finalized and validated by accredited or certified organizations who are authorized to provide such accounting, tax, audit, legal or regulatory services (out of scope of this proposal and to be purchased by you separately from any such accredited or certified organizations)</a:t>
            </a:r>
          </a:p>
        </p:txBody>
      </p:sp>
      <p:grpSp>
        <p:nvGrpSpPr>
          <p:cNvPr id="4" name="Group 3">
            <a:extLst>
              <a:ext uri="{FF2B5EF4-FFF2-40B4-BE49-F238E27FC236}">
                <a16:creationId xmlns:a16="http://schemas.microsoft.com/office/drawing/2014/main" id="{74658796-A69B-ADBA-E2EB-AE8E30B50362}"/>
              </a:ext>
            </a:extLst>
          </p:cNvPr>
          <p:cNvGrpSpPr/>
          <p:nvPr/>
        </p:nvGrpSpPr>
        <p:grpSpPr>
          <a:xfrm>
            <a:off x="404813" y="1297815"/>
            <a:ext cx="5151185" cy="348104"/>
            <a:chOff x="377799" y="1062548"/>
            <a:chExt cx="5130530" cy="208800"/>
          </a:xfrm>
        </p:grpSpPr>
        <p:sp>
          <p:nvSpPr>
            <p:cNvPr id="5" name="Arrow: Chevron 4">
              <a:extLst>
                <a:ext uri="{FF2B5EF4-FFF2-40B4-BE49-F238E27FC236}">
                  <a16:creationId xmlns:a16="http://schemas.microsoft.com/office/drawing/2014/main" id="{CBBA9FD5-DA02-AD4A-97F7-3BCF04A4898F}"/>
                </a:ext>
              </a:extLst>
            </p:cNvPr>
            <p:cNvSpPr/>
            <p:nvPr/>
          </p:nvSpPr>
          <p:spPr>
            <a:xfrm>
              <a:off x="377799"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Discover</a:t>
              </a:r>
            </a:p>
          </p:txBody>
        </p:sp>
        <p:sp>
          <p:nvSpPr>
            <p:cNvPr id="6" name="Arrow: Chevron 5">
              <a:extLst>
                <a:ext uri="{FF2B5EF4-FFF2-40B4-BE49-F238E27FC236}">
                  <a16:creationId xmlns:a16="http://schemas.microsoft.com/office/drawing/2014/main" id="{D67C7702-8DEC-F6D9-4F6E-0B0E9C5B6AC9}"/>
                </a:ext>
              </a:extLst>
            </p:cNvPr>
            <p:cNvSpPr/>
            <p:nvPr/>
          </p:nvSpPr>
          <p:spPr>
            <a:xfrm>
              <a:off x="1664376" y="1062548"/>
              <a:ext cx="1270800"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bg1">
                    <a:lumMod val="50000"/>
                  </a:schemeClr>
                </a:solidFill>
              </a:endParaRPr>
            </a:p>
            <a:p>
              <a:pPr algn="ctr"/>
              <a:r>
                <a:rPr lang="en-US" sz="1050">
                  <a:solidFill>
                    <a:schemeClr val="bg1">
                      <a:lumMod val="50000"/>
                    </a:schemeClr>
                  </a:solidFill>
                </a:rPr>
                <a:t>Evaluate &amp; Create</a:t>
              </a:r>
            </a:p>
            <a:p>
              <a:pPr algn="ctr"/>
              <a:endParaRPr lang="en-US" sz="1050" noProof="0">
                <a:solidFill>
                  <a:schemeClr val="bg1">
                    <a:lumMod val="50000"/>
                  </a:schemeClr>
                </a:solidFill>
              </a:endParaRPr>
            </a:p>
          </p:txBody>
        </p:sp>
        <p:sp>
          <p:nvSpPr>
            <p:cNvPr id="7" name="Arrow: Chevron 6">
              <a:extLst>
                <a:ext uri="{FF2B5EF4-FFF2-40B4-BE49-F238E27FC236}">
                  <a16:creationId xmlns:a16="http://schemas.microsoft.com/office/drawing/2014/main" id="{467B542E-4C6B-2CAC-568F-72406A280C3F}"/>
                </a:ext>
              </a:extLst>
            </p:cNvPr>
            <p:cNvSpPr/>
            <p:nvPr/>
          </p:nvSpPr>
          <p:spPr>
            <a:xfrm>
              <a:off x="2950953" y="1062548"/>
              <a:ext cx="1286576" cy="2088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lumMod val="50000"/>
                    </a:schemeClr>
                  </a:solidFill>
                </a:rPr>
                <a:t>Recommend</a:t>
              </a:r>
            </a:p>
          </p:txBody>
        </p:sp>
        <p:sp>
          <p:nvSpPr>
            <p:cNvPr id="8" name="Arrow: Chevron 7">
              <a:extLst>
                <a:ext uri="{FF2B5EF4-FFF2-40B4-BE49-F238E27FC236}">
                  <a16:creationId xmlns:a16="http://schemas.microsoft.com/office/drawing/2014/main" id="{856E980C-BE0F-B16E-A182-497B9EDDFF98}"/>
                </a:ext>
              </a:extLst>
            </p:cNvPr>
            <p:cNvSpPr/>
            <p:nvPr/>
          </p:nvSpPr>
          <p:spPr>
            <a:xfrm>
              <a:off x="4237529" y="1062548"/>
              <a:ext cx="1270800" cy="208800"/>
            </a:xfrm>
            <a:prstGeom prst="chevron">
              <a:avLst/>
            </a:prstGeom>
            <a:solidFill>
              <a:srgbClr val="178C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a:solidFill>
                    <a:schemeClr val="bg1"/>
                  </a:solidFill>
                </a:rPr>
                <a:t>Support</a:t>
              </a:r>
            </a:p>
          </p:txBody>
        </p:sp>
      </p:grpSp>
    </p:spTree>
    <p:extLst>
      <p:ext uri="{BB962C8B-B14F-4D97-AF65-F5344CB8AC3E}">
        <p14:creationId xmlns:p14="http://schemas.microsoft.com/office/powerpoint/2010/main" val="871413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094ACDC-77A7-68EA-7325-F8285A6EEF5A}"/>
              </a:ext>
            </a:extLst>
          </p:cNvPr>
          <p:cNvPicPr>
            <a:picLocks noChangeAspect="1" noChangeArrowheads="1"/>
          </p:cNvPicPr>
          <p:nvPr/>
        </p:nvPicPr>
        <p:blipFill>
          <a:blip r:embed="rId4">
            <a:alphaModFix amt="53000"/>
            <a:extLst>
              <a:ext uri="{28A0092B-C50C-407E-A947-70E740481C1C}">
                <a14:useLocalDpi xmlns:a14="http://schemas.microsoft.com/office/drawing/2010/main" val="0"/>
              </a:ext>
            </a:extLst>
          </a:blip>
          <a:srcRect/>
          <a:stretch>
            <a:fillRect/>
          </a:stretch>
        </p:blipFill>
        <p:spPr bwMode="auto">
          <a:xfrm>
            <a:off x="-9491" y="0"/>
            <a:ext cx="4063404" cy="6858000"/>
          </a:xfrm>
          <a:prstGeom prst="rect">
            <a:avLst/>
          </a:prstGeom>
          <a:noFill/>
          <a:extLst>
            <a:ext uri="{909E8E84-426E-40DD-AFC4-6F175D3DCCD1}">
              <a14:hiddenFill xmlns:a14="http://schemas.microsoft.com/office/drawing/2010/main">
                <a:solidFill>
                  <a:srgbClr val="FFFFFF"/>
                </a:solidFill>
              </a14:hiddenFill>
            </a:ext>
          </a:extLst>
        </p:spPr>
      </p:pic>
      <p:sp>
        <p:nvSpPr>
          <p:cNvPr id="24" name="Oval 23">
            <a:extLst>
              <a:ext uri="{FF2B5EF4-FFF2-40B4-BE49-F238E27FC236}">
                <a16:creationId xmlns:a16="http://schemas.microsoft.com/office/drawing/2014/main" id="{893FE316-02AE-00A4-49A9-47A7652EC19E}"/>
              </a:ext>
            </a:extLst>
          </p:cNvPr>
          <p:cNvSpPr/>
          <p:nvPr/>
        </p:nvSpPr>
        <p:spPr>
          <a:xfrm>
            <a:off x="10157618" y="4679982"/>
            <a:ext cx="1771333" cy="167571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sp>
        <p:nvSpPr>
          <p:cNvPr id="26" name="Oval 25">
            <a:extLst>
              <a:ext uri="{FF2B5EF4-FFF2-40B4-BE49-F238E27FC236}">
                <a16:creationId xmlns:a16="http://schemas.microsoft.com/office/drawing/2014/main" id="{ADDF5B99-6A71-D890-B14C-2ECE82AC3378}"/>
              </a:ext>
            </a:extLst>
          </p:cNvPr>
          <p:cNvSpPr/>
          <p:nvPr/>
        </p:nvSpPr>
        <p:spPr>
          <a:xfrm>
            <a:off x="10247716" y="4759585"/>
            <a:ext cx="1590634" cy="1514906"/>
          </a:xfrm>
          <a:prstGeom prst="ellipse">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grpSp>
        <p:nvGrpSpPr>
          <p:cNvPr id="19" name="Group 18">
            <a:extLst>
              <a:ext uri="{FF2B5EF4-FFF2-40B4-BE49-F238E27FC236}">
                <a16:creationId xmlns:a16="http://schemas.microsoft.com/office/drawing/2014/main" id="{E24A6334-F19B-B295-256F-FE61C89C6177}"/>
              </a:ext>
            </a:extLst>
          </p:cNvPr>
          <p:cNvGrpSpPr/>
          <p:nvPr/>
        </p:nvGrpSpPr>
        <p:grpSpPr>
          <a:xfrm>
            <a:off x="10191023" y="2873327"/>
            <a:ext cx="1771333" cy="1675710"/>
            <a:chOff x="7260480" y="633827"/>
            <a:chExt cx="1771333" cy="1675710"/>
          </a:xfrm>
        </p:grpSpPr>
        <p:sp>
          <p:nvSpPr>
            <p:cNvPr id="20" name="Oval 19">
              <a:extLst>
                <a:ext uri="{FF2B5EF4-FFF2-40B4-BE49-F238E27FC236}">
                  <a16:creationId xmlns:a16="http://schemas.microsoft.com/office/drawing/2014/main" id="{F9B7EF4A-EF76-8E27-E8B8-EF68C14A91C5}"/>
                </a:ext>
              </a:extLst>
            </p:cNvPr>
            <p:cNvSpPr/>
            <p:nvPr/>
          </p:nvSpPr>
          <p:spPr>
            <a:xfrm>
              <a:off x="7260480" y="633827"/>
              <a:ext cx="1771333" cy="167571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sp>
          <p:nvSpPr>
            <p:cNvPr id="21" name="Oval 20">
              <a:extLst>
                <a:ext uri="{FF2B5EF4-FFF2-40B4-BE49-F238E27FC236}">
                  <a16:creationId xmlns:a16="http://schemas.microsoft.com/office/drawing/2014/main" id="{ED159712-E926-DA8C-0E45-ADED667C84AF}"/>
                </a:ext>
              </a:extLst>
            </p:cNvPr>
            <p:cNvSpPr/>
            <p:nvPr/>
          </p:nvSpPr>
          <p:spPr>
            <a:xfrm>
              <a:off x="7371280" y="715028"/>
              <a:ext cx="1575549" cy="1513308"/>
            </a:xfrm>
            <a:prstGeom prst="ellipse">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grpSp>
      <p:grpSp>
        <p:nvGrpSpPr>
          <p:cNvPr id="17" name="Group 16">
            <a:extLst>
              <a:ext uri="{FF2B5EF4-FFF2-40B4-BE49-F238E27FC236}">
                <a16:creationId xmlns:a16="http://schemas.microsoft.com/office/drawing/2014/main" id="{ECCD0356-B292-17C3-6CC2-29ECB0DC213F}"/>
              </a:ext>
            </a:extLst>
          </p:cNvPr>
          <p:cNvGrpSpPr/>
          <p:nvPr/>
        </p:nvGrpSpPr>
        <p:grpSpPr>
          <a:xfrm>
            <a:off x="10157619" y="1066672"/>
            <a:ext cx="1771333" cy="1675710"/>
            <a:chOff x="7260480" y="633827"/>
            <a:chExt cx="1771333" cy="1675710"/>
          </a:xfrm>
        </p:grpSpPr>
        <p:sp>
          <p:nvSpPr>
            <p:cNvPr id="2" name="Oval 1">
              <a:extLst>
                <a:ext uri="{FF2B5EF4-FFF2-40B4-BE49-F238E27FC236}">
                  <a16:creationId xmlns:a16="http://schemas.microsoft.com/office/drawing/2014/main" id="{BE04F543-F282-4635-4380-ACAC1942420E}"/>
                </a:ext>
              </a:extLst>
            </p:cNvPr>
            <p:cNvSpPr/>
            <p:nvPr/>
          </p:nvSpPr>
          <p:spPr>
            <a:xfrm>
              <a:off x="7260480" y="633827"/>
              <a:ext cx="1771333" cy="167571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sp>
          <p:nvSpPr>
            <p:cNvPr id="14" name="Oval 13">
              <a:extLst>
                <a:ext uri="{FF2B5EF4-FFF2-40B4-BE49-F238E27FC236}">
                  <a16:creationId xmlns:a16="http://schemas.microsoft.com/office/drawing/2014/main" id="{BB932104-05CB-1232-1DCA-37CC8BC838E9}"/>
                </a:ext>
              </a:extLst>
            </p:cNvPr>
            <p:cNvSpPr/>
            <p:nvPr/>
          </p:nvSpPr>
          <p:spPr>
            <a:xfrm>
              <a:off x="7371280" y="715028"/>
              <a:ext cx="1575549" cy="1513308"/>
            </a:xfrm>
            <a:prstGeom prst="ellipse">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grpSp>
      <p:graphicFrame>
        <p:nvGraphicFramePr>
          <p:cNvPr id="10" name="think-cell data - do not delete" hidden="1">
            <a:extLst>
              <a:ext uri="{FF2B5EF4-FFF2-40B4-BE49-F238E27FC236}">
                <a16:creationId xmlns:a16="http://schemas.microsoft.com/office/drawing/2014/main" id="{FB74E15C-70D8-0D2E-50B2-8A359C5E7C9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3" progId="TCLayout.ActiveDocument.1">
                  <p:embed/>
                </p:oleObj>
              </mc:Choice>
              <mc:Fallback>
                <p:oleObj name="think-cell Slide" r:id="rId5" imgW="473" imgH="473" progId="TCLayout.ActiveDocument.1">
                  <p:embed/>
                  <p:pic>
                    <p:nvPicPr>
                      <p:cNvPr id="10" name="think-cell data - do not delete" hidden="1">
                        <a:extLst>
                          <a:ext uri="{FF2B5EF4-FFF2-40B4-BE49-F238E27FC236}">
                            <a16:creationId xmlns:a16="http://schemas.microsoft.com/office/drawing/2014/main" id="{FB74E15C-70D8-0D2E-50B2-8A359C5E7C9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4" name="Rectangle 63">
            <a:extLst>
              <a:ext uri="{FF2B5EF4-FFF2-40B4-BE49-F238E27FC236}">
                <a16:creationId xmlns:a16="http://schemas.microsoft.com/office/drawing/2014/main" id="{B268FAA2-72F2-9341-8B99-D1CAF12CA505}"/>
              </a:ext>
            </a:extLst>
          </p:cNvPr>
          <p:cNvSpPr/>
          <p:nvPr/>
        </p:nvSpPr>
        <p:spPr>
          <a:xfrm>
            <a:off x="4253986" y="1147873"/>
            <a:ext cx="5323382" cy="5648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rmAutofit fontScale="92500" lnSpcReduction="20000"/>
          </a:bodyPr>
          <a:lstStyle/>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kumimoji="0" lang="en-US" sz="1400" b="1" i="0" u="none" strike="noStrike" kern="1200" cap="none" spc="0" normalizeH="0" baseline="0" noProof="0">
                <a:ln>
                  <a:noFill/>
                </a:ln>
                <a:solidFill>
                  <a:srgbClr val="12ABDB"/>
                </a:solidFill>
                <a:effectLst/>
                <a:uLnTx/>
                <a:uFillTx/>
                <a:latin typeface="Ubuntu Light" panose="020B0304030602030204" pitchFamily="34" charset="0"/>
                <a:ea typeface="+mn-ea"/>
                <a:cs typeface="+mn-cs"/>
              </a:rPr>
              <a:t>Purpose of Transformation</a:t>
            </a: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lang="en-US" sz="1300">
                <a:solidFill>
                  <a:srgbClr val="FFFFFF"/>
                </a:solidFill>
                <a:latin typeface="Ubuntu Light" panose="020B0304030602030204" pitchFamily="34" charset="0"/>
              </a:rPr>
              <a:t>The existing IT stack lacked agility, modularity, and integration, limiting the organization’s ability to scale, collaborate with partners, and deliver next-generation digital services. This created operational inefficiencies and hindered customer experience</a:t>
            </a: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endParaRPr lang="en-US" sz="1300">
              <a:solidFill>
                <a:srgbClr val="FFFFFF"/>
              </a:solidFill>
              <a:latin typeface="Ubuntu Light" panose="020B0304030602030204" pitchFamily="34" charset="0"/>
            </a:endParaRP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lang="en-US" sz="1400" b="1">
                <a:solidFill>
                  <a:srgbClr val="12ABDB"/>
                </a:solidFill>
                <a:latin typeface="Ubuntu Light" panose="020B0304030602030204" pitchFamily="34" charset="0"/>
              </a:rPr>
              <a:t>Solution Proposed : </a:t>
            </a:r>
            <a:endParaRPr kumimoji="0" lang="en-US" sz="1400" b="1" i="0" u="none" strike="noStrike" kern="1200" cap="none" spc="0" normalizeH="0" baseline="0" noProof="0">
              <a:ln>
                <a:noFill/>
              </a:ln>
              <a:solidFill>
                <a:srgbClr val="12ABDB"/>
              </a:solidFill>
              <a:effectLst/>
              <a:uLnTx/>
              <a:uFillTx/>
              <a:latin typeface="Ubuntu Light" panose="020B0304030602030204" pitchFamily="34" charset="0"/>
              <a:ea typeface="+mn-ea"/>
              <a:cs typeface="+mn-cs"/>
            </a:endParaRP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kumimoji="0" lang="en-US" sz="13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A transformation roadmap was co-developed to modernize the IT stack, aligning architecture with business growth objectives. The solution focused on building a scalable, modular, and API-driven IT landscape to enhance operational efficiency and elevate customer experience</a:t>
            </a: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endParaRPr kumimoji="0" lang="en-GB" sz="13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a:p>
            <a:pPr>
              <a:spcBef>
                <a:spcPts val="200"/>
              </a:spcBef>
              <a:buClr>
                <a:srgbClr val="FFFFFF"/>
              </a:buClr>
              <a:defRPr/>
            </a:pPr>
            <a:r>
              <a:rPr lang="en-US" sz="1400" b="1">
                <a:solidFill>
                  <a:srgbClr val="12ABDB"/>
                </a:solidFill>
                <a:latin typeface="Ubuntu Light" panose="020B0304030602030204" pitchFamily="34" charset="0"/>
                <a:sym typeface="Libre Baskerville"/>
              </a:rPr>
              <a:t>Our Approach</a:t>
            </a:r>
          </a:p>
          <a:p>
            <a:pPr marL="285750" indent="-285750" defTabSz="914400">
              <a:lnSpc>
                <a:spcPct val="110000"/>
              </a:lnSpc>
              <a:spcBef>
                <a:spcPts val="200"/>
              </a:spcBef>
              <a:buClr>
                <a:srgbClr val="FFFFFF"/>
              </a:buClr>
              <a:buFont typeface="Arial" panose="020B0604020202020204" pitchFamily="34" charset="0"/>
              <a:buChar char="•"/>
              <a:defRPr/>
            </a:pPr>
            <a:r>
              <a:rPr lang="en-US" sz="1300">
                <a:solidFill>
                  <a:srgbClr val="FFFFFF"/>
                </a:solidFill>
                <a:latin typeface="Ubuntu Light" panose="020B0304030602030204" pitchFamily="34" charset="0"/>
                <a:sym typeface="Libre Baskerville"/>
              </a:rPr>
              <a:t>Assess Current State: Reviewed IT maturity, architecture, operating model, and partner landscape</a:t>
            </a:r>
          </a:p>
          <a:p>
            <a:pPr marL="285750" indent="-285750" defTabSz="914400">
              <a:lnSpc>
                <a:spcPct val="110000"/>
              </a:lnSpc>
              <a:spcBef>
                <a:spcPts val="200"/>
              </a:spcBef>
              <a:buClr>
                <a:srgbClr val="FFFFFF"/>
              </a:buClr>
              <a:buFont typeface="Arial" panose="020B0604020202020204" pitchFamily="34" charset="0"/>
              <a:buChar char="•"/>
              <a:defRPr/>
            </a:pPr>
            <a:r>
              <a:rPr lang="en-US" sz="1300">
                <a:solidFill>
                  <a:srgbClr val="FFFFFF"/>
                </a:solidFill>
                <a:latin typeface="Ubuntu Light" panose="020B0304030602030204" pitchFamily="34" charset="0"/>
                <a:sym typeface="Libre Baskerville"/>
              </a:rPr>
              <a:t>Strategic Deep Dives: Focused on B2B enablement, sourcing, and architecture vision</a:t>
            </a:r>
          </a:p>
          <a:p>
            <a:pPr marL="285750" indent="-285750" defTabSz="914400">
              <a:lnSpc>
                <a:spcPct val="110000"/>
              </a:lnSpc>
              <a:spcBef>
                <a:spcPts val="200"/>
              </a:spcBef>
              <a:buClr>
                <a:srgbClr val="FFFFFF"/>
              </a:buClr>
              <a:buFont typeface="Arial" panose="020B0604020202020204" pitchFamily="34" charset="0"/>
              <a:buChar char="•"/>
              <a:defRPr/>
            </a:pPr>
            <a:r>
              <a:rPr lang="en-US" sz="1300">
                <a:solidFill>
                  <a:srgbClr val="FFFFFF"/>
                </a:solidFill>
                <a:latin typeface="Ubuntu Light" panose="020B0304030602030204" pitchFamily="34" charset="0"/>
                <a:sym typeface="Libre Baskerville"/>
              </a:rPr>
              <a:t>Blueprint Design: Defined future-state architecture aligned with business goals</a:t>
            </a:r>
          </a:p>
          <a:p>
            <a:pPr marL="285750" indent="-285750" defTabSz="914400">
              <a:lnSpc>
                <a:spcPct val="110000"/>
              </a:lnSpc>
              <a:spcBef>
                <a:spcPts val="200"/>
              </a:spcBef>
              <a:buClr>
                <a:srgbClr val="FFFFFF"/>
              </a:buClr>
              <a:buFont typeface="Arial" panose="020B0604020202020204" pitchFamily="34" charset="0"/>
              <a:buChar char="•"/>
              <a:defRPr/>
            </a:pPr>
            <a:r>
              <a:rPr lang="en-US" sz="1300">
                <a:solidFill>
                  <a:srgbClr val="FFFFFF"/>
                </a:solidFill>
                <a:latin typeface="Ubuntu Light" panose="020B0304030602030204" pitchFamily="34" charset="0"/>
                <a:sym typeface="Libre Baskerville"/>
              </a:rPr>
              <a:t>Transformation Planning: Mapped initiatives, benefits, and risks.</a:t>
            </a:r>
          </a:p>
          <a:p>
            <a:pPr marL="285750" indent="-285750" defTabSz="914400">
              <a:lnSpc>
                <a:spcPct val="110000"/>
              </a:lnSpc>
              <a:spcBef>
                <a:spcPts val="200"/>
              </a:spcBef>
              <a:buClr>
                <a:srgbClr val="FFFFFF"/>
              </a:buClr>
              <a:buFont typeface="Arial" panose="020B0604020202020204" pitchFamily="34" charset="0"/>
              <a:buChar char="•"/>
              <a:defRPr/>
            </a:pPr>
            <a:r>
              <a:rPr lang="en-US" sz="1300">
                <a:solidFill>
                  <a:srgbClr val="FFFFFF"/>
                </a:solidFill>
                <a:latin typeface="Ubuntu Light" panose="020B0304030602030204" pitchFamily="34" charset="0"/>
                <a:sym typeface="Libre Baskerville"/>
              </a:rPr>
              <a:t>Operating Model: Proposed sourcing strategy, agility framework, and governance</a:t>
            </a:r>
          </a:p>
          <a:p>
            <a:pPr>
              <a:spcBef>
                <a:spcPts val="200"/>
              </a:spcBef>
              <a:buClr>
                <a:srgbClr val="FFFFFF"/>
              </a:buClr>
              <a:defRPr/>
            </a:pPr>
            <a:endParaRPr lang="en-US" sz="1400" b="1">
              <a:solidFill>
                <a:srgbClr val="12ABDB"/>
              </a:solidFill>
              <a:latin typeface="Ubuntu Light" panose="020B0304030602030204" pitchFamily="34" charset="0"/>
            </a:endParaRPr>
          </a:p>
          <a:p>
            <a:pPr>
              <a:spcBef>
                <a:spcPts val="200"/>
              </a:spcBef>
              <a:buClr>
                <a:srgbClr val="FFFFFF"/>
              </a:buClr>
              <a:defRPr/>
            </a:pPr>
            <a:r>
              <a:rPr lang="en-US" sz="1400" b="1">
                <a:solidFill>
                  <a:srgbClr val="12ABDB"/>
                </a:solidFill>
                <a:latin typeface="Ubuntu Light" panose="020B0304030602030204" pitchFamily="34" charset="0"/>
              </a:rPr>
              <a:t>Key Deliverables</a:t>
            </a:r>
          </a:p>
          <a:p>
            <a:pPr marL="285750" indent="-285750" defTabSz="914400">
              <a:lnSpc>
                <a:spcPct val="110000"/>
              </a:lnSpc>
              <a:spcBef>
                <a:spcPts val="200"/>
              </a:spcBef>
              <a:buClr>
                <a:srgbClr val="FFFFFF"/>
              </a:buClr>
              <a:buFont typeface="Arial" panose="020B0604020202020204" pitchFamily="34" charset="0"/>
              <a:buChar char="•"/>
              <a:defRPr/>
            </a:pPr>
            <a:r>
              <a:rPr lang="en-US" sz="1300">
                <a:solidFill>
                  <a:srgbClr val="FFFFFF"/>
                </a:solidFill>
                <a:latin typeface="Ubuntu Light" panose="020B0304030602030204" pitchFamily="34" charset="0"/>
              </a:rPr>
              <a:t>IT Strategy Plan: Vision, roadmap, and transformation priorities co-developed with client</a:t>
            </a:r>
          </a:p>
          <a:p>
            <a:pPr marL="285750" indent="-285750" defTabSz="914400">
              <a:lnSpc>
                <a:spcPct val="110000"/>
              </a:lnSpc>
              <a:spcBef>
                <a:spcPts val="200"/>
              </a:spcBef>
              <a:buClr>
                <a:srgbClr val="FFFFFF"/>
              </a:buClr>
              <a:buFont typeface="Arial" panose="020B0604020202020204" pitchFamily="34" charset="0"/>
              <a:buChar char="•"/>
              <a:defRPr/>
            </a:pPr>
            <a:r>
              <a:rPr lang="en-US" sz="1300">
                <a:solidFill>
                  <a:srgbClr val="FFFFFF"/>
                </a:solidFill>
                <a:latin typeface="Ubuntu Light" panose="020B0304030602030204" pitchFamily="34" charset="0"/>
              </a:rPr>
              <a:t>Architecture Blueprint: Modular, cloud-native design enabling scalable B2B services.</a:t>
            </a:r>
          </a:p>
          <a:p>
            <a:pPr marL="285750" indent="-285750" defTabSz="914400">
              <a:lnSpc>
                <a:spcPct val="110000"/>
              </a:lnSpc>
              <a:spcBef>
                <a:spcPts val="200"/>
              </a:spcBef>
              <a:buClr>
                <a:srgbClr val="FFFFFF"/>
              </a:buClr>
              <a:buFont typeface="Arial" panose="020B0604020202020204" pitchFamily="34" charset="0"/>
              <a:buChar char="•"/>
              <a:defRPr/>
            </a:pPr>
            <a:r>
              <a:rPr lang="en-US" sz="1300">
                <a:solidFill>
                  <a:srgbClr val="FFFFFF"/>
                </a:solidFill>
                <a:latin typeface="Ubuntu Light" panose="020B0304030602030204" pitchFamily="34" charset="0"/>
              </a:rPr>
              <a:t>Transformation Roadmap: Phased initiatives aligned with KPIs and business outcomes.</a:t>
            </a:r>
          </a:p>
          <a:p>
            <a:pPr marL="285750" indent="-285750" defTabSz="914400">
              <a:lnSpc>
                <a:spcPct val="110000"/>
              </a:lnSpc>
              <a:spcBef>
                <a:spcPts val="200"/>
              </a:spcBef>
              <a:buClr>
                <a:srgbClr val="FFFFFF"/>
              </a:buClr>
              <a:buFont typeface="Arial" panose="020B0604020202020204" pitchFamily="34" charset="0"/>
              <a:buChar char="•"/>
              <a:defRPr/>
            </a:pPr>
            <a:endParaRPr lang="en-GB" sz="1300">
              <a:solidFill>
                <a:srgbClr val="FFFFFF"/>
              </a:solidFill>
              <a:latin typeface="Ubuntu Light" panose="020B0304030602030204" pitchFamily="34" charset="0"/>
            </a:endParaRPr>
          </a:p>
        </p:txBody>
      </p:sp>
      <p:sp>
        <p:nvSpPr>
          <p:cNvPr id="3" name="Freeform: Shape 2">
            <a:extLst>
              <a:ext uri="{FF2B5EF4-FFF2-40B4-BE49-F238E27FC236}">
                <a16:creationId xmlns:a16="http://schemas.microsoft.com/office/drawing/2014/main" id="{769FB46C-226F-695D-985D-6E38C4C9BBB9}"/>
              </a:ext>
            </a:extLst>
          </p:cNvPr>
          <p:cNvSpPr/>
          <p:nvPr/>
        </p:nvSpPr>
        <p:spPr>
          <a:xfrm>
            <a:off x="0" y="100448"/>
            <a:ext cx="2369542" cy="701336"/>
          </a:xfrm>
          <a:custGeom>
            <a:avLst/>
            <a:gdLst>
              <a:gd name="connsiteX0" fmla="*/ 0 w 1848682"/>
              <a:gd name="connsiteY0" fmla="*/ 0 h 701336"/>
              <a:gd name="connsiteX1" fmla="*/ 1498014 w 1848682"/>
              <a:gd name="connsiteY1" fmla="*/ 0 h 701336"/>
              <a:gd name="connsiteX2" fmla="*/ 1848682 w 1848682"/>
              <a:gd name="connsiteY2" fmla="*/ 350668 h 701336"/>
              <a:gd name="connsiteX3" fmla="*/ 1498014 w 1848682"/>
              <a:gd name="connsiteY3" fmla="*/ 701336 h 701336"/>
              <a:gd name="connsiteX4" fmla="*/ 0 w 1848682"/>
              <a:gd name="connsiteY4" fmla="*/ 701336 h 70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8682" h="701336">
                <a:moveTo>
                  <a:pt x="0" y="0"/>
                </a:moveTo>
                <a:lnTo>
                  <a:pt x="1498014" y="0"/>
                </a:lnTo>
                <a:cubicBezTo>
                  <a:pt x="1691683" y="0"/>
                  <a:pt x="1848682" y="156999"/>
                  <a:pt x="1848682" y="350668"/>
                </a:cubicBezTo>
                <a:cubicBezTo>
                  <a:pt x="1848682" y="544337"/>
                  <a:pt x="1691683" y="701336"/>
                  <a:pt x="1498014" y="701336"/>
                </a:cubicBezTo>
                <a:lnTo>
                  <a:pt x="0" y="701336"/>
                </a:lnTo>
                <a:close/>
              </a:path>
            </a:pathLst>
          </a:cu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0000"/>
                </a:solidFill>
                <a:effectLst/>
                <a:uLnTx/>
                <a:uFillTx/>
                <a:latin typeface="Ubuntu Light"/>
                <a:ea typeface="+mn-ea"/>
                <a:cs typeface="+mn-cs"/>
              </a:rPr>
              <a:t>Leading </a:t>
            </a:r>
            <a:r>
              <a:rPr lang="en-GB" sz="1400" b="1">
                <a:solidFill>
                  <a:srgbClr val="FF0000"/>
                </a:solidFill>
                <a:latin typeface="Ubuntu Light"/>
              </a:rPr>
              <a:t>European</a:t>
            </a:r>
            <a:r>
              <a:rPr kumimoji="0" lang="en-GB" sz="1400" b="1" i="0" u="none" strike="noStrike" kern="1200" cap="none" spc="0" normalizeH="0" baseline="0" noProof="0">
                <a:ln>
                  <a:noFill/>
                </a:ln>
                <a:solidFill>
                  <a:srgbClr val="FF0000"/>
                </a:solidFill>
                <a:effectLst/>
                <a:uLnTx/>
                <a:uFillTx/>
                <a:latin typeface="Ubuntu Light"/>
                <a:ea typeface="+mn-ea"/>
                <a:cs typeface="+mn-cs"/>
              </a:rPr>
              <a:t> CSP</a:t>
            </a:r>
          </a:p>
        </p:txBody>
      </p:sp>
      <p:sp>
        <p:nvSpPr>
          <p:cNvPr id="13" name="Rectangle 12">
            <a:extLst>
              <a:ext uri="{FF2B5EF4-FFF2-40B4-BE49-F238E27FC236}">
                <a16:creationId xmlns:a16="http://schemas.microsoft.com/office/drawing/2014/main" id="{97663D50-71B8-8B54-0ADD-55A7D8F31904}"/>
              </a:ext>
            </a:extLst>
          </p:cNvPr>
          <p:cNvSpPr/>
          <p:nvPr/>
        </p:nvSpPr>
        <p:spPr>
          <a:xfrm>
            <a:off x="10247717" y="1451832"/>
            <a:ext cx="1562848" cy="916226"/>
          </a:xfrm>
          <a:prstGeom prst="rect">
            <a:avLst/>
          </a:prstGeom>
        </p:spPr>
        <p:txBody>
          <a:bodyPr lIns="0" tIns="0" rIns="0" bIns="0" anchor="t" anchorCtr="0">
            <a:noAutofit/>
          </a:bodyPr>
          <a:lstStyle/>
          <a:p>
            <a:pPr algn="ctr" defTabSz="914400">
              <a:defRPr/>
            </a:pPr>
            <a:r>
              <a:rPr lang="en-IN" sz="1600" b="1" i="0">
                <a:solidFill>
                  <a:schemeClr val="accent2"/>
                </a:solidFill>
                <a:effectLst/>
                <a:latin typeface="Segoe Sans"/>
              </a:rPr>
              <a:t>Alignment</a:t>
            </a:r>
            <a:r>
              <a:rPr kumimoji="0" lang="en-US" sz="1200" i="0" u="none" strike="noStrike" kern="1200" cap="none" spc="0" normalizeH="0" baseline="0" noProof="0">
                <a:ln>
                  <a:noFill/>
                </a:ln>
                <a:solidFill>
                  <a:schemeClr val="bg1"/>
                </a:solidFill>
                <a:effectLst/>
                <a:uLnTx/>
                <a:uFillTx/>
                <a:latin typeface="Ubuntu"/>
                <a:ea typeface="+mn-ea"/>
                <a:cs typeface="+mn-cs"/>
              </a:rPr>
              <a:t> </a:t>
            </a:r>
          </a:p>
          <a:p>
            <a:pPr algn="ctr" defTabSz="914400">
              <a:defRPr/>
            </a:pPr>
            <a:r>
              <a:rPr kumimoji="0" lang="en-US" sz="1000" i="0" u="none" strike="noStrike" kern="1200" cap="none" spc="0" normalizeH="0" baseline="0" noProof="0">
                <a:ln>
                  <a:noFill/>
                </a:ln>
                <a:solidFill>
                  <a:schemeClr val="bg1"/>
                </a:solidFill>
                <a:effectLst/>
                <a:uLnTx/>
                <a:uFillTx/>
                <a:latin typeface="Ubuntu"/>
                <a:ea typeface="+mn-ea"/>
                <a:cs typeface="+mn-cs"/>
              </a:rPr>
              <a:t>Ensured strategic coherence by integrating IT architecture with business objectives.</a:t>
            </a:r>
            <a:endParaRPr kumimoji="0" lang="en-GB" sz="1200" i="0" u="none" strike="noStrike" kern="1200" cap="none" spc="0" normalizeH="0" baseline="0" noProof="0">
              <a:ln>
                <a:noFill/>
              </a:ln>
              <a:solidFill>
                <a:schemeClr val="bg1"/>
              </a:solidFill>
              <a:effectLst/>
              <a:uLnTx/>
              <a:uFillTx/>
              <a:latin typeface="Ubuntu"/>
              <a:ea typeface="+mn-ea"/>
              <a:cs typeface="+mn-cs"/>
            </a:endParaRPr>
          </a:p>
        </p:txBody>
      </p:sp>
      <p:sp>
        <p:nvSpPr>
          <p:cNvPr id="23" name="Rectangle 22">
            <a:extLst>
              <a:ext uri="{FF2B5EF4-FFF2-40B4-BE49-F238E27FC236}">
                <a16:creationId xmlns:a16="http://schemas.microsoft.com/office/drawing/2014/main" id="{F6B0D045-A2A3-0273-C722-2E0F89705FD4}"/>
              </a:ext>
            </a:extLst>
          </p:cNvPr>
          <p:cNvSpPr/>
          <p:nvPr/>
        </p:nvSpPr>
        <p:spPr>
          <a:xfrm rot="16200000">
            <a:off x="8596632" y="3629218"/>
            <a:ext cx="2411548" cy="2688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2ABDB"/>
                </a:solidFill>
                <a:effectLst/>
                <a:uLnTx/>
                <a:uFillTx/>
                <a:latin typeface="Ubuntu"/>
                <a:ea typeface="+mn-ea"/>
                <a:cs typeface="Arial"/>
              </a:rPr>
              <a:t>BENEFITS DELIVERED</a:t>
            </a:r>
          </a:p>
        </p:txBody>
      </p:sp>
      <p:cxnSp>
        <p:nvCxnSpPr>
          <p:cNvPr id="27" name="Connector: Elbow 26">
            <a:extLst>
              <a:ext uri="{FF2B5EF4-FFF2-40B4-BE49-F238E27FC236}">
                <a16:creationId xmlns:a16="http://schemas.microsoft.com/office/drawing/2014/main" id="{D8652050-F71F-6CFD-EC49-B31503E6EBE3}"/>
              </a:ext>
            </a:extLst>
          </p:cNvPr>
          <p:cNvCxnSpPr>
            <a:cxnSpLocks/>
          </p:cNvCxnSpPr>
          <p:nvPr/>
        </p:nvCxnSpPr>
        <p:spPr>
          <a:xfrm rot="10800000" flipV="1">
            <a:off x="10124216" y="1873866"/>
            <a:ext cx="12700" cy="3714750"/>
          </a:xfrm>
          <a:prstGeom prst="bentConnector3">
            <a:avLst>
              <a:gd name="adj1" fmla="val 180000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ACF18630-338B-F488-A36E-55FDC629C2B8}"/>
              </a:ext>
            </a:extLst>
          </p:cNvPr>
          <p:cNvSpPr>
            <a:spLocks noGrp="1"/>
          </p:cNvSpPr>
          <p:nvPr>
            <p:ph type="body" sz="quarter" idx="10"/>
          </p:nvPr>
        </p:nvSpPr>
        <p:spPr>
          <a:xfrm>
            <a:off x="4283075" y="171450"/>
            <a:ext cx="6524903" cy="1045557"/>
          </a:xfrm>
        </p:spPr>
        <p:txBody>
          <a:bodyPr>
            <a:normAutofit fontScale="92500"/>
          </a:bodyPr>
          <a:lstStyle/>
          <a:p>
            <a:r>
              <a:rPr lang="en-US" sz="2200" b="1">
                <a:solidFill>
                  <a:schemeClr val="accent2">
                    <a:lumMod val="60000"/>
                    <a:lumOff val="40000"/>
                  </a:schemeClr>
                </a:solidFill>
              </a:rPr>
              <a:t>Strategic IT Transformation &amp; Landscape Modernization</a:t>
            </a:r>
          </a:p>
          <a:p>
            <a:pPr>
              <a:lnSpc>
                <a:spcPct val="110000"/>
              </a:lnSpc>
              <a:spcBef>
                <a:spcPts val="200"/>
              </a:spcBef>
              <a:spcAft>
                <a:spcPts val="0"/>
              </a:spcAft>
              <a:buClr>
                <a:srgbClr val="FFFFFF"/>
              </a:buClr>
              <a:defRPr/>
            </a:pPr>
            <a:r>
              <a:rPr lang="en-US" sz="1500">
                <a:latin typeface="Ubuntu Light" panose="020B0304030602030204" pitchFamily="34" charset="0"/>
              </a:rPr>
              <a:t>Enabling future-ready operations through modular platforms, partner-driven innovation, and a business-aligned transformation roadmap.</a:t>
            </a:r>
            <a:endParaRPr lang="en-GB" sz="1500">
              <a:latin typeface="Ubuntu Light" panose="020B0304030602030204" pitchFamily="34" charset="0"/>
            </a:endParaRPr>
          </a:p>
        </p:txBody>
      </p:sp>
      <p:sp>
        <p:nvSpPr>
          <p:cNvPr id="16" name="Rectangle 15">
            <a:extLst>
              <a:ext uri="{FF2B5EF4-FFF2-40B4-BE49-F238E27FC236}">
                <a16:creationId xmlns:a16="http://schemas.microsoft.com/office/drawing/2014/main" id="{B2577281-E3A2-3AFA-2926-948A3553CBB0}"/>
              </a:ext>
            </a:extLst>
          </p:cNvPr>
          <p:cNvSpPr/>
          <p:nvPr/>
        </p:nvSpPr>
        <p:spPr>
          <a:xfrm>
            <a:off x="10329608" y="3329180"/>
            <a:ext cx="1508742" cy="916226"/>
          </a:xfrm>
          <a:prstGeom prst="rect">
            <a:avLst/>
          </a:prstGeom>
        </p:spPr>
        <p:txBody>
          <a:bodyPr lIns="0" tIns="0" rIns="0" bIns="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a:solidFill>
                  <a:srgbClr val="12ABDB"/>
                </a:solidFill>
                <a:latin typeface="Ubuntu"/>
              </a:rPr>
              <a:t>Scalability</a:t>
            </a:r>
            <a:endParaRPr kumimoji="0" lang="en-US" sz="1000" b="0" i="0" u="none" strike="noStrike" kern="1200" cap="none" spc="0" normalizeH="0" baseline="0" noProof="0">
              <a:ln>
                <a:noFill/>
              </a:ln>
              <a:solidFill>
                <a:srgbClr val="FFFFFF"/>
              </a:solidFill>
              <a:effectLst/>
              <a:uLnTx/>
              <a:uFillTx/>
              <a:latin typeface="Ubuntu"/>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Enabled long-term growth through modular, cloud-native platforms</a:t>
            </a:r>
            <a:endParaRPr kumimoji="0" lang="en-GB" sz="1000" b="0" i="0" u="none" strike="noStrike" kern="1200" cap="none" spc="0" normalizeH="0" baseline="0" noProof="0">
              <a:ln>
                <a:noFill/>
              </a:ln>
              <a:solidFill>
                <a:srgbClr val="FFFFFF"/>
              </a:solidFill>
              <a:effectLst/>
              <a:uLnTx/>
              <a:uFillTx/>
              <a:latin typeface="Ubuntu"/>
              <a:ea typeface="+mn-ea"/>
              <a:cs typeface="+mn-cs"/>
            </a:endParaRPr>
          </a:p>
        </p:txBody>
      </p:sp>
      <p:sp>
        <p:nvSpPr>
          <p:cNvPr id="15" name="Rectangle 14">
            <a:extLst>
              <a:ext uri="{FF2B5EF4-FFF2-40B4-BE49-F238E27FC236}">
                <a16:creationId xmlns:a16="http://schemas.microsoft.com/office/drawing/2014/main" id="{E74E5FA8-281F-80FD-C0B8-101AD510FD14}"/>
              </a:ext>
            </a:extLst>
          </p:cNvPr>
          <p:cNvSpPr/>
          <p:nvPr/>
        </p:nvSpPr>
        <p:spPr>
          <a:xfrm>
            <a:off x="10289120" y="5130503"/>
            <a:ext cx="1569932" cy="916226"/>
          </a:xfrm>
          <a:prstGeom prst="rect">
            <a:avLst/>
          </a:prstGeom>
        </p:spPr>
        <p:txBody>
          <a:bodyPr lIns="0" tIns="0" rIns="0" bIns="0" anchor="t" anchorCtr="0">
            <a:noAutofit/>
          </a:bodyPr>
          <a:lstStyle/>
          <a:p>
            <a:pPr algn="ctr" defTabSz="914400">
              <a:defRPr/>
            </a:pPr>
            <a:r>
              <a:rPr lang="en-IN" sz="1600" b="1">
                <a:solidFill>
                  <a:srgbClr val="12ABDB"/>
                </a:solidFill>
                <a:latin typeface="Ubuntu"/>
              </a:rPr>
              <a:t>Optimization</a:t>
            </a:r>
            <a:endParaRPr lang="en-GB" sz="1600" b="1">
              <a:solidFill>
                <a:srgbClr val="12ABDB"/>
              </a:solidFill>
              <a:latin typeface="Ubuntu"/>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Achieved operational efficiency through automation and streamlined sourcing</a:t>
            </a:r>
            <a:endParaRPr kumimoji="0" lang="en-GB" sz="1000" b="0" i="0" u="none" strike="noStrike" kern="1200" cap="none" spc="0" normalizeH="0" baseline="0" noProof="0">
              <a:ln>
                <a:noFill/>
              </a:ln>
              <a:solidFill>
                <a:srgbClr val="FFFFFF"/>
              </a:solidFill>
              <a:effectLst/>
              <a:uLnTx/>
              <a:uFillTx/>
              <a:latin typeface="Ubuntu"/>
              <a:ea typeface="+mn-ea"/>
              <a:cs typeface="+mn-cs"/>
            </a:endParaRPr>
          </a:p>
        </p:txBody>
      </p:sp>
      <p:sp>
        <p:nvSpPr>
          <p:cNvPr id="7" name="Rectangle 1">
            <a:extLst>
              <a:ext uri="{FF2B5EF4-FFF2-40B4-BE49-F238E27FC236}">
                <a16:creationId xmlns:a16="http://schemas.microsoft.com/office/drawing/2014/main" id="{1591B7E9-FCA8-170F-01DB-DB6FE88C422F}"/>
              </a:ext>
            </a:extLst>
          </p:cNvPr>
          <p:cNvSpPr>
            <a:spLocks noChangeArrowheads="1"/>
          </p:cNvSpPr>
          <p:nvPr/>
        </p:nvSpPr>
        <p:spPr bwMode="auto">
          <a:xfrm>
            <a:off x="0" y="-945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3431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503B1-D7A1-807B-1F1A-5A77F0E327DF}"/>
            </a:ext>
          </a:extLst>
        </p:cNvPr>
        <p:cNvGrpSpPr/>
        <p:nvPr/>
      </p:nvGrpSpPr>
      <p:grpSpPr>
        <a:xfrm>
          <a:off x="0" y="0"/>
          <a:ext cx="0" cy="0"/>
          <a:chOff x="0" y="0"/>
          <a:chExt cx="0" cy="0"/>
        </a:xfrm>
      </p:grpSpPr>
      <p:pic>
        <p:nvPicPr>
          <p:cNvPr id="2" name="Picture 1" descr="Low angle view of a rollercoaster against a blue sky">
            <a:extLst>
              <a:ext uri="{FF2B5EF4-FFF2-40B4-BE49-F238E27FC236}">
                <a16:creationId xmlns:a16="http://schemas.microsoft.com/office/drawing/2014/main" id="{8048DA10-BA9F-2786-146E-B8195EBCD6EE}"/>
              </a:ext>
            </a:extLst>
          </p:cNvPr>
          <p:cNvPicPr>
            <a:picLocks noChangeAspect="1"/>
          </p:cNvPicPr>
          <p:nvPr/>
        </p:nvPicPr>
        <p:blipFill>
          <a:blip r:embed="rId4">
            <a:alphaModFix amt="35000"/>
            <a:extLst>
              <a:ext uri="{28A0092B-C50C-407E-A947-70E740481C1C}">
                <a14:useLocalDpi xmlns:a14="http://schemas.microsoft.com/office/drawing/2010/main" val="0"/>
              </a:ext>
            </a:extLst>
          </a:blip>
          <a:srcRect l="35100" r="35100"/>
          <a:stretch/>
        </p:blipFill>
        <p:spPr>
          <a:xfrm>
            <a:off x="0" y="0"/>
            <a:ext cx="4019873" cy="6857999"/>
          </a:xfrm>
          <a:prstGeom prst="rect">
            <a:avLst/>
          </a:prstGeom>
        </p:spPr>
      </p:pic>
      <p:graphicFrame>
        <p:nvGraphicFramePr>
          <p:cNvPr id="10" name="think-cell data - do not delete" hidden="1">
            <a:extLst>
              <a:ext uri="{FF2B5EF4-FFF2-40B4-BE49-F238E27FC236}">
                <a16:creationId xmlns:a16="http://schemas.microsoft.com/office/drawing/2014/main" id="{C1424604-F61A-61EB-28CF-978D92DDFB3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3" progId="TCLayout.ActiveDocument.1">
                  <p:embed/>
                </p:oleObj>
              </mc:Choice>
              <mc:Fallback>
                <p:oleObj name="think-cell Slide" r:id="rId5" imgW="473" imgH="473" progId="TCLayout.ActiveDocument.1">
                  <p:embed/>
                  <p:pic>
                    <p:nvPicPr>
                      <p:cNvPr id="10" name="think-cell data - do not delete" hidden="1">
                        <a:extLst>
                          <a:ext uri="{FF2B5EF4-FFF2-40B4-BE49-F238E27FC236}">
                            <a16:creationId xmlns:a16="http://schemas.microsoft.com/office/drawing/2014/main" id="{C1424604-F61A-61EB-28CF-978D92DDFB3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4" name="Rectangle 63">
            <a:extLst>
              <a:ext uri="{FF2B5EF4-FFF2-40B4-BE49-F238E27FC236}">
                <a16:creationId xmlns:a16="http://schemas.microsoft.com/office/drawing/2014/main" id="{22D9C135-102F-AE6E-DA9F-A87DE9647F16}"/>
              </a:ext>
            </a:extLst>
          </p:cNvPr>
          <p:cNvSpPr/>
          <p:nvPr/>
        </p:nvSpPr>
        <p:spPr>
          <a:xfrm>
            <a:off x="4287148" y="922900"/>
            <a:ext cx="5601066" cy="64886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rmAutofit/>
          </a:bodyPr>
          <a:lstStyle/>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lang="en-US" sz="1300" b="1">
                <a:solidFill>
                  <a:srgbClr val="12ABDB"/>
                </a:solidFill>
                <a:latin typeface="Ubuntu Light" panose="020B0304030602030204" pitchFamily="34" charset="0"/>
              </a:rPr>
              <a:t>Problem statement</a:t>
            </a:r>
          </a:p>
          <a:p>
            <a:pPr lvl="0">
              <a:spcBef>
                <a:spcPts val="200"/>
              </a:spcBef>
              <a:buClr>
                <a:srgbClr val="FFFFFF"/>
              </a:buClr>
              <a:defRPr/>
            </a:pPr>
            <a:r>
              <a:rPr lang="en-US" sz="1200">
                <a:solidFill>
                  <a:srgbClr val="FFFFFF"/>
                </a:solidFill>
              </a:rPr>
              <a:t>Client’s SRM capabilities were limited to tier-1 suppliers, necessitating enhanced visibility and risk management across N-tier suppliers to meet regulatory requirements.</a:t>
            </a:r>
          </a:p>
          <a:p>
            <a:pPr lvl="0">
              <a:spcBef>
                <a:spcPts val="200"/>
              </a:spcBef>
              <a:buClr>
                <a:srgbClr val="FFFFFF"/>
              </a:buClr>
              <a:defRPr/>
            </a:pPr>
            <a:r>
              <a:rPr lang="en-US" sz="1300" b="1">
                <a:solidFill>
                  <a:srgbClr val="12ABDB"/>
                </a:solidFill>
                <a:latin typeface="Ubuntu Light" panose="020B0304030602030204" pitchFamily="34" charset="0"/>
              </a:rPr>
              <a:t>Objective of the solution</a:t>
            </a:r>
          </a:p>
          <a:p>
            <a:pPr lvl="0">
              <a:spcBef>
                <a:spcPts val="200"/>
              </a:spcBef>
              <a:buClr>
                <a:srgbClr val="FFFFFF"/>
              </a:buClr>
              <a:defRPr/>
            </a:pPr>
            <a:r>
              <a:rPr lang="en-US" sz="1200">
                <a:solidFill>
                  <a:srgbClr val="FFFFFF"/>
                </a:solidFill>
              </a:rPr>
              <a:t>Define a target solution and select a suitable software vendor, while designing a comprehensive third-party risk management framework to enhance supplier transparency and regulatory readiness.</a:t>
            </a:r>
          </a:p>
          <a:p>
            <a:pPr lvl="0">
              <a:spcBef>
                <a:spcPts val="200"/>
              </a:spcBef>
              <a:buClr>
                <a:srgbClr val="FFFFFF"/>
              </a:buClr>
              <a:defRPr/>
            </a:pPr>
            <a:r>
              <a:rPr lang="en-US" sz="1300" b="1">
                <a:solidFill>
                  <a:srgbClr val="12ABDB"/>
                </a:solidFill>
                <a:latin typeface="Ubuntu Light" panose="020B0304030602030204" pitchFamily="34" charset="0"/>
                <a:sym typeface="Libre Baskerville"/>
              </a:rPr>
              <a:t>Our Approach</a:t>
            </a:r>
          </a:p>
          <a:p>
            <a:pPr marL="171450" lvl="0" indent="-171450">
              <a:spcBef>
                <a:spcPts val="200"/>
              </a:spcBef>
              <a:buClr>
                <a:srgbClr val="FFFFFF"/>
              </a:buClr>
              <a:buFont typeface="Arial" panose="020B0604020202020204" pitchFamily="34" charset="0"/>
              <a:buChar char="•"/>
              <a:defRPr/>
            </a:pPr>
            <a:r>
              <a:rPr lang="en-US" sz="1200">
                <a:solidFill>
                  <a:srgbClr val="FFFFFF"/>
                </a:solidFill>
              </a:rPr>
              <a:t>Discovery</a:t>
            </a:r>
          </a:p>
          <a:p>
            <a:pPr marL="347663" lvl="2" indent="-171450">
              <a:buClr>
                <a:srgbClr val="FFFFFF"/>
              </a:buClr>
              <a:buFont typeface="Wingdings" panose="05000000000000000000" pitchFamily="2" charset="2"/>
              <a:buChar char="ü"/>
              <a:defRPr/>
            </a:pPr>
            <a:r>
              <a:rPr lang="en-US" sz="1200">
                <a:solidFill>
                  <a:srgbClr val="FFFFFF"/>
                </a:solidFill>
              </a:rPr>
              <a:t>Aligned on vision and goal setting</a:t>
            </a:r>
          </a:p>
          <a:p>
            <a:pPr marL="347663" lvl="2" indent="-171450">
              <a:buClr>
                <a:srgbClr val="FFFFFF"/>
              </a:buClr>
              <a:buFont typeface="Wingdings" panose="05000000000000000000" pitchFamily="2" charset="2"/>
              <a:buChar char="ü"/>
              <a:defRPr/>
            </a:pPr>
            <a:r>
              <a:rPr lang="en-US" sz="1200">
                <a:solidFill>
                  <a:srgbClr val="FFFFFF"/>
                </a:solidFill>
              </a:rPr>
              <a:t>Assess current state</a:t>
            </a:r>
          </a:p>
          <a:p>
            <a:pPr marL="347663" lvl="2" indent="-171450">
              <a:buClr>
                <a:srgbClr val="FFFFFF"/>
              </a:buClr>
              <a:buFont typeface="Wingdings" panose="05000000000000000000" pitchFamily="2" charset="2"/>
              <a:buChar char="ü"/>
              <a:defRPr/>
            </a:pPr>
            <a:r>
              <a:rPr lang="en-US" sz="1200">
                <a:solidFill>
                  <a:srgbClr val="FFFFFF"/>
                </a:solidFill>
              </a:rPr>
              <a:t>Review solution provider landscape</a:t>
            </a:r>
          </a:p>
          <a:p>
            <a:pPr marL="171450" indent="-171450">
              <a:buClr>
                <a:srgbClr val="FFFFFF"/>
              </a:buClr>
              <a:buFont typeface="Arial" panose="020B0604020202020204" pitchFamily="34" charset="0"/>
              <a:buChar char="•"/>
              <a:defRPr/>
            </a:pPr>
            <a:r>
              <a:rPr lang="en-US" sz="1200">
                <a:solidFill>
                  <a:srgbClr val="FFFFFF"/>
                </a:solidFill>
              </a:rPr>
              <a:t>Target State Definitions &amp; Vendor Evaluation</a:t>
            </a:r>
          </a:p>
          <a:p>
            <a:pPr marL="347663" lvl="2" indent="-171450">
              <a:buClr>
                <a:srgbClr val="FFFFFF"/>
              </a:buClr>
              <a:buFont typeface="Wingdings" panose="05000000000000000000" pitchFamily="2" charset="2"/>
              <a:buChar char="ü"/>
              <a:defRPr/>
            </a:pPr>
            <a:r>
              <a:rPr lang="en-US" sz="1200">
                <a:solidFill>
                  <a:srgbClr val="FFFFFF"/>
                </a:solidFill>
              </a:rPr>
              <a:t>Develop a list of requirements</a:t>
            </a:r>
          </a:p>
          <a:p>
            <a:pPr marL="347663" lvl="2" indent="-171450">
              <a:buClr>
                <a:srgbClr val="FFFFFF"/>
              </a:buClr>
              <a:buFont typeface="Wingdings" panose="05000000000000000000" pitchFamily="2" charset="2"/>
              <a:buChar char="ü"/>
              <a:defRPr/>
            </a:pPr>
            <a:r>
              <a:rPr lang="en-US" sz="1200">
                <a:solidFill>
                  <a:srgbClr val="FFFFFF"/>
                </a:solidFill>
              </a:rPr>
              <a:t>Prioritize use cases / proof points</a:t>
            </a:r>
          </a:p>
          <a:p>
            <a:pPr marL="347663" lvl="2" indent="-171450">
              <a:buClr>
                <a:srgbClr val="FFFFFF"/>
              </a:buClr>
              <a:buFont typeface="Wingdings" panose="05000000000000000000" pitchFamily="2" charset="2"/>
              <a:buChar char="ü"/>
              <a:defRPr/>
            </a:pPr>
            <a:r>
              <a:rPr lang="en-US" sz="1200">
                <a:solidFill>
                  <a:srgbClr val="FFFFFF"/>
                </a:solidFill>
              </a:rPr>
              <a:t>Develop RFP documentation and vendor evaluation criteria</a:t>
            </a:r>
          </a:p>
          <a:p>
            <a:pPr marL="347663" lvl="2" indent="-171450">
              <a:buClr>
                <a:srgbClr val="FFFFFF"/>
              </a:buClr>
              <a:buFont typeface="Wingdings" panose="05000000000000000000" pitchFamily="2" charset="2"/>
              <a:buChar char="ü"/>
              <a:defRPr/>
            </a:pPr>
            <a:r>
              <a:rPr lang="en-US" sz="1200">
                <a:solidFill>
                  <a:srgbClr val="FFFFFF"/>
                </a:solidFill>
              </a:rPr>
              <a:t>Assist in demo scenarios and vendor evaluation</a:t>
            </a:r>
          </a:p>
          <a:p>
            <a:pPr marL="171450" indent="-171450">
              <a:buClr>
                <a:srgbClr val="FFFFFF"/>
              </a:buClr>
              <a:buFont typeface="Arial" panose="020B0604020202020204" pitchFamily="34" charset="0"/>
              <a:buChar char="•"/>
              <a:defRPr/>
            </a:pPr>
            <a:r>
              <a:rPr lang="en-US" sz="1200">
                <a:solidFill>
                  <a:srgbClr val="FFFFFF"/>
                </a:solidFill>
              </a:rPr>
              <a:t>Recommendation &amp; Plan</a:t>
            </a:r>
          </a:p>
          <a:p>
            <a:pPr marL="347663" lvl="2" indent="-171450">
              <a:buClr>
                <a:srgbClr val="FFFFFF"/>
              </a:buClr>
              <a:buFont typeface="Wingdings" panose="05000000000000000000" pitchFamily="2" charset="2"/>
              <a:buChar char="ü"/>
              <a:defRPr/>
            </a:pPr>
            <a:r>
              <a:rPr lang="en-US" sz="1200">
                <a:solidFill>
                  <a:srgbClr val="FFFFFF"/>
                </a:solidFill>
              </a:rPr>
              <a:t>Support final vendor evaluation and recommendation</a:t>
            </a:r>
          </a:p>
          <a:p>
            <a:pPr marL="347663" lvl="2" indent="-171450">
              <a:buClr>
                <a:srgbClr val="FFFFFF"/>
              </a:buClr>
              <a:buFont typeface="Wingdings" panose="05000000000000000000" pitchFamily="2" charset="2"/>
              <a:buChar char="ü"/>
              <a:defRPr/>
            </a:pPr>
            <a:r>
              <a:rPr lang="en-US" sz="1200">
                <a:solidFill>
                  <a:srgbClr val="FFFFFF"/>
                </a:solidFill>
              </a:rPr>
              <a:t>Support implementation planning and estimation efforts</a:t>
            </a:r>
          </a:p>
          <a:p>
            <a:pPr marL="347663" lvl="2" indent="-171450">
              <a:buClr>
                <a:srgbClr val="FFFFFF"/>
              </a:buClr>
              <a:buFont typeface="Wingdings" panose="05000000000000000000" pitchFamily="2" charset="2"/>
              <a:buChar char="ü"/>
              <a:defRPr/>
            </a:pPr>
            <a:r>
              <a:rPr lang="en-US" sz="1200">
                <a:solidFill>
                  <a:srgbClr val="FFFFFF"/>
                </a:solidFill>
              </a:rPr>
              <a:t>Support development of third-party risk framework</a:t>
            </a:r>
          </a:p>
          <a:p>
            <a:pPr>
              <a:spcBef>
                <a:spcPts val="200"/>
              </a:spcBef>
              <a:buClr>
                <a:srgbClr val="FFFFFF"/>
              </a:buClr>
              <a:defRPr/>
            </a:pPr>
            <a:endParaRPr lang="en-US" sz="1300" b="1">
              <a:solidFill>
                <a:srgbClr val="12ABDB"/>
              </a:solidFill>
              <a:latin typeface="Ubuntu Light" panose="020B0304030602030204" pitchFamily="34" charset="0"/>
              <a:sym typeface="Libre Baskerville"/>
            </a:endParaRPr>
          </a:p>
          <a:p>
            <a:pPr>
              <a:spcBef>
                <a:spcPts val="200"/>
              </a:spcBef>
              <a:buClr>
                <a:srgbClr val="FFFFFF"/>
              </a:buClr>
              <a:defRPr/>
            </a:pPr>
            <a:r>
              <a:rPr lang="en-US" sz="1300" b="1">
                <a:solidFill>
                  <a:srgbClr val="12ABDB"/>
                </a:solidFill>
                <a:latin typeface="Ubuntu Light" panose="020B0304030602030204" pitchFamily="34" charset="0"/>
                <a:sym typeface="Libre Baskerville"/>
              </a:rPr>
              <a:t>Key Deliverables</a:t>
            </a:r>
          </a:p>
          <a:p>
            <a:pPr marL="285750" indent="-285750" eaLnBrk="0" fontAlgn="base" hangingPunct="0">
              <a:spcBef>
                <a:spcPts val="200"/>
              </a:spcBef>
              <a:spcAft>
                <a:spcPts val="200"/>
              </a:spcAft>
              <a:buClr>
                <a:srgbClr val="FFFFFF"/>
              </a:buClr>
              <a:buFont typeface="Arial" panose="020B0604020202020204" pitchFamily="34" charset="0"/>
              <a:buChar char="•"/>
              <a:defRPr/>
            </a:pPr>
            <a:r>
              <a:rPr lang="en-US" sz="1200">
                <a:solidFill>
                  <a:srgbClr val="FFFFFF"/>
                </a:solidFill>
                <a:latin typeface="Ubuntu Light" panose="020B0304030602030204" pitchFamily="34" charset="0"/>
              </a:rPr>
              <a:t>An iterative third-party risk framework</a:t>
            </a:r>
          </a:p>
          <a:p>
            <a:pPr marL="285750" indent="-285750" eaLnBrk="0" fontAlgn="base" hangingPunct="0">
              <a:spcBef>
                <a:spcPts val="200"/>
              </a:spcBef>
              <a:spcAft>
                <a:spcPts val="200"/>
              </a:spcAft>
              <a:buClr>
                <a:srgbClr val="FFFFFF"/>
              </a:buClr>
              <a:buFont typeface="Arial" panose="020B0604020202020204" pitchFamily="34" charset="0"/>
              <a:buChar char="•"/>
              <a:defRPr/>
            </a:pPr>
            <a:r>
              <a:rPr lang="en-US" sz="1200">
                <a:solidFill>
                  <a:srgbClr val="FFFFFF"/>
                </a:solidFill>
                <a:latin typeface="Ubuntu Light" panose="020B0304030602030204" pitchFamily="34" charset="0"/>
              </a:rPr>
              <a:t>A process and solution implementation roadmap</a:t>
            </a:r>
          </a:p>
          <a:p>
            <a:pPr marL="285750" indent="-285750" eaLnBrk="0" fontAlgn="base" hangingPunct="0">
              <a:spcBef>
                <a:spcPts val="200"/>
              </a:spcBef>
              <a:spcAft>
                <a:spcPts val="200"/>
              </a:spcAft>
              <a:buClr>
                <a:srgbClr val="FFFFFF"/>
              </a:buClr>
              <a:buFont typeface="Arial" panose="020B0604020202020204" pitchFamily="34" charset="0"/>
              <a:buChar char="•"/>
              <a:defRPr/>
            </a:pPr>
            <a:r>
              <a:rPr lang="en-US" sz="1200">
                <a:solidFill>
                  <a:srgbClr val="FFFFFF"/>
                </a:solidFill>
                <a:latin typeface="Ubuntu Light" panose="020B0304030602030204" pitchFamily="34" charset="0"/>
              </a:rPr>
              <a:t>A governed list of vendors to enable the global merchandise product business</a:t>
            </a:r>
          </a:p>
          <a:p>
            <a:pPr marL="285750" indent="-285750" eaLnBrk="0" fontAlgn="base" hangingPunct="0">
              <a:spcBef>
                <a:spcPts val="200"/>
              </a:spcBef>
              <a:spcAft>
                <a:spcPts val="200"/>
              </a:spcAft>
              <a:buClr>
                <a:srgbClr val="FFFFFF"/>
              </a:buClr>
              <a:buFont typeface="Arial" panose="020B0604020202020204" pitchFamily="34" charset="0"/>
              <a:buChar char="•"/>
              <a:defRPr/>
            </a:pPr>
            <a:r>
              <a:rPr lang="en-US" sz="1200">
                <a:solidFill>
                  <a:srgbClr val="FFFFFF"/>
                </a:solidFill>
                <a:latin typeface="Ubuntu Light" panose="020B0304030602030204" pitchFamily="34" charset="0"/>
              </a:rPr>
              <a:t>Continuous screening and monitoring of suppliers down to N-tier, to help verify compliance</a:t>
            </a:r>
          </a:p>
        </p:txBody>
      </p:sp>
      <p:sp>
        <p:nvSpPr>
          <p:cNvPr id="3" name="Freeform: Shape 2">
            <a:extLst>
              <a:ext uri="{FF2B5EF4-FFF2-40B4-BE49-F238E27FC236}">
                <a16:creationId xmlns:a16="http://schemas.microsoft.com/office/drawing/2014/main" id="{E017476F-5F5B-176A-94CD-9398A7894786}"/>
              </a:ext>
            </a:extLst>
          </p:cNvPr>
          <p:cNvSpPr/>
          <p:nvPr/>
        </p:nvSpPr>
        <p:spPr>
          <a:xfrm>
            <a:off x="0" y="100448"/>
            <a:ext cx="2369542" cy="701336"/>
          </a:xfrm>
          <a:custGeom>
            <a:avLst/>
            <a:gdLst>
              <a:gd name="connsiteX0" fmla="*/ 0 w 1848682"/>
              <a:gd name="connsiteY0" fmla="*/ 0 h 701336"/>
              <a:gd name="connsiteX1" fmla="*/ 1498014 w 1848682"/>
              <a:gd name="connsiteY1" fmla="*/ 0 h 701336"/>
              <a:gd name="connsiteX2" fmla="*/ 1848682 w 1848682"/>
              <a:gd name="connsiteY2" fmla="*/ 350668 h 701336"/>
              <a:gd name="connsiteX3" fmla="*/ 1498014 w 1848682"/>
              <a:gd name="connsiteY3" fmla="*/ 701336 h 701336"/>
              <a:gd name="connsiteX4" fmla="*/ 0 w 1848682"/>
              <a:gd name="connsiteY4" fmla="*/ 701336 h 70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8682" h="701336">
                <a:moveTo>
                  <a:pt x="0" y="0"/>
                </a:moveTo>
                <a:lnTo>
                  <a:pt x="1498014" y="0"/>
                </a:lnTo>
                <a:cubicBezTo>
                  <a:pt x="1691683" y="0"/>
                  <a:pt x="1848682" y="156999"/>
                  <a:pt x="1848682" y="350668"/>
                </a:cubicBezTo>
                <a:cubicBezTo>
                  <a:pt x="1848682" y="544337"/>
                  <a:pt x="1691683" y="701336"/>
                  <a:pt x="1498014" y="701336"/>
                </a:cubicBezTo>
                <a:lnTo>
                  <a:pt x="0" y="701336"/>
                </a:lnTo>
                <a:close/>
              </a:path>
            </a:pathLst>
          </a:cu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a:solidFill>
                  <a:srgbClr val="FF0000"/>
                </a:solidFill>
                <a:latin typeface="Ubuntu Light"/>
              </a:rPr>
              <a:t>Media &amp; Entertainment Global</a:t>
            </a:r>
            <a:endParaRPr kumimoji="0" lang="en-GB" sz="1400" b="1" i="0" u="none" strike="noStrike" kern="1200" cap="none" spc="0" normalizeH="0" baseline="0" noProof="0">
              <a:ln>
                <a:noFill/>
              </a:ln>
              <a:solidFill>
                <a:srgbClr val="FF0000"/>
              </a:solidFill>
              <a:effectLst/>
              <a:uLnTx/>
              <a:uFillTx/>
              <a:latin typeface="Ubuntu Light"/>
              <a:ea typeface="+mn-ea"/>
              <a:cs typeface="+mn-cs"/>
            </a:endParaRPr>
          </a:p>
        </p:txBody>
      </p:sp>
      <p:sp>
        <p:nvSpPr>
          <p:cNvPr id="11" name="Oval 10">
            <a:extLst>
              <a:ext uri="{FF2B5EF4-FFF2-40B4-BE49-F238E27FC236}">
                <a16:creationId xmlns:a16="http://schemas.microsoft.com/office/drawing/2014/main" id="{B3FF29E7-B754-BD76-02D6-FD5C7DD5B4CA}"/>
              </a:ext>
            </a:extLst>
          </p:cNvPr>
          <p:cNvSpPr/>
          <p:nvPr/>
        </p:nvSpPr>
        <p:spPr>
          <a:xfrm>
            <a:off x="10165623" y="2890278"/>
            <a:ext cx="1771333" cy="167571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sp>
        <p:nvSpPr>
          <p:cNvPr id="12" name="Oval 11">
            <a:extLst>
              <a:ext uri="{FF2B5EF4-FFF2-40B4-BE49-F238E27FC236}">
                <a16:creationId xmlns:a16="http://schemas.microsoft.com/office/drawing/2014/main" id="{728D29AE-8EE7-A5AF-071A-C3C0B4A51BCA}"/>
              </a:ext>
            </a:extLst>
          </p:cNvPr>
          <p:cNvSpPr/>
          <p:nvPr/>
        </p:nvSpPr>
        <p:spPr>
          <a:xfrm>
            <a:off x="10276423" y="2971479"/>
            <a:ext cx="1575549" cy="1513308"/>
          </a:xfrm>
          <a:prstGeom prst="ellipse">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sp>
        <p:nvSpPr>
          <p:cNvPr id="23" name="Rectangle 22">
            <a:extLst>
              <a:ext uri="{FF2B5EF4-FFF2-40B4-BE49-F238E27FC236}">
                <a16:creationId xmlns:a16="http://schemas.microsoft.com/office/drawing/2014/main" id="{9E2BBF10-67E4-BC33-137F-1AE94209B1BF}"/>
              </a:ext>
            </a:extLst>
          </p:cNvPr>
          <p:cNvSpPr/>
          <p:nvPr/>
        </p:nvSpPr>
        <p:spPr>
          <a:xfrm rot="16200000">
            <a:off x="8596632" y="3629218"/>
            <a:ext cx="2411548" cy="2688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2ABDB"/>
                </a:solidFill>
                <a:effectLst/>
                <a:uLnTx/>
                <a:uFillTx/>
                <a:latin typeface="Ubuntu"/>
                <a:ea typeface="+mn-ea"/>
                <a:cs typeface="Arial"/>
              </a:rPr>
              <a:t>BENEFITS DELIVERED</a:t>
            </a:r>
          </a:p>
        </p:txBody>
      </p:sp>
      <p:cxnSp>
        <p:nvCxnSpPr>
          <p:cNvPr id="27" name="Connector: Elbow 26">
            <a:extLst>
              <a:ext uri="{FF2B5EF4-FFF2-40B4-BE49-F238E27FC236}">
                <a16:creationId xmlns:a16="http://schemas.microsoft.com/office/drawing/2014/main" id="{1F9E2BFE-45EA-861A-2EF0-5AD43173FDDB}"/>
              </a:ext>
            </a:extLst>
          </p:cNvPr>
          <p:cNvCxnSpPr>
            <a:cxnSpLocks/>
          </p:cNvCxnSpPr>
          <p:nvPr/>
        </p:nvCxnSpPr>
        <p:spPr>
          <a:xfrm rot="10800000" flipV="1">
            <a:off x="10124216" y="1873866"/>
            <a:ext cx="12700" cy="3714750"/>
          </a:xfrm>
          <a:prstGeom prst="bentConnector3">
            <a:avLst>
              <a:gd name="adj1" fmla="val 180000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EF57657E-595E-C0C0-4E6C-4AAA9A35BC34}"/>
              </a:ext>
            </a:extLst>
          </p:cNvPr>
          <p:cNvSpPr>
            <a:spLocks noGrp="1"/>
          </p:cNvSpPr>
          <p:nvPr>
            <p:ph type="body" sz="quarter" idx="10"/>
          </p:nvPr>
        </p:nvSpPr>
        <p:spPr>
          <a:xfrm>
            <a:off x="4287148" y="249985"/>
            <a:ext cx="6940610" cy="914400"/>
          </a:xfrm>
        </p:spPr>
        <p:txBody>
          <a:bodyPr>
            <a:normAutofit/>
          </a:bodyPr>
          <a:lstStyle/>
          <a:p>
            <a:pPr lvl="0" defTabSz="914411">
              <a:lnSpc>
                <a:spcPct val="90000"/>
              </a:lnSpc>
              <a:spcBef>
                <a:spcPct val="0"/>
              </a:spcBef>
              <a:defRPr/>
            </a:pPr>
            <a:r>
              <a:rPr lang="en-US" sz="2000" b="1">
                <a:solidFill>
                  <a:schemeClr val="accent2">
                    <a:lumMod val="60000"/>
                    <a:lumOff val="40000"/>
                  </a:schemeClr>
                </a:solidFill>
              </a:rPr>
              <a:t>Vendor Selection for Supplier Visibility Capabilities</a:t>
            </a:r>
            <a:br>
              <a:rPr lang="en-US" sz="1200">
                <a:latin typeface="Ubuntu Light" panose="020B0304030602030204" pitchFamily="34" charset="0"/>
              </a:rPr>
            </a:br>
            <a:r>
              <a:rPr lang="en-US" sz="1200">
                <a:latin typeface="Ubuntu Light" panose="020B0304030602030204" pitchFamily="34" charset="0"/>
              </a:rPr>
              <a:t>N-tier supplier visibility and third-party risk management for regulatory readines</a:t>
            </a:r>
            <a:r>
              <a:rPr lang="en-US" sz="1400"/>
              <a:t>s</a:t>
            </a:r>
          </a:p>
          <a:p>
            <a:endParaRPr lang="en-US" sz="1200">
              <a:latin typeface="Ubuntu Light" panose="020B0304030602030204" pitchFamily="34" charset="0"/>
            </a:endParaRPr>
          </a:p>
        </p:txBody>
      </p:sp>
      <p:sp>
        <p:nvSpPr>
          <p:cNvPr id="16" name="Rectangle 15">
            <a:extLst>
              <a:ext uri="{FF2B5EF4-FFF2-40B4-BE49-F238E27FC236}">
                <a16:creationId xmlns:a16="http://schemas.microsoft.com/office/drawing/2014/main" id="{13C1DB22-BCA6-F9CD-8DBB-F1C71DD049AA}"/>
              </a:ext>
            </a:extLst>
          </p:cNvPr>
          <p:cNvSpPr/>
          <p:nvPr/>
        </p:nvSpPr>
        <p:spPr>
          <a:xfrm>
            <a:off x="10330113" y="3251017"/>
            <a:ext cx="1521859" cy="916226"/>
          </a:xfrm>
          <a:prstGeom prst="rect">
            <a:avLst/>
          </a:prstGeom>
        </p:spPr>
        <p:txBody>
          <a:bodyPr lIns="0" tIns="0" rIns="0" bIns="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FFFFFF"/>
              </a:solidFill>
              <a:effectLst/>
              <a:uLnTx/>
              <a:uFillTx/>
              <a:latin typeface="Ubuntu"/>
              <a:ea typeface="+mn-ea"/>
              <a:cs typeface="+mn-cs"/>
            </a:endParaRPr>
          </a:p>
        </p:txBody>
      </p:sp>
      <p:sp>
        <p:nvSpPr>
          <p:cNvPr id="19" name="Oval 18">
            <a:extLst>
              <a:ext uri="{FF2B5EF4-FFF2-40B4-BE49-F238E27FC236}">
                <a16:creationId xmlns:a16="http://schemas.microsoft.com/office/drawing/2014/main" id="{D002E612-0CB8-D436-4F91-25DAFD6A5ECB}"/>
              </a:ext>
            </a:extLst>
          </p:cNvPr>
          <p:cNvSpPr/>
          <p:nvPr/>
        </p:nvSpPr>
        <p:spPr>
          <a:xfrm>
            <a:off x="10165623" y="1074799"/>
            <a:ext cx="1771333" cy="167571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sp>
        <p:nvSpPr>
          <p:cNvPr id="20" name="Oval 19">
            <a:extLst>
              <a:ext uri="{FF2B5EF4-FFF2-40B4-BE49-F238E27FC236}">
                <a16:creationId xmlns:a16="http://schemas.microsoft.com/office/drawing/2014/main" id="{66B06A03-849C-304D-8B1B-B61E7F7AD17C}"/>
              </a:ext>
            </a:extLst>
          </p:cNvPr>
          <p:cNvSpPr/>
          <p:nvPr/>
        </p:nvSpPr>
        <p:spPr>
          <a:xfrm>
            <a:off x="10276423" y="1156000"/>
            <a:ext cx="1575549" cy="1513308"/>
          </a:xfrm>
          <a:prstGeom prst="ellipse">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sp>
        <p:nvSpPr>
          <p:cNvPr id="21" name="Rectangle 20">
            <a:extLst>
              <a:ext uri="{FF2B5EF4-FFF2-40B4-BE49-F238E27FC236}">
                <a16:creationId xmlns:a16="http://schemas.microsoft.com/office/drawing/2014/main" id="{34AD1DA1-C72C-62ED-36C4-79468D4959D4}"/>
              </a:ext>
            </a:extLst>
          </p:cNvPr>
          <p:cNvSpPr/>
          <p:nvPr/>
        </p:nvSpPr>
        <p:spPr>
          <a:xfrm>
            <a:off x="10330113" y="1435538"/>
            <a:ext cx="1521859" cy="916226"/>
          </a:xfrm>
          <a:prstGeom prst="rect">
            <a:avLst/>
          </a:prstGeom>
        </p:spPr>
        <p:txBody>
          <a:bodyPr lIns="0" tIns="0" rIns="0" bIns="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FFFFFF"/>
              </a:solidFill>
              <a:effectLst/>
              <a:uLnTx/>
              <a:uFillTx/>
              <a:latin typeface="Ubuntu"/>
              <a:ea typeface="+mn-ea"/>
              <a:cs typeface="+mn-cs"/>
            </a:endParaRPr>
          </a:p>
        </p:txBody>
      </p:sp>
      <p:sp>
        <p:nvSpPr>
          <p:cNvPr id="22" name="Oval 21">
            <a:extLst>
              <a:ext uri="{FF2B5EF4-FFF2-40B4-BE49-F238E27FC236}">
                <a16:creationId xmlns:a16="http://schemas.microsoft.com/office/drawing/2014/main" id="{DB683063-7140-2A75-BC80-B28B6EB6460D}"/>
              </a:ext>
            </a:extLst>
          </p:cNvPr>
          <p:cNvSpPr/>
          <p:nvPr/>
        </p:nvSpPr>
        <p:spPr>
          <a:xfrm>
            <a:off x="10165623" y="4705757"/>
            <a:ext cx="1771333" cy="167571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sp>
        <p:nvSpPr>
          <p:cNvPr id="24" name="Oval 23">
            <a:extLst>
              <a:ext uri="{FF2B5EF4-FFF2-40B4-BE49-F238E27FC236}">
                <a16:creationId xmlns:a16="http://schemas.microsoft.com/office/drawing/2014/main" id="{1D67B4D6-FF5D-BA52-7D82-C085E6F6FA6D}"/>
              </a:ext>
            </a:extLst>
          </p:cNvPr>
          <p:cNvSpPr/>
          <p:nvPr/>
        </p:nvSpPr>
        <p:spPr>
          <a:xfrm>
            <a:off x="10276423" y="4786958"/>
            <a:ext cx="1575549" cy="1513308"/>
          </a:xfrm>
          <a:prstGeom prst="ellipse">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Light"/>
              <a:ea typeface="+mn-ea"/>
              <a:cs typeface="+mn-cs"/>
            </a:endParaRPr>
          </a:p>
        </p:txBody>
      </p:sp>
      <p:sp>
        <p:nvSpPr>
          <p:cNvPr id="26" name="Rectangle 25">
            <a:extLst>
              <a:ext uri="{FF2B5EF4-FFF2-40B4-BE49-F238E27FC236}">
                <a16:creationId xmlns:a16="http://schemas.microsoft.com/office/drawing/2014/main" id="{607E2BF6-5B4A-7579-9C6C-152E056F95A4}"/>
              </a:ext>
            </a:extLst>
          </p:cNvPr>
          <p:cNvSpPr/>
          <p:nvPr/>
        </p:nvSpPr>
        <p:spPr>
          <a:xfrm>
            <a:off x="10330113" y="5066496"/>
            <a:ext cx="1521859" cy="916226"/>
          </a:xfrm>
          <a:prstGeom prst="rect">
            <a:avLst/>
          </a:prstGeom>
        </p:spPr>
        <p:txBody>
          <a:bodyPr lIns="0" tIns="0" rIns="0" bIns="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FFFFFF"/>
              </a:solidFill>
              <a:effectLst/>
              <a:uLnTx/>
              <a:uFillTx/>
              <a:latin typeface="Ubuntu"/>
              <a:ea typeface="+mn-ea"/>
              <a:cs typeface="+mn-cs"/>
            </a:endParaRPr>
          </a:p>
        </p:txBody>
      </p:sp>
      <p:sp>
        <p:nvSpPr>
          <p:cNvPr id="29" name="Rectangle 28">
            <a:extLst>
              <a:ext uri="{FF2B5EF4-FFF2-40B4-BE49-F238E27FC236}">
                <a16:creationId xmlns:a16="http://schemas.microsoft.com/office/drawing/2014/main" id="{254D3E37-8410-72F1-CB97-74A79410B45B}"/>
              </a:ext>
            </a:extLst>
          </p:cNvPr>
          <p:cNvSpPr/>
          <p:nvPr/>
        </p:nvSpPr>
        <p:spPr>
          <a:xfrm>
            <a:off x="10379606" y="1410852"/>
            <a:ext cx="1422869" cy="916226"/>
          </a:xfrm>
          <a:prstGeom prst="rect">
            <a:avLst/>
          </a:prstGeom>
        </p:spPr>
        <p:txBody>
          <a:bodyPr lIns="0" tIns="0" rIns="0" bIns="0" anchor="t" anchorCtr="0">
            <a:noAutofit/>
          </a:bodyPr>
          <a:lstStyle/>
          <a:p>
            <a:pPr algn="ctr">
              <a:defRPr/>
            </a:pPr>
            <a:r>
              <a:rPr lang="en-GB" sz="1600" b="1">
                <a:solidFill>
                  <a:srgbClr val="12ABDB"/>
                </a:solidFill>
                <a:latin typeface="Ubuntu"/>
              </a:rPr>
              <a:t>Transparency</a:t>
            </a:r>
          </a:p>
          <a:p>
            <a:pPr algn="ctr">
              <a:defRPr/>
            </a:pPr>
            <a:endParaRPr lang="en-GB" sz="1600" b="1">
              <a:solidFill>
                <a:srgbClr val="12ABDB"/>
              </a:solidFill>
              <a:latin typeface="Ubuntu"/>
            </a:endParaRPr>
          </a:p>
          <a:p>
            <a:pPr lvl="0" algn="ctr">
              <a:defRPr/>
            </a:pPr>
            <a:r>
              <a:rPr lang="en-US" sz="1000" kern="0">
                <a:solidFill>
                  <a:srgbClr val="FFFFFF"/>
                </a:solidFill>
                <a:cs typeface="Calibri" pitchFamily="34" charset="0"/>
              </a:rPr>
              <a:t>Full visibility into N-tier suppliers for better compliance</a:t>
            </a:r>
            <a:endParaRPr lang="en-GB" sz="1000" kern="0">
              <a:solidFill>
                <a:srgbClr val="FFFFFF"/>
              </a:solidFill>
              <a:cs typeface="Calibri" pitchFamily="34" charset="0"/>
            </a:endParaRPr>
          </a:p>
        </p:txBody>
      </p:sp>
      <p:sp>
        <p:nvSpPr>
          <p:cNvPr id="30" name="Rectangle 29">
            <a:extLst>
              <a:ext uri="{FF2B5EF4-FFF2-40B4-BE49-F238E27FC236}">
                <a16:creationId xmlns:a16="http://schemas.microsoft.com/office/drawing/2014/main" id="{EB84D9E9-8C69-80AE-2885-0B44847BD324}"/>
              </a:ext>
            </a:extLst>
          </p:cNvPr>
          <p:cNvSpPr/>
          <p:nvPr/>
        </p:nvSpPr>
        <p:spPr>
          <a:xfrm>
            <a:off x="10339854" y="3222159"/>
            <a:ext cx="1422869" cy="916226"/>
          </a:xfrm>
          <a:prstGeom prst="rect">
            <a:avLst/>
          </a:prstGeom>
        </p:spPr>
        <p:txBody>
          <a:bodyPr lIns="0" tIns="0" rIns="0" bIns="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a:solidFill>
                  <a:srgbClr val="12ABDB"/>
                </a:solidFill>
                <a:latin typeface="Ubuntu"/>
              </a:rPr>
              <a:t>Control</a:t>
            </a:r>
            <a:r>
              <a:rPr kumimoji="0" lang="en-US" sz="1000" i="0" u="none" strike="noStrike" kern="1200" cap="none" spc="0" normalizeH="0" baseline="0" noProof="0">
                <a:ln>
                  <a:noFill/>
                </a:ln>
                <a:solidFill>
                  <a:schemeClr val="bg1"/>
                </a:solidFill>
                <a:effectLst/>
                <a:uLnTx/>
                <a:uFillTx/>
                <a:latin typeface="Ubuntu"/>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i="0" u="none" strike="noStrike" kern="1200" cap="none" spc="0" normalizeH="0" baseline="0" noProof="0">
              <a:ln>
                <a:noFill/>
              </a:ln>
              <a:solidFill>
                <a:schemeClr val="bg1"/>
              </a:solidFill>
              <a:effectLst/>
              <a:uLnTx/>
              <a:uFillTx/>
              <a:latin typeface="Ubuntu"/>
              <a:ea typeface="+mn-ea"/>
              <a:cs typeface="+mn-cs"/>
            </a:endParaRPr>
          </a:p>
          <a:p>
            <a:pPr lvl="0" algn="ctr">
              <a:defRPr/>
            </a:pPr>
            <a:r>
              <a:rPr lang="en-US" sz="1000" kern="0">
                <a:solidFill>
                  <a:srgbClr val="FFFFFF"/>
                </a:solidFill>
                <a:cs typeface="Calibri" pitchFamily="34" charset="0"/>
              </a:rPr>
              <a:t>Structured framework and roadmap for risk management</a:t>
            </a:r>
          </a:p>
        </p:txBody>
      </p:sp>
      <p:sp>
        <p:nvSpPr>
          <p:cNvPr id="31" name="Rectangle 30">
            <a:extLst>
              <a:ext uri="{FF2B5EF4-FFF2-40B4-BE49-F238E27FC236}">
                <a16:creationId xmlns:a16="http://schemas.microsoft.com/office/drawing/2014/main" id="{7C19066F-521F-C30C-C14C-5A1E18996A8E}"/>
              </a:ext>
            </a:extLst>
          </p:cNvPr>
          <p:cNvSpPr/>
          <p:nvPr/>
        </p:nvSpPr>
        <p:spPr>
          <a:xfrm>
            <a:off x="10352762" y="4995480"/>
            <a:ext cx="1422869" cy="916226"/>
          </a:xfrm>
          <a:prstGeom prst="rect">
            <a:avLst/>
          </a:prstGeom>
        </p:spPr>
        <p:txBody>
          <a:bodyPr lIns="0" tIns="0" rIns="0" bIns="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2ABDB"/>
                </a:solidFill>
                <a:effectLst/>
                <a:uLnTx/>
                <a:uFillTx/>
                <a:latin typeface="Ubuntu"/>
                <a:ea typeface="+mn-ea"/>
                <a:cs typeface="+mn-cs"/>
              </a:rPr>
              <a:t>Enablement</a:t>
            </a:r>
            <a:endParaRPr kumimoji="0" lang="en-US" sz="1000" i="0" u="none" strike="noStrike" kern="1200" cap="none" spc="0" normalizeH="0" baseline="0" noProof="0">
              <a:ln>
                <a:noFill/>
              </a:ln>
              <a:solidFill>
                <a:schemeClr val="bg1"/>
              </a:solidFill>
              <a:effectLst/>
              <a:uLnTx/>
              <a:uFillTx/>
              <a:latin typeface="Ubuntu"/>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i="0" u="none" strike="noStrike" kern="1200" cap="none" spc="0" normalizeH="0" baseline="0" noProof="0">
              <a:ln>
                <a:noFill/>
              </a:ln>
              <a:solidFill>
                <a:schemeClr val="bg1"/>
              </a:solidFill>
              <a:effectLst/>
              <a:uLnTx/>
              <a:uFillTx/>
              <a:latin typeface="Ubuntu"/>
              <a:ea typeface="+mn-ea"/>
              <a:cs typeface="+mn-cs"/>
            </a:endParaRPr>
          </a:p>
          <a:p>
            <a:pPr algn="ctr">
              <a:defRPr/>
            </a:pPr>
            <a:r>
              <a:rPr lang="en-US" sz="1000">
                <a:solidFill>
                  <a:schemeClr val="bg1"/>
                </a:solidFill>
                <a:latin typeface="Ubuntu"/>
              </a:rPr>
              <a:t>Governed vendor list to support global merchandise operations</a:t>
            </a:r>
          </a:p>
        </p:txBody>
      </p:sp>
    </p:spTree>
    <p:extLst>
      <p:ext uri="{BB962C8B-B14F-4D97-AF65-F5344CB8AC3E}">
        <p14:creationId xmlns:p14="http://schemas.microsoft.com/office/powerpoint/2010/main" val="3433109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4">
            <a:extLst>
              <a:ext uri="{FF2B5EF4-FFF2-40B4-BE49-F238E27FC236}">
                <a16:creationId xmlns:a16="http://schemas.microsoft.com/office/drawing/2014/main" id="{690E288D-3D81-DD0C-E3D2-47EE1A37A165}"/>
              </a:ext>
            </a:extLst>
          </p:cNvPr>
          <p:cNvSpPr txBox="1">
            <a:spLocks/>
          </p:cNvSpPr>
          <p:nvPr/>
        </p:nvSpPr>
        <p:spPr>
          <a:xfrm>
            <a:off x="407369" y="1441558"/>
            <a:ext cx="4345176" cy="2851538"/>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lt1"/>
                </a:solidFill>
                <a:effectLst/>
                <a:uLnTx/>
                <a:uFillTx/>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nSpc>
                <a:spcPct val="100000"/>
              </a:lnSpc>
              <a:spcBef>
                <a:spcPts val="0"/>
              </a:spcBef>
              <a:defRPr/>
            </a:pPr>
            <a:r>
              <a:rPr lang="en-US" sz="1400" noProof="0">
                <a:solidFill>
                  <a:schemeClr val="bg1"/>
                </a:solidFill>
                <a:latin typeface="+mj-lt"/>
              </a:rPr>
              <a:t>About Capgemini</a:t>
            </a:r>
            <a:br>
              <a:rPr lang="en-US" sz="1400" noProof="0">
                <a:solidFill>
                  <a:schemeClr val="bg1"/>
                </a:solidFill>
                <a:latin typeface="+mj-lt"/>
              </a:rPr>
            </a:br>
            <a:endParaRPr lang="en-US" sz="900" noProof="0">
              <a:solidFill>
                <a:schemeClr val="bg1"/>
              </a:solidFill>
              <a:latin typeface="Ubuntu Light" panose="020B0304030602030204" pitchFamily="34" charset="0"/>
            </a:endParaRPr>
          </a:p>
          <a:p>
            <a:pPr algn="just">
              <a:lnSpc>
                <a:spcPct val="103000"/>
              </a:lnSpc>
              <a:spcBef>
                <a:spcPct val="0"/>
              </a:spcBef>
            </a:pPr>
            <a:r>
              <a:rPr lang="en-US" sz="900" spc="10" noProof="0">
                <a:solidFill>
                  <a:schemeClr val="bg1"/>
                </a:solidFill>
              </a:rPr>
              <a:t>As the digital innovation, design and transformation brand of the Capgemini Group, Capgemini Invent enables CxOs to envision and shape the future of their businesses. Located in over 30 studios and more than 60 offices around the world, it comprises a 13,000 strong team of strategists, data scientists, product and experience designers, brand experts and technologists who develop new digital services, products, experiences and business models for sustainable growth.</a:t>
            </a:r>
          </a:p>
          <a:p>
            <a:pPr algn="just">
              <a:lnSpc>
                <a:spcPct val="103000"/>
              </a:lnSpc>
              <a:spcBef>
                <a:spcPct val="0"/>
              </a:spcBef>
            </a:pPr>
            <a:endParaRPr lang="en-US" sz="900" spc="10" noProof="0">
              <a:solidFill>
                <a:schemeClr val="bg1"/>
              </a:solidFill>
            </a:endParaRPr>
          </a:p>
          <a:p>
            <a:pPr algn="just">
              <a:lnSpc>
                <a:spcPct val="103000"/>
              </a:lnSpc>
              <a:spcBef>
                <a:spcPct val="0"/>
              </a:spcBef>
            </a:pPr>
            <a:r>
              <a:rPr lang="en-US" sz="900" spc="10" noProof="0">
                <a:solidFill>
                  <a:schemeClr val="bg1"/>
                </a:solidFill>
              </a:rPr>
              <a:t>Capgemini Invent is an integral part of Capgemini, a global business and technology transformation partner, helping organizations to accelerate their dual transition to a digital and sustainable world, while creating tangible impact for enterprises and society. It is a responsible and diverse group of 340,000 team members in more than 50 countries. With its strong over 55-year heritage, Capgemini is trusted by its clients to unlock the value of technology to address the entire breadth of their business needs. It delivers end-to-end services and solutions leveraging strengths from strategy and design to engineering, all fueled by its market leading capabilities in AI, cloud and data, combined with its deep industry expertise and partner ecosystem. The Group reported 2024 global revenues of €22 billion.</a:t>
            </a:r>
          </a:p>
        </p:txBody>
      </p:sp>
      <p:sp>
        <p:nvSpPr>
          <p:cNvPr id="5" name="Rectangle 4">
            <a:extLst>
              <a:ext uri="{FF2B5EF4-FFF2-40B4-BE49-F238E27FC236}">
                <a16:creationId xmlns:a16="http://schemas.microsoft.com/office/drawing/2014/main" id="{35ABC9D5-8856-B999-7501-FAD8C6C3F28B}"/>
              </a:ext>
            </a:extLst>
          </p:cNvPr>
          <p:cNvSpPr/>
          <p:nvPr/>
        </p:nvSpPr>
        <p:spPr>
          <a:xfrm>
            <a:off x="407368" y="4509120"/>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900" noProof="0">
                <a:solidFill>
                  <a:schemeClr val="bg1"/>
                </a:solidFill>
                <a:effectLst/>
                <a:latin typeface="Ubuntu" panose="020B0504030602030204" pitchFamily="34" charset="0"/>
              </a:rPr>
              <a:t>Get the future you want | </a:t>
            </a:r>
            <a:r>
              <a:rPr lang="en-US" sz="1050" noProof="0">
                <a:solidFill>
                  <a:schemeClr val="accent2"/>
                </a:solidFill>
                <a:latin typeface="Ubuntu" panose="020B0504030602030204" pitchFamily="34" charset="0"/>
              </a:rPr>
              <a:t>www.capgemini.com</a:t>
            </a:r>
          </a:p>
        </p:txBody>
      </p:sp>
    </p:spTree>
    <p:extLst>
      <p:ext uri="{BB962C8B-B14F-4D97-AF65-F5344CB8AC3E}">
        <p14:creationId xmlns:p14="http://schemas.microsoft.com/office/powerpoint/2010/main" val="21828204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lCWVyILng0yr6K9IaN18_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lCWVyILng0yr6K9IaN18_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lCWVyILng0yr6K9IaN18_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lCWVyILng0yr6K9IaN18_w"/>
</p:tagLst>
</file>

<file path=ppt/tags/tag11.xml><?xml version="1.0" encoding="utf-8"?>
<p:tagLst xmlns:a="http://schemas.openxmlformats.org/drawingml/2006/main" xmlns:r="http://schemas.openxmlformats.org/officeDocument/2006/relationships" xmlns:p="http://schemas.openxmlformats.org/presentationml/2006/main">
  <p:tag name="LINEFORECOLOR" val="10921638"/>
  <p:tag name="LINEFORESCHEMECOLOR" val="14"/>
</p:tagLst>
</file>

<file path=ppt/tags/tag12.xml><?xml version="1.0" encoding="utf-8"?>
<p:tagLst xmlns:a="http://schemas.openxmlformats.org/drawingml/2006/main" xmlns:r="http://schemas.openxmlformats.org/officeDocument/2006/relationships" xmlns:p="http://schemas.openxmlformats.org/presentationml/2006/main">
  <p:tag name="LINEFORECOLOR" val="10921638"/>
  <p:tag name="LINEFORESCHEMECOLOR" val="14"/>
</p:tagLst>
</file>

<file path=ppt/tags/tag13.xml><?xml version="1.0" encoding="utf-8"?>
<p:tagLst xmlns:a="http://schemas.openxmlformats.org/drawingml/2006/main" xmlns:r="http://schemas.openxmlformats.org/officeDocument/2006/relationships" xmlns:p="http://schemas.openxmlformats.org/presentationml/2006/main">
  <p:tag name="LINEFORECOLOR" val="10921638"/>
  <p:tag name="LINEFORESCHEMECOLOR" val="14"/>
</p:tagLst>
</file>

<file path=ppt/tags/tag14.xml><?xml version="1.0" encoding="utf-8"?>
<p:tagLst xmlns:a="http://schemas.openxmlformats.org/drawingml/2006/main" xmlns:r="http://schemas.openxmlformats.org/officeDocument/2006/relationships" xmlns:p="http://schemas.openxmlformats.org/presentationml/2006/main">
  <p:tag name="LINEFORECOLOR" val="10921638"/>
  <p:tag name="LINEFORESCHEMECOLOR" val="14"/>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resentation5" id="{7CB89590-C7AD-4DAF-901E-F27F2892A96B}" vid="{B7F0205D-38B8-4AA4-88EC-260290EBD276}"/>
    </a:ext>
  </a:extLst>
</a:theme>
</file>

<file path=ppt/theme/theme2.xml><?xml version="1.0" encoding="utf-8"?>
<a:theme xmlns:a="http://schemas.openxmlformats.org/drawingml/2006/main" name="Capgemini Invent Global 2022">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pt-Capgemini-Invent_Master-Template-2023.pptx" id="{99017380-DAB4-447D-B15F-55C7520101ED}" vid="{B729CB41-DBFA-48BC-B8ED-FB54ECCE81C9}"/>
    </a:ext>
  </a:extLst>
</a:theme>
</file>

<file path=ppt/theme/theme3.xml><?xml version="1.0" encoding="utf-8"?>
<a:theme xmlns:a="http://schemas.openxmlformats.org/drawingml/2006/main" name="Boiler Plate">
  <a:themeElements>
    <a:clrScheme name="Custom 4">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BBB58AB2-6CBA-40BD-9C17-C36F22247AC9}"/>
    </a:ext>
  </a:extLst>
</a:theme>
</file>

<file path=ppt/theme/theme4.xml><?xml version="1.0" encoding="utf-8"?>
<a:theme xmlns:a="http://schemas.openxmlformats.org/drawingml/2006/main" name="1_Boiler Plate">
  <a:themeElements>
    <a:clrScheme name="Custom 4">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BBB58AB2-6CBA-40BD-9C17-C36F22247AC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ReuseCount xmlns="6a00c37a-6f72-4698-9b02-81ff9fa7b20d">0</ReuseCount>
    <FolderDescription xmlns="6a00c37a-6f72-4698-9b02-81ff9fa7b20d" xsi:nil="true"/>
    <TaxCatchAll xmlns="17de28ac-b190-4cd4-a606-47e679de9d2c" xsi:nil="true"/>
    <Date xmlns="6a00c37a-6f72-4698-9b02-81ff9fa7b20d" xsi:nil="true"/>
  </documentManagement>
</p:properties>
</file>

<file path=customXml/itemProps1.xml><?xml version="1.0" encoding="utf-8"?>
<ds:datastoreItem xmlns:ds="http://schemas.openxmlformats.org/officeDocument/2006/customXml" ds:itemID="{FF7347B3-6DED-471D-8211-51F5109CB59D}">
  <ds:schemaRefs>
    <ds:schemaRef ds:uri="http://schemas.microsoft.com/sharepoint/v3/contenttype/forms"/>
  </ds:schemaRefs>
</ds:datastoreItem>
</file>

<file path=customXml/itemProps2.xml><?xml version="1.0" encoding="utf-8"?>
<ds:datastoreItem xmlns:ds="http://schemas.openxmlformats.org/officeDocument/2006/customXml" ds:itemID="{1F592E31-ADF0-4CF9-89A9-C1E262A80E9F}"/>
</file>

<file path=customXml/itemProps3.xml><?xml version="1.0" encoding="utf-8"?>
<ds:datastoreItem xmlns:ds="http://schemas.openxmlformats.org/officeDocument/2006/customXml" ds:itemID="{7D984123-920C-4F4C-BEE5-66B07D97E0DD}">
  <ds:schemaRefs>
    <ds:schemaRef ds:uri="17de28ac-b190-4cd4-a606-47e679de9d2c"/>
    <ds:schemaRef ds:uri="6a00c37a-6f72-4698-9b02-81ff9fa7b20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18</Slides>
  <Notes>4</Notes>
  <HiddenSlides>0</HiddenSlides>
  <ScaleCrop>false</ScaleCrop>
  <HeadingPairs>
    <vt:vector size="4" baseType="variant">
      <vt:variant>
        <vt:lpstr>Theme</vt:lpstr>
      </vt:variant>
      <vt:variant>
        <vt:i4>4</vt:i4>
      </vt:variant>
      <vt:variant>
        <vt:lpstr>Slide Titles</vt:lpstr>
      </vt:variant>
      <vt:variant>
        <vt:i4>18</vt:i4>
      </vt:variant>
    </vt:vector>
  </HeadingPairs>
  <TitlesOfParts>
    <vt:vector size="22" baseType="lpstr">
      <vt:lpstr>Capgemini2021</vt:lpstr>
      <vt:lpstr>Capgemini Invent Global 2022</vt:lpstr>
      <vt:lpstr>Boiler Plate</vt:lpstr>
      <vt:lpstr>1_Boiler Plate</vt:lpstr>
      <vt:lpstr>PowerPoint Presentation</vt:lpstr>
      <vt:lpstr>TABLE OF CONTENTS</vt:lpstr>
      <vt:lpstr>Statement of Purpose </vt:lpstr>
      <vt:lpstr>Executive  Summary​</vt:lpstr>
      <vt:lpstr>PowerPoint Presentation</vt:lpstr>
      <vt:lpstr>PowerPoint Presentation</vt:lpstr>
      <vt:lpstr>Overview of onshore-offshore collaboration for efficient  program delivery​</vt:lpstr>
      <vt:lpstr>PowerPoint Presentation</vt:lpstr>
      <vt:lpstr>Our vendor market analysis &amp; pre-selection approach </vt:lpstr>
      <vt:lpstr>PowerPoint Presentation</vt:lpstr>
      <vt:lpstr>PowerPoint Presentation</vt:lpstr>
      <vt:lpstr>…..and enabled by leveraging TM forum’s ODA components The transformation roadmap will be defined based on ODA architecture and then refined functional and technical requirements will be drafted</vt:lpstr>
      <vt:lpstr>Structured support for RFP execution &amp; vendor assessment</vt:lpstr>
      <vt:lpstr>PowerPoint Presentation</vt:lpstr>
      <vt:lpstr>Statement on tax, audit, legal &amp; regulatory services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Ranade, Shripriya Vinay</dc:creator>
  <cp:revision>1</cp:revision>
  <dcterms:created xsi:type="dcterms:W3CDTF">2025-08-22T07:01:39Z</dcterms:created>
  <dcterms:modified xsi:type="dcterms:W3CDTF">2026-03-04T11:27:35Z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MediaServiceImageTags">
    <vt:lpwstr/>
  </property>
</Properties>
</file>