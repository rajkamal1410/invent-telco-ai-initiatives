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10" r:id="rId4"/>
    <p:sldMasterId id="2147483881" r:id="rId5"/>
    <p:sldMasterId id="2147483942" r:id="rId6"/>
  </p:sldMasterIdLst>
  <p:notesMasterIdLst>
    <p:notesMasterId r:id="rId55"/>
  </p:notesMasterIdLst>
  <p:sldIdLst>
    <p:sldId id="265" r:id="rId7"/>
    <p:sldId id="2147483430" r:id="rId8"/>
    <p:sldId id="2147483402" r:id="rId9"/>
    <p:sldId id="2147483396" r:id="rId10"/>
    <p:sldId id="2147483404" r:id="rId11"/>
    <p:sldId id="2147483399" r:id="rId12"/>
    <p:sldId id="2147483400" r:id="rId13"/>
    <p:sldId id="2147483405" r:id="rId14"/>
    <p:sldId id="2147483422" r:id="rId15"/>
    <p:sldId id="2147483417" r:id="rId16"/>
    <p:sldId id="2147483420" r:id="rId17"/>
    <p:sldId id="2147483409" r:id="rId18"/>
    <p:sldId id="2147483367" r:id="rId19"/>
    <p:sldId id="301" r:id="rId20"/>
    <p:sldId id="299" r:id="rId21"/>
    <p:sldId id="2147481877" r:id="rId22"/>
    <p:sldId id="304" r:id="rId23"/>
    <p:sldId id="305" r:id="rId24"/>
    <p:sldId id="2147483368" r:id="rId25"/>
    <p:sldId id="2147483373" r:id="rId26"/>
    <p:sldId id="293" r:id="rId27"/>
    <p:sldId id="2147483401" r:id="rId28"/>
    <p:sldId id="2147483369" r:id="rId29"/>
    <p:sldId id="2147481880" r:id="rId30"/>
    <p:sldId id="2147481881" r:id="rId31"/>
    <p:sldId id="2147481879" r:id="rId32"/>
    <p:sldId id="294" r:id="rId33"/>
    <p:sldId id="309" r:id="rId34"/>
    <p:sldId id="2147483406" r:id="rId35"/>
    <p:sldId id="2147483407" r:id="rId36"/>
    <p:sldId id="2147483397" r:id="rId37"/>
    <p:sldId id="2147483393" r:id="rId38"/>
    <p:sldId id="2147483394" r:id="rId39"/>
    <p:sldId id="2147483423" r:id="rId40"/>
    <p:sldId id="2147483424" r:id="rId41"/>
    <p:sldId id="2147483425" r:id="rId42"/>
    <p:sldId id="2147483426" r:id="rId43"/>
    <p:sldId id="2147483427" r:id="rId44"/>
    <p:sldId id="2147483428" r:id="rId45"/>
    <p:sldId id="2147483376" r:id="rId46"/>
    <p:sldId id="2147483380" r:id="rId47"/>
    <p:sldId id="2147483410" r:id="rId48"/>
    <p:sldId id="2147483411" r:id="rId49"/>
    <p:sldId id="2147483412" r:id="rId50"/>
    <p:sldId id="2147483413" r:id="rId51"/>
    <p:sldId id="2147483414" r:id="rId52"/>
    <p:sldId id="2147483418" r:id="rId53"/>
    <p:sldId id="2147483431" r:id="rId54"/>
  </p:sldIdLst>
  <p:sldSz cx="12192000" cy="6858000"/>
  <p:notesSz cx="6858000" cy="9144000"/>
  <p:embeddedFontLst>
    <p:embeddedFont>
      <p:font typeface="Book Antiqua" panose="02040602050305030304" pitchFamily="18" charset="0"/>
      <p:regular r:id="rId56"/>
      <p:bold r:id="rId57"/>
      <p:italic r:id="rId58"/>
      <p:boldItalic r:id="rId59"/>
    </p:embeddedFont>
    <p:embeddedFont>
      <p:font typeface="Helvetica" panose="020B0604020202020204" pitchFamily="34" charset="0"/>
      <p:regular r:id="rId60"/>
      <p:bold r:id="rId61"/>
      <p:italic r:id="rId62"/>
      <p:boldItalic r:id="rId63"/>
    </p:embeddedFont>
    <p:embeddedFont>
      <p:font typeface="Ubuntu" panose="020B0504030602030204" pitchFamily="34" charset="0"/>
      <p:regular r:id="rId64"/>
      <p:bold r:id="rId65"/>
      <p:italic r:id="rId66"/>
    </p:embeddedFont>
    <p:embeddedFont>
      <p:font typeface="Ubuntu Light" panose="020B0304030602030204" pitchFamily="34" charset="0"/>
      <p:regular r:id="rId67"/>
      <p:italic r:id="rId68"/>
    </p:embeddedFont>
    <p:embeddedFont>
      <p:font typeface="Ubuntu Medium" panose="020B0604030602030204" pitchFamily="34" charset="0"/>
      <p:regular r:id="rId69"/>
      <p:italic r:id="rId70"/>
    </p:embeddedFont>
    <p:embeddedFont>
      <p:font typeface="Verdana" panose="020B0604030504040204" pitchFamily="34" charset="0"/>
      <p:regular r:id="rId71"/>
      <p:bold r:id="rId72"/>
      <p:italic r:id="rId73"/>
      <p:boldItalic r:id="rId74"/>
    </p:embeddedFont>
  </p:embeddedFontLst>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91CB65-F425-3AAC-CB0C-51E97E6CA92F}" name="T Augustin, Anup" initials="" userId="S::anup.t-augustin@capgemini.com::94279981-7859-4c5e-91ca-653179e5f6d0" providerId="AD"/>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 id="{2D9795C6-22DE-B0BE-A7AE-90540B45F052}" name="Roy, Subrata" initials="SR" userId="S::subrata.a.roy@capgemini.com::93d6d08e-9b56-4f58-a933-ae82eae12ff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F1FF"/>
    <a:srgbClr val="DDEFFF"/>
    <a:srgbClr val="F2F2F2"/>
    <a:srgbClr val="91AACD"/>
    <a:srgbClr val="002060"/>
    <a:srgbClr val="D2F1FC"/>
    <a:srgbClr val="0A3368"/>
    <a:srgbClr val="ECECEC"/>
    <a:srgbClr val="6E80B3"/>
    <a:srgbClr val="6E81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8.fntdata"/><Relationship Id="rId68" Type="http://schemas.openxmlformats.org/officeDocument/2006/relationships/font" Target="fonts/font13.fntdata"/><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font" Target="fonts/font19.fntdata"/><Relationship Id="rId79"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font" Target="fonts/font6.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17.fntdata"/><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2.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notesMaster" Target="notesMasters/notesMaster1.xml"/><Relationship Id="rId76"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font" Target="fonts/font16.fntdata"/><Relationship Id="rId2" Type="http://schemas.openxmlformats.org/officeDocument/2006/relationships/customXml" Target="../customXml/item2.xml"/><Relationship Id="rId29"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ade, Shripriya Vinay" userId="ab164fce-475d-4163-8d0e-76c773d24d62" providerId="ADAL" clId="{E45A8738-09F8-4BE8-9F9C-B48E9516A41B}"/>
    <pc:docChg chg="delSld">
      <pc:chgData name="Ranade, Shripriya Vinay" userId="ab164fce-475d-4163-8d0e-76c773d24d62" providerId="ADAL" clId="{E45A8738-09F8-4BE8-9F9C-B48E9516A41B}" dt="2026-04-22T12:44:13.961" v="1" actId="47"/>
      <pc:docMkLst>
        <pc:docMk/>
      </pc:docMkLst>
      <pc:sldChg chg="del">
        <pc:chgData name="Ranade, Shripriya Vinay" userId="ab164fce-475d-4163-8d0e-76c773d24d62" providerId="ADAL" clId="{E45A8738-09F8-4BE8-9F9C-B48E9516A41B}" dt="2026-04-22T12:44:13.961" v="1" actId="47"/>
        <pc:sldMkLst>
          <pc:docMk/>
          <pc:sldMk cId="967377782" sldId="317"/>
        </pc:sldMkLst>
      </pc:sldChg>
      <pc:sldChg chg="del">
        <pc:chgData name="Ranade, Shripriya Vinay" userId="ab164fce-475d-4163-8d0e-76c773d24d62" providerId="ADAL" clId="{E45A8738-09F8-4BE8-9F9C-B48E9516A41B}" dt="2026-04-22T12:44:11.664" v="0" actId="47"/>
        <pc:sldMkLst>
          <pc:docMk/>
          <pc:sldMk cId="1505359024" sldId="21474833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04/22/2026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7A0D-0A93-F020-DBA8-D4D602A8F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71B9A-A4C9-8F19-0150-D87C98A9049A}"/>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11B105FE-FD7A-A80C-F23F-6781F4999B97}"/>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EC8CDC5B-C650-1478-FEBA-F439688232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500539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5.png"/><Relationship Id="rId3" Type="http://schemas.openxmlformats.org/officeDocument/2006/relationships/tags" Target="../tags/tag3.xml"/><Relationship Id="rId7" Type="http://schemas.openxmlformats.org/officeDocument/2006/relationships/image" Target="../media/image12.png"/><Relationship Id="rId12" Type="http://schemas.openxmlformats.org/officeDocument/2006/relationships/hyperlink" Target="http://www.linkedin.com/company/capgemini" TargetMode="External"/><Relationship Id="rId17" Type="http://schemas.openxmlformats.org/officeDocument/2006/relationships/image" Target="../media/image18.svg"/><Relationship Id="rId2" Type="http://schemas.openxmlformats.org/officeDocument/2006/relationships/tags" Target="../tags/tag2.xml"/><Relationship Id="rId16" Type="http://schemas.openxmlformats.org/officeDocument/2006/relationships/image" Target="../media/image17.png"/><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14.png"/><Relationship Id="rId5" Type="http://schemas.openxmlformats.org/officeDocument/2006/relationships/slideMaster" Target="../slideMasters/slideMaster1.xml"/><Relationship Id="rId15" Type="http://schemas.openxmlformats.org/officeDocument/2006/relationships/image" Target="../media/image16.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13.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13" Type="http://schemas.openxmlformats.org/officeDocument/2006/relationships/image" Target="../media/image19.svg"/><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image" Target="../media/image1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18" Type="http://schemas.openxmlformats.org/officeDocument/2006/relationships/image" Target="../media/image19.svg"/><Relationship Id="rId3" Type="http://schemas.openxmlformats.org/officeDocument/2006/relationships/image" Target="../media/image20.png"/><Relationship Id="rId7" Type="http://schemas.microsoft.com/office/2007/relationships/hdphoto" Target="../media/hdphoto2.wdp"/><Relationship Id="rId12" Type="http://schemas.openxmlformats.org/officeDocument/2006/relationships/image" Target="../media/image23.png"/><Relationship Id="rId17" Type="http://schemas.openxmlformats.org/officeDocument/2006/relationships/image" Target="../media/image17.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2.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2.png"/><Relationship Id="rId18" Type="http://schemas.openxmlformats.org/officeDocument/2006/relationships/hyperlink" Target="https://www.instagram.com/capgemini/" TargetMode="External"/><Relationship Id="rId3" Type="http://schemas.openxmlformats.org/officeDocument/2006/relationships/tags" Target="../tags/tag7.xml"/><Relationship Id="rId21" Type="http://schemas.openxmlformats.org/officeDocument/2006/relationships/image" Target="../media/image4.png"/><Relationship Id="rId7" Type="http://schemas.openxmlformats.org/officeDocument/2006/relationships/image" Target="../media/image2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23.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21.png"/><Relationship Id="rId19" Type="http://schemas.openxmlformats.org/officeDocument/2006/relationships/image" Target="../media/image24.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 Id="rId22" Type="http://schemas.openxmlformats.org/officeDocument/2006/relationships/image" Target="../media/image26.svg"/></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18" Type="http://schemas.openxmlformats.org/officeDocument/2006/relationships/image" Target="../media/image5.svg"/><Relationship Id="rId3" Type="http://schemas.openxmlformats.org/officeDocument/2006/relationships/image" Target="../media/image20.png"/><Relationship Id="rId7" Type="http://schemas.microsoft.com/office/2007/relationships/hdphoto" Target="../media/hdphoto7.wdp"/><Relationship Id="rId12" Type="http://schemas.openxmlformats.org/officeDocument/2006/relationships/image" Target="../media/image23.png"/><Relationship Id="rId17" Type="http://schemas.openxmlformats.org/officeDocument/2006/relationships/image" Target="../media/image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2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22.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13" Type="http://schemas.openxmlformats.org/officeDocument/2006/relationships/image" Target="../media/image5.svg"/><Relationship Id="rId3" Type="http://schemas.openxmlformats.org/officeDocument/2006/relationships/image" Target="../media/image12.png"/><Relationship Id="rId7" Type="http://schemas.openxmlformats.org/officeDocument/2006/relationships/image" Target="../media/image14.png"/><Relationship Id="rId12" Type="http://schemas.openxmlformats.org/officeDocument/2006/relationships/image" Target="../media/image4.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15.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22.png"/><Relationship Id="rId18" Type="http://schemas.openxmlformats.org/officeDocument/2006/relationships/hyperlink" Target="https://www.instagram.com/capgemini/" TargetMode="External"/><Relationship Id="rId3" Type="http://schemas.openxmlformats.org/officeDocument/2006/relationships/tags" Target="../tags/tag11.xml"/><Relationship Id="rId21" Type="http://schemas.openxmlformats.org/officeDocument/2006/relationships/image" Target="../media/image4.png"/><Relationship Id="rId7" Type="http://schemas.openxmlformats.org/officeDocument/2006/relationships/image" Target="../media/image2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23.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21.png"/><Relationship Id="rId19" Type="http://schemas.openxmlformats.org/officeDocument/2006/relationships/image" Target="../media/image24.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 Id="rId22" Type="http://schemas.openxmlformats.org/officeDocument/2006/relationships/image" Target="../media/image26.svg"/></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18" Type="http://schemas.openxmlformats.org/officeDocument/2006/relationships/image" Target="../media/image5.svg"/><Relationship Id="rId3" Type="http://schemas.openxmlformats.org/officeDocument/2006/relationships/image" Target="../media/image20.png"/><Relationship Id="rId7" Type="http://schemas.microsoft.com/office/2007/relationships/hdphoto" Target="../media/hdphoto7.wdp"/><Relationship Id="rId12" Type="http://schemas.openxmlformats.org/officeDocument/2006/relationships/image" Target="../media/image23.png"/><Relationship Id="rId17" Type="http://schemas.openxmlformats.org/officeDocument/2006/relationships/image" Target="../media/image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2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22.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18" Type="http://schemas.openxmlformats.org/officeDocument/2006/relationships/image" Target="../media/image5.svg"/><Relationship Id="rId3" Type="http://schemas.openxmlformats.org/officeDocument/2006/relationships/image" Target="../media/image20.png"/><Relationship Id="rId7" Type="http://schemas.microsoft.com/office/2007/relationships/hdphoto" Target="../media/hdphoto2.wdp"/><Relationship Id="rId12" Type="http://schemas.openxmlformats.org/officeDocument/2006/relationships/image" Target="../media/image23.png"/><Relationship Id="rId17" Type="http://schemas.openxmlformats.org/officeDocument/2006/relationships/image" Target="../media/image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2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2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2.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1" y="0"/>
            <a:ext cx="789620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7" name="Rectangle 6">
            <a:extLst>
              <a:ext uri="{FF2B5EF4-FFF2-40B4-BE49-F238E27FC236}">
                <a16:creationId xmlns:a16="http://schemas.microsoft.com/office/drawing/2014/main" id="{E44665D8-48B7-693E-C78C-5702804A03ED}"/>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10" name="Graphic 9">
            <a:extLst>
              <a:ext uri="{FF2B5EF4-FFF2-40B4-BE49-F238E27FC236}">
                <a16:creationId xmlns:a16="http://schemas.microsoft.com/office/drawing/2014/main" id="{66CACFBE-EFB2-57A7-6DFF-95B2CF3C5B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2A19DA16-6CC4-776D-55C6-2FAED9D5F05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CBFC7316-9C67-E64B-8604-FDD4A41548A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F31F4B0-5F01-ED1B-0364-0599B2556F0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9ED39DB-EF4E-D744-16C4-A58D4D181AE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5" name="Rectangle 4">
            <a:extLst>
              <a:ext uri="{FF2B5EF4-FFF2-40B4-BE49-F238E27FC236}">
                <a16:creationId xmlns:a16="http://schemas.microsoft.com/office/drawing/2014/main" id="{5DA516AE-C35C-E1A0-6817-5E991F2C93DE}"/>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061C10B8-6F7C-1D1C-6F50-116289C9A24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75720"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64773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EF17987A-6621-70A2-A0CC-1368AC5F1C09}"/>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FA4BD79C-85AB-5D0B-4666-3571D3EA9AD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15815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338151" y="0"/>
            <a:ext cx="785384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03354" y="1628775"/>
            <a:ext cx="7037784" cy="3589714"/>
          </a:xfrm>
        </p:spPr>
        <p:txBody>
          <a:bodyPr anchor="b"/>
          <a:lstStyle>
            <a:lvl1pPr>
              <a:defRPr sz="5400">
                <a:solidFill>
                  <a:schemeClr val="bg1"/>
                </a:solidFill>
              </a:defRPr>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A50E877E-EEBB-7273-78E2-F54447F1CE42}"/>
              </a:ext>
            </a:extLst>
          </p:cNvPr>
          <p:cNvSpPr/>
          <p:nvPr userDrawn="1"/>
        </p:nvSpPr>
        <p:spPr>
          <a:xfrm rot="16200000">
            <a:off x="8191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0D28A092-7476-7801-2685-4A1D303398C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latin typeface="Ubuntu Light" panose="020B0304030602030204" pitchFamily="34" charset="0"/>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latin typeface="Ubuntu Light" panose="020B0304030602030204" pitchFamily="34" charset="0"/>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j-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FE252D64-6A62-1A21-7C09-64E8E7FB22EC}"/>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a:xfrm>
            <a:off x="551384" y="405258"/>
            <a:ext cx="11090938" cy="791494"/>
          </a:xfrm>
        </p:spPr>
        <p:txBody>
          <a:bodyPr anchor="t"/>
          <a:lstStyle>
            <a:lvl1pPr>
              <a:defRPr sz="2400" b="0">
                <a:latin typeface="+mj-lt"/>
              </a:defRPr>
            </a:lvl1pPr>
          </a:lstStyle>
          <a:p>
            <a:r>
              <a:rPr lang="en-US"/>
              <a:t>Click to edit Master title style</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Logo Placeholder 7">
            <a:extLst>
              <a:ext uri="{FF2B5EF4-FFF2-40B4-BE49-F238E27FC236}">
                <a16:creationId xmlns:a16="http://schemas.microsoft.com/office/drawing/2014/main" id="{1BF34CC2-BA8F-56D1-B8FC-DA2C82ED695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A4DB5804-8112-A3BF-840A-7050226F2A5C}"/>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13" name="Rectangle 12">
            <a:extLst>
              <a:ext uri="{FF2B5EF4-FFF2-40B4-BE49-F238E27FC236}">
                <a16:creationId xmlns:a16="http://schemas.microsoft.com/office/drawing/2014/main" id="{E5BDE45B-51C9-F8A8-E3C2-BF55D97EF7B1}"/>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14" name="Rectangle 13">
            <a:extLst>
              <a:ext uri="{FF2B5EF4-FFF2-40B4-BE49-F238E27FC236}">
                <a16:creationId xmlns:a16="http://schemas.microsoft.com/office/drawing/2014/main" id="{21056E12-2576-A1B8-2397-0CDA09A3BC45}"/>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5" name="Graphic 14">
            <a:extLst>
              <a:ext uri="{FF2B5EF4-FFF2-40B4-BE49-F238E27FC236}">
                <a16:creationId xmlns:a16="http://schemas.microsoft.com/office/drawing/2014/main" id="{9C61669C-54D8-9376-2A98-AE877CE28BE0}"/>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1" name="Rectangle 10">
            <a:extLst>
              <a:ext uri="{FF2B5EF4-FFF2-40B4-BE49-F238E27FC236}">
                <a16:creationId xmlns:a16="http://schemas.microsoft.com/office/drawing/2014/main" id="{AC362FC9-56A2-7230-5ECD-9177CC4AC5E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12" name="Rectangle 11">
            <a:extLst>
              <a:ext uri="{FF2B5EF4-FFF2-40B4-BE49-F238E27FC236}">
                <a16:creationId xmlns:a16="http://schemas.microsoft.com/office/drawing/2014/main" id="{36AB272F-3696-58D8-7F41-09DF5AFFA81F}"/>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13" name="Graphic 12">
            <a:extLst>
              <a:ext uri="{FF2B5EF4-FFF2-40B4-BE49-F238E27FC236}">
                <a16:creationId xmlns:a16="http://schemas.microsoft.com/office/drawing/2014/main" id="{9A5221BE-51D9-3D0A-5299-7AA00CCCDC40}"/>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4" name="Rectangle 3">
            <a:extLst>
              <a:ext uri="{FF2B5EF4-FFF2-40B4-BE49-F238E27FC236}">
                <a16:creationId xmlns:a16="http://schemas.microsoft.com/office/drawing/2014/main" id="{AEAE8170-9163-3D13-96CC-D88B1FB88F50}"/>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 Invent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As the digital innovation, design and transformation brand of the Capgemini Group, at Capgemini Invent we enable </a:t>
            </a:r>
            <a:r>
              <a:rPr lang="en-US" sz="900" err="1">
                <a:solidFill>
                  <a:schemeClr val="tx1"/>
                </a:solidFill>
              </a:rPr>
              <a:t>CxOs</a:t>
            </a:r>
            <a:r>
              <a:rPr lang="en-US" sz="900">
                <a:solidFill>
                  <a:schemeClr val="tx1"/>
                </a:solidFill>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7" name="Rectangle 6">
            <a:extLst>
              <a:ext uri="{FF2B5EF4-FFF2-40B4-BE49-F238E27FC236}">
                <a16:creationId xmlns:a16="http://schemas.microsoft.com/office/drawing/2014/main" id="{7A4AFF38-165A-AD0F-B89A-31A1866178CE}"/>
              </a:ext>
            </a:extLst>
          </p:cNvPr>
          <p:cNvSpPr/>
          <p:nvPr userDrawn="1"/>
        </p:nvSpPr>
        <p:spPr>
          <a:xfrm>
            <a:off x="550863" y="494116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pic>
        <p:nvPicPr>
          <p:cNvPr id="8" name="Graphic 7">
            <a:extLst>
              <a:ext uri="{FF2B5EF4-FFF2-40B4-BE49-F238E27FC236}">
                <a16:creationId xmlns:a16="http://schemas.microsoft.com/office/drawing/2014/main" id="{1CBCDD01-CA83-081C-E647-E587028A0E49}"/>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7784921"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 name="Rectangle 1">
            <a:extLst>
              <a:ext uri="{FF2B5EF4-FFF2-40B4-BE49-F238E27FC236}">
                <a16:creationId xmlns:a16="http://schemas.microsoft.com/office/drawing/2014/main" id="{E01423FC-1749-A9D7-2DF0-C9A8FA6BB1CC}"/>
              </a:ext>
            </a:extLst>
          </p:cNvPr>
          <p:cNvSpPr/>
          <p:nvPr userDrawn="1"/>
        </p:nvSpPr>
        <p:spPr>
          <a:xfrm rot="16200000">
            <a:off x="4445922"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D5F7DAD2-0B7D-9AF0-1A46-D24A7B1EBDA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B3CFAF83-93F5-DB20-9612-47CB562112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5C37D8AA-107A-0DD1-2F17-0A370D99B54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CE9CD8F2-F25B-F21B-5D7B-C70801D214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5" name="Graphic 4">
            <a:extLst>
              <a:ext uri="{FF2B5EF4-FFF2-40B4-BE49-F238E27FC236}">
                <a16:creationId xmlns:a16="http://schemas.microsoft.com/office/drawing/2014/main" id="{851E21CA-B25A-CC2F-103B-A0D3D7C5477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4DD0B3E2-553C-4219-E332-CC7E49BE59A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4C324827-C76D-AF05-4B89-7E7DF6094C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503710"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575720"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95D577C-5E35-5588-EB40-906746571021}"/>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2C14ACBD-1E2B-5E68-76BB-87939A2BA0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583832" y="1628775"/>
            <a:ext cx="7057305"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4"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4"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0C240513-D310-62DD-6830-55665DDE110E}"/>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27FBEB89-7B48-8F82-4134-5C57896FF0B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249702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112622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5" name="Logo Placeholder 7">
            <a:extLst>
              <a:ext uri="{FF2B5EF4-FFF2-40B4-BE49-F238E27FC236}">
                <a16:creationId xmlns:a16="http://schemas.microsoft.com/office/drawing/2014/main" id="{A8331BDE-2DF8-FAB6-59EC-B60F56758BC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1" name="Rectangle 20">
            <a:extLst>
              <a:ext uri="{FF2B5EF4-FFF2-40B4-BE49-F238E27FC236}">
                <a16:creationId xmlns:a16="http://schemas.microsoft.com/office/drawing/2014/main" id="{712376EE-F451-FC5D-CA4D-2CC71A1A671D}"/>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Rectangle 2">
            <a:extLst>
              <a:ext uri="{FF2B5EF4-FFF2-40B4-BE49-F238E27FC236}">
                <a16:creationId xmlns:a16="http://schemas.microsoft.com/office/drawing/2014/main" id="{DE35FF83-55C2-A597-D65E-9FFF1320AD49}"/>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Ubuntu"/>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4" name="Rectangle 3">
            <a:extLst>
              <a:ext uri="{FF2B5EF4-FFF2-40B4-BE49-F238E27FC236}">
                <a16:creationId xmlns:a16="http://schemas.microsoft.com/office/drawing/2014/main" id="{F78D8771-51A1-32C1-A808-679235215FEB}"/>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5" name="Graphic 4">
            <a:extLst>
              <a:ext uri="{FF2B5EF4-FFF2-40B4-BE49-F238E27FC236}">
                <a16:creationId xmlns:a16="http://schemas.microsoft.com/office/drawing/2014/main" id="{F702DC83-C13C-D33F-55C3-76B236ED1823}"/>
              </a:ext>
            </a:extLst>
          </p:cNvPr>
          <p:cNvPicPr>
            <a:picLocks noChangeAspect="1"/>
          </p:cNvPicPr>
          <p:nvPr userDrawn="1"/>
        </p:nvPicPr>
        <p:blipFill>
          <a:blip r:embed="rId21">
            <a:extLst>
              <a:ext uri="{96DAC541-7B7A-43D3-8B79-37D633B846F1}">
                <asvg:svgBlip xmlns:asvg="http://schemas.microsoft.com/office/drawing/2016/SVG/main" r:embed="rId22"/>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26381693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97F1F2DA-4FC1-2FF1-C240-91B161F2EE18}"/>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3" name="Rectangle 2">
            <a:extLst>
              <a:ext uri="{FF2B5EF4-FFF2-40B4-BE49-F238E27FC236}">
                <a16:creationId xmlns:a16="http://schemas.microsoft.com/office/drawing/2014/main" id="{9205BC2C-679B-B5D4-FCAC-8CF229C94A29}"/>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63EB8636-8280-6633-CED3-FFB2882AEB05}"/>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
        <p:nvSpPr>
          <p:cNvPr id="9" name="Rectangle 8">
            <a:extLst>
              <a:ext uri="{FF2B5EF4-FFF2-40B4-BE49-F238E27FC236}">
                <a16:creationId xmlns:a16="http://schemas.microsoft.com/office/drawing/2014/main" id="{41CB680D-1F26-3572-E874-EAF832EEF26D}"/>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10" name="Rectangle 9">
            <a:extLst>
              <a:ext uri="{FF2B5EF4-FFF2-40B4-BE49-F238E27FC236}">
                <a16:creationId xmlns:a16="http://schemas.microsoft.com/office/drawing/2014/main" id="{441AA553-700D-8DD3-F618-9902645DDB06}"/>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12" name="Graphic 11">
            <a:extLst>
              <a:ext uri="{FF2B5EF4-FFF2-40B4-BE49-F238E27FC236}">
                <a16:creationId xmlns:a16="http://schemas.microsoft.com/office/drawing/2014/main" id="{8521F496-02A2-3566-DF6F-B1B1FF11D3E6}"/>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7773029"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6874423"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3" name="Rectangle 2">
            <a:extLst>
              <a:ext uri="{FF2B5EF4-FFF2-40B4-BE49-F238E27FC236}">
                <a16:creationId xmlns:a16="http://schemas.microsoft.com/office/drawing/2014/main" id="{00856BAF-DFAB-E969-54E4-46E5FFD9F9B8}"/>
              </a:ext>
            </a:extLst>
          </p:cNvPr>
          <p:cNvSpPr/>
          <p:nvPr userDrawn="1"/>
        </p:nvSpPr>
        <p:spPr>
          <a:xfrm rot="16200000">
            <a:off x="443403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a:solidFill>
                <a:schemeClr val="tx1"/>
              </a:solidFill>
            </a:endParaRPr>
          </a:p>
        </p:txBody>
      </p:sp>
      <p:pic>
        <p:nvPicPr>
          <p:cNvPr id="8" name="Graphic 7">
            <a:extLst>
              <a:ext uri="{FF2B5EF4-FFF2-40B4-BE49-F238E27FC236}">
                <a16:creationId xmlns:a16="http://schemas.microsoft.com/office/drawing/2014/main" id="{CC57CAC1-601A-E41C-87C6-7A9E5ACA98B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08156" y="371716"/>
            <a:ext cx="2789865" cy="435260"/>
          </a:xfrm>
          <a:prstGeom prst="rect">
            <a:avLst/>
          </a:prstGeom>
        </p:spPr>
      </p:pic>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1D66D9B9-575B-D900-2E6D-55AC194999A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2BE63CFF-E469-CD5D-52E6-8C49206AA77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pic>
        <p:nvPicPr>
          <p:cNvPr id="3" name="Graphic 2">
            <a:extLst>
              <a:ext uri="{FF2B5EF4-FFF2-40B4-BE49-F238E27FC236}">
                <a16:creationId xmlns:a16="http://schemas.microsoft.com/office/drawing/2014/main" id="{80913E93-4BFD-5900-ADF6-C0D41E1898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2" name="Graphic 1">
            <a:extLst>
              <a:ext uri="{FF2B5EF4-FFF2-40B4-BE49-F238E27FC236}">
                <a16:creationId xmlns:a16="http://schemas.microsoft.com/office/drawing/2014/main" id="{0BC60FC9-8392-0084-C420-A8EB60360F1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1"/>
            <a:ext cx="4125900"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8271616" y="3893182"/>
            <a:ext cx="3512397" cy="1123397"/>
          </a:xfrm>
          <a:prstGeom prst="rect">
            <a:avLst/>
          </a:prstGeom>
        </p:spPr>
        <p:txBody>
          <a:bodyPr anchor="b">
            <a:noAutofit/>
          </a:bodyPr>
          <a:lstStyle>
            <a:lvl1pPr>
              <a:defRPr sz="2000"/>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723C95F0-C974-E3E4-F037-E4D8F518EE72}"/>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688928D4-0898-D50C-11E1-960FB2CA39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788609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8066100" y="0"/>
            <a:ext cx="4125900"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364442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371643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8271616" y="5264061"/>
            <a:ext cx="3512397"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137389A4-0926-22A7-82A5-6F1CAC2847F8}"/>
              </a:ext>
            </a:extLst>
          </p:cNvPr>
          <p:cNvSpPr/>
          <p:nvPr userDrawn="1"/>
        </p:nvSpPr>
        <p:spPr>
          <a:xfrm rot="16200000">
            <a:off x="4547099" y="3338999"/>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4" name="Graphic 3">
            <a:extLst>
              <a:ext uri="{FF2B5EF4-FFF2-40B4-BE49-F238E27FC236}">
                <a16:creationId xmlns:a16="http://schemas.microsoft.com/office/drawing/2014/main" id="{ACD427CB-9182-D928-A78F-776C6908CDE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402857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4208572" y="0"/>
            <a:ext cx="7983427"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4694388" y="1628775"/>
            <a:ext cx="6946749" cy="3589714"/>
          </a:xfrm>
          <a:prstGeom prst="rect">
            <a:avLst/>
          </a:prstGeom>
        </p:spPr>
        <p:txBody>
          <a:bodyPr anchor="b"/>
          <a:lstStyle>
            <a:lvl1pPr>
              <a:defRPr sz="5400"/>
            </a:lvl1pPr>
          </a:lstStyle>
          <a:p>
            <a:r>
              <a:rPr lang="en-US"/>
              <a:t>Click to edit Master title style</a:t>
            </a:r>
            <a:endParaRPr lang="en-PL"/>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4" y="3893182"/>
            <a:ext cx="3531763"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4" y="5264061"/>
            <a:ext cx="3531763" cy="522985"/>
          </a:xfrm>
          <a:prstGeom prst="rect">
            <a:avLst/>
          </a:prstGeom>
        </p:spPr>
        <p:txBody>
          <a:bodyPr/>
          <a:lstStyle/>
          <a:p>
            <a:pPr lvl="0"/>
            <a:r>
              <a:rPr lang="en-US"/>
              <a:t>Click to edit Master text styles</a:t>
            </a:r>
          </a:p>
        </p:txBody>
      </p:sp>
      <p:sp>
        <p:nvSpPr>
          <p:cNvPr id="2" name="Rectangle 1">
            <a:extLst>
              <a:ext uri="{FF2B5EF4-FFF2-40B4-BE49-F238E27FC236}">
                <a16:creationId xmlns:a16="http://schemas.microsoft.com/office/drawing/2014/main" id="{97136889-97EA-2424-F0A3-1E0FF90FE0FC}"/>
              </a:ext>
            </a:extLst>
          </p:cNvPr>
          <p:cNvSpPr/>
          <p:nvPr userDrawn="1"/>
        </p:nvSpPr>
        <p:spPr>
          <a:xfrm rot="16200000">
            <a:off x="68957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pic>
        <p:nvPicPr>
          <p:cNvPr id="6" name="Graphic 5">
            <a:extLst>
              <a:ext uri="{FF2B5EF4-FFF2-40B4-BE49-F238E27FC236}">
                <a16:creationId xmlns:a16="http://schemas.microsoft.com/office/drawing/2014/main" id="{DA86403A-A61C-79DE-3915-5803C0B70F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0663" y="6167120"/>
            <a:ext cx="2789865" cy="435260"/>
          </a:xfrm>
          <a:prstGeom prst="rect">
            <a:avLst/>
          </a:prstGeom>
        </p:spPr>
      </p:pic>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643055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8633626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4" name="Rectangle 3">
            <a:extLst>
              <a:ext uri="{FF2B5EF4-FFF2-40B4-BE49-F238E27FC236}">
                <a16:creationId xmlns:a16="http://schemas.microsoft.com/office/drawing/2014/main" id="{C56781CA-A024-28BD-48C6-12CDC95A93DC}"/>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3" name="Rectangle 2">
            <a:extLst>
              <a:ext uri="{FF2B5EF4-FFF2-40B4-BE49-F238E27FC236}">
                <a16:creationId xmlns:a16="http://schemas.microsoft.com/office/drawing/2014/main" id="{53D94A3C-330A-E071-7733-8A5E034F3A94}"/>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5" name="Rectangle 4">
            <a:extLst>
              <a:ext uri="{FF2B5EF4-FFF2-40B4-BE49-F238E27FC236}">
                <a16:creationId xmlns:a16="http://schemas.microsoft.com/office/drawing/2014/main" id="{116D1D85-5D8C-A2C7-5FAF-1C62C4F2958E}"/>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6" name="Graphic 5">
            <a:extLst>
              <a:ext uri="{FF2B5EF4-FFF2-40B4-BE49-F238E27FC236}">
                <a16:creationId xmlns:a16="http://schemas.microsoft.com/office/drawing/2014/main" id="{D5759179-BF0D-1523-6F57-DAE7B35C2B25}"/>
              </a:ext>
            </a:extLst>
          </p:cNvPr>
          <p:cNvPicPr>
            <a:picLocks noChangeAspect="1"/>
          </p:cNvPicPr>
          <p:nvPr userDrawn="1"/>
        </p:nvPicPr>
        <p:blipFill>
          <a:blip r:embed="rId21">
            <a:extLst>
              <a:ext uri="{96DAC541-7B7A-43D3-8B79-37D633B846F1}">
                <asvg:svgBlip xmlns:asvg="http://schemas.microsoft.com/office/drawing/2016/SVG/main" r:embed="rId22"/>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426562882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2026 Capgemini. All rights reserved.</a:t>
            </a:r>
          </a:p>
        </p:txBody>
      </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2593C82A-0F74-A43D-A96F-3780F236B091}"/>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at Capgemini Invent we enable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what’s next for businesses. Located in over 30 studios and more than 60 offices around the world, we are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
        <p:nvSpPr>
          <p:cNvPr id="3" name="Rectangle 2">
            <a:extLst>
              <a:ext uri="{FF2B5EF4-FFF2-40B4-BE49-F238E27FC236}">
                <a16:creationId xmlns:a16="http://schemas.microsoft.com/office/drawing/2014/main" id="{CA77602D-B8BE-AE25-3118-7B4176388CD9}"/>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CFD8BB80-E8A4-4C57-3818-9683B3DA09D0}"/>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61D9C422-5A48-0659-9650-94554C926F8B}"/>
              </a:ext>
            </a:extLst>
          </p:cNvPr>
          <p:cNvSpPr/>
          <p:nvPr userDrawn="1"/>
        </p:nvSpPr>
        <p:spPr>
          <a:xfrm>
            <a:off x="550864" y="1384200"/>
            <a:ext cx="4248471" cy="1756767"/>
          </a:xfrm>
          <a:prstGeom prst="rect">
            <a:avLst/>
          </a:prstGeom>
          <a:noFill/>
          <a:ln w="12700" cap="flat" cmpd="sng" algn="ctr">
            <a:noFill/>
            <a:prstDash val="solid"/>
            <a:miter lim="800000"/>
          </a:ln>
          <a:effectLst/>
        </p:spPr>
        <p:txBody>
          <a:bodyPr lIns="0" tIns="0" rIns="0" bIns="0" rtlCol="0" anchor="t"/>
          <a:lstStyle/>
          <a:p>
            <a:pPr marL="0" marR="0" lvl="0" indent="0" algn="just" defTabSz="914400" eaLnBrk="1" fontAlgn="auto" latinLnBrk="0" hangingPunct="1">
              <a:lnSpc>
                <a:spcPct val="100000"/>
              </a:lnSpc>
              <a:spcBef>
                <a:spcPts val="0"/>
              </a:spcBef>
              <a:spcAft>
                <a:spcPts val="1200"/>
              </a:spcAft>
              <a:buClrTx/>
              <a:buSzTx/>
              <a:buFontTx/>
              <a:buNone/>
              <a:tabLst/>
              <a:defRPr/>
            </a:pPr>
            <a:r>
              <a:rPr kumimoji="0" lang="en-US" sz="1400" b="0" i="0" u="none" strike="noStrike" kern="0" cap="none" spc="0" normalizeH="0" baseline="0" noProof="0">
                <a:ln>
                  <a:noFill/>
                </a:ln>
                <a:solidFill>
                  <a:schemeClr val="bg1"/>
                </a:solidFill>
                <a:effectLst/>
                <a:uLnTx/>
                <a:uFillTx/>
                <a:latin typeface="+mn-lt"/>
                <a:ea typeface="+mn-ea"/>
                <a:cs typeface="+mn-cs"/>
              </a:rPr>
              <a:t>About Capgemini Invent</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As the digital innovation, design and transformation brand of the Capgemini Group, Capgemini Invent enables </a:t>
            </a:r>
            <a:r>
              <a:rPr kumimoji="0" lang="en-US" sz="900" b="0" i="0" u="none" strike="noStrike" kern="0" cap="none" spc="0" normalizeH="0" baseline="0" noProof="0" err="1">
                <a:ln>
                  <a:noFill/>
                </a:ln>
                <a:solidFill>
                  <a:schemeClr val="bg1"/>
                </a:solidFill>
                <a:effectLst/>
                <a:uLnTx/>
                <a:uFillTx/>
                <a:latin typeface="+mn-lt"/>
                <a:ea typeface="+mn-ea"/>
                <a:cs typeface="+mn-cs"/>
              </a:rPr>
              <a:t>CxOs</a:t>
            </a:r>
            <a:r>
              <a:rPr kumimoji="0" lang="en-US" sz="900" b="0" i="0" u="none" strike="noStrike" kern="0" cap="none" spc="0" normalizeH="0" baseline="0" noProof="0">
                <a:ln>
                  <a:noFill/>
                </a:ln>
                <a:solidFill>
                  <a:schemeClr val="bg1"/>
                </a:solidFill>
                <a:effectLst/>
                <a:uLnTx/>
                <a:uFillTx/>
                <a:latin typeface="+mn-lt"/>
                <a:ea typeface="+mn-ea"/>
                <a:cs typeface="+mn-cs"/>
              </a:rPr>
              <a:t> to envision and shape the future of their businesses. Located in over 30 studios and more than 60 offices around the world, it comprises a 12,500+ strong team of strategists, data scientists, product and experience designers, brand experts and technologists who develop new digital services, products, experiences and business models for sustainable growth.</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mn-lt"/>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latin typeface="+mn-lt"/>
                <a:ea typeface="+mn-ea"/>
                <a:cs typeface="+mn-cs"/>
              </a:rPr>
              <a:t>Capgemini Invent is an integral part of Capgemini,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generative AI, cloud and data, combined with its deep industry expertise and partner ecosystem. The Group reported 2024 global revenues of €22.1 billion.</a:t>
            </a:r>
          </a:p>
        </p:txBody>
      </p:sp>
      <p:sp>
        <p:nvSpPr>
          <p:cNvPr id="3" name="Rectangle 2">
            <a:extLst>
              <a:ext uri="{FF2B5EF4-FFF2-40B4-BE49-F238E27FC236}">
                <a16:creationId xmlns:a16="http://schemas.microsoft.com/office/drawing/2014/main" id="{56A035C9-A53F-054B-AB10-A0E03967FF4A}"/>
              </a:ext>
            </a:extLst>
          </p:cNvPr>
          <p:cNvSpPr/>
          <p:nvPr userDrawn="1"/>
        </p:nvSpPr>
        <p:spPr>
          <a:xfrm>
            <a:off x="550863" y="4941168"/>
            <a:ext cx="4345176" cy="407294"/>
          </a:xfrm>
          <a:prstGeom prst="rect">
            <a:avLst/>
          </a:prstGeom>
          <a:noFill/>
          <a:ln w="12700" cap="flat" cmpd="sng" algn="ctr">
            <a:noFill/>
            <a:prstDash val="solid"/>
            <a:miter lim="800000"/>
          </a:ln>
          <a:effectLst/>
        </p:spPr>
        <p:txBody>
          <a:bodyPr lIns="0" tIns="0" rIns="0" bIns="0" rtlCol="0" anchor="t"/>
          <a:lstStyle/>
          <a:p>
            <a:pPr marL="0" marR="0" lvl="0" indent="0" defTabSz="914400" eaLnBrk="1" fontAlgn="auto" latinLnBrk="0" hangingPunct="1">
              <a:lnSpc>
                <a:spcPts val="1200"/>
              </a:lnSpc>
              <a:spcBef>
                <a:spcPts val="0"/>
              </a:spcBef>
              <a:spcAft>
                <a:spcPts val="0"/>
              </a:spcAft>
              <a:buClrTx/>
              <a:buSzTx/>
              <a:buFontTx/>
              <a:buNone/>
              <a:tabLst/>
              <a:defRPr/>
            </a:pPr>
            <a:r>
              <a:rPr kumimoji="0" lang="en-US" sz="1100" b="1" i="0" u="none" strike="noStrike" kern="0" cap="none" spc="0" normalizeH="0" baseline="0" noProof="0">
                <a:ln>
                  <a:noFill/>
                </a:ln>
                <a:solidFill>
                  <a:schemeClr val="accent2"/>
                </a:solidFill>
                <a:effectLst/>
                <a:uLnTx/>
                <a:uFillTx/>
                <a:latin typeface="Ubuntu"/>
                <a:ea typeface="+mn-ea"/>
                <a:cs typeface="+mn-cs"/>
              </a:rPr>
              <a:t>Make it real.</a:t>
            </a:r>
          </a:p>
          <a:p>
            <a:pPr marL="0" marR="0" lvl="0" indent="0" defTabSz="914400" eaLnBrk="1" fontAlgn="auto" latinLnBrk="0" hangingPunct="1">
              <a:lnSpc>
                <a:spcPts val="1200"/>
              </a:lnSpc>
              <a:spcBef>
                <a:spcPts val="0"/>
              </a:spcBef>
              <a:spcAft>
                <a:spcPts val="0"/>
              </a:spcAft>
              <a:buClrTx/>
              <a:buSzTx/>
              <a:buFontTx/>
              <a:buNone/>
              <a:tabLst/>
              <a:defRPr/>
            </a:pPr>
            <a:r>
              <a:rPr kumimoji="0" lang="en-US" sz="1050" b="0" i="0" u="none" strike="noStrike" kern="0" cap="none" spc="0" normalizeH="0" baseline="0" noProof="0">
                <a:ln>
                  <a:noFill/>
                </a:ln>
                <a:solidFill>
                  <a:schemeClr val="bg1"/>
                </a:solidFill>
                <a:effectLst/>
                <a:uLnTx/>
                <a:uFillTx/>
                <a:latin typeface="Ubuntu"/>
                <a:ea typeface="+mn-ea"/>
                <a:cs typeface="+mn-cs"/>
              </a:rPr>
              <a:t>www.capgemini.com</a:t>
            </a:r>
          </a:p>
        </p:txBody>
      </p:sp>
      <p:pic>
        <p:nvPicPr>
          <p:cNvPr id="4" name="Graphic 3">
            <a:extLst>
              <a:ext uri="{FF2B5EF4-FFF2-40B4-BE49-F238E27FC236}">
                <a16:creationId xmlns:a16="http://schemas.microsoft.com/office/drawing/2014/main" id="{0C368054-2021-88AD-5F03-C0EAA578CFA7}"/>
              </a:ext>
            </a:extLst>
          </p:cNvPr>
          <p:cNvPicPr>
            <a:picLocks noChangeAspect="1"/>
          </p:cNvPicPr>
          <p:nvPr userDrawn="1"/>
        </p:nvPicPr>
        <p:blipFill>
          <a:blip r:embed="rId17">
            <a:extLst>
              <a:ext uri="{96DAC541-7B7A-43D3-8B79-37D633B846F1}">
                <asvg:svgBlip xmlns:asvg="http://schemas.microsoft.com/office/drawing/2016/SVG/main" r:embed="rId18"/>
              </a:ext>
            </a:extLst>
          </a:blip>
          <a:srcRect/>
          <a:stretch/>
        </p:blipFill>
        <p:spPr>
          <a:xfrm>
            <a:off x="513543" y="6167120"/>
            <a:ext cx="2789865" cy="435260"/>
          </a:xfrm>
          <a:prstGeom prst="rect">
            <a:avLst/>
          </a:prstGeom>
        </p:spPr>
      </p:pic>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svg"/><Relationship Id="rId2" Type="http://schemas.openxmlformats.org/officeDocument/2006/relationships/image" Target="../media/image28.jpeg"/><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jpeg"/><Relationship Id="rId1" Type="http://schemas.openxmlformats.org/officeDocument/2006/relationships/slideLayout" Target="../slideLayouts/slideLayout1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18.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slides/_rels/slide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30.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61.png"/><Relationship Id="rId2" Type="http://schemas.openxmlformats.org/officeDocument/2006/relationships/image" Target="../media/image51.png"/><Relationship Id="rId16" Type="http://schemas.openxmlformats.org/officeDocument/2006/relationships/image" Target="../media/image50.svg"/><Relationship Id="rId1" Type="http://schemas.openxmlformats.org/officeDocument/2006/relationships/slideLayout" Target="../slideLayouts/slideLayout18.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5" Type="http://schemas.openxmlformats.org/officeDocument/2006/relationships/image" Target="../media/image49.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svg"/><Relationship Id="rId14" Type="http://schemas.openxmlformats.org/officeDocument/2006/relationships/slide" Target="slide34.xml"/></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61.png"/><Relationship Id="rId2" Type="http://schemas.openxmlformats.org/officeDocument/2006/relationships/image" Target="../media/image51.png"/><Relationship Id="rId1" Type="http://schemas.openxmlformats.org/officeDocument/2006/relationships/slideLayout" Target="../slideLayouts/slideLayout18.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hyperlink" Target="https://wsc-sports.com/case/laliga/" TargetMode="External"/><Relationship Id="rId3" Type="http://schemas.openxmlformats.org/officeDocument/2006/relationships/image" Target="../media/image65.jpeg"/><Relationship Id="rId7" Type="http://schemas.openxmlformats.org/officeDocument/2006/relationships/hyperlink" Target="https://www.dalet.com/blog/sports-production-content-management-media-workflows/" TargetMode="External"/><Relationship Id="rId2" Type="http://schemas.openxmlformats.org/officeDocument/2006/relationships/image" Target="../media/image64.png"/><Relationship Id="rId1" Type="http://schemas.openxmlformats.org/officeDocument/2006/relationships/slideLayout" Target="../slideLayouts/slideLayout18.xml"/><Relationship Id="rId6" Type="http://schemas.openxmlformats.org/officeDocument/2006/relationships/hyperlink" Target="../:%20https:/www.precedenceresearch.com/sports-broadcasting-technology-market" TargetMode="External"/><Relationship Id="rId5" Type="http://schemas.openxmlformats.org/officeDocument/2006/relationships/image" Target="../media/image67.png"/><Relationship Id="rId10" Type="http://schemas.openxmlformats.org/officeDocument/2006/relationships/hyperlink" Target="https://www.liveu.tv/resources/blog/sports-media-the-new-workflow-paradigm" TargetMode="External"/><Relationship Id="rId4" Type="http://schemas.openxmlformats.org/officeDocument/2006/relationships/image" Target="../media/image66.png"/><Relationship Id="rId9" Type="http://schemas.openxmlformats.org/officeDocument/2006/relationships/hyperlink" Target="https://www.enrichlabs.ai/case-study/sportscenter-social-media-strateg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70.png"/><Relationship Id="rId1" Type="http://schemas.openxmlformats.org/officeDocument/2006/relationships/slideLayout" Target="../slideLayouts/slideLayout18.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 Id="rId9" Type="http://schemas.openxmlformats.org/officeDocument/2006/relationships/image" Target="../media/image77.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www.seilmagasinet.no/americas-cup-christian-loken-sm202601/en-ny-fase-for-americas-cup/954338" TargetMode="External"/><Relationship Id="rId2" Type="http://schemas.openxmlformats.org/officeDocument/2006/relationships/image" Target="../media/image78.jpe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3.xml"/><Relationship Id="rId4" Type="http://schemas.openxmlformats.org/officeDocument/2006/relationships/image" Target="../media/image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18" Type="http://schemas.openxmlformats.org/officeDocument/2006/relationships/image" Target="../media/image97.png"/><Relationship Id="rId26" Type="http://schemas.openxmlformats.org/officeDocument/2006/relationships/slide" Target="slide8.xml"/><Relationship Id="rId3" Type="http://schemas.openxmlformats.org/officeDocument/2006/relationships/image" Target="../media/image82.svg"/><Relationship Id="rId21" Type="http://schemas.openxmlformats.org/officeDocument/2006/relationships/image" Target="../media/image100.svg"/><Relationship Id="rId7" Type="http://schemas.openxmlformats.org/officeDocument/2006/relationships/image" Target="../media/image86.svg"/><Relationship Id="rId12" Type="http://schemas.openxmlformats.org/officeDocument/2006/relationships/image" Target="../media/image91.png"/><Relationship Id="rId17" Type="http://schemas.openxmlformats.org/officeDocument/2006/relationships/image" Target="../media/image96.svg"/><Relationship Id="rId25" Type="http://schemas.openxmlformats.org/officeDocument/2006/relationships/image" Target="../media/image104.svg"/><Relationship Id="rId2" Type="http://schemas.openxmlformats.org/officeDocument/2006/relationships/image" Target="../media/image81.png"/><Relationship Id="rId16" Type="http://schemas.openxmlformats.org/officeDocument/2006/relationships/image" Target="../media/image95.png"/><Relationship Id="rId20" Type="http://schemas.openxmlformats.org/officeDocument/2006/relationships/image" Target="../media/image99.png"/><Relationship Id="rId1" Type="http://schemas.openxmlformats.org/officeDocument/2006/relationships/slideLayout" Target="../slideLayouts/slideLayout18.xml"/><Relationship Id="rId6" Type="http://schemas.openxmlformats.org/officeDocument/2006/relationships/image" Target="../media/image85.png"/><Relationship Id="rId11" Type="http://schemas.openxmlformats.org/officeDocument/2006/relationships/image" Target="../media/image90.svg"/><Relationship Id="rId24" Type="http://schemas.openxmlformats.org/officeDocument/2006/relationships/image" Target="../media/image103.png"/><Relationship Id="rId5" Type="http://schemas.openxmlformats.org/officeDocument/2006/relationships/image" Target="../media/image84.svg"/><Relationship Id="rId15" Type="http://schemas.openxmlformats.org/officeDocument/2006/relationships/image" Target="../media/image94.svg"/><Relationship Id="rId23" Type="http://schemas.openxmlformats.org/officeDocument/2006/relationships/image" Target="../media/image102.svg"/><Relationship Id="rId28" Type="http://schemas.openxmlformats.org/officeDocument/2006/relationships/image" Target="../media/image50.svg"/><Relationship Id="rId10" Type="http://schemas.openxmlformats.org/officeDocument/2006/relationships/image" Target="../media/image89.png"/><Relationship Id="rId19" Type="http://schemas.openxmlformats.org/officeDocument/2006/relationships/image" Target="../media/image98.svg"/><Relationship Id="rId4" Type="http://schemas.openxmlformats.org/officeDocument/2006/relationships/image" Target="../media/image83.png"/><Relationship Id="rId9" Type="http://schemas.openxmlformats.org/officeDocument/2006/relationships/image" Target="../media/image88.svg"/><Relationship Id="rId14" Type="http://schemas.openxmlformats.org/officeDocument/2006/relationships/image" Target="../media/image93.png"/><Relationship Id="rId22" Type="http://schemas.openxmlformats.org/officeDocument/2006/relationships/image" Target="../media/image101.png"/><Relationship Id="rId27"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8.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8.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8.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9.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22.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22.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22.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22.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22.xml"/><Relationship Id="rId1" Type="http://schemas.openxmlformats.org/officeDocument/2006/relationships/slideLayout" Target="../slideLayouts/slideLayout18.xml"/><Relationship Id="rId4" Type="http://schemas.openxmlformats.org/officeDocument/2006/relationships/image" Target="../media/image50.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4" y="3226665"/>
            <a:ext cx="8914054" cy="1872208"/>
          </a:xfrm>
        </p:spPr>
        <p:txBody>
          <a:bodyPr/>
          <a:lstStyle/>
          <a:p>
            <a:pPr lvl="0"/>
            <a:r>
              <a:rPr lang="en-US" spc="-150">
                <a:latin typeface="+mj-lt"/>
              </a:rPr>
              <a:t>Data Landscape Strategy for Linear TV</a:t>
            </a:r>
          </a:p>
        </p:txBody>
      </p:sp>
      <p:sp>
        <p:nvSpPr>
          <p:cNvPr id="18" name="Text Placeholder 17">
            <a:extLst>
              <a:ext uri="{FF2B5EF4-FFF2-40B4-BE49-F238E27FC236}">
                <a16:creationId xmlns:a16="http://schemas.microsoft.com/office/drawing/2014/main" id="{9B4BD691-B08E-6AE7-B2AB-F8883AB30D14}"/>
              </a:ext>
            </a:extLst>
          </p:cNvPr>
          <p:cNvSpPr>
            <a:spLocks noGrp="1"/>
          </p:cNvSpPr>
          <p:nvPr>
            <p:ph type="body" sz="quarter" idx="14"/>
          </p:nvPr>
        </p:nvSpPr>
        <p:spPr>
          <a:xfrm>
            <a:off x="1212285" y="5251824"/>
            <a:ext cx="6578080" cy="659722"/>
          </a:xfrm>
        </p:spPr>
        <p:txBody>
          <a:bodyPr/>
          <a:lstStyle/>
          <a:p>
            <a:r>
              <a:rPr lang="en-US" sz="2000"/>
              <a:t>A </a:t>
            </a:r>
            <a:r>
              <a:rPr lang="en-US"/>
              <a:t>P</a:t>
            </a:r>
            <a:r>
              <a:rPr lang="en-US" sz="2000"/>
              <a:t>oint of View</a:t>
            </a:r>
          </a:p>
        </p:txBody>
      </p:sp>
      <p:sp>
        <p:nvSpPr>
          <p:cNvPr id="12" name="Text Placeholder 11">
            <a:extLst>
              <a:ext uri="{FF2B5EF4-FFF2-40B4-BE49-F238E27FC236}">
                <a16:creationId xmlns:a16="http://schemas.microsoft.com/office/drawing/2014/main" id="{C2C519EB-A9E6-ECA3-40F7-D34844931E7D}"/>
              </a:ext>
            </a:extLst>
          </p:cNvPr>
          <p:cNvSpPr>
            <a:spLocks noGrp="1"/>
          </p:cNvSpPr>
          <p:nvPr>
            <p:ph type="body" sz="quarter" idx="15"/>
          </p:nvPr>
        </p:nvSpPr>
        <p:spPr/>
        <p:txBody>
          <a:bodyPr/>
          <a:lstStyle/>
          <a:p>
            <a:r>
              <a:rPr lang="en-US">
                <a:solidFill>
                  <a:srgbClr val="FFFFFF"/>
                </a:solidFill>
              </a:rPr>
              <a:t>March 2026</a:t>
            </a:r>
          </a:p>
          <a:p>
            <a:endParaRPr lang="en-US"/>
          </a:p>
        </p:txBody>
      </p:sp>
      <p:pic>
        <p:nvPicPr>
          <p:cNvPr id="6" name="Graphic 5">
            <a:extLst>
              <a:ext uri="{FF2B5EF4-FFF2-40B4-BE49-F238E27FC236}">
                <a16:creationId xmlns:a16="http://schemas.microsoft.com/office/drawing/2014/main" id="{59A0A37C-52C3-C76D-75FE-AE217B06D80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020857" y="6176366"/>
            <a:ext cx="2763156" cy="431093"/>
          </a:xfrm>
          <a:prstGeom prst="rect">
            <a:avLst/>
          </a:prstGeom>
        </p:spPr>
      </p:pic>
      <p:pic>
        <p:nvPicPr>
          <p:cNvPr id="2" name="Picture 1">
            <a:extLst>
              <a:ext uri="{FF2B5EF4-FFF2-40B4-BE49-F238E27FC236}">
                <a16:creationId xmlns:a16="http://schemas.microsoft.com/office/drawing/2014/main" id="{ED1DF4E3-D6AD-B96A-6DC9-974D5D55B378}"/>
              </a:ext>
            </a:extLst>
          </p:cNvPr>
          <p:cNvPicPr>
            <a:picLocks noChangeAspect="1"/>
          </p:cNvPicPr>
          <p:nvPr/>
        </p:nvPicPr>
        <p:blipFill>
          <a:blip r:embed="rId5">
            <a:duotone>
              <a:schemeClr val="bg2">
                <a:shade val="45000"/>
                <a:satMod val="135000"/>
              </a:schemeClr>
              <a:prstClr val="white"/>
            </a:duotone>
          </a:blip>
          <a:stretch>
            <a:fillRect/>
          </a:stretch>
        </p:blipFill>
        <p:spPr>
          <a:xfrm>
            <a:off x="7068471" y="5883597"/>
            <a:ext cx="1337140" cy="713532"/>
          </a:xfrm>
          <a:prstGeom prst="rect">
            <a:avLst/>
          </a:prstGeom>
        </p:spPr>
      </p:pic>
      <p:pic>
        <p:nvPicPr>
          <p:cNvPr id="4" name="Graphic 3" descr="Close outline">
            <a:extLst>
              <a:ext uri="{FF2B5EF4-FFF2-40B4-BE49-F238E27FC236}">
                <a16:creationId xmlns:a16="http://schemas.microsoft.com/office/drawing/2014/main" id="{7E491253-D69A-FE22-7AD7-A8A19F01C3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99842" y="6143440"/>
            <a:ext cx="426784" cy="426784"/>
          </a:xfrm>
          <a:prstGeom prst="rect">
            <a:avLst/>
          </a:prstGeom>
        </p:spPr>
      </p:pic>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3383-7F9B-A796-13CA-5B90F83381E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C10C613-EC65-CF55-959D-8C7F520C878C}"/>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D1B30E2-CA11-0356-675D-8B7479AFFE30}"/>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CA0A4CFB-CF60-C3EC-BF25-09E01C526E6B}"/>
              </a:ext>
            </a:extLst>
          </p:cNvPr>
          <p:cNvSpPr>
            <a:spLocks noGrp="1"/>
          </p:cNvSpPr>
          <p:nvPr>
            <p:ph type="sldNum" sz="quarter" idx="30"/>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79C901B6-32D0-00E9-F23C-6FE5C7D5B503}"/>
              </a:ext>
            </a:extLst>
          </p:cNvPr>
          <p:cNvSpPr>
            <a:spLocks noGrp="1"/>
          </p:cNvSpPr>
          <p:nvPr>
            <p:ph type="title"/>
          </p:nvPr>
        </p:nvSpPr>
        <p:spPr/>
        <p:txBody>
          <a:bodyPr/>
          <a:lstStyle/>
          <a:p>
            <a:r>
              <a:rPr lang="en-US"/>
              <a:t>Executive Summary</a:t>
            </a:r>
          </a:p>
        </p:txBody>
      </p:sp>
      <p:sp>
        <p:nvSpPr>
          <p:cNvPr id="6" name="Rectangle 5">
            <a:extLst>
              <a:ext uri="{FF2B5EF4-FFF2-40B4-BE49-F238E27FC236}">
                <a16:creationId xmlns:a16="http://schemas.microsoft.com/office/drawing/2014/main" id="{31E2531F-33B4-00BD-CA3B-E89440882A55}"/>
              </a:ext>
            </a:extLst>
          </p:cNvPr>
          <p:cNvSpPr/>
          <p:nvPr/>
        </p:nvSpPr>
        <p:spPr>
          <a:xfrm>
            <a:off x="549678" y="1000125"/>
            <a:ext cx="11228663" cy="15240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200" b="1">
                <a:solidFill>
                  <a:schemeClr val="tx1"/>
                </a:solidFill>
              </a:rPr>
              <a:t>Context</a:t>
            </a:r>
          </a:p>
          <a:p>
            <a:r>
              <a:rPr lang="en-US" sz="1000">
                <a:solidFill>
                  <a:schemeClr val="tx1"/>
                </a:solidFill>
              </a:rPr>
              <a:t>Linear TV continues to operate three fundamentally different content supply chains—Live Sports, News, and General Entertainment—all forced onto shared metadata and infrastructure decisions. As content velocity, rights complexity, and multi-platform distribution increase, monolithic metadata platforms are becoming a constraint rather than an enabler.</a:t>
            </a:r>
          </a:p>
          <a:p>
            <a:endParaRPr lang="en-US" sz="1000">
              <a:solidFill>
                <a:schemeClr val="tx1"/>
              </a:solidFill>
            </a:endParaRPr>
          </a:p>
          <a:p>
            <a:r>
              <a:rPr lang="en-US" sz="1000">
                <a:solidFill>
                  <a:schemeClr val="tx1"/>
                </a:solidFill>
              </a:rPr>
              <a:t>A single canonical metadata model cannot simultaneously optimize for:</a:t>
            </a:r>
          </a:p>
          <a:p>
            <a:pPr marL="171450" indent="-171450">
              <a:buFont typeface="Wingdings" panose="05000000000000000000" pitchFamily="2" charset="2"/>
              <a:buChar char="§"/>
            </a:pPr>
            <a:r>
              <a:rPr lang="en-US" sz="1000">
                <a:solidFill>
                  <a:schemeClr val="tx1"/>
                </a:solidFill>
              </a:rPr>
              <a:t>Real-time sports operations</a:t>
            </a:r>
          </a:p>
          <a:p>
            <a:pPr marL="171450" indent="-171450">
              <a:buFont typeface="Wingdings" panose="05000000000000000000" pitchFamily="2" charset="2"/>
              <a:buChar char="§"/>
            </a:pPr>
            <a:r>
              <a:rPr lang="en-US" sz="1000">
                <a:solidFill>
                  <a:schemeClr val="tx1"/>
                </a:solidFill>
              </a:rPr>
              <a:t>Rapid, high-risk news publishing</a:t>
            </a:r>
          </a:p>
          <a:p>
            <a:pPr marL="171450" indent="-171450">
              <a:buFont typeface="Wingdings" panose="05000000000000000000" pitchFamily="2" charset="2"/>
              <a:buChar char="§"/>
            </a:pPr>
            <a:r>
              <a:rPr lang="en-US" sz="1000">
                <a:solidFill>
                  <a:schemeClr val="tx1"/>
                </a:solidFill>
              </a:rPr>
              <a:t>Deep entertainment catalog governance</a:t>
            </a:r>
          </a:p>
          <a:p>
            <a:r>
              <a:rPr lang="en-US" sz="1000">
                <a:solidFill>
                  <a:schemeClr val="tx1"/>
                </a:solidFill>
              </a:rPr>
              <a:t>Attempting to do so introduces operational risk, rights exposure, and unnecessary coupling across domains.</a:t>
            </a:r>
          </a:p>
        </p:txBody>
      </p:sp>
      <p:sp>
        <p:nvSpPr>
          <p:cNvPr id="9" name="Rectangle 8">
            <a:extLst>
              <a:ext uri="{FF2B5EF4-FFF2-40B4-BE49-F238E27FC236}">
                <a16:creationId xmlns:a16="http://schemas.microsoft.com/office/drawing/2014/main" id="{68739E29-F217-53BE-D8F6-22300879B263}"/>
              </a:ext>
            </a:extLst>
          </p:cNvPr>
          <p:cNvSpPr/>
          <p:nvPr/>
        </p:nvSpPr>
        <p:spPr>
          <a:xfrm>
            <a:off x="549678" y="5323288"/>
            <a:ext cx="11228663" cy="99131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200" b="1">
                <a:solidFill>
                  <a:schemeClr val="tx1"/>
                </a:solidFill>
              </a:rPr>
              <a:t>Business Impact</a:t>
            </a:r>
          </a:p>
          <a:p>
            <a:pPr marL="171450" indent="-171450">
              <a:buFont typeface="Wingdings" panose="05000000000000000000" pitchFamily="2" charset="2"/>
              <a:buChar char="§"/>
            </a:pPr>
            <a:r>
              <a:rPr lang="en-US" sz="1000">
                <a:solidFill>
                  <a:schemeClr val="tx1"/>
                </a:solidFill>
              </a:rPr>
              <a:t>Operational resilience for mission-critical live and news workflows</a:t>
            </a:r>
          </a:p>
          <a:p>
            <a:pPr marL="171450" indent="-171450">
              <a:buFont typeface="Wingdings" panose="05000000000000000000" pitchFamily="2" charset="2"/>
              <a:buChar char="§"/>
            </a:pPr>
            <a:r>
              <a:rPr lang="en-US" sz="1000">
                <a:solidFill>
                  <a:schemeClr val="tx1"/>
                </a:solidFill>
              </a:rPr>
              <a:t>Step-change in content leverage through metadata-driven discovery and automation</a:t>
            </a:r>
          </a:p>
          <a:p>
            <a:pPr marL="171450" indent="-171450">
              <a:buFont typeface="Wingdings" panose="05000000000000000000" pitchFamily="2" charset="2"/>
              <a:buChar char="§"/>
            </a:pPr>
            <a:r>
              <a:rPr lang="en-US" sz="1000">
                <a:solidFill>
                  <a:schemeClr val="tx1"/>
                </a:solidFill>
              </a:rPr>
              <a:t>AI-ready foundation enabling accelerated monetization, compliance automation, and cross-vertical recommendations</a:t>
            </a:r>
          </a:p>
          <a:p>
            <a:pPr marL="171450" indent="-171450">
              <a:buFont typeface="Wingdings" panose="05000000000000000000" pitchFamily="2" charset="2"/>
              <a:buChar char="§"/>
            </a:pPr>
            <a:r>
              <a:rPr lang="en-US" sz="1000">
                <a:solidFill>
                  <a:schemeClr val="tx1"/>
                </a:solidFill>
              </a:rPr>
              <a:t>Future-proof architecture that scales across linear, streaming, social, and digital distribution</a:t>
            </a:r>
          </a:p>
        </p:txBody>
      </p:sp>
      <p:cxnSp>
        <p:nvCxnSpPr>
          <p:cNvPr id="11" name="Straight Connector 10">
            <a:extLst>
              <a:ext uri="{FF2B5EF4-FFF2-40B4-BE49-F238E27FC236}">
                <a16:creationId xmlns:a16="http://schemas.microsoft.com/office/drawing/2014/main" id="{CE2FA3C8-F574-8DE5-4B92-5621E4DF0A19}"/>
              </a:ext>
            </a:extLst>
          </p:cNvPr>
          <p:cNvCxnSpPr>
            <a:cxnSpLocks/>
          </p:cNvCxnSpPr>
          <p:nvPr/>
        </p:nvCxnSpPr>
        <p:spPr>
          <a:xfrm>
            <a:off x="549678" y="2702441"/>
            <a:ext cx="1122866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A852D2E-6134-4E3E-A89A-4065C6F3786E}"/>
              </a:ext>
            </a:extLst>
          </p:cNvPr>
          <p:cNvCxnSpPr>
            <a:cxnSpLocks/>
          </p:cNvCxnSpPr>
          <p:nvPr/>
        </p:nvCxnSpPr>
        <p:spPr>
          <a:xfrm>
            <a:off x="549678" y="5144973"/>
            <a:ext cx="1122866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42EC5AE-300A-D2A0-2542-7B1C75478F4E}"/>
              </a:ext>
            </a:extLst>
          </p:cNvPr>
          <p:cNvGrpSpPr/>
          <p:nvPr/>
        </p:nvGrpSpPr>
        <p:grpSpPr>
          <a:xfrm>
            <a:off x="549678" y="2880757"/>
            <a:ext cx="11228663" cy="2085900"/>
            <a:chOff x="549678" y="2804595"/>
            <a:chExt cx="11228663" cy="2085900"/>
          </a:xfrm>
        </p:grpSpPr>
        <p:sp>
          <p:nvSpPr>
            <p:cNvPr id="8" name="Rectangle 7">
              <a:extLst>
                <a:ext uri="{FF2B5EF4-FFF2-40B4-BE49-F238E27FC236}">
                  <a16:creationId xmlns:a16="http://schemas.microsoft.com/office/drawing/2014/main" id="{66C32B46-7D25-39F8-7CBC-B3BEAD1FE642}"/>
                </a:ext>
              </a:extLst>
            </p:cNvPr>
            <p:cNvSpPr/>
            <p:nvPr/>
          </p:nvSpPr>
          <p:spPr>
            <a:xfrm>
              <a:off x="549678" y="2804595"/>
              <a:ext cx="6965547" cy="208590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200" b="1">
                  <a:solidFill>
                    <a:schemeClr val="tx1"/>
                  </a:solidFill>
                </a:rPr>
                <a:t>Our Recommendation</a:t>
              </a:r>
            </a:p>
            <a:p>
              <a:r>
                <a:rPr lang="en-US" sz="1000">
                  <a:solidFill>
                    <a:schemeClr val="tx1"/>
                  </a:solidFill>
                </a:rPr>
                <a:t>Adopt a federated metadata architecture:</a:t>
              </a:r>
            </a:p>
            <a:p>
              <a:pPr marL="171450" indent="-171450">
                <a:buFont typeface="Wingdings" panose="05000000000000000000" pitchFamily="2" charset="2"/>
                <a:buChar char="§"/>
              </a:pPr>
              <a:r>
                <a:rPr lang="en-US" sz="1000">
                  <a:solidFill>
                    <a:schemeClr val="tx1"/>
                  </a:solidFill>
                </a:rPr>
                <a:t>Purpose-built domain stores for Sports, News, and General Entertainment</a:t>
              </a:r>
            </a:p>
            <a:p>
              <a:pPr marL="171450" indent="-171450">
                <a:buFont typeface="Wingdings" panose="05000000000000000000" pitchFamily="2" charset="2"/>
                <a:buChar char="§"/>
              </a:pPr>
              <a:r>
                <a:rPr lang="en-US" sz="1000">
                  <a:solidFill>
                    <a:schemeClr val="tx1"/>
                  </a:solidFill>
                </a:rPr>
                <a:t>A thin, derived, non-authoritative discovery layer</a:t>
              </a:r>
            </a:p>
            <a:p>
              <a:pPr marL="171450" indent="-171450">
                <a:buFont typeface="Wingdings" panose="05000000000000000000" pitchFamily="2" charset="2"/>
                <a:buChar char="§"/>
              </a:pPr>
              <a:r>
                <a:rPr lang="en-US" sz="1000">
                  <a:solidFill>
                    <a:schemeClr val="tx1"/>
                  </a:solidFill>
                </a:rPr>
                <a:t>A single cross-portfolio, read-only search surface for editorial, scheduling, recommendations, and AI</a:t>
              </a:r>
            </a:p>
            <a:p>
              <a:endParaRPr lang="en-US" sz="1000">
                <a:solidFill>
                  <a:schemeClr val="tx1"/>
                </a:solidFill>
              </a:endParaRPr>
            </a:p>
            <a:p>
              <a:r>
                <a:rPr lang="en-US" sz="1000">
                  <a:solidFill>
                    <a:schemeClr val="tx1"/>
                  </a:solidFill>
                </a:rPr>
                <a:t>Key elements of the approach:</a:t>
              </a:r>
            </a:p>
            <a:p>
              <a:pPr marL="171450" indent="-171450">
                <a:buFont typeface="Wingdings" panose="05000000000000000000" pitchFamily="2" charset="2"/>
                <a:buChar char="§"/>
              </a:pPr>
              <a:r>
                <a:rPr lang="en-US" sz="1000" b="1">
                  <a:solidFill>
                    <a:schemeClr val="tx1"/>
                  </a:solidFill>
                </a:rPr>
                <a:t>Protects live operations</a:t>
              </a:r>
              <a:r>
                <a:rPr lang="en-US" sz="1000">
                  <a:solidFill>
                    <a:schemeClr val="tx1"/>
                  </a:solidFill>
                </a:rPr>
                <a:t>. Domain isolation prevents news ingestion spikes or archive processing from impacting live sports broadcasts.</a:t>
              </a:r>
            </a:p>
            <a:p>
              <a:pPr marL="171450" indent="-171450">
                <a:buFont typeface="Wingdings" panose="05000000000000000000" pitchFamily="2" charset="2"/>
                <a:buChar char="§"/>
              </a:pPr>
              <a:r>
                <a:rPr lang="en-US" sz="1000" b="1">
                  <a:solidFill>
                    <a:schemeClr val="tx1"/>
                  </a:solidFill>
                </a:rPr>
                <a:t>Enables cross-portfolio value without schema compromise</a:t>
              </a:r>
              <a:r>
                <a:rPr lang="en-US" sz="1000">
                  <a:solidFill>
                    <a:schemeClr val="tx1"/>
                  </a:solidFill>
                </a:rPr>
                <a:t>. Editorial, promotion, and recommendation teams can discover content across domains without forcing a lowest-common-denominator model.</a:t>
              </a:r>
            </a:p>
            <a:p>
              <a:pPr marL="171450" indent="-171450">
                <a:buFont typeface="Wingdings" panose="05000000000000000000" pitchFamily="2" charset="2"/>
                <a:buChar char="§"/>
              </a:pPr>
              <a:r>
                <a:rPr lang="en-US" sz="1000" b="1">
                  <a:solidFill>
                    <a:schemeClr val="tx1"/>
                  </a:solidFill>
                </a:rPr>
                <a:t>Supports auditability and rights defensibility</a:t>
              </a:r>
              <a:r>
                <a:rPr lang="en-US" sz="1000">
                  <a:solidFill>
                    <a:schemeClr val="tx1"/>
                  </a:solidFill>
                </a:rPr>
                <a:t>. Vertical-specific rights logic enables clean regulatory audits for sports blackouts, news attribution, and entertainment windowing.</a:t>
              </a:r>
            </a:p>
          </p:txBody>
        </p:sp>
        <p:pic>
          <p:nvPicPr>
            <p:cNvPr id="7" name="Picture 6">
              <a:extLst>
                <a:ext uri="{FF2B5EF4-FFF2-40B4-BE49-F238E27FC236}">
                  <a16:creationId xmlns:a16="http://schemas.microsoft.com/office/drawing/2014/main" id="{04B9E8E5-C188-73DB-3332-1B66D34B963A}"/>
                </a:ext>
              </a:extLst>
            </p:cNvPr>
            <p:cNvPicPr>
              <a:picLocks noChangeAspect="1"/>
            </p:cNvPicPr>
            <p:nvPr/>
          </p:nvPicPr>
          <p:blipFill>
            <a:blip r:embed="rId2"/>
            <a:stretch>
              <a:fillRect/>
            </a:stretch>
          </p:blipFill>
          <p:spPr>
            <a:xfrm>
              <a:off x="8079859" y="2944830"/>
              <a:ext cx="3698482" cy="1805430"/>
            </a:xfrm>
            <a:prstGeom prst="rect">
              <a:avLst/>
            </a:prstGeom>
          </p:spPr>
        </p:pic>
      </p:grpSp>
    </p:spTree>
    <p:extLst>
      <p:ext uri="{BB962C8B-B14F-4D97-AF65-F5344CB8AC3E}">
        <p14:creationId xmlns:p14="http://schemas.microsoft.com/office/powerpoint/2010/main" val="286482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C03B-23C2-0E60-22F2-FBB771BD28FC}"/>
            </a:ext>
          </a:extLst>
        </p:cNvPr>
        <p:cNvGrpSpPr/>
        <p:nvPr/>
      </p:nvGrpSpPr>
      <p:grpSpPr>
        <a:xfrm>
          <a:off x="0" y="0"/>
          <a:ext cx="0" cy="0"/>
          <a:chOff x="0" y="0"/>
          <a:chExt cx="0" cy="0"/>
        </a:xfrm>
      </p:grpSpPr>
      <p:pic>
        <p:nvPicPr>
          <p:cNvPr id="14" name="Picture Placeholder 13" descr="A blue and white background with leaves&#10;">
            <a:extLst>
              <a:ext uri="{FF2B5EF4-FFF2-40B4-BE49-F238E27FC236}">
                <a16:creationId xmlns:a16="http://schemas.microsoft.com/office/drawing/2014/main" id="{4EBC5567-8B4F-23E8-8DA8-40933DD88F0A}"/>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 y="0"/>
            <a:ext cx="12192001" cy="6858000"/>
          </a:xfrm>
        </p:spPr>
      </p:pic>
      <p:sp>
        <p:nvSpPr>
          <p:cNvPr id="10" name="Text Placeholder 9">
            <a:extLst>
              <a:ext uri="{FF2B5EF4-FFF2-40B4-BE49-F238E27FC236}">
                <a16:creationId xmlns:a16="http://schemas.microsoft.com/office/drawing/2014/main" id="{5D6B049D-A876-1394-D3D7-880D1A9437AE}"/>
              </a:ext>
            </a:extLst>
          </p:cNvPr>
          <p:cNvSpPr>
            <a:spLocks noGrp="1"/>
          </p:cNvSpPr>
          <p:nvPr>
            <p:ph type="body" sz="quarter" idx="19"/>
          </p:nvPr>
        </p:nvSpPr>
        <p:spPr>
          <a:xfrm>
            <a:off x="0" y="0"/>
            <a:ext cx="4657725" cy="6858000"/>
          </a:xfrm>
        </p:spPr>
        <p:txBody>
          <a:bodyPr/>
          <a:lstStyle/>
          <a:p>
            <a:r>
              <a:rPr lang="en-US">
                <a:latin typeface="+mj-lt"/>
              </a:rPr>
              <a:t>1</a:t>
            </a:r>
          </a:p>
        </p:txBody>
      </p:sp>
      <p:sp>
        <p:nvSpPr>
          <p:cNvPr id="25" name="Date Placeholder 24">
            <a:extLst>
              <a:ext uri="{FF2B5EF4-FFF2-40B4-BE49-F238E27FC236}">
                <a16:creationId xmlns:a16="http://schemas.microsoft.com/office/drawing/2014/main" id="{47E79D70-A824-8D65-4848-691394C3EF2D}"/>
              </a:ext>
            </a:extLst>
          </p:cNvPr>
          <p:cNvSpPr>
            <a:spLocks noGrp="1"/>
          </p:cNvSpPr>
          <p:nvPr>
            <p:ph type="dt" sz="half" idx="20"/>
          </p:nvPr>
        </p:nvSpPr>
        <p:spPr>
          <a:xfrm>
            <a:off x="9809927" y="6650661"/>
            <a:ext cx="1831210"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Helvetica"/>
                <a:ea typeface="+mn-ea"/>
                <a:cs typeface="+mn-cs"/>
              </a:rPr>
              <a:t>Company Confidential © Capgemini 2026. All rights reserved.</a:t>
            </a:r>
          </a:p>
        </p:txBody>
      </p:sp>
      <p:sp>
        <p:nvSpPr>
          <p:cNvPr id="26" name="Footer Placeholder 25">
            <a:extLst>
              <a:ext uri="{FF2B5EF4-FFF2-40B4-BE49-F238E27FC236}">
                <a16:creationId xmlns:a16="http://schemas.microsoft.com/office/drawing/2014/main" id="{D7807705-9730-5640-B56C-2AE7E822D6FA}"/>
              </a:ext>
            </a:extLst>
          </p:cNvPr>
          <p:cNvSpPr>
            <a:spLocks noGrp="1"/>
          </p:cNvSpPr>
          <p:nvPr>
            <p:ph type="ftr" sz="quarter" idx="21"/>
          </p:nvPr>
        </p:nvSpPr>
        <p:spPr>
          <a:xfrm>
            <a:off x="550863" y="6650661"/>
            <a:ext cx="4716524" cy="123111"/>
          </a:xfrm>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Helvetica"/>
                <a:ea typeface="+mn-ea"/>
                <a:cs typeface="+mn-cs"/>
              </a:rPr>
              <a:t>Data Strategy for Linear TV PoV | Capgemini Invent | March 2026</a:t>
            </a:r>
          </a:p>
        </p:txBody>
      </p:sp>
      <p:sp>
        <p:nvSpPr>
          <p:cNvPr id="27" name="Slide Number Placeholder 26">
            <a:extLst>
              <a:ext uri="{FF2B5EF4-FFF2-40B4-BE49-F238E27FC236}">
                <a16:creationId xmlns:a16="http://schemas.microsoft.com/office/drawing/2014/main" id="{6179E183-9822-CB8D-46EB-583C87CF251B}"/>
              </a:ext>
            </a:extLst>
          </p:cNvPr>
          <p:cNvSpPr>
            <a:spLocks noGrp="1"/>
          </p:cNvSpPr>
          <p:nvPr>
            <p:ph type="sldNum" sz="quarter" idx="22"/>
          </p:nvPr>
        </p:nvSpPr>
        <p:spPr>
          <a:xfrm>
            <a:off x="11778341" y="6650661"/>
            <a:ext cx="23266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Helvetica"/>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FFFFFF">
                  <a:lumMod val="65000"/>
                </a:srgbClr>
              </a:solidFill>
              <a:effectLst/>
              <a:uLnTx/>
              <a:uFillTx/>
              <a:latin typeface="Helvetica"/>
              <a:ea typeface="+mn-ea"/>
              <a:cs typeface="Arial" panose="020B0604020202020204" pitchFamily="34" charset="0"/>
            </a:endParaRPr>
          </a:p>
        </p:txBody>
      </p:sp>
      <p:sp>
        <p:nvSpPr>
          <p:cNvPr id="22" name="Title 21">
            <a:extLst>
              <a:ext uri="{FF2B5EF4-FFF2-40B4-BE49-F238E27FC236}">
                <a16:creationId xmlns:a16="http://schemas.microsoft.com/office/drawing/2014/main" id="{3F904B77-1EB8-40C9-58B4-5E8199F27228}"/>
              </a:ext>
            </a:extLst>
          </p:cNvPr>
          <p:cNvSpPr>
            <a:spLocks noGrp="1"/>
          </p:cNvSpPr>
          <p:nvPr>
            <p:ph type="title"/>
          </p:nvPr>
        </p:nvSpPr>
        <p:spPr>
          <a:xfrm>
            <a:off x="5159374" y="4658810"/>
            <a:ext cx="6487665" cy="1672542"/>
          </a:xfrm>
        </p:spPr>
        <p:txBody>
          <a:bodyPr/>
          <a:lstStyle/>
          <a:p>
            <a:r>
              <a:rPr lang="en-US"/>
              <a:t>Linear TV Broadcasting</a:t>
            </a:r>
          </a:p>
        </p:txBody>
      </p:sp>
      <p:sp>
        <p:nvSpPr>
          <p:cNvPr id="24" name="Text Placeholder 23">
            <a:extLst>
              <a:ext uri="{FF2B5EF4-FFF2-40B4-BE49-F238E27FC236}">
                <a16:creationId xmlns:a16="http://schemas.microsoft.com/office/drawing/2014/main" id="{10B7549B-D14E-5B22-52B4-D3B8A03C0B5C}"/>
              </a:ext>
            </a:extLst>
          </p:cNvPr>
          <p:cNvSpPr>
            <a:spLocks noGrp="1"/>
          </p:cNvSpPr>
          <p:nvPr>
            <p:ph type="body" sz="quarter" idx="40"/>
          </p:nvPr>
        </p:nvSpPr>
        <p:spPr/>
        <p:txBody>
          <a:bodyPr/>
          <a:lstStyle/>
          <a:p>
            <a:endParaRPr lang="en-US"/>
          </a:p>
        </p:txBody>
      </p:sp>
      <p:sp>
        <p:nvSpPr>
          <p:cNvPr id="30" name="Rectangle 29">
            <a:extLst>
              <a:ext uri="{FF2B5EF4-FFF2-40B4-BE49-F238E27FC236}">
                <a16:creationId xmlns:a16="http://schemas.microsoft.com/office/drawing/2014/main" id="{093B2921-8300-220E-8F56-0A08CAB6896C}"/>
              </a:ext>
              <a:ext uri="{C183D7F6-B498-43B3-948B-1728B52AA6E4}">
                <adec:decorative xmlns:adec="http://schemas.microsoft.com/office/drawing/2017/decorative" val="1"/>
              </a:ext>
            </a:extLst>
          </p:cNvPr>
          <p:cNvSpPr/>
          <p:nvPr/>
        </p:nvSpPr>
        <p:spPr>
          <a:xfrm>
            <a:off x="5159374" y="4107976"/>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3" name="Rectangle 2">
            <a:extLst>
              <a:ext uri="{FF2B5EF4-FFF2-40B4-BE49-F238E27FC236}">
                <a16:creationId xmlns:a16="http://schemas.microsoft.com/office/drawing/2014/main" id="{DB715DB1-212A-9A29-9B45-E09E177CF8AF}"/>
              </a:ext>
            </a:extLst>
          </p:cNvPr>
          <p:cNvSpPr/>
          <p:nvPr/>
        </p:nvSpPr>
        <p:spPr>
          <a:xfrm>
            <a:off x="8380317" y="6650661"/>
            <a:ext cx="1427434" cy="123111"/>
          </a:xfrm>
          <a:prstGeom prst="rect">
            <a:avLst/>
          </a:prstGeom>
        </p:spPr>
        <p:txBody>
          <a:bodyPr wrap="none" lIns="0" tIns="0" rIns="0" bIns="0" anchor="ctr" anchorCtr="0">
            <a:noAutofit/>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0" cap="none" spc="0" normalizeH="0" baseline="0" noProof="0">
                <a:ln>
                  <a:noFill/>
                </a:ln>
                <a:solidFill>
                  <a:srgbClr val="FFFFFF">
                    <a:lumMod val="65000"/>
                  </a:srgbClr>
                </a:solidFill>
                <a:effectLst/>
                <a:uLnTx/>
                <a:uFillTx/>
                <a:latin typeface="Ubuntu"/>
                <a:ea typeface="+mn-ea"/>
                <a:cs typeface="+mn-cs"/>
              </a:rPr>
              <a:t>Company Confidential</a:t>
            </a:r>
          </a:p>
        </p:txBody>
      </p:sp>
      <p:sp>
        <p:nvSpPr>
          <p:cNvPr id="4" name="Text Placeholder 3">
            <a:extLst>
              <a:ext uri="{FF2B5EF4-FFF2-40B4-BE49-F238E27FC236}">
                <a16:creationId xmlns:a16="http://schemas.microsoft.com/office/drawing/2014/main" id="{C283A82D-8583-3F0C-2361-95B6CF9E4A30}"/>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1717236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3E36-F770-320E-2BEE-F48194806BC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0AF8D8B-5A99-1F4A-8D6E-B01A8BAAC98F}"/>
              </a:ext>
            </a:extLst>
          </p:cNvPr>
          <p:cNvGrpSpPr/>
          <p:nvPr/>
        </p:nvGrpSpPr>
        <p:grpSpPr>
          <a:xfrm>
            <a:off x="0" y="10"/>
            <a:ext cx="12191999" cy="6868490"/>
            <a:chOff x="0" y="10"/>
            <a:chExt cx="12191999" cy="6868490"/>
          </a:xfrm>
        </p:grpSpPr>
        <p:pic>
          <p:nvPicPr>
            <p:cNvPr id="8" name="Picture 7" descr="A paper fortune teller">
              <a:extLst>
                <a:ext uri="{FF2B5EF4-FFF2-40B4-BE49-F238E27FC236}">
                  <a16:creationId xmlns:a16="http://schemas.microsoft.com/office/drawing/2014/main" id="{FCC23DF2-B3BD-465D-52A0-9A507980E195}"/>
                </a:ext>
              </a:extLst>
            </p:cNvPr>
            <p:cNvPicPr>
              <a:picLocks noChangeAspect="1"/>
            </p:cNvPicPr>
            <p:nvPr/>
          </p:nvPicPr>
          <p:blipFill>
            <a:blip r:embed="rId2">
              <a:duotone>
                <a:schemeClr val="accent1">
                  <a:shade val="45000"/>
                  <a:satMod val="135000"/>
                </a:schemeClr>
                <a:prstClr val="white"/>
              </a:duotone>
            </a:blip>
            <a:srcRect l="84914" t="7344" b="8386"/>
            <a:stretch>
              <a:fillRect/>
            </a:stretch>
          </p:blipFill>
          <p:spPr>
            <a:xfrm>
              <a:off x="10352690" y="10"/>
              <a:ext cx="1839309" cy="6857990"/>
            </a:xfrm>
            <a:prstGeom prst="rect">
              <a:avLst/>
            </a:prstGeom>
            <a:noFill/>
          </p:spPr>
        </p:pic>
        <p:pic>
          <p:nvPicPr>
            <p:cNvPr id="7" name="Picture 6" descr="A paper fortune teller">
              <a:extLst>
                <a:ext uri="{FF2B5EF4-FFF2-40B4-BE49-F238E27FC236}">
                  <a16:creationId xmlns:a16="http://schemas.microsoft.com/office/drawing/2014/main" id="{A1F0CA61-D864-728D-C2BD-6DBF572FB3A7}"/>
                </a:ext>
              </a:extLst>
            </p:cNvPr>
            <p:cNvPicPr>
              <a:picLocks noChangeAspect="1"/>
            </p:cNvPicPr>
            <p:nvPr/>
          </p:nvPicPr>
          <p:blipFill>
            <a:blip r:embed="rId2">
              <a:duotone>
                <a:schemeClr val="accent1">
                  <a:shade val="45000"/>
                  <a:satMod val="135000"/>
                </a:schemeClr>
                <a:prstClr val="white"/>
              </a:duotone>
            </a:blip>
            <a:srcRect l="14741" t="7653" r="-1379" b="8076"/>
            <a:stretch>
              <a:fillRect/>
            </a:stretch>
          </p:blipFill>
          <p:spPr>
            <a:xfrm>
              <a:off x="0" y="10510"/>
              <a:ext cx="10562896" cy="6857990"/>
            </a:xfrm>
            <a:prstGeom prst="rect">
              <a:avLst/>
            </a:prstGeom>
            <a:noFill/>
          </p:spPr>
        </p:pic>
      </p:grpSp>
      <p:sp>
        <p:nvSpPr>
          <p:cNvPr id="2" name="Date Placeholder 1" hidden="1">
            <a:extLst>
              <a:ext uri="{FF2B5EF4-FFF2-40B4-BE49-F238E27FC236}">
                <a16:creationId xmlns:a16="http://schemas.microsoft.com/office/drawing/2014/main" id="{CF1BF421-A383-C1A9-5EE2-5FC6652112C4}"/>
              </a:ext>
            </a:extLst>
          </p:cNvPr>
          <p:cNvSpPr>
            <a:spLocks noGrp="1"/>
          </p:cNvSpPr>
          <p:nvPr>
            <p:ph type="dt" sz="half" idx="4294967295"/>
          </p:nvPr>
        </p:nvSpPr>
        <p:spPr>
          <a:xfrm>
            <a:off x="9809927" y="6650661"/>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2B89499-0909-1C61-D071-2A565FA1C47C}"/>
              </a:ext>
            </a:extLst>
          </p:cNvPr>
          <p:cNvSpPr>
            <a:spLocks noGrp="1"/>
          </p:cNvSpPr>
          <p:nvPr>
            <p:ph type="ftr" sz="quarter" idx="4294967295"/>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hidden="1">
            <a:extLst>
              <a:ext uri="{FF2B5EF4-FFF2-40B4-BE49-F238E27FC236}">
                <a16:creationId xmlns:a16="http://schemas.microsoft.com/office/drawing/2014/main" id="{2C71CC8E-150A-B627-4DB3-50F92AFE974F}"/>
              </a:ext>
            </a:extLst>
          </p:cNvPr>
          <p:cNvSpPr>
            <a:spLocks noGrp="1"/>
          </p:cNvSpPr>
          <p:nvPr>
            <p:ph type="sldNum" sz="quarter" idx="4294967295"/>
          </p:nvPr>
        </p:nvSpPr>
        <p:spPr>
          <a:xfrm>
            <a:off x="11778341" y="6650661"/>
            <a:ext cx="232665" cy="123111"/>
          </a:xfrm>
        </p:spPr>
        <p:txBody>
          <a:bodyPr/>
          <a:lstStyle/>
          <a:p>
            <a:pPr algn="r">
              <a:spcAft>
                <a:spcPts val="600"/>
              </a:spcAft>
            </a:pPr>
            <a:fld id="{5D9A5160-6218-4E5A-B9E6-B93E3DAE377C}" type="slidenum">
              <a:rPr lang="en-US" smtClean="0"/>
              <a:pPr algn="r">
                <a:spcAft>
                  <a:spcPts val="600"/>
                </a:spcAft>
              </a:pPr>
              <a:t>4</a:t>
            </a:fld>
            <a:endParaRPr lang="en-US"/>
          </a:p>
        </p:txBody>
      </p:sp>
      <p:sp>
        <p:nvSpPr>
          <p:cNvPr id="10" name="Rectangle 9">
            <a:extLst>
              <a:ext uri="{FF2B5EF4-FFF2-40B4-BE49-F238E27FC236}">
                <a16:creationId xmlns:a16="http://schemas.microsoft.com/office/drawing/2014/main" id="{93691281-10E4-EE76-19ED-D73645A3392F}"/>
              </a:ext>
            </a:extLst>
          </p:cNvPr>
          <p:cNvSpPr/>
          <p:nvPr/>
        </p:nvSpPr>
        <p:spPr>
          <a:xfrm>
            <a:off x="6096000" y="241738"/>
            <a:ext cx="5833242" cy="640892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n-US" sz="4000" b="1" spc="-150">
                <a:solidFill>
                  <a:schemeClr val="tx1"/>
                </a:solidFill>
                <a:latin typeface="+mj-lt"/>
              </a:rPr>
              <a:t>Live sports</a:t>
            </a:r>
            <a:r>
              <a:rPr lang="en-US" sz="4000" spc="-150">
                <a:solidFill>
                  <a:schemeClr val="tx1"/>
                </a:solidFill>
                <a:latin typeface="+mj-lt"/>
              </a:rPr>
              <a:t>, </a:t>
            </a:r>
            <a:r>
              <a:rPr lang="en-US" sz="4000" b="1" spc="-150">
                <a:solidFill>
                  <a:schemeClr val="tx1"/>
                </a:solidFill>
                <a:latin typeface="+mj-lt"/>
              </a:rPr>
              <a:t>news</a:t>
            </a:r>
            <a:r>
              <a:rPr lang="en-US" sz="4000" spc="-150">
                <a:solidFill>
                  <a:schemeClr val="tx1"/>
                </a:solidFill>
                <a:latin typeface="+mj-lt"/>
              </a:rPr>
              <a:t>, and </a:t>
            </a:r>
            <a:r>
              <a:rPr lang="en-US" sz="4000" b="1" spc="-150">
                <a:solidFill>
                  <a:schemeClr val="tx1"/>
                </a:solidFill>
                <a:latin typeface="+mj-lt"/>
              </a:rPr>
              <a:t>general entertainment</a:t>
            </a:r>
            <a:r>
              <a:rPr lang="en-US" sz="4000" spc="-150">
                <a:solidFill>
                  <a:schemeClr val="tx1"/>
                </a:solidFill>
                <a:latin typeface="+mj-lt"/>
              </a:rPr>
              <a:t>—three fundamentally different content supply chains </a:t>
            </a:r>
            <a:r>
              <a:rPr lang="en-US" sz="4000" b="1" spc="-150">
                <a:solidFill>
                  <a:schemeClr val="tx1"/>
                </a:solidFill>
                <a:latin typeface="+mj-lt"/>
              </a:rPr>
              <a:t>sharing the same infrastructure investment decision</a:t>
            </a:r>
            <a:r>
              <a:rPr lang="en-US" sz="4000" spc="-150">
                <a:solidFill>
                  <a:schemeClr val="tx1"/>
                </a:solidFill>
                <a:latin typeface="+mj-lt"/>
              </a:rPr>
              <a:t>.</a:t>
            </a:r>
          </a:p>
        </p:txBody>
      </p:sp>
      <p:sp>
        <p:nvSpPr>
          <p:cNvPr id="14" name="Rectangle 13">
            <a:extLst>
              <a:ext uri="{FF2B5EF4-FFF2-40B4-BE49-F238E27FC236}">
                <a16:creationId xmlns:a16="http://schemas.microsoft.com/office/drawing/2014/main" id="{704A558D-10EA-06A7-021A-587A99EE0CBE}"/>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SITUATION</a:t>
            </a:r>
          </a:p>
        </p:txBody>
      </p:sp>
    </p:spTree>
    <p:extLst>
      <p:ext uri="{BB962C8B-B14F-4D97-AF65-F5344CB8AC3E}">
        <p14:creationId xmlns:p14="http://schemas.microsoft.com/office/powerpoint/2010/main" val="2385636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7FB0-5513-4DA8-968E-FFFF6ED0D56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6483165-C2DA-E60C-27D1-6A8D7169AA1C}"/>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Slide Number Placeholder 3">
            <a:extLst>
              <a:ext uri="{FF2B5EF4-FFF2-40B4-BE49-F238E27FC236}">
                <a16:creationId xmlns:a16="http://schemas.microsoft.com/office/drawing/2014/main" id="{2B9AA381-2BB5-0BF1-8119-CC5E784F98E6}"/>
              </a:ext>
            </a:extLst>
          </p:cNvPr>
          <p:cNvSpPr>
            <a:spLocks noGrp="1"/>
          </p:cNvSpPr>
          <p:nvPr>
            <p:ph type="sldNum" sz="quarter" idx="30"/>
          </p:nvPr>
        </p:nvSpPr>
        <p:spPr/>
        <p:txBody>
          <a:bodyPr/>
          <a:lstStyle/>
          <a:p>
            <a:pPr algn="r"/>
            <a:fld id="{5D9A5160-6218-4E5A-B9E6-B93E3DAE377C}" type="slidenum">
              <a:rPr lang="en-US" smtClean="0"/>
              <a:pPr algn="r"/>
              <a:t>5</a:t>
            </a:fld>
            <a:endParaRPr lang="en-US"/>
          </a:p>
        </p:txBody>
      </p:sp>
      <p:sp>
        <p:nvSpPr>
          <p:cNvPr id="5" name="Title 4">
            <a:extLst>
              <a:ext uri="{FF2B5EF4-FFF2-40B4-BE49-F238E27FC236}">
                <a16:creationId xmlns:a16="http://schemas.microsoft.com/office/drawing/2014/main" id="{1419DADB-5F47-AC07-B2F0-DF90470E304E}"/>
              </a:ext>
            </a:extLst>
          </p:cNvPr>
          <p:cNvSpPr>
            <a:spLocks noGrp="1"/>
          </p:cNvSpPr>
          <p:nvPr>
            <p:ph type="title"/>
          </p:nvPr>
        </p:nvSpPr>
        <p:spPr/>
        <p:txBody>
          <a:bodyPr/>
          <a:lstStyle/>
          <a:p>
            <a:endParaRPr lang="en-US"/>
          </a:p>
        </p:txBody>
      </p:sp>
      <p:pic>
        <p:nvPicPr>
          <p:cNvPr id="11" name="Picture 10" descr="Abstract background of data">
            <a:extLst>
              <a:ext uri="{FF2B5EF4-FFF2-40B4-BE49-F238E27FC236}">
                <a16:creationId xmlns:a16="http://schemas.microsoft.com/office/drawing/2014/main" id="{D371F66B-D878-EDB6-F006-E3D99933AD05}"/>
              </a:ext>
            </a:extLst>
          </p:cNvPr>
          <p:cNvPicPr>
            <a:picLocks noChangeAspect="1"/>
          </p:cNvPicPr>
          <p:nvPr/>
        </p:nvPicPr>
        <p:blipFill>
          <a:blip r:embed="rId2">
            <a:duotone>
              <a:prstClr val="black"/>
              <a:schemeClr val="accent1">
                <a:tint val="45000"/>
                <a:satMod val="400000"/>
              </a:schemeClr>
            </a:duotone>
          </a:blip>
          <a:stretch>
            <a:fillRect/>
          </a:stretch>
        </p:blipFill>
        <p:spPr>
          <a:xfrm>
            <a:off x="0" y="0"/>
            <a:ext cx="12192000" cy="6858000"/>
          </a:xfrm>
          <a:prstGeom prst="rect">
            <a:avLst/>
          </a:prstGeom>
        </p:spPr>
      </p:pic>
      <p:grpSp>
        <p:nvGrpSpPr>
          <p:cNvPr id="14" name="Group 13">
            <a:extLst>
              <a:ext uri="{FF2B5EF4-FFF2-40B4-BE49-F238E27FC236}">
                <a16:creationId xmlns:a16="http://schemas.microsoft.com/office/drawing/2014/main" id="{20C9949A-32A2-E59A-6FD6-7ABD7C4BA20F}"/>
              </a:ext>
            </a:extLst>
          </p:cNvPr>
          <p:cNvGrpSpPr/>
          <p:nvPr/>
        </p:nvGrpSpPr>
        <p:grpSpPr>
          <a:xfrm rot="5400000">
            <a:off x="2667001" y="-2667001"/>
            <a:ext cx="6857998" cy="12192002"/>
            <a:chOff x="0" y="-13534"/>
            <a:chExt cx="12203482" cy="6871533"/>
          </a:xfrm>
        </p:grpSpPr>
        <p:sp>
          <p:nvSpPr>
            <p:cNvPr id="12" name="Rectangle 11">
              <a:extLst>
                <a:ext uri="{FF2B5EF4-FFF2-40B4-BE49-F238E27FC236}">
                  <a16:creationId xmlns:a16="http://schemas.microsoft.com/office/drawing/2014/main" id="{360F50DE-2394-A7D2-A5B6-BFC5C03E3953}"/>
                </a:ext>
              </a:extLst>
            </p:cNvPr>
            <p:cNvSpPr/>
            <p:nvPr/>
          </p:nvSpPr>
          <p:spPr>
            <a:xfrm rot="10800000">
              <a:off x="0" y="-13534"/>
              <a:ext cx="12203482" cy="6857990"/>
            </a:xfrm>
            <a:prstGeom prst="rect">
              <a:avLst/>
            </a:prstGeom>
            <a:gradFill>
              <a:gsLst>
                <a:gs pos="0">
                  <a:schemeClr val="tx1">
                    <a:alpha val="69396"/>
                  </a:schemeClr>
                </a:gs>
                <a:gs pos="33024">
                  <a:srgbClr val="000000"/>
                </a:gs>
                <a:gs pos="64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sp>
          <p:nvSpPr>
            <p:cNvPr id="13" name="Rectangle 12">
              <a:extLst>
                <a:ext uri="{FF2B5EF4-FFF2-40B4-BE49-F238E27FC236}">
                  <a16:creationId xmlns:a16="http://schemas.microsoft.com/office/drawing/2014/main" id="{F574BADF-908B-1B43-E3AF-A40DD334B32C}"/>
                </a:ext>
              </a:extLst>
            </p:cNvPr>
            <p:cNvSpPr/>
            <p:nvPr/>
          </p:nvSpPr>
          <p:spPr>
            <a:xfrm rot="10800000">
              <a:off x="0" y="433632"/>
              <a:ext cx="12203482" cy="6424367"/>
            </a:xfrm>
            <a:prstGeom prst="rect">
              <a:avLst/>
            </a:prstGeom>
            <a:gradFill>
              <a:gsLst>
                <a:gs pos="0">
                  <a:schemeClr val="tx1">
                    <a:alpha val="69396"/>
                  </a:schemeClr>
                </a:gs>
                <a:gs pos="100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grpSp>
      <p:sp>
        <p:nvSpPr>
          <p:cNvPr id="15" name="Rectangle 14">
            <a:extLst>
              <a:ext uri="{FF2B5EF4-FFF2-40B4-BE49-F238E27FC236}">
                <a16:creationId xmlns:a16="http://schemas.microsoft.com/office/drawing/2014/main" id="{7E92301D-E2F1-E059-F7F9-4F151757ED4C}"/>
              </a:ext>
            </a:extLst>
          </p:cNvPr>
          <p:cNvSpPr/>
          <p:nvPr/>
        </p:nvSpPr>
        <p:spPr>
          <a:xfrm>
            <a:off x="501553" y="1822825"/>
            <a:ext cx="6876101" cy="277475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4800" spc="-150">
                <a:solidFill>
                  <a:schemeClr val="bg2">
                    <a:lumMod val="75000"/>
                  </a:schemeClr>
                </a:solidFill>
                <a:latin typeface="+mj-lt"/>
              </a:rPr>
              <a:t>How do we build a metadata infrastructure that </a:t>
            </a:r>
            <a:r>
              <a:rPr lang="en-US" sz="4800" b="1" spc="-150">
                <a:solidFill>
                  <a:schemeClr val="bg1"/>
                </a:solidFill>
                <a:latin typeface="+mj-lt"/>
              </a:rPr>
              <a:t>does not become a constraint</a:t>
            </a:r>
            <a:r>
              <a:rPr lang="en-US" sz="4800" spc="-150">
                <a:solidFill>
                  <a:schemeClr val="bg2">
                    <a:lumMod val="85000"/>
                  </a:schemeClr>
                </a:solidFill>
                <a:latin typeface="+mj-lt"/>
              </a:rPr>
              <a:t>?</a:t>
            </a:r>
          </a:p>
        </p:txBody>
      </p:sp>
      <p:grpSp>
        <p:nvGrpSpPr>
          <p:cNvPr id="21" name="Group 20">
            <a:extLst>
              <a:ext uri="{FF2B5EF4-FFF2-40B4-BE49-F238E27FC236}">
                <a16:creationId xmlns:a16="http://schemas.microsoft.com/office/drawing/2014/main" id="{B01E793B-2DF6-7772-B9E9-24380EC471E8}"/>
              </a:ext>
            </a:extLst>
          </p:cNvPr>
          <p:cNvGrpSpPr/>
          <p:nvPr/>
        </p:nvGrpSpPr>
        <p:grpSpPr>
          <a:xfrm>
            <a:off x="501553" y="5134976"/>
            <a:ext cx="5615220" cy="429724"/>
            <a:chOff x="168164" y="5456069"/>
            <a:chExt cx="5615220" cy="429724"/>
          </a:xfrm>
        </p:grpSpPr>
        <p:sp>
          <p:nvSpPr>
            <p:cNvPr id="16" name="Rectangle: Rounded Corners 15">
              <a:extLst>
                <a:ext uri="{FF2B5EF4-FFF2-40B4-BE49-F238E27FC236}">
                  <a16:creationId xmlns:a16="http://schemas.microsoft.com/office/drawing/2014/main" id="{BFDAD3CA-9DF0-5435-337D-12D2256F78CA}"/>
                </a:ext>
              </a:extLst>
            </p:cNvPr>
            <p:cNvSpPr/>
            <p:nvPr/>
          </p:nvSpPr>
          <p:spPr>
            <a:xfrm>
              <a:off x="168164" y="5456069"/>
              <a:ext cx="2690648" cy="429724"/>
            </a:xfrm>
            <a:prstGeom prst="roundRect">
              <a:avLst>
                <a:gd name="adj" fmla="val 50000"/>
              </a:avLst>
            </a:prstGeom>
            <a:solidFill>
              <a:schemeClr val="tx1"/>
            </a:solidFill>
            <a:ln w="6350">
              <a:solidFill>
                <a:srgbClr val="91AAC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rgbClr val="91AACD"/>
                  </a:solidFill>
                </a:rPr>
                <a:t>Content Velocity &amp; Rights Defensibility</a:t>
              </a:r>
            </a:p>
          </p:txBody>
        </p:sp>
        <p:sp>
          <p:nvSpPr>
            <p:cNvPr id="17" name="Rectangle: Rounded Corners 16">
              <a:extLst>
                <a:ext uri="{FF2B5EF4-FFF2-40B4-BE49-F238E27FC236}">
                  <a16:creationId xmlns:a16="http://schemas.microsoft.com/office/drawing/2014/main" id="{729273A8-9231-BC58-E724-635550A9E09C}"/>
                </a:ext>
              </a:extLst>
            </p:cNvPr>
            <p:cNvSpPr/>
            <p:nvPr/>
          </p:nvSpPr>
          <p:spPr>
            <a:xfrm>
              <a:off x="3092736" y="5456069"/>
              <a:ext cx="2690648" cy="429724"/>
            </a:xfrm>
            <a:prstGeom prst="roundRect">
              <a:avLst>
                <a:gd name="adj" fmla="val 50000"/>
              </a:avLst>
            </a:prstGeom>
            <a:solidFill>
              <a:schemeClr val="tx1"/>
            </a:solidFill>
            <a:ln w="6350">
              <a:solidFill>
                <a:srgbClr val="91AAC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rgbClr val="91AACD"/>
                  </a:solidFill>
                </a:rPr>
                <a:t>Infrastructure Simplicity</a:t>
              </a:r>
            </a:p>
          </p:txBody>
        </p:sp>
        <p:cxnSp>
          <p:nvCxnSpPr>
            <p:cNvPr id="19" name="Straight Connector 18">
              <a:extLst>
                <a:ext uri="{FF2B5EF4-FFF2-40B4-BE49-F238E27FC236}">
                  <a16:creationId xmlns:a16="http://schemas.microsoft.com/office/drawing/2014/main" id="{A54F18F4-CDD7-CA9C-EDE9-AAED5CF41AF3}"/>
                </a:ext>
              </a:extLst>
            </p:cNvPr>
            <p:cNvCxnSpPr>
              <a:cxnSpLocks/>
            </p:cNvCxnSpPr>
            <p:nvPr/>
          </p:nvCxnSpPr>
          <p:spPr>
            <a:xfrm flipH="1">
              <a:off x="2917951" y="5456069"/>
              <a:ext cx="116523" cy="429724"/>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1CF79F38-CD2F-223B-4512-F6FC52A28C14}"/>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23" name="Rectangle 22">
            <a:extLst>
              <a:ext uri="{FF2B5EF4-FFF2-40B4-BE49-F238E27FC236}">
                <a16:creationId xmlns:a16="http://schemas.microsoft.com/office/drawing/2014/main" id="{A83ABC89-1A83-21FC-44E2-397F6EE031D2}"/>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lumMod val="50000"/>
                    <a:lumOff val="50000"/>
                  </a:schemeClr>
                </a:solidFill>
              </a:rPr>
              <a:t>COMPLICATION</a:t>
            </a:r>
          </a:p>
        </p:txBody>
      </p:sp>
      <p:sp>
        <p:nvSpPr>
          <p:cNvPr id="7" name="TextBox 6">
            <a:extLst>
              <a:ext uri="{FF2B5EF4-FFF2-40B4-BE49-F238E27FC236}">
                <a16:creationId xmlns:a16="http://schemas.microsoft.com/office/drawing/2014/main" id="{874D7E57-564E-038A-7ABC-4DF90FD11902}"/>
              </a:ext>
            </a:extLst>
          </p:cNvPr>
          <p:cNvSpPr txBox="1"/>
          <p:nvPr/>
        </p:nvSpPr>
        <p:spPr>
          <a:xfrm>
            <a:off x="550863" y="6321937"/>
            <a:ext cx="7807969" cy="246221"/>
          </a:xfrm>
          <a:prstGeom prst="rect">
            <a:avLst/>
          </a:prstGeom>
          <a:noFill/>
        </p:spPr>
        <p:txBody>
          <a:bodyPr wrap="square" lIns="0" rIns="0">
            <a:spAutoFit/>
          </a:bodyPr>
          <a:lstStyle/>
          <a:p>
            <a:r>
              <a:rPr lang="en-US" sz="1000" baseline="30000">
                <a:solidFill>
                  <a:schemeClr val="bg1">
                    <a:lumMod val="65000"/>
                  </a:schemeClr>
                </a:solidFill>
              </a:rPr>
              <a:t>1</a:t>
            </a:r>
            <a:r>
              <a:rPr lang="en-US" sz="1000" i="1">
                <a:solidFill>
                  <a:schemeClr val="bg1">
                    <a:lumMod val="65000"/>
                  </a:schemeClr>
                </a:solidFill>
              </a:rPr>
              <a:t>Warner Bros. Discovery to Separate into Two Leading Media Companies</a:t>
            </a:r>
            <a:r>
              <a:rPr lang="en-US" sz="1000">
                <a:solidFill>
                  <a:schemeClr val="bg1">
                    <a:lumMod val="65000"/>
                  </a:schemeClr>
                </a:solidFill>
              </a:rPr>
              <a:t>, Jun 9, 2025. Warner Bros Discovery Newsroom</a:t>
            </a:r>
          </a:p>
        </p:txBody>
      </p:sp>
      <p:grpSp>
        <p:nvGrpSpPr>
          <p:cNvPr id="10" name="Group 9">
            <a:extLst>
              <a:ext uri="{FF2B5EF4-FFF2-40B4-BE49-F238E27FC236}">
                <a16:creationId xmlns:a16="http://schemas.microsoft.com/office/drawing/2014/main" id="{5CC63FAA-0615-4238-3CAB-6ED15FC4DD77}"/>
              </a:ext>
            </a:extLst>
          </p:cNvPr>
          <p:cNvGrpSpPr/>
          <p:nvPr/>
        </p:nvGrpSpPr>
        <p:grpSpPr>
          <a:xfrm>
            <a:off x="549678" y="908929"/>
            <a:ext cx="4302816" cy="373905"/>
            <a:chOff x="549678" y="908929"/>
            <a:chExt cx="4302816" cy="373905"/>
          </a:xfrm>
        </p:grpSpPr>
        <p:grpSp>
          <p:nvGrpSpPr>
            <p:cNvPr id="6" name="Group 5">
              <a:extLst>
                <a:ext uri="{FF2B5EF4-FFF2-40B4-BE49-F238E27FC236}">
                  <a16:creationId xmlns:a16="http://schemas.microsoft.com/office/drawing/2014/main" id="{53301704-DAF3-043B-94C0-01C42D814DC4}"/>
                </a:ext>
              </a:extLst>
            </p:cNvPr>
            <p:cNvGrpSpPr/>
            <p:nvPr/>
          </p:nvGrpSpPr>
          <p:grpSpPr>
            <a:xfrm>
              <a:off x="549678" y="991991"/>
              <a:ext cx="4107299" cy="290843"/>
              <a:chOff x="292608" y="826415"/>
              <a:chExt cx="4107299" cy="290843"/>
            </a:xfrm>
          </p:grpSpPr>
          <p:pic>
            <p:nvPicPr>
              <p:cNvPr id="1032" name="Picture 8">
                <a:extLst>
                  <a:ext uri="{FF2B5EF4-FFF2-40B4-BE49-F238E27FC236}">
                    <a16:creationId xmlns:a16="http://schemas.microsoft.com/office/drawing/2014/main" id="{C8D0C5F7-343B-A989-4413-1D88F12934C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2608" y="859886"/>
                <a:ext cx="470597" cy="2239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3D38048E-AE16-F925-092A-A4FF8416FF8D}"/>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56502" y="852784"/>
                <a:ext cx="759404" cy="23810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iscovery Channel Logo PNG Transparent &amp; SVG Vector - Freebie Supply">
                <a:extLst>
                  <a:ext uri="{FF2B5EF4-FFF2-40B4-BE49-F238E27FC236}">
                    <a16:creationId xmlns:a16="http://schemas.microsoft.com/office/drawing/2014/main" id="{6ECA9C7C-EE24-A301-44EE-DB403AEBC54A}"/>
                  </a:ext>
                </a:extLst>
              </p:cNvPr>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09203" y="835784"/>
                <a:ext cx="585204" cy="27210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2FC728F9-CFF2-5663-EB85-252F730C3EC4}"/>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2687704" y="830296"/>
                <a:ext cx="290426" cy="28308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141D8A64-DBB9-2426-BF64-02F4ACE43F9B}"/>
                  </a:ext>
                </a:extLst>
              </p:cNvPr>
              <p:cNvPicPr>
                <a:picLocks noChangeAspect="1" noChangeArrowheads="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1427" y="827794"/>
                <a:ext cx="474272" cy="28808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1EB018F1-57F7-C843-C349-A22B4325CDB0}"/>
                  </a:ext>
                </a:extLst>
              </p:cNvPr>
              <p:cNvPicPr>
                <a:picLocks noChangeAspect="1" noChangeArrowheads="1"/>
              </p:cNvPicPr>
              <p:nvPr/>
            </p:nvPicPr>
            <p:blipFill>
              <a:blip r:embed="rId8">
                <a:grayscl/>
                <a:extLst>
                  <a:ext uri="{28A0092B-C50C-407E-A947-70E740481C1C}">
                    <a14:useLocalDpi xmlns:a14="http://schemas.microsoft.com/office/drawing/2010/main" val="0"/>
                  </a:ext>
                </a:extLst>
              </a:blip>
              <a:srcRect/>
              <a:stretch>
                <a:fillRect/>
              </a:stretch>
            </p:blipFill>
            <p:spPr bwMode="auto">
              <a:xfrm>
                <a:off x="3838996" y="826415"/>
                <a:ext cx="560911" cy="29084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a:extLst>
                <a:ext uri="{FF2B5EF4-FFF2-40B4-BE49-F238E27FC236}">
                  <a16:creationId xmlns:a16="http://schemas.microsoft.com/office/drawing/2014/main" id="{AAAC6489-E894-72BC-D527-6FC9E7B0FD35}"/>
                </a:ext>
              </a:extLst>
            </p:cNvPr>
            <p:cNvSpPr/>
            <p:nvPr/>
          </p:nvSpPr>
          <p:spPr>
            <a:xfrm>
              <a:off x="4695465" y="908929"/>
              <a:ext cx="157029" cy="17388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1</a:t>
              </a:r>
              <a:endParaRPr lang="en-US" sz="1000">
                <a:solidFill>
                  <a:schemeClr val="tx1">
                    <a:lumMod val="50000"/>
                    <a:lumOff val="50000"/>
                  </a:schemeClr>
                </a:solidFill>
              </a:endParaRPr>
            </a:p>
          </p:txBody>
        </p:sp>
      </p:grpSp>
    </p:spTree>
    <p:extLst>
      <p:ext uri="{BB962C8B-B14F-4D97-AF65-F5344CB8AC3E}">
        <p14:creationId xmlns:p14="http://schemas.microsoft.com/office/powerpoint/2010/main" val="990948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bstract white geometric texture">
            <a:extLst>
              <a:ext uri="{FF2B5EF4-FFF2-40B4-BE49-F238E27FC236}">
                <a16:creationId xmlns:a16="http://schemas.microsoft.com/office/drawing/2014/main" id="{37B0E3AF-7779-3DF6-ED67-03E6C1224692}"/>
              </a:ext>
            </a:extLst>
          </p:cNvPr>
          <p:cNvPicPr>
            <a:picLocks noChangeAspect="1"/>
          </p:cNvPicPr>
          <p:nvPr/>
        </p:nvPicPr>
        <p:blipFill>
          <a:blip r:embed="rId2"/>
          <a:srcRect b="15620"/>
          <a:stretch>
            <a:fillRect/>
          </a:stretch>
        </p:blipFill>
        <p:spPr>
          <a:xfrm>
            <a:off x="0" y="-1"/>
            <a:ext cx="12192000" cy="6858001"/>
          </a:xfrm>
          <a:prstGeom prst="rect">
            <a:avLst/>
          </a:prstGeom>
        </p:spPr>
      </p:pic>
      <p:sp>
        <p:nvSpPr>
          <p:cNvPr id="2" name="Date Placeholder 1">
            <a:extLst>
              <a:ext uri="{FF2B5EF4-FFF2-40B4-BE49-F238E27FC236}">
                <a16:creationId xmlns:a16="http://schemas.microsoft.com/office/drawing/2014/main" id="{DAC00E7A-7E1C-0DB8-CF26-3D7A8ABA8F3D}"/>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A1D6F8E-A36D-E1DF-290D-03DF98ACE1B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66BD1388-8D64-4270-8B04-2C39974A80A0}"/>
              </a:ext>
            </a:extLst>
          </p:cNvPr>
          <p:cNvSpPr>
            <a:spLocks noGrp="1"/>
          </p:cNvSpPr>
          <p:nvPr>
            <p:ph type="sldNum" sz="quarter" idx="30"/>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A752B73B-0A54-F7F1-DD51-93A5076B4BF5}"/>
              </a:ext>
            </a:extLst>
          </p:cNvPr>
          <p:cNvSpPr>
            <a:spLocks noGrp="1"/>
          </p:cNvSpPr>
          <p:nvPr>
            <p:ph type="title"/>
          </p:nvPr>
        </p:nvSpPr>
        <p:spPr>
          <a:xfrm>
            <a:off x="551384" y="2596913"/>
            <a:ext cx="11090938" cy="1664174"/>
          </a:xfrm>
        </p:spPr>
        <p:txBody>
          <a:bodyPr/>
          <a:lstStyle/>
          <a:p>
            <a:pPr algn="ctr"/>
            <a:r>
              <a:rPr lang="en-US" sz="3200" spc="-150"/>
              <a:t>A </a:t>
            </a:r>
            <a:r>
              <a:rPr lang="en-US" sz="3200" b="1" spc="-150"/>
              <a:t>federated</a:t>
            </a:r>
            <a:r>
              <a:rPr lang="en-US" sz="3200" spc="-150"/>
              <a:t> metadata architecture with a </a:t>
            </a:r>
            <a:r>
              <a:rPr lang="en-US" sz="3200" b="1" spc="-150"/>
              <a:t>thin, derived discovery layer </a:t>
            </a:r>
            <a:r>
              <a:rPr lang="en-US" sz="3200" spc="-150"/>
              <a:t>and </a:t>
            </a:r>
            <a:r>
              <a:rPr lang="en-US" sz="3200" b="1" spc="-150"/>
              <a:t>purpose-built stores</a:t>
            </a:r>
            <a:r>
              <a:rPr lang="en-US" sz="3200" spc="-150"/>
              <a:t> across sports, news, and general entertainment, </a:t>
            </a:r>
            <a:r>
              <a:rPr lang="en-US" sz="3200" b="1" spc="-150"/>
              <a:t>unified </a:t>
            </a:r>
            <a:r>
              <a:rPr lang="en-US" sz="3200" spc="-150"/>
              <a:t>by a single cross-portfolio, read-only, non-authoritative </a:t>
            </a:r>
            <a:r>
              <a:rPr lang="en-US" sz="3200" b="1" spc="-150"/>
              <a:t>search surface</a:t>
            </a:r>
            <a:r>
              <a:rPr lang="en-US" sz="3200" spc="-150"/>
              <a:t>.</a:t>
            </a:r>
          </a:p>
        </p:txBody>
      </p:sp>
      <p:sp>
        <p:nvSpPr>
          <p:cNvPr id="6" name="Rectangle 5">
            <a:extLst>
              <a:ext uri="{FF2B5EF4-FFF2-40B4-BE49-F238E27FC236}">
                <a16:creationId xmlns:a16="http://schemas.microsoft.com/office/drawing/2014/main" id="{B3F3E8D1-0484-A438-300D-7A27C7CDAD34}"/>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RECOMMENDATION</a:t>
            </a:r>
          </a:p>
        </p:txBody>
      </p:sp>
    </p:spTree>
    <p:extLst>
      <p:ext uri="{BB962C8B-B14F-4D97-AF65-F5344CB8AC3E}">
        <p14:creationId xmlns:p14="http://schemas.microsoft.com/office/powerpoint/2010/main" val="394939460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AC99-7F34-CC5C-24D1-1111ABC01136}"/>
            </a:ext>
          </a:extLst>
        </p:cNvPr>
        <p:cNvGrpSpPr/>
        <p:nvPr/>
      </p:nvGrpSpPr>
      <p:grpSpPr>
        <a:xfrm>
          <a:off x="0" y="0"/>
          <a:ext cx="0" cy="0"/>
          <a:chOff x="0" y="0"/>
          <a:chExt cx="0" cy="0"/>
        </a:xfrm>
      </p:grpSpPr>
      <p:pic>
        <p:nvPicPr>
          <p:cNvPr id="10" name="Picture 9" descr="Abstract white geometric texture">
            <a:extLst>
              <a:ext uri="{FF2B5EF4-FFF2-40B4-BE49-F238E27FC236}">
                <a16:creationId xmlns:a16="http://schemas.microsoft.com/office/drawing/2014/main" id="{447040E7-6853-E47F-55F0-FB68CEBD97B2}"/>
              </a:ext>
            </a:extLst>
          </p:cNvPr>
          <p:cNvPicPr>
            <a:picLocks noChangeAspect="1"/>
          </p:cNvPicPr>
          <p:nvPr/>
        </p:nvPicPr>
        <p:blipFill>
          <a:blip r:embed="rId2"/>
          <a:srcRect b="15620"/>
          <a:stretch>
            <a:fillRect/>
          </a:stretch>
        </p:blipFill>
        <p:spPr>
          <a:xfrm>
            <a:off x="0" y="-1"/>
            <a:ext cx="12192000" cy="6858001"/>
          </a:xfrm>
          <a:prstGeom prst="rect">
            <a:avLst/>
          </a:prstGeom>
        </p:spPr>
      </p:pic>
      <p:sp>
        <p:nvSpPr>
          <p:cNvPr id="2" name="Date Placeholder 1">
            <a:extLst>
              <a:ext uri="{FF2B5EF4-FFF2-40B4-BE49-F238E27FC236}">
                <a16:creationId xmlns:a16="http://schemas.microsoft.com/office/drawing/2014/main" id="{E5F519E3-0E2F-A003-D6E8-E5EEF3DE400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2B0AEDE-A2E6-ECCB-64A5-4801AD61613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527B109E-0BFC-AC6F-6D73-1B6B841513C5}"/>
              </a:ext>
            </a:extLst>
          </p:cNvPr>
          <p:cNvSpPr>
            <a:spLocks noGrp="1"/>
          </p:cNvSpPr>
          <p:nvPr>
            <p:ph type="sldNum" sz="quarter" idx="30"/>
          </p:nvPr>
        </p:nvSpPr>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40D52894-85D5-EDA7-1E3B-D03FA212DB12}"/>
              </a:ext>
            </a:extLst>
          </p:cNvPr>
          <p:cNvSpPr>
            <a:spLocks noGrp="1"/>
          </p:cNvSpPr>
          <p:nvPr>
            <p:ph type="title"/>
          </p:nvPr>
        </p:nvSpPr>
        <p:spPr>
          <a:xfrm>
            <a:off x="551384" y="864366"/>
            <a:ext cx="11090938" cy="1664174"/>
          </a:xfrm>
        </p:spPr>
        <p:txBody>
          <a:bodyPr/>
          <a:lstStyle/>
          <a:p>
            <a:pPr algn="ctr"/>
            <a:r>
              <a:rPr lang="en-US" sz="3200" spc="-150"/>
              <a:t>A </a:t>
            </a:r>
            <a:r>
              <a:rPr lang="en-US" sz="3200" b="1" spc="-150"/>
              <a:t>federated</a:t>
            </a:r>
            <a:r>
              <a:rPr lang="en-US" sz="3200" spc="-150"/>
              <a:t> metadata architecture with a </a:t>
            </a:r>
            <a:r>
              <a:rPr lang="en-US" sz="3200" b="1" spc="-150"/>
              <a:t>thin, derived discovery layer </a:t>
            </a:r>
            <a:r>
              <a:rPr lang="en-US" sz="3200" spc="-150"/>
              <a:t>and </a:t>
            </a:r>
            <a:r>
              <a:rPr lang="en-US" sz="3200" b="1" spc="-150"/>
              <a:t>purpose-built stores</a:t>
            </a:r>
            <a:r>
              <a:rPr lang="en-US" sz="3200" spc="-150"/>
              <a:t> across sports, news, and general entertainment, </a:t>
            </a:r>
            <a:r>
              <a:rPr lang="en-US" sz="3200" b="1" spc="-150"/>
              <a:t>unified </a:t>
            </a:r>
            <a:r>
              <a:rPr lang="en-US" sz="3200" spc="-150"/>
              <a:t>by a single cross-portfolio, read-only, non-authoritative </a:t>
            </a:r>
            <a:r>
              <a:rPr lang="en-US" sz="3200" b="1" spc="-150"/>
              <a:t>search surface</a:t>
            </a:r>
            <a:r>
              <a:rPr lang="en-US" sz="3200" spc="-150"/>
              <a:t>.</a:t>
            </a:r>
          </a:p>
        </p:txBody>
      </p:sp>
      <p:sp>
        <p:nvSpPr>
          <p:cNvPr id="6" name="Rectangle 5">
            <a:extLst>
              <a:ext uri="{FF2B5EF4-FFF2-40B4-BE49-F238E27FC236}">
                <a16:creationId xmlns:a16="http://schemas.microsoft.com/office/drawing/2014/main" id="{92D1B219-EDB4-2664-F70F-457A8B9D2849}"/>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RECOMMENDATION</a:t>
            </a:r>
          </a:p>
        </p:txBody>
      </p:sp>
      <p:grpSp>
        <p:nvGrpSpPr>
          <p:cNvPr id="14" name="Group 13">
            <a:extLst>
              <a:ext uri="{FF2B5EF4-FFF2-40B4-BE49-F238E27FC236}">
                <a16:creationId xmlns:a16="http://schemas.microsoft.com/office/drawing/2014/main" id="{DD1BB1A3-0625-0A05-1DB1-AE3B7B61612B}"/>
              </a:ext>
            </a:extLst>
          </p:cNvPr>
          <p:cNvGrpSpPr/>
          <p:nvPr/>
        </p:nvGrpSpPr>
        <p:grpSpPr>
          <a:xfrm>
            <a:off x="550863" y="3415006"/>
            <a:ext cx="3185962" cy="2426995"/>
            <a:chOff x="550863" y="3415006"/>
            <a:chExt cx="3185962" cy="2426995"/>
          </a:xfrm>
        </p:grpSpPr>
        <p:sp>
          <p:nvSpPr>
            <p:cNvPr id="7" name="Rectangle 6">
              <a:extLst>
                <a:ext uri="{FF2B5EF4-FFF2-40B4-BE49-F238E27FC236}">
                  <a16:creationId xmlns:a16="http://schemas.microsoft.com/office/drawing/2014/main" id="{0BEBF690-40CB-C5AD-284C-7613004FCB2A}"/>
                </a:ext>
              </a:extLst>
            </p:cNvPr>
            <p:cNvSpPr/>
            <p:nvPr/>
          </p:nvSpPr>
          <p:spPr>
            <a:xfrm>
              <a:off x="550863" y="4386604"/>
              <a:ext cx="3185962" cy="145539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600"/>
                </a:spcAft>
              </a:pPr>
              <a:r>
                <a:rPr lang="en-US" sz="1100" b="1">
                  <a:solidFill>
                    <a:schemeClr val="tx1"/>
                  </a:solidFill>
                </a:rPr>
                <a:t>Protects live broadcast operations from contamination</a:t>
              </a:r>
            </a:p>
            <a:p>
              <a:pPr algn="ctr"/>
              <a:r>
                <a:rPr lang="en-US" sz="1000">
                  <a:solidFill>
                    <a:schemeClr val="tx1">
                      <a:lumMod val="50000"/>
                      <a:lumOff val="50000"/>
                    </a:schemeClr>
                  </a:solidFill>
                </a:rPr>
                <a:t>The Sports Live Ops store is completely isolated from the News publishing pipeline and the Entertainment catalog. A breaking news ingestion spike cannot degrade a Champions League broadcast</a:t>
              </a:r>
            </a:p>
          </p:txBody>
        </p:sp>
        <p:pic>
          <p:nvPicPr>
            <p:cNvPr id="11" name="Graphic 10" descr="Football outline">
              <a:extLst>
                <a:ext uri="{FF2B5EF4-FFF2-40B4-BE49-F238E27FC236}">
                  <a16:creationId xmlns:a16="http://schemas.microsoft.com/office/drawing/2014/main" id="{18FA405C-1105-CAFA-937F-713DF7E7BA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6644" y="3415006"/>
              <a:ext cx="914400" cy="914400"/>
            </a:xfrm>
            <a:prstGeom prst="rect">
              <a:avLst/>
            </a:prstGeom>
          </p:spPr>
        </p:pic>
      </p:grpSp>
      <p:grpSp>
        <p:nvGrpSpPr>
          <p:cNvPr id="15" name="Group 14">
            <a:extLst>
              <a:ext uri="{FF2B5EF4-FFF2-40B4-BE49-F238E27FC236}">
                <a16:creationId xmlns:a16="http://schemas.microsoft.com/office/drawing/2014/main" id="{DA87D5DF-2CE0-D75A-CF06-4E3BDBAD5A0A}"/>
              </a:ext>
            </a:extLst>
          </p:cNvPr>
          <p:cNvGrpSpPr/>
          <p:nvPr/>
        </p:nvGrpSpPr>
        <p:grpSpPr>
          <a:xfrm>
            <a:off x="4503019" y="3415006"/>
            <a:ext cx="3185962" cy="2426995"/>
            <a:chOff x="4503019" y="3415006"/>
            <a:chExt cx="3185962" cy="2426995"/>
          </a:xfrm>
        </p:grpSpPr>
        <p:sp>
          <p:nvSpPr>
            <p:cNvPr id="8" name="Rectangle 7">
              <a:extLst>
                <a:ext uri="{FF2B5EF4-FFF2-40B4-BE49-F238E27FC236}">
                  <a16:creationId xmlns:a16="http://schemas.microsoft.com/office/drawing/2014/main" id="{E8DB522A-A8ED-BD5C-0F09-DF01F3639A90}"/>
                </a:ext>
              </a:extLst>
            </p:cNvPr>
            <p:cNvSpPr/>
            <p:nvPr/>
          </p:nvSpPr>
          <p:spPr>
            <a:xfrm>
              <a:off x="4503019" y="4386604"/>
              <a:ext cx="3185962" cy="145539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600"/>
                </a:spcAft>
              </a:pPr>
              <a:r>
                <a:rPr lang="en-US" sz="1100" b="1">
                  <a:solidFill>
                    <a:schemeClr val="tx1"/>
                  </a:solidFill>
                </a:rPr>
                <a:t>Commercial viability of cross-portfolio discovery without sacrificing domain integrity </a:t>
              </a:r>
            </a:p>
            <a:p>
              <a:pPr algn="ctr"/>
              <a:r>
                <a:rPr lang="en-US" sz="1000">
                  <a:solidFill>
                    <a:schemeClr val="tx1">
                      <a:lumMod val="50000"/>
                      <a:lumOff val="50000"/>
                    </a:schemeClr>
                  </a:solidFill>
                </a:rPr>
                <a:t>The unified discovery layer enables commissioning editors to search across all three verticals, recommendation engines to cross-promote content, and scheduling teams to identify programming gaps without any vertical having to compromise its data model to fit a common schema</a:t>
              </a:r>
            </a:p>
          </p:txBody>
        </p:sp>
        <p:pic>
          <p:nvPicPr>
            <p:cNvPr id="12" name="Graphic 11" descr="Anger Symbol outline">
              <a:extLst>
                <a:ext uri="{FF2B5EF4-FFF2-40B4-BE49-F238E27FC236}">
                  <a16:creationId xmlns:a16="http://schemas.microsoft.com/office/drawing/2014/main" id="{452BDA60-D885-4F91-8284-3D8C4349033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38800" y="3415006"/>
              <a:ext cx="914400" cy="914400"/>
            </a:xfrm>
            <a:prstGeom prst="rect">
              <a:avLst/>
            </a:prstGeom>
          </p:spPr>
        </p:pic>
      </p:grpSp>
      <p:grpSp>
        <p:nvGrpSpPr>
          <p:cNvPr id="16" name="Group 15">
            <a:extLst>
              <a:ext uri="{FF2B5EF4-FFF2-40B4-BE49-F238E27FC236}">
                <a16:creationId xmlns:a16="http://schemas.microsoft.com/office/drawing/2014/main" id="{E311EF44-1370-042B-1678-C79CFB6550BA}"/>
              </a:ext>
            </a:extLst>
          </p:cNvPr>
          <p:cNvGrpSpPr/>
          <p:nvPr/>
        </p:nvGrpSpPr>
        <p:grpSpPr>
          <a:xfrm>
            <a:off x="8455175" y="3415006"/>
            <a:ext cx="3185962" cy="2426995"/>
            <a:chOff x="8455175" y="3415006"/>
            <a:chExt cx="3185962" cy="2426995"/>
          </a:xfrm>
        </p:grpSpPr>
        <p:sp>
          <p:nvSpPr>
            <p:cNvPr id="9" name="Rectangle 8">
              <a:extLst>
                <a:ext uri="{FF2B5EF4-FFF2-40B4-BE49-F238E27FC236}">
                  <a16:creationId xmlns:a16="http://schemas.microsoft.com/office/drawing/2014/main" id="{A4D93059-D0E3-6D6E-D4FB-04540A0F23F6}"/>
                </a:ext>
              </a:extLst>
            </p:cNvPr>
            <p:cNvSpPr/>
            <p:nvPr/>
          </p:nvSpPr>
          <p:spPr>
            <a:xfrm>
              <a:off x="8455175" y="4386604"/>
              <a:ext cx="3185962" cy="145539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spcAft>
                  <a:spcPts val="600"/>
                </a:spcAft>
              </a:pPr>
              <a:r>
                <a:rPr lang="en-US" sz="1100" b="1">
                  <a:solidFill>
                    <a:schemeClr val="tx1"/>
                  </a:solidFill>
                </a:rPr>
                <a:t>Architecture that can be audited</a:t>
              </a:r>
            </a:p>
            <a:p>
              <a:pPr algn="ctr"/>
              <a:r>
                <a:rPr lang="en-US" sz="1000">
                  <a:solidFill>
                    <a:schemeClr val="tx1">
                      <a:lumMod val="50000"/>
                      <a:lumOff val="50000"/>
                    </a:schemeClr>
                  </a:solidFill>
                </a:rPr>
                <a:t>News rights carry attribution obligations. Sports rights carry territorial blackouts. Entertainment rights carry window sequencing. Vertical-specific rights stores, with a cross-cutting rights clearance API, mean that when a regulatory inquiry arrives, each domain can produce a clean rights audit without touching the others.</a:t>
              </a:r>
            </a:p>
          </p:txBody>
        </p:sp>
        <p:pic>
          <p:nvPicPr>
            <p:cNvPr id="13" name="Graphic 12" descr="Abacus outline">
              <a:extLst>
                <a:ext uri="{FF2B5EF4-FFF2-40B4-BE49-F238E27FC236}">
                  <a16:creationId xmlns:a16="http://schemas.microsoft.com/office/drawing/2014/main" id="{6ABBBC6A-CB9B-2AF4-EF88-40FAAD1A3D0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590956" y="3415006"/>
              <a:ext cx="914400" cy="914400"/>
            </a:xfrm>
            <a:prstGeom prst="rect">
              <a:avLst/>
            </a:prstGeom>
          </p:spPr>
        </p:pic>
      </p:grpSp>
    </p:spTree>
    <p:extLst>
      <p:ext uri="{BB962C8B-B14F-4D97-AF65-F5344CB8AC3E}">
        <p14:creationId xmlns:p14="http://schemas.microsoft.com/office/powerpoint/2010/main" val="12311089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925AF1-FFC0-B151-A630-FBF231970398}"/>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505A512-5CFA-C3A1-03E6-3C3B01964BC5}"/>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B2E17A25-7BFD-4A7C-A3E9-1B2822E675AB}"/>
              </a:ext>
            </a:extLst>
          </p:cNvPr>
          <p:cNvSpPr>
            <a:spLocks noGrp="1"/>
          </p:cNvSpPr>
          <p:nvPr>
            <p:ph type="sldNum" sz="quarter" idx="30"/>
          </p:nvPr>
        </p:nvSpPr>
        <p:spPr/>
        <p:txBody>
          <a:bodyPr/>
          <a:lstStyle/>
          <a:p>
            <a:pPr algn="r"/>
            <a:fld id="{5D9A5160-6218-4E5A-B9E6-B93E3DAE377C}" type="slidenum">
              <a:rPr lang="en-US" smtClean="0"/>
              <a:pPr algn="r"/>
              <a:t>8</a:t>
            </a:fld>
            <a:endParaRPr lang="en-US"/>
          </a:p>
        </p:txBody>
      </p:sp>
      <p:sp>
        <p:nvSpPr>
          <p:cNvPr id="5" name="Title 4">
            <a:extLst>
              <a:ext uri="{FF2B5EF4-FFF2-40B4-BE49-F238E27FC236}">
                <a16:creationId xmlns:a16="http://schemas.microsoft.com/office/drawing/2014/main" id="{52E7A383-8FDE-C8E7-D3AE-DF7999ECB9CC}"/>
              </a:ext>
            </a:extLst>
          </p:cNvPr>
          <p:cNvSpPr>
            <a:spLocks noGrp="1"/>
          </p:cNvSpPr>
          <p:nvPr>
            <p:ph type="title"/>
          </p:nvPr>
        </p:nvSpPr>
        <p:spPr/>
        <p:txBody>
          <a:bodyPr/>
          <a:lstStyle/>
          <a:p>
            <a:r>
              <a:rPr lang="en-US"/>
              <a:t>A </a:t>
            </a:r>
            <a:r>
              <a:rPr lang="en-US" b="1"/>
              <a:t>federated metadata architecture</a:t>
            </a:r>
            <a:r>
              <a:rPr lang="en-US"/>
              <a:t> with a </a:t>
            </a:r>
            <a:r>
              <a:rPr lang="en-US" b="1"/>
              <a:t>thin, derived discovery layer</a:t>
            </a:r>
            <a:r>
              <a:rPr lang="en-US"/>
              <a:t> and </a:t>
            </a:r>
            <a:r>
              <a:rPr lang="en-US" b="1"/>
              <a:t>purpose-built stores</a:t>
            </a:r>
            <a:r>
              <a:rPr lang="en-US"/>
              <a:t> across sports, news, and general entertainment</a:t>
            </a:r>
          </a:p>
        </p:txBody>
      </p:sp>
      <p:grpSp>
        <p:nvGrpSpPr>
          <p:cNvPr id="100" name="Group 99">
            <a:extLst>
              <a:ext uri="{FF2B5EF4-FFF2-40B4-BE49-F238E27FC236}">
                <a16:creationId xmlns:a16="http://schemas.microsoft.com/office/drawing/2014/main" id="{062DB70E-F284-1B35-4676-17C0EEEB81E3}"/>
              </a:ext>
            </a:extLst>
          </p:cNvPr>
          <p:cNvGrpSpPr/>
          <p:nvPr/>
        </p:nvGrpSpPr>
        <p:grpSpPr>
          <a:xfrm>
            <a:off x="589463" y="1174438"/>
            <a:ext cx="11051674" cy="5372665"/>
            <a:chOff x="589463" y="1174438"/>
            <a:chExt cx="11051674" cy="5372665"/>
          </a:xfrm>
        </p:grpSpPr>
        <p:sp>
          <p:nvSpPr>
            <p:cNvPr id="6" name="Rectangle: Rounded Corners 5">
              <a:extLst>
                <a:ext uri="{FF2B5EF4-FFF2-40B4-BE49-F238E27FC236}">
                  <a16:creationId xmlns:a16="http://schemas.microsoft.com/office/drawing/2014/main" id="{D49B31AA-1B79-461D-750F-44A6A3044D00}"/>
                </a:ext>
              </a:extLst>
            </p:cNvPr>
            <p:cNvSpPr/>
            <p:nvPr/>
          </p:nvSpPr>
          <p:spPr>
            <a:xfrm>
              <a:off x="589463" y="1377735"/>
              <a:ext cx="248103" cy="5169368"/>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Source Layer</a:t>
              </a:r>
            </a:p>
          </p:txBody>
        </p:sp>
        <p:sp>
          <p:nvSpPr>
            <p:cNvPr id="7" name="Rectangle: Rounded Corners 6">
              <a:extLst>
                <a:ext uri="{FF2B5EF4-FFF2-40B4-BE49-F238E27FC236}">
                  <a16:creationId xmlns:a16="http://schemas.microsoft.com/office/drawing/2014/main" id="{D9FF0BE3-8274-0751-63A1-A7ECB7A4EFB6}"/>
                </a:ext>
              </a:extLst>
            </p:cNvPr>
            <p:cNvSpPr/>
            <p:nvPr/>
          </p:nvSpPr>
          <p:spPr>
            <a:xfrm>
              <a:off x="11393034" y="1377735"/>
              <a:ext cx="248103" cy="5169368"/>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8" name="Rectangle: Rounded Corners 7">
              <a:extLst>
                <a:ext uri="{FF2B5EF4-FFF2-40B4-BE49-F238E27FC236}">
                  <a16:creationId xmlns:a16="http://schemas.microsoft.com/office/drawing/2014/main" id="{0931F3EC-72D5-C60C-5966-A23EF97DD023}"/>
                </a:ext>
              </a:extLst>
            </p:cNvPr>
            <p:cNvSpPr/>
            <p:nvPr/>
          </p:nvSpPr>
          <p:spPr>
            <a:xfrm>
              <a:off x="9440398" y="1377735"/>
              <a:ext cx="1823010"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9" name="Rectangle: Rounded Corners 8">
              <a:extLst>
                <a:ext uri="{FF2B5EF4-FFF2-40B4-BE49-F238E27FC236}">
                  <a16:creationId xmlns:a16="http://schemas.microsoft.com/office/drawing/2014/main" id="{25A46BF2-A8D4-DCC6-779F-56CFC8F4B9AE}"/>
                </a:ext>
              </a:extLst>
            </p:cNvPr>
            <p:cNvSpPr/>
            <p:nvPr/>
          </p:nvSpPr>
          <p:spPr>
            <a:xfrm>
              <a:off x="979038" y="1377734"/>
              <a:ext cx="8331735"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a:solidFill>
                    <a:schemeClr val="tx1"/>
                  </a:solidFill>
                </a:rPr>
                <a:t>Domain Layer</a:t>
              </a:r>
            </a:p>
          </p:txBody>
        </p:sp>
        <p:sp>
          <p:nvSpPr>
            <p:cNvPr id="10" name="Rectangle: Rounded Corners 9">
              <a:extLst>
                <a:ext uri="{FF2B5EF4-FFF2-40B4-BE49-F238E27FC236}">
                  <a16:creationId xmlns:a16="http://schemas.microsoft.com/office/drawing/2014/main" id="{477D5E59-86AF-F3D4-84CE-43877FFCD652}"/>
                </a:ext>
              </a:extLst>
            </p:cNvPr>
            <p:cNvSpPr/>
            <p:nvPr/>
          </p:nvSpPr>
          <p:spPr>
            <a:xfrm>
              <a:off x="1121642"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Sports Domain</a:t>
              </a:r>
            </a:p>
          </p:txBody>
        </p:sp>
        <p:sp>
          <p:nvSpPr>
            <p:cNvPr id="11" name="Rectangle: Rounded Corners 10">
              <a:extLst>
                <a:ext uri="{FF2B5EF4-FFF2-40B4-BE49-F238E27FC236}">
                  <a16:creationId xmlns:a16="http://schemas.microsoft.com/office/drawing/2014/main" id="{0B30B1D3-6374-336A-0B59-434745CC038B}"/>
                </a:ext>
              </a:extLst>
            </p:cNvPr>
            <p:cNvSpPr/>
            <p:nvPr/>
          </p:nvSpPr>
          <p:spPr>
            <a:xfrm>
              <a:off x="3849219"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News Domain</a:t>
              </a:r>
            </a:p>
          </p:txBody>
        </p:sp>
        <p:sp>
          <p:nvSpPr>
            <p:cNvPr id="12" name="Rectangle: Rounded Corners 11">
              <a:extLst>
                <a:ext uri="{FF2B5EF4-FFF2-40B4-BE49-F238E27FC236}">
                  <a16:creationId xmlns:a16="http://schemas.microsoft.com/office/drawing/2014/main" id="{D9081D64-B4AD-9ACD-962B-7CEBCA2F044E}"/>
                </a:ext>
              </a:extLst>
            </p:cNvPr>
            <p:cNvSpPr/>
            <p:nvPr/>
          </p:nvSpPr>
          <p:spPr>
            <a:xfrm>
              <a:off x="6576799"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General Entertainment Domain</a:t>
              </a:r>
            </a:p>
          </p:txBody>
        </p:sp>
        <p:sp>
          <p:nvSpPr>
            <p:cNvPr id="13" name="Rectangle: Rounded Corners 12">
              <a:extLst>
                <a:ext uri="{FF2B5EF4-FFF2-40B4-BE49-F238E27FC236}">
                  <a16:creationId xmlns:a16="http://schemas.microsoft.com/office/drawing/2014/main" id="{EBBCCB82-2FAE-0308-7692-07A7DED30299}"/>
                </a:ext>
              </a:extLst>
            </p:cNvPr>
            <p:cNvSpPr/>
            <p:nvPr/>
          </p:nvSpPr>
          <p:spPr>
            <a:xfrm>
              <a:off x="1313531"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Live Sports</a:t>
              </a:r>
            </a:p>
          </p:txBody>
        </p:sp>
        <p:sp>
          <p:nvSpPr>
            <p:cNvPr id="14" name="Rectangle: Single Corner Rounded 13">
              <a:extLst>
                <a:ext uri="{FF2B5EF4-FFF2-40B4-BE49-F238E27FC236}">
                  <a16:creationId xmlns:a16="http://schemas.microsoft.com/office/drawing/2014/main" id="{F1BB6AA0-B5C1-B07C-70DF-C6397EB27A47}"/>
                </a:ext>
              </a:extLst>
            </p:cNvPr>
            <p:cNvSpPr/>
            <p:nvPr/>
          </p:nvSpPr>
          <p:spPr>
            <a:xfrm>
              <a:off x="1375013"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Live match state</a:t>
              </a:r>
            </a:p>
          </p:txBody>
        </p:sp>
        <p:sp>
          <p:nvSpPr>
            <p:cNvPr id="15" name="Rectangle: Single Corner Rounded 14">
              <a:extLst>
                <a:ext uri="{FF2B5EF4-FFF2-40B4-BE49-F238E27FC236}">
                  <a16:creationId xmlns:a16="http://schemas.microsoft.com/office/drawing/2014/main" id="{3816AF26-37BB-4D3F-AD57-B2BC93330A9A}"/>
                </a:ext>
              </a:extLst>
            </p:cNvPr>
            <p:cNvSpPr/>
            <p:nvPr/>
          </p:nvSpPr>
          <p:spPr>
            <a:xfrm>
              <a:off x="2442903"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Technical quality signals</a:t>
              </a:r>
            </a:p>
          </p:txBody>
        </p:sp>
        <p:sp>
          <p:nvSpPr>
            <p:cNvPr id="16" name="Rectangle: Single Corner Rounded 15">
              <a:extLst>
                <a:ext uri="{FF2B5EF4-FFF2-40B4-BE49-F238E27FC236}">
                  <a16:creationId xmlns:a16="http://schemas.microsoft.com/office/drawing/2014/main" id="{5FB9B898-E36F-EBFE-0AC1-44802D3E6AB9}"/>
                </a:ext>
              </a:extLst>
            </p:cNvPr>
            <p:cNvSpPr/>
            <p:nvPr/>
          </p:nvSpPr>
          <p:spPr>
            <a:xfrm>
              <a:off x="1375013" y="258840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Real-time stats</a:t>
              </a:r>
            </a:p>
          </p:txBody>
        </p:sp>
        <p:sp>
          <p:nvSpPr>
            <p:cNvPr id="17" name="Rectangle: Single Corner Rounded 16">
              <a:extLst>
                <a:ext uri="{FF2B5EF4-FFF2-40B4-BE49-F238E27FC236}">
                  <a16:creationId xmlns:a16="http://schemas.microsoft.com/office/drawing/2014/main" id="{1925D864-F9B2-F663-C2C4-28A6FA7F32AD}"/>
                </a:ext>
              </a:extLst>
            </p:cNvPr>
            <p:cNvSpPr/>
            <p:nvPr/>
          </p:nvSpPr>
          <p:spPr>
            <a:xfrm>
              <a:off x="1375013" y="285032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index</a:t>
              </a:r>
            </a:p>
          </p:txBody>
        </p:sp>
        <p:sp>
          <p:nvSpPr>
            <p:cNvPr id="18" name="Rectangle: Rounded Corners 17">
              <a:extLst>
                <a:ext uri="{FF2B5EF4-FFF2-40B4-BE49-F238E27FC236}">
                  <a16:creationId xmlns:a16="http://schemas.microsoft.com/office/drawing/2014/main" id="{2E370AD9-B3BA-D036-287F-0B2007B19716}"/>
                </a:ext>
              </a:extLst>
            </p:cNvPr>
            <p:cNvSpPr/>
            <p:nvPr/>
          </p:nvSpPr>
          <p:spPr>
            <a:xfrm>
              <a:off x="1313531"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Sports Archive</a:t>
              </a:r>
            </a:p>
          </p:txBody>
        </p:sp>
        <p:sp>
          <p:nvSpPr>
            <p:cNvPr id="19" name="Rectangle: Single Corner Rounded 18">
              <a:extLst>
                <a:ext uri="{FF2B5EF4-FFF2-40B4-BE49-F238E27FC236}">
                  <a16:creationId xmlns:a16="http://schemas.microsoft.com/office/drawing/2014/main" id="{7C04E689-4DEA-1282-9F6C-18AE2AD9D052}"/>
                </a:ext>
              </a:extLst>
            </p:cNvPr>
            <p:cNvSpPr/>
            <p:nvPr/>
          </p:nvSpPr>
          <p:spPr>
            <a:xfrm>
              <a:off x="1375013"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Match recordings</a:t>
              </a:r>
            </a:p>
          </p:txBody>
        </p:sp>
        <p:sp>
          <p:nvSpPr>
            <p:cNvPr id="20" name="Rectangle: Single Corner Rounded 19">
              <a:extLst>
                <a:ext uri="{FF2B5EF4-FFF2-40B4-BE49-F238E27FC236}">
                  <a16:creationId xmlns:a16="http://schemas.microsoft.com/office/drawing/2014/main" id="{7311FC85-4C9A-72F7-42A4-B68EDCC235B1}"/>
                </a:ext>
              </a:extLst>
            </p:cNvPr>
            <p:cNvSpPr/>
            <p:nvPr/>
          </p:nvSpPr>
          <p:spPr>
            <a:xfrm>
              <a:off x="2442903"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21" name="Rectangle: Single Corner Rounded 20">
              <a:extLst>
                <a:ext uri="{FF2B5EF4-FFF2-40B4-BE49-F238E27FC236}">
                  <a16:creationId xmlns:a16="http://schemas.microsoft.com/office/drawing/2014/main" id="{7DAFEE63-F371-5006-0DD4-49487F6004A2}"/>
                </a:ext>
              </a:extLst>
            </p:cNvPr>
            <p:cNvSpPr/>
            <p:nvPr/>
          </p:nvSpPr>
          <p:spPr>
            <a:xfrm>
              <a:off x="1375013"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packages</a:t>
              </a:r>
            </a:p>
          </p:txBody>
        </p:sp>
        <p:sp>
          <p:nvSpPr>
            <p:cNvPr id="22" name="Rectangle: Single Corner Rounded 21">
              <a:extLst>
                <a:ext uri="{FF2B5EF4-FFF2-40B4-BE49-F238E27FC236}">
                  <a16:creationId xmlns:a16="http://schemas.microsoft.com/office/drawing/2014/main" id="{EA5ED575-F29C-7E8A-5CB7-0834FA481275}"/>
                </a:ext>
              </a:extLst>
            </p:cNvPr>
            <p:cNvSpPr/>
            <p:nvPr/>
          </p:nvSpPr>
          <p:spPr>
            <a:xfrm>
              <a:off x="2442903"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Archival rights windows</a:t>
              </a:r>
            </a:p>
          </p:txBody>
        </p:sp>
        <p:sp>
          <p:nvSpPr>
            <p:cNvPr id="23" name="Rectangle: Single Corner Rounded 22">
              <a:extLst>
                <a:ext uri="{FF2B5EF4-FFF2-40B4-BE49-F238E27FC236}">
                  <a16:creationId xmlns:a16="http://schemas.microsoft.com/office/drawing/2014/main" id="{048552A3-A59A-F941-078B-72702934808D}"/>
                </a:ext>
              </a:extLst>
            </p:cNvPr>
            <p:cNvSpPr/>
            <p:nvPr/>
          </p:nvSpPr>
          <p:spPr>
            <a:xfrm>
              <a:off x="1375013" y="419017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Athlete/team entity graph</a:t>
              </a:r>
            </a:p>
          </p:txBody>
        </p:sp>
        <p:sp>
          <p:nvSpPr>
            <p:cNvPr id="24" name="Rectangle: Rounded Corners 23">
              <a:extLst>
                <a:ext uri="{FF2B5EF4-FFF2-40B4-BE49-F238E27FC236}">
                  <a16:creationId xmlns:a16="http://schemas.microsoft.com/office/drawing/2014/main" id="{CF372E0C-C529-C948-38EF-D12436C3653C}"/>
                </a:ext>
              </a:extLst>
            </p:cNvPr>
            <p:cNvSpPr/>
            <p:nvPr/>
          </p:nvSpPr>
          <p:spPr>
            <a:xfrm>
              <a:off x="4041108"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Publishing &amp; Versioning</a:t>
              </a:r>
            </a:p>
          </p:txBody>
        </p:sp>
        <p:sp>
          <p:nvSpPr>
            <p:cNvPr id="25" name="Rectangle: Single Corner Rounded 24">
              <a:extLst>
                <a:ext uri="{FF2B5EF4-FFF2-40B4-BE49-F238E27FC236}">
                  <a16:creationId xmlns:a16="http://schemas.microsoft.com/office/drawing/2014/main" id="{EC82A4AD-404C-8689-38D3-551998D0D5DF}"/>
                </a:ext>
              </a:extLst>
            </p:cNvPr>
            <p:cNvSpPr/>
            <p:nvPr/>
          </p:nvSpPr>
          <p:spPr>
            <a:xfrm>
              <a:off x="4102590"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Story ID</a:t>
              </a:r>
            </a:p>
          </p:txBody>
        </p:sp>
        <p:sp>
          <p:nvSpPr>
            <p:cNvPr id="26" name="Rectangle: Single Corner Rounded 25">
              <a:extLst>
                <a:ext uri="{FF2B5EF4-FFF2-40B4-BE49-F238E27FC236}">
                  <a16:creationId xmlns:a16="http://schemas.microsoft.com/office/drawing/2014/main" id="{F644A82D-5AB0-5716-4534-C324C4D9FAC0}"/>
                </a:ext>
              </a:extLst>
            </p:cNvPr>
            <p:cNvSpPr/>
            <p:nvPr/>
          </p:nvSpPr>
          <p:spPr>
            <a:xfrm>
              <a:off x="5170480"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Embargo lift time</a:t>
              </a:r>
            </a:p>
          </p:txBody>
        </p:sp>
        <p:sp>
          <p:nvSpPr>
            <p:cNvPr id="27" name="Rectangle: Single Corner Rounded 26">
              <a:extLst>
                <a:ext uri="{FF2B5EF4-FFF2-40B4-BE49-F238E27FC236}">
                  <a16:creationId xmlns:a16="http://schemas.microsoft.com/office/drawing/2014/main" id="{066F957B-CCBF-4B34-BFB5-7B0B515664E5}"/>
                </a:ext>
              </a:extLst>
            </p:cNvPr>
            <p:cNvSpPr/>
            <p:nvPr/>
          </p:nvSpPr>
          <p:spPr>
            <a:xfrm>
              <a:off x="4102590" y="258840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Version chain</a:t>
              </a:r>
            </a:p>
          </p:txBody>
        </p:sp>
        <p:sp>
          <p:nvSpPr>
            <p:cNvPr id="28" name="Rectangle: Single Corner Rounded 27">
              <a:extLst>
                <a:ext uri="{FF2B5EF4-FFF2-40B4-BE49-F238E27FC236}">
                  <a16:creationId xmlns:a16="http://schemas.microsoft.com/office/drawing/2014/main" id="{7C0D1A71-B9D4-EABB-B768-08E3801BDABA}"/>
                </a:ext>
              </a:extLst>
            </p:cNvPr>
            <p:cNvSpPr/>
            <p:nvPr/>
          </p:nvSpPr>
          <p:spPr>
            <a:xfrm>
              <a:off x="5170480" y="258840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Wire source ID</a:t>
              </a:r>
            </a:p>
          </p:txBody>
        </p:sp>
        <p:sp>
          <p:nvSpPr>
            <p:cNvPr id="29" name="Rectangle: Single Corner Rounded 28">
              <a:extLst>
                <a:ext uri="{FF2B5EF4-FFF2-40B4-BE49-F238E27FC236}">
                  <a16:creationId xmlns:a16="http://schemas.microsoft.com/office/drawing/2014/main" id="{9CFBAE57-CE78-B662-7239-752009FCC0F1}"/>
                </a:ext>
              </a:extLst>
            </p:cNvPr>
            <p:cNvSpPr/>
            <p:nvPr/>
          </p:nvSpPr>
          <p:spPr>
            <a:xfrm>
              <a:off x="4102590" y="285032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Publish Timestamp</a:t>
              </a:r>
            </a:p>
          </p:txBody>
        </p:sp>
        <p:sp>
          <p:nvSpPr>
            <p:cNvPr id="30" name="Rectangle: Single Corner Rounded 29">
              <a:extLst>
                <a:ext uri="{FF2B5EF4-FFF2-40B4-BE49-F238E27FC236}">
                  <a16:creationId xmlns:a16="http://schemas.microsoft.com/office/drawing/2014/main" id="{B7C063CA-2B1F-14E8-096F-C064D51FB04E}"/>
                </a:ext>
              </a:extLst>
            </p:cNvPr>
            <p:cNvSpPr/>
            <p:nvPr/>
          </p:nvSpPr>
          <p:spPr>
            <a:xfrm>
              <a:off x="5170480" y="285032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Editorial desk assignment</a:t>
              </a:r>
            </a:p>
          </p:txBody>
        </p:sp>
        <p:sp>
          <p:nvSpPr>
            <p:cNvPr id="31" name="Rectangle: Rounded Corners 30">
              <a:extLst>
                <a:ext uri="{FF2B5EF4-FFF2-40B4-BE49-F238E27FC236}">
                  <a16:creationId xmlns:a16="http://schemas.microsoft.com/office/drawing/2014/main" id="{30CE989B-853A-DBE5-34D4-27DEB39D0268}"/>
                </a:ext>
              </a:extLst>
            </p:cNvPr>
            <p:cNvSpPr/>
            <p:nvPr/>
          </p:nvSpPr>
          <p:spPr>
            <a:xfrm>
              <a:off x="4041108"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News Entity &amp; Knowledge Graph</a:t>
              </a:r>
            </a:p>
          </p:txBody>
        </p:sp>
        <p:sp>
          <p:nvSpPr>
            <p:cNvPr id="32" name="Rectangle: Single Corner Rounded 31">
              <a:extLst>
                <a:ext uri="{FF2B5EF4-FFF2-40B4-BE49-F238E27FC236}">
                  <a16:creationId xmlns:a16="http://schemas.microsoft.com/office/drawing/2014/main" id="{2524B879-D1B5-6C28-4E72-8B9CF3964B96}"/>
                </a:ext>
              </a:extLst>
            </p:cNvPr>
            <p:cNvSpPr/>
            <p:nvPr/>
          </p:nvSpPr>
          <p:spPr>
            <a:xfrm>
              <a:off x="4102590"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Named entity recognition output</a:t>
              </a:r>
            </a:p>
          </p:txBody>
        </p:sp>
        <p:sp>
          <p:nvSpPr>
            <p:cNvPr id="33" name="Rectangle: Single Corner Rounded 32">
              <a:extLst>
                <a:ext uri="{FF2B5EF4-FFF2-40B4-BE49-F238E27FC236}">
                  <a16:creationId xmlns:a16="http://schemas.microsoft.com/office/drawing/2014/main" id="{80A05F7F-487D-F462-3C9F-0599A1DC2484}"/>
                </a:ext>
              </a:extLst>
            </p:cNvPr>
            <p:cNvSpPr/>
            <p:nvPr/>
          </p:nvSpPr>
          <p:spPr>
            <a:xfrm>
              <a:off x="5170480"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Sentiment signals</a:t>
              </a:r>
            </a:p>
          </p:txBody>
        </p:sp>
        <p:sp>
          <p:nvSpPr>
            <p:cNvPr id="34" name="Rectangle: Single Corner Rounded 33">
              <a:extLst>
                <a:ext uri="{FF2B5EF4-FFF2-40B4-BE49-F238E27FC236}">
                  <a16:creationId xmlns:a16="http://schemas.microsoft.com/office/drawing/2014/main" id="{1FCF8C81-3D67-078F-08B4-99D897DEB298}"/>
                </a:ext>
              </a:extLst>
            </p:cNvPr>
            <p:cNvSpPr/>
            <p:nvPr/>
          </p:nvSpPr>
          <p:spPr>
            <a:xfrm>
              <a:off x="4102590"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Geotags</a:t>
              </a:r>
            </a:p>
          </p:txBody>
        </p:sp>
        <p:sp>
          <p:nvSpPr>
            <p:cNvPr id="35" name="Rectangle: Single Corner Rounded 34">
              <a:extLst>
                <a:ext uri="{FF2B5EF4-FFF2-40B4-BE49-F238E27FC236}">
                  <a16:creationId xmlns:a16="http://schemas.microsoft.com/office/drawing/2014/main" id="{EB006682-1571-8F8B-651D-24A808AFF13D}"/>
                </a:ext>
              </a:extLst>
            </p:cNvPr>
            <p:cNvSpPr/>
            <p:nvPr/>
          </p:nvSpPr>
          <p:spPr>
            <a:xfrm>
              <a:off x="5170480"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Related story clusters</a:t>
              </a:r>
            </a:p>
          </p:txBody>
        </p:sp>
        <p:sp>
          <p:nvSpPr>
            <p:cNvPr id="36" name="Rectangle: Single Corner Rounded 35">
              <a:extLst>
                <a:ext uri="{FF2B5EF4-FFF2-40B4-BE49-F238E27FC236}">
                  <a16:creationId xmlns:a16="http://schemas.microsoft.com/office/drawing/2014/main" id="{B56F45BC-E10A-6020-8037-D22EFA7AD24E}"/>
                </a:ext>
              </a:extLst>
            </p:cNvPr>
            <p:cNvSpPr/>
            <p:nvPr/>
          </p:nvSpPr>
          <p:spPr>
            <a:xfrm>
              <a:off x="4102590" y="419017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Topic classification</a:t>
              </a:r>
            </a:p>
          </p:txBody>
        </p:sp>
        <p:sp>
          <p:nvSpPr>
            <p:cNvPr id="37" name="Rectangle: Rounded Corners 36">
              <a:extLst>
                <a:ext uri="{FF2B5EF4-FFF2-40B4-BE49-F238E27FC236}">
                  <a16:creationId xmlns:a16="http://schemas.microsoft.com/office/drawing/2014/main" id="{66B9CA05-340A-F939-1849-8C0F5E16D5AF}"/>
                </a:ext>
              </a:extLst>
            </p:cNvPr>
            <p:cNvSpPr/>
            <p:nvPr/>
          </p:nvSpPr>
          <p:spPr>
            <a:xfrm>
              <a:off x="6768686"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Content Catalog</a:t>
              </a:r>
            </a:p>
          </p:txBody>
        </p:sp>
        <p:sp>
          <p:nvSpPr>
            <p:cNvPr id="38" name="Rectangle: Single Corner Rounded 37">
              <a:extLst>
                <a:ext uri="{FF2B5EF4-FFF2-40B4-BE49-F238E27FC236}">
                  <a16:creationId xmlns:a16="http://schemas.microsoft.com/office/drawing/2014/main" id="{AFED8FD8-3C16-B3C4-D30E-FBE1DFA33C6D}"/>
                </a:ext>
              </a:extLst>
            </p:cNvPr>
            <p:cNvSpPr/>
            <p:nvPr/>
          </p:nvSpPr>
          <p:spPr>
            <a:xfrm>
              <a:off x="6830170"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EIDR</a:t>
              </a:r>
            </a:p>
          </p:txBody>
        </p:sp>
        <p:sp>
          <p:nvSpPr>
            <p:cNvPr id="39" name="Rectangle: Single Corner Rounded 38">
              <a:extLst>
                <a:ext uri="{FF2B5EF4-FFF2-40B4-BE49-F238E27FC236}">
                  <a16:creationId xmlns:a16="http://schemas.microsoft.com/office/drawing/2014/main" id="{E3807A5B-024E-E5E9-7F49-C6779C75A428}"/>
                </a:ext>
              </a:extLst>
            </p:cNvPr>
            <p:cNvSpPr/>
            <p:nvPr/>
          </p:nvSpPr>
          <p:spPr>
            <a:xfrm>
              <a:off x="7898059" y="232649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MPAA/BBFC rating</a:t>
              </a:r>
            </a:p>
          </p:txBody>
        </p:sp>
        <p:sp>
          <p:nvSpPr>
            <p:cNvPr id="40" name="Rectangle: Single Corner Rounded 39">
              <a:extLst>
                <a:ext uri="{FF2B5EF4-FFF2-40B4-BE49-F238E27FC236}">
                  <a16:creationId xmlns:a16="http://schemas.microsoft.com/office/drawing/2014/main" id="{79FF4767-0FD3-ECF3-D54A-5DD75D513AFF}"/>
                </a:ext>
              </a:extLst>
            </p:cNvPr>
            <p:cNvSpPr/>
            <p:nvPr/>
          </p:nvSpPr>
          <p:spPr>
            <a:xfrm>
              <a:off x="6830170" y="258840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Series-season-episode hierarchy</a:t>
              </a:r>
            </a:p>
          </p:txBody>
        </p:sp>
        <p:sp>
          <p:nvSpPr>
            <p:cNvPr id="41" name="Rectangle: Single Corner Rounded 40">
              <a:extLst>
                <a:ext uri="{FF2B5EF4-FFF2-40B4-BE49-F238E27FC236}">
                  <a16:creationId xmlns:a16="http://schemas.microsoft.com/office/drawing/2014/main" id="{2B9C053F-8AF9-E088-D88F-E33AFAD43984}"/>
                </a:ext>
              </a:extLst>
            </p:cNvPr>
            <p:cNvSpPr/>
            <p:nvPr/>
          </p:nvSpPr>
          <p:spPr>
            <a:xfrm>
              <a:off x="7898059" y="258840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Content advisory codes</a:t>
              </a:r>
            </a:p>
          </p:txBody>
        </p:sp>
        <p:sp>
          <p:nvSpPr>
            <p:cNvPr id="42" name="Rectangle: Single Corner Rounded 41">
              <a:extLst>
                <a:ext uri="{FF2B5EF4-FFF2-40B4-BE49-F238E27FC236}">
                  <a16:creationId xmlns:a16="http://schemas.microsoft.com/office/drawing/2014/main" id="{823E4254-4C2E-488C-BF63-5D406995E2F9}"/>
                </a:ext>
              </a:extLst>
            </p:cNvPr>
            <p:cNvSpPr/>
            <p:nvPr/>
          </p:nvSpPr>
          <p:spPr>
            <a:xfrm>
              <a:off x="6830170" y="285032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Production credits</a:t>
              </a:r>
            </a:p>
          </p:txBody>
        </p:sp>
        <p:sp>
          <p:nvSpPr>
            <p:cNvPr id="43" name="Rectangle: Single Corner Rounded 42">
              <a:extLst>
                <a:ext uri="{FF2B5EF4-FFF2-40B4-BE49-F238E27FC236}">
                  <a16:creationId xmlns:a16="http://schemas.microsoft.com/office/drawing/2014/main" id="{93F7BC59-0820-0431-4A31-97AB2635AEBF}"/>
                </a:ext>
              </a:extLst>
            </p:cNvPr>
            <p:cNvSpPr/>
            <p:nvPr/>
          </p:nvSpPr>
          <p:spPr>
            <a:xfrm>
              <a:off x="7898059" y="285032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Dubbing/subtitle inventory</a:t>
              </a:r>
            </a:p>
          </p:txBody>
        </p:sp>
        <p:sp>
          <p:nvSpPr>
            <p:cNvPr id="44" name="Rectangle: Rounded Corners 43">
              <a:extLst>
                <a:ext uri="{FF2B5EF4-FFF2-40B4-BE49-F238E27FC236}">
                  <a16:creationId xmlns:a16="http://schemas.microsoft.com/office/drawing/2014/main" id="{10753397-B14C-B63D-8BE3-7A2883198E3A}"/>
                </a:ext>
              </a:extLst>
            </p:cNvPr>
            <p:cNvSpPr/>
            <p:nvPr/>
          </p:nvSpPr>
          <p:spPr>
            <a:xfrm>
              <a:off x="6768686"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Discovery</a:t>
              </a:r>
            </a:p>
          </p:txBody>
        </p:sp>
        <p:sp>
          <p:nvSpPr>
            <p:cNvPr id="45" name="Rectangle: Single Corner Rounded 44">
              <a:extLst>
                <a:ext uri="{FF2B5EF4-FFF2-40B4-BE49-F238E27FC236}">
                  <a16:creationId xmlns:a16="http://schemas.microsoft.com/office/drawing/2014/main" id="{418F2CFA-BCB7-09DA-4688-24FD77A87B70}"/>
                </a:ext>
              </a:extLst>
            </p:cNvPr>
            <p:cNvSpPr/>
            <p:nvPr/>
          </p:nvSpPr>
          <p:spPr>
            <a:xfrm>
              <a:off x="6830170"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Genre taxonomy</a:t>
              </a:r>
            </a:p>
          </p:txBody>
        </p:sp>
        <p:sp>
          <p:nvSpPr>
            <p:cNvPr id="46" name="Rectangle: Single Corner Rounded 45">
              <a:extLst>
                <a:ext uri="{FF2B5EF4-FFF2-40B4-BE49-F238E27FC236}">
                  <a16:creationId xmlns:a16="http://schemas.microsoft.com/office/drawing/2014/main" id="{2641B8B5-3DD7-0E7E-5012-6FE36262BB1D}"/>
                </a:ext>
              </a:extLst>
            </p:cNvPr>
            <p:cNvSpPr/>
            <p:nvPr/>
          </p:nvSpPr>
          <p:spPr>
            <a:xfrm>
              <a:off x="7898059" y="3666342"/>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47" name="Rectangle: Single Corner Rounded 46">
              <a:extLst>
                <a:ext uri="{FF2B5EF4-FFF2-40B4-BE49-F238E27FC236}">
                  <a16:creationId xmlns:a16="http://schemas.microsoft.com/office/drawing/2014/main" id="{922CFF2B-50E5-0E9F-C746-EAB743420A34}"/>
                </a:ext>
              </a:extLst>
            </p:cNvPr>
            <p:cNvSpPr/>
            <p:nvPr/>
          </p:nvSpPr>
          <p:spPr>
            <a:xfrm>
              <a:off x="6830170"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Audience demographic affinity</a:t>
              </a:r>
            </a:p>
          </p:txBody>
        </p:sp>
        <p:sp>
          <p:nvSpPr>
            <p:cNvPr id="48" name="Rectangle: Single Corner Rounded 47">
              <a:extLst>
                <a:ext uri="{FF2B5EF4-FFF2-40B4-BE49-F238E27FC236}">
                  <a16:creationId xmlns:a16="http://schemas.microsoft.com/office/drawing/2014/main" id="{15BF0BF9-7520-0FDC-B8EC-D5358F81B5F7}"/>
                </a:ext>
              </a:extLst>
            </p:cNvPr>
            <p:cNvSpPr/>
            <p:nvPr/>
          </p:nvSpPr>
          <p:spPr>
            <a:xfrm>
              <a:off x="7898059" y="3928256"/>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Franchise relationships</a:t>
              </a:r>
            </a:p>
          </p:txBody>
        </p:sp>
        <p:sp>
          <p:nvSpPr>
            <p:cNvPr id="49" name="Rectangle: Single Corner Rounded 48">
              <a:extLst>
                <a:ext uri="{FF2B5EF4-FFF2-40B4-BE49-F238E27FC236}">
                  <a16:creationId xmlns:a16="http://schemas.microsoft.com/office/drawing/2014/main" id="{3A621E6E-8D68-F5D8-759C-C2C6CA0C30C1}"/>
                </a:ext>
              </a:extLst>
            </p:cNvPr>
            <p:cNvSpPr/>
            <p:nvPr/>
          </p:nvSpPr>
          <p:spPr>
            <a:xfrm>
              <a:off x="6830170" y="4190170"/>
              <a:ext cx="1025053"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Viewing completion signals</a:t>
              </a:r>
            </a:p>
          </p:txBody>
        </p:sp>
        <p:sp>
          <p:nvSpPr>
            <p:cNvPr id="50" name="Rectangle: Rounded Corners 49">
              <a:extLst>
                <a:ext uri="{FF2B5EF4-FFF2-40B4-BE49-F238E27FC236}">
                  <a16:creationId xmlns:a16="http://schemas.microsoft.com/office/drawing/2014/main" id="{496617F9-AA6B-394B-A77C-2E6F96A04ABE}"/>
                </a:ext>
              </a:extLst>
            </p:cNvPr>
            <p:cNvSpPr/>
            <p:nvPr/>
          </p:nvSpPr>
          <p:spPr>
            <a:xfrm>
              <a:off x="1121642" y="4975722"/>
              <a:ext cx="804652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Rights &amp; Compliance</a:t>
              </a:r>
            </a:p>
          </p:txBody>
        </p:sp>
        <p:sp>
          <p:nvSpPr>
            <p:cNvPr id="51" name="Rectangle: Rounded Corners 50">
              <a:extLst>
                <a:ext uri="{FF2B5EF4-FFF2-40B4-BE49-F238E27FC236}">
                  <a16:creationId xmlns:a16="http://schemas.microsoft.com/office/drawing/2014/main" id="{57BB1812-570D-BF42-8EED-C3D9919B0A19}"/>
                </a:ext>
              </a:extLst>
            </p:cNvPr>
            <p:cNvSpPr/>
            <p:nvPr/>
          </p:nvSpPr>
          <p:spPr>
            <a:xfrm>
              <a:off x="1313530"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Rights Agreement</a:t>
              </a:r>
            </a:p>
          </p:txBody>
        </p:sp>
        <p:sp>
          <p:nvSpPr>
            <p:cNvPr id="52" name="Rectangle: Rounded Corners 51">
              <a:extLst>
                <a:ext uri="{FF2B5EF4-FFF2-40B4-BE49-F238E27FC236}">
                  <a16:creationId xmlns:a16="http://schemas.microsoft.com/office/drawing/2014/main" id="{2D831297-E814-42E9-E93F-D51248A40CA5}"/>
                </a:ext>
              </a:extLst>
            </p:cNvPr>
            <p:cNvSpPr/>
            <p:nvPr/>
          </p:nvSpPr>
          <p:spPr>
            <a:xfrm>
              <a:off x="2604724"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Rights Scope</a:t>
              </a:r>
            </a:p>
          </p:txBody>
        </p:sp>
        <p:sp>
          <p:nvSpPr>
            <p:cNvPr id="53" name="Rectangle: Rounded Corners 52">
              <a:extLst>
                <a:ext uri="{FF2B5EF4-FFF2-40B4-BE49-F238E27FC236}">
                  <a16:creationId xmlns:a16="http://schemas.microsoft.com/office/drawing/2014/main" id="{3A8260BB-253A-5CD3-7A6F-868C45F7F69E}"/>
                </a:ext>
              </a:extLst>
            </p:cNvPr>
            <p:cNvSpPr/>
            <p:nvPr/>
          </p:nvSpPr>
          <p:spPr>
            <a:xfrm>
              <a:off x="3895917"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Temporal Window</a:t>
              </a:r>
            </a:p>
          </p:txBody>
        </p:sp>
        <p:sp>
          <p:nvSpPr>
            <p:cNvPr id="54" name="Rectangle: Rounded Corners 53">
              <a:extLst>
                <a:ext uri="{FF2B5EF4-FFF2-40B4-BE49-F238E27FC236}">
                  <a16:creationId xmlns:a16="http://schemas.microsoft.com/office/drawing/2014/main" id="{DD98AB9A-45CA-D490-01C3-2FB6132B8B7E}"/>
                </a:ext>
              </a:extLst>
            </p:cNvPr>
            <p:cNvSpPr/>
            <p:nvPr/>
          </p:nvSpPr>
          <p:spPr>
            <a:xfrm>
              <a:off x="5187112"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Obligations</a:t>
              </a:r>
            </a:p>
          </p:txBody>
        </p:sp>
        <p:sp>
          <p:nvSpPr>
            <p:cNvPr id="55" name="Rectangle: Rounded Corners 54">
              <a:extLst>
                <a:ext uri="{FF2B5EF4-FFF2-40B4-BE49-F238E27FC236}">
                  <a16:creationId xmlns:a16="http://schemas.microsoft.com/office/drawing/2014/main" id="{FD77E9B2-B848-E782-F213-221576C019DB}"/>
                </a:ext>
              </a:extLst>
            </p:cNvPr>
            <p:cNvSpPr/>
            <p:nvPr/>
          </p:nvSpPr>
          <p:spPr>
            <a:xfrm>
              <a:off x="6478306"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Compliance &amp; Audit</a:t>
              </a:r>
            </a:p>
          </p:txBody>
        </p:sp>
        <p:sp>
          <p:nvSpPr>
            <p:cNvPr id="56" name="Rectangle: Rounded Corners 55">
              <a:extLst>
                <a:ext uri="{FF2B5EF4-FFF2-40B4-BE49-F238E27FC236}">
                  <a16:creationId xmlns:a16="http://schemas.microsoft.com/office/drawing/2014/main" id="{90ED6B9E-644D-94BE-BFBC-B3748BE1C6E3}"/>
                </a:ext>
              </a:extLst>
            </p:cNvPr>
            <p:cNvSpPr/>
            <p:nvPr/>
          </p:nvSpPr>
          <p:spPr>
            <a:xfrm>
              <a:off x="7769499"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Vertical Extension</a:t>
              </a:r>
            </a:p>
          </p:txBody>
        </p:sp>
        <p:sp>
          <p:nvSpPr>
            <p:cNvPr id="57" name="Rectangle: Rounded Corners 56">
              <a:extLst>
                <a:ext uri="{FF2B5EF4-FFF2-40B4-BE49-F238E27FC236}">
                  <a16:creationId xmlns:a16="http://schemas.microsoft.com/office/drawing/2014/main" id="{0A4A546B-C2BB-99AD-9962-0E65CB32CFFE}"/>
                </a:ext>
              </a:extLst>
            </p:cNvPr>
            <p:cNvSpPr/>
            <p:nvPr/>
          </p:nvSpPr>
          <p:spPr>
            <a:xfrm>
              <a:off x="1121642" y="5842539"/>
              <a:ext cx="804652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Distribution</a:t>
              </a:r>
            </a:p>
          </p:txBody>
        </p:sp>
        <p:sp>
          <p:nvSpPr>
            <p:cNvPr id="58" name="Rectangle: Rounded Corners 57">
              <a:extLst>
                <a:ext uri="{FF2B5EF4-FFF2-40B4-BE49-F238E27FC236}">
                  <a16:creationId xmlns:a16="http://schemas.microsoft.com/office/drawing/2014/main" id="{69D488D3-C601-3F97-CF2D-661A9781A5AA}"/>
                </a:ext>
              </a:extLst>
            </p:cNvPr>
            <p:cNvSpPr/>
            <p:nvPr/>
          </p:nvSpPr>
          <p:spPr>
            <a:xfrm>
              <a:off x="1313529"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a:r>
                <a:rPr lang="en-US" sz="800">
                  <a:solidFill>
                    <a:schemeClr val="bg1"/>
                  </a:solidFill>
                </a:rPr>
                <a:t>Channel &amp; Platform Registry</a:t>
              </a:r>
            </a:p>
          </p:txBody>
        </p:sp>
        <p:sp>
          <p:nvSpPr>
            <p:cNvPr id="59" name="Rectangle: Rounded Corners 58">
              <a:extLst>
                <a:ext uri="{FF2B5EF4-FFF2-40B4-BE49-F238E27FC236}">
                  <a16:creationId xmlns:a16="http://schemas.microsoft.com/office/drawing/2014/main" id="{290B7C72-9DD3-1634-B81C-0CA32CB25E28}"/>
                </a:ext>
              </a:extLst>
            </p:cNvPr>
            <p:cNvSpPr/>
            <p:nvPr/>
          </p:nvSpPr>
          <p:spPr>
            <a:xfrm>
              <a:off x="2869603"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Scheduling &amp; Slots</a:t>
              </a:r>
            </a:p>
          </p:txBody>
        </p:sp>
        <p:sp>
          <p:nvSpPr>
            <p:cNvPr id="60" name="Rectangle: Rounded Corners 59">
              <a:extLst>
                <a:ext uri="{FF2B5EF4-FFF2-40B4-BE49-F238E27FC236}">
                  <a16:creationId xmlns:a16="http://schemas.microsoft.com/office/drawing/2014/main" id="{F8923C14-04A4-B694-DE02-B5A111562D18}"/>
                </a:ext>
              </a:extLst>
            </p:cNvPr>
            <p:cNvSpPr/>
            <p:nvPr/>
          </p:nvSpPr>
          <p:spPr>
            <a:xfrm>
              <a:off x="4425678"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VOD Publication</a:t>
              </a:r>
            </a:p>
          </p:txBody>
        </p:sp>
        <p:sp>
          <p:nvSpPr>
            <p:cNvPr id="61" name="Rectangle: Rounded Corners 60">
              <a:extLst>
                <a:ext uri="{FF2B5EF4-FFF2-40B4-BE49-F238E27FC236}">
                  <a16:creationId xmlns:a16="http://schemas.microsoft.com/office/drawing/2014/main" id="{2C7CA61A-C2BA-A4B1-BD96-8FCAC8E694CE}"/>
                </a:ext>
              </a:extLst>
            </p:cNvPr>
            <p:cNvSpPr/>
            <p:nvPr/>
          </p:nvSpPr>
          <p:spPr>
            <a:xfrm>
              <a:off x="5981752"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Performance</a:t>
              </a:r>
            </a:p>
          </p:txBody>
        </p:sp>
        <p:sp>
          <p:nvSpPr>
            <p:cNvPr id="62" name="Rectangle: Rounded Corners 61">
              <a:extLst>
                <a:ext uri="{FF2B5EF4-FFF2-40B4-BE49-F238E27FC236}">
                  <a16:creationId xmlns:a16="http://schemas.microsoft.com/office/drawing/2014/main" id="{06D5EEDA-6493-DBFB-1E2A-85786D3BF22C}"/>
                </a:ext>
              </a:extLst>
            </p:cNvPr>
            <p:cNvSpPr/>
            <p:nvPr/>
          </p:nvSpPr>
          <p:spPr>
            <a:xfrm>
              <a:off x="7537827"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a:r>
                <a:rPr lang="en-US" sz="800">
                  <a:solidFill>
                    <a:schemeClr val="bg1"/>
                  </a:solidFill>
                </a:rPr>
                <a:t>Technical Delivery &amp; Quality</a:t>
              </a:r>
            </a:p>
          </p:txBody>
        </p:sp>
        <p:grpSp>
          <p:nvGrpSpPr>
            <p:cNvPr id="63" name="Group 62">
              <a:extLst>
                <a:ext uri="{FF2B5EF4-FFF2-40B4-BE49-F238E27FC236}">
                  <a16:creationId xmlns:a16="http://schemas.microsoft.com/office/drawing/2014/main" id="{B3971198-011B-6FA9-FFCD-9E38C64B9305}"/>
                </a:ext>
              </a:extLst>
            </p:cNvPr>
            <p:cNvGrpSpPr/>
            <p:nvPr/>
          </p:nvGrpSpPr>
          <p:grpSpPr>
            <a:xfrm>
              <a:off x="9537787" y="1719072"/>
              <a:ext cx="1646651" cy="951103"/>
              <a:chOff x="9528175" y="1719072"/>
              <a:chExt cx="1654176" cy="951103"/>
            </a:xfrm>
          </p:grpSpPr>
          <p:sp>
            <p:nvSpPr>
              <p:cNvPr id="64" name="Rectangle: Rounded Corners 63">
                <a:extLst>
                  <a:ext uri="{FF2B5EF4-FFF2-40B4-BE49-F238E27FC236}">
                    <a16:creationId xmlns:a16="http://schemas.microsoft.com/office/drawing/2014/main" id="{FB04E6D4-B497-CCE1-80BD-34A55A041CBF}"/>
                  </a:ext>
                </a:extLst>
              </p:cNvPr>
              <p:cNvSpPr/>
              <p:nvPr/>
            </p:nvSpPr>
            <p:spPr>
              <a:xfrm>
                <a:off x="9528175" y="1719072"/>
                <a:ext cx="1654176" cy="951103"/>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Identity &amp; Reference</a:t>
                </a:r>
              </a:p>
            </p:txBody>
          </p:sp>
          <p:sp>
            <p:nvSpPr>
              <p:cNvPr id="65" name="Rectangle: Rounded Corners 64">
                <a:extLst>
                  <a:ext uri="{FF2B5EF4-FFF2-40B4-BE49-F238E27FC236}">
                    <a16:creationId xmlns:a16="http://schemas.microsoft.com/office/drawing/2014/main" id="{96E60B4A-BCE9-93DB-B5C4-2BF1F2CF3231}"/>
                  </a:ext>
                </a:extLst>
              </p:cNvPr>
              <p:cNvSpPr/>
              <p:nvPr/>
            </p:nvSpPr>
            <p:spPr>
              <a:xfrm>
                <a:off x="9604395" y="1973194"/>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Content Identity</a:t>
                </a:r>
              </a:p>
            </p:txBody>
          </p:sp>
          <p:sp>
            <p:nvSpPr>
              <p:cNvPr id="66" name="Rectangle: Rounded Corners 65">
                <a:extLst>
                  <a:ext uri="{FF2B5EF4-FFF2-40B4-BE49-F238E27FC236}">
                    <a16:creationId xmlns:a16="http://schemas.microsoft.com/office/drawing/2014/main" id="{60050F84-080B-B54F-8DB7-E3F534B5CEDF}"/>
                  </a:ext>
                </a:extLst>
              </p:cNvPr>
              <p:cNvSpPr/>
              <p:nvPr/>
            </p:nvSpPr>
            <p:spPr>
              <a:xfrm>
                <a:off x="9604395" y="230969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Cross-Domain Reference</a:t>
                </a:r>
              </a:p>
            </p:txBody>
          </p:sp>
        </p:grpSp>
        <p:grpSp>
          <p:nvGrpSpPr>
            <p:cNvPr id="67" name="Group 66">
              <a:extLst>
                <a:ext uri="{FF2B5EF4-FFF2-40B4-BE49-F238E27FC236}">
                  <a16:creationId xmlns:a16="http://schemas.microsoft.com/office/drawing/2014/main" id="{E88E89A2-0DF2-50AA-1541-B21C1E1979C4}"/>
                </a:ext>
              </a:extLst>
            </p:cNvPr>
            <p:cNvGrpSpPr/>
            <p:nvPr/>
          </p:nvGrpSpPr>
          <p:grpSpPr>
            <a:xfrm>
              <a:off x="9537787" y="2877160"/>
              <a:ext cx="1646651" cy="2081102"/>
              <a:chOff x="9528175" y="2831258"/>
              <a:chExt cx="1654176" cy="2081102"/>
            </a:xfrm>
          </p:grpSpPr>
          <p:sp>
            <p:nvSpPr>
              <p:cNvPr id="68" name="Rectangle: Rounded Corners 67">
                <a:extLst>
                  <a:ext uri="{FF2B5EF4-FFF2-40B4-BE49-F238E27FC236}">
                    <a16:creationId xmlns:a16="http://schemas.microsoft.com/office/drawing/2014/main" id="{32E8FA58-03F8-0244-7893-EE9217699603}"/>
                  </a:ext>
                </a:extLst>
              </p:cNvPr>
              <p:cNvSpPr/>
              <p:nvPr/>
            </p:nvSpPr>
            <p:spPr>
              <a:xfrm>
                <a:off x="9528175" y="2831258"/>
                <a:ext cx="1654176" cy="208110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Derived Discovery</a:t>
                </a:r>
              </a:p>
            </p:txBody>
          </p:sp>
          <p:sp>
            <p:nvSpPr>
              <p:cNvPr id="69" name="Rectangle: Rounded Corners 68">
                <a:extLst>
                  <a:ext uri="{FF2B5EF4-FFF2-40B4-BE49-F238E27FC236}">
                    <a16:creationId xmlns:a16="http://schemas.microsoft.com/office/drawing/2014/main" id="{A0600F2E-9DB1-C4D6-419C-CB2148DF80A3}"/>
                  </a:ext>
                </a:extLst>
              </p:cNvPr>
              <p:cNvSpPr/>
              <p:nvPr/>
            </p:nvSpPr>
            <p:spPr>
              <a:xfrm>
                <a:off x="9604395" y="3085381"/>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Descriptive Metadata</a:t>
                </a:r>
              </a:p>
            </p:txBody>
          </p:sp>
          <p:sp>
            <p:nvSpPr>
              <p:cNvPr id="70" name="Rectangle: Rounded Corners 69">
                <a:extLst>
                  <a:ext uri="{FF2B5EF4-FFF2-40B4-BE49-F238E27FC236}">
                    <a16:creationId xmlns:a16="http://schemas.microsoft.com/office/drawing/2014/main" id="{210EB105-1ACC-9E6C-F12D-B2809CAAC77B}"/>
                  </a:ext>
                </a:extLst>
              </p:cNvPr>
              <p:cNvSpPr/>
              <p:nvPr/>
            </p:nvSpPr>
            <p:spPr>
              <a:xfrm>
                <a:off x="9604395" y="3447950"/>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Taxonomy &amp; Classification</a:t>
                </a:r>
              </a:p>
            </p:txBody>
          </p:sp>
          <p:sp>
            <p:nvSpPr>
              <p:cNvPr id="71" name="Rectangle: Rounded Corners 70">
                <a:extLst>
                  <a:ext uri="{FF2B5EF4-FFF2-40B4-BE49-F238E27FC236}">
                    <a16:creationId xmlns:a16="http://schemas.microsoft.com/office/drawing/2014/main" id="{E02DF0BA-ACA3-2656-188D-12A523108B33}"/>
                  </a:ext>
                </a:extLst>
              </p:cNvPr>
              <p:cNvSpPr/>
              <p:nvPr/>
            </p:nvSpPr>
            <p:spPr>
              <a:xfrm>
                <a:off x="9604395" y="381051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Availability Summary</a:t>
                </a:r>
              </a:p>
            </p:txBody>
          </p:sp>
          <p:sp>
            <p:nvSpPr>
              <p:cNvPr id="72" name="Rectangle: Rounded Corners 71">
                <a:extLst>
                  <a:ext uri="{FF2B5EF4-FFF2-40B4-BE49-F238E27FC236}">
                    <a16:creationId xmlns:a16="http://schemas.microsoft.com/office/drawing/2014/main" id="{5C7C27F1-AC9D-C6CE-A623-3020A15ABB0F}"/>
                  </a:ext>
                </a:extLst>
              </p:cNvPr>
              <p:cNvSpPr/>
              <p:nvPr/>
            </p:nvSpPr>
            <p:spPr>
              <a:xfrm>
                <a:off x="9604395" y="4173088"/>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Search &amp; Relevance</a:t>
                </a:r>
              </a:p>
            </p:txBody>
          </p:sp>
          <p:sp>
            <p:nvSpPr>
              <p:cNvPr id="73" name="Rectangle: Rounded Corners 72">
                <a:extLst>
                  <a:ext uri="{FF2B5EF4-FFF2-40B4-BE49-F238E27FC236}">
                    <a16:creationId xmlns:a16="http://schemas.microsoft.com/office/drawing/2014/main" id="{FD6355D9-539F-2DB8-857B-1B3819CA4D39}"/>
                  </a:ext>
                </a:extLst>
              </p:cNvPr>
              <p:cNvSpPr/>
              <p:nvPr/>
            </p:nvSpPr>
            <p:spPr>
              <a:xfrm>
                <a:off x="9604395" y="4535657"/>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Asset Technical Summary</a:t>
                </a:r>
              </a:p>
            </p:txBody>
          </p:sp>
        </p:grpSp>
        <p:grpSp>
          <p:nvGrpSpPr>
            <p:cNvPr id="74" name="Group 73">
              <a:extLst>
                <a:ext uri="{FF2B5EF4-FFF2-40B4-BE49-F238E27FC236}">
                  <a16:creationId xmlns:a16="http://schemas.microsoft.com/office/drawing/2014/main" id="{29A1FDE6-3A4D-6E5A-E10F-B785AC1B6E70}"/>
                </a:ext>
              </a:extLst>
            </p:cNvPr>
            <p:cNvGrpSpPr/>
            <p:nvPr/>
          </p:nvGrpSpPr>
          <p:grpSpPr>
            <a:xfrm>
              <a:off x="9537787" y="5165247"/>
              <a:ext cx="1646651" cy="1294390"/>
              <a:chOff x="9528175" y="5165247"/>
              <a:chExt cx="1654176" cy="1294390"/>
            </a:xfrm>
          </p:grpSpPr>
          <p:sp>
            <p:nvSpPr>
              <p:cNvPr id="75" name="Rectangle: Rounded Corners 74">
                <a:extLst>
                  <a:ext uri="{FF2B5EF4-FFF2-40B4-BE49-F238E27FC236}">
                    <a16:creationId xmlns:a16="http://schemas.microsoft.com/office/drawing/2014/main" id="{F6DA5CC4-8FA0-FF76-806F-E8BE1B529DD6}"/>
                  </a:ext>
                </a:extLst>
              </p:cNvPr>
              <p:cNvSpPr/>
              <p:nvPr/>
            </p:nvSpPr>
            <p:spPr>
              <a:xfrm>
                <a:off x="9528175" y="5165247"/>
                <a:ext cx="1654176" cy="129439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Operational</a:t>
                </a:r>
              </a:p>
            </p:txBody>
          </p:sp>
          <p:sp>
            <p:nvSpPr>
              <p:cNvPr id="76" name="Rectangle: Rounded Corners 75">
                <a:extLst>
                  <a:ext uri="{FF2B5EF4-FFF2-40B4-BE49-F238E27FC236}">
                    <a16:creationId xmlns:a16="http://schemas.microsoft.com/office/drawing/2014/main" id="{3755258F-2C08-A669-618B-041FF9C3C231}"/>
                  </a:ext>
                </a:extLst>
              </p:cNvPr>
              <p:cNvSpPr/>
              <p:nvPr/>
            </p:nvSpPr>
            <p:spPr>
              <a:xfrm>
                <a:off x="9604395" y="541936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Ingestion &amp; Lineage</a:t>
                </a:r>
              </a:p>
            </p:txBody>
          </p:sp>
          <p:sp>
            <p:nvSpPr>
              <p:cNvPr id="77" name="Rectangle: Rounded Corners 76">
                <a:extLst>
                  <a:ext uri="{FF2B5EF4-FFF2-40B4-BE49-F238E27FC236}">
                    <a16:creationId xmlns:a16="http://schemas.microsoft.com/office/drawing/2014/main" id="{CDA479BD-BCFC-8BA4-CCA0-79572C5F4E56}"/>
                  </a:ext>
                </a:extLst>
              </p:cNvPr>
              <p:cNvSpPr/>
              <p:nvPr/>
            </p:nvSpPr>
            <p:spPr>
              <a:xfrm>
                <a:off x="9604395" y="5759212"/>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Data Quality</a:t>
                </a:r>
              </a:p>
            </p:txBody>
          </p:sp>
          <p:sp>
            <p:nvSpPr>
              <p:cNvPr id="78" name="Rectangle: Rounded Corners 77">
                <a:extLst>
                  <a:ext uri="{FF2B5EF4-FFF2-40B4-BE49-F238E27FC236}">
                    <a16:creationId xmlns:a16="http://schemas.microsoft.com/office/drawing/2014/main" id="{DD9C7665-A418-3810-8A93-33422D83F9F2}"/>
                  </a:ext>
                </a:extLst>
              </p:cNvPr>
              <p:cNvSpPr/>
              <p:nvPr/>
            </p:nvSpPr>
            <p:spPr>
              <a:xfrm>
                <a:off x="9604395" y="6099055"/>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Entity Resolution</a:t>
                </a:r>
              </a:p>
            </p:txBody>
          </p:sp>
        </p:grpSp>
        <p:grpSp>
          <p:nvGrpSpPr>
            <p:cNvPr id="79" name="Group 78">
              <a:extLst>
                <a:ext uri="{FF2B5EF4-FFF2-40B4-BE49-F238E27FC236}">
                  <a16:creationId xmlns:a16="http://schemas.microsoft.com/office/drawing/2014/main" id="{E8CE96CC-38C4-97E3-196D-1EBE416C4487}"/>
                </a:ext>
              </a:extLst>
            </p:cNvPr>
            <p:cNvGrpSpPr/>
            <p:nvPr/>
          </p:nvGrpSpPr>
          <p:grpSpPr>
            <a:xfrm>
              <a:off x="8897829" y="1174438"/>
              <a:ext cx="2742787" cy="123110"/>
              <a:chOff x="6733117" y="1174438"/>
              <a:chExt cx="2742787" cy="123110"/>
            </a:xfrm>
          </p:grpSpPr>
          <p:sp>
            <p:nvSpPr>
              <p:cNvPr id="80" name="Rectangle: Rounded Corners 79">
                <a:extLst>
                  <a:ext uri="{FF2B5EF4-FFF2-40B4-BE49-F238E27FC236}">
                    <a16:creationId xmlns:a16="http://schemas.microsoft.com/office/drawing/2014/main" id="{30724019-75AB-0B20-F087-CA9909F906B8}"/>
                  </a:ext>
                </a:extLst>
              </p:cNvPr>
              <p:cNvSpPr/>
              <p:nvPr/>
            </p:nvSpPr>
            <p:spPr>
              <a:xfrm>
                <a:off x="7154449" y="1174438"/>
                <a:ext cx="748312" cy="123110"/>
              </a:xfrm>
              <a:prstGeom prst="roundRect">
                <a:avLst>
                  <a:gd name="adj" fmla="val 26983"/>
                </a:avLst>
              </a:prstGeom>
              <a:solidFill>
                <a:srgbClr val="D2F1FC"/>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Domain</a:t>
                </a:r>
              </a:p>
            </p:txBody>
          </p:sp>
          <p:sp>
            <p:nvSpPr>
              <p:cNvPr id="81" name="Rectangle: Rounded Corners 80">
                <a:extLst>
                  <a:ext uri="{FF2B5EF4-FFF2-40B4-BE49-F238E27FC236}">
                    <a16:creationId xmlns:a16="http://schemas.microsoft.com/office/drawing/2014/main" id="{F75B6462-31B0-0B24-AE2F-E75DDFCFA994}"/>
                  </a:ext>
                </a:extLst>
              </p:cNvPr>
              <p:cNvSpPr/>
              <p:nvPr/>
            </p:nvSpPr>
            <p:spPr>
              <a:xfrm>
                <a:off x="7941021" y="1174438"/>
                <a:ext cx="748312" cy="123110"/>
              </a:xfrm>
              <a:prstGeom prst="roundRect">
                <a:avLst>
                  <a:gd name="adj" fmla="val 2698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Metadata store</a:t>
                </a:r>
              </a:p>
            </p:txBody>
          </p:sp>
          <p:sp>
            <p:nvSpPr>
              <p:cNvPr id="82" name="Rectangle: Single Corner Rounded 81">
                <a:extLst>
                  <a:ext uri="{FF2B5EF4-FFF2-40B4-BE49-F238E27FC236}">
                    <a16:creationId xmlns:a16="http://schemas.microsoft.com/office/drawing/2014/main" id="{6C82A175-E0BA-50AF-A47F-8DEC70A4DD34}"/>
                  </a:ext>
                </a:extLst>
              </p:cNvPr>
              <p:cNvSpPr/>
              <p:nvPr/>
            </p:nvSpPr>
            <p:spPr>
              <a:xfrm>
                <a:off x="8727592" y="1174438"/>
                <a:ext cx="748312" cy="123110"/>
              </a:xfrm>
              <a:prstGeom prst="round1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tx1">
                        <a:lumMod val="50000"/>
                        <a:lumOff val="50000"/>
                      </a:schemeClr>
                    </a:solidFill>
                  </a:rPr>
                  <a:t>Metadata</a:t>
                </a:r>
              </a:p>
            </p:txBody>
          </p:sp>
          <p:sp>
            <p:nvSpPr>
              <p:cNvPr id="83" name="Rectangle: Rounded Corners 82">
                <a:extLst>
                  <a:ext uri="{FF2B5EF4-FFF2-40B4-BE49-F238E27FC236}">
                    <a16:creationId xmlns:a16="http://schemas.microsoft.com/office/drawing/2014/main" id="{0D4F8077-C3F1-B0E9-8B10-A4C7A7F9EFB0}"/>
                  </a:ext>
                </a:extLst>
              </p:cNvPr>
              <p:cNvSpPr/>
              <p:nvPr/>
            </p:nvSpPr>
            <p:spPr>
              <a:xfrm>
                <a:off x="6733117" y="1174438"/>
                <a:ext cx="352143" cy="123110"/>
              </a:xfrm>
              <a:prstGeom prst="roundRect">
                <a:avLst>
                  <a:gd name="adj" fmla="val 26983"/>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r"/>
                <a:r>
                  <a:rPr lang="en-US" sz="700">
                    <a:solidFill>
                      <a:schemeClr val="tx1"/>
                    </a:solidFill>
                  </a:rPr>
                  <a:t>Legend:</a:t>
                </a:r>
              </a:p>
            </p:txBody>
          </p:sp>
        </p:grpSp>
        <p:grpSp>
          <p:nvGrpSpPr>
            <p:cNvPr id="84" name="Group 83">
              <a:extLst>
                <a:ext uri="{FF2B5EF4-FFF2-40B4-BE49-F238E27FC236}">
                  <a16:creationId xmlns:a16="http://schemas.microsoft.com/office/drawing/2014/main" id="{6AAF8AEB-49E0-BB4C-CF42-2BB099C337A9}"/>
                </a:ext>
              </a:extLst>
            </p:cNvPr>
            <p:cNvGrpSpPr/>
            <p:nvPr/>
          </p:nvGrpSpPr>
          <p:grpSpPr>
            <a:xfrm>
              <a:off x="780177" y="3851600"/>
              <a:ext cx="237742" cy="221637"/>
              <a:chOff x="2609335" y="3905063"/>
              <a:chExt cx="477260" cy="477260"/>
            </a:xfrm>
          </p:grpSpPr>
          <p:sp>
            <p:nvSpPr>
              <p:cNvPr id="85" name="Oval 84">
                <a:extLst>
                  <a:ext uri="{FF2B5EF4-FFF2-40B4-BE49-F238E27FC236}">
                    <a16:creationId xmlns:a16="http://schemas.microsoft.com/office/drawing/2014/main" id="{44B3B493-06E0-2625-E32B-69AEFFA3CF57}"/>
                  </a:ext>
                </a:extLst>
              </p:cNvPr>
              <p:cNvSpPr/>
              <p:nvPr/>
            </p:nvSpPr>
            <p:spPr>
              <a:xfrm>
                <a:off x="2609335" y="3905063"/>
                <a:ext cx="477260" cy="47726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6" name="Arrow: Right 85">
                <a:extLst>
                  <a:ext uri="{FF2B5EF4-FFF2-40B4-BE49-F238E27FC236}">
                    <a16:creationId xmlns:a16="http://schemas.microsoft.com/office/drawing/2014/main" id="{AA8EAECD-641F-2C77-B92A-FE73C28B55BF}"/>
                  </a:ext>
                </a:extLst>
              </p:cNvPr>
              <p:cNvSpPr/>
              <p:nvPr/>
            </p:nvSpPr>
            <p:spPr>
              <a:xfrm>
                <a:off x="2688198" y="4019446"/>
                <a:ext cx="319534" cy="248494"/>
              </a:xfrm>
              <a:prstGeom prs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87" name="Group 86">
              <a:extLst>
                <a:ext uri="{FF2B5EF4-FFF2-40B4-BE49-F238E27FC236}">
                  <a16:creationId xmlns:a16="http://schemas.microsoft.com/office/drawing/2014/main" id="{90A33D18-6526-07BE-5916-DA11A8891FD2}"/>
                </a:ext>
              </a:extLst>
            </p:cNvPr>
            <p:cNvGrpSpPr/>
            <p:nvPr/>
          </p:nvGrpSpPr>
          <p:grpSpPr>
            <a:xfrm>
              <a:off x="9256714" y="3851600"/>
              <a:ext cx="237742" cy="221637"/>
              <a:chOff x="5018954" y="3752147"/>
              <a:chExt cx="381020" cy="381020"/>
            </a:xfrm>
          </p:grpSpPr>
          <p:sp>
            <p:nvSpPr>
              <p:cNvPr id="88" name="Oval 87">
                <a:extLst>
                  <a:ext uri="{FF2B5EF4-FFF2-40B4-BE49-F238E27FC236}">
                    <a16:creationId xmlns:a16="http://schemas.microsoft.com/office/drawing/2014/main" id="{1ADC5296-FBDD-0A66-1DFE-C2429939FEA3}"/>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9" name="Arrow: Left-Right 88">
                <a:extLst>
                  <a:ext uri="{FF2B5EF4-FFF2-40B4-BE49-F238E27FC236}">
                    <a16:creationId xmlns:a16="http://schemas.microsoft.com/office/drawing/2014/main" id="{AAB9FBBE-EFAE-8B56-F42B-FADE2CA46CA0}"/>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90" name="Group 89">
              <a:extLst>
                <a:ext uri="{FF2B5EF4-FFF2-40B4-BE49-F238E27FC236}">
                  <a16:creationId xmlns:a16="http://schemas.microsoft.com/office/drawing/2014/main" id="{F2E0EB6B-80D5-7A8A-5A5F-0A1087F150EC}"/>
                </a:ext>
              </a:extLst>
            </p:cNvPr>
            <p:cNvGrpSpPr/>
            <p:nvPr/>
          </p:nvGrpSpPr>
          <p:grpSpPr>
            <a:xfrm>
              <a:off x="11209350" y="3851600"/>
              <a:ext cx="237742" cy="221637"/>
              <a:chOff x="5018954" y="3752147"/>
              <a:chExt cx="381020" cy="381020"/>
            </a:xfrm>
          </p:grpSpPr>
          <p:sp>
            <p:nvSpPr>
              <p:cNvPr id="91" name="Oval 90">
                <a:extLst>
                  <a:ext uri="{FF2B5EF4-FFF2-40B4-BE49-F238E27FC236}">
                    <a16:creationId xmlns:a16="http://schemas.microsoft.com/office/drawing/2014/main" id="{651183CD-7902-4F7B-CBD0-8C336709A2A5}"/>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92" name="Arrow: Left-Right 91">
                <a:extLst>
                  <a:ext uri="{FF2B5EF4-FFF2-40B4-BE49-F238E27FC236}">
                    <a16:creationId xmlns:a16="http://schemas.microsoft.com/office/drawing/2014/main" id="{380B3D2B-CF02-AD40-983C-EDCCF7A03177}"/>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sp>
        <p:nvSpPr>
          <p:cNvPr id="95" name="Rectangle 94">
            <a:extLst>
              <a:ext uri="{FF2B5EF4-FFF2-40B4-BE49-F238E27FC236}">
                <a16:creationId xmlns:a16="http://schemas.microsoft.com/office/drawing/2014/main" id="{5BE11A09-E702-E835-8F9A-14B09665D42A}"/>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CONTENT DOMAINS</a:t>
            </a:r>
          </a:p>
        </p:txBody>
      </p:sp>
      <p:pic>
        <p:nvPicPr>
          <p:cNvPr id="97" name="Graphic 96" descr="Circle with left arrow outline">
            <a:hlinkClick r:id="rId2" action="ppaction://hlinksldjump"/>
            <a:extLst>
              <a:ext uri="{FF2B5EF4-FFF2-40B4-BE49-F238E27FC236}">
                <a16:creationId xmlns:a16="http://schemas.microsoft.com/office/drawing/2014/main" id="{CAE2E8FA-427E-35D1-CB69-4B481790A7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78341" y="512709"/>
            <a:ext cx="288296" cy="288296"/>
          </a:xfrm>
          <a:prstGeom prst="rect">
            <a:avLst/>
          </a:prstGeom>
        </p:spPr>
      </p:pic>
      <p:grpSp>
        <p:nvGrpSpPr>
          <p:cNvPr id="93" name="Group 92">
            <a:extLst>
              <a:ext uri="{FF2B5EF4-FFF2-40B4-BE49-F238E27FC236}">
                <a16:creationId xmlns:a16="http://schemas.microsoft.com/office/drawing/2014/main" id="{8F7B948D-2F84-E231-FBDD-FD86AB5A3021}"/>
              </a:ext>
            </a:extLst>
          </p:cNvPr>
          <p:cNvGrpSpPr/>
          <p:nvPr/>
        </p:nvGrpSpPr>
        <p:grpSpPr>
          <a:xfrm>
            <a:off x="9677400" y="93608"/>
            <a:ext cx="1911487" cy="178532"/>
            <a:chOff x="10704512" y="620688"/>
            <a:chExt cx="884375" cy="250540"/>
          </a:xfrm>
        </p:grpSpPr>
        <p:sp>
          <p:nvSpPr>
            <p:cNvPr id="94" name="Rectangle 93">
              <a:extLst>
                <a:ext uri="{FF2B5EF4-FFF2-40B4-BE49-F238E27FC236}">
                  <a16:creationId xmlns:a16="http://schemas.microsoft.com/office/drawing/2014/main" id="{9D8B9ACA-D8F2-7D83-2697-E6F51BE89D7E}"/>
                </a:ext>
              </a:extLst>
            </p:cNvPr>
            <p:cNvSpPr/>
            <p:nvPr/>
          </p:nvSpPr>
          <p:spPr>
            <a:xfrm>
              <a:off x="10725532" y="620688"/>
              <a:ext cx="863355" cy="2505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solidFill>
                </a:rPr>
                <a:t>NON-EXHAUSTIVE METADATA</a:t>
              </a:r>
            </a:p>
          </p:txBody>
        </p:sp>
        <p:cxnSp>
          <p:nvCxnSpPr>
            <p:cNvPr id="96" name="Straight Connector 95">
              <a:extLst>
                <a:ext uri="{FF2B5EF4-FFF2-40B4-BE49-F238E27FC236}">
                  <a16:creationId xmlns:a16="http://schemas.microsoft.com/office/drawing/2014/main" id="{442F3547-3943-5DD2-D156-B76764C3C3FA}"/>
                </a:ext>
              </a:extLst>
            </p:cNvPr>
            <p:cNvCxnSpPr>
              <a:cxnSpLocks/>
            </p:cNvCxnSpPr>
            <p:nvPr/>
          </p:nvCxnSpPr>
          <p:spPr>
            <a:xfrm>
              <a:off x="10704512" y="871228"/>
              <a:ext cx="88437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4259F81-1BF3-189B-48F5-9682093BDED0}"/>
                </a:ext>
              </a:extLst>
            </p:cNvPr>
            <p:cNvCxnSpPr/>
            <p:nvPr/>
          </p:nvCxnSpPr>
          <p:spPr>
            <a:xfrm>
              <a:off x="10709274" y="620688"/>
              <a:ext cx="0" cy="25054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99" name="Rectangle 98">
            <a:extLst>
              <a:ext uri="{FF2B5EF4-FFF2-40B4-BE49-F238E27FC236}">
                <a16:creationId xmlns:a16="http://schemas.microsoft.com/office/drawing/2014/main" id="{1D03AD9E-8705-1176-2E5B-AF08E19DFA77}"/>
              </a:ext>
            </a:extLst>
          </p:cNvPr>
          <p:cNvSpPr/>
          <p:nvPr/>
        </p:nvSpPr>
        <p:spPr>
          <a:xfrm>
            <a:off x="11165429" y="595302"/>
            <a:ext cx="703312" cy="1231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Description</a:t>
            </a:r>
          </a:p>
        </p:txBody>
      </p:sp>
    </p:spTree>
    <p:extLst>
      <p:ext uri="{BB962C8B-B14F-4D97-AF65-F5344CB8AC3E}">
        <p14:creationId xmlns:p14="http://schemas.microsoft.com/office/powerpoint/2010/main" val="871469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1461-0EF6-33B2-909B-0FD5093E250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34B83A5-8786-300D-AEE3-56ADC43EA5A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6E5F069-FEEF-BC78-C51C-512F5291865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F3CDCFE7-B2A5-E63D-E93F-1CD591A03E9C}"/>
              </a:ext>
            </a:extLst>
          </p:cNvPr>
          <p:cNvSpPr>
            <a:spLocks noGrp="1"/>
          </p:cNvSpPr>
          <p:nvPr>
            <p:ph type="sldNum" sz="quarter" idx="30"/>
          </p:nvPr>
        </p:nvSpPr>
        <p:spPr/>
        <p:txBody>
          <a:bodyPr/>
          <a:lstStyle/>
          <a:p>
            <a:pPr algn="r"/>
            <a:fld id="{5D9A5160-6218-4E5A-B9E6-B93E3DAE377C}" type="slidenum">
              <a:rPr lang="en-US" smtClean="0"/>
              <a:pPr algn="r"/>
              <a:t>9</a:t>
            </a:fld>
            <a:endParaRPr lang="en-US"/>
          </a:p>
        </p:txBody>
      </p:sp>
      <p:sp>
        <p:nvSpPr>
          <p:cNvPr id="5" name="Title 4">
            <a:extLst>
              <a:ext uri="{FF2B5EF4-FFF2-40B4-BE49-F238E27FC236}">
                <a16:creationId xmlns:a16="http://schemas.microsoft.com/office/drawing/2014/main" id="{FBC7288E-9C70-0018-C613-BCC9CD956308}"/>
              </a:ext>
            </a:extLst>
          </p:cNvPr>
          <p:cNvSpPr>
            <a:spLocks noGrp="1"/>
          </p:cNvSpPr>
          <p:nvPr>
            <p:ph type="title"/>
          </p:nvPr>
        </p:nvSpPr>
        <p:spPr/>
        <p:txBody>
          <a:bodyPr/>
          <a:lstStyle/>
          <a:p>
            <a:r>
              <a:rPr lang="en-US"/>
              <a:t>The architecture provides a </a:t>
            </a:r>
            <a:r>
              <a:rPr lang="en-US" b="1"/>
              <a:t>reusable content intelligence layer, </a:t>
            </a:r>
            <a:r>
              <a:rPr lang="en-US"/>
              <a:t>enabling editorial teams to generate</a:t>
            </a:r>
            <a:r>
              <a:rPr lang="en-US" b="1"/>
              <a:t> derivative content volume</a:t>
            </a:r>
            <a:r>
              <a:rPr lang="en-US"/>
              <a:t> at scale</a:t>
            </a:r>
            <a:endParaRPr lang="en-US" b="1"/>
          </a:p>
        </p:txBody>
      </p:sp>
      <p:sp>
        <p:nvSpPr>
          <p:cNvPr id="69" name="Rectangle 68">
            <a:extLst>
              <a:ext uri="{FF2B5EF4-FFF2-40B4-BE49-F238E27FC236}">
                <a16:creationId xmlns:a16="http://schemas.microsoft.com/office/drawing/2014/main" id="{52E4B9A4-87D9-9614-DFC9-8E76A03B0FAC}"/>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CONTENT INTELLIGENCE LAYER</a:t>
            </a:r>
          </a:p>
        </p:txBody>
      </p:sp>
      <p:grpSp>
        <p:nvGrpSpPr>
          <p:cNvPr id="84" name="Group 83">
            <a:extLst>
              <a:ext uri="{FF2B5EF4-FFF2-40B4-BE49-F238E27FC236}">
                <a16:creationId xmlns:a16="http://schemas.microsoft.com/office/drawing/2014/main" id="{97BEC992-3A92-63B4-89D5-6B3309F70811}"/>
              </a:ext>
            </a:extLst>
          </p:cNvPr>
          <p:cNvGrpSpPr/>
          <p:nvPr/>
        </p:nvGrpSpPr>
        <p:grpSpPr>
          <a:xfrm>
            <a:off x="261319" y="1294410"/>
            <a:ext cx="11729469" cy="5260000"/>
            <a:chOff x="261319" y="1196752"/>
            <a:chExt cx="11729469" cy="5260000"/>
          </a:xfrm>
        </p:grpSpPr>
        <p:grpSp>
          <p:nvGrpSpPr>
            <p:cNvPr id="13" name="Group 12">
              <a:extLst>
                <a:ext uri="{FF2B5EF4-FFF2-40B4-BE49-F238E27FC236}">
                  <a16:creationId xmlns:a16="http://schemas.microsoft.com/office/drawing/2014/main" id="{B50EC262-AE04-D24F-BC25-A7F5B20FE7EE}"/>
                </a:ext>
              </a:extLst>
            </p:cNvPr>
            <p:cNvGrpSpPr/>
            <p:nvPr/>
          </p:nvGrpSpPr>
          <p:grpSpPr>
            <a:xfrm>
              <a:off x="549678" y="4681760"/>
              <a:ext cx="350835" cy="836486"/>
              <a:chOff x="550864" y="1334813"/>
              <a:chExt cx="206048" cy="1450427"/>
            </a:xfrm>
          </p:grpSpPr>
          <p:sp>
            <p:nvSpPr>
              <p:cNvPr id="14" name="Rectangle 13">
                <a:extLst>
                  <a:ext uri="{FF2B5EF4-FFF2-40B4-BE49-F238E27FC236}">
                    <a16:creationId xmlns:a16="http://schemas.microsoft.com/office/drawing/2014/main" id="{4A2C6900-018F-8986-8981-8CBA46AD22CA}"/>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a:solidFill>
                      <a:schemeClr val="tx1"/>
                    </a:solidFill>
                  </a:rPr>
                  <a:t>Operational Efficiency</a:t>
                </a:r>
              </a:p>
            </p:txBody>
          </p:sp>
          <p:cxnSp>
            <p:nvCxnSpPr>
              <p:cNvPr id="15" name="Straight Connector 14">
                <a:extLst>
                  <a:ext uri="{FF2B5EF4-FFF2-40B4-BE49-F238E27FC236}">
                    <a16:creationId xmlns:a16="http://schemas.microsoft.com/office/drawing/2014/main" id="{EA2F5AF3-5617-8361-FAC8-95A2C322CD86}"/>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533EC1E1-DAEF-EB04-0C55-4E696CD5AF2A}"/>
                </a:ext>
              </a:extLst>
            </p:cNvPr>
            <p:cNvGrpSpPr/>
            <p:nvPr/>
          </p:nvGrpSpPr>
          <p:grpSpPr>
            <a:xfrm>
              <a:off x="261319" y="2613005"/>
              <a:ext cx="206048" cy="1819229"/>
              <a:chOff x="550864" y="1334813"/>
              <a:chExt cx="206048" cy="1450427"/>
            </a:xfrm>
          </p:grpSpPr>
          <p:sp>
            <p:nvSpPr>
              <p:cNvPr id="11" name="Rectangle 10">
                <a:extLst>
                  <a:ext uri="{FF2B5EF4-FFF2-40B4-BE49-F238E27FC236}">
                    <a16:creationId xmlns:a16="http://schemas.microsoft.com/office/drawing/2014/main" id="{4E1E7C82-F49F-3400-82FE-C8E949C58D5E}"/>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b="1">
                    <a:solidFill>
                      <a:schemeClr val="tx1"/>
                    </a:solidFill>
                  </a:rPr>
                  <a:t>Metadata leverage</a:t>
                </a:r>
              </a:p>
            </p:txBody>
          </p:sp>
          <p:cxnSp>
            <p:nvCxnSpPr>
              <p:cNvPr id="12" name="Straight Connector 11">
                <a:extLst>
                  <a:ext uri="{FF2B5EF4-FFF2-40B4-BE49-F238E27FC236}">
                    <a16:creationId xmlns:a16="http://schemas.microsoft.com/office/drawing/2014/main" id="{4D81382D-F942-7A59-D69D-E9E1EEB85D8C}"/>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4AEBB117-888C-C1DD-5821-129A8CB55A33}"/>
                </a:ext>
              </a:extLst>
            </p:cNvPr>
            <p:cNvSpPr/>
            <p:nvPr/>
          </p:nvSpPr>
          <p:spPr>
            <a:xfrm>
              <a:off x="1023426"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a:solidFill>
                    <a:schemeClr val="bg1">
                      <a:lumMod val="50000"/>
                    </a:schemeClr>
                  </a:solidFill>
                </a:rPr>
                <a:t>Auto-generates </a:t>
              </a:r>
              <a:r>
                <a:rPr lang="en-US" sz="900" b="1">
                  <a:solidFill>
                    <a:schemeClr val="bg1">
                      <a:lumMod val="50000"/>
                    </a:schemeClr>
                  </a:solidFill>
                </a:rPr>
                <a:t>promo candidates from high-engagement moments </a:t>
              </a:r>
              <a:r>
                <a:rPr lang="en-US" sz="900">
                  <a:solidFill>
                    <a:schemeClr val="bg1">
                      <a:lumMod val="50000"/>
                    </a:schemeClr>
                  </a:solidFill>
                </a:rPr>
                <a:t>(viewership spikes, social velocity)</a:t>
              </a:r>
            </a:p>
            <a:p>
              <a:pPr marL="171450" indent="-171450">
                <a:spcAft>
                  <a:spcPts val="600"/>
                </a:spcAft>
                <a:buFont typeface="Wingdings" panose="05000000000000000000" pitchFamily="2" charset="2"/>
                <a:buChar char="§"/>
              </a:pPr>
              <a:r>
                <a:rPr lang="en-US" sz="900" b="1">
                  <a:solidFill>
                    <a:schemeClr val="bg1">
                      <a:lumMod val="50000"/>
                    </a:schemeClr>
                  </a:solidFill>
                </a:rPr>
                <a:t>Templates bumpers</a:t>
              </a:r>
              <a:r>
                <a:rPr lang="en-US" sz="900">
                  <a:solidFill>
                    <a:schemeClr val="bg1">
                      <a:lumMod val="50000"/>
                    </a:schemeClr>
                  </a:solidFill>
                </a:rPr>
                <a:t>/IDs from brand-approved visual/audio signatures stored in metadata</a:t>
              </a:r>
            </a:p>
            <a:p>
              <a:pPr marL="171450" indent="-171450">
                <a:spcAft>
                  <a:spcPts val="600"/>
                </a:spcAft>
                <a:buFont typeface="Wingdings" panose="05000000000000000000" pitchFamily="2" charset="2"/>
                <a:buChar char="§"/>
              </a:pPr>
              <a:r>
                <a:rPr lang="en-US" sz="900" b="1">
                  <a:solidFill>
                    <a:schemeClr val="bg1">
                      <a:lumMod val="50000"/>
                    </a:schemeClr>
                  </a:solidFill>
                </a:rPr>
                <a:t>Sizzle reels </a:t>
              </a:r>
              <a:r>
                <a:rPr lang="en-US" sz="900">
                  <a:solidFill>
                    <a:schemeClr val="bg1">
                      <a:lumMod val="50000"/>
                    </a:schemeClr>
                  </a:solidFill>
                </a:rPr>
                <a:t>assembled from </a:t>
              </a:r>
              <a:r>
                <a:rPr lang="en-US" sz="900" b="1">
                  <a:solidFill>
                    <a:schemeClr val="bg1">
                      <a:lumMod val="50000"/>
                    </a:schemeClr>
                  </a:solidFill>
                </a:rPr>
                <a:t>curated "hero moments" </a:t>
              </a:r>
              <a:r>
                <a:rPr lang="en-US" sz="900">
                  <a:solidFill>
                    <a:schemeClr val="bg1">
                      <a:lumMod val="50000"/>
                    </a:schemeClr>
                  </a:solidFill>
                </a:rPr>
                <a:t>tagged during ingest</a:t>
              </a:r>
            </a:p>
          </p:txBody>
        </p:sp>
        <p:sp>
          <p:nvSpPr>
            <p:cNvPr id="20" name="Rectangle 19">
              <a:extLst>
                <a:ext uri="{FF2B5EF4-FFF2-40B4-BE49-F238E27FC236}">
                  <a16:creationId xmlns:a16="http://schemas.microsoft.com/office/drawing/2014/main" id="{E867FB8E-6A23-E333-D9E7-3223781AA8BD}"/>
                </a:ext>
              </a:extLst>
            </p:cNvPr>
            <p:cNvSpPr/>
            <p:nvPr/>
          </p:nvSpPr>
          <p:spPr>
            <a:xfrm>
              <a:off x="2870709"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b="1">
                  <a:solidFill>
                    <a:schemeClr val="bg1">
                      <a:lumMod val="50000"/>
                    </a:schemeClr>
                  </a:solidFill>
                </a:rPr>
                <a:t>Vertical video </a:t>
              </a:r>
              <a:r>
                <a:rPr lang="en-US" sz="900">
                  <a:solidFill>
                    <a:schemeClr val="bg1">
                      <a:lumMod val="50000"/>
                    </a:schemeClr>
                  </a:solidFill>
                </a:rPr>
                <a:t>(9:16) auto-cropping </a:t>
              </a:r>
              <a:r>
                <a:rPr lang="en-US" sz="900" b="1">
                  <a:solidFill>
                    <a:schemeClr val="bg1">
                      <a:lumMod val="50000"/>
                    </a:schemeClr>
                  </a:solidFill>
                </a:rPr>
                <a:t>guided by face detection</a:t>
              </a:r>
              <a:r>
                <a:rPr lang="en-US" sz="900">
                  <a:solidFill>
                    <a:schemeClr val="bg1">
                      <a:lumMod val="50000"/>
                    </a:schemeClr>
                  </a:solidFill>
                </a:rPr>
                <a:t> and </a:t>
              </a:r>
              <a:r>
                <a:rPr lang="en-US" sz="900" b="1">
                  <a:solidFill>
                    <a:schemeClr val="bg1">
                      <a:lumMod val="50000"/>
                    </a:schemeClr>
                  </a:solidFill>
                </a:rPr>
                <a:t>subject tracking metadata</a:t>
              </a:r>
            </a:p>
            <a:p>
              <a:pPr marL="171450" indent="-171450">
                <a:spcAft>
                  <a:spcPts val="600"/>
                </a:spcAft>
                <a:buFont typeface="Wingdings" panose="05000000000000000000" pitchFamily="2" charset="2"/>
                <a:buChar char="§"/>
              </a:pPr>
              <a:r>
                <a:rPr lang="en-US" sz="900" b="1">
                  <a:solidFill>
                    <a:schemeClr val="bg1">
                      <a:lumMod val="50000"/>
                    </a:schemeClr>
                  </a:solidFill>
                </a:rPr>
                <a:t>Platform-specific duration enforcement </a:t>
              </a:r>
              <a:r>
                <a:rPr lang="en-US" sz="900">
                  <a:solidFill>
                    <a:schemeClr val="bg1">
                      <a:lumMod val="50000"/>
                    </a:schemeClr>
                  </a:solidFill>
                </a:rPr>
                <a:t>from master timeline</a:t>
              </a:r>
            </a:p>
            <a:p>
              <a:pPr marL="171450" indent="-171450">
                <a:spcAft>
                  <a:spcPts val="600"/>
                </a:spcAft>
                <a:buFont typeface="Wingdings" panose="05000000000000000000" pitchFamily="2" charset="2"/>
                <a:buChar char="§"/>
              </a:pPr>
              <a:r>
                <a:rPr lang="en-US" sz="900" b="1">
                  <a:solidFill>
                    <a:schemeClr val="bg1">
                      <a:lumMod val="50000"/>
                    </a:schemeClr>
                  </a:solidFill>
                </a:rPr>
                <a:t>Hashtag/caption generation </a:t>
              </a:r>
              <a:r>
                <a:rPr lang="en-US" sz="900">
                  <a:solidFill>
                    <a:schemeClr val="bg1">
                      <a:lumMod val="50000"/>
                    </a:schemeClr>
                  </a:solidFill>
                </a:rPr>
                <a:t>from content taxonomy and trending topic crosswalk</a:t>
              </a:r>
            </a:p>
          </p:txBody>
        </p:sp>
        <p:sp>
          <p:nvSpPr>
            <p:cNvPr id="23" name="Rectangle 22">
              <a:extLst>
                <a:ext uri="{FF2B5EF4-FFF2-40B4-BE49-F238E27FC236}">
                  <a16:creationId xmlns:a16="http://schemas.microsoft.com/office/drawing/2014/main" id="{ED4A7459-5DDC-DF06-AEED-C5DB43AC8118}"/>
                </a:ext>
              </a:extLst>
            </p:cNvPr>
            <p:cNvSpPr/>
            <p:nvPr/>
          </p:nvSpPr>
          <p:spPr>
            <a:xfrm>
              <a:off x="4717992"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b="1">
                  <a:solidFill>
                    <a:schemeClr val="bg1">
                      <a:lumMod val="50000"/>
                    </a:schemeClr>
                  </a:solidFill>
                </a:rPr>
                <a:t>Behind-the-scenes clips </a:t>
              </a:r>
              <a:r>
                <a:rPr lang="en-US" sz="900">
                  <a:solidFill>
                    <a:schemeClr val="bg1">
                      <a:lumMod val="50000"/>
                    </a:schemeClr>
                  </a:solidFill>
                </a:rPr>
                <a:t>identified by production metadata (camera type, crew notes)</a:t>
              </a:r>
            </a:p>
            <a:p>
              <a:pPr marL="171450" indent="-171450">
                <a:spcAft>
                  <a:spcPts val="600"/>
                </a:spcAft>
                <a:buFont typeface="Wingdings" panose="05000000000000000000" pitchFamily="2" charset="2"/>
                <a:buChar char="§"/>
              </a:pPr>
              <a:r>
                <a:rPr lang="en-US" sz="900">
                  <a:solidFill>
                    <a:schemeClr val="bg1">
                      <a:lumMod val="50000"/>
                    </a:schemeClr>
                  </a:solidFill>
                </a:rPr>
                <a:t>Talent soundbites extracted via </a:t>
              </a:r>
              <a:r>
                <a:rPr lang="en-US" sz="900" b="1">
                  <a:solidFill>
                    <a:schemeClr val="bg1">
                      <a:lumMod val="50000"/>
                    </a:schemeClr>
                  </a:solidFill>
                </a:rPr>
                <a:t>speaker diarization </a:t>
              </a:r>
              <a:r>
                <a:rPr lang="en-US" sz="900">
                  <a:solidFill>
                    <a:schemeClr val="bg1">
                      <a:lumMod val="50000"/>
                    </a:schemeClr>
                  </a:solidFill>
                </a:rPr>
                <a:t>and </a:t>
              </a:r>
              <a:r>
                <a:rPr lang="en-US" sz="900" b="1">
                  <a:solidFill>
                    <a:schemeClr val="bg1">
                      <a:lumMod val="50000"/>
                    </a:schemeClr>
                  </a:solidFill>
                </a:rPr>
                <a:t>sentiment tagging</a:t>
              </a:r>
            </a:p>
            <a:p>
              <a:pPr marL="171450" indent="-171450">
                <a:spcAft>
                  <a:spcPts val="600"/>
                </a:spcAft>
                <a:buFont typeface="Wingdings" panose="05000000000000000000" pitchFamily="2" charset="2"/>
                <a:buChar char="§"/>
              </a:pPr>
              <a:r>
                <a:rPr lang="en-US" sz="900" b="1">
                  <a:solidFill>
                    <a:schemeClr val="bg1">
                      <a:lumMod val="50000"/>
                    </a:schemeClr>
                  </a:solidFill>
                </a:rPr>
                <a:t>Recaps</a:t>
              </a:r>
              <a:r>
                <a:rPr lang="en-US" sz="900">
                  <a:solidFill>
                    <a:schemeClr val="bg1">
                      <a:lumMod val="50000"/>
                    </a:schemeClr>
                  </a:solidFill>
                </a:rPr>
                <a:t> auto-assembled from </a:t>
              </a:r>
              <a:r>
                <a:rPr lang="en-US" sz="900" b="1">
                  <a:solidFill>
                    <a:schemeClr val="bg1">
                      <a:lumMod val="50000"/>
                    </a:schemeClr>
                  </a:solidFill>
                </a:rPr>
                <a:t>"key moment" metadata</a:t>
              </a:r>
              <a:r>
                <a:rPr lang="en-US" sz="900">
                  <a:solidFill>
                    <a:schemeClr val="bg1">
                      <a:lumMod val="50000"/>
                    </a:schemeClr>
                  </a:solidFill>
                </a:rPr>
                <a:t> across episode/event</a:t>
              </a:r>
            </a:p>
          </p:txBody>
        </p:sp>
        <p:sp>
          <p:nvSpPr>
            <p:cNvPr id="26" name="Rectangle 25">
              <a:extLst>
                <a:ext uri="{FF2B5EF4-FFF2-40B4-BE49-F238E27FC236}">
                  <a16:creationId xmlns:a16="http://schemas.microsoft.com/office/drawing/2014/main" id="{B8843233-4B90-CD72-27F5-EDE5EF2F051B}"/>
                </a:ext>
              </a:extLst>
            </p:cNvPr>
            <p:cNvSpPr/>
            <p:nvPr/>
          </p:nvSpPr>
          <p:spPr>
            <a:xfrm>
              <a:off x="6565274"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b="1">
                  <a:solidFill>
                    <a:schemeClr val="bg1">
                      <a:lumMod val="50000"/>
                    </a:schemeClr>
                  </a:solidFill>
                </a:rPr>
                <a:t>AVOD/FAST interstitials </a:t>
              </a:r>
              <a:r>
                <a:rPr lang="en-US" sz="900">
                  <a:solidFill>
                    <a:schemeClr val="bg1">
                      <a:lumMod val="50000"/>
                    </a:schemeClr>
                  </a:solidFill>
                </a:rPr>
                <a:t>matched to </a:t>
              </a:r>
              <a:r>
                <a:rPr lang="en-US" sz="900" b="1">
                  <a:solidFill>
                    <a:schemeClr val="bg1">
                      <a:lumMod val="50000"/>
                    </a:schemeClr>
                  </a:solidFill>
                </a:rPr>
                <a:t>genre and tone metadata</a:t>
              </a:r>
              <a:endParaRPr lang="en-US" sz="900">
                <a:solidFill>
                  <a:schemeClr val="bg1">
                    <a:lumMod val="50000"/>
                  </a:schemeClr>
                </a:solidFill>
              </a:endParaRPr>
            </a:p>
            <a:p>
              <a:pPr marL="171450" indent="-171450">
                <a:spcAft>
                  <a:spcPts val="600"/>
                </a:spcAft>
                <a:buFont typeface="Wingdings" panose="05000000000000000000" pitchFamily="2" charset="2"/>
                <a:buChar char="§"/>
              </a:pPr>
              <a:r>
                <a:rPr lang="en-US" sz="900" b="1">
                  <a:solidFill>
                    <a:schemeClr val="bg1">
                      <a:lumMod val="50000"/>
                    </a:schemeClr>
                  </a:solidFill>
                </a:rPr>
                <a:t>YouTube Shorts </a:t>
              </a:r>
              <a:r>
                <a:rPr lang="en-US" sz="900">
                  <a:solidFill>
                    <a:schemeClr val="bg1">
                      <a:lumMod val="50000"/>
                    </a:schemeClr>
                  </a:solidFill>
                </a:rPr>
                <a:t>optimized by </a:t>
              </a:r>
              <a:r>
                <a:rPr lang="en-US" sz="900" b="1">
                  <a:solidFill>
                    <a:schemeClr val="bg1">
                      <a:lumMod val="50000"/>
                    </a:schemeClr>
                  </a:solidFill>
                </a:rPr>
                <a:t>thumbnail metadata</a:t>
              </a:r>
              <a:endParaRPr lang="en-US" sz="900">
                <a:solidFill>
                  <a:schemeClr val="bg1">
                    <a:lumMod val="50000"/>
                  </a:schemeClr>
                </a:solidFill>
              </a:endParaRPr>
            </a:p>
            <a:p>
              <a:pPr marL="171450" indent="-171450">
                <a:spcAft>
                  <a:spcPts val="600"/>
                </a:spcAft>
                <a:buFont typeface="Wingdings" panose="05000000000000000000" pitchFamily="2" charset="2"/>
                <a:buChar char="§"/>
              </a:pPr>
              <a:r>
                <a:rPr lang="en-US" sz="900" b="1">
                  <a:solidFill>
                    <a:schemeClr val="bg1">
                      <a:lumMod val="50000"/>
                    </a:schemeClr>
                  </a:solidFill>
                </a:rPr>
                <a:t>Streaming snippets </a:t>
              </a:r>
              <a:r>
                <a:rPr lang="en-US" sz="900">
                  <a:solidFill>
                    <a:schemeClr val="bg1">
                      <a:lumMod val="50000"/>
                    </a:schemeClr>
                  </a:solidFill>
                </a:rPr>
                <a:t>prioritized by "</a:t>
              </a:r>
              <a:r>
                <a:rPr lang="en-US" sz="900" b="1">
                  <a:solidFill>
                    <a:schemeClr val="bg1">
                      <a:lumMod val="50000"/>
                    </a:schemeClr>
                  </a:solidFill>
                </a:rPr>
                <a:t>shareability score</a:t>
              </a:r>
              <a:r>
                <a:rPr lang="en-US" sz="900">
                  <a:solidFill>
                    <a:schemeClr val="bg1">
                      <a:lumMod val="50000"/>
                    </a:schemeClr>
                  </a:solidFill>
                </a:rPr>
                <a:t>" (metadata-derived virality prediction)</a:t>
              </a:r>
            </a:p>
          </p:txBody>
        </p:sp>
        <p:sp>
          <p:nvSpPr>
            <p:cNvPr id="29" name="Rectangle 28">
              <a:extLst>
                <a:ext uri="{FF2B5EF4-FFF2-40B4-BE49-F238E27FC236}">
                  <a16:creationId xmlns:a16="http://schemas.microsoft.com/office/drawing/2014/main" id="{FC16C40E-26C4-8F81-2DDC-47DCE39727B5}"/>
                </a:ext>
              </a:extLst>
            </p:cNvPr>
            <p:cNvSpPr/>
            <p:nvPr/>
          </p:nvSpPr>
          <p:spPr>
            <a:xfrm>
              <a:off x="8412557"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b="1">
                  <a:solidFill>
                    <a:schemeClr val="bg1">
                      <a:lumMod val="50000"/>
                    </a:schemeClr>
                  </a:solidFill>
                </a:rPr>
                <a:t>Digital ads auto-generated </a:t>
              </a:r>
              <a:r>
                <a:rPr lang="en-US" sz="900">
                  <a:solidFill>
                    <a:schemeClr val="bg1">
                      <a:lumMod val="50000"/>
                    </a:schemeClr>
                  </a:solidFill>
                </a:rPr>
                <a:t>at mandated lengths from master edit decision lists</a:t>
              </a:r>
            </a:p>
            <a:p>
              <a:pPr marL="171450" indent="-171450">
                <a:spcAft>
                  <a:spcPts val="600"/>
                </a:spcAft>
                <a:buFont typeface="Wingdings" panose="05000000000000000000" pitchFamily="2" charset="2"/>
                <a:buChar char="§"/>
              </a:pPr>
              <a:r>
                <a:rPr lang="en-US" sz="900" b="1">
                  <a:solidFill>
                    <a:schemeClr val="bg1">
                      <a:lumMod val="50000"/>
                    </a:schemeClr>
                  </a:solidFill>
                </a:rPr>
                <a:t>Localized variants </a:t>
              </a:r>
              <a:r>
                <a:rPr lang="en-US" sz="900">
                  <a:solidFill>
                    <a:schemeClr val="bg1">
                      <a:lumMod val="50000"/>
                    </a:schemeClr>
                  </a:solidFill>
                </a:rPr>
                <a:t>use </a:t>
              </a:r>
              <a:r>
                <a:rPr lang="en-US" sz="900" b="1">
                  <a:solidFill>
                    <a:schemeClr val="bg1">
                      <a:lumMod val="50000"/>
                    </a:schemeClr>
                  </a:solidFill>
                </a:rPr>
                <a:t>geo-tagged metadata </a:t>
              </a:r>
              <a:r>
                <a:rPr lang="en-US" sz="900">
                  <a:solidFill>
                    <a:schemeClr val="bg1">
                      <a:lumMod val="50000"/>
                    </a:schemeClr>
                  </a:solidFill>
                </a:rPr>
                <a:t>language overlays</a:t>
              </a:r>
            </a:p>
            <a:p>
              <a:pPr marL="171450" indent="-171450">
                <a:spcAft>
                  <a:spcPts val="600"/>
                </a:spcAft>
                <a:buFont typeface="Wingdings" panose="05000000000000000000" pitchFamily="2" charset="2"/>
                <a:buChar char="§"/>
              </a:pPr>
              <a:r>
                <a:rPr lang="en-US" sz="900" b="1">
                  <a:solidFill>
                    <a:schemeClr val="bg1">
                      <a:lumMod val="50000"/>
                    </a:schemeClr>
                  </a:solidFill>
                </a:rPr>
                <a:t>Performance metadata </a:t>
              </a:r>
              <a:r>
                <a:rPr lang="en-US" sz="900">
                  <a:solidFill>
                    <a:schemeClr val="bg1">
                      <a:lumMod val="50000"/>
                    </a:schemeClr>
                  </a:solidFill>
                </a:rPr>
                <a:t>feeds back into creative rotation</a:t>
              </a:r>
            </a:p>
          </p:txBody>
        </p:sp>
        <p:sp>
          <p:nvSpPr>
            <p:cNvPr id="32" name="Rectangle 31">
              <a:extLst>
                <a:ext uri="{FF2B5EF4-FFF2-40B4-BE49-F238E27FC236}">
                  <a16:creationId xmlns:a16="http://schemas.microsoft.com/office/drawing/2014/main" id="{84EC2084-1A3C-4D7D-EE8D-1391BD01EF40}"/>
                </a:ext>
              </a:extLst>
            </p:cNvPr>
            <p:cNvSpPr/>
            <p:nvPr/>
          </p:nvSpPr>
          <p:spPr>
            <a:xfrm>
              <a:off x="10259840" y="2613006"/>
              <a:ext cx="1730948" cy="181922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spcAft>
                  <a:spcPts val="600"/>
                </a:spcAft>
                <a:buFont typeface="Wingdings" panose="05000000000000000000" pitchFamily="2" charset="2"/>
                <a:buChar char="§"/>
              </a:pPr>
              <a:r>
                <a:rPr lang="en-US" sz="900" b="1">
                  <a:solidFill>
                    <a:schemeClr val="bg1">
                      <a:lumMod val="50000"/>
                    </a:schemeClr>
                  </a:solidFill>
                </a:rPr>
                <a:t>Motion posters </a:t>
              </a:r>
              <a:r>
                <a:rPr lang="en-US" sz="900">
                  <a:solidFill>
                    <a:schemeClr val="bg1">
                      <a:lumMod val="50000"/>
                    </a:schemeClr>
                  </a:solidFill>
                </a:rPr>
                <a:t>generated from </a:t>
              </a:r>
              <a:r>
                <a:rPr lang="en-US" sz="900" b="1">
                  <a:solidFill>
                    <a:schemeClr val="bg1">
                      <a:lumMod val="50000"/>
                    </a:schemeClr>
                  </a:solidFill>
                </a:rPr>
                <a:t>color-graded keyframes </a:t>
              </a:r>
              <a:r>
                <a:rPr lang="en-US" sz="900">
                  <a:solidFill>
                    <a:schemeClr val="bg1">
                      <a:lumMod val="50000"/>
                    </a:schemeClr>
                  </a:solidFill>
                </a:rPr>
                <a:t>and </a:t>
              </a:r>
              <a:r>
                <a:rPr lang="en-US" sz="900" b="1">
                  <a:solidFill>
                    <a:schemeClr val="bg1">
                      <a:lumMod val="50000"/>
                    </a:schemeClr>
                  </a:solidFill>
                </a:rPr>
                <a:t>title card </a:t>
              </a:r>
              <a:r>
                <a:rPr lang="en-US" sz="900">
                  <a:solidFill>
                    <a:schemeClr val="bg1">
                      <a:lumMod val="50000"/>
                    </a:schemeClr>
                  </a:solidFill>
                </a:rPr>
                <a:t>templates</a:t>
              </a:r>
            </a:p>
            <a:p>
              <a:pPr marL="171450" indent="-171450">
                <a:spcAft>
                  <a:spcPts val="600"/>
                </a:spcAft>
                <a:buFont typeface="Wingdings" panose="05000000000000000000" pitchFamily="2" charset="2"/>
                <a:buChar char="§"/>
              </a:pPr>
              <a:r>
                <a:rPr lang="en-US" sz="900">
                  <a:solidFill>
                    <a:schemeClr val="bg1">
                      <a:lumMod val="50000"/>
                    </a:schemeClr>
                  </a:solidFill>
                </a:rPr>
                <a:t>Micro-content prioritized by "</a:t>
              </a:r>
              <a:r>
                <a:rPr lang="en-US" sz="900" b="1">
                  <a:solidFill>
                    <a:schemeClr val="bg1">
                      <a:lumMod val="50000"/>
                    </a:schemeClr>
                  </a:solidFill>
                </a:rPr>
                <a:t>snackability index</a:t>
              </a:r>
              <a:r>
                <a:rPr lang="en-US" sz="900">
                  <a:solidFill>
                    <a:schemeClr val="bg1">
                      <a:lumMod val="50000"/>
                    </a:schemeClr>
                  </a:solidFill>
                </a:rPr>
                <a:t>" (pacing, visual density, dialogue quotability)</a:t>
              </a:r>
            </a:p>
            <a:p>
              <a:pPr marL="171450" indent="-171450">
                <a:spcAft>
                  <a:spcPts val="600"/>
                </a:spcAft>
                <a:buFont typeface="Wingdings" panose="05000000000000000000" pitchFamily="2" charset="2"/>
                <a:buChar char="§"/>
              </a:pPr>
              <a:r>
                <a:rPr lang="en-US" sz="900" b="1">
                  <a:solidFill>
                    <a:schemeClr val="bg1">
                      <a:lumMod val="50000"/>
                    </a:schemeClr>
                  </a:solidFill>
                </a:rPr>
                <a:t>Short-form originals </a:t>
              </a:r>
              <a:r>
                <a:rPr lang="en-US" sz="900">
                  <a:solidFill>
                    <a:schemeClr val="bg1">
                      <a:lumMod val="50000"/>
                    </a:schemeClr>
                  </a:solidFill>
                </a:rPr>
                <a:t>built from evergreen metadata (e.g., "top 10 goals of the decade")</a:t>
              </a:r>
            </a:p>
          </p:txBody>
        </p:sp>
        <p:grpSp>
          <p:nvGrpSpPr>
            <p:cNvPr id="9" name="Group 8">
              <a:extLst>
                <a:ext uri="{FF2B5EF4-FFF2-40B4-BE49-F238E27FC236}">
                  <a16:creationId xmlns:a16="http://schemas.microsoft.com/office/drawing/2014/main" id="{C8982322-A207-04BB-F23B-D52690B5DFB9}"/>
                </a:ext>
              </a:extLst>
            </p:cNvPr>
            <p:cNvGrpSpPr/>
            <p:nvPr/>
          </p:nvGrpSpPr>
          <p:grpSpPr>
            <a:xfrm>
              <a:off x="261319" y="1196753"/>
              <a:ext cx="206048" cy="1240480"/>
              <a:chOff x="550864" y="1334813"/>
              <a:chExt cx="206048" cy="1450427"/>
            </a:xfrm>
          </p:grpSpPr>
          <p:sp>
            <p:nvSpPr>
              <p:cNvPr id="6" name="Rectangle 5">
                <a:extLst>
                  <a:ext uri="{FF2B5EF4-FFF2-40B4-BE49-F238E27FC236}">
                    <a16:creationId xmlns:a16="http://schemas.microsoft.com/office/drawing/2014/main" id="{5355E9B6-6887-541D-59B4-F3BBCD61AC3D}"/>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b="1">
                    <a:solidFill>
                      <a:schemeClr val="tx1"/>
                    </a:solidFill>
                  </a:rPr>
                  <a:t>Content family</a:t>
                </a:r>
              </a:p>
            </p:txBody>
          </p:sp>
          <p:cxnSp>
            <p:nvCxnSpPr>
              <p:cNvPr id="8" name="Straight Connector 7">
                <a:extLst>
                  <a:ext uri="{FF2B5EF4-FFF2-40B4-BE49-F238E27FC236}">
                    <a16:creationId xmlns:a16="http://schemas.microsoft.com/office/drawing/2014/main" id="{A5AD46D4-0CC6-3FE3-F440-BB0A54FD2A6C}"/>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E1AE999A-7A7F-DD4D-8310-C09005F1D8F0}"/>
                </a:ext>
              </a:extLst>
            </p:cNvPr>
            <p:cNvGrpSpPr/>
            <p:nvPr/>
          </p:nvGrpSpPr>
          <p:grpSpPr>
            <a:xfrm>
              <a:off x="1023426" y="1196752"/>
              <a:ext cx="1730948" cy="1240480"/>
              <a:chOff x="673776" y="1395905"/>
              <a:chExt cx="1730948" cy="1240480"/>
            </a:xfrm>
          </p:grpSpPr>
          <p:sp>
            <p:nvSpPr>
              <p:cNvPr id="16" name="Rectangle: Rounded Corners 15">
                <a:extLst>
                  <a:ext uri="{FF2B5EF4-FFF2-40B4-BE49-F238E27FC236}">
                    <a16:creationId xmlns:a16="http://schemas.microsoft.com/office/drawing/2014/main" id="{9D7FAF31-B021-8E98-AAC4-E3EFA2E144CA}"/>
                  </a:ext>
                </a:extLst>
              </p:cNvPr>
              <p:cNvSpPr/>
              <p:nvPr/>
            </p:nvSpPr>
            <p:spPr>
              <a:xfrm>
                <a:off x="673776"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Marketing &amp; Promotional Assets</a:t>
                </a:r>
              </a:p>
            </p:txBody>
          </p:sp>
          <p:pic>
            <p:nvPicPr>
              <p:cNvPr id="36" name="Graphic 35" descr="Megaphone outline">
                <a:extLst>
                  <a:ext uri="{FF2B5EF4-FFF2-40B4-BE49-F238E27FC236}">
                    <a16:creationId xmlns:a16="http://schemas.microsoft.com/office/drawing/2014/main" id="{A7729D1B-6380-7626-0936-956AFB4FD85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309360" y="1477220"/>
                <a:ext cx="459780" cy="459780"/>
              </a:xfrm>
              <a:prstGeom prst="rect">
                <a:avLst/>
              </a:prstGeom>
            </p:spPr>
          </p:pic>
        </p:grpSp>
        <p:grpSp>
          <p:nvGrpSpPr>
            <p:cNvPr id="34" name="Group 33">
              <a:extLst>
                <a:ext uri="{FF2B5EF4-FFF2-40B4-BE49-F238E27FC236}">
                  <a16:creationId xmlns:a16="http://schemas.microsoft.com/office/drawing/2014/main" id="{65487B98-1907-CF10-8F39-1A1514CAF0AE}"/>
                </a:ext>
              </a:extLst>
            </p:cNvPr>
            <p:cNvGrpSpPr/>
            <p:nvPr/>
          </p:nvGrpSpPr>
          <p:grpSpPr>
            <a:xfrm>
              <a:off x="2870706" y="1196752"/>
              <a:ext cx="1730948" cy="1240480"/>
              <a:chOff x="2521058" y="1395905"/>
              <a:chExt cx="1730948" cy="1240480"/>
            </a:xfrm>
          </p:grpSpPr>
          <p:sp>
            <p:nvSpPr>
              <p:cNvPr id="19" name="Rectangle: Rounded Corners 18">
                <a:extLst>
                  <a:ext uri="{FF2B5EF4-FFF2-40B4-BE49-F238E27FC236}">
                    <a16:creationId xmlns:a16="http://schemas.microsoft.com/office/drawing/2014/main" id="{012F35A9-8854-5E04-EB96-41E2C6E0BDE8}"/>
                  </a:ext>
                </a:extLst>
              </p:cNvPr>
              <p:cNvSpPr/>
              <p:nvPr/>
            </p:nvSpPr>
            <p:spPr>
              <a:xfrm>
                <a:off x="2521058"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Social &amp; Digital Formats</a:t>
                </a:r>
              </a:p>
            </p:txBody>
          </p:sp>
          <p:pic>
            <p:nvPicPr>
              <p:cNvPr id="37" name="Graphic 36" descr="Comment Like outline">
                <a:extLst>
                  <a:ext uri="{FF2B5EF4-FFF2-40B4-BE49-F238E27FC236}">
                    <a16:creationId xmlns:a16="http://schemas.microsoft.com/office/drawing/2014/main" id="{194A4FC5-C306-C834-4857-86C32A9BC90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153353" y="1477220"/>
                <a:ext cx="459780" cy="459780"/>
              </a:xfrm>
              <a:prstGeom prst="rect">
                <a:avLst/>
              </a:prstGeom>
            </p:spPr>
          </p:pic>
        </p:grpSp>
        <p:grpSp>
          <p:nvGrpSpPr>
            <p:cNvPr id="35" name="Group 34">
              <a:extLst>
                <a:ext uri="{FF2B5EF4-FFF2-40B4-BE49-F238E27FC236}">
                  <a16:creationId xmlns:a16="http://schemas.microsoft.com/office/drawing/2014/main" id="{0830D1EE-49AD-3480-0F10-CCE0E5CB88C4}"/>
                </a:ext>
              </a:extLst>
            </p:cNvPr>
            <p:cNvGrpSpPr/>
            <p:nvPr/>
          </p:nvGrpSpPr>
          <p:grpSpPr>
            <a:xfrm>
              <a:off x="4717987" y="1196752"/>
              <a:ext cx="1730948" cy="1240480"/>
              <a:chOff x="4368340" y="1395905"/>
              <a:chExt cx="1730948" cy="1240480"/>
            </a:xfrm>
          </p:grpSpPr>
          <p:sp>
            <p:nvSpPr>
              <p:cNvPr id="22" name="Rectangle: Rounded Corners 21">
                <a:extLst>
                  <a:ext uri="{FF2B5EF4-FFF2-40B4-BE49-F238E27FC236}">
                    <a16:creationId xmlns:a16="http://schemas.microsoft.com/office/drawing/2014/main" id="{A346BDC4-FA69-D55B-BE18-1888854C841F}"/>
                  </a:ext>
                </a:extLst>
              </p:cNvPr>
              <p:cNvSpPr/>
              <p:nvPr/>
            </p:nvSpPr>
            <p:spPr>
              <a:xfrm>
                <a:off x="4368340"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Editorial / Content Extensions</a:t>
                </a:r>
              </a:p>
            </p:txBody>
          </p:sp>
          <p:pic>
            <p:nvPicPr>
              <p:cNvPr id="38" name="Graphic 37" descr="Director's Chair outline">
                <a:extLst>
                  <a:ext uri="{FF2B5EF4-FFF2-40B4-BE49-F238E27FC236}">
                    <a16:creationId xmlns:a16="http://schemas.microsoft.com/office/drawing/2014/main" id="{403BE4B1-79EB-FF07-924D-B8D7411F06F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997346" y="1477220"/>
                <a:ext cx="459780" cy="459780"/>
              </a:xfrm>
              <a:prstGeom prst="rect">
                <a:avLst/>
              </a:prstGeom>
            </p:spPr>
          </p:pic>
        </p:grpSp>
        <p:grpSp>
          <p:nvGrpSpPr>
            <p:cNvPr id="42" name="Group 41">
              <a:extLst>
                <a:ext uri="{FF2B5EF4-FFF2-40B4-BE49-F238E27FC236}">
                  <a16:creationId xmlns:a16="http://schemas.microsoft.com/office/drawing/2014/main" id="{5D0FED8F-B127-9EBB-99BB-D183DFD4E1F3}"/>
                </a:ext>
              </a:extLst>
            </p:cNvPr>
            <p:cNvGrpSpPr/>
            <p:nvPr/>
          </p:nvGrpSpPr>
          <p:grpSpPr>
            <a:xfrm>
              <a:off x="6565272" y="1196752"/>
              <a:ext cx="1730948" cy="1240480"/>
              <a:chOff x="6215622" y="1395905"/>
              <a:chExt cx="1730948" cy="1240480"/>
            </a:xfrm>
          </p:grpSpPr>
          <p:sp>
            <p:nvSpPr>
              <p:cNvPr id="25" name="Rectangle: Rounded Corners 24">
                <a:extLst>
                  <a:ext uri="{FF2B5EF4-FFF2-40B4-BE49-F238E27FC236}">
                    <a16:creationId xmlns:a16="http://schemas.microsoft.com/office/drawing/2014/main" id="{CDE55426-9FBC-0559-F25B-E3CAE73B9D78}"/>
                  </a:ext>
                </a:extLst>
              </p:cNvPr>
              <p:cNvSpPr/>
              <p:nvPr/>
            </p:nvSpPr>
            <p:spPr>
              <a:xfrm>
                <a:off x="6215622"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Platform-Specific Short Form Content</a:t>
                </a:r>
              </a:p>
            </p:txBody>
          </p:sp>
          <p:pic>
            <p:nvPicPr>
              <p:cNvPr id="39" name="Graphic 38" descr="Film strip outline">
                <a:extLst>
                  <a:ext uri="{FF2B5EF4-FFF2-40B4-BE49-F238E27FC236}">
                    <a16:creationId xmlns:a16="http://schemas.microsoft.com/office/drawing/2014/main" id="{5EF3AEEA-87BD-EE45-CCB1-B2764BDF9B0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6841339" y="1477220"/>
                <a:ext cx="459780" cy="459780"/>
              </a:xfrm>
              <a:prstGeom prst="rect">
                <a:avLst/>
              </a:prstGeom>
            </p:spPr>
          </p:pic>
        </p:grpSp>
        <p:grpSp>
          <p:nvGrpSpPr>
            <p:cNvPr id="49" name="Group 48">
              <a:extLst>
                <a:ext uri="{FF2B5EF4-FFF2-40B4-BE49-F238E27FC236}">
                  <a16:creationId xmlns:a16="http://schemas.microsoft.com/office/drawing/2014/main" id="{B180EF64-7F04-A2AA-8832-5EC01A142F04}"/>
                </a:ext>
              </a:extLst>
            </p:cNvPr>
            <p:cNvGrpSpPr/>
            <p:nvPr/>
          </p:nvGrpSpPr>
          <p:grpSpPr>
            <a:xfrm>
              <a:off x="8412554" y="1196752"/>
              <a:ext cx="1730948" cy="1240480"/>
              <a:chOff x="8062904" y="1395905"/>
              <a:chExt cx="1730948" cy="1240480"/>
            </a:xfrm>
          </p:grpSpPr>
          <p:sp>
            <p:nvSpPr>
              <p:cNvPr id="28" name="Rectangle: Rounded Corners 27">
                <a:extLst>
                  <a:ext uri="{FF2B5EF4-FFF2-40B4-BE49-F238E27FC236}">
                    <a16:creationId xmlns:a16="http://schemas.microsoft.com/office/drawing/2014/main" id="{7D6A84B7-089F-8008-ABDA-D203E1ACA925}"/>
                  </a:ext>
                </a:extLst>
              </p:cNvPr>
              <p:cNvSpPr/>
              <p:nvPr/>
            </p:nvSpPr>
            <p:spPr>
              <a:xfrm>
                <a:off x="8062904"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Paid Media / Advertising Short Form</a:t>
                </a:r>
              </a:p>
            </p:txBody>
          </p:sp>
          <p:pic>
            <p:nvPicPr>
              <p:cNvPr id="40" name="Graphic 39" descr="Ecommerce outline">
                <a:extLst>
                  <a:ext uri="{FF2B5EF4-FFF2-40B4-BE49-F238E27FC236}">
                    <a16:creationId xmlns:a16="http://schemas.microsoft.com/office/drawing/2014/main" id="{25B65A1F-E161-A4B8-1962-5D1BC5EDA6F9}"/>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685332" y="1477220"/>
                <a:ext cx="459780" cy="459780"/>
              </a:xfrm>
              <a:prstGeom prst="rect">
                <a:avLst/>
              </a:prstGeom>
            </p:spPr>
          </p:pic>
        </p:grpSp>
        <p:grpSp>
          <p:nvGrpSpPr>
            <p:cNvPr id="55" name="Group 54">
              <a:extLst>
                <a:ext uri="{FF2B5EF4-FFF2-40B4-BE49-F238E27FC236}">
                  <a16:creationId xmlns:a16="http://schemas.microsoft.com/office/drawing/2014/main" id="{8912EFBC-C33A-DF7D-8848-162216553F07}"/>
                </a:ext>
              </a:extLst>
            </p:cNvPr>
            <p:cNvGrpSpPr/>
            <p:nvPr/>
          </p:nvGrpSpPr>
          <p:grpSpPr>
            <a:xfrm>
              <a:off x="10259840" y="1196752"/>
              <a:ext cx="1730948" cy="1240480"/>
              <a:chOff x="9910190" y="1395905"/>
              <a:chExt cx="1730948" cy="1240480"/>
            </a:xfrm>
          </p:grpSpPr>
          <p:sp>
            <p:nvSpPr>
              <p:cNvPr id="31" name="Rectangle: Rounded Corners 30">
                <a:extLst>
                  <a:ext uri="{FF2B5EF4-FFF2-40B4-BE49-F238E27FC236}">
                    <a16:creationId xmlns:a16="http://schemas.microsoft.com/office/drawing/2014/main" id="{74EAF9AF-5765-506F-00D5-77C756B80A2A}"/>
                  </a:ext>
                </a:extLst>
              </p:cNvPr>
              <p:cNvSpPr/>
              <p:nvPr/>
            </p:nvSpPr>
            <p:spPr>
              <a:xfrm>
                <a:off x="9910190" y="1395905"/>
                <a:ext cx="1730948" cy="124048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algn="ctr"/>
                <a:endParaRPr lang="en-US" sz="1100" b="1">
                  <a:solidFill>
                    <a:srgbClr val="002060"/>
                  </a:solidFill>
                </a:endParaRPr>
              </a:p>
              <a:p>
                <a:pPr algn="ctr"/>
                <a:endParaRPr lang="en-US" sz="1100" b="1">
                  <a:solidFill>
                    <a:srgbClr val="002060"/>
                  </a:solidFill>
                </a:endParaRPr>
              </a:p>
              <a:p>
                <a:pPr algn="ctr"/>
                <a:endParaRPr lang="en-US" sz="1100" b="1">
                  <a:solidFill>
                    <a:srgbClr val="002060"/>
                  </a:solidFill>
                </a:endParaRPr>
              </a:p>
              <a:p>
                <a:pPr algn="ctr"/>
                <a:r>
                  <a:rPr lang="en-US" sz="1100" b="1">
                    <a:solidFill>
                      <a:srgbClr val="002060"/>
                    </a:solidFill>
                  </a:rPr>
                  <a:t>Other Short-Form Content</a:t>
                </a:r>
              </a:p>
            </p:txBody>
          </p:sp>
          <p:pic>
            <p:nvPicPr>
              <p:cNvPr id="41" name="Graphic 40" descr="Basic Shapes outline">
                <a:extLst>
                  <a:ext uri="{FF2B5EF4-FFF2-40B4-BE49-F238E27FC236}">
                    <a16:creationId xmlns:a16="http://schemas.microsoft.com/office/drawing/2014/main" id="{57FE64B4-741A-7B44-7D2E-9575BAA985F4}"/>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529325" y="1477220"/>
                <a:ext cx="459780" cy="459780"/>
              </a:xfrm>
              <a:prstGeom prst="rect">
                <a:avLst/>
              </a:prstGeom>
            </p:spPr>
          </p:pic>
        </p:grpSp>
        <p:grpSp>
          <p:nvGrpSpPr>
            <p:cNvPr id="83" name="Group 82">
              <a:extLst>
                <a:ext uri="{FF2B5EF4-FFF2-40B4-BE49-F238E27FC236}">
                  <a16:creationId xmlns:a16="http://schemas.microsoft.com/office/drawing/2014/main" id="{6A22A6B5-85FF-F625-9911-96FAB8AD5062}"/>
                </a:ext>
              </a:extLst>
            </p:cNvPr>
            <p:cNvGrpSpPr/>
            <p:nvPr/>
          </p:nvGrpSpPr>
          <p:grpSpPr>
            <a:xfrm>
              <a:off x="2812541" y="1196752"/>
              <a:ext cx="7389128" cy="5255987"/>
              <a:chOff x="2812541" y="1196753"/>
              <a:chExt cx="7389128" cy="5066090"/>
            </a:xfrm>
          </p:grpSpPr>
          <p:cxnSp>
            <p:nvCxnSpPr>
              <p:cNvPr id="43" name="Straight Connector 42">
                <a:extLst>
                  <a:ext uri="{FF2B5EF4-FFF2-40B4-BE49-F238E27FC236}">
                    <a16:creationId xmlns:a16="http://schemas.microsoft.com/office/drawing/2014/main" id="{EB7C08B9-7304-B9A4-3C22-5815FFCAC1BD}"/>
                  </a:ext>
                </a:extLst>
              </p:cNvPr>
              <p:cNvCxnSpPr>
                <a:cxnSpLocks/>
              </p:cNvCxnSpPr>
              <p:nvPr/>
            </p:nvCxnSpPr>
            <p:spPr>
              <a:xfrm>
                <a:off x="2812541" y="1196753"/>
                <a:ext cx="0" cy="506609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E8497DD-3A0F-83BE-2DD1-93FA33299892}"/>
                  </a:ext>
                </a:extLst>
              </p:cNvPr>
              <p:cNvCxnSpPr>
                <a:cxnSpLocks/>
              </p:cNvCxnSpPr>
              <p:nvPr/>
            </p:nvCxnSpPr>
            <p:spPr>
              <a:xfrm>
                <a:off x="4659823" y="1196753"/>
                <a:ext cx="0" cy="506609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74EBAE0-E464-9E25-98F1-878A9500F498}"/>
                  </a:ext>
                </a:extLst>
              </p:cNvPr>
              <p:cNvCxnSpPr>
                <a:cxnSpLocks/>
              </p:cNvCxnSpPr>
              <p:nvPr/>
            </p:nvCxnSpPr>
            <p:spPr>
              <a:xfrm>
                <a:off x="6507105" y="1196753"/>
                <a:ext cx="0" cy="506609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AB5B87-28BB-DDE5-CF87-0E0287F04F11}"/>
                  </a:ext>
                </a:extLst>
              </p:cNvPr>
              <p:cNvCxnSpPr>
                <a:cxnSpLocks/>
              </p:cNvCxnSpPr>
              <p:nvPr/>
            </p:nvCxnSpPr>
            <p:spPr>
              <a:xfrm>
                <a:off x="8354387" y="1196753"/>
                <a:ext cx="0" cy="506609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E4D55A4-E8E6-827F-35B3-C9A138E96331}"/>
                  </a:ext>
                </a:extLst>
              </p:cNvPr>
              <p:cNvCxnSpPr>
                <a:cxnSpLocks/>
              </p:cNvCxnSpPr>
              <p:nvPr/>
            </p:nvCxnSpPr>
            <p:spPr>
              <a:xfrm>
                <a:off x="10201669" y="1196753"/>
                <a:ext cx="0" cy="506609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3DAF51BE-C816-A68A-6E72-6BC9667B6058}"/>
                </a:ext>
              </a:extLst>
            </p:cNvPr>
            <p:cNvGrpSpPr/>
            <p:nvPr/>
          </p:nvGrpSpPr>
          <p:grpSpPr>
            <a:xfrm>
              <a:off x="549678" y="5620266"/>
              <a:ext cx="350835" cy="836486"/>
              <a:chOff x="550864" y="1334813"/>
              <a:chExt cx="206048" cy="1450427"/>
            </a:xfrm>
          </p:grpSpPr>
          <p:sp>
            <p:nvSpPr>
              <p:cNvPr id="54" name="Rectangle 53">
                <a:extLst>
                  <a:ext uri="{FF2B5EF4-FFF2-40B4-BE49-F238E27FC236}">
                    <a16:creationId xmlns:a16="http://schemas.microsoft.com/office/drawing/2014/main" id="{5EFE67CB-8BC5-723F-A55E-7841BFE9D5EA}"/>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a:solidFill>
                      <a:schemeClr val="tx1"/>
                    </a:solidFill>
                  </a:rPr>
                  <a:t>Revenue Enablement</a:t>
                </a:r>
              </a:p>
            </p:txBody>
          </p:sp>
          <p:cxnSp>
            <p:nvCxnSpPr>
              <p:cNvPr id="57" name="Straight Connector 56">
                <a:extLst>
                  <a:ext uri="{FF2B5EF4-FFF2-40B4-BE49-F238E27FC236}">
                    <a16:creationId xmlns:a16="http://schemas.microsoft.com/office/drawing/2014/main" id="{32D42D89-7578-1A38-8752-BCE807041B1C}"/>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B46904FA-997B-786E-F7A0-92FC04266A25}"/>
                </a:ext>
              </a:extLst>
            </p:cNvPr>
            <p:cNvGrpSpPr/>
            <p:nvPr/>
          </p:nvGrpSpPr>
          <p:grpSpPr>
            <a:xfrm>
              <a:off x="268264" y="4676273"/>
              <a:ext cx="192158" cy="1780478"/>
              <a:chOff x="644056" y="1334813"/>
              <a:chExt cx="112856" cy="1450427"/>
            </a:xfrm>
          </p:grpSpPr>
          <p:sp>
            <p:nvSpPr>
              <p:cNvPr id="61" name="Rectangle 60">
                <a:extLst>
                  <a:ext uri="{FF2B5EF4-FFF2-40B4-BE49-F238E27FC236}">
                    <a16:creationId xmlns:a16="http://schemas.microsoft.com/office/drawing/2014/main" id="{C2082D20-892E-52E4-9203-DB189CF36E6C}"/>
                  </a:ext>
                </a:extLst>
              </p:cNvPr>
              <p:cNvSpPr/>
              <p:nvPr/>
            </p:nvSpPr>
            <p:spPr>
              <a:xfrm>
                <a:off x="644056" y="1334813"/>
                <a:ext cx="112856"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b="1">
                    <a:solidFill>
                      <a:schemeClr val="tx1"/>
                    </a:solidFill>
                  </a:rPr>
                  <a:t>Value levers</a:t>
                </a:r>
              </a:p>
            </p:txBody>
          </p:sp>
          <p:cxnSp>
            <p:nvCxnSpPr>
              <p:cNvPr id="62" name="Straight Connector 61">
                <a:extLst>
                  <a:ext uri="{FF2B5EF4-FFF2-40B4-BE49-F238E27FC236}">
                    <a16:creationId xmlns:a16="http://schemas.microsoft.com/office/drawing/2014/main" id="{C77FC8D6-BDBD-61E5-82C3-524235D10B78}"/>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3" name="Rectangle 62">
              <a:extLst>
                <a:ext uri="{FF2B5EF4-FFF2-40B4-BE49-F238E27FC236}">
                  <a16:creationId xmlns:a16="http://schemas.microsoft.com/office/drawing/2014/main" id="{F0030369-ADBA-CFF6-D5F0-3734D5818947}"/>
                </a:ext>
              </a:extLst>
            </p:cNvPr>
            <p:cNvSpPr/>
            <p:nvPr/>
          </p:nvSpPr>
          <p:spPr>
            <a:xfrm>
              <a:off x="1023426"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Campaign velocity acceleration</a:t>
              </a:r>
            </a:p>
            <a:p>
              <a:pPr marL="171450" indent="-171450">
                <a:buFont typeface="Wingdings" panose="05000000000000000000" pitchFamily="2" charset="2"/>
                <a:buChar char="§"/>
              </a:pPr>
              <a:r>
                <a:rPr lang="en-US" sz="900">
                  <a:solidFill>
                    <a:schemeClr val="tx1"/>
                  </a:solidFill>
                </a:rPr>
                <a:t>Creative variant generation</a:t>
              </a:r>
            </a:p>
            <a:p>
              <a:pPr marL="171450" indent="-171450">
                <a:buFont typeface="Wingdings" panose="05000000000000000000" pitchFamily="2" charset="2"/>
                <a:buChar char="§"/>
              </a:pPr>
              <a:r>
                <a:rPr lang="en-US" sz="900">
                  <a:solidFill>
                    <a:schemeClr val="tx1"/>
                  </a:solidFill>
                </a:rPr>
                <a:t>Resource reallocation</a:t>
              </a:r>
            </a:p>
          </p:txBody>
        </p:sp>
        <p:sp>
          <p:nvSpPr>
            <p:cNvPr id="64" name="Rectangle 63">
              <a:extLst>
                <a:ext uri="{FF2B5EF4-FFF2-40B4-BE49-F238E27FC236}">
                  <a16:creationId xmlns:a16="http://schemas.microsoft.com/office/drawing/2014/main" id="{263C7026-3F1B-B40A-5555-E4495BC8C971}"/>
                </a:ext>
              </a:extLst>
            </p:cNvPr>
            <p:cNvSpPr/>
            <p:nvPr/>
          </p:nvSpPr>
          <p:spPr>
            <a:xfrm>
              <a:off x="1023426"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Campaign responsiveness premium</a:t>
              </a:r>
            </a:p>
            <a:p>
              <a:pPr marL="171450" indent="-171450">
                <a:buFont typeface="Wingdings" panose="05000000000000000000" pitchFamily="2" charset="2"/>
                <a:buChar char="§"/>
              </a:pPr>
              <a:r>
                <a:rPr lang="en-US" sz="900">
                  <a:solidFill>
                    <a:schemeClr val="tx1"/>
                  </a:solidFill>
                </a:rPr>
                <a:t>Cross-promotion effectiveness</a:t>
              </a:r>
            </a:p>
          </p:txBody>
        </p:sp>
        <p:sp>
          <p:nvSpPr>
            <p:cNvPr id="65" name="Rectangle 64">
              <a:extLst>
                <a:ext uri="{FF2B5EF4-FFF2-40B4-BE49-F238E27FC236}">
                  <a16:creationId xmlns:a16="http://schemas.microsoft.com/office/drawing/2014/main" id="{8BAD03BD-115D-7D1C-D5FA-AC981D34DE8D}"/>
                </a:ext>
              </a:extLst>
            </p:cNvPr>
            <p:cNvSpPr/>
            <p:nvPr/>
          </p:nvSpPr>
          <p:spPr>
            <a:xfrm>
              <a:off x="2870705"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Social content production scalability</a:t>
              </a:r>
            </a:p>
            <a:p>
              <a:pPr marL="171450" indent="-171450">
                <a:buFont typeface="Wingdings" panose="05000000000000000000" pitchFamily="2" charset="2"/>
                <a:buChar char="§"/>
              </a:pPr>
              <a:r>
                <a:rPr lang="en-US" sz="900">
                  <a:solidFill>
                    <a:schemeClr val="tx1"/>
                  </a:solidFill>
                </a:rPr>
                <a:t>Platform-native optimization</a:t>
              </a:r>
            </a:p>
            <a:p>
              <a:pPr marL="171450" indent="-171450">
                <a:buFont typeface="Wingdings" panose="05000000000000000000" pitchFamily="2" charset="2"/>
                <a:buChar char="§"/>
              </a:pPr>
              <a:r>
                <a:rPr lang="en-US" sz="900">
                  <a:solidFill>
                    <a:schemeClr val="tx1"/>
                  </a:solidFill>
                </a:rPr>
                <a:t>Hashtag and caption automation</a:t>
              </a:r>
            </a:p>
          </p:txBody>
        </p:sp>
        <p:sp>
          <p:nvSpPr>
            <p:cNvPr id="66" name="Rectangle 65">
              <a:extLst>
                <a:ext uri="{FF2B5EF4-FFF2-40B4-BE49-F238E27FC236}">
                  <a16:creationId xmlns:a16="http://schemas.microsoft.com/office/drawing/2014/main" id="{F6522220-045B-9A43-F387-B3EFA089DF87}"/>
                </a:ext>
              </a:extLst>
            </p:cNvPr>
            <p:cNvSpPr/>
            <p:nvPr/>
          </p:nvSpPr>
          <p:spPr>
            <a:xfrm>
              <a:off x="2870705"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Social monetization arbitrage</a:t>
              </a:r>
            </a:p>
            <a:p>
              <a:pPr marL="171450" indent="-171450">
                <a:buFont typeface="Wingdings" panose="05000000000000000000" pitchFamily="2" charset="2"/>
                <a:buChar char="§"/>
              </a:pPr>
              <a:r>
                <a:rPr lang="en-US" sz="900">
                  <a:solidFill>
                    <a:schemeClr val="tx1"/>
                  </a:solidFill>
                </a:rPr>
                <a:t>Audience growth velocity</a:t>
              </a:r>
            </a:p>
            <a:p>
              <a:pPr marL="171450" indent="-171450">
                <a:buFont typeface="Wingdings" panose="05000000000000000000" pitchFamily="2" charset="2"/>
                <a:buChar char="§"/>
              </a:pPr>
              <a:r>
                <a:rPr lang="en-US" sz="900">
                  <a:solidFill>
                    <a:schemeClr val="tx1"/>
                  </a:solidFill>
                </a:rPr>
                <a:t>Real-time engagement capture</a:t>
              </a:r>
            </a:p>
          </p:txBody>
        </p:sp>
        <p:sp>
          <p:nvSpPr>
            <p:cNvPr id="67" name="Rectangle 66">
              <a:extLst>
                <a:ext uri="{FF2B5EF4-FFF2-40B4-BE49-F238E27FC236}">
                  <a16:creationId xmlns:a16="http://schemas.microsoft.com/office/drawing/2014/main" id="{BF928FB9-144A-7F6E-A0D7-DC4F3E3D5C71}"/>
                </a:ext>
              </a:extLst>
            </p:cNvPr>
            <p:cNvSpPr/>
            <p:nvPr/>
          </p:nvSpPr>
          <p:spPr>
            <a:xfrm>
              <a:off x="4717984"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Talent soundbite library</a:t>
              </a:r>
            </a:p>
            <a:p>
              <a:pPr marL="171450" indent="-171450">
                <a:buFont typeface="Wingdings" panose="05000000000000000000" pitchFamily="2" charset="2"/>
                <a:buChar char="§"/>
              </a:pPr>
              <a:r>
                <a:rPr lang="en-US" sz="900">
                  <a:solidFill>
                    <a:schemeClr val="tx1"/>
                  </a:solidFill>
                </a:rPr>
                <a:t>Recap automation</a:t>
              </a:r>
            </a:p>
          </p:txBody>
        </p:sp>
        <p:sp>
          <p:nvSpPr>
            <p:cNvPr id="68" name="Rectangle 67">
              <a:extLst>
                <a:ext uri="{FF2B5EF4-FFF2-40B4-BE49-F238E27FC236}">
                  <a16:creationId xmlns:a16="http://schemas.microsoft.com/office/drawing/2014/main" id="{5E055A02-AACF-4C85-FADD-EDB0D82DAAA7}"/>
                </a:ext>
              </a:extLst>
            </p:cNvPr>
            <p:cNvSpPr/>
            <p:nvPr/>
          </p:nvSpPr>
          <p:spPr>
            <a:xfrm>
              <a:off x="4717984"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Companion content engagement</a:t>
              </a:r>
            </a:p>
            <a:p>
              <a:pPr marL="171450" indent="-171450">
                <a:buFont typeface="Wingdings" panose="05000000000000000000" pitchFamily="2" charset="2"/>
                <a:buChar char="§"/>
              </a:pPr>
              <a:r>
                <a:rPr lang="en-US" sz="900">
                  <a:solidFill>
                    <a:schemeClr val="tx1"/>
                  </a:solidFill>
                </a:rPr>
                <a:t>Talent as distribution channel</a:t>
              </a:r>
            </a:p>
          </p:txBody>
        </p:sp>
        <p:sp>
          <p:nvSpPr>
            <p:cNvPr id="70" name="Rectangle 69">
              <a:extLst>
                <a:ext uri="{FF2B5EF4-FFF2-40B4-BE49-F238E27FC236}">
                  <a16:creationId xmlns:a16="http://schemas.microsoft.com/office/drawing/2014/main" id="{315638E6-64F9-E491-3BA8-56C3466DD656}"/>
                </a:ext>
              </a:extLst>
            </p:cNvPr>
            <p:cNvSpPr/>
            <p:nvPr/>
          </p:nvSpPr>
          <p:spPr>
            <a:xfrm>
              <a:off x="6565263"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Platform team queue elimination</a:t>
              </a:r>
            </a:p>
            <a:p>
              <a:pPr marL="171450" indent="-171450">
                <a:buFont typeface="Wingdings" panose="05000000000000000000" pitchFamily="2" charset="2"/>
                <a:buChar char="§"/>
              </a:pPr>
              <a:r>
                <a:rPr lang="en-US" sz="900">
                  <a:solidFill>
                    <a:schemeClr val="tx1"/>
                  </a:solidFill>
                </a:rPr>
                <a:t>Format pre-optimization</a:t>
              </a:r>
            </a:p>
            <a:p>
              <a:pPr marL="171450" indent="-171450">
                <a:buFont typeface="Wingdings" panose="05000000000000000000" pitchFamily="2" charset="2"/>
                <a:buChar char="§"/>
              </a:pPr>
              <a:r>
                <a:rPr lang="en-US" sz="900">
                  <a:solidFill>
                    <a:schemeClr val="tx1"/>
                  </a:solidFill>
                </a:rPr>
                <a:t>Interstitial filler production</a:t>
              </a:r>
            </a:p>
          </p:txBody>
        </p:sp>
        <p:sp>
          <p:nvSpPr>
            <p:cNvPr id="71" name="Rectangle 70">
              <a:extLst>
                <a:ext uri="{FF2B5EF4-FFF2-40B4-BE49-F238E27FC236}">
                  <a16:creationId xmlns:a16="http://schemas.microsoft.com/office/drawing/2014/main" id="{A8ED4944-00C9-FD24-2DCD-B0FF6464772F}"/>
                </a:ext>
              </a:extLst>
            </p:cNvPr>
            <p:cNvSpPr/>
            <p:nvPr/>
          </p:nvSpPr>
          <p:spPr>
            <a:xfrm>
              <a:off x="6565263"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AVOD/FAST inventory expansion</a:t>
              </a:r>
            </a:p>
            <a:p>
              <a:pPr marL="171450" indent="-171450">
                <a:buFont typeface="Wingdings" panose="05000000000000000000" pitchFamily="2" charset="2"/>
                <a:buChar char="§"/>
              </a:pPr>
              <a:r>
                <a:rPr lang="en-US" sz="900">
                  <a:solidFill>
                    <a:schemeClr val="tx1"/>
                  </a:solidFill>
                </a:rPr>
                <a:t>Platform partnership value</a:t>
              </a:r>
            </a:p>
          </p:txBody>
        </p:sp>
        <p:sp>
          <p:nvSpPr>
            <p:cNvPr id="72" name="Rectangle 71">
              <a:extLst>
                <a:ext uri="{FF2B5EF4-FFF2-40B4-BE49-F238E27FC236}">
                  <a16:creationId xmlns:a16="http://schemas.microsoft.com/office/drawing/2014/main" id="{D3F49AD9-04E3-E555-F3AC-CF63150BD5C7}"/>
                </a:ext>
              </a:extLst>
            </p:cNvPr>
            <p:cNvSpPr/>
            <p:nvPr/>
          </p:nvSpPr>
          <p:spPr>
            <a:xfrm>
              <a:off x="8412542"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Digital ad creative production velocity</a:t>
              </a:r>
            </a:p>
            <a:p>
              <a:pPr marL="171450" indent="-171450">
                <a:buFont typeface="Wingdings" panose="05000000000000000000" pitchFamily="2" charset="2"/>
                <a:buChar char="§"/>
              </a:pPr>
              <a:r>
                <a:rPr lang="en-US" sz="900">
                  <a:solidFill>
                    <a:schemeClr val="tx1"/>
                  </a:solidFill>
                </a:rPr>
                <a:t>Localized variant generation</a:t>
              </a:r>
            </a:p>
            <a:p>
              <a:pPr marL="171450" indent="-171450">
                <a:buFont typeface="Wingdings" panose="05000000000000000000" pitchFamily="2" charset="2"/>
                <a:buChar char="§"/>
              </a:pPr>
              <a:r>
                <a:rPr lang="en-US" sz="900">
                  <a:solidFill>
                    <a:schemeClr val="tx1"/>
                  </a:solidFill>
                </a:rPr>
                <a:t>Creative test economics</a:t>
              </a:r>
            </a:p>
          </p:txBody>
        </p:sp>
        <p:sp>
          <p:nvSpPr>
            <p:cNvPr id="73" name="Rectangle 72">
              <a:extLst>
                <a:ext uri="{FF2B5EF4-FFF2-40B4-BE49-F238E27FC236}">
                  <a16:creationId xmlns:a16="http://schemas.microsoft.com/office/drawing/2014/main" id="{C19FAC25-B212-C34F-6FE3-31CCAF88D719}"/>
                </a:ext>
              </a:extLst>
            </p:cNvPr>
            <p:cNvSpPr/>
            <p:nvPr/>
          </p:nvSpPr>
          <p:spPr>
            <a:xfrm>
              <a:off x="8412542"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Campaign performance optimization</a:t>
              </a:r>
            </a:p>
            <a:p>
              <a:pPr marL="171450" indent="-171450">
                <a:buFont typeface="Wingdings" panose="05000000000000000000" pitchFamily="2" charset="2"/>
                <a:buChar char="§"/>
              </a:pPr>
              <a:r>
                <a:rPr lang="en-US" sz="900">
                  <a:solidFill>
                    <a:schemeClr val="tx1"/>
                  </a:solidFill>
                </a:rPr>
                <a:t>Personalization at scale</a:t>
              </a:r>
            </a:p>
          </p:txBody>
        </p:sp>
        <p:sp>
          <p:nvSpPr>
            <p:cNvPr id="74" name="Rectangle 73">
              <a:extLst>
                <a:ext uri="{FF2B5EF4-FFF2-40B4-BE49-F238E27FC236}">
                  <a16:creationId xmlns:a16="http://schemas.microsoft.com/office/drawing/2014/main" id="{FA867CC8-6902-9194-F92F-D1CC0EEA38ED}"/>
                </a:ext>
              </a:extLst>
            </p:cNvPr>
            <p:cNvSpPr/>
            <p:nvPr/>
          </p:nvSpPr>
          <p:spPr>
            <a:xfrm>
              <a:off x="10259821" y="4676273"/>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Evergreen content assembly</a:t>
              </a:r>
            </a:p>
            <a:p>
              <a:pPr marL="171450" indent="-171450">
                <a:buFont typeface="Wingdings" panose="05000000000000000000" pitchFamily="2" charset="2"/>
                <a:buChar char="§"/>
              </a:pPr>
              <a:r>
                <a:rPr lang="en-US" sz="900">
                  <a:solidFill>
                    <a:schemeClr val="tx1"/>
                  </a:solidFill>
                </a:rPr>
                <a:t>Template-driven production</a:t>
              </a:r>
            </a:p>
            <a:p>
              <a:pPr marL="171450" indent="-171450">
                <a:buFont typeface="Wingdings" panose="05000000000000000000" pitchFamily="2" charset="2"/>
                <a:buChar char="§"/>
              </a:pPr>
              <a:r>
                <a:rPr lang="en-US" sz="900">
                  <a:solidFill>
                    <a:schemeClr val="tx1"/>
                  </a:solidFill>
                </a:rPr>
                <a:t>Filler content economics</a:t>
              </a:r>
            </a:p>
          </p:txBody>
        </p:sp>
        <p:sp>
          <p:nvSpPr>
            <p:cNvPr id="75" name="Rectangle 74">
              <a:extLst>
                <a:ext uri="{FF2B5EF4-FFF2-40B4-BE49-F238E27FC236}">
                  <a16:creationId xmlns:a16="http://schemas.microsoft.com/office/drawing/2014/main" id="{933922B8-C8D7-BAD1-AF26-C5C8EBEFDBF9}"/>
                </a:ext>
              </a:extLst>
            </p:cNvPr>
            <p:cNvSpPr/>
            <p:nvPr/>
          </p:nvSpPr>
          <p:spPr>
            <a:xfrm>
              <a:off x="10259821" y="5616256"/>
              <a:ext cx="1730948" cy="83648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
              </a:pPr>
              <a:r>
                <a:rPr lang="en-US" sz="900">
                  <a:solidFill>
                    <a:schemeClr val="tx1"/>
                  </a:solidFill>
                </a:rPr>
                <a:t>Snackable content virality</a:t>
              </a:r>
            </a:p>
            <a:p>
              <a:pPr marL="171450" indent="-171450">
                <a:buFont typeface="Wingdings" panose="05000000000000000000" pitchFamily="2" charset="2"/>
                <a:buChar char="§"/>
              </a:pPr>
              <a:r>
                <a:rPr lang="en-US" sz="900">
                  <a:solidFill>
                    <a:schemeClr val="tx1"/>
                  </a:solidFill>
                </a:rPr>
                <a:t>Licensing revenue opportunities</a:t>
              </a:r>
            </a:p>
          </p:txBody>
        </p:sp>
        <p:cxnSp>
          <p:nvCxnSpPr>
            <p:cNvPr id="77" name="Straight Connector 76">
              <a:extLst>
                <a:ext uri="{FF2B5EF4-FFF2-40B4-BE49-F238E27FC236}">
                  <a16:creationId xmlns:a16="http://schemas.microsoft.com/office/drawing/2014/main" id="{0B42086B-422F-985F-A724-2E00A012A280}"/>
                </a:ext>
              </a:extLst>
            </p:cNvPr>
            <p:cNvCxnSpPr>
              <a:cxnSpLocks/>
            </p:cNvCxnSpPr>
            <p:nvPr/>
          </p:nvCxnSpPr>
          <p:spPr>
            <a:xfrm>
              <a:off x="1023426"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2D92593-AC8D-F5F9-64F2-3DA70845010A}"/>
                </a:ext>
              </a:extLst>
            </p:cNvPr>
            <p:cNvCxnSpPr>
              <a:cxnSpLocks/>
            </p:cNvCxnSpPr>
            <p:nvPr/>
          </p:nvCxnSpPr>
          <p:spPr>
            <a:xfrm>
              <a:off x="2870706"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7B63EFC-A30E-3C65-EA6C-5409BED3D781}"/>
                </a:ext>
              </a:extLst>
            </p:cNvPr>
            <p:cNvCxnSpPr>
              <a:cxnSpLocks/>
            </p:cNvCxnSpPr>
            <p:nvPr/>
          </p:nvCxnSpPr>
          <p:spPr>
            <a:xfrm>
              <a:off x="4717987"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6E6CBFA-41FF-9794-529B-7EFC9383A5A4}"/>
                </a:ext>
              </a:extLst>
            </p:cNvPr>
            <p:cNvCxnSpPr>
              <a:cxnSpLocks/>
            </p:cNvCxnSpPr>
            <p:nvPr/>
          </p:nvCxnSpPr>
          <p:spPr>
            <a:xfrm>
              <a:off x="6565263"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49FDA61-13FB-E0B5-B65A-E6EBF4DE87D6}"/>
                </a:ext>
              </a:extLst>
            </p:cNvPr>
            <p:cNvCxnSpPr>
              <a:cxnSpLocks/>
            </p:cNvCxnSpPr>
            <p:nvPr/>
          </p:nvCxnSpPr>
          <p:spPr>
            <a:xfrm>
              <a:off x="8412542"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90726DA-64E1-3AD0-D032-8EA24437E410}"/>
                </a:ext>
              </a:extLst>
            </p:cNvPr>
            <p:cNvCxnSpPr>
              <a:cxnSpLocks/>
            </p:cNvCxnSpPr>
            <p:nvPr/>
          </p:nvCxnSpPr>
          <p:spPr>
            <a:xfrm>
              <a:off x="10259821" y="4517378"/>
              <a:ext cx="1730948" cy="0"/>
            </a:xfrm>
            <a:prstGeom prst="line">
              <a:avLst/>
            </a:prstGeom>
            <a:ln w="19050">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grpSp>
      <p:pic>
        <p:nvPicPr>
          <p:cNvPr id="85" name="Graphic 84" descr="Circle with left arrow outline">
            <a:hlinkClick r:id="rId14" action="ppaction://hlinksldjump"/>
            <a:extLst>
              <a:ext uri="{FF2B5EF4-FFF2-40B4-BE49-F238E27FC236}">
                <a16:creationId xmlns:a16="http://schemas.microsoft.com/office/drawing/2014/main" id="{41B07544-CADE-3BA2-DC87-F6D8A6E1653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778341" y="912204"/>
            <a:ext cx="288296" cy="288296"/>
          </a:xfrm>
          <a:prstGeom prst="rect">
            <a:avLst/>
          </a:prstGeom>
        </p:spPr>
      </p:pic>
      <p:sp>
        <p:nvSpPr>
          <p:cNvPr id="86" name="Rectangle 85">
            <a:extLst>
              <a:ext uri="{FF2B5EF4-FFF2-40B4-BE49-F238E27FC236}">
                <a16:creationId xmlns:a16="http://schemas.microsoft.com/office/drawing/2014/main" id="{83F64F80-B547-AE27-5FD9-2CEC1332A339}"/>
              </a:ext>
            </a:extLst>
          </p:cNvPr>
          <p:cNvSpPr/>
          <p:nvPr/>
        </p:nvSpPr>
        <p:spPr>
          <a:xfrm>
            <a:off x="11369675" y="994797"/>
            <a:ext cx="499066" cy="12311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tx1"/>
                </a:solidFill>
              </a:rPr>
              <a:t>Details</a:t>
            </a:r>
          </a:p>
        </p:txBody>
      </p:sp>
    </p:spTree>
    <p:extLst>
      <p:ext uri="{BB962C8B-B14F-4D97-AF65-F5344CB8AC3E}">
        <p14:creationId xmlns:p14="http://schemas.microsoft.com/office/powerpoint/2010/main" val="888707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76BB-44B8-A854-05ED-5BCB7223CA4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1AD3983-EE3C-2C55-506C-8D2DB389C7DB}"/>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FF02E17-CA73-8A56-7D5A-92E62F0934A7}"/>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BB5C4C24-6CCE-C912-5577-E7A3AA05D5D8}"/>
              </a:ext>
            </a:extLst>
          </p:cNvPr>
          <p:cNvSpPr>
            <a:spLocks noGrp="1"/>
          </p:cNvSpPr>
          <p:nvPr>
            <p:ph type="sldNum" sz="quarter" idx="30"/>
          </p:nvPr>
        </p:nvSpPr>
        <p:spPr/>
        <p:txBody>
          <a:bodyPr/>
          <a:lstStyle/>
          <a:p>
            <a:pPr algn="r"/>
            <a:fld id="{5D9A5160-6218-4E5A-B9E6-B93E3DAE377C}" type="slidenum">
              <a:rPr lang="en-US" smtClean="0"/>
              <a:pPr algn="r"/>
              <a:t>10</a:t>
            </a:fld>
            <a:endParaRPr lang="en-US"/>
          </a:p>
        </p:txBody>
      </p:sp>
      <p:sp>
        <p:nvSpPr>
          <p:cNvPr id="5" name="Title 4">
            <a:extLst>
              <a:ext uri="{FF2B5EF4-FFF2-40B4-BE49-F238E27FC236}">
                <a16:creationId xmlns:a16="http://schemas.microsoft.com/office/drawing/2014/main" id="{2C8C6C56-48C3-72FD-1D52-EE7D023E46B7}"/>
              </a:ext>
            </a:extLst>
          </p:cNvPr>
          <p:cNvSpPr>
            <a:spLocks noGrp="1"/>
          </p:cNvSpPr>
          <p:nvPr>
            <p:ph type="title"/>
          </p:nvPr>
        </p:nvSpPr>
        <p:spPr/>
        <p:txBody>
          <a:bodyPr/>
          <a:lstStyle/>
          <a:p>
            <a:r>
              <a:rPr lang="en-US"/>
              <a:t>The domain-specific metadata stores optimized for linear become the </a:t>
            </a:r>
            <a:r>
              <a:rPr lang="en-US" b="1"/>
              <a:t>foundation for automated editorial workflows</a:t>
            </a:r>
            <a:r>
              <a:rPr lang="en-US"/>
              <a:t> across streaming, social, and digital channels.</a:t>
            </a:r>
          </a:p>
        </p:txBody>
      </p:sp>
      <p:grpSp>
        <p:nvGrpSpPr>
          <p:cNvPr id="141" name="Group 140">
            <a:extLst>
              <a:ext uri="{FF2B5EF4-FFF2-40B4-BE49-F238E27FC236}">
                <a16:creationId xmlns:a16="http://schemas.microsoft.com/office/drawing/2014/main" id="{8FE10CBA-60E9-8B9A-54D1-EDC2DA998544}"/>
              </a:ext>
            </a:extLst>
          </p:cNvPr>
          <p:cNvGrpSpPr/>
          <p:nvPr/>
        </p:nvGrpSpPr>
        <p:grpSpPr>
          <a:xfrm>
            <a:off x="550864" y="1428722"/>
            <a:ext cx="11360149" cy="5170931"/>
            <a:chOff x="550864" y="1376172"/>
            <a:chExt cx="11360149" cy="5170931"/>
          </a:xfrm>
        </p:grpSpPr>
        <p:sp>
          <p:nvSpPr>
            <p:cNvPr id="7" name="Rectangle: Rounded Corners 6">
              <a:extLst>
                <a:ext uri="{FF2B5EF4-FFF2-40B4-BE49-F238E27FC236}">
                  <a16:creationId xmlns:a16="http://schemas.microsoft.com/office/drawing/2014/main" id="{309DBE4C-EA58-5036-FDEA-E14453AF31D5}"/>
                </a:ext>
              </a:extLst>
            </p:cNvPr>
            <p:cNvSpPr/>
            <p:nvPr/>
          </p:nvSpPr>
          <p:spPr>
            <a:xfrm>
              <a:off x="550864" y="1377734"/>
              <a:ext cx="3555470"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1100" b="1">
                  <a:solidFill>
                    <a:schemeClr val="tx1"/>
                  </a:solidFill>
                </a:rPr>
                <a:t>Domain Layer</a:t>
              </a:r>
            </a:p>
          </p:txBody>
        </p:sp>
        <p:sp>
          <p:nvSpPr>
            <p:cNvPr id="8" name="Rectangle: Rounded Corners 7">
              <a:extLst>
                <a:ext uri="{FF2B5EF4-FFF2-40B4-BE49-F238E27FC236}">
                  <a16:creationId xmlns:a16="http://schemas.microsoft.com/office/drawing/2014/main" id="{DB0868D4-7DB8-998F-19FE-9CAC91F32CAB}"/>
                </a:ext>
              </a:extLst>
            </p:cNvPr>
            <p:cNvSpPr/>
            <p:nvPr/>
          </p:nvSpPr>
          <p:spPr>
            <a:xfrm>
              <a:off x="611718" y="1719072"/>
              <a:ext cx="1105836" cy="2137349"/>
            </a:xfrm>
            <a:prstGeom prst="roundRect">
              <a:avLst>
                <a:gd name="adj" fmla="val 3493"/>
              </a:avLst>
            </a:prstGeom>
            <a:solidFill>
              <a:schemeClr val="bg1">
                <a:lumMod val="95000"/>
              </a:schemeClr>
            </a:solid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en-US" sz="1100" b="1">
                <a:solidFill>
                  <a:schemeClr val="tx1"/>
                </a:solidFill>
              </a:endParaRPr>
            </a:p>
            <a:p>
              <a:pPr algn="ctr"/>
              <a:endParaRPr lang="en-US" sz="1100" b="1">
                <a:solidFill>
                  <a:schemeClr val="tx1"/>
                </a:solidFill>
              </a:endParaRPr>
            </a:p>
            <a:p>
              <a:pPr algn="ctr"/>
              <a:endParaRPr lang="en-US" sz="1100" b="1">
                <a:solidFill>
                  <a:schemeClr val="tx1"/>
                </a:solidFill>
              </a:endParaRPr>
            </a:p>
            <a:p>
              <a:pPr algn="ctr"/>
              <a:r>
                <a:rPr lang="en-US" sz="1100">
                  <a:solidFill>
                    <a:schemeClr val="tx1"/>
                  </a:solidFill>
                </a:rPr>
                <a:t>Sports Domain</a:t>
              </a:r>
            </a:p>
            <a:p>
              <a:pPr algn="ctr"/>
              <a:endParaRPr lang="en-US" sz="1000" b="1">
                <a:solidFill>
                  <a:schemeClr val="tx1"/>
                </a:solidFill>
              </a:endParaRPr>
            </a:p>
            <a:p>
              <a:pPr algn="ctr"/>
              <a:r>
                <a:rPr lang="en-US" sz="1000">
                  <a:solidFill>
                    <a:schemeClr val="tx1">
                      <a:lumMod val="50000"/>
                      <a:lumOff val="50000"/>
                    </a:schemeClr>
                  </a:solidFill>
                </a:rPr>
                <a:t>Player stats, game state, competitive context to drive highlight narratives</a:t>
              </a:r>
            </a:p>
          </p:txBody>
        </p:sp>
        <p:sp>
          <p:nvSpPr>
            <p:cNvPr id="9" name="Rectangle: Rounded Corners 8">
              <a:extLst>
                <a:ext uri="{FF2B5EF4-FFF2-40B4-BE49-F238E27FC236}">
                  <a16:creationId xmlns:a16="http://schemas.microsoft.com/office/drawing/2014/main" id="{2C741DE4-0B7A-3D2C-7643-CC25376E0596}"/>
                </a:ext>
              </a:extLst>
            </p:cNvPr>
            <p:cNvSpPr/>
            <p:nvPr/>
          </p:nvSpPr>
          <p:spPr>
            <a:xfrm>
              <a:off x="1775680" y="1719072"/>
              <a:ext cx="1105836" cy="2137349"/>
            </a:xfrm>
            <a:prstGeom prst="roundRect">
              <a:avLst>
                <a:gd name="adj" fmla="val 3493"/>
              </a:avLst>
            </a:prstGeom>
            <a:solidFill>
              <a:schemeClr val="bg1">
                <a:lumMod val="95000"/>
              </a:schemeClr>
            </a:solid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en-US" sz="1100" b="1">
                <a:solidFill>
                  <a:schemeClr val="tx1"/>
                </a:solidFill>
              </a:endParaRPr>
            </a:p>
            <a:p>
              <a:pPr algn="ctr"/>
              <a:endParaRPr lang="en-US" sz="1100" b="1">
                <a:solidFill>
                  <a:schemeClr val="tx1"/>
                </a:solidFill>
              </a:endParaRPr>
            </a:p>
            <a:p>
              <a:pPr algn="ctr"/>
              <a:endParaRPr lang="en-US" sz="1100" b="1">
                <a:solidFill>
                  <a:schemeClr val="tx1"/>
                </a:solidFill>
              </a:endParaRPr>
            </a:p>
            <a:p>
              <a:pPr algn="ctr"/>
              <a:r>
                <a:rPr lang="en-US" sz="1100">
                  <a:solidFill>
                    <a:schemeClr val="tx1"/>
                  </a:solidFill>
                </a:rPr>
                <a:t>News Domain</a:t>
              </a:r>
            </a:p>
            <a:p>
              <a:pPr algn="ctr"/>
              <a:endParaRPr lang="en-US" sz="1000">
                <a:solidFill>
                  <a:schemeClr val="tx1">
                    <a:lumMod val="50000"/>
                    <a:lumOff val="50000"/>
                  </a:schemeClr>
                </a:solidFill>
              </a:endParaRPr>
            </a:p>
            <a:p>
              <a:pPr algn="ctr"/>
              <a:r>
                <a:rPr lang="en-US" sz="1000">
                  <a:solidFill>
                    <a:schemeClr val="tx1">
                      <a:lumMod val="50000"/>
                      <a:lumOff val="50000"/>
                    </a:schemeClr>
                  </a:solidFill>
                </a:rPr>
                <a:t>Topic taxonomy, urgency classification, source credibility, enabling rapid repackaging for platform-specific editorial tone</a:t>
              </a:r>
            </a:p>
          </p:txBody>
        </p:sp>
        <p:sp>
          <p:nvSpPr>
            <p:cNvPr id="10" name="Rectangle: Rounded Corners 9">
              <a:extLst>
                <a:ext uri="{FF2B5EF4-FFF2-40B4-BE49-F238E27FC236}">
                  <a16:creationId xmlns:a16="http://schemas.microsoft.com/office/drawing/2014/main" id="{A0862EBA-F1A9-AD11-5D80-D195E81224E3}"/>
                </a:ext>
              </a:extLst>
            </p:cNvPr>
            <p:cNvSpPr/>
            <p:nvPr/>
          </p:nvSpPr>
          <p:spPr>
            <a:xfrm>
              <a:off x="2939642" y="1719072"/>
              <a:ext cx="1105836" cy="2137349"/>
            </a:xfrm>
            <a:prstGeom prst="roundRect">
              <a:avLst>
                <a:gd name="adj" fmla="val 3493"/>
              </a:avLst>
            </a:prstGeom>
            <a:solidFill>
              <a:schemeClr val="bg1">
                <a:lumMod val="95000"/>
              </a:schemeClr>
            </a:solid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en-US" sz="1100" b="1">
                <a:solidFill>
                  <a:schemeClr val="tx1"/>
                </a:solidFill>
              </a:endParaRPr>
            </a:p>
            <a:p>
              <a:pPr algn="ctr"/>
              <a:endParaRPr lang="en-US" sz="1100" b="1">
                <a:solidFill>
                  <a:schemeClr val="tx1"/>
                </a:solidFill>
              </a:endParaRPr>
            </a:p>
            <a:p>
              <a:pPr algn="ctr"/>
              <a:r>
                <a:rPr lang="en-US" sz="1100">
                  <a:solidFill>
                    <a:schemeClr val="tx1"/>
                  </a:solidFill>
                </a:rPr>
                <a:t>General Entertainment Domain</a:t>
              </a:r>
            </a:p>
            <a:p>
              <a:pPr algn="ctr"/>
              <a:endParaRPr lang="en-US" sz="1000">
                <a:solidFill>
                  <a:schemeClr val="tx1">
                    <a:lumMod val="50000"/>
                    <a:lumOff val="50000"/>
                  </a:schemeClr>
                </a:solidFill>
              </a:endParaRPr>
            </a:p>
            <a:p>
              <a:pPr algn="ctr"/>
              <a:r>
                <a:rPr lang="en-US" sz="1000" noProof="0">
                  <a:solidFill>
                    <a:schemeClr val="tx1">
                      <a:lumMod val="50000"/>
                      <a:lumOff val="50000"/>
                    </a:schemeClr>
                  </a:solidFill>
                </a:rPr>
                <a:t>Character arcs, scene emotion, dialogue quotability to identify shareable moments</a:t>
              </a:r>
            </a:p>
          </p:txBody>
        </p:sp>
        <p:sp>
          <p:nvSpPr>
            <p:cNvPr id="48" name="Rectangle: Rounded Corners 47">
              <a:extLst>
                <a:ext uri="{FF2B5EF4-FFF2-40B4-BE49-F238E27FC236}">
                  <a16:creationId xmlns:a16="http://schemas.microsoft.com/office/drawing/2014/main" id="{DDDC23F5-7E13-0CE5-9962-F046C8C6752B}"/>
                </a:ext>
              </a:extLst>
            </p:cNvPr>
            <p:cNvSpPr/>
            <p:nvPr/>
          </p:nvSpPr>
          <p:spPr>
            <a:xfrm>
              <a:off x="611718" y="4055129"/>
              <a:ext cx="3433760" cy="1102900"/>
            </a:xfrm>
            <a:prstGeom prst="roundRect">
              <a:avLst>
                <a:gd name="adj" fmla="val 13371"/>
              </a:avLst>
            </a:prstGeom>
            <a:solidFill>
              <a:schemeClr val="bg1">
                <a:lumMod val="95000"/>
              </a:schemeClr>
            </a:solid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tx1"/>
                  </a:solidFill>
                </a:rPr>
                <a:t>Rights &amp; Compliance</a:t>
              </a:r>
            </a:p>
            <a:p>
              <a:pPr algn="ctr"/>
              <a:endParaRPr lang="en-US" sz="1000">
                <a:solidFill>
                  <a:schemeClr val="tx1">
                    <a:lumMod val="50000"/>
                    <a:lumOff val="50000"/>
                  </a:schemeClr>
                </a:solidFill>
              </a:endParaRPr>
            </a:p>
            <a:p>
              <a:pPr algn="ctr"/>
              <a:r>
                <a:rPr lang="en-US" sz="1000">
                  <a:solidFill>
                    <a:schemeClr val="tx1">
                      <a:lumMod val="50000"/>
                      <a:lumOff val="50000"/>
                    </a:schemeClr>
                  </a:solidFill>
                </a:rPr>
                <a:t>Centralized domain prevents platform-specific rights violations</a:t>
              </a:r>
            </a:p>
          </p:txBody>
        </p:sp>
        <p:sp>
          <p:nvSpPr>
            <p:cNvPr id="55" name="Rectangle: Rounded Corners 54">
              <a:extLst>
                <a:ext uri="{FF2B5EF4-FFF2-40B4-BE49-F238E27FC236}">
                  <a16:creationId xmlns:a16="http://schemas.microsoft.com/office/drawing/2014/main" id="{72BC48E3-5EAD-04FF-49A2-924A55A41F61}"/>
                </a:ext>
              </a:extLst>
            </p:cNvPr>
            <p:cNvSpPr/>
            <p:nvPr/>
          </p:nvSpPr>
          <p:spPr>
            <a:xfrm>
              <a:off x="611718" y="5356738"/>
              <a:ext cx="3433760" cy="1102900"/>
            </a:xfrm>
            <a:prstGeom prst="roundRect">
              <a:avLst>
                <a:gd name="adj" fmla="val 13371"/>
              </a:avLst>
            </a:prstGeom>
            <a:solidFill>
              <a:schemeClr val="bg1">
                <a:lumMod val="95000"/>
              </a:schemeClr>
            </a:solid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a:solidFill>
                    <a:schemeClr val="tx1"/>
                  </a:solidFill>
                </a:rPr>
                <a:t>Distribution</a:t>
              </a:r>
            </a:p>
            <a:p>
              <a:pPr algn="ctr"/>
              <a:endParaRPr lang="en-US" sz="1000">
                <a:solidFill>
                  <a:schemeClr val="tx1">
                    <a:lumMod val="50000"/>
                    <a:lumOff val="50000"/>
                  </a:schemeClr>
                </a:solidFill>
              </a:endParaRPr>
            </a:p>
            <a:p>
              <a:pPr algn="ctr"/>
              <a:r>
                <a:rPr lang="en-US" sz="1000">
                  <a:solidFill>
                    <a:schemeClr val="tx1">
                      <a:lumMod val="50000"/>
                      <a:lumOff val="50000"/>
                    </a:schemeClr>
                  </a:solidFill>
                </a:rPr>
                <a:t>Serves as the canonical record for all distribution endpoints</a:t>
              </a:r>
            </a:p>
          </p:txBody>
        </p:sp>
        <p:sp>
          <p:nvSpPr>
            <p:cNvPr id="6" name="Rectangle: Rounded Corners 5">
              <a:extLst>
                <a:ext uri="{FF2B5EF4-FFF2-40B4-BE49-F238E27FC236}">
                  <a16:creationId xmlns:a16="http://schemas.microsoft.com/office/drawing/2014/main" id="{8E193790-FDC8-A01D-0F73-7BE8A0EBDCE2}"/>
                </a:ext>
              </a:extLst>
            </p:cNvPr>
            <p:cNvSpPr/>
            <p:nvPr/>
          </p:nvSpPr>
          <p:spPr>
            <a:xfrm>
              <a:off x="4188220" y="1377735"/>
              <a:ext cx="1171749"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indent="0" algn="ctr" rtl="0" eaLnBrk="1" latinLnBrk="0" hangingPunct="1">
                <a:buNone/>
              </a:pPr>
              <a:r>
                <a:rPr lang="en-US" sz="1100" b="1">
                  <a:solidFill>
                    <a:srgbClr val="000000"/>
                  </a:solidFill>
                  <a:effectLst/>
                  <a:latin typeface="Helvetica" pitchFamily="2" charset="0"/>
                </a:rPr>
                <a:t>Discovery Layer</a:t>
              </a:r>
              <a:endParaRPr lang="en-US" sz="1100">
                <a:solidFill>
                  <a:srgbClr val="000000"/>
                </a:solidFill>
                <a:effectLst/>
                <a:latin typeface="Helvetica" pitchFamily="2" charset="0"/>
              </a:endParaRPr>
            </a:p>
            <a:p>
              <a:pPr marL="0" indent="0" algn="ctr" rtl="0" eaLnBrk="1" latinLnBrk="0" hangingPunct="1">
                <a:buNone/>
              </a:pPr>
              <a:endParaRPr lang="en-US" sz="1000">
                <a:solidFill>
                  <a:schemeClr val="tx1">
                    <a:lumMod val="50000"/>
                    <a:lumOff val="50000"/>
                  </a:schemeClr>
                </a:solidFill>
              </a:endParaRPr>
            </a:p>
            <a:p>
              <a:pPr marL="0" indent="0" algn="ctr" rtl="0" eaLnBrk="1" latinLnBrk="0" hangingPunct="1">
                <a:buNone/>
              </a:pPr>
              <a:r>
                <a:rPr lang="en-US" sz="1000">
                  <a:solidFill>
                    <a:schemeClr val="tx1">
                      <a:lumMod val="50000"/>
                      <a:lumOff val="50000"/>
                    </a:schemeClr>
                  </a:solidFill>
                </a:rPr>
                <a:t>The unified discovery interface identifies content and filters assets based on legal rights, formats, aspect ratios, and platform policies.</a:t>
              </a:r>
            </a:p>
          </p:txBody>
        </p:sp>
        <p:sp>
          <p:nvSpPr>
            <p:cNvPr id="91" name="Rectangle: Rounded Corners 90">
              <a:extLst>
                <a:ext uri="{FF2B5EF4-FFF2-40B4-BE49-F238E27FC236}">
                  <a16:creationId xmlns:a16="http://schemas.microsoft.com/office/drawing/2014/main" id="{CD8764DA-8FAF-C729-AE24-54A83DA71962}"/>
                </a:ext>
              </a:extLst>
            </p:cNvPr>
            <p:cNvSpPr/>
            <p:nvPr/>
          </p:nvSpPr>
          <p:spPr>
            <a:xfrm>
              <a:off x="5510125" y="1377735"/>
              <a:ext cx="1171749" cy="5169368"/>
            </a:xfrm>
            <a:prstGeom prst="roundRect">
              <a:avLst>
                <a:gd name="adj" fmla="val 6121"/>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Editorial Selection Interface</a:t>
              </a:r>
            </a:p>
            <a:p>
              <a:pPr algn="ctr"/>
              <a:endParaRPr lang="en-US" sz="1000" b="1">
                <a:solidFill>
                  <a:srgbClr val="002060"/>
                </a:solidFill>
              </a:endParaRPr>
            </a:p>
            <a:p>
              <a:pPr algn="ctr"/>
              <a:r>
                <a:rPr lang="en-US" sz="1000">
                  <a:solidFill>
                    <a:schemeClr val="tx1">
                      <a:lumMod val="50000"/>
                      <a:lumOff val="50000"/>
                    </a:schemeClr>
                  </a:solidFill>
                </a:rPr>
                <a:t>Metadata-driven content discovery</a:t>
              </a:r>
            </a:p>
            <a:p>
              <a:pPr algn="ctr"/>
              <a:r>
                <a:rPr lang="en-US" sz="1000">
                  <a:solidFill>
                    <a:schemeClr val="tx1">
                      <a:lumMod val="50000"/>
                      <a:lumOff val="50000"/>
                    </a:schemeClr>
                  </a:solidFill>
                </a:rPr>
                <a:t>AI-suggested candidates, manual curation</a:t>
              </a:r>
            </a:p>
          </p:txBody>
        </p:sp>
        <p:sp>
          <p:nvSpPr>
            <p:cNvPr id="93" name="Rectangle: Rounded Corners 92">
              <a:extLst>
                <a:ext uri="{FF2B5EF4-FFF2-40B4-BE49-F238E27FC236}">
                  <a16:creationId xmlns:a16="http://schemas.microsoft.com/office/drawing/2014/main" id="{00C4C0F4-3866-5EAF-4ABA-B1B45699BB3D}"/>
                </a:ext>
              </a:extLst>
            </p:cNvPr>
            <p:cNvSpPr/>
            <p:nvPr/>
          </p:nvSpPr>
          <p:spPr>
            <a:xfrm>
              <a:off x="6832030" y="1377735"/>
              <a:ext cx="1171749" cy="5169368"/>
            </a:xfrm>
            <a:prstGeom prst="roundRect">
              <a:avLst>
                <a:gd name="adj" fmla="val 6121"/>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100" b="1">
                  <a:solidFill>
                    <a:schemeClr val="tx1"/>
                  </a:solidFill>
                </a:rPr>
                <a:t>Format Routing &amp; Template Engine</a:t>
              </a:r>
            </a:p>
            <a:p>
              <a:pPr algn="ctr"/>
              <a:endParaRPr lang="en-US" sz="1000" b="1">
                <a:solidFill>
                  <a:srgbClr val="002060"/>
                </a:solidFill>
              </a:endParaRPr>
            </a:p>
            <a:p>
              <a:pPr algn="ctr"/>
              <a:r>
                <a:rPr lang="en-US" sz="1000">
                  <a:solidFill>
                    <a:schemeClr val="tx1">
                      <a:lumMod val="50000"/>
                      <a:lumOff val="50000"/>
                    </a:schemeClr>
                  </a:solidFill>
                </a:rPr>
                <a:t>Aspect ratio mapping, duration enforcement</a:t>
              </a:r>
            </a:p>
            <a:p>
              <a:pPr algn="ctr"/>
              <a:r>
                <a:rPr lang="en-US" sz="1000">
                  <a:solidFill>
                    <a:schemeClr val="tx1">
                      <a:lumMod val="50000"/>
                      <a:lumOff val="50000"/>
                    </a:schemeClr>
                  </a:solidFill>
                </a:rPr>
                <a:t>Platform-specific rendering rules</a:t>
              </a:r>
            </a:p>
          </p:txBody>
        </p:sp>
        <p:grpSp>
          <p:nvGrpSpPr>
            <p:cNvPr id="126" name="Group 125">
              <a:extLst>
                <a:ext uri="{FF2B5EF4-FFF2-40B4-BE49-F238E27FC236}">
                  <a16:creationId xmlns:a16="http://schemas.microsoft.com/office/drawing/2014/main" id="{C0B7CEB3-B991-C40B-40E0-779DBBA288D0}"/>
                </a:ext>
              </a:extLst>
            </p:cNvPr>
            <p:cNvGrpSpPr/>
            <p:nvPr/>
          </p:nvGrpSpPr>
          <p:grpSpPr>
            <a:xfrm>
              <a:off x="8294129" y="1376172"/>
              <a:ext cx="2355109" cy="597022"/>
              <a:chOff x="8486635" y="1376172"/>
              <a:chExt cx="2355109" cy="597022"/>
            </a:xfrm>
          </p:grpSpPr>
          <p:sp>
            <p:nvSpPr>
              <p:cNvPr id="96" name="Rectangle: Rounded Corners 95">
                <a:extLst>
                  <a:ext uri="{FF2B5EF4-FFF2-40B4-BE49-F238E27FC236}">
                    <a16:creationId xmlns:a16="http://schemas.microsoft.com/office/drawing/2014/main" id="{D60FBC22-F3E0-478A-AA18-CFD49296D34E}"/>
                  </a:ext>
                </a:extLst>
              </p:cNvPr>
              <p:cNvSpPr/>
              <p:nvPr/>
            </p:nvSpPr>
            <p:spPr>
              <a:xfrm>
                <a:off x="8486635" y="1376172"/>
                <a:ext cx="2355109" cy="597022"/>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Marketing &amp; Promotional Assets</a:t>
                </a:r>
              </a:p>
            </p:txBody>
          </p:sp>
          <p:pic>
            <p:nvPicPr>
              <p:cNvPr id="97" name="Graphic 96" descr="Megaphone outline">
                <a:extLst>
                  <a:ext uri="{FF2B5EF4-FFF2-40B4-BE49-F238E27FC236}">
                    <a16:creationId xmlns:a16="http://schemas.microsoft.com/office/drawing/2014/main" id="{D708DA01-5F8A-7C07-2247-5318B4EE22D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567757" y="1441314"/>
                <a:ext cx="459780" cy="459780"/>
              </a:xfrm>
              <a:prstGeom prst="rect">
                <a:avLst/>
              </a:prstGeom>
            </p:spPr>
          </p:pic>
        </p:grpSp>
        <p:grpSp>
          <p:nvGrpSpPr>
            <p:cNvPr id="116" name="Group 115">
              <a:extLst>
                <a:ext uri="{FF2B5EF4-FFF2-40B4-BE49-F238E27FC236}">
                  <a16:creationId xmlns:a16="http://schemas.microsoft.com/office/drawing/2014/main" id="{3BF7E129-9F42-2AA9-43CE-9ECF3B05FB93}"/>
                </a:ext>
              </a:extLst>
            </p:cNvPr>
            <p:cNvGrpSpPr/>
            <p:nvPr/>
          </p:nvGrpSpPr>
          <p:grpSpPr>
            <a:xfrm>
              <a:off x="8294128" y="2291891"/>
              <a:ext cx="2355109" cy="595460"/>
              <a:chOff x="8294128" y="2291891"/>
              <a:chExt cx="2355109" cy="595460"/>
            </a:xfrm>
          </p:grpSpPr>
          <p:sp>
            <p:nvSpPr>
              <p:cNvPr id="100" name="Rectangle: Rounded Corners 99">
                <a:extLst>
                  <a:ext uri="{FF2B5EF4-FFF2-40B4-BE49-F238E27FC236}">
                    <a16:creationId xmlns:a16="http://schemas.microsoft.com/office/drawing/2014/main" id="{91A42552-921E-C535-A3B9-ACBC75A871C9}"/>
                  </a:ext>
                </a:extLst>
              </p:cNvPr>
              <p:cNvSpPr/>
              <p:nvPr/>
            </p:nvSpPr>
            <p:spPr>
              <a:xfrm>
                <a:off x="8294128" y="2291891"/>
                <a:ext cx="2355109" cy="59546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Social &amp; Digital Formats</a:t>
                </a:r>
              </a:p>
            </p:txBody>
          </p:sp>
          <p:pic>
            <p:nvPicPr>
              <p:cNvPr id="101" name="Graphic 100" descr="Comment Like outline">
                <a:extLst>
                  <a:ext uri="{FF2B5EF4-FFF2-40B4-BE49-F238E27FC236}">
                    <a16:creationId xmlns:a16="http://schemas.microsoft.com/office/drawing/2014/main" id="{0CB5634E-D2C6-7918-9781-17BA0F2DE24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334690" y="2359731"/>
                <a:ext cx="459780" cy="459780"/>
              </a:xfrm>
              <a:prstGeom prst="rect">
                <a:avLst/>
              </a:prstGeom>
            </p:spPr>
          </p:pic>
        </p:grpSp>
        <p:grpSp>
          <p:nvGrpSpPr>
            <p:cNvPr id="132" name="Group 131">
              <a:extLst>
                <a:ext uri="{FF2B5EF4-FFF2-40B4-BE49-F238E27FC236}">
                  <a16:creationId xmlns:a16="http://schemas.microsoft.com/office/drawing/2014/main" id="{4146BF15-8E8E-23A5-23B7-76D9FD11311D}"/>
                </a:ext>
              </a:extLst>
            </p:cNvPr>
            <p:cNvGrpSpPr/>
            <p:nvPr/>
          </p:nvGrpSpPr>
          <p:grpSpPr>
            <a:xfrm>
              <a:off x="8294129" y="3206048"/>
              <a:ext cx="2355109" cy="597022"/>
              <a:chOff x="8294129" y="3206048"/>
              <a:chExt cx="2355109" cy="597022"/>
            </a:xfrm>
          </p:grpSpPr>
          <p:sp>
            <p:nvSpPr>
              <p:cNvPr id="118" name="Rectangle: Rounded Corners 117">
                <a:extLst>
                  <a:ext uri="{FF2B5EF4-FFF2-40B4-BE49-F238E27FC236}">
                    <a16:creationId xmlns:a16="http://schemas.microsoft.com/office/drawing/2014/main" id="{0CBA78A3-BB6A-101C-CAEE-1A5D049346AA}"/>
                  </a:ext>
                </a:extLst>
              </p:cNvPr>
              <p:cNvSpPr/>
              <p:nvPr/>
            </p:nvSpPr>
            <p:spPr>
              <a:xfrm>
                <a:off x="8294129" y="3206048"/>
                <a:ext cx="2355109" cy="597022"/>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Editorial / Content Extensions</a:t>
                </a:r>
              </a:p>
            </p:txBody>
          </p:sp>
          <p:pic>
            <p:nvPicPr>
              <p:cNvPr id="105" name="Graphic 104" descr="Director's Chair outline">
                <a:extLst>
                  <a:ext uri="{FF2B5EF4-FFF2-40B4-BE49-F238E27FC236}">
                    <a16:creationId xmlns:a16="http://schemas.microsoft.com/office/drawing/2014/main" id="{F5FF197D-C44C-AEAC-19E9-88C46D8FDFD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375251" y="3275450"/>
                <a:ext cx="459780" cy="459780"/>
              </a:xfrm>
              <a:prstGeom prst="rect">
                <a:avLst/>
              </a:prstGeom>
            </p:spPr>
          </p:pic>
        </p:grpSp>
        <p:grpSp>
          <p:nvGrpSpPr>
            <p:cNvPr id="133" name="Group 132">
              <a:extLst>
                <a:ext uri="{FF2B5EF4-FFF2-40B4-BE49-F238E27FC236}">
                  <a16:creationId xmlns:a16="http://schemas.microsoft.com/office/drawing/2014/main" id="{B934237B-E2E9-BCAC-B984-ADD3EE314895}"/>
                </a:ext>
              </a:extLst>
            </p:cNvPr>
            <p:cNvGrpSpPr/>
            <p:nvPr/>
          </p:nvGrpSpPr>
          <p:grpSpPr>
            <a:xfrm>
              <a:off x="8294128" y="4121767"/>
              <a:ext cx="2355109" cy="595460"/>
              <a:chOff x="8294128" y="4121767"/>
              <a:chExt cx="2355109" cy="595460"/>
            </a:xfrm>
          </p:grpSpPr>
          <p:sp>
            <p:nvSpPr>
              <p:cNvPr id="119" name="Rectangle: Rounded Corners 118">
                <a:extLst>
                  <a:ext uri="{FF2B5EF4-FFF2-40B4-BE49-F238E27FC236}">
                    <a16:creationId xmlns:a16="http://schemas.microsoft.com/office/drawing/2014/main" id="{5829EF3D-F205-E6B7-0380-5AE5A2CF2DAB}"/>
                  </a:ext>
                </a:extLst>
              </p:cNvPr>
              <p:cNvSpPr/>
              <p:nvPr/>
            </p:nvSpPr>
            <p:spPr>
              <a:xfrm>
                <a:off x="8294128" y="4121767"/>
                <a:ext cx="2355109" cy="59546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Platform-Specific Short Form Content</a:t>
                </a:r>
              </a:p>
            </p:txBody>
          </p:sp>
          <p:pic>
            <p:nvPicPr>
              <p:cNvPr id="109" name="Graphic 108" descr="Film strip outline">
                <a:extLst>
                  <a:ext uri="{FF2B5EF4-FFF2-40B4-BE49-F238E27FC236}">
                    <a16:creationId xmlns:a16="http://schemas.microsoft.com/office/drawing/2014/main" id="{6F3F5D86-5D65-24F8-435B-981E3DFE34A8}"/>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376319" y="4189607"/>
                <a:ext cx="459780" cy="459780"/>
              </a:xfrm>
              <a:prstGeom prst="rect">
                <a:avLst/>
              </a:prstGeom>
            </p:spPr>
          </p:pic>
        </p:grpSp>
        <p:grpSp>
          <p:nvGrpSpPr>
            <p:cNvPr id="134" name="Group 133">
              <a:extLst>
                <a:ext uri="{FF2B5EF4-FFF2-40B4-BE49-F238E27FC236}">
                  <a16:creationId xmlns:a16="http://schemas.microsoft.com/office/drawing/2014/main" id="{DD69CED6-ACAA-A819-86C9-D1B223E62891}"/>
                </a:ext>
              </a:extLst>
            </p:cNvPr>
            <p:cNvGrpSpPr/>
            <p:nvPr/>
          </p:nvGrpSpPr>
          <p:grpSpPr>
            <a:xfrm>
              <a:off x="8294129" y="5035924"/>
              <a:ext cx="2355109" cy="597022"/>
              <a:chOff x="8294129" y="5035924"/>
              <a:chExt cx="2355109" cy="597022"/>
            </a:xfrm>
          </p:grpSpPr>
          <p:sp>
            <p:nvSpPr>
              <p:cNvPr id="120" name="Rectangle: Rounded Corners 119">
                <a:extLst>
                  <a:ext uri="{FF2B5EF4-FFF2-40B4-BE49-F238E27FC236}">
                    <a16:creationId xmlns:a16="http://schemas.microsoft.com/office/drawing/2014/main" id="{059E1560-6B70-8FF7-129B-A018B687EC1B}"/>
                  </a:ext>
                </a:extLst>
              </p:cNvPr>
              <p:cNvSpPr/>
              <p:nvPr/>
            </p:nvSpPr>
            <p:spPr>
              <a:xfrm>
                <a:off x="8294129" y="5035924"/>
                <a:ext cx="2355109" cy="597022"/>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Paid Media / Advertising Short Form</a:t>
                </a:r>
              </a:p>
            </p:txBody>
          </p:sp>
          <p:pic>
            <p:nvPicPr>
              <p:cNvPr id="113" name="Graphic 112" descr="Ecommerce outline">
                <a:extLst>
                  <a:ext uri="{FF2B5EF4-FFF2-40B4-BE49-F238E27FC236}">
                    <a16:creationId xmlns:a16="http://schemas.microsoft.com/office/drawing/2014/main" id="{EF00889C-D12D-4C48-B4BA-ED30771C780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375251" y="5103764"/>
                <a:ext cx="459780" cy="459780"/>
              </a:xfrm>
              <a:prstGeom prst="rect">
                <a:avLst/>
              </a:prstGeom>
            </p:spPr>
          </p:pic>
        </p:grpSp>
        <p:grpSp>
          <p:nvGrpSpPr>
            <p:cNvPr id="135" name="Group 134">
              <a:extLst>
                <a:ext uri="{FF2B5EF4-FFF2-40B4-BE49-F238E27FC236}">
                  <a16:creationId xmlns:a16="http://schemas.microsoft.com/office/drawing/2014/main" id="{13815EA3-8F99-BC2E-DEF6-C88507F178EC}"/>
                </a:ext>
              </a:extLst>
            </p:cNvPr>
            <p:cNvGrpSpPr/>
            <p:nvPr/>
          </p:nvGrpSpPr>
          <p:grpSpPr>
            <a:xfrm>
              <a:off x="8294128" y="5951643"/>
              <a:ext cx="2355109" cy="595460"/>
              <a:chOff x="8294128" y="5951643"/>
              <a:chExt cx="2355109" cy="595460"/>
            </a:xfrm>
          </p:grpSpPr>
          <p:sp>
            <p:nvSpPr>
              <p:cNvPr id="121" name="Rectangle: Rounded Corners 120">
                <a:extLst>
                  <a:ext uri="{FF2B5EF4-FFF2-40B4-BE49-F238E27FC236}">
                    <a16:creationId xmlns:a16="http://schemas.microsoft.com/office/drawing/2014/main" id="{4C91F0B4-1CD9-DDDA-E8DF-C859AA17BCDF}"/>
                  </a:ext>
                </a:extLst>
              </p:cNvPr>
              <p:cNvSpPr/>
              <p:nvPr/>
            </p:nvSpPr>
            <p:spPr>
              <a:xfrm>
                <a:off x="8294128" y="5951643"/>
                <a:ext cx="2355109" cy="595460"/>
              </a:xfrm>
              <a:prstGeom prst="round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pPr marL="628650"/>
                <a:r>
                  <a:rPr lang="en-US" sz="1100">
                    <a:solidFill>
                      <a:schemeClr val="tx1"/>
                    </a:solidFill>
                  </a:rPr>
                  <a:t>Other Short-Form Content</a:t>
                </a:r>
              </a:p>
            </p:txBody>
          </p:sp>
          <p:pic>
            <p:nvPicPr>
              <p:cNvPr id="117" name="Graphic 116" descr="Basic Shapes outline">
                <a:extLst>
                  <a:ext uri="{FF2B5EF4-FFF2-40B4-BE49-F238E27FC236}">
                    <a16:creationId xmlns:a16="http://schemas.microsoft.com/office/drawing/2014/main" id="{1F59D663-3CB9-4519-6A81-9186845F13A6}"/>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376319" y="6019483"/>
                <a:ext cx="459780" cy="459780"/>
              </a:xfrm>
              <a:prstGeom prst="rect">
                <a:avLst/>
              </a:prstGeom>
            </p:spPr>
          </p:pic>
        </p:grpSp>
        <p:sp>
          <p:nvSpPr>
            <p:cNvPr id="12" name="Rectangle: Rounded Corners 11">
              <a:extLst>
                <a:ext uri="{FF2B5EF4-FFF2-40B4-BE49-F238E27FC236}">
                  <a16:creationId xmlns:a16="http://schemas.microsoft.com/office/drawing/2014/main" id="{279C9022-EEA5-534E-F358-593A93D752DE}"/>
                </a:ext>
              </a:extLst>
            </p:cNvPr>
            <p:cNvSpPr/>
            <p:nvPr/>
          </p:nvSpPr>
          <p:spPr>
            <a:xfrm>
              <a:off x="10725532" y="1376172"/>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Promos</a:t>
              </a:r>
            </a:p>
          </p:txBody>
        </p:sp>
        <p:sp>
          <p:nvSpPr>
            <p:cNvPr id="13" name="Rectangle: Rounded Corners 12">
              <a:extLst>
                <a:ext uri="{FF2B5EF4-FFF2-40B4-BE49-F238E27FC236}">
                  <a16:creationId xmlns:a16="http://schemas.microsoft.com/office/drawing/2014/main" id="{9534E0F0-68A5-CB35-13A3-DC0B335F5927}"/>
                </a:ext>
              </a:extLst>
            </p:cNvPr>
            <p:cNvSpPr/>
            <p:nvPr/>
          </p:nvSpPr>
          <p:spPr>
            <a:xfrm>
              <a:off x="11335132" y="1376172"/>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Teasers</a:t>
              </a:r>
            </a:p>
          </p:txBody>
        </p:sp>
        <p:sp>
          <p:nvSpPr>
            <p:cNvPr id="14" name="Rectangle: Rounded Corners 13">
              <a:extLst>
                <a:ext uri="{FF2B5EF4-FFF2-40B4-BE49-F238E27FC236}">
                  <a16:creationId xmlns:a16="http://schemas.microsoft.com/office/drawing/2014/main" id="{F8042540-D55B-F920-3D41-D2A9263E0270}"/>
                </a:ext>
              </a:extLst>
            </p:cNvPr>
            <p:cNvSpPr/>
            <p:nvPr/>
          </p:nvSpPr>
          <p:spPr>
            <a:xfrm>
              <a:off x="10725532" y="1607683"/>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Trailers</a:t>
              </a:r>
            </a:p>
          </p:txBody>
        </p:sp>
        <p:sp>
          <p:nvSpPr>
            <p:cNvPr id="15" name="Rectangle: Rounded Corners 14">
              <a:extLst>
                <a:ext uri="{FF2B5EF4-FFF2-40B4-BE49-F238E27FC236}">
                  <a16:creationId xmlns:a16="http://schemas.microsoft.com/office/drawing/2014/main" id="{A67A1539-5153-1CE2-BC82-F22BE48B439E}"/>
                </a:ext>
              </a:extLst>
            </p:cNvPr>
            <p:cNvSpPr/>
            <p:nvPr/>
          </p:nvSpPr>
          <p:spPr>
            <a:xfrm>
              <a:off x="11335131" y="1605868"/>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Bumpers</a:t>
              </a:r>
            </a:p>
          </p:txBody>
        </p:sp>
        <p:sp>
          <p:nvSpPr>
            <p:cNvPr id="17" name="Rectangle: Rounded Corners 16">
              <a:extLst>
                <a:ext uri="{FF2B5EF4-FFF2-40B4-BE49-F238E27FC236}">
                  <a16:creationId xmlns:a16="http://schemas.microsoft.com/office/drawing/2014/main" id="{3B17F3B7-4979-306F-3D45-FED08246CD97}"/>
                </a:ext>
              </a:extLst>
            </p:cNvPr>
            <p:cNvSpPr/>
            <p:nvPr/>
          </p:nvSpPr>
          <p:spPr>
            <a:xfrm>
              <a:off x="10725532" y="1837378"/>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Sizzles</a:t>
              </a:r>
            </a:p>
          </p:txBody>
        </p:sp>
        <p:sp>
          <p:nvSpPr>
            <p:cNvPr id="20" name="Rectangle: Rounded Corners 19">
              <a:extLst>
                <a:ext uri="{FF2B5EF4-FFF2-40B4-BE49-F238E27FC236}">
                  <a16:creationId xmlns:a16="http://schemas.microsoft.com/office/drawing/2014/main" id="{FB42596D-3B3B-A47E-E1D4-D400431AD61B}"/>
                </a:ext>
              </a:extLst>
            </p:cNvPr>
            <p:cNvSpPr/>
            <p:nvPr/>
          </p:nvSpPr>
          <p:spPr>
            <a:xfrm>
              <a:off x="10725532" y="2291891"/>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Verticals</a:t>
              </a:r>
            </a:p>
          </p:txBody>
        </p:sp>
        <p:sp>
          <p:nvSpPr>
            <p:cNvPr id="21" name="Rectangle: Rounded Corners 20">
              <a:extLst>
                <a:ext uri="{FF2B5EF4-FFF2-40B4-BE49-F238E27FC236}">
                  <a16:creationId xmlns:a16="http://schemas.microsoft.com/office/drawing/2014/main" id="{3CDC0917-B94A-DE1C-F614-B3B1734876F7}"/>
                </a:ext>
              </a:extLst>
            </p:cNvPr>
            <p:cNvSpPr/>
            <p:nvPr/>
          </p:nvSpPr>
          <p:spPr>
            <a:xfrm>
              <a:off x="11335132" y="2291891"/>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Reels</a:t>
              </a:r>
            </a:p>
          </p:txBody>
        </p:sp>
        <p:sp>
          <p:nvSpPr>
            <p:cNvPr id="23" name="Rectangle: Rounded Corners 22">
              <a:extLst>
                <a:ext uri="{FF2B5EF4-FFF2-40B4-BE49-F238E27FC236}">
                  <a16:creationId xmlns:a16="http://schemas.microsoft.com/office/drawing/2014/main" id="{C18EBAC9-90AF-2687-7586-8F302DD4D4F2}"/>
                </a:ext>
              </a:extLst>
            </p:cNvPr>
            <p:cNvSpPr/>
            <p:nvPr/>
          </p:nvSpPr>
          <p:spPr>
            <a:xfrm>
              <a:off x="10725532" y="2523402"/>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Shorts</a:t>
              </a:r>
            </a:p>
          </p:txBody>
        </p:sp>
        <p:sp>
          <p:nvSpPr>
            <p:cNvPr id="24" name="Rectangle: Rounded Corners 23">
              <a:extLst>
                <a:ext uri="{FF2B5EF4-FFF2-40B4-BE49-F238E27FC236}">
                  <a16:creationId xmlns:a16="http://schemas.microsoft.com/office/drawing/2014/main" id="{2030DC4B-476E-CA6C-23EA-64C59D12074D}"/>
                </a:ext>
              </a:extLst>
            </p:cNvPr>
            <p:cNvSpPr/>
            <p:nvPr/>
          </p:nvSpPr>
          <p:spPr>
            <a:xfrm>
              <a:off x="11335131" y="2521587"/>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err="1">
                  <a:solidFill>
                    <a:schemeClr val="tx1">
                      <a:lumMod val="50000"/>
                      <a:lumOff val="50000"/>
                    </a:schemeClr>
                  </a:solidFill>
                </a:rPr>
                <a:t>TikToks</a:t>
              </a:r>
              <a:endParaRPr lang="en-US" sz="700">
                <a:solidFill>
                  <a:schemeClr val="tx1">
                    <a:lumMod val="50000"/>
                    <a:lumOff val="50000"/>
                  </a:schemeClr>
                </a:solidFill>
              </a:endParaRPr>
            </a:p>
          </p:txBody>
        </p:sp>
        <p:sp>
          <p:nvSpPr>
            <p:cNvPr id="25" name="Rectangle: Rounded Corners 24">
              <a:extLst>
                <a:ext uri="{FF2B5EF4-FFF2-40B4-BE49-F238E27FC236}">
                  <a16:creationId xmlns:a16="http://schemas.microsoft.com/office/drawing/2014/main" id="{C0E25E62-F214-C9EC-108A-7F63FADE00B6}"/>
                </a:ext>
              </a:extLst>
            </p:cNvPr>
            <p:cNvSpPr/>
            <p:nvPr/>
          </p:nvSpPr>
          <p:spPr>
            <a:xfrm>
              <a:off x="10725532" y="2753097"/>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Stories</a:t>
              </a:r>
            </a:p>
          </p:txBody>
        </p:sp>
        <p:sp>
          <p:nvSpPr>
            <p:cNvPr id="26" name="Rectangle: Rounded Corners 25">
              <a:extLst>
                <a:ext uri="{FF2B5EF4-FFF2-40B4-BE49-F238E27FC236}">
                  <a16:creationId xmlns:a16="http://schemas.microsoft.com/office/drawing/2014/main" id="{8A63A744-ABCE-17D3-5BB5-6E763F8B2144}"/>
                </a:ext>
              </a:extLst>
            </p:cNvPr>
            <p:cNvSpPr/>
            <p:nvPr/>
          </p:nvSpPr>
          <p:spPr>
            <a:xfrm>
              <a:off x="11335131" y="2753097"/>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GIFs</a:t>
              </a:r>
            </a:p>
          </p:txBody>
        </p:sp>
        <p:sp>
          <p:nvSpPr>
            <p:cNvPr id="27" name="Rectangle: Rounded Corners 26">
              <a:extLst>
                <a:ext uri="{FF2B5EF4-FFF2-40B4-BE49-F238E27FC236}">
                  <a16:creationId xmlns:a16="http://schemas.microsoft.com/office/drawing/2014/main" id="{A59542E0-798F-D100-B41F-AA323335AE2C}"/>
                </a:ext>
              </a:extLst>
            </p:cNvPr>
            <p:cNvSpPr/>
            <p:nvPr/>
          </p:nvSpPr>
          <p:spPr>
            <a:xfrm>
              <a:off x="10725532" y="3337471"/>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BTS Clips</a:t>
              </a:r>
            </a:p>
          </p:txBody>
        </p:sp>
        <p:sp>
          <p:nvSpPr>
            <p:cNvPr id="28" name="Rectangle: Rounded Corners 27">
              <a:extLst>
                <a:ext uri="{FF2B5EF4-FFF2-40B4-BE49-F238E27FC236}">
                  <a16:creationId xmlns:a16="http://schemas.microsoft.com/office/drawing/2014/main" id="{383FE43D-065B-5CE0-2959-5905295A3BE5}"/>
                </a:ext>
              </a:extLst>
            </p:cNvPr>
            <p:cNvSpPr/>
            <p:nvPr/>
          </p:nvSpPr>
          <p:spPr>
            <a:xfrm>
              <a:off x="11335132" y="3337471"/>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Soundbites</a:t>
              </a:r>
            </a:p>
          </p:txBody>
        </p:sp>
        <p:sp>
          <p:nvSpPr>
            <p:cNvPr id="30" name="Rectangle: Rounded Corners 29">
              <a:extLst>
                <a:ext uri="{FF2B5EF4-FFF2-40B4-BE49-F238E27FC236}">
                  <a16:creationId xmlns:a16="http://schemas.microsoft.com/office/drawing/2014/main" id="{A68592FA-021F-C35B-E9F6-1F3521519B71}"/>
                </a:ext>
              </a:extLst>
            </p:cNvPr>
            <p:cNvSpPr/>
            <p:nvPr/>
          </p:nvSpPr>
          <p:spPr>
            <a:xfrm>
              <a:off x="10725532" y="3568982"/>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Interviews</a:t>
              </a:r>
            </a:p>
          </p:txBody>
        </p:sp>
        <p:sp>
          <p:nvSpPr>
            <p:cNvPr id="31" name="Rectangle: Rounded Corners 30">
              <a:extLst>
                <a:ext uri="{FF2B5EF4-FFF2-40B4-BE49-F238E27FC236}">
                  <a16:creationId xmlns:a16="http://schemas.microsoft.com/office/drawing/2014/main" id="{29F7C04B-9ED9-9B83-CA42-9A1CB0C56FF0}"/>
                </a:ext>
              </a:extLst>
            </p:cNvPr>
            <p:cNvSpPr/>
            <p:nvPr/>
          </p:nvSpPr>
          <p:spPr>
            <a:xfrm>
              <a:off x="11335131" y="3567167"/>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Recaps</a:t>
              </a:r>
            </a:p>
          </p:txBody>
        </p:sp>
        <p:sp>
          <p:nvSpPr>
            <p:cNvPr id="34" name="Rectangle: Rounded Corners 33">
              <a:extLst>
                <a:ext uri="{FF2B5EF4-FFF2-40B4-BE49-F238E27FC236}">
                  <a16:creationId xmlns:a16="http://schemas.microsoft.com/office/drawing/2014/main" id="{D5C050D5-2F3F-7B01-9AD3-C9B541D02B13}"/>
                </a:ext>
              </a:extLst>
            </p:cNvPr>
            <p:cNvSpPr/>
            <p:nvPr/>
          </p:nvSpPr>
          <p:spPr>
            <a:xfrm>
              <a:off x="10725532" y="4121820"/>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AVOD Cuts</a:t>
              </a:r>
            </a:p>
          </p:txBody>
        </p:sp>
        <p:sp>
          <p:nvSpPr>
            <p:cNvPr id="36" name="Rectangle: Rounded Corners 35">
              <a:extLst>
                <a:ext uri="{FF2B5EF4-FFF2-40B4-BE49-F238E27FC236}">
                  <a16:creationId xmlns:a16="http://schemas.microsoft.com/office/drawing/2014/main" id="{B133BE8A-FE0D-85E3-2DAB-EF6FE8B1A5D5}"/>
                </a:ext>
              </a:extLst>
            </p:cNvPr>
            <p:cNvSpPr/>
            <p:nvPr/>
          </p:nvSpPr>
          <p:spPr>
            <a:xfrm>
              <a:off x="11335132" y="4121820"/>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FAST</a:t>
              </a:r>
            </a:p>
          </p:txBody>
        </p:sp>
        <p:sp>
          <p:nvSpPr>
            <p:cNvPr id="37" name="Rectangle: Rounded Corners 36">
              <a:extLst>
                <a:ext uri="{FF2B5EF4-FFF2-40B4-BE49-F238E27FC236}">
                  <a16:creationId xmlns:a16="http://schemas.microsoft.com/office/drawing/2014/main" id="{854C4221-5449-7FA9-B639-FDE406473F72}"/>
                </a:ext>
              </a:extLst>
            </p:cNvPr>
            <p:cNvSpPr/>
            <p:nvPr/>
          </p:nvSpPr>
          <p:spPr>
            <a:xfrm>
              <a:off x="10725532" y="4353331"/>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YT Shorts</a:t>
              </a:r>
            </a:p>
          </p:txBody>
        </p:sp>
        <p:sp>
          <p:nvSpPr>
            <p:cNvPr id="38" name="Rectangle: Rounded Corners 37">
              <a:extLst>
                <a:ext uri="{FF2B5EF4-FFF2-40B4-BE49-F238E27FC236}">
                  <a16:creationId xmlns:a16="http://schemas.microsoft.com/office/drawing/2014/main" id="{359B5D88-FA93-22DB-38B9-D4E38543D498}"/>
                </a:ext>
              </a:extLst>
            </p:cNvPr>
            <p:cNvSpPr/>
            <p:nvPr/>
          </p:nvSpPr>
          <p:spPr>
            <a:xfrm>
              <a:off x="11335131" y="4351516"/>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OTT Clips</a:t>
              </a:r>
            </a:p>
          </p:txBody>
        </p:sp>
        <p:sp>
          <p:nvSpPr>
            <p:cNvPr id="39" name="Rectangle: Rounded Corners 38">
              <a:extLst>
                <a:ext uri="{FF2B5EF4-FFF2-40B4-BE49-F238E27FC236}">
                  <a16:creationId xmlns:a16="http://schemas.microsoft.com/office/drawing/2014/main" id="{B9F3F20C-DBBB-276C-D57F-4803978F1F22}"/>
                </a:ext>
              </a:extLst>
            </p:cNvPr>
            <p:cNvSpPr/>
            <p:nvPr/>
          </p:nvSpPr>
          <p:spPr>
            <a:xfrm>
              <a:off x="10725532" y="4583026"/>
              <a:ext cx="758443"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Streaming Snips</a:t>
              </a:r>
            </a:p>
          </p:txBody>
        </p:sp>
        <p:sp>
          <p:nvSpPr>
            <p:cNvPr id="41" name="Rectangle: Rounded Corners 40">
              <a:extLst>
                <a:ext uri="{FF2B5EF4-FFF2-40B4-BE49-F238E27FC236}">
                  <a16:creationId xmlns:a16="http://schemas.microsoft.com/office/drawing/2014/main" id="{139CFECE-87A9-ECF5-3812-D802D880F7AA}"/>
                </a:ext>
              </a:extLst>
            </p:cNvPr>
            <p:cNvSpPr/>
            <p:nvPr/>
          </p:nvSpPr>
          <p:spPr>
            <a:xfrm>
              <a:off x="10725532" y="5138676"/>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Digital Ads</a:t>
              </a:r>
            </a:p>
          </p:txBody>
        </p:sp>
        <p:sp>
          <p:nvSpPr>
            <p:cNvPr id="43" name="Rectangle: Rounded Corners 42">
              <a:extLst>
                <a:ext uri="{FF2B5EF4-FFF2-40B4-BE49-F238E27FC236}">
                  <a16:creationId xmlns:a16="http://schemas.microsoft.com/office/drawing/2014/main" id="{612E3358-9F86-2AD0-501B-88F101D7423A}"/>
                </a:ext>
              </a:extLst>
            </p:cNvPr>
            <p:cNvSpPr/>
            <p:nvPr/>
          </p:nvSpPr>
          <p:spPr>
            <a:xfrm>
              <a:off x="11335132" y="5138676"/>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Pre-rolls</a:t>
              </a:r>
            </a:p>
          </p:txBody>
        </p:sp>
        <p:sp>
          <p:nvSpPr>
            <p:cNvPr id="44" name="Rectangle: Rounded Corners 43">
              <a:extLst>
                <a:ext uri="{FF2B5EF4-FFF2-40B4-BE49-F238E27FC236}">
                  <a16:creationId xmlns:a16="http://schemas.microsoft.com/office/drawing/2014/main" id="{5DB73BC3-FEF7-0B35-941F-F9E65D0A43C3}"/>
                </a:ext>
              </a:extLst>
            </p:cNvPr>
            <p:cNvSpPr/>
            <p:nvPr/>
          </p:nvSpPr>
          <p:spPr>
            <a:xfrm>
              <a:off x="10725532" y="5370187"/>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Mid-rolls</a:t>
              </a:r>
            </a:p>
          </p:txBody>
        </p:sp>
        <p:sp>
          <p:nvSpPr>
            <p:cNvPr id="45" name="Rectangle: Rounded Corners 44">
              <a:extLst>
                <a:ext uri="{FF2B5EF4-FFF2-40B4-BE49-F238E27FC236}">
                  <a16:creationId xmlns:a16="http://schemas.microsoft.com/office/drawing/2014/main" id="{3B6DA540-F7C2-BE69-E30B-B9C22BA282B2}"/>
                </a:ext>
              </a:extLst>
            </p:cNvPr>
            <p:cNvSpPr/>
            <p:nvPr/>
          </p:nvSpPr>
          <p:spPr>
            <a:xfrm>
              <a:off x="11335131" y="5368372"/>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Promo packs</a:t>
              </a:r>
            </a:p>
          </p:txBody>
        </p:sp>
        <p:sp>
          <p:nvSpPr>
            <p:cNvPr id="61" name="Rectangle: Rounded Corners 60">
              <a:extLst>
                <a:ext uri="{FF2B5EF4-FFF2-40B4-BE49-F238E27FC236}">
                  <a16:creationId xmlns:a16="http://schemas.microsoft.com/office/drawing/2014/main" id="{ACF8EF9E-35BD-BAD4-B493-5986BB3ED1BF}"/>
                </a:ext>
              </a:extLst>
            </p:cNvPr>
            <p:cNvSpPr/>
            <p:nvPr/>
          </p:nvSpPr>
          <p:spPr>
            <a:xfrm>
              <a:off x="10725532" y="5949348"/>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Microcontent</a:t>
              </a:r>
            </a:p>
          </p:txBody>
        </p:sp>
        <p:sp>
          <p:nvSpPr>
            <p:cNvPr id="65" name="Rectangle: Rounded Corners 64">
              <a:extLst>
                <a:ext uri="{FF2B5EF4-FFF2-40B4-BE49-F238E27FC236}">
                  <a16:creationId xmlns:a16="http://schemas.microsoft.com/office/drawing/2014/main" id="{C6443046-DF19-4164-FBA9-FD754C9E4A74}"/>
                </a:ext>
              </a:extLst>
            </p:cNvPr>
            <p:cNvSpPr/>
            <p:nvPr/>
          </p:nvSpPr>
          <p:spPr>
            <a:xfrm>
              <a:off x="11335132" y="5949348"/>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Title Cards</a:t>
              </a:r>
            </a:p>
          </p:txBody>
        </p:sp>
        <p:sp>
          <p:nvSpPr>
            <p:cNvPr id="72" name="Rectangle: Rounded Corners 71">
              <a:extLst>
                <a:ext uri="{FF2B5EF4-FFF2-40B4-BE49-F238E27FC236}">
                  <a16:creationId xmlns:a16="http://schemas.microsoft.com/office/drawing/2014/main" id="{5236E913-F4A8-EAC8-E78A-F3064C00E159}"/>
                </a:ext>
              </a:extLst>
            </p:cNvPr>
            <p:cNvSpPr/>
            <p:nvPr/>
          </p:nvSpPr>
          <p:spPr>
            <a:xfrm>
              <a:off x="10725532" y="6180859"/>
              <a:ext cx="694943"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Motion posters</a:t>
              </a:r>
            </a:p>
          </p:txBody>
        </p:sp>
        <p:sp>
          <p:nvSpPr>
            <p:cNvPr id="78" name="Rectangle: Rounded Corners 77">
              <a:extLst>
                <a:ext uri="{FF2B5EF4-FFF2-40B4-BE49-F238E27FC236}">
                  <a16:creationId xmlns:a16="http://schemas.microsoft.com/office/drawing/2014/main" id="{84697221-39F0-F14D-80F3-919963C163A9}"/>
                </a:ext>
              </a:extLst>
            </p:cNvPr>
            <p:cNvSpPr/>
            <p:nvPr/>
          </p:nvSpPr>
          <p:spPr>
            <a:xfrm>
              <a:off x="10725532" y="6410554"/>
              <a:ext cx="575881"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Originals</a:t>
              </a:r>
            </a:p>
          </p:txBody>
        </p:sp>
        <p:sp>
          <p:nvSpPr>
            <p:cNvPr id="79" name="Rectangle: Rounded Corners 78">
              <a:extLst>
                <a:ext uri="{FF2B5EF4-FFF2-40B4-BE49-F238E27FC236}">
                  <a16:creationId xmlns:a16="http://schemas.microsoft.com/office/drawing/2014/main" id="{756DECD3-05D1-EAC1-26C2-1B6198D8496F}"/>
                </a:ext>
              </a:extLst>
            </p:cNvPr>
            <p:cNvSpPr/>
            <p:nvPr/>
          </p:nvSpPr>
          <p:spPr>
            <a:xfrm>
              <a:off x="11471275" y="6179044"/>
              <a:ext cx="439737" cy="135574"/>
            </a:xfrm>
            <a:prstGeom prst="roundRect">
              <a:avLst>
                <a:gd name="adj" fmla="val 50000"/>
              </a:avLst>
            </a:prstGeom>
            <a:solidFill>
              <a:schemeClr val="bg1"/>
            </a:solidFill>
            <a:ln w="31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tx1">
                      <a:lumMod val="50000"/>
                      <a:lumOff val="50000"/>
                    </a:schemeClr>
                  </a:solidFill>
                </a:rPr>
                <a:t>Loops</a:t>
              </a:r>
            </a:p>
          </p:txBody>
        </p:sp>
        <p:cxnSp>
          <p:nvCxnSpPr>
            <p:cNvPr id="83" name="Straight Arrow Connector 82">
              <a:extLst>
                <a:ext uri="{FF2B5EF4-FFF2-40B4-BE49-F238E27FC236}">
                  <a16:creationId xmlns:a16="http://schemas.microsoft.com/office/drawing/2014/main" id="{E4896F9D-B7EB-3AF0-479A-6E38AB6FE108}"/>
                </a:ext>
              </a:extLst>
            </p:cNvPr>
            <p:cNvCxnSpPr>
              <a:stCxn id="91" idx="3"/>
              <a:endCxn id="93" idx="1"/>
            </p:cNvCxnSpPr>
            <p:nvPr/>
          </p:nvCxnSpPr>
          <p:spPr>
            <a:xfrm>
              <a:off x="6681874" y="3962419"/>
              <a:ext cx="150156" cy="0"/>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A3B0C4F-0F6D-2AF6-2D6C-C5C4594E2842}"/>
                </a:ext>
              </a:extLst>
            </p:cNvPr>
            <p:cNvCxnSpPr>
              <a:cxnSpLocks/>
              <a:stCxn id="93" idx="3"/>
              <a:endCxn id="96" idx="1"/>
            </p:cNvCxnSpPr>
            <p:nvPr/>
          </p:nvCxnSpPr>
          <p:spPr>
            <a:xfrm flipV="1">
              <a:off x="8003779" y="1674683"/>
              <a:ext cx="290350" cy="2287736"/>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9C3A7186-E214-87D0-2641-C01474169983}"/>
                </a:ext>
              </a:extLst>
            </p:cNvPr>
            <p:cNvCxnSpPr>
              <a:cxnSpLocks/>
              <a:stCxn id="93" idx="3"/>
              <a:endCxn id="100" idx="1"/>
            </p:cNvCxnSpPr>
            <p:nvPr/>
          </p:nvCxnSpPr>
          <p:spPr>
            <a:xfrm flipV="1">
              <a:off x="8003779" y="2589621"/>
              <a:ext cx="290349" cy="1372798"/>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46DF51C-3143-332D-E418-46D6C9D9A6A4}"/>
                </a:ext>
              </a:extLst>
            </p:cNvPr>
            <p:cNvCxnSpPr>
              <a:cxnSpLocks/>
              <a:stCxn id="93" idx="3"/>
              <a:endCxn id="118" idx="1"/>
            </p:cNvCxnSpPr>
            <p:nvPr/>
          </p:nvCxnSpPr>
          <p:spPr>
            <a:xfrm flipV="1">
              <a:off x="8003779" y="3504559"/>
              <a:ext cx="290350" cy="457860"/>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ADB7526F-324D-978E-E8A3-56C765DE362B}"/>
                </a:ext>
              </a:extLst>
            </p:cNvPr>
            <p:cNvCxnSpPr>
              <a:cxnSpLocks/>
              <a:stCxn id="93" idx="3"/>
              <a:endCxn id="119" idx="1"/>
            </p:cNvCxnSpPr>
            <p:nvPr/>
          </p:nvCxnSpPr>
          <p:spPr>
            <a:xfrm>
              <a:off x="8003779" y="3962419"/>
              <a:ext cx="290349" cy="457078"/>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55D5D19A-005C-A1E4-9C0E-BCEC563067C6}"/>
                </a:ext>
              </a:extLst>
            </p:cNvPr>
            <p:cNvCxnSpPr>
              <a:cxnSpLocks/>
              <a:stCxn id="93" idx="3"/>
              <a:endCxn id="120" idx="1"/>
            </p:cNvCxnSpPr>
            <p:nvPr/>
          </p:nvCxnSpPr>
          <p:spPr>
            <a:xfrm>
              <a:off x="8003779" y="3962419"/>
              <a:ext cx="290350" cy="1372016"/>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EF3D7AC4-603F-648F-F923-3352B9007240}"/>
                </a:ext>
              </a:extLst>
            </p:cNvPr>
            <p:cNvCxnSpPr>
              <a:cxnSpLocks/>
              <a:stCxn id="93" idx="3"/>
              <a:endCxn id="121" idx="1"/>
            </p:cNvCxnSpPr>
            <p:nvPr/>
          </p:nvCxnSpPr>
          <p:spPr>
            <a:xfrm>
              <a:off x="8003779" y="3962419"/>
              <a:ext cx="290349" cy="2286954"/>
            </a:xfrm>
            <a:prstGeom prst="bentConnector3">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0" name="Group 139">
              <a:extLst>
                <a:ext uri="{FF2B5EF4-FFF2-40B4-BE49-F238E27FC236}">
                  <a16:creationId xmlns:a16="http://schemas.microsoft.com/office/drawing/2014/main" id="{A804B2BA-7617-CD18-BF03-3F07A2456A1E}"/>
                </a:ext>
              </a:extLst>
            </p:cNvPr>
            <p:cNvGrpSpPr/>
            <p:nvPr/>
          </p:nvGrpSpPr>
          <p:grpSpPr>
            <a:xfrm>
              <a:off x="5359969" y="3702245"/>
              <a:ext cx="150156" cy="520349"/>
              <a:chOff x="5359969" y="3803070"/>
              <a:chExt cx="150156" cy="520349"/>
            </a:xfrm>
          </p:grpSpPr>
          <p:cxnSp>
            <p:nvCxnSpPr>
              <p:cNvPr id="81" name="Straight Arrow Connector 80">
                <a:extLst>
                  <a:ext uri="{FF2B5EF4-FFF2-40B4-BE49-F238E27FC236}">
                    <a16:creationId xmlns:a16="http://schemas.microsoft.com/office/drawing/2014/main" id="{27C37C36-12AD-E143-958D-6FCB26D28D54}"/>
                  </a:ext>
                </a:extLst>
              </p:cNvPr>
              <p:cNvCxnSpPr>
                <a:cxnSpLocks/>
              </p:cNvCxnSpPr>
              <p:nvPr/>
            </p:nvCxnSpPr>
            <p:spPr>
              <a:xfrm>
                <a:off x="5359969" y="3803070"/>
                <a:ext cx="150156" cy="0"/>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2750446B-4E40-9F1C-2831-AFFCCBF3F5B9}"/>
                  </a:ext>
                </a:extLst>
              </p:cNvPr>
              <p:cNvCxnSpPr>
                <a:cxnSpLocks/>
              </p:cNvCxnSpPr>
              <p:nvPr/>
            </p:nvCxnSpPr>
            <p:spPr>
              <a:xfrm>
                <a:off x="5359969" y="4323419"/>
                <a:ext cx="150156" cy="0"/>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C60E4ED2-0EC3-F812-7B17-5261EB468DB2}"/>
                </a:ext>
              </a:extLst>
            </p:cNvPr>
            <p:cNvGrpSpPr/>
            <p:nvPr/>
          </p:nvGrpSpPr>
          <p:grpSpPr>
            <a:xfrm>
              <a:off x="4035950" y="3869708"/>
              <a:ext cx="198894" cy="185422"/>
              <a:chOff x="5018954" y="3752147"/>
              <a:chExt cx="381020" cy="381020"/>
            </a:xfrm>
          </p:grpSpPr>
          <p:sp>
            <p:nvSpPr>
              <p:cNvPr id="138" name="Oval 137">
                <a:extLst>
                  <a:ext uri="{FF2B5EF4-FFF2-40B4-BE49-F238E27FC236}">
                    <a16:creationId xmlns:a16="http://schemas.microsoft.com/office/drawing/2014/main" id="{5D4C4775-B594-DC34-A432-AF3D26EE01CE}"/>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9" name="Arrow: Left-Right 138">
                <a:extLst>
                  <a:ext uri="{FF2B5EF4-FFF2-40B4-BE49-F238E27FC236}">
                    <a16:creationId xmlns:a16="http://schemas.microsoft.com/office/drawing/2014/main" id="{72E0B2BB-E0E6-4EB1-48AA-FF96A151BB51}"/>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grpSp>
        <p:nvGrpSpPr>
          <p:cNvPr id="142" name="Group 141">
            <a:extLst>
              <a:ext uri="{FF2B5EF4-FFF2-40B4-BE49-F238E27FC236}">
                <a16:creationId xmlns:a16="http://schemas.microsoft.com/office/drawing/2014/main" id="{F8E48535-8F88-4DBA-21E6-0902085DC69B}"/>
              </a:ext>
            </a:extLst>
          </p:cNvPr>
          <p:cNvGrpSpPr/>
          <p:nvPr/>
        </p:nvGrpSpPr>
        <p:grpSpPr>
          <a:xfrm rot="5400000">
            <a:off x="2851800" y="-1146578"/>
            <a:ext cx="206048" cy="4810293"/>
            <a:chOff x="550864" y="1334813"/>
            <a:chExt cx="206048" cy="1450427"/>
          </a:xfrm>
        </p:grpSpPr>
        <p:sp>
          <p:nvSpPr>
            <p:cNvPr id="143" name="Rectangle 142">
              <a:extLst>
                <a:ext uri="{FF2B5EF4-FFF2-40B4-BE49-F238E27FC236}">
                  <a16:creationId xmlns:a16="http://schemas.microsoft.com/office/drawing/2014/main" id="{D5FFED7C-975B-B00A-C128-081F4A5B601F}"/>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r>
                <a:rPr lang="en-US" sz="1000" b="1">
                  <a:solidFill>
                    <a:schemeClr val="tx1"/>
                  </a:solidFill>
                </a:rPr>
                <a:t>Federated architecture</a:t>
              </a:r>
            </a:p>
          </p:txBody>
        </p:sp>
        <p:cxnSp>
          <p:nvCxnSpPr>
            <p:cNvPr id="144" name="Straight Connector 143">
              <a:extLst>
                <a:ext uri="{FF2B5EF4-FFF2-40B4-BE49-F238E27FC236}">
                  <a16:creationId xmlns:a16="http://schemas.microsoft.com/office/drawing/2014/main" id="{448BAE21-23D6-0A00-2682-A40EC3DF10C7}"/>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AED1C501-D713-2C3D-8265-82360E8ADAB7}"/>
              </a:ext>
            </a:extLst>
          </p:cNvPr>
          <p:cNvGrpSpPr/>
          <p:nvPr/>
        </p:nvGrpSpPr>
        <p:grpSpPr>
          <a:xfrm rot="5400000">
            <a:off x="6653928" y="11742"/>
            <a:ext cx="206048" cy="2493653"/>
            <a:chOff x="550864" y="1334813"/>
            <a:chExt cx="206048" cy="1450427"/>
          </a:xfrm>
        </p:grpSpPr>
        <p:sp>
          <p:nvSpPr>
            <p:cNvPr id="146" name="Rectangle 145">
              <a:extLst>
                <a:ext uri="{FF2B5EF4-FFF2-40B4-BE49-F238E27FC236}">
                  <a16:creationId xmlns:a16="http://schemas.microsoft.com/office/drawing/2014/main" id="{D813B0B7-A726-E057-446E-209C03FC67AA}"/>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r>
                <a:rPr lang="en-US" sz="1000" b="1">
                  <a:solidFill>
                    <a:schemeClr val="tx1"/>
                  </a:solidFill>
                </a:rPr>
                <a:t>Content generation workflow</a:t>
              </a:r>
            </a:p>
          </p:txBody>
        </p:sp>
        <p:cxnSp>
          <p:nvCxnSpPr>
            <p:cNvPr id="147" name="Straight Connector 146">
              <a:extLst>
                <a:ext uri="{FF2B5EF4-FFF2-40B4-BE49-F238E27FC236}">
                  <a16:creationId xmlns:a16="http://schemas.microsoft.com/office/drawing/2014/main" id="{5743EE2E-8991-8F07-EA23-85658A2B0E3D}"/>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48" name="Group 147">
            <a:extLst>
              <a:ext uri="{FF2B5EF4-FFF2-40B4-BE49-F238E27FC236}">
                <a16:creationId xmlns:a16="http://schemas.microsoft.com/office/drawing/2014/main" id="{E9A14467-60C0-1B61-BB7C-676A9D6DAD2F}"/>
              </a:ext>
            </a:extLst>
          </p:cNvPr>
          <p:cNvGrpSpPr/>
          <p:nvPr/>
        </p:nvGrpSpPr>
        <p:grpSpPr>
          <a:xfrm rot="5400000">
            <a:off x="9368659" y="81015"/>
            <a:ext cx="206048" cy="2355109"/>
            <a:chOff x="550864" y="1334813"/>
            <a:chExt cx="206048" cy="1450427"/>
          </a:xfrm>
        </p:grpSpPr>
        <p:sp>
          <p:nvSpPr>
            <p:cNvPr id="149" name="Rectangle 148">
              <a:extLst>
                <a:ext uri="{FF2B5EF4-FFF2-40B4-BE49-F238E27FC236}">
                  <a16:creationId xmlns:a16="http://schemas.microsoft.com/office/drawing/2014/main" id="{9F0D24BC-8E2F-57DF-BBAD-387E1C3C0AD7}"/>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r>
                <a:rPr lang="en-US" sz="1000" b="1">
                  <a:solidFill>
                    <a:schemeClr val="tx1"/>
                  </a:solidFill>
                </a:rPr>
                <a:t>Content family</a:t>
              </a:r>
            </a:p>
          </p:txBody>
        </p:sp>
        <p:cxnSp>
          <p:nvCxnSpPr>
            <p:cNvPr id="150" name="Straight Connector 149">
              <a:extLst>
                <a:ext uri="{FF2B5EF4-FFF2-40B4-BE49-F238E27FC236}">
                  <a16:creationId xmlns:a16="http://schemas.microsoft.com/office/drawing/2014/main" id="{723F9EF8-356D-B186-124B-74ED354C86C6}"/>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51" name="Group 150">
            <a:extLst>
              <a:ext uri="{FF2B5EF4-FFF2-40B4-BE49-F238E27FC236}">
                <a16:creationId xmlns:a16="http://schemas.microsoft.com/office/drawing/2014/main" id="{5361AE1D-6B58-A22C-DBFB-FEE8F425A9D1}"/>
              </a:ext>
            </a:extLst>
          </p:cNvPr>
          <p:cNvGrpSpPr/>
          <p:nvPr/>
        </p:nvGrpSpPr>
        <p:grpSpPr>
          <a:xfrm rot="5400000">
            <a:off x="11215248" y="665831"/>
            <a:ext cx="206048" cy="1185480"/>
            <a:chOff x="550864" y="1334813"/>
            <a:chExt cx="206048" cy="1450427"/>
          </a:xfrm>
        </p:grpSpPr>
        <p:sp>
          <p:nvSpPr>
            <p:cNvPr id="152" name="Rectangle 151">
              <a:extLst>
                <a:ext uri="{FF2B5EF4-FFF2-40B4-BE49-F238E27FC236}">
                  <a16:creationId xmlns:a16="http://schemas.microsoft.com/office/drawing/2014/main" id="{DACBD21F-B551-AC2E-34F4-CBE7A22B58A0}"/>
                </a:ext>
              </a:extLst>
            </p:cNvPr>
            <p:cNvSpPr/>
            <p:nvPr/>
          </p:nvSpPr>
          <p:spPr>
            <a:xfrm>
              <a:off x="550864" y="1334813"/>
              <a:ext cx="206048" cy="145042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r>
                <a:rPr lang="en-US" sz="1000" b="1">
                  <a:solidFill>
                    <a:schemeClr val="tx1"/>
                  </a:solidFill>
                </a:rPr>
                <a:t>Content sample</a:t>
              </a:r>
            </a:p>
          </p:txBody>
        </p:sp>
        <p:cxnSp>
          <p:nvCxnSpPr>
            <p:cNvPr id="153" name="Straight Connector 152">
              <a:extLst>
                <a:ext uri="{FF2B5EF4-FFF2-40B4-BE49-F238E27FC236}">
                  <a16:creationId xmlns:a16="http://schemas.microsoft.com/office/drawing/2014/main" id="{6776029E-4ABC-FE1F-9268-5F9664F4FBD1}"/>
                </a:ext>
              </a:extLst>
            </p:cNvPr>
            <p:cNvCxnSpPr>
              <a:cxnSpLocks/>
            </p:cNvCxnSpPr>
            <p:nvPr/>
          </p:nvCxnSpPr>
          <p:spPr>
            <a:xfrm>
              <a:off x="756912" y="1334813"/>
              <a:ext cx="0" cy="1450427"/>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54" name="Group 153">
            <a:extLst>
              <a:ext uri="{FF2B5EF4-FFF2-40B4-BE49-F238E27FC236}">
                <a16:creationId xmlns:a16="http://schemas.microsoft.com/office/drawing/2014/main" id="{14FE0761-4102-03A1-2B20-0F0CC0AF664B}"/>
              </a:ext>
            </a:extLst>
          </p:cNvPr>
          <p:cNvGrpSpPr/>
          <p:nvPr/>
        </p:nvGrpSpPr>
        <p:grpSpPr>
          <a:xfrm>
            <a:off x="10402888" y="93608"/>
            <a:ext cx="1185999" cy="178532"/>
            <a:chOff x="10704512" y="620688"/>
            <a:chExt cx="884375" cy="250540"/>
          </a:xfrm>
        </p:grpSpPr>
        <p:sp>
          <p:nvSpPr>
            <p:cNvPr id="155" name="Rectangle 154">
              <a:extLst>
                <a:ext uri="{FF2B5EF4-FFF2-40B4-BE49-F238E27FC236}">
                  <a16:creationId xmlns:a16="http://schemas.microsoft.com/office/drawing/2014/main" id="{97779CB5-0FD0-097D-B59B-C010FA95D3F1}"/>
                </a:ext>
              </a:extLst>
            </p:cNvPr>
            <p:cNvSpPr/>
            <p:nvPr/>
          </p:nvSpPr>
          <p:spPr>
            <a:xfrm>
              <a:off x="10725532" y="620688"/>
              <a:ext cx="863355" cy="2505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solidFill>
                </a:rPr>
                <a:t>NON-EXHAUSTIVE</a:t>
              </a:r>
            </a:p>
          </p:txBody>
        </p:sp>
        <p:cxnSp>
          <p:nvCxnSpPr>
            <p:cNvPr id="156" name="Straight Connector 155">
              <a:extLst>
                <a:ext uri="{FF2B5EF4-FFF2-40B4-BE49-F238E27FC236}">
                  <a16:creationId xmlns:a16="http://schemas.microsoft.com/office/drawing/2014/main" id="{790BC0DE-3A97-C3F2-3893-1B90223151D7}"/>
                </a:ext>
              </a:extLst>
            </p:cNvPr>
            <p:cNvCxnSpPr>
              <a:cxnSpLocks/>
            </p:cNvCxnSpPr>
            <p:nvPr/>
          </p:nvCxnSpPr>
          <p:spPr>
            <a:xfrm>
              <a:off x="10704512" y="871228"/>
              <a:ext cx="88437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3C7BDCE2-08EE-A7A5-B98E-E2B20392E290}"/>
                </a:ext>
              </a:extLst>
            </p:cNvPr>
            <p:cNvCxnSpPr/>
            <p:nvPr/>
          </p:nvCxnSpPr>
          <p:spPr>
            <a:xfrm>
              <a:off x="10709274" y="620688"/>
              <a:ext cx="0" cy="25054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8" name="Rectangle 157">
            <a:extLst>
              <a:ext uri="{FF2B5EF4-FFF2-40B4-BE49-F238E27FC236}">
                <a16:creationId xmlns:a16="http://schemas.microsoft.com/office/drawing/2014/main" id="{BA9E3598-698F-6668-3E8C-A0434EBFD44C}"/>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EDITORIAL FELXIBILITY</a:t>
            </a:r>
          </a:p>
        </p:txBody>
      </p:sp>
    </p:spTree>
    <p:extLst>
      <p:ext uri="{BB962C8B-B14F-4D97-AF65-F5344CB8AC3E}">
        <p14:creationId xmlns:p14="http://schemas.microsoft.com/office/powerpoint/2010/main" val="1194076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C6F1-2F96-FFD9-5D98-DC825FFB77A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C67606D-0CA9-867E-2D8B-816D355703B9}"/>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7138840-8F1C-284B-0633-07B0F35F931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B6DF9A11-B8AF-97B2-597C-31C4B60CCCF4}"/>
              </a:ext>
            </a:extLst>
          </p:cNvPr>
          <p:cNvSpPr>
            <a:spLocks noGrp="1"/>
          </p:cNvSpPr>
          <p:nvPr>
            <p:ph type="sldNum" sz="quarter" idx="30"/>
          </p:nvPr>
        </p:nvSpPr>
        <p:spPr/>
        <p:txBody>
          <a:bodyPr/>
          <a:lstStyle/>
          <a:p>
            <a:pPr algn="r"/>
            <a:fld id="{5D9A5160-6218-4E5A-B9E6-B93E3DAE377C}" type="slidenum">
              <a:rPr lang="en-US" smtClean="0"/>
              <a:pPr algn="r"/>
              <a:t>11</a:t>
            </a:fld>
            <a:endParaRPr lang="en-US"/>
          </a:p>
        </p:txBody>
      </p:sp>
      <p:sp>
        <p:nvSpPr>
          <p:cNvPr id="5" name="Title 4">
            <a:extLst>
              <a:ext uri="{FF2B5EF4-FFF2-40B4-BE49-F238E27FC236}">
                <a16:creationId xmlns:a16="http://schemas.microsoft.com/office/drawing/2014/main" id="{CB839D4E-C6C8-C786-AE04-5389C4E4FB25}"/>
              </a:ext>
            </a:extLst>
          </p:cNvPr>
          <p:cNvSpPr>
            <a:spLocks noGrp="1"/>
          </p:cNvSpPr>
          <p:nvPr>
            <p:ph type="title"/>
          </p:nvPr>
        </p:nvSpPr>
        <p:spPr/>
        <p:txBody>
          <a:bodyPr/>
          <a:lstStyle/>
          <a:p>
            <a:r>
              <a:rPr lang="en-US"/>
              <a:t>Editorial team shifts from manual production to </a:t>
            </a:r>
            <a:r>
              <a:rPr lang="en-US" b="1"/>
              <a:t>metadata-driven curation</a:t>
            </a:r>
          </a:p>
        </p:txBody>
      </p:sp>
      <p:sp>
        <p:nvSpPr>
          <p:cNvPr id="88" name="Rectangle 87">
            <a:extLst>
              <a:ext uri="{FF2B5EF4-FFF2-40B4-BE49-F238E27FC236}">
                <a16:creationId xmlns:a16="http://schemas.microsoft.com/office/drawing/2014/main" id="{BED12F90-7CD1-14C1-52CB-DD6CC7A3AFA5}"/>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WORKFLOW</a:t>
            </a:r>
          </a:p>
        </p:txBody>
      </p:sp>
      <p:sp>
        <p:nvSpPr>
          <p:cNvPr id="18" name="Rectangle 17">
            <a:extLst>
              <a:ext uri="{FF2B5EF4-FFF2-40B4-BE49-F238E27FC236}">
                <a16:creationId xmlns:a16="http://schemas.microsoft.com/office/drawing/2014/main" id="{0B743B52-5BF7-97D0-0C0D-BAB2D8C73969}"/>
              </a:ext>
            </a:extLst>
          </p:cNvPr>
          <p:cNvSpPr/>
          <p:nvPr/>
        </p:nvSpPr>
        <p:spPr>
          <a:xfrm>
            <a:off x="446246" y="1815270"/>
            <a:ext cx="1404939"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Content Ingest &amp; Metadata Enrichment</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Live or pre-recorded content enters domain-specific metadata store</a:t>
            </a:r>
          </a:p>
          <a:p>
            <a:pPr marL="171450" indent="-171450">
              <a:buFont typeface="Wingdings" panose="05000000000000000000" pitchFamily="2" charset="2"/>
              <a:buChar char="§"/>
            </a:pPr>
            <a:r>
              <a:rPr lang="en-US" sz="900">
                <a:solidFill>
                  <a:schemeClr val="bg1">
                    <a:lumMod val="50000"/>
                  </a:schemeClr>
                </a:solidFill>
              </a:rPr>
              <a:t>AI-assisted tagging: temporal markers, scene detection, speaker ID, sentiment, game state</a:t>
            </a:r>
          </a:p>
        </p:txBody>
      </p:sp>
      <p:sp>
        <p:nvSpPr>
          <p:cNvPr id="19" name="Rectangle 18">
            <a:extLst>
              <a:ext uri="{FF2B5EF4-FFF2-40B4-BE49-F238E27FC236}">
                <a16:creationId xmlns:a16="http://schemas.microsoft.com/office/drawing/2014/main" id="{3EE22DC5-A2ED-24C5-539D-00D6D0326114}"/>
              </a:ext>
            </a:extLst>
          </p:cNvPr>
          <p:cNvSpPr/>
          <p:nvPr/>
        </p:nvSpPr>
        <p:spPr>
          <a:xfrm>
            <a:off x="2264556" y="1815270"/>
            <a:ext cx="1466596"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Discovery Query</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Editor searches unified discovery layer: "Goals from last week" or "Breaking news climate"</a:t>
            </a:r>
          </a:p>
          <a:p>
            <a:pPr marL="171450" indent="-171450">
              <a:buFont typeface="Wingdings" panose="05000000000000000000" pitchFamily="2" charset="2"/>
              <a:buChar char="§"/>
            </a:pPr>
            <a:r>
              <a:rPr lang="en-US" sz="900">
                <a:solidFill>
                  <a:schemeClr val="bg1">
                    <a:lumMod val="50000"/>
                  </a:schemeClr>
                </a:solidFill>
              </a:rPr>
              <a:t>Discovery layer aggregates from Sports, News, Entertainment domains</a:t>
            </a:r>
          </a:p>
        </p:txBody>
      </p:sp>
      <p:sp>
        <p:nvSpPr>
          <p:cNvPr id="20" name="Rectangle 19">
            <a:extLst>
              <a:ext uri="{FF2B5EF4-FFF2-40B4-BE49-F238E27FC236}">
                <a16:creationId xmlns:a16="http://schemas.microsoft.com/office/drawing/2014/main" id="{AC86E750-BB05-A3E8-DD2E-DCB2651A9B26}"/>
              </a:ext>
            </a:extLst>
          </p:cNvPr>
          <p:cNvSpPr/>
          <p:nvPr/>
        </p:nvSpPr>
        <p:spPr>
          <a:xfrm>
            <a:off x="4144523" y="1815270"/>
            <a:ext cx="1404939"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Rights &amp; Compliance Check</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Discovery layer queries Rights domain: usage windows, platform restrictions, territorial limits</a:t>
            </a:r>
          </a:p>
          <a:p>
            <a:pPr marL="171450" indent="-171450">
              <a:buFont typeface="Wingdings" panose="05000000000000000000" pitchFamily="2" charset="2"/>
              <a:buChar char="§"/>
            </a:pPr>
            <a:r>
              <a:rPr lang="en-US" sz="900">
                <a:solidFill>
                  <a:schemeClr val="bg1">
                    <a:lumMod val="50000"/>
                  </a:schemeClr>
                </a:solidFill>
              </a:rPr>
              <a:t>Filters results to only rights-cleared content for intended platforms</a:t>
            </a:r>
          </a:p>
        </p:txBody>
      </p:sp>
      <p:sp>
        <p:nvSpPr>
          <p:cNvPr id="21" name="Rectangle 20">
            <a:extLst>
              <a:ext uri="{FF2B5EF4-FFF2-40B4-BE49-F238E27FC236}">
                <a16:creationId xmlns:a16="http://schemas.microsoft.com/office/drawing/2014/main" id="{C2C4CA04-10BF-7697-000C-817C728806BE}"/>
              </a:ext>
            </a:extLst>
          </p:cNvPr>
          <p:cNvSpPr/>
          <p:nvPr/>
        </p:nvSpPr>
        <p:spPr>
          <a:xfrm>
            <a:off x="5962833" y="1815270"/>
            <a:ext cx="1404939"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AI-Assisted Candidate Generation</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System suggests clips based on engagement metadata, viewership spikes, sentiment scores</a:t>
            </a:r>
          </a:p>
        </p:txBody>
      </p:sp>
      <p:sp>
        <p:nvSpPr>
          <p:cNvPr id="22" name="Rectangle 21">
            <a:extLst>
              <a:ext uri="{FF2B5EF4-FFF2-40B4-BE49-F238E27FC236}">
                <a16:creationId xmlns:a16="http://schemas.microsoft.com/office/drawing/2014/main" id="{A94E3B5C-5B66-289B-A8A9-C9160B589DF0}"/>
              </a:ext>
            </a:extLst>
          </p:cNvPr>
          <p:cNvSpPr/>
          <p:nvPr/>
        </p:nvSpPr>
        <p:spPr>
          <a:xfrm>
            <a:off x="7781143" y="1815270"/>
            <a:ext cx="1404939"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Curation &amp; Selection</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Editor reviews AI candidates, applies editorial judgment, selects final assets</a:t>
            </a:r>
          </a:p>
          <a:p>
            <a:pPr marL="171450" indent="-171450">
              <a:buFont typeface="Wingdings" panose="05000000000000000000" pitchFamily="2" charset="2"/>
              <a:buChar char="§"/>
            </a:pPr>
            <a:r>
              <a:rPr lang="en-US" sz="900">
                <a:solidFill>
                  <a:schemeClr val="bg1">
                    <a:lumMod val="50000"/>
                  </a:schemeClr>
                </a:solidFill>
              </a:rPr>
              <a:t>Can adjust in/out points, add editorial notes, assign narrative framing</a:t>
            </a:r>
          </a:p>
        </p:txBody>
      </p:sp>
      <p:sp>
        <p:nvSpPr>
          <p:cNvPr id="23" name="Rectangle 22">
            <a:extLst>
              <a:ext uri="{FF2B5EF4-FFF2-40B4-BE49-F238E27FC236}">
                <a16:creationId xmlns:a16="http://schemas.microsoft.com/office/drawing/2014/main" id="{813FFA28-FAA2-7A0A-049B-E0A834F8FBDE}"/>
              </a:ext>
            </a:extLst>
          </p:cNvPr>
          <p:cNvSpPr/>
          <p:nvPr/>
        </p:nvSpPr>
        <p:spPr>
          <a:xfrm>
            <a:off x="9599453" y="1815270"/>
            <a:ext cx="1937067" cy="16848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Target Format &amp; Platform Selection</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Editor specifies output formats: "TikTok vertical + Instagram Reel + YouTube Short"</a:t>
            </a:r>
          </a:p>
          <a:p>
            <a:pPr marL="171450" indent="-171450">
              <a:buFont typeface="Wingdings" panose="05000000000000000000" pitchFamily="2" charset="2"/>
              <a:buChar char="§"/>
            </a:pPr>
            <a:r>
              <a:rPr lang="en-US" sz="900">
                <a:solidFill>
                  <a:schemeClr val="bg1">
                    <a:lumMod val="50000"/>
                  </a:schemeClr>
                </a:solidFill>
              </a:rPr>
              <a:t>Distribution domain provides platform specs: aspect ratios, max duration, codec requirements</a:t>
            </a:r>
          </a:p>
          <a:p>
            <a:pPr marL="171450" indent="-171450">
              <a:buFont typeface="Wingdings" panose="05000000000000000000" pitchFamily="2" charset="2"/>
              <a:buChar char="§"/>
            </a:pPr>
            <a:r>
              <a:rPr lang="en-US" sz="900">
                <a:solidFill>
                  <a:schemeClr val="bg1">
                    <a:lumMod val="50000"/>
                  </a:schemeClr>
                </a:solidFill>
              </a:rPr>
              <a:t>Rights domain validates content cleared for selected platforms and territories</a:t>
            </a:r>
          </a:p>
        </p:txBody>
      </p:sp>
      <p:sp>
        <p:nvSpPr>
          <p:cNvPr id="24" name="Rectangle 23">
            <a:extLst>
              <a:ext uri="{FF2B5EF4-FFF2-40B4-BE49-F238E27FC236}">
                <a16:creationId xmlns:a16="http://schemas.microsoft.com/office/drawing/2014/main" id="{7ACD5822-E35B-51F7-AD6C-A02579DB3291}"/>
              </a:ext>
            </a:extLst>
          </p:cNvPr>
          <p:cNvSpPr/>
          <p:nvPr/>
        </p:nvSpPr>
        <p:spPr>
          <a:xfrm>
            <a:off x="446246" y="4573914"/>
            <a:ext cx="1404939" cy="173991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Metadata Enrichment Feedback Loop</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Performance data updates original metadata: "high-engagement moment" tag added</a:t>
            </a:r>
          </a:p>
          <a:p>
            <a:pPr marL="171450" indent="-171450">
              <a:buFont typeface="Wingdings" panose="05000000000000000000" pitchFamily="2" charset="2"/>
              <a:buChar char="§"/>
            </a:pPr>
            <a:r>
              <a:rPr lang="en-US" sz="900">
                <a:solidFill>
                  <a:schemeClr val="bg1">
                    <a:lumMod val="50000"/>
                  </a:schemeClr>
                </a:solidFill>
              </a:rPr>
              <a:t>Improves future AI candidate suggestions and template selection accuracy</a:t>
            </a:r>
          </a:p>
        </p:txBody>
      </p:sp>
      <p:sp>
        <p:nvSpPr>
          <p:cNvPr id="26" name="Rectangle 25">
            <a:extLst>
              <a:ext uri="{FF2B5EF4-FFF2-40B4-BE49-F238E27FC236}">
                <a16:creationId xmlns:a16="http://schemas.microsoft.com/office/drawing/2014/main" id="{CBD531CC-D71C-D1B0-3F15-661884419960}"/>
              </a:ext>
            </a:extLst>
          </p:cNvPr>
          <p:cNvSpPr/>
          <p:nvPr/>
        </p:nvSpPr>
        <p:spPr>
          <a:xfrm>
            <a:off x="2692955" y="4573914"/>
            <a:ext cx="1404939" cy="173991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Publish &amp; Performance Tracking</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Content published to selected platforms with metadata-driven captions and hashtags</a:t>
            </a:r>
          </a:p>
          <a:p>
            <a:pPr marL="171450" indent="-171450">
              <a:buFont typeface="Wingdings" panose="05000000000000000000" pitchFamily="2" charset="2"/>
              <a:buChar char="§"/>
            </a:pPr>
            <a:r>
              <a:rPr lang="en-US" sz="900">
                <a:solidFill>
                  <a:schemeClr val="bg1">
                    <a:lumMod val="50000"/>
                  </a:schemeClr>
                </a:solidFill>
              </a:rPr>
              <a:t>Performance metrics fed back to metadata store: engagement, completion rate, virality score</a:t>
            </a:r>
          </a:p>
        </p:txBody>
      </p:sp>
      <p:sp>
        <p:nvSpPr>
          <p:cNvPr id="27" name="Rectangle 26">
            <a:extLst>
              <a:ext uri="{FF2B5EF4-FFF2-40B4-BE49-F238E27FC236}">
                <a16:creationId xmlns:a16="http://schemas.microsoft.com/office/drawing/2014/main" id="{1DAD7A7C-8BF1-0795-F8F5-EE2C8231831B}"/>
              </a:ext>
            </a:extLst>
          </p:cNvPr>
          <p:cNvSpPr/>
          <p:nvPr/>
        </p:nvSpPr>
        <p:spPr>
          <a:xfrm>
            <a:off x="4939664" y="4573914"/>
            <a:ext cx="1404939" cy="173991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QA &amp; Approval</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Editor previews all variants, can request adjustments to framing or timing</a:t>
            </a:r>
          </a:p>
          <a:p>
            <a:pPr marL="171450" indent="-171450">
              <a:buFont typeface="Wingdings" panose="05000000000000000000" pitchFamily="2" charset="2"/>
              <a:buChar char="§"/>
            </a:pPr>
            <a:r>
              <a:rPr lang="en-US" sz="900">
                <a:solidFill>
                  <a:schemeClr val="bg1">
                    <a:lumMod val="50000"/>
                  </a:schemeClr>
                </a:solidFill>
              </a:rPr>
              <a:t>Batch approval for compliant outputs, flag edge cases for manual review</a:t>
            </a:r>
          </a:p>
        </p:txBody>
      </p:sp>
      <p:sp>
        <p:nvSpPr>
          <p:cNvPr id="28" name="Rectangle 27">
            <a:extLst>
              <a:ext uri="{FF2B5EF4-FFF2-40B4-BE49-F238E27FC236}">
                <a16:creationId xmlns:a16="http://schemas.microsoft.com/office/drawing/2014/main" id="{7981014C-9259-8D0E-D73F-89FA1217F96C}"/>
              </a:ext>
            </a:extLst>
          </p:cNvPr>
          <p:cNvSpPr/>
          <p:nvPr/>
        </p:nvSpPr>
        <p:spPr>
          <a:xfrm>
            <a:off x="7186373" y="4573915"/>
            <a:ext cx="1404939" cy="97187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Automated Multi-Format Rendering</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Rendering pipeline generates all requested variants in parallel</a:t>
            </a:r>
          </a:p>
        </p:txBody>
      </p:sp>
      <p:sp>
        <p:nvSpPr>
          <p:cNvPr id="29" name="Rectangle 28">
            <a:extLst>
              <a:ext uri="{FF2B5EF4-FFF2-40B4-BE49-F238E27FC236}">
                <a16:creationId xmlns:a16="http://schemas.microsoft.com/office/drawing/2014/main" id="{6F339387-B00B-AECF-A908-03897D898031}"/>
              </a:ext>
            </a:extLst>
          </p:cNvPr>
          <p:cNvSpPr/>
          <p:nvPr/>
        </p:nvSpPr>
        <p:spPr>
          <a:xfrm>
            <a:off x="9433083" y="4573914"/>
            <a:ext cx="2103437" cy="173991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Template Routing &amp; Parameter Mapping</a:t>
            </a:r>
          </a:p>
          <a:p>
            <a:endParaRPr lang="en-US" sz="1000">
              <a:solidFill>
                <a:schemeClr val="tx1"/>
              </a:solidFill>
            </a:endParaRPr>
          </a:p>
          <a:p>
            <a:pPr marL="171450" indent="-171450">
              <a:buFont typeface="Wingdings" panose="05000000000000000000" pitchFamily="2" charset="2"/>
              <a:buChar char="§"/>
            </a:pPr>
            <a:r>
              <a:rPr lang="en-US" sz="900">
                <a:solidFill>
                  <a:schemeClr val="bg1">
                    <a:lumMod val="50000"/>
                  </a:schemeClr>
                </a:solidFill>
              </a:rPr>
              <a:t>Format engine selects appropriate template: Social Vertical, AVOD Cutdown, Promo 30s, etc.</a:t>
            </a:r>
          </a:p>
          <a:p>
            <a:pPr marL="171450" indent="-171450">
              <a:buFont typeface="Wingdings" panose="05000000000000000000" pitchFamily="2" charset="2"/>
              <a:buChar char="§"/>
            </a:pPr>
            <a:r>
              <a:rPr lang="en-US" sz="900">
                <a:solidFill>
                  <a:schemeClr val="bg1">
                    <a:lumMod val="50000"/>
                  </a:schemeClr>
                </a:solidFill>
              </a:rPr>
              <a:t>Maps metadata to template parameters: title overlays from event metadata, logos from brand assets</a:t>
            </a:r>
          </a:p>
          <a:p>
            <a:pPr marL="171450" indent="-171450">
              <a:buFont typeface="Wingdings" panose="05000000000000000000" pitchFamily="2" charset="2"/>
              <a:buChar char="§"/>
            </a:pPr>
            <a:r>
              <a:rPr lang="en-US" sz="900">
                <a:solidFill>
                  <a:schemeClr val="bg1">
                    <a:lumMod val="50000"/>
                  </a:schemeClr>
                </a:solidFill>
              </a:rPr>
              <a:t>Auto-crops to platform aspect ratio using face detection + subject tracking metadata</a:t>
            </a:r>
          </a:p>
        </p:txBody>
      </p:sp>
      <p:sp>
        <p:nvSpPr>
          <p:cNvPr id="30" name="Oval 29">
            <a:extLst>
              <a:ext uri="{FF2B5EF4-FFF2-40B4-BE49-F238E27FC236}">
                <a16:creationId xmlns:a16="http://schemas.microsoft.com/office/drawing/2014/main" id="{A3AEFD3F-7591-BDF4-4412-E7702511580D}"/>
              </a:ext>
            </a:extLst>
          </p:cNvPr>
          <p:cNvSpPr/>
          <p:nvPr/>
        </p:nvSpPr>
        <p:spPr>
          <a:xfrm>
            <a:off x="446246"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1</a:t>
            </a:r>
          </a:p>
        </p:txBody>
      </p:sp>
      <p:sp>
        <p:nvSpPr>
          <p:cNvPr id="31" name="Oval 30">
            <a:extLst>
              <a:ext uri="{FF2B5EF4-FFF2-40B4-BE49-F238E27FC236}">
                <a16:creationId xmlns:a16="http://schemas.microsoft.com/office/drawing/2014/main" id="{16A09A8E-DA91-0183-3514-04E9C92DC402}"/>
              </a:ext>
            </a:extLst>
          </p:cNvPr>
          <p:cNvSpPr/>
          <p:nvPr/>
        </p:nvSpPr>
        <p:spPr>
          <a:xfrm>
            <a:off x="2264556"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2</a:t>
            </a:r>
          </a:p>
        </p:txBody>
      </p:sp>
      <p:sp>
        <p:nvSpPr>
          <p:cNvPr id="32" name="Oval 31">
            <a:extLst>
              <a:ext uri="{FF2B5EF4-FFF2-40B4-BE49-F238E27FC236}">
                <a16:creationId xmlns:a16="http://schemas.microsoft.com/office/drawing/2014/main" id="{FA6C634F-7A5F-00F9-7361-209356BC0B42}"/>
              </a:ext>
            </a:extLst>
          </p:cNvPr>
          <p:cNvSpPr/>
          <p:nvPr/>
        </p:nvSpPr>
        <p:spPr>
          <a:xfrm>
            <a:off x="4144523"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3</a:t>
            </a:r>
          </a:p>
        </p:txBody>
      </p:sp>
      <p:sp>
        <p:nvSpPr>
          <p:cNvPr id="33" name="Oval 32">
            <a:extLst>
              <a:ext uri="{FF2B5EF4-FFF2-40B4-BE49-F238E27FC236}">
                <a16:creationId xmlns:a16="http://schemas.microsoft.com/office/drawing/2014/main" id="{55B48E00-36BA-C53D-B11F-56299F81C9AD}"/>
              </a:ext>
            </a:extLst>
          </p:cNvPr>
          <p:cNvSpPr/>
          <p:nvPr/>
        </p:nvSpPr>
        <p:spPr>
          <a:xfrm>
            <a:off x="5962833"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4</a:t>
            </a:r>
          </a:p>
        </p:txBody>
      </p:sp>
      <p:sp>
        <p:nvSpPr>
          <p:cNvPr id="34" name="Oval 33">
            <a:extLst>
              <a:ext uri="{FF2B5EF4-FFF2-40B4-BE49-F238E27FC236}">
                <a16:creationId xmlns:a16="http://schemas.microsoft.com/office/drawing/2014/main" id="{D27CF71A-72BC-A755-9CA9-904961B0E5C6}"/>
              </a:ext>
            </a:extLst>
          </p:cNvPr>
          <p:cNvSpPr/>
          <p:nvPr/>
        </p:nvSpPr>
        <p:spPr>
          <a:xfrm>
            <a:off x="7781143"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5</a:t>
            </a:r>
          </a:p>
        </p:txBody>
      </p:sp>
      <p:sp>
        <p:nvSpPr>
          <p:cNvPr id="35" name="Oval 34">
            <a:extLst>
              <a:ext uri="{FF2B5EF4-FFF2-40B4-BE49-F238E27FC236}">
                <a16:creationId xmlns:a16="http://schemas.microsoft.com/office/drawing/2014/main" id="{04783E81-CE3D-92F4-66D0-EE5F7E19273C}"/>
              </a:ext>
            </a:extLst>
          </p:cNvPr>
          <p:cNvSpPr/>
          <p:nvPr/>
        </p:nvSpPr>
        <p:spPr>
          <a:xfrm>
            <a:off x="9599453" y="1486583"/>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6</a:t>
            </a:r>
          </a:p>
        </p:txBody>
      </p:sp>
      <p:sp>
        <p:nvSpPr>
          <p:cNvPr id="36" name="Oval 35">
            <a:extLst>
              <a:ext uri="{FF2B5EF4-FFF2-40B4-BE49-F238E27FC236}">
                <a16:creationId xmlns:a16="http://schemas.microsoft.com/office/drawing/2014/main" id="{5776C6F4-13BE-CD59-CDD4-176432D3ED89}"/>
              </a:ext>
            </a:extLst>
          </p:cNvPr>
          <p:cNvSpPr/>
          <p:nvPr/>
        </p:nvSpPr>
        <p:spPr>
          <a:xfrm>
            <a:off x="9433083" y="4250507"/>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7</a:t>
            </a:r>
          </a:p>
        </p:txBody>
      </p:sp>
      <p:sp>
        <p:nvSpPr>
          <p:cNvPr id="37" name="Oval 36">
            <a:extLst>
              <a:ext uri="{FF2B5EF4-FFF2-40B4-BE49-F238E27FC236}">
                <a16:creationId xmlns:a16="http://schemas.microsoft.com/office/drawing/2014/main" id="{A09F5429-089A-C821-396D-574A00B4C0C8}"/>
              </a:ext>
            </a:extLst>
          </p:cNvPr>
          <p:cNvSpPr/>
          <p:nvPr/>
        </p:nvSpPr>
        <p:spPr>
          <a:xfrm>
            <a:off x="7186373" y="4250507"/>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8</a:t>
            </a:r>
          </a:p>
        </p:txBody>
      </p:sp>
      <p:sp>
        <p:nvSpPr>
          <p:cNvPr id="38" name="Oval 37">
            <a:extLst>
              <a:ext uri="{FF2B5EF4-FFF2-40B4-BE49-F238E27FC236}">
                <a16:creationId xmlns:a16="http://schemas.microsoft.com/office/drawing/2014/main" id="{EF3A5F8D-33AE-0F53-F8CD-B441B7772EF5}"/>
              </a:ext>
            </a:extLst>
          </p:cNvPr>
          <p:cNvSpPr/>
          <p:nvPr/>
        </p:nvSpPr>
        <p:spPr>
          <a:xfrm>
            <a:off x="4939663" y="4250507"/>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9</a:t>
            </a:r>
          </a:p>
        </p:txBody>
      </p:sp>
      <p:sp>
        <p:nvSpPr>
          <p:cNvPr id="39" name="Oval 38">
            <a:extLst>
              <a:ext uri="{FF2B5EF4-FFF2-40B4-BE49-F238E27FC236}">
                <a16:creationId xmlns:a16="http://schemas.microsoft.com/office/drawing/2014/main" id="{26DD27CF-ED87-C237-9C7B-C59D9F1F40A7}"/>
              </a:ext>
            </a:extLst>
          </p:cNvPr>
          <p:cNvSpPr/>
          <p:nvPr/>
        </p:nvSpPr>
        <p:spPr>
          <a:xfrm>
            <a:off x="2692955" y="4250507"/>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10</a:t>
            </a:r>
          </a:p>
        </p:txBody>
      </p:sp>
      <p:sp>
        <p:nvSpPr>
          <p:cNvPr id="40" name="Oval 39">
            <a:extLst>
              <a:ext uri="{FF2B5EF4-FFF2-40B4-BE49-F238E27FC236}">
                <a16:creationId xmlns:a16="http://schemas.microsoft.com/office/drawing/2014/main" id="{6ECDDB30-5991-E1A7-A2CF-5969C3318D25}"/>
              </a:ext>
            </a:extLst>
          </p:cNvPr>
          <p:cNvSpPr/>
          <p:nvPr/>
        </p:nvSpPr>
        <p:spPr>
          <a:xfrm>
            <a:off x="446246" y="4250507"/>
            <a:ext cx="286808" cy="286808"/>
          </a:xfrm>
          <a:prstGeom prst="ellipse">
            <a:avLst/>
          </a:prstGeom>
          <a:solidFill>
            <a:srgbClr val="002060"/>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11</a:t>
            </a:r>
          </a:p>
        </p:txBody>
      </p:sp>
      <p:cxnSp>
        <p:nvCxnSpPr>
          <p:cNvPr id="42" name="Straight Arrow Connector 41">
            <a:extLst>
              <a:ext uri="{FF2B5EF4-FFF2-40B4-BE49-F238E27FC236}">
                <a16:creationId xmlns:a16="http://schemas.microsoft.com/office/drawing/2014/main" id="{146765D9-709A-8E31-FBE2-C1FD68523DC6}"/>
              </a:ext>
            </a:extLst>
          </p:cNvPr>
          <p:cNvCxnSpPr>
            <a:stCxn id="30" idx="6"/>
            <a:endCxn id="31" idx="2"/>
          </p:cNvCxnSpPr>
          <p:nvPr/>
        </p:nvCxnSpPr>
        <p:spPr>
          <a:xfrm>
            <a:off x="733054" y="1629987"/>
            <a:ext cx="15315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9E3B0D8-0011-8EDA-8FBD-9D60F465CE40}"/>
              </a:ext>
            </a:extLst>
          </p:cNvPr>
          <p:cNvCxnSpPr>
            <a:stCxn id="31" idx="6"/>
            <a:endCxn id="32" idx="2"/>
          </p:cNvCxnSpPr>
          <p:nvPr/>
        </p:nvCxnSpPr>
        <p:spPr>
          <a:xfrm>
            <a:off x="2551364" y="1629987"/>
            <a:ext cx="1593159"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082F868-F6B9-761D-49E4-CFB4C2017BA8}"/>
              </a:ext>
            </a:extLst>
          </p:cNvPr>
          <p:cNvCxnSpPr>
            <a:stCxn id="32" idx="6"/>
            <a:endCxn id="33" idx="2"/>
          </p:cNvCxnSpPr>
          <p:nvPr/>
        </p:nvCxnSpPr>
        <p:spPr>
          <a:xfrm>
            <a:off x="4431331" y="1629987"/>
            <a:ext cx="15315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8667354-443F-4E3F-B79F-A88AC1F1938A}"/>
              </a:ext>
            </a:extLst>
          </p:cNvPr>
          <p:cNvCxnSpPr>
            <a:stCxn id="33" idx="6"/>
            <a:endCxn id="34" idx="2"/>
          </p:cNvCxnSpPr>
          <p:nvPr/>
        </p:nvCxnSpPr>
        <p:spPr>
          <a:xfrm>
            <a:off x="6249641" y="1629987"/>
            <a:ext cx="15315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707F715-DF63-982B-CD9C-4242C7520F7E}"/>
              </a:ext>
            </a:extLst>
          </p:cNvPr>
          <p:cNvCxnSpPr>
            <a:stCxn id="34" idx="6"/>
            <a:endCxn id="35" idx="2"/>
          </p:cNvCxnSpPr>
          <p:nvPr/>
        </p:nvCxnSpPr>
        <p:spPr>
          <a:xfrm>
            <a:off x="8067951" y="1629987"/>
            <a:ext cx="15315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CF672318-3422-7259-CF0C-36559FBF83AD}"/>
              </a:ext>
            </a:extLst>
          </p:cNvPr>
          <p:cNvCxnSpPr>
            <a:stCxn id="35" idx="6"/>
            <a:endCxn id="36" idx="6"/>
          </p:cNvCxnSpPr>
          <p:nvPr/>
        </p:nvCxnSpPr>
        <p:spPr>
          <a:xfrm flipH="1">
            <a:off x="9719891" y="1629987"/>
            <a:ext cx="166370" cy="2763924"/>
          </a:xfrm>
          <a:prstGeom prst="bentConnector3">
            <a:avLst>
              <a:gd name="adj1" fmla="val -1053436"/>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812333E-4F78-5824-E05D-7507B2416852}"/>
              </a:ext>
            </a:extLst>
          </p:cNvPr>
          <p:cNvCxnSpPr>
            <a:stCxn id="36" idx="2"/>
            <a:endCxn id="37" idx="6"/>
          </p:cNvCxnSpPr>
          <p:nvPr/>
        </p:nvCxnSpPr>
        <p:spPr>
          <a:xfrm flipH="1">
            <a:off x="7473181" y="4393911"/>
            <a:ext cx="19599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62F295A-5A43-167C-F731-65AC9300AAC6}"/>
              </a:ext>
            </a:extLst>
          </p:cNvPr>
          <p:cNvCxnSpPr>
            <a:stCxn id="37" idx="2"/>
            <a:endCxn id="38" idx="6"/>
          </p:cNvCxnSpPr>
          <p:nvPr/>
        </p:nvCxnSpPr>
        <p:spPr>
          <a:xfrm flipH="1">
            <a:off x="5226471" y="4393911"/>
            <a:ext cx="1959902"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FFC0924-D2FB-D617-2BC7-8A58C0F4A54D}"/>
              </a:ext>
            </a:extLst>
          </p:cNvPr>
          <p:cNvCxnSpPr>
            <a:stCxn id="38" idx="2"/>
            <a:endCxn id="39" idx="6"/>
          </p:cNvCxnSpPr>
          <p:nvPr/>
        </p:nvCxnSpPr>
        <p:spPr>
          <a:xfrm flipH="1">
            <a:off x="2979763" y="4393911"/>
            <a:ext cx="1959900"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7F518FA-DD85-2578-FF77-9681E605D548}"/>
              </a:ext>
            </a:extLst>
          </p:cNvPr>
          <p:cNvCxnSpPr>
            <a:stCxn id="39" idx="2"/>
            <a:endCxn id="40" idx="6"/>
          </p:cNvCxnSpPr>
          <p:nvPr/>
        </p:nvCxnSpPr>
        <p:spPr>
          <a:xfrm flipH="1">
            <a:off x="733054" y="4393911"/>
            <a:ext cx="1959901" cy="0"/>
          </a:xfrm>
          <a:prstGeom prst="straightConnector1">
            <a:avLst/>
          </a:prstGeom>
          <a:ln w="57150">
            <a:solidFill>
              <a:schemeClr val="bg1">
                <a:lumMod val="8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7ABEF837-BC59-5502-C6EA-340A5003888F}"/>
              </a:ext>
            </a:extLst>
          </p:cNvPr>
          <p:cNvGrpSpPr/>
          <p:nvPr/>
        </p:nvGrpSpPr>
        <p:grpSpPr>
          <a:xfrm>
            <a:off x="155733" y="1629987"/>
            <a:ext cx="303213" cy="2763924"/>
            <a:chOff x="405607" y="1832117"/>
            <a:chExt cx="303213" cy="2763924"/>
          </a:xfrm>
        </p:grpSpPr>
        <p:cxnSp>
          <p:nvCxnSpPr>
            <p:cNvPr id="63" name="Connector: Elbow 62">
              <a:extLst>
                <a:ext uri="{FF2B5EF4-FFF2-40B4-BE49-F238E27FC236}">
                  <a16:creationId xmlns:a16="http://schemas.microsoft.com/office/drawing/2014/main" id="{73E527DF-8B57-A4BB-DA92-108FA13BA40C}"/>
                </a:ext>
              </a:extLst>
            </p:cNvPr>
            <p:cNvCxnSpPr>
              <a:cxnSpLocks/>
            </p:cNvCxnSpPr>
            <p:nvPr/>
          </p:nvCxnSpPr>
          <p:spPr>
            <a:xfrm rot="10800000">
              <a:off x="696120" y="1832117"/>
              <a:ext cx="12700" cy="2763924"/>
            </a:xfrm>
            <a:prstGeom prst="bentConnector3">
              <a:avLst>
                <a:gd name="adj1" fmla="val 1800000"/>
              </a:avLst>
            </a:prstGeom>
            <a:ln w="12700">
              <a:solidFill>
                <a:schemeClr val="bg1">
                  <a:lumMod val="65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FB4D1C8C-05F8-AACE-3C38-9BBF2A243945}"/>
                </a:ext>
              </a:extLst>
            </p:cNvPr>
            <p:cNvSpPr/>
            <p:nvPr/>
          </p:nvSpPr>
          <p:spPr>
            <a:xfrm>
              <a:off x="405607" y="2441496"/>
              <a:ext cx="158750" cy="154516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Continuous Improvement</a:t>
              </a:r>
            </a:p>
          </p:txBody>
        </p:sp>
      </p:grpSp>
      <p:sp>
        <p:nvSpPr>
          <p:cNvPr id="10" name="Rectangle 9">
            <a:extLst>
              <a:ext uri="{FF2B5EF4-FFF2-40B4-BE49-F238E27FC236}">
                <a16:creationId xmlns:a16="http://schemas.microsoft.com/office/drawing/2014/main" id="{F150DB04-6626-09F3-BBCB-EE9D6C809636}"/>
              </a:ext>
            </a:extLst>
          </p:cNvPr>
          <p:cNvSpPr/>
          <p:nvPr/>
        </p:nvSpPr>
        <p:spPr>
          <a:xfrm>
            <a:off x="544962" y="1064899"/>
            <a:ext cx="5618664" cy="20757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tx2"/>
                </a:solidFill>
              </a:rPr>
              <a:t>Automated metadata enrichment and AI-assisted candidate generation eliminate grunt work</a:t>
            </a:r>
          </a:p>
        </p:txBody>
      </p:sp>
      <p:cxnSp>
        <p:nvCxnSpPr>
          <p:cNvPr id="12" name="Connector: Elbow 11">
            <a:extLst>
              <a:ext uri="{FF2B5EF4-FFF2-40B4-BE49-F238E27FC236}">
                <a16:creationId xmlns:a16="http://schemas.microsoft.com/office/drawing/2014/main" id="{E5145531-A0F0-917C-6119-FC62067DC0DF}"/>
              </a:ext>
            </a:extLst>
          </p:cNvPr>
          <p:cNvCxnSpPr>
            <a:cxnSpLocks/>
          </p:cNvCxnSpPr>
          <p:nvPr/>
        </p:nvCxnSpPr>
        <p:spPr>
          <a:xfrm rot="5400000" flipH="1" flipV="1">
            <a:off x="3347943" y="-1259011"/>
            <a:ext cx="12700" cy="5516587"/>
          </a:xfrm>
          <a:prstGeom prst="bentConnector3">
            <a:avLst>
              <a:gd name="adj1" fmla="val 1449984"/>
            </a:avLst>
          </a:prstGeom>
          <a:ln w="12700">
            <a:solidFill>
              <a:schemeClr val="tx2">
                <a:lumMod val="40000"/>
                <a:lumOff val="60000"/>
              </a:schemeClr>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F54C944-C84C-B46E-180E-35107A18AEBF}"/>
              </a:ext>
            </a:extLst>
          </p:cNvPr>
          <p:cNvSpPr/>
          <p:nvPr/>
        </p:nvSpPr>
        <p:spPr>
          <a:xfrm>
            <a:off x="6855207" y="1064899"/>
            <a:ext cx="2138680" cy="20757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tx2"/>
                </a:solidFill>
              </a:rPr>
              <a:t>Editorial judgment remains central</a:t>
            </a:r>
          </a:p>
        </p:txBody>
      </p:sp>
      <p:cxnSp>
        <p:nvCxnSpPr>
          <p:cNvPr id="56" name="Connector: Elbow 55">
            <a:extLst>
              <a:ext uri="{FF2B5EF4-FFF2-40B4-BE49-F238E27FC236}">
                <a16:creationId xmlns:a16="http://schemas.microsoft.com/office/drawing/2014/main" id="{04C0AB9F-0FD7-59B2-D0E8-F2CDAFF3B494}"/>
              </a:ext>
            </a:extLst>
          </p:cNvPr>
          <p:cNvCxnSpPr>
            <a:stCxn id="38" idx="0"/>
            <a:endCxn id="40" idx="0"/>
          </p:cNvCxnSpPr>
          <p:nvPr/>
        </p:nvCxnSpPr>
        <p:spPr>
          <a:xfrm rot="16200000" flipV="1">
            <a:off x="2836359" y="2003798"/>
            <a:ext cx="12700" cy="4493417"/>
          </a:xfrm>
          <a:prstGeom prst="bentConnector3">
            <a:avLst>
              <a:gd name="adj1" fmla="val 1466646"/>
            </a:avLst>
          </a:prstGeom>
          <a:ln w="12700">
            <a:solidFill>
              <a:schemeClr val="tx2">
                <a:lumMod val="40000"/>
                <a:lumOff val="60000"/>
              </a:schemeClr>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0261489F-97E1-5508-8859-1166326C1D47}"/>
              </a:ext>
            </a:extLst>
          </p:cNvPr>
          <p:cNvSpPr/>
          <p:nvPr/>
        </p:nvSpPr>
        <p:spPr>
          <a:xfrm>
            <a:off x="328071" y="3819047"/>
            <a:ext cx="5033511" cy="2076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tx2"/>
                </a:solidFill>
              </a:rPr>
              <a:t>QA, distribution, and performance feedback create continuous improvement loop</a:t>
            </a:r>
          </a:p>
        </p:txBody>
      </p:sp>
      <p:sp>
        <p:nvSpPr>
          <p:cNvPr id="66" name="Left Bracket 65">
            <a:extLst>
              <a:ext uri="{FF2B5EF4-FFF2-40B4-BE49-F238E27FC236}">
                <a16:creationId xmlns:a16="http://schemas.microsoft.com/office/drawing/2014/main" id="{025FF0D4-317C-6887-BDDD-1E85E8652934}"/>
              </a:ext>
            </a:extLst>
          </p:cNvPr>
          <p:cNvSpPr/>
          <p:nvPr/>
        </p:nvSpPr>
        <p:spPr>
          <a:xfrm rot="5400000">
            <a:off x="7852267" y="1206365"/>
            <a:ext cx="144560" cy="432465"/>
          </a:xfrm>
          <a:prstGeom prst="leftBracket">
            <a:avLst/>
          </a:prstGeom>
          <a:ln w="12700">
            <a:solidFill>
              <a:schemeClr val="tx2">
                <a:lumMod val="40000"/>
                <a:lumOff val="60000"/>
              </a:schemeClr>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Rectangle 85">
            <a:extLst>
              <a:ext uri="{FF2B5EF4-FFF2-40B4-BE49-F238E27FC236}">
                <a16:creationId xmlns:a16="http://schemas.microsoft.com/office/drawing/2014/main" id="{4043E55F-181D-FBC2-158D-DB257BC28F13}"/>
              </a:ext>
            </a:extLst>
          </p:cNvPr>
          <p:cNvSpPr/>
          <p:nvPr/>
        </p:nvSpPr>
        <p:spPr>
          <a:xfrm rot="5400000">
            <a:off x="10223177" y="3819046"/>
            <a:ext cx="3418548" cy="2076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tx2"/>
                </a:solidFill>
              </a:rPr>
              <a:t>Template-based rendering generates platform variants</a:t>
            </a:r>
          </a:p>
        </p:txBody>
      </p:sp>
      <p:cxnSp>
        <p:nvCxnSpPr>
          <p:cNvPr id="8" name="Connector: Elbow 7">
            <a:extLst>
              <a:ext uri="{FF2B5EF4-FFF2-40B4-BE49-F238E27FC236}">
                <a16:creationId xmlns:a16="http://schemas.microsoft.com/office/drawing/2014/main" id="{CA07A8D8-52E3-720A-8D17-8C4D9C71C663}"/>
              </a:ext>
            </a:extLst>
          </p:cNvPr>
          <p:cNvCxnSpPr>
            <a:cxnSpLocks/>
            <a:stCxn id="35" idx="0"/>
            <a:endCxn id="28" idx="2"/>
          </p:cNvCxnSpPr>
          <p:nvPr/>
        </p:nvCxnSpPr>
        <p:spPr>
          <a:xfrm rot="16200000" flipH="1" flipV="1">
            <a:off x="6786246" y="2589180"/>
            <a:ext cx="4059208" cy="1854014"/>
          </a:xfrm>
          <a:prstGeom prst="bentConnector5">
            <a:avLst>
              <a:gd name="adj1" fmla="val -3445"/>
              <a:gd name="adj2" fmla="val -109685"/>
              <a:gd name="adj3" fmla="val 122910"/>
            </a:avLst>
          </a:prstGeom>
          <a:ln w="12700">
            <a:solidFill>
              <a:schemeClr val="tx2">
                <a:lumMod val="40000"/>
                <a:lumOff val="60000"/>
              </a:schemeClr>
            </a:solidFill>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726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1B68-EEFD-D3D0-5FCD-B4662D45603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03C6FF9-CF40-29EC-1984-D4AE6547218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CC225438-1436-DBA4-BB2C-0F4999B7918D}"/>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CDD45EC-6300-8B87-2526-39A37DFB4A80}"/>
              </a:ext>
            </a:extLst>
          </p:cNvPr>
          <p:cNvSpPr>
            <a:spLocks noGrp="1"/>
          </p:cNvSpPr>
          <p:nvPr>
            <p:ph type="sldNum" sz="quarter" idx="30"/>
          </p:nvPr>
        </p:nvSpPr>
        <p:spPr/>
        <p:txBody>
          <a:bodyPr/>
          <a:lstStyle/>
          <a:p>
            <a:pPr algn="r"/>
            <a:fld id="{5D9A5160-6218-4E5A-B9E6-B93E3DAE377C}" type="slidenum">
              <a:rPr lang="en-US" smtClean="0"/>
              <a:pPr algn="r"/>
              <a:t>12</a:t>
            </a:fld>
            <a:endParaRPr lang="en-US"/>
          </a:p>
        </p:txBody>
      </p:sp>
      <p:sp>
        <p:nvSpPr>
          <p:cNvPr id="5" name="Title 4">
            <a:extLst>
              <a:ext uri="{FF2B5EF4-FFF2-40B4-BE49-F238E27FC236}">
                <a16:creationId xmlns:a16="http://schemas.microsoft.com/office/drawing/2014/main" id="{F163663B-2844-D6E2-6561-C81D669CD41B}"/>
              </a:ext>
            </a:extLst>
          </p:cNvPr>
          <p:cNvSpPr>
            <a:spLocks noGrp="1"/>
          </p:cNvSpPr>
          <p:nvPr>
            <p:ph type="title"/>
          </p:nvPr>
        </p:nvSpPr>
        <p:spPr/>
        <p:txBody>
          <a:bodyPr/>
          <a:lstStyle/>
          <a:p>
            <a:r>
              <a:rPr lang="en-US"/>
              <a:t>The architecture creates the </a:t>
            </a:r>
            <a:r>
              <a:rPr lang="en-US" b="1"/>
              <a:t>foundation for Artificial Intelligence to accelerate the business value</a:t>
            </a:r>
            <a:r>
              <a:rPr lang="en-US"/>
              <a:t> from the metadata</a:t>
            </a:r>
          </a:p>
        </p:txBody>
      </p:sp>
      <p:grpSp>
        <p:nvGrpSpPr>
          <p:cNvPr id="11" name="Group 10">
            <a:extLst>
              <a:ext uri="{FF2B5EF4-FFF2-40B4-BE49-F238E27FC236}">
                <a16:creationId xmlns:a16="http://schemas.microsoft.com/office/drawing/2014/main" id="{AFF27DDD-2C9E-3E05-F956-9D2FBD72BF80}"/>
              </a:ext>
            </a:extLst>
          </p:cNvPr>
          <p:cNvGrpSpPr/>
          <p:nvPr/>
        </p:nvGrpSpPr>
        <p:grpSpPr>
          <a:xfrm>
            <a:off x="550199" y="1071572"/>
            <a:ext cx="11092598" cy="5368958"/>
            <a:chOff x="550199" y="1166162"/>
            <a:chExt cx="11092598" cy="5368958"/>
          </a:xfrm>
        </p:grpSpPr>
        <p:grpSp>
          <p:nvGrpSpPr>
            <p:cNvPr id="24" name="Group 23">
              <a:extLst>
                <a:ext uri="{FF2B5EF4-FFF2-40B4-BE49-F238E27FC236}">
                  <a16:creationId xmlns:a16="http://schemas.microsoft.com/office/drawing/2014/main" id="{7BEA0AAC-A43C-F4BA-6507-5E99C79A656B}"/>
                </a:ext>
              </a:extLst>
            </p:cNvPr>
            <p:cNvGrpSpPr/>
            <p:nvPr/>
          </p:nvGrpSpPr>
          <p:grpSpPr>
            <a:xfrm>
              <a:off x="550199" y="1287110"/>
              <a:ext cx="2158076" cy="199245"/>
              <a:chOff x="550199" y="1337912"/>
              <a:chExt cx="2279628" cy="199245"/>
            </a:xfrm>
          </p:grpSpPr>
          <p:sp>
            <p:nvSpPr>
              <p:cNvPr id="21" name="Rectangle 20">
                <a:extLst>
                  <a:ext uri="{FF2B5EF4-FFF2-40B4-BE49-F238E27FC236}">
                    <a16:creationId xmlns:a16="http://schemas.microsoft.com/office/drawing/2014/main" id="{7CCDB733-54BB-CF54-48E4-96CBF583CB56}"/>
                  </a:ext>
                </a:extLst>
              </p:cNvPr>
              <p:cNvSpPr/>
              <p:nvPr/>
            </p:nvSpPr>
            <p:spPr>
              <a:xfrm>
                <a:off x="550199" y="1337912"/>
                <a:ext cx="2279628"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Areas</a:t>
                </a:r>
                <a:endParaRPr lang="en-US" sz="1400" b="1">
                  <a:solidFill>
                    <a:schemeClr val="tx1"/>
                  </a:solidFill>
                </a:endParaRPr>
              </a:p>
            </p:txBody>
          </p:sp>
          <p:cxnSp>
            <p:nvCxnSpPr>
              <p:cNvPr id="23" name="Straight Connector 22">
                <a:extLst>
                  <a:ext uri="{FF2B5EF4-FFF2-40B4-BE49-F238E27FC236}">
                    <a16:creationId xmlns:a16="http://schemas.microsoft.com/office/drawing/2014/main" id="{9EC53DED-F6B0-E97F-50C6-60DA5CC8B91B}"/>
                  </a:ext>
                </a:extLst>
              </p:cNvPr>
              <p:cNvCxnSpPr>
                <a:cxnSpLocks/>
              </p:cNvCxnSpPr>
              <p:nvPr/>
            </p:nvCxnSpPr>
            <p:spPr>
              <a:xfrm>
                <a:off x="550199" y="1537157"/>
                <a:ext cx="227962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3D0BF33F-C6C1-C66E-BE7C-030AEB233D07}"/>
                </a:ext>
              </a:extLst>
            </p:cNvPr>
            <p:cNvGrpSpPr/>
            <p:nvPr/>
          </p:nvGrpSpPr>
          <p:grpSpPr>
            <a:xfrm>
              <a:off x="2901287" y="1166162"/>
              <a:ext cx="3687367" cy="320194"/>
              <a:chOff x="550199" y="1216964"/>
              <a:chExt cx="2279628" cy="320194"/>
            </a:xfrm>
          </p:grpSpPr>
          <p:sp>
            <p:nvSpPr>
              <p:cNvPr id="26" name="Rectangle 25">
                <a:extLst>
                  <a:ext uri="{FF2B5EF4-FFF2-40B4-BE49-F238E27FC236}">
                    <a16:creationId xmlns:a16="http://schemas.microsoft.com/office/drawing/2014/main" id="{3D377379-3651-9980-011A-371021DDF7D0}"/>
                  </a:ext>
                </a:extLst>
              </p:cNvPr>
              <p:cNvSpPr/>
              <p:nvPr/>
            </p:nvSpPr>
            <p:spPr>
              <a:xfrm>
                <a:off x="550199" y="1216964"/>
                <a:ext cx="2279628" cy="3201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Business value</a:t>
                </a:r>
              </a:p>
              <a:p>
                <a:r>
                  <a:rPr lang="en-US" sz="1000">
                    <a:solidFill>
                      <a:schemeClr val="tx1">
                        <a:lumMod val="50000"/>
                        <a:lumOff val="50000"/>
                      </a:schemeClr>
                    </a:solidFill>
                  </a:rPr>
                  <a:t>Relative strength</a:t>
                </a:r>
                <a:endParaRPr lang="en-US" sz="1400">
                  <a:solidFill>
                    <a:schemeClr val="tx1">
                      <a:lumMod val="50000"/>
                      <a:lumOff val="50000"/>
                    </a:schemeClr>
                  </a:solidFill>
                </a:endParaRPr>
              </a:p>
            </p:txBody>
          </p:sp>
          <p:cxnSp>
            <p:nvCxnSpPr>
              <p:cNvPr id="27" name="Straight Connector 26">
                <a:extLst>
                  <a:ext uri="{FF2B5EF4-FFF2-40B4-BE49-F238E27FC236}">
                    <a16:creationId xmlns:a16="http://schemas.microsoft.com/office/drawing/2014/main" id="{2078C569-C356-B8CC-A5CE-C467EEE122A0}"/>
                  </a:ext>
                </a:extLst>
              </p:cNvPr>
              <p:cNvCxnSpPr>
                <a:cxnSpLocks/>
              </p:cNvCxnSpPr>
              <p:nvPr/>
            </p:nvCxnSpPr>
            <p:spPr>
              <a:xfrm>
                <a:off x="550199" y="1537157"/>
                <a:ext cx="227962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098A0B86-B4D3-CC62-66AB-CB329C7B42CD}"/>
                </a:ext>
              </a:extLst>
            </p:cNvPr>
            <p:cNvGrpSpPr/>
            <p:nvPr/>
          </p:nvGrpSpPr>
          <p:grpSpPr>
            <a:xfrm>
              <a:off x="6781665" y="1287110"/>
              <a:ext cx="4859472" cy="199245"/>
              <a:chOff x="550199" y="1337912"/>
              <a:chExt cx="2279628" cy="199245"/>
            </a:xfrm>
          </p:grpSpPr>
          <p:sp>
            <p:nvSpPr>
              <p:cNvPr id="29" name="Rectangle 28">
                <a:extLst>
                  <a:ext uri="{FF2B5EF4-FFF2-40B4-BE49-F238E27FC236}">
                    <a16:creationId xmlns:a16="http://schemas.microsoft.com/office/drawing/2014/main" id="{55E39761-9A22-6D3B-A3BD-98D971945F2D}"/>
                  </a:ext>
                </a:extLst>
              </p:cNvPr>
              <p:cNvSpPr/>
              <p:nvPr/>
            </p:nvSpPr>
            <p:spPr>
              <a:xfrm>
                <a:off x="550199" y="1337912"/>
                <a:ext cx="2279628"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Description</a:t>
                </a:r>
                <a:endParaRPr lang="en-US" sz="1400" b="1">
                  <a:solidFill>
                    <a:schemeClr val="tx1"/>
                  </a:solidFill>
                </a:endParaRPr>
              </a:p>
            </p:txBody>
          </p:sp>
          <p:cxnSp>
            <p:nvCxnSpPr>
              <p:cNvPr id="30" name="Straight Connector 29">
                <a:extLst>
                  <a:ext uri="{FF2B5EF4-FFF2-40B4-BE49-F238E27FC236}">
                    <a16:creationId xmlns:a16="http://schemas.microsoft.com/office/drawing/2014/main" id="{B29F1C77-6FC2-D7E5-416C-2B9A638E1906}"/>
                  </a:ext>
                </a:extLst>
              </p:cNvPr>
              <p:cNvCxnSpPr>
                <a:cxnSpLocks/>
              </p:cNvCxnSpPr>
              <p:nvPr/>
            </p:nvCxnSpPr>
            <p:spPr>
              <a:xfrm>
                <a:off x="550199" y="1537157"/>
                <a:ext cx="227962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29005D02-5BFA-B36A-484F-1545263CA2EF}"/>
                </a:ext>
              </a:extLst>
            </p:cNvPr>
            <p:cNvSpPr/>
            <p:nvPr/>
          </p:nvSpPr>
          <p:spPr>
            <a:xfrm>
              <a:off x="550199" y="1564725"/>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Metadata enrichment at ingest</a:t>
              </a:r>
            </a:p>
          </p:txBody>
        </p:sp>
        <p:sp>
          <p:nvSpPr>
            <p:cNvPr id="31" name="Rectangle 30">
              <a:extLst>
                <a:ext uri="{FF2B5EF4-FFF2-40B4-BE49-F238E27FC236}">
                  <a16:creationId xmlns:a16="http://schemas.microsoft.com/office/drawing/2014/main" id="{538282D8-4FD2-5206-0747-6DF00BED5FD9}"/>
                </a:ext>
              </a:extLst>
            </p:cNvPr>
            <p:cNvSpPr/>
            <p:nvPr/>
          </p:nvSpPr>
          <p:spPr>
            <a:xfrm>
              <a:off x="6781665" y="1564725"/>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Manually enriching archive metadata to a standard that makes the federated discovery layer useful would take years.</a:t>
              </a:r>
            </a:p>
            <a:p>
              <a:pPr marL="171450" indent="-171450">
                <a:buFont typeface="Wingdings" panose="05000000000000000000" pitchFamily="2" charset="2"/>
                <a:buChar char="§"/>
              </a:pPr>
              <a:r>
                <a:rPr lang="en-US" sz="1000">
                  <a:solidFill>
                    <a:schemeClr val="tx1"/>
                  </a:solidFill>
                </a:rPr>
                <a:t>AI-powered tagging (computer vision for video, NLP for text, audio transcription for spoken content) can compress that timeline from 3–5 years of manual effort to 6–9 months of automated processing. </a:t>
              </a:r>
            </a:p>
          </p:txBody>
        </p:sp>
        <p:sp>
          <p:nvSpPr>
            <p:cNvPr id="32" name="Rectangle 31">
              <a:extLst>
                <a:ext uri="{FF2B5EF4-FFF2-40B4-BE49-F238E27FC236}">
                  <a16:creationId xmlns:a16="http://schemas.microsoft.com/office/drawing/2014/main" id="{ECA03225-53F1-EE1B-F8F0-A27D8F5D3715}"/>
                </a:ext>
              </a:extLst>
            </p:cNvPr>
            <p:cNvSpPr/>
            <p:nvPr/>
          </p:nvSpPr>
          <p:spPr>
            <a:xfrm>
              <a:off x="2909125" y="1564725"/>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34" name="Straight Connector 33">
              <a:extLst>
                <a:ext uri="{FF2B5EF4-FFF2-40B4-BE49-F238E27FC236}">
                  <a16:creationId xmlns:a16="http://schemas.microsoft.com/office/drawing/2014/main" id="{8A285C1C-5E78-EF3D-677D-C9BBF6D259A9}"/>
                </a:ext>
              </a:extLst>
            </p:cNvPr>
            <p:cNvCxnSpPr>
              <a:stCxn id="32" idx="1"/>
              <a:endCxn id="32" idx="3"/>
            </p:cNvCxnSpPr>
            <p:nvPr/>
          </p:nvCxnSpPr>
          <p:spPr>
            <a:xfrm>
              <a:off x="2909125" y="1941722"/>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1AF02C2-BAD0-55D2-B193-A58E1F1CBF30}"/>
                </a:ext>
              </a:extLst>
            </p:cNvPr>
            <p:cNvSpPr/>
            <p:nvPr/>
          </p:nvSpPr>
          <p:spPr>
            <a:xfrm>
              <a:off x="550531" y="2408005"/>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Entity resolution across sports, new, and general entertainment</a:t>
              </a:r>
            </a:p>
          </p:txBody>
        </p:sp>
        <p:sp>
          <p:nvSpPr>
            <p:cNvPr id="38" name="Rectangle 37">
              <a:extLst>
                <a:ext uri="{FF2B5EF4-FFF2-40B4-BE49-F238E27FC236}">
                  <a16:creationId xmlns:a16="http://schemas.microsoft.com/office/drawing/2014/main" id="{5C6640F8-BD52-B5C1-7DCF-B4A51221B2E4}"/>
                </a:ext>
              </a:extLst>
            </p:cNvPr>
            <p:cNvSpPr/>
            <p:nvPr/>
          </p:nvSpPr>
          <p:spPr>
            <a:xfrm>
              <a:off x="6781997" y="2408005"/>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Rules-based entity matching fails at scale and across inconsistent naming conventions</a:t>
              </a:r>
            </a:p>
            <a:p>
              <a:pPr marL="171450" indent="-171450">
                <a:buFont typeface="Wingdings" panose="05000000000000000000" pitchFamily="2" charset="2"/>
                <a:buChar char="§"/>
              </a:pPr>
              <a:r>
                <a:rPr lang="en-US" sz="1000">
                  <a:solidFill>
                    <a:schemeClr val="tx1"/>
                  </a:solidFill>
                </a:rPr>
                <a:t>ML-based entity resolution (embedding models + similarity scoring) achieves materially higher accuracy with far less manual curation.</a:t>
              </a:r>
            </a:p>
          </p:txBody>
        </p:sp>
        <p:sp>
          <p:nvSpPr>
            <p:cNvPr id="39" name="Rectangle 38">
              <a:extLst>
                <a:ext uri="{FF2B5EF4-FFF2-40B4-BE49-F238E27FC236}">
                  <a16:creationId xmlns:a16="http://schemas.microsoft.com/office/drawing/2014/main" id="{39798B00-38C8-4C91-4295-C22711E29721}"/>
                </a:ext>
              </a:extLst>
            </p:cNvPr>
            <p:cNvSpPr/>
            <p:nvPr/>
          </p:nvSpPr>
          <p:spPr>
            <a:xfrm>
              <a:off x="2909457" y="2408005"/>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40" name="Straight Connector 39">
              <a:extLst>
                <a:ext uri="{FF2B5EF4-FFF2-40B4-BE49-F238E27FC236}">
                  <a16:creationId xmlns:a16="http://schemas.microsoft.com/office/drawing/2014/main" id="{43AA1664-3243-741B-5535-17A415816A5C}"/>
                </a:ext>
              </a:extLst>
            </p:cNvPr>
            <p:cNvCxnSpPr>
              <a:stCxn id="39" idx="1"/>
              <a:endCxn id="39" idx="3"/>
            </p:cNvCxnSpPr>
            <p:nvPr/>
          </p:nvCxnSpPr>
          <p:spPr>
            <a:xfrm>
              <a:off x="2909457" y="2785002"/>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76DF3CC4-8FD4-3B6B-1D81-33508AA299BF}"/>
                </a:ext>
              </a:extLst>
            </p:cNvPr>
            <p:cNvSpPr/>
            <p:nvPr/>
          </p:nvSpPr>
          <p:spPr>
            <a:xfrm>
              <a:off x="550863" y="3251285"/>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Right clearance prediction</a:t>
              </a:r>
            </a:p>
          </p:txBody>
        </p:sp>
        <p:sp>
          <p:nvSpPr>
            <p:cNvPr id="43" name="Rectangle 42">
              <a:extLst>
                <a:ext uri="{FF2B5EF4-FFF2-40B4-BE49-F238E27FC236}">
                  <a16:creationId xmlns:a16="http://schemas.microsoft.com/office/drawing/2014/main" id="{FA6A94FA-71E2-DA38-3F9E-4C4E593D7249}"/>
                </a:ext>
              </a:extLst>
            </p:cNvPr>
            <p:cNvSpPr/>
            <p:nvPr/>
          </p:nvSpPr>
          <p:spPr>
            <a:xfrm>
              <a:off x="6782329" y="3251285"/>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AI model trained on historical clearance decisions can predict clearance probability for ambiguous cases, flagging high-confidence clears for automation and routing genuinely uncertain cases for human review</a:t>
              </a:r>
              <a:endParaRPr lang="en-US" sz="1000" err="1">
                <a:solidFill>
                  <a:schemeClr val="tx1"/>
                </a:solidFill>
              </a:endParaRPr>
            </a:p>
          </p:txBody>
        </p:sp>
        <p:sp>
          <p:nvSpPr>
            <p:cNvPr id="44" name="Rectangle 43">
              <a:extLst>
                <a:ext uri="{FF2B5EF4-FFF2-40B4-BE49-F238E27FC236}">
                  <a16:creationId xmlns:a16="http://schemas.microsoft.com/office/drawing/2014/main" id="{5B2AE456-08DD-9E79-BA07-1BFE48DA3458}"/>
                </a:ext>
              </a:extLst>
            </p:cNvPr>
            <p:cNvSpPr/>
            <p:nvPr/>
          </p:nvSpPr>
          <p:spPr>
            <a:xfrm>
              <a:off x="2909789" y="3251285"/>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45" name="Straight Connector 44">
              <a:extLst>
                <a:ext uri="{FF2B5EF4-FFF2-40B4-BE49-F238E27FC236}">
                  <a16:creationId xmlns:a16="http://schemas.microsoft.com/office/drawing/2014/main" id="{D584FE15-60E0-C900-64D2-21578A7A13BF}"/>
                </a:ext>
              </a:extLst>
            </p:cNvPr>
            <p:cNvCxnSpPr>
              <a:stCxn id="44" idx="1"/>
              <a:endCxn id="44" idx="3"/>
            </p:cNvCxnSpPr>
            <p:nvPr/>
          </p:nvCxnSpPr>
          <p:spPr>
            <a:xfrm>
              <a:off x="2909789" y="3628282"/>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5DB5FD33-1EFE-621E-1B74-74B029C7751E}"/>
                </a:ext>
              </a:extLst>
            </p:cNvPr>
            <p:cNvSpPr/>
            <p:nvPr/>
          </p:nvSpPr>
          <p:spPr>
            <a:xfrm>
              <a:off x="551195" y="4094565"/>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Content moment detection for sports archive</a:t>
              </a:r>
            </a:p>
          </p:txBody>
        </p:sp>
        <p:sp>
          <p:nvSpPr>
            <p:cNvPr id="48" name="Rectangle 47">
              <a:extLst>
                <a:ext uri="{FF2B5EF4-FFF2-40B4-BE49-F238E27FC236}">
                  <a16:creationId xmlns:a16="http://schemas.microsoft.com/office/drawing/2014/main" id="{647A6B21-5694-92B9-4891-9E2E8BFDA4F8}"/>
                </a:ext>
              </a:extLst>
            </p:cNvPr>
            <p:cNvSpPr/>
            <p:nvPr/>
          </p:nvSpPr>
          <p:spPr>
            <a:xfrm>
              <a:off x="6782661" y="4094565"/>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Automated highlight and moment detection (goal detection, key play identification, significant news moments) using computer vision and audio models converts raw archive footage into monetizable clip inventory without manual logging.</a:t>
              </a:r>
            </a:p>
          </p:txBody>
        </p:sp>
        <p:sp>
          <p:nvSpPr>
            <p:cNvPr id="49" name="Rectangle 48">
              <a:extLst>
                <a:ext uri="{FF2B5EF4-FFF2-40B4-BE49-F238E27FC236}">
                  <a16:creationId xmlns:a16="http://schemas.microsoft.com/office/drawing/2014/main" id="{24090D7F-F24E-BEC4-1D05-A077397DFAF0}"/>
                </a:ext>
              </a:extLst>
            </p:cNvPr>
            <p:cNvSpPr/>
            <p:nvPr/>
          </p:nvSpPr>
          <p:spPr>
            <a:xfrm>
              <a:off x="2910121" y="4094565"/>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50" name="Straight Connector 49">
              <a:extLst>
                <a:ext uri="{FF2B5EF4-FFF2-40B4-BE49-F238E27FC236}">
                  <a16:creationId xmlns:a16="http://schemas.microsoft.com/office/drawing/2014/main" id="{D8A2C257-BC69-9DCD-D8D9-CC078D02D3A4}"/>
                </a:ext>
              </a:extLst>
            </p:cNvPr>
            <p:cNvCxnSpPr>
              <a:stCxn id="49" idx="1"/>
              <a:endCxn id="49" idx="3"/>
            </p:cNvCxnSpPr>
            <p:nvPr/>
          </p:nvCxnSpPr>
          <p:spPr>
            <a:xfrm>
              <a:off x="2910121" y="4471562"/>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0B8F04D7-04FB-913E-07BF-D97FDB961747}"/>
                </a:ext>
              </a:extLst>
            </p:cNvPr>
            <p:cNvSpPr/>
            <p:nvPr/>
          </p:nvSpPr>
          <p:spPr>
            <a:xfrm>
              <a:off x="551527" y="4937845"/>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Cross-vertical recommendation</a:t>
              </a:r>
            </a:p>
          </p:txBody>
        </p:sp>
        <p:sp>
          <p:nvSpPr>
            <p:cNvPr id="53" name="Rectangle 52">
              <a:extLst>
                <a:ext uri="{FF2B5EF4-FFF2-40B4-BE49-F238E27FC236}">
                  <a16:creationId xmlns:a16="http://schemas.microsoft.com/office/drawing/2014/main" id="{3E6956EB-1DBE-4276-DFD7-E38E30FBF890}"/>
                </a:ext>
              </a:extLst>
            </p:cNvPr>
            <p:cNvSpPr/>
            <p:nvPr/>
          </p:nvSpPr>
          <p:spPr>
            <a:xfrm>
              <a:off x="6782993" y="4937845"/>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Leveraging the Discovery layer, AI recommendation engine can surface cross-portfolio content suggestions — driving viewers from a sports documentary to related news content to entertainment programming</a:t>
              </a:r>
            </a:p>
          </p:txBody>
        </p:sp>
        <p:sp>
          <p:nvSpPr>
            <p:cNvPr id="54" name="Rectangle 53">
              <a:extLst>
                <a:ext uri="{FF2B5EF4-FFF2-40B4-BE49-F238E27FC236}">
                  <a16:creationId xmlns:a16="http://schemas.microsoft.com/office/drawing/2014/main" id="{EA056F30-E632-56B0-9195-2AF6599BC591}"/>
                </a:ext>
              </a:extLst>
            </p:cNvPr>
            <p:cNvSpPr/>
            <p:nvPr/>
          </p:nvSpPr>
          <p:spPr>
            <a:xfrm>
              <a:off x="2910453" y="4937845"/>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55" name="Straight Connector 54">
              <a:extLst>
                <a:ext uri="{FF2B5EF4-FFF2-40B4-BE49-F238E27FC236}">
                  <a16:creationId xmlns:a16="http://schemas.microsoft.com/office/drawing/2014/main" id="{979F276F-AB5F-1C90-9733-455279707CC7}"/>
                </a:ext>
              </a:extLst>
            </p:cNvPr>
            <p:cNvCxnSpPr>
              <a:stCxn id="54" idx="1"/>
              <a:endCxn id="54" idx="3"/>
            </p:cNvCxnSpPr>
            <p:nvPr/>
          </p:nvCxnSpPr>
          <p:spPr>
            <a:xfrm>
              <a:off x="2910453" y="5314842"/>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50BFD6E9-C594-1F33-CB88-BA8D39FF76E5}"/>
                </a:ext>
              </a:extLst>
            </p:cNvPr>
            <p:cNvSpPr/>
            <p:nvPr/>
          </p:nvSpPr>
          <p:spPr>
            <a:xfrm>
              <a:off x="551859" y="5781126"/>
              <a:ext cx="2158076" cy="753994"/>
            </a:xfrm>
            <a:prstGeom prst="rect">
              <a:avLst/>
            </a:prstGeom>
            <a:solidFill>
              <a:srgbClr val="E1F1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0" rIns="90000" bIns="0" numCol="1" spcCol="0" rtlCol="0" fromWordArt="0" anchor="ctr" anchorCtr="0" forceAA="0" compatLnSpc="1">
              <a:prstTxWarp prst="textNoShape">
                <a:avLst/>
              </a:prstTxWarp>
              <a:noAutofit/>
            </a:bodyPr>
            <a:lstStyle/>
            <a:p>
              <a:r>
                <a:rPr lang="en-US" sz="1000" b="1">
                  <a:solidFill>
                    <a:srgbClr val="002060"/>
                  </a:solidFill>
                </a:rPr>
                <a:t>Compliance monitoring</a:t>
              </a:r>
            </a:p>
          </p:txBody>
        </p:sp>
        <p:sp>
          <p:nvSpPr>
            <p:cNvPr id="58" name="Rectangle 57">
              <a:extLst>
                <a:ext uri="{FF2B5EF4-FFF2-40B4-BE49-F238E27FC236}">
                  <a16:creationId xmlns:a16="http://schemas.microsoft.com/office/drawing/2014/main" id="{9E3262A5-BBBF-51FA-CB00-2121163F0978}"/>
                </a:ext>
              </a:extLst>
            </p:cNvPr>
            <p:cNvSpPr/>
            <p:nvPr/>
          </p:nvSpPr>
          <p:spPr>
            <a:xfrm>
              <a:off x="6783325" y="5781126"/>
              <a:ext cx="4859472"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US" sz="1000">
                  <a:solidFill>
                    <a:schemeClr val="tx1"/>
                  </a:solidFill>
                </a:rPr>
                <a:t>AI-powered monitoring of content against regulatory standards such as watershed compliance, harmful content detection, subtitling coverage across all three verticals reduces the cost of manual compliance review and the risk of regulatory penalty.</a:t>
              </a:r>
            </a:p>
          </p:txBody>
        </p:sp>
        <p:sp>
          <p:nvSpPr>
            <p:cNvPr id="59" name="Rectangle 58">
              <a:extLst>
                <a:ext uri="{FF2B5EF4-FFF2-40B4-BE49-F238E27FC236}">
                  <a16:creationId xmlns:a16="http://schemas.microsoft.com/office/drawing/2014/main" id="{970AE04A-3B96-1373-94EB-7E850ACD1411}"/>
                </a:ext>
              </a:extLst>
            </p:cNvPr>
            <p:cNvSpPr/>
            <p:nvPr/>
          </p:nvSpPr>
          <p:spPr>
            <a:xfrm>
              <a:off x="2910785" y="5781126"/>
              <a:ext cx="3687366" cy="75399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60" name="Straight Connector 59">
              <a:extLst>
                <a:ext uri="{FF2B5EF4-FFF2-40B4-BE49-F238E27FC236}">
                  <a16:creationId xmlns:a16="http://schemas.microsoft.com/office/drawing/2014/main" id="{3C73F8FE-D926-A281-6C7C-49957BCD5A21}"/>
                </a:ext>
              </a:extLst>
            </p:cNvPr>
            <p:cNvCxnSpPr>
              <a:stCxn id="59" idx="1"/>
              <a:endCxn id="59" idx="3"/>
            </p:cNvCxnSpPr>
            <p:nvPr/>
          </p:nvCxnSpPr>
          <p:spPr>
            <a:xfrm>
              <a:off x="2910785" y="6158123"/>
              <a:ext cx="3687366"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A0F9F26-0FDE-A680-9589-FE9B0FBAA1DD}"/>
                </a:ext>
              </a:extLst>
            </p:cNvPr>
            <p:cNvSpPr/>
            <p:nvPr/>
          </p:nvSpPr>
          <p:spPr>
            <a:xfrm>
              <a:off x="2909125" y="1882844"/>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62" name="Rectangle 61">
              <a:extLst>
                <a:ext uri="{FF2B5EF4-FFF2-40B4-BE49-F238E27FC236}">
                  <a16:creationId xmlns:a16="http://schemas.microsoft.com/office/drawing/2014/main" id="{05428C6C-28AD-25D4-5200-AD7752932974}"/>
                </a:ext>
              </a:extLst>
            </p:cNvPr>
            <p:cNvSpPr/>
            <p:nvPr/>
          </p:nvSpPr>
          <p:spPr>
            <a:xfrm>
              <a:off x="6409560" y="1882844"/>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63" name="Rectangle 62">
              <a:extLst>
                <a:ext uri="{FF2B5EF4-FFF2-40B4-BE49-F238E27FC236}">
                  <a16:creationId xmlns:a16="http://schemas.microsoft.com/office/drawing/2014/main" id="{4CA2C693-ED0F-BD6B-161B-5747829B8005}"/>
                </a:ext>
              </a:extLst>
            </p:cNvPr>
            <p:cNvSpPr/>
            <p:nvPr/>
          </p:nvSpPr>
          <p:spPr>
            <a:xfrm>
              <a:off x="2909125" y="2729475"/>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64" name="Rectangle 63">
              <a:extLst>
                <a:ext uri="{FF2B5EF4-FFF2-40B4-BE49-F238E27FC236}">
                  <a16:creationId xmlns:a16="http://schemas.microsoft.com/office/drawing/2014/main" id="{FF9DBD92-3E85-EA25-34CF-48672DA0F106}"/>
                </a:ext>
              </a:extLst>
            </p:cNvPr>
            <p:cNvSpPr/>
            <p:nvPr/>
          </p:nvSpPr>
          <p:spPr>
            <a:xfrm>
              <a:off x="6409560" y="2729475"/>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65" name="Rectangle 64">
              <a:extLst>
                <a:ext uri="{FF2B5EF4-FFF2-40B4-BE49-F238E27FC236}">
                  <a16:creationId xmlns:a16="http://schemas.microsoft.com/office/drawing/2014/main" id="{A978BAFB-F4E2-05DB-7B36-38C20717B072}"/>
                </a:ext>
              </a:extLst>
            </p:cNvPr>
            <p:cNvSpPr/>
            <p:nvPr/>
          </p:nvSpPr>
          <p:spPr>
            <a:xfrm>
              <a:off x="2909125" y="3576106"/>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66" name="Rectangle 65">
              <a:extLst>
                <a:ext uri="{FF2B5EF4-FFF2-40B4-BE49-F238E27FC236}">
                  <a16:creationId xmlns:a16="http://schemas.microsoft.com/office/drawing/2014/main" id="{08A8FF0E-88D0-AD28-0AEB-85A22A79D10D}"/>
                </a:ext>
              </a:extLst>
            </p:cNvPr>
            <p:cNvSpPr/>
            <p:nvPr/>
          </p:nvSpPr>
          <p:spPr>
            <a:xfrm>
              <a:off x="6409560" y="3576106"/>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67" name="Rectangle 66">
              <a:extLst>
                <a:ext uri="{FF2B5EF4-FFF2-40B4-BE49-F238E27FC236}">
                  <a16:creationId xmlns:a16="http://schemas.microsoft.com/office/drawing/2014/main" id="{F6C6595E-4FDE-8D1F-5CAB-9E60B05F5AF7}"/>
                </a:ext>
              </a:extLst>
            </p:cNvPr>
            <p:cNvSpPr/>
            <p:nvPr/>
          </p:nvSpPr>
          <p:spPr>
            <a:xfrm>
              <a:off x="2909125" y="4422737"/>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68" name="Rectangle 67">
              <a:extLst>
                <a:ext uri="{FF2B5EF4-FFF2-40B4-BE49-F238E27FC236}">
                  <a16:creationId xmlns:a16="http://schemas.microsoft.com/office/drawing/2014/main" id="{2F420FAC-3578-5D2D-2DE2-4B3D9E953333}"/>
                </a:ext>
              </a:extLst>
            </p:cNvPr>
            <p:cNvSpPr/>
            <p:nvPr/>
          </p:nvSpPr>
          <p:spPr>
            <a:xfrm>
              <a:off x="6409560" y="4422737"/>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69" name="Rectangle 68">
              <a:extLst>
                <a:ext uri="{FF2B5EF4-FFF2-40B4-BE49-F238E27FC236}">
                  <a16:creationId xmlns:a16="http://schemas.microsoft.com/office/drawing/2014/main" id="{01FE990F-C1AF-9675-C47D-523D1F7E8E0A}"/>
                </a:ext>
              </a:extLst>
            </p:cNvPr>
            <p:cNvSpPr/>
            <p:nvPr/>
          </p:nvSpPr>
          <p:spPr>
            <a:xfrm>
              <a:off x="2909125" y="5269368"/>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70" name="Rectangle 69">
              <a:extLst>
                <a:ext uri="{FF2B5EF4-FFF2-40B4-BE49-F238E27FC236}">
                  <a16:creationId xmlns:a16="http://schemas.microsoft.com/office/drawing/2014/main" id="{7A889849-8737-9B91-D38E-28460DB8379F}"/>
                </a:ext>
              </a:extLst>
            </p:cNvPr>
            <p:cNvSpPr/>
            <p:nvPr/>
          </p:nvSpPr>
          <p:spPr>
            <a:xfrm>
              <a:off x="6409560" y="5269368"/>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71" name="Rectangle 70">
              <a:extLst>
                <a:ext uri="{FF2B5EF4-FFF2-40B4-BE49-F238E27FC236}">
                  <a16:creationId xmlns:a16="http://schemas.microsoft.com/office/drawing/2014/main" id="{5375E34B-4210-E538-C11F-CD332EDCF5CF}"/>
                </a:ext>
              </a:extLst>
            </p:cNvPr>
            <p:cNvSpPr/>
            <p:nvPr/>
          </p:nvSpPr>
          <p:spPr>
            <a:xfrm>
              <a:off x="2909125" y="6115999"/>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700">
                  <a:solidFill>
                    <a:schemeClr val="tx1">
                      <a:lumMod val="50000"/>
                      <a:lumOff val="50000"/>
                    </a:schemeClr>
                  </a:solidFill>
                </a:rPr>
                <a:t>Low</a:t>
              </a:r>
            </a:p>
          </p:txBody>
        </p:sp>
        <p:sp>
          <p:nvSpPr>
            <p:cNvPr id="72" name="Rectangle 71">
              <a:extLst>
                <a:ext uri="{FF2B5EF4-FFF2-40B4-BE49-F238E27FC236}">
                  <a16:creationId xmlns:a16="http://schemas.microsoft.com/office/drawing/2014/main" id="{A5E0BFE2-50D1-3592-BE26-AC84490E825B}"/>
                </a:ext>
              </a:extLst>
            </p:cNvPr>
            <p:cNvSpPr/>
            <p:nvPr/>
          </p:nvSpPr>
          <p:spPr>
            <a:xfrm>
              <a:off x="6409560" y="6115999"/>
              <a:ext cx="186931" cy="11105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700">
                  <a:solidFill>
                    <a:schemeClr val="tx1">
                      <a:lumMod val="50000"/>
                      <a:lumOff val="50000"/>
                    </a:schemeClr>
                  </a:solidFill>
                </a:rPr>
                <a:t>High</a:t>
              </a:r>
            </a:p>
          </p:txBody>
        </p:sp>
        <p:sp>
          <p:nvSpPr>
            <p:cNvPr id="73" name="Oval 72">
              <a:extLst>
                <a:ext uri="{FF2B5EF4-FFF2-40B4-BE49-F238E27FC236}">
                  <a16:creationId xmlns:a16="http://schemas.microsoft.com/office/drawing/2014/main" id="{FD48E42D-751E-82A9-C3EB-C6BF1C3B5331}"/>
                </a:ext>
              </a:extLst>
            </p:cNvPr>
            <p:cNvSpPr/>
            <p:nvPr/>
          </p:nvSpPr>
          <p:spPr>
            <a:xfrm>
              <a:off x="5782441" y="1741960"/>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4" name="Oval 73">
              <a:extLst>
                <a:ext uri="{FF2B5EF4-FFF2-40B4-BE49-F238E27FC236}">
                  <a16:creationId xmlns:a16="http://schemas.microsoft.com/office/drawing/2014/main" id="{88D12F2D-53A7-CA81-4087-7DD46CCEBAA0}"/>
                </a:ext>
              </a:extLst>
            </p:cNvPr>
            <p:cNvSpPr/>
            <p:nvPr/>
          </p:nvSpPr>
          <p:spPr>
            <a:xfrm>
              <a:off x="4132182" y="2579949"/>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5" name="Oval 74">
              <a:extLst>
                <a:ext uri="{FF2B5EF4-FFF2-40B4-BE49-F238E27FC236}">
                  <a16:creationId xmlns:a16="http://schemas.microsoft.com/office/drawing/2014/main" id="{4B5864AC-97E2-5026-14DF-D53076A7B377}"/>
                </a:ext>
              </a:extLst>
            </p:cNvPr>
            <p:cNvSpPr/>
            <p:nvPr/>
          </p:nvSpPr>
          <p:spPr>
            <a:xfrm>
              <a:off x="5382917" y="3436919"/>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6" name="Oval 75">
              <a:extLst>
                <a:ext uri="{FF2B5EF4-FFF2-40B4-BE49-F238E27FC236}">
                  <a16:creationId xmlns:a16="http://schemas.microsoft.com/office/drawing/2014/main" id="{14550344-365D-9E50-122F-FC42103299A9}"/>
                </a:ext>
              </a:extLst>
            </p:cNvPr>
            <p:cNvSpPr/>
            <p:nvPr/>
          </p:nvSpPr>
          <p:spPr>
            <a:xfrm>
              <a:off x="4744970" y="4283849"/>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7" name="Oval 76">
              <a:extLst>
                <a:ext uri="{FF2B5EF4-FFF2-40B4-BE49-F238E27FC236}">
                  <a16:creationId xmlns:a16="http://schemas.microsoft.com/office/drawing/2014/main" id="{DF87B71E-EC04-1958-A140-AA2920EF3D18}"/>
                </a:ext>
              </a:extLst>
            </p:cNvPr>
            <p:cNvSpPr/>
            <p:nvPr/>
          </p:nvSpPr>
          <p:spPr>
            <a:xfrm>
              <a:off x="4545208" y="5110896"/>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8" name="Oval 77">
              <a:extLst>
                <a:ext uri="{FF2B5EF4-FFF2-40B4-BE49-F238E27FC236}">
                  <a16:creationId xmlns:a16="http://schemas.microsoft.com/office/drawing/2014/main" id="{7115E3B5-E158-8757-BB75-F03B8CD3E065}"/>
                </a:ext>
              </a:extLst>
            </p:cNvPr>
            <p:cNvSpPr/>
            <p:nvPr/>
          </p:nvSpPr>
          <p:spPr>
            <a:xfrm>
              <a:off x="3786441" y="5959782"/>
              <a:ext cx="399524" cy="399524"/>
            </a:xfrm>
            <a:prstGeom prst="ellipse">
              <a:avLst/>
            </a:prstGeom>
            <a:solidFill>
              <a:schemeClr val="tx2">
                <a:lumMod val="20000"/>
                <a:lumOff val="80000"/>
              </a:schemeClr>
            </a:solidFill>
            <a:ln w="952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80" name="Straight Connector 79">
              <a:extLst>
                <a:ext uri="{FF2B5EF4-FFF2-40B4-BE49-F238E27FC236}">
                  <a16:creationId xmlns:a16="http://schemas.microsoft.com/office/drawing/2014/main" id="{0080AE8A-8DAF-C07F-602D-67DFE8B79254}"/>
                </a:ext>
              </a:extLst>
            </p:cNvPr>
            <p:cNvCxnSpPr>
              <a:cxnSpLocks/>
            </p:cNvCxnSpPr>
            <p:nvPr/>
          </p:nvCxnSpPr>
          <p:spPr>
            <a:xfrm>
              <a:off x="550199" y="2363362"/>
              <a:ext cx="1109093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4493E98-2CE6-5FD9-AEA2-C9656D1F7AF0}"/>
                </a:ext>
              </a:extLst>
            </p:cNvPr>
            <p:cNvCxnSpPr>
              <a:cxnSpLocks/>
            </p:cNvCxnSpPr>
            <p:nvPr/>
          </p:nvCxnSpPr>
          <p:spPr>
            <a:xfrm>
              <a:off x="550199" y="3206642"/>
              <a:ext cx="1109093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C8E4E51-D273-7BA4-4BA0-EE09ABD85C35}"/>
                </a:ext>
              </a:extLst>
            </p:cNvPr>
            <p:cNvCxnSpPr>
              <a:cxnSpLocks/>
            </p:cNvCxnSpPr>
            <p:nvPr/>
          </p:nvCxnSpPr>
          <p:spPr>
            <a:xfrm>
              <a:off x="550199" y="4049922"/>
              <a:ext cx="1109093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7EDC7B0-3F04-9312-76E3-D88A8675403A}"/>
                </a:ext>
              </a:extLst>
            </p:cNvPr>
            <p:cNvCxnSpPr>
              <a:cxnSpLocks/>
            </p:cNvCxnSpPr>
            <p:nvPr/>
          </p:nvCxnSpPr>
          <p:spPr>
            <a:xfrm>
              <a:off x="550199" y="4893202"/>
              <a:ext cx="1109093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410B3E9-FC27-E0A0-E59D-EB94F87CDC22}"/>
                </a:ext>
              </a:extLst>
            </p:cNvPr>
            <p:cNvCxnSpPr>
              <a:cxnSpLocks/>
            </p:cNvCxnSpPr>
            <p:nvPr/>
          </p:nvCxnSpPr>
          <p:spPr>
            <a:xfrm>
              <a:off x="550199" y="5736482"/>
              <a:ext cx="1109093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D6549965-BE62-84FE-05BD-AF84227318B5}"/>
              </a:ext>
            </a:extLst>
          </p:cNvPr>
          <p:cNvGrpSpPr/>
          <p:nvPr/>
        </p:nvGrpSpPr>
        <p:grpSpPr>
          <a:xfrm>
            <a:off x="10401300" y="93608"/>
            <a:ext cx="1187588" cy="178532"/>
            <a:chOff x="10704512" y="620688"/>
            <a:chExt cx="884375" cy="250540"/>
          </a:xfrm>
        </p:grpSpPr>
        <p:sp>
          <p:nvSpPr>
            <p:cNvPr id="13" name="Rectangle 12">
              <a:extLst>
                <a:ext uri="{FF2B5EF4-FFF2-40B4-BE49-F238E27FC236}">
                  <a16:creationId xmlns:a16="http://schemas.microsoft.com/office/drawing/2014/main" id="{C2CF2EA6-3254-0A07-0966-9F025B7E55BB}"/>
                </a:ext>
              </a:extLst>
            </p:cNvPr>
            <p:cNvSpPr/>
            <p:nvPr/>
          </p:nvSpPr>
          <p:spPr>
            <a:xfrm>
              <a:off x="10725532" y="620688"/>
              <a:ext cx="863355" cy="2505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solidFill>
                </a:rPr>
                <a:t>NON-EXHAUSTIVE</a:t>
              </a:r>
            </a:p>
          </p:txBody>
        </p:sp>
        <p:cxnSp>
          <p:nvCxnSpPr>
            <p:cNvPr id="14" name="Straight Connector 13">
              <a:extLst>
                <a:ext uri="{FF2B5EF4-FFF2-40B4-BE49-F238E27FC236}">
                  <a16:creationId xmlns:a16="http://schemas.microsoft.com/office/drawing/2014/main" id="{7C685C79-6208-0E6E-D43F-A2BA33DE0925}"/>
                </a:ext>
              </a:extLst>
            </p:cNvPr>
            <p:cNvCxnSpPr>
              <a:cxnSpLocks/>
            </p:cNvCxnSpPr>
            <p:nvPr/>
          </p:nvCxnSpPr>
          <p:spPr>
            <a:xfrm>
              <a:off x="10704512" y="871228"/>
              <a:ext cx="88437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ECB5CE-6D9B-6D19-74AE-67896B3EDA09}"/>
                </a:ext>
              </a:extLst>
            </p:cNvPr>
            <p:cNvCxnSpPr/>
            <p:nvPr/>
          </p:nvCxnSpPr>
          <p:spPr>
            <a:xfrm>
              <a:off x="10709274" y="620688"/>
              <a:ext cx="0" cy="25054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07D7C0AD-D891-8878-7CD0-74C3E7352328}"/>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AI ACCELERATION</a:t>
            </a:r>
          </a:p>
        </p:txBody>
      </p:sp>
    </p:spTree>
    <p:extLst>
      <p:ext uri="{BB962C8B-B14F-4D97-AF65-F5344CB8AC3E}">
        <p14:creationId xmlns:p14="http://schemas.microsoft.com/office/powerpoint/2010/main" val="48972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0684-32B3-E4A9-BC39-261C772B47CF}"/>
            </a:ext>
          </a:extLst>
        </p:cNvPr>
        <p:cNvGrpSpPr/>
        <p:nvPr/>
      </p:nvGrpSpPr>
      <p:grpSpPr>
        <a:xfrm>
          <a:off x="0" y="0"/>
          <a:ext cx="0" cy="0"/>
          <a:chOff x="0" y="0"/>
          <a:chExt cx="0" cy="0"/>
        </a:xfrm>
      </p:grpSpPr>
      <p:pic>
        <p:nvPicPr>
          <p:cNvPr id="14" name="Picture Placeholder 13" descr="A blue and white background with leaves&#10;">
            <a:extLst>
              <a:ext uri="{FF2B5EF4-FFF2-40B4-BE49-F238E27FC236}">
                <a16:creationId xmlns:a16="http://schemas.microsoft.com/office/drawing/2014/main" id="{20298BD4-19B6-2331-4484-1F41F7AD377E}"/>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 y="0"/>
            <a:ext cx="12192001" cy="6858000"/>
          </a:xfrm>
        </p:spPr>
      </p:pic>
      <p:sp>
        <p:nvSpPr>
          <p:cNvPr id="10" name="Text Placeholder 9">
            <a:extLst>
              <a:ext uri="{FF2B5EF4-FFF2-40B4-BE49-F238E27FC236}">
                <a16:creationId xmlns:a16="http://schemas.microsoft.com/office/drawing/2014/main" id="{EAC98348-F9A5-56CA-2C44-EEEAF5912E07}"/>
              </a:ext>
            </a:extLst>
          </p:cNvPr>
          <p:cNvSpPr>
            <a:spLocks noGrp="1"/>
          </p:cNvSpPr>
          <p:nvPr>
            <p:ph type="body" sz="quarter" idx="19"/>
          </p:nvPr>
        </p:nvSpPr>
        <p:spPr>
          <a:xfrm>
            <a:off x="0" y="0"/>
            <a:ext cx="4657725" cy="6858000"/>
          </a:xfrm>
        </p:spPr>
        <p:txBody>
          <a:bodyPr/>
          <a:lstStyle/>
          <a:p>
            <a:r>
              <a:rPr lang="en-US">
                <a:latin typeface="+mj-lt"/>
              </a:rPr>
              <a:t>2</a:t>
            </a:r>
          </a:p>
        </p:txBody>
      </p:sp>
      <p:sp>
        <p:nvSpPr>
          <p:cNvPr id="25" name="Date Placeholder 24">
            <a:extLst>
              <a:ext uri="{FF2B5EF4-FFF2-40B4-BE49-F238E27FC236}">
                <a16:creationId xmlns:a16="http://schemas.microsoft.com/office/drawing/2014/main" id="{BB7C8842-3578-9E2D-4322-3C0F0A2AFBE8}"/>
              </a:ext>
            </a:extLst>
          </p:cNvPr>
          <p:cNvSpPr>
            <a:spLocks noGrp="1"/>
          </p:cNvSpPr>
          <p:nvPr>
            <p:ph type="dt" sz="half" idx="20"/>
          </p:nvPr>
        </p:nvSpPr>
        <p:spPr>
          <a:xfrm>
            <a:off x="9809927" y="6650661"/>
            <a:ext cx="1831210" cy="123111"/>
          </a:xfrm>
        </p:spPr>
        <p:txBody>
          <a:bodyPr/>
          <a:lstStyle/>
          <a:p>
            <a:r>
              <a:rPr lang="en-US"/>
              <a:t>Company Confidential © Capgemini 2026. All rights reserved.</a:t>
            </a:r>
          </a:p>
        </p:txBody>
      </p:sp>
      <p:sp>
        <p:nvSpPr>
          <p:cNvPr id="26" name="Footer Placeholder 25">
            <a:extLst>
              <a:ext uri="{FF2B5EF4-FFF2-40B4-BE49-F238E27FC236}">
                <a16:creationId xmlns:a16="http://schemas.microsoft.com/office/drawing/2014/main" id="{4E3B2195-6065-9BB4-7838-BEDA6400DA8E}"/>
              </a:ext>
            </a:extLst>
          </p:cNvPr>
          <p:cNvSpPr>
            <a:spLocks noGrp="1"/>
          </p:cNvSpPr>
          <p:nvPr>
            <p:ph type="ftr" sz="quarter" idx="21"/>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27" name="Slide Number Placeholder 26">
            <a:extLst>
              <a:ext uri="{FF2B5EF4-FFF2-40B4-BE49-F238E27FC236}">
                <a16:creationId xmlns:a16="http://schemas.microsoft.com/office/drawing/2014/main" id="{A41F370B-AE3F-5C9F-4674-49D52478A6AB}"/>
              </a:ext>
            </a:extLst>
          </p:cNvPr>
          <p:cNvSpPr>
            <a:spLocks noGrp="1"/>
          </p:cNvSpPr>
          <p:nvPr>
            <p:ph type="sldNum" sz="quarter" idx="22"/>
          </p:nvPr>
        </p:nvSpPr>
        <p:spPr>
          <a:xfrm>
            <a:off x="11778341" y="6650661"/>
            <a:ext cx="232665" cy="123111"/>
          </a:xfrm>
        </p:spPr>
        <p:txBody>
          <a:bodyPr/>
          <a:lstStyle/>
          <a:p>
            <a:fld id="{5D9A5160-6218-4E5A-B9E6-B93E3DAE377C}" type="slidenum">
              <a:rPr lang="en-US" smtClean="0"/>
              <a:pPr/>
              <a:t>13</a:t>
            </a:fld>
            <a:endParaRPr lang="en-US"/>
          </a:p>
        </p:txBody>
      </p:sp>
      <p:sp>
        <p:nvSpPr>
          <p:cNvPr id="22" name="Title 21">
            <a:extLst>
              <a:ext uri="{FF2B5EF4-FFF2-40B4-BE49-F238E27FC236}">
                <a16:creationId xmlns:a16="http://schemas.microsoft.com/office/drawing/2014/main" id="{4CD3B2AC-8FF0-F7BA-451A-D69BFEDF1D33}"/>
              </a:ext>
            </a:extLst>
          </p:cNvPr>
          <p:cNvSpPr>
            <a:spLocks noGrp="1"/>
          </p:cNvSpPr>
          <p:nvPr>
            <p:ph type="title"/>
          </p:nvPr>
        </p:nvSpPr>
        <p:spPr>
          <a:xfrm>
            <a:off x="5159374" y="4658810"/>
            <a:ext cx="6487665" cy="1672542"/>
          </a:xfrm>
        </p:spPr>
        <p:txBody>
          <a:bodyPr/>
          <a:lstStyle/>
          <a:p>
            <a:r>
              <a:rPr lang="en-US"/>
              <a:t>Sports Content Broadcasting</a:t>
            </a:r>
          </a:p>
        </p:txBody>
      </p:sp>
      <p:sp>
        <p:nvSpPr>
          <p:cNvPr id="24" name="Text Placeholder 23">
            <a:extLst>
              <a:ext uri="{FF2B5EF4-FFF2-40B4-BE49-F238E27FC236}">
                <a16:creationId xmlns:a16="http://schemas.microsoft.com/office/drawing/2014/main" id="{7FF9CFBA-0929-EA4F-61A3-F4615CC2F733}"/>
              </a:ext>
            </a:extLst>
          </p:cNvPr>
          <p:cNvSpPr>
            <a:spLocks noGrp="1"/>
          </p:cNvSpPr>
          <p:nvPr>
            <p:ph type="body" sz="quarter" idx="40"/>
          </p:nvPr>
        </p:nvSpPr>
        <p:spPr/>
        <p:txBody>
          <a:bodyPr/>
          <a:lstStyle/>
          <a:p>
            <a:endParaRPr lang="en-US"/>
          </a:p>
        </p:txBody>
      </p:sp>
      <p:sp>
        <p:nvSpPr>
          <p:cNvPr id="30" name="Rectangle 29">
            <a:extLst>
              <a:ext uri="{FF2B5EF4-FFF2-40B4-BE49-F238E27FC236}">
                <a16:creationId xmlns:a16="http://schemas.microsoft.com/office/drawing/2014/main" id="{66129C67-2F56-CAC3-C114-337B25187D26}"/>
              </a:ext>
              <a:ext uri="{C183D7F6-B498-43B3-948B-1728B52AA6E4}">
                <adec:decorative xmlns:adec="http://schemas.microsoft.com/office/drawing/2017/decorative" val="1"/>
              </a:ext>
            </a:extLst>
          </p:cNvPr>
          <p:cNvSpPr/>
          <p:nvPr/>
        </p:nvSpPr>
        <p:spPr>
          <a:xfrm>
            <a:off x="5159374" y="4107976"/>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3" name="Rectangle 2">
            <a:extLst>
              <a:ext uri="{FF2B5EF4-FFF2-40B4-BE49-F238E27FC236}">
                <a16:creationId xmlns:a16="http://schemas.microsoft.com/office/drawing/2014/main" id="{D428E4C9-197B-0300-3682-E7E25CC17D1F}"/>
              </a:ext>
            </a:extLst>
          </p:cNvPr>
          <p:cNvSpPr/>
          <p:nvPr/>
        </p:nvSpPr>
        <p:spPr>
          <a:xfrm>
            <a:off x="8380317" y="6650661"/>
            <a:ext cx="1427434" cy="123111"/>
          </a:xfrm>
          <a:prstGeom prst="rect">
            <a:avLst/>
          </a:prstGeom>
        </p:spPr>
        <p:txBody>
          <a:bodyPr wrap="none" lIns="0" tIns="0" rIns="0" bIns="0" anchor="ctr" anchorCtr="0">
            <a:noAutofit/>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0" cap="none" spc="0" normalizeH="0" baseline="0" noProof="0">
                <a:ln>
                  <a:noFill/>
                </a:ln>
                <a:solidFill>
                  <a:srgbClr val="FFFFFF">
                    <a:lumMod val="65000"/>
                  </a:srgbClr>
                </a:solidFill>
                <a:effectLst/>
                <a:uLnTx/>
                <a:uFillTx/>
                <a:latin typeface="Ubuntu"/>
                <a:ea typeface="+mn-ea"/>
                <a:cs typeface="+mn-cs"/>
              </a:rPr>
              <a:t>Company Confidential</a:t>
            </a:r>
          </a:p>
        </p:txBody>
      </p:sp>
      <p:sp>
        <p:nvSpPr>
          <p:cNvPr id="4" name="Text Placeholder 3">
            <a:extLst>
              <a:ext uri="{FF2B5EF4-FFF2-40B4-BE49-F238E27FC236}">
                <a16:creationId xmlns:a16="http://schemas.microsoft.com/office/drawing/2014/main" id="{A63B6E4F-AE2F-B5C6-70A3-3B04F9A4E553}"/>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1280286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7">
            <a:extLst>
              <a:ext uri="{FF2B5EF4-FFF2-40B4-BE49-F238E27FC236}">
                <a16:creationId xmlns:a16="http://schemas.microsoft.com/office/drawing/2014/main" id="{B1B9FBFB-D670-BE83-E38E-7947FA83A081}"/>
              </a:ext>
            </a:extLst>
          </p:cNvPr>
          <p:cNvPicPr>
            <a:picLocks noChangeAspect="1"/>
          </p:cNvPicPr>
          <p:nvPr/>
        </p:nvPicPr>
        <p:blipFill>
          <a:blip r:embed="rId2">
            <a:extLst>
              <a:ext uri="{28A0092B-C50C-407E-A947-70E740481C1C}">
                <a14:useLocalDpi xmlns:a14="http://schemas.microsoft.com/office/drawing/2010/main" val="0"/>
              </a:ext>
            </a:extLst>
          </a:blip>
          <a:srcRect r="888" b="-1"/>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5ACD9D76-79A6-F1F4-D732-28EFAF00C229}"/>
              </a:ext>
            </a:extLst>
          </p:cNvPr>
          <p:cNvSpPr/>
          <p:nvPr/>
        </p:nvSpPr>
        <p:spPr>
          <a:xfrm rot="10800000">
            <a:off x="0" y="-13534"/>
            <a:ext cx="12203482" cy="6857990"/>
          </a:xfrm>
          <a:prstGeom prst="rect">
            <a:avLst/>
          </a:prstGeom>
          <a:gradFill>
            <a:gsLst>
              <a:gs pos="0">
                <a:schemeClr val="tx1">
                  <a:alpha val="69396"/>
                </a:schemeClr>
              </a:gs>
              <a:gs pos="33024">
                <a:srgbClr val="000000"/>
              </a:gs>
              <a:gs pos="64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sp>
        <p:nvSpPr>
          <p:cNvPr id="16" name="Rectangle 15">
            <a:extLst>
              <a:ext uri="{FF2B5EF4-FFF2-40B4-BE49-F238E27FC236}">
                <a16:creationId xmlns:a16="http://schemas.microsoft.com/office/drawing/2014/main" id="{8A55F4B2-1434-043F-BB16-86AA6E7AB403}"/>
              </a:ext>
            </a:extLst>
          </p:cNvPr>
          <p:cNvSpPr/>
          <p:nvPr/>
        </p:nvSpPr>
        <p:spPr>
          <a:xfrm rot="10800000">
            <a:off x="0" y="433632"/>
            <a:ext cx="12203482" cy="6424367"/>
          </a:xfrm>
          <a:prstGeom prst="rect">
            <a:avLst/>
          </a:prstGeom>
          <a:gradFill>
            <a:gsLst>
              <a:gs pos="0">
                <a:schemeClr val="tx1">
                  <a:alpha val="69396"/>
                </a:schemeClr>
              </a:gs>
              <a:gs pos="100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sp>
        <p:nvSpPr>
          <p:cNvPr id="2" name="Date Placeholder 1" hidden="1">
            <a:extLst>
              <a:ext uri="{FF2B5EF4-FFF2-40B4-BE49-F238E27FC236}">
                <a16:creationId xmlns:a16="http://schemas.microsoft.com/office/drawing/2014/main" id="{B63F2176-87F6-131C-2A2F-245E0645C6D4}"/>
              </a:ext>
            </a:extLst>
          </p:cNvPr>
          <p:cNvSpPr>
            <a:spLocks noGrp="1"/>
          </p:cNvSpPr>
          <p:nvPr>
            <p:ph type="dt" sz="half" idx="4294967295"/>
          </p:nvPr>
        </p:nvSpPr>
        <p:spPr>
          <a:xfrm>
            <a:off x="9809927" y="6650661"/>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E41C955-4247-F673-9C11-8553A4884327}"/>
              </a:ext>
            </a:extLst>
          </p:cNvPr>
          <p:cNvSpPr>
            <a:spLocks noGrp="1"/>
          </p:cNvSpPr>
          <p:nvPr>
            <p:ph type="ftr" sz="quarter" idx="4294967295"/>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hidden="1">
            <a:extLst>
              <a:ext uri="{FF2B5EF4-FFF2-40B4-BE49-F238E27FC236}">
                <a16:creationId xmlns:a16="http://schemas.microsoft.com/office/drawing/2014/main" id="{24E78D7F-84A0-66C6-6BE7-1F7EB0D43BA8}"/>
              </a:ext>
            </a:extLst>
          </p:cNvPr>
          <p:cNvSpPr>
            <a:spLocks noGrp="1"/>
          </p:cNvSpPr>
          <p:nvPr>
            <p:ph type="sldNum" sz="quarter" idx="4294967295"/>
          </p:nvPr>
        </p:nvSpPr>
        <p:spPr>
          <a:xfrm>
            <a:off x="11778341" y="6650661"/>
            <a:ext cx="232665" cy="123111"/>
          </a:xfrm>
        </p:spPr>
        <p:txBody>
          <a:bodyPr/>
          <a:lstStyle/>
          <a:p>
            <a:pPr algn="r">
              <a:spcAft>
                <a:spcPts val="600"/>
              </a:spcAft>
            </a:pPr>
            <a:fld id="{5D9A5160-6218-4E5A-B9E6-B93E3DAE377C}" type="slidenum">
              <a:rPr lang="en-US" smtClean="0"/>
              <a:pPr algn="r">
                <a:spcAft>
                  <a:spcPts val="600"/>
                </a:spcAft>
              </a:pPr>
              <a:t>14</a:t>
            </a:fld>
            <a:endParaRPr lang="en-US"/>
          </a:p>
        </p:txBody>
      </p:sp>
      <p:sp>
        <p:nvSpPr>
          <p:cNvPr id="19" name="Title 2">
            <a:extLst>
              <a:ext uri="{FF2B5EF4-FFF2-40B4-BE49-F238E27FC236}">
                <a16:creationId xmlns:a16="http://schemas.microsoft.com/office/drawing/2014/main" id="{3C581329-6E67-61CA-103E-9FCA17B5B326}"/>
              </a:ext>
            </a:extLst>
          </p:cNvPr>
          <p:cNvSpPr txBox="1">
            <a:spLocks/>
          </p:cNvSpPr>
          <p:nvPr/>
        </p:nvSpPr>
        <p:spPr>
          <a:xfrm>
            <a:off x="407368" y="2427865"/>
            <a:ext cx="5938568" cy="2062102"/>
          </a:xfrm>
          <a:prstGeom prst="rect">
            <a:avLst/>
          </a:prstGeom>
        </p:spPr>
        <p:txBody>
          <a:bodyPr vert="horz" wrap="square" lIns="0" tIns="0" rIns="0" bIns="0" rtlCol="0" anchor="t" anchorCtr="0">
            <a:noAutofit/>
          </a:bodyPr>
          <a:lstStyle>
            <a:lvl1pPr marL="0" marR="0" indent="0" algn="ctr" defTabSz="565150" latinLnBrk="0">
              <a:lnSpc>
                <a:spcPct val="80000"/>
              </a:lnSpc>
              <a:spcBef>
                <a:spcPts val="0"/>
              </a:spcBef>
              <a:spcAft>
                <a:spcPts val="0"/>
              </a:spcAft>
              <a:buClrTx/>
              <a:buSzTx/>
              <a:buFontTx/>
              <a:buNone/>
              <a:tabLst/>
              <a:defRPr sz="4600" b="0" i="0" u="none" strike="noStrike" cap="none" spc="-150" baseline="0">
                <a:solidFill>
                  <a:schemeClr val="bg1"/>
                </a:solidFill>
                <a:uFill>
                  <a:solidFill>
                    <a:srgbClr val="FFFFFF"/>
                  </a:solidFill>
                </a:uFill>
                <a:latin typeface="+mj-lt"/>
                <a:ea typeface="Times New Roman" panose="02020603050405020304" pitchFamily="18" charset="0"/>
                <a:cs typeface="Times New Roman" panose="02020603050405020304" pitchFamily="18" charset="0"/>
                <a:sym typeface="BentonSansF Medium"/>
              </a:defRPr>
            </a:lvl1pPr>
            <a:lvl2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2pPr>
            <a:lvl3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3pPr>
            <a:lvl4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4pPr>
            <a:lvl5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5pPr>
            <a:lvl6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6pPr>
            <a:lvl7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7pPr>
            <a:lvl8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8pPr>
            <a:lvl9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9pPr>
          </a:lstStyle>
          <a:p>
            <a:pPr marL="0" marR="0" lvl="0" indent="0" algn="l" defTabSz="565150" eaLnBrk="1" fontAlgn="auto" latinLnBrk="0" hangingPunct="1">
              <a:lnSpc>
                <a:spcPct val="100000"/>
              </a:lnSpc>
              <a:spcBef>
                <a:spcPts val="0"/>
              </a:spcBef>
              <a:spcAft>
                <a:spcPts val="0"/>
              </a:spcAft>
              <a:buClrTx/>
              <a:buSzTx/>
              <a:buFontTx/>
              <a:buNone/>
              <a:tabLst/>
              <a:defRPr/>
            </a:pPr>
            <a:r>
              <a:rPr lang="en-US" sz="3200" kern="0">
                <a:solidFill>
                  <a:schemeClr val="bg1">
                    <a:lumMod val="65000"/>
                  </a:schemeClr>
                </a:solidFill>
                <a:ea typeface="+mn-ea"/>
              </a:rPr>
              <a:t>Sports broadcasting sits at the intersection of live, </a:t>
            </a:r>
            <a:r>
              <a:rPr kumimoji="0" lang="en-US" sz="3200" u="none" strike="noStrike" kern="0" cap="none" normalizeH="0" baseline="0" noProof="0">
                <a:ln>
                  <a:noFill/>
                </a:ln>
                <a:effectLst/>
                <a:uLnTx/>
                <a:uFill>
                  <a:solidFill>
                    <a:srgbClr val="FFFFFF"/>
                  </a:solidFill>
                </a:uFill>
                <a:sym typeface="BentonSansF Medium"/>
              </a:rPr>
              <a:t>unpredictable events and carefully crafted storytelling. </a:t>
            </a:r>
            <a:br>
              <a:rPr kumimoji="0" lang="en-US" sz="2800" u="none" strike="noStrike" kern="0" cap="none" normalizeH="0" baseline="0" noProof="0">
                <a:ln>
                  <a:noFill/>
                </a:ln>
                <a:effectLst/>
                <a:uLnTx/>
                <a:uFill>
                  <a:solidFill>
                    <a:srgbClr val="FFFFFF"/>
                  </a:solidFill>
                </a:uFill>
                <a:latin typeface="Ubuntu" panose="020B0504030602030204" pitchFamily="34" charset="0"/>
                <a:sym typeface="BentonSansF Medium"/>
              </a:rPr>
            </a:br>
            <a:br>
              <a:rPr kumimoji="0" lang="en-US" sz="2800" u="none" strike="noStrike" kern="0" cap="none" normalizeH="0" baseline="0" noProof="0">
                <a:ln>
                  <a:noFill/>
                </a:ln>
                <a:effectLst/>
                <a:uLnTx/>
                <a:uFill>
                  <a:solidFill>
                    <a:srgbClr val="FFFFFF"/>
                  </a:solidFill>
                </a:uFill>
                <a:latin typeface="Ubuntu" panose="020B0504030602030204" pitchFamily="34" charset="0"/>
                <a:sym typeface="BentonSansF Medium"/>
              </a:rPr>
            </a:br>
            <a:endParaRPr kumimoji="0" lang="en-IN" sz="2800" u="none" strike="noStrike" kern="0" cap="none" normalizeH="0" baseline="0" noProof="0">
              <a:ln>
                <a:noFill/>
              </a:ln>
              <a:effectLst/>
              <a:uLnTx/>
              <a:uFill>
                <a:solidFill>
                  <a:srgbClr val="FFFFFF"/>
                </a:solidFill>
              </a:uFill>
              <a:latin typeface="Ubuntu" panose="020B0504030602030204" pitchFamily="34" charset="0"/>
              <a:sym typeface="BentonSansF Medium"/>
            </a:endParaRPr>
          </a:p>
        </p:txBody>
      </p:sp>
      <p:sp>
        <p:nvSpPr>
          <p:cNvPr id="20" name="TextBox 19">
            <a:extLst>
              <a:ext uri="{FF2B5EF4-FFF2-40B4-BE49-F238E27FC236}">
                <a16:creationId xmlns:a16="http://schemas.microsoft.com/office/drawing/2014/main" id="{9D13F0B9-1AB9-AC5D-32FA-61BF9593FD2E}"/>
              </a:ext>
            </a:extLst>
          </p:cNvPr>
          <p:cNvSpPr txBox="1"/>
          <p:nvPr/>
        </p:nvSpPr>
        <p:spPr>
          <a:xfrm>
            <a:off x="5557422" y="4120635"/>
            <a:ext cx="6507094" cy="2062103"/>
          </a:xfrm>
          <a:prstGeom prst="rect">
            <a:avLst/>
          </a:prstGeom>
          <a:noFill/>
          <a:ln w="12700" cap="flat">
            <a:noFill/>
            <a:miter lim="400000"/>
          </a:ln>
          <a:effectLst/>
          <a:sp3d/>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150" normalizeH="0" baseline="0" noProof="0">
                <a:ln>
                  <a:noFill/>
                </a:ln>
                <a:solidFill>
                  <a:schemeClr val="bg1">
                    <a:lumMod val="65000"/>
                  </a:schemeClr>
                </a:solidFill>
                <a:effectLst/>
                <a:uLnTx/>
                <a:uFill>
                  <a:solidFill>
                    <a:srgbClr val="FFFFFF"/>
                  </a:solidFill>
                </a:uFill>
                <a:latin typeface="+mj-lt"/>
                <a:cs typeface="Times New Roman" panose="02020603050405020304" pitchFamily="18" charset="0"/>
                <a:sym typeface="BentonSansF Medium"/>
              </a:rPr>
              <a:t>A </a:t>
            </a:r>
            <a:r>
              <a:rPr lang="en-US" sz="3200" kern="0" spc="-150">
                <a:solidFill>
                  <a:schemeClr val="bg1"/>
                </a:solidFill>
                <a:uFill>
                  <a:solidFill>
                    <a:srgbClr val="FFFFFF"/>
                  </a:solidFill>
                </a:uFill>
                <a:latin typeface="+mj-lt"/>
                <a:cs typeface="Times New Roman" panose="02020603050405020304" pitchFamily="18" charset="0"/>
                <a:sym typeface="BentonSansF Medium"/>
              </a:rPr>
              <a:t>content strategy </a:t>
            </a:r>
            <a:r>
              <a:rPr lang="en-US" sz="3200" kern="0" spc="-150">
                <a:solidFill>
                  <a:schemeClr val="bg1">
                    <a:lumMod val="65000"/>
                  </a:schemeClr>
                </a:solidFill>
                <a:uFill>
                  <a:solidFill>
                    <a:srgbClr val="FFFFFF"/>
                  </a:solidFill>
                </a:uFill>
                <a:latin typeface="+mj-lt"/>
                <a:cs typeface="Times New Roman" panose="02020603050405020304" pitchFamily="18" charset="0"/>
                <a:sym typeface="BentonSansF Medium"/>
              </a:rPr>
              <a:t>with</a:t>
            </a:r>
            <a:r>
              <a:rPr kumimoji="0" lang="en-US" sz="3200" b="0" i="0" u="none" strike="noStrike" kern="0" cap="none" spc="-150" normalizeH="0" baseline="0" noProof="0">
                <a:ln>
                  <a:noFill/>
                </a:ln>
                <a:solidFill>
                  <a:schemeClr val="bg1"/>
                </a:solidFill>
                <a:effectLst/>
                <a:uLnTx/>
                <a:uFill>
                  <a:solidFill>
                    <a:srgbClr val="FFFFFF"/>
                  </a:solidFill>
                </a:uFill>
                <a:latin typeface="+mj-lt"/>
                <a:cs typeface="Times New Roman" panose="02020603050405020304" pitchFamily="18" charset="0"/>
                <a:sym typeface="BentonSansF Medium"/>
              </a:rPr>
              <a:t> </a:t>
            </a:r>
            <a:r>
              <a:rPr lang="en-US" sz="3200" kern="0" spc="-150">
                <a:solidFill>
                  <a:schemeClr val="bg1"/>
                </a:solidFill>
                <a:uFill>
                  <a:solidFill>
                    <a:srgbClr val="FFFFFF"/>
                  </a:solidFill>
                </a:uFill>
                <a:latin typeface="+mj-lt"/>
                <a:cs typeface="Times New Roman" panose="02020603050405020304" pitchFamily="18" charset="0"/>
                <a:sym typeface="BentonSansF Medium"/>
              </a:rPr>
              <a:t>optimal data estate</a:t>
            </a:r>
            <a:r>
              <a:rPr kumimoji="0" lang="en-US" sz="3200" b="0" i="0" u="none" strike="noStrike" kern="0" cap="none" spc="-150" normalizeH="0" baseline="0" noProof="0">
                <a:ln>
                  <a:noFill/>
                </a:ln>
                <a:solidFill>
                  <a:schemeClr val="bg1"/>
                </a:solidFill>
                <a:effectLst/>
                <a:uLnTx/>
                <a:uFill>
                  <a:solidFill>
                    <a:srgbClr val="FFFFFF"/>
                  </a:solidFill>
                </a:uFill>
                <a:latin typeface="+mj-lt"/>
                <a:cs typeface="Times New Roman" panose="02020603050405020304" pitchFamily="18" charset="0"/>
                <a:sym typeface="BentonSansF Medium"/>
              </a:rPr>
              <a:t> </a:t>
            </a:r>
            <a:r>
              <a:rPr lang="en-US" sz="3200" kern="0" spc="-150">
                <a:solidFill>
                  <a:schemeClr val="bg1">
                    <a:lumMod val="65000"/>
                  </a:schemeClr>
                </a:solidFill>
                <a:uFill>
                  <a:solidFill>
                    <a:srgbClr val="FFFFFF"/>
                  </a:solidFill>
                </a:uFill>
                <a:latin typeface="+mj-lt"/>
                <a:cs typeface="Times New Roman" panose="02020603050405020304" pitchFamily="18" charset="0"/>
                <a:sym typeface="BentonSansF Medium"/>
              </a:rPr>
              <a:t>turns real-time action into personalized, monetizable experiences with a long-term archive value. </a:t>
            </a:r>
            <a:endParaRPr lang="en-IN" sz="3200" kern="0" spc="-150">
              <a:solidFill>
                <a:schemeClr val="bg1">
                  <a:lumMod val="65000"/>
                </a:schemeClr>
              </a:solidFill>
              <a:uFill>
                <a:solidFill>
                  <a:srgbClr val="FFFFFF"/>
                </a:solidFill>
              </a:uFill>
              <a:latin typeface="+mj-lt"/>
              <a:cs typeface="Times New Roman" panose="02020603050405020304" pitchFamily="18" charset="0"/>
            </a:endParaRPr>
          </a:p>
        </p:txBody>
      </p:sp>
    </p:spTree>
    <p:extLst>
      <p:ext uri="{BB962C8B-B14F-4D97-AF65-F5344CB8AC3E}">
        <p14:creationId xmlns:p14="http://schemas.microsoft.com/office/powerpoint/2010/main" val="380453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DE6840-6022-4C91-9295-4C2C7013769C}"/>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16DEF80-EBDF-357C-99B1-657434010C6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0607E954-35A5-6192-988A-E5F1B1087BD0}"/>
              </a:ext>
            </a:extLst>
          </p:cNvPr>
          <p:cNvSpPr>
            <a:spLocks noGrp="1"/>
          </p:cNvSpPr>
          <p:nvPr>
            <p:ph type="sldNum" sz="quarter" idx="30"/>
          </p:nvPr>
        </p:nvSpPr>
        <p:spPr/>
        <p:txBody>
          <a:bodyPr/>
          <a:lstStyle/>
          <a:p>
            <a:pPr algn="r"/>
            <a:fld id="{5D9A5160-6218-4E5A-B9E6-B93E3DAE377C}" type="slidenum">
              <a:rPr lang="en-US" smtClean="0"/>
              <a:pPr algn="r"/>
              <a:t>15</a:t>
            </a:fld>
            <a:endParaRPr lang="en-US"/>
          </a:p>
        </p:txBody>
      </p:sp>
      <p:sp>
        <p:nvSpPr>
          <p:cNvPr id="5" name="Title 4">
            <a:extLst>
              <a:ext uri="{FF2B5EF4-FFF2-40B4-BE49-F238E27FC236}">
                <a16:creationId xmlns:a16="http://schemas.microsoft.com/office/drawing/2014/main" id="{C924AD96-F118-A02E-78A7-7543ECF7F17F}"/>
              </a:ext>
            </a:extLst>
          </p:cNvPr>
          <p:cNvSpPr>
            <a:spLocks noGrp="1"/>
          </p:cNvSpPr>
          <p:nvPr>
            <p:ph type="title"/>
          </p:nvPr>
        </p:nvSpPr>
        <p:spPr/>
        <p:txBody>
          <a:bodyPr/>
          <a:lstStyle/>
          <a:p>
            <a:r>
              <a:rPr lang="en-US"/>
              <a:t>Sports content strategy transforms broadcast into four revenue streams: live events, highlights, archives, and derivative clips</a:t>
            </a:r>
          </a:p>
        </p:txBody>
      </p:sp>
      <p:sp>
        <p:nvSpPr>
          <p:cNvPr id="6" name="Emotional Connection">
            <a:extLst>
              <a:ext uri="{FF2B5EF4-FFF2-40B4-BE49-F238E27FC236}">
                <a16:creationId xmlns:a16="http://schemas.microsoft.com/office/drawing/2014/main" id="{350D0152-D4FB-16D9-CAF0-BAEACFEA3003}"/>
              </a:ext>
            </a:extLst>
          </p:cNvPr>
          <p:cNvSpPr/>
          <p:nvPr/>
        </p:nvSpPr>
        <p:spPr>
          <a:xfrm>
            <a:off x="1035299" y="3327385"/>
            <a:ext cx="1646941" cy="3447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b">
            <a:spAutoFit/>
          </a:bodyPr>
          <a:lstStyle>
            <a:lvl1pPr>
              <a:defRPr sz="4200" spc="-42">
                <a:latin typeface="Quarto Light"/>
                <a:ea typeface="Quarto Light"/>
                <a:cs typeface="Quarto Light"/>
                <a:sym typeface="Quarto Light"/>
              </a:defRPr>
            </a:lvl1pPr>
          </a:lstStyle>
          <a:p>
            <a:pPr marR="28575" defTabSz="641350" hangingPunct="0">
              <a:lnSpc>
                <a:spcPct val="80000"/>
              </a:lnSpc>
            </a:pPr>
            <a:r>
              <a:rPr lang="en-US" sz="1400" spc="0">
                <a:solidFill>
                  <a:schemeClr val="tx2"/>
                </a:solidFill>
                <a:uFill>
                  <a:solidFill>
                    <a:schemeClr val="accent1">
                      <a:lumOff val="-57413"/>
                    </a:schemeClr>
                  </a:solidFill>
                </a:uFill>
                <a:latin typeface="+mj-lt"/>
              </a:rPr>
              <a:t>Unified Production Workflow</a:t>
            </a:r>
            <a:endParaRPr sz="1400" spc="0">
              <a:solidFill>
                <a:schemeClr val="tx2"/>
              </a:solidFill>
              <a:uFill>
                <a:solidFill>
                  <a:schemeClr val="accent1">
                    <a:lumOff val="-57413"/>
                  </a:schemeClr>
                </a:solidFill>
              </a:uFill>
              <a:latin typeface="+mj-lt"/>
            </a:endParaRPr>
          </a:p>
        </p:txBody>
      </p:sp>
      <p:sp>
        <p:nvSpPr>
          <p:cNvPr id="7" name="Seamless Personalisation">
            <a:extLst>
              <a:ext uri="{FF2B5EF4-FFF2-40B4-BE49-F238E27FC236}">
                <a16:creationId xmlns:a16="http://schemas.microsoft.com/office/drawing/2014/main" id="{2CB7463F-17BD-A569-A5E7-171F3173213A}"/>
              </a:ext>
            </a:extLst>
          </p:cNvPr>
          <p:cNvSpPr/>
          <p:nvPr/>
        </p:nvSpPr>
        <p:spPr>
          <a:xfrm>
            <a:off x="3701605" y="3273267"/>
            <a:ext cx="1646941" cy="3447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defRPr sz="4200" spc="-42">
                <a:latin typeface="Quarto Light"/>
                <a:ea typeface="Quarto Light"/>
                <a:cs typeface="Quarto Light"/>
                <a:sym typeface="Quarto Light"/>
              </a:defRPr>
            </a:lvl1pPr>
          </a:lstStyle>
          <a:p>
            <a:pPr marR="28575" defTabSz="641350" hangingPunct="0">
              <a:lnSpc>
                <a:spcPct val="80000"/>
              </a:lnSpc>
            </a:pPr>
            <a:r>
              <a:rPr lang="en-IN" sz="1400" spc="0">
                <a:solidFill>
                  <a:schemeClr val="tx2"/>
                </a:solidFill>
                <a:uFill>
                  <a:solidFill>
                    <a:schemeClr val="accent1">
                      <a:lumOff val="-57413"/>
                    </a:schemeClr>
                  </a:solidFill>
                </a:uFill>
                <a:latin typeface="+mj-lt"/>
              </a:rPr>
              <a:t>Intelligent Metadata Tagging</a:t>
            </a:r>
            <a:endParaRPr sz="1400" spc="0">
              <a:solidFill>
                <a:schemeClr val="tx2"/>
              </a:solidFill>
              <a:uFill>
                <a:solidFill>
                  <a:schemeClr val="accent1">
                    <a:lumOff val="-57413"/>
                  </a:schemeClr>
                </a:solidFill>
              </a:uFill>
              <a:latin typeface="+mj-lt"/>
            </a:endParaRPr>
          </a:p>
        </p:txBody>
      </p:sp>
      <p:sp>
        <p:nvSpPr>
          <p:cNvPr id="8" name="Cultural…">
            <a:extLst>
              <a:ext uri="{FF2B5EF4-FFF2-40B4-BE49-F238E27FC236}">
                <a16:creationId xmlns:a16="http://schemas.microsoft.com/office/drawing/2014/main" id="{FD016058-8400-A7CA-FD31-70279EF1E71E}"/>
              </a:ext>
            </a:extLst>
          </p:cNvPr>
          <p:cNvSpPr/>
          <p:nvPr/>
        </p:nvSpPr>
        <p:spPr>
          <a:xfrm>
            <a:off x="6309794" y="3273266"/>
            <a:ext cx="1442993" cy="3447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marR="28575" defTabSz="641350" hangingPunct="0">
              <a:lnSpc>
                <a:spcPct val="80000"/>
              </a:lnSpc>
              <a:defRPr sz="4200" spc="-42">
                <a:latin typeface="Quarto Light"/>
                <a:ea typeface="Quarto Light"/>
                <a:cs typeface="Quarto Light"/>
                <a:sym typeface="Quarto Light"/>
              </a:defRPr>
            </a:pPr>
            <a:r>
              <a:rPr lang="en-IN" sz="1400">
                <a:solidFill>
                  <a:schemeClr val="tx2"/>
                </a:solidFill>
                <a:uFill>
                  <a:solidFill>
                    <a:schemeClr val="accent1">
                      <a:lumOff val="-57413"/>
                    </a:schemeClr>
                  </a:solidFill>
                </a:uFill>
                <a:latin typeface="+mj-lt"/>
                <a:sym typeface="Quarto Light"/>
              </a:rPr>
              <a:t>Platform Amplification</a:t>
            </a:r>
            <a:endParaRPr sz="1400">
              <a:solidFill>
                <a:schemeClr val="tx2"/>
              </a:solidFill>
              <a:uFill>
                <a:solidFill>
                  <a:schemeClr val="accent1">
                    <a:lumOff val="-57413"/>
                  </a:schemeClr>
                </a:solidFill>
              </a:uFill>
              <a:latin typeface="+mj-lt"/>
              <a:sym typeface="Quarto Light"/>
            </a:endParaRPr>
          </a:p>
        </p:txBody>
      </p:sp>
      <p:grpSp>
        <p:nvGrpSpPr>
          <p:cNvPr id="9" name="Group 8">
            <a:extLst>
              <a:ext uri="{FF2B5EF4-FFF2-40B4-BE49-F238E27FC236}">
                <a16:creationId xmlns:a16="http://schemas.microsoft.com/office/drawing/2014/main" id="{BE35BF56-2F82-C0E0-6508-D1038770B2FE}"/>
              </a:ext>
            </a:extLst>
          </p:cNvPr>
          <p:cNvGrpSpPr/>
          <p:nvPr/>
        </p:nvGrpSpPr>
        <p:grpSpPr>
          <a:xfrm>
            <a:off x="1035299" y="3732792"/>
            <a:ext cx="9721627" cy="673649"/>
            <a:chOff x="1035298" y="4817716"/>
            <a:chExt cx="9721627" cy="673649"/>
          </a:xfrm>
        </p:grpSpPr>
        <p:sp>
          <p:nvSpPr>
            <p:cNvPr id="10" name="The reasons for travel and what flyers seek from it have evolved. People will turn to travel for deeper &amp; impactful human experience and connection.">
              <a:extLst>
                <a:ext uri="{FF2B5EF4-FFF2-40B4-BE49-F238E27FC236}">
                  <a16:creationId xmlns:a16="http://schemas.microsoft.com/office/drawing/2014/main" id="{C4C3C156-FA08-1739-11E2-B3549DCA194F}"/>
                </a:ext>
              </a:extLst>
            </p:cNvPr>
            <p:cNvSpPr txBox="1"/>
            <p:nvPr/>
          </p:nvSpPr>
          <p:spPr>
            <a:xfrm>
              <a:off x="1035298" y="4824516"/>
              <a:ext cx="1928152" cy="51296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a:t>Non-scripted live games feed scripted docs via metadata bridges.</a:t>
              </a:r>
              <a:endParaRPr sz="1000" kern="0">
                <a:solidFill>
                  <a:srgbClr val="000000"/>
                </a:solidFill>
                <a:sym typeface="BentonSansF Book"/>
              </a:endParaRPr>
            </a:p>
          </p:txBody>
        </p:sp>
        <p:sp>
          <p:nvSpPr>
            <p:cNvPr id="11" name="The most successful hospitality companies will combine automated and human services in ways that minimize effort and maximize emotional reassurance.">
              <a:extLst>
                <a:ext uri="{FF2B5EF4-FFF2-40B4-BE49-F238E27FC236}">
                  <a16:creationId xmlns:a16="http://schemas.microsoft.com/office/drawing/2014/main" id="{E443B850-333B-AA5B-8F41-F31E28B5ED60}"/>
                </a:ext>
              </a:extLst>
            </p:cNvPr>
            <p:cNvSpPr txBox="1"/>
            <p:nvPr/>
          </p:nvSpPr>
          <p:spPr>
            <a:xfrm>
              <a:off x="3659844" y="4824516"/>
              <a:ext cx="1953555" cy="3590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30000"/>
                </a:lnSpc>
                <a:defRPr sz="2000">
                  <a:uFillTx/>
                </a:defRPr>
              </a:lvl1pPr>
            </a:lstStyle>
            <a:p>
              <a:pPr defTabSz="411480" hangingPunct="0">
                <a:lnSpc>
                  <a:spcPct val="100000"/>
                </a:lnSpc>
              </a:pPr>
              <a:r>
                <a:rPr lang="en-US" sz="1000" kern="0">
                  <a:solidFill>
                    <a:srgbClr val="000000"/>
                  </a:solidFill>
                  <a:sym typeface="BentonSansF Book"/>
                </a:rPr>
                <a:t>AI creates 214K tags/hour for rapid key moment extraction.</a:t>
              </a:r>
              <a:endParaRPr sz="1000" kern="0">
                <a:solidFill>
                  <a:srgbClr val="000000"/>
                </a:solidFill>
                <a:sym typeface="BentonSansF Book"/>
              </a:endParaRPr>
            </a:p>
          </p:txBody>
        </p:sp>
        <p:sp>
          <p:nvSpPr>
            <p:cNvPr id="12" name="Guests will look for brands, tools and experiences that offer indulgence in novel experiences &amp; the resurgence of local traditions, heritage &amp; legacy.">
              <a:extLst>
                <a:ext uri="{FF2B5EF4-FFF2-40B4-BE49-F238E27FC236}">
                  <a16:creationId xmlns:a16="http://schemas.microsoft.com/office/drawing/2014/main" id="{90154692-9657-6977-CC15-BBB32912E560}"/>
                </a:ext>
              </a:extLst>
            </p:cNvPr>
            <p:cNvSpPr txBox="1"/>
            <p:nvPr/>
          </p:nvSpPr>
          <p:spPr>
            <a:xfrm>
              <a:off x="6309793" y="4824516"/>
              <a:ext cx="1800000" cy="66684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kern="0">
                  <a:solidFill>
                    <a:srgbClr val="000000"/>
                  </a:solidFill>
                </a:rPr>
                <a:t>Format optimization doubles content reach across platforms.</a:t>
              </a:r>
              <a:endParaRPr lang="en-US" sz="1000" kern="0">
                <a:solidFill>
                  <a:srgbClr val="000000"/>
                </a:solidFill>
                <a:sym typeface="BentonSansF Book"/>
              </a:endParaRPr>
            </a:p>
            <a:p>
              <a:pPr defTabSz="411480" hangingPunct="0">
                <a:lnSpc>
                  <a:spcPct val="100000"/>
                </a:lnSpc>
              </a:pPr>
              <a:endParaRPr sz="1000" kern="0">
                <a:solidFill>
                  <a:srgbClr val="000000"/>
                </a:solidFill>
                <a:sym typeface="BentonSansF Book"/>
              </a:endParaRPr>
            </a:p>
          </p:txBody>
        </p:sp>
        <p:sp>
          <p:nvSpPr>
            <p:cNvPr id="13" name="One of the biggest factors influencing guests is the capacity to capture memorable moments and share them with the world or their loved ones.">
              <a:extLst>
                <a:ext uri="{FF2B5EF4-FFF2-40B4-BE49-F238E27FC236}">
                  <a16:creationId xmlns:a16="http://schemas.microsoft.com/office/drawing/2014/main" id="{BD1EAE66-79C9-BF64-7914-4B1B43B5B5D8}"/>
                </a:ext>
              </a:extLst>
            </p:cNvPr>
            <p:cNvSpPr txBox="1"/>
            <p:nvPr/>
          </p:nvSpPr>
          <p:spPr>
            <a:xfrm>
              <a:off x="8956925" y="4817716"/>
              <a:ext cx="1800000" cy="3590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a:t>PAM/MAM systems enable minutes-to-platform delivery.</a:t>
              </a:r>
              <a:endParaRPr sz="1000" kern="0">
                <a:solidFill>
                  <a:srgbClr val="000000"/>
                </a:solidFill>
                <a:sym typeface="BentonSansF Book"/>
              </a:endParaRPr>
            </a:p>
          </p:txBody>
        </p:sp>
      </p:grpSp>
      <p:pic>
        <p:nvPicPr>
          <p:cNvPr id="14" name="Image">
            <a:extLst>
              <a:ext uri="{FF2B5EF4-FFF2-40B4-BE49-F238E27FC236}">
                <a16:creationId xmlns:a16="http://schemas.microsoft.com/office/drawing/2014/main" id="{DC22F2BA-3840-711F-847C-6785619A0E2A}"/>
              </a:ext>
            </a:extLst>
          </p:cNvPr>
          <p:cNvPicPr>
            <a:picLocks noChangeAspect="1"/>
          </p:cNvPicPr>
          <p:nvPr/>
        </p:nvPicPr>
        <p:blipFill>
          <a:blip r:embed="rId2">
            <a:extLst>
              <a:ext uri="{28A0092B-C50C-407E-A947-70E740481C1C}">
                <a14:useLocalDpi xmlns:a14="http://schemas.microsoft.com/office/drawing/2010/main" val="0"/>
              </a:ext>
            </a:extLst>
          </a:blip>
          <a:srcRect l="11066" r="11066"/>
          <a:stretch/>
        </p:blipFill>
        <p:spPr>
          <a:xfrm>
            <a:off x="884402" y="1560468"/>
            <a:ext cx="1440000" cy="1440132"/>
          </a:xfrm>
          <a:custGeom>
            <a:avLst/>
            <a:gdLst/>
            <a:ahLst/>
            <a:cxnLst>
              <a:cxn ang="0">
                <a:pos x="wd2" y="hd2"/>
              </a:cxn>
              <a:cxn ang="5400000">
                <a:pos x="wd2" y="hd2"/>
              </a:cxn>
              <a:cxn ang="10800000">
                <a:pos x="wd2" y="hd2"/>
              </a:cxn>
              <a:cxn ang="16200000">
                <a:pos x="wd2" y="hd2"/>
              </a:cxn>
            </a:cxnLst>
            <a:rect l="0" t="0" r="r" b="b"/>
            <a:pathLst>
              <a:path w="19678" h="21600" extrusionOk="0">
                <a:moveTo>
                  <a:pt x="9838" y="0"/>
                </a:moveTo>
                <a:cubicBezTo>
                  <a:pt x="7320" y="0"/>
                  <a:pt x="4803" y="1056"/>
                  <a:pt x="2882" y="3164"/>
                </a:cubicBezTo>
                <a:cubicBezTo>
                  <a:pt x="-961" y="7383"/>
                  <a:pt x="-961" y="14220"/>
                  <a:pt x="2882" y="18438"/>
                </a:cubicBezTo>
                <a:cubicBezTo>
                  <a:pt x="4803" y="20547"/>
                  <a:pt x="7320" y="21600"/>
                  <a:pt x="9838" y="21600"/>
                </a:cubicBezTo>
                <a:cubicBezTo>
                  <a:pt x="12356" y="21600"/>
                  <a:pt x="14875" y="20547"/>
                  <a:pt x="16796" y="18438"/>
                </a:cubicBezTo>
                <a:cubicBezTo>
                  <a:pt x="20639" y="14220"/>
                  <a:pt x="20639" y="7383"/>
                  <a:pt x="16796" y="3164"/>
                </a:cubicBezTo>
                <a:cubicBezTo>
                  <a:pt x="14875" y="1056"/>
                  <a:pt x="12356" y="0"/>
                  <a:pt x="9838" y="0"/>
                </a:cubicBezTo>
                <a:close/>
              </a:path>
            </a:pathLst>
          </a:custGeom>
          <a:ln w="12700">
            <a:miter lim="400000"/>
          </a:ln>
          <a:effectLst>
            <a:outerShdw blurRad="355600" dist="25400" dir="5400000" rotWithShape="0">
              <a:srgbClr val="000000">
                <a:alpha val="25445"/>
              </a:srgbClr>
            </a:outerShdw>
          </a:effectLst>
        </p:spPr>
      </p:pic>
      <p:pic>
        <p:nvPicPr>
          <p:cNvPr id="15" name="Image">
            <a:extLst>
              <a:ext uri="{FF2B5EF4-FFF2-40B4-BE49-F238E27FC236}">
                <a16:creationId xmlns:a16="http://schemas.microsoft.com/office/drawing/2014/main" id="{EEA9F485-38C6-0F20-BB66-88446BA5001E}"/>
              </a:ext>
            </a:extLst>
          </p:cNvPr>
          <p:cNvPicPr>
            <a:picLocks noChangeAspect="1"/>
          </p:cNvPicPr>
          <p:nvPr/>
        </p:nvPicPr>
        <p:blipFill>
          <a:blip r:embed="rId3">
            <a:extLst>
              <a:ext uri="{28A0092B-C50C-407E-A947-70E740481C1C}">
                <a14:useLocalDpi xmlns:a14="http://schemas.microsoft.com/office/drawing/2010/main" val="0"/>
              </a:ext>
            </a:extLst>
          </a:blip>
          <a:srcRect t="5979" b="5979"/>
          <a:stretch/>
        </p:blipFill>
        <p:spPr>
          <a:xfrm>
            <a:off x="3587213" y="1609045"/>
            <a:ext cx="1440000" cy="1440202"/>
          </a:xfrm>
          <a:custGeom>
            <a:avLst/>
            <a:gdLst/>
            <a:ahLst/>
            <a:cxnLst>
              <a:cxn ang="0">
                <a:pos x="wd2" y="hd2"/>
              </a:cxn>
              <a:cxn ang="5400000">
                <a:pos x="wd2" y="hd2"/>
              </a:cxn>
              <a:cxn ang="10800000">
                <a:pos x="wd2" y="hd2"/>
              </a:cxn>
              <a:cxn ang="16200000">
                <a:pos x="wd2" y="hd2"/>
              </a:cxn>
            </a:cxnLst>
            <a:rect l="0" t="0" r="r" b="b"/>
            <a:pathLst>
              <a:path w="19678" h="20595" extrusionOk="0">
                <a:moveTo>
                  <a:pt x="9838" y="0"/>
                </a:moveTo>
                <a:cubicBezTo>
                  <a:pt x="7320" y="0"/>
                  <a:pt x="4803" y="1007"/>
                  <a:pt x="2882" y="3017"/>
                </a:cubicBezTo>
                <a:cubicBezTo>
                  <a:pt x="-961" y="7039"/>
                  <a:pt x="-961" y="13557"/>
                  <a:pt x="2882" y="17579"/>
                </a:cubicBezTo>
                <a:cubicBezTo>
                  <a:pt x="6724" y="21600"/>
                  <a:pt x="12954" y="21600"/>
                  <a:pt x="16796" y="17579"/>
                </a:cubicBezTo>
                <a:cubicBezTo>
                  <a:pt x="20639" y="13557"/>
                  <a:pt x="20639" y="7039"/>
                  <a:pt x="16796" y="3017"/>
                </a:cubicBezTo>
                <a:cubicBezTo>
                  <a:pt x="14875" y="1007"/>
                  <a:pt x="12356" y="0"/>
                  <a:pt x="9838" y="0"/>
                </a:cubicBezTo>
                <a:close/>
              </a:path>
            </a:pathLst>
          </a:custGeom>
          <a:ln w="12700">
            <a:miter lim="400000"/>
          </a:ln>
          <a:effectLst>
            <a:outerShdw blurRad="355600" dist="25400" dir="5400000" rotWithShape="0">
              <a:srgbClr val="000000">
                <a:alpha val="25445"/>
              </a:srgbClr>
            </a:outerShdw>
          </a:effectLst>
        </p:spPr>
      </p:pic>
      <p:pic>
        <p:nvPicPr>
          <p:cNvPr id="16" name="pasted-movie.png">
            <a:extLst>
              <a:ext uri="{FF2B5EF4-FFF2-40B4-BE49-F238E27FC236}">
                <a16:creationId xmlns:a16="http://schemas.microsoft.com/office/drawing/2014/main" id="{7BAFE273-DB8C-2F9D-27F9-66A25FB9DB44}"/>
              </a:ext>
            </a:extLst>
          </p:cNvPr>
          <p:cNvPicPr>
            <a:picLocks noChangeAspect="1"/>
          </p:cNvPicPr>
          <p:nvPr/>
        </p:nvPicPr>
        <p:blipFill>
          <a:blip r:embed="rId4">
            <a:extLst>
              <a:ext uri="{28A0092B-C50C-407E-A947-70E740481C1C}">
                <a14:useLocalDpi xmlns:a14="http://schemas.microsoft.com/office/drawing/2010/main" val="0"/>
              </a:ext>
            </a:extLst>
          </a:blip>
          <a:srcRect t="5242" b="5242"/>
          <a:stretch/>
        </p:blipFill>
        <p:spPr>
          <a:xfrm>
            <a:off x="6290025" y="1559807"/>
            <a:ext cx="1439869" cy="1440000"/>
          </a:xfrm>
          <a:custGeom>
            <a:avLst/>
            <a:gdLst/>
            <a:ahLst/>
            <a:cxnLst>
              <a:cxn ang="0">
                <a:pos x="wd2" y="hd2"/>
              </a:cxn>
              <a:cxn ang="5400000">
                <a:pos x="wd2" y="hd2"/>
              </a:cxn>
              <a:cxn ang="10800000">
                <a:pos x="wd2" y="hd2"/>
              </a:cxn>
              <a:cxn ang="16200000">
                <a:pos x="wd2" y="hd2"/>
              </a:cxn>
            </a:cxnLst>
            <a:rect l="0" t="0" r="r" b="b"/>
            <a:pathLst>
              <a:path w="19678" h="21600" extrusionOk="0">
                <a:moveTo>
                  <a:pt x="9838" y="0"/>
                </a:moveTo>
                <a:cubicBezTo>
                  <a:pt x="7320" y="0"/>
                  <a:pt x="4803" y="1056"/>
                  <a:pt x="2882" y="3164"/>
                </a:cubicBezTo>
                <a:cubicBezTo>
                  <a:pt x="-961" y="7383"/>
                  <a:pt x="-961" y="14220"/>
                  <a:pt x="2882" y="18438"/>
                </a:cubicBezTo>
                <a:cubicBezTo>
                  <a:pt x="4803" y="20547"/>
                  <a:pt x="7320" y="21600"/>
                  <a:pt x="9838" y="21600"/>
                </a:cubicBezTo>
                <a:cubicBezTo>
                  <a:pt x="12356" y="21600"/>
                  <a:pt x="14875" y="20547"/>
                  <a:pt x="16796" y="18438"/>
                </a:cubicBezTo>
                <a:cubicBezTo>
                  <a:pt x="20639" y="14220"/>
                  <a:pt x="20639" y="7383"/>
                  <a:pt x="16796" y="3164"/>
                </a:cubicBezTo>
                <a:cubicBezTo>
                  <a:pt x="14875" y="1056"/>
                  <a:pt x="12356" y="0"/>
                  <a:pt x="9838" y="0"/>
                </a:cubicBezTo>
                <a:close/>
              </a:path>
            </a:pathLst>
          </a:custGeom>
          <a:ln w="12700">
            <a:miter lim="400000"/>
          </a:ln>
          <a:effectLst>
            <a:outerShdw blurRad="355600" dist="25400" dir="5400000" rotWithShape="0">
              <a:srgbClr val="000000">
                <a:alpha val="25445"/>
              </a:srgbClr>
            </a:outerShdw>
          </a:effectLst>
        </p:spPr>
      </p:pic>
      <p:pic>
        <p:nvPicPr>
          <p:cNvPr id="17" name="pasted-movie.png">
            <a:extLst>
              <a:ext uri="{FF2B5EF4-FFF2-40B4-BE49-F238E27FC236}">
                <a16:creationId xmlns:a16="http://schemas.microsoft.com/office/drawing/2014/main" id="{C455CF34-9B9A-45F0-4288-F220E9F203DF}"/>
              </a:ext>
            </a:extLst>
          </p:cNvPr>
          <p:cNvPicPr>
            <a:picLocks noChangeAspect="1"/>
          </p:cNvPicPr>
          <p:nvPr/>
        </p:nvPicPr>
        <p:blipFill>
          <a:blip r:embed="rId5">
            <a:extLst>
              <a:ext uri="{28A0092B-C50C-407E-A947-70E740481C1C}">
                <a14:useLocalDpi xmlns:a14="http://schemas.microsoft.com/office/drawing/2010/main" val="0"/>
              </a:ext>
            </a:extLst>
          </a:blip>
          <a:srcRect l="18855" r="18855"/>
          <a:stretch/>
        </p:blipFill>
        <p:spPr>
          <a:xfrm>
            <a:off x="8843268" y="1603887"/>
            <a:ext cx="1440000" cy="1440132"/>
          </a:xfrm>
          <a:custGeom>
            <a:avLst/>
            <a:gdLst/>
            <a:ahLst/>
            <a:cxnLst>
              <a:cxn ang="0">
                <a:pos x="wd2" y="hd2"/>
              </a:cxn>
              <a:cxn ang="5400000">
                <a:pos x="wd2" y="hd2"/>
              </a:cxn>
              <a:cxn ang="10800000">
                <a:pos x="wd2" y="hd2"/>
              </a:cxn>
              <a:cxn ang="16200000">
                <a:pos x="wd2" y="hd2"/>
              </a:cxn>
            </a:cxnLst>
            <a:rect l="0" t="0" r="r" b="b"/>
            <a:pathLst>
              <a:path w="19678" h="21600" extrusionOk="0">
                <a:moveTo>
                  <a:pt x="9838" y="0"/>
                </a:moveTo>
                <a:cubicBezTo>
                  <a:pt x="7320" y="0"/>
                  <a:pt x="4803" y="1056"/>
                  <a:pt x="2882" y="3164"/>
                </a:cubicBezTo>
                <a:cubicBezTo>
                  <a:pt x="-961" y="7383"/>
                  <a:pt x="-961" y="14220"/>
                  <a:pt x="2882" y="18438"/>
                </a:cubicBezTo>
                <a:cubicBezTo>
                  <a:pt x="4803" y="20547"/>
                  <a:pt x="7320" y="21600"/>
                  <a:pt x="9838" y="21600"/>
                </a:cubicBezTo>
                <a:cubicBezTo>
                  <a:pt x="12356" y="21600"/>
                  <a:pt x="14875" y="20547"/>
                  <a:pt x="16796" y="18438"/>
                </a:cubicBezTo>
                <a:cubicBezTo>
                  <a:pt x="20639" y="14220"/>
                  <a:pt x="20639" y="7383"/>
                  <a:pt x="16796" y="3164"/>
                </a:cubicBezTo>
                <a:cubicBezTo>
                  <a:pt x="14875" y="1056"/>
                  <a:pt x="12356" y="0"/>
                  <a:pt x="9838" y="0"/>
                </a:cubicBezTo>
                <a:close/>
              </a:path>
            </a:pathLst>
          </a:custGeom>
          <a:ln w="12700">
            <a:miter lim="400000"/>
          </a:ln>
          <a:effectLst>
            <a:outerShdw blurRad="355600" dist="25400" dir="5400000" rotWithShape="0">
              <a:srgbClr val="000000">
                <a:alpha val="25445"/>
              </a:srgbClr>
            </a:outerShdw>
          </a:effectLst>
        </p:spPr>
      </p:pic>
      <p:sp>
        <p:nvSpPr>
          <p:cNvPr id="18" name="Shared Experiences">
            <a:extLst>
              <a:ext uri="{FF2B5EF4-FFF2-40B4-BE49-F238E27FC236}">
                <a16:creationId xmlns:a16="http://schemas.microsoft.com/office/drawing/2014/main" id="{F20D5FBE-BD07-F6C2-820A-78CBFE94C8D8}"/>
              </a:ext>
            </a:extLst>
          </p:cNvPr>
          <p:cNvSpPr/>
          <p:nvPr/>
        </p:nvSpPr>
        <p:spPr>
          <a:xfrm>
            <a:off x="8956925" y="3293972"/>
            <a:ext cx="1212686" cy="34471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defRPr sz="4200" spc="-42">
                <a:latin typeface="Quarto Light"/>
                <a:ea typeface="Quarto Light"/>
                <a:cs typeface="Quarto Light"/>
                <a:sym typeface="Quarto Light"/>
              </a:defRPr>
            </a:lvl1pPr>
          </a:lstStyle>
          <a:p>
            <a:pPr marR="28575" defTabSz="641350" hangingPunct="0">
              <a:lnSpc>
                <a:spcPct val="80000"/>
              </a:lnSpc>
              <a:defRPr sz="4200" spc="-42">
                <a:latin typeface="Quarto Light"/>
                <a:ea typeface="Quarto Light"/>
                <a:cs typeface="Quarto Light"/>
                <a:sym typeface="Quarto Light"/>
              </a:defRPr>
            </a:pPr>
            <a:r>
              <a:rPr lang="en-IN" sz="1400" spc="0">
                <a:solidFill>
                  <a:schemeClr val="tx2"/>
                </a:solidFill>
                <a:uFill>
                  <a:solidFill>
                    <a:schemeClr val="accent1">
                      <a:lumOff val="-57413"/>
                    </a:schemeClr>
                  </a:solidFill>
                </a:uFill>
                <a:latin typeface="+mj-lt"/>
              </a:rPr>
              <a:t>Rapid Distribution</a:t>
            </a:r>
            <a:endParaRPr sz="1400" spc="0">
              <a:solidFill>
                <a:schemeClr val="tx2"/>
              </a:solidFill>
              <a:uFill>
                <a:solidFill>
                  <a:schemeClr val="accent1">
                    <a:lumOff val="-57413"/>
                  </a:schemeClr>
                </a:solidFill>
              </a:uFill>
              <a:latin typeface="+mj-lt"/>
            </a:endParaRPr>
          </a:p>
        </p:txBody>
      </p:sp>
      <p:grpSp>
        <p:nvGrpSpPr>
          <p:cNvPr id="19" name="Group 18">
            <a:extLst>
              <a:ext uri="{FF2B5EF4-FFF2-40B4-BE49-F238E27FC236}">
                <a16:creationId xmlns:a16="http://schemas.microsoft.com/office/drawing/2014/main" id="{990BBFB2-CE82-8E2E-4443-092D5D2D7B75}"/>
              </a:ext>
            </a:extLst>
          </p:cNvPr>
          <p:cNvGrpSpPr/>
          <p:nvPr/>
        </p:nvGrpSpPr>
        <p:grpSpPr>
          <a:xfrm>
            <a:off x="1035299" y="5241065"/>
            <a:ext cx="10129271" cy="565533"/>
            <a:chOff x="965155" y="4817714"/>
            <a:chExt cx="10129271" cy="565533"/>
          </a:xfrm>
        </p:grpSpPr>
        <p:sp>
          <p:nvSpPr>
            <p:cNvPr id="20" name="The reasons for travel and what flyers seek from it have evolved. People will turn to travel for deeper &amp; impactful human experience and connection.">
              <a:extLst>
                <a:ext uri="{FF2B5EF4-FFF2-40B4-BE49-F238E27FC236}">
                  <a16:creationId xmlns:a16="http://schemas.microsoft.com/office/drawing/2014/main" id="{A0CEB7E3-6E1B-9186-65A2-8816E94F4F48}"/>
                </a:ext>
              </a:extLst>
            </p:cNvPr>
            <p:cNvSpPr txBox="1"/>
            <p:nvPr/>
          </p:nvSpPr>
          <p:spPr>
            <a:xfrm>
              <a:off x="965155" y="4817714"/>
              <a:ext cx="1953555" cy="51296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b="1" kern="0">
                  <a:solidFill>
                    <a:srgbClr val="000000"/>
                  </a:solidFill>
                  <a:sym typeface="BentonSansF Book"/>
                </a:rPr>
                <a:t>Arsenal FC </a:t>
              </a:r>
              <a:r>
                <a:rPr lang="en-US" sz="1000"/>
                <a:t>uses Dalet Flex for seamless live → highlights workflow</a:t>
              </a:r>
              <a:endParaRPr sz="1000" kern="0">
                <a:solidFill>
                  <a:srgbClr val="000000"/>
                </a:solidFill>
                <a:sym typeface="BentonSansF Book"/>
              </a:endParaRPr>
            </a:p>
          </p:txBody>
        </p:sp>
        <p:sp>
          <p:nvSpPr>
            <p:cNvPr id="21" name="The most successful hospitality companies will combine automated and human services in ways that minimize effort and maximize emotional reassurance.">
              <a:extLst>
                <a:ext uri="{FF2B5EF4-FFF2-40B4-BE49-F238E27FC236}">
                  <a16:creationId xmlns:a16="http://schemas.microsoft.com/office/drawing/2014/main" id="{EFF26EE0-173F-E788-3E3C-BE8235CD112B}"/>
                </a:ext>
              </a:extLst>
            </p:cNvPr>
            <p:cNvSpPr txBox="1"/>
            <p:nvPr/>
          </p:nvSpPr>
          <p:spPr>
            <a:xfrm>
              <a:off x="3589701" y="5024174"/>
              <a:ext cx="2043850" cy="3590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30000"/>
                </a:lnSpc>
                <a:defRPr sz="2000">
                  <a:uFillTx/>
                </a:defRPr>
              </a:lvl1pPr>
            </a:lstStyle>
            <a:p>
              <a:pPr defTabSz="411480" hangingPunct="0">
                <a:lnSpc>
                  <a:spcPct val="100000"/>
                </a:lnSpc>
              </a:pPr>
              <a:r>
                <a:rPr lang="en-US" sz="1000" b="1" kern="0">
                  <a:solidFill>
                    <a:srgbClr val="000000"/>
                  </a:solidFill>
                  <a:sym typeface="BentonSansF Book"/>
                </a:rPr>
                <a:t>LaLiga</a:t>
              </a:r>
              <a:r>
                <a:rPr lang="en-US" sz="1000" kern="0">
                  <a:solidFill>
                    <a:srgbClr val="000000"/>
                  </a:solidFill>
                  <a:sym typeface="BentonSansF Book"/>
                </a:rPr>
                <a:t> auto-tags all 380 matches in real-time</a:t>
              </a:r>
            </a:p>
          </p:txBody>
        </p:sp>
        <p:sp>
          <p:nvSpPr>
            <p:cNvPr id="22" name="Guests will look for brands, tools and experiences that offer indulgence in novel experiences &amp; the resurgence of local traditions, heritage &amp; legacy.">
              <a:extLst>
                <a:ext uri="{FF2B5EF4-FFF2-40B4-BE49-F238E27FC236}">
                  <a16:creationId xmlns:a16="http://schemas.microsoft.com/office/drawing/2014/main" id="{4D8528DF-2A27-216E-24E6-ECCBEC8AF50C}"/>
                </a:ext>
              </a:extLst>
            </p:cNvPr>
            <p:cNvSpPr txBox="1"/>
            <p:nvPr/>
          </p:nvSpPr>
          <p:spPr>
            <a:xfrm>
              <a:off x="6239650" y="4824516"/>
              <a:ext cx="2269716" cy="51296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IN" sz="1000" b="1"/>
                <a:t>ESPN SportsCenter </a:t>
              </a:r>
              <a:r>
                <a:rPr lang="en-IN" sz="1000"/>
                <a:t>integrates TV→social→digital via hashtag campaigns (#SCTop10)</a:t>
              </a:r>
              <a:endParaRPr lang="en-US" sz="1000">
                <a:sym typeface="BentonSansF Book"/>
              </a:endParaRPr>
            </a:p>
          </p:txBody>
        </p:sp>
        <p:sp>
          <p:nvSpPr>
            <p:cNvPr id="23" name="One of the biggest factors influencing guests is the capacity to capture memorable moments and share them with the world or their loved ones.">
              <a:extLst>
                <a:ext uri="{FF2B5EF4-FFF2-40B4-BE49-F238E27FC236}">
                  <a16:creationId xmlns:a16="http://schemas.microsoft.com/office/drawing/2014/main" id="{6CD8CDD8-102A-AA36-F9FF-099399B9C7CF}"/>
                </a:ext>
              </a:extLst>
            </p:cNvPr>
            <p:cNvSpPr txBox="1"/>
            <p:nvPr/>
          </p:nvSpPr>
          <p:spPr>
            <a:xfrm>
              <a:off x="8907101" y="4817714"/>
              <a:ext cx="2187325" cy="3590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b="1" err="1"/>
                <a:t>LiveU</a:t>
              </a:r>
              <a:r>
                <a:rPr lang="en-US" sz="1000" b="1"/>
                <a:t> Olympics </a:t>
              </a:r>
              <a:r>
                <a:rPr lang="en-US" sz="1000"/>
                <a:t>workflow covers multi-sport events simultaneously</a:t>
              </a:r>
              <a:endParaRPr lang="en-US" sz="1000" kern="0">
                <a:solidFill>
                  <a:srgbClr val="000000"/>
                </a:solidFill>
                <a:sym typeface="BentonSansF Book"/>
              </a:endParaRPr>
            </a:p>
          </p:txBody>
        </p:sp>
      </p:grpSp>
      <p:sp>
        <p:nvSpPr>
          <p:cNvPr id="25" name="The reasons for travel and what flyers seek from it have evolved. People will turn to travel for deeper &amp; impactful human experience and connection.">
            <a:extLst>
              <a:ext uri="{FF2B5EF4-FFF2-40B4-BE49-F238E27FC236}">
                <a16:creationId xmlns:a16="http://schemas.microsoft.com/office/drawing/2014/main" id="{CE84AD33-7945-6B65-6BEA-6D1EA09B4DA9}"/>
              </a:ext>
            </a:extLst>
          </p:cNvPr>
          <p:cNvSpPr txBox="1"/>
          <p:nvPr/>
        </p:nvSpPr>
        <p:spPr>
          <a:xfrm>
            <a:off x="1035299" y="4250271"/>
            <a:ext cx="2215901" cy="97462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a:t>I</a:t>
            </a:r>
            <a:r>
              <a:rPr lang="en-US" sz="1000" b="1"/>
              <a:t>mpact</a:t>
            </a:r>
            <a:r>
              <a:rPr lang="en-US" sz="1000"/>
              <a:t>: </a:t>
            </a:r>
            <a:r>
              <a:rPr lang="en-IN" sz="1000"/>
              <a:t>70% faster ingest-to-social delivery vs siloed systems</a:t>
            </a:r>
          </a:p>
          <a:p>
            <a:pPr defTabSz="411480" hangingPunct="0">
              <a:lnSpc>
                <a:spcPct val="100000"/>
              </a:lnSpc>
            </a:pPr>
            <a:r>
              <a:rPr lang="en-IN" sz="1000"/>
              <a:t> </a:t>
            </a:r>
            <a:br>
              <a:rPr lang="en-IN" sz="1000"/>
            </a:br>
            <a:r>
              <a:rPr lang="en-IN" sz="1000" b="1"/>
              <a:t>Business Value: </a:t>
            </a:r>
            <a:r>
              <a:rPr lang="en-IN" sz="1000"/>
              <a:t>Single pipeline eliminates 30% content duplication costs</a:t>
            </a:r>
            <a:endParaRPr sz="1000" kern="0">
              <a:solidFill>
                <a:srgbClr val="000000"/>
              </a:solidFill>
              <a:sym typeface="BentonSansF Book"/>
            </a:endParaRPr>
          </a:p>
        </p:txBody>
      </p:sp>
      <p:sp>
        <p:nvSpPr>
          <p:cNvPr id="26" name="The reasons for travel and what flyers seek from it have evolved. People will turn to travel for deeper &amp; impactful human experience and connection.">
            <a:extLst>
              <a:ext uri="{FF2B5EF4-FFF2-40B4-BE49-F238E27FC236}">
                <a16:creationId xmlns:a16="http://schemas.microsoft.com/office/drawing/2014/main" id="{A86F8CB5-5140-CB0D-58B4-B6116038A33E}"/>
              </a:ext>
            </a:extLst>
          </p:cNvPr>
          <p:cNvSpPr txBox="1"/>
          <p:nvPr/>
        </p:nvSpPr>
        <p:spPr>
          <a:xfrm>
            <a:off x="3651340" y="4249130"/>
            <a:ext cx="2234048" cy="11285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b="1"/>
              <a:t>Impact: </a:t>
            </a:r>
            <a:r>
              <a:rPr lang="en-US" sz="1000"/>
              <a:t>Generates 260K highlights/season in &lt;1min vs 8hrs manual</a:t>
            </a:r>
          </a:p>
          <a:p>
            <a:pPr defTabSz="411480" hangingPunct="0">
              <a:lnSpc>
                <a:spcPct val="100000"/>
              </a:lnSpc>
            </a:pPr>
            <a:br>
              <a:rPr lang="en-US" sz="1000"/>
            </a:br>
            <a:r>
              <a:rPr lang="en-US" sz="1000" b="1"/>
              <a:t>Business Value</a:t>
            </a:r>
            <a:r>
              <a:rPr lang="en-US" sz="1000"/>
              <a:t>: 70% app session growth + 219M social media followers gained</a:t>
            </a:r>
            <a:endParaRPr lang="en-US" sz="1000" kern="0">
              <a:solidFill>
                <a:srgbClr val="000000"/>
              </a:solidFill>
              <a:sym typeface="BentonSansF Book"/>
            </a:endParaRPr>
          </a:p>
        </p:txBody>
      </p:sp>
      <p:sp>
        <p:nvSpPr>
          <p:cNvPr id="27" name="The reasons for travel and what flyers seek from it have evolved. People will turn to travel for deeper &amp; impactful human experience and connection.">
            <a:extLst>
              <a:ext uri="{FF2B5EF4-FFF2-40B4-BE49-F238E27FC236}">
                <a16:creationId xmlns:a16="http://schemas.microsoft.com/office/drawing/2014/main" id="{7432498E-C87E-4EF2-714B-967236CC36B6}"/>
              </a:ext>
            </a:extLst>
          </p:cNvPr>
          <p:cNvSpPr txBox="1"/>
          <p:nvPr/>
        </p:nvSpPr>
        <p:spPr>
          <a:xfrm>
            <a:off x="6309794" y="4251412"/>
            <a:ext cx="2391821" cy="97462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b="1"/>
              <a:t>Impact: </a:t>
            </a:r>
            <a:r>
              <a:rPr lang="en-US" sz="1000"/>
              <a:t>300% engagement lift across platforms; fan content featured live-on-air</a:t>
            </a:r>
          </a:p>
          <a:p>
            <a:pPr defTabSz="411480" hangingPunct="0">
              <a:lnSpc>
                <a:spcPct val="100000"/>
              </a:lnSpc>
            </a:pPr>
            <a:br>
              <a:rPr lang="en-IN" sz="1000"/>
            </a:br>
            <a:r>
              <a:rPr lang="en-IN" sz="1000" b="1"/>
              <a:t>Business Value: </a:t>
            </a:r>
            <a:r>
              <a:rPr lang="en-US" sz="1000"/>
              <a:t>Transforms viewers to contributors, boosting loyalty + revenue</a:t>
            </a:r>
            <a:endParaRPr sz="1000">
              <a:sym typeface="BentonSansF Book"/>
            </a:endParaRPr>
          </a:p>
        </p:txBody>
      </p:sp>
      <p:sp>
        <p:nvSpPr>
          <p:cNvPr id="28" name="The reasons for travel and what flyers seek from it have evolved. People will turn to travel for deeper &amp; impactful human experience and connection.">
            <a:extLst>
              <a:ext uri="{FF2B5EF4-FFF2-40B4-BE49-F238E27FC236}">
                <a16:creationId xmlns:a16="http://schemas.microsoft.com/office/drawing/2014/main" id="{112DBE50-4C7D-0CC3-6189-E88168FD0B32}"/>
              </a:ext>
            </a:extLst>
          </p:cNvPr>
          <p:cNvSpPr txBox="1"/>
          <p:nvPr/>
        </p:nvSpPr>
        <p:spPr>
          <a:xfrm>
            <a:off x="8977245" y="4252553"/>
            <a:ext cx="2476074" cy="97462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marR="0" defTabSz="822960">
              <a:lnSpc>
                <a:spcPct val="140000"/>
              </a:lnSpc>
              <a:defRPr sz="2000">
                <a:uFillTx/>
              </a:defRPr>
            </a:lvl1pPr>
          </a:lstStyle>
          <a:p>
            <a:pPr defTabSz="411480" hangingPunct="0">
              <a:lnSpc>
                <a:spcPct val="100000"/>
              </a:lnSpc>
            </a:pPr>
            <a:r>
              <a:rPr lang="en-US" sz="1000" b="1"/>
              <a:t>Impact: </a:t>
            </a:r>
            <a:r>
              <a:rPr lang="en-US" sz="1000"/>
              <a:t>70% production cost reduction via remote workflows </a:t>
            </a:r>
          </a:p>
          <a:p>
            <a:pPr defTabSz="411480" hangingPunct="0">
              <a:lnSpc>
                <a:spcPct val="100000"/>
              </a:lnSpc>
            </a:pPr>
            <a:br>
              <a:rPr lang="en-IN" sz="1000"/>
            </a:br>
            <a:r>
              <a:rPr lang="en-IN" sz="1000" b="1"/>
              <a:t>Business Value</a:t>
            </a:r>
            <a:r>
              <a:rPr lang="en-IN" sz="1000"/>
              <a:t>: </a:t>
            </a:r>
            <a:r>
              <a:rPr lang="en-US" sz="1000"/>
              <a:t>Same team produces Golf + Tennis championships from one control room</a:t>
            </a:r>
            <a:endParaRPr sz="1000" kern="0">
              <a:solidFill>
                <a:srgbClr val="000000"/>
              </a:solidFill>
              <a:sym typeface="BentonSansF Book"/>
            </a:endParaRPr>
          </a:p>
        </p:txBody>
      </p:sp>
      <p:sp>
        <p:nvSpPr>
          <p:cNvPr id="29" name="TextBox 28">
            <a:extLst>
              <a:ext uri="{FF2B5EF4-FFF2-40B4-BE49-F238E27FC236}">
                <a16:creationId xmlns:a16="http://schemas.microsoft.com/office/drawing/2014/main" id="{DCC9C82F-419D-C486-CD95-59ABC3D76C67}"/>
              </a:ext>
            </a:extLst>
          </p:cNvPr>
          <p:cNvSpPr txBox="1"/>
          <p:nvPr/>
        </p:nvSpPr>
        <p:spPr>
          <a:xfrm>
            <a:off x="550863" y="6321937"/>
            <a:ext cx="7807969" cy="246221"/>
          </a:xfrm>
          <a:prstGeom prst="rect">
            <a:avLst/>
          </a:prstGeom>
          <a:noFill/>
        </p:spPr>
        <p:txBody>
          <a:bodyPr wrap="square" lIns="0" rIns="0">
            <a:spAutoFit/>
          </a:bodyPr>
          <a:lstStyle/>
          <a:p>
            <a:r>
              <a:rPr lang="en-US" sz="1000">
                <a:solidFill>
                  <a:schemeClr val="bg1">
                    <a:lumMod val="65000"/>
                  </a:schemeClr>
                </a:solidFill>
              </a:rPr>
              <a:t>Sources: </a:t>
            </a:r>
            <a:r>
              <a:rPr lang="en-US" sz="1000">
                <a:solidFill>
                  <a:schemeClr val="bg1">
                    <a:lumMod val="65000"/>
                  </a:schemeClr>
                </a:solidFill>
                <a:hlinkClick r:id="rId6">
                  <a:extLst>
                    <a:ext uri="{A12FA001-AC4F-418D-AE19-62706E023703}">
                      <ahyp:hlinkClr xmlns:ahyp="http://schemas.microsoft.com/office/drawing/2018/hyperlinkcolor" val="tx"/>
                    </a:ext>
                  </a:extLst>
                </a:hlinkClick>
              </a:rPr>
              <a:t>Precedence Research</a:t>
            </a:r>
            <a:r>
              <a:rPr lang="en-US" sz="1000">
                <a:solidFill>
                  <a:schemeClr val="bg1">
                    <a:lumMod val="65000"/>
                  </a:schemeClr>
                </a:solidFill>
              </a:rPr>
              <a:t>, </a:t>
            </a:r>
            <a:r>
              <a:rPr lang="en-US" sz="1000">
                <a:solidFill>
                  <a:schemeClr val="bg1">
                    <a:lumMod val="65000"/>
                  </a:schemeClr>
                </a:solidFill>
                <a:hlinkClick r:id="rId7">
                  <a:extLst>
                    <a:ext uri="{A12FA001-AC4F-418D-AE19-62706E023703}">
                      <ahyp:hlinkClr xmlns:ahyp="http://schemas.microsoft.com/office/drawing/2018/hyperlinkcolor" val="tx"/>
                    </a:ext>
                  </a:extLst>
                </a:hlinkClick>
              </a:rPr>
              <a:t>Dalet Arsenal Case </a:t>
            </a:r>
            <a:r>
              <a:rPr lang="en-US" sz="1000">
                <a:solidFill>
                  <a:schemeClr val="bg1">
                    <a:lumMod val="65000"/>
                  </a:schemeClr>
                </a:solidFill>
              </a:rPr>
              <a:t>, </a:t>
            </a:r>
            <a:r>
              <a:rPr lang="en-US" sz="1000">
                <a:solidFill>
                  <a:schemeClr val="bg1">
                    <a:lumMod val="65000"/>
                  </a:schemeClr>
                </a:solidFill>
                <a:hlinkClick r:id="rId8">
                  <a:extLst>
                    <a:ext uri="{A12FA001-AC4F-418D-AE19-62706E023703}">
                      <ahyp:hlinkClr xmlns:ahyp="http://schemas.microsoft.com/office/drawing/2018/hyperlinkcolor" val="tx"/>
                    </a:ext>
                  </a:extLst>
                </a:hlinkClick>
              </a:rPr>
              <a:t>WSC La Liga </a:t>
            </a:r>
            <a:r>
              <a:rPr lang="en-US" sz="1000">
                <a:solidFill>
                  <a:schemeClr val="bg1">
                    <a:lumMod val="65000"/>
                  </a:schemeClr>
                </a:solidFill>
              </a:rPr>
              <a:t>, </a:t>
            </a:r>
            <a:r>
              <a:rPr lang="en-US" sz="1000">
                <a:solidFill>
                  <a:schemeClr val="bg1">
                    <a:lumMod val="65000"/>
                  </a:schemeClr>
                </a:solidFill>
                <a:hlinkClick r:id="rId9">
                  <a:extLst>
                    <a:ext uri="{A12FA001-AC4F-418D-AE19-62706E023703}">
                      <ahyp:hlinkClr xmlns:ahyp="http://schemas.microsoft.com/office/drawing/2018/hyperlinkcolor" val="tx"/>
                    </a:ext>
                  </a:extLst>
                </a:hlinkClick>
              </a:rPr>
              <a:t>Enrich Labs Case Study 2025  </a:t>
            </a:r>
            <a:r>
              <a:rPr lang="en-US" sz="1000">
                <a:solidFill>
                  <a:schemeClr val="bg1">
                    <a:lumMod val="65000"/>
                  </a:schemeClr>
                </a:solidFill>
              </a:rPr>
              <a:t>, </a:t>
            </a:r>
            <a:r>
              <a:rPr lang="en-US" sz="1000">
                <a:solidFill>
                  <a:schemeClr val="bg1">
                    <a:lumMod val="65000"/>
                  </a:schemeClr>
                </a:solidFill>
                <a:hlinkClick r:id="rId10">
                  <a:extLst>
                    <a:ext uri="{A12FA001-AC4F-418D-AE19-62706E023703}">
                      <ahyp:hlinkClr xmlns:ahyp="http://schemas.microsoft.com/office/drawing/2018/hyperlinkcolor" val="tx"/>
                    </a:ext>
                  </a:extLst>
                </a:hlinkClick>
              </a:rPr>
              <a:t>Live U Workflow</a:t>
            </a:r>
            <a:endParaRPr lang="en-US" sz="1000">
              <a:solidFill>
                <a:schemeClr val="bg1">
                  <a:lumMod val="65000"/>
                </a:schemeClr>
              </a:solidFill>
            </a:endParaRPr>
          </a:p>
        </p:txBody>
      </p:sp>
      <p:sp>
        <p:nvSpPr>
          <p:cNvPr id="30" name="Rectangle 29">
            <a:extLst>
              <a:ext uri="{FF2B5EF4-FFF2-40B4-BE49-F238E27FC236}">
                <a16:creationId xmlns:a16="http://schemas.microsoft.com/office/drawing/2014/main" id="{9A7FC861-B5B8-6A16-9BD4-6E213939EFEC}"/>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SPORTS CONTENT REVENUE STREAMS</a:t>
            </a:r>
          </a:p>
        </p:txBody>
      </p:sp>
    </p:spTree>
    <p:extLst>
      <p:ext uri="{BB962C8B-B14F-4D97-AF65-F5344CB8AC3E}">
        <p14:creationId xmlns:p14="http://schemas.microsoft.com/office/powerpoint/2010/main" val="1363872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E85A-6E7D-6C55-DFF4-4A9BEDAB454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DA799D6-7D5B-5009-05AB-44C3A9C21FA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41F714A-DB46-7FBD-D69E-C4B2D2B673F6}"/>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8BB036E-60D9-6C68-36EE-54C4CB1E0AC1}"/>
              </a:ext>
            </a:extLst>
          </p:cNvPr>
          <p:cNvSpPr>
            <a:spLocks noGrp="1"/>
          </p:cNvSpPr>
          <p:nvPr>
            <p:ph type="sldNum" sz="quarter" idx="30"/>
          </p:nvPr>
        </p:nvSpPr>
        <p:spPr/>
        <p:txBody>
          <a:bodyPr/>
          <a:lstStyle/>
          <a:p>
            <a:pPr algn="r"/>
            <a:fld id="{5D9A5160-6218-4E5A-B9E6-B93E3DAE377C}" type="slidenum">
              <a:rPr lang="en-US" smtClean="0"/>
              <a:pPr algn="r"/>
              <a:t>16</a:t>
            </a:fld>
            <a:endParaRPr lang="en-US"/>
          </a:p>
        </p:txBody>
      </p:sp>
      <p:sp>
        <p:nvSpPr>
          <p:cNvPr id="5" name="Title 4">
            <a:extLst>
              <a:ext uri="{FF2B5EF4-FFF2-40B4-BE49-F238E27FC236}">
                <a16:creationId xmlns:a16="http://schemas.microsoft.com/office/drawing/2014/main" id="{058743CD-D713-17E7-FB15-5850F2C6972F}"/>
              </a:ext>
            </a:extLst>
          </p:cNvPr>
          <p:cNvSpPr>
            <a:spLocks noGrp="1"/>
          </p:cNvSpPr>
          <p:nvPr>
            <p:ph type="title"/>
          </p:nvPr>
        </p:nvSpPr>
        <p:spPr/>
        <p:txBody>
          <a:bodyPr/>
          <a:lstStyle/>
          <a:p>
            <a:r>
              <a:rPr lang="en-US"/>
              <a:t>In sports, strategic moments can drive millions of views (&amp; revenue). Having metadata at the heart of your content strategy is essential</a:t>
            </a:r>
          </a:p>
        </p:txBody>
      </p:sp>
      <p:sp>
        <p:nvSpPr>
          <p:cNvPr id="6" name="Rectangle 5">
            <a:extLst>
              <a:ext uri="{FF2B5EF4-FFF2-40B4-BE49-F238E27FC236}">
                <a16:creationId xmlns:a16="http://schemas.microsoft.com/office/drawing/2014/main" id="{CB4AA4CA-3700-D8B8-20B8-0E190EA5B42E}"/>
              </a:ext>
            </a:extLst>
          </p:cNvPr>
          <p:cNvSpPr/>
          <p:nvPr/>
        </p:nvSpPr>
        <p:spPr>
          <a:xfrm>
            <a:off x="1524" y="1700808"/>
            <a:ext cx="12190476" cy="3992055"/>
          </a:xfrm>
          <a:prstGeom prst="rect">
            <a:avLst/>
          </a:prstGeom>
          <a:solidFill>
            <a:srgbClr val="F6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9">
            <a:extLst>
              <a:ext uri="{FF2B5EF4-FFF2-40B4-BE49-F238E27FC236}">
                <a16:creationId xmlns:a16="http://schemas.microsoft.com/office/drawing/2014/main" id="{4AD813A5-F196-B3D9-9625-1917E05EBAEC}"/>
              </a:ext>
            </a:extLst>
          </p:cNvPr>
          <p:cNvSpPr/>
          <p:nvPr/>
        </p:nvSpPr>
        <p:spPr>
          <a:xfrm>
            <a:off x="454364"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02D3D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5951"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Live Game + Feeds</a:t>
            </a:r>
          </a:p>
          <a:p>
            <a:pPr marL="0" lvl="0" indent="0" algn="ctr" defTabSz="755650">
              <a:spcBef>
                <a:spcPct val="0"/>
              </a:spcBef>
              <a:spcAft>
                <a:spcPct val="35000"/>
              </a:spcAft>
              <a:buNone/>
            </a:pPr>
            <a:r>
              <a:rPr lang="en-IN" sz="1400">
                <a:latin typeface="+mj-lt"/>
              </a:rPr>
              <a:t>(linear playout)</a:t>
            </a:r>
            <a:endParaRPr lang="en-GB" sz="1400" kern="1200">
              <a:latin typeface="+mj-lt"/>
            </a:endParaRPr>
          </a:p>
        </p:txBody>
      </p:sp>
      <p:sp>
        <p:nvSpPr>
          <p:cNvPr id="9" name="Freeform 10">
            <a:extLst>
              <a:ext uri="{FF2B5EF4-FFF2-40B4-BE49-F238E27FC236}">
                <a16:creationId xmlns:a16="http://schemas.microsoft.com/office/drawing/2014/main" id="{67096E94-6D05-CE20-3131-5C9FA040FD03}"/>
              </a:ext>
            </a:extLst>
          </p:cNvPr>
          <p:cNvSpPr/>
          <p:nvPr/>
        </p:nvSpPr>
        <p:spPr>
          <a:xfrm>
            <a:off x="2073749"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12C2E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Live Sports </a:t>
            </a:r>
          </a:p>
          <a:p>
            <a:pPr marL="0" lvl="0" indent="0" algn="ctr" defTabSz="755650">
              <a:spcBef>
                <a:spcPct val="0"/>
              </a:spcBef>
              <a:spcAft>
                <a:spcPct val="35000"/>
              </a:spcAft>
              <a:buNone/>
            </a:pPr>
            <a:r>
              <a:rPr lang="en-IN" sz="1400" kern="1200">
                <a:latin typeface="+mj-lt"/>
              </a:rPr>
              <a:t>Data</a:t>
            </a:r>
          </a:p>
        </p:txBody>
      </p:sp>
      <p:sp>
        <p:nvSpPr>
          <p:cNvPr id="10" name="Freeform 12">
            <a:extLst>
              <a:ext uri="{FF2B5EF4-FFF2-40B4-BE49-F238E27FC236}">
                <a16:creationId xmlns:a16="http://schemas.microsoft.com/office/drawing/2014/main" id="{19EC4C9C-FF8E-0784-2542-63EA11844F17}"/>
              </a:ext>
            </a:extLst>
          </p:cNvPr>
          <p:cNvSpPr/>
          <p:nvPr/>
        </p:nvSpPr>
        <p:spPr>
          <a:xfrm>
            <a:off x="3693135"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1497D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AI/Logging Layer </a:t>
            </a:r>
            <a:endParaRPr lang="en-GB" sz="1400" kern="1200">
              <a:latin typeface="+mj-lt"/>
            </a:endParaRPr>
          </a:p>
        </p:txBody>
      </p:sp>
      <p:sp>
        <p:nvSpPr>
          <p:cNvPr id="11" name="Freeform 13">
            <a:extLst>
              <a:ext uri="{FF2B5EF4-FFF2-40B4-BE49-F238E27FC236}">
                <a16:creationId xmlns:a16="http://schemas.microsoft.com/office/drawing/2014/main" id="{A51842B5-E440-05D0-4978-037FB2CC0F43}"/>
              </a:ext>
            </a:extLst>
          </p:cNvPr>
          <p:cNvSpPr/>
          <p:nvPr/>
        </p:nvSpPr>
        <p:spPr>
          <a:xfrm>
            <a:off x="5312521"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0872C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Timecode Alignment</a:t>
            </a:r>
            <a:endParaRPr lang="en-GB" sz="1400" kern="1200">
              <a:latin typeface="+mj-lt"/>
            </a:endParaRPr>
          </a:p>
        </p:txBody>
      </p:sp>
      <p:sp>
        <p:nvSpPr>
          <p:cNvPr id="12" name="Freeform 14">
            <a:extLst>
              <a:ext uri="{FF2B5EF4-FFF2-40B4-BE49-F238E27FC236}">
                <a16:creationId xmlns:a16="http://schemas.microsoft.com/office/drawing/2014/main" id="{9CFC570E-E35F-0B95-1E61-89D576BAD456}"/>
              </a:ext>
            </a:extLst>
          </p:cNvPr>
          <p:cNvSpPr/>
          <p:nvPr/>
        </p:nvSpPr>
        <p:spPr>
          <a:xfrm>
            <a:off x="6931907"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0251A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Sports Highlights Metadata</a:t>
            </a:r>
            <a:endParaRPr lang="en-GB" sz="1400" kern="1200">
              <a:latin typeface="+mj-lt"/>
            </a:endParaRPr>
          </a:p>
        </p:txBody>
      </p:sp>
      <p:sp>
        <p:nvSpPr>
          <p:cNvPr id="13" name="Freeform 15">
            <a:extLst>
              <a:ext uri="{FF2B5EF4-FFF2-40B4-BE49-F238E27FC236}">
                <a16:creationId xmlns:a16="http://schemas.microsoft.com/office/drawing/2014/main" id="{A586DE45-C2DA-29DA-A853-F717652D9C0E}"/>
              </a:ext>
            </a:extLst>
          </p:cNvPr>
          <p:cNvSpPr/>
          <p:nvPr/>
        </p:nvSpPr>
        <p:spPr>
          <a:xfrm>
            <a:off x="8551293"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0A3368"/>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PAM/MAM Search + Assembly</a:t>
            </a:r>
            <a:endParaRPr lang="en-GB" sz="1400" kern="1200">
              <a:latin typeface="+mj-lt"/>
            </a:endParaRPr>
          </a:p>
        </p:txBody>
      </p:sp>
      <p:sp>
        <p:nvSpPr>
          <p:cNvPr id="14" name="Freeform 16">
            <a:extLst>
              <a:ext uri="{FF2B5EF4-FFF2-40B4-BE49-F238E27FC236}">
                <a16:creationId xmlns:a16="http://schemas.microsoft.com/office/drawing/2014/main" id="{1FF14A73-D125-54BB-FCCB-45EC52069E53}"/>
              </a:ext>
            </a:extLst>
          </p:cNvPr>
          <p:cNvSpPr/>
          <p:nvPr/>
        </p:nvSpPr>
        <p:spPr>
          <a:xfrm>
            <a:off x="10170678" y="3015191"/>
            <a:ext cx="1584000" cy="864000"/>
          </a:xfrm>
          <a:custGeom>
            <a:avLst/>
            <a:gdLst>
              <a:gd name="csX0" fmla="*/ 0 w 1806440"/>
              <a:gd name="csY0" fmla="*/ 120432 h 722576"/>
              <a:gd name="csX1" fmla="*/ 120432 w 1806440"/>
              <a:gd name="csY1" fmla="*/ 0 h 722576"/>
              <a:gd name="csX2" fmla="*/ 1686008 w 1806440"/>
              <a:gd name="csY2" fmla="*/ 0 h 722576"/>
              <a:gd name="csX3" fmla="*/ 1806440 w 1806440"/>
              <a:gd name="csY3" fmla="*/ 120432 h 722576"/>
              <a:gd name="csX4" fmla="*/ 1806440 w 1806440"/>
              <a:gd name="csY4" fmla="*/ 602144 h 722576"/>
              <a:gd name="csX5" fmla="*/ 1686008 w 1806440"/>
              <a:gd name="csY5" fmla="*/ 722576 h 722576"/>
              <a:gd name="csX6" fmla="*/ 120432 w 1806440"/>
              <a:gd name="csY6" fmla="*/ 722576 h 722576"/>
              <a:gd name="csX7" fmla="*/ 0 w 1806440"/>
              <a:gd name="csY7" fmla="*/ 602144 h 722576"/>
              <a:gd name="csX8" fmla="*/ 0 w 1806440"/>
              <a:gd name="csY8" fmla="*/ 120432 h 722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06440" h="722576">
                <a:moveTo>
                  <a:pt x="0" y="120432"/>
                </a:moveTo>
                <a:cubicBezTo>
                  <a:pt x="0" y="53919"/>
                  <a:pt x="53919" y="0"/>
                  <a:pt x="120432" y="0"/>
                </a:cubicBezTo>
                <a:lnTo>
                  <a:pt x="1686008" y="0"/>
                </a:lnTo>
                <a:cubicBezTo>
                  <a:pt x="1752521" y="0"/>
                  <a:pt x="1806440" y="53919"/>
                  <a:pt x="1806440" y="120432"/>
                </a:cubicBezTo>
                <a:lnTo>
                  <a:pt x="1806440" y="602144"/>
                </a:lnTo>
                <a:cubicBezTo>
                  <a:pt x="1806440" y="668657"/>
                  <a:pt x="1752521" y="722576"/>
                  <a:pt x="1686008" y="722576"/>
                </a:cubicBezTo>
                <a:lnTo>
                  <a:pt x="120432" y="722576"/>
                </a:lnTo>
                <a:cubicBezTo>
                  <a:pt x="53919" y="722576"/>
                  <a:pt x="0" y="668657"/>
                  <a:pt x="0" y="602144"/>
                </a:cubicBezTo>
                <a:lnTo>
                  <a:pt x="0" y="120432"/>
                </a:lnTo>
                <a:close/>
              </a:path>
            </a:pathLst>
          </a:custGeom>
          <a:solidFill>
            <a:srgbClr val="101E4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282" tIns="80612" rIns="57943" bIns="80612" numCol="1" spcCol="1270" anchor="ctr" anchorCtr="0">
            <a:noAutofit/>
          </a:bodyPr>
          <a:lstStyle/>
          <a:p>
            <a:pPr marL="0" lvl="0" indent="0" algn="ctr" defTabSz="755650">
              <a:spcBef>
                <a:spcPct val="0"/>
              </a:spcBef>
              <a:spcAft>
                <a:spcPct val="35000"/>
              </a:spcAft>
              <a:buNone/>
            </a:pPr>
            <a:r>
              <a:rPr lang="en-IN" sz="1400" kern="1200">
                <a:latin typeface="+mj-lt"/>
              </a:rPr>
              <a:t>Archive &amp; </a:t>
            </a:r>
          </a:p>
          <a:p>
            <a:pPr marL="0" lvl="0" indent="0" algn="ctr" defTabSz="755650">
              <a:spcBef>
                <a:spcPct val="0"/>
              </a:spcBef>
              <a:spcAft>
                <a:spcPct val="35000"/>
              </a:spcAft>
              <a:buNone/>
            </a:pPr>
            <a:r>
              <a:rPr lang="en-IN" sz="1400" kern="1200">
                <a:latin typeface="+mj-lt"/>
              </a:rPr>
              <a:t>Re-Distribution</a:t>
            </a:r>
            <a:endParaRPr lang="en-GB" sz="1400" kern="1200">
              <a:latin typeface="+mj-lt"/>
            </a:endParaRPr>
          </a:p>
        </p:txBody>
      </p:sp>
      <p:cxnSp>
        <p:nvCxnSpPr>
          <p:cNvPr id="15" name="Straight Arrow Connector 14">
            <a:extLst>
              <a:ext uri="{FF2B5EF4-FFF2-40B4-BE49-F238E27FC236}">
                <a16:creationId xmlns:a16="http://schemas.microsoft.com/office/drawing/2014/main" id="{E2C329EE-5E18-3E5E-455E-E49D4E515966}"/>
              </a:ext>
            </a:extLst>
          </p:cNvPr>
          <p:cNvCxnSpPr>
            <a:cxnSpLocks/>
          </p:cNvCxnSpPr>
          <p:nvPr/>
        </p:nvCxnSpPr>
        <p:spPr>
          <a:xfrm>
            <a:off x="604087" y="2797177"/>
            <a:ext cx="3053662"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B38F5D4-B695-AEC8-BAF8-8BF1FDB3AEE9}"/>
              </a:ext>
            </a:extLst>
          </p:cNvPr>
          <p:cNvCxnSpPr>
            <a:cxnSpLocks/>
          </p:cNvCxnSpPr>
          <p:nvPr/>
        </p:nvCxnSpPr>
        <p:spPr>
          <a:xfrm>
            <a:off x="6959008" y="2797177"/>
            <a:ext cx="4688192"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EE21785-A4EE-2E8C-EEE1-ACC280BF6F8A}"/>
              </a:ext>
            </a:extLst>
          </p:cNvPr>
          <p:cNvSpPr txBox="1"/>
          <p:nvPr/>
        </p:nvSpPr>
        <p:spPr>
          <a:xfrm>
            <a:off x="864169" y="1911653"/>
            <a:ext cx="2593176" cy="276999"/>
          </a:xfrm>
          <a:prstGeom prst="rect">
            <a:avLst/>
          </a:prstGeom>
          <a:noFill/>
        </p:spPr>
        <p:txBody>
          <a:bodyPr wrap="square" rtlCol="0">
            <a:spAutoFit/>
          </a:bodyPr>
          <a:lstStyle>
            <a:defPPr>
              <a:defRPr lang="en-US"/>
            </a:defPPr>
            <a:lvl1pPr algn="ctr">
              <a:defRPr sz="1200" b="1">
                <a:latin typeface="BentonSans Book" panose="02000503040000020004" pitchFamily="2" charset="0"/>
              </a:defRPr>
            </a:lvl1pPr>
          </a:lstStyle>
          <a:p>
            <a:r>
              <a:rPr lang="en-US" b="0">
                <a:latin typeface="+mj-lt"/>
              </a:rPr>
              <a:t>LIVE CONTENT</a:t>
            </a:r>
          </a:p>
        </p:txBody>
      </p:sp>
      <p:sp>
        <p:nvSpPr>
          <p:cNvPr id="18" name="TextBox 17">
            <a:extLst>
              <a:ext uri="{FF2B5EF4-FFF2-40B4-BE49-F238E27FC236}">
                <a16:creationId xmlns:a16="http://schemas.microsoft.com/office/drawing/2014/main" id="{4B87830F-297D-E5CE-1594-B1A43E336D29}"/>
              </a:ext>
            </a:extLst>
          </p:cNvPr>
          <p:cNvSpPr txBox="1"/>
          <p:nvPr/>
        </p:nvSpPr>
        <p:spPr>
          <a:xfrm>
            <a:off x="7707034" y="1911653"/>
            <a:ext cx="3497234" cy="276999"/>
          </a:xfrm>
          <a:prstGeom prst="rect">
            <a:avLst/>
          </a:prstGeom>
          <a:noFill/>
        </p:spPr>
        <p:txBody>
          <a:bodyPr wrap="square" rtlCol="0">
            <a:spAutoFit/>
          </a:bodyPr>
          <a:lstStyle/>
          <a:p>
            <a:pPr algn="ctr"/>
            <a:r>
              <a:rPr lang="en-US" sz="1200">
                <a:latin typeface="+mj-lt"/>
              </a:rPr>
              <a:t>SCRIPTED CONTENT</a:t>
            </a:r>
          </a:p>
        </p:txBody>
      </p:sp>
      <p:sp>
        <p:nvSpPr>
          <p:cNvPr id="19" name="TextBox 18">
            <a:extLst>
              <a:ext uri="{FF2B5EF4-FFF2-40B4-BE49-F238E27FC236}">
                <a16:creationId xmlns:a16="http://schemas.microsoft.com/office/drawing/2014/main" id="{964574A5-FB54-7983-3DDD-D3906381199B}"/>
              </a:ext>
            </a:extLst>
          </p:cNvPr>
          <p:cNvSpPr txBox="1"/>
          <p:nvPr/>
        </p:nvSpPr>
        <p:spPr>
          <a:xfrm>
            <a:off x="2075314" y="4011384"/>
            <a:ext cx="1563180" cy="1309333"/>
          </a:xfrm>
          <a:prstGeom prst="rect">
            <a:avLst/>
          </a:prstGeom>
          <a:noFill/>
        </p:spPr>
        <p:txBody>
          <a:bodyPr wrap="square">
            <a:spAutoFit/>
          </a:bodyPr>
          <a:lstStyle>
            <a:defPPr>
              <a:defRPr lang="en-US"/>
            </a:defPPr>
            <a:lvl1pPr lvl="0" algn="ctr" defTabSz="755650">
              <a:lnSpc>
                <a:spcPct val="114000"/>
              </a:lnSpc>
              <a:spcBef>
                <a:spcPct val="0"/>
              </a:spcBef>
              <a:spcAft>
                <a:spcPts val="0"/>
              </a:spcAft>
              <a:defRPr sz="1050">
                <a:latin typeface="BentonSansF Book" panose="02000503040000020004" pitchFamily="2" charset="77"/>
              </a:defRPr>
            </a:lvl1pPr>
          </a:lstStyle>
          <a:p>
            <a:r>
              <a:rPr lang="en-US" sz="1000">
                <a:latin typeface="+mn-lt"/>
              </a:rPr>
              <a:t>Capture structured event data (scores, goals, penalties, substitutions) with timecodes mapped to what aired on the main program feed.</a:t>
            </a:r>
            <a:endParaRPr lang="en-GB" sz="1000">
              <a:latin typeface="+mn-lt"/>
            </a:endParaRPr>
          </a:p>
        </p:txBody>
      </p:sp>
      <p:sp>
        <p:nvSpPr>
          <p:cNvPr id="20" name="TextBox 19">
            <a:extLst>
              <a:ext uri="{FF2B5EF4-FFF2-40B4-BE49-F238E27FC236}">
                <a16:creationId xmlns:a16="http://schemas.microsoft.com/office/drawing/2014/main" id="{1F80877C-5B67-FE9B-D01B-5B01D34601BE}"/>
              </a:ext>
            </a:extLst>
          </p:cNvPr>
          <p:cNvSpPr txBox="1"/>
          <p:nvPr/>
        </p:nvSpPr>
        <p:spPr>
          <a:xfrm>
            <a:off x="475184" y="4011384"/>
            <a:ext cx="1563180" cy="1127040"/>
          </a:xfrm>
          <a:prstGeom prst="rect">
            <a:avLst/>
          </a:prstGeom>
          <a:noFill/>
        </p:spPr>
        <p:txBody>
          <a:bodyPr wrap="square">
            <a:spAutoFit/>
          </a:bodyPr>
          <a:lstStyle>
            <a:defPPr>
              <a:defRPr lang="en-US"/>
            </a:defPPr>
            <a:lvl1pPr lvl="0" defTabSz="755650">
              <a:lnSpc>
                <a:spcPct val="90000"/>
              </a:lnSpc>
              <a:spcBef>
                <a:spcPct val="0"/>
              </a:spcBef>
              <a:spcAft>
                <a:spcPct val="35000"/>
              </a:spcAft>
              <a:defRPr sz="1200">
                <a:latin typeface="BentonSansF Book" panose="02000503040000020004" pitchFamily="2" charset="77"/>
              </a:defRPr>
            </a:lvl1pPr>
          </a:lstStyle>
          <a:p>
            <a:pPr algn="ctr">
              <a:lnSpc>
                <a:spcPct val="114000"/>
              </a:lnSpc>
              <a:spcAft>
                <a:spcPts val="0"/>
              </a:spcAft>
            </a:pPr>
            <a:r>
              <a:rPr lang="en-US" sz="1000">
                <a:latin typeface="+mn-lt"/>
              </a:rPr>
              <a:t>Ingest multiple cameras, iso‑feeds and commentary into a media asset system aligned to the linear playout schedule.</a:t>
            </a:r>
          </a:p>
        </p:txBody>
      </p:sp>
      <p:sp>
        <p:nvSpPr>
          <p:cNvPr id="21" name="TextBox 20">
            <a:extLst>
              <a:ext uri="{FF2B5EF4-FFF2-40B4-BE49-F238E27FC236}">
                <a16:creationId xmlns:a16="http://schemas.microsoft.com/office/drawing/2014/main" id="{F29445B4-9753-0EA8-FC4D-C2BA76364952}"/>
              </a:ext>
            </a:extLst>
          </p:cNvPr>
          <p:cNvSpPr txBox="1"/>
          <p:nvPr/>
        </p:nvSpPr>
        <p:spPr>
          <a:xfrm>
            <a:off x="3735290" y="4011384"/>
            <a:ext cx="1563180" cy="1127040"/>
          </a:xfrm>
          <a:prstGeom prst="rect">
            <a:avLst/>
          </a:prstGeom>
          <a:noFill/>
        </p:spPr>
        <p:txBody>
          <a:bodyPr wrap="square">
            <a:spAutoFit/>
          </a:bodyPr>
          <a:lstStyle>
            <a:defPPr>
              <a:defRPr lang="en-US"/>
            </a:defPPr>
            <a:lvl1pPr lvl="0" defTabSz="755650">
              <a:lnSpc>
                <a:spcPct val="114000"/>
              </a:lnSpc>
              <a:spcBef>
                <a:spcPct val="0"/>
              </a:spcBef>
              <a:defRPr sz="1050">
                <a:latin typeface="BentonSansF Book" panose="02000503040000020004" pitchFamily="2" charset="77"/>
              </a:defRPr>
            </a:lvl1pPr>
          </a:lstStyle>
          <a:p>
            <a:pPr algn="ctr"/>
            <a:r>
              <a:rPr lang="en-US" sz="1000">
                <a:latin typeface="+mn-lt"/>
              </a:rPr>
              <a:t>Use AI and operators to detect events, players and on‑screen graphics, creating a reliable live event log for replays and near‑live highlights.</a:t>
            </a:r>
          </a:p>
        </p:txBody>
      </p:sp>
      <p:sp>
        <p:nvSpPr>
          <p:cNvPr id="22" name="TextBox 21">
            <a:extLst>
              <a:ext uri="{FF2B5EF4-FFF2-40B4-BE49-F238E27FC236}">
                <a16:creationId xmlns:a16="http://schemas.microsoft.com/office/drawing/2014/main" id="{06075330-E636-2439-A8D3-98548E22CED0}"/>
              </a:ext>
            </a:extLst>
          </p:cNvPr>
          <p:cNvSpPr txBox="1"/>
          <p:nvPr/>
        </p:nvSpPr>
        <p:spPr>
          <a:xfrm>
            <a:off x="5340628" y="4011384"/>
            <a:ext cx="1563180" cy="1309333"/>
          </a:xfrm>
          <a:prstGeom prst="rect">
            <a:avLst/>
          </a:prstGeom>
          <a:noFill/>
        </p:spPr>
        <p:txBody>
          <a:bodyPr wrap="square">
            <a:spAutoFit/>
          </a:bodyPr>
          <a:lstStyle>
            <a:defPPr>
              <a:defRPr lang="en-US"/>
            </a:defPPr>
            <a:lvl1pPr lvl="0" defTabSz="755650">
              <a:lnSpc>
                <a:spcPct val="114000"/>
              </a:lnSpc>
              <a:spcBef>
                <a:spcPct val="0"/>
              </a:spcBef>
              <a:defRPr sz="1050">
                <a:latin typeface="BentonSansF Book" panose="02000503040000020004" pitchFamily="2" charset="77"/>
              </a:defRPr>
            </a:lvl1pPr>
          </a:lstStyle>
          <a:p>
            <a:pPr algn="ctr"/>
            <a:r>
              <a:rPr lang="en-US" sz="1000">
                <a:latin typeface="+mn-lt"/>
              </a:rPr>
              <a:t>Sync all events to the playout timeline, including ad breaks and studio segments, so teams search by “what the viewer saw on TV,” not raw camera time.</a:t>
            </a:r>
          </a:p>
        </p:txBody>
      </p:sp>
      <p:sp>
        <p:nvSpPr>
          <p:cNvPr id="23" name="TextBox 22">
            <a:extLst>
              <a:ext uri="{FF2B5EF4-FFF2-40B4-BE49-F238E27FC236}">
                <a16:creationId xmlns:a16="http://schemas.microsoft.com/office/drawing/2014/main" id="{847AD71B-BB6F-70B6-A3B1-5500F58D1106}"/>
              </a:ext>
            </a:extLst>
          </p:cNvPr>
          <p:cNvSpPr txBox="1"/>
          <p:nvPr/>
        </p:nvSpPr>
        <p:spPr>
          <a:xfrm>
            <a:off x="6959008" y="4011384"/>
            <a:ext cx="1563180" cy="1484765"/>
          </a:xfrm>
          <a:prstGeom prst="rect">
            <a:avLst/>
          </a:prstGeom>
          <a:noFill/>
        </p:spPr>
        <p:txBody>
          <a:bodyPr wrap="square">
            <a:spAutoFit/>
          </a:bodyPr>
          <a:lstStyle>
            <a:defPPr>
              <a:defRPr lang="en-US"/>
            </a:defPPr>
            <a:lvl1pPr lvl="0" defTabSz="755650">
              <a:lnSpc>
                <a:spcPct val="114000"/>
              </a:lnSpc>
              <a:spcBef>
                <a:spcPct val="0"/>
              </a:spcBef>
              <a:defRPr sz="1050">
                <a:latin typeface="BentonSansF Book" panose="02000503040000020004" pitchFamily="2" charset="77"/>
              </a:defRPr>
            </a:lvl1pPr>
          </a:lstStyle>
          <a:p>
            <a:pPr algn="ctr"/>
            <a:r>
              <a:rPr lang="en-US" sz="1000">
                <a:latin typeface="+mn-lt"/>
              </a:rPr>
              <a:t>Enrich clips with storylines, stakes, sponsor tags, and rights windows so they can be reused across recap shows, magazine formats and themed specials.</a:t>
            </a:r>
          </a:p>
        </p:txBody>
      </p:sp>
      <p:sp>
        <p:nvSpPr>
          <p:cNvPr id="24" name="TextBox 23">
            <a:extLst>
              <a:ext uri="{FF2B5EF4-FFF2-40B4-BE49-F238E27FC236}">
                <a16:creationId xmlns:a16="http://schemas.microsoft.com/office/drawing/2014/main" id="{F3F7912F-BE6A-1AD5-5A9C-819154198BC9}"/>
              </a:ext>
            </a:extLst>
          </p:cNvPr>
          <p:cNvSpPr txBox="1"/>
          <p:nvPr/>
        </p:nvSpPr>
        <p:spPr>
          <a:xfrm>
            <a:off x="8577390" y="4011384"/>
            <a:ext cx="1485608" cy="951607"/>
          </a:xfrm>
          <a:prstGeom prst="rect">
            <a:avLst/>
          </a:prstGeom>
          <a:noFill/>
        </p:spPr>
        <p:txBody>
          <a:bodyPr wrap="square">
            <a:spAutoFit/>
          </a:bodyPr>
          <a:lstStyle>
            <a:defPPr>
              <a:defRPr lang="en-US"/>
            </a:defPPr>
            <a:lvl1pPr lvl="0" defTabSz="755650">
              <a:lnSpc>
                <a:spcPct val="114000"/>
              </a:lnSpc>
              <a:spcBef>
                <a:spcPct val="0"/>
              </a:spcBef>
              <a:defRPr sz="1050">
                <a:latin typeface="BentonSansF Book" panose="02000503040000020004" pitchFamily="2" charset="77"/>
              </a:defRPr>
            </a:lvl1pPr>
          </a:lstStyle>
          <a:p>
            <a:pPr algn="ctr"/>
            <a:r>
              <a:rPr lang="en-IN" sz="1000">
                <a:latin typeface="+mn-lt"/>
              </a:rPr>
              <a:t>Instantly find and build pre-game, halftime, and post-game packages from one searchable catalogue.</a:t>
            </a:r>
            <a:endParaRPr lang="en-US" sz="1000">
              <a:latin typeface="+mn-lt"/>
            </a:endParaRPr>
          </a:p>
        </p:txBody>
      </p:sp>
      <p:sp>
        <p:nvSpPr>
          <p:cNvPr id="25" name="TextBox 24">
            <a:extLst>
              <a:ext uri="{FF2B5EF4-FFF2-40B4-BE49-F238E27FC236}">
                <a16:creationId xmlns:a16="http://schemas.microsoft.com/office/drawing/2014/main" id="{07289DE7-D77A-53F4-A409-F49E6074F6BD}"/>
              </a:ext>
            </a:extLst>
          </p:cNvPr>
          <p:cNvSpPr txBox="1"/>
          <p:nvPr/>
        </p:nvSpPr>
        <p:spPr>
          <a:xfrm>
            <a:off x="10181089" y="4011384"/>
            <a:ext cx="1563177" cy="951607"/>
          </a:xfrm>
          <a:prstGeom prst="rect">
            <a:avLst/>
          </a:prstGeom>
          <a:noFill/>
        </p:spPr>
        <p:txBody>
          <a:bodyPr wrap="square">
            <a:spAutoFit/>
          </a:bodyPr>
          <a:lstStyle>
            <a:defPPr>
              <a:defRPr lang="en-US"/>
            </a:defPPr>
            <a:lvl1pPr lvl="0" defTabSz="755650">
              <a:lnSpc>
                <a:spcPct val="114000"/>
              </a:lnSpc>
              <a:spcBef>
                <a:spcPct val="0"/>
              </a:spcBef>
              <a:defRPr sz="1050">
                <a:latin typeface="BentonSansF Book" panose="02000503040000020004" pitchFamily="2" charset="77"/>
              </a:defRPr>
            </a:lvl1pPr>
          </a:lstStyle>
          <a:p>
            <a:pPr algn="ctr"/>
            <a:r>
              <a:rPr lang="en-US" sz="1000">
                <a:latin typeface="+mn-lt"/>
              </a:rPr>
              <a:t>Store finished segments with rich metadata to bring historic moments back on air to deepen live broadcasts.</a:t>
            </a:r>
          </a:p>
        </p:txBody>
      </p:sp>
      <p:cxnSp>
        <p:nvCxnSpPr>
          <p:cNvPr id="26" name="Straight Arrow Connector 25">
            <a:extLst>
              <a:ext uri="{FF2B5EF4-FFF2-40B4-BE49-F238E27FC236}">
                <a16:creationId xmlns:a16="http://schemas.microsoft.com/office/drawing/2014/main" id="{374A769E-D240-599C-CEFB-ACB2ECA6FC0C}"/>
              </a:ext>
            </a:extLst>
          </p:cNvPr>
          <p:cNvCxnSpPr>
            <a:cxnSpLocks/>
          </p:cNvCxnSpPr>
          <p:nvPr/>
        </p:nvCxnSpPr>
        <p:spPr>
          <a:xfrm>
            <a:off x="3682756" y="2797177"/>
            <a:ext cx="3210669"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7794B8D-A63B-2E2B-F78A-9640504D80F9}"/>
              </a:ext>
            </a:extLst>
          </p:cNvPr>
          <p:cNvSpPr txBox="1"/>
          <p:nvPr/>
        </p:nvSpPr>
        <p:spPr>
          <a:xfrm>
            <a:off x="3886741" y="1911653"/>
            <a:ext cx="2907774" cy="276999"/>
          </a:xfrm>
          <a:prstGeom prst="rect">
            <a:avLst/>
          </a:prstGeom>
          <a:noFill/>
        </p:spPr>
        <p:txBody>
          <a:bodyPr wrap="square" rtlCol="0">
            <a:spAutoFit/>
          </a:bodyPr>
          <a:lstStyle/>
          <a:p>
            <a:pPr algn="ctr"/>
            <a:r>
              <a:rPr lang="en-US" sz="1200">
                <a:latin typeface="+mj-lt"/>
              </a:rPr>
              <a:t>SYNC &amp; ENRICH CONTENT</a:t>
            </a:r>
          </a:p>
        </p:txBody>
      </p:sp>
      <p:cxnSp>
        <p:nvCxnSpPr>
          <p:cNvPr id="28" name="Straight Connector 27">
            <a:extLst>
              <a:ext uri="{FF2B5EF4-FFF2-40B4-BE49-F238E27FC236}">
                <a16:creationId xmlns:a16="http://schemas.microsoft.com/office/drawing/2014/main" id="{7B5A331C-45D1-9CFD-F954-193E436F1E3C}"/>
              </a:ext>
            </a:extLst>
          </p:cNvPr>
          <p:cNvCxnSpPr>
            <a:cxnSpLocks/>
          </p:cNvCxnSpPr>
          <p:nvPr/>
        </p:nvCxnSpPr>
        <p:spPr>
          <a:xfrm>
            <a:off x="2038364"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488DDAB-CC22-918A-266D-78A08B2BA796}"/>
              </a:ext>
            </a:extLst>
          </p:cNvPr>
          <p:cNvCxnSpPr>
            <a:cxnSpLocks/>
          </p:cNvCxnSpPr>
          <p:nvPr/>
        </p:nvCxnSpPr>
        <p:spPr>
          <a:xfrm>
            <a:off x="3663252"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D78A86B-1EB8-1207-C7CD-E12147F35640}"/>
              </a:ext>
            </a:extLst>
          </p:cNvPr>
          <p:cNvCxnSpPr>
            <a:cxnSpLocks/>
          </p:cNvCxnSpPr>
          <p:nvPr/>
        </p:nvCxnSpPr>
        <p:spPr>
          <a:xfrm>
            <a:off x="5298470"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5D98CAE-CEFD-EAAC-3DE1-42C7FA276CD7}"/>
              </a:ext>
            </a:extLst>
          </p:cNvPr>
          <p:cNvCxnSpPr>
            <a:cxnSpLocks/>
          </p:cNvCxnSpPr>
          <p:nvPr/>
        </p:nvCxnSpPr>
        <p:spPr>
          <a:xfrm>
            <a:off x="6903805"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C138F76-5F7D-4D56-08EC-85A59823FC6C}"/>
              </a:ext>
            </a:extLst>
          </p:cNvPr>
          <p:cNvCxnSpPr>
            <a:cxnSpLocks/>
          </p:cNvCxnSpPr>
          <p:nvPr/>
        </p:nvCxnSpPr>
        <p:spPr>
          <a:xfrm>
            <a:off x="8524789"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07A921-4762-B3A8-B90D-FFD51005B7BD}"/>
              </a:ext>
            </a:extLst>
          </p:cNvPr>
          <p:cNvCxnSpPr>
            <a:cxnSpLocks/>
          </p:cNvCxnSpPr>
          <p:nvPr/>
        </p:nvCxnSpPr>
        <p:spPr>
          <a:xfrm>
            <a:off x="10148138" y="3958401"/>
            <a:ext cx="0" cy="161801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5C1C797-1B59-AE6E-8161-59DA35F99866}"/>
              </a:ext>
            </a:extLst>
          </p:cNvPr>
          <p:cNvSpPr txBox="1"/>
          <p:nvPr/>
        </p:nvSpPr>
        <p:spPr>
          <a:xfrm>
            <a:off x="687290" y="2219800"/>
            <a:ext cx="2835362" cy="400110"/>
          </a:xfrm>
          <a:prstGeom prst="rect">
            <a:avLst/>
          </a:prstGeom>
          <a:noFill/>
        </p:spPr>
        <p:txBody>
          <a:bodyPr wrap="square">
            <a:spAutoFit/>
          </a:bodyPr>
          <a:lstStyle/>
          <a:p>
            <a:pPr algn="ctr"/>
            <a:r>
              <a:rPr lang="en-IN" sz="1000" b="0" i="0">
                <a:solidFill>
                  <a:srgbClr val="0A0A0A"/>
                </a:solidFill>
                <a:effectLst/>
              </a:rPr>
              <a:t>Instantaneous</a:t>
            </a:r>
            <a:r>
              <a:rPr lang="en-IN" sz="1000">
                <a:solidFill>
                  <a:srgbClr val="0A0A0A"/>
                </a:solidFill>
              </a:rPr>
              <a:t> </a:t>
            </a:r>
            <a:r>
              <a:rPr lang="en-IN" sz="1000" b="0" i="0">
                <a:solidFill>
                  <a:srgbClr val="0A0A0A"/>
                </a:solidFill>
                <a:effectLst/>
              </a:rPr>
              <a:t>and time-coded metadata for event-based segmentation</a:t>
            </a:r>
            <a:endParaRPr lang="en-US" sz="1000"/>
          </a:p>
        </p:txBody>
      </p:sp>
      <p:sp>
        <p:nvSpPr>
          <p:cNvPr id="35" name="TextBox 34">
            <a:extLst>
              <a:ext uri="{FF2B5EF4-FFF2-40B4-BE49-F238E27FC236}">
                <a16:creationId xmlns:a16="http://schemas.microsoft.com/office/drawing/2014/main" id="{1FE52666-FAEC-7FFF-A268-96C218130F31}"/>
              </a:ext>
            </a:extLst>
          </p:cNvPr>
          <p:cNvSpPr txBox="1"/>
          <p:nvPr/>
        </p:nvSpPr>
        <p:spPr>
          <a:xfrm>
            <a:off x="7158604" y="2219800"/>
            <a:ext cx="4346106" cy="400110"/>
          </a:xfrm>
          <a:prstGeom prst="rect">
            <a:avLst/>
          </a:prstGeom>
          <a:noFill/>
        </p:spPr>
        <p:txBody>
          <a:bodyPr wrap="square">
            <a:spAutoFit/>
          </a:bodyPr>
          <a:lstStyle>
            <a:defPPr>
              <a:defRPr lang="en-US"/>
            </a:defPPr>
            <a:lvl1pPr algn="ctr">
              <a:defRPr sz="1000" b="0" i="0">
                <a:solidFill>
                  <a:srgbClr val="0A0A0A"/>
                </a:solidFill>
                <a:effectLst/>
                <a:latin typeface="BentonSans Book" panose="02000503040000020004" pitchFamily="2" charset="0"/>
              </a:defRPr>
            </a:lvl1pPr>
          </a:lstStyle>
          <a:p>
            <a:r>
              <a:rPr lang="en-IN">
                <a:latin typeface="+mn-lt"/>
              </a:rPr>
              <a:t>metadata is added during post-production to build narrative and ensure thematic and administrative accuracy</a:t>
            </a:r>
            <a:endParaRPr lang="en-US">
              <a:latin typeface="+mn-lt"/>
            </a:endParaRPr>
          </a:p>
        </p:txBody>
      </p:sp>
      <p:sp>
        <p:nvSpPr>
          <p:cNvPr id="36" name="TextBox 35">
            <a:extLst>
              <a:ext uri="{FF2B5EF4-FFF2-40B4-BE49-F238E27FC236}">
                <a16:creationId xmlns:a16="http://schemas.microsoft.com/office/drawing/2014/main" id="{E835C5F8-C14C-B925-0A70-7CDB5AFEF831}"/>
              </a:ext>
            </a:extLst>
          </p:cNvPr>
          <p:cNvSpPr txBox="1"/>
          <p:nvPr/>
        </p:nvSpPr>
        <p:spPr>
          <a:xfrm>
            <a:off x="3875227" y="2260169"/>
            <a:ext cx="2949090" cy="246221"/>
          </a:xfrm>
          <a:prstGeom prst="rect">
            <a:avLst/>
          </a:prstGeom>
          <a:noFill/>
        </p:spPr>
        <p:txBody>
          <a:bodyPr wrap="square">
            <a:spAutoFit/>
          </a:bodyPr>
          <a:lstStyle>
            <a:defPPr>
              <a:defRPr lang="en-US"/>
            </a:defPPr>
            <a:lvl1pPr algn="ctr">
              <a:defRPr sz="1000" b="0" i="0">
                <a:solidFill>
                  <a:srgbClr val="0A0A0A"/>
                </a:solidFill>
                <a:effectLst/>
                <a:latin typeface="BentonSans Book" panose="02000503040000020004" pitchFamily="2" charset="0"/>
              </a:defRPr>
            </a:lvl1pPr>
          </a:lstStyle>
          <a:p>
            <a:r>
              <a:rPr lang="en-IN">
                <a:latin typeface="+mn-lt"/>
              </a:rPr>
              <a:t>event detection and timeline synchronization</a:t>
            </a:r>
            <a:endParaRPr lang="en-US">
              <a:latin typeface="+mn-lt"/>
            </a:endParaRPr>
          </a:p>
        </p:txBody>
      </p:sp>
      <p:cxnSp>
        <p:nvCxnSpPr>
          <p:cNvPr id="48" name="Straight Connector 47">
            <a:extLst>
              <a:ext uri="{FF2B5EF4-FFF2-40B4-BE49-F238E27FC236}">
                <a16:creationId xmlns:a16="http://schemas.microsoft.com/office/drawing/2014/main" id="{5CA78C86-2E43-D034-33E2-04A692DF675F}"/>
              </a:ext>
            </a:extLst>
          </p:cNvPr>
          <p:cNvCxnSpPr>
            <a:cxnSpLocks/>
          </p:cNvCxnSpPr>
          <p:nvPr/>
        </p:nvCxnSpPr>
        <p:spPr>
          <a:xfrm>
            <a:off x="3663252" y="1810988"/>
            <a:ext cx="0" cy="8480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63FAC34-2D0F-87A2-1A14-E4C3C5327CF0}"/>
              </a:ext>
            </a:extLst>
          </p:cNvPr>
          <p:cNvCxnSpPr>
            <a:cxnSpLocks/>
          </p:cNvCxnSpPr>
          <p:nvPr/>
        </p:nvCxnSpPr>
        <p:spPr>
          <a:xfrm>
            <a:off x="6903805" y="1810988"/>
            <a:ext cx="0" cy="8480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37AAAB1A-8264-9C64-271D-DED80819870C}"/>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METADATA</a:t>
            </a:r>
          </a:p>
        </p:txBody>
      </p:sp>
    </p:spTree>
    <p:extLst>
      <p:ext uri="{BB962C8B-B14F-4D97-AF65-F5344CB8AC3E}">
        <p14:creationId xmlns:p14="http://schemas.microsoft.com/office/powerpoint/2010/main" val="3062580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6FA10-959E-59E3-29F5-22BC7EA07AF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F4AD9710-2121-4ED8-CC88-76FCA19BA53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572F15DB-FB44-237B-DC81-28B3EC0777AE}"/>
              </a:ext>
            </a:extLst>
          </p:cNvPr>
          <p:cNvSpPr>
            <a:spLocks noGrp="1"/>
          </p:cNvSpPr>
          <p:nvPr>
            <p:ph type="sldNum" sz="quarter" idx="30"/>
          </p:nvPr>
        </p:nvSpPr>
        <p:spPr/>
        <p:txBody>
          <a:bodyPr/>
          <a:lstStyle/>
          <a:p>
            <a:pPr algn="r"/>
            <a:fld id="{5D9A5160-6218-4E5A-B9E6-B93E3DAE377C}" type="slidenum">
              <a:rPr lang="en-US" smtClean="0"/>
              <a:pPr algn="r"/>
              <a:t>17</a:t>
            </a:fld>
            <a:endParaRPr lang="en-US"/>
          </a:p>
        </p:txBody>
      </p:sp>
      <p:sp>
        <p:nvSpPr>
          <p:cNvPr id="5" name="Title 4">
            <a:extLst>
              <a:ext uri="{FF2B5EF4-FFF2-40B4-BE49-F238E27FC236}">
                <a16:creationId xmlns:a16="http://schemas.microsoft.com/office/drawing/2014/main" id="{69845D3E-1A87-2FEE-5FE0-F35641106AED}"/>
              </a:ext>
            </a:extLst>
          </p:cNvPr>
          <p:cNvSpPr>
            <a:spLocks noGrp="1"/>
          </p:cNvSpPr>
          <p:nvPr>
            <p:ph type="title"/>
          </p:nvPr>
        </p:nvSpPr>
        <p:spPr/>
        <p:txBody>
          <a:bodyPr/>
          <a:lstStyle/>
          <a:p>
            <a:r>
              <a:rPr lang="en-US"/>
              <a:t>On the Game Day, metadata brings the content to life with insights and storytelling</a:t>
            </a:r>
          </a:p>
        </p:txBody>
      </p:sp>
      <p:pic>
        <p:nvPicPr>
          <p:cNvPr id="6" name="Picture 4">
            <a:extLst>
              <a:ext uri="{FF2B5EF4-FFF2-40B4-BE49-F238E27FC236}">
                <a16:creationId xmlns:a16="http://schemas.microsoft.com/office/drawing/2014/main" id="{6CDAF4B2-D6C8-1618-015C-47D02C74D5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19" r="6682" b="6030"/>
          <a:stretch>
            <a:fillRect/>
          </a:stretch>
        </p:blipFill>
        <p:spPr bwMode="auto">
          <a:xfrm>
            <a:off x="8127706" y="980728"/>
            <a:ext cx="4088974" cy="52051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D8E03C2-500B-55A0-5695-8047306C5F72}"/>
              </a:ext>
            </a:extLst>
          </p:cNvPr>
          <p:cNvSpPr txBox="1"/>
          <p:nvPr/>
        </p:nvSpPr>
        <p:spPr>
          <a:xfrm>
            <a:off x="550829" y="3711284"/>
            <a:ext cx="3646291" cy="18866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lnSpc>
                <a:spcPct val="114000"/>
              </a:lnSpc>
              <a:spcBef>
                <a:spcPts val="300"/>
              </a:spcBef>
              <a:spcAft>
                <a:spcPts val="300"/>
              </a:spcAft>
              <a:buSzPct val="99000"/>
              <a:buFont typeface="Wingdings" pitchFamily="2" charset="2"/>
              <a:buChar char="§"/>
            </a:pPr>
            <a:r>
              <a:rPr lang="en-IN" sz="1050" b="1">
                <a:effectLst/>
              </a:rPr>
              <a:t>Enhanced Fan Experience </a:t>
            </a:r>
            <a:r>
              <a:rPr lang="en-IN" sz="1050">
                <a:effectLst/>
              </a:rPr>
              <a:t>with interactive, data-rich overlays like real-time shot charts, win probabilities, and live player statistics.</a:t>
            </a:r>
          </a:p>
          <a:p>
            <a:pPr marL="171450" indent="-171450">
              <a:lnSpc>
                <a:spcPct val="114000"/>
              </a:lnSpc>
              <a:spcBef>
                <a:spcPts val="300"/>
              </a:spcBef>
              <a:spcAft>
                <a:spcPts val="300"/>
              </a:spcAft>
              <a:buSzPct val="99000"/>
              <a:buFont typeface="Wingdings" pitchFamily="2" charset="2"/>
              <a:buChar char="§"/>
            </a:pPr>
            <a:r>
              <a:rPr lang="en-IN" sz="1050" b="1">
                <a:effectLst/>
              </a:rPr>
              <a:t>Instant Highlight Creation </a:t>
            </a:r>
            <a:r>
              <a:rPr lang="en-IN" sz="1050"/>
              <a:t>for</a:t>
            </a:r>
            <a:r>
              <a:rPr lang="en-IN" sz="1050">
                <a:effectLst/>
              </a:rPr>
              <a:t> editors to rapidly locate and package key moments for social media and on-demand distribution.</a:t>
            </a:r>
          </a:p>
          <a:p>
            <a:pPr marL="171450" indent="-171450">
              <a:lnSpc>
                <a:spcPct val="114000"/>
              </a:lnSpc>
              <a:spcBef>
                <a:spcPts val="300"/>
              </a:spcBef>
              <a:spcAft>
                <a:spcPts val="300"/>
              </a:spcAft>
              <a:buSzPct val="99000"/>
              <a:buFont typeface="Wingdings" pitchFamily="2" charset="2"/>
              <a:buChar char="§"/>
            </a:pPr>
            <a:r>
              <a:rPr lang="en-IN" sz="1050" b="1">
                <a:effectLst/>
              </a:rPr>
              <a:t>Monetization (Targeted Ads) </a:t>
            </a:r>
            <a:r>
              <a:rPr lang="en-IN" sz="1050">
                <a:effectLst/>
              </a:rPr>
              <a:t>to facilitate dynamic ad insertion by identifying optimal, high-engagement moments for brand placements.</a:t>
            </a:r>
          </a:p>
        </p:txBody>
      </p:sp>
      <p:sp>
        <p:nvSpPr>
          <p:cNvPr id="8" name="TextBox 7">
            <a:extLst>
              <a:ext uri="{FF2B5EF4-FFF2-40B4-BE49-F238E27FC236}">
                <a16:creationId xmlns:a16="http://schemas.microsoft.com/office/drawing/2014/main" id="{606B076B-83F3-6981-CB51-72F873AD65EF}"/>
              </a:ext>
            </a:extLst>
          </p:cNvPr>
          <p:cNvSpPr txBox="1"/>
          <p:nvPr/>
        </p:nvSpPr>
        <p:spPr>
          <a:xfrm>
            <a:off x="550829" y="3080612"/>
            <a:ext cx="7617151"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IN" sz="1400" b="1">
                <a:solidFill>
                  <a:schemeClr val="tx2"/>
                </a:solidFill>
              </a:rPr>
              <a:t>Contextual metadata </a:t>
            </a:r>
            <a:r>
              <a:rPr lang="en-IN" sz="1400">
                <a:solidFill>
                  <a:schemeClr val="tx2"/>
                </a:solidFill>
              </a:rPr>
              <a:t>enables time-stamped intelligence that transforms live footage into actionable content</a:t>
            </a:r>
          </a:p>
        </p:txBody>
      </p:sp>
      <p:grpSp>
        <p:nvGrpSpPr>
          <p:cNvPr id="9" name="Group 8">
            <a:extLst>
              <a:ext uri="{FF2B5EF4-FFF2-40B4-BE49-F238E27FC236}">
                <a16:creationId xmlns:a16="http://schemas.microsoft.com/office/drawing/2014/main" id="{4FFF7A72-239E-52BC-DFAD-E8F0AED0DC9E}"/>
              </a:ext>
            </a:extLst>
          </p:cNvPr>
          <p:cNvGrpSpPr/>
          <p:nvPr/>
        </p:nvGrpSpPr>
        <p:grpSpPr>
          <a:xfrm>
            <a:off x="520407" y="1785155"/>
            <a:ext cx="1512001" cy="773906"/>
            <a:chOff x="920344" y="2438111"/>
            <a:chExt cx="1512001" cy="773906"/>
          </a:xfrm>
        </p:grpSpPr>
        <p:sp>
          <p:nvSpPr>
            <p:cNvPr id="10" name="Rounded Rectangle 34">
              <a:extLst>
                <a:ext uri="{FF2B5EF4-FFF2-40B4-BE49-F238E27FC236}">
                  <a16:creationId xmlns:a16="http://schemas.microsoft.com/office/drawing/2014/main" id="{2E57AB57-4286-F265-C2D1-730876843584}"/>
                </a:ext>
              </a:extLst>
            </p:cNvPr>
            <p:cNvSpPr/>
            <p:nvPr/>
          </p:nvSpPr>
          <p:spPr>
            <a:xfrm>
              <a:off x="920344" y="2438111"/>
              <a:ext cx="1512001" cy="773906"/>
            </a:xfrm>
            <a:prstGeom prst="roundRect">
              <a:avLst/>
            </a:prstGeom>
            <a:noFill/>
            <a:ln>
              <a:solidFill>
                <a:schemeClr val="bg1">
                  <a:lumMod val="85000"/>
                </a:schemeClr>
              </a:solidFill>
              <a:prstDash val="sysDash"/>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8674" tIns="29337" rIns="208145" bIns="29337" numCol="1" spcCol="1270" anchor="ctr" anchorCtr="0">
              <a:noAutofit/>
            </a:bodyPr>
            <a:lstStyle/>
            <a:p>
              <a:pPr marL="12700" lvl="0" algn="ctr" defTabSz="466725">
                <a:lnSpc>
                  <a:spcPct val="90000"/>
                </a:lnSpc>
                <a:spcBef>
                  <a:spcPct val="0"/>
                </a:spcBef>
                <a:spcAft>
                  <a:spcPct val="35000"/>
                </a:spcAft>
                <a:buNone/>
                <a:tabLst>
                  <a:tab pos="1150938" algn="l"/>
                </a:tabLst>
              </a:pPr>
              <a:endParaRPr lang="en-GB" sz="1050" kern="1200"/>
            </a:p>
          </p:txBody>
        </p:sp>
        <p:sp>
          <p:nvSpPr>
            <p:cNvPr id="11" name="TextBox 10">
              <a:extLst>
                <a:ext uri="{FF2B5EF4-FFF2-40B4-BE49-F238E27FC236}">
                  <a16:creationId xmlns:a16="http://schemas.microsoft.com/office/drawing/2014/main" id="{00445639-71F3-7E1D-AAE3-A7DDA689CCC9}"/>
                </a:ext>
              </a:extLst>
            </p:cNvPr>
            <p:cNvSpPr txBox="1"/>
            <p:nvPr/>
          </p:nvSpPr>
          <p:spPr>
            <a:xfrm>
              <a:off x="920344" y="2518057"/>
              <a:ext cx="1512001" cy="6140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700" lvl="0" algn="ctr" defTabSz="466725">
                <a:lnSpc>
                  <a:spcPct val="90000"/>
                </a:lnSpc>
                <a:spcBef>
                  <a:spcPct val="0"/>
                </a:spcBef>
                <a:spcAft>
                  <a:spcPct val="35000"/>
                </a:spcAft>
                <a:buNone/>
                <a:tabLst>
                  <a:tab pos="1150938" algn="l"/>
                </a:tabLst>
              </a:pPr>
              <a:r>
                <a:rPr lang="en-IN" sz="1200" b="1" kern="1200">
                  <a:solidFill>
                    <a:schemeClr val="tx2"/>
                  </a:solidFill>
                </a:rPr>
                <a:t>WHO </a:t>
              </a:r>
            </a:p>
            <a:p>
              <a:pPr marL="12700" lvl="0" algn="ctr" defTabSz="466725">
                <a:lnSpc>
                  <a:spcPct val="90000"/>
                </a:lnSpc>
                <a:spcBef>
                  <a:spcPct val="0"/>
                </a:spcBef>
                <a:spcAft>
                  <a:spcPct val="35000"/>
                </a:spcAft>
                <a:buNone/>
                <a:tabLst>
                  <a:tab pos="1150938" algn="l"/>
                </a:tabLst>
              </a:pPr>
              <a:r>
                <a:rPr lang="en-IN" sz="1050" kern="1200"/>
                <a:t>is involved (players, teams, officials)</a:t>
              </a:r>
              <a:endParaRPr lang="en-GB" sz="1050" kern="1200"/>
            </a:p>
          </p:txBody>
        </p:sp>
      </p:grpSp>
      <p:grpSp>
        <p:nvGrpSpPr>
          <p:cNvPr id="12" name="Group 11">
            <a:extLst>
              <a:ext uri="{FF2B5EF4-FFF2-40B4-BE49-F238E27FC236}">
                <a16:creationId xmlns:a16="http://schemas.microsoft.com/office/drawing/2014/main" id="{7D6D2F70-BF23-50DC-D576-179299FA4378}"/>
              </a:ext>
            </a:extLst>
          </p:cNvPr>
          <p:cNvGrpSpPr/>
          <p:nvPr/>
        </p:nvGrpSpPr>
        <p:grpSpPr>
          <a:xfrm>
            <a:off x="2085696" y="1786256"/>
            <a:ext cx="1512001" cy="773906"/>
            <a:chOff x="2550879" y="2438111"/>
            <a:chExt cx="1512001" cy="773906"/>
          </a:xfrm>
        </p:grpSpPr>
        <p:sp>
          <p:nvSpPr>
            <p:cNvPr id="13" name="Rounded Rectangle 35">
              <a:extLst>
                <a:ext uri="{FF2B5EF4-FFF2-40B4-BE49-F238E27FC236}">
                  <a16:creationId xmlns:a16="http://schemas.microsoft.com/office/drawing/2014/main" id="{81315B7C-F42C-4F72-8CB5-493994528059}"/>
                </a:ext>
              </a:extLst>
            </p:cNvPr>
            <p:cNvSpPr/>
            <p:nvPr/>
          </p:nvSpPr>
          <p:spPr>
            <a:xfrm>
              <a:off x="2550879" y="2438111"/>
              <a:ext cx="1512001" cy="773906"/>
            </a:xfrm>
            <a:prstGeom prst="roundRect">
              <a:avLst/>
            </a:prstGeom>
            <a:ln>
              <a:solidFill>
                <a:schemeClr val="bg1">
                  <a:lumMod val="85000"/>
                </a:schemeClr>
              </a:solidFill>
              <a:prstDash val="sysDash"/>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30959" tIns="29337" rIns="401622" bIns="29337" numCol="1" spcCol="1270" anchor="ctr" anchorCtr="0">
              <a:noAutofit/>
            </a:bodyPr>
            <a:lstStyle/>
            <a:p>
              <a:pPr marL="0" lvl="0" indent="0" algn="ctr" defTabSz="466725">
                <a:lnSpc>
                  <a:spcPct val="90000"/>
                </a:lnSpc>
                <a:spcBef>
                  <a:spcPct val="0"/>
                </a:spcBef>
                <a:spcAft>
                  <a:spcPct val="35000"/>
                </a:spcAft>
                <a:buNone/>
              </a:pPr>
              <a:endParaRPr lang="en-IN" sz="1050" kern="1200"/>
            </a:p>
          </p:txBody>
        </p:sp>
        <p:sp>
          <p:nvSpPr>
            <p:cNvPr id="14" name="TextBox 13">
              <a:extLst>
                <a:ext uri="{FF2B5EF4-FFF2-40B4-BE49-F238E27FC236}">
                  <a16:creationId xmlns:a16="http://schemas.microsoft.com/office/drawing/2014/main" id="{534DA082-E026-5156-F554-CC94EEA739B7}"/>
                </a:ext>
              </a:extLst>
            </p:cNvPr>
            <p:cNvSpPr txBox="1"/>
            <p:nvPr/>
          </p:nvSpPr>
          <p:spPr>
            <a:xfrm>
              <a:off x="2600270" y="2524982"/>
              <a:ext cx="1413219"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700" indent="0" algn="ctr" defTabSz="466725">
                <a:lnSpc>
                  <a:spcPct val="90000"/>
                </a:lnSpc>
                <a:spcBef>
                  <a:spcPct val="0"/>
                </a:spcBef>
                <a:spcAft>
                  <a:spcPct val="35000"/>
                </a:spcAft>
                <a:tabLst>
                  <a:tab pos="1150938" algn="l"/>
                </a:tabLst>
              </a:pPr>
              <a:r>
                <a:rPr lang="en-IN" sz="1200" b="1">
                  <a:solidFill>
                    <a:schemeClr val="tx2"/>
                  </a:solidFill>
                </a:rPr>
                <a:t>WHAT</a:t>
              </a:r>
              <a:r>
                <a:rPr lang="en-IN" sz="1200" b="1">
                  <a:solidFill>
                    <a:srgbClr val="FF40FF"/>
                  </a:solidFill>
                </a:rPr>
                <a:t> </a:t>
              </a:r>
            </a:p>
            <a:p>
              <a:pPr marL="0" lvl="0" indent="0" algn="ctr" defTabSz="466725">
                <a:lnSpc>
                  <a:spcPct val="90000"/>
                </a:lnSpc>
                <a:spcBef>
                  <a:spcPct val="0"/>
                </a:spcBef>
                <a:spcAft>
                  <a:spcPct val="35000"/>
                </a:spcAft>
                <a:buNone/>
              </a:pPr>
              <a:r>
                <a:rPr lang="en-IN" sz="1000"/>
                <a:t>i</a:t>
              </a:r>
              <a:r>
                <a:rPr lang="en-IN" sz="1000" kern="1200"/>
                <a:t>s happening (goal, foul, timeout)</a:t>
              </a:r>
            </a:p>
          </p:txBody>
        </p:sp>
      </p:grpSp>
      <p:grpSp>
        <p:nvGrpSpPr>
          <p:cNvPr id="15" name="Group 14">
            <a:extLst>
              <a:ext uri="{FF2B5EF4-FFF2-40B4-BE49-F238E27FC236}">
                <a16:creationId xmlns:a16="http://schemas.microsoft.com/office/drawing/2014/main" id="{6A6C137D-0C71-300E-5E0D-16B6D2E83CA0}"/>
              </a:ext>
            </a:extLst>
          </p:cNvPr>
          <p:cNvGrpSpPr/>
          <p:nvPr/>
        </p:nvGrpSpPr>
        <p:grpSpPr>
          <a:xfrm>
            <a:off x="3650985" y="1784054"/>
            <a:ext cx="1512001" cy="773906"/>
            <a:chOff x="4160599" y="2433708"/>
            <a:chExt cx="1512001" cy="773906"/>
          </a:xfrm>
        </p:grpSpPr>
        <p:sp>
          <p:nvSpPr>
            <p:cNvPr id="16" name="Rounded Rectangle 36">
              <a:extLst>
                <a:ext uri="{FF2B5EF4-FFF2-40B4-BE49-F238E27FC236}">
                  <a16:creationId xmlns:a16="http://schemas.microsoft.com/office/drawing/2014/main" id="{09F787E4-82B1-4936-3B28-2589AABC791E}"/>
                </a:ext>
              </a:extLst>
            </p:cNvPr>
            <p:cNvSpPr/>
            <p:nvPr/>
          </p:nvSpPr>
          <p:spPr>
            <a:xfrm>
              <a:off x="4160599" y="2433708"/>
              <a:ext cx="1512001" cy="773906"/>
            </a:xfrm>
            <a:prstGeom prst="roundRect">
              <a:avLst/>
            </a:prstGeom>
            <a:ln>
              <a:solidFill>
                <a:schemeClr val="bg1">
                  <a:lumMod val="85000"/>
                </a:schemeClr>
              </a:solidFill>
              <a:prstDash val="sysDash"/>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30959" tIns="29337" rIns="401622" bIns="29337" numCol="1" spcCol="1270" anchor="ctr" anchorCtr="0">
              <a:noAutofit/>
            </a:bodyPr>
            <a:lstStyle/>
            <a:p>
              <a:pPr marL="0" lvl="0" indent="0" algn="ctr" defTabSz="466725">
                <a:lnSpc>
                  <a:spcPct val="90000"/>
                </a:lnSpc>
                <a:spcBef>
                  <a:spcPct val="0"/>
                </a:spcBef>
                <a:spcAft>
                  <a:spcPct val="35000"/>
                </a:spcAft>
                <a:buNone/>
              </a:pPr>
              <a:endParaRPr lang="en-IN" sz="1050" kern="1200"/>
            </a:p>
          </p:txBody>
        </p:sp>
        <p:sp>
          <p:nvSpPr>
            <p:cNvPr id="17" name="TextBox 16">
              <a:extLst>
                <a:ext uri="{FF2B5EF4-FFF2-40B4-BE49-F238E27FC236}">
                  <a16:creationId xmlns:a16="http://schemas.microsoft.com/office/drawing/2014/main" id="{DBB665F4-3A3E-27C5-69DB-CBC69B1144FB}"/>
                </a:ext>
              </a:extLst>
            </p:cNvPr>
            <p:cNvSpPr txBox="1"/>
            <p:nvPr/>
          </p:nvSpPr>
          <p:spPr>
            <a:xfrm>
              <a:off x="4160599" y="2513654"/>
              <a:ext cx="1512001" cy="6140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700" lvl="0" algn="ctr" defTabSz="466725">
                <a:lnSpc>
                  <a:spcPct val="90000"/>
                </a:lnSpc>
                <a:spcBef>
                  <a:spcPct val="0"/>
                </a:spcBef>
                <a:spcAft>
                  <a:spcPct val="35000"/>
                </a:spcAft>
                <a:buNone/>
                <a:tabLst>
                  <a:tab pos="1150938" algn="l"/>
                </a:tabLst>
              </a:pPr>
              <a:r>
                <a:rPr lang="en-IN" sz="1200" b="1">
                  <a:solidFill>
                    <a:schemeClr val="tx2"/>
                  </a:solidFill>
                </a:rPr>
                <a:t>WHEN</a:t>
              </a:r>
              <a:r>
                <a:rPr lang="en-IN" sz="1200" b="1">
                  <a:solidFill>
                    <a:srgbClr val="FF40FF"/>
                  </a:solidFill>
                </a:rPr>
                <a:t> </a:t>
              </a:r>
            </a:p>
            <a:p>
              <a:pPr marL="0" lvl="0" indent="0" algn="ctr" defTabSz="466725">
                <a:lnSpc>
                  <a:spcPct val="90000"/>
                </a:lnSpc>
                <a:spcBef>
                  <a:spcPct val="0"/>
                </a:spcBef>
                <a:spcAft>
                  <a:spcPct val="35000"/>
                </a:spcAft>
                <a:buNone/>
              </a:pPr>
              <a:r>
                <a:rPr lang="en-IN" sz="1050" kern="1200"/>
                <a:t>it occurs (game clock, timestamp)</a:t>
              </a:r>
            </a:p>
          </p:txBody>
        </p:sp>
      </p:grpSp>
      <p:grpSp>
        <p:nvGrpSpPr>
          <p:cNvPr id="18" name="Group 17">
            <a:extLst>
              <a:ext uri="{FF2B5EF4-FFF2-40B4-BE49-F238E27FC236}">
                <a16:creationId xmlns:a16="http://schemas.microsoft.com/office/drawing/2014/main" id="{584B11FA-3657-127C-505E-2BD744C574F2}"/>
              </a:ext>
            </a:extLst>
          </p:cNvPr>
          <p:cNvGrpSpPr/>
          <p:nvPr/>
        </p:nvGrpSpPr>
        <p:grpSpPr>
          <a:xfrm>
            <a:off x="5216274" y="1787357"/>
            <a:ext cx="1512001" cy="773906"/>
            <a:chOff x="5806766" y="2438111"/>
            <a:chExt cx="1512001" cy="773906"/>
          </a:xfrm>
        </p:grpSpPr>
        <p:sp>
          <p:nvSpPr>
            <p:cNvPr id="19" name="Rounded Rectangle 37">
              <a:extLst>
                <a:ext uri="{FF2B5EF4-FFF2-40B4-BE49-F238E27FC236}">
                  <a16:creationId xmlns:a16="http://schemas.microsoft.com/office/drawing/2014/main" id="{31959F3F-53AE-A5E8-8F18-9174684021DA}"/>
                </a:ext>
              </a:extLst>
            </p:cNvPr>
            <p:cNvSpPr/>
            <p:nvPr/>
          </p:nvSpPr>
          <p:spPr>
            <a:xfrm>
              <a:off x="5806766" y="2438111"/>
              <a:ext cx="1512001" cy="773906"/>
            </a:xfrm>
            <a:prstGeom prst="roundRect">
              <a:avLst/>
            </a:prstGeom>
            <a:ln>
              <a:solidFill>
                <a:schemeClr val="bg1">
                  <a:lumMod val="85000"/>
                </a:schemeClr>
              </a:solidFill>
              <a:prstDash val="sysDash"/>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30959" tIns="29337" rIns="401622" bIns="29337" numCol="1" spcCol="1270" anchor="ctr" anchorCtr="0">
              <a:noAutofit/>
            </a:bodyPr>
            <a:lstStyle/>
            <a:p>
              <a:pPr marL="0" lvl="0" indent="0" algn="ctr" defTabSz="466725">
                <a:lnSpc>
                  <a:spcPct val="90000"/>
                </a:lnSpc>
                <a:spcBef>
                  <a:spcPct val="0"/>
                </a:spcBef>
                <a:spcAft>
                  <a:spcPct val="35000"/>
                </a:spcAft>
                <a:buNone/>
              </a:pPr>
              <a:endParaRPr lang="en-IN" sz="1050" kern="1200"/>
            </a:p>
          </p:txBody>
        </p:sp>
        <p:sp>
          <p:nvSpPr>
            <p:cNvPr id="20" name="TextBox 19">
              <a:extLst>
                <a:ext uri="{FF2B5EF4-FFF2-40B4-BE49-F238E27FC236}">
                  <a16:creationId xmlns:a16="http://schemas.microsoft.com/office/drawing/2014/main" id="{2CACF390-2DD0-9371-A50C-1EC816F6E7D6}"/>
                </a:ext>
              </a:extLst>
            </p:cNvPr>
            <p:cNvSpPr txBox="1"/>
            <p:nvPr/>
          </p:nvSpPr>
          <p:spPr>
            <a:xfrm>
              <a:off x="5806766" y="2518057"/>
              <a:ext cx="1512001" cy="6140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700" indent="0" algn="ctr" defTabSz="466725">
                <a:lnSpc>
                  <a:spcPct val="90000"/>
                </a:lnSpc>
                <a:spcBef>
                  <a:spcPct val="0"/>
                </a:spcBef>
                <a:spcAft>
                  <a:spcPct val="35000"/>
                </a:spcAft>
                <a:tabLst>
                  <a:tab pos="1150938" algn="l"/>
                </a:tabLst>
              </a:pPr>
              <a:r>
                <a:rPr lang="en-IN" sz="1200" b="1">
                  <a:solidFill>
                    <a:schemeClr val="tx2"/>
                  </a:solidFill>
                </a:rPr>
                <a:t>WHERE</a:t>
              </a:r>
              <a:r>
                <a:rPr lang="en-IN" sz="1200" b="1">
                  <a:solidFill>
                    <a:srgbClr val="FF40FF"/>
                  </a:solidFill>
                </a:rPr>
                <a:t> </a:t>
              </a:r>
            </a:p>
            <a:p>
              <a:pPr marL="0" lvl="0" indent="0" algn="ctr" defTabSz="466725">
                <a:lnSpc>
                  <a:spcPct val="90000"/>
                </a:lnSpc>
                <a:spcBef>
                  <a:spcPct val="0"/>
                </a:spcBef>
                <a:spcAft>
                  <a:spcPct val="35000"/>
                </a:spcAft>
                <a:buNone/>
              </a:pPr>
              <a:r>
                <a:rPr lang="en-IN" sz="1050" kern="1200"/>
                <a:t>on the field/court (coordinates, zones)</a:t>
              </a:r>
            </a:p>
          </p:txBody>
        </p:sp>
      </p:grpSp>
      <p:grpSp>
        <p:nvGrpSpPr>
          <p:cNvPr id="21" name="Group 20">
            <a:extLst>
              <a:ext uri="{FF2B5EF4-FFF2-40B4-BE49-F238E27FC236}">
                <a16:creationId xmlns:a16="http://schemas.microsoft.com/office/drawing/2014/main" id="{BBCCBC95-04D9-C9A4-39D7-B18FBFE973C9}"/>
              </a:ext>
            </a:extLst>
          </p:cNvPr>
          <p:cNvGrpSpPr/>
          <p:nvPr/>
        </p:nvGrpSpPr>
        <p:grpSpPr>
          <a:xfrm>
            <a:off x="6781564" y="1788457"/>
            <a:ext cx="1512001" cy="773906"/>
            <a:chOff x="7340525" y="2438111"/>
            <a:chExt cx="1512001" cy="773906"/>
          </a:xfrm>
        </p:grpSpPr>
        <p:sp>
          <p:nvSpPr>
            <p:cNvPr id="22" name="Rounded Rectangle 38">
              <a:extLst>
                <a:ext uri="{FF2B5EF4-FFF2-40B4-BE49-F238E27FC236}">
                  <a16:creationId xmlns:a16="http://schemas.microsoft.com/office/drawing/2014/main" id="{9872F59D-D47C-C389-8BC3-F394CA345BBD}"/>
                </a:ext>
              </a:extLst>
            </p:cNvPr>
            <p:cNvSpPr/>
            <p:nvPr/>
          </p:nvSpPr>
          <p:spPr>
            <a:xfrm>
              <a:off x="7340525" y="2438111"/>
              <a:ext cx="1512001" cy="773906"/>
            </a:xfrm>
            <a:prstGeom prst="roundRect">
              <a:avLst/>
            </a:prstGeom>
            <a:ln>
              <a:solidFill>
                <a:schemeClr val="bg1">
                  <a:lumMod val="85000"/>
                </a:schemeClr>
              </a:solidFill>
              <a:prstDash val="sysDash"/>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30959" tIns="29337" rIns="401622" bIns="29337" numCol="1" spcCol="1270" anchor="ctr" anchorCtr="0">
              <a:noAutofit/>
            </a:bodyPr>
            <a:lstStyle/>
            <a:p>
              <a:pPr marL="0" lvl="0" indent="0" algn="ctr" defTabSz="466725">
                <a:lnSpc>
                  <a:spcPct val="90000"/>
                </a:lnSpc>
                <a:spcBef>
                  <a:spcPct val="0"/>
                </a:spcBef>
                <a:spcAft>
                  <a:spcPct val="35000"/>
                </a:spcAft>
                <a:buNone/>
              </a:pPr>
              <a:endParaRPr lang="en-IN" sz="1050" kern="1200"/>
            </a:p>
          </p:txBody>
        </p:sp>
        <p:sp>
          <p:nvSpPr>
            <p:cNvPr id="23" name="TextBox 22">
              <a:extLst>
                <a:ext uri="{FF2B5EF4-FFF2-40B4-BE49-F238E27FC236}">
                  <a16:creationId xmlns:a16="http://schemas.microsoft.com/office/drawing/2014/main" id="{E7BA4E91-4503-331F-5783-8BD1FE327786}"/>
                </a:ext>
              </a:extLst>
            </p:cNvPr>
            <p:cNvSpPr txBox="1"/>
            <p:nvPr/>
          </p:nvSpPr>
          <p:spPr>
            <a:xfrm>
              <a:off x="7342263" y="2518057"/>
              <a:ext cx="1508525" cy="6140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2700" lvl="0" algn="ctr" defTabSz="466725">
                <a:lnSpc>
                  <a:spcPct val="90000"/>
                </a:lnSpc>
                <a:spcBef>
                  <a:spcPct val="0"/>
                </a:spcBef>
                <a:spcAft>
                  <a:spcPct val="35000"/>
                </a:spcAft>
                <a:buNone/>
                <a:tabLst>
                  <a:tab pos="1150938" algn="l"/>
                </a:tabLst>
              </a:pPr>
              <a:r>
                <a:rPr lang="en-IN" sz="1200" b="1">
                  <a:solidFill>
                    <a:schemeClr val="tx2"/>
                  </a:solidFill>
                </a:rPr>
                <a:t>WHY </a:t>
              </a:r>
            </a:p>
            <a:p>
              <a:pPr marL="0" lvl="0" indent="0" algn="ctr" defTabSz="466725">
                <a:lnSpc>
                  <a:spcPct val="90000"/>
                </a:lnSpc>
                <a:spcBef>
                  <a:spcPct val="0"/>
                </a:spcBef>
                <a:spcAft>
                  <a:spcPct val="35000"/>
                </a:spcAft>
                <a:buNone/>
              </a:pPr>
              <a:r>
                <a:rPr lang="en-IN" sz="1050" kern="1200"/>
                <a:t>it is (significant, tactical, best play)</a:t>
              </a:r>
            </a:p>
          </p:txBody>
        </p:sp>
      </p:grpSp>
      <p:sp>
        <p:nvSpPr>
          <p:cNvPr id="24" name="TextBox 23">
            <a:extLst>
              <a:ext uri="{FF2B5EF4-FFF2-40B4-BE49-F238E27FC236}">
                <a16:creationId xmlns:a16="http://schemas.microsoft.com/office/drawing/2014/main" id="{000002A4-2DAB-D51C-AD47-BE1CB059976E}"/>
              </a:ext>
            </a:extLst>
          </p:cNvPr>
          <p:cNvSpPr txBox="1"/>
          <p:nvPr/>
        </p:nvSpPr>
        <p:spPr>
          <a:xfrm>
            <a:off x="4491267" y="3711284"/>
            <a:ext cx="3646291" cy="14412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1450" indent="-171450">
              <a:lnSpc>
                <a:spcPct val="114000"/>
              </a:lnSpc>
              <a:spcBef>
                <a:spcPts val="300"/>
              </a:spcBef>
              <a:spcAft>
                <a:spcPts val="300"/>
              </a:spcAft>
              <a:buSzPct val="99000"/>
              <a:buFont typeface="Wingdings" pitchFamily="2" charset="2"/>
              <a:buChar char="§"/>
            </a:pPr>
            <a:r>
              <a:rPr lang="en-IN" sz="1050" b="1">
                <a:effectLst/>
              </a:rPr>
              <a:t>Personalization to </a:t>
            </a:r>
            <a:r>
              <a:rPr lang="en-IN" sz="1050">
                <a:effectLst/>
              </a:rPr>
              <a:t>power customized viewing experiences through fan-favourite camera angles and language-specific commentary options.</a:t>
            </a:r>
          </a:p>
          <a:p>
            <a:pPr marL="171450" indent="-171450">
              <a:lnSpc>
                <a:spcPct val="114000"/>
              </a:lnSpc>
              <a:spcBef>
                <a:spcPts val="300"/>
              </a:spcBef>
              <a:spcAft>
                <a:spcPts val="300"/>
              </a:spcAft>
              <a:buSzPct val="99000"/>
              <a:buFont typeface="Wingdings" pitchFamily="2" charset="2"/>
              <a:buChar char="§"/>
            </a:pPr>
            <a:r>
              <a:rPr lang="en-IN" sz="1050" b="1">
                <a:effectLst/>
              </a:rPr>
              <a:t>Improved Discoverability </a:t>
            </a:r>
            <a:r>
              <a:rPr lang="en-IN" sz="1050">
                <a:effectLst/>
              </a:rPr>
              <a:t>so that the content is easily searchable across platforms, streaming services, and electronic program guides through standardized metadata tags.</a:t>
            </a:r>
          </a:p>
        </p:txBody>
      </p:sp>
      <p:sp>
        <p:nvSpPr>
          <p:cNvPr id="26" name="Rectangle 25">
            <a:extLst>
              <a:ext uri="{FF2B5EF4-FFF2-40B4-BE49-F238E27FC236}">
                <a16:creationId xmlns:a16="http://schemas.microsoft.com/office/drawing/2014/main" id="{F09442C3-0414-3E51-3046-C02A07C0E5E3}"/>
              </a:ext>
              <a:ext uri="{C183D7F6-B498-43B3-948B-1728B52AA6E4}">
                <adec:decorative xmlns:adec="http://schemas.microsoft.com/office/drawing/2017/decorative" val="1"/>
              </a:ext>
            </a:extLst>
          </p:cNvPr>
          <p:cNvSpPr/>
          <p:nvPr/>
        </p:nvSpPr>
        <p:spPr>
          <a:xfrm rot="10800000">
            <a:off x="520406" y="2756886"/>
            <a:ext cx="7771419"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7" name="Rectangle 26">
            <a:extLst>
              <a:ext uri="{FF2B5EF4-FFF2-40B4-BE49-F238E27FC236}">
                <a16:creationId xmlns:a16="http://schemas.microsoft.com/office/drawing/2014/main" id="{7E49C107-9DC2-D974-0F72-310835A470AF}"/>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METADATA</a:t>
            </a:r>
          </a:p>
        </p:txBody>
      </p:sp>
    </p:spTree>
    <p:extLst>
      <p:ext uri="{BB962C8B-B14F-4D97-AF65-F5344CB8AC3E}">
        <p14:creationId xmlns:p14="http://schemas.microsoft.com/office/powerpoint/2010/main" val="572376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35F7C201-A396-176A-EE89-B9EF640B4C1F}"/>
              </a:ext>
            </a:extLst>
          </p:cNvPr>
          <p:cNvSpPr/>
          <p:nvPr/>
        </p:nvSpPr>
        <p:spPr>
          <a:xfrm>
            <a:off x="1524" y="1700808"/>
            <a:ext cx="12190476" cy="3992055"/>
          </a:xfrm>
          <a:prstGeom prst="rect">
            <a:avLst/>
          </a:prstGeom>
          <a:solidFill>
            <a:srgbClr val="F6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09454B32-C98A-F4F9-E005-82528575104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CACB34B-C708-54A3-400F-6DFCEB488294}"/>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7B310072-6C55-7857-88B7-367E9258DCE6}"/>
              </a:ext>
            </a:extLst>
          </p:cNvPr>
          <p:cNvSpPr>
            <a:spLocks noGrp="1"/>
          </p:cNvSpPr>
          <p:nvPr>
            <p:ph type="sldNum" sz="quarter" idx="30"/>
          </p:nvPr>
        </p:nvSpPr>
        <p:spPr/>
        <p:txBody>
          <a:bodyPr/>
          <a:lstStyle/>
          <a:p>
            <a:pPr algn="r"/>
            <a:fld id="{5D9A5160-6218-4E5A-B9E6-B93E3DAE377C}" type="slidenum">
              <a:rPr lang="en-US" smtClean="0"/>
              <a:pPr algn="r"/>
              <a:t>18</a:t>
            </a:fld>
            <a:endParaRPr lang="en-US"/>
          </a:p>
        </p:txBody>
      </p:sp>
      <p:sp>
        <p:nvSpPr>
          <p:cNvPr id="5" name="Title 4">
            <a:extLst>
              <a:ext uri="{FF2B5EF4-FFF2-40B4-BE49-F238E27FC236}">
                <a16:creationId xmlns:a16="http://schemas.microsoft.com/office/drawing/2014/main" id="{FF67E907-F95F-164F-4543-CBC65EEF9F58}"/>
              </a:ext>
            </a:extLst>
          </p:cNvPr>
          <p:cNvSpPr>
            <a:spLocks noGrp="1"/>
          </p:cNvSpPr>
          <p:nvPr>
            <p:ph type="title"/>
          </p:nvPr>
        </p:nvSpPr>
        <p:spPr/>
        <p:txBody>
          <a:bodyPr/>
          <a:lstStyle/>
          <a:p>
            <a:r>
              <a:rPr lang="en-US"/>
              <a:t>A robust metadata strategy underpins live, archive and scripted programming</a:t>
            </a:r>
          </a:p>
        </p:txBody>
      </p:sp>
      <p:grpSp>
        <p:nvGrpSpPr>
          <p:cNvPr id="6" name="Group 5">
            <a:extLst>
              <a:ext uri="{FF2B5EF4-FFF2-40B4-BE49-F238E27FC236}">
                <a16:creationId xmlns:a16="http://schemas.microsoft.com/office/drawing/2014/main" id="{F656B5EA-A279-9580-6095-BD386875C4B3}"/>
              </a:ext>
            </a:extLst>
          </p:cNvPr>
          <p:cNvGrpSpPr/>
          <p:nvPr/>
        </p:nvGrpSpPr>
        <p:grpSpPr>
          <a:xfrm>
            <a:off x="613431" y="1935982"/>
            <a:ext cx="1777833" cy="3420554"/>
            <a:chOff x="613431" y="1935982"/>
            <a:chExt cx="1777833" cy="3420554"/>
          </a:xfrm>
        </p:grpSpPr>
        <p:sp>
          <p:nvSpPr>
            <p:cNvPr id="7" name="TextBox 6">
              <a:extLst>
                <a:ext uri="{FF2B5EF4-FFF2-40B4-BE49-F238E27FC236}">
                  <a16:creationId xmlns:a16="http://schemas.microsoft.com/office/drawing/2014/main" id="{E4812927-7173-1055-5134-C2A5F97057AD}"/>
                </a:ext>
              </a:extLst>
            </p:cNvPr>
            <p:cNvSpPr txBox="1"/>
            <p:nvPr/>
          </p:nvSpPr>
          <p:spPr>
            <a:xfrm>
              <a:off x="613431" y="1935982"/>
              <a:ext cx="1119600"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57150" lvl="0" indent="0" algn="l" defTabSz="1282700" rtl="0" eaLnBrk="1" fontAlgn="auto" latinLnBrk="0" hangingPunct="0">
                <a:lnSpc>
                  <a:spcPct val="80000"/>
                </a:lnSpc>
                <a:spcBef>
                  <a:spcPts val="0"/>
                </a:spcBef>
                <a:spcAft>
                  <a:spcPts val="0"/>
                </a:spcAft>
                <a:buClrTx/>
                <a:buSzTx/>
                <a:buFontTx/>
                <a:buNone/>
                <a:tabLst/>
                <a:defRPr/>
              </a:pPr>
              <a:r>
                <a:rPr lang="en-IN" sz="4800">
                  <a:solidFill>
                    <a:schemeClr val="bg1">
                      <a:lumMod val="85000"/>
                    </a:schemeClr>
                  </a:solidFill>
                  <a:uFill>
                    <a:solidFill>
                      <a:srgbClr val="929292">
                        <a:lumOff val="-57413"/>
                      </a:srgbClr>
                    </a:solidFill>
                  </a:uFill>
                  <a:latin typeface="+mj-lt"/>
                  <a:sym typeface="BentonSansF Book"/>
                </a:rPr>
                <a:t>0</a:t>
              </a:r>
              <a:r>
                <a:rPr kumimoji="0" lang="en-IN" sz="4800" b="0" i="0" u="none" strike="noStrike" kern="1200" cap="none" spc="0" normalizeH="0" baseline="0" noProof="0">
                  <a:ln>
                    <a:noFill/>
                  </a:ln>
                  <a:solidFill>
                    <a:schemeClr val="bg1">
                      <a:lumMod val="85000"/>
                    </a:schemeClr>
                  </a:solidFill>
                  <a:effectLst/>
                  <a:uLnTx/>
                  <a:uFill>
                    <a:solidFill>
                      <a:srgbClr val="929292">
                        <a:lumOff val="-57413"/>
                      </a:srgbClr>
                    </a:solidFill>
                  </a:uFill>
                  <a:latin typeface="+mj-lt"/>
                  <a:ea typeface="+mn-ea"/>
                  <a:cs typeface="+mn-cs"/>
                  <a:sym typeface="BentonSansF Book"/>
                </a:rPr>
                <a:t>1</a:t>
              </a:r>
            </a:p>
          </p:txBody>
        </p:sp>
        <p:sp>
          <p:nvSpPr>
            <p:cNvPr id="8" name="TextBox 7">
              <a:extLst>
                <a:ext uri="{FF2B5EF4-FFF2-40B4-BE49-F238E27FC236}">
                  <a16:creationId xmlns:a16="http://schemas.microsoft.com/office/drawing/2014/main" id="{21F7D196-0F16-B898-AE6A-CD8738798987}"/>
                </a:ext>
              </a:extLst>
            </p:cNvPr>
            <p:cNvSpPr txBox="1"/>
            <p:nvPr/>
          </p:nvSpPr>
          <p:spPr>
            <a:xfrm>
              <a:off x="613433" y="2642822"/>
              <a:ext cx="175592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j-lt"/>
                  <a:ea typeface="+mn-ea"/>
                  <a:cs typeface="+mn-cs"/>
                </a:rPr>
                <a:t>Separate Live‑Critical vs Enrichment Tags</a:t>
              </a:r>
              <a:endParaRPr kumimoji="0" lang="en-IN" sz="1600" b="0" i="0" u="none" strike="noStrike" kern="1200" cap="none" spc="0" normalizeH="0" baseline="0" noProof="0">
                <a:ln>
                  <a:noFill/>
                </a:ln>
                <a:solidFill>
                  <a:prstClr val="black"/>
                </a:solidFill>
                <a:effectLst/>
                <a:uLnTx/>
                <a:uFillTx/>
                <a:latin typeface="+mj-lt"/>
                <a:ea typeface="+mn-ea"/>
                <a:cs typeface="+mn-cs"/>
              </a:endParaRPr>
            </a:p>
          </p:txBody>
        </p:sp>
        <p:sp>
          <p:nvSpPr>
            <p:cNvPr id="10" name="TextBox 9">
              <a:extLst>
                <a:ext uri="{FF2B5EF4-FFF2-40B4-BE49-F238E27FC236}">
                  <a16:creationId xmlns:a16="http://schemas.microsoft.com/office/drawing/2014/main" id="{46EF270F-A15E-AEB9-0D0F-6070B36F3F02}"/>
                </a:ext>
              </a:extLst>
            </p:cNvPr>
            <p:cNvSpPr txBox="1"/>
            <p:nvPr/>
          </p:nvSpPr>
          <p:spPr>
            <a:xfrm>
              <a:off x="613433" y="4186985"/>
              <a:ext cx="1624759" cy="1169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US"/>
              </a:defPPr>
              <a:lvl1pPr marR="0" lvl="0" indent="0" fontAlgn="auto">
                <a:lnSpc>
                  <a:spcPct val="100000"/>
                </a:lnSpc>
                <a:spcBef>
                  <a:spcPts val="0"/>
                </a:spcBef>
                <a:spcAft>
                  <a:spcPts val="0"/>
                </a:spcAft>
                <a:buClrTx/>
                <a:buSzTx/>
                <a:buFontTx/>
                <a:buNone/>
                <a:tabLst/>
                <a:defRPr sz="1000">
                  <a:solidFill>
                    <a:prstClr val="black"/>
                  </a:solidFill>
                  <a:latin typeface="BentonSansF Medium" panose="02000603040000020004"/>
                </a:defRPr>
              </a:lvl1pPr>
            </a:lstStyle>
            <a:p>
              <a:r>
                <a:rPr lang="en-IN">
                  <a:latin typeface="+mn-lt"/>
                </a:rPr>
                <a:t>Legacy systems stored static tags. Modern platforms stream changes so BI dashboards and playout lists stay current without nightly batches.</a:t>
              </a:r>
            </a:p>
          </p:txBody>
        </p:sp>
        <p:sp>
          <p:nvSpPr>
            <p:cNvPr id="31" name="Rectangle 30">
              <a:extLst>
                <a:ext uri="{FF2B5EF4-FFF2-40B4-BE49-F238E27FC236}">
                  <a16:creationId xmlns:a16="http://schemas.microsoft.com/office/drawing/2014/main" id="{E2FB8406-7430-0A9F-3A81-31EBBCB4CE08}"/>
                </a:ext>
                <a:ext uri="{C183D7F6-B498-43B3-948B-1728B52AA6E4}">
                  <adec:decorative xmlns:adec="http://schemas.microsoft.com/office/drawing/2017/decorative" val="1"/>
                </a:ext>
              </a:extLst>
            </p:cNvPr>
            <p:cNvSpPr/>
            <p:nvPr/>
          </p:nvSpPr>
          <p:spPr>
            <a:xfrm rot="10800000">
              <a:off x="613432" y="3850955"/>
              <a:ext cx="1777832" cy="95586"/>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grpSp>
      <p:grpSp>
        <p:nvGrpSpPr>
          <p:cNvPr id="9" name="Group 8">
            <a:extLst>
              <a:ext uri="{FF2B5EF4-FFF2-40B4-BE49-F238E27FC236}">
                <a16:creationId xmlns:a16="http://schemas.microsoft.com/office/drawing/2014/main" id="{8191FB04-9F40-8B25-50B8-72BEAB5FEFDD}"/>
              </a:ext>
            </a:extLst>
          </p:cNvPr>
          <p:cNvGrpSpPr/>
          <p:nvPr/>
        </p:nvGrpSpPr>
        <p:grpSpPr>
          <a:xfrm>
            <a:off x="2944496" y="1988259"/>
            <a:ext cx="1777833" cy="3293807"/>
            <a:chOff x="2944496" y="1988259"/>
            <a:chExt cx="1777833" cy="3293807"/>
          </a:xfrm>
        </p:grpSpPr>
        <p:sp>
          <p:nvSpPr>
            <p:cNvPr id="12" name="TextBox 11">
              <a:extLst>
                <a:ext uri="{FF2B5EF4-FFF2-40B4-BE49-F238E27FC236}">
                  <a16:creationId xmlns:a16="http://schemas.microsoft.com/office/drawing/2014/main" id="{8620B848-ADF6-580A-3857-DEB8C7FD7CD8}"/>
                </a:ext>
              </a:extLst>
            </p:cNvPr>
            <p:cNvSpPr txBox="1"/>
            <p:nvPr/>
          </p:nvSpPr>
          <p:spPr>
            <a:xfrm>
              <a:off x="2944496" y="1988259"/>
              <a:ext cx="1119600"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defPPr>
                <a:defRPr lang="en-PL"/>
              </a:defPPr>
              <a:lvl1pPr marR="57150" lvl="0" indent="0" defTabSz="1282700" fontAlgn="auto" hangingPunct="0">
                <a:lnSpc>
                  <a:spcPct val="80000"/>
                </a:lnSpc>
                <a:spcBef>
                  <a:spcPts val="0"/>
                </a:spcBef>
                <a:spcAft>
                  <a:spcPts val="0"/>
                </a:spcAft>
                <a:buClrTx/>
                <a:buSzTx/>
                <a:buFontTx/>
                <a:buNone/>
                <a:tabLst/>
                <a:defRPr kumimoji="0" sz="2400" b="0" i="0" u="none" strike="noStrike" cap="none" spc="0" normalizeH="0" baseline="0">
                  <a:ln>
                    <a:noFill/>
                  </a:ln>
                  <a:solidFill>
                    <a:schemeClr val="tx2"/>
                  </a:solidFill>
                  <a:effectLst/>
                  <a:uLnTx/>
                  <a:uFill>
                    <a:solidFill>
                      <a:srgbClr val="929292">
                        <a:lumOff val="-57413"/>
                      </a:srgbClr>
                    </a:solidFill>
                  </a:uFill>
                  <a:latin typeface="frog Serif" pitchFamily="2" charset="0"/>
                </a:defRPr>
              </a:lvl1pPr>
            </a:lstStyle>
            <a:p>
              <a:pPr>
                <a:defRPr/>
              </a:pPr>
              <a:r>
                <a:rPr lang="en-IN" sz="4800">
                  <a:solidFill>
                    <a:schemeClr val="bg1">
                      <a:lumMod val="85000"/>
                    </a:schemeClr>
                  </a:solidFill>
                  <a:latin typeface="+mj-lt"/>
                  <a:sym typeface="BentonSansF Book"/>
                </a:rPr>
                <a:t>02</a:t>
              </a:r>
            </a:p>
          </p:txBody>
        </p:sp>
        <p:sp>
          <p:nvSpPr>
            <p:cNvPr id="13" name="TextBox 12">
              <a:extLst>
                <a:ext uri="{FF2B5EF4-FFF2-40B4-BE49-F238E27FC236}">
                  <a16:creationId xmlns:a16="http://schemas.microsoft.com/office/drawing/2014/main" id="{A400CDF2-ABFD-495C-9019-4B0FD4235ED3}"/>
                </a:ext>
              </a:extLst>
            </p:cNvPr>
            <p:cNvSpPr txBox="1"/>
            <p:nvPr/>
          </p:nvSpPr>
          <p:spPr>
            <a:xfrm>
              <a:off x="2944497" y="2698703"/>
              <a:ext cx="175591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prstClr val="black"/>
                  </a:solidFill>
                  <a:latin typeface="+mj-lt"/>
                </a:rPr>
                <a:t>Move to Active, Real - Time Metadata</a:t>
              </a:r>
              <a:endParaRPr lang="en-IN" sz="1600">
                <a:solidFill>
                  <a:prstClr val="black"/>
                </a:solidFill>
                <a:latin typeface="+mj-lt"/>
              </a:endParaRPr>
            </a:p>
          </p:txBody>
        </p:sp>
        <p:sp>
          <p:nvSpPr>
            <p:cNvPr id="14" name="TextBox 13">
              <a:extLst>
                <a:ext uri="{FF2B5EF4-FFF2-40B4-BE49-F238E27FC236}">
                  <a16:creationId xmlns:a16="http://schemas.microsoft.com/office/drawing/2014/main" id="{F356157E-A59D-ABF7-8D18-94BB3DDD9ACC}"/>
                </a:ext>
              </a:extLst>
            </p:cNvPr>
            <p:cNvSpPr txBox="1"/>
            <p:nvPr/>
          </p:nvSpPr>
          <p:spPr>
            <a:xfrm>
              <a:off x="2944498" y="4266403"/>
              <a:ext cx="1587088"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PL"/>
              </a:defPPr>
              <a:lvl1pPr marR="0" lvl="0" indent="0" fontAlgn="auto">
                <a:lnSpc>
                  <a:spcPct val="100000"/>
                </a:lnSpc>
                <a:spcBef>
                  <a:spcPts val="0"/>
                </a:spcBef>
                <a:spcAft>
                  <a:spcPts val="0"/>
                </a:spcAft>
                <a:buClrTx/>
                <a:buSzTx/>
                <a:buFontTx/>
                <a:buNone/>
                <a:tabLst/>
                <a:defRPr sz="1000">
                  <a:solidFill>
                    <a:prstClr val="black"/>
                  </a:solidFill>
                </a:defRPr>
              </a:lvl1pPr>
            </a:lstStyle>
            <a:p>
              <a:r>
                <a:rPr lang="en-US"/>
                <a:t>Overnight log updates with real‑time metadata streams that keep playout, graphics and promo tools aligned with what’s on air.</a:t>
              </a:r>
              <a:endParaRPr lang="en-IN"/>
            </a:p>
          </p:txBody>
        </p:sp>
        <p:sp>
          <p:nvSpPr>
            <p:cNvPr id="32" name="Rectangle 31">
              <a:extLst>
                <a:ext uri="{FF2B5EF4-FFF2-40B4-BE49-F238E27FC236}">
                  <a16:creationId xmlns:a16="http://schemas.microsoft.com/office/drawing/2014/main" id="{F65DAD4A-82F4-7A52-2502-DD202F162A4D}"/>
                </a:ext>
                <a:ext uri="{C183D7F6-B498-43B3-948B-1728B52AA6E4}">
                  <adec:decorative xmlns:adec="http://schemas.microsoft.com/office/drawing/2017/decorative" val="1"/>
                </a:ext>
              </a:extLst>
            </p:cNvPr>
            <p:cNvSpPr/>
            <p:nvPr/>
          </p:nvSpPr>
          <p:spPr>
            <a:xfrm rot="10800000">
              <a:off x="2944497" y="3925426"/>
              <a:ext cx="1777832" cy="95586"/>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grpSp>
      <p:grpSp>
        <p:nvGrpSpPr>
          <p:cNvPr id="11" name="Group 10">
            <a:extLst>
              <a:ext uri="{FF2B5EF4-FFF2-40B4-BE49-F238E27FC236}">
                <a16:creationId xmlns:a16="http://schemas.microsoft.com/office/drawing/2014/main" id="{6C16B896-5724-52B4-FA16-44059FE910E0}"/>
              </a:ext>
            </a:extLst>
          </p:cNvPr>
          <p:cNvGrpSpPr/>
          <p:nvPr/>
        </p:nvGrpSpPr>
        <p:grpSpPr>
          <a:xfrm>
            <a:off x="5275561" y="1991082"/>
            <a:ext cx="1799743" cy="3288161"/>
            <a:chOff x="5275561" y="1991082"/>
            <a:chExt cx="1799743" cy="3288161"/>
          </a:xfrm>
        </p:grpSpPr>
        <p:sp>
          <p:nvSpPr>
            <p:cNvPr id="17" name="TextBox 16">
              <a:extLst>
                <a:ext uri="{FF2B5EF4-FFF2-40B4-BE49-F238E27FC236}">
                  <a16:creationId xmlns:a16="http://schemas.microsoft.com/office/drawing/2014/main" id="{2227D238-772A-DCF2-974D-E97C9737A898}"/>
                </a:ext>
              </a:extLst>
            </p:cNvPr>
            <p:cNvSpPr txBox="1"/>
            <p:nvPr/>
          </p:nvSpPr>
          <p:spPr>
            <a:xfrm>
              <a:off x="5275561" y="1991082"/>
              <a:ext cx="1119600"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defPPr>
                <a:defRPr lang="en-PL"/>
              </a:defPPr>
              <a:lvl1pPr marR="57150" lvl="0" indent="0" defTabSz="1282700" fontAlgn="auto" hangingPunct="0">
                <a:lnSpc>
                  <a:spcPct val="80000"/>
                </a:lnSpc>
                <a:spcBef>
                  <a:spcPts val="0"/>
                </a:spcBef>
                <a:spcAft>
                  <a:spcPts val="0"/>
                </a:spcAft>
                <a:buClrTx/>
                <a:buSzTx/>
                <a:buFontTx/>
                <a:buNone/>
                <a:tabLst/>
                <a:defRPr kumimoji="0" sz="2400" b="0" i="0" u="none" strike="noStrike" cap="none" spc="0" normalizeH="0" baseline="0">
                  <a:ln>
                    <a:noFill/>
                  </a:ln>
                  <a:solidFill>
                    <a:schemeClr val="tx2"/>
                  </a:solidFill>
                  <a:effectLst/>
                  <a:uLnTx/>
                  <a:uFill>
                    <a:solidFill>
                      <a:srgbClr val="929292">
                        <a:lumOff val="-57413"/>
                      </a:srgbClr>
                    </a:solidFill>
                  </a:uFill>
                  <a:latin typeface="frog Serif" pitchFamily="2" charset="0"/>
                </a:defRPr>
              </a:lvl1pPr>
            </a:lstStyle>
            <a:p>
              <a:pPr>
                <a:defRPr/>
              </a:pPr>
              <a:r>
                <a:rPr lang="en-IN" sz="4800">
                  <a:solidFill>
                    <a:schemeClr val="bg1">
                      <a:lumMod val="85000"/>
                    </a:schemeClr>
                  </a:solidFill>
                  <a:latin typeface="+mj-lt"/>
                  <a:sym typeface="BentonSansF Book"/>
                </a:rPr>
                <a:t>03</a:t>
              </a:r>
            </a:p>
          </p:txBody>
        </p:sp>
        <p:sp>
          <p:nvSpPr>
            <p:cNvPr id="18" name="TextBox 17">
              <a:extLst>
                <a:ext uri="{FF2B5EF4-FFF2-40B4-BE49-F238E27FC236}">
                  <a16:creationId xmlns:a16="http://schemas.microsoft.com/office/drawing/2014/main" id="{5E5D0E20-FE61-FE11-99F3-3C9225272BC9}"/>
                </a:ext>
              </a:extLst>
            </p:cNvPr>
            <p:cNvSpPr txBox="1"/>
            <p:nvPr/>
          </p:nvSpPr>
          <p:spPr>
            <a:xfrm>
              <a:off x="5275562" y="2700451"/>
              <a:ext cx="1777831"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a:solidFill>
                    <a:prstClr val="black"/>
                  </a:solidFill>
                  <a:latin typeface="+mj-lt"/>
                </a:rPr>
                <a:t>Adopt Hybrid / Cloud Metadata Hubs</a:t>
              </a:r>
            </a:p>
          </p:txBody>
        </p:sp>
        <p:sp>
          <p:nvSpPr>
            <p:cNvPr id="19" name="TextBox 18">
              <a:extLst>
                <a:ext uri="{FF2B5EF4-FFF2-40B4-BE49-F238E27FC236}">
                  <a16:creationId xmlns:a16="http://schemas.microsoft.com/office/drawing/2014/main" id="{04DAA0D0-5343-C231-4848-30F2A4698F43}"/>
                </a:ext>
              </a:extLst>
            </p:cNvPr>
            <p:cNvSpPr txBox="1"/>
            <p:nvPr/>
          </p:nvSpPr>
          <p:spPr>
            <a:xfrm>
              <a:off x="5275563" y="4263580"/>
              <a:ext cx="1799741"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PL"/>
              </a:defPPr>
              <a:lvl1pPr marR="0" lvl="0" indent="0" fontAlgn="auto">
                <a:lnSpc>
                  <a:spcPct val="100000"/>
                </a:lnSpc>
                <a:spcBef>
                  <a:spcPts val="0"/>
                </a:spcBef>
                <a:spcAft>
                  <a:spcPts val="0"/>
                </a:spcAft>
                <a:buClrTx/>
                <a:buSzTx/>
                <a:buFontTx/>
                <a:buNone/>
                <a:tabLst/>
                <a:defRPr sz="1000">
                  <a:solidFill>
                    <a:prstClr val="black"/>
                  </a:solidFill>
                </a:defRPr>
              </a:lvl1pPr>
            </a:lstStyle>
            <a:p>
              <a:r>
                <a:rPr lang="en-US"/>
                <a:t>Cloud or hybrid metadata services that scale around big events but integrate with existing MAM, scheduling and rights systems.</a:t>
              </a:r>
            </a:p>
          </p:txBody>
        </p:sp>
        <p:sp>
          <p:nvSpPr>
            <p:cNvPr id="33" name="Rectangle 32">
              <a:extLst>
                <a:ext uri="{FF2B5EF4-FFF2-40B4-BE49-F238E27FC236}">
                  <a16:creationId xmlns:a16="http://schemas.microsoft.com/office/drawing/2014/main" id="{1A59A811-FA1B-5438-ED88-4908E3B1281C}"/>
                </a:ext>
                <a:ext uri="{C183D7F6-B498-43B3-948B-1728B52AA6E4}">
                  <adec:decorative xmlns:adec="http://schemas.microsoft.com/office/drawing/2017/decorative" val="1"/>
                </a:ext>
              </a:extLst>
            </p:cNvPr>
            <p:cNvSpPr/>
            <p:nvPr/>
          </p:nvSpPr>
          <p:spPr>
            <a:xfrm rot="10800000">
              <a:off x="5275562" y="3922603"/>
              <a:ext cx="1777832" cy="95586"/>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grpSp>
      <p:grpSp>
        <p:nvGrpSpPr>
          <p:cNvPr id="15" name="Group 14">
            <a:extLst>
              <a:ext uri="{FF2B5EF4-FFF2-40B4-BE49-F238E27FC236}">
                <a16:creationId xmlns:a16="http://schemas.microsoft.com/office/drawing/2014/main" id="{A8A20615-0A0F-91FE-0B2C-85866F427666}"/>
              </a:ext>
            </a:extLst>
          </p:cNvPr>
          <p:cNvGrpSpPr/>
          <p:nvPr/>
        </p:nvGrpSpPr>
        <p:grpSpPr>
          <a:xfrm>
            <a:off x="7628537" y="1991966"/>
            <a:ext cx="1777832" cy="3286393"/>
            <a:chOff x="7628537" y="1991966"/>
            <a:chExt cx="1777832" cy="3286393"/>
          </a:xfrm>
        </p:grpSpPr>
        <p:sp>
          <p:nvSpPr>
            <p:cNvPr id="22" name="TextBox 21">
              <a:extLst>
                <a:ext uri="{FF2B5EF4-FFF2-40B4-BE49-F238E27FC236}">
                  <a16:creationId xmlns:a16="http://schemas.microsoft.com/office/drawing/2014/main" id="{1611410E-FAF6-6740-F18A-43CA8602452B}"/>
                </a:ext>
              </a:extLst>
            </p:cNvPr>
            <p:cNvSpPr txBox="1"/>
            <p:nvPr/>
          </p:nvSpPr>
          <p:spPr>
            <a:xfrm>
              <a:off x="7628538" y="1991966"/>
              <a:ext cx="1119600"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defPPr>
                <a:defRPr lang="en-PL"/>
              </a:defPPr>
              <a:lvl1pPr marR="57150" lvl="0" indent="0" defTabSz="1282700" fontAlgn="auto" hangingPunct="0">
                <a:lnSpc>
                  <a:spcPct val="80000"/>
                </a:lnSpc>
                <a:spcBef>
                  <a:spcPts val="0"/>
                </a:spcBef>
                <a:spcAft>
                  <a:spcPts val="0"/>
                </a:spcAft>
                <a:buClrTx/>
                <a:buSzTx/>
                <a:buFontTx/>
                <a:buNone/>
                <a:tabLst/>
                <a:defRPr kumimoji="0" sz="2400" b="0" i="0" u="none" strike="noStrike" cap="none" spc="0" normalizeH="0" baseline="0">
                  <a:ln>
                    <a:noFill/>
                  </a:ln>
                  <a:solidFill>
                    <a:schemeClr val="tx2"/>
                  </a:solidFill>
                  <a:effectLst/>
                  <a:uLnTx/>
                  <a:uFill>
                    <a:solidFill>
                      <a:srgbClr val="929292">
                        <a:lumOff val="-57413"/>
                      </a:srgbClr>
                    </a:solidFill>
                  </a:uFill>
                  <a:latin typeface="frog Serif" pitchFamily="2" charset="0"/>
                </a:defRPr>
              </a:lvl1pPr>
            </a:lstStyle>
            <a:p>
              <a:pPr>
                <a:defRPr/>
              </a:pPr>
              <a:r>
                <a:rPr lang="en-IN" sz="4800">
                  <a:solidFill>
                    <a:schemeClr val="bg1">
                      <a:lumMod val="85000"/>
                    </a:schemeClr>
                  </a:solidFill>
                  <a:latin typeface="+mj-lt"/>
                  <a:sym typeface="BentonSansF Book"/>
                </a:rPr>
                <a:t>04</a:t>
              </a:r>
            </a:p>
          </p:txBody>
        </p:sp>
        <p:sp>
          <p:nvSpPr>
            <p:cNvPr id="23" name="TextBox 22">
              <a:extLst>
                <a:ext uri="{FF2B5EF4-FFF2-40B4-BE49-F238E27FC236}">
                  <a16:creationId xmlns:a16="http://schemas.microsoft.com/office/drawing/2014/main" id="{EFE6CB15-9E22-B0CF-8E3C-28EECB3BCF6D}"/>
                </a:ext>
              </a:extLst>
            </p:cNvPr>
            <p:cNvSpPr txBox="1"/>
            <p:nvPr/>
          </p:nvSpPr>
          <p:spPr>
            <a:xfrm>
              <a:off x="7628538" y="2706981"/>
              <a:ext cx="1755918"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prstClr val="black"/>
                  </a:solidFill>
                  <a:latin typeface="+mj-lt"/>
                </a:rPr>
                <a:t>Make Data AI‑Ready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prstClr val="black"/>
                  </a:solidFill>
                  <a:latin typeface="+mj-lt"/>
                </a:rPr>
                <a:t>and Searchable</a:t>
              </a:r>
              <a:endParaRPr lang="en-IN" sz="1600">
                <a:solidFill>
                  <a:prstClr val="black"/>
                </a:solidFill>
                <a:latin typeface="+mj-lt"/>
              </a:endParaRPr>
            </a:p>
          </p:txBody>
        </p:sp>
        <p:sp>
          <p:nvSpPr>
            <p:cNvPr id="24" name="TextBox 23">
              <a:extLst>
                <a:ext uri="{FF2B5EF4-FFF2-40B4-BE49-F238E27FC236}">
                  <a16:creationId xmlns:a16="http://schemas.microsoft.com/office/drawing/2014/main" id="{6C30D0B2-0B55-4533-71A8-CE8DBC298268}"/>
                </a:ext>
              </a:extLst>
            </p:cNvPr>
            <p:cNvSpPr txBox="1"/>
            <p:nvPr/>
          </p:nvSpPr>
          <p:spPr>
            <a:xfrm>
              <a:off x="7628538" y="4262696"/>
              <a:ext cx="1671386"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PL"/>
              </a:defPPr>
              <a:lvl1pPr marR="0" lvl="0" indent="0" fontAlgn="auto">
                <a:lnSpc>
                  <a:spcPct val="100000"/>
                </a:lnSpc>
                <a:spcBef>
                  <a:spcPts val="0"/>
                </a:spcBef>
                <a:spcAft>
                  <a:spcPts val="0"/>
                </a:spcAft>
                <a:buClrTx/>
                <a:buSzTx/>
                <a:buFontTx/>
                <a:buNone/>
                <a:tabLst/>
                <a:defRPr sz="1000">
                  <a:solidFill>
                    <a:prstClr val="black"/>
                  </a:solidFill>
                </a:defRPr>
              </a:lvl1pPr>
            </a:lstStyle>
            <a:p>
              <a:r>
                <a:rPr lang="en-US"/>
                <a:t>Clean, labeled archives as training data and give editors, producers and commentators self‑service search into past seasons.</a:t>
              </a:r>
            </a:p>
          </p:txBody>
        </p:sp>
        <p:sp>
          <p:nvSpPr>
            <p:cNvPr id="34" name="Rectangle 33">
              <a:extLst>
                <a:ext uri="{FF2B5EF4-FFF2-40B4-BE49-F238E27FC236}">
                  <a16:creationId xmlns:a16="http://schemas.microsoft.com/office/drawing/2014/main" id="{DD76D3DE-63AB-4D36-4887-55D8692551B8}"/>
                </a:ext>
                <a:ext uri="{C183D7F6-B498-43B3-948B-1728B52AA6E4}">
                  <adec:decorative xmlns:adec="http://schemas.microsoft.com/office/drawing/2017/decorative" val="1"/>
                </a:ext>
              </a:extLst>
            </p:cNvPr>
            <p:cNvSpPr/>
            <p:nvPr/>
          </p:nvSpPr>
          <p:spPr>
            <a:xfrm rot="10800000">
              <a:off x="7628537" y="3929133"/>
              <a:ext cx="1777832" cy="95586"/>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grpSp>
      <p:grpSp>
        <p:nvGrpSpPr>
          <p:cNvPr id="16" name="Group 15">
            <a:extLst>
              <a:ext uri="{FF2B5EF4-FFF2-40B4-BE49-F238E27FC236}">
                <a16:creationId xmlns:a16="http://schemas.microsoft.com/office/drawing/2014/main" id="{68448505-80A3-76B7-18D2-BA6776BA920A}"/>
              </a:ext>
            </a:extLst>
          </p:cNvPr>
          <p:cNvGrpSpPr/>
          <p:nvPr/>
        </p:nvGrpSpPr>
        <p:grpSpPr>
          <a:xfrm>
            <a:off x="9959603" y="1921635"/>
            <a:ext cx="1777832" cy="3427055"/>
            <a:chOff x="9959603" y="1921635"/>
            <a:chExt cx="1777832" cy="3427055"/>
          </a:xfrm>
        </p:grpSpPr>
        <p:sp>
          <p:nvSpPr>
            <p:cNvPr id="27" name="TextBox 26">
              <a:extLst>
                <a:ext uri="{FF2B5EF4-FFF2-40B4-BE49-F238E27FC236}">
                  <a16:creationId xmlns:a16="http://schemas.microsoft.com/office/drawing/2014/main" id="{CD1A86BF-FE2D-3890-3353-BA11A8D6F4D6}"/>
                </a:ext>
              </a:extLst>
            </p:cNvPr>
            <p:cNvSpPr txBox="1"/>
            <p:nvPr/>
          </p:nvSpPr>
          <p:spPr>
            <a:xfrm>
              <a:off x="9959604" y="4179139"/>
              <a:ext cx="1671385" cy="1169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PL"/>
              </a:defPPr>
              <a:lvl1pPr marR="0" lvl="0" indent="0" fontAlgn="auto">
                <a:lnSpc>
                  <a:spcPct val="100000"/>
                </a:lnSpc>
                <a:spcBef>
                  <a:spcPts val="0"/>
                </a:spcBef>
                <a:spcAft>
                  <a:spcPts val="0"/>
                </a:spcAft>
                <a:buClrTx/>
                <a:buSzTx/>
                <a:buFontTx/>
                <a:buNone/>
                <a:tabLst/>
                <a:defRPr sz="1000">
                  <a:solidFill>
                    <a:prstClr val="black"/>
                  </a:solidFill>
                </a:defRPr>
              </a:lvl1pPr>
            </a:lstStyle>
            <a:p>
              <a:r>
                <a:rPr lang="en-US"/>
                <a:t>Open schemas and broadcast standards so metadata flows cleanly across newsroom, playout, graphics and rights tools without lock‑in.</a:t>
              </a:r>
            </a:p>
          </p:txBody>
        </p:sp>
        <p:sp>
          <p:nvSpPr>
            <p:cNvPr id="28" name="TextBox 27">
              <a:extLst>
                <a:ext uri="{FF2B5EF4-FFF2-40B4-BE49-F238E27FC236}">
                  <a16:creationId xmlns:a16="http://schemas.microsoft.com/office/drawing/2014/main" id="{28D9DF00-6FAE-2D70-E1DB-D2580BD9FE98}"/>
                </a:ext>
              </a:extLst>
            </p:cNvPr>
            <p:cNvSpPr txBox="1"/>
            <p:nvPr/>
          </p:nvSpPr>
          <p:spPr>
            <a:xfrm>
              <a:off x="9959604" y="1921635"/>
              <a:ext cx="1119600" cy="6935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defPPr>
                <a:defRPr lang="en-PL"/>
              </a:defPPr>
              <a:lvl1pPr marR="57150" lvl="0" indent="0" defTabSz="1282700" fontAlgn="auto" hangingPunct="0">
                <a:lnSpc>
                  <a:spcPct val="80000"/>
                </a:lnSpc>
                <a:spcBef>
                  <a:spcPts val="0"/>
                </a:spcBef>
                <a:spcAft>
                  <a:spcPts val="0"/>
                </a:spcAft>
                <a:buClrTx/>
                <a:buSzTx/>
                <a:buFontTx/>
                <a:buNone/>
                <a:tabLst/>
                <a:defRPr kumimoji="0" sz="2400" b="0" i="0" u="none" strike="noStrike" cap="none" spc="0" normalizeH="0" baseline="0">
                  <a:ln>
                    <a:noFill/>
                  </a:ln>
                  <a:solidFill>
                    <a:schemeClr val="tx2"/>
                  </a:solidFill>
                  <a:effectLst/>
                  <a:uLnTx/>
                  <a:uFill>
                    <a:solidFill>
                      <a:srgbClr val="929292">
                        <a:lumOff val="-57413"/>
                      </a:srgbClr>
                    </a:solidFill>
                  </a:uFill>
                  <a:latin typeface="frog Serif" pitchFamily="2" charset="0"/>
                </a:defRPr>
              </a:lvl1pPr>
            </a:lstStyle>
            <a:p>
              <a:pPr>
                <a:defRPr/>
              </a:pPr>
              <a:r>
                <a:rPr lang="en-IN" sz="4800">
                  <a:solidFill>
                    <a:schemeClr val="bg1">
                      <a:lumMod val="85000"/>
                    </a:schemeClr>
                  </a:solidFill>
                  <a:latin typeface="+mj-lt"/>
                  <a:sym typeface="BentonSansF Book"/>
                </a:rPr>
                <a:t>05</a:t>
              </a:r>
            </a:p>
          </p:txBody>
        </p:sp>
        <p:sp>
          <p:nvSpPr>
            <p:cNvPr id="29" name="TextBox 28">
              <a:extLst>
                <a:ext uri="{FF2B5EF4-FFF2-40B4-BE49-F238E27FC236}">
                  <a16:creationId xmlns:a16="http://schemas.microsoft.com/office/drawing/2014/main" id="{0B5BA5E9-3B7B-FCDF-E3A6-DEBB954BA3B4}"/>
                </a:ext>
              </a:extLst>
            </p:cNvPr>
            <p:cNvSpPr txBox="1"/>
            <p:nvPr/>
          </p:nvSpPr>
          <p:spPr>
            <a:xfrm>
              <a:off x="9959603" y="2613777"/>
              <a:ext cx="1777831"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a:solidFill>
                    <a:prstClr val="black"/>
                  </a:solidFill>
                  <a:latin typeface="+mj-lt"/>
                </a:rPr>
                <a:t>Build on Interoperable Standards</a:t>
              </a:r>
            </a:p>
          </p:txBody>
        </p:sp>
        <p:sp>
          <p:nvSpPr>
            <p:cNvPr id="35" name="Rectangle 34">
              <a:extLst>
                <a:ext uri="{FF2B5EF4-FFF2-40B4-BE49-F238E27FC236}">
                  <a16:creationId xmlns:a16="http://schemas.microsoft.com/office/drawing/2014/main" id="{CAD0468A-C2EA-30E2-B6CC-F4A7CC5A66FD}"/>
                </a:ext>
                <a:ext uri="{C183D7F6-B498-43B3-948B-1728B52AA6E4}">
                  <adec:decorative xmlns:adec="http://schemas.microsoft.com/office/drawing/2017/decorative" val="1"/>
                </a:ext>
              </a:extLst>
            </p:cNvPr>
            <p:cNvSpPr/>
            <p:nvPr/>
          </p:nvSpPr>
          <p:spPr>
            <a:xfrm rot="10800000">
              <a:off x="9959603" y="3844500"/>
              <a:ext cx="1777832" cy="95586"/>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grpSp>
      <p:sp>
        <p:nvSpPr>
          <p:cNvPr id="42" name="Rectangle 41">
            <a:extLst>
              <a:ext uri="{FF2B5EF4-FFF2-40B4-BE49-F238E27FC236}">
                <a16:creationId xmlns:a16="http://schemas.microsoft.com/office/drawing/2014/main" id="{AEDDA267-6FA6-28EE-335B-189EDE3CE905}"/>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METADATA</a:t>
            </a:r>
          </a:p>
        </p:txBody>
      </p:sp>
    </p:spTree>
    <p:extLst>
      <p:ext uri="{BB962C8B-B14F-4D97-AF65-F5344CB8AC3E}">
        <p14:creationId xmlns:p14="http://schemas.microsoft.com/office/powerpoint/2010/main" val="2096024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DCE4-E375-D739-7444-5C8387B31849}"/>
            </a:ext>
          </a:extLst>
        </p:cNvPr>
        <p:cNvGrpSpPr/>
        <p:nvPr/>
      </p:nvGrpSpPr>
      <p:grpSpPr>
        <a:xfrm>
          <a:off x="0" y="0"/>
          <a:ext cx="0" cy="0"/>
          <a:chOff x="0" y="0"/>
          <a:chExt cx="0" cy="0"/>
        </a:xfrm>
      </p:grpSpPr>
      <p:pic>
        <p:nvPicPr>
          <p:cNvPr id="14" name="Picture Placeholder 13" descr="A blue and white background with leaves&#10;">
            <a:extLst>
              <a:ext uri="{FF2B5EF4-FFF2-40B4-BE49-F238E27FC236}">
                <a16:creationId xmlns:a16="http://schemas.microsoft.com/office/drawing/2014/main" id="{5E33B987-163F-F705-3561-091CA5E27B73}"/>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 y="0"/>
            <a:ext cx="12192001" cy="6858000"/>
          </a:xfrm>
        </p:spPr>
      </p:pic>
      <p:sp>
        <p:nvSpPr>
          <p:cNvPr id="10" name="Text Placeholder 9">
            <a:extLst>
              <a:ext uri="{FF2B5EF4-FFF2-40B4-BE49-F238E27FC236}">
                <a16:creationId xmlns:a16="http://schemas.microsoft.com/office/drawing/2014/main" id="{4DF36C43-F104-90A3-9198-D574ECCA7F86}"/>
              </a:ext>
            </a:extLst>
          </p:cNvPr>
          <p:cNvSpPr>
            <a:spLocks noGrp="1"/>
          </p:cNvSpPr>
          <p:nvPr>
            <p:ph type="body" sz="quarter" idx="19"/>
          </p:nvPr>
        </p:nvSpPr>
        <p:spPr>
          <a:xfrm>
            <a:off x="0" y="0"/>
            <a:ext cx="4657725" cy="6858000"/>
          </a:xfrm>
        </p:spPr>
        <p:txBody>
          <a:bodyPr/>
          <a:lstStyle/>
          <a:p>
            <a:r>
              <a:rPr lang="en-US">
                <a:latin typeface="+mj-lt"/>
              </a:rPr>
              <a:t>3</a:t>
            </a:r>
          </a:p>
        </p:txBody>
      </p:sp>
      <p:sp>
        <p:nvSpPr>
          <p:cNvPr id="25" name="Date Placeholder 24">
            <a:extLst>
              <a:ext uri="{FF2B5EF4-FFF2-40B4-BE49-F238E27FC236}">
                <a16:creationId xmlns:a16="http://schemas.microsoft.com/office/drawing/2014/main" id="{834184BA-C955-31C5-DBC6-FD79CC7FD455}"/>
              </a:ext>
            </a:extLst>
          </p:cNvPr>
          <p:cNvSpPr>
            <a:spLocks noGrp="1"/>
          </p:cNvSpPr>
          <p:nvPr>
            <p:ph type="dt" sz="half" idx="20"/>
          </p:nvPr>
        </p:nvSpPr>
        <p:spPr>
          <a:xfrm>
            <a:off x="9809927" y="6650661"/>
            <a:ext cx="1831210" cy="123111"/>
          </a:xfrm>
        </p:spPr>
        <p:txBody>
          <a:bodyPr/>
          <a:lstStyle/>
          <a:p>
            <a:r>
              <a:rPr lang="en-US"/>
              <a:t>Company Confidential © Capgemini 2026. All rights reserved.</a:t>
            </a:r>
          </a:p>
        </p:txBody>
      </p:sp>
      <p:sp>
        <p:nvSpPr>
          <p:cNvPr id="26" name="Footer Placeholder 25">
            <a:extLst>
              <a:ext uri="{FF2B5EF4-FFF2-40B4-BE49-F238E27FC236}">
                <a16:creationId xmlns:a16="http://schemas.microsoft.com/office/drawing/2014/main" id="{6939EE3A-9282-E5EE-D210-D9F02AD6B2E1}"/>
              </a:ext>
            </a:extLst>
          </p:cNvPr>
          <p:cNvSpPr>
            <a:spLocks noGrp="1"/>
          </p:cNvSpPr>
          <p:nvPr>
            <p:ph type="ftr" sz="quarter" idx="21"/>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27" name="Slide Number Placeholder 26">
            <a:extLst>
              <a:ext uri="{FF2B5EF4-FFF2-40B4-BE49-F238E27FC236}">
                <a16:creationId xmlns:a16="http://schemas.microsoft.com/office/drawing/2014/main" id="{202A4FCF-DCB4-116E-5495-E5B14D6CA7D4}"/>
              </a:ext>
            </a:extLst>
          </p:cNvPr>
          <p:cNvSpPr>
            <a:spLocks noGrp="1"/>
          </p:cNvSpPr>
          <p:nvPr>
            <p:ph type="sldNum" sz="quarter" idx="22"/>
          </p:nvPr>
        </p:nvSpPr>
        <p:spPr>
          <a:xfrm>
            <a:off x="11778341" y="6650661"/>
            <a:ext cx="232665" cy="123111"/>
          </a:xfrm>
        </p:spPr>
        <p:txBody>
          <a:bodyPr/>
          <a:lstStyle/>
          <a:p>
            <a:fld id="{5D9A5160-6218-4E5A-B9E6-B93E3DAE377C}" type="slidenum">
              <a:rPr lang="en-US" smtClean="0"/>
              <a:pPr/>
              <a:t>19</a:t>
            </a:fld>
            <a:endParaRPr lang="en-US"/>
          </a:p>
        </p:txBody>
      </p:sp>
      <p:sp>
        <p:nvSpPr>
          <p:cNvPr id="22" name="Title 21">
            <a:extLst>
              <a:ext uri="{FF2B5EF4-FFF2-40B4-BE49-F238E27FC236}">
                <a16:creationId xmlns:a16="http://schemas.microsoft.com/office/drawing/2014/main" id="{1FDC0A48-C117-3EC4-7EC2-63890AE3D66C}"/>
              </a:ext>
            </a:extLst>
          </p:cNvPr>
          <p:cNvSpPr>
            <a:spLocks noGrp="1"/>
          </p:cNvSpPr>
          <p:nvPr>
            <p:ph type="title"/>
          </p:nvPr>
        </p:nvSpPr>
        <p:spPr>
          <a:xfrm>
            <a:off x="5159374" y="4658810"/>
            <a:ext cx="6487665" cy="1672542"/>
          </a:xfrm>
        </p:spPr>
        <p:txBody>
          <a:bodyPr/>
          <a:lstStyle/>
          <a:p>
            <a:r>
              <a:rPr lang="en-US"/>
              <a:t>Data Estate for Sports Broadcasting</a:t>
            </a:r>
          </a:p>
        </p:txBody>
      </p:sp>
      <p:sp>
        <p:nvSpPr>
          <p:cNvPr id="24" name="Text Placeholder 23">
            <a:extLst>
              <a:ext uri="{FF2B5EF4-FFF2-40B4-BE49-F238E27FC236}">
                <a16:creationId xmlns:a16="http://schemas.microsoft.com/office/drawing/2014/main" id="{FCC13CFD-1622-8328-9BD5-40929C7D9722}"/>
              </a:ext>
            </a:extLst>
          </p:cNvPr>
          <p:cNvSpPr>
            <a:spLocks noGrp="1"/>
          </p:cNvSpPr>
          <p:nvPr>
            <p:ph type="body" sz="quarter" idx="40"/>
          </p:nvPr>
        </p:nvSpPr>
        <p:spPr/>
        <p:txBody>
          <a:bodyPr/>
          <a:lstStyle/>
          <a:p>
            <a:endParaRPr lang="en-US"/>
          </a:p>
        </p:txBody>
      </p:sp>
      <p:sp>
        <p:nvSpPr>
          <p:cNvPr id="30" name="Rectangle 29">
            <a:extLst>
              <a:ext uri="{FF2B5EF4-FFF2-40B4-BE49-F238E27FC236}">
                <a16:creationId xmlns:a16="http://schemas.microsoft.com/office/drawing/2014/main" id="{8FFFF3E5-6D26-1539-C791-B161CB273FF9}"/>
              </a:ext>
              <a:ext uri="{C183D7F6-B498-43B3-948B-1728B52AA6E4}">
                <adec:decorative xmlns:adec="http://schemas.microsoft.com/office/drawing/2017/decorative" val="1"/>
              </a:ext>
            </a:extLst>
          </p:cNvPr>
          <p:cNvSpPr/>
          <p:nvPr/>
        </p:nvSpPr>
        <p:spPr>
          <a:xfrm>
            <a:off x="5159374" y="4107976"/>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3" name="Rectangle 2">
            <a:extLst>
              <a:ext uri="{FF2B5EF4-FFF2-40B4-BE49-F238E27FC236}">
                <a16:creationId xmlns:a16="http://schemas.microsoft.com/office/drawing/2014/main" id="{545F45CD-8EA4-3016-F332-C4E2AA465086}"/>
              </a:ext>
            </a:extLst>
          </p:cNvPr>
          <p:cNvSpPr/>
          <p:nvPr/>
        </p:nvSpPr>
        <p:spPr>
          <a:xfrm>
            <a:off x="8380317" y="6650661"/>
            <a:ext cx="1427434" cy="123111"/>
          </a:xfrm>
          <a:prstGeom prst="rect">
            <a:avLst/>
          </a:prstGeom>
        </p:spPr>
        <p:txBody>
          <a:bodyPr wrap="none" lIns="0" tIns="0" rIns="0" bIns="0" anchor="ctr" anchorCtr="0">
            <a:noAutofit/>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0" cap="none" spc="0" normalizeH="0" baseline="0" noProof="0">
                <a:ln>
                  <a:noFill/>
                </a:ln>
                <a:solidFill>
                  <a:srgbClr val="FFFFFF">
                    <a:lumMod val="65000"/>
                  </a:srgbClr>
                </a:solidFill>
                <a:effectLst/>
                <a:uLnTx/>
                <a:uFillTx/>
                <a:latin typeface="Ubuntu"/>
                <a:ea typeface="+mn-ea"/>
                <a:cs typeface="+mn-cs"/>
              </a:rPr>
              <a:t>Company Confidential</a:t>
            </a:r>
          </a:p>
        </p:txBody>
      </p:sp>
      <p:sp>
        <p:nvSpPr>
          <p:cNvPr id="4" name="Text Placeholder 3">
            <a:extLst>
              <a:ext uri="{FF2B5EF4-FFF2-40B4-BE49-F238E27FC236}">
                <a16:creationId xmlns:a16="http://schemas.microsoft.com/office/drawing/2014/main" id="{3B1BDF50-0BE8-50B5-0C51-45A9A4AB8DAE}"/>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984869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375D-5137-639F-AFB7-F077FFC228D1}"/>
            </a:ext>
          </a:extLst>
        </p:cNvPr>
        <p:cNvGrpSpPr/>
        <p:nvPr/>
      </p:nvGrpSpPr>
      <p:grpSpPr>
        <a:xfrm>
          <a:off x="0" y="0"/>
          <a:ext cx="0" cy="0"/>
          <a:chOff x="0" y="0"/>
          <a:chExt cx="0" cy="0"/>
        </a:xfrm>
      </p:grpSpPr>
      <p:pic>
        <p:nvPicPr>
          <p:cNvPr id="8" name="Picture 7" descr="Person wearing football helmet">
            <a:extLst>
              <a:ext uri="{FF2B5EF4-FFF2-40B4-BE49-F238E27FC236}">
                <a16:creationId xmlns:a16="http://schemas.microsoft.com/office/drawing/2014/main" id="{A13C4EA4-4FC2-5B0A-7401-A7DEA917598B}"/>
              </a:ext>
            </a:extLst>
          </p:cNvPr>
          <p:cNvPicPr>
            <a:picLocks noChangeAspect="1"/>
          </p:cNvPicPr>
          <p:nvPr/>
        </p:nvPicPr>
        <p:blipFill>
          <a:blip r:embed="rId2"/>
          <a:srcRect t="7832" b="7832"/>
          <a:stretch/>
        </p:blipFill>
        <p:spPr>
          <a:xfrm>
            <a:off x="5907" y="12730"/>
            <a:ext cx="12197575" cy="6858000"/>
          </a:xfrm>
          <a:prstGeom prst="rect">
            <a:avLst/>
          </a:prstGeom>
        </p:spPr>
      </p:pic>
      <p:sp>
        <p:nvSpPr>
          <p:cNvPr id="2" name="Date Placeholder 1">
            <a:extLst>
              <a:ext uri="{FF2B5EF4-FFF2-40B4-BE49-F238E27FC236}">
                <a16:creationId xmlns:a16="http://schemas.microsoft.com/office/drawing/2014/main" id="{88C1B9D6-FFE8-2A3C-4F75-5B566BF4A5E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8EC3ABF-A59B-400E-419E-E03EA7627FC5}"/>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B4ADE46F-88FE-F0B9-A319-5A9304E8BE2A}"/>
              </a:ext>
            </a:extLst>
          </p:cNvPr>
          <p:cNvSpPr>
            <a:spLocks noGrp="1"/>
          </p:cNvSpPr>
          <p:nvPr>
            <p:ph type="sldNum" sz="quarter" idx="30"/>
          </p:nvPr>
        </p:nvSpPr>
        <p:spPr/>
        <p:txBody>
          <a:bodyPr/>
          <a:lstStyle/>
          <a:p>
            <a:pPr algn="r"/>
            <a:fld id="{5D9A5160-6218-4E5A-B9E6-B93E3DAE377C}" type="slidenum">
              <a:rPr lang="en-US" smtClean="0"/>
              <a:pPr algn="r"/>
              <a:t>20</a:t>
            </a:fld>
            <a:endParaRPr lang="en-US"/>
          </a:p>
        </p:txBody>
      </p:sp>
      <p:sp>
        <p:nvSpPr>
          <p:cNvPr id="5" name="Rectangle 4">
            <a:extLst>
              <a:ext uri="{FF2B5EF4-FFF2-40B4-BE49-F238E27FC236}">
                <a16:creationId xmlns:a16="http://schemas.microsoft.com/office/drawing/2014/main" id="{2A2D215F-632A-BFA1-0A4A-021BDA8495C3}"/>
              </a:ext>
            </a:extLst>
          </p:cNvPr>
          <p:cNvSpPr/>
          <p:nvPr/>
        </p:nvSpPr>
        <p:spPr>
          <a:xfrm rot="10800000">
            <a:off x="0" y="84226"/>
            <a:ext cx="12203482" cy="6786503"/>
          </a:xfrm>
          <a:prstGeom prst="rect">
            <a:avLst/>
          </a:prstGeom>
          <a:gradFill>
            <a:gsLst>
              <a:gs pos="0">
                <a:schemeClr val="tx1">
                  <a:alpha val="69396"/>
                </a:schemeClr>
              </a:gs>
              <a:gs pos="100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sp>
        <p:nvSpPr>
          <p:cNvPr id="9" name="Rectangle 8">
            <a:extLst>
              <a:ext uri="{FF2B5EF4-FFF2-40B4-BE49-F238E27FC236}">
                <a16:creationId xmlns:a16="http://schemas.microsoft.com/office/drawing/2014/main" id="{4D849246-50E5-A9CD-F7BB-DB234119BBF8}"/>
              </a:ext>
            </a:extLst>
          </p:cNvPr>
          <p:cNvSpPr/>
          <p:nvPr/>
        </p:nvSpPr>
        <p:spPr>
          <a:xfrm rot="10800000">
            <a:off x="0" y="1785832"/>
            <a:ext cx="12203482" cy="5058624"/>
          </a:xfrm>
          <a:prstGeom prst="rect">
            <a:avLst/>
          </a:prstGeom>
          <a:gradFill>
            <a:gsLst>
              <a:gs pos="0">
                <a:schemeClr val="tx1">
                  <a:alpha val="69396"/>
                </a:schemeClr>
              </a:gs>
              <a:gs pos="33024">
                <a:srgbClr val="000000"/>
              </a:gs>
              <a:gs pos="64000">
                <a:schemeClr val="bg1">
                  <a:alpha val="0"/>
                  <a:lumMod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000" tIns="45000" rIns="45000" bIns="45000" numCol="1" spcCol="38100" rtlCol="0" anchor="ctr">
            <a:noAutofit/>
          </a:bodyPr>
          <a:lstStyle/>
          <a:p>
            <a:pPr marL="0" marR="0" lvl="0" indent="0" algn="ctr" defTabSz="411480" rtl="0" eaLnBrk="1" fontAlgn="auto" latinLnBrk="0" hangingPunct="0">
              <a:lnSpc>
                <a:spcPct val="14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BentonSansF Book"/>
              <a:sym typeface="BentonSansF Book"/>
            </a:endParaRPr>
          </a:p>
        </p:txBody>
      </p:sp>
      <p:sp>
        <p:nvSpPr>
          <p:cNvPr id="7" name="TextBox 6">
            <a:extLst>
              <a:ext uri="{FF2B5EF4-FFF2-40B4-BE49-F238E27FC236}">
                <a16:creationId xmlns:a16="http://schemas.microsoft.com/office/drawing/2014/main" id="{A79FAC8D-0EBF-1F41-7D10-9953BBD839A5}"/>
              </a:ext>
            </a:extLst>
          </p:cNvPr>
          <p:cNvSpPr txBox="1"/>
          <p:nvPr/>
        </p:nvSpPr>
        <p:spPr>
          <a:xfrm>
            <a:off x="550863" y="2379901"/>
            <a:ext cx="5858815" cy="21236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US"/>
            </a:defPPr>
            <a:lvl1pPr algn="ctr">
              <a:defRPr kumimoji="0" sz="3200" b="0" i="0" u="none" strike="noStrike" kern="0" cap="none" spc="-150" normalizeH="0" baseline="0">
                <a:ln>
                  <a:noFill/>
                </a:ln>
                <a:solidFill>
                  <a:srgbClr val="FFFFFF"/>
                </a:solidFill>
                <a:effectLst/>
                <a:uLnTx/>
                <a:uFill>
                  <a:solidFill>
                    <a:srgbClr val="FFFFFF"/>
                  </a:solidFill>
                </a:uFill>
                <a:latin typeface="BentonSansF Medium" panose="02000603040000020004"/>
                <a:cs typeface="Times New Roman" panose="02020603050405020304" pitchFamily="18" charset="0"/>
              </a:defRPr>
            </a:lvl1pPr>
          </a:lstStyle>
          <a:p>
            <a:pPr algn="l"/>
            <a:r>
              <a:rPr lang="en-US" sz="4400">
                <a:solidFill>
                  <a:schemeClr val="bg1">
                    <a:lumMod val="85000"/>
                  </a:schemeClr>
                </a:solidFill>
                <a:latin typeface="+mj-lt"/>
                <a:sym typeface="BentonSansF Book"/>
              </a:rPr>
              <a:t>Maturity of  your</a:t>
            </a:r>
          </a:p>
          <a:p>
            <a:pPr algn="l"/>
            <a:r>
              <a:rPr lang="en-US" sz="4400">
                <a:solidFill>
                  <a:schemeClr val="bg1"/>
                </a:solidFill>
                <a:latin typeface="+mj-lt"/>
                <a:sym typeface="BentonSansF Book"/>
              </a:rPr>
              <a:t>Data Estate </a:t>
            </a:r>
            <a:r>
              <a:rPr lang="en-US" sz="4400">
                <a:solidFill>
                  <a:schemeClr val="bg1">
                    <a:lumMod val="85000"/>
                  </a:schemeClr>
                </a:solidFill>
                <a:latin typeface="+mj-lt"/>
                <a:sym typeface="BentonSansF Book"/>
              </a:rPr>
              <a:t>determines your ability to</a:t>
            </a:r>
          </a:p>
        </p:txBody>
      </p:sp>
      <p:sp>
        <p:nvSpPr>
          <p:cNvPr id="11" name="TextBox 10">
            <a:extLst>
              <a:ext uri="{FF2B5EF4-FFF2-40B4-BE49-F238E27FC236}">
                <a16:creationId xmlns:a16="http://schemas.microsoft.com/office/drawing/2014/main" id="{A2D5B7D8-484E-F797-329C-20617B45AF6F}"/>
              </a:ext>
            </a:extLst>
          </p:cNvPr>
          <p:cNvSpPr txBox="1"/>
          <p:nvPr/>
        </p:nvSpPr>
        <p:spPr>
          <a:xfrm>
            <a:off x="5166803" y="4041980"/>
            <a:ext cx="6706763" cy="21236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en-US"/>
            </a:defPPr>
            <a:lvl1pPr algn="ctr">
              <a:defRPr kumimoji="0" sz="3200" b="0" i="0" u="none" strike="noStrike" kern="0" cap="none" spc="-150" normalizeH="0" baseline="0">
                <a:ln>
                  <a:noFill/>
                </a:ln>
                <a:solidFill>
                  <a:srgbClr val="FFFFFF"/>
                </a:solidFill>
                <a:effectLst/>
                <a:uLnTx/>
                <a:uFill>
                  <a:solidFill>
                    <a:srgbClr val="FFFFFF"/>
                  </a:solidFill>
                </a:uFill>
                <a:latin typeface="BentonSansF Medium" panose="02000603040000020004"/>
                <a:cs typeface="Times New Roman" panose="02020603050405020304" pitchFamily="18" charset="0"/>
              </a:defRPr>
            </a:lvl1pPr>
          </a:lstStyle>
          <a:p>
            <a:pPr algn="r"/>
            <a:r>
              <a:rPr lang="en-US" sz="4400">
                <a:solidFill>
                  <a:schemeClr val="bg1">
                    <a:lumMod val="85000"/>
                  </a:schemeClr>
                </a:solidFill>
                <a:latin typeface="+mj-lt"/>
                <a:sym typeface="BentonSansF Book"/>
              </a:rPr>
              <a:t>capitalize on the content strategy to achieve </a:t>
            </a:r>
          </a:p>
          <a:p>
            <a:pPr algn="r"/>
            <a:r>
              <a:rPr lang="en-US" sz="4400">
                <a:solidFill>
                  <a:schemeClr val="bg1"/>
                </a:solidFill>
                <a:latin typeface="+mj-lt"/>
                <a:sym typeface="BentonSansF Book"/>
              </a:rPr>
              <a:t>sustainable competitiveness  </a:t>
            </a:r>
          </a:p>
        </p:txBody>
      </p:sp>
    </p:spTree>
    <p:extLst>
      <p:ext uri="{BB962C8B-B14F-4D97-AF65-F5344CB8AC3E}">
        <p14:creationId xmlns:p14="http://schemas.microsoft.com/office/powerpoint/2010/main" val="3122256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1F367-A0D4-576E-12FA-7216762531F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9B8696F-6F83-397E-AFA7-25AFF24C3DB6}"/>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653DA39-4816-0808-5EA3-F675B279F25B}"/>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9B89010-2D73-0709-A371-718221E5F817}"/>
              </a:ext>
            </a:extLst>
          </p:cNvPr>
          <p:cNvSpPr>
            <a:spLocks noGrp="1"/>
          </p:cNvSpPr>
          <p:nvPr>
            <p:ph type="sldNum" sz="quarter" idx="30"/>
          </p:nvPr>
        </p:nvSpPr>
        <p:spPr/>
        <p:txBody>
          <a:bodyPr/>
          <a:lstStyle/>
          <a:p>
            <a:pPr algn="r"/>
            <a:fld id="{5D9A5160-6218-4E5A-B9E6-B93E3DAE377C}" type="slidenum">
              <a:rPr lang="en-US" smtClean="0"/>
              <a:pPr algn="r"/>
              <a:t>21</a:t>
            </a:fld>
            <a:endParaRPr lang="en-US"/>
          </a:p>
        </p:txBody>
      </p:sp>
      <p:sp>
        <p:nvSpPr>
          <p:cNvPr id="5" name="Title 4">
            <a:extLst>
              <a:ext uri="{FF2B5EF4-FFF2-40B4-BE49-F238E27FC236}">
                <a16:creationId xmlns:a16="http://schemas.microsoft.com/office/drawing/2014/main" id="{8DD4BAF2-71E3-FEDF-B8E0-83BD792CC866}"/>
              </a:ext>
            </a:extLst>
          </p:cNvPr>
          <p:cNvSpPr>
            <a:spLocks noGrp="1"/>
          </p:cNvSpPr>
          <p:nvPr>
            <p:ph type="title"/>
          </p:nvPr>
        </p:nvSpPr>
        <p:spPr/>
        <p:txBody>
          <a:bodyPr/>
          <a:lstStyle/>
          <a:p>
            <a:r>
              <a:rPr lang="en-US" b="1"/>
              <a:t>Recommended data estate with AI-accelerated solutions </a:t>
            </a:r>
            <a:r>
              <a:rPr lang="en-US"/>
              <a:t>offers significant opportunities to influence the 4 key pillars the business model…</a:t>
            </a:r>
          </a:p>
        </p:txBody>
      </p:sp>
      <p:grpSp>
        <p:nvGrpSpPr>
          <p:cNvPr id="23" name="Group 22">
            <a:extLst>
              <a:ext uri="{FF2B5EF4-FFF2-40B4-BE49-F238E27FC236}">
                <a16:creationId xmlns:a16="http://schemas.microsoft.com/office/drawing/2014/main" id="{225810BF-2E73-D5FA-BC8D-95EDBC6BDFEC}"/>
              </a:ext>
            </a:extLst>
          </p:cNvPr>
          <p:cNvGrpSpPr/>
          <p:nvPr/>
        </p:nvGrpSpPr>
        <p:grpSpPr>
          <a:xfrm>
            <a:off x="9048328" y="1628800"/>
            <a:ext cx="2730013" cy="1196887"/>
            <a:chOff x="9048328" y="1988840"/>
            <a:chExt cx="2730013" cy="1196887"/>
          </a:xfrm>
        </p:grpSpPr>
        <p:sp>
          <p:nvSpPr>
            <p:cNvPr id="21" name="Rectangle 20">
              <a:extLst>
                <a:ext uri="{FF2B5EF4-FFF2-40B4-BE49-F238E27FC236}">
                  <a16:creationId xmlns:a16="http://schemas.microsoft.com/office/drawing/2014/main" id="{A073DAD7-21F2-2F7D-2F53-0F8934567EB3}"/>
                </a:ext>
              </a:extLst>
            </p:cNvPr>
            <p:cNvSpPr/>
            <p:nvPr/>
          </p:nvSpPr>
          <p:spPr>
            <a:xfrm>
              <a:off x="9048328" y="1988840"/>
              <a:ext cx="664492" cy="144016"/>
            </a:xfrm>
            <a:prstGeom prst="rect">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1</a:t>
              </a:r>
            </a:p>
          </p:txBody>
        </p:sp>
        <p:sp>
          <p:nvSpPr>
            <p:cNvPr id="22" name="Rectangle 21">
              <a:extLst>
                <a:ext uri="{FF2B5EF4-FFF2-40B4-BE49-F238E27FC236}">
                  <a16:creationId xmlns:a16="http://schemas.microsoft.com/office/drawing/2014/main" id="{605AEF04-139A-AB95-C6C4-BA95E4547E33}"/>
                </a:ext>
              </a:extLst>
            </p:cNvPr>
            <p:cNvSpPr/>
            <p:nvPr/>
          </p:nvSpPr>
          <p:spPr>
            <a:xfrm>
              <a:off x="9048328" y="2132856"/>
              <a:ext cx="2730013" cy="10528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accent1"/>
                  </a:solidFill>
                </a:rPr>
                <a:t>Broadcast Velocity</a:t>
              </a:r>
              <a:r>
                <a:rPr lang="en-US" sz="1000">
                  <a:solidFill>
                    <a:schemeClr val="tx1"/>
                  </a:solidFill>
                </a:rPr>
                <a:t>. In live sports, speed = money. The broadcaster who delivers highlights, analysis, and secondary content fastest captures </a:t>
              </a:r>
              <a:r>
                <a:rPr lang="en-US" sz="1000" b="1">
                  <a:solidFill>
                    <a:schemeClr val="tx1"/>
                  </a:solidFill>
                </a:rPr>
                <a:t>in-match ad inventory</a:t>
              </a:r>
              <a:r>
                <a:rPr lang="en-US" sz="1000">
                  <a:solidFill>
                    <a:schemeClr val="tx1"/>
                  </a:solidFill>
                </a:rPr>
                <a:t>, </a:t>
              </a:r>
              <a:r>
                <a:rPr lang="en-US" sz="1000" b="1">
                  <a:solidFill>
                    <a:schemeClr val="tx1"/>
                  </a:solidFill>
                </a:rPr>
                <a:t>post-match viewership</a:t>
              </a:r>
              <a:r>
                <a:rPr lang="en-US" sz="1000">
                  <a:solidFill>
                    <a:schemeClr val="tx1"/>
                  </a:solidFill>
                </a:rPr>
                <a:t>, </a:t>
              </a:r>
              <a:r>
                <a:rPr lang="en-US" sz="1000" b="1">
                  <a:solidFill>
                    <a:schemeClr val="tx1"/>
                  </a:solidFill>
                </a:rPr>
                <a:t>shoulder programming</a:t>
              </a:r>
              <a:r>
                <a:rPr lang="en-US" sz="1000">
                  <a:solidFill>
                    <a:schemeClr val="tx1"/>
                  </a:solidFill>
                </a:rPr>
                <a:t>.</a:t>
              </a:r>
            </a:p>
          </p:txBody>
        </p:sp>
      </p:grpSp>
      <p:grpSp>
        <p:nvGrpSpPr>
          <p:cNvPr id="24" name="Group 23">
            <a:extLst>
              <a:ext uri="{FF2B5EF4-FFF2-40B4-BE49-F238E27FC236}">
                <a16:creationId xmlns:a16="http://schemas.microsoft.com/office/drawing/2014/main" id="{8FB31997-BDDE-96C7-94D7-D58048DA2B95}"/>
              </a:ext>
            </a:extLst>
          </p:cNvPr>
          <p:cNvGrpSpPr/>
          <p:nvPr/>
        </p:nvGrpSpPr>
        <p:grpSpPr>
          <a:xfrm>
            <a:off x="9048328" y="2996418"/>
            <a:ext cx="2730013" cy="1038485"/>
            <a:chOff x="9048328" y="1988840"/>
            <a:chExt cx="2730013" cy="1038485"/>
          </a:xfrm>
        </p:grpSpPr>
        <p:sp>
          <p:nvSpPr>
            <p:cNvPr id="25" name="Rectangle 24">
              <a:extLst>
                <a:ext uri="{FF2B5EF4-FFF2-40B4-BE49-F238E27FC236}">
                  <a16:creationId xmlns:a16="http://schemas.microsoft.com/office/drawing/2014/main" id="{75FFF173-CAB1-41A7-2235-FE2D46B82A94}"/>
                </a:ext>
              </a:extLst>
            </p:cNvPr>
            <p:cNvSpPr/>
            <p:nvPr/>
          </p:nvSpPr>
          <p:spPr>
            <a:xfrm>
              <a:off x="9048328" y="1988840"/>
              <a:ext cx="664492" cy="144016"/>
            </a:xfrm>
            <a:prstGeom prst="rect">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2</a:t>
              </a:r>
            </a:p>
          </p:txBody>
        </p:sp>
        <p:sp>
          <p:nvSpPr>
            <p:cNvPr id="26" name="Rectangle 25">
              <a:extLst>
                <a:ext uri="{FF2B5EF4-FFF2-40B4-BE49-F238E27FC236}">
                  <a16:creationId xmlns:a16="http://schemas.microsoft.com/office/drawing/2014/main" id="{3635487E-6A5A-D3CB-B150-E5BB1C695088}"/>
                </a:ext>
              </a:extLst>
            </p:cNvPr>
            <p:cNvSpPr/>
            <p:nvPr/>
          </p:nvSpPr>
          <p:spPr>
            <a:xfrm>
              <a:off x="9048328" y="2132856"/>
              <a:ext cx="2730013" cy="89446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accent1"/>
                  </a:solidFill>
                </a:rPr>
                <a:t>Programming Excellence</a:t>
              </a:r>
              <a:r>
                <a:rPr lang="en-US" sz="1000">
                  <a:solidFill>
                    <a:schemeClr val="tx1"/>
                  </a:solidFill>
                </a:rPr>
                <a:t>. Content quality </a:t>
              </a:r>
              <a:r>
                <a:rPr lang="en-US" sz="1000" b="1">
                  <a:solidFill>
                    <a:schemeClr val="tx1"/>
                  </a:solidFill>
                </a:rPr>
                <a:t>drives ratings</a:t>
              </a:r>
              <a:r>
                <a:rPr lang="en-US" sz="1000">
                  <a:solidFill>
                    <a:schemeClr val="tx1"/>
                  </a:solidFill>
                </a:rPr>
                <a:t>. Ratings drive </a:t>
              </a:r>
              <a:r>
                <a:rPr lang="en-US" sz="1000" b="1">
                  <a:solidFill>
                    <a:schemeClr val="tx1"/>
                  </a:solidFill>
                </a:rPr>
                <a:t>ad CPMs</a:t>
              </a:r>
              <a:r>
                <a:rPr lang="en-US" sz="1000">
                  <a:solidFill>
                    <a:schemeClr val="tx1"/>
                  </a:solidFill>
                </a:rPr>
                <a:t>. In live sports, </a:t>
              </a:r>
              <a:r>
                <a:rPr lang="en-US" sz="1000" b="1">
                  <a:solidFill>
                    <a:schemeClr val="tx1"/>
                  </a:solidFill>
                </a:rPr>
                <a:t>"quality" = depth of storytelling </a:t>
              </a:r>
              <a:r>
                <a:rPr lang="en-US" sz="1000">
                  <a:solidFill>
                    <a:schemeClr val="tx1"/>
                  </a:solidFill>
                </a:rPr>
                <a:t>(historical context, tactical analysis, personality-driven narratives).</a:t>
              </a:r>
            </a:p>
          </p:txBody>
        </p:sp>
      </p:grpSp>
      <p:grpSp>
        <p:nvGrpSpPr>
          <p:cNvPr id="27" name="Group 26">
            <a:extLst>
              <a:ext uri="{FF2B5EF4-FFF2-40B4-BE49-F238E27FC236}">
                <a16:creationId xmlns:a16="http://schemas.microsoft.com/office/drawing/2014/main" id="{EDB95D5D-039F-D4EE-D5A9-BD68EB0B54DC}"/>
              </a:ext>
            </a:extLst>
          </p:cNvPr>
          <p:cNvGrpSpPr/>
          <p:nvPr/>
        </p:nvGrpSpPr>
        <p:grpSpPr>
          <a:xfrm>
            <a:off x="9048328" y="4205634"/>
            <a:ext cx="2730013" cy="1005401"/>
            <a:chOff x="9048328" y="1988840"/>
            <a:chExt cx="2730013" cy="1005401"/>
          </a:xfrm>
        </p:grpSpPr>
        <p:sp>
          <p:nvSpPr>
            <p:cNvPr id="28" name="Rectangle 27">
              <a:extLst>
                <a:ext uri="{FF2B5EF4-FFF2-40B4-BE49-F238E27FC236}">
                  <a16:creationId xmlns:a16="http://schemas.microsoft.com/office/drawing/2014/main" id="{4D938B86-D375-CE59-C3F0-AD27A4AE8C13}"/>
                </a:ext>
              </a:extLst>
            </p:cNvPr>
            <p:cNvSpPr/>
            <p:nvPr/>
          </p:nvSpPr>
          <p:spPr>
            <a:xfrm>
              <a:off x="9048328" y="1988840"/>
              <a:ext cx="664492" cy="144016"/>
            </a:xfrm>
            <a:prstGeom prst="rect">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3</a:t>
              </a:r>
            </a:p>
          </p:txBody>
        </p:sp>
        <p:sp>
          <p:nvSpPr>
            <p:cNvPr id="29" name="Rectangle 28">
              <a:extLst>
                <a:ext uri="{FF2B5EF4-FFF2-40B4-BE49-F238E27FC236}">
                  <a16:creationId xmlns:a16="http://schemas.microsoft.com/office/drawing/2014/main" id="{D69011D1-DC27-0A32-AB0E-4D2C3EF1BC9C}"/>
                </a:ext>
              </a:extLst>
            </p:cNvPr>
            <p:cNvSpPr/>
            <p:nvPr/>
          </p:nvSpPr>
          <p:spPr>
            <a:xfrm>
              <a:off x="9048328" y="2132857"/>
              <a:ext cx="2730013" cy="86138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accent1"/>
                  </a:solidFill>
                </a:rPr>
                <a:t>Archive Monetization. </a:t>
              </a:r>
              <a:r>
                <a:rPr lang="en-US" sz="1000">
                  <a:solidFill>
                    <a:schemeClr val="tx1"/>
                  </a:solidFill>
                </a:rPr>
                <a:t>Sports broadcasters have </a:t>
              </a:r>
              <a:r>
                <a:rPr lang="en-US" sz="1000" b="1">
                  <a:solidFill>
                    <a:schemeClr val="tx1"/>
                  </a:solidFill>
                </a:rPr>
                <a:t>decades of premium content sitting in archives</a:t>
              </a:r>
              <a:r>
                <a:rPr lang="en-US" sz="1000">
                  <a:solidFill>
                    <a:schemeClr val="tx1"/>
                  </a:solidFill>
                </a:rPr>
                <a:t>. Most of it generates </a:t>
              </a:r>
              <a:r>
                <a:rPr lang="en-US" sz="1000" b="1">
                  <a:solidFill>
                    <a:schemeClr val="tx1"/>
                  </a:solidFill>
                </a:rPr>
                <a:t>zero revenue post-initial broadcast</a:t>
              </a:r>
              <a:r>
                <a:rPr lang="en-US" sz="1000">
                  <a:solidFill>
                    <a:schemeClr val="tx1"/>
                  </a:solidFill>
                </a:rPr>
                <a:t>.</a:t>
              </a:r>
            </a:p>
          </p:txBody>
        </p:sp>
      </p:grpSp>
      <p:grpSp>
        <p:nvGrpSpPr>
          <p:cNvPr id="30" name="Group 29">
            <a:extLst>
              <a:ext uri="{FF2B5EF4-FFF2-40B4-BE49-F238E27FC236}">
                <a16:creationId xmlns:a16="http://schemas.microsoft.com/office/drawing/2014/main" id="{C5A22887-7144-E111-2AFD-8E043CE0CE00}"/>
              </a:ext>
            </a:extLst>
          </p:cNvPr>
          <p:cNvGrpSpPr/>
          <p:nvPr/>
        </p:nvGrpSpPr>
        <p:grpSpPr>
          <a:xfrm>
            <a:off x="9048328" y="5381765"/>
            <a:ext cx="2730013" cy="1143579"/>
            <a:chOff x="9048328" y="1988840"/>
            <a:chExt cx="2730013" cy="1143579"/>
          </a:xfrm>
        </p:grpSpPr>
        <p:sp>
          <p:nvSpPr>
            <p:cNvPr id="31" name="Rectangle 30">
              <a:extLst>
                <a:ext uri="{FF2B5EF4-FFF2-40B4-BE49-F238E27FC236}">
                  <a16:creationId xmlns:a16="http://schemas.microsoft.com/office/drawing/2014/main" id="{9EF8B5D9-B493-EA4F-51FB-AC3BFF8BFC7B}"/>
                </a:ext>
              </a:extLst>
            </p:cNvPr>
            <p:cNvSpPr/>
            <p:nvPr/>
          </p:nvSpPr>
          <p:spPr>
            <a:xfrm>
              <a:off x="9048328" y="1988840"/>
              <a:ext cx="664492" cy="144016"/>
            </a:xfrm>
            <a:prstGeom prst="rect">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4</a:t>
              </a:r>
            </a:p>
          </p:txBody>
        </p:sp>
        <p:sp>
          <p:nvSpPr>
            <p:cNvPr id="32" name="Rectangle 31">
              <a:extLst>
                <a:ext uri="{FF2B5EF4-FFF2-40B4-BE49-F238E27FC236}">
                  <a16:creationId xmlns:a16="http://schemas.microsoft.com/office/drawing/2014/main" id="{A1D8EC5F-0A41-D33A-B632-7F757E3654E0}"/>
                </a:ext>
              </a:extLst>
            </p:cNvPr>
            <p:cNvSpPr/>
            <p:nvPr/>
          </p:nvSpPr>
          <p:spPr>
            <a:xfrm>
              <a:off x="9048328" y="2132857"/>
              <a:ext cx="2730013" cy="99956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accent1"/>
                  </a:solidFill>
                </a:rPr>
                <a:t>Operational Efficiency</a:t>
              </a:r>
              <a:r>
                <a:rPr lang="en-US" sz="1000">
                  <a:solidFill>
                    <a:schemeClr val="tx1"/>
                  </a:solidFill>
                </a:rPr>
                <a:t>. Live sports broadcasting is capital-intensive (crews, equipment, infrastructure) and labor-intensive (producers, editors, technical directors). </a:t>
              </a:r>
              <a:r>
                <a:rPr lang="en-US" sz="1000" b="1">
                  <a:solidFill>
                    <a:schemeClr val="tx1"/>
                  </a:solidFill>
                </a:rPr>
                <a:t>Unit economics determine profitability</a:t>
              </a:r>
              <a:r>
                <a:rPr lang="en-US" sz="1000">
                  <a:solidFill>
                    <a:schemeClr val="tx1"/>
                  </a:solidFill>
                </a:rPr>
                <a:t>.</a:t>
              </a:r>
            </a:p>
          </p:txBody>
        </p:sp>
      </p:grpSp>
      <p:sp>
        <p:nvSpPr>
          <p:cNvPr id="6" name="Rectangle 5">
            <a:extLst>
              <a:ext uri="{FF2B5EF4-FFF2-40B4-BE49-F238E27FC236}">
                <a16:creationId xmlns:a16="http://schemas.microsoft.com/office/drawing/2014/main" id="{69A6CD13-1FFF-D055-24BE-DF1DF6B92408}"/>
              </a:ext>
            </a:extLst>
          </p:cNvPr>
          <p:cNvSpPr/>
          <p:nvPr/>
        </p:nvSpPr>
        <p:spPr>
          <a:xfrm>
            <a:off x="550863" y="1628800"/>
            <a:ext cx="8209433" cy="489654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100" b="1">
                <a:solidFill>
                  <a:schemeClr val="tx1"/>
                </a:solidFill>
              </a:rPr>
              <a:t>Linear TV Business Model</a:t>
            </a:r>
          </a:p>
        </p:txBody>
      </p:sp>
      <p:sp>
        <p:nvSpPr>
          <p:cNvPr id="7" name="Rectangle 6">
            <a:extLst>
              <a:ext uri="{FF2B5EF4-FFF2-40B4-BE49-F238E27FC236}">
                <a16:creationId xmlns:a16="http://schemas.microsoft.com/office/drawing/2014/main" id="{26FA2CEB-262C-EE71-DAE2-5D20FB524D57}"/>
              </a:ext>
            </a:extLst>
          </p:cNvPr>
          <p:cNvSpPr/>
          <p:nvPr/>
        </p:nvSpPr>
        <p:spPr>
          <a:xfrm>
            <a:off x="767408" y="3097965"/>
            <a:ext cx="7704856" cy="3183191"/>
          </a:xfrm>
          <a:prstGeom prst="rect">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 name="Rectangle 7">
            <a:extLst>
              <a:ext uri="{FF2B5EF4-FFF2-40B4-BE49-F238E27FC236}">
                <a16:creationId xmlns:a16="http://schemas.microsoft.com/office/drawing/2014/main" id="{1746C33D-3077-473F-4C52-7D62C8CD39DC}"/>
              </a:ext>
            </a:extLst>
          </p:cNvPr>
          <p:cNvSpPr/>
          <p:nvPr/>
        </p:nvSpPr>
        <p:spPr>
          <a:xfrm>
            <a:off x="1122238" y="2158659"/>
            <a:ext cx="2232248" cy="572015"/>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Advertisers</a:t>
            </a:r>
          </a:p>
          <a:p>
            <a:pPr algn="ctr"/>
            <a:r>
              <a:rPr lang="en-US" sz="1000">
                <a:solidFill>
                  <a:schemeClr val="bg1">
                    <a:lumMod val="65000"/>
                  </a:schemeClr>
                </a:solidFill>
              </a:rPr>
              <a:t>(pay for reach)</a:t>
            </a:r>
          </a:p>
        </p:txBody>
      </p:sp>
      <p:sp>
        <p:nvSpPr>
          <p:cNvPr id="9" name="Rectangle 8">
            <a:extLst>
              <a:ext uri="{FF2B5EF4-FFF2-40B4-BE49-F238E27FC236}">
                <a16:creationId xmlns:a16="http://schemas.microsoft.com/office/drawing/2014/main" id="{549CCB71-2DA5-59DA-919E-BF525AE91F91}"/>
              </a:ext>
            </a:extLst>
          </p:cNvPr>
          <p:cNvSpPr/>
          <p:nvPr/>
        </p:nvSpPr>
        <p:spPr>
          <a:xfrm>
            <a:off x="3539455" y="2158659"/>
            <a:ext cx="2232248" cy="572015"/>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Rights holders</a:t>
            </a:r>
          </a:p>
          <a:p>
            <a:pPr algn="ctr"/>
            <a:r>
              <a:rPr lang="en-US" sz="1000">
                <a:solidFill>
                  <a:schemeClr val="bg1">
                    <a:lumMod val="65000"/>
                  </a:schemeClr>
                </a:solidFill>
              </a:rPr>
              <a:t>(sell exclusive broadcast rights)</a:t>
            </a:r>
          </a:p>
        </p:txBody>
      </p:sp>
      <p:sp>
        <p:nvSpPr>
          <p:cNvPr id="10" name="Rectangle 9">
            <a:extLst>
              <a:ext uri="{FF2B5EF4-FFF2-40B4-BE49-F238E27FC236}">
                <a16:creationId xmlns:a16="http://schemas.microsoft.com/office/drawing/2014/main" id="{39E520C2-B14A-CA65-FB33-5EA9E440E875}"/>
              </a:ext>
            </a:extLst>
          </p:cNvPr>
          <p:cNvSpPr/>
          <p:nvPr/>
        </p:nvSpPr>
        <p:spPr>
          <a:xfrm>
            <a:off x="5956672" y="2158659"/>
            <a:ext cx="2232248" cy="572015"/>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Content Production</a:t>
            </a:r>
          </a:p>
        </p:txBody>
      </p:sp>
      <p:sp>
        <p:nvSpPr>
          <p:cNvPr id="12" name="Rectangle 11">
            <a:extLst>
              <a:ext uri="{FF2B5EF4-FFF2-40B4-BE49-F238E27FC236}">
                <a16:creationId xmlns:a16="http://schemas.microsoft.com/office/drawing/2014/main" id="{7CE27667-DCE9-07AC-1E5D-E7E2FA2C5051}"/>
              </a:ext>
            </a:extLst>
          </p:cNvPr>
          <p:cNvSpPr/>
          <p:nvPr/>
        </p:nvSpPr>
        <p:spPr>
          <a:xfrm>
            <a:off x="4007768" y="2985458"/>
            <a:ext cx="1224136" cy="225012"/>
          </a:xfrm>
          <a:prstGeom prst="rect">
            <a:avLst/>
          </a:prstGeom>
          <a:solidFill>
            <a:schemeClr val="bg1"/>
          </a:solidFill>
          <a:ln w="9525">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chemeClr val="tx1"/>
                </a:solidFill>
              </a:rPr>
              <a:t>CONTROL PLANE</a:t>
            </a:r>
          </a:p>
        </p:txBody>
      </p:sp>
      <p:sp>
        <p:nvSpPr>
          <p:cNvPr id="13" name="Rectangle: Rounded Corners 12">
            <a:extLst>
              <a:ext uri="{FF2B5EF4-FFF2-40B4-BE49-F238E27FC236}">
                <a16:creationId xmlns:a16="http://schemas.microsoft.com/office/drawing/2014/main" id="{AAB6FA4B-5B7A-9EA7-42F2-4651F6A7C931}"/>
              </a:ext>
            </a:extLst>
          </p:cNvPr>
          <p:cNvSpPr/>
          <p:nvPr/>
        </p:nvSpPr>
        <p:spPr>
          <a:xfrm>
            <a:off x="1022600" y="3750927"/>
            <a:ext cx="1727074" cy="2285368"/>
          </a:xfrm>
          <a:prstGeom prst="roundRect">
            <a:avLst>
              <a:gd name="adj" fmla="val 11094"/>
            </a:avLst>
          </a:prstGeom>
          <a:gradFill flip="none" rotWithShape="1">
            <a:gsLst>
              <a:gs pos="99000">
                <a:srgbClr val="00D5D0"/>
              </a:gs>
              <a:gs pos="0">
                <a:srgbClr val="111937"/>
              </a:gs>
              <a:gs pos="30000">
                <a:srgbClr val="0057AB"/>
              </a:gs>
              <a:gs pos="70000">
                <a:srgbClr val="1DB6F3"/>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rgbClr val="000000"/>
              </a:solidFill>
              <a:latin typeface="Ubuntu"/>
            </a:endParaRPr>
          </a:p>
          <a:p>
            <a:pPr algn="ctr"/>
            <a:r>
              <a:rPr lang="en-US" sz="1200" b="1">
                <a:solidFill>
                  <a:schemeClr val="bg1"/>
                </a:solidFill>
              </a:rPr>
              <a:t>Broadcast Velocity</a:t>
            </a:r>
          </a:p>
        </p:txBody>
      </p:sp>
      <p:sp>
        <p:nvSpPr>
          <p:cNvPr id="14" name="Rectangle: Rounded Corners 13">
            <a:extLst>
              <a:ext uri="{FF2B5EF4-FFF2-40B4-BE49-F238E27FC236}">
                <a16:creationId xmlns:a16="http://schemas.microsoft.com/office/drawing/2014/main" id="{3F0D5422-D2E0-DBB5-F383-90E32C4932E1}"/>
              </a:ext>
            </a:extLst>
          </p:cNvPr>
          <p:cNvSpPr/>
          <p:nvPr/>
        </p:nvSpPr>
        <p:spPr>
          <a:xfrm>
            <a:off x="2867014" y="3750927"/>
            <a:ext cx="1727074" cy="2285368"/>
          </a:xfrm>
          <a:prstGeom prst="roundRect">
            <a:avLst>
              <a:gd name="adj" fmla="val 11094"/>
            </a:avLst>
          </a:prstGeom>
          <a:gradFill flip="none" rotWithShape="1">
            <a:gsLst>
              <a:gs pos="99000">
                <a:srgbClr val="00D5D0"/>
              </a:gs>
              <a:gs pos="0">
                <a:srgbClr val="111937"/>
              </a:gs>
              <a:gs pos="30000">
                <a:srgbClr val="0057AB"/>
              </a:gs>
              <a:gs pos="70000">
                <a:srgbClr val="1DB6F3"/>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rgbClr val="000000"/>
              </a:solidFill>
              <a:latin typeface="Ubuntu"/>
            </a:endParaRPr>
          </a:p>
          <a:p>
            <a:pPr algn="ctr"/>
            <a:endParaRPr lang="en-US" sz="1400">
              <a:solidFill>
                <a:srgbClr val="000000"/>
              </a:solidFill>
              <a:latin typeface="Ubuntu"/>
            </a:endParaRPr>
          </a:p>
          <a:p>
            <a:pPr algn="ctr"/>
            <a:r>
              <a:rPr lang="en-US" sz="1200" b="1">
                <a:solidFill>
                  <a:schemeClr val="bg1"/>
                </a:solidFill>
              </a:rPr>
              <a:t>Programming Excellence</a:t>
            </a:r>
          </a:p>
        </p:txBody>
      </p:sp>
      <p:sp>
        <p:nvSpPr>
          <p:cNvPr id="15" name="Rectangle: Rounded Corners 14">
            <a:extLst>
              <a:ext uri="{FF2B5EF4-FFF2-40B4-BE49-F238E27FC236}">
                <a16:creationId xmlns:a16="http://schemas.microsoft.com/office/drawing/2014/main" id="{7E8FFA45-5FF9-1726-E830-86AEC471838D}"/>
              </a:ext>
            </a:extLst>
          </p:cNvPr>
          <p:cNvSpPr/>
          <p:nvPr/>
        </p:nvSpPr>
        <p:spPr>
          <a:xfrm>
            <a:off x="4711428" y="3750927"/>
            <a:ext cx="1727074" cy="2285368"/>
          </a:xfrm>
          <a:prstGeom prst="roundRect">
            <a:avLst>
              <a:gd name="adj" fmla="val 8307"/>
            </a:avLst>
          </a:prstGeom>
          <a:gradFill flip="none" rotWithShape="1">
            <a:gsLst>
              <a:gs pos="99000">
                <a:srgbClr val="00D5D0"/>
              </a:gs>
              <a:gs pos="0">
                <a:srgbClr val="111937"/>
              </a:gs>
              <a:gs pos="30000">
                <a:srgbClr val="0057AB"/>
              </a:gs>
              <a:gs pos="70000">
                <a:srgbClr val="1DB6F3"/>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rgbClr val="000000"/>
              </a:solidFill>
              <a:latin typeface="Ubuntu"/>
            </a:endParaRPr>
          </a:p>
          <a:p>
            <a:pPr algn="ctr"/>
            <a:endParaRPr lang="en-US" sz="1400">
              <a:solidFill>
                <a:srgbClr val="000000"/>
              </a:solidFill>
              <a:latin typeface="Ubuntu"/>
            </a:endParaRPr>
          </a:p>
          <a:p>
            <a:pPr algn="ctr"/>
            <a:r>
              <a:rPr lang="en-US" sz="1200" b="1">
                <a:solidFill>
                  <a:schemeClr val="bg1"/>
                </a:solidFill>
              </a:rPr>
              <a:t>Archive Monetization</a:t>
            </a:r>
          </a:p>
        </p:txBody>
      </p:sp>
      <p:sp>
        <p:nvSpPr>
          <p:cNvPr id="16" name="Rectangle: Rounded Corners 15">
            <a:extLst>
              <a:ext uri="{FF2B5EF4-FFF2-40B4-BE49-F238E27FC236}">
                <a16:creationId xmlns:a16="http://schemas.microsoft.com/office/drawing/2014/main" id="{79BD2E01-2038-8C9D-E33A-495E17D9614F}"/>
              </a:ext>
            </a:extLst>
          </p:cNvPr>
          <p:cNvSpPr/>
          <p:nvPr/>
        </p:nvSpPr>
        <p:spPr>
          <a:xfrm>
            <a:off x="6555842" y="3750927"/>
            <a:ext cx="1727074" cy="2285368"/>
          </a:xfrm>
          <a:prstGeom prst="roundRect">
            <a:avLst>
              <a:gd name="adj" fmla="val 8307"/>
            </a:avLst>
          </a:prstGeom>
          <a:gradFill flip="none" rotWithShape="1">
            <a:gsLst>
              <a:gs pos="99000">
                <a:srgbClr val="00D5D0"/>
              </a:gs>
              <a:gs pos="0">
                <a:srgbClr val="111937"/>
              </a:gs>
              <a:gs pos="30000">
                <a:srgbClr val="0057AB"/>
              </a:gs>
              <a:gs pos="70000">
                <a:srgbClr val="1DB6F3"/>
              </a:gs>
            </a:gsLst>
            <a:lin ang="189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rgbClr val="000000"/>
              </a:solidFill>
              <a:latin typeface="Ubuntu"/>
            </a:endParaRPr>
          </a:p>
          <a:p>
            <a:pPr algn="ctr"/>
            <a:endParaRPr lang="en-US" sz="1400">
              <a:solidFill>
                <a:srgbClr val="000000"/>
              </a:solidFill>
              <a:latin typeface="Ubuntu"/>
            </a:endParaRPr>
          </a:p>
          <a:p>
            <a:pPr algn="ctr"/>
            <a:r>
              <a:rPr lang="en-US" sz="1200" b="1">
                <a:solidFill>
                  <a:schemeClr val="bg1"/>
                </a:solidFill>
              </a:rPr>
              <a:t>Operational Efficiency</a:t>
            </a:r>
          </a:p>
        </p:txBody>
      </p:sp>
      <p:sp>
        <p:nvSpPr>
          <p:cNvPr id="17" name="Rectangle 16">
            <a:extLst>
              <a:ext uri="{FF2B5EF4-FFF2-40B4-BE49-F238E27FC236}">
                <a16:creationId xmlns:a16="http://schemas.microsoft.com/office/drawing/2014/main" id="{6204B2F3-0022-061D-5009-DB941911EFA0}"/>
              </a:ext>
            </a:extLst>
          </p:cNvPr>
          <p:cNvSpPr/>
          <p:nvPr/>
        </p:nvSpPr>
        <p:spPr>
          <a:xfrm>
            <a:off x="1022600" y="3750927"/>
            <a:ext cx="664492" cy="163241"/>
          </a:xfrm>
          <a:prstGeom prst="rect">
            <a:avLst/>
          </a:prstGeom>
          <a:solidFill>
            <a:schemeClr val="accent1">
              <a:lumMod val="20000"/>
              <a:lumOff val="80000"/>
            </a:schemeClr>
          </a:solidFill>
          <a:ln w="9525">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1</a:t>
            </a:r>
          </a:p>
        </p:txBody>
      </p:sp>
      <p:sp>
        <p:nvSpPr>
          <p:cNvPr id="18" name="Rectangle 17">
            <a:extLst>
              <a:ext uri="{FF2B5EF4-FFF2-40B4-BE49-F238E27FC236}">
                <a16:creationId xmlns:a16="http://schemas.microsoft.com/office/drawing/2014/main" id="{60C5F7DC-8DEA-69F7-ADB9-2A674ADB8E34}"/>
              </a:ext>
            </a:extLst>
          </p:cNvPr>
          <p:cNvSpPr/>
          <p:nvPr/>
        </p:nvSpPr>
        <p:spPr>
          <a:xfrm>
            <a:off x="2867014" y="3750927"/>
            <a:ext cx="664492" cy="163241"/>
          </a:xfrm>
          <a:prstGeom prst="rect">
            <a:avLst/>
          </a:prstGeom>
          <a:solidFill>
            <a:schemeClr val="accent1">
              <a:lumMod val="20000"/>
              <a:lumOff val="80000"/>
            </a:schemeClr>
          </a:solidFill>
          <a:ln w="9525">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2</a:t>
            </a:r>
          </a:p>
        </p:txBody>
      </p:sp>
      <p:sp>
        <p:nvSpPr>
          <p:cNvPr id="19" name="Rectangle 18">
            <a:extLst>
              <a:ext uri="{FF2B5EF4-FFF2-40B4-BE49-F238E27FC236}">
                <a16:creationId xmlns:a16="http://schemas.microsoft.com/office/drawing/2014/main" id="{F5D749A0-E305-6033-5260-A35386FB3B47}"/>
              </a:ext>
            </a:extLst>
          </p:cNvPr>
          <p:cNvSpPr/>
          <p:nvPr/>
        </p:nvSpPr>
        <p:spPr>
          <a:xfrm>
            <a:off x="4711428" y="3750927"/>
            <a:ext cx="664492" cy="163241"/>
          </a:xfrm>
          <a:prstGeom prst="rect">
            <a:avLst/>
          </a:prstGeom>
          <a:solidFill>
            <a:schemeClr val="accent1">
              <a:lumMod val="20000"/>
              <a:lumOff val="80000"/>
            </a:schemeClr>
          </a:solidFill>
          <a:ln w="9525">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3</a:t>
            </a:r>
          </a:p>
        </p:txBody>
      </p:sp>
      <p:sp>
        <p:nvSpPr>
          <p:cNvPr id="20" name="Rectangle 19">
            <a:extLst>
              <a:ext uri="{FF2B5EF4-FFF2-40B4-BE49-F238E27FC236}">
                <a16:creationId xmlns:a16="http://schemas.microsoft.com/office/drawing/2014/main" id="{2B00648C-05D3-B3DB-D36B-3AF7E3BE793B}"/>
              </a:ext>
            </a:extLst>
          </p:cNvPr>
          <p:cNvSpPr/>
          <p:nvPr/>
        </p:nvSpPr>
        <p:spPr>
          <a:xfrm>
            <a:off x="6555842" y="3750927"/>
            <a:ext cx="664492" cy="163241"/>
          </a:xfrm>
          <a:prstGeom prst="rect">
            <a:avLst/>
          </a:prstGeom>
          <a:solidFill>
            <a:schemeClr val="accent1">
              <a:lumMod val="20000"/>
              <a:lumOff val="80000"/>
            </a:schemeClr>
          </a:solidFill>
          <a:ln w="9525">
            <a:solidFill>
              <a:schemeClr val="bg1">
                <a:lumMod val="9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800">
                <a:solidFill>
                  <a:schemeClr val="tx1"/>
                </a:solidFill>
              </a:rPr>
              <a:t>PILLAR 4</a:t>
            </a:r>
          </a:p>
        </p:txBody>
      </p:sp>
      <p:pic>
        <p:nvPicPr>
          <p:cNvPr id="34" name="Graphic 33" descr="Television outline">
            <a:extLst>
              <a:ext uri="{FF2B5EF4-FFF2-40B4-BE49-F238E27FC236}">
                <a16:creationId xmlns:a16="http://schemas.microsoft.com/office/drawing/2014/main" id="{E8EBD0D2-2E26-7754-4881-30E3EE5417E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36714" y="4349650"/>
            <a:ext cx="498846" cy="498846"/>
          </a:xfrm>
          <a:prstGeom prst="rect">
            <a:avLst/>
          </a:prstGeom>
        </p:spPr>
      </p:pic>
      <p:pic>
        <p:nvPicPr>
          <p:cNvPr id="35" name="Graphic 34" descr="3d Glasses outline">
            <a:extLst>
              <a:ext uri="{FF2B5EF4-FFF2-40B4-BE49-F238E27FC236}">
                <a16:creationId xmlns:a16="http://schemas.microsoft.com/office/drawing/2014/main" id="{D73B6582-B234-2C93-72C2-963246FF95E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481128" y="4349650"/>
            <a:ext cx="498846" cy="498846"/>
          </a:xfrm>
          <a:prstGeom prst="rect">
            <a:avLst/>
          </a:prstGeom>
        </p:spPr>
      </p:pic>
      <p:pic>
        <p:nvPicPr>
          <p:cNvPr id="36" name="Graphic 35" descr="Filing Box Archive outline">
            <a:extLst>
              <a:ext uri="{FF2B5EF4-FFF2-40B4-BE49-F238E27FC236}">
                <a16:creationId xmlns:a16="http://schemas.microsoft.com/office/drawing/2014/main" id="{6BEE5CEA-A0C9-0EE1-5EB0-AB946ABCD8A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325542" y="4349650"/>
            <a:ext cx="498846" cy="498846"/>
          </a:xfrm>
          <a:prstGeom prst="rect">
            <a:avLst/>
          </a:prstGeom>
        </p:spPr>
      </p:pic>
      <p:pic>
        <p:nvPicPr>
          <p:cNvPr id="37" name="Graphic 36" descr="Circles with lines outline">
            <a:extLst>
              <a:ext uri="{FF2B5EF4-FFF2-40B4-BE49-F238E27FC236}">
                <a16:creationId xmlns:a16="http://schemas.microsoft.com/office/drawing/2014/main" id="{84706492-89F6-2ADA-2CAF-FC72CFA76C0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169956" y="4349650"/>
            <a:ext cx="498846" cy="498846"/>
          </a:xfrm>
          <a:prstGeom prst="rect">
            <a:avLst/>
          </a:prstGeom>
        </p:spPr>
      </p:pic>
      <p:sp>
        <p:nvSpPr>
          <p:cNvPr id="11" name="Rectangle 10">
            <a:extLst>
              <a:ext uri="{FF2B5EF4-FFF2-40B4-BE49-F238E27FC236}">
                <a16:creationId xmlns:a16="http://schemas.microsoft.com/office/drawing/2014/main" id="{20007E19-5780-233E-2D16-6DD2150D53B8}"/>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DATA ESTATE FOR CONTENT STRATEGY</a:t>
            </a:r>
          </a:p>
        </p:txBody>
      </p:sp>
    </p:spTree>
    <p:extLst>
      <p:ext uri="{BB962C8B-B14F-4D97-AF65-F5344CB8AC3E}">
        <p14:creationId xmlns:p14="http://schemas.microsoft.com/office/powerpoint/2010/main" val="24344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4509B-8EB4-D350-1968-AFFC7DE57D8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6351EC7-78CE-BA87-F59F-2BF9E705E00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508274A-7CCC-44C9-A21B-8F659E0D8356}"/>
              </a:ext>
            </a:extLst>
          </p:cNvPr>
          <p:cNvSpPr>
            <a:spLocks noGrp="1"/>
          </p:cNvSpPr>
          <p:nvPr>
            <p:ph type="sldNum" sz="quarter" idx="30"/>
          </p:nvPr>
        </p:nvSpPr>
        <p:spPr/>
        <p:txBody>
          <a:bodyPr/>
          <a:lstStyle/>
          <a:p>
            <a:pPr algn="r"/>
            <a:fld id="{5D9A5160-6218-4E5A-B9E6-B93E3DAE377C}" type="slidenum">
              <a:rPr lang="en-US" smtClean="0"/>
              <a:pPr algn="r"/>
              <a:t>22</a:t>
            </a:fld>
            <a:endParaRPr lang="en-US"/>
          </a:p>
        </p:txBody>
      </p:sp>
      <p:sp>
        <p:nvSpPr>
          <p:cNvPr id="5" name="Title 4">
            <a:extLst>
              <a:ext uri="{FF2B5EF4-FFF2-40B4-BE49-F238E27FC236}">
                <a16:creationId xmlns:a16="http://schemas.microsoft.com/office/drawing/2014/main" id="{0B614A66-0F95-1C8B-AB65-640AC9ECF05D}"/>
              </a:ext>
            </a:extLst>
          </p:cNvPr>
          <p:cNvSpPr>
            <a:spLocks noGrp="1"/>
          </p:cNvSpPr>
          <p:nvPr>
            <p:ph type="title"/>
          </p:nvPr>
        </p:nvSpPr>
        <p:spPr/>
        <p:txBody>
          <a:bodyPr/>
          <a:lstStyle/>
          <a:p>
            <a:r>
              <a:rPr lang="en-US" b="1"/>
              <a:t>Purpose-built live and archive stores </a:t>
            </a:r>
            <a:r>
              <a:rPr lang="en-US"/>
              <a:t>for sports create the foundation to </a:t>
            </a:r>
            <a:r>
              <a:rPr lang="en-US" b="1"/>
              <a:t>capitalize on AI-accelerated solutions</a:t>
            </a:r>
            <a:r>
              <a:rPr lang="en-US"/>
              <a:t>, generating significant incremental value</a:t>
            </a:r>
          </a:p>
        </p:txBody>
      </p:sp>
      <p:sp>
        <p:nvSpPr>
          <p:cNvPr id="7" name="Rectangle: Rounded Corners 6">
            <a:extLst>
              <a:ext uri="{FF2B5EF4-FFF2-40B4-BE49-F238E27FC236}">
                <a16:creationId xmlns:a16="http://schemas.microsoft.com/office/drawing/2014/main" id="{506B8E68-621E-FE79-EA43-5E756EF07F84}"/>
              </a:ext>
            </a:extLst>
          </p:cNvPr>
          <p:cNvSpPr/>
          <p:nvPr/>
        </p:nvSpPr>
        <p:spPr>
          <a:xfrm>
            <a:off x="589463" y="1377735"/>
            <a:ext cx="248103" cy="5169368"/>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Source Layer</a:t>
            </a:r>
          </a:p>
        </p:txBody>
      </p:sp>
      <p:sp>
        <p:nvSpPr>
          <p:cNvPr id="8" name="Rectangle: Rounded Corners 7">
            <a:extLst>
              <a:ext uri="{FF2B5EF4-FFF2-40B4-BE49-F238E27FC236}">
                <a16:creationId xmlns:a16="http://schemas.microsoft.com/office/drawing/2014/main" id="{BAEB327D-5AAF-DDB1-1DD5-D35D24766CCE}"/>
              </a:ext>
            </a:extLst>
          </p:cNvPr>
          <p:cNvSpPr/>
          <p:nvPr/>
        </p:nvSpPr>
        <p:spPr>
          <a:xfrm>
            <a:off x="11393034" y="1377735"/>
            <a:ext cx="248103" cy="5169368"/>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9" name="Rectangle: Rounded Corners 8">
            <a:extLst>
              <a:ext uri="{FF2B5EF4-FFF2-40B4-BE49-F238E27FC236}">
                <a16:creationId xmlns:a16="http://schemas.microsoft.com/office/drawing/2014/main" id="{3FA96DC5-C906-95FC-194C-DBD8D55B6FE7}"/>
              </a:ext>
            </a:extLst>
          </p:cNvPr>
          <p:cNvSpPr/>
          <p:nvPr/>
        </p:nvSpPr>
        <p:spPr>
          <a:xfrm>
            <a:off x="9440398" y="1377735"/>
            <a:ext cx="1823010"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10" name="Rectangle: Rounded Corners 9">
            <a:extLst>
              <a:ext uri="{FF2B5EF4-FFF2-40B4-BE49-F238E27FC236}">
                <a16:creationId xmlns:a16="http://schemas.microsoft.com/office/drawing/2014/main" id="{96A1DFF3-B7FC-C1D3-0931-4A3980CFB164}"/>
              </a:ext>
            </a:extLst>
          </p:cNvPr>
          <p:cNvSpPr/>
          <p:nvPr/>
        </p:nvSpPr>
        <p:spPr>
          <a:xfrm>
            <a:off x="979038" y="1377734"/>
            <a:ext cx="8331735"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a:solidFill>
                  <a:schemeClr val="tx1"/>
                </a:solidFill>
              </a:rPr>
              <a:t>Domain Layer</a:t>
            </a:r>
          </a:p>
        </p:txBody>
      </p:sp>
      <p:sp>
        <p:nvSpPr>
          <p:cNvPr id="11" name="Rectangle: Rounded Corners 10">
            <a:extLst>
              <a:ext uri="{FF2B5EF4-FFF2-40B4-BE49-F238E27FC236}">
                <a16:creationId xmlns:a16="http://schemas.microsoft.com/office/drawing/2014/main" id="{389DF77E-C781-4464-305D-8F605E91B6A5}"/>
              </a:ext>
            </a:extLst>
          </p:cNvPr>
          <p:cNvSpPr/>
          <p:nvPr/>
        </p:nvSpPr>
        <p:spPr>
          <a:xfrm>
            <a:off x="1121642"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Sports Domain</a:t>
            </a:r>
          </a:p>
        </p:txBody>
      </p:sp>
      <p:sp>
        <p:nvSpPr>
          <p:cNvPr id="12" name="Rectangle: Rounded Corners 11">
            <a:extLst>
              <a:ext uri="{FF2B5EF4-FFF2-40B4-BE49-F238E27FC236}">
                <a16:creationId xmlns:a16="http://schemas.microsoft.com/office/drawing/2014/main" id="{95781ED4-FABF-49E3-BBA0-9C4CD8046960}"/>
              </a:ext>
            </a:extLst>
          </p:cNvPr>
          <p:cNvSpPr/>
          <p:nvPr/>
        </p:nvSpPr>
        <p:spPr>
          <a:xfrm>
            <a:off x="3849219"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News Domain</a:t>
            </a:r>
          </a:p>
        </p:txBody>
      </p:sp>
      <p:sp>
        <p:nvSpPr>
          <p:cNvPr id="13" name="Rectangle: Rounded Corners 12">
            <a:extLst>
              <a:ext uri="{FF2B5EF4-FFF2-40B4-BE49-F238E27FC236}">
                <a16:creationId xmlns:a16="http://schemas.microsoft.com/office/drawing/2014/main" id="{8CE0B743-9B31-B901-D2ED-063E442CF307}"/>
              </a:ext>
            </a:extLst>
          </p:cNvPr>
          <p:cNvSpPr/>
          <p:nvPr/>
        </p:nvSpPr>
        <p:spPr>
          <a:xfrm>
            <a:off x="6576799" y="1719072"/>
            <a:ext cx="2591371"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General Entertainment Domain</a:t>
            </a:r>
          </a:p>
        </p:txBody>
      </p:sp>
      <p:sp>
        <p:nvSpPr>
          <p:cNvPr id="14" name="Rectangle: Rounded Corners 13">
            <a:extLst>
              <a:ext uri="{FF2B5EF4-FFF2-40B4-BE49-F238E27FC236}">
                <a16:creationId xmlns:a16="http://schemas.microsoft.com/office/drawing/2014/main" id="{E135DB54-1A24-47F4-9837-D989AF53574E}"/>
              </a:ext>
            </a:extLst>
          </p:cNvPr>
          <p:cNvSpPr/>
          <p:nvPr/>
        </p:nvSpPr>
        <p:spPr>
          <a:xfrm>
            <a:off x="1313531"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Live Sports</a:t>
            </a:r>
          </a:p>
        </p:txBody>
      </p:sp>
      <p:sp>
        <p:nvSpPr>
          <p:cNvPr id="15" name="Rectangle: Rounded Corners 14">
            <a:extLst>
              <a:ext uri="{FF2B5EF4-FFF2-40B4-BE49-F238E27FC236}">
                <a16:creationId xmlns:a16="http://schemas.microsoft.com/office/drawing/2014/main" id="{5D5174B2-8323-990A-8D15-88623970033E}"/>
              </a:ext>
            </a:extLst>
          </p:cNvPr>
          <p:cNvSpPr/>
          <p:nvPr/>
        </p:nvSpPr>
        <p:spPr>
          <a:xfrm>
            <a:off x="1375013" y="2326492"/>
            <a:ext cx="1025053" cy="218794"/>
          </a:xfrm>
          <a:prstGeom prst="roundRect">
            <a:avLst>
              <a:gd name="adj" fmla="val 19526"/>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Live match state</a:t>
            </a:r>
          </a:p>
        </p:txBody>
      </p:sp>
      <p:sp>
        <p:nvSpPr>
          <p:cNvPr id="16" name="Rectangle: Rounded Corners 15">
            <a:extLst>
              <a:ext uri="{FF2B5EF4-FFF2-40B4-BE49-F238E27FC236}">
                <a16:creationId xmlns:a16="http://schemas.microsoft.com/office/drawing/2014/main" id="{CEDB5617-12F3-312D-B22E-7C4427EE36D1}"/>
              </a:ext>
            </a:extLst>
          </p:cNvPr>
          <p:cNvSpPr/>
          <p:nvPr/>
        </p:nvSpPr>
        <p:spPr>
          <a:xfrm>
            <a:off x="2442903" y="2326492"/>
            <a:ext cx="1025053" cy="218794"/>
          </a:xfrm>
          <a:prstGeom prst="roundRect">
            <a:avLst>
              <a:gd name="adj" fmla="val 13722"/>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Technical quality signals</a:t>
            </a:r>
          </a:p>
        </p:txBody>
      </p:sp>
      <p:sp>
        <p:nvSpPr>
          <p:cNvPr id="17" name="Rectangle: Rounded Corners 16">
            <a:extLst>
              <a:ext uri="{FF2B5EF4-FFF2-40B4-BE49-F238E27FC236}">
                <a16:creationId xmlns:a16="http://schemas.microsoft.com/office/drawing/2014/main" id="{9D8280CD-68D1-5F68-CF1C-95F43A717334}"/>
              </a:ext>
            </a:extLst>
          </p:cNvPr>
          <p:cNvSpPr/>
          <p:nvPr/>
        </p:nvSpPr>
        <p:spPr>
          <a:xfrm>
            <a:off x="1375013" y="2588406"/>
            <a:ext cx="1025053" cy="218794"/>
          </a:xfrm>
          <a:prstGeom prst="roundRect">
            <a:avLst>
              <a:gd name="adj" fmla="val 12996"/>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Real-time stats</a:t>
            </a:r>
          </a:p>
        </p:txBody>
      </p:sp>
      <p:sp>
        <p:nvSpPr>
          <p:cNvPr id="18" name="Rectangle: Rounded Corners 17">
            <a:extLst>
              <a:ext uri="{FF2B5EF4-FFF2-40B4-BE49-F238E27FC236}">
                <a16:creationId xmlns:a16="http://schemas.microsoft.com/office/drawing/2014/main" id="{4E1D3830-A5F4-9EB6-2CBC-B872BC97C359}"/>
              </a:ext>
            </a:extLst>
          </p:cNvPr>
          <p:cNvSpPr/>
          <p:nvPr/>
        </p:nvSpPr>
        <p:spPr>
          <a:xfrm>
            <a:off x="1375013" y="2850320"/>
            <a:ext cx="1025053" cy="218794"/>
          </a:xfrm>
          <a:prstGeom prst="roundRect">
            <a:avLst>
              <a:gd name="adj" fmla="val 12270"/>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index</a:t>
            </a:r>
          </a:p>
        </p:txBody>
      </p:sp>
      <p:sp>
        <p:nvSpPr>
          <p:cNvPr id="19" name="Rectangle: Rounded Corners 18">
            <a:extLst>
              <a:ext uri="{FF2B5EF4-FFF2-40B4-BE49-F238E27FC236}">
                <a16:creationId xmlns:a16="http://schemas.microsoft.com/office/drawing/2014/main" id="{6236F8AA-DFFE-A068-DAC5-676DDA3FF205}"/>
              </a:ext>
            </a:extLst>
          </p:cNvPr>
          <p:cNvSpPr/>
          <p:nvPr/>
        </p:nvSpPr>
        <p:spPr>
          <a:xfrm>
            <a:off x="1313531"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Sports Archive</a:t>
            </a:r>
          </a:p>
        </p:txBody>
      </p:sp>
      <p:sp>
        <p:nvSpPr>
          <p:cNvPr id="20" name="Rectangle: Rounded Corners 19">
            <a:extLst>
              <a:ext uri="{FF2B5EF4-FFF2-40B4-BE49-F238E27FC236}">
                <a16:creationId xmlns:a16="http://schemas.microsoft.com/office/drawing/2014/main" id="{5B27B399-8D94-3A23-86BE-AB5A800014ED}"/>
              </a:ext>
            </a:extLst>
          </p:cNvPr>
          <p:cNvSpPr/>
          <p:nvPr/>
        </p:nvSpPr>
        <p:spPr>
          <a:xfrm>
            <a:off x="1375013" y="3666342"/>
            <a:ext cx="1025053" cy="218794"/>
          </a:xfrm>
          <a:prstGeom prst="roundRect">
            <a:avLst>
              <a:gd name="adj" fmla="val 12270"/>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Match recordings</a:t>
            </a:r>
          </a:p>
        </p:txBody>
      </p:sp>
      <p:sp>
        <p:nvSpPr>
          <p:cNvPr id="21" name="Rectangle: Rounded Corners 20">
            <a:extLst>
              <a:ext uri="{FF2B5EF4-FFF2-40B4-BE49-F238E27FC236}">
                <a16:creationId xmlns:a16="http://schemas.microsoft.com/office/drawing/2014/main" id="{F44629EF-BC54-B0F5-79E4-CE46225D4263}"/>
              </a:ext>
            </a:extLst>
          </p:cNvPr>
          <p:cNvSpPr/>
          <p:nvPr/>
        </p:nvSpPr>
        <p:spPr>
          <a:xfrm>
            <a:off x="2442903" y="3666342"/>
            <a:ext cx="1025053" cy="218794"/>
          </a:xfrm>
          <a:prstGeom prst="roundRect">
            <a:avLst>
              <a:gd name="adj" fmla="val 7917"/>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22" name="Rectangle: Rounded Corners 21">
            <a:extLst>
              <a:ext uri="{FF2B5EF4-FFF2-40B4-BE49-F238E27FC236}">
                <a16:creationId xmlns:a16="http://schemas.microsoft.com/office/drawing/2014/main" id="{8835C627-20C5-102D-DC33-AA984BBF87C7}"/>
              </a:ext>
            </a:extLst>
          </p:cNvPr>
          <p:cNvSpPr/>
          <p:nvPr/>
        </p:nvSpPr>
        <p:spPr>
          <a:xfrm>
            <a:off x="1375013" y="3928256"/>
            <a:ext cx="1025053" cy="218794"/>
          </a:xfrm>
          <a:prstGeom prst="roundRect">
            <a:avLst>
              <a:gd name="adj" fmla="val 10094"/>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packages</a:t>
            </a:r>
          </a:p>
        </p:txBody>
      </p:sp>
      <p:sp>
        <p:nvSpPr>
          <p:cNvPr id="23" name="Rectangle: Rounded Corners 22">
            <a:extLst>
              <a:ext uri="{FF2B5EF4-FFF2-40B4-BE49-F238E27FC236}">
                <a16:creationId xmlns:a16="http://schemas.microsoft.com/office/drawing/2014/main" id="{74CC8FD3-4960-BB43-8B97-FE0845B8498A}"/>
              </a:ext>
            </a:extLst>
          </p:cNvPr>
          <p:cNvSpPr/>
          <p:nvPr/>
        </p:nvSpPr>
        <p:spPr>
          <a:xfrm>
            <a:off x="2442903" y="3928256"/>
            <a:ext cx="1025053" cy="218794"/>
          </a:xfrm>
          <a:prstGeom prst="roundRect">
            <a:avLst>
              <a:gd name="adj" fmla="val 7192"/>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Archival rights windows</a:t>
            </a:r>
          </a:p>
        </p:txBody>
      </p:sp>
      <p:sp>
        <p:nvSpPr>
          <p:cNvPr id="24" name="Rectangle: Rounded Corners 23">
            <a:extLst>
              <a:ext uri="{FF2B5EF4-FFF2-40B4-BE49-F238E27FC236}">
                <a16:creationId xmlns:a16="http://schemas.microsoft.com/office/drawing/2014/main" id="{04DBDB84-9988-8480-397D-E7885C4E247B}"/>
              </a:ext>
            </a:extLst>
          </p:cNvPr>
          <p:cNvSpPr/>
          <p:nvPr/>
        </p:nvSpPr>
        <p:spPr>
          <a:xfrm>
            <a:off x="1375013" y="4190170"/>
            <a:ext cx="1025053" cy="218794"/>
          </a:xfrm>
          <a:prstGeom prst="roundRect">
            <a:avLst>
              <a:gd name="adj" fmla="val 11545"/>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Athlete/team entity graph</a:t>
            </a:r>
          </a:p>
        </p:txBody>
      </p:sp>
      <p:sp>
        <p:nvSpPr>
          <p:cNvPr id="25" name="Rectangle: Rounded Corners 24">
            <a:extLst>
              <a:ext uri="{FF2B5EF4-FFF2-40B4-BE49-F238E27FC236}">
                <a16:creationId xmlns:a16="http://schemas.microsoft.com/office/drawing/2014/main" id="{359EBDDC-FFE2-8B40-210F-4E6544C3A7BB}"/>
              </a:ext>
            </a:extLst>
          </p:cNvPr>
          <p:cNvSpPr/>
          <p:nvPr/>
        </p:nvSpPr>
        <p:spPr>
          <a:xfrm>
            <a:off x="4041108"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Publishing &amp; Versioning</a:t>
            </a:r>
          </a:p>
        </p:txBody>
      </p:sp>
      <p:sp>
        <p:nvSpPr>
          <p:cNvPr id="26" name="Rectangle: Rounded Corners 25">
            <a:extLst>
              <a:ext uri="{FF2B5EF4-FFF2-40B4-BE49-F238E27FC236}">
                <a16:creationId xmlns:a16="http://schemas.microsoft.com/office/drawing/2014/main" id="{0C12F409-01B9-B769-AAE4-9301E9CDCFCA}"/>
              </a:ext>
            </a:extLst>
          </p:cNvPr>
          <p:cNvSpPr/>
          <p:nvPr/>
        </p:nvSpPr>
        <p:spPr>
          <a:xfrm>
            <a:off x="4102590" y="2326492"/>
            <a:ext cx="1025053" cy="218794"/>
          </a:xfrm>
          <a:prstGeom prst="roundRect">
            <a:avLst>
              <a:gd name="adj" fmla="val 8642"/>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Story ID</a:t>
            </a:r>
          </a:p>
        </p:txBody>
      </p:sp>
      <p:sp>
        <p:nvSpPr>
          <p:cNvPr id="27" name="Rectangle: Rounded Corners 26">
            <a:extLst>
              <a:ext uri="{FF2B5EF4-FFF2-40B4-BE49-F238E27FC236}">
                <a16:creationId xmlns:a16="http://schemas.microsoft.com/office/drawing/2014/main" id="{E8669068-3B12-B7B7-C782-4A54471E2522}"/>
              </a:ext>
            </a:extLst>
          </p:cNvPr>
          <p:cNvSpPr/>
          <p:nvPr/>
        </p:nvSpPr>
        <p:spPr>
          <a:xfrm>
            <a:off x="5170480" y="2326492"/>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Embargo lift time</a:t>
            </a:r>
          </a:p>
        </p:txBody>
      </p:sp>
      <p:sp>
        <p:nvSpPr>
          <p:cNvPr id="28" name="Rectangle: Rounded Corners 27">
            <a:extLst>
              <a:ext uri="{FF2B5EF4-FFF2-40B4-BE49-F238E27FC236}">
                <a16:creationId xmlns:a16="http://schemas.microsoft.com/office/drawing/2014/main" id="{F3869E5D-E24A-592C-4F3F-864B74E45D15}"/>
              </a:ext>
            </a:extLst>
          </p:cNvPr>
          <p:cNvSpPr/>
          <p:nvPr/>
        </p:nvSpPr>
        <p:spPr>
          <a:xfrm>
            <a:off x="4102590" y="2588406"/>
            <a:ext cx="1025053" cy="218794"/>
          </a:xfrm>
          <a:prstGeom prst="roundRect">
            <a:avLst>
              <a:gd name="adj" fmla="val 7917"/>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Version chain</a:t>
            </a:r>
          </a:p>
        </p:txBody>
      </p:sp>
      <p:sp>
        <p:nvSpPr>
          <p:cNvPr id="29" name="Rectangle: Rounded Corners 28">
            <a:extLst>
              <a:ext uri="{FF2B5EF4-FFF2-40B4-BE49-F238E27FC236}">
                <a16:creationId xmlns:a16="http://schemas.microsoft.com/office/drawing/2014/main" id="{22FC4CFF-B691-8187-475E-C81891D7D6A2}"/>
              </a:ext>
            </a:extLst>
          </p:cNvPr>
          <p:cNvSpPr/>
          <p:nvPr/>
        </p:nvSpPr>
        <p:spPr>
          <a:xfrm>
            <a:off x="5170480" y="2588406"/>
            <a:ext cx="1025053" cy="218794"/>
          </a:xfrm>
          <a:prstGeom prst="roundRect">
            <a:avLst>
              <a:gd name="adj" fmla="val 10819"/>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Wire source ID</a:t>
            </a:r>
          </a:p>
        </p:txBody>
      </p:sp>
      <p:sp>
        <p:nvSpPr>
          <p:cNvPr id="30" name="Rectangle: Rounded Corners 29">
            <a:extLst>
              <a:ext uri="{FF2B5EF4-FFF2-40B4-BE49-F238E27FC236}">
                <a16:creationId xmlns:a16="http://schemas.microsoft.com/office/drawing/2014/main" id="{267FE601-674F-ED17-634E-675D26417A08}"/>
              </a:ext>
            </a:extLst>
          </p:cNvPr>
          <p:cNvSpPr/>
          <p:nvPr/>
        </p:nvSpPr>
        <p:spPr>
          <a:xfrm>
            <a:off x="4102590" y="2850320"/>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Publish Timestamp</a:t>
            </a:r>
          </a:p>
        </p:txBody>
      </p:sp>
      <p:sp>
        <p:nvSpPr>
          <p:cNvPr id="31" name="Rectangle: Rounded Corners 30">
            <a:extLst>
              <a:ext uri="{FF2B5EF4-FFF2-40B4-BE49-F238E27FC236}">
                <a16:creationId xmlns:a16="http://schemas.microsoft.com/office/drawing/2014/main" id="{A33BB7D7-7602-2727-42BA-BA319D456A06}"/>
              </a:ext>
            </a:extLst>
          </p:cNvPr>
          <p:cNvSpPr/>
          <p:nvPr/>
        </p:nvSpPr>
        <p:spPr>
          <a:xfrm>
            <a:off x="5170480" y="2850320"/>
            <a:ext cx="1025053" cy="218794"/>
          </a:xfrm>
          <a:prstGeom prst="roundRect">
            <a:avLst>
              <a:gd name="adj" fmla="val 11545"/>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Editorial desk assignment</a:t>
            </a:r>
          </a:p>
        </p:txBody>
      </p:sp>
      <p:sp>
        <p:nvSpPr>
          <p:cNvPr id="32" name="Rectangle: Rounded Corners 31">
            <a:extLst>
              <a:ext uri="{FF2B5EF4-FFF2-40B4-BE49-F238E27FC236}">
                <a16:creationId xmlns:a16="http://schemas.microsoft.com/office/drawing/2014/main" id="{B5B5595C-F875-F50F-556D-9C66C8369B5C}"/>
              </a:ext>
            </a:extLst>
          </p:cNvPr>
          <p:cNvSpPr/>
          <p:nvPr/>
        </p:nvSpPr>
        <p:spPr>
          <a:xfrm>
            <a:off x="4041108"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News Entity &amp; Knowledge Graph</a:t>
            </a:r>
          </a:p>
        </p:txBody>
      </p:sp>
      <p:sp>
        <p:nvSpPr>
          <p:cNvPr id="33" name="Rectangle: Rounded Corners 32">
            <a:extLst>
              <a:ext uri="{FF2B5EF4-FFF2-40B4-BE49-F238E27FC236}">
                <a16:creationId xmlns:a16="http://schemas.microsoft.com/office/drawing/2014/main" id="{6EAD1439-B434-0F0F-18B6-2F16ADE1F8B4}"/>
              </a:ext>
            </a:extLst>
          </p:cNvPr>
          <p:cNvSpPr/>
          <p:nvPr/>
        </p:nvSpPr>
        <p:spPr>
          <a:xfrm>
            <a:off x="4102590" y="3666342"/>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Named entity recognition output</a:t>
            </a:r>
          </a:p>
        </p:txBody>
      </p:sp>
      <p:sp>
        <p:nvSpPr>
          <p:cNvPr id="34" name="Rectangle: Rounded Corners 33">
            <a:extLst>
              <a:ext uri="{FF2B5EF4-FFF2-40B4-BE49-F238E27FC236}">
                <a16:creationId xmlns:a16="http://schemas.microsoft.com/office/drawing/2014/main" id="{1D80220A-AAB6-5C1D-BDA1-C376F16046CC}"/>
              </a:ext>
            </a:extLst>
          </p:cNvPr>
          <p:cNvSpPr/>
          <p:nvPr/>
        </p:nvSpPr>
        <p:spPr>
          <a:xfrm>
            <a:off x="5170480" y="3666342"/>
            <a:ext cx="1025053" cy="218794"/>
          </a:xfrm>
          <a:prstGeom prst="roundRect">
            <a:avLst>
              <a:gd name="adj" fmla="val 12271"/>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Sentiment signals</a:t>
            </a:r>
          </a:p>
        </p:txBody>
      </p:sp>
      <p:sp>
        <p:nvSpPr>
          <p:cNvPr id="35" name="Rectangle: Rounded Corners 34">
            <a:extLst>
              <a:ext uri="{FF2B5EF4-FFF2-40B4-BE49-F238E27FC236}">
                <a16:creationId xmlns:a16="http://schemas.microsoft.com/office/drawing/2014/main" id="{75CBB971-3927-5138-49CC-B47C82C023F7}"/>
              </a:ext>
            </a:extLst>
          </p:cNvPr>
          <p:cNvSpPr/>
          <p:nvPr/>
        </p:nvSpPr>
        <p:spPr>
          <a:xfrm>
            <a:off x="4102590" y="3928256"/>
            <a:ext cx="1025053" cy="218794"/>
          </a:xfrm>
          <a:prstGeom prst="roundRect">
            <a:avLst>
              <a:gd name="adj" fmla="val 10819"/>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Geotags</a:t>
            </a:r>
          </a:p>
        </p:txBody>
      </p:sp>
      <p:sp>
        <p:nvSpPr>
          <p:cNvPr id="36" name="Rectangle: Rounded Corners 35">
            <a:extLst>
              <a:ext uri="{FF2B5EF4-FFF2-40B4-BE49-F238E27FC236}">
                <a16:creationId xmlns:a16="http://schemas.microsoft.com/office/drawing/2014/main" id="{6EBC775F-D1B4-0BE3-FC0A-EB325E14940D}"/>
              </a:ext>
            </a:extLst>
          </p:cNvPr>
          <p:cNvSpPr/>
          <p:nvPr/>
        </p:nvSpPr>
        <p:spPr>
          <a:xfrm>
            <a:off x="5170480" y="3928256"/>
            <a:ext cx="1025053" cy="218794"/>
          </a:xfrm>
          <a:prstGeom prst="roundRect">
            <a:avLst>
              <a:gd name="adj" fmla="val 12996"/>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Related story clusters</a:t>
            </a:r>
          </a:p>
        </p:txBody>
      </p:sp>
      <p:sp>
        <p:nvSpPr>
          <p:cNvPr id="37" name="Rectangle: Rounded Corners 36">
            <a:extLst>
              <a:ext uri="{FF2B5EF4-FFF2-40B4-BE49-F238E27FC236}">
                <a16:creationId xmlns:a16="http://schemas.microsoft.com/office/drawing/2014/main" id="{057876FC-958A-62A5-56CD-793511D87608}"/>
              </a:ext>
            </a:extLst>
          </p:cNvPr>
          <p:cNvSpPr/>
          <p:nvPr/>
        </p:nvSpPr>
        <p:spPr>
          <a:xfrm>
            <a:off x="4102590" y="4190170"/>
            <a:ext cx="1025053" cy="218794"/>
          </a:xfrm>
          <a:prstGeom prst="roundRect">
            <a:avLst>
              <a:gd name="adj" fmla="val 10819"/>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Topic classification</a:t>
            </a:r>
          </a:p>
        </p:txBody>
      </p:sp>
      <p:sp>
        <p:nvSpPr>
          <p:cNvPr id="38" name="Rectangle: Rounded Corners 37">
            <a:extLst>
              <a:ext uri="{FF2B5EF4-FFF2-40B4-BE49-F238E27FC236}">
                <a16:creationId xmlns:a16="http://schemas.microsoft.com/office/drawing/2014/main" id="{6970988E-960B-10B8-BCD4-81E97FCA4CFC}"/>
              </a:ext>
            </a:extLst>
          </p:cNvPr>
          <p:cNvSpPr/>
          <p:nvPr/>
        </p:nvSpPr>
        <p:spPr>
          <a:xfrm>
            <a:off x="6768686" y="203669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Content Catalog</a:t>
            </a:r>
          </a:p>
        </p:txBody>
      </p:sp>
      <p:sp>
        <p:nvSpPr>
          <p:cNvPr id="39" name="Rectangle: Rounded Corners 38">
            <a:extLst>
              <a:ext uri="{FF2B5EF4-FFF2-40B4-BE49-F238E27FC236}">
                <a16:creationId xmlns:a16="http://schemas.microsoft.com/office/drawing/2014/main" id="{3DA60213-7CB1-7A04-DB6C-490408867C85}"/>
              </a:ext>
            </a:extLst>
          </p:cNvPr>
          <p:cNvSpPr/>
          <p:nvPr/>
        </p:nvSpPr>
        <p:spPr>
          <a:xfrm>
            <a:off x="6830170" y="2326492"/>
            <a:ext cx="1025053" cy="218794"/>
          </a:xfrm>
          <a:prstGeom prst="roundRect">
            <a:avLst>
              <a:gd name="adj" fmla="val 7192"/>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EIDR</a:t>
            </a:r>
          </a:p>
        </p:txBody>
      </p:sp>
      <p:sp>
        <p:nvSpPr>
          <p:cNvPr id="40" name="Rectangle: Rounded Corners 39">
            <a:extLst>
              <a:ext uri="{FF2B5EF4-FFF2-40B4-BE49-F238E27FC236}">
                <a16:creationId xmlns:a16="http://schemas.microsoft.com/office/drawing/2014/main" id="{12C6D994-7B20-A258-BD0E-ED05A921AA17}"/>
              </a:ext>
            </a:extLst>
          </p:cNvPr>
          <p:cNvSpPr/>
          <p:nvPr/>
        </p:nvSpPr>
        <p:spPr>
          <a:xfrm>
            <a:off x="7898059" y="2326492"/>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MPAA/BBFC rating</a:t>
            </a:r>
          </a:p>
        </p:txBody>
      </p:sp>
      <p:sp>
        <p:nvSpPr>
          <p:cNvPr id="41" name="Rectangle: Rounded Corners 40">
            <a:extLst>
              <a:ext uri="{FF2B5EF4-FFF2-40B4-BE49-F238E27FC236}">
                <a16:creationId xmlns:a16="http://schemas.microsoft.com/office/drawing/2014/main" id="{EBA3253E-EB9C-634A-071A-D0F514B9DF93}"/>
              </a:ext>
            </a:extLst>
          </p:cNvPr>
          <p:cNvSpPr/>
          <p:nvPr/>
        </p:nvSpPr>
        <p:spPr>
          <a:xfrm>
            <a:off x="6830170" y="2588406"/>
            <a:ext cx="1025053" cy="218794"/>
          </a:xfrm>
          <a:prstGeom prst="roundRect">
            <a:avLst>
              <a:gd name="adj" fmla="val 8642"/>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Series-season-episode hierarchy</a:t>
            </a:r>
          </a:p>
        </p:txBody>
      </p:sp>
      <p:sp>
        <p:nvSpPr>
          <p:cNvPr id="42" name="Rectangle: Rounded Corners 41">
            <a:extLst>
              <a:ext uri="{FF2B5EF4-FFF2-40B4-BE49-F238E27FC236}">
                <a16:creationId xmlns:a16="http://schemas.microsoft.com/office/drawing/2014/main" id="{1213A8ED-D50C-4AF2-17E1-85F2F00824FF}"/>
              </a:ext>
            </a:extLst>
          </p:cNvPr>
          <p:cNvSpPr/>
          <p:nvPr/>
        </p:nvSpPr>
        <p:spPr>
          <a:xfrm>
            <a:off x="7898059" y="2588406"/>
            <a:ext cx="1025053" cy="218794"/>
          </a:xfrm>
          <a:prstGeom prst="roundRect">
            <a:avLst>
              <a:gd name="adj" fmla="val 10094"/>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Content advisory codes</a:t>
            </a:r>
          </a:p>
        </p:txBody>
      </p:sp>
      <p:sp>
        <p:nvSpPr>
          <p:cNvPr id="43" name="Rectangle: Rounded Corners 42">
            <a:extLst>
              <a:ext uri="{FF2B5EF4-FFF2-40B4-BE49-F238E27FC236}">
                <a16:creationId xmlns:a16="http://schemas.microsoft.com/office/drawing/2014/main" id="{676DFCD9-6AEF-2EC2-ACEF-F70C75F26D14}"/>
              </a:ext>
            </a:extLst>
          </p:cNvPr>
          <p:cNvSpPr/>
          <p:nvPr/>
        </p:nvSpPr>
        <p:spPr>
          <a:xfrm>
            <a:off x="6830170" y="2850320"/>
            <a:ext cx="1025053" cy="218794"/>
          </a:xfrm>
          <a:prstGeom prst="roundRect">
            <a:avLst>
              <a:gd name="adj" fmla="val 10094"/>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Production credits</a:t>
            </a:r>
          </a:p>
        </p:txBody>
      </p:sp>
      <p:sp>
        <p:nvSpPr>
          <p:cNvPr id="44" name="Rectangle: Rounded Corners 43">
            <a:extLst>
              <a:ext uri="{FF2B5EF4-FFF2-40B4-BE49-F238E27FC236}">
                <a16:creationId xmlns:a16="http://schemas.microsoft.com/office/drawing/2014/main" id="{1A66332B-6DD2-931F-23AF-7E26837147F7}"/>
              </a:ext>
            </a:extLst>
          </p:cNvPr>
          <p:cNvSpPr/>
          <p:nvPr/>
        </p:nvSpPr>
        <p:spPr>
          <a:xfrm>
            <a:off x="7898059" y="2850320"/>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Dubbing/subtitle inventory</a:t>
            </a:r>
          </a:p>
        </p:txBody>
      </p:sp>
      <p:sp>
        <p:nvSpPr>
          <p:cNvPr id="45" name="Rectangle: Rounded Corners 44">
            <a:extLst>
              <a:ext uri="{FF2B5EF4-FFF2-40B4-BE49-F238E27FC236}">
                <a16:creationId xmlns:a16="http://schemas.microsoft.com/office/drawing/2014/main" id="{8C82FF23-96FD-4CB9-9417-74F42B56D16D}"/>
              </a:ext>
            </a:extLst>
          </p:cNvPr>
          <p:cNvSpPr/>
          <p:nvPr/>
        </p:nvSpPr>
        <p:spPr>
          <a:xfrm>
            <a:off x="6768686" y="3376544"/>
            <a:ext cx="220759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Discovery</a:t>
            </a:r>
          </a:p>
        </p:txBody>
      </p:sp>
      <p:sp>
        <p:nvSpPr>
          <p:cNvPr id="46" name="Rectangle: Rounded Corners 45">
            <a:extLst>
              <a:ext uri="{FF2B5EF4-FFF2-40B4-BE49-F238E27FC236}">
                <a16:creationId xmlns:a16="http://schemas.microsoft.com/office/drawing/2014/main" id="{CD5B191E-5A9D-D785-2295-56ABCAF55303}"/>
              </a:ext>
            </a:extLst>
          </p:cNvPr>
          <p:cNvSpPr/>
          <p:nvPr/>
        </p:nvSpPr>
        <p:spPr>
          <a:xfrm>
            <a:off x="6830170" y="3666342"/>
            <a:ext cx="1025053" cy="218794"/>
          </a:xfrm>
          <a:prstGeom prst="roundRect">
            <a:avLst>
              <a:gd name="adj" fmla="val 12270"/>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Genre taxonomy</a:t>
            </a:r>
          </a:p>
        </p:txBody>
      </p:sp>
      <p:sp>
        <p:nvSpPr>
          <p:cNvPr id="47" name="Rectangle: Rounded Corners 46">
            <a:extLst>
              <a:ext uri="{FF2B5EF4-FFF2-40B4-BE49-F238E27FC236}">
                <a16:creationId xmlns:a16="http://schemas.microsoft.com/office/drawing/2014/main" id="{2131F33B-239D-D15D-92EA-2436D2848725}"/>
              </a:ext>
            </a:extLst>
          </p:cNvPr>
          <p:cNvSpPr/>
          <p:nvPr/>
        </p:nvSpPr>
        <p:spPr>
          <a:xfrm>
            <a:off x="7898059" y="3666342"/>
            <a:ext cx="1025053" cy="218794"/>
          </a:xfrm>
          <a:prstGeom prst="roundRect">
            <a:avLst>
              <a:gd name="adj" fmla="val 12996"/>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48" name="Rectangle: Rounded Corners 47">
            <a:extLst>
              <a:ext uri="{FF2B5EF4-FFF2-40B4-BE49-F238E27FC236}">
                <a16:creationId xmlns:a16="http://schemas.microsoft.com/office/drawing/2014/main" id="{E5C4F762-315F-4919-4EC6-4DF5DC2DC167}"/>
              </a:ext>
            </a:extLst>
          </p:cNvPr>
          <p:cNvSpPr/>
          <p:nvPr/>
        </p:nvSpPr>
        <p:spPr>
          <a:xfrm>
            <a:off x="6830170" y="3928256"/>
            <a:ext cx="1025053" cy="218794"/>
          </a:xfrm>
          <a:prstGeom prst="roundRect">
            <a:avLst>
              <a:gd name="adj" fmla="val 15899"/>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Audience demographic affinity</a:t>
            </a:r>
          </a:p>
        </p:txBody>
      </p:sp>
      <p:sp>
        <p:nvSpPr>
          <p:cNvPr id="49" name="Rectangle: Rounded Corners 48">
            <a:extLst>
              <a:ext uri="{FF2B5EF4-FFF2-40B4-BE49-F238E27FC236}">
                <a16:creationId xmlns:a16="http://schemas.microsoft.com/office/drawing/2014/main" id="{449E6A70-5D45-F09B-7798-4C220C364111}"/>
              </a:ext>
            </a:extLst>
          </p:cNvPr>
          <p:cNvSpPr/>
          <p:nvPr/>
        </p:nvSpPr>
        <p:spPr>
          <a:xfrm>
            <a:off x="7898059" y="3928256"/>
            <a:ext cx="1025053" cy="218794"/>
          </a:xfrm>
          <a:prstGeom prst="roundRect">
            <a:avLst>
              <a:gd name="adj" fmla="val 9368"/>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Franchise relationships</a:t>
            </a:r>
          </a:p>
        </p:txBody>
      </p:sp>
      <p:sp>
        <p:nvSpPr>
          <p:cNvPr id="50" name="Rectangle: Rounded Corners 49">
            <a:extLst>
              <a:ext uri="{FF2B5EF4-FFF2-40B4-BE49-F238E27FC236}">
                <a16:creationId xmlns:a16="http://schemas.microsoft.com/office/drawing/2014/main" id="{7A0560B4-68FB-E513-2F9B-E07AE79808E9}"/>
              </a:ext>
            </a:extLst>
          </p:cNvPr>
          <p:cNvSpPr/>
          <p:nvPr/>
        </p:nvSpPr>
        <p:spPr>
          <a:xfrm>
            <a:off x="6830170" y="4190170"/>
            <a:ext cx="1025053" cy="218794"/>
          </a:xfrm>
          <a:prstGeom prst="roundRect">
            <a:avLst>
              <a:gd name="adj" fmla="val 10819"/>
            </a:avLst>
          </a:prstGeom>
          <a:solidFill>
            <a:srgbClr val="002060"/>
          </a:solid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Viewing completion signals</a:t>
            </a:r>
          </a:p>
        </p:txBody>
      </p:sp>
      <p:sp>
        <p:nvSpPr>
          <p:cNvPr id="83" name="Rectangle: Rounded Corners 82">
            <a:extLst>
              <a:ext uri="{FF2B5EF4-FFF2-40B4-BE49-F238E27FC236}">
                <a16:creationId xmlns:a16="http://schemas.microsoft.com/office/drawing/2014/main" id="{3E43235F-B7A5-F61C-F678-0B921D43AE2F}"/>
              </a:ext>
            </a:extLst>
          </p:cNvPr>
          <p:cNvSpPr/>
          <p:nvPr/>
        </p:nvSpPr>
        <p:spPr>
          <a:xfrm>
            <a:off x="1121642" y="4975722"/>
            <a:ext cx="804652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Rights &amp; Compliance</a:t>
            </a:r>
          </a:p>
        </p:txBody>
      </p:sp>
      <p:sp>
        <p:nvSpPr>
          <p:cNvPr id="84" name="Rectangle: Rounded Corners 83">
            <a:extLst>
              <a:ext uri="{FF2B5EF4-FFF2-40B4-BE49-F238E27FC236}">
                <a16:creationId xmlns:a16="http://schemas.microsoft.com/office/drawing/2014/main" id="{E54A73B6-A692-D2DA-9F6D-4211A98DF985}"/>
              </a:ext>
            </a:extLst>
          </p:cNvPr>
          <p:cNvSpPr/>
          <p:nvPr/>
        </p:nvSpPr>
        <p:spPr>
          <a:xfrm>
            <a:off x="1313530"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Rights Agreement</a:t>
            </a:r>
          </a:p>
        </p:txBody>
      </p:sp>
      <p:sp>
        <p:nvSpPr>
          <p:cNvPr id="85" name="Rectangle: Rounded Corners 84">
            <a:extLst>
              <a:ext uri="{FF2B5EF4-FFF2-40B4-BE49-F238E27FC236}">
                <a16:creationId xmlns:a16="http://schemas.microsoft.com/office/drawing/2014/main" id="{6B07B80E-8C9A-87AB-38B2-18DC76D8CB5E}"/>
              </a:ext>
            </a:extLst>
          </p:cNvPr>
          <p:cNvSpPr/>
          <p:nvPr/>
        </p:nvSpPr>
        <p:spPr>
          <a:xfrm>
            <a:off x="2604724"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Rights Scope</a:t>
            </a:r>
          </a:p>
        </p:txBody>
      </p:sp>
      <p:sp>
        <p:nvSpPr>
          <p:cNvPr id="86" name="Rectangle: Rounded Corners 85">
            <a:extLst>
              <a:ext uri="{FF2B5EF4-FFF2-40B4-BE49-F238E27FC236}">
                <a16:creationId xmlns:a16="http://schemas.microsoft.com/office/drawing/2014/main" id="{9C45AC04-B5D9-E89B-A1ED-DC3D9AD77FA9}"/>
              </a:ext>
            </a:extLst>
          </p:cNvPr>
          <p:cNvSpPr/>
          <p:nvPr/>
        </p:nvSpPr>
        <p:spPr>
          <a:xfrm>
            <a:off x="3895917"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Temporal Window</a:t>
            </a:r>
          </a:p>
        </p:txBody>
      </p:sp>
      <p:sp>
        <p:nvSpPr>
          <p:cNvPr id="87" name="Rectangle: Rounded Corners 86">
            <a:extLst>
              <a:ext uri="{FF2B5EF4-FFF2-40B4-BE49-F238E27FC236}">
                <a16:creationId xmlns:a16="http://schemas.microsoft.com/office/drawing/2014/main" id="{12E47F46-ADB8-9C38-4F93-3AC795D55EFB}"/>
              </a:ext>
            </a:extLst>
          </p:cNvPr>
          <p:cNvSpPr/>
          <p:nvPr/>
        </p:nvSpPr>
        <p:spPr>
          <a:xfrm>
            <a:off x="5187112"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Obligations</a:t>
            </a:r>
          </a:p>
        </p:txBody>
      </p:sp>
      <p:sp>
        <p:nvSpPr>
          <p:cNvPr id="88" name="Rectangle: Rounded Corners 87">
            <a:extLst>
              <a:ext uri="{FF2B5EF4-FFF2-40B4-BE49-F238E27FC236}">
                <a16:creationId xmlns:a16="http://schemas.microsoft.com/office/drawing/2014/main" id="{A9B7EF61-1B5A-576D-9FD1-E18E3309DE58}"/>
              </a:ext>
            </a:extLst>
          </p:cNvPr>
          <p:cNvSpPr/>
          <p:nvPr/>
        </p:nvSpPr>
        <p:spPr>
          <a:xfrm>
            <a:off x="6478306"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Compliance &amp; Audit</a:t>
            </a:r>
          </a:p>
        </p:txBody>
      </p:sp>
      <p:sp>
        <p:nvSpPr>
          <p:cNvPr id="89" name="Rectangle: Rounded Corners 88">
            <a:extLst>
              <a:ext uri="{FF2B5EF4-FFF2-40B4-BE49-F238E27FC236}">
                <a16:creationId xmlns:a16="http://schemas.microsoft.com/office/drawing/2014/main" id="{95B09476-FDE1-0239-2009-AA608DAD3FF6}"/>
              </a:ext>
            </a:extLst>
          </p:cNvPr>
          <p:cNvSpPr/>
          <p:nvPr/>
        </p:nvSpPr>
        <p:spPr>
          <a:xfrm>
            <a:off x="7769499" y="5234904"/>
            <a:ext cx="1206781"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Vertical Extension</a:t>
            </a:r>
          </a:p>
        </p:txBody>
      </p:sp>
      <p:sp>
        <p:nvSpPr>
          <p:cNvPr id="77" name="Rectangle: Rounded Corners 76">
            <a:extLst>
              <a:ext uri="{FF2B5EF4-FFF2-40B4-BE49-F238E27FC236}">
                <a16:creationId xmlns:a16="http://schemas.microsoft.com/office/drawing/2014/main" id="{157EB778-4BC7-EE4E-C050-F50656C57276}"/>
              </a:ext>
            </a:extLst>
          </p:cNvPr>
          <p:cNvSpPr/>
          <p:nvPr/>
        </p:nvSpPr>
        <p:spPr>
          <a:xfrm>
            <a:off x="1121642" y="5842539"/>
            <a:ext cx="804652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Distribution</a:t>
            </a:r>
          </a:p>
        </p:txBody>
      </p:sp>
      <p:sp>
        <p:nvSpPr>
          <p:cNvPr id="78" name="Rectangle: Rounded Corners 77">
            <a:extLst>
              <a:ext uri="{FF2B5EF4-FFF2-40B4-BE49-F238E27FC236}">
                <a16:creationId xmlns:a16="http://schemas.microsoft.com/office/drawing/2014/main" id="{F817DAAF-E2CC-0A17-A3E2-401BFB2AB5C1}"/>
              </a:ext>
            </a:extLst>
          </p:cNvPr>
          <p:cNvSpPr/>
          <p:nvPr/>
        </p:nvSpPr>
        <p:spPr>
          <a:xfrm>
            <a:off x="1313529"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a:r>
              <a:rPr lang="en-US" sz="800">
                <a:solidFill>
                  <a:schemeClr val="bg1"/>
                </a:solidFill>
              </a:rPr>
              <a:t>Channel &amp; Platform Registry</a:t>
            </a:r>
          </a:p>
        </p:txBody>
      </p:sp>
      <p:sp>
        <p:nvSpPr>
          <p:cNvPr id="79" name="Rectangle: Rounded Corners 78">
            <a:extLst>
              <a:ext uri="{FF2B5EF4-FFF2-40B4-BE49-F238E27FC236}">
                <a16:creationId xmlns:a16="http://schemas.microsoft.com/office/drawing/2014/main" id="{E2986660-2544-D899-41EB-66E9D27B422A}"/>
              </a:ext>
            </a:extLst>
          </p:cNvPr>
          <p:cNvSpPr/>
          <p:nvPr/>
        </p:nvSpPr>
        <p:spPr>
          <a:xfrm>
            <a:off x="2869603"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Scheduling &amp; Slots</a:t>
            </a:r>
          </a:p>
        </p:txBody>
      </p:sp>
      <p:sp>
        <p:nvSpPr>
          <p:cNvPr id="80" name="Rectangle: Rounded Corners 79">
            <a:extLst>
              <a:ext uri="{FF2B5EF4-FFF2-40B4-BE49-F238E27FC236}">
                <a16:creationId xmlns:a16="http://schemas.microsoft.com/office/drawing/2014/main" id="{134FBAB5-3707-0167-BB20-B9A1D76B4CB3}"/>
              </a:ext>
            </a:extLst>
          </p:cNvPr>
          <p:cNvSpPr/>
          <p:nvPr/>
        </p:nvSpPr>
        <p:spPr>
          <a:xfrm>
            <a:off x="4425678"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VOD Publication</a:t>
            </a:r>
          </a:p>
        </p:txBody>
      </p:sp>
      <p:sp>
        <p:nvSpPr>
          <p:cNvPr id="81" name="Rectangle: Rounded Corners 80">
            <a:extLst>
              <a:ext uri="{FF2B5EF4-FFF2-40B4-BE49-F238E27FC236}">
                <a16:creationId xmlns:a16="http://schemas.microsoft.com/office/drawing/2014/main" id="{CE1C59B4-8A57-2D63-F80D-368525F9C766}"/>
              </a:ext>
            </a:extLst>
          </p:cNvPr>
          <p:cNvSpPr/>
          <p:nvPr/>
        </p:nvSpPr>
        <p:spPr>
          <a:xfrm>
            <a:off x="5981752"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Performance</a:t>
            </a:r>
          </a:p>
        </p:txBody>
      </p:sp>
      <p:sp>
        <p:nvSpPr>
          <p:cNvPr id="82" name="Rectangle: Rounded Corners 81">
            <a:extLst>
              <a:ext uri="{FF2B5EF4-FFF2-40B4-BE49-F238E27FC236}">
                <a16:creationId xmlns:a16="http://schemas.microsoft.com/office/drawing/2014/main" id="{33DBF089-72D3-316A-C235-236DE13E76BB}"/>
              </a:ext>
            </a:extLst>
          </p:cNvPr>
          <p:cNvSpPr/>
          <p:nvPr/>
        </p:nvSpPr>
        <p:spPr>
          <a:xfrm>
            <a:off x="7537827" y="6113373"/>
            <a:ext cx="1438454"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noAutofit/>
          </a:bodyPr>
          <a:lstStyle/>
          <a:p>
            <a:pPr algn="ctr"/>
            <a:r>
              <a:rPr lang="en-US" sz="800">
                <a:solidFill>
                  <a:schemeClr val="bg1"/>
                </a:solidFill>
              </a:rPr>
              <a:t>Technical Delivery &amp; Quality</a:t>
            </a:r>
          </a:p>
        </p:txBody>
      </p:sp>
      <p:grpSp>
        <p:nvGrpSpPr>
          <p:cNvPr id="53" name="Group 52">
            <a:extLst>
              <a:ext uri="{FF2B5EF4-FFF2-40B4-BE49-F238E27FC236}">
                <a16:creationId xmlns:a16="http://schemas.microsoft.com/office/drawing/2014/main" id="{949250FE-78CC-AAA2-C17D-843B0F64A493}"/>
              </a:ext>
            </a:extLst>
          </p:cNvPr>
          <p:cNvGrpSpPr/>
          <p:nvPr/>
        </p:nvGrpSpPr>
        <p:grpSpPr>
          <a:xfrm>
            <a:off x="9537787" y="1719072"/>
            <a:ext cx="1646651" cy="951103"/>
            <a:chOff x="9528175" y="1719072"/>
            <a:chExt cx="1654176" cy="951103"/>
          </a:xfrm>
        </p:grpSpPr>
        <p:sp>
          <p:nvSpPr>
            <p:cNvPr id="74" name="Rectangle: Rounded Corners 73">
              <a:extLst>
                <a:ext uri="{FF2B5EF4-FFF2-40B4-BE49-F238E27FC236}">
                  <a16:creationId xmlns:a16="http://schemas.microsoft.com/office/drawing/2014/main" id="{E4AA60BC-DF38-26EA-58AF-E62B07F50A36}"/>
                </a:ext>
              </a:extLst>
            </p:cNvPr>
            <p:cNvSpPr/>
            <p:nvPr/>
          </p:nvSpPr>
          <p:spPr>
            <a:xfrm>
              <a:off x="9528175" y="1719072"/>
              <a:ext cx="1654176" cy="951103"/>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Identity &amp; Reference</a:t>
              </a:r>
            </a:p>
          </p:txBody>
        </p:sp>
        <p:sp>
          <p:nvSpPr>
            <p:cNvPr id="75" name="Rectangle: Rounded Corners 74">
              <a:extLst>
                <a:ext uri="{FF2B5EF4-FFF2-40B4-BE49-F238E27FC236}">
                  <a16:creationId xmlns:a16="http://schemas.microsoft.com/office/drawing/2014/main" id="{F6855823-5CDE-2BEC-8097-8F4B34AC48C7}"/>
                </a:ext>
              </a:extLst>
            </p:cNvPr>
            <p:cNvSpPr/>
            <p:nvPr/>
          </p:nvSpPr>
          <p:spPr>
            <a:xfrm>
              <a:off x="9604395" y="1973194"/>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Content Identity</a:t>
              </a:r>
            </a:p>
          </p:txBody>
        </p:sp>
        <p:sp>
          <p:nvSpPr>
            <p:cNvPr id="76" name="Rectangle: Rounded Corners 75">
              <a:extLst>
                <a:ext uri="{FF2B5EF4-FFF2-40B4-BE49-F238E27FC236}">
                  <a16:creationId xmlns:a16="http://schemas.microsoft.com/office/drawing/2014/main" id="{3FA61599-5F6B-8A57-61AD-3189791A19E3}"/>
                </a:ext>
              </a:extLst>
            </p:cNvPr>
            <p:cNvSpPr/>
            <p:nvPr/>
          </p:nvSpPr>
          <p:spPr>
            <a:xfrm>
              <a:off x="9604395" y="230969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Cross-Domain Reference</a:t>
              </a:r>
            </a:p>
          </p:txBody>
        </p:sp>
      </p:grpSp>
      <p:grpSp>
        <p:nvGrpSpPr>
          <p:cNvPr id="54" name="Group 53">
            <a:extLst>
              <a:ext uri="{FF2B5EF4-FFF2-40B4-BE49-F238E27FC236}">
                <a16:creationId xmlns:a16="http://schemas.microsoft.com/office/drawing/2014/main" id="{FB18B6CD-B766-FFB4-55A7-F8C893C5A942}"/>
              </a:ext>
            </a:extLst>
          </p:cNvPr>
          <p:cNvGrpSpPr/>
          <p:nvPr/>
        </p:nvGrpSpPr>
        <p:grpSpPr>
          <a:xfrm>
            <a:off x="9537787" y="2877160"/>
            <a:ext cx="1646651" cy="2081102"/>
            <a:chOff x="9528175" y="2831258"/>
            <a:chExt cx="1654176" cy="2081102"/>
          </a:xfrm>
        </p:grpSpPr>
        <p:sp>
          <p:nvSpPr>
            <p:cNvPr id="68" name="Rectangle: Rounded Corners 67">
              <a:extLst>
                <a:ext uri="{FF2B5EF4-FFF2-40B4-BE49-F238E27FC236}">
                  <a16:creationId xmlns:a16="http://schemas.microsoft.com/office/drawing/2014/main" id="{20641D5F-463B-0DCC-1D79-41E610B0B7B9}"/>
                </a:ext>
              </a:extLst>
            </p:cNvPr>
            <p:cNvSpPr/>
            <p:nvPr/>
          </p:nvSpPr>
          <p:spPr>
            <a:xfrm>
              <a:off x="9528175" y="2831258"/>
              <a:ext cx="1654176" cy="208110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Derived Discovery</a:t>
              </a:r>
            </a:p>
          </p:txBody>
        </p:sp>
        <p:sp>
          <p:nvSpPr>
            <p:cNvPr id="69" name="Rectangle: Rounded Corners 68">
              <a:extLst>
                <a:ext uri="{FF2B5EF4-FFF2-40B4-BE49-F238E27FC236}">
                  <a16:creationId xmlns:a16="http://schemas.microsoft.com/office/drawing/2014/main" id="{07AC700F-6824-715A-808E-08E7AF3205E4}"/>
                </a:ext>
              </a:extLst>
            </p:cNvPr>
            <p:cNvSpPr/>
            <p:nvPr/>
          </p:nvSpPr>
          <p:spPr>
            <a:xfrm>
              <a:off x="9604395" y="3085381"/>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Descriptive Metadata</a:t>
              </a:r>
            </a:p>
          </p:txBody>
        </p:sp>
        <p:sp>
          <p:nvSpPr>
            <p:cNvPr id="70" name="Rectangle: Rounded Corners 69">
              <a:extLst>
                <a:ext uri="{FF2B5EF4-FFF2-40B4-BE49-F238E27FC236}">
                  <a16:creationId xmlns:a16="http://schemas.microsoft.com/office/drawing/2014/main" id="{61BEFE0F-871A-B81C-5FD7-67FC789A37DE}"/>
                </a:ext>
              </a:extLst>
            </p:cNvPr>
            <p:cNvSpPr/>
            <p:nvPr/>
          </p:nvSpPr>
          <p:spPr>
            <a:xfrm>
              <a:off x="9604395" y="3447950"/>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Taxonomy &amp; Classification</a:t>
              </a:r>
            </a:p>
          </p:txBody>
        </p:sp>
        <p:sp>
          <p:nvSpPr>
            <p:cNvPr id="71" name="Rectangle: Rounded Corners 70">
              <a:extLst>
                <a:ext uri="{FF2B5EF4-FFF2-40B4-BE49-F238E27FC236}">
                  <a16:creationId xmlns:a16="http://schemas.microsoft.com/office/drawing/2014/main" id="{22F436B7-77BB-F39A-56E7-E2377370BACA}"/>
                </a:ext>
              </a:extLst>
            </p:cNvPr>
            <p:cNvSpPr/>
            <p:nvPr/>
          </p:nvSpPr>
          <p:spPr>
            <a:xfrm>
              <a:off x="9604395" y="381051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Availability Summary</a:t>
              </a:r>
            </a:p>
          </p:txBody>
        </p:sp>
        <p:sp>
          <p:nvSpPr>
            <p:cNvPr id="72" name="Rectangle: Rounded Corners 71">
              <a:extLst>
                <a:ext uri="{FF2B5EF4-FFF2-40B4-BE49-F238E27FC236}">
                  <a16:creationId xmlns:a16="http://schemas.microsoft.com/office/drawing/2014/main" id="{E9663A8F-590E-5EA9-8E8D-EC6AE00E49CE}"/>
                </a:ext>
              </a:extLst>
            </p:cNvPr>
            <p:cNvSpPr/>
            <p:nvPr/>
          </p:nvSpPr>
          <p:spPr>
            <a:xfrm>
              <a:off x="9604395" y="4173088"/>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Search &amp; Relevance</a:t>
              </a:r>
            </a:p>
          </p:txBody>
        </p:sp>
        <p:sp>
          <p:nvSpPr>
            <p:cNvPr id="73" name="Rectangle: Rounded Corners 72">
              <a:extLst>
                <a:ext uri="{FF2B5EF4-FFF2-40B4-BE49-F238E27FC236}">
                  <a16:creationId xmlns:a16="http://schemas.microsoft.com/office/drawing/2014/main" id="{4D9286E2-BD0E-DB04-EA50-F607CE37F47F}"/>
                </a:ext>
              </a:extLst>
            </p:cNvPr>
            <p:cNvSpPr/>
            <p:nvPr/>
          </p:nvSpPr>
          <p:spPr>
            <a:xfrm>
              <a:off x="9604395" y="4535657"/>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Asset Technical Summary</a:t>
              </a:r>
            </a:p>
          </p:txBody>
        </p:sp>
      </p:grpSp>
      <p:grpSp>
        <p:nvGrpSpPr>
          <p:cNvPr id="55" name="Group 54">
            <a:extLst>
              <a:ext uri="{FF2B5EF4-FFF2-40B4-BE49-F238E27FC236}">
                <a16:creationId xmlns:a16="http://schemas.microsoft.com/office/drawing/2014/main" id="{E21F322C-AA21-130C-8E68-8B3DE22761F4}"/>
              </a:ext>
            </a:extLst>
          </p:cNvPr>
          <p:cNvGrpSpPr/>
          <p:nvPr/>
        </p:nvGrpSpPr>
        <p:grpSpPr>
          <a:xfrm>
            <a:off x="9537787" y="5165247"/>
            <a:ext cx="1646651" cy="1294390"/>
            <a:chOff x="9528175" y="5165247"/>
            <a:chExt cx="1654176" cy="1294390"/>
          </a:xfrm>
        </p:grpSpPr>
        <p:sp>
          <p:nvSpPr>
            <p:cNvPr id="64" name="Rectangle: Rounded Corners 63">
              <a:extLst>
                <a:ext uri="{FF2B5EF4-FFF2-40B4-BE49-F238E27FC236}">
                  <a16:creationId xmlns:a16="http://schemas.microsoft.com/office/drawing/2014/main" id="{4D8257B3-5AA8-AFD2-9DEE-C5F703DDE742}"/>
                </a:ext>
              </a:extLst>
            </p:cNvPr>
            <p:cNvSpPr/>
            <p:nvPr/>
          </p:nvSpPr>
          <p:spPr>
            <a:xfrm>
              <a:off x="9528175" y="5165247"/>
              <a:ext cx="1654176" cy="129439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Operational</a:t>
              </a:r>
            </a:p>
          </p:txBody>
        </p:sp>
        <p:sp>
          <p:nvSpPr>
            <p:cNvPr id="65" name="Rectangle: Rounded Corners 64">
              <a:extLst>
                <a:ext uri="{FF2B5EF4-FFF2-40B4-BE49-F238E27FC236}">
                  <a16:creationId xmlns:a16="http://schemas.microsoft.com/office/drawing/2014/main" id="{8F3A42BC-9D27-5D5F-5458-8759E2EC91EC}"/>
                </a:ext>
              </a:extLst>
            </p:cNvPr>
            <p:cNvSpPr/>
            <p:nvPr/>
          </p:nvSpPr>
          <p:spPr>
            <a:xfrm>
              <a:off x="9604395" y="541936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Ingestion &amp; Lineage</a:t>
              </a:r>
            </a:p>
          </p:txBody>
        </p:sp>
        <p:sp>
          <p:nvSpPr>
            <p:cNvPr id="66" name="Rectangle: Rounded Corners 65">
              <a:extLst>
                <a:ext uri="{FF2B5EF4-FFF2-40B4-BE49-F238E27FC236}">
                  <a16:creationId xmlns:a16="http://schemas.microsoft.com/office/drawing/2014/main" id="{2D0587E6-A5CD-F7EA-219C-FA310B24922E}"/>
                </a:ext>
              </a:extLst>
            </p:cNvPr>
            <p:cNvSpPr/>
            <p:nvPr/>
          </p:nvSpPr>
          <p:spPr>
            <a:xfrm>
              <a:off x="9604395" y="5759212"/>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Data Quality</a:t>
              </a:r>
            </a:p>
          </p:txBody>
        </p:sp>
        <p:sp>
          <p:nvSpPr>
            <p:cNvPr id="67" name="Rectangle: Rounded Corners 66">
              <a:extLst>
                <a:ext uri="{FF2B5EF4-FFF2-40B4-BE49-F238E27FC236}">
                  <a16:creationId xmlns:a16="http://schemas.microsoft.com/office/drawing/2014/main" id="{A57D0C0C-F605-A2B6-0A61-FCD96B1A9E4C}"/>
                </a:ext>
              </a:extLst>
            </p:cNvPr>
            <p:cNvSpPr/>
            <p:nvPr/>
          </p:nvSpPr>
          <p:spPr>
            <a:xfrm>
              <a:off x="9604395" y="6099055"/>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Entity Resolution</a:t>
              </a:r>
            </a:p>
          </p:txBody>
        </p:sp>
      </p:grpSp>
      <p:grpSp>
        <p:nvGrpSpPr>
          <p:cNvPr id="90" name="Group 89">
            <a:extLst>
              <a:ext uri="{FF2B5EF4-FFF2-40B4-BE49-F238E27FC236}">
                <a16:creationId xmlns:a16="http://schemas.microsoft.com/office/drawing/2014/main" id="{8B0E4EF6-0EF2-08B5-C517-3C2B4DEBA7FB}"/>
              </a:ext>
            </a:extLst>
          </p:cNvPr>
          <p:cNvGrpSpPr/>
          <p:nvPr/>
        </p:nvGrpSpPr>
        <p:grpSpPr>
          <a:xfrm>
            <a:off x="8897829" y="1174438"/>
            <a:ext cx="2742787" cy="123110"/>
            <a:chOff x="6733117" y="1174438"/>
            <a:chExt cx="2742787" cy="123110"/>
          </a:xfrm>
        </p:grpSpPr>
        <p:sp>
          <p:nvSpPr>
            <p:cNvPr id="91" name="Rectangle: Rounded Corners 90">
              <a:extLst>
                <a:ext uri="{FF2B5EF4-FFF2-40B4-BE49-F238E27FC236}">
                  <a16:creationId xmlns:a16="http://schemas.microsoft.com/office/drawing/2014/main" id="{057B7C69-C448-D403-8794-2682CF6D4B6D}"/>
                </a:ext>
              </a:extLst>
            </p:cNvPr>
            <p:cNvSpPr/>
            <p:nvPr/>
          </p:nvSpPr>
          <p:spPr>
            <a:xfrm>
              <a:off x="7154449" y="1174438"/>
              <a:ext cx="748312" cy="123110"/>
            </a:xfrm>
            <a:prstGeom prst="roundRect">
              <a:avLst>
                <a:gd name="adj" fmla="val 26983"/>
              </a:avLst>
            </a:prstGeom>
            <a:solidFill>
              <a:srgbClr val="D2F1FC"/>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Domain</a:t>
              </a:r>
            </a:p>
          </p:txBody>
        </p:sp>
        <p:sp>
          <p:nvSpPr>
            <p:cNvPr id="92" name="Rectangle: Rounded Corners 91">
              <a:extLst>
                <a:ext uri="{FF2B5EF4-FFF2-40B4-BE49-F238E27FC236}">
                  <a16:creationId xmlns:a16="http://schemas.microsoft.com/office/drawing/2014/main" id="{7C46686E-52F3-F31C-28BC-05B2FEED6602}"/>
                </a:ext>
              </a:extLst>
            </p:cNvPr>
            <p:cNvSpPr/>
            <p:nvPr/>
          </p:nvSpPr>
          <p:spPr>
            <a:xfrm>
              <a:off x="7941021" y="1174438"/>
              <a:ext cx="748312" cy="123110"/>
            </a:xfrm>
            <a:prstGeom prst="roundRect">
              <a:avLst>
                <a:gd name="adj" fmla="val 2698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Metadata store</a:t>
              </a:r>
            </a:p>
          </p:txBody>
        </p:sp>
        <p:sp>
          <p:nvSpPr>
            <p:cNvPr id="93" name="Rectangle: Rounded Corners 92">
              <a:extLst>
                <a:ext uri="{FF2B5EF4-FFF2-40B4-BE49-F238E27FC236}">
                  <a16:creationId xmlns:a16="http://schemas.microsoft.com/office/drawing/2014/main" id="{61E529DA-2BD7-82C8-2B54-B5DC9D5F5E4B}"/>
                </a:ext>
              </a:extLst>
            </p:cNvPr>
            <p:cNvSpPr/>
            <p:nvPr/>
          </p:nvSpPr>
          <p:spPr>
            <a:xfrm>
              <a:off x="8727592" y="1174438"/>
              <a:ext cx="748312" cy="123110"/>
            </a:xfrm>
            <a:prstGeom prst="roundRect">
              <a:avLst>
                <a:gd name="adj" fmla="val 26983"/>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tx1">
                      <a:lumMod val="50000"/>
                      <a:lumOff val="50000"/>
                    </a:schemeClr>
                  </a:solidFill>
                </a:rPr>
                <a:t>Metadata</a:t>
              </a:r>
            </a:p>
          </p:txBody>
        </p:sp>
        <p:sp>
          <p:nvSpPr>
            <p:cNvPr id="94" name="Rectangle: Rounded Corners 93">
              <a:extLst>
                <a:ext uri="{FF2B5EF4-FFF2-40B4-BE49-F238E27FC236}">
                  <a16:creationId xmlns:a16="http://schemas.microsoft.com/office/drawing/2014/main" id="{B23E3B65-77F2-4731-1E71-9EB06BDAD92A}"/>
                </a:ext>
              </a:extLst>
            </p:cNvPr>
            <p:cNvSpPr/>
            <p:nvPr/>
          </p:nvSpPr>
          <p:spPr>
            <a:xfrm>
              <a:off x="6733117" y="1174438"/>
              <a:ext cx="352143" cy="123110"/>
            </a:xfrm>
            <a:prstGeom prst="roundRect">
              <a:avLst>
                <a:gd name="adj" fmla="val 26983"/>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r"/>
              <a:r>
                <a:rPr lang="en-US" sz="700">
                  <a:solidFill>
                    <a:schemeClr val="tx1"/>
                  </a:solidFill>
                </a:rPr>
                <a:t>Legend:</a:t>
              </a:r>
            </a:p>
          </p:txBody>
        </p:sp>
      </p:grpSp>
      <p:grpSp>
        <p:nvGrpSpPr>
          <p:cNvPr id="95" name="Group 94">
            <a:extLst>
              <a:ext uri="{FF2B5EF4-FFF2-40B4-BE49-F238E27FC236}">
                <a16:creationId xmlns:a16="http://schemas.microsoft.com/office/drawing/2014/main" id="{B2AB62FA-11E2-04D1-C174-FF2DA21B4CE3}"/>
              </a:ext>
            </a:extLst>
          </p:cNvPr>
          <p:cNvGrpSpPr/>
          <p:nvPr/>
        </p:nvGrpSpPr>
        <p:grpSpPr>
          <a:xfrm>
            <a:off x="780177" y="3851600"/>
            <a:ext cx="237742" cy="221637"/>
            <a:chOff x="2609335" y="3905063"/>
            <a:chExt cx="477260" cy="477260"/>
          </a:xfrm>
        </p:grpSpPr>
        <p:sp>
          <p:nvSpPr>
            <p:cNvPr id="96" name="Oval 95">
              <a:extLst>
                <a:ext uri="{FF2B5EF4-FFF2-40B4-BE49-F238E27FC236}">
                  <a16:creationId xmlns:a16="http://schemas.microsoft.com/office/drawing/2014/main" id="{9155C1E0-248D-2CBB-D624-6A4216B0106F}"/>
                </a:ext>
              </a:extLst>
            </p:cNvPr>
            <p:cNvSpPr/>
            <p:nvPr/>
          </p:nvSpPr>
          <p:spPr>
            <a:xfrm>
              <a:off x="2609335" y="3905063"/>
              <a:ext cx="477260" cy="47726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97" name="Arrow: Right 96">
              <a:extLst>
                <a:ext uri="{FF2B5EF4-FFF2-40B4-BE49-F238E27FC236}">
                  <a16:creationId xmlns:a16="http://schemas.microsoft.com/office/drawing/2014/main" id="{9838869C-EF49-74A9-4478-7E1715964901}"/>
                </a:ext>
              </a:extLst>
            </p:cNvPr>
            <p:cNvSpPr/>
            <p:nvPr/>
          </p:nvSpPr>
          <p:spPr>
            <a:xfrm>
              <a:off x="2688198" y="4019446"/>
              <a:ext cx="319534" cy="248494"/>
            </a:xfrm>
            <a:prstGeom prs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101" name="Group 100">
            <a:extLst>
              <a:ext uri="{FF2B5EF4-FFF2-40B4-BE49-F238E27FC236}">
                <a16:creationId xmlns:a16="http://schemas.microsoft.com/office/drawing/2014/main" id="{F6936CBA-C5EA-9DDF-3D57-0BE903043060}"/>
              </a:ext>
            </a:extLst>
          </p:cNvPr>
          <p:cNvGrpSpPr/>
          <p:nvPr/>
        </p:nvGrpSpPr>
        <p:grpSpPr>
          <a:xfrm>
            <a:off x="9256714" y="3851600"/>
            <a:ext cx="237742" cy="221637"/>
            <a:chOff x="5018954" y="3752147"/>
            <a:chExt cx="381020" cy="381020"/>
          </a:xfrm>
        </p:grpSpPr>
        <p:sp>
          <p:nvSpPr>
            <p:cNvPr id="102" name="Oval 101">
              <a:extLst>
                <a:ext uri="{FF2B5EF4-FFF2-40B4-BE49-F238E27FC236}">
                  <a16:creationId xmlns:a16="http://schemas.microsoft.com/office/drawing/2014/main" id="{02A3431D-D108-E4AC-0D91-C399ED64A0C7}"/>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03" name="Arrow: Left-Right 102">
              <a:extLst>
                <a:ext uri="{FF2B5EF4-FFF2-40B4-BE49-F238E27FC236}">
                  <a16:creationId xmlns:a16="http://schemas.microsoft.com/office/drawing/2014/main" id="{AE169BAA-4C05-A78A-4654-F646FC37AF27}"/>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106" name="Group 105">
            <a:extLst>
              <a:ext uri="{FF2B5EF4-FFF2-40B4-BE49-F238E27FC236}">
                <a16:creationId xmlns:a16="http://schemas.microsoft.com/office/drawing/2014/main" id="{679453CF-2BF3-4784-AC1E-8A15AC858C49}"/>
              </a:ext>
            </a:extLst>
          </p:cNvPr>
          <p:cNvGrpSpPr/>
          <p:nvPr/>
        </p:nvGrpSpPr>
        <p:grpSpPr>
          <a:xfrm>
            <a:off x="11209350" y="3851600"/>
            <a:ext cx="237742" cy="221637"/>
            <a:chOff x="5018954" y="3752147"/>
            <a:chExt cx="381020" cy="381020"/>
          </a:xfrm>
        </p:grpSpPr>
        <p:sp>
          <p:nvSpPr>
            <p:cNvPr id="107" name="Oval 106">
              <a:extLst>
                <a:ext uri="{FF2B5EF4-FFF2-40B4-BE49-F238E27FC236}">
                  <a16:creationId xmlns:a16="http://schemas.microsoft.com/office/drawing/2014/main" id="{ACB9200F-725D-86C1-F3DC-1A729205EDA6}"/>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08" name="Arrow: Left-Right 107">
              <a:extLst>
                <a:ext uri="{FF2B5EF4-FFF2-40B4-BE49-F238E27FC236}">
                  <a16:creationId xmlns:a16="http://schemas.microsoft.com/office/drawing/2014/main" id="{E41F9C8E-3400-3415-1975-CF60519A5CA6}"/>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sp>
        <p:nvSpPr>
          <p:cNvPr id="109" name="Rectangle 108">
            <a:extLst>
              <a:ext uri="{FF2B5EF4-FFF2-40B4-BE49-F238E27FC236}">
                <a16:creationId xmlns:a16="http://schemas.microsoft.com/office/drawing/2014/main" id="{D3F8D6E7-9407-B79E-1118-CD4B5EA663B4}"/>
              </a:ext>
            </a:extLst>
          </p:cNvPr>
          <p:cNvSpPr/>
          <p:nvPr/>
        </p:nvSpPr>
        <p:spPr>
          <a:xfrm>
            <a:off x="1078806" y="1597794"/>
            <a:ext cx="2717244" cy="327358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1" name="Rectangle 110">
            <a:extLst>
              <a:ext uri="{FF2B5EF4-FFF2-40B4-BE49-F238E27FC236}">
                <a16:creationId xmlns:a16="http://schemas.microsoft.com/office/drawing/2014/main" id="{D6BA1C63-BB65-9039-9933-DCB827B44B2E}"/>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SPORTS ESTATE</a:t>
            </a:r>
          </a:p>
        </p:txBody>
      </p:sp>
    </p:spTree>
    <p:extLst>
      <p:ext uri="{BB962C8B-B14F-4D97-AF65-F5344CB8AC3E}">
        <p14:creationId xmlns:p14="http://schemas.microsoft.com/office/powerpoint/2010/main" val="1140927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B4AB-2195-4A30-8EDC-F881B5323127}"/>
            </a:ext>
          </a:extLst>
        </p:cNvPr>
        <p:cNvGrpSpPr/>
        <p:nvPr/>
      </p:nvGrpSpPr>
      <p:grpSpPr>
        <a:xfrm>
          <a:off x="0" y="0"/>
          <a:ext cx="0" cy="0"/>
          <a:chOff x="0" y="0"/>
          <a:chExt cx="0" cy="0"/>
        </a:xfrm>
      </p:grpSpPr>
      <p:pic>
        <p:nvPicPr>
          <p:cNvPr id="14" name="Picture Placeholder 13" descr="A blue and white background with leaves&#10;">
            <a:extLst>
              <a:ext uri="{FF2B5EF4-FFF2-40B4-BE49-F238E27FC236}">
                <a16:creationId xmlns:a16="http://schemas.microsoft.com/office/drawing/2014/main" id="{4537B4F1-4D3D-205D-D565-D2841B8CD0A6}"/>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 y="0"/>
            <a:ext cx="12192001" cy="6858000"/>
          </a:xfrm>
        </p:spPr>
      </p:pic>
      <p:sp>
        <p:nvSpPr>
          <p:cNvPr id="10" name="Text Placeholder 9">
            <a:extLst>
              <a:ext uri="{FF2B5EF4-FFF2-40B4-BE49-F238E27FC236}">
                <a16:creationId xmlns:a16="http://schemas.microsoft.com/office/drawing/2014/main" id="{78FE314D-B46D-6285-BB66-D1C8999A7C25}"/>
              </a:ext>
            </a:extLst>
          </p:cNvPr>
          <p:cNvSpPr>
            <a:spLocks noGrp="1"/>
          </p:cNvSpPr>
          <p:nvPr>
            <p:ph type="body" sz="quarter" idx="19"/>
          </p:nvPr>
        </p:nvSpPr>
        <p:spPr>
          <a:xfrm>
            <a:off x="0" y="0"/>
            <a:ext cx="4657725" cy="6858000"/>
          </a:xfrm>
        </p:spPr>
        <p:txBody>
          <a:bodyPr/>
          <a:lstStyle/>
          <a:p>
            <a:r>
              <a:rPr lang="en-US">
                <a:latin typeface="+mj-lt"/>
              </a:rPr>
              <a:t>4</a:t>
            </a:r>
          </a:p>
        </p:txBody>
      </p:sp>
      <p:sp>
        <p:nvSpPr>
          <p:cNvPr id="25" name="Date Placeholder 24">
            <a:extLst>
              <a:ext uri="{FF2B5EF4-FFF2-40B4-BE49-F238E27FC236}">
                <a16:creationId xmlns:a16="http://schemas.microsoft.com/office/drawing/2014/main" id="{62C246A2-D45F-F1E2-6045-01BDBC1F6B37}"/>
              </a:ext>
            </a:extLst>
          </p:cNvPr>
          <p:cNvSpPr>
            <a:spLocks noGrp="1"/>
          </p:cNvSpPr>
          <p:nvPr>
            <p:ph type="dt" sz="half" idx="20"/>
          </p:nvPr>
        </p:nvSpPr>
        <p:spPr>
          <a:xfrm>
            <a:off x="9809927" y="6650661"/>
            <a:ext cx="1831210" cy="123111"/>
          </a:xfrm>
        </p:spPr>
        <p:txBody>
          <a:bodyPr/>
          <a:lstStyle/>
          <a:p>
            <a:r>
              <a:rPr lang="en-US"/>
              <a:t>Company Confidential © Capgemini 2026. All rights reserved.</a:t>
            </a:r>
          </a:p>
        </p:txBody>
      </p:sp>
      <p:sp>
        <p:nvSpPr>
          <p:cNvPr id="26" name="Footer Placeholder 25">
            <a:extLst>
              <a:ext uri="{FF2B5EF4-FFF2-40B4-BE49-F238E27FC236}">
                <a16:creationId xmlns:a16="http://schemas.microsoft.com/office/drawing/2014/main" id="{C2166F77-43E3-C04C-7819-C1E408C6A40A}"/>
              </a:ext>
            </a:extLst>
          </p:cNvPr>
          <p:cNvSpPr>
            <a:spLocks noGrp="1"/>
          </p:cNvSpPr>
          <p:nvPr>
            <p:ph type="ftr" sz="quarter" idx="21"/>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27" name="Slide Number Placeholder 26">
            <a:extLst>
              <a:ext uri="{FF2B5EF4-FFF2-40B4-BE49-F238E27FC236}">
                <a16:creationId xmlns:a16="http://schemas.microsoft.com/office/drawing/2014/main" id="{1E34DBE5-B039-AFE7-DD58-0442C3D0A7BD}"/>
              </a:ext>
            </a:extLst>
          </p:cNvPr>
          <p:cNvSpPr>
            <a:spLocks noGrp="1"/>
          </p:cNvSpPr>
          <p:nvPr>
            <p:ph type="sldNum" sz="quarter" idx="22"/>
          </p:nvPr>
        </p:nvSpPr>
        <p:spPr>
          <a:xfrm>
            <a:off x="11778341" y="6650661"/>
            <a:ext cx="232665" cy="123111"/>
          </a:xfrm>
        </p:spPr>
        <p:txBody>
          <a:bodyPr/>
          <a:lstStyle/>
          <a:p>
            <a:fld id="{5D9A5160-6218-4E5A-B9E6-B93E3DAE377C}" type="slidenum">
              <a:rPr lang="en-US" smtClean="0"/>
              <a:pPr/>
              <a:t>23</a:t>
            </a:fld>
            <a:endParaRPr lang="en-US"/>
          </a:p>
        </p:txBody>
      </p:sp>
      <p:sp>
        <p:nvSpPr>
          <p:cNvPr id="22" name="Title 21">
            <a:extLst>
              <a:ext uri="{FF2B5EF4-FFF2-40B4-BE49-F238E27FC236}">
                <a16:creationId xmlns:a16="http://schemas.microsoft.com/office/drawing/2014/main" id="{C21D04A9-B59F-77DC-1757-947CCA24DE92}"/>
              </a:ext>
            </a:extLst>
          </p:cNvPr>
          <p:cNvSpPr>
            <a:spLocks noGrp="1"/>
          </p:cNvSpPr>
          <p:nvPr>
            <p:ph type="title"/>
          </p:nvPr>
        </p:nvSpPr>
        <p:spPr>
          <a:xfrm>
            <a:off x="5159374" y="4658810"/>
            <a:ext cx="6487665" cy="1672542"/>
          </a:xfrm>
        </p:spPr>
        <p:txBody>
          <a:bodyPr/>
          <a:lstStyle/>
          <a:p>
            <a:r>
              <a:rPr lang="en-US"/>
              <a:t>Credentials</a:t>
            </a:r>
          </a:p>
        </p:txBody>
      </p:sp>
      <p:sp>
        <p:nvSpPr>
          <p:cNvPr id="24" name="Text Placeholder 23">
            <a:extLst>
              <a:ext uri="{FF2B5EF4-FFF2-40B4-BE49-F238E27FC236}">
                <a16:creationId xmlns:a16="http://schemas.microsoft.com/office/drawing/2014/main" id="{82235881-4D13-E65D-DCE7-790E346841F8}"/>
              </a:ext>
            </a:extLst>
          </p:cNvPr>
          <p:cNvSpPr>
            <a:spLocks noGrp="1"/>
          </p:cNvSpPr>
          <p:nvPr>
            <p:ph type="body" sz="quarter" idx="40"/>
          </p:nvPr>
        </p:nvSpPr>
        <p:spPr/>
        <p:txBody>
          <a:bodyPr/>
          <a:lstStyle/>
          <a:p>
            <a:endParaRPr lang="en-US"/>
          </a:p>
        </p:txBody>
      </p:sp>
      <p:sp>
        <p:nvSpPr>
          <p:cNvPr id="30" name="Rectangle 29">
            <a:extLst>
              <a:ext uri="{FF2B5EF4-FFF2-40B4-BE49-F238E27FC236}">
                <a16:creationId xmlns:a16="http://schemas.microsoft.com/office/drawing/2014/main" id="{7BF3A031-4C8C-48D8-8EAB-B5AD309CAE82}"/>
              </a:ext>
              <a:ext uri="{C183D7F6-B498-43B3-948B-1728B52AA6E4}">
                <adec:decorative xmlns:adec="http://schemas.microsoft.com/office/drawing/2017/decorative" val="1"/>
              </a:ext>
            </a:extLst>
          </p:cNvPr>
          <p:cNvSpPr/>
          <p:nvPr/>
        </p:nvSpPr>
        <p:spPr>
          <a:xfrm>
            <a:off x="5159374" y="4107976"/>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3" name="Rectangle 2">
            <a:extLst>
              <a:ext uri="{FF2B5EF4-FFF2-40B4-BE49-F238E27FC236}">
                <a16:creationId xmlns:a16="http://schemas.microsoft.com/office/drawing/2014/main" id="{2AC5F783-18E8-DFE2-627C-52864B966697}"/>
              </a:ext>
            </a:extLst>
          </p:cNvPr>
          <p:cNvSpPr/>
          <p:nvPr/>
        </p:nvSpPr>
        <p:spPr>
          <a:xfrm>
            <a:off x="8380317" y="6650661"/>
            <a:ext cx="1427434" cy="123111"/>
          </a:xfrm>
          <a:prstGeom prst="rect">
            <a:avLst/>
          </a:prstGeom>
        </p:spPr>
        <p:txBody>
          <a:bodyPr wrap="none" lIns="0" tIns="0" rIns="0" bIns="0" anchor="ctr" anchorCtr="0">
            <a:noAutofit/>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0" cap="none" spc="0" normalizeH="0" baseline="0" noProof="0">
                <a:ln>
                  <a:noFill/>
                </a:ln>
                <a:solidFill>
                  <a:srgbClr val="FFFFFF">
                    <a:lumMod val="65000"/>
                  </a:srgbClr>
                </a:solidFill>
                <a:effectLst/>
                <a:uLnTx/>
                <a:uFillTx/>
                <a:latin typeface="Ubuntu"/>
                <a:ea typeface="+mn-ea"/>
                <a:cs typeface="+mn-cs"/>
              </a:rPr>
              <a:t>Company Confidential</a:t>
            </a:r>
          </a:p>
        </p:txBody>
      </p:sp>
      <p:sp>
        <p:nvSpPr>
          <p:cNvPr id="4" name="Text Placeholder 3">
            <a:extLst>
              <a:ext uri="{FF2B5EF4-FFF2-40B4-BE49-F238E27FC236}">
                <a16:creationId xmlns:a16="http://schemas.microsoft.com/office/drawing/2014/main" id="{D1F263CF-C31E-CE4E-DF56-4A0A5F32B854}"/>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2955683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5801-24A0-6794-7EA7-7A8F45C7054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26E2ABF-44BD-A016-CE73-EEEF2D072DF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752" r="12752"/>
          <a:stretch/>
        </p:blipFill>
        <p:spPr>
          <a:xfrm>
            <a:off x="3215810" y="0"/>
            <a:ext cx="8976189" cy="6858000"/>
          </a:xfrm>
          <a:prstGeom prst="rect">
            <a:avLst/>
          </a:prstGeom>
        </p:spPr>
      </p:pic>
      <p:sp>
        <p:nvSpPr>
          <p:cNvPr id="2" name="Date Placeholder 1">
            <a:extLst>
              <a:ext uri="{FF2B5EF4-FFF2-40B4-BE49-F238E27FC236}">
                <a16:creationId xmlns:a16="http://schemas.microsoft.com/office/drawing/2014/main" id="{B72C38F6-18FB-CF77-FD03-C094065F5EB1}"/>
              </a:ext>
            </a:extLst>
          </p:cNvPr>
          <p:cNvSpPr>
            <a:spLocks noGrp="1"/>
          </p:cNvSpPr>
          <p:nvPr>
            <p:ph type="dt" sz="half" idx="28"/>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Light"/>
                <a:ea typeface="+mn-ea"/>
                <a:cs typeface="+mn-cs"/>
              </a:rPr>
              <a:t>Company Confidential © Capgemini 2026. All rights reserved.</a:t>
            </a:r>
          </a:p>
        </p:txBody>
      </p:sp>
      <p:sp>
        <p:nvSpPr>
          <p:cNvPr id="3" name="Footer Placeholder 2">
            <a:extLst>
              <a:ext uri="{FF2B5EF4-FFF2-40B4-BE49-F238E27FC236}">
                <a16:creationId xmlns:a16="http://schemas.microsoft.com/office/drawing/2014/main" id="{F45819CE-8630-F24C-9A7A-98F1AFF30F36}"/>
              </a:ext>
            </a:extLst>
          </p:cNvPr>
          <p:cNvSpPr>
            <a:spLocks noGrp="1"/>
          </p:cNvSpPr>
          <p:nvPr>
            <p:ph type="ftr" sz="quarter" idx="29"/>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Light"/>
                <a:ea typeface="+mn-ea"/>
                <a:cs typeface="+mn-cs"/>
              </a:rPr>
              <a:t>Data Strategy for Linear TV PoV | Capgemini Invent | March 2026</a:t>
            </a:r>
          </a:p>
        </p:txBody>
      </p:sp>
      <p:sp>
        <p:nvSpPr>
          <p:cNvPr id="4" name="Slide Number Placeholder 3">
            <a:extLst>
              <a:ext uri="{FF2B5EF4-FFF2-40B4-BE49-F238E27FC236}">
                <a16:creationId xmlns:a16="http://schemas.microsoft.com/office/drawing/2014/main" id="{CFCBF4C7-2C18-9550-5C4E-5EEEDCA138E8}"/>
              </a:ext>
            </a:extLst>
          </p:cNvPr>
          <p:cNvSpPr>
            <a:spLocks noGrp="1"/>
          </p:cNvSpPr>
          <p:nvPr>
            <p:ph type="sldNum" sz="quarter" idx="3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Light"/>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FFFFFF">
                  <a:lumMod val="65000"/>
                </a:srgbClr>
              </a:solidFill>
              <a:effectLst/>
              <a:uLnTx/>
              <a:uFillTx/>
              <a:latin typeface="Ubuntu Light"/>
              <a:ea typeface="+mn-ea"/>
              <a:cs typeface="Arial" panose="020B0604020202020204" pitchFamily="34" charset="0"/>
            </a:endParaRPr>
          </a:p>
        </p:txBody>
      </p:sp>
      <p:sp>
        <p:nvSpPr>
          <p:cNvPr id="6" name="Rectangle 5">
            <a:extLst>
              <a:ext uri="{FF2B5EF4-FFF2-40B4-BE49-F238E27FC236}">
                <a16:creationId xmlns:a16="http://schemas.microsoft.com/office/drawing/2014/main" id="{ED10A8C1-945C-2679-C7FC-5008EF56204A}"/>
              </a:ext>
            </a:extLst>
          </p:cNvPr>
          <p:cNvSpPr/>
          <p:nvPr/>
        </p:nvSpPr>
        <p:spPr>
          <a:xfrm>
            <a:off x="5661381" y="0"/>
            <a:ext cx="6530618" cy="6859646"/>
          </a:xfrm>
          <a:prstGeom prst="rect">
            <a:avLst/>
          </a:prstGeom>
          <a:gradFill flip="none" rotWithShape="1">
            <a:gsLst>
              <a:gs pos="0">
                <a:srgbClr val="272936">
                  <a:alpha val="0"/>
                </a:srgbClr>
              </a:gs>
              <a:gs pos="64000">
                <a:srgbClr val="272936">
                  <a:alpha val="39000"/>
                </a:srgbClr>
              </a:gs>
              <a:gs pos="88000">
                <a:srgbClr val="272936">
                  <a:alpha val="98000"/>
                </a:srgbClr>
              </a:gs>
            </a:gsLst>
            <a:lin ang="189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7" name="Rectangle 6">
            <a:extLst>
              <a:ext uri="{FF2B5EF4-FFF2-40B4-BE49-F238E27FC236}">
                <a16:creationId xmlns:a16="http://schemas.microsoft.com/office/drawing/2014/main" id="{F7B129F5-F17F-AAC6-7F17-6BF95D362F8A}"/>
              </a:ext>
            </a:extLst>
          </p:cNvPr>
          <p:cNvSpPr/>
          <p:nvPr/>
        </p:nvSpPr>
        <p:spPr>
          <a:xfrm>
            <a:off x="0" y="0"/>
            <a:ext cx="9558669" cy="6856355"/>
          </a:xfrm>
          <a:prstGeom prst="rect">
            <a:avLst/>
          </a:prstGeom>
          <a:gradFill>
            <a:gsLst>
              <a:gs pos="0">
                <a:srgbClr val="1F1E2C"/>
              </a:gs>
              <a:gs pos="62000">
                <a:srgbClr val="1F1E2C"/>
              </a:gs>
              <a:gs pos="100000">
                <a:srgbClr val="180E0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5" name="Title 4">
            <a:extLst>
              <a:ext uri="{FF2B5EF4-FFF2-40B4-BE49-F238E27FC236}">
                <a16:creationId xmlns:a16="http://schemas.microsoft.com/office/drawing/2014/main" id="{86F08849-3D54-CFA7-DB3F-C2FC2E2AB13F}"/>
              </a:ext>
            </a:extLst>
          </p:cNvPr>
          <p:cNvSpPr>
            <a:spLocks noGrp="1"/>
          </p:cNvSpPr>
          <p:nvPr>
            <p:ph type="title"/>
          </p:nvPr>
        </p:nvSpPr>
        <p:spPr/>
        <p:txBody>
          <a:bodyPr/>
          <a:lstStyle/>
          <a:p>
            <a:r>
              <a:rPr lang="en-US">
                <a:solidFill>
                  <a:schemeClr val="bg1"/>
                </a:solidFill>
              </a:rPr>
              <a:t>Redesign Operator Interfaces and On‑Air Graphics to convert complex Race Physics into Clear, Live Commentary at Scale for 37</a:t>
            </a:r>
            <a:r>
              <a:rPr lang="en-US" baseline="30000">
                <a:solidFill>
                  <a:schemeClr val="bg1"/>
                </a:solidFill>
              </a:rPr>
              <a:t>th</a:t>
            </a:r>
            <a:r>
              <a:rPr lang="en-US">
                <a:solidFill>
                  <a:schemeClr val="bg1"/>
                </a:solidFill>
              </a:rPr>
              <a:t> America’s Cup</a:t>
            </a:r>
          </a:p>
        </p:txBody>
      </p:sp>
      <p:grpSp>
        <p:nvGrpSpPr>
          <p:cNvPr id="15" name="Group 14">
            <a:extLst>
              <a:ext uri="{FF2B5EF4-FFF2-40B4-BE49-F238E27FC236}">
                <a16:creationId xmlns:a16="http://schemas.microsoft.com/office/drawing/2014/main" id="{FD588ACD-D92F-A473-B769-500BAE3867B4}"/>
              </a:ext>
            </a:extLst>
          </p:cNvPr>
          <p:cNvGrpSpPr/>
          <p:nvPr/>
        </p:nvGrpSpPr>
        <p:grpSpPr>
          <a:xfrm>
            <a:off x="550863" y="1208550"/>
            <a:ext cx="6625257" cy="1700587"/>
            <a:chOff x="550863" y="1208550"/>
            <a:chExt cx="6625257" cy="1700587"/>
          </a:xfrm>
        </p:grpSpPr>
        <p:sp>
          <p:nvSpPr>
            <p:cNvPr id="9" name="Shape 4880">
              <a:extLst>
                <a:ext uri="{FF2B5EF4-FFF2-40B4-BE49-F238E27FC236}">
                  <a16:creationId xmlns:a16="http://schemas.microsoft.com/office/drawing/2014/main" id="{6475B804-81CB-0284-D005-794B81873BF5}"/>
                </a:ext>
              </a:extLst>
            </p:cNvPr>
            <p:cNvSpPr txBox="1"/>
            <p:nvPr/>
          </p:nvSpPr>
          <p:spPr>
            <a:xfrm>
              <a:off x="550863" y="120855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Background</a:t>
              </a:r>
              <a:endParaRPr sz="1400">
                <a:solidFill>
                  <a:schemeClr val="accent1">
                    <a:lumMod val="40000"/>
                    <a:lumOff val="60000"/>
                  </a:schemeClr>
                </a:solidFill>
                <a:latin typeface="+mj-lt"/>
                <a:ea typeface="Verdana" panose="020B0604030504040204" pitchFamily="34" charset="0"/>
                <a:sym typeface="Georgia"/>
              </a:endParaRPr>
            </a:p>
          </p:txBody>
        </p:sp>
        <p:sp>
          <p:nvSpPr>
            <p:cNvPr id="10" name="Shape 4883">
              <a:extLst>
                <a:ext uri="{FF2B5EF4-FFF2-40B4-BE49-F238E27FC236}">
                  <a16:creationId xmlns:a16="http://schemas.microsoft.com/office/drawing/2014/main" id="{6364EAFB-2637-BFC2-4378-EDB09E36094D}"/>
                </a:ext>
              </a:extLst>
            </p:cNvPr>
            <p:cNvSpPr txBox="1"/>
            <p:nvPr/>
          </p:nvSpPr>
          <p:spPr>
            <a:xfrm>
              <a:off x="550863" y="1503648"/>
              <a:ext cx="6625257" cy="1405489"/>
            </a:xfrm>
            <a:prstGeom prst="rect">
              <a:avLst/>
            </a:prstGeom>
            <a:noFill/>
            <a:ln>
              <a:noFill/>
            </a:ln>
          </p:spPr>
          <p:txBody>
            <a:bodyPr spcFirstLastPara="1" wrap="square" lIns="0" tIns="60933" rIns="0" bIns="60933" anchor="t" anchorCtr="0">
              <a:noAutofit/>
            </a:bodyPr>
            <a:lstStyle>
              <a:defPPr>
                <a:defRPr lang="en-US"/>
              </a:defPPr>
              <a:lvl1pPr marL="171450" marR="0" lvl="0" indent="-171450" fontAlgn="auto">
                <a:lnSpc>
                  <a:spcPct val="100000"/>
                </a:lnSpc>
                <a:spcBef>
                  <a:spcPts val="100"/>
                </a:spcBef>
                <a:spcAft>
                  <a:spcPts val="100"/>
                </a:spcAft>
                <a:buClrTx/>
                <a:buSzTx/>
                <a:buFont typeface="Arial" panose="020B0604020202020204" pitchFamily="34" charset="0"/>
                <a:buChar char="•"/>
                <a:tabLst/>
                <a:defRPr kumimoji="0" sz="1000" b="0" i="0" u="none" strike="noStrike" cap="none" spc="0" normalizeH="0" baseline="0">
                  <a:ln>
                    <a:noFill/>
                  </a:ln>
                  <a:solidFill>
                    <a:srgbClr val="FFFFFF"/>
                  </a:solidFill>
                  <a:effectLst/>
                  <a:uLnTx/>
                  <a:uFillTx/>
                  <a:latin typeface="Ubuntu Light"/>
                </a:defRPr>
              </a:lvl1pPr>
              <a:lvl2pPr marL="628650" lvl="1" indent="-171450">
                <a:spcBef>
                  <a:spcPts val="100"/>
                </a:spcBef>
                <a:spcAft>
                  <a:spcPts val="100"/>
                </a:spcAft>
                <a:buFont typeface="Arial" panose="020B0604020202020204" pitchFamily="34" charset="0"/>
                <a:buChar char="•"/>
                <a:defRPr kumimoji="0" sz="1000" b="0" i="0" u="none" strike="noStrike" cap="none" spc="0" normalizeH="0" baseline="0">
                  <a:ln>
                    <a:noFill/>
                  </a:ln>
                  <a:solidFill>
                    <a:srgbClr val="FFFFFF"/>
                  </a:solidFill>
                  <a:effectLst/>
                  <a:uLnTx/>
                  <a:uFillTx/>
                  <a:latin typeface="Ubuntu Light"/>
                </a:defRPr>
              </a:lvl2pPr>
            </a:lstStyle>
            <a:p>
              <a:r>
                <a:rPr lang="en-US">
                  <a:latin typeface="+mn-lt"/>
                </a:rPr>
                <a:t>The organizing body of the 37th America’s Cup sought to overcome a decade of incremental broadcast updates that left core race dynamics, especially wind influence, largely invisible to viewers, limiting audience comprehension and engagement.</a:t>
              </a:r>
            </a:p>
            <a:p>
              <a:r>
                <a:rPr lang="en-US">
                  <a:latin typeface="+mn-lt"/>
                </a:rPr>
                <a:t>Existing AR/VR enhancements focused only on racecourse visualization, leaving fans without insight into the real‑time strategic decision-making of the skippers.</a:t>
              </a:r>
            </a:p>
            <a:p>
              <a:r>
                <a:rPr lang="en-US">
                  <a:latin typeface="+mn-lt"/>
                </a:rPr>
                <a:t>The ambition was to translate complex, real‑time race strategy into clear narratives for both casual fans and expert audiences</a:t>
              </a:r>
            </a:p>
          </p:txBody>
        </p:sp>
      </p:grpSp>
      <p:grpSp>
        <p:nvGrpSpPr>
          <p:cNvPr id="16" name="Group 15">
            <a:extLst>
              <a:ext uri="{FF2B5EF4-FFF2-40B4-BE49-F238E27FC236}">
                <a16:creationId xmlns:a16="http://schemas.microsoft.com/office/drawing/2014/main" id="{5989FA48-F867-63AB-66E3-7C40C93CFF2C}"/>
              </a:ext>
            </a:extLst>
          </p:cNvPr>
          <p:cNvGrpSpPr/>
          <p:nvPr/>
        </p:nvGrpSpPr>
        <p:grpSpPr>
          <a:xfrm>
            <a:off x="549464" y="3006441"/>
            <a:ext cx="6740583" cy="1933095"/>
            <a:chOff x="549464" y="2513273"/>
            <a:chExt cx="6740583" cy="1933095"/>
          </a:xfrm>
        </p:grpSpPr>
        <p:sp>
          <p:nvSpPr>
            <p:cNvPr id="11" name="Shape 4880">
              <a:extLst>
                <a:ext uri="{FF2B5EF4-FFF2-40B4-BE49-F238E27FC236}">
                  <a16:creationId xmlns:a16="http://schemas.microsoft.com/office/drawing/2014/main" id="{3565A344-4D9A-3C95-53D0-B4BBE726B5AD}"/>
                </a:ext>
              </a:extLst>
            </p:cNvPr>
            <p:cNvSpPr txBox="1"/>
            <p:nvPr/>
          </p:nvSpPr>
          <p:spPr>
            <a:xfrm>
              <a:off x="549464" y="2513273"/>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Solution</a:t>
              </a:r>
              <a:endParaRPr sz="1400">
                <a:solidFill>
                  <a:schemeClr val="accent1">
                    <a:lumMod val="40000"/>
                    <a:lumOff val="60000"/>
                  </a:schemeClr>
                </a:solidFill>
                <a:latin typeface="+mj-lt"/>
                <a:ea typeface="Verdana" panose="020B0604030504040204" pitchFamily="34" charset="0"/>
                <a:sym typeface="Georgia"/>
              </a:endParaRPr>
            </a:p>
          </p:txBody>
        </p:sp>
        <p:sp>
          <p:nvSpPr>
            <p:cNvPr id="12" name="Shape 4883">
              <a:extLst>
                <a:ext uri="{FF2B5EF4-FFF2-40B4-BE49-F238E27FC236}">
                  <a16:creationId xmlns:a16="http://schemas.microsoft.com/office/drawing/2014/main" id="{083AA519-C4FF-4015-D265-1417F6E8B428}"/>
                </a:ext>
              </a:extLst>
            </p:cNvPr>
            <p:cNvSpPr txBox="1"/>
            <p:nvPr/>
          </p:nvSpPr>
          <p:spPr>
            <a:xfrm>
              <a:off x="549464" y="2817777"/>
              <a:ext cx="6740583" cy="1628591"/>
            </a:xfrm>
            <a:prstGeom prst="rect">
              <a:avLst/>
            </a:prstGeom>
            <a:noFill/>
            <a:ln>
              <a:noFill/>
            </a:ln>
          </p:spPr>
          <p:txBody>
            <a:bodyPr spcFirstLastPara="1" wrap="square" lIns="0" tIns="60933" rIns="0" bIns="60933" anchor="t" anchorCtr="0">
              <a:noAutofit/>
            </a:bodyPr>
            <a:lstStyle/>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rgbClr val="FFFFFF"/>
                  </a:solidFill>
                </a:rPr>
                <a:t>P</a:t>
              </a:r>
              <a:r>
                <a:rPr kumimoji="0" lang="en-US" sz="1000" b="0" i="0" u="none" strike="noStrike" kern="1200" cap="none" spc="0" normalizeH="0" baseline="0" noProof="0" err="1">
                  <a:ln>
                    <a:noFill/>
                  </a:ln>
                  <a:solidFill>
                    <a:srgbClr val="FFFFFF"/>
                  </a:solidFill>
                  <a:effectLst/>
                  <a:uLnTx/>
                  <a:uFillTx/>
                  <a:ea typeface="+mn-ea"/>
                  <a:cs typeface="+mn-cs"/>
                </a:rPr>
                <a:t>artnered</a:t>
              </a:r>
              <a:r>
                <a:rPr kumimoji="0" lang="en-US" sz="1000" b="0" i="0" u="none" strike="noStrike" kern="1200" cap="none" spc="0" normalizeH="0" baseline="0" noProof="0">
                  <a:ln>
                    <a:noFill/>
                  </a:ln>
                  <a:solidFill>
                    <a:srgbClr val="FFFFFF"/>
                  </a:solidFill>
                  <a:effectLst/>
                  <a:uLnTx/>
                  <a:uFillTx/>
                  <a:ea typeface="+mn-ea"/>
                  <a:cs typeface="+mn-cs"/>
                </a:rPr>
                <a:t> closely with America’s Cup broadcasters, and Unity, immersing themselves in live race operations to redesign how the sport is experienced.</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rgbClr val="FFFFFF"/>
                  </a:solidFill>
                </a:rPr>
                <a:t>T</a:t>
              </a:r>
              <a:r>
                <a:rPr kumimoji="0" lang="en-US" sz="1000" b="0" i="0" u="none" strike="noStrike" kern="1200" cap="none" spc="0" normalizeH="0" baseline="0" noProof="0" err="1">
                  <a:ln>
                    <a:noFill/>
                  </a:ln>
                  <a:solidFill>
                    <a:srgbClr val="FFFFFF"/>
                  </a:solidFill>
                  <a:effectLst/>
                  <a:uLnTx/>
                  <a:uFillTx/>
                  <a:ea typeface="+mn-ea"/>
                  <a:cs typeface="+mn-cs"/>
                </a:rPr>
                <a:t>ransformed</a:t>
              </a:r>
              <a:r>
                <a:rPr kumimoji="0" lang="en-US" sz="1000" b="0" i="0" u="none" strike="noStrike" kern="1200" cap="none" spc="0" normalizeH="0" baseline="0" noProof="0">
                  <a:ln>
                    <a:noFill/>
                  </a:ln>
                  <a:solidFill>
                    <a:srgbClr val="FFFFFF"/>
                  </a:solidFill>
                  <a:effectLst/>
                  <a:uLnTx/>
                  <a:uFillTx/>
                  <a:ea typeface="+mn-ea"/>
                  <a:cs typeface="+mn-cs"/>
                </a:rPr>
                <a:t> raw technical complexity into intuitive storytelling by delivering new 2D/3D broadcast graphics, reimagining the operator interface, and aligning identity and on‑screen designs with event production workflows.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mn-ea"/>
                  <a:cs typeface="+mn-cs"/>
                </a:rPr>
                <a:t>Key innovations included:</a:t>
              </a:r>
            </a:p>
            <a:p>
              <a:pPr marL="628650" lvl="1" indent="-171450">
                <a:spcBef>
                  <a:spcPts val="100"/>
                </a:spcBef>
                <a:spcAft>
                  <a:spcPts val="100"/>
                </a:spcAft>
                <a:buFont typeface="Arial" panose="020B0604020202020204" pitchFamily="34" charset="0"/>
                <a:buChar char="•"/>
                <a:defRPr/>
              </a:pPr>
              <a:r>
                <a:rPr kumimoji="0" lang="en-US" sz="1000" b="0" i="0" u="none" strike="noStrike" kern="1200" cap="none" spc="0" normalizeH="0" baseline="0" noProof="0">
                  <a:ln>
                    <a:noFill/>
                  </a:ln>
                  <a:solidFill>
                    <a:srgbClr val="FFFFFF"/>
                  </a:solidFill>
                  <a:effectLst/>
                  <a:uLnTx/>
                  <a:uFillTx/>
                  <a:ea typeface="+mn-ea"/>
                  <a:cs typeface="+mn-cs"/>
                </a:rPr>
                <a:t>Real‑time LiDAR‑based wind field measurement over the entire course</a:t>
              </a:r>
            </a:p>
            <a:p>
              <a:pPr marL="628650" lvl="1" indent="-171450">
                <a:spcBef>
                  <a:spcPts val="100"/>
                </a:spcBef>
                <a:spcAft>
                  <a:spcPts val="100"/>
                </a:spcAft>
                <a:buFont typeface="Arial" panose="020B0604020202020204" pitchFamily="34" charset="0"/>
                <a:buChar char="•"/>
                <a:defRPr/>
              </a:pPr>
              <a:r>
                <a:rPr kumimoji="0" lang="en-US" sz="1000" b="0" i="0" u="none" strike="noStrike" kern="1200" cap="none" spc="0" normalizeH="0" baseline="0" noProof="0">
                  <a:ln>
                    <a:noFill/>
                  </a:ln>
                  <a:solidFill>
                    <a:srgbClr val="FFFFFF"/>
                  </a:solidFill>
                  <a:effectLst/>
                  <a:uLnTx/>
                  <a:uFillTx/>
                  <a:ea typeface="+mn-ea"/>
                  <a:cs typeface="+mn-cs"/>
                </a:rPr>
                <a:t>Meteorological modelling to refine and forecast wind patterns</a:t>
              </a:r>
            </a:p>
            <a:p>
              <a:pPr marL="628650" lvl="1" indent="-171450">
                <a:spcBef>
                  <a:spcPts val="100"/>
                </a:spcBef>
                <a:spcAft>
                  <a:spcPts val="100"/>
                </a:spcAft>
                <a:buFont typeface="Arial" panose="020B0604020202020204" pitchFamily="34" charset="0"/>
                <a:buChar char="•"/>
                <a:defRPr/>
              </a:pPr>
              <a:r>
                <a:rPr kumimoji="0" lang="en-US" sz="1000" b="0" i="0" u="none" strike="noStrike" kern="1200" cap="none" spc="0" normalizeH="0" baseline="0" noProof="0">
                  <a:ln>
                    <a:noFill/>
                  </a:ln>
                  <a:solidFill>
                    <a:srgbClr val="FFFFFF"/>
                  </a:solidFill>
                  <a:effectLst/>
                  <a:uLnTx/>
                  <a:uFillTx/>
                  <a:ea typeface="+mn-ea"/>
                  <a:cs typeface="+mn-cs"/>
                </a:rPr>
                <a:t>Digital twin integration enabling the “Ghost Boat” optimal path simulation</a:t>
              </a:r>
            </a:p>
            <a:p>
              <a:pPr marL="628650" lvl="1" indent="-171450">
                <a:spcBef>
                  <a:spcPts val="100"/>
                </a:spcBef>
                <a:spcAft>
                  <a:spcPts val="100"/>
                </a:spcAft>
                <a:buFont typeface="Arial" panose="020B0604020202020204" pitchFamily="34" charset="0"/>
                <a:buChar char="•"/>
                <a:defRPr/>
              </a:pPr>
              <a:r>
                <a:rPr kumimoji="0" lang="en-US" sz="1000" b="0" i="0" u="none" strike="noStrike" kern="1200" cap="none" spc="0" normalizeH="0" baseline="0" noProof="0">
                  <a:ln>
                    <a:noFill/>
                  </a:ln>
                  <a:solidFill>
                    <a:srgbClr val="FFFFFF"/>
                  </a:solidFill>
                  <a:effectLst/>
                  <a:uLnTx/>
                  <a:uFillTx/>
                  <a:ea typeface="+mn-ea"/>
                  <a:cs typeface="+mn-cs"/>
                </a:rPr>
                <a:t>Visual design and broadcast identity elements integrated seamlessly into event operations</a:t>
              </a:r>
            </a:p>
          </p:txBody>
        </p:sp>
      </p:grpSp>
      <p:grpSp>
        <p:nvGrpSpPr>
          <p:cNvPr id="17" name="Group 16">
            <a:extLst>
              <a:ext uri="{FF2B5EF4-FFF2-40B4-BE49-F238E27FC236}">
                <a16:creationId xmlns:a16="http://schemas.microsoft.com/office/drawing/2014/main" id="{D6C80495-1630-A967-98CB-5E1BB223BCB7}"/>
              </a:ext>
            </a:extLst>
          </p:cNvPr>
          <p:cNvGrpSpPr/>
          <p:nvPr/>
        </p:nvGrpSpPr>
        <p:grpSpPr>
          <a:xfrm>
            <a:off x="539955" y="5036840"/>
            <a:ext cx="6636165" cy="1466316"/>
            <a:chOff x="539955" y="5036840"/>
            <a:chExt cx="6636165" cy="1466316"/>
          </a:xfrm>
        </p:grpSpPr>
        <p:sp>
          <p:nvSpPr>
            <p:cNvPr id="13" name="Shape 4880">
              <a:extLst>
                <a:ext uri="{FF2B5EF4-FFF2-40B4-BE49-F238E27FC236}">
                  <a16:creationId xmlns:a16="http://schemas.microsoft.com/office/drawing/2014/main" id="{2EE168B3-9A51-B1D8-6BFA-28B13917C975}"/>
                </a:ext>
              </a:extLst>
            </p:cNvPr>
            <p:cNvSpPr txBox="1"/>
            <p:nvPr/>
          </p:nvSpPr>
          <p:spPr>
            <a:xfrm>
              <a:off x="551270" y="503684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Value Delivered</a:t>
              </a:r>
              <a:endParaRPr sz="1400">
                <a:solidFill>
                  <a:schemeClr val="accent1">
                    <a:lumMod val="40000"/>
                    <a:lumOff val="60000"/>
                  </a:schemeClr>
                </a:solidFill>
                <a:latin typeface="+mj-lt"/>
                <a:ea typeface="Verdana" panose="020B0604030504040204" pitchFamily="34" charset="0"/>
                <a:sym typeface="Georgia"/>
              </a:endParaRPr>
            </a:p>
          </p:txBody>
        </p:sp>
        <p:sp>
          <p:nvSpPr>
            <p:cNvPr id="14" name="Shape 4883">
              <a:extLst>
                <a:ext uri="{FF2B5EF4-FFF2-40B4-BE49-F238E27FC236}">
                  <a16:creationId xmlns:a16="http://schemas.microsoft.com/office/drawing/2014/main" id="{9B8A6F2F-746F-3A32-8A4B-A281C78910B2}"/>
                </a:ext>
              </a:extLst>
            </p:cNvPr>
            <p:cNvSpPr txBox="1"/>
            <p:nvPr/>
          </p:nvSpPr>
          <p:spPr>
            <a:xfrm>
              <a:off x="539955" y="5319473"/>
              <a:ext cx="6636165" cy="1183683"/>
            </a:xfrm>
            <a:prstGeom prst="rect">
              <a:avLst/>
            </a:prstGeom>
            <a:noFill/>
            <a:ln>
              <a:noFill/>
            </a:ln>
          </p:spPr>
          <p:txBody>
            <a:bodyPr spcFirstLastPara="1" wrap="square" lIns="0" tIns="60933" rIns="0" bIns="60933" anchor="t" anchorCtr="0">
              <a:noAutofit/>
            </a:bodyPr>
            <a:lstStyle/>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Broadcasters across 75+ countries seamlessly integrated wind intelligence into live commentary, giving audiences a previously impossible understanding of race strategy.</a:t>
              </a:r>
            </a:p>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The patented </a:t>
              </a:r>
              <a:r>
                <a:rPr kumimoji="0" lang="en-US" sz="1000" b="0" i="0" u="none" strike="noStrike" kern="1200" cap="none" spc="0" normalizeH="0" baseline="0" noProof="0" err="1">
                  <a:ln>
                    <a:noFill/>
                  </a:ln>
                  <a:solidFill>
                    <a:srgbClr val="FFFFFF"/>
                  </a:solidFill>
                  <a:effectLst/>
                  <a:uLnTx/>
                  <a:uFillTx/>
                  <a:ea typeface="Times New Roman" panose="02020603050405020304" pitchFamily="18" charset="0"/>
                  <a:cs typeface="Times New Roman" panose="02020603050405020304" pitchFamily="18" charset="0"/>
                </a:rPr>
                <a:t>WindSight</a:t>
              </a: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 IQ became the new global standard for wind representation in sailing, widely used across AC37 coverage.</a:t>
              </a:r>
            </a:p>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The partnership generated 1B+ global reach and 8M+ trackable video views in under three months, significantly amplifying Capgemini’s brand visibility and proving the potential for future cross‑industry applications.</a:t>
              </a:r>
            </a:p>
          </p:txBody>
        </p:sp>
      </p:grpSp>
    </p:spTree>
    <p:extLst>
      <p:ext uri="{BB962C8B-B14F-4D97-AF65-F5344CB8AC3E}">
        <p14:creationId xmlns:p14="http://schemas.microsoft.com/office/powerpoint/2010/main" val="25498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CA4F-7ABC-4D53-B071-B11A68BDB9F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37B7832-8DF2-3460-A8A0-9A93F7C25F03}"/>
              </a:ext>
            </a:extLst>
          </p:cNvPr>
          <p:cNvPicPr>
            <a:picLocks noChangeAspect="1"/>
          </p:cNvPicPr>
          <p:nvPr/>
        </p:nvPicPr>
        <p:blipFill>
          <a:blip r:embed="rId2">
            <a:extLst>
              <a:ext uri="{28A0092B-C50C-407E-A947-70E740481C1C}">
                <a14:useLocalDpi xmlns:a14="http://schemas.microsoft.com/office/drawing/2010/main" val="0"/>
              </a:ext>
            </a:extLst>
          </a:blip>
          <a:srcRect l="4959" r="4959"/>
          <a:stretch/>
        </p:blipFill>
        <p:spPr>
          <a:xfrm>
            <a:off x="3215810" y="0"/>
            <a:ext cx="8976189" cy="6858000"/>
          </a:xfrm>
          <a:prstGeom prst="rect">
            <a:avLst/>
          </a:prstGeom>
        </p:spPr>
      </p:pic>
      <p:sp>
        <p:nvSpPr>
          <p:cNvPr id="2" name="Date Placeholder 1">
            <a:extLst>
              <a:ext uri="{FF2B5EF4-FFF2-40B4-BE49-F238E27FC236}">
                <a16:creationId xmlns:a16="http://schemas.microsoft.com/office/drawing/2014/main" id="{AE51F539-1DA3-1E22-4A56-CA8C7C6EA5FD}"/>
              </a:ext>
            </a:extLst>
          </p:cNvPr>
          <p:cNvSpPr>
            <a:spLocks noGrp="1"/>
          </p:cNvSpPr>
          <p:nvPr>
            <p:ph type="dt" sz="half" idx="28"/>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Light"/>
                <a:ea typeface="+mn-ea"/>
                <a:cs typeface="+mn-cs"/>
              </a:rPr>
              <a:t>Company Confidential © Capgemini 2026. All rights reserved.</a:t>
            </a:r>
          </a:p>
        </p:txBody>
      </p:sp>
      <p:sp>
        <p:nvSpPr>
          <p:cNvPr id="3" name="Footer Placeholder 2">
            <a:extLst>
              <a:ext uri="{FF2B5EF4-FFF2-40B4-BE49-F238E27FC236}">
                <a16:creationId xmlns:a16="http://schemas.microsoft.com/office/drawing/2014/main" id="{96484EAC-DC85-4CF5-3504-5C5703B34F00}"/>
              </a:ext>
            </a:extLst>
          </p:cNvPr>
          <p:cNvSpPr>
            <a:spLocks noGrp="1"/>
          </p:cNvSpPr>
          <p:nvPr>
            <p:ph type="ftr" sz="quarter" idx="29"/>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Light"/>
                <a:ea typeface="+mn-ea"/>
                <a:cs typeface="+mn-cs"/>
              </a:rPr>
              <a:t>Data Strategy for Linear TV PoV | Capgemini Invent | March 2026</a:t>
            </a:r>
          </a:p>
        </p:txBody>
      </p:sp>
      <p:sp>
        <p:nvSpPr>
          <p:cNvPr id="4" name="Slide Number Placeholder 3">
            <a:extLst>
              <a:ext uri="{FF2B5EF4-FFF2-40B4-BE49-F238E27FC236}">
                <a16:creationId xmlns:a16="http://schemas.microsoft.com/office/drawing/2014/main" id="{899AC36F-8E10-79A3-C062-AD2B82B156D5}"/>
              </a:ext>
            </a:extLst>
          </p:cNvPr>
          <p:cNvSpPr>
            <a:spLocks noGrp="1"/>
          </p:cNvSpPr>
          <p:nvPr>
            <p:ph type="sldNum" sz="quarter" idx="3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Light"/>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FFFFFF">
                  <a:lumMod val="65000"/>
                </a:srgbClr>
              </a:solidFill>
              <a:effectLst/>
              <a:uLnTx/>
              <a:uFillTx/>
              <a:latin typeface="Ubuntu Light"/>
              <a:ea typeface="+mn-ea"/>
              <a:cs typeface="Arial" panose="020B0604020202020204" pitchFamily="34" charset="0"/>
            </a:endParaRPr>
          </a:p>
        </p:txBody>
      </p:sp>
      <p:sp>
        <p:nvSpPr>
          <p:cNvPr id="6" name="Rectangle 5">
            <a:extLst>
              <a:ext uri="{FF2B5EF4-FFF2-40B4-BE49-F238E27FC236}">
                <a16:creationId xmlns:a16="http://schemas.microsoft.com/office/drawing/2014/main" id="{345D05D5-8E42-9FF7-0A47-79C0A7668BF1}"/>
              </a:ext>
            </a:extLst>
          </p:cNvPr>
          <p:cNvSpPr/>
          <p:nvPr/>
        </p:nvSpPr>
        <p:spPr>
          <a:xfrm>
            <a:off x="5661381" y="2974"/>
            <a:ext cx="6530618" cy="6859646"/>
          </a:xfrm>
          <a:prstGeom prst="rect">
            <a:avLst/>
          </a:prstGeom>
          <a:gradFill flip="none" rotWithShape="1">
            <a:gsLst>
              <a:gs pos="0">
                <a:srgbClr val="272936">
                  <a:alpha val="0"/>
                </a:srgbClr>
              </a:gs>
              <a:gs pos="64000">
                <a:srgbClr val="272936">
                  <a:alpha val="39000"/>
                </a:srgbClr>
              </a:gs>
              <a:gs pos="88000">
                <a:srgbClr val="272936">
                  <a:alpha val="98000"/>
                </a:srgbClr>
              </a:gs>
            </a:gsLst>
            <a:lin ang="189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7" name="Rectangle 6">
            <a:extLst>
              <a:ext uri="{FF2B5EF4-FFF2-40B4-BE49-F238E27FC236}">
                <a16:creationId xmlns:a16="http://schemas.microsoft.com/office/drawing/2014/main" id="{BF83CA76-0E51-68CF-DD37-429BFD0F17EA}"/>
              </a:ext>
            </a:extLst>
          </p:cNvPr>
          <p:cNvSpPr/>
          <p:nvPr/>
        </p:nvSpPr>
        <p:spPr>
          <a:xfrm>
            <a:off x="0" y="0"/>
            <a:ext cx="9558669" cy="6856355"/>
          </a:xfrm>
          <a:prstGeom prst="rect">
            <a:avLst/>
          </a:prstGeom>
          <a:gradFill>
            <a:gsLst>
              <a:gs pos="0">
                <a:srgbClr val="1F1E2C"/>
              </a:gs>
              <a:gs pos="62000">
                <a:srgbClr val="1F1E2C"/>
              </a:gs>
              <a:gs pos="100000">
                <a:srgbClr val="180E0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5" name="Title 4">
            <a:extLst>
              <a:ext uri="{FF2B5EF4-FFF2-40B4-BE49-F238E27FC236}">
                <a16:creationId xmlns:a16="http://schemas.microsoft.com/office/drawing/2014/main" id="{A99D331E-1FFD-65C0-AC81-C503B328035D}"/>
              </a:ext>
            </a:extLst>
          </p:cNvPr>
          <p:cNvSpPr>
            <a:spLocks noGrp="1"/>
          </p:cNvSpPr>
          <p:nvPr>
            <p:ph type="title"/>
          </p:nvPr>
        </p:nvSpPr>
        <p:spPr/>
        <p:txBody>
          <a:bodyPr/>
          <a:lstStyle/>
          <a:p>
            <a:r>
              <a:rPr lang="en-US">
                <a:solidFill>
                  <a:schemeClr val="bg1"/>
                </a:solidFill>
              </a:rPr>
              <a:t>Build a future‑ready Innovation Operating Model enabling performance gains, broader societal impact, and new economic opportunities for French Football</a:t>
            </a:r>
          </a:p>
        </p:txBody>
      </p:sp>
      <p:grpSp>
        <p:nvGrpSpPr>
          <p:cNvPr id="15" name="Group 14">
            <a:extLst>
              <a:ext uri="{FF2B5EF4-FFF2-40B4-BE49-F238E27FC236}">
                <a16:creationId xmlns:a16="http://schemas.microsoft.com/office/drawing/2014/main" id="{4E9068D3-095D-200B-E6A9-D4DCAE285F8E}"/>
              </a:ext>
            </a:extLst>
          </p:cNvPr>
          <p:cNvGrpSpPr/>
          <p:nvPr/>
        </p:nvGrpSpPr>
        <p:grpSpPr>
          <a:xfrm>
            <a:off x="550863" y="1208550"/>
            <a:ext cx="6625257" cy="1700587"/>
            <a:chOff x="550863" y="1208550"/>
            <a:chExt cx="6625257" cy="1700587"/>
          </a:xfrm>
        </p:grpSpPr>
        <p:sp>
          <p:nvSpPr>
            <p:cNvPr id="9" name="Shape 4880">
              <a:extLst>
                <a:ext uri="{FF2B5EF4-FFF2-40B4-BE49-F238E27FC236}">
                  <a16:creationId xmlns:a16="http://schemas.microsoft.com/office/drawing/2014/main" id="{A3FED958-61B9-A285-E7DF-2AE49E29F7FF}"/>
                </a:ext>
              </a:extLst>
            </p:cNvPr>
            <p:cNvSpPr txBox="1"/>
            <p:nvPr/>
          </p:nvSpPr>
          <p:spPr>
            <a:xfrm>
              <a:off x="550863" y="120855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Background</a:t>
              </a:r>
              <a:endParaRPr sz="1400">
                <a:solidFill>
                  <a:schemeClr val="accent1">
                    <a:lumMod val="40000"/>
                    <a:lumOff val="60000"/>
                  </a:schemeClr>
                </a:solidFill>
                <a:latin typeface="+mj-lt"/>
                <a:ea typeface="Verdana" panose="020B0604030504040204" pitchFamily="34" charset="0"/>
                <a:sym typeface="Georgia"/>
              </a:endParaRPr>
            </a:p>
          </p:txBody>
        </p:sp>
        <p:sp>
          <p:nvSpPr>
            <p:cNvPr id="10" name="Shape 4883">
              <a:extLst>
                <a:ext uri="{FF2B5EF4-FFF2-40B4-BE49-F238E27FC236}">
                  <a16:creationId xmlns:a16="http://schemas.microsoft.com/office/drawing/2014/main" id="{CACD170B-66F5-18AF-A554-14FBF39B383A}"/>
                </a:ext>
              </a:extLst>
            </p:cNvPr>
            <p:cNvSpPr txBox="1"/>
            <p:nvPr/>
          </p:nvSpPr>
          <p:spPr>
            <a:xfrm>
              <a:off x="550863" y="1503648"/>
              <a:ext cx="6625257" cy="1405489"/>
            </a:xfrm>
            <a:prstGeom prst="rect">
              <a:avLst/>
            </a:prstGeom>
            <a:noFill/>
            <a:ln>
              <a:noFill/>
            </a:ln>
          </p:spPr>
          <p:txBody>
            <a:bodyPr spcFirstLastPara="1" wrap="square" lIns="0" tIns="60933" rIns="0" bIns="60933" anchor="t" anchorCtr="0">
              <a:noAutofit/>
            </a:bodyPr>
            <a:lstStyle>
              <a:defPPr>
                <a:defRPr lang="en-US"/>
              </a:defPPr>
              <a:lvl1pPr marL="171450" marR="0" lvl="0" indent="-171450" fontAlgn="auto">
                <a:lnSpc>
                  <a:spcPct val="100000"/>
                </a:lnSpc>
                <a:spcBef>
                  <a:spcPts val="100"/>
                </a:spcBef>
                <a:spcAft>
                  <a:spcPts val="100"/>
                </a:spcAft>
                <a:buClrTx/>
                <a:buSzTx/>
                <a:buFont typeface="Arial" panose="020B0604020202020204" pitchFamily="34" charset="0"/>
                <a:buChar char="•"/>
                <a:tabLst/>
                <a:defRPr kumimoji="0" sz="1000" b="0" i="0" u="none" strike="noStrike" cap="none" spc="0" normalizeH="0" baseline="0">
                  <a:ln>
                    <a:noFill/>
                  </a:ln>
                  <a:solidFill>
                    <a:srgbClr val="FFFFFF"/>
                  </a:solidFill>
                  <a:effectLst/>
                  <a:uLnTx/>
                  <a:uFillTx/>
                  <a:latin typeface="Ubuntu Light"/>
                </a:defRPr>
              </a:lvl1pPr>
              <a:lvl2pPr marL="628650" lvl="1" indent="-171450">
                <a:spcBef>
                  <a:spcPts val="100"/>
                </a:spcBef>
                <a:spcAft>
                  <a:spcPts val="100"/>
                </a:spcAft>
                <a:buFont typeface="Arial" panose="020B0604020202020204" pitchFamily="34" charset="0"/>
                <a:buChar char="•"/>
                <a:defRPr kumimoji="0" sz="1000" b="0" i="0" u="none" strike="noStrike" cap="none" spc="0" normalizeH="0" baseline="0">
                  <a:ln>
                    <a:noFill/>
                  </a:ln>
                  <a:solidFill>
                    <a:srgbClr val="FFFFFF"/>
                  </a:solidFill>
                  <a:effectLst/>
                  <a:uLnTx/>
                  <a:uFillTx/>
                  <a:latin typeface="Ubuntu Light"/>
                </a:defRPr>
              </a:lvl2pPr>
            </a:lstStyle>
            <a:p>
              <a:r>
                <a:rPr lang="en-US">
                  <a:latin typeface="+mn-lt"/>
                </a:rPr>
                <a:t>The French Football Federation faced intensifying economic pressures while needing to reinforce football’s societal role—driving inclusion, equality, and community cohesion—without compromising elite performance. </a:t>
              </a:r>
            </a:p>
            <a:p>
              <a:r>
                <a:rPr lang="en-US">
                  <a:latin typeface="+mn-lt"/>
                </a:rPr>
                <a:t>Internally, “innovation” was often seen as disconnected from day‑to‑day sporting realities.</a:t>
              </a:r>
            </a:p>
            <a:p>
              <a:r>
                <a:rPr lang="en-US">
                  <a:latin typeface="+mn-lt"/>
                </a:rPr>
                <a:t>The Federation required a cohesive strategy and operating model to make innovation practical, trusted, and accountable—linking technology and data to measurable performance, social impact, and new revenue opportunities.</a:t>
              </a:r>
            </a:p>
          </p:txBody>
        </p:sp>
      </p:grpSp>
      <p:grpSp>
        <p:nvGrpSpPr>
          <p:cNvPr id="16" name="Group 15">
            <a:extLst>
              <a:ext uri="{FF2B5EF4-FFF2-40B4-BE49-F238E27FC236}">
                <a16:creationId xmlns:a16="http://schemas.microsoft.com/office/drawing/2014/main" id="{0EC1343A-48FA-5F31-B83F-4B1982D8CD1D}"/>
              </a:ext>
            </a:extLst>
          </p:cNvPr>
          <p:cNvGrpSpPr/>
          <p:nvPr/>
        </p:nvGrpSpPr>
        <p:grpSpPr>
          <a:xfrm>
            <a:off x="549464" y="2932299"/>
            <a:ext cx="6740583" cy="1933095"/>
            <a:chOff x="549464" y="2513273"/>
            <a:chExt cx="6740583" cy="1933095"/>
          </a:xfrm>
        </p:grpSpPr>
        <p:sp>
          <p:nvSpPr>
            <p:cNvPr id="11" name="Shape 4880">
              <a:extLst>
                <a:ext uri="{FF2B5EF4-FFF2-40B4-BE49-F238E27FC236}">
                  <a16:creationId xmlns:a16="http://schemas.microsoft.com/office/drawing/2014/main" id="{39FE3D6F-F14B-FF96-FC6C-661BFC6965A7}"/>
                </a:ext>
              </a:extLst>
            </p:cNvPr>
            <p:cNvSpPr txBox="1"/>
            <p:nvPr/>
          </p:nvSpPr>
          <p:spPr>
            <a:xfrm>
              <a:off x="549464" y="2513273"/>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Solution</a:t>
              </a:r>
              <a:endParaRPr sz="1400">
                <a:solidFill>
                  <a:schemeClr val="accent1">
                    <a:lumMod val="40000"/>
                    <a:lumOff val="60000"/>
                  </a:schemeClr>
                </a:solidFill>
                <a:latin typeface="+mj-lt"/>
                <a:ea typeface="Verdana" panose="020B0604030504040204" pitchFamily="34" charset="0"/>
                <a:sym typeface="Georgia"/>
              </a:endParaRPr>
            </a:p>
          </p:txBody>
        </p:sp>
        <p:sp>
          <p:nvSpPr>
            <p:cNvPr id="12" name="Shape 4883">
              <a:extLst>
                <a:ext uri="{FF2B5EF4-FFF2-40B4-BE49-F238E27FC236}">
                  <a16:creationId xmlns:a16="http://schemas.microsoft.com/office/drawing/2014/main" id="{3F352342-E1B3-4B7B-0E60-A41C474BB637}"/>
                </a:ext>
              </a:extLst>
            </p:cNvPr>
            <p:cNvSpPr txBox="1"/>
            <p:nvPr/>
          </p:nvSpPr>
          <p:spPr>
            <a:xfrm>
              <a:off x="549464" y="2817777"/>
              <a:ext cx="6740583" cy="1628591"/>
            </a:xfrm>
            <a:prstGeom prst="rect">
              <a:avLst/>
            </a:prstGeom>
            <a:noFill/>
            <a:ln>
              <a:noFill/>
            </a:ln>
          </p:spPr>
          <p:txBody>
            <a:bodyPr spcFirstLastPara="1" wrap="square" lIns="0" tIns="60933" rIns="0" bIns="60933" anchor="t" anchorCtr="0">
              <a:noAutofit/>
            </a:bodyPr>
            <a:lstStyle/>
            <a:p>
              <a:pPr marL="171450" lvl="0" indent="-171450">
                <a:spcBef>
                  <a:spcPts val="100"/>
                </a:spcBef>
                <a:spcAft>
                  <a:spcPts val="100"/>
                </a:spcAft>
                <a:buFont typeface="Arial" panose="020B0604020202020204" pitchFamily="34" charset="0"/>
                <a:buChar char="•"/>
                <a:defRPr/>
              </a:pPr>
              <a:r>
                <a:rPr lang="en-US" sz="1000">
                  <a:solidFill>
                    <a:srgbClr val="FFFFFF"/>
                  </a:solidFill>
                </a:rPr>
                <a:t>Led a field‑to‑boardroom engagement to locate the highest‑leverage innovation arenas: </a:t>
              </a:r>
            </a:p>
            <a:p>
              <a:pPr marL="628650" lvl="1" indent="-171450">
                <a:spcBef>
                  <a:spcPts val="100"/>
                </a:spcBef>
                <a:spcAft>
                  <a:spcPts val="100"/>
                </a:spcAft>
                <a:buFont typeface="Arial" panose="020B0604020202020204" pitchFamily="34" charset="0"/>
                <a:buChar char="•"/>
                <a:defRPr/>
              </a:pPr>
              <a:r>
                <a:rPr lang="en-US" sz="1000">
                  <a:solidFill>
                    <a:srgbClr val="FFFFFF"/>
                  </a:solidFill>
                </a:rPr>
                <a:t>50+ stakeholder interviews (from national team coaches and medical leadership to refereeing heads and executives), </a:t>
              </a:r>
            </a:p>
            <a:p>
              <a:pPr marL="628650" lvl="1" indent="-171450">
                <a:spcBef>
                  <a:spcPts val="100"/>
                </a:spcBef>
                <a:spcAft>
                  <a:spcPts val="100"/>
                </a:spcAft>
                <a:buFont typeface="Arial" panose="020B0604020202020204" pitchFamily="34" charset="0"/>
                <a:buChar char="•"/>
                <a:defRPr/>
              </a:pPr>
              <a:r>
                <a:rPr lang="en-US" sz="1000">
                  <a:solidFill>
                    <a:srgbClr val="FFFFFF"/>
                  </a:solidFill>
                </a:rPr>
                <a:t>benchmarking across clubs, federations, and adjacent sports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rgbClr val="FFFFFF"/>
                  </a:solidFill>
                </a:rPr>
                <a:t>The team co‑designed the FFF’s Innovation Operating Model, prioritized focus areas, and structured a dedicated Innovation Department—translating ambition into governance, roles, and pipeline management for delivery. </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rgbClr val="FFFFFF"/>
                  </a:solidFill>
                </a:rPr>
                <a:t>Early workstreams were framed to demonstrate near‑term proof: automated player‑performance monitoring and an AI‑based, real‑time game analysis capability to shift from insight to action on and off the pitch.</a:t>
              </a:r>
              <a:endParaRPr kumimoji="0" lang="en-US" sz="1000" b="0" i="0" u="none" strike="noStrike" kern="1200" cap="none" spc="0" normalizeH="0" baseline="0" noProof="0">
                <a:ln>
                  <a:noFill/>
                </a:ln>
                <a:solidFill>
                  <a:srgbClr val="FFFFFF"/>
                </a:solidFill>
                <a:effectLst/>
                <a:uLnTx/>
                <a:uFillTx/>
                <a:ea typeface="+mn-ea"/>
                <a:cs typeface="+mn-cs"/>
              </a:endParaRPr>
            </a:p>
          </p:txBody>
        </p:sp>
      </p:grpSp>
      <p:grpSp>
        <p:nvGrpSpPr>
          <p:cNvPr id="17" name="Group 16">
            <a:extLst>
              <a:ext uri="{FF2B5EF4-FFF2-40B4-BE49-F238E27FC236}">
                <a16:creationId xmlns:a16="http://schemas.microsoft.com/office/drawing/2014/main" id="{ECCF20E5-0304-C13F-D8DF-7B6A5E24044C}"/>
              </a:ext>
            </a:extLst>
          </p:cNvPr>
          <p:cNvGrpSpPr/>
          <p:nvPr/>
        </p:nvGrpSpPr>
        <p:grpSpPr>
          <a:xfrm>
            <a:off x="539955" y="4888556"/>
            <a:ext cx="6636165" cy="1466316"/>
            <a:chOff x="539955" y="5036840"/>
            <a:chExt cx="6636165" cy="1466316"/>
          </a:xfrm>
        </p:grpSpPr>
        <p:sp>
          <p:nvSpPr>
            <p:cNvPr id="13" name="Shape 4880">
              <a:extLst>
                <a:ext uri="{FF2B5EF4-FFF2-40B4-BE49-F238E27FC236}">
                  <a16:creationId xmlns:a16="http://schemas.microsoft.com/office/drawing/2014/main" id="{CF16DEA4-75AA-DF8A-A8E9-8A7F765D8D28}"/>
                </a:ext>
              </a:extLst>
            </p:cNvPr>
            <p:cNvSpPr txBox="1"/>
            <p:nvPr/>
          </p:nvSpPr>
          <p:spPr>
            <a:xfrm>
              <a:off x="551270" y="503684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58AB">
                      <a:lumMod val="40000"/>
                      <a:lumOff val="60000"/>
                    </a:srgbClr>
                  </a:solidFill>
                  <a:effectLst/>
                  <a:uLnTx/>
                  <a:uFillTx/>
                  <a:latin typeface="+mj-lt"/>
                  <a:ea typeface="Verdana" panose="020B0604030504040204" pitchFamily="34" charset="0"/>
                  <a:cs typeface="+mn-cs"/>
                  <a:sym typeface="Georgia"/>
                </a:rPr>
                <a:t>Value </a:t>
              </a:r>
              <a:r>
                <a:rPr lang="en-US" sz="1400">
                  <a:solidFill>
                    <a:schemeClr val="accent1">
                      <a:lumMod val="40000"/>
                      <a:lumOff val="60000"/>
                    </a:schemeClr>
                  </a:solidFill>
                  <a:latin typeface="+mj-lt"/>
                  <a:ea typeface="Verdana" panose="020B0604030504040204" pitchFamily="34" charset="0"/>
                  <a:sym typeface="Georgia"/>
                </a:rPr>
                <a:t>Delivered</a:t>
              </a:r>
              <a:endParaRPr sz="1400">
                <a:solidFill>
                  <a:schemeClr val="accent1">
                    <a:lumMod val="40000"/>
                    <a:lumOff val="60000"/>
                  </a:schemeClr>
                </a:solidFill>
                <a:latin typeface="+mj-lt"/>
                <a:ea typeface="Verdana" panose="020B0604030504040204" pitchFamily="34" charset="0"/>
                <a:sym typeface="Georgia"/>
              </a:endParaRPr>
            </a:p>
          </p:txBody>
        </p:sp>
        <p:sp>
          <p:nvSpPr>
            <p:cNvPr id="14" name="Shape 4883">
              <a:extLst>
                <a:ext uri="{FF2B5EF4-FFF2-40B4-BE49-F238E27FC236}">
                  <a16:creationId xmlns:a16="http://schemas.microsoft.com/office/drawing/2014/main" id="{8D1EDA54-F4DF-19AB-608C-3C6FA73DAA00}"/>
                </a:ext>
              </a:extLst>
            </p:cNvPr>
            <p:cNvSpPr txBox="1"/>
            <p:nvPr/>
          </p:nvSpPr>
          <p:spPr>
            <a:xfrm>
              <a:off x="539955" y="5319473"/>
              <a:ext cx="6636165" cy="1183683"/>
            </a:xfrm>
            <a:prstGeom prst="rect">
              <a:avLst/>
            </a:prstGeom>
            <a:noFill/>
            <a:ln>
              <a:noFill/>
            </a:ln>
          </p:spPr>
          <p:txBody>
            <a:bodyPr spcFirstLastPara="1" wrap="square" lIns="0" tIns="60933" rIns="0" bIns="60933" anchor="t" anchorCtr="0">
              <a:noAutofit/>
            </a:bodyPr>
            <a:lstStyle/>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The FFF Executive Committee formally approved the creation of the new Innovation Department, now bringing together 18 full‑time experts driving research, experimentation, and delivery.</a:t>
              </a:r>
            </a:p>
            <a:p>
              <a:pPr marL="174625" lvl="0" indent="-174625">
                <a:buFont typeface="Arial" panose="020B0604020202020204" pitchFamily="34" charset="0"/>
                <a:buChar char="•"/>
                <a:defRPr/>
              </a:pPr>
              <a:r>
                <a:rPr lang="en-US" sz="1000">
                  <a:solidFill>
                    <a:srgbClr val="FFFFFF"/>
                  </a:solidFill>
                  <a:ea typeface="Times New Roman" panose="02020603050405020304" pitchFamily="18" charset="0"/>
                  <a:cs typeface="Times New Roman" panose="02020603050405020304" pitchFamily="18" charset="0"/>
                </a:rPr>
                <a:t>Accelerated the shift from strategy to on‑field impact, by activating 20 priority initiatives directly addressing the strategic and operational challenges to support sporting excellence like</a:t>
              </a:r>
            </a:p>
            <a:p>
              <a:pPr marL="631825" lvl="1" indent="-174625">
                <a:buFont typeface="Arial" panose="020B0604020202020204" pitchFamily="34" charset="0"/>
                <a:buChar char="•"/>
                <a:defRPr/>
              </a:pPr>
              <a:r>
                <a:rPr lang="en-US" sz="1000">
                  <a:solidFill>
                    <a:srgbClr val="FFFFFF"/>
                  </a:solidFill>
                  <a:ea typeface="Times New Roman" panose="02020603050405020304" pitchFamily="18" charset="0"/>
                  <a:cs typeface="Times New Roman" panose="02020603050405020304" pitchFamily="18" charset="0"/>
                </a:rPr>
                <a:t>Automating player performance monitoring</a:t>
              </a:r>
            </a:p>
            <a:p>
              <a:pPr marL="631825" lvl="1" indent="-174625">
                <a:buFont typeface="Arial" panose="020B0604020202020204" pitchFamily="34" charset="0"/>
                <a:buChar char="•"/>
                <a:defRPr/>
              </a:pPr>
              <a:r>
                <a:rPr lang="en-US" sz="1000">
                  <a:solidFill>
                    <a:srgbClr val="FFFFFF"/>
                  </a:solidFill>
                  <a:ea typeface="Times New Roman" panose="02020603050405020304" pitchFamily="18" charset="0"/>
                  <a:cs typeface="Times New Roman" panose="02020603050405020304" pitchFamily="18" charset="0"/>
                </a:rPr>
                <a:t>AI powered real-time match analysis</a:t>
              </a:r>
            </a:p>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ea typeface="Times New Roman" panose="02020603050405020304" pitchFamily="18" charset="0"/>
                  <a:cs typeface="Times New Roman" panose="02020603050405020304" pitchFamily="18" charset="0"/>
                </a:rPr>
                <a:t>The program improved cross‑team collaboration and operational efficiency across the Federation, embedding innovation as a core enabler of performance, societal influence, and long‑term economic diversification.</a:t>
              </a:r>
            </a:p>
          </p:txBody>
        </p:sp>
      </p:grpSp>
    </p:spTree>
    <p:extLst>
      <p:ext uri="{BB962C8B-B14F-4D97-AF65-F5344CB8AC3E}">
        <p14:creationId xmlns:p14="http://schemas.microsoft.com/office/powerpoint/2010/main" val="1884668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EE204D-0FF1-6196-BA9B-14DCFD83A36D}"/>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t="6209" b="5554"/>
          <a:stretch/>
        </p:blipFill>
        <p:spPr>
          <a:xfrm>
            <a:off x="3215810" y="0"/>
            <a:ext cx="8976189" cy="6858000"/>
          </a:xfrm>
          <a:prstGeom prst="rect">
            <a:avLst/>
          </a:prstGeom>
        </p:spPr>
      </p:pic>
      <p:sp>
        <p:nvSpPr>
          <p:cNvPr id="2" name="Date Placeholder 1">
            <a:extLst>
              <a:ext uri="{FF2B5EF4-FFF2-40B4-BE49-F238E27FC236}">
                <a16:creationId xmlns:a16="http://schemas.microsoft.com/office/drawing/2014/main" id="{DD15E05D-6F4A-CD9F-23EB-4015EAE2BFC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C55CD83-7DAC-BC5A-D99E-35F0AB216B0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27306E0-2ACB-701A-E1C5-346A5C2825B0}"/>
              </a:ext>
            </a:extLst>
          </p:cNvPr>
          <p:cNvSpPr>
            <a:spLocks noGrp="1"/>
          </p:cNvSpPr>
          <p:nvPr>
            <p:ph type="sldNum" sz="quarter" idx="30"/>
          </p:nvPr>
        </p:nvSpPr>
        <p:spPr/>
        <p:txBody>
          <a:bodyPr/>
          <a:lstStyle/>
          <a:p>
            <a:pPr algn="r"/>
            <a:fld id="{5D9A5160-6218-4E5A-B9E6-B93E3DAE377C}" type="slidenum">
              <a:rPr lang="en-US" smtClean="0"/>
              <a:pPr algn="r"/>
              <a:t>26</a:t>
            </a:fld>
            <a:endParaRPr lang="en-US"/>
          </a:p>
        </p:txBody>
      </p:sp>
      <p:sp>
        <p:nvSpPr>
          <p:cNvPr id="6" name="Rectangle 5">
            <a:extLst>
              <a:ext uri="{FF2B5EF4-FFF2-40B4-BE49-F238E27FC236}">
                <a16:creationId xmlns:a16="http://schemas.microsoft.com/office/drawing/2014/main" id="{FA232EA3-B961-B769-FFD6-585745E7C4E8}"/>
              </a:ext>
            </a:extLst>
          </p:cNvPr>
          <p:cNvSpPr/>
          <p:nvPr/>
        </p:nvSpPr>
        <p:spPr>
          <a:xfrm>
            <a:off x="5661382" y="-1646"/>
            <a:ext cx="6530618" cy="6859646"/>
          </a:xfrm>
          <a:prstGeom prst="rect">
            <a:avLst/>
          </a:prstGeom>
          <a:gradFill flip="none" rotWithShape="1">
            <a:gsLst>
              <a:gs pos="0">
                <a:srgbClr val="272936">
                  <a:alpha val="0"/>
                </a:srgbClr>
              </a:gs>
              <a:gs pos="64000">
                <a:srgbClr val="272936">
                  <a:alpha val="39000"/>
                </a:srgbClr>
              </a:gs>
              <a:gs pos="88000">
                <a:srgbClr val="272936">
                  <a:alpha val="98000"/>
                </a:srgbClr>
              </a:gs>
            </a:gsLst>
            <a:lin ang="189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7" name="Rectangle 6">
            <a:extLst>
              <a:ext uri="{FF2B5EF4-FFF2-40B4-BE49-F238E27FC236}">
                <a16:creationId xmlns:a16="http://schemas.microsoft.com/office/drawing/2014/main" id="{C92B7441-16A1-B68D-EF93-D33DEB305372}"/>
              </a:ext>
            </a:extLst>
          </p:cNvPr>
          <p:cNvSpPr/>
          <p:nvPr/>
        </p:nvSpPr>
        <p:spPr>
          <a:xfrm>
            <a:off x="0" y="0"/>
            <a:ext cx="9558669" cy="6856355"/>
          </a:xfrm>
          <a:prstGeom prst="rect">
            <a:avLst/>
          </a:prstGeom>
          <a:gradFill>
            <a:gsLst>
              <a:gs pos="0">
                <a:srgbClr val="1F1E2C"/>
              </a:gs>
              <a:gs pos="62000">
                <a:srgbClr val="1F1E2C"/>
              </a:gs>
              <a:gs pos="100000">
                <a:srgbClr val="180E0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Verdana"/>
            </a:endParaRPr>
          </a:p>
        </p:txBody>
      </p:sp>
      <p:sp>
        <p:nvSpPr>
          <p:cNvPr id="5" name="Title 4">
            <a:extLst>
              <a:ext uri="{FF2B5EF4-FFF2-40B4-BE49-F238E27FC236}">
                <a16:creationId xmlns:a16="http://schemas.microsoft.com/office/drawing/2014/main" id="{30E63A29-1BE3-EDEE-2196-B4EB05AFE178}"/>
              </a:ext>
            </a:extLst>
          </p:cNvPr>
          <p:cNvSpPr>
            <a:spLocks noGrp="1"/>
          </p:cNvSpPr>
          <p:nvPr>
            <p:ph type="title"/>
          </p:nvPr>
        </p:nvSpPr>
        <p:spPr/>
        <p:txBody>
          <a:bodyPr/>
          <a:lstStyle/>
          <a:p>
            <a:r>
              <a:rPr lang="en-US">
                <a:solidFill>
                  <a:schemeClr val="bg1"/>
                </a:solidFill>
              </a:rPr>
              <a:t>Assess Data Maturity and devise a futuristic Data Strategy with Digital Charter for CDO and Data Integration Platform For a global IT Product Distributor</a:t>
            </a:r>
          </a:p>
        </p:txBody>
      </p:sp>
      <p:sp>
        <p:nvSpPr>
          <p:cNvPr id="9" name="Shape 4880">
            <a:extLst>
              <a:ext uri="{FF2B5EF4-FFF2-40B4-BE49-F238E27FC236}">
                <a16:creationId xmlns:a16="http://schemas.microsoft.com/office/drawing/2014/main" id="{750B5BDD-DE52-8962-69F1-3D38244F61E0}"/>
              </a:ext>
            </a:extLst>
          </p:cNvPr>
          <p:cNvSpPr txBox="1"/>
          <p:nvPr/>
        </p:nvSpPr>
        <p:spPr>
          <a:xfrm>
            <a:off x="550863" y="120855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i="0" u="none" strike="noStrike" kern="1200" cap="none" spc="0" normalizeH="0" baseline="0" noProof="0">
                <a:ln>
                  <a:noFill/>
                </a:ln>
                <a:solidFill>
                  <a:schemeClr val="accent1">
                    <a:lumMod val="40000"/>
                    <a:lumOff val="60000"/>
                  </a:schemeClr>
                </a:solidFill>
                <a:effectLst/>
                <a:uLnTx/>
                <a:uFillTx/>
                <a:latin typeface="+mj-lt"/>
                <a:ea typeface="Verdana" panose="020B0604030504040204" pitchFamily="34" charset="0"/>
                <a:cs typeface="Georgia"/>
                <a:sym typeface="Georgia"/>
              </a:rPr>
              <a:t>Background</a:t>
            </a:r>
            <a:endParaRPr kumimoji="0" sz="1600" i="0" u="none" strike="noStrike" kern="1200" cap="none" spc="0" normalizeH="0" baseline="0" noProof="0">
              <a:ln>
                <a:noFill/>
              </a:ln>
              <a:solidFill>
                <a:schemeClr val="accent1">
                  <a:lumMod val="40000"/>
                  <a:lumOff val="60000"/>
                </a:schemeClr>
              </a:solidFill>
              <a:effectLst/>
              <a:uLnTx/>
              <a:uFillTx/>
              <a:latin typeface="+mj-lt"/>
              <a:ea typeface="Verdana" panose="020B0604030504040204" pitchFamily="34" charset="0"/>
              <a:cs typeface="Georgia"/>
              <a:sym typeface="Georgia"/>
            </a:endParaRPr>
          </a:p>
        </p:txBody>
      </p:sp>
      <p:sp>
        <p:nvSpPr>
          <p:cNvPr id="10" name="Shape 4883">
            <a:extLst>
              <a:ext uri="{FF2B5EF4-FFF2-40B4-BE49-F238E27FC236}">
                <a16:creationId xmlns:a16="http://schemas.microsoft.com/office/drawing/2014/main" id="{17ED87F6-9E6E-F45F-8762-9FFAEEE01FAE}"/>
              </a:ext>
            </a:extLst>
          </p:cNvPr>
          <p:cNvSpPr txBox="1"/>
          <p:nvPr/>
        </p:nvSpPr>
        <p:spPr>
          <a:xfrm>
            <a:off x="550863" y="1503648"/>
            <a:ext cx="6625257" cy="917995"/>
          </a:xfrm>
          <a:prstGeom prst="rect">
            <a:avLst/>
          </a:prstGeom>
          <a:noFill/>
          <a:ln>
            <a:noFill/>
          </a:ln>
        </p:spPr>
        <p:txBody>
          <a:bodyPr spcFirstLastPara="1" wrap="square" lIns="0" tIns="60933" rIns="0" bIns="60933" anchor="t" anchorCtr="0">
            <a:noAutofit/>
          </a:bodyPr>
          <a:lstStyle/>
          <a:p>
            <a:pPr lvl="0">
              <a:lnSpc>
                <a:spcPct val="110000"/>
              </a:lnSpc>
              <a:defRPr/>
            </a:pPr>
            <a:r>
              <a:rPr lang="en-US" sz="1000">
                <a:solidFill>
                  <a:schemeClr val="bg1"/>
                </a:solidFill>
                <a:ea typeface="Verdana" panose="020B0604030504040204" pitchFamily="34" charset="0"/>
              </a:rPr>
              <a:t>T</a:t>
            </a:r>
            <a:r>
              <a:rPr kumimoji="0" lang="en-US" sz="1000" b="0" i="0" u="none" strike="noStrike" kern="1200" cap="none" spc="0" normalizeH="0" baseline="0" noProof="0">
                <a:ln>
                  <a:noFill/>
                </a:ln>
                <a:solidFill>
                  <a:schemeClr val="bg1"/>
                </a:solidFill>
                <a:effectLst/>
                <a:uLnTx/>
                <a:uFillTx/>
                <a:ea typeface="Verdana" panose="020B0604030504040204" pitchFamily="34" charset="0"/>
              </a:rPr>
              <a:t>o achieve its vision of becoming a ‘data driven enterprise’, the client engaged Capgemini Invent as a Strategic Partner to help in assessing </a:t>
            </a:r>
          </a:p>
          <a:p>
            <a:pPr marL="171450" lvl="0" indent="-171450">
              <a:lnSpc>
                <a:spcPct val="110000"/>
              </a:lnSpc>
              <a:buFont typeface="Arial" panose="020B0604020202020204" pitchFamily="34" charset="0"/>
              <a:buChar char="•"/>
              <a:defRPr/>
            </a:pPr>
            <a:r>
              <a:rPr lang="en-US" sz="1000">
                <a:solidFill>
                  <a:schemeClr val="bg1"/>
                </a:solidFill>
                <a:ea typeface="Verdana" panose="020B0604030504040204" pitchFamily="34" charset="0"/>
              </a:rPr>
              <a:t>Current data analytics maturity of the organization</a:t>
            </a:r>
          </a:p>
          <a:p>
            <a:pPr marL="171450" lvl="0" indent="-171450">
              <a:lnSpc>
                <a:spcPct val="110000"/>
              </a:lnSpc>
              <a:buFont typeface="Arial" panose="020B0604020202020204" pitchFamily="34" charset="0"/>
              <a:buChar char="•"/>
              <a:defRPr/>
            </a:pPr>
            <a:r>
              <a:rPr lang="en-US" sz="1000">
                <a:solidFill>
                  <a:schemeClr val="bg1"/>
                </a:solidFill>
                <a:ea typeface="Verdana" panose="020B0604030504040204" pitchFamily="34" charset="0"/>
              </a:rPr>
              <a:t>Define a futuristic Data Strategy with establishing a</a:t>
            </a:r>
            <a:r>
              <a:rPr kumimoji="0" lang="en-US" sz="1000" b="0" i="0" u="none" strike="noStrike" kern="1200" cap="none" spc="0" normalizeH="0" baseline="0" noProof="0">
                <a:ln>
                  <a:noFill/>
                </a:ln>
                <a:solidFill>
                  <a:schemeClr val="bg1"/>
                </a:solidFill>
                <a:effectLst/>
                <a:uLnTx/>
                <a:uFillTx/>
                <a:ea typeface="Verdana" panose="020B0604030504040204" pitchFamily="34" charset="0"/>
              </a:rPr>
              <a:t>n Enterprise Data Office (CDO)</a:t>
            </a:r>
          </a:p>
          <a:p>
            <a:pPr marL="171450" lvl="0" indent="-171450">
              <a:lnSpc>
                <a:spcPct val="110000"/>
              </a:lnSpc>
              <a:buFont typeface="Arial" panose="020B0604020202020204" pitchFamily="34" charset="0"/>
              <a:buChar char="•"/>
              <a:defRPr/>
            </a:pPr>
            <a:r>
              <a:rPr lang="en-US" sz="1000">
                <a:solidFill>
                  <a:schemeClr val="bg1"/>
                </a:solidFill>
                <a:ea typeface="Verdana" panose="020B0604030504040204" pitchFamily="34" charset="0"/>
              </a:rPr>
              <a:t>Define Digital Charter and business case for CDO office and Target Data Integration platform</a:t>
            </a:r>
          </a:p>
        </p:txBody>
      </p:sp>
      <p:sp>
        <p:nvSpPr>
          <p:cNvPr id="11" name="Shape 4880">
            <a:extLst>
              <a:ext uri="{FF2B5EF4-FFF2-40B4-BE49-F238E27FC236}">
                <a16:creationId xmlns:a16="http://schemas.microsoft.com/office/drawing/2014/main" id="{6F2E9805-5160-DCA8-8C51-EDA7DA8FF9E2}"/>
              </a:ext>
            </a:extLst>
          </p:cNvPr>
          <p:cNvSpPr txBox="1"/>
          <p:nvPr/>
        </p:nvSpPr>
        <p:spPr>
          <a:xfrm>
            <a:off x="549464" y="2513273"/>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Solution</a:t>
            </a:r>
            <a:endParaRPr sz="1400">
              <a:solidFill>
                <a:schemeClr val="accent1">
                  <a:lumMod val="40000"/>
                  <a:lumOff val="60000"/>
                </a:schemeClr>
              </a:solidFill>
              <a:latin typeface="+mj-lt"/>
              <a:ea typeface="Verdana" panose="020B0604030504040204" pitchFamily="34" charset="0"/>
              <a:sym typeface="Georgia"/>
            </a:endParaRPr>
          </a:p>
        </p:txBody>
      </p:sp>
      <p:sp>
        <p:nvSpPr>
          <p:cNvPr id="12" name="Shape 4883">
            <a:extLst>
              <a:ext uri="{FF2B5EF4-FFF2-40B4-BE49-F238E27FC236}">
                <a16:creationId xmlns:a16="http://schemas.microsoft.com/office/drawing/2014/main" id="{84E60131-30A8-6C34-EB61-A9D460F5E066}"/>
              </a:ext>
            </a:extLst>
          </p:cNvPr>
          <p:cNvSpPr txBox="1"/>
          <p:nvPr/>
        </p:nvSpPr>
        <p:spPr>
          <a:xfrm>
            <a:off x="549464" y="2817777"/>
            <a:ext cx="6740583" cy="2071558"/>
          </a:xfrm>
          <a:prstGeom prst="rect">
            <a:avLst/>
          </a:prstGeom>
          <a:noFill/>
          <a:ln>
            <a:noFill/>
          </a:ln>
        </p:spPr>
        <p:txBody>
          <a:bodyPr spcFirstLastPara="1" wrap="square" lIns="0" tIns="60933" rIns="0" bIns="60933" anchor="t" anchorCtr="0">
            <a:noAutofit/>
          </a:bodyPr>
          <a:lstStyle/>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chemeClr val="bg1"/>
                </a:solidFill>
              </a:rPr>
              <a:t>Completed a comprehensive Data Analytics maturity assessment for two geographies and 10 different business domains across the enterprise and devised recommendation to achieve organization’s  vision</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chemeClr val="bg1"/>
                </a:solidFill>
              </a:rPr>
              <a:t>Proposed optimal enterprise data office team structure aligned with Client’s vision and objectives, supported by guiding principles and decision framework. The deliverables included​ </a:t>
            </a:r>
          </a:p>
          <a:p>
            <a:pPr marL="628650" lvl="1" indent="-171450">
              <a:spcBef>
                <a:spcPts val="100"/>
              </a:spcBef>
              <a:spcAft>
                <a:spcPts val="100"/>
              </a:spcAft>
              <a:buFont typeface="Arial" panose="020B0604020202020204" pitchFamily="34" charset="0"/>
              <a:buChar char="•"/>
              <a:defRPr/>
            </a:pPr>
            <a:r>
              <a:rPr lang="en-US" sz="1000">
                <a:solidFill>
                  <a:schemeClr val="bg1"/>
                </a:solidFill>
              </a:rPr>
              <a:t>Team compositions with key roles &amp; responsibilities </a:t>
            </a:r>
          </a:p>
          <a:p>
            <a:pPr marL="628650" lvl="1" indent="-171450">
              <a:spcBef>
                <a:spcPts val="100"/>
              </a:spcBef>
              <a:spcAft>
                <a:spcPts val="100"/>
              </a:spcAft>
              <a:buFont typeface="Arial" panose="020B0604020202020204" pitchFamily="34" charset="0"/>
              <a:buChar char="•"/>
              <a:defRPr/>
            </a:pPr>
            <a:r>
              <a:rPr lang="en-US" sz="1000">
                <a:solidFill>
                  <a:schemeClr val="bg1"/>
                </a:solidFill>
              </a:rPr>
              <a:t>Operating model including RASIC, communication model, a service catalog and   estimation framework ​</a:t>
            </a:r>
          </a:p>
          <a:p>
            <a:pPr marL="628650" lvl="1" indent="-171450">
              <a:spcBef>
                <a:spcPts val="100"/>
              </a:spcBef>
              <a:spcAft>
                <a:spcPts val="100"/>
              </a:spcAft>
              <a:buFont typeface="Arial" panose="020B0604020202020204" pitchFamily="34" charset="0"/>
              <a:buChar char="•"/>
              <a:defRPr/>
            </a:pPr>
            <a:r>
              <a:rPr lang="en-US" sz="1000">
                <a:solidFill>
                  <a:schemeClr val="bg1"/>
                </a:solidFill>
              </a:rPr>
              <a:t>Indicative KPI’s relevant to Client’s scenario to measure outcomes of the CDO program</a:t>
            </a:r>
          </a:p>
          <a:p>
            <a:pPr marL="628650" lvl="1" indent="-171450">
              <a:spcBef>
                <a:spcPts val="100"/>
              </a:spcBef>
              <a:spcAft>
                <a:spcPts val="100"/>
              </a:spcAft>
              <a:buFont typeface="Arial" panose="020B0604020202020204" pitchFamily="34" charset="0"/>
              <a:buChar char="•"/>
              <a:defRPr/>
            </a:pPr>
            <a:r>
              <a:rPr lang="en-US" sz="1000">
                <a:solidFill>
                  <a:schemeClr val="bg1"/>
                </a:solidFill>
              </a:rPr>
              <a:t>​Rapid action plan for next 4 months to showcase quick win elements​</a:t>
            </a:r>
          </a:p>
          <a:p>
            <a:pPr marL="628650" lvl="1" indent="-171450">
              <a:spcBef>
                <a:spcPts val="100"/>
              </a:spcBef>
              <a:spcAft>
                <a:spcPts val="100"/>
              </a:spcAft>
              <a:buFont typeface="Arial" panose="020B0604020202020204" pitchFamily="34" charset="0"/>
              <a:buChar char="•"/>
              <a:defRPr/>
            </a:pPr>
            <a:r>
              <a:rPr lang="en-US" sz="1000">
                <a:solidFill>
                  <a:schemeClr val="bg1"/>
                </a:solidFill>
              </a:rPr>
              <a:t>Devised a business case for the CDO set up with projected ROI</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a:solidFill>
                  <a:schemeClr val="bg1"/>
                </a:solidFill>
              </a:rPr>
              <a:t>Recommended target data integration platform with high level reference architecture. Devised a business case for the target data integration and data platform highlighting the potential t-shirt size of the initiative and value realization </a:t>
            </a:r>
          </a:p>
        </p:txBody>
      </p:sp>
      <p:sp>
        <p:nvSpPr>
          <p:cNvPr id="13" name="Shape 4880">
            <a:extLst>
              <a:ext uri="{FF2B5EF4-FFF2-40B4-BE49-F238E27FC236}">
                <a16:creationId xmlns:a16="http://schemas.microsoft.com/office/drawing/2014/main" id="{0012C760-C2A0-DA1D-3C07-BB67164DAB54}"/>
              </a:ext>
            </a:extLst>
          </p:cNvPr>
          <p:cNvSpPr txBox="1"/>
          <p:nvPr/>
        </p:nvSpPr>
        <p:spPr>
          <a:xfrm>
            <a:off x="551270" y="5036840"/>
            <a:ext cx="4350685" cy="367926"/>
          </a:xfrm>
          <a:prstGeom prst="rect">
            <a:avLst/>
          </a:prstGeom>
          <a:noFill/>
          <a:ln>
            <a:noFill/>
          </a:ln>
        </p:spPr>
        <p:txBody>
          <a:bodyPr spcFirstLastPara="1" wrap="square" lIns="0" tIns="60933" rIns="0" bIns="60933" anchor="t" anchorCtr="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a:solidFill>
                  <a:schemeClr val="accent1">
                    <a:lumMod val="40000"/>
                    <a:lumOff val="60000"/>
                  </a:schemeClr>
                </a:solidFill>
                <a:latin typeface="+mj-lt"/>
                <a:ea typeface="Verdana" panose="020B0604030504040204" pitchFamily="34" charset="0"/>
                <a:sym typeface="Georgia"/>
              </a:rPr>
              <a:t>Value Delivered</a:t>
            </a:r>
            <a:endParaRPr sz="1400">
              <a:solidFill>
                <a:schemeClr val="accent1">
                  <a:lumMod val="40000"/>
                  <a:lumOff val="60000"/>
                </a:schemeClr>
              </a:solidFill>
              <a:latin typeface="+mj-lt"/>
              <a:ea typeface="Verdana" panose="020B0604030504040204" pitchFamily="34" charset="0"/>
              <a:sym typeface="Georgia"/>
            </a:endParaRPr>
          </a:p>
        </p:txBody>
      </p:sp>
      <p:sp>
        <p:nvSpPr>
          <p:cNvPr id="14" name="Shape 4883">
            <a:extLst>
              <a:ext uri="{FF2B5EF4-FFF2-40B4-BE49-F238E27FC236}">
                <a16:creationId xmlns:a16="http://schemas.microsoft.com/office/drawing/2014/main" id="{36E878C0-9007-EC4C-B705-CBD3915C0362}"/>
              </a:ext>
            </a:extLst>
          </p:cNvPr>
          <p:cNvSpPr txBox="1"/>
          <p:nvPr/>
        </p:nvSpPr>
        <p:spPr>
          <a:xfrm>
            <a:off x="539955" y="5319473"/>
            <a:ext cx="6636165" cy="1183683"/>
          </a:xfrm>
          <a:prstGeom prst="rect">
            <a:avLst/>
          </a:prstGeom>
          <a:noFill/>
          <a:ln>
            <a:noFill/>
          </a:ln>
        </p:spPr>
        <p:txBody>
          <a:bodyPr spcFirstLastPara="1" wrap="square" lIns="0" tIns="60933" rIns="0" bIns="60933" anchor="t" anchorCtr="0">
            <a:noAutofit/>
          </a:bodyPr>
          <a:lstStyle/>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20% Better Operational Efficiency projected through </a:t>
            </a:r>
          </a:p>
          <a:p>
            <a:pPr marL="631825" lvl="1" indent="-174625">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Simple and seamless integration</a:t>
            </a:r>
          </a:p>
          <a:p>
            <a:pPr marL="631825" lvl="1" indent="-174625">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Reduced risk of stale data across systems</a:t>
            </a:r>
          </a:p>
          <a:p>
            <a:pPr marL="631825" lvl="1" indent="-174625">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At least 2X Faster delivery cycles</a:t>
            </a:r>
          </a:p>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2X Reduction </a:t>
            </a:r>
            <a:r>
              <a:rPr lang="en-US" sz="1000">
                <a:solidFill>
                  <a:schemeClr val="bg1"/>
                </a:solidFill>
                <a:ea typeface="Times New Roman" panose="02020603050405020304" pitchFamily="18" charset="0"/>
                <a:cs typeface="Times New Roman" panose="02020603050405020304" pitchFamily="18" charset="0"/>
              </a:rPr>
              <a:t>is estimated </a:t>
            </a: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in overall Data issues leading to better Data Health through </a:t>
            </a:r>
          </a:p>
          <a:p>
            <a:pPr marL="631825" lvl="1" indent="-174625">
              <a:buFont typeface="Arial" panose="020B0604020202020204" pitchFamily="34" charset="0"/>
              <a:buChar char="•"/>
              <a:defRPr/>
            </a:pP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Enhanced Data Platform</a:t>
            </a:r>
            <a:r>
              <a:rPr lang="en-US" sz="1000">
                <a:solidFill>
                  <a:schemeClr val="bg1"/>
                </a:solidFill>
                <a:ea typeface="Times New Roman" panose="02020603050405020304" pitchFamily="18" charset="0"/>
                <a:cs typeface="Times New Roman" panose="02020603050405020304" pitchFamily="18" charset="0"/>
              </a:rPr>
              <a:t> </a:t>
            </a:r>
            <a:r>
              <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rPr>
              <a:t>Interoperability</a:t>
            </a:r>
          </a:p>
          <a:p>
            <a:pPr marL="631825" lvl="1" indent="-174625">
              <a:buFont typeface="Arial" panose="020B0604020202020204" pitchFamily="34" charset="0"/>
              <a:buChar char="•"/>
              <a:defRPr/>
            </a:pPr>
            <a:r>
              <a:rPr lang="en-US" sz="1000">
                <a:solidFill>
                  <a:schemeClr val="bg1"/>
                </a:solidFill>
                <a:ea typeface="Times New Roman" panose="02020603050405020304" pitchFamily="18" charset="0"/>
                <a:cs typeface="Times New Roman" panose="02020603050405020304" pitchFamily="18" charset="0"/>
              </a:rPr>
              <a:t>Established ownership &amp; accountability of business and data organization</a:t>
            </a:r>
            <a:endParaRPr kumimoji="0" lang="en-US" sz="1000" b="0" i="0" u="none" strike="noStrike" kern="1200" cap="none" spc="0" normalizeH="0" baseline="0" noProof="0">
              <a:ln>
                <a:noFill/>
              </a:ln>
              <a:solidFill>
                <a:schemeClr val="bg1"/>
              </a:solidFill>
              <a:effectLst/>
              <a:uLnTx/>
              <a:uFillTx/>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168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83F796-A9AE-C4B9-CFF1-B8D9316DCFBE}"/>
            </a:ext>
          </a:extLst>
        </p:cNvPr>
        <p:cNvGrpSpPr/>
        <p:nvPr/>
      </p:nvGrpSpPr>
      <p:grpSpPr>
        <a:xfrm>
          <a:off x="0" y="0"/>
          <a:ext cx="0" cy="0"/>
          <a:chOff x="0" y="0"/>
          <a:chExt cx="0" cy="0"/>
        </a:xfrm>
      </p:grpSpPr>
      <p:sp>
        <p:nvSpPr>
          <p:cNvPr id="5" name="Title 7">
            <a:extLst>
              <a:ext uri="{FF2B5EF4-FFF2-40B4-BE49-F238E27FC236}">
                <a16:creationId xmlns:a16="http://schemas.microsoft.com/office/drawing/2014/main" id="{4907ECBB-8F49-4D92-7928-537D24693EE9}"/>
              </a:ext>
            </a:extLst>
          </p:cNvPr>
          <p:cNvSpPr txBox="1">
            <a:spLocks noGrp="1"/>
          </p:cNvSpPr>
          <p:nvPr>
            <p:ph type="title" idx="4294967295"/>
          </p:nvPr>
        </p:nvSpPr>
        <p:spPr>
          <a:xfrm>
            <a:off x="3404750" y="1047025"/>
            <a:ext cx="7559674" cy="49720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tx1"/>
                </a:solidFill>
                <a:effectLst/>
                <a:uLnTx/>
                <a:uFillTx/>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Make</a:t>
            </a:r>
          </a:p>
        </p:txBody>
      </p:sp>
      <p:sp>
        <p:nvSpPr>
          <p:cNvPr id="6" name="Title 7">
            <a:extLst>
              <a:ext uri="{FF2B5EF4-FFF2-40B4-BE49-F238E27FC236}">
                <a16:creationId xmlns:a16="http://schemas.microsoft.com/office/drawing/2014/main" id="{FCFAA103-BFDF-1080-856C-9AAA3E4B287A}"/>
              </a:ext>
            </a:extLst>
          </p:cNvPr>
          <p:cNvSpPr txBox="1">
            <a:spLocks/>
          </p:cNvSpPr>
          <p:nvPr/>
        </p:nvSpPr>
        <p:spPr>
          <a:xfrm>
            <a:off x="5791511" y="3291907"/>
            <a:ext cx="3744938" cy="1008063"/>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real.</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7" name="Title 7">
            <a:extLst>
              <a:ext uri="{FF2B5EF4-FFF2-40B4-BE49-F238E27FC236}">
                <a16:creationId xmlns:a16="http://schemas.microsoft.com/office/drawing/2014/main" id="{01F4E77A-00BE-0092-9545-B6F9E8707B47}"/>
              </a:ext>
            </a:extLst>
          </p:cNvPr>
          <p:cNvSpPr txBox="1">
            <a:spLocks/>
          </p:cNvSpPr>
          <p:nvPr/>
        </p:nvSpPr>
        <p:spPr>
          <a:xfrm>
            <a:off x="5424059" y="2178102"/>
            <a:ext cx="2774126" cy="970557"/>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en-US" sz="6000" b="0" i="0" u="none" strike="noStrike" kern="1200" cap="none" spc="0" normalizeH="0" baseline="0" noProof="0">
                <a:ln>
                  <a:noFill/>
                </a:ln>
                <a:solidFill>
                  <a:srgbClr val="FFFFFF"/>
                </a:solidFill>
                <a:effectLst/>
                <a:uLnTx/>
                <a:uFillTx/>
                <a:latin typeface="Ubuntu"/>
                <a:ea typeface="+mj-ea"/>
                <a:cs typeface="+mj-cs"/>
              </a:rPr>
              <a:t>it</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18" name="Rectangle 17">
            <a:extLst>
              <a:ext uri="{FF2B5EF4-FFF2-40B4-BE49-F238E27FC236}">
                <a16:creationId xmlns:a16="http://schemas.microsoft.com/office/drawing/2014/main" id="{186F2239-DD5F-1A43-B058-C50D72B66877}"/>
              </a:ext>
              <a:ext uri="{C183D7F6-B498-43B3-948B-1728B52AA6E4}">
                <adec:decorative xmlns:adec="http://schemas.microsoft.com/office/drawing/2017/decorative" val="1"/>
              </a:ext>
            </a:extLst>
          </p:cNvPr>
          <p:cNvSpPr/>
          <p:nvPr/>
        </p:nvSpPr>
        <p:spPr>
          <a:xfrm>
            <a:off x="-419485"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0" name="Rectangle 19">
            <a:extLst>
              <a:ext uri="{FF2B5EF4-FFF2-40B4-BE49-F238E27FC236}">
                <a16:creationId xmlns:a16="http://schemas.microsoft.com/office/drawing/2014/main" id="{EB4BF715-42D7-6A5B-3726-BA36A5A7B074}"/>
              </a:ext>
              <a:ext uri="{C183D7F6-B498-43B3-948B-1728B52AA6E4}">
                <adec:decorative xmlns:adec="http://schemas.microsoft.com/office/drawing/2017/decorative" val="1"/>
              </a:ext>
            </a:extLst>
          </p:cNvPr>
          <p:cNvSpPr/>
          <p:nvPr/>
        </p:nvSpPr>
        <p:spPr>
          <a:xfrm>
            <a:off x="8466416"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Rectangle 20">
            <a:extLst>
              <a:ext uri="{FF2B5EF4-FFF2-40B4-BE49-F238E27FC236}">
                <a16:creationId xmlns:a16="http://schemas.microsoft.com/office/drawing/2014/main" id="{E6B30C74-3ABC-C830-745B-F4132DA9E43A}"/>
              </a:ext>
              <a:ext uri="{C183D7F6-B498-43B3-948B-1728B52AA6E4}">
                <adec:decorative xmlns:adec="http://schemas.microsoft.com/office/drawing/2017/decorative" val="1"/>
              </a:ext>
            </a:extLst>
          </p:cNvPr>
          <p:cNvSpPr/>
          <p:nvPr/>
        </p:nvSpPr>
        <p:spPr>
          <a:xfrm>
            <a:off x="6291940" y="262184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84A07C81-260E-982A-2686-B3B3646C218E}"/>
              </a:ext>
              <a:ext uri="{C183D7F6-B498-43B3-948B-1728B52AA6E4}">
                <adec:decorative xmlns:adec="http://schemas.microsoft.com/office/drawing/2017/decorative" val="1"/>
              </a:ext>
            </a:extLst>
          </p:cNvPr>
          <p:cNvSpPr/>
          <p:nvPr/>
        </p:nvSpPr>
        <p:spPr>
          <a:xfrm>
            <a:off x="-2832992" y="1389953"/>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pic>
        <p:nvPicPr>
          <p:cNvPr id="3" name="Graphic 2">
            <a:extLst>
              <a:ext uri="{FF2B5EF4-FFF2-40B4-BE49-F238E27FC236}">
                <a16:creationId xmlns:a16="http://schemas.microsoft.com/office/drawing/2014/main" id="{D5329486-4E92-C011-D46F-D020CBDD9AE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020857" y="6176366"/>
            <a:ext cx="2763156" cy="431093"/>
          </a:xfrm>
          <a:prstGeom prst="rect">
            <a:avLst/>
          </a:prstGeom>
        </p:spPr>
      </p:pic>
    </p:spTree>
    <p:extLst>
      <p:ext uri="{BB962C8B-B14F-4D97-AF65-F5344CB8AC3E}">
        <p14:creationId xmlns:p14="http://schemas.microsoft.com/office/powerpoint/2010/main" val="993602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31C29-1332-2428-E110-F34684CAD945}"/>
            </a:ext>
          </a:extLst>
        </p:cNvPr>
        <p:cNvGrpSpPr/>
        <p:nvPr/>
      </p:nvGrpSpPr>
      <p:grpSpPr>
        <a:xfrm>
          <a:off x="0" y="0"/>
          <a:ext cx="0" cy="0"/>
          <a:chOff x="0" y="0"/>
          <a:chExt cx="0" cy="0"/>
        </a:xfrm>
      </p:grpSpPr>
    </p:spTree>
    <p:extLst>
      <p:ext uri="{BB962C8B-B14F-4D97-AF65-F5344CB8AC3E}">
        <p14:creationId xmlns:p14="http://schemas.microsoft.com/office/powerpoint/2010/main" val="1061429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3AAD-0A8E-4D3F-E813-9C74487928F7}"/>
            </a:ext>
          </a:extLst>
        </p:cNvPr>
        <p:cNvGrpSpPr/>
        <p:nvPr/>
      </p:nvGrpSpPr>
      <p:grpSpPr>
        <a:xfrm>
          <a:off x="0" y="0"/>
          <a:ext cx="0" cy="0"/>
          <a:chOff x="0" y="0"/>
          <a:chExt cx="0" cy="0"/>
        </a:xfrm>
      </p:grpSpPr>
      <p:pic>
        <p:nvPicPr>
          <p:cNvPr id="14" name="Picture Placeholder 13" descr="A blue and white background with leaves&#10;">
            <a:extLst>
              <a:ext uri="{FF2B5EF4-FFF2-40B4-BE49-F238E27FC236}">
                <a16:creationId xmlns:a16="http://schemas.microsoft.com/office/drawing/2014/main" id="{906255DA-1593-C619-44D3-0E14C68D4E8D}"/>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 y="0"/>
            <a:ext cx="12192001" cy="6858000"/>
          </a:xfrm>
        </p:spPr>
      </p:pic>
      <p:sp>
        <p:nvSpPr>
          <p:cNvPr id="10" name="Text Placeholder 9">
            <a:extLst>
              <a:ext uri="{FF2B5EF4-FFF2-40B4-BE49-F238E27FC236}">
                <a16:creationId xmlns:a16="http://schemas.microsoft.com/office/drawing/2014/main" id="{7744C280-CB41-2C0D-6F0A-738A5F8C5CC1}"/>
              </a:ext>
            </a:extLst>
          </p:cNvPr>
          <p:cNvSpPr>
            <a:spLocks noGrp="1"/>
          </p:cNvSpPr>
          <p:nvPr>
            <p:ph type="body" sz="quarter" idx="19"/>
          </p:nvPr>
        </p:nvSpPr>
        <p:spPr>
          <a:xfrm>
            <a:off x="0" y="0"/>
            <a:ext cx="4657725" cy="6858000"/>
          </a:xfrm>
        </p:spPr>
        <p:txBody>
          <a:bodyPr/>
          <a:lstStyle/>
          <a:p>
            <a:r>
              <a:rPr lang="en-US">
                <a:latin typeface="+mj-lt"/>
              </a:rPr>
              <a:t>A</a:t>
            </a:r>
          </a:p>
        </p:txBody>
      </p:sp>
      <p:sp>
        <p:nvSpPr>
          <p:cNvPr id="25" name="Date Placeholder 24">
            <a:extLst>
              <a:ext uri="{FF2B5EF4-FFF2-40B4-BE49-F238E27FC236}">
                <a16:creationId xmlns:a16="http://schemas.microsoft.com/office/drawing/2014/main" id="{CFF8D691-65F1-0705-D1F9-B1BA94CDFE2B}"/>
              </a:ext>
            </a:extLst>
          </p:cNvPr>
          <p:cNvSpPr>
            <a:spLocks noGrp="1"/>
          </p:cNvSpPr>
          <p:nvPr>
            <p:ph type="dt" sz="half" idx="20"/>
          </p:nvPr>
        </p:nvSpPr>
        <p:spPr>
          <a:xfrm>
            <a:off x="9809927" y="6650661"/>
            <a:ext cx="1831210" cy="123111"/>
          </a:xfrm>
        </p:spPr>
        <p:txBody>
          <a:bodyPr/>
          <a:lstStyle/>
          <a:p>
            <a:r>
              <a:rPr lang="en-US"/>
              <a:t>Company Confidential © Capgemini 2026. All rights reserved.</a:t>
            </a:r>
          </a:p>
        </p:txBody>
      </p:sp>
      <p:sp>
        <p:nvSpPr>
          <p:cNvPr id="26" name="Footer Placeholder 25">
            <a:extLst>
              <a:ext uri="{FF2B5EF4-FFF2-40B4-BE49-F238E27FC236}">
                <a16:creationId xmlns:a16="http://schemas.microsoft.com/office/drawing/2014/main" id="{59A45E2F-A46F-7A34-6092-C3B3A0C8E882}"/>
              </a:ext>
            </a:extLst>
          </p:cNvPr>
          <p:cNvSpPr>
            <a:spLocks noGrp="1"/>
          </p:cNvSpPr>
          <p:nvPr>
            <p:ph type="ftr" sz="quarter" idx="21"/>
          </p:nvPr>
        </p:nvSpPr>
        <p:spPr>
          <a:xfrm>
            <a:off x="550863" y="6650661"/>
            <a:ext cx="4716524" cy="123111"/>
          </a:xfrm>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27" name="Slide Number Placeholder 26">
            <a:extLst>
              <a:ext uri="{FF2B5EF4-FFF2-40B4-BE49-F238E27FC236}">
                <a16:creationId xmlns:a16="http://schemas.microsoft.com/office/drawing/2014/main" id="{242295D8-A5F7-7DB1-B31B-2F28207AC3E7}"/>
              </a:ext>
            </a:extLst>
          </p:cNvPr>
          <p:cNvSpPr>
            <a:spLocks noGrp="1"/>
          </p:cNvSpPr>
          <p:nvPr>
            <p:ph type="sldNum" sz="quarter" idx="22"/>
          </p:nvPr>
        </p:nvSpPr>
        <p:spPr>
          <a:xfrm>
            <a:off x="11778341" y="6650661"/>
            <a:ext cx="232665" cy="123111"/>
          </a:xfrm>
        </p:spPr>
        <p:txBody>
          <a:bodyPr/>
          <a:lstStyle/>
          <a:p>
            <a:fld id="{5D9A5160-6218-4E5A-B9E6-B93E3DAE377C}" type="slidenum">
              <a:rPr lang="en-US" smtClean="0"/>
              <a:pPr/>
              <a:t>29</a:t>
            </a:fld>
            <a:endParaRPr lang="en-US"/>
          </a:p>
        </p:txBody>
      </p:sp>
      <p:sp>
        <p:nvSpPr>
          <p:cNvPr id="22" name="Title 21">
            <a:extLst>
              <a:ext uri="{FF2B5EF4-FFF2-40B4-BE49-F238E27FC236}">
                <a16:creationId xmlns:a16="http://schemas.microsoft.com/office/drawing/2014/main" id="{F95AEB6D-F8F3-F017-F7A2-95FE20C10865}"/>
              </a:ext>
            </a:extLst>
          </p:cNvPr>
          <p:cNvSpPr>
            <a:spLocks noGrp="1"/>
          </p:cNvSpPr>
          <p:nvPr>
            <p:ph type="title"/>
          </p:nvPr>
        </p:nvSpPr>
        <p:spPr>
          <a:xfrm>
            <a:off x="5159374" y="4658810"/>
            <a:ext cx="6487665" cy="1672542"/>
          </a:xfrm>
        </p:spPr>
        <p:txBody>
          <a:bodyPr/>
          <a:lstStyle/>
          <a:p>
            <a:r>
              <a:rPr lang="en-US"/>
              <a:t>Appendix</a:t>
            </a:r>
          </a:p>
        </p:txBody>
      </p:sp>
      <p:sp>
        <p:nvSpPr>
          <p:cNvPr id="24" name="Text Placeholder 23">
            <a:extLst>
              <a:ext uri="{FF2B5EF4-FFF2-40B4-BE49-F238E27FC236}">
                <a16:creationId xmlns:a16="http://schemas.microsoft.com/office/drawing/2014/main" id="{BC757C62-F771-8A6A-D0FF-FC7C4DF88A62}"/>
              </a:ext>
            </a:extLst>
          </p:cNvPr>
          <p:cNvSpPr>
            <a:spLocks noGrp="1"/>
          </p:cNvSpPr>
          <p:nvPr>
            <p:ph type="body" sz="quarter" idx="40"/>
          </p:nvPr>
        </p:nvSpPr>
        <p:spPr/>
        <p:txBody>
          <a:bodyPr/>
          <a:lstStyle/>
          <a:p>
            <a:endParaRPr lang="en-US"/>
          </a:p>
        </p:txBody>
      </p:sp>
      <p:sp>
        <p:nvSpPr>
          <p:cNvPr id="30" name="Rectangle 29">
            <a:extLst>
              <a:ext uri="{FF2B5EF4-FFF2-40B4-BE49-F238E27FC236}">
                <a16:creationId xmlns:a16="http://schemas.microsoft.com/office/drawing/2014/main" id="{E0601BDD-9739-25BE-3918-7B9A19AC9467}"/>
              </a:ext>
              <a:ext uri="{C183D7F6-B498-43B3-948B-1728B52AA6E4}">
                <adec:decorative xmlns:adec="http://schemas.microsoft.com/office/drawing/2017/decorative" val="1"/>
              </a:ext>
            </a:extLst>
          </p:cNvPr>
          <p:cNvSpPr/>
          <p:nvPr/>
        </p:nvSpPr>
        <p:spPr>
          <a:xfrm>
            <a:off x="5159374" y="4107976"/>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3" name="Rectangle 2">
            <a:extLst>
              <a:ext uri="{FF2B5EF4-FFF2-40B4-BE49-F238E27FC236}">
                <a16:creationId xmlns:a16="http://schemas.microsoft.com/office/drawing/2014/main" id="{DE2D0DD6-4A76-5738-A97C-D28A6284D609}"/>
              </a:ext>
            </a:extLst>
          </p:cNvPr>
          <p:cNvSpPr/>
          <p:nvPr/>
        </p:nvSpPr>
        <p:spPr>
          <a:xfrm>
            <a:off x="8380317" y="6650661"/>
            <a:ext cx="1427434" cy="123111"/>
          </a:xfrm>
          <a:prstGeom prst="rect">
            <a:avLst/>
          </a:prstGeom>
        </p:spPr>
        <p:txBody>
          <a:bodyPr wrap="none" lIns="0" tIns="0" rIns="0" bIns="0" anchor="ctr" anchorCtr="0">
            <a:noAutofit/>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0" cap="none" spc="0" normalizeH="0" baseline="0" noProof="0">
                <a:ln>
                  <a:noFill/>
                </a:ln>
                <a:solidFill>
                  <a:srgbClr val="FFFFFF">
                    <a:lumMod val="65000"/>
                  </a:srgbClr>
                </a:solidFill>
                <a:effectLst/>
                <a:uLnTx/>
                <a:uFillTx/>
                <a:latin typeface="Ubuntu"/>
                <a:ea typeface="+mn-ea"/>
                <a:cs typeface="+mn-cs"/>
              </a:rPr>
              <a:t>Company Confidential</a:t>
            </a:r>
          </a:p>
        </p:txBody>
      </p:sp>
      <p:sp>
        <p:nvSpPr>
          <p:cNvPr id="4" name="Text Placeholder 3">
            <a:extLst>
              <a:ext uri="{FF2B5EF4-FFF2-40B4-BE49-F238E27FC236}">
                <a16:creationId xmlns:a16="http://schemas.microsoft.com/office/drawing/2014/main" id="{8D43278C-976B-6A11-6F0A-B7F895B45C9B}"/>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2571178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BEE39E-8006-6CB1-5434-12F0B2ACA3B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ACE43E1-2F14-999C-6D51-003ADD6416C6}"/>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5" name="Title 4">
            <a:extLst>
              <a:ext uri="{FF2B5EF4-FFF2-40B4-BE49-F238E27FC236}">
                <a16:creationId xmlns:a16="http://schemas.microsoft.com/office/drawing/2014/main" id="{0DF8E823-1A21-7FEE-1FE9-1DE9C63F8141}"/>
              </a:ext>
            </a:extLst>
          </p:cNvPr>
          <p:cNvSpPr>
            <a:spLocks noGrp="1"/>
          </p:cNvSpPr>
          <p:nvPr>
            <p:ph type="title"/>
          </p:nvPr>
        </p:nvSpPr>
        <p:spPr/>
        <p:txBody>
          <a:bodyPr/>
          <a:lstStyle/>
          <a:p>
            <a:r>
              <a:rPr lang="en-US"/>
              <a:t>Key design principles for the recommended metadata store architecture</a:t>
            </a:r>
          </a:p>
        </p:txBody>
      </p:sp>
      <p:sp>
        <p:nvSpPr>
          <p:cNvPr id="6" name="Rectangle 5">
            <a:extLst>
              <a:ext uri="{FF2B5EF4-FFF2-40B4-BE49-F238E27FC236}">
                <a16:creationId xmlns:a16="http://schemas.microsoft.com/office/drawing/2014/main" id="{2EC370FF-F15B-2501-8A5F-23C6772EBB36}"/>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DESIGN PRINCIPLES</a:t>
            </a:r>
          </a:p>
        </p:txBody>
      </p:sp>
      <p:grpSp>
        <p:nvGrpSpPr>
          <p:cNvPr id="82" name="Group 81">
            <a:extLst>
              <a:ext uri="{FF2B5EF4-FFF2-40B4-BE49-F238E27FC236}">
                <a16:creationId xmlns:a16="http://schemas.microsoft.com/office/drawing/2014/main" id="{A9FE784B-5D72-001A-B834-4C289A077FA6}"/>
              </a:ext>
            </a:extLst>
          </p:cNvPr>
          <p:cNvGrpSpPr/>
          <p:nvPr/>
        </p:nvGrpSpPr>
        <p:grpSpPr>
          <a:xfrm>
            <a:off x="550861" y="966632"/>
            <a:ext cx="11090276" cy="5347585"/>
            <a:chOff x="550861" y="1139885"/>
            <a:chExt cx="11090276" cy="5347585"/>
          </a:xfrm>
        </p:grpSpPr>
        <p:sp>
          <p:nvSpPr>
            <p:cNvPr id="7" name="Rectangle 6">
              <a:extLst>
                <a:ext uri="{FF2B5EF4-FFF2-40B4-BE49-F238E27FC236}">
                  <a16:creationId xmlns:a16="http://schemas.microsoft.com/office/drawing/2014/main" id="{CC5A8AFC-3332-7D66-019B-EA1CF88717D0}"/>
                </a:ext>
              </a:extLst>
            </p:cNvPr>
            <p:cNvSpPr/>
            <p:nvPr/>
          </p:nvSpPr>
          <p:spPr>
            <a:xfrm>
              <a:off x="550861" y="1139885"/>
              <a:ext cx="3508108" cy="3324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mj-lt"/>
                </a:rPr>
                <a:t>Foundational</a:t>
              </a:r>
              <a:endParaRPr lang="en-US" sz="2000">
                <a:solidFill>
                  <a:schemeClr val="tx1"/>
                </a:solidFill>
                <a:latin typeface="+mj-lt"/>
              </a:endParaRPr>
            </a:p>
          </p:txBody>
        </p:sp>
        <p:sp>
          <p:nvSpPr>
            <p:cNvPr id="8" name="Rectangle 7">
              <a:extLst>
                <a:ext uri="{FF2B5EF4-FFF2-40B4-BE49-F238E27FC236}">
                  <a16:creationId xmlns:a16="http://schemas.microsoft.com/office/drawing/2014/main" id="{6D99D3C1-1CA0-25FE-9D26-1612DE648D50}"/>
                </a:ext>
                <a:ext uri="{C183D7F6-B498-43B3-948B-1728B52AA6E4}">
                  <adec:decorative xmlns:adec="http://schemas.microsoft.com/office/drawing/2017/decorative" val="1"/>
                </a:ext>
              </a:extLst>
            </p:cNvPr>
            <p:cNvSpPr/>
            <p:nvPr/>
          </p:nvSpPr>
          <p:spPr>
            <a:xfrm>
              <a:off x="550863" y="1516725"/>
              <a:ext cx="3508109" cy="8871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9" name="Rectangle 8">
              <a:extLst>
                <a:ext uri="{FF2B5EF4-FFF2-40B4-BE49-F238E27FC236}">
                  <a16:creationId xmlns:a16="http://schemas.microsoft.com/office/drawing/2014/main" id="{1B47694E-5F34-2B5A-FBC1-EC385AA7100C}"/>
                </a:ext>
              </a:extLst>
            </p:cNvPr>
            <p:cNvSpPr/>
            <p:nvPr/>
          </p:nvSpPr>
          <p:spPr>
            <a:xfrm>
              <a:off x="4341943" y="1139885"/>
              <a:ext cx="3508108" cy="3324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mj-lt"/>
                </a:rPr>
                <a:t>Operational</a:t>
              </a:r>
              <a:endParaRPr lang="en-US" sz="2000">
                <a:solidFill>
                  <a:schemeClr val="tx1"/>
                </a:solidFill>
                <a:latin typeface="+mj-lt"/>
              </a:endParaRPr>
            </a:p>
          </p:txBody>
        </p:sp>
        <p:sp>
          <p:nvSpPr>
            <p:cNvPr id="10" name="Rectangle 9">
              <a:extLst>
                <a:ext uri="{FF2B5EF4-FFF2-40B4-BE49-F238E27FC236}">
                  <a16:creationId xmlns:a16="http://schemas.microsoft.com/office/drawing/2014/main" id="{5DC089CE-25B1-81F6-0887-5462A35AB59A}"/>
                </a:ext>
                <a:ext uri="{C183D7F6-B498-43B3-948B-1728B52AA6E4}">
                  <adec:decorative xmlns:adec="http://schemas.microsoft.com/office/drawing/2017/decorative" val="1"/>
                </a:ext>
              </a:extLst>
            </p:cNvPr>
            <p:cNvSpPr/>
            <p:nvPr/>
          </p:nvSpPr>
          <p:spPr>
            <a:xfrm>
              <a:off x="4341945" y="1516725"/>
              <a:ext cx="3508109" cy="8871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sp>
          <p:nvSpPr>
            <p:cNvPr id="11" name="Rectangle 10">
              <a:extLst>
                <a:ext uri="{FF2B5EF4-FFF2-40B4-BE49-F238E27FC236}">
                  <a16:creationId xmlns:a16="http://schemas.microsoft.com/office/drawing/2014/main" id="{F3B95D3E-4FC0-4E92-6719-E686645A91A8}"/>
                </a:ext>
              </a:extLst>
            </p:cNvPr>
            <p:cNvSpPr/>
            <p:nvPr/>
          </p:nvSpPr>
          <p:spPr>
            <a:xfrm>
              <a:off x="8133026" y="1139885"/>
              <a:ext cx="3508108" cy="3324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mj-lt"/>
                </a:rPr>
                <a:t>Governance</a:t>
              </a:r>
              <a:endParaRPr lang="en-US" sz="2000">
                <a:solidFill>
                  <a:schemeClr val="tx1"/>
                </a:solidFill>
                <a:latin typeface="+mj-lt"/>
              </a:endParaRPr>
            </a:p>
          </p:txBody>
        </p:sp>
        <p:sp>
          <p:nvSpPr>
            <p:cNvPr id="12" name="Rectangle 11">
              <a:extLst>
                <a:ext uri="{FF2B5EF4-FFF2-40B4-BE49-F238E27FC236}">
                  <a16:creationId xmlns:a16="http://schemas.microsoft.com/office/drawing/2014/main" id="{647638B6-EE31-03BA-2CAB-DAD60F8E15D5}"/>
                </a:ext>
                <a:ext uri="{C183D7F6-B498-43B3-948B-1728B52AA6E4}">
                  <adec:decorative xmlns:adec="http://schemas.microsoft.com/office/drawing/2017/decorative" val="1"/>
                </a:ext>
              </a:extLst>
            </p:cNvPr>
            <p:cNvSpPr/>
            <p:nvPr/>
          </p:nvSpPr>
          <p:spPr>
            <a:xfrm>
              <a:off x="8133028" y="1516725"/>
              <a:ext cx="3508109" cy="8871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Ubuntu"/>
                <a:ea typeface="+mn-ea"/>
                <a:cs typeface="+mn-cs"/>
              </a:endParaRPr>
            </a:p>
          </p:txBody>
        </p:sp>
        <p:grpSp>
          <p:nvGrpSpPr>
            <p:cNvPr id="51" name="Group 50">
              <a:extLst>
                <a:ext uri="{FF2B5EF4-FFF2-40B4-BE49-F238E27FC236}">
                  <a16:creationId xmlns:a16="http://schemas.microsoft.com/office/drawing/2014/main" id="{4D79AC48-2F60-4BF7-1B9F-4BA5E3E29ED4}"/>
                </a:ext>
              </a:extLst>
            </p:cNvPr>
            <p:cNvGrpSpPr/>
            <p:nvPr/>
          </p:nvGrpSpPr>
          <p:grpSpPr>
            <a:xfrm>
              <a:off x="550863" y="1744673"/>
              <a:ext cx="3508109" cy="623101"/>
              <a:chOff x="550863" y="2020087"/>
              <a:chExt cx="3508109" cy="623101"/>
            </a:xfrm>
          </p:grpSpPr>
          <p:sp>
            <p:nvSpPr>
              <p:cNvPr id="18" name="Rectangle 17">
                <a:extLst>
                  <a:ext uri="{FF2B5EF4-FFF2-40B4-BE49-F238E27FC236}">
                    <a16:creationId xmlns:a16="http://schemas.microsoft.com/office/drawing/2014/main" id="{F575E03C-96B0-EE00-619E-220F6270C108}"/>
                  </a:ext>
                </a:extLst>
              </p:cNvPr>
              <p:cNvSpPr/>
              <p:nvPr/>
            </p:nvSpPr>
            <p:spPr>
              <a:xfrm>
                <a:off x="1257036" y="2071447"/>
                <a:ext cx="2801936" cy="5717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Operational tempo defines domain boundaries</a:t>
                </a:r>
              </a:p>
              <a:p>
                <a:r>
                  <a:rPr lang="en-US" sz="900">
                    <a:solidFill>
                      <a:schemeClr val="tx1">
                        <a:lumMod val="50000"/>
                        <a:lumOff val="50000"/>
                      </a:schemeClr>
                    </a:solidFill>
                  </a:rPr>
                  <a:t>Domain separation must be driven by operational criticality and update patterns, not by data similarity. </a:t>
                </a:r>
              </a:p>
            </p:txBody>
          </p:sp>
          <p:pic>
            <p:nvPicPr>
              <p:cNvPr id="33" name="Graphic 32" descr="Gauge outline">
                <a:extLst>
                  <a:ext uri="{FF2B5EF4-FFF2-40B4-BE49-F238E27FC236}">
                    <a16:creationId xmlns:a16="http://schemas.microsoft.com/office/drawing/2014/main" id="{CE5251D6-E443-DD14-2530-376645C5047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50863" y="2020087"/>
                <a:ext cx="623101" cy="623101"/>
              </a:xfrm>
              <a:prstGeom prst="rect">
                <a:avLst/>
              </a:prstGeom>
            </p:spPr>
          </p:pic>
        </p:grpSp>
        <p:grpSp>
          <p:nvGrpSpPr>
            <p:cNvPr id="56" name="Group 55">
              <a:extLst>
                <a:ext uri="{FF2B5EF4-FFF2-40B4-BE49-F238E27FC236}">
                  <a16:creationId xmlns:a16="http://schemas.microsoft.com/office/drawing/2014/main" id="{6DBB2625-727F-9F9F-B0E0-FF74737D6FBB}"/>
                </a:ext>
              </a:extLst>
            </p:cNvPr>
            <p:cNvGrpSpPr/>
            <p:nvPr/>
          </p:nvGrpSpPr>
          <p:grpSpPr>
            <a:xfrm>
              <a:off x="4341945" y="1744673"/>
              <a:ext cx="3508109" cy="750209"/>
              <a:chOff x="4341945" y="2020087"/>
              <a:chExt cx="3508109" cy="750209"/>
            </a:xfrm>
          </p:grpSpPr>
          <p:sp>
            <p:nvSpPr>
              <p:cNvPr id="23" name="Rectangle 22">
                <a:extLst>
                  <a:ext uri="{FF2B5EF4-FFF2-40B4-BE49-F238E27FC236}">
                    <a16:creationId xmlns:a16="http://schemas.microsoft.com/office/drawing/2014/main" id="{B7C21C4D-47E5-6D6A-6E70-4790FCE9010B}"/>
                  </a:ext>
                </a:extLst>
              </p:cNvPr>
              <p:cNvSpPr/>
              <p:nvPr/>
            </p:nvSpPr>
            <p:spPr>
              <a:xfrm>
                <a:off x="5048118" y="2071447"/>
                <a:ext cx="2801936" cy="69884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Update patterns determine the store technology choices</a:t>
                </a:r>
              </a:p>
              <a:p>
                <a:r>
                  <a:rPr lang="en-US" sz="900">
                    <a:solidFill>
                      <a:schemeClr val="tx1">
                        <a:lumMod val="50000"/>
                        <a:lumOff val="50000"/>
                      </a:schemeClr>
                    </a:solidFill>
                  </a:rPr>
                  <a:t>store technology selection must follow directly from the update pattern of the data, not from team familiarity, vendor preference, or cost alone. </a:t>
                </a:r>
              </a:p>
            </p:txBody>
          </p:sp>
          <p:pic>
            <p:nvPicPr>
              <p:cNvPr id="34" name="Graphic 33" descr="Qr Code outline">
                <a:extLst>
                  <a:ext uri="{FF2B5EF4-FFF2-40B4-BE49-F238E27FC236}">
                    <a16:creationId xmlns:a16="http://schemas.microsoft.com/office/drawing/2014/main" id="{74D5AD42-35AD-D4B7-B1AD-359381FE097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341945" y="2020087"/>
                <a:ext cx="623101" cy="623101"/>
              </a:xfrm>
              <a:prstGeom prst="rect">
                <a:avLst/>
              </a:prstGeom>
            </p:spPr>
          </p:pic>
        </p:grpSp>
        <p:grpSp>
          <p:nvGrpSpPr>
            <p:cNvPr id="61" name="Group 60">
              <a:extLst>
                <a:ext uri="{FF2B5EF4-FFF2-40B4-BE49-F238E27FC236}">
                  <a16:creationId xmlns:a16="http://schemas.microsoft.com/office/drawing/2014/main" id="{30723D40-647A-45D7-BD1E-01A0C4498434}"/>
                </a:ext>
              </a:extLst>
            </p:cNvPr>
            <p:cNvGrpSpPr/>
            <p:nvPr/>
          </p:nvGrpSpPr>
          <p:grpSpPr>
            <a:xfrm>
              <a:off x="8133026" y="1744673"/>
              <a:ext cx="3508110" cy="623101"/>
              <a:chOff x="8133026" y="2020087"/>
              <a:chExt cx="3508110" cy="623101"/>
            </a:xfrm>
          </p:grpSpPr>
          <p:sp>
            <p:nvSpPr>
              <p:cNvPr id="28" name="Rectangle 27">
                <a:extLst>
                  <a:ext uri="{FF2B5EF4-FFF2-40B4-BE49-F238E27FC236}">
                    <a16:creationId xmlns:a16="http://schemas.microsoft.com/office/drawing/2014/main" id="{2C4FDBE7-7CAA-6565-F0C8-36635560B79A}"/>
                  </a:ext>
                </a:extLst>
              </p:cNvPr>
              <p:cNvSpPr/>
              <p:nvPr/>
            </p:nvSpPr>
            <p:spPr>
              <a:xfrm>
                <a:off x="8839200" y="2071447"/>
                <a:ext cx="2801936" cy="5717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Each domain has an owner</a:t>
                </a:r>
              </a:p>
              <a:p>
                <a:r>
                  <a:rPr lang="en-US" sz="900">
                    <a:solidFill>
                      <a:schemeClr val="tx1">
                        <a:lumMod val="50000"/>
                        <a:lumOff val="50000"/>
                      </a:schemeClr>
                    </a:solidFill>
                  </a:rPr>
                  <a:t>Every domain should have a named domain owner who is accountable for schema decisions, data quality metrics, and SLA compliance.. </a:t>
                </a:r>
              </a:p>
            </p:txBody>
          </p:sp>
          <p:pic>
            <p:nvPicPr>
              <p:cNvPr id="35" name="Graphic 34" descr="Female Profile outline">
                <a:extLst>
                  <a:ext uri="{FF2B5EF4-FFF2-40B4-BE49-F238E27FC236}">
                    <a16:creationId xmlns:a16="http://schemas.microsoft.com/office/drawing/2014/main" id="{269ED9FC-7FBE-C1E2-6233-65794ECF3CE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133026" y="2020087"/>
                <a:ext cx="623101" cy="623101"/>
              </a:xfrm>
              <a:prstGeom prst="rect">
                <a:avLst/>
              </a:prstGeom>
            </p:spPr>
          </p:pic>
        </p:grpSp>
        <p:grpSp>
          <p:nvGrpSpPr>
            <p:cNvPr id="52" name="Group 51">
              <a:extLst>
                <a:ext uri="{FF2B5EF4-FFF2-40B4-BE49-F238E27FC236}">
                  <a16:creationId xmlns:a16="http://schemas.microsoft.com/office/drawing/2014/main" id="{2A2C49FA-B69C-080F-2CB1-10A11017D963}"/>
                </a:ext>
              </a:extLst>
            </p:cNvPr>
            <p:cNvGrpSpPr/>
            <p:nvPr/>
          </p:nvGrpSpPr>
          <p:grpSpPr>
            <a:xfrm>
              <a:off x="550863" y="2559044"/>
              <a:ext cx="3508109" cy="650326"/>
              <a:chOff x="550863" y="2760782"/>
              <a:chExt cx="3508109" cy="650326"/>
            </a:xfrm>
          </p:grpSpPr>
          <p:sp>
            <p:nvSpPr>
              <p:cNvPr id="19" name="Rectangle 18">
                <a:extLst>
                  <a:ext uri="{FF2B5EF4-FFF2-40B4-BE49-F238E27FC236}">
                    <a16:creationId xmlns:a16="http://schemas.microsoft.com/office/drawing/2014/main" id="{E65C1247-AF25-1F31-A20E-C21B40F237F8}"/>
                  </a:ext>
                </a:extLst>
              </p:cNvPr>
              <p:cNvSpPr/>
              <p:nvPr/>
            </p:nvSpPr>
            <p:spPr>
              <a:xfrm>
                <a:off x="1257036" y="2839367"/>
                <a:ext cx="2801936" cy="5717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Source domain is always authoritative</a:t>
                </a:r>
              </a:p>
              <a:p>
                <a:r>
                  <a:rPr lang="en-US" sz="900">
                    <a:solidFill>
                      <a:schemeClr val="tx1">
                        <a:lumMod val="50000"/>
                        <a:lumOff val="50000"/>
                      </a:schemeClr>
                    </a:solidFill>
                  </a:rPr>
                  <a:t>Every metadata field in the federated architecture has exactly one system of record. That system is always the source domain; not the unified layer.</a:t>
                </a:r>
              </a:p>
            </p:txBody>
          </p:sp>
          <p:pic>
            <p:nvPicPr>
              <p:cNvPr id="39" name="Graphic 38" descr="Gavel outline">
                <a:extLst>
                  <a:ext uri="{FF2B5EF4-FFF2-40B4-BE49-F238E27FC236}">
                    <a16:creationId xmlns:a16="http://schemas.microsoft.com/office/drawing/2014/main" id="{D4A232B1-1EDF-4C02-EA27-EA696BDFE9B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50863" y="2760782"/>
                <a:ext cx="623101" cy="623101"/>
              </a:xfrm>
              <a:prstGeom prst="rect">
                <a:avLst/>
              </a:prstGeom>
            </p:spPr>
          </p:pic>
        </p:grpSp>
        <p:grpSp>
          <p:nvGrpSpPr>
            <p:cNvPr id="57" name="Group 56">
              <a:extLst>
                <a:ext uri="{FF2B5EF4-FFF2-40B4-BE49-F238E27FC236}">
                  <a16:creationId xmlns:a16="http://schemas.microsoft.com/office/drawing/2014/main" id="{5C88C91B-959B-48C9-9B70-40221F1DE871}"/>
                </a:ext>
              </a:extLst>
            </p:cNvPr>
            <p:cNvGrpSpPr/>
            <p:nvPr/>
          </p:nvGrpSpPr>
          <p:grpSpPr>
            <a:xfrm>
              <a:off x="4341945" y="2721842"/>
              <a:ext cx="3508109" cy="770752"/>
              <a:chOff x="4341945" y="2823208"/>
              <a:chExt cx="3508109" cy="770752"/>
            </a:xfrm>
          </p:grpSpPr>
          <p:sp>
            <p:nvSpPr>
              <p:cNvPr id="25" name="Rectangle 24">
                <a:extLst>
                  <a:ext uri="{FF2B5EF4-FFF2-40B4-BE49-F238E27FC236}">
                    <a16:creationId xmlns:a16="http://schemas.microsoft.com/office/drawing/2014/main" id="{FBA28432-D6D7-BB46-8FA5-99801B83E66F}"/>
                  </a:ext>
                </a:extLst>
              </p:cNvPr>
              <p:cNvSpPr/>
              <p:nvPr/>
            </p:nvSpPr>
            <p:spPr>
              <a:xfrm>
                <a:off x="5048118" y="2895111"/>
                <a:ext cx="2801936" cy="69884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Handoff event is an integration contract</a:t>
                </a:r>
              </a:p>
              <a:p>
                <a:r>
                  <a:rPr lang="en-US" sz="900">
                    <a:solidFill>
                      <a:schemeClr val="tx1">
                        <a:lumMod val="50000"/>
                        <a:lumOff val="50000"/>
                      </a:schemeClr>
                    </a:solidFill>
                  </a:rPr>
                  <a:t>Cross-domain data exchange must be event-driven, with a well-defined handoff contract, not achieved through shared database access or synchronous API calls at query time. </a:t>
                </a:r>
              </a:p>
            </p:txBody>
          </p:sp>
          <p:pic>
            <p:nvPicPr>
              <p:cNvPr id="40" name="Graphic 39" descr="Handshake outline">
                <a:extLst>
                  <a:ext uri="{FF2B5EF4-FFF2-40B4-BE49-F238E27FC236}">
                    <a16:creationId xmlns:a16="http://schemas.microsoft.com/office/drawing/2014/main" id="{07A4532B-BF49-8724-89E8-C2A98D4E3BC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341945" y="2823208"/>
                <a:ext cx="623101" cy="623101"/>
              </a:xfrm>
              <a:prstGeom prst="rect">
                <a:avLst/>
              </a:prstGeom>
            </p:spPr>
          </p:pic>
        </p:grpSp>
        <p:grpSp>
          <p:nvGrpSpPr>
            <p:cNvPr id="62" name="Group 61">
              <a:extLst>
                <a:ext uri="{FF2B5EF4-FFF2-40B4-BE49-F238E27FC236}">
                  <a16:creationId xmlns:a16="http://schemas.microsoft.com/office/drawing/2014/main" id="{6DB01C5C-147C-9E53-B2D5-2664DFA76E73}"/>
                </a:ext>
              </a:extLst>
            </p:cNvPr>
            <p:cNvGrpSpPr/>
            <p:nvPr/>
          </p:nvGrpSpPr>
          <p:grpSpPr>
            <a:xfrm>
              <a:off x="8133027" y="2576774"/>
              <a:ext cx="3508109" cy="1069767"/>
              <a:chOff x="8133027" y="2752279"/>
              <a:chExt cx="3508109" cy="1069767"/>
            </a:xfrm>
          </p:grpSpPr>
          <p:sp>
            <p:nvSpPr>
              <p:cNvPr id="29" name="Rectangle 28">
                <a:extLst>
                  <a:ext uri="{FF2B5EF4-FFF2-40B4-BE49-F238E27FC236}">
                    <a16:creationId xmlns:a16="http://schemas.microsoft.com/office/drawing/2014/main" id="{5887F437-62DF-F13F-D859-A6E455647B0D}"/>
                  </a:ext>
                </a:extLst>
              </p:cNvPr>
              <p:cNvSpPr/>
              <p:nvPr/>
            </p:nvSpPr>
            <p:spPr>
              <a:xfrm>
                <a:off x="8839200" y="2823208"/>
                <a:ext cx="2801936" cy="998838"/>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Schema changes should propagate forward; not backward</a:t>
                </a:r>
              </a:p>
              <a:p>
                <a:r>
                  <a:rPr lang="en-US" sz="900">
                    <a:solidFill>
                      <a:schemeClr val="tx1">
                        <a:lumMod val="50000"/>
                        <a:lumOff val="50000"/>
                      </a:schemeClr>
                    </a:solidFill>
                  </a:rPr>
                  <a:t>When a source domain evolves its schema, the change must propagate forward to the unified layer through a versioned transformation pipeline. No schema change in a source domain should require a simultaneous change in any consuming domain.</a:t>
                </a:r>
              </a:p>
            </p:txBody>
          </p:sp>
          <p:pic>
            <p:nvPicPr>
              <p:cNvPr id="41" name="Graphic 40" descr="End outline">
                <a:extLst>
                  <a:ext uri="{FF2B5EF4-FFF2-40B4-BE49-F238E27FC236}">
                    <a16:creationId xmlns:a16="http://schemas.microsoft.com/office/drawing/2014/main" id="{E46066F6-0D68-FBC9-A1E8-F1D7EA291998}"/>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133027" y="2752279"/>
                <a:ext cx="623101" cy="623101"/>
              </a:xfrm>
              <a:prstGeom prst="rect">
                <a:avLst/>
              </a:prstGeom>
            </p:spPr>
          </p:pic>
        </p:grpSp>
        <p:grpSp>
          <p:nvGrpSpPr>
            <p:cNvPr id="53" name="Group 52">
              <a:extLst>
                <a:ext uri="{FF2B5EF4-FFF2-40B4-BE49-F238E27FC236}">
                  <a16:creationId xmlns:a16="http://schemas.microsoft.com/office/drawing/2014/main" id="{63631CD3-52E8-541E-6AF0-7122E15B9830}"/>
                </a:ext>
              </a:extLst>
            </p:cNvPr>
            <p:cNvGrpSpPr/>
            <p:nvPr/>
          </p:nvGrpSpPr>
          <p:grpSpPr>
            <a:xfrm>
              <a:off x="550863" y="3400640"/>
              <a:ext cx="3508109" cy="891146"/>
              <a:chOff x="550863" y="3547074"/>
              <a:chExt cx="3508109" cy="891146"/>
            </a:xfrm>
          </p:grpSpPr>
          <p:sp>
            <p:nvSpPr>
              <p:cNvPr id="20" name="Rectangle 19">
                <a:extLst>
                  <a:ext uri="{FF2B5EF4-FFF2-40B4-BE49-F238E27FC236}">
                    <a16:creationId xmlns:a16="http://schemas.microsoft.com/office/drawing/2014/main" id="{A16D9284-C1E4-DDA6-CF7D-4965C1256072}"/>
                  </a:ext>
                </a:extLst>
              </p:cNvPr>
              <p:cNvSpPr/>
              <p:nvPr/>
            </p:nvSpPr>
            <p:spPr>
              <a:xfrm>
                <a:off x="1257036" y="3607287"/>
                <a:ext cx="2801936" cy="83093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Rights management is cross-cutting; never vertical specific</a:t>
                </a:r>
              </a:p>
              <a:p>
                <a:r>
                  <a:rPr lang="en-US" sz="900">
                    <a:solidFill>
                      <a:schemeClr val="tx1">
                        <a:lumMod val="50000"/>
                        <a:lumOff val="50000"/>
                      </a:schemeClr>
                    </a:solidFill>
                  </a:rPr>
                  <a:t>Rights and compliance logic should live in a single shared domain. It should never be embedded inside a content vertical, even when the rights constructs of that vertical appear unique.</a:t>
                </a:r>
              </a:p>
            </p:txBody>
          </p:sp>
          <p:pic>
            <p:nvPicPr>
              <p:cNvPr id="42" name="Graphic 41" descr="Contract outline">
                <a:extLst>
                  <a:ext uri="{FF2B5EF4-FFF2-40B4-BE49-F238E27FC236}">
                    <a16:creationId xmlns:a16="http://schemas.microsoft.com/office/drawing/2014/main" id="{9EBF4DC2-8DD2-E62F-2541-8F41E0FFD7B2}"/>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50863" y="3547074"/>
                <a:ext cx="623101" cy="623101"/>
              </a:xfrm>
              <a:prstGeom prst="rect">
                <a:avLst/>
              </a:prstGeom>
            </p:spPr>
          </p:pic>
        </p:grpSp>
        <p:grpSp>
          <p:nvGrpSpPr>
            <p:cNvPr id="58" name="Group 57">
              <a:extLst>
                <a:ext uri="{FF2B5EF4-FFF2-40B4-BE49-F238E27FC236}">
                  <a16:creationId xmlns:a16="http://schemas.microsoft.com/office/drawing/2014/main" id="{AF10A1F7-10B2-9010-BFC1-A1457EC1838B}"/>
                </a:ext>
              </a:extLst>
            </p:cNvPr>
            <p:cNvGrpSpPr/>
            <p:nvPr/>
          </p:nvGrpSpPr>
          <p:grpSpPr>
            <a:xfrm>
              <a:off x="4341945" y="3719553"/>
              <a:ext cx="3508109" cy="944153"/>
              <a:chOff x="4341945" y="3646354"/>
              <a:chExt cx="3508109" cy="944153"/>
            </a:xfrm>
          </p:grpSpPr>
          <p:sp>
            <p:nvSpPr>
              <p:cNvPr id="26" name="Rectangle 25">
                <a:extLst>
                  <a:ext uri="{FF2B5EF4-FFF2-40B4-BE49-F238E27FC236}">
                    <a16:creationId xmlns:a16="http://schemas.microsoft.com/office/drawing/2014/main" id="{2129394D-5CD3-C790-2F36-A6A7738F725B}"/>
                  </a:ext>
                </a:extLst>
              </p:cNvPr>
              <p:cNvSpPr/>
              <p:nvPr/>
            </p:nvSpPr>
            <p:spPr>
              <a:xfrm>
                <a:off x="5048118" y="3718776"/>
                <a:ext cx="2801936" cy="87173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Availability summaries should carry explicit freshness guarantees </a:t>
                </a:r>
              </a:p>
              <a:p>
                <a:r>
                  <a:rPr lang="en-US" sz="900">
                    <a:solidFill>
                      <a:schemeClr val="tx1">
                        <a:lumMod val="50000"/>
                        <a:lumOff val="50000"/>
                      </a:schemeClr>
                    </a:solidFill>
                  </a:rPr>
                  <a:t>Any metadata field in the unified layer that summarizes a rights or distribution state must be accompanied by a freshness SLA and must degrade gracefully when that SLA is breached.. </a:t>
                </a:r>
              </a:p>
            </p:txBody>
          </p:sp>
          <p:pic>
            <p:nvPicPr>
              <p:cNvPr id="43" name="Graphic 42" descr="New outline">
                <a:extLst>
                  <a:ext uri="{FF2B5EF4-FFF2-40B4-BE49-F238E27FC236}">
                    <a16:creationId xmlns:a16="http://schemas.microsoft.com/office/drawing/2014/main" id="{4BEB5886-C083-B7F4-CE5E-E49F4995E1FA}"/>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4341945" y="3646354"/>
                <a:ext cx="623101" cy="623101"/>
              </a:xfrm>
              <a:prstGeom prst="rect">
                <a:avLst/>
              </a:prstGeom>
            </p:spPr>
          </p:pic>
        </p:grpSp>
        <p:grpSp>
          <p:nvGrpSpPr>
            <p:cNvPr id="63" name="Group 62">
              <a:extLst>
                <a:ext uri="{FF2B5EF4-FFF2-40B4-BE49-F238E27FC236}">
                  <a16:creationId xmlns:a16="http://schemas.microsoft.com/office/drawing/2014/main" id="{7D7EEB6B-E938-9AC3-86CB-847D00815DEC}"/>
                </a:ext>
              </a:extLst>
            </p:cNvPr>
            <p:cNvGrpSpPr/>
            <p:nvPr/>
          </p:nvGrpSpPr>
          <p:grpSpPr>
            <a:xfrm>
              <a:off x="8133027" y="3855541"/>
              <a:ext cx="3508109" cy="882871"/>
              <a:chOff x="8133027" y="3940438"/>
              <a:chExt cx="3508109" cy="882871"/>
            </a:xfrm>
          </p:grpSpPr>
          <p:sp>
            <p:nvSpPr>
              <p:cNvPr id="30" name="Rectangle 29">
                <a:extLst>
                  <a:ext uri="{FF2B5EF4-FFF2-40B4-BE49-F238E27FC236}">
                    <a16:creationId xmlns:a16="http://schemas.microsoft.com/office/drawing/2014/main" id="{4D01B522-E8CD-490C-FAEA-55140B9821C6}"/>
                  </a:ext>
                </a:extLst>
              </p:cNvPr>
              <p:cNvSpPr/>
              <p:nvPr/>
            </p:nvSpPr>
            <p:spPr>
              <a:xfrm>
                <a:off x="8839200" y="4002066"/>
                <a:ext cx="2801936" cy="82124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Rights obligation should be modeled explicitly</a:t>
                </a:r>
              </a:p>
              <a:p>
                <a:r>
                  <a:rPr lang="en-US" sz="900">
                    <a:solidFill>
                      <a:schemeClr val="tx1">
                        <a:lumMod val="50000"/>
                        <a:lumOff val="50000"/>
                      </a:schemeClr>
                    </a:solidFill>
                  </a:rPr>
                  <a:t>In a multi-vertical architecture spanning news wire licensing, entertainment output deals, and sports broadcast contracts, obligations are as commercially significant as permissions.. </a:t>
                </a:r>
              </a:p>
            </p:txBody>
          </p:sp>
          <p:pic>
            <p:nvPicPr>
              <p:cNvPr id="44" name="Graphic 43" descr="Braille outline">
                <a:extLst>
                  <a:ext uri="{FF2B5EF4-FFF2-40B4-BE49-F238E27FC236}">
                    <a16:creationId xmlns:a16="http://schemas.microsoft.com/office/drawing/2014/main" id="{35BC1169-832B-7248-09E7-2474D0750750}"/>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8133027" y="3940438"/>
                <a:ext cx="623101" cy="623101"/>
              </a:xfrm>
              <a:prstGeom prst="rect">
                <a:avLst/>
              </a:prstGeom>
            </p:spPr>
          </p:pic>
        </p:grpSp>
        <p:grpSp>
          <p:nvGrpSpPr>
            <p:cNvPr id="54" name="Group 53">
              <a:extLst>
                <a:ext uri="{FF2B5EF4-FFF2-40B4-BE49-F238E27FC236}">
                  <a16:creationId xmlns:a16="http://schemas.microsoft.com/office/drawing/2014/main" id="{089EB480-D0D9-6D4C-82D6-C45D5B71428C}"/>
                </a:ext>
              </a:extLst>
            </p:cNvPr>
            <p:cNvGrpSpPr/>
            <p:nvPr/>
          </p:nvGrpSpPr>
          <p:grpSpPr>
            <a:xfrm>
              <a:off x="550863" y="4483056"/>
              <a:ext cx="3508109" cy="769709"/>
              <a:chOff x="550863" y="4563539"/>
              <a:chExt cx="3508109" cy="769709"/>
            </a:xfrm>
          </p:grpSpPr>
          <p:sp>
            <p:nvSpPr>
              <p:cNvPr id="21" name="Rectangle 20">
                <a:extLst>
                  <a:ext uri="{FF2B5EF4-FFF2-40B4-BE49-F238E27FC236}">
                    <a16:creationId xmlns:a16="http://schemas.microsoft.com/office/drawing/2014/main" id="{95C4AF46-E4F0-09F8-C584-B431A4066CEE}"/>
                  </a:ext>
                </a:extLst>
              </p:cNvPr>
              <p:cNvSpPr/>
              <p:nvPr/>
            </p:nvSpPr>
            <p:spPr>
              <a:xfrm>
                <a:off x="1257036" y="4634399"/>
                <a:ext cx="2801936" cy="698849"/>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The unified layer is derived; never authoritative</a:t>
                </a:r>
              </a:p>
              <a:p>
                <a:r>
                  <a:rPr lang="en-US" sz="900">
                    <a:solidFill>
                      <a:schemeClr val="tx1">
                        <a:lumMod val="50000"/>
                        <a:lumOff val="50000"/>
                      </a:schemeClr>
                    </a:solidFill>
                  </a:rPr>
                  <a:t>The unified discovery is a materialized view across the domain stores, maintained for query performance and cross-vertical search.</a:t>
                </a:r>
              </a:p>
            </p:txBody>
          </p:sp>
          <p:pic>
            <p:nvPicPr>
              <p:cNvPr id="45" name="Graphic 44" descr="Branching diagram outline">
                <a:extLst>
                  <a:ext uri="{FF2B5EF4-FFF2-40B4-BE49-F238E27FC236}">
                    <a16:creationId xmlns:a16="http://schemas.microsoft.com/office/drawing/2014/main" id="{7048FC12-7932-1A27-831F-AF7C1632E4C6}"/>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550863" y="4563539"/>
                <a:ext cx="623101" cy="623101"/>
              </a:xfrm>
              <a:prstGeom prst="rect">
                <a:avLst/>
              </a:prstGeom>
            </p:spPr>
          </p:pic>
        </p:grpSp>
        <p:grpSp>
          <p:nvGrpSpPr>
            <p:cNvPr id="64" name="Group 63">
              <a:extLst>
                <a:ext uri="{FF2B5EF4-FFF2-40B4-BE49-F238E27FC236}">
                  <a16:creationId xmlns:a16="http://schemas.microsoft.com/office/drawing/2014/main" id="{62406403-B511-B396-6C26-FCA8329DD5E0}"/>
                </a:ext>
              </a:extLst>
            </p:cNvPr>
            <p:cNvGrpSpPr/>
            <p:nvPr/>
          </p:nvGrpSpPr>
          <p:grpSpPr>
            <a:xfrm>
              <a:off x="8133027" y="4947411"/>
              <a:ext cx="3508109" cy="1068389"/>
              <a:chOff x="8133027" y="4947411"/>
              <a:chExt cx="3508109" cy="1068389"/>
            </a:xfrm>
          </p:grpSpPr>
          <p:sp>
            <p:nvSpPr>
              <p:cNvPr id="31" name="Rectangle 30">
                <a:extLst>
                  <a:ext uri="{FF2B5EF4-FFF2-40B4-BE49-F238E27FC236}">
                    <a16:creationId xmlns:a16="http://schemas.microsoft.com/office/drawing/2014/main" id="{FA41D912-A5B2-7C95-0107-F02BDB457409}"/>
                  </a:ext>
                </a:extLst>
              </p:cNvPr>
              <p:cNvSpPr/>
              <p:nvPr/>
            </p:nvSpPr>
            <p:spPr>
              <a:xfrm>
                <a:off x="8839200" y="5003329"/>
                <a:ext cx="2801936" cy="101247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Quality gate the unified layer not the source domains</a:t>
                </a:r>
              </a:p>
              <a:p>
                <a:r>
                  <a:rPr lang="en-US" sz="900">
                    <a:solidFill>
                      <a:schemeClr val="tx1">
                        <a:lumMod val="50000"/>
                        <a:lumOff val="50000"/>
                      </a:schemeClr>
                    </a:solidFill>
                  </a:rPr>
                  <a:t>Source domains should publish their metadata in their native format as quickly as possible. Quality enforcement happens in the unified layer's ingestion pipeline, not as a gate on the source domain's write path.</a:t>
                </a:r>
              </a:p>
            </p:txBody>
          </p:sp>
          <p:pic>
            <p:nvPicPr>
              <p:cNvPr id="47" name="Graphic 46" descr="Clipboard Badge outline">
                <a:extLst>
                  <a:ext uri="{FF2B5EF4-FFF2-40B4-BE49-F238E27FC236}">
                    <a16:creationId xmlns:a16="http://schemas.microsoft.com/office/drawing/2014/main" id="{D2440D16-44DC-E3A6-76EB-563FFE1BB431}"/>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8133027" y="4947411"/>
                <a:ext cx="623101" cy="623101"/>
              </a:xfrm>
              <a:prstGeom prst="rect">
                <a:avLst/>
              </a:prstGeom>
            </p:spPr>
          </p:pic>
        </p:grpSp>
        <p:grpSp>
          <p:nvGrpSpPr>
            <p:cNvPr id="55" name="Group 54">
              <a:extLst>
                <a:ext uri="{FF2B5EF4-FFF2-40B4-BE49-F238E27FC236}">
                  <a16:creationId xmlns:a16="http://schemas.microsoft.com/office/drawing/2014/main" id="{B78F0723-13AD-E509-542C-EED8BEFA2E04}"/>
                </a:ext>
              </a:extLst>
            </p:cNvPr>
            <p:cNvGrpSpPr/>
            <p:nvPr/>
          </p:nvGrpSpPr>
          <p:grpSpPr>
            <a:xfrm>
              <a:off x="550863" y="5444037"/>
              <a:ext cx="3514193" cy="1043433"/>
              <a:chOff x="550863" y="5444037"/>
              <a:chExt cx="3514193" cy="1043433"/>
            </a:xfrm>
          </p:grpSpPr>
          <p:sp>
            <p:nvSpPr>
              <p:cNvPr id="22" name="Rectangle 21">
                <a:extLst>
                  <a:ext uri="{FF2B5EF4-FFF2-40B4-BE49-F238E27FC236}">
                    <a16:creationId xmlns:a16="http://schemas.microsoft.com/office/drawing/2014/main" id="{6DF959A3-C992-4D21-F438-12D647406633}"/>
                  </a:ext>
                </a:extLst>
              </p:cNvPr>
              <p:cNvSpPr/>
              <p:nvPr/>
            </p:nvSpPr>
            <p:spPr>
              <a:xfrm>
                <a:off x="1263120" y="5529429"/>
                <a:ext cx="2801936" cy="9580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Entity resolution is an infrastructure component</a:t>
                </a:r>
              </a:p>
              <a:p>
                <a:r>
                  <a:rPr lang="en-US" sz="900">
                    <a:solidFill>
                      <a:schemeClr val="tx1">
                        <a:lumMod val="50000"/>
                        <a:lumOff val="50000"/>
                      </a:schemeClr>
                    </a:solidFill>
                  </a:rPr>
                  <a:t>Canonical entity resolution should a foundational infrastructure. Without it, cross-vertical search returns fragmented results, recommendation engines cannot connect related content, and the unified layer's primary value proposition collapses.</a:t>
                </a:r>
              </a:p>
            </p:txBody>
          </p:sp>
          <p:pic>
            <p:nvPicPr>
              <p:cNvPr id="48" name="Graphic 47" descr="Aperture outline">
                <a:extLst>
                  <a:ext uri="{FF2B5EF4-FFF2-40B4-BE49-F238E27FC236}">
                    <a16:creationId xmlns:a16="http://schemas.microsoft.com/office/drawing/2014/main" id="{733349DA-910F-F2BF-19DB-90C851298E85}"/>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550863" y="5444037"/>
                <a:ext cx="623101" cy="623101"/>
              </a:xfrm>
              <a:prstGeom prst="rect">
                <a:avLst/>
              </a:prstGeom>
            </p:spPr>
          </p:pic>
        </p:grpSp>
        <p:grpSp>
          <p:nvGrpSpPr>
            <p:cNvPr id="70" name="Group 69">
              <a:extLst>
                <a:ext uri="{FF2B5EF4-FFF2-40B4-BE49-F238E27FC236}">
                  <a16:creationId xmlns:a16="http://schemas.microsoft.com/office/drawing/2014/main" id="{C786A1CC-B918-22B0-431C-D1B116611A6E}"/>
                </a:ext>
              </a:extLst>
            </p:cNvPr>
            <p:cNvGrpSpPr/>
            <p:nvPr/>
          </p:nvGrpSpPr>
          <p:grpSpPr>
            <a:xfrm>
              <a:off x="550863" y="2463409"/>
              <a:ext cx="3508109" cy="2884991"/>
              <a:chOff x="550863" y="2463409"/>
              <a:chExt cx="3508109" cy="2884991"/>
            </a:xfrm>
          </p:grpSpPr>
          <p:cxnSp>
            <p:nvCxnSpPr>
              <p:cNvPr id="66" name="Straight Connector 65">
                <a:extLst>
                  <a:ext uri="{FF2B5EF4-FFF2-40B4-BE49-F238E27FC236}">
                    <a16:creationId xmlns:a16="http://schemas.microsoft.com/office/drawing/2014/main" id="{A60E322C-D339-F53B-271B-F6DCABD1E3B1}"/>
                  </a:ext>
                </a:extLst>
              </p:cNvPr>
              <p:cNvCxnSpPr/>
              <p:nvPr/>
            </p:nvCxnSpPr>
            <p:spPr>
              <a:xfrm>
                <a:off x="550863" y="2463409"/>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9600636-615A-EA90-6A3E-36496E344DFC}"/>
                  </a:ext>
                </a:extLst>
              </p:cNvPr>
              <p:cNvCxnSpPr/>
              <p:nvPr/>
            </p:nvCxnSpPr>
            <p:spPr>
              <a:xfrm>
                <a:off x="550863" y="3305005"/>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1892583-96C2-46E0-5ABA-292408E55811}"/>
                  </a:ext>
                </a:extLst>
              </p:cNvPr>
              <p:cNvCxnSpPr/>
              <p:nvPr/>
            </p:nvCxnSpPr>
            <p:spPr>
              <a:xfrm>
                <a:off x="550863" y="4387421"/>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13D423A-E55D-2DB5-992F-54FC1FA1B2CE}"/>
                  </a:ext>
                </a:extLst>
              </p:cNvPr>
              <p:cNvCxnSpPr/>
              <p:nvPr/>
            </p:nvCxnSpPr>
            <p:spPr>
              <a:xfrm>
                <a:off x="550863" y="5348400"/>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cxnSp>
          <p:nvCxnSpPr>
            <p:cNvPr id="72" name="Straight Connector 71">
              <a:extLst>
                <a:ext uri="{FF2B5EF4-FFF2-40B4-BE49-F238E27FC236}">
                  <a16:creationId xmlns:a16="http://schemas.microsoft.com/office/drawing/2014/main" id="{32DB7B46-C1B6-9B5C-91FC-CC58F41BAA62}"/>
                </a:ext>
              </a:extLst>
            </p:cNvPr>
            <p:cNvCxnSpPr/>
            <p:nvPr/>
          </p:nvCxnSpPr>
          <p:spPr>
            <a:xfrm>
              <a:off x="4341945" y="2608362"/>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307DFCE-F861-E6D5-94A0-05D02A76EF58}"/>
                </a:ext>
              </a:extLst>
            </p:cNvPr>
            <p:cNvCxnSpPr/>
            <p:nvPr/>
          </p:nvCxnSpPr>
          <p:spPr>
            <a:xfrm>
              <a:off x="4341945" y="3606074"/>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E6746BC-66C4-A149-E6F8-8D98609B1CA7}"/>
                </a:ext>
              </a:extLst>
            </p:cNvPr>
            <p:cNvCxnSpPr/>
            <p:nvPr/>
          </p:nvCxnSpPr>
          <p:spPr>
            <a:xfrm>
              <a:off x="8133027" y="2472274"/>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4BB3B4D-5EFA-D3B3-4417-035526BBFDD3}"/>
                </a:ext>
              </a:extLst>
            </p:cNvPr>
            <p:cNvCxnSpPr/>
            <p:nvPr/>
          </p:nvCxnSpPr>
          <p:spPr>
            <a:xfrm>
              <a:off x="8133027" y="3751041"/>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54260FF-4523-6280-FA2C-F0715709D3F0}"/>
                </a:ext>
              </a:extLst>
            </p:cNvPr>
            <p:cNvCxnSpPr/>
            <p:nvPr/>
          </p:nvCxnSpPr>
          <p:spPr>
            <a:xfrm>
              <a:off x="8133027" y="4842912"/>
              <a:ext cx="350810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81" name="Slide Number Placeholder 3">
            <a:extLst>
              <a:ext uri="{FF2B5EF4-FFF2-40B4-BE49-F238E27FC236}">
                <a16:creationId xmlns:a16="http://schemas.microsoft.com/office/drawing/2014/main" id="{C4E662E0-4D6F-C0C5-0AC7-5E8D6F6CBADE}"/>
              </a:ext>
            </a:extLst>
          </p:cNvPr>
          <p:cNvSpPr>
            <a:spLocks noGrp="1"/>
          </p:cNvSpPr>
          <p:nvPr>
            <p:ph type="sldNum" sz="quarter" idx="30"/>
          </p:nvPr>
        </p:nvSpPr>
        <p:spPr>
          <a:xfrm>
            <a:off x="11778341" y="6650661"/>
            <a:ext cx="232665" cy="123111"/>
          </a:xfrm>
        </p:spPr>
        <p:txBody>
          <a:bodyPr/>
          <a:lstStyle/>
          <a:p>
            <a:pPr algn="r"/>
            <a:fld id="{5D9A5160-6218-4E5A-B9E6-B93E3DAE377C}" type="slidenum">
              <a:rPr lang="en-US" smtClean="0"/>
              <a:pPr algn="r"/>
              <a:t>30</a:t>
            </a:fld>
            <a:endParaRPr lang="en-US"/>
          </a:p>
        </p:txBody>
      </p:sp>
      <p:grpSp>
        <p:nvGrpSpPr>
          <p:cNvPr id="4" name="Group 3">
            <a:extLst>
              <a:ext uri="{FF2B5EF4-FFF2-40B4-BE49-F238E27FC236}">
                <a16:creationId xmlns:a16="http://schemas.microsoft.com/office/drawing/2014/main" id="{435C68D8-9689-450E-6C0C-D88205E28C54}"/>
              </a:ext>
            </a:extLst>
          </p:cNvPr>
          <p:cNvGrpSpPr/>
          <p:nvPr/>
        </p:nvGrpSpPr>
        <p:grpSpPr>
          <a:xfrm>
            <a:off x="10401300" y="93608"/>
            <a:ext cx="1187588" cy="178532"/>
            <a:chOff x="10704512" y="620688"/>
            <a:chExt cx="884375" cy="250540"/>
          </a:xfrm>
        </p:grpSpPr>
        <p:sp>
          <p:nvSpPr>
            <p:cNvPr id="13" name="Rectangle 12">
              <a:extLst>
                <a:ext uri="{FF2B5EF4-FFF2-40B4-BE49-F238E27FC236}">
                  <a16:creationId xmlns:a16="http://schemas.microsoft.com/office/drawing/2014/main" id="{50F322A8-6E83-5DA8-11C7-9616E736E0D6}"/>
                </a:ext>
              </a:extLst>
            </p:cNvPr>
            <p:cNvSpPr/>
            <p:nvPr/>
          </p:nvSpPr>
          <p:spPr>
            <a:xfrm>
              <a:off x="10725532" y="620688"/>
              <a:ext cx="863355" cy="2505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solidFill>
                </a:rPr>
                <a:t>NON-EXHAUSTIVE</a:t>
              </a:r>
            </a:p>
          </p:txBody>
        </p:sp>
        <p:cxnSp>
          <p:nvCxnSpPr>
            <p:cNvPr id="14" name="Straight Connector 13">
              <a:extLst>
                <a:ext uri="{FF2B5EF4-FFF2-40B4-BE49-F238E27FC236}">
                  <a16:creationId xmlns:a16="http://schemas.microsoft.com/office/drawing/2014/main" id="{31D6E97F-59DD-9AB2-13BE-511201EA875D}"/>
                </a:ext>
              </a:extLst>
            </p:cNvPr>
            <p:cNvCxnSpPr>
              <a:cxnSpLocks/>
            </p:cNvCxnSpPr>
            <p:nvPr/>
          </p:nvCxnSpPr>
          <p:spPr>
            <a:xfrm>
              <a:off x="10704512" y="871228"/>
              <a:ext cx="88437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7D0CD1F-21BE-5D06-E7D9-FE5D297F3FBC}"/>
                </a:ext>
              </a:extLst>
            </p:cNvPr>
            <p:cNvCxnSpPr/>
            <p:nvPr/>
          </p:nvCxnSpPr>
          <p:spPr>
            <a:xfrm>
              <a:off x="10709274" y="620688"/>
              <a:ext cx="0" cy="25054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16" name="Graphic 15" descr="Circle with left arrow outline">
            <a:hlinkClick r:id="rId26" action="ppaction://hlinksldjump"/>
            <a:extLst>
              <a:ext uri="{FF2B5EF4-FFF2-40B4-BE49-F238E27FC236}">
                <a16:creationId xmlns:a16="http://schemas.microsoft.com/office/drawing/2014/main" id="{A6190D8D-AD51-4547-15CF-E2F99A8E896A}"/>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2699345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15F3-AD6A-1CD0-3B20-0027BE89885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746EF2C-3B02-13E9-BA38-7BD116D1115B}"/>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BBE87FC-6249-187A-8023-4B37F28895F1}"/>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93039B8-BA91-0D5D-88DC-472320F35195}"/>
              </a:ext>
            </a:extLst>
          </p:cNvPr>
          <p:cNvSpPr>
            <a:spLocks noGrp="1"/>
          </p:cNvSpPr>
          <p:nvPr>
            <p:ph type="sldNum" sz="quarter" idx="30"/>
          </p:nvPr>
        </p:nvSpPr>
        <p:spPr/>
        <p:txBody>
          <a:bodyPr/>
          <a:lstStyle/>
          <a:p>
            <a:pPr algn="r"/>
            <a:fld id="{5D9A5160-6218-4E5A-B9E6-B93E3DAE377C}" type="slidenum">
              <a:rPr lang="en-US" smtClean="0"/>
              <a:pPr algn="r"/>
              <a:t>31</a:t>
            </a:fld>
            <a:endParaRPr lang="en-US"/>
          </a:p>
        </p:txBody>
      </p:sp>
      <p:sp>
        <p:nvSpPr>
          <p:cNvPr id="5" name="Title 4">
            <a:extLst>
              <a:ext uri="{FF2B5EF4-FFF2-40B4-BE49-F238E27FC236}">
                <a16:creationId xmlns:a16="http://schemas.microsoft.com/office/drawing/2014/main" id="{E4D3F01A-6D69-3DCE-7DCD-0233022D39D2}"/>
              </a:ext>
            </a:extLst>
          </p:cNvPr>
          <p:cNvSpPr>
            <a:spLocks noGrp="1"/>
          </p:cNvSpPr>
          <p:nvPr>
            <p:ph type="title"/>
          </p:nvPr>
        </p:nvSpPr>
        <p:spPr/>
        <p:txBody>
          <a:bodyPr/>
          <a:lstStyle/>
          <a:p>
            <a:r>
              <a:rPr lang="en-US"/>
              <a:t>A </a:t>
            </a:r>
            <a:r>
              <a:rPr lang="en-US" b="1"/>
              <a:t>federated metadata architecture</a:t>
            </a:r>
            <a:r>
              <a:rPr lang="en-US"/>
              <a:t> with a </a:t>
            </a:r>
            <a:r>
              <a:rPr lang="en-US" b="1"/>
              <a:t>thin, derived discovery layer</a:t>
            </a:r>
            <a:r>
              <a:rPr lang="en-US"/>
              <a:t> and </a:t>
            </a:r>
            <a:r>
              <a:rPr lang="en-US" b="1"/>
              <a:t>purpose-built stores</a:t>
            </a:r>
            <a:r>
              <a:rPr lang="en-US"/>
              <a:t> across sports, news, and general entertainment (1/3)</a:t>
            </a:r>
          </a:p>
        </p:txBody>
      </p:sp>
      <p:sp>
        <p:nvSpPr>
          <p:cNvPr id="92" name="Oval 91">
            <a:extLst>
              <a:ext uri="{FF2B5EF4-FFF2-40B4-BE49-F238E27FC236}">
                <a16:creationId xmlns:a16="http://schemas.microsoft.com/office/drawing/2014/main" id="{FDAE6268-223E-C1D3-7AFD-652FB20F6252}"/>
              </a:ext>
            </a:extLst>
          </p:cNvPr>
          <p:cNvSpPr/>
          <p:nvPr/>
        </p:nvSpPr>
        <p:spPr>
          <a:xfrm>
            <a:off x="9646423" y="1348103"/>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93" name="Rectangle 92">
            <a:extLst>
              <a:ext uri="{FF2B5EF4-FFF2-40B4-BE49-F238E27FC236}">
                <a16:creationId xmlns:a16="http://schemas.microsoft.com/office/drawing/2014/main" id="{7AE5F31A-4616-7554-4E12-9D4F327FA1A2}"/>
              </a:ext>
            </a:extLst>
          </p:cNvPr>
          <p:cNvSpPr/>
          <p:nvPr/>
        </p:nvSpPr>
        <p:spPr>
          <a:xfrm>
            <a:off x="9941983" y="1377734"/>
            <a:ext cx="2069023" cy="1133691"/>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Sports domain</a:t>
            </a:r>
            <a:r>
              <a:rPr lang="en-US" sz="900">
                <a:solidFill>
                  <a:schemeClr val="tx1"/>
                </a:solidFill>
              </a:rPr>
              <a:t> contains all the sports data products. Sports splits into two sub-stores driven by operational tempo:</a:t>
            </a:r>
          </a:p>
          <a:p>
            <a:pPr marL="228600" indent="-228600">
              <a:buAutoNum type="alphaLcPeriod"/>
            </a:pPr>
            <a:r>
              <a:rPr lang="en-US" sz="900" b="1">
                <a:solidFill>
                  <a:schemeClr val="tx1"/>
                </a:solidFill>
              </a:rPr>
              <a:t>Live Sports </a:t>
            </a:r>
            <a:r>
              <a:rPr lang="en-US" sz="900">
                <a:solidFill>
                  <a:schemeClr val="tx1"/>
                </a:solidFill>
              </a:rPr>
              <a:t>store optimized for write speed and real-time enrichment</a:t>
            </a:r>
          </a:p>
          <a:p>
            <a:pPr marL="228600" indent="-228600">
              <a:buAutoNum type="alphaLcPeriod"/>
            </a:pPr>
            <a:r>
              <a:rPr lang="en-US" sz="900" b="1">
                <a:solidFill>
                  <a:schemeClr val="tx1"/>
                </a:solidFill>
              </a:rPr>
              <a:t>Sports Archive</a:t>
            </a:r>
            <a:r>
              <a:rPr lang="en-US" sz="900">
                <a:solidFill>
                  <a:schemeClr val="tx1"/>
                </a:solidFill>
              </a:rPr>
              <a:t> store optimized for discovery, search, and monetization</a:t>
            </a:r>
          </a:p>
        </p:txBody>
      </p:sp>
      <p:sp>
        <p:nvSpPr>
          <p:cNvPr id="94" name="Oval 93">
            <a:extLst>
              <a:ext uri="{FF2B5EF4-FFF2-40B4-BE49-F238E27FC236}">
                <a16:creationId xmlns:a16="http://schemas.microsoft.com/office/drawing/2014/main" id="{45D676C3-FCBB-BCC2-AD38-52EB9659DE21}"/>
              </a:ext>
            </a:extLst>
          </p:cNvPr>
          <p:cNvSpPr/>
          <p:nvPr/>
        </p:nvSpPr>
        <p:spPr>
          <a:xfrm>
            <a:off x="9646423" y="2595757"/>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95" name="Rectangle 94">
            <a:extLst>
              <a:ext uri="{FF2B5EF4-FFF2-40B4-BE49-F238E27FC236}">
                <a16:creationId xmlns:a16="http://schemas.microsoft.com/office/drawing/2014/main" id="{2D6AE87D-520C-CC54-D859-A6B4DEBB2B11}"/>
              </a:ext>
            </a:extLst>
          </p:cNvPr>
          <p:cNvSpPr/>
          <p:nvPr/>
        </p:nvSpPr>
        <p:spPr>
          <a:xfrm>
            <a:off x="9941983" y="2625387"/>
            <a:ext cx="2069023" cy="1713925"/>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a:solidFill>
                  <a:schemeClr val="tx1"/>
                </a:solidFill>
              </a:rPr>
              <a:t>Datastore for </a:t>
            </a:r>
            <a:r>
              <a:rPr lang="en-US" sz="900" b="1">
                <a:solidFill>
                  <a:schemeClr val="tx1"/>
                </a:solidFill>
              </a:rPr>
              <a:t>News domain</a:t>
            </a:r>
            <a:r>
              <a:rPr lang="en-US" sz="900">
                <a:solidFill>
                  <a:schemeClr val="tx1"/>
                </a:solidFill>
              </a:rPr>
              <a:t> is determined by its inherent characteristics – velocity of publish; short editorial shelf life; and rights sensitivity</a:t>
            </a:r>
          </a:p>
          <a:p>
            <a:pPr marL="228600" indent="-228600">
              <a:buAutoNum type="alphaLcPeriod"/>
            </a:pPr>
            <a:r>
              <a:rPr lang="en-US" sz="900" b="1">
                <a:solidFill>
                  <a:schemeClr val="tx1"/>
                </a:solidFill>
              </a:rPr>
              <a:t>Publishing &amp; Versioning</a:t>
            </a:r>
            <a:r>
              <a:rPr lang="en-US" sz="900">
                <a:solidFill>
                  <a:schemeClr val="tx1"/>
                </a:solidFill>
              </a:rPr>
              <a:t> to track story versions, editorial states, embargo timestamps, and wire story provenance</a:t>
            </a:r>
          </a:p>
          <a:p>
            <a:pPr marL="228600" indent="-228600">
              <a:buAutoNum type="alphaLcPeriod"/>
            </a:pPr>
            <a:r>
              <a:rPr lang="en-US" sz="900" b="1">
                <a:solidFill>
                  <a:schemeClr val="tx1"/>
                </a:solidFill>
              </a:rPr>
              <a:t>News Entity &amp; Knowledge Graph </a:t>
            </a:r>
            <a:r>
              <a:rPr lang="en-US" sz="900">
                <a:solidFill>
                  <a:schemeClr val="tx1"/>
                </a:solidFill>
              </a:rPr>
              <a:t>connects stories to people, organizations, locations, and events</a:t>
            </a:r>
          </a:p>
        </p:txBody>
      </p:sp>
      <p:sp>
        <p:nvSpPr>
          <p:cNvPr id="96" name="Oval 95">
            <a:extLst>
              <a:ext uri="{FF2B5EF4-FFF2-40B4-BE49-F238E27FC236}">
                <a16:creationId xmlns:a16="http://schemas.microsoft.com/office/drawing/2014/main" id="{BEF9211E-D658-E2F1-0867-27B694B95271}"/>
              </a:ext>
            </a:extLst>
          </p:cNvPr>
          <p:cNvSpPr/>
          <p:nvPr/>
        </p:nvSpPr>
        <p:spPr>
          <a:xfrm>
            <a:off x="9646423" y="4423645"/>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97" name="Rectangle 96">
            <a:extLst>
              <a:ext uri="{FF2B5EF4-FFF2-40B4-BE49-F238E27FC236}">
                <a16:creationId xmlns:a16="http://schemas.microsoft.com/office/drawing/2014/main" id="{855CA0D7-94CE-3443-2445-BCBAA4FC7761}"/>
              </a:ext>
            </a:extLst>
          </p:cNvPr>
          <p:cNvSpPr/>
          <p:nvPr/>
        </p:nvSpPr>
        <p:spPr>
          <a:xfrm>
            <a:off x="9941983" y="4453275"/>
            <a:ext cx="2069023" cy="208828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General entertainment </a:t>
            </a:r>
            <a:r>
              <a:rPr lang="en-US" sz="900">
                <a:solidFill>
                  <a:schemeClr val="tx1"/>
                </a:solidFill>
              </a:rPr>
              <a:t>is the most mature content type from a metadata standards perspective. The dominant characteristic is long-tail monetization across many windows with complex contractual layering.</a:t>
            </a:r>
          </a:p>
          <a:p>
            <a:pPr marL="228600" indent="-228600">
              <a:buAutoNum type="alphaLcPeriod"/>
            </a:pPr>
            <a:r>
              <a:rPr lang="en-US" sz="900" b="1">
                <a:solidFill>
                  <a:schemeClr val="tx1"/>
                </a:solidFill>
              </a:rPr>
              <a:t>Content Catalog</a:t>
            </a:r>
            <a:r>
              <a:rPr lang="en-US" sz="900">
                <a:solidFill>
                  <a:schemeClr val="tx1"/>
                </a:solidFill>
              </a:rPr>
              <a:t> to track canonical asset registry covering series, seasons, episodes, and all variant masters</a:t>
            </a:r>
          </a:p>
          <a:p>
            <a:pPr marL="228600" indent="-228600">
              <a:buAutoNum type="alphaLcPeriod"/>
            </a:pPr>
            <a:r>
              <a:rPr lang="en-US" sz="900" b="1">
                <a:solidFill>
                  <a:schemeClr val="tx1"/>
                </a:solidFill>
              </a:rPr>
              <a:t>Audience &amp; Discovery </a:t>
            </a:r>
            <a:r>
              <a:rPr lang="en-US" sz="900">
                <a:solidFill>
                  <a:schemeClr val="tx1"/>
                </a:solidFill>
              </a:rPr>
              <a:t>enables search, recommendation, and editorial curation; contains enriched descriptive metadata beyond what the catalog holds</a:t>
            </a:r>
          </a:p>
        </p:txBody>
      </p:sp>
      <p:sp>
        <p:nvSpPr>
          <p:cNvPr id="101" name="Rectangle 100">
            <a:extLst>
              <a:ext uri="{FF2B5EF4-FFF2-40B4-BE49-F238E27FC236}">
                <a16:creationId xmlns:a16="http://schemas.microsoft.com/office/drawing/2014/main" id="{FF2E2500-939E-4967-AA7C-FEC21E09688F}"/>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CONTENT DOMAINS</a:t>
            </a:r>
          </a:p>
        </p:txBody>
      </p:sp>
      <p:grpSp>
        <p:nvGrpSpPr>
          <p:cNvPr id="8" name="Group 7">
            <a:extLst>
              <a:ext uri="{FF2B5EF4-FFF2-40B4-BE49-F238E27FC236}">
                <a16:creationId xmlns:a16="http://schemas.microsoft.com/office/drawing/2014/main" id="{E8377857-9133-2FD5-6368-2B364F19CC87}"/>
              </a:ext>
            </a:extLst>
          </p:cNvPr>
          <p:cNvGrpSpPr/>
          <p:nvPr/>
        </p:nvGrpSpPr>
        <p:grpSpPr>
          <a:xfrm>
            <a:off x="589463" y="1174438"/>
            <a:ext cx="8886441" cy="5372665"/>
            <a:chOff x="589463" y="1174438"/>
            <a:chExt cx="8886441" cy="5372665"/>
          </a:xfrm>
        </p:grpSpPr>
        <p:grpSp>
          <p:nvGrpSpPr>
            <p:cNvPr id="191" name="Group 190">
              <a:extLst>
                <a:ext uri="{FF2B5EF4-FFF2-40B4-BE49-F238E27FC236}">
                  <a16:creationId xmlns:a16="http://schemas.microsoft.com/office/drawing/2014/main" id="{17A4C514-31A8-3603-2ED3-E7117B1EF21E}"/>
                </a:ext>
              </a:extLst>
            </p:cNvPr>
            <p:cNvGrpSpPr/>
            <p:nvPr/>
          </p:nvGrpSpPr>
          <p:grpSpPr>
            <a:xfrm>
              <a:off x="6733117" y="1174438"/>
              <a:ext cx="2742787" cy="123110"/>
              <a:chOff x="6733117" y="1174438"/>
              <a:chExt cx="2742787" cy="123110"/>
            </a:xfrm>
          </p:grpSpPr>
          <p:sp>
            <p:nvSpPr>
              <p:cNvPr id="192" name="Rectangle: Rounded Corners 191">
                <a:extLst>
                  <a:ext uri="{FF2B5EF4-FFF2-40B4-BE49-F238E27FC236}">
                    <a16:creationId xmlns:a16="http://schemas.microsoft.com/office/drawing/2014/main" id="{2B5E316A-BABD-B02D-122A-83B54E4BEE04}"/>
                  </a:ext>
                </a:extLst>
              </p:cNvPr>
              <p:cNvSpPr/>
              <p:nvPr/>
            </p:nvSpPr>
            <p:spPr>
              <a:xfrm>
                <a:off x="7154449" y="1174438"/>
                <a:ext cx="748312" cy="123110"/>
              </a:xfrm>
              <a:prstGeom prst="roundRect">
                <a:avLst>
                  <a:gd name="adj" fmla="val 26983"/>
                </a:avLst>
              </a:prstGeom>
              <a:solidFill>
                <a:srgbClr val="D2F1FC"/>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Domain</a:t>
                </a:r>
              </a:p>
            </p:txBody>
          </p:sp>
          <p:sp>
            <p:nvSpPr>
              <p:cNvPr id="193" name="Rectangle: Rounded Corners 192">
                <a:extLst>
                  <a:ext uri="{FF2B5EF4-FFF2-40B4-BE49-F238E27FC236}">
                    <a16:creationId xmlns:a16="http://schemas.microsoft.com/office/drawing/2014/main" id="{C0E39BA4-C58D-89F9-E271-CB7E88443249}"/>
                  </a:ext>
                </a:extLst>
              </p:cNvPr>
              <p:cNvSpPr/>
              <p:nvPr/>
            </p:nvSpPr>
            <p:spPr>
              <a:xfrm>
                <a:off x="7941021" y="1174438"/>
                <a:ext cx="748312" cy="123110"/>
              </a:xfrm>
              <a:prstGeom prst="roundRect">
                <a:avLst>
                  <a:gd name="adj" fmla="val 2698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Metadata store</a:t>
                </a:r>
              </a:p>
            </p:txBody>
          </p:sp>
          <p:sp>
            <p:nvSpPr>
              <p:cNvPr id="194" name="Rectangle: Single Corner Rounded 193">
                <a:extLst>
                  <a:ext uri="{FF2B5EF4-FFF2-40B4-BE49-F238E27FC236}">
                    <a16:creationId xmlns:a16="http://schemas.microsoft.com/office/drawing/2014/main" id="{47C81702-3335-3985-D89C-9E1FC7ED055C}"/>
                  </a:ext>
                </a:extLst>
              </p:cNvPr>
              <p:cNvSpPr/>
              <p:nvPr/>
            </p:nvSpPr>
            <p:spPr>
              <a:xfrm>
                <a:off x="8727592" y="1174438"/>
                <a:ext cx="748312" cy="123110"/>
              </a:xfrm>
              <a:prstGeom prst="round1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tx1">
                        <a:lumMod val="50000"/>
                        <a:lumOff val="50000"/>
                      </a:schemeClr>
                    </a:solidFill>
                  </a:rPr>
                  <a:t>Metadata</a:t>
                </a:r>
              </a:p>
            </p:txBody>
          </p:sp>
          <p:sp>
            <p:nvSpPr>
              <p:cNvPr id="195" name="Rectangle: Rounded Corners 194">
                <a:extLst>
                  <a:ext uri="{FF2B5EF4-FFF2-40B4-BE49-F238E27FC236}">
                    <a16:creationId xmlns:a16="http://schemas.microsoft.com/office/drawing/2014/main" id="{A8388559-19FB-85EB-DEB6-EA7B229B901F}"/>
                  </a:ext>
                </a:extLst>
              </p:cNvPr>
              <p:cNvSpPr/>
              <p:nvPr/>
            </p:nvSpPr>
            <p:spPr>
              <a:xfrm>
                <a:off x="6733117" y="1174438"/>
                <a:ext cx="352143" cy="123110"/>
              </a:xfrm>
              <a:prstGeom prst="roundRect">
                <a:avLst>
                  <a:gd name="adj" fmla="val 26983"/>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r"/>
                <a:r>
                  <a:rPr lang="en-US" sz="700">
                    <a:solidFill>
                      <a:schemeClr val="tx1"/>
                    </a:solidFill>
                  </a:rPr>
                  <a:t>Legend:</a:t>
                </a:r>
              </a:p>
            </p:txBody>
          </p:sp>
        </p:grpSp>
        <p:grpSp>
          <p:nvGrpSpPr>
            <p:cNvPr id="7" name="Group 6">
              <a:extLst>
                <a:ext uri="{FF2B5EF4-FFF2-40B4-BE49-F238E27FC236}">
                  <a16:creationId xmlns:a16="http://schemas.microsoft.com/office/drawing/2014/main" id="{7628D756-66DE-A7E9-BB2D-0B9DDB089D2A}"/>
                </a:ext>
              </a:extLst>
            </p:cNvPr>
            <p:cNvGrpSpPr/>
            <p:nvPr/>
          </p:nvGrpSpPr>
          <p:grpSpPr>
            <a:xfrm>
              <a:off x="589463" y="1377734"/>
              <a:ext cx="8886441" cy="5169369"/>
              <a:chOff x="589463" y="1377734"/>
              <a:chExt cx="8886441" cy="5169369"/>
            </a:xfrm>
          </p:grpSpPr>
          <p:sp>
            <p:nvSpPr>
              <p:cNvPr id="108" name="Rectangle: Rounded Corners 107">
                <a:extLst>
                  <a:ext uri="{FF2B5EF4-FFF2-40B4-BE49-F238E27FC236}">
                    <a16:creationId xmlns:a16="http://schemas.microsoft.com/office/drawing/2014/main" id="{C87F46FD-1823-D2C3-08D0-F1CC3FA1E3E6}"/>
                  </a:ext>
                </a:extLst>
              </p:cNvPr>
              <p:cNvSpPr/>
              <p:nvPr/>
            </p:nvSpPr>
            <p:spPr>
              <a:xfrm>
                <a:off x="589463" y="1377735"/>
                <a:ext cx="199495" cy="5169368"/>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Source Layer</a:t>
                </a:r>
              </a:p>
            </p:txBody>
          </p:sp>
          <p:sp>
            <p:nvSpPr>
              <p:cNvPr id="109" name="Rectangle: Rounded Corners 108">
                <a:extLst>
                  <a:ext uri="{FF2B5EF4-FFF2-40B4-BE49-F238E27FC236}">
                    <a16:creationId xmlns:a16="http://schemas.microsoft.com/office/drawing/2014/main" id="{7D50E060-0270-B454-7E9A-A183E483A47B}"/>
                  </a:ext>
                </a:extLst>
              </p:cNvPr>
              <p:cNvSpPr/>
              <p:nvPr/>
            </p:nvSpPr>
            <p:spPr>
              <a:xfrm>
                <a:off x="9276409" y="1377735"/>
                <a:ext cx="199495" cy="5169368"/>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110" name="Rectangle: Rounded Corners 109">
                <a:extLst>
                  <a:ext uri="{FF2B5EF4-FFF2-40B4-BE49-F238E27FC236}">
                    <a16:creationId xmlns:a16="http://schemas.microsoft.com/office/drawing/2014/main" id="{663908A5-8A41-D10C-B937-3A96A6FC2C3F}"/>
                  </a:ext>
                </a:extLst>
              </p:cNvPr>
              <p:cNvSpPr/>
              <p:nvPr/>
            </p:nvSpPr>
            <p:spPr>
              <a:xfrm>
                <a:off x="7706332" y="1377735"/>
                <a:ext cx="1465848"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111" name="Rectangle: Rounded Corners 110">
                <a:extLst>
                  <a:ext uri="{FF2B5EF4-FFF2-40B4-BE49-F238E27FC236}">
                    <a16:creationId xmlns:a16="http://schemas.microsoft.com/office/drawing/2014/main" id="{A58E9C23-6934-4A66-0068-D1080F612805}"/>
                  </a:ext>
                </a:extLst>
              </p:cNvPr>
              <p:cNvSpPr/>
              <p:nvPr/>
            </p:nvSpPr>
            <p:spPr>
              <a:xfrm>
                <a:off x="902713" y="1377734"/>
                <a:ext cx="6699390"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a:solidFill>
                      <a:schemeClr val="tx1"/>
                    </a:solidFill>
                  </a:rPr>
                  <a:t>Domain Layer</a:t>
                </a:r>
              </a:p>
            </p:txBody>
          </p:sp>
          <p:sp>
            <p:nvSpPr>
              <p:cNvPr id="112" name="Rectangle: Rounded Corners 111">
                <a:extLst>
                  <a:ext uri="{FF2B5EF4-FFF2-40B4-BE49-F238E27FC236}">
                    <a16:creationId xmlns:a16="http://schemas.microsoft.com/office/drawing/2014/main" id="{FF8DF462-F363-A6E0-B582-6FE02AAB31E5}"/>
                  </a:ext>
                </a:extLst>
              </p:cNvPr>
              <p:cNvSpPr/>
              <p:nvPr/>
            </p:nvSpPr>
            <p:spPr>
              <a:xfrm>
                <a:off x="1017378"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Sports Domain</a:t>
                </a:r>
              </a:p>
            </p:txBody>
          </p:sp>
          <p:sp>
            <p:nvSpPr>
              <p:cNvPr id="113" name="Rectangle: Rounded Corners 112">
                <a:extLst>
                  <a:ext uri="{FF2B5EF4-FFF2-40B4-BE49-F238E27FC236}">
                    <a16:creationId xmlns:a16="http://schemas.microsoft.com/office/drawing/2014/main" id="{209CF7E6-D48C-098B-5EAB-E92AE8A6DA70}"/>
                  </a:ext>
                </a:extLst>
              </p:cNvPr>
              <p:cNvSpPr/>
              <p:nvPr/>
            </p:nvSpPr>
            <p:spPr>
              <a:xfrm>
                <a:off x="3210571"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News Domain</a:t>
                </a:r>
              </a:p>
            </p:txBody>
          </p:sp>
          <p:sp>
            <p:nvSpPr>
              <p:cNvPr id="114" name="Rectangle: Rounded Corners 113">
                <a:extLst>
                  <a:ext uri="{FF2B5EF4-FFF2-40B4-BE49-F238E27FC236}">
                    <a16:creationId xmlns:a16="http://schemas.microsoft.com/office/drawing/2014/main" id="{C78E78E9-6F0A-F901-2243-6B393C8AA187}"/>
                  </a:ext>
                </a:extLst>
              </p:cNvPr>
              <p:cNvSpPr/>
              <p:nvPr/>
            </p:nvSpPr>
            <p:spPr>
              <a:xfrm>
                <a:off x="5403766"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General Entertainment Domain</a:t>
                </a:r>
              </a:p>
            </p:txBody>
          </p:sp>
          <p:sp>
            <p:nvSpPr>
              <p:cNvPr id="115" name="Rectangle: Rounded Corners 114">
                <a:extLst>
                  <a:ext uri="{FF2B5EF4-FFF2-40B4-BE49-F238E27FC236}">
                    <a16:creationId xmlns:a16="http://schemas.microsoft.com/office/drawing/2014/main" id="{87562FDF-9829-CCC3-D392-AA944CFCC552}"/>
                  </a:ext>
                </a:extLst>
              </p:cNvPr>
              <p:cNvSpPr/>
              <p:nvPr/>
            </p:nvSpPr>
            <p:spPr>
              <a:xfrm>
                <a:off x="1171672"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Live Sports</a:t>
                </a:r>
              </a:p>
            </p:txBody>
          </p:sp>
          <p:sp>
            <p:nvSpPr>
              <p:cNvPr id="116" name="Rectangle: Single Corner Rounded 115">
                <a:extLst>
                  <a:ext uri="{FF2B5EF4-FFF2-40B4-BE49-F238E27FC236}">
                    <a16:creationId xmlns:a16="http://schemas.microsoft.com/office/drawing/2014/main" id="{BD8BE8AB-F048-99FE-2B73-C2C0E91ADCEF}"/>
                  </a:ext>
                </a:extLst>
              </p:cNvPr>
              <p:cNvSpPr/>
              <p:nvPr/>
            </p:nvSpPr>
            <p:spPr>
              <a:xfrm>
                <a:off x="122110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Live match state</a:t>
                </a:r>
              </a:p>
            </p:txBody>
          </p:sp>
          <p:sp>
            <p:nvSpPr>
              <p:cNvPr id="117" name="Rectangle: Single Corner Rounded 116">
                <a:extLst>
                  <a:ext uri="{FF2B5EF4-FFF2-40B4-BE49-F238E27FC236}">
                    <a16:creationId xmlns:a16="http://schemas.microsoft.com/office/drawing/2014/main" id="{3B9D8EEA-5670-3EAA-1C75-F7CDC6CA9A59}"/>
                  </a:ext>
                </a:extLst>
              </p:cNvPr>
              <p:cNvSpPr/>
              <p:nvPr/>
            </p:nvSpPr>
            <p:spPr>
              <a:xfrm>
                <a:off x="207977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Technical quality signals</a:t>
                </a:r>
              </a:p>
            </p:txBody>
          </p:sp>
          <p:sp>
            <p:nvSpPr>
              <p:cNvPr id="118" name="Rectangle: Single Corner Rounded 117">
                <a:extLst>
                  <a:ext uri="{FF2B5EF4-FFF2-40B4-BE49-F238E27FC236}">
                    <a16:creationId xmlns:a16="http://schemas.microsoft.com/office/drawing/2014/main" id="{061BF90B-80AF-CE33-BDC9-E227A6CCFA52}"/>
                  </a:ext>
                </a:extLst>
              </p:cNvPr>
              <p:cNvSpPr/>
              <p:nvPr/>
            </p:nvSpPr>
            <p:spPr>
              <a:xfrm>
                <a:off x="1221109"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Real-time stats</a:t>
                </a:r>
              </a:p>
            </p:txBody>
          </p:sp>
          <p:sp>
            <p:nvSpPr>
              <p:cNvPr id="119" name="Rectangle: Single Corner Rounded 118">
                <a:extLst>
                  <a:ext uri="{FF2B5EF4-FFF2-40B4-BE49-F238E27FC236}">
                    <a16:creationId xmlns:a16="http://schemas.microsoft.com/office/drawing/2014/main" id="{F850E666-5957-81D6-2315-C91473F7201A}"/>
                  </a:ext>
                </a:extLst>
              </p:cNvPr>
              <p:cNvSpPr/>
              <p:nvPr/>
            </p:nvSpPr>
            <p:spPr>
              <a:xfrm>
                <a:off x="1221109"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index</a:t>
                </a:r>
              </a:p>
            </p:txBody>
          </p:sp>
          <p:sp>
            <p:nvSpPr>
              <p:cNvPr id="120" name="Rectangle: Rounded Corners 119">
                <a:extLst>
                  <a:ext uri="{FF2B5EF4-FFF2-40B4-BE49-F238E27FC236}">
                    <a16:creationId xmlns:a16="http://schemas.microsoft.com/office/drawing/2014/main" id="{946A972A-856E-5CA7-2609-BD5EA3E9F351}"/>
                  </a:ext>
                </a:extLst>
              </p:cNvPr>
              <p:cNvSpPr/>
              <p:nvPr/>
            </p:nvSpPr>
            <p:spPr>
              <a:xfrm>
                <a:off x="1171672"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Sports Archive</a:t>
                </a:r>
              </a:p>
            </p:txBody>
          </p:sp>
          <p:sp>
            <p:nvSpPr>
              <p:cNvPr id="121" name="Rectangle: Single Corner Rounded 120">
                <a:extLst>
                  <a:ext uri="{FF2B5EF4-FFF2-40B4-BE49-F238E27FC236}">
                    <a16:creationId xmlns:a16="http://schemas.microsoft.com/office/drawing/2014/main" id="{0E074933-0B89-E89F-E78C-3C225D97EC3E}"/>
                  </a:ext>
                </a:extLst>
              </p:cNvPr>
              <p:cNvSpPr/>
              <p:nvPr/>
            </p:nvSpPr>
            <p:spPr>
              <a:xfrm>
                <a:off x="122110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Match recordings</a:t>
                </a:r>
              </a:p>
            </p:txBody>
          </p:sp>
          <p:sp>
            <p:nvSpPr>
              <p:cNvPr id="122" name="Rectangle: Single Corner Rounded 121">
                <a:extLst>
                  <a:ext uri="{FF2B5EF4-FFF2-40B4-BE49-F238E27FC236}">
                    <a16:creationId xmlns:a16="http://schemas.microsoft.com/office/drawing/2014/main" id="{73B12A65-CACB-10E1-46E7-4B65455E5402}"/>
                  </a:ext>
                </a:extLst>
              </p:cNvPr>
              <p:cNvSpPr/>
              <p:nvPr/>
            </p:nvSpPr>
            <p:spPr>
              <a:xfrm>
                <a:off x="207977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123" name="Rectangle: Single Corner Rounded 122">
                <a:extLst>
                  <a:ext uri="{FF2B5EF4-FFF2-40B4-BE49-F238E27FC236}">
                    <a16:creationId xmlns:a16="http://schemas.microsoft.com/office/drawing/2014/main" id="{EE69F422-77C2-EF6A-54DC-9A794C08E05E}"/>
                  </a:ext>
                </a:extLst>
              </p:cNvPr>
              <p:cNvSpPr/>
              <p:nvPr/>
            </p:nvSpPr>
            <p:spPr>
              <a:xfrm>
                <a:off x="122110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packages</a:t>
                </a:r>
              </a:p>
            </p:txBody>
          </p:sp>
          <p:sp>
            <p:nvSpPr>
              <p:cNvPr id="124" name="Rectangle: Single Corner Rounded 123">
                <a:extLst>
                  <a:ext uri="{FF2B5EF4-FFF2-40B4-BE49-F238E27FC236}">
                    <a16:creationId xmlns:a16="http://schemas.microsoft.com/office/drawing/2014/main" id="{EEAE178D-0729-D80B-7415-5F61A2101561}"/>
                  </a:ext>
                </a:extLst>
              </p:cNvPr>
              <p:cNvSpPr/>
              <p:nvPr/>
            </p:nvSpPr>
            <p:spPr>
              <a:xfrm>
                <a:off x="207977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Archival rights windows</a:t>
                </a:r>
              </a:p>
            </p:txBody>
          </p:sp>
          <p:sp>
            <p:nvSpPr>
              <p:cNvPr id="125" name="Rectangle: Single Corner Rounded 124">
                <a:extLst>
                  <a:ext uri="{FF2B5EF4-FFF2-40B4-BE49-F238E27FC236}">
                    <a16:creationId xmlns:a16="http://schemas.microsoft.com/office/drawing/2014/main" id="{7F01BEAB-BC09-A98F-3A4D-EC54A41F1724}"/>
                  </a:ext>
                </a:extLst>
              </p:cNvPr>
              <p:cNvSpPr/>
              <p:nvPr/>
            </p:nvSpPr>
            <p:spPr>
              <a:xfrm>
                <a:off x="1221109"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Athlete/team entity graph</a:t>
                </a:r>
              </a:p>
            </p:txBody>
          </p:sp>
          <p:sp>
            <p:nvSpPr>
              <p:cNvPr id="126" name="Rectangle: Rounded Corners 125">
                <a:extLst>
                  <a:ext uri="{FF2B5EF4-FFF2-40B4-BE49-F238E27FC236}">
                    <a16:creationId xmlns:a16="http://schemas.microsoft.com/office/drawing/2014/main" id="{252FF71F-067C-1599-B44A-ACFABD9D5F6E}"/>
                  </a:ext>
                </a:extLst>
              </p:cNvPr>
              <p:cNvSpPr/>
              <p:nvPr/>
            </p:nvSpPr>
            <p:spPr>
              <a:xfrm>
                <a:off x="3364865"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Publishing &amp; Versioning</a:t>
                </a:r>
              </a:p>
            </p:txBody>
          </p:sp>
          <p:sp>
            <p:nvSpPr>
              <p:cNvPr id="127" name="Rectangle: Single Corner Rounded 126">
                <a:extLst>
                  <a:ext uri="{FF2B5EF4-FFF2-40B4-BE49-F238E27FC236}">
                    <a16:creationId xmlns:a16="http://schemas.microsoft.com/office/drawing/2014/main" id="{0B7F2BF5-B841-8BBB-B77A-F8DD5207E8E9}"/>
                  </a:ext>
                </a:extLst>
              </p:cNvPr>
              <p:cNvSpPr/>
              <p:nvPr/>
            </p:nvSpPr>
            <p:spPr>
              <a:xfrm>
                <a:off x="341430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Story ID</a:t>
                </a:r>
              </a:p>
            </p:txBody>
          </p:sp>
          <p:sp>
            <p:nvSpPr>
              <p:cNvPr id="128" name="Rectangle: Single Corner Rounded 127">
                <a:extLst>
                  <a:ext uri="{FF2B5EF4-FFF2-40B4-BE49-F238E27FC236}">
                    <a16:creationId xmlns:a16="http://schemas.microsoft.com/office/drawing/2014/main" id="{D1B27F17-5500-2781-DE72-5B83FBA43EB5}"/>
                  </a:ext>
                </a:extLst>
              </p:cNvPr>
              <p:cNvSpPr/>
              <p:nvPr/>
            </p:nvSpPr>
            <p:spPr>
              <a:xfrm>
                <a:off x="427297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Embargo lift time</a:t>
                </a:r>
              </a:p>
            </p:txBody>
          </p:sp>
          <p:sp>
            <p:nvSpPr>
              <p:cNvPr id="129" name="Rectangle: Single Corner Rounded 128">
                <a:extLst>
                  <a:ext uri="{FF2B5EF4-FFF2-40B4-BE49-F238E27FC236}">
                    <a16:creationId xmlns:a16="http://schemas.microsoft.com/office/drawing/2014/main" id="{31577771-7EA0-0DEC-0708-A1C5F6CF2DC4}"/>
                  </a:ext>
                </a:extLst>
              </p:cNvPr>
              <p:cNvSpPr/>
              <p:nvPr/>
            </p:nvSpPr>
            <p:spPr>
              <a:xfrm>
                <a:off x="341430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Version chain</a:t>
                </a:r>
              </a:p>
            </p:txBody>
          </p:sp>
          <p:sp>
            <p:nvSpPr>
              <p:cNvPr id="130" name="Rectangle: Single Corner Rounded 129">
                <a:extLst>
                  <a:ext uri="{FF2B5EF4-FFF2-40B4-BE49-F238E27FC236}">
                    <a16:creationId xmlns:a16="http://schemas.microsoft.com/office/drawing/2014/main" id="{A3923939-2818-E1EE-7156-90A2C94E1DE7}"/>
                  </a:ext>
                </a:extLst>
              </p:cNvPr>
              <p:cNvSpPr/>
              <p:nvPr/>
            </p:nvSpPr>
            <p:spPr>
              <a:xfrm>
                <a:off x="427297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Wire source ID</a:t>
                </a:r>
              </a:p>
            </p:txBody>
          </p:sp>
          <p:sp>
            <p:nvSpPr>
              <p:cNvPr id="131" name="Rectangle: Single Corner Rounded 130">
                <a:extLst>
                  <a:ext uri="{FF2B5EF4-FFF2-40B4-BE49-F238E27FC236}">
                    <a16:creationId xmlns:a16="http://schemas.microsoft.com/office/drawing/2014/main" id="{0EC697CC-B421-1805-B75B-7268E0E3E266}"/>
                  </a:ext>
                </a:extLst>
              </p:cNvPr>
              <p:cNvSpPr/>
              <p:nvPr/>
            </p:nvSpPr>
            <p:spPr>
              <a:xfrm>
                <a:off x="341430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Publish Timestamp</a:t>
                </a:r>
              </a:p>
            </p:txBody>
          </p:sp>
          <p:sp>
            <p:nvSpPr>
              <p:cNvPr id="132" name="Rectangle: Single Corner Rounded 131">
                <a:extLst>
                  <a:ext uri="{FF2B5EF4-FFF2-40B4-BE49-F238E27FC236}">
                    <a16:creationId xmlns:a16="http://schemas.microsoft.com/office/drawing/2014/main" id="{88A26A09-E0F9-8B4E-20C1-E6575069DA79}"/>
                  </a:ext>
                </a:extLst>
              </p:cNvPr>
              <p:cNvSpPr/>
              <p:nvPr/>
            </p:nvSpPr>
            <p:spPr>
              <a:xfrm>
                <a:off x="427297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Editorial desk assignment</a:t>
                </a:r>
              </a:p>
            </p:txBody>
          </p:sp>
          <p:sp>
            <p:nvSpPr>
              <p:cNvPr id="133" name="Rectangle: Rounded Corners 132">
                <a:extLst>
                  <a:ext uri="{FF2B5EF4-FFF2-40B4-BE49-F238E27FC236}">
                    <a16:creationId xmlns:a16="http://schemas.microsoft.com/office/drawing/2014/main" id="{CDBF310F-A65C-4344-A738-DEBA36C83368}"/>
                  </a:ext>
                </a:extLst>
              </p:cNvPr>
              <p:cNvSpPr/>
              <p:nvPr/>
            </p:nvSpPr>
            <p:spPr>
              <a:xfrm>
                <a:off x="3364865"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News Entity &amp; Knowledge Graph</a:t>
                </a:r>
              </a:p>
            </p:txBody>
          </p:sp>
          <p:sp>
            <p:nvSpPr>
              <p:cNvPr id="134" name="Rectangle: Single Corner Rounded 133">
                <a:extLst>
                  <a:ext uri="{FF2B5EF4-FFF2-40B4-BE49-F238E27FC236}">
                    <a16:creationId xmlns:a16="http://schemas.microsoft.com/office/drawing/2014/main" id="{8532A2D6-C906-3FDC-9137-ADD70E40CCAE}"/>
                  </a:ext>
                </a:extLst>
              </p:cNvPr>
              <p:cNvSpPr/>
              <p:nvPr/>
            </p:nvSpPr>
            <p:spPr>
              <a:xfrm>
                <a:off x="341430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Named entity recognition output</a:t>
                </a:r>
              </a:p>
            </p:txBody>
          </p:sp>
          <p:sp>
            <p:nvSpPr>
              <p:cNvPr id="135" name="Rectangle: Single Corner Rounded 134">
                <a:extLst>
                  <a:ext uri="{FF2B5EF4-FFF2-40B4-BE49-F238E27FC236}">
                    <a16:creationId xmlns:a16="http://schemas.microsoft.com/office/drawing/2014/main" id="{D94DAC33-3D4B-25DF-E0AF-4FF53BCA9F36}"/>
                  </a:ext>
                </a:extLst>
              </p:cNvPr>
              <p:cNvSpPr/>
              <p:nvPr/>
            </p:nvSpPr>
            <p:spPr>
              <a:xfrm>
                <a:off x="427297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Sentiment signals</a:t>
                </a:r>
              </a:p>
            </p:txBody>
          </p:sp>
          <p:sp>
            <p:nvSpPr>
              <p:cNvPr id="136" name="Rectangle: Single Corner Rounded 135">
                <a:extLst>
                  <a:ext uri="{FF2B5EF4-FFF2-40B4-BE49-F238E27FC236}">
                    <a16:creationId xmlns:a16="http://schemas.microsoft.com/office/drawing/2014/main" id="{144327A3-5812-FE50-6419-6B443A0AB563}"/>
                  </a:ext>
                </a:extLst>
              </p:cNvPr>
              <p:cNvSpPr/>
              <p:nvPr/>
            </p:nvSpPr>
            <p:spPr>
              <a:xfrm>
                <a:off x="341430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Geotags</a:t>
                </a:r>
              </a:p>
            </p:txBody>
          </p:sp>
          <p:sp>
            <p:nvSpPr>
              <p:cNvPr id="137" name="Rectangle: Single Corner Rounded 136">
                <a:extLst>
                  <a:ext uri="{FF2B5EF4-FFF2-40B4-BE49-F238E27FC236}">
                    <a16:creationId xmlns:a16="http://schemas.microsoft.com/office/drawing/2014/main" id="{D8DA3088-A0A8-0631-5B32-C93B1D41B1FA}"/>
                  </a:ext>
                </a:extLst>
              </p:cNvPr>
              <p:cNvSpPr/>
              <p:nvPr/>
            </p:nvSpPr>
            <p:spPr>
              <a:xfrm>
                <a:off x="427297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Related story clusters</a:t>
                </a:r>
              </a:p>
            </p:txBody>
          </p:sp>
          <p:sp>
            <p:nvSpPr>
              <p:cNvPr id="138" name="Rectangle: Single Corner Rounded 137">
                <a:extLst>
                  <a:ext uri="{FF2B5EF4-FFF2-40B4-BE49-F238E27FC236}">
                    <a16:creationId xmlns:a16="http://schemas.microsoft.com/office/drawing/2014/main" id="{73AC1B82-6F1A-0E9D-1890-D26757E613C2}"/>
                  </a:ext>
                </a:extLst>
              </p:cNvPr>
              <p:cNvSpPr/>
              <p:nvPr/>
            </p:nvSpPr>
            <p:spPr>
              <a:xfrm>
                <a:off x="3414302"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Topic classification</a:t>
                </a:r>
              </a:p>
            </p:txBody>
          </p:sp>
          <p:sp>
            <p:nvSpPr>
              <p:cNvPr id="139" name="Rectangle: Rounded Corners 138">
                <a:extLst>
                  <a:ext uri="{FF2B5EF4-FFF2-40B4-BE49-F238E27FC236}">
                    <a16:creationId xmlns:a16="http://schemas.microsoft.com/office/drawing/2014/main" id="{3B7D6594-B63A-57E0-8443-1F4F92A83838}"/>
                  </a:ext>
                </a:extLst>
              </p:cNvPr>
              <p:cNvSpPr/>
              <p:nvPr/>
            </p:nvSpPr>
            <p:spPr>
              <a:xfrm>
                <a:off x="5558059"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Content Catalog</a:t>
                </a:r>
              </a:p>
            </p:txBody>
          </p:sp>
          <p:sp>
            <p:nvSpPr>
              <p:cNvPr id="140" name="Rectangle: Single Corner Rounded 139">
                <a:extLst>
                  <a:ext uri="{FF2B5EF4-FFF2-40B4-BE49-F238E27FC236}">
                    <a16:creationId xmlns:a16="http://schemas.microsoft.com/office/drawing/2014/main" id="{B895C573-14E0-DFDF-704D-7E11029A91D9}"/>
                  </a:ext>
                </a:extLst>
              </p:cNvPr>
              <p:cNvSpPr/>
              <p:nvPr/>
            </p:nvSpPr>
            <p:spPr>
              <a:xfrm>
                <a:off x="5607497"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EIDR</a:t>
                </a:r>
              </a:p>
            </p:txBody>
          </p:sp>
          <p:sp>
            <p:nvSpPr>
              <p:cNvPr id="141" name="Rectangle: Single Corner Rounded 140">
                <a:extLst>
                  <a:ext uri="{FF2B5EF4-FFF2-40B4-BE49-F238E27FC236}">
                    <a16:creationId xmlns:a16="http://schemas.microsoft.com/office/drawing/2014/main" id="{ADC630BB-36B0-7866-38A9-50ECAC7A7947}"/>
                  </a:ext>
                </a:extLst>
              </p:cNvPr>
              <p:cNvSpPr/>
              <p:nvPr/>
            </p:nvSpPr>
            <p:spPr>
              <a:xfrm>
                <a:off x="6466166"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MPAA/BBFC rating</a:t>
                </a:r>
              </a:p>
            </p:txBody>
          </p:sp>
          <p:sp>
            <p:nvSpPr>
              <p:cNvPr id="142" name="Rectangle: Single Corner Rounded 141">
                <a:extLst>
                  <a:ext uri="{FF2B5EF4-FFF2-40B4-BE49-F238E27FC236}">
                    <a16:creationId xmlns:a16="http://schemas.microsoft.com/office/drawing/2014/main" id="{DC20ECDE-C583-EC59-4F1F-5123C7F527A1}"/>
                  </a:ext>
                </a:extLst>
              </p:cNvPr>
              <p:cNvSpPr/>
              <p:nvPr/>
            </p:nvSpPr>
            <p:spPr>
              <a:xfrm>
                <a:off x="5607497"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Series-season-episode hierarchy</a:t>
                </a:r>
              </a:p>
            </p:txBody>
          </p:sp>
          <p:sp>
            <p:nvSpPr>
              <p:cNvPr id="143" name="Rectangle: Single Corner Rounded 142">
                <a:extLst>
                  <a:ext uri="{FF2B5EF4-FFF2-40B4-BE49-F238E27FC236}">
                    <a16:creationId xmlns:a16="http://schemas.microsoft.com/office/drawing/2014/main" id="{F9B33A20-597E-3E6C-F3F9-A1800EA80215}"/>
                  </a:ext>
                </a:extLst>
              </p:cNvPr>
              <p:cNvSpPr/>
              <p:nvPr/>
            </p:nvSpPr>
            <p:spPr>
              <a:xfrm>
                <a:off x="6466166"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Content advisory codes</a:t>
                </a:r>
              </a:p>
            </p:txBody>
          </p:sp>
          <p:sp>
            <p:nvSpPr>
              <p:cNvPr id="144" name="Rectangle: Single Corner Rounded 143">
                <a:extLst>
                  <a:ext uri="{FF2B5EF4-FFF2-40B4-BE49-F238E27FC236}">
                    <a16:creationId xmlns:a16="http://schemas.microsoft.com/office/drawing/2014/main" id="{9B87068A-FF3D-3061-965E-A03E84DDACF3}"/>
                  </a:ext>
                </a:extLst>
              </p:cNvPr>
              <p:cNvSpPr/>
              <p:nvPr/>
            </p:nvSpPr>
            <p:spPr>
              <a:xfrm>
                <a:off x="5607497"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Production credits</a:t>
                </a:r>
              </a:p>
            </p:txBody>
          </p:sp>
          <p:sp>
            <p:nvSpPr>
              <p:cNvPr id="145" name="Rectangle: Single Corner Rounded 144">
                <a:extLst>
                  <a:ext uri="{FF2B5EF4-FFF2-40B4-BE49-F238E27FC236}">
                    <a16:creationId xmlns:a16="http://schemas.microsoft.com/office/drawing/2014/main" id="{9F560BAD-63E2-8B33-6B53-922A51008634}"/>
                  </a:ext>
                </a:extLst>
              </p:cNvPr>
              <p:cNvSpPr/>
              <p:nvPr/>
            </p:nvSpPr>
            <p:spPr>
              <a:xfrm>
                <a:off x="6466166"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Dubbing/subtitle inventory</a:t>
                </a:r>
              </a:p>
            </p:txBody>
          </p:sp>
          <p:sp>
            <p:nvSpPr>
              <p:cNvPr id="146" name="Rectangle: Rounded Corners 145">
                <a:extLst>
                  <a:ext uri="{FF2B5EF4-FFF2-40B4-BE49-F238E27FC236}">
                    <a16:creationId xmlns:a16="http://schemas.microsoft.com/office/drawing/2014/main" id="{2E13ECF6-7BF9-2907-4B0E-AA9ADB7B1357}"/>
                  </a:ext>
                </a:extLst>
              </p:cNvPr>
              <p:cNvSpPr/>
              <p:nvPr/>
            </p:nvSpPr>
            <p:spPr>
              <a:xfrm>
                <a:off x="5558059"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Discovery</a:t>
                </a:r>
              </a:p>
            </p:txBody>
          </p:sp>
          <p:sp>
            <p:nvSpPr>
              <p:cNvPr id="147" name="Rectangle: Single Corner Rounded 146">
                <a:extLst>
                  <a:ext uri="{FF2B5EF4-FFF2-40B4-BE49-F238E27FC236}">
                    <a16:creationId xmlns:a16="http://schemas.microsoft.com/office/drawing/2014/main" id="{4573D915-ABF4-F1F2-9352-B1281FC83F40}"/>
                  </a:ext>
                </a:extLst>
              </p:cNvPr>
              <p:cNvSpPr/>
              <p:nvPr/>
            </p:nvSpPr>
            <p:spPr>
              <a:xfrm>
                <a:off x="5607497"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Genre taxonomy</a:t>
                </a:r>
              </a:p>
            </p:txBody>
          </p:sp>
          <p:sp>
            <p:nvSpPr>
              <p:cNvPr id="148" name="Rectangle: Single Corner Rounded 147">
                <a:extLst>
                  <a:ext uri="{FF2B5EF4-FFF2-40B4-BE49-F238E27FC236}">
                    <a16:creationId xmlns:a16="http://schemas.microsoft.com/office/drawing/2014/main" id="{A14642CD-0FD4-3D23-5695-D482561B193B}"/>
                  </a:ext>
                </a:extLst>
              </p:cNvPr>
              <p:cNvSpPr/>
              <p:nvPr/>
            </p:nvSpPr>
            <p:spPr>
              <a:xfrm>
                <a:off x="6466166"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149" name="Rectangle: Single Corner Rounded 148">
                <a:extLst>
                  <a:ext uri="{FF2B5EF4-FFF2-40B4-BE49-F238E27FC236}">
                    <a16:creationId xmlns:a16="http://schemas.microsoft.com/office/drawing/2014/main" id="{2F298805-AB9B-29AE-B397-CDD443C3F395}"/>
                  </a:ext>
                </a:extLst>
              </p:cNvPr>
              <p:cNvSpPr/>
              <p:nvPr/>
            </p:nvSpPr>
            <p:spPr>
              <a:xfrm>
                <a:off x="5607497"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Audience demographic affinity</a:t>
                </a:r>
              </a:p>
            </p:txBody>
          </p:sp>
          <p:sp>
            <p:nvSpPr>
              <p:cNvPr id="150" name="Rectangle: Single Corner Rounded 149">
                <a:extLst>
                  <a:ext uri="{FF2B5EF4-FFF2-40B4-BE49-F238E27FC236}">
                    <a16:creationId xmlns:a16="http://schemas.microsoft.com/office/drawing/2014/main" id="{4624308E-9B56-51B1-4739-7E6EC9B56DC3}"/>
                  </a:ext>
                </a:extLst>
              </p:cNvPr>
              <p:cNvSpPr/>
              <p:nvPr/>
            </p:nvSpPr>
            <p:spPr>
              <a:xfrm>
                <a:off x="6466166"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Franchise relationships</a:t>
                </a:r>
              </a:p>
            </p:txBody>
          </p:sp>
          <p:sp>
            <p:nvSpPr>
              <p:cNvPr id="151" name="Rectangle: Single Corner Rounded 150">
                <a:extLst>
                  <a:ext uri="{FF2B5EF4-FFF2-40B4-BE49-F238E27FC236}">
                    <a16:creationId xmlns:a16="http://schemas.microsoft.com/office/drawing/2014/main" id="{1F0C7BDD-8BB4-F92D-2F34-A9E8BE04786A}"/>
                  </a:ext>
                </a:extLst>
              </p:cNvPr>
              <p:cNvSpPr/>
              <p:nvPr/>
            </p:nvSpPr>
            <p:spPr>
              <a:xfrm>
                <a:off x="5607497"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Viewing completion signals</a:t>
                </a:r>
              </a:p>
            </p:txBody>
          </p:sp>
          <p:grpSp>
            <p:nvGrpSpPr>
              <p:cNvPr id="152" name="Group 151">
                <a:extLst>
                  <a:ext uri="{FF2B5EF4-FFF2-40B4-BE49-F238E27FC236}">
                    <a16:creationId xmlns:a16="http://schemas.microsoft.com/office/drawing/2014/main" id="{337310DB-042E-DB98-4770-3D9ACFDCD73E}"/>
                  </a:ext>
                </a:extLst>
              </p:cNvPr>
              <p:cNvGrpSpPr/>
              <p:nvPr/>
            </p:nvGrpSpPr>
            <p:grpSpPr>
              <a:xfrm>
                <a:off x="1017378" y="4975722"/>
                <a:ext cx="6470059" cy="617098"/>
                <a:chOff x="1298448" y="5089220"/>
                <a:chExt cx="8083296" cy="617098"/>
              </a:xfrm>
            </p:grpSpPr>
            <p:sp>
              <p:nvSpPr>
                <p:cNvPr id="184" name="Rectangle: Rounded Corners 183">
                  <a:extLst>
                    <a:ext uri="{FF2B5EF4-FFF2-40B4-BE49-F238E27FC236}">
                      <a16:creationId xmlns:a16="http://schemas.microsoft.com/office/drawing/2014/main" id="{356B364B-4950-BDFA-CF3B-3756E575BDBC}"/>
                    </a:ext>
                  </a:extLst>
                </p:cNvPr>
                <p:cNvSpPr/>
                <p:nvPr/>
              </p:nvSpPr>
              <p:spPr>
                <a:xfrm>
                  <a:off x="1298448" y="5089220"/>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Rights &amp; Compliance</a:t>
                  </a:r>
                </a:p>
              </p:txBody>
            </p:sp>
            <p:sp>
              <p:nvSpPr>
                <p:cNvPr id="185" name="Rectangle: Rounded Corners 184">
                  <a:extLst>
                    <a:ext uri="{FF2B5EF4-FFF2-40B4-BE49-F238E27FC236}">
                      <a16:creationId xmlns:a16="http://schemas.microsoft.com/office/drawing/2014/main" id="{E00AC98E-AD0C-5651-03B7-4FA036554357}"/>
                    </a:ext>
                  </a:extLst>
                </p:cNvPr>
                <p:cNvSpPr/>
                <p:nvPr/>
              </p:nvSpPr>
              <p:spPr>
                <a:xfrm>
                  <a:off x="1491213"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Agreement</a:t>
                  </a:r>
                </a:p>
              </p:txBody>
            </p:sp>
            <p:sp>
              <p:nvSpPr>
                <p:cNvPr id="186" name="Rectangle: Rounded Corners 185">
                  <a:extLst>
                    <a:ext uri="{FF2B5EF4-FFF2-40B4-BE49-F238E27FC236}">
                      <a16:creationId xmlns:a16="http://schemas.microsoft.com/office/drawing/2014/main" id="{AA0AC695-5E28-6C44-280A-B2709B364CB1}"/>
                    </a:ext>
                  </a:extLst>
                </p:cNvPr>
                <p:cNvSpPr/>
                <p:nvPr/>
              </p:nvSpPr>
              <p:spPr>
                <a:xfrm>
                  <a:off x="2788307"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Scope</a:t>
                  </a:r>
                </a:p>
              </p:txBody>
            </p:sp>
            <p:sp>
              <p:nvSpPr>
                <p:cNvPr id="187" name="Rectangle: Rounded Corners 186">
                  <a:extLst>
                    <a:ext uri="{FF2B5EF4-FFF2-40B4-BE49-F238E27FC236}">
                      <a16:creationId xmlns:a16="http://schemas.microsoft.com/office/drawing/2014/main" id="{D5385054-02CB-C494-4820-8CDF2765266B}"/>
                    </a:ext>
                  </a:extLst>
                </p:cNvPr>
                <p:cNvSpPr/>
                <p:nvPr/>
              </p:nvSpPr>
              <p:spPr>
                <a:xfrm>
                  <a:off x="4085401"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Temporal Window</a:t>
                  </a:r>
                </a:p>
              </p:txBody>
            </p:sp>
            <p:sp>
              <p:nvSpPr>
                <p:cNvPr id="188" name="Rectangle: Rounded Corners 187">
                  <a:extLst>
                    <a:ext uri="{FF2B5EF4-FFF2-40B4-BE49-F238E27FC236}">
                      <a16:creationId xmlns:a16="http://schemas.microsoft.com/office/drawing/2014/main" id="{2E3D8F66-3100-E388-EA4F-FD3C4F8E222D}"/>
                    </a:ext>
                  </a:extLst>
                </p:cNvPr>
                <p:cNvSpPr/>
                <p:nvPr/>
              </p:nvSpPr>
              <p:spPr>
                <a:xfrm>
                  <a:off x="5382496"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Obligations</a:t>
                  </a:r>
                </a:p>
              </p:txBody>
            </p:sp>
            <p:sp>
              <p:nvSpPr>
                <p:cNvPr id="189" name="Rectangle: Rounded Corners 188">
                  <a:extLst>
                    <a:ext uri="{FF2B5EF4-FFF2-40B4-BE49-F238E27FC236}">
                      <a16:creationId xmlns:a16="http://schemas.microsoft.com/office/drawing/2014/main" id="{E8651445-EBDE-9A56-A539-2CE8FE7A5FF1}"/>
                    </a:ext>
                  </a:extLst>
                </p:cNvPr>
                <p:cNvSpPr/>
                <p:nvPr/>
              </p:nvSpPr>
              <p:spPr>
                <a:xfrm>
                  <a:off x="6679590"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Compliance &amp; Audit</a:t>
                  </a:r>
                </a:p>
              </p:txBody>
            </p:sp>
            <p:sp>
              <p:nvSpPr>
                <p:cNvPr id="190" name="Rectangle: Rounded Corners 189">
                  <a:extLst>
                    <a:ext uri="{FF2B5EF4-FFF2-40B4-BE49-F238E27FC236}">
                      <a16:creationId xmlns:a16="http://schemas.microsoft.com/office/drawing/2014/main" id="{22D9709D-F8B0-391C-6B9B-027357C82377}"/>
                    </a:ext>
                  </a:extLst>
                </p:cNvPr>
                <p:cNvSpPr/>
                <p:nvPr/>
              </p:nvSpPr>
              <p:spPr>
                <a:xfrm>
                  <a:off x="7976684"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Vertical Extension</a:t>
                  </a:r>
                </a:p>
              </p:txBody>
            </p:sp>
          </p:grpSp>
          <p:grpSp>
            <p:nvGrpSpPr>
              <p:cNvPr id="153" name="Group 152">
                <a:extLst>
                  <a:ext uri="{FF2B5EF4-FFF2-40B4-BE49-F238E27FC236}">
                    <a16:creationId xmlns:a16="http://schemas.microsoft.com/office/drawing/2014/main" id="{DF3B5FE8-B991-E9EB-6E36-8686FFB7DD67}"/>
                  </a:ext>
                </a:extLst>
              </p:cNvPr>
              <p:cNvGrpSpPr/>
              <p:nvPr/>
            </p:nvGrpSpPr>
            <p:grpSpPr>
              <a:xfrm>
                <a:off x="1017378" y="5842539"/>
                <a:ext cx="6470059" cy="617098"/>
                <a:chOff x="1298448" y="5842539"/>
                <a:chExt cx="8083296" cy="617098"/>
              </a:xfrm>
            </p:grpSpPr>
            <p:sp>
              <p:nvSpPr>
                <p:cNvPr id="178" name="Rectangle: Rounded Corners 177">
                  <a:extLst>
                    <a:ext uri="{FF2B5EF4-FFF2-40B4-BE49-F238E27FC236}">
                      <a16:creationId xmlns:a16="http://schemas.microsoft.com/office/drawing/2014/main" id="{4A2981E8-6C05-F6F0-988D-DC5A0C86F644}"/>
                    </a:ext>
                  </a:extLst>
                </p:cNvPr>
                <p:cNvSpPr/>
                <p:nvPr/>
              </p:nvSpPr>
              <p:spPr>
                <a:xfrm>
                  <a:off x="1298448" y="5842539"/>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Distribution</a:t>
                  </a:r>
                </a:p>
              </p:txBody>
            </p:sp>
            <p:sp>
              <p:nvSpPr>
                <p:cNvPr id="179" name="Rectangle: Rounded Corners 178">
                  <a:extLst>
                    <a:ext uri="{FF2B5EF4-FFF2-40B4-BE49-F238E27FC236}">
                      <a16:creationId xmlns:a16="http://schemas.microsoft.com/office/drawing/2014/main" id="{CA0B014E-3C3B-255A-0A06-A5DA947B9822}"/>
                    </a:ext>
                  </a:extLst>
                </p:cNvPr>
                <p:cNvSpPr/>
                <p:nvPr/>
              </p:nvSpPr>
              <p:spPr>
                <a:xfrm>
                  <a:off x="149121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Channel &amp; Platform Registry</a:t>
                  </a:r>
                </a:p>
              </p:txBody>
            </p:sp>
            <p:sp>
              <p:nvSpPr>
                <p:cNvPr id="180" name="Rectangle: Rounded Corners 179">
                  <a:extLst>
                    <a:ext uri="{FF2B5EF4-FFF2-40B4-BE49-F238E27FC236}">
                      <a16:creationId xmlns:a16="http://schemas.microsoft.com/office/drawing/2014/main" id="{66375968-F075-51D3-83CA-C985DB343D68}"/>
                    </a:ext>
                  </a:extLst>
                </p:cNvPr>
                <p:cNvSpPr/>
                <p:nvPr/>
              </p:nvSpPr>
              <p:spPr>
                <a:xfrm>
                  <a:off x="305439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Scheduling &amp; Slots</a:t>
                  </a:r>
                </a:p>
              </p:txBody>
            </p:sp>
            <p:sp>
              <p:nvSpPr>
                <p:cNvPr id="181" name="Rectangle: Rounded Corners 180">
                  <a:extLst>
                    <a:ext uri="{FF2B5EF4-FFF2-40B4-BE49-F238E27FC236}">
                      <a16:creationId xmlns:a16="http://schemas.microsoft.com/office/drawing/2014/main" id="{0E0B5BB3-E281-4576-7088-AB7F4AF09289}"/>
                    </a:ext>
                  </a:extLst>
                </p:cNvPr>
                <p:cNvSpPr/>
                <p:nvPr/>
              </p:nvSpPr>
              <p:spPr>
                <a:xfrm>
                  <a:off x="461758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VOD Publication</a:t>
                  </a:r>
                </a:p>
              </p:txBody>
            </p:sp>
            <p:sp>
              <p:nvSpPr>
                <p:cNvPr id="182" name="Rectangle: Rounded Corners 181">
                  <a:extLst>
                    <a:ext uri="{FF2B5EF4-FFF2-40B4-BE49-F238E27FC236}">
                      <a16:creationId xmlns:a16="http://schemas.microsoft.com/office/drawing/2014/main" id="{AD95A7F6-4820-F72D-C07C-6719A244F5F3}"/>
                    </a:ext>
                  </a:extLst>
                </p:cNvPr>
                <p:cNvSpPr/>
                <p:nvPr/>
              </p:nvSpPr>
              <p:spPr>
                <a:xfrm>
                  <a:off x="618076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Audience &amp; Performance</a:t>
                  </a:r>
                </a:p>
              </p:txBody>
            </p:sp>
            <p:sp>
              <p:nvSpPr>
                <p:cNvPr id="183" name="Rectangle: Rounded Corners 182">
                  <a:extLst>
                    <a:ext uri="{FF2B5EF4-FFF2-40B4-BE49-F238E27FC236}">
                      <a16:creationId xmlns:a16="http://schemas.microsoft.com/office/drawing/2014/main" id="{4857DB6A-4A48-9AEB-E97E-19E22CEBFB98}"/>
                    </a:ext>
                  </a:extLst>
                </p:cNvPr>
                <p:cNvSpPr/>
                <p:nvPr/>
              </p:nvSpPr>
              <p:spPr>
                <a:xfrm>
                  <a:off x="7743953"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Technical Delivery &amp; Quality</a:t>
                  </a:r>
                </a:p>
              </p:txBody>
            </p:sp>
          </p:grpSp>
          <p:grpSp>
            <p:nvGrpSpPr>
              <p:cNvPr id="154" name="Group 153">
                <a:extLst>
                  <a:ext uri="{FF2B5EF4-FFF2-40B4-BE49-F238E27FC236}">
                    <a16:creationId xmlns:a16="http://schemas.microsoft.com/office/drawing/2014/main" id="{C443249F-28C2-E2E1-AE4F-5DA51D57B54E}"/>
                  </a:ext>
                </a:extLst>
              </p:cNvPr>
              <p:cNvGrpSpPr/>
              <p:nvPr/>
            </p:nvGrpSpPr>
            <p:grpSpPr>
              <a:xfrm>
                <a:off x="7784640" y="1719072"/>
                <a:ext cx="1324041" cy="951103"/>
                <a:chOff x="9528175" y="1719072"/>
                <a:chExt cx="1654176" cy="951103"/>
              </a:xfrm>
            </p:grpSpPr>
            <p:sp>
              <p:nvSpPr>
                <p:cNvPr id="175" name="Rectangle: Rounded Corners 174">
                  <a:extLst>
                    <a:ext uri="{FF2B5EF4-FFF2-40B4-BE49-F238E27FC236}">
                      <a16:creationId xmlns:a16="http://schemas.microsoft.com/office/drawing/2014/main" id="{DF1334E8-754B-D439-CBB6-9B44C0D99A26}"/>
                    </a:ext>
                  </a:extLst>
                </p:cNvPr>
                <p:cNvSpPr/>
                <p:nvPr/>
              </p:nvSpPr>
              <p:spPr>
                <a:xfrm>
                  <a:off x="9528175" y="1719072"/>
                  <a:ext cx="1654176" cy="951103"/>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Identity &amp; Reference</a:t>
                  </a:r>
                </a:p>
              </p:txBody>
            </p:sp>
            <p:sp>
              <p:nvSpPr>
                <p:cNvPr id="176" name="Rectangle: Rounded Corners 175">
                  <a:extLst>
                    <a:ext uri="{FF2B5EF4-FFF2-40B4-BE49-F238E27FC236}">
                      <a16:creationId xmlns:a16="http://schemas.microsoft.com/office/drawing/2014/main" id="{319C5E66-4080-6DA6-419D-51AAC81FB48D}"/>
                    </a:ext>
                  </a:extLst>
                </p:cNvPr>
                <p:cNvSpPr/>
                <p:nvPr/>
              </p:nvSpPr>
              <p:spPr>
                <a:xfrm>
                  <a:off x="9604395" y="1973194"/>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Content Identity</a:t>
                  </a:r>
                </a:p>
              </p:txBody>
            </p:sp>
            <p:sp>
              <p:nvSpPr>
                <p:cNvPr id="177" name="Rectangle: Rounded Corners 176">
                  <a:extLst>
                    <a:ext uri="{FF2B5EF4-FFF2-40B4-BE49-F238E27FC236}">
                      <a16:creationId xmlns:a16="http://schemas.microsoft.com/office/drawing/2014/main" id="{800FE73F-8261-1CF9-6DF3-0D432C1B7789}"/>
                    </a:ext>
                  </a:extLst>
                </p:cNvPr>
                <p:cNvSpPr/>
                <p:nvPr/>
              </p:nvSpPr>
              <p:spPr>
                <a:xfrm>
                  <a:off x="9604395" y="230969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Cross-Domain Reference</a:t>
                  </a:r>
                </a:p>
              </p:txBody>
            </p:sp>
          </p:grpSp>
          <p:grpSp>
            <p:nvGrpSpPr>
              <p:cNvPr id="155" name="Group 154">
                <a:extLst>
                  <a:ext uri="{FF2B5EF4-FFF2-40B4-BE49-F238E27FC236}">
                    <a16:creationId xmlns:a16="http://schemas.microsoft.com/office/drawing/2014/main" id="{401CC5E0-EC94-EBD5-FF49-9F2C5DE9331C}"/>
                  </a:ext>
                </a:extLst>
              </p:cNvPr>
              <p:cNvGrpSpPr/>
              <p:nvPr/>
            </p:nvGrpSpPr>
            <p:grpSpPr>
              <a:xfrm>
                <a:off x="7784640" y="2877160"/>
                <a:ext cx="1324041" cy="2081102"/>
                <a:chOff x="9528175" y="2831258"/>
                <a:chExt cx="1654176" cy="2081102"/>
              </a:xfrm>
            </p:grpSpPr>
            <p:sp>
              <p:nvSpPr>
                <p:cNvPr id="169" name="Rectangle: Rounded Corners 168">
                  <a:extLst>
                    <a:ext uri="{FF2B5EF4-FFF2-40B4-BE49-F238E27FC236}">
                      <a16:creationId xmlns:a16="http://schemas.microsoft.com/office/drawing/2014/main" id="{4D5704CC-65DF-4519-559B-E0D30541D6B2}"/>
                    </a:ext>
                  </a:extLst>
                </p:cNvPr>
                <p:cNvSpPr/>
                <p:nvPr/>
              </p:nvSpPr>
              <p:spPr>
                <a:xfrm>
                  <a:off x="9528175" y="2831258"/>
                  <a:ext cx="1654176" cy="208110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Derived Discovery</a:t>
                  </a:r>
                </a:p>
              </p:txBody>
            </p:sp>
            <p:sp>
              <p:nvSpPr>
                <p:cNvPr id="170" name="Rectangle: Rounded Corners 169">
                  <a:extLst>
                    <a:ext uri="{FF2B5EF4-FFF2-40B4-BE49-F238E27FC236}">
                      <a16:creationId xmlns:a16="http://schemas.microsoft.com/office/drawing/2014/main" id="{EC7AC36B-B2EA-57E4-2173-AD0AD485A474}"/>
                    </a:ext>
                  </a:extLst>
                </p:cNvPr>
                <p:cNvSpPr/>
                <p:nvPr/>
              </p:nvSpPr>
              <p:spPr>
                <a:xfrm>
                  <a:off x="9604395" y="3085381"/>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Descriptive Metadata</a:t>
                  </a:r>
                </a:p>
              </p:txBody>
            </p:sp>
            <p:sp>
              <p:nvSpPr>
                <p:cNvPr id="171" name="Rectangle: Rounded Corners 170">
                  <a:extLst>
                    <a:ext uri="{FF2B5EF4-FFF2-40B4-BE49-F238E27FC236}">
                      <a16:creationId xmlns:a16="http://schemas.microsoft.com/office/drawing/2014/main" id="{5C04D14B-3735-00CE-5CAF-FBF37F0E485E}"/>
                    </a:ext>
                  </a:extLst>
                </p:cNvPr>
                <p:cNvSpPr/>
                <p:nvPr/>
              </p:nvSpPr>
              <p:spPr>
                <a:xfrm>
                  <a:off x="9604395" y="3447950"/>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Taxonomy &amp; Classification</a:t>
                  </a:r>
                </a:p>
              </p:txBody>
            </p:sp>
            <p:sp>
              <p:nvSpPr>
                <p:cNvPr id="172" name="Rectangle: Rounded Corners 171">
                  <a:extLst>
                    <a:ext uri="{FF2B5EF4-FFF2-40B4-BE49-F238E27FC236}">
                      <a16:creationId xmlns:a16="http://schemas.microsoft.com/office/drawing/2014/main" id="{03A960E3-33E0-D28B-2310-60EE9EE26F5E}"/>
                    </a:ext>
                  </a:extLst>
                </p:cNvPr>
                <p:cNvSpPr/>
                <p:nvPr/>
              </p:nvSpPr>
              <p:spPr>
                <a:xfrm>
                  <a:off x="9604395" y="381051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Availability Summary</a:t>
                  </a:r>
                </a:p>
              </p:txBody>
            </p:sp>
            <p:sp>
              <p:nvSpPr>
                <p:cNvPr id="173" name="Rectangle: Rounded Corners 172">
                  <a:extLst>
                    <a:ext uri="{FF2B5EF4-FFF2-40B4-BE49-F238E27FC236}">
                      <a16:creationId xmlns:a16="http://schemas.microsoft.com/office/drawing/2014/main" id="{CA995AE1-6183-DDB6-EA2D-1DFDC52102C5}"/>
                    </a:ext>
                  </a:extLst>
                </p:cNvPr>
                <p:cNvSpPr/>
                <p:nvPr/>
              </p:nvSpPr>
              <p:spPr>
                <a:xfrm>
                  <a:off x="9604395" y="4173088"/>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Search &amp; Relevance</a:t>
                  </a:r>
                </a:p>
              </p:txBody>
            </p:sp>
            <p:sp>
              <p:nvSpPr>
                <p:cNvPr id="174" name="Rectangle: Rounded Corners 173">
                  <a:extLst>
                    <a:ext uri="{FF2B5EF4-FFF2-40B4-BE49-F238E27FC236}">
                      <a16:creationId xmlns:a16="http://schemas.microsoft.com/office/drawing/2014/main" id="{60A298BD-2BE7-A5AF-3B5F-73EE1CB33C3C}"/>
                    </a:ext>
                  </a:extLst>
                </p:cNvPr>
                <p:cNvSpPr/>
                <p:nvPr/>
              </p:nvSpPr>
              <p:spPr>
                <a:xfrm>
                  <a:off x="9604395" y="4535657"/>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Asset Technical Summary</a:t>
                  </a:r>
                </a:p>
              </p:txBody>
            </p:sp>
          </p:grpSp>
          <p:grpSp>
            <p:nvGrpSpPr>
              <p:cNvPr id="156" name="Group 155">
                <a:extLst>
                  <a:ext uri="{FF2B5EF4-FFF2-40B4-BE49-F238E27FC236}">
                    <a16:creationId xmlns:a16="http://schemas.microsoft.com/office/drawing/2014/main" id="{FE0FDE2E-25E6-DA66-690D-B14AA543C65C}"/>
                  </a:ext>
                </a:extLst>
              </p:cNvPr>
              <p:cNvGrpSpPr/>
              <p:nvPr/>
            </p:nvGrpSpPr>
            <p:grpSpPr>
              <a:xfrm>
                <a:off x="7784640" y="5165247"/>
                <a:ext cx="1324041" cy="1294390"/>
                <a:chOff x="9528175" y="5165247"/>
                <a:chExt cx="1654176" cy="1294390"/>
              </a:xfrm>
            </p:grpSpPr>
            <p:sp>
              <p:nvSpPr>
                <p:cNvPr id="165" name="Rectangle: Rounded Corners 164">
                  <a:extLst>
                    <a:ext uri="{FF2B5EF4-FFF2-40B4-BE49-F238E27FC236}">
                      <a16:creationId xmlns:a16="http://schemas.microsoft.com/office/drawing/2014/main" id="{E17BC76C-0D99-696C-2F7D-C762AB632963}"/>
                    </a:ext>
                  </a:extLst>
                </p:cNvPr>
                <p:cNvSpPr/>
                <p:nvPr/>
              </p:nvSpPr>
              <p:spPr>
                <a:xfrm>
                  <a:off x="9528175" y="5165247"/>
                  <a:ext cx="1654176" cy="129439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Operational</a:t>
                  </a:r>
                </a:p>
              </p:txBody>
            </p:sp>
            <p:sp>
              <p:nvSpPr>
                <p:cNvPr id="166" name="Rectangle: Rounded Corners 165">
                  <a:extLst>
                    <a:ext uri="{FF2B5EF4-FFF2-40B4-BE49-F238E27FC236}">
                      <a16:creationId xmlns:a16="http://schemas.microsoft.com/office/drawing/2014/main" id="{0D398188-81AC-0922-AFF1-F0559FB6BF81}"/>
                    </a:ext>
                  </a:extLst>
                </p:cNvPr>
                <p:cNvSpPr/>
                <p:nvPr/>
              </p:nvSpPr>
              <p:spPr>
                <a:xfrm>
                  <a:off x="9604395" y="541936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Ingestion &amp; Lineage</a:t>
                  </a:r>
                </a:p>
              </p:txBody>
            </p:sp>
            <p:sp>
              <p:nvSpPr>
                <p:cNvPr id="167" name="Rectangle: Rounded Corners 166">
                  <a:extLst>
                    <a:ext uri="{FF2B5EF4-FFF2-40B4-BE49-F238E27FC236}">
                      <a16:creationId xmlns:a16="http://schemas.microsoft.com/office/drawing/2014/main" id="{DEE39F7E-A4A0-F23A-0A84-3DE5AAEBCF1F}"/>
                    </a:ext>
                  </a:extLst>
                </p:cNvPr>
                <p:cNvSpPr/>
                <p:nvPr/>
              </p:nvSpPr>
              <p:spPr>
                <a:xfrm>
                  <a:off x="9604395" y="5759212"/>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Data Quality</a:t>
                  </a:r>
                </a:p>
              </p:txBody>
            </p:sp>
            <p:sp>
              <p:nvSpPr>
                <p:cNvPr id="168" name="Rectangle: Rounded Corners 167">
                  <a:extLst>
                    <a:ext uri="{FF2B5EF4-FFF2-40B4-BE49-F238E27FC236}">
                      <a16:creationId xmlns:a16="http://schemas.microsoft.com/office/drawing/2014/main" id="{D74C8134-61E4-0B6E-8521-14AEAEB46262}"/>
                    </a:ext>
                  </a:extLst>
                </p:cNvPr>
                <p:cNvSpPr/>
                <p:nvPr/>
              </p:nvSpPr>
              <p:spPr>
                <a:xfrm>
                  <a:off x="9604395" y="6099055"/>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Entity Resolution</a:t>
                  </a:r>
                </a:p>
              </p:txBody>
            </p:sp>
          </p:grpSp>
          <p:sp>
            <p:nvSpPr>
              <p:cNvPr id="157" name="Oval 156">
                <a:extLst>
                  <a:ext uri="{FF2B5EF4-FFF2-40B4-BE49-F238E27FC236}">
                    <a16:creationId xmlns:a16="http://schemas.microsoft.com/office/drawing/2014/main" id="{761031BE-A665-596F-207E-527FE54DC5D8}"/>
                  </a:ext>
                </a:extLst>
              </p:cNvPr>
              <p:cNvSpPr/>
              <p:nvPr/>
            </p:nvSpPr>
            <p:spPr>
              <a:xfrm>
                <a:off x="913149"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58" name="Oval 157">
                <a:extLst>
                  <a:ext uri="{FF2B5EF4-FFF2-40B4-BE49-F238E27FC236}">
                    <a16:creationId xmlns:a16="http://schemas.microsoft.com/office/drawing/2014/main" id="{DAFC870C-E337-3870-2A16-19BBA3607AF2}"/>
                  </a:ext>
                </a:extLst>
              </p:cNvPr>
              <p:cNvSpPr/>
              <p:nvPr/>
            </p:nvSpPr>
            <p:spPr>
              <a:xfrm>
                <a:off x="31063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59" name="Oval 158">
                <a:extLst>
                  <a:ext uri="{FF2B5EF4-FFF2-40B4-BE49-F238E27FC236}">
                    <a16:creationId xmlns:a16="http://schemas.microsoft.com/office/drawing/2014/main" id="{DCED94E7-50EA-92B9-A433-4C2F9E153EC0}"/>
                  </a:ext>
                </a:extLst>
              </p:cNvPr>
              <p:cNvSpPr/>
              <p:nvPr/>
            </p:nvSpPr>
            <p:spPr>
              <a:xfrm>
                <a:off x="5303000"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160" name="Oval 159">
                <a:extLst>
                  <a:ext uri="{FF2B5EF4-FFF2-40B4-BE49-F238E27FC236}">
                    <a16:creationId xmlns:a16="http://schemas.microsoft.com/office/drawing/2014/main" id="{2A8641DD-2843-0B32-C31F-464B35ED740C}"/>
                  </a:ext>
                </a:extLst>
              </p:cNvPr>
              <p:cNvSpPr/>
              <p:nvPr/>
            </p:nvSpPr>
            <p:spPr>
              <a:xfrm>
                <a:off x="913149" y="487072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4</a:t>
                </a:r>
              </a:p>
            </p:txBody>
          </p:sp>
          <p:sp>
            <p:nvSpPr>
              <p:cNvPr id="161" name="Oval 160">
                <a:extLst>
                  <a:ext uri="{FF2B5EF4-FFF2-40B4-BE49-F238E27FC236}">
                    <a16:creationId xmlns:a16="http://schemas.microsoft.com/office/drawing/2014/main" id="{48454EC1-0483-1014-7257-50D33D8815CD}"/>
                  </a:ext>
                </a:extLst>
              </p:cNvPr>
              <p:cNvSpPr/>
              <p:nvPr/>
            </p:nvSpPr>
            <p:spPr>
              <a:xfrm>
                <a:off x="913149" y="5740153"/>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5</a:t>
                </a:r>
              </a:p>
            </p:txBody>
          </p:sp>
          <p:sp>
            <p:nvSpPr>
              <p:cNvPr id="162" name="Oval 161">
                <a:extLst>
                  <a:ext uri="{FF2B5EF4-FFF2-40B4-BE49-F238E27FC236}">
                    <a16:creationId xmlns:a16="http://schemas.microsoft.com/office/drawing/2014/main" id="{50AAAFD1-42D4-6B32-7683-9FF4EF161842}"/>
                  </a:ext>
                </a:extLst>
              </p:cNvPr>
              <p:cNvSpPr/>
              <p:nvPr/>
            </p:nvSpPr>
            <p:spPr>
              <a:xfrm>
                <a:off x="76796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6</a:t>
                </a:r>
              </a:p>
            </p:txBody>
          </p:sp>
          <p:sp>
            <p:nvSpPr>
              <p:cNvPr id="163" name="Oval 162">
                <a:extLst>
                  <a:ext uri="{FF2B5EF4-FFF2-40B4-BE49-F238E27FC236}">
                    <a16:creationId xmlns:a16="http://schemas.microsoft.com/office/drawing/2014/main" id="{FD41D083-7687-4B70-9BED-F6B04FD094FF}"/>
                  </a:ext>
                </a:extLst>
              </p:cNvPr>
              <p:cNvSpPr/>
              <p:nvPr/>
            </p:nvSpPr>
            <p:spPr>
              <a:xfrm>
                <a:off x="7679642" y="2772162"/>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7</a:t>
                </a:r>
              </a:p>
            </p:txBody>
          </p:sp>
          <p:sp>
            <p:nvSpPr>
              <p:cNvPr id="164" name="Oval 163">
                <a:extLst>
                  <a:ext uri="{FF2B5EF4-FFF2-40B4-BE49-F238E27FC236}">
                    <a16:creationId xmlns:a16="http://schemas.microsoft.com/office/drawing/2014/main" id="{444E3C64-DB97-9B9F-FECD-4287DC027DA2}"/>
                  </a:ext>
                </a:extLst>
              </p:cNvPr>
              <p:cNvSpPr/>
              <p:nvPr/>
            </p:nvSpPr>
            <p:spPr>
              <a:xfrm>
                <a:off x="7679642" y="5064451"/>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8</a:t>
                </a:r>
              </a:p>
            </p:txBody>
          </p:sp>
          <p:grpSp>
            <p:nvGrpSpPr>
              <p:cNvPr id="196" name="Group 195">
                <a:extLst>
                  <a:ext uri="{FF2B5EF4-FFF2-40B4-BE49-F238E27FC236}">
                    <a16:creationId xmlns:a16="http://schemas.microsoft.com/office/drawing/2014/main" id="{BACA5535-F33A-C735-122A-406B147B5F81}"/>
                  </a:ext>
                </a:extLst>
              </p:cNvPr>
              <p:cNvGrpSpPr/>
              <p:nvPr/>
            </p:nvGrpSpPr>
            <p:grpSpPr>
              <a:xfrm>
                <a:off x="735186" y="3851600"/>
                <a:ext cx="237742" cy="221637"/>
                <a:chOff x="2609335" y="3905063"/>
                <a:chExt cx="477260" cy="477260"/>
              </a:xfrm>
            </p:grpSpPr>
            <p:sp>
              <p:nvSpPr>
                <p:cNvPr id="197" name="Oval 196">
                  <a:extLst>
                    <a:ext uri="{FF2B5EF4-FFF2-40B4-BE49-F238E27FC236}">
                      <a16:creationId xmlns:a16="http://schemas.microsoft.com/office/drawing/2014/main" id="{8A7A6780-815B-2DF6-DD26-FEE730974031}"/>
                    </a:ext>
                  </a:extLst>
                </p:cNvPr>
                <p:cNvSpPr/>
                <p:nvPr/>
              </p:nvSpPr>
              <p:spPr>
                <a:xfrm>
                  <a:off x="2609335" y="3905063"/>
                  <a:ext cx="477260" cy="47726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8" name="Arrow: Right 197">
                  <a:extLst>
                    <a:ext uri="{FF2B5EF4-FFF2-40B4-BE49-F238E27FC236}">
                      <a16:creationId xmlns:a16="http://schemas.microsoft.com/office/drawing/2014/main" id="{F479A36D-4452-D1D7-04C1-ABB7A1724219}"/>
                    </a:ext>
                  </a:extLst>
                </p:cNvPr>
                <p:cNvSpPr/>
                <p:nvPr/>
              </p:nvSpPr>
              <p:spPr>
                <a:xfrm>
                  <a:off x="2688198" y="4019446"/>
                  <a:ext cx="319534" cy="248494"/>
                </a:xfrm>
                <a:prstGeom prs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199" name="Group 198">
                <a:extLst>
                  <a:ext uri="{FF2B5EF4-FFF2-40B4-BE49-F238E27FC236}">
                    <a16:creationId xmlns:a16="http://schemas.microsoft.com/office/drawing/2014/main" id="{2AFDD1DB-DB9D-7C56-DCBB-1C96F852AA70}"/>
                  </a:ext>
                </a:extLst>
              </p:cNvPr>
              <p:cNvGrpSpPr/>
              <p:nvPr/>
            </p:nvGrpSpPr>
            <p:grpSpPr>
              <a:xfrm>
                <a:off x="7537704" y="3851600"/>
                <a:ext cx="237742" cy="221637"/>
                <a:chOff x="5018954" y="3752147"/>
                <a:chExt cx="381020" cy="381020"/>
              </a:xfrm>
            </p:grpSpPr>
            <p:sp>
              <p:nvSpPr>
                <p:cNvPr id="200" name="Oval 199">
                  <a:extLst>
                    <a:ext uri="{FF2B5EF4-FFF2-40B4-BE49-F238E27FC236}">
                      <a16:creationId xmlns:a16="http://schemas.microsoft.com/office/drawing/2014/main" id="{40CA14AF-7672-235E-3A15-4A311DB18803}"/>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01" name="Arrow: Left-Right 200">
                  <a:extLst>
                    <a:ext uri="{FF2B5EF4-FFF2-40B4-BE49-F238E27FC236}">
                      <a16:creationId xmlns:a16="http://schemas.microsoft.com/office/drawing/2014/main" id="{69CD2923-3DF2-835D-9B7F-216F1BA35FBF}"/>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202" name="Group 201">
                <a:extLst>
                  <a:ext uri="{FF2B5EF4-FFF2-40B4-BE49-F238E27FC236}">
                    <a16:creationId xmlns:a16="http://schemas.microsoft.com/office/drawing/2014/main" id="{BF276494-E6EA-BE07-CE74-76E6195C4C92}"/>
                  </a:ext>
                </a:extLst>
              </p:cNvPr>
              <p:cNvGrpSpPr/>
              <p:nvPr/>
            </p:nvGrpSpPr>
            <p:grpSpPr>
              <a:xfrm>
                <a:off x="9105399" y="3851600"/>
                <a:ext cx="237742" cy="221637"/>
                <a:chOff x="5018954" y="3752147"/>
                <a:chExt cx="381020" cy="381020"/>
              </a:xfrm>
            </p:grpSpPr>
            <p:sp>
              <p:nvSpPr>
                <p:cNvPr id="203" name="Oval 202">
                  <a:extLst>
                    <a:ext uri="{FF2B5EF4-FFF2-40B4-BE49-F238E27FC236}">
                      <a16:creationId xmlns:a16="http://schemas.microsoft.com/office/drawing/2014/main" id="{6068EF82-5017-B5FA-AF51-D9E16D1A1687}"/>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04" name="Arrow: Left-Right 203">
                  <a:extLst>
                    <a:ext uri="{FF2B5EF4-FFF2-40B4-BE49-F238E27FC236}">
                      <a16:creationId xmlns:a16="http://schemas.microsoft.com/office/drawing/2014/main" id="{79A4F90F-B32B-0995-C403-A039AA90FFD7}"/>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grpSp>
      <p:pic>
        <p:nvPicPr>
          <p:cNvPr id="6" name="Graphic 5" descr="Circle with left arrow outline">
            <a:hlinkClick r:id="rId2" action="ppaction://hlinksldjump"/>
            <a:extLst>
              <a:ext uri="{FF2B5EF4-FFF2-40B4-BE49-F238E27FC236}">
                <a16:creationId xmlns:a16="http://schemas.microsoft.com/office/drawing/2014/main" id="{23382767-3B78-8851-1D86-2334EB8CA1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936722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A760-DD94-4570-6ABC-3DC00EE3215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0FEBD45-CA67-687C-18F1-32213FF677ED}"/>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E5EF4285-7CAC-5886-1487-04BBA07F8113}"/>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D0871225-E865-4C7A-D16A-212DF635D05F}"/>
              </a:ext>
            </a:extLst>
          </p:cNvPr>
          <p:cNvSpPr>
            <a:spLocks noGrp="1"/>
          </p:cNvSpPr>
          <p:nvPr>
            <p:ph type="sldNum" sz="quarter" idx="30"/>
          </p:nvPr>
        </p:nvSpPr>
        <p:spPr/>
        <p:txBody>
          <a:bodyPr/>
          <a:lstStyle/>
          <a:p>
            <a:pPr algn="r"/>
            <a:fld id="{5D9A5160-6218-4E5A-B9E6-B93E3DAE377C}" type="slidenum">
              <a:rPr lang="en-US" smtClean="0"/>
              <a:pPr algn="r"/>
              <a:t>32</a:t>
            </a:fld>
            <a:endParaRPr lang="en-US"/>
          </a:p>
        </p:txBody>
      </p:sp>
      <p:sp>
        <p:nvSpPr>
          <p:cNvPr id="5" name="Title 4">
            <a:extLst>
              <a:ext uri="{FF2B5EF4-FFF2-40B4-BE49-F238E27FC236}">
                <a16:creationId xmlns:a16="http://schemas.microsoft.com/office/drawing/2014/main" id="{582BD47B-0353-3636-1A9F-983C5BF40745}"/>
              </a:ext>
            </a:extLst>
          </p:cNvPr>
          <p:cNvSpPr>
            <a:spLocks noGrp="1"/>
          </p:cNvSpPr>
          <p:nvPr>
            <p:ph type="title"/>
          </p:nvPr>
        </p:nvSpPr>
        <p:spPr/>
        <p:txBody>
          <a:bodyPr/>
          <a:lstStyle/>
          <a:p>
            <a:r>
              <a:rPr lang="en-US"/>
              <a:t>A </a:t>
            </a:r>
            <a:r>
              <a:rPr lang="en-US" b="1"/>
              <a:t>federated metadata architecture</a:t>
            </a:r>
            <a:r>
              <a:rPr lang="en-US"/>
              <a:t> with a </a:t>
            </a:r>
            <a:r>
              <a:rPr lang="en-US" b="1"/>
              <a:t>thin, derived discovery layer</a:t>
            </a:r>
            <a:r>
              <a:rPr lang="en-US"/>
              <a:t> and </a:t>
            </a:r>
            <a:r>
              <a:rPr lang="en-US" b="1"/>
              <a:t>purpose-built stores</a:t>
            </a:r>
            <a:r>
              <a:rPr lang="en-US"/>
              <a:t> across sports, news, and general entertainment (2/3)</a:t>
            </a:r>
          </a:p>
        </p:txBody>
      </p:sp>
      <p:sp>
        <p:nvSpPr>
          <p:cNvPr id="92" name="Oval 91">
            <a:extLst>
              <a:ext uri="{FF2B5EF4-FFF2-40B4-BE49-F238E27FC236}">
                <a16:creationId xmlns:a16="http://schemas.microsoft.com/office/drawing/2014/main" id="{89F52FC8-1C89-3F9A-E370-BF91EA82E6DC}"/>
              </a:ext>
            </a:extLst>
          </p:cNvPr>
          <p:cNvSpPr/>
          <p:nvPr/>
        </p:nvSpPr>
        <p:spPr>
          <a:xfrm>
            <a:off x="9637554" y="135233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4</a:t>
            </a:r>
          </a:p>
        </p:txBody>
      </p:sp>
      <p:sp>
        <p:nvSpPr>
          <p:cNvPr id="93" name="Rectangle 92">
            <a:extLst>
              <a:ext uri="{FF2B5EF4-FFF2-40B4-BE49-F238E27FC236}">
                <a16:creationId xmlns:a16="http://schemas.microsoft.com/office/drawing/2014/main" id="{B5D0F841-76A5-ABD4-AA44-88DD34DA4C49}"/>
              </a:ext>
            </a:extLst>
          </p:cNvPr>
          <p:cNvSpPr/>
          <p:nvPr/>
        </p:nvSpPr>
        <p:spPr>
          <a:xfrm>
            <a:off x="9941983" y="1377734"/>
            <a:ext cx="2069023" cy="222059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Rights &amp; Compliance</a:t>
            </a:r>
            <a:r>
              <a:rPr lang="en-US" sz="900">
                <a:solidFill>
                  <a:schemeClr val="tx1"/>
                </a:solidFill>
              </a:rPr>
              <a:t> domain:</a:t>
            </a:r>
          </a:p>
          <a:p>
            <a:pPr marL="228600" indent="-228600">
              <a:buAutoNum type="alphaLcPeriod"/>
            </a:pPr>
            <a:r>
              <a:rPr lang="en-US" sz="900" b="1">
                <a:solidFill>
                  <a:schemeClr val="tx1"/>
                </a:solidFill>
              </a:rPr>
              <a:t>Rights agreement </a:t>
            </a:r>
            <a:r>
              <a:rPr lang="en-US" sz="900">
                <a:solidFill>
                  <a:schemeClr val="tx1"/>
                </a:solidFill>
              </a:rPr>
              <a:t>stores details of contract</a:t>
            </a:r>
          </a:p>
          <a:p>
            <a:pPr marL="228600" indent="-228600">
              <a:buAutoNum type="alphaLcPeriod"/>
            </a:pPr>
            <a:r>
              <a:rPr lang="en-US" sz="900" b="1">
                <a:solidFill>
                  <a:schemeClr val="tx1"/>
                </a:solidFill>
              </a:rPr>
              <a:t>Right Scope</a:t>
            </a:r>
            <a:r>
              <a:rPr lang="en-US" sz="900">
                <a:solidFill>
                  <a:schemeClr val="tx1"/>
                </a:solidFill>
              </a:rPr>
              <a:t> for structure interpretation of contract terms</a:t>
            </a:r>
          </a:p>
          <a:p>
            <a:pPr marL="228600" indent="-228600">
              <a:buAutoNum type="alphaLcPeriod"/>
            </a:pPr>
            <a:r>
              <a:rPr lang="en-US" sz="900" b="1">
                <a:solidFill>
                  <a:schemeClr val="tx1"/>
                </a:solidFill>
              </a:rPr>
              <a:t>Temporal Window</a:t>
            </a:r>
            <a:r>
              <a:rPr lang="en-US" sz="900">
                <a:solidFill>
                  <a:schemeClr val="tx1"/>
                </a:solidFill>
              </a:rPr>
              <a:t> helps determine when the content can be used</a:t>
            </a:r>
          </a:p>
          <a:p>
            <a:pPr marL="228600" indent="-228600">
              <a:buAutoNum type="alphaLcPeriod"/>
            </a:pPr>
            <a:r>
              <a:rPr lang="en-US" sz="900" b="1">
                <a:solidFill>
                  <a:schemeClr val="tx1"/>
                </a:solidFill>
              </a:rPr>
              <a:t>Obligation</a:t>
            </a:r>
            <a:r>
              <a:rPr lang="en-US" sz="900">
                <a:solidFill>
                  <a:schemeClr val="tx1"/>
                </a:solidFill>
              </a:rPr>
              <a:t> to determine what the license must do; critical for news and co-productions</a:t>
            </a:r>
          </a:p>
          <a:p>
            <a:pPr marL="228600" indent="-228600">
              <a:buAutoNum type="alphaLcPeriod"/>
            </a:pPr>
            <a:r>
              <a:rPr lang="en-US" sz="900" b="1">
                <a:solidFill>
                  <a:schemeClr val="tx1"/>
                </a:solidFill>
              </a:rPr>
              <a:t>Compliance &amp; Audit</a:t>
            </a:r>
            <a:r>
              <a:rPr lang="en-US" sz="900">
                <a:solidFill>
                  <a:schemeClr val="tx1"/>
                </a:solidFill>
              </a:rPr>
              <a:t> for regulatory and audit trails</a:t>
            </a:r>
          </a:p>
          <a:p>
            <a:pPr marL="228600" indent="-228600">
              <a:buAutoNum type="alphaLcPeriod"/>
            </a:pPr>
            <a:r>
              <a:rPr lang="en-US" sz="900" b="1">
                <a:solidFill>
                  <a:schemeClr val="tx1"/>
                </a:solidFill>
              </a:rPr>
              <a:t>Vertical Extension</a:t>
            </a:r>
            <a:r>
              <a:rPr lang="en-US" sz="900">
                <a:solidFill>
                  <a:schemeClr val="tx1"/>
                </a:solidFill>
              </a:rPr>
              <a:t> are vertical tagged (sports, news, general entertainment) extensions with the domain</a:t>
            </a:r>
          </a:p>
        </p:txBody>
      </p:sp>
      <p:sp>
        <p:nvSpPr>
          <p:cNvPr id="102" name="Oval 101">
            <a:extLst>
              <a:ext uri="{FF2B5EF4-FFF2-40B4-BE49-F238E27FC236}">
                <a16:creationId xmlns:a16="http://schemas.microsoft.com/office/drawing/2014/main" id="{40B13FEF-A0FE-3585-B678-2AE100C62E85}"/>
              </a:ext>
            </a:extLst>
          </p:cNvPr>
          <p:cNvSpPr/>
          <p:nvPr/>
        </p:nvSpPr>
        <p:spPr>
          <a:xfrm>
            <a:off x="9637554" y="3682983"/>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5</a:t>
            </a:r>
          </a:p>
        </p:txBody>
      </p:sp>
      <p:sp>
        <p:nvSpPr>
          <p:cNvPr id="103" name="Rectangle 102">
            <a:extLst>
              <a:ext uri="{FF2B5EF4-FFF2-40B4-BE49-F238E27FC236}">
                <a16:creationId xmlns:a16="http://schemas.microsoft.com/office/drawing/2014/main" id="{BFEF3651-7BF7-AA9C-5839-74CEE1277161}"/>
              </a:ext>
            </a:extLst>
          </p:cNvPr>
          <p:cNvSpPr/>
          <p:nvPr/>
        </p:nvSpPr>
        <p:spPr>
          <a:xfrm>
            <a:off x="9941983" y="3708384"/>
            <a:ext cx="2069023" cy="2000784"/>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Distribution</a:t>
            </a:r>
            <a:r>
              <a:rPr lang="en-US" sz="900">
                <a:solidFill>
                  <a:schemeClr val="tx1"/>
                </a:solidFill>
              </a:rPr>
              <a:t> domain:</a:t>
            </a:r>
          </a:p>
          <a:p>
            <a:pPr marL="228600" indent="-228600">
              <a:buAutoNum type="alphaLcPeriod"/>
            </a:pPr>
            <a:r>
              <a:rPr lang="en-US" sz="900" b="1">
                <a:solidFill>
                  <a:schemeClr val="tx1"/>
                </a:solidFill>
              </a:rPr>
              <a:t>Channel &amp; Platform Registry </a:t>
            </a:r>
            <a:r>
              <a:rPr lang="en-US" sz="900">
                <a:solidFill>
                  <a:schemeClr val="tx1"/>
                </a:solidFill>
              </a:rPr>
              <a:t>serves as the canonical record for all distribution endpoints</a:t>
            </a:r>
          </a:p>
          <a:p>
            <a:pPr marL="228600" indent="-228600">
              <a:buAutoNum type="alphaLcPeriod"/>
            </a:pPr>
            <a:r>
              <a:rPr lang="en-US" sz="900" b="1">
                <a:solidFill>
                  <a:schemeClr val="tx1"/>
                </a:solidFill>
              </a:rPr>
              <a:t>Scheduling &amp; Slot</a:t>
            </a:r>
            <a:r>
              <a:rPr lang="en-US" sz="900">
                <a:solidFill>
                  <a:schemeClr val="tx1"/>
                </a:solidFill>
              </a:rPr>
              <a:t> for linear programming schedule</a:t>
            </a:r>
          </a:p>
          <a:p>
            <a:pPr marL="228600" indent="-228600">
              <a:buAutoNum type="alphaLcPeriod"/>
            </a:pPr>
            <a:r>
              <a:rPr lang="en-US" sz="900" b="1">
                <a:solidFill>
                  <a:schemeClr val="tx1"/>
                </a:solidFill>
              </a:rPr>
              <a:t>VOD Publication</a:t>
            </a:r>
            <a:r>
              <a:rPr lang="en-US" sz="900">
                <a:solidFill>
                  <a:schemeClr val="tx1"/>
                </a:solidFill>
              </a:rPr>
              <a:t> for video on demand (VOD) platform programming schedule</a:t>
            </a:r>
          </a:p>
          <a:p>
            <a:pPr marL="228600" indent="-228600">
              <a:buAutoNum type="alphaLcPeriod"/>
            </a:pPr>
            <a:r>
              <a:rPr lang="en-US" sz="900" b="1">
                <a:solidFill>
                  <a:schemeClr val="tx1"/>
                </a:solidFill>
              </a:rPr>
              <a:t>Audience &amp; Platform</a:t>
            </a:r>
            <a:r>
              <a:rPr lang="en-US" sz="900">
                <a:solidFill>
                  <a:schemeClr val="tx1"/>
                </a:solidFill>
              </a:rPr>
              <a:t> feeds back into commissioning and rights negotiation</a:t>
            </a:r>
          </a:p>
          <a:p>
            <a:pPr marL="228600" indent="-228600">
              <a:buAutoNum type="alphaLcPeriod"/>
            </a:pPr>
            <a:r>
              <a:rPr lang="en-US" sz="900" b="1">
                <a:solidFill>
                  <a:schemeClr val="tx1"/>
                </a:solidFill>
              </a:rPr>
              <a:t>Technical Delivery &amp; Quality </a:t>
            </a:r>
            <a:r>
              <a:rPr lang="en-US" sz="900">
                <a:solidFill>
                  <a:schemeClr val="tx1"/>
                </a:solidFill>
              </a:rPr>
              <a:t>for operational assurance</a:t>
            </a:r>
          </a:p>
        </p:txBody>
      </p:sp>
      <p:sp>
        <p:nvSpPr>
          <p:cNvPr id="104" name="Rectangle 103">
            <a:extLst>
              <a:ext uri="{FF2B5EF4-FFF2-40B4-BE49-F238E27FC236}">
                <a16:creationId xmlns:a16="http://schemas.microsoft.com/office/drawing/2014/main" id="{C47A57E7-7D8D-04A2-5F6A-4A7ED1A2A385}"/>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RIGHTS &amp; DISTRIBUTION DOMAINS</a:t>
            </a:r>
          </a:p>
        </p:txBody>
      </p:sp>
      <p:pic>
        <p:nvPicPr>
          <p:cNvPr id="6" name="Graphic 5" descr="Circle with left arrow outline">
            <a:hlinkClick r:id="rId2" action="ppaction://hlinksldjump"/>
            <a:extLst>
              <a:ext uri="{FF2B5EF4-FFF2-40B4-BE49-F238E27FC236}">
                <a16:creationId xmlns:a16="http://schemas.microsoft.com/office/drawing/2014/main" id="{25BD5FEA-B89D-9E46-2397-3681AB9E15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grpSp>
        <p:nvGrpSpPr>
          <p:cNvPr id="7" name="Group 6">
            <a:extLst>
              <a:ext uri="{FF2B5EF4-FFF2-40B4-BE49-F238E27FC236}">
                <a16:creationId xmlns:a16="http://schemas.microsoft.com/office/drawing/2014/main" id="{0D5BF387-9557-FE7E-75E7-EC593216C1C3}"/>
              </a:ext>
            </a:extLst>
          </p:cNvPr>
          <p:cNvGrpSpPr/>
          <p:nvPr/>
        </p:nvGrpSpPr>
        <p:grpSpPr>
          <a:xfrm>
            <a:off x="589463" y="1174438"/>
            <a:ext cx="8886441" cy="5372665"/>
            <a:chOff x="589463" y="1174438"/>
            <a:chExt cx="8886441" cy="5372665"/>
          </a:xfrm>
        </p:grpSpPr>
        <p:grpSp>
          <p:nvGrpSpPr>
            <p:cNvPr id="8" name="Group 7">
              <a:extLst>
                <a:ext uri="{FF2B5EF4-FFF2-40B4-BE49-F238E27FC236}">
                  <a16:creationId xmlns:a16="http://schemas.microsoft.com/office/drawing/2014/main" id="{519E7B30-CB79-62E4-D26D-99CFA752BD67}"/>
                </a:ext>
              </a:extLst>
            </p:cNvPr>
            <p:cNvGrpSpPr/>
            <p:nvPr/>
          </p:nvGrpSpPr>
          <p:grpSpPr>
            <a:xfrm>
              <a:off x="6733117" y="1174438"/>
              <a:ext cx="2742787" cy="123110"/>
              <a:chOff x="6733117" y="1174438"/>
              <a:chExt cx="2742787" cy="123110"/>
            </a:xfrm>
          </p:grpSpPr>
          <p:sp>
            <p:nvSpPr>
              <p:cNvPr id="107" name="Rectangle: Rounded Corners 106">
                <a:extLst>
                  <a:ext uri="{FF2B5EF4-FFF2-40B4-BE49-F238E27FC236}">
                    <a16:creationId xmlns:a16="http://schemas.microsoft.com/office/drawing/2014/main" id="{B84A60AF-A512-8ED9-421B-D995889B8EBB}"/>
                  </a:ext>
                </a:extLst>
              </p:cNvPr>
              <p:cNvSpPr/>
              <p:nvPr/>
            </p:nvSpPr>
            <p:spPr>
              <a:xfrm>
                <a:off x="7154449" y="1174438"/>
                <a:ext cx="748312" cy="123110"/>
              </a:xfrm>
              <a:prstGeom prst="roundRect">
                <a:avLst>
                  <a:gd name="adj" fmla="val 26983"/>
                </a:avLst>
              </a:prstGeom>
              <a:solidFill>
                <a:srgbClr val="D2F1FC"/>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Domain</a:t>
                </a:r>
              </a:p>
            </p:txBody>
          </p:sp>
          <p:sp>
            <p:nvSpPr>
              <p:cNvPr id="108" name="Rectangle: Rounded Corners 107">
                <a:extLst>
                  <a:ext uri="{FF2B5EF4-FFF2-40B4-BE49-F238E27FC236}">
                    <a16:creationId xmlns:a16="http://schemas.microsoft.com/office/drawing/2014/main" id="{9A62DBEF-7471-9863-C052-F46EB7F20EE7}"/>
                  </a:ext>
                </a:extLst>
              </p:cNvPr>
              <p:cNvSpPr/>
              <p:nvPr/>
            </p:nvSpPr>
            <p:spPr>
              <a:xfrm>
                <a:off x="7941021" y="1174438"/>
                <a:ext cx="748312" cy="123110"/>
              </a:xfrm>
              <a:prstGeom prst="roundRect">
                <a:avLst>
                  <a:gd name="adj" fmla="val 2698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Metadata store</a:t>
                </a:r>
              </a:p>
            </p:txBody>
          </p:sp>
          <p:sp>
            <p:nvSpPr>
              <p:cNvPr id="109" name="Rectangle: Single Corner Rounded 108">
                <a:extLst>
                  <a:ext uri="{FF2B5EF4-FFF2-40B4-BE49-F238E27FC236}">
                    <a16:creationId xmlns:a16="http://schemas.microsoft.com/office/drawing/2014/main" id="{F3738366-17D3-ABE0-7588-54F5ABA09290}"/>
                  </a:ext>
                </a:extLst>
              </p:cNvPr>
              <p:cNvSpPr/>
              <p:nvPr/>
            </p:nvSpPr>
            <p:spPr>
              <a:xfrm>
                <a:off x="8727592" y="1174438"/>
                <a:ext cx="748312" cy="123110"/>
              </a:xfrm>
              <a:prstGeom prst="round1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tx1">
                        <a:lumMod val="50000"/>
                        <a:lumOff val="50000"/>
                      </a:schemeClr>
                    </a:solidFill>
                  </a:rPr>
                  <a:t>Metadata</a:t>
                </a:r>
              </a:p>
            </p:txBody>
          </p:sp>
          <p:sp>
            <p:nvSpPr>
              <p:cNvPr id="208" name="Rectangle: Rounded Corners 207">
                <a:extLst>
                  <a:ext uri="{FF2B5EF4-FFF2-40B4-BE49-F238E27FC236}">
                    <a16:creationId xmlns:a16="http://schemas.microsoft.com/office/drawing/2014/main" id="{80AE48BE-75DF-3E15-0983-B4167EAB00C8}"/>
                  </a:ext>
                </a:extLst>
              </p:cNvPr>
              <p:cNvSpPr/>
              <p:nvPr/>
            </p:nvSpPr>
            <p:spPr>
              <a:xfrm>
                <a:off x="6733117" y="1174438"/>
                <a:ext cx="352143" cy="123110"/>
              </a:xfrm>
              <a:prstGeom prst="roundRect">
                <a:avLst>
                  <a:gd name="adj" fmla="val 26983"/>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r"/>
                <a:r>
                  <a:rPr lang="en-US" sz="700">
                    <a:solidFill>
                      <a:schemeClr val="tx1"/>
                    </a:solidFill>
                  </a:rPr>
                  <a:t>Legend:</a:t>
                </a:r>
              </a:p>
            </p:txBody>
          </p:sp>
        </p:grpSp>
        <p:grpSp>
          <p:nvGrpSpPr>
            <p:cNvPr id="9" name="Group 8">
              <a:extLst>
                <a:ext uri="{FF2B5EF4-FFF2-40B4-BE49-F238E27FC236}">
                  <a16:creationId xmlns:a16="http://schemas.microsoft.com/office/drawing/2014/main" id="{E12110C3-A0F1-0618-3C68-1659BAF1C8AE}"/>
                </a:ext>
              </a:extLst>
            </p:cNvPr>
            <p:cNvGrpSpPr/>
            <p:nvPr/>
          </p:nvGrpSpPr>
          <p:grpSpPr>
            <a:xfrm>
              <a:off x="589463" y="1377734"/>
              <a:ext cx="8886441" cy="5169369"/>
              <a:chOff x="589463" y="1377734"/>
              <a:chExt cx="8886441" cy="5169369"/>
            </a:xfrm>
          </p:grpSpPr>
          <p:sp>
            <p:nvSpPr>
              <p:cNvPr id="10" name="Rectangle: Rounded Corners 9">
                <a:extLst>
                  <a:ext uri="{FF2B5EF4-FFF2-40B4-BE49-F238E27FC236}">
                    <a16:creationId xmlns:a16="http://schemas.microsoft.com/office/drawing/2014/main" id="{FCB44EE7-3845-25E6-9A83-56F1C6E14018}"/>
                  </a:ext>
                </a:extLst>
              </p:cNvPr>
              <p:cNvSpPr/>
              <p:nvPr/>
            </p:nvSpPr>
            <p:spPr>
              <a:xfrm>
                <a:off x="589463" y="1377735"/>
                <a:ext cx="199495" cy="5169368"/>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Source Layer</a:t>
                </a:r>
              </a:p>
            </p:txBody>
          </p:sp>
          <p:sp>
            <p:nvSpPr>
              <p:cNvPr id="11" name="Rectangle: Rounded Corners 10">
                <a:extLst>
                  <a:ext uri="{FF2B5EF4-FFF2-40B4-BE49-F238E27FC236}">
                    <a16:creationId xmlns:a16="http://schemas.microsoft.com/office/drawing/2014/main" id="{AE931BA2-3AC7-E1D8-3CD0-6505321E574D}"/>
                  </a:ext>
                </a:extLst>
              </p:cNvPr>
              <p:cNvSpPr/>
              <p:nvPr/>
            </p:nvSpPr>
            <p:spPr>
              <a:xfrm>
                <a:off x="9276409" y="1377735"/>
                <a:ext cx="199495" cy="5169368"/>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12" name="Rectangle: Rounded Corners 11">
                <a:extLst>
                  <a:ext uri="{FF2B5EF4-FFF2-40B4-BE49-F238E27FC236}">
                    <a16:creationId xmlns:a16="http://schemas.microsoft.com/office/drawing/2014/main" id="{B7CD69D8-2AAB-300B-76D8-50549E4BAC64}"/>
                  </a:ext>
                </a:extLst>
              </p:cNvPr>
              <p:cNvSpPr/>
              <p:nvPr/>
            </p:nvSpPr>
            <p:spPr>
              <a:xfrm>
                <a:off x="7706332" y="1377735"/>
                <a:ext cx="1465848"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13" name="Rectangle: Rounded Corners 12">
                <a:extLst>
                  <a:ext uri="{FF2B5EF4-FFF2-40B4-BE49-F238E27FC236}">
                    <a16:creationId xmlns:a16="http://schemas.microsoft.com/office/drawing/2014/main" id="{F79A6A91-7BBB-5381-6B16-7D253FFA8E49}"/>
                  </a:ext>
                </a:extLst>
              </p:cNvPr>
              <p:cNvSpPr/>
              <p:nvPr/>
            </p:nvSpPr>
            <p:spPr>
              <a:xfrm>
                <a:off x="902713" y="1377734"/>
                <a:ext cx="6699390"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a:solidFill>
                      <a:schemeClr val="tx1"/>
                    </a:solidFill>
                  </a:rPr>
                  <a:t>Domain Layer</a:t>
                </a:r>
              </a:p>
            </p:txBody>
          </p:sp>
          <p:sp>
            <p:nvSpPr>
              <p:cNvPr id="14" name="Rectangle: Rounded Corners 13">
                <a:extLst>
                  <a:ext uri="{FF2B5EF4-FFF2-40B4-BE49-F238E27FC236}">
                    <a16:creationId xmlns:a16="http://schemas.microsoft.com/office/drawing/2014/main" id="{03250BA3-07BA-379F-8B19-4C0F26E9D329}"/>
                  </a:ext>
                </a:extLst>
              </p:cNvPr>
              <p:cNvSpPr/>
              <p:nvPr/>
            </p:nvSpPr>
            <p:spPr>
              <a:xfrm>
                <a:off x="1017378"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Sports Domain</a:t>
                </a:r>
              </a:p>
            </p:txBody>
          </p:sp>
          <p:sp>
            <p:nvSpPr>
              <p:cNvPr id="15" name="Rectangle: Rounded Corners 14">
                <a:extLst>
                  <a:ext uri="{FF2B5EF4-FFF2-40B4-BE49-F238E27FC236}">
                    <a16:creationId xmlns:a16="http://schemas.microsoft.com/office/drawing/2014/main" id="{6D167917-4EC2-68DA-2312-16C3341A8FE0}"/>
                  </a:ext>
                </a:extLst>
              </p:cNvPr>
              <p:cNvSpPr/>
              <p:nvPr/>
            </p:nvSpPr>
            <p:spPr>
              <a:xfrm>
                <a:off x="3210571"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News Domain</a:t>
                </a:r>
              </a:p>
            </p:txBody>
          </p:sp>
          <p:sp>
            <p:nvSpPr>
              <p:cNvPr id="16" name="Rectangle: Rounded Corners 15">
                <a:extLst>
                  <a:ext uri="{FF2B5EF4-FFF2-40B4-BE49-F238E27FC236}">
                    <a16:creationId xmlns:a16="http://schemas.microsoft.com/office/drawing/2014/main" id="{FE0F3A68-9B17-AAB0-FFEA-77A8CE28667F}"/>
                  </a:ext>
                </a:extLst>
              </p:cNvPr>
              <p:cNvSpPr/>
              <p:nvPr/>
            </p:nvSpPr>
            <p:spPr>
              <a:xfrm>
                <a:off x="5403766"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General Entertainment Domain</a:t>
                </a:r>
              </a:p>
            </p:txBody>
          </p:sp>
          <p:sp>
            <p:nvSpPr>
              <p:cNvPr id="17" name="Rectangle: Rounded Corners 16">
                <a:extLst>
                  <a:ext uri="{FF2B5EF4-FFF2-40B4-BE49-F238E27FC236}">
                    <a16:creationId xmlns:a16="http://schemas.microsoft.com/office/drawing/2014/main" id="{E0EAA96E-4360-2DF0-A5EE-4EDE9D5BC05A}"/>
                  </a:ext>
                </a:extLst>
              </p:cNvPr>
              <p:cNvSpPr/>
              <p:nvPr/>
            </p:nvSpPr>
            <p:spPr>
              <a:xfrm>
                <a:off x="1171672"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Live Sports</a:t>
                </a:r>
              </a:p>
            </p:txBody>
          </p:sp>
          <p:sp>
            <p:nvSpPr>
              <p:cNvPr id="18" name="Rectangle: Single Corner Rounded 17">
                <a:extLst>
                  <a:ext uri="{FF2B5EF4-FFF2-40B4-BE49-F238E27FC236}">
                    <a16:creationId xmlns:a16="http://schemas.microsoft.com/office/drawing/2014/main" id="{1154D7A9-03AD-BCA0-0DCC-75465A0E1613}"/>
                  </a:ext>
                </a:extLst>
              </p:cNvPr>
              <p:cNvSpPr/>
              <p:nvPr/>
            </p:nvSpPr>
            <p:spPr>
              <a:xfrm>
                <a:off x="122110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Live match state</a:t>
                </a:r>
              </a:p>
            </p:txBody>
          </p:sp>
          <p:sp>
            <p:nvSpPr>
              <p:cNvPr id="19" name="Rectangle: Single Corner Rounded 18">
                <a:extLst>
                  <a:ext uri="{FF2B5EF4-FFF2-40B4-BE49-F238E27FC236}">
                    <a16:creationId xmlns:a16="http://schemas.microsoft.com/office/drawing/2014/main" id="{BE6067A3-9240-462B-11C4-14593BE5ECC8}"/>
                  </a:ext>
                </a:extLst>
              </p:cNvPr>
              <p:cNvSpPr/>
              <p:nvPr/>
            </p:nvSpPr>
            <p:spPr>
              <a:xfrm>
                <a:off x="207977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Technical quality signals</a:t>
                </a:r>
              </a:p>
            </p:txBody>
          </p:sp>
          <p:sp>
            <p:nvSpPr>
              <p:cNvPr id="20" name="Rectangle: Single Corner Rounded 19">
                <a:extLst>
                  <a:ext uri="{FF2B5EF4-FFF2-40B4-BE49-F238E27FC236}">
                    <a16:creationId xmlns:a16="http://schemas.microsoft.com/office/drawing/2014/main" id="{380FE728-D1D2-EAA3-6752-C8D820AC24DD}"/>
                  </a:ext>
                </a:extLst>
              </p:cNvPr>
              <p:cNvSpPr/>
              <p:nvPr/>
            </p:nvSpPr>
            <p:spPr>
              <a:xfrm>
                <a:off x="1221109"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Real-time stats</a:t>
                </a:r>
              </a:p>
            </p:txBody>
          </p:sp>
          <p:sp>
            <p:nvSpPr>
              <p:cNvPr id="21" name="Rectangle: Single Corner Rounded 20">
                <a:extLst>
                  <a:ext uri="{FF2B5EF4-FFF2-40B4-BE49-F238E27FC236}">
                    <a16:creationId xmlns:a16="http://schemas.microsoft.com/office/drawing/2014/main" id="{875E6210-9029-B52A-1D51-800C906601E7}"/>
                  </a:ext>
                </a:extLst>
              </p:cNvPr>
              <p:cNvSpPr/>
              <p:nvPr/>
            </p:nvSpPr>
            <p:spPr>
              <a:xfrm>
                <a:off x="1221109"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index</a:t>
                </a:r>
              </a:p>
            </p:txBody>
          </p:sp>
          <p:sp>
            <p:nvSpPr>
              <p:cNvPr id="22" name="Rectangle: Rounded Corners 21">
                <a:extLst>
                  <a:ext uri="{FF2B5EF4-FFF2-40B4-BE49-F238E27FC236}">
                    <a16:creationId xmlns:a16="http://schemas.microsoft.com/office/drawing/2014/main" id="{14153F99-575B-76E5-9F56-B530AA86A794}"/>
                  </a:ext>
                </a:extLst>
              </p:cNvPr>
              <p:cNvSpPr/>
              <p:nvPr/>
            </p:nvSpPr>
            <p:spPr>
              <a:xfrm>
                <a:off x="1171672"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Sports Archive</a:t>
                </a:r>
              </a:p>
            </p:txBody>
          </p:sp>
          <p:sp>
            <p:nvSpPr>
              <p:cNvPr id="23" name="Rectangle: Single Corner Rounded 22">
                <a:extLst>
                  <a:ext uri="{FF2B5EF4-FFF2-40B4-BE49-F238E27FC236}">
                    <a16:creationId xmlns:a16="http://schemas.microsoft.com/office/drawing/2014/main" id="{B39F709F-7491-A114-1E8B-ACDCFDD0FE8C}"/>
                  </a:ext>
                </a:extLst>
              </p:cNvPr>
              <p:cNvSpPr/>
              <p:nvPr/>
            </p:nvSpPr>
            <p:spPr>
              <a:xfrm>
                <a:off x="122110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Match recordings</a:t>
                </a:r>
              </a:p>
            </p:txBody>
          </p:sp>
          <p:sp>
            <p:nvSpPr>
              <p:cNvPr id="24" name="Rectangle: Single Corner Rounded 23">
                <a:extLst>
                  <a:ext uri="{FF2B5EF4-FFF2-40B4-BE49-F238E27FC236}">
                    <a16:creationId xmlns:a16="http://schemas.microsoft.com/office/drawing/2014/main" id="{437E5374-517E-4EE7-B011-71E14A3B82FD}"/>
                  </a:ext>
                </a:extLst>
              </p:cNvPr>
              <p:cNvSpPr/>
              <p:nvPr/>
            </p:nvSpPr>
            <p:spPr>
              <a:xfrm>
                <a:off x="207977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25" name="Rectangle: Single Corner Rounded 24">
                <a:extLst>
                  <a:ext uri="{FF2B5EF4-FFF2-40B4-BE49-F238E27FC236}">
                    <a16:creationId xmlns:a16="http://schemas.microsoft.com/office/drawing/2014/main" id="{8127F1F0-7E96-BF34-70E4-C26245BCA1C7}"/>
                  </a:ext>
                </a:extLst>
              </p:cNvPr>
              <p:cNvSpPr/>
              <p:nvPr/>
            </p:nvSpPr>
            <p:spPr>
              <a:xfrm>
                <a:off x="122110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packages</a:t>
                </a:r>
              </a:p>
            </p:txBody>
          </p:sp>
          <p:sp>
            <p:nvSpPr>
              <p:cNvPr id="26" name="Rectangle: Single Corner Rounded 25">
                <a:extLst>
                  <a:ext uri="{FF2B5EF4-FFF2-40B4-BE49-F238E27FC236}">
                    <a16:creationId xmlns:a16="http://schemas.microsoft.com/office/drawing/2014/main" id="{E47B6C2D-2C0A-B01C-2859-CD27D2F75A55}"/>
                  </a:ext>
                </a:extLst>
              </p:cNvPr>
              <p:cNvSpPr/>
              <p:nvPr/>
            </p:nvSpPr>
            <p:spPr>
              <a:xfrm>
                <a:off x="207977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Archival rights windows</a:t>
                </a:r>
              </a:p>
            </p:txBody>
          </p:sp>
          <p:sp>
            <p:nvSpPr>
              <p:cNvPr id="27" name="Rectangle: Single Corner Rounded 26">
                <a:extLst>
                  <a:ext uri="{FF2B5EF4-FFF2-40B4-BE49-F238E27FC236}">
                    <a16:creationId xmlns:a16="http://schemas.microsoft.com/office/drawing/2014/main" id="{95C00048-7D79-A62E-D1CF-9C7C8D63AF35}"/>
                  </a:ext>
                </a:extLst>
              </p:cNvPr>
              <p:cNvSpPr/>
              <p:nvPr/>
            </p:nvSpPr>
            <p:spPr>
              <a:xfrm>
                <a:off x="1221109"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Athlete/team entity graph</a:t>
                </a:r>
              </a:p>
            </p:txBody>
          </p:sp>
          <p:sp>
            <p:nvSpPr>
              <p:cNvPr id="28" name="Rectangle: Rounded Corners 27">
                <a:extLst>
                  <a:ext uri="{FF2B5EF4-FFF2-40B4-BE49-F238E27FC236}">
                    <a16:creationId xmlns:a16="http://schemas.microsoft.com/office/drawing/2014/main" id="{57A0928E-842A-E99E-BA4A-D55B78A0040C}"/>
                  </a:ext>
                </a:extLst>
              </p:cNvPr>
              <p:cNvSpPr/>
              <p:nvPr/>
            </p:nvSpPr>
            <p:spPr>
              <a:xfrm>
                <a:off x="3364865"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Publishing &amp; Versioning</a:t>
                </a:r>
              </a:p>
            </p:txBody>
          </p:sp>
          <p:sp>
            <p:nvSpPr>
              <p:cNvPr id="29" name="Rectangle: Single Corner Rounded 28">
                <a:extLst>
                  <a:ext uri="{FF2B5EF4-FFF2-40B4-BE49-F238E27FC236}">
                    <a16:creationId xmlns:a16="http://schemas.microsoft.com/office/drawing/2014/main" id="{95F0CBC2-039D-3178-08F9-FA78D8BEA055}"/>
                  </a:ext>
                </a:extLst>
              </p:cNvPr>
              <p:cNvSpPr/>
              <p:nvPr/>
            </p:nvSpPr>
            <p:spPr>
              <a:xfrm>
                <a:off x="341430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Story ID</a:t>
                </a:r>
              </a:p>
            </p:txBody>
          </p:sp>
          <p:sp>
            <p:nvSpPr>
              <p:cNvPr id="30" name="Rectangle: Single Corner Rounded 29">
                <a:extLst>
                  <a:ext uri="{FF2B5EF4-FFF2-40B4-BE49-F238E27FC236}">
                    <a16:creationId xmlns:a16="http://schemas.microsoft.com/office/drawing/2014/main" id="{CAEB19DF-8F01-87A8-CE75-C1F7D4650B2D}"/>
                  </a:ext>
                </a:extLst>
              </p:cNvPr>
              <p:cNvSpPr/>
              <p:nvPr/>
            </p:nvSpPr>
            <p:spPr>
              <a:xfrm>
                <a:off x="427297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Embargo lift time</a:t>
                </a:r>
              </a:p>
            </p:txBody>
          </p:sp>
          <p:sp>
            <p:nvSpPr>
              <p:cNvPr id="31" name="Rectangle: Single Corner Rounded 30">
                <a:extLst>
                  <a:ext uri="{FF2B5EF4-FFF2-40B4-BE49-F238E27FC236}">
                    <a16:creationId xmlns:a16="http://schemas.microsoft.com/office/drawing/2014/main" id="{9735BF8A-DC46-4358-7BB8-545E46268885}"/>
                  </a:ext>
                </a:extLst>
              </p:cNvPr>
              <p:cNvSpPr/>
              <p:nvPr/>
            </p:nvSpPr>
            <p:spPr>
              <a:xfrm>
                <a:off x="341430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Version chain</a:t>
                </a:r>
              </a:p>
            </p:txBody>
          </p:sp>
          <p:sp>
            <p:nvSpPr>
              <p:cNvPr id="32" name="Rectangle: Single Corner Rounded 31">
                <a:extLst>
                  <a:ext uri="{FF2B5EF4-FFF2-40B4-BE49-F238E27FC236}">
                    <a16:creationId xmlns:a16="http://schemas.microsoft.com/office/drawing/2014/main" id="{78D673CC-1287-6C09-E9DD-910D87B52110}"/>
                  </a:ext>
                </a:extLst>
              </p:cNvPr>
              <p:cNvSpPr/>
              <p:nvPr/>
            </p:nvSpPr>
            <p:spPr>
              <a:xfrm>
                <a:off x="427297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Wire source ID</a:t>
                </a:r>
              </a:p>
            </p:txBody>
          </p:sp>
          <p:sp>
            <p:nvSpPr>
              <p:cNvPr id="33" name="Rectangle: Single Corner Rounded 32">
                <a:extLst>
                  <a:ext uri="{FF2B5EF4-FFF2-40B4-BE49-F238E27FC236}">
                    <a16:creationId xmlns:a16="http://schemas.microsoft.com/office/drawing/2014/main" id="{CE45B2DF-A430-2ACC-5BFF-6C7545DBC0BC}"/>
                  </a:ext>
                </a:extLst>
              </p:cNvPr>
              <p:cNvSpPr/>
              <p:nvPr/>
            </p:nvSpPr>
            <p:spPr>
              <a:xfrm>
                <a:off x="341430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Publish Timestamp</a:t>
                </a:r>
              </a:p>
            </p:txBody>
          </p:sp>
          <p:sp>
            <p:nvSpPr>
              <p:cNvPr id="34" name="Rectangle: Single Corner Rounded 33">
                <a:extLst>
                  <a:ext uri="{FF2B5EF4-FFF2-40B4-BE49-F238E27FC236}">
                    <a16:creationId xmlns:a16="http://schemas.microsoft.com/office/drawing/2014/main" id="{3D460065-F8BA-9696-B4BC-296E17D99F13}"/>
                  </a:ext>
                </a:extLst>
              </p:cNvPr>
              <p:cNvSpPr/>
              <p:nvPr/>
            </p:nvSpPr>
            <p:spPr>
              <a:xfrm>
                <a:off x="427297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Editorial desk assignment</a:t>
                </a:r>
              </a:p>
            </p:txBody>
          </p:sp>
          <p:sp>
            <p:nvSpPr>
              <p:cNvPr id="35" name="Rectangle: Rounded Corners 34">
                <a:extLst>
                  <a:ext uri="{FF2B5EF4-FFF2-40B4-BE49-F238E27FC236}">
                    <a16:creationId xmlns:a16="http://schemas.microsoft.com/office/drawing/2014/main" id="{B607B91E-16C5-AF15-6B9B-994CFCD41532}"/>
                  </a:ext>
                </a:extLst>
              </p:cNvPr>
              <p:cNvSpPr/>
              <p:nvPr/>
            </p:nvSpPr>
            <p:spPr>
              <a:xfrm>
                <a:off x="3364865"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News Entity &amp; Knowledge Graph</a:t>
                </a:r>
              </a:p>
            </p:txBody>
          </p:sp>
          <p:sp>
            <p:nvSpPr>
              <p:cNvPr id="36" name="Rectangle: Single Corner Rounded 35">
                <a:extLst>
                  <a:ext uri="{FF2B5EF4-FFF2-40B4-BE49-F238E27FC236}">
                    <a16:creationId xmlns:a16="http://schemas.microsoft.com/office/drawing/2014/main" id="{6CD680B8-4DFA-C804-4035-9F12C2889596}"/>
                  </a:ext>
                </a:extLst>
              </p:cNvPr>
              <p:cNvSpPr/>
              <p:nvPr/>
            </p:nvSpPr>
            <p:spPr>
              <a:xfrm>
                <a:off x="341430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Named entity recognition output</a:t>
                </a:r>
              </a:p>
            </p:txBody>
          </p:sp>
          <p:sp>
            <p:nvSpPr>
              <p:cNvPr id="37" name="Rectangle: Single Corner Rounded 36">
                <a:extLst>
                  <a:ext uri="{FF2B5EF4-FFF2-40B4-BE49-F238E27FC236}">
                    <a16:creationId xmlns:a16="http://schemas.microsoft.com/office/drawing/2014/main" id="{AC6B0F26-F4ED-A7AF-045F-34269E56CE76}"/>
                  </a:ext>
                </a:extLst>
              </p:cNvPr>
              <p:cNvSpPr/>
              <p:nvPr/>
            </p:nvSpPr>
            <p:spPr>
              <a:xfrm>
                <a:off x="427297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Sentiment signals</a:t>
                </a:r>
              </a:p>
            </p:txBody>
          </p:sp>
          <p:sp>
            <p:nvSpPr>
              <p:cNvPr id="38" name="Rectangle: Single Corner Rounded 37">
                <a:extLst>
                  <a:ext uri="{FF2B5EF4-FFF2-40B4-BE49-F238E27FC236}">
                    <a16:creationId xmlns:a16="http://schemas.microsoft.com/office/drawing/2014/main" id="{BB315585-1213-CAD3-C0B7-998FFA6769BC}"/>
                  </a:ext>
                </a:extLst>
              </p:cNvPr>
              <p:cNvSpPr/>
              <p:nvPr/>
            </p:nvSpPr>
            <p:spPr>
              <a:xfrm>
                <a:off x="341430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Geotags</a:t>
                </a:r>
              </a:p>
            </p:txBody>
          </p:sp>
          <p:sp>
            <p:nvSpPr>
              <p:cNvPr id="39" name="Rectangle: Single Corner Rounded 38">
                <a:extLst>
                  <a:ext uri="{FF2B5EF4-FFF2-40B4-BE49-F238E27FC236}">
                    <a16:creationId xmlns:a16="http://schemas.microsoft.com/office/drawing/2014/main" id="{214BDC5F-DD5B-249E-0120-2B8BE1155EF0}"/>
                  </a:ext>
                </a:extLst>
              </p:cNvPr>
              <p:cNvSpPr/>
              <p:nvPr/>
            </p:nvSpPr>
            <p:spPr>
              <a:xfrm>
                <a:off x="427297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Related story clusters</a:t>
                </a:r>
              </a:p>
            </p:txBody>
          </p:sp>
          <p:sp>
            <p:nvSpPr>
              <p:cNvPr id="40" name="Rectangle: Single Corner Rounded 39">
                <a:extLst>
                  <a:ext uri="{FF2B5EF4-FFF2-40B4-BE49-F238E27FC236}">
                    <a16:creationId xmlns:a16="http://schemas.microsoft.com/office/drawing/2014/main" id="{F481779D-C567-18C7-F865-300F16B7B570}"/>
                  </a:ext>
                </a:extLst>
              </p:cNvPr>
              <p:cNvSpPr/>
              <p:nvPr/>
            </p:nvSpPr>
            <p:spPr>
              <a:xfrm>
                <a:off x="3414302"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Topic classification</a:t>
                </a:r>
              </a:p>
            </p:txBody>
          </p:sp>
          <p:sp>
            <p:nvSpPr>
              <p:cNvPr id="41" name="Rectangle: Rounded Corners 40">
                <a:extLst>
                  <a:ext uri="{FF2B5EF4-FFF2-40B4-BE49-F238E27FC236}">
                    <a16:creationId xmlns:a16="http://schemas.microsoft.com/office/drawing/2014/main" id="{D7EA55E1-AD6F-A698-AA56-B96BA566E38E}"/>
                  </a:ext>
                </a:extLst>
              </p:cNvPr>
              <p:cNvSpPr/>
              <p:nvPr/>
            </p:nvSpPr>
            <p:spPr>
              <a:xfrm>
                <a:off x="5558059"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Content Catalog</a:t>
                </a:r>
              </a:p>
            </p:txBody>
          </p:sp>
          <p:sp>
            <p:nvSpPr>
              <p:cNvPr id="42" name="Rectangle: Single Corner Rounded 41">
                <a:extLst>
                  <a:ext uri="{FF2B5EF4-FFF2-40B4-BE49-F238E27FC236}">
                    <a16:creationId xmlns:a16="http://schemas.microsoft.com/office/drawing/2014/main" id="{CBCEE5DF-33E0-8F4A-C352-948BB4F4D551}"/>
                  </a:ext>
                </a:extLst>
              </p:cNvPr>
              <p:cNvSpPr/>
              <p:nvPr/>
            </p:nvSpPr>
            <p:spPr>
              <a:xfrm>
                <a:off x="5607497"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EIDR</a:t>
                </a:r>
              </a:p>
            </p:txBody>
          </p:sp>
          <p:sp>
            <p:nvSpPr>
              <p:cNvPr id="43" name="Rectangle: Single Corner Rounded 42">
                <a:extLst>
                  <a:ext uri="{FF2B5EF4-FFF2-40B4-BE49-F238E27FC236}">
                    <a16:creationId xmlns:a16="http://schemas.microsoft.com/office/drawing/2014/main" id="{DA743C8F-FFCE-453B-4EF5-73CA612CD992}"/>
                  </a:ext>
                </a:extLst>
              </p:cNvPr>
              <p:cNvSpPr/>
              <p:nvPr/>
            </p:nvSpPr>
            <p:spPr>
              <a:xfrm>
                <a:off x="6466166"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MPAA/BBFC rating</a:t>
                </a:r>
              </a:p>
            </p:txBody>
          </p:sp>
          <p:sp>
            <p:nvSpPr>
              <p:cNvPr id="44" name="Rectangle: Single Corner Rounded 43">
                <a:extLst>
                  <a:ext uri="{FF2B5EF4-FFF2-40B4-BE49-F238E27FC236}">
                    <a16:creationId xmlns:a16="http://schemas.microsoft.com/office/drawing/2014/main" id="{00011B6E-C360-845A-30A1-85B7A2358909}"/>
                  </a:ext>
                </a:extLst>
              </p:cNvPr>
              <p:cNvSpPr/>
              <p:nvPr/>
            </p:nvSpPr>
            <p:spPr>
              <a:xfrm>
                <a:off x="5607497"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Series-season-episode hierarchy</a:t>
                </a:r>
              </a:p>
            </p:txBody>
          </p:sp>
          <p:sp>
            <p:nvSpPr>
              <p:cNvPr id="45" name="Rectangle: Single Corner Rounded 44">
                <a:extLst>
                  <a:ext uri="{FF2B5EF4-FFF2-40B4-BE49-F238E27FC236}">
                    <a16:creationId xmlns:a16="http://schemas.microsoft.com/office/drawing/2014/main" id="{5D5B8EBA-6252-08C3-7C71-F6982182976C}"/>
                  </a:ext>
                </a:extLst>
              </p:cNvPr>
              <p:cNvSpPr/>
              <p:nvPr/>
            </p:nvSpPr>
            <p:spPr>
              <a:xfrm>
                <a:off x="6466166"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Content advisory codes</a:t>
                </a:r>
              </a:p>
            </p:txBody>
          </p:sp>
          <p:sp>
            <p:nvSpPr>
              <p:cNvPr id="46" name="Rectangle: Single Corner Rounded 45">
                <a:extLst>
                  <a:ext uri="{FF2B5EF4-FFF2-40B4-BE49-F238E27FC236}">
                    <a16:creationId xmlns:a16="http://schemas.microsoft.com/office/drawing/2014/main" id="{E7002E9F-0AB5-4048-ADAD-71982999CAE1}"/>
                  </a:ext>
                </a:extLst>
              </p:cNvPr>
              <p:cNvSpPr/>
              <p:nvPr/>
            </p:nvSpPr>
            <p:spPr>
              <a:xfrm>
                <a:off x="5607497"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Production credits</a:t>
                </a:r>
              </a:p>
            </p:txBody>
          </p:sp>
          <p:sp>
            <p:nvSpPr>
              <p:cNvPr id="47" name="Rectangle: Single Corner Rounded 46">
                <a:extLst>
                  <a:ext uri="{FF2B5EF4-FFF2-40B4-BE49-F238E27FC236}">
                    <a16:creationId xmlns:a16="http://schemas.microsoft.com/office/drawing/2014/main" id="{091E5A4A-95F0-885A-30DF-19E8975570BE}"/>
                  </a:ext>
                </a:extLst>
              </p:cNvPr>
              <p:cNvSpPr/>
              <p:nvPr/>
            </p:nvSpPr>
            <p:spPr>
              <a:xfrm>
                <a:off x="6466166"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Dubbing/subtitle inventory</a:t>
                </a:r>
              </a:p>
            </p:txBody>
          </p:sp>
          <p:sp>
            <p:nvSpPr>
              <p:cNvPr id="48" name="Rectangle: Rounded Corners 47">
                <a:extLst>
                  <a:ext uri="{FF2B5EF4-FFF2-40B4-BE49-F238E27FC236}">
                    <a16:creationId xmlns:a16="http://schemas.microsoft.com/office/drawing/2014/main" id="{F816FE2B-6E76-EDA7-73BB-10ED6317E563}"/>
                  </a:ext>
                </a:extLst>
              </p:cNvPr>
              <p:cNvSpPr/>
              <p:nvPr/>
            </p:nvSpPr>
            <p:spPr>
              <a:xfrm>
                <a:off x="5558059"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Discovery</a:t>
                </a:r>
              </a:p>
            </p:txBody>
          </p:sp>
          <p:sp>
            <p:nvSpPr>
              <p:cNvPr id="49" name="Rectangle: Single Corner Rounded 48">
                <a:extLst>
                  <a:ext uri="{FF2B5EF4-FFF2-40B4-BE49-F238E27FC236}">
                    <a16:creationId xmlns:a16="http://schemas.microsoft.com/office/drawing/2014/main" id="{0A49171F-4DBE-FAC9-BA9E-5D326A1C1A7A}"/>
                  </a:ext>
                </a:extLst>
              </p:cNvPr>
              <p:cNvSpPr/>
              <p:nvPr/>
            </p:nvSpPr>
            <p:spPr>
              <a:xfrm>
                <a:off x="5607497"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Genre taxonomy</a:t>
                </a:r>
              </a:p>
            </p:txBody>
          </p:sp>
          <p:sp>
            <p:nvSpPr>
              <p:cNvPr id="50" name="Rectangle: Single Corner Rounded 49">
                <a:extLst>
                  <a:ext uri="{FF2B5EF4-FFF2-40B4-BE49-F238E27FC236}">
                    <a16:creationId xmlns:a16="http://schemas.microsoft.com/office/drawing/2014/main" id="{EB7BEF65-140F-0A2E-53DC-F43035576991}"/>
                  </a:ext>
                </a:extLst>
              </p:cNvPr>
              <p:cNvSpPr/>
              <p:nvPr/>
            </p:nvSpPr>
            <p:spPr>
              <a:xfrm>
                <a:off x="6466166"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51" name="Rectangle: Single Corner Rounded 50">
                <a:extLst>
                  <a:ext uri="{FF2B5EF4-FFF2-40B4-BE49-F238E27FC236}">
                    <a16:creationId xmlns:a16="http://schemas.microsoft.com/office/drawing/2014/main" id="{4C41AB50-F58D-0708-0688-A6B8594D9D8F}"/>
                  </a:ext>
                </a:extLst>
              </p:cNvPr>
              <p:cNvSpPr/>
              <p:nvPr/>
            </p:nvSpPr>
            <p:spPr>
              <a:xfrm>
                <a:off x="5607497"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Audience demographic affinity</a:t>
                </a:r>
              </a:p>
            </p:txBody>
          </p:sp>
          <p:sp>
            <p:nvSpPr>
              <p:cNvPr id="52" name="Rectangle: Single Corner Rounded 51">
                <a:extLst>
                  <a:ext uri="{FF2B5EF4-FFF2-40B4-BE49-F238E27FC236}">
                    <a16:creationId xmlns:a16="http://schemas.microsoft.com/office/drawing/2014/main" id="{3EA73E88-15E1-ED50-D7B4-F0238D6286FB}"/>
                  </a:ext>
                </a:extLst>
              </p:cNvPr>
              <p:cNvSpPr/>
              <p:nvPr/>
            </p:nvSpPr>
            <p:spPr>
              <a:xfrm>
                <a:off x="6466166"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Franchise relationships</a:t>
                </a:r>
              </a:p>
            </p:txBody>
          </p:sp>
          <p:sp>
            <p:nvSpPr>
              <p:cNvPr id="53" name="Rectangle: Single Corner Rounded 52">
                <a:extLst>
                  <a:ext uri="{FF2B5EF4-FFF2-40B4-BE49-F238E27FC236}">
                    <a16:creationId xmlns:a16="http://schemas.microsoft.com/office/drawing/2014/main" id="{624D1FAB-0BF0-4880-4E50-2A49ADEDFEC1}"/>
                  </a:ext>
                </a:extLst>
              </p:cNvPr>
              <p:cNvSpPr/>
              <p:nvPr/>
            </p:nvSpPr>
            <p:spPr>
              <a:xfrm>
                <a:off x="5607497"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Viewing completion signals</a:t>
                </a:r>
              </a:p>
            </p:txBody>
          </p:sp>
          <p:grpSp>
            <p:nvGrpSpPr>
              <p:cNvPr id="54" name="Group 53">
                <a:extLst>
                  <a:ext uri="{FF2B5EF4-FFF2-40B4-BE49-F238E27FC236}">
                    <a16:creationId xmlns:a16="http://schemas.microsoft.com/office/drawing/2014/main" id="{DA001A4C-E7E7-B3B8-E546-6C103D01AA72}"/>
                  </a:ext>
                </a:extLst>
              </p:cNvPr>
              <p:cNvGrpSpPr/>
              <p:nvPr/>
            </p:nvGrpSpPr>
            <p:grpSpPr>
              <a:xfrm>
                <a:off x="1017378" y="4975722"/>
                <a:ext cx="6470059" cy="617098"/>
                <a:chOff x="1298448" y="5089220"/>
                <a:chExt cx="8083296" cy="617098"/>
              </a:xfrm>
            </p:grpSpPr>
            <p:sp>
              <p:nvSpPr>
                <p:cNvPr id="97" name="Rectangle: Rounded Corners 96">
                  <a:extLst>
                    <a:ext uri="{FF2B5EF4-FFF2-40B4-BE49-F238E27FC236}">
                      <a16:creationId xmlns:a16="http://schemas.microsoft.com/office/drawing/2014/main" id="{CB0809B0-3E0F-BB0D-29DC-D3F9F4094266}"/>
                    </a:ext>
                  </a:extLst>
                </p:cNvPr>
                <p:cNvSpPr/>
                <p:nvPr/>
              </p:nvSpPr>
              <p:spPr>
                <a:xfrm>
                  <a:off x="1298448" y="5089220"/>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Rights &amp; Compliance</a:t>
                  </a:r>
                </a:p>
              </p:txBody>
            </p:sp>
            <p:sp>
              <p:nvSpPr>
                <p:cNvPr id="98" name="Rectangle: Rounded Corners 97">
                  <a:extLst>
                    <a:ext uri="{FF2B5EF4-FFF2-40B4-BE49-F238E27FC236}">
                      <a16:creationId xmlns:a16="http://schemas.microsoft.com/office/drawing/2014/main" id="{A5EE5A51-C585-6026-3C2A-D63082C86861}"/>
                    </a:ext>
                  </a:extLst>
                </p:cNvPr>
                <p:cNvSpPr/>
                <p:nvPr/>
              </p:nvSpPr>
              <p:spPr>
                <a:xfrm>
                  <a:off x="1491213"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Agreement</a:t>
                  </a:r>
                </a:p>
              </p:txBody>
            </p:sp>
            <p:sp>
              <p:nvSpPr>
                <p:cNvPr id="99" name="Rectangle: Rounded Corners 98">
                  <a:extLst>
                    <a:ext uri="{FF2B5EF4-FFF2-40B4-BE49-F238E27FC236}">
                      <a16:creationId xmlns:a16="http://schemas.microsoft.com/office/drawing/2014/main" id="{FA879C94-EB08-3CFB-6587-8C7DFDDC6F89}"/>
                    </a:ext>
                  </a:extLst>
                </p:cNvPr>
                <p:cNvSpPr/>
                <p:nvPr/>
              </p:nvSpPr>
              <p:spPr>
                <a:xfrm>
                  <a:off x="2788307"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Scope</a:t>
                  </a:r>
                </a:p>
              </p:txBody>
            </p:sp>
            <p:sp>
              <p:nvSpPr>
                <p:cNvPr id="100" name="Rectangle: Rounded Corners 99">
                  <a:extLst>
                    <a:ext uri="{FF2B5EF4-FFF2-40B4-BE49-F238E27FC236}">
                      <a16:creationId xmlns:a16="http://schemas.microsoft.com/office/drawing/2014/main" id="{F6AF86D8-E583-7325-D209-A016F846AB06}"/>
                    </a:ext>
                  </a:extLst>
                </p:cNvPr>
                <p:cNvSpPr/>
                <p:nvPr/>
              </p:nvSpPr>
              <p:spPr>
                <a:xfrm>
                  <a:off x="4085401"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Temporal Window</a:t>
                  </a:r>
                </a:p>
              </p:txBody>
            </p:sp>
            <p:sp>
              <p:nvSpPr>
                <p:cNvPr id="101" name="Rectangle: Rounded Corners 100">
                  <a:extLst>
                    <a:ext uri="{FF2B5EF4-FFF2-40B4-BE49-F238E27FC236}">
                      <a16:creationId xmlns:a16="http://schemas.microsoft.com/office/drawing/2014/main" id="{023E1C29-C8F5-E45C-D48F-86A0E7297E76}"/>
                    </a:ext>
                  </a:extLst>
                </p:cNvPr>
                <p:cNvSpPr/>
                <p:nvPr/>
              </p:nvSpPr>
              <p:spPr>
                <a:xfrm>
                  <a:off x="5382496"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Obligations</a:t>
                  </a:r>
                </a:p>
              </p:txBody>
            </p:sp>
            <p:sp>
              <p:nvSpPr>
                <p:cNvPr id="105" name="Rectangle: Rounded Corners 104">
                  <a:extLst>
                    <a:ext uri="{FF2B5EF4-FFF2-40B4-BE49-F238E27FC236}">
                      <a16:creationId xmlns:a16="http://schemas.microsoft.com/office/drawing/2014/main" id="{489FC71A-ED92-BEE3-38FB-76DE01747BE4}"/>
                    </a:ext>
                  </a:extLst>
                </p:cNvPr>
                <p:cNvSpPr/>
                <p:nvPr/>
              </p:nvSpPr>
              <p:spPr>
                <a:xfrm>
                  <a:off x="6679590"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Compliance &amp; Audit</a:t>
                  </a:r>
                </a:p>
              </p:txBody>
            </p:sp>
            <p:sp>
              <p:nvSpPr>
                <p:cNvPr id="106" name="Rectangle: Rounded Corners 105">
                  <a:extLst>
                    <a:ext uri="{FF2B5EF4-FFF2-40B4-BE49-F238E27FC236}">
                      <a16:creationId xmlns:a16="http://schemas.microsoft.com/office/drawing/2014/main" id="{2CF1211D-EFCB-E6E7-90A8-1D1F5D359458}"/>
                    </a:ext>
                  </a:extLst>
                </p:cNvPr>
                <p:cNvSpPr/>
                <p:nvPr/>
              </p:nvSpPr>
              <p:spPr>
                <a:xfrm>
                  <a:off x="7976684"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Vertical Extension</a:t>
                  </a:r>
                </a:p>
              </p:txBody>
            </p:sp>
          </p:grpSp>
          <p:grpSp>
            <p:nvGrpSpPr>
              <p:cNvPr id="55" name="Group 54">
                <a:extLst>
                  <a:ext uri="{FF2B5EF4-FFF2-40B4-BE49-F238E27FC236}">
                    <a16:creationId xmlns:a16="http://schemas.microsoft.com/office/drawing/2014/main" id="{57091A07-F705-B346-0896-F148A07A4EC3}"/>
                  </a:ext>
                </a:extLst>
              </p:cNvPr>
              <p:cNvGrpSpPr/>
              <p:nvPr/>
            </p:nvGrpSpPr>
            <p:grpSpPr>
              <a:xfrm>
                <a:off x="1017378" y="5842539"/>
                <a:ext cx="6470059" cy="617098"/>
                <a:chOff x="1298448" y="5842539"/>
                <a:chExt cx="8083296" cy="617098"/>
              </a:xfrm>
            </p:grpSpPr>
            <p:sp>
              <p:nvSpPr>
                <p:cNvPr id="89" name="Rectangle: Rounded Corners 88">
                  <a:extLst>
                    <a:ext uri="{FF2B5EF4-FFF2-40B4-BE49-F238E27FC236}">
                      <a16:creationId xmlns:a16="http://schemas.microsoft.com/office/drawing/2014/main" id="{83803774-7F7C-EFA2-2D56-6597B3E066D2}"/>
                    </a:ext>
                  </a:extLst>
                </p:cNvPr>
                <p:cNvSpPr/>
                <p:nvPr/>
              </p:nvSpPr>
              <p:spPr>
                <a:xfrm>
                  <a:off x="1298448" y="5842539"/>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Distribution</a:t>
                  </a:r>
                </a:p>
              </p:txBody>
            </p:sp>
            <p:sp>
              <p:nvSpPr>
                <p:cNvPr id="90" name="Rectangle: Rounded Corners 89">
                  <a:extLst>
                    <a:ext uri="{FF2B5EF4-FFF2-40B4-BE49-F238E27FC236}">
                      <a16:creationId xmlns:a16="http://schemas.microsoft.com/office/drawing/2014/main" id="{6EC0D593-34CF-0739-CF0F-FFB9D3D89DE3}"/>
                    </a:ext>
                  </a:extLst>
                </p:cNvPr>
                <p:cNvSpPr/>
                <p:nvPr/>
              </p:nvSpPr>
              <p:spPr>
                <a:xfrm>
                  <a:off x="149121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Channel &amp; Platform Registry</a:t>
                  </a:r>
                </a:p>
              </p:txBody>
            </p:sp>
            <p:sp>
              <p:nvSpPr>
                <p:cNvPr id="91" name="Rectangle: Rounded Corners 90">
                  <a:extLst>
                    <a:ext uri="{FF2B5EF4-FFF2-40B4-BE49-F238E27FC236}">
                      <a16:creationId xmlns:a16="http://schemas.microsoft.com/office/drawing/2014/main" id="{29CA4C56-B4CC-89CC-4A80-B3FD2D7CBAF8}"/>
                    </a:ext>
                  </a:extLst>
                </p:cNvPr>
                <p:cNvSpPr/>
                <p:nvPr/>
              </p:nvSpPr>
              <p:spPr>
                <a:xfrm>
                  <a:off x="305439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Scheduling &amp; Slots</a:t>
                  </a:r>
                </a:p>
              </p:txBody>
            </p:sp>
            <p:sp>
              <p:nvSpPr>
                <p:cNvPr id="94" name="Rectangle: Rounded Corners 93">
                  <a:extLst>
                    <a:ext uri="{FF2B5EF4-FFF2-40B4-BE49-F238E27FC236}">
                      <a16:creationId xmlns:a16="http://schemas.microsoft.com/office/drawing/2014/main" id="{BC51E720-6582-CFD6-EF8A-157AB90DC3A0}"/>
                    </a:ext>
                  </a:extLst>
                </p:cNvPr>
                <p:cNvSpPr/>
                <p:nvPr/>
              </p:nvSpPr>
              <p:spPr>
                <a:xfrm>
                  <a:off x="461758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VOD Publication</a:t>
                  </a:r>
                </a:p>
              </p:txBody>
            </p:sp>
            <p:sp>
              <p:nvSpPr>
                <p:cNvPr id="95" name="Rectangle: Rounded Corners 94">
                  <a:extLst>
                    <a:ext uri="{FF2B5EF4-FFF2-40B4-BE49-F238E27FC236}">
                      <a16:creationId xmlns:a16="http://schemas.microsoft.com/office/drawing/2014/main" id="{C5930C57-01D1-99E0-70B6-F45C7BAE35DE}"/>
                    </a:ext>
                  </a:extLst>
                </p:cNvPr>
                <p:cNvSpPr/>
                <p:nvPr/>
              </p:nvSpPr>
              <p:spPr>
                <a:xfrm>
                  <a:off x="618076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Audience &amp; Performance</a:t>
                  </a:r>
                </a:p>
              </p:txBody>
            </p:sp>
            <p:sp>
              <p:nvSpPr>
                <p:cNvPr id="96" name="Rectangle: Rounded Corners 95">
                  <a:extLst>
                    <a:ext uri="{FF2B5EF4-FFF2-40B4-BE49-F238E27FC236}">
                      <a16:creationId xmlns:a16="http://schemas.microsoft.com/office/drawing/2014/main" id="{531E4021-73F6-3585-0B3D-84998DCF0027}"/>
                    </a:ext>
                  </a:extLst>
                </p:cNvPr>
                <p:cNvSpPr/>
                <p:nvPr/>
              </p:nvSpPr>
              <p:spPr>
                <a:xfrm>
                  <a:off x="7743953"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Technical Delivery &amp; Quality</a:t>
                  </a:r>
                </a:p>
              </p:txBody>
            </p:sp>
          </p:grpSp>
          <p:grpSp>
            <p:nvGrpSpPr>
              <p:cNvPr id="56" name="Group 55">
                <a:extLst>
                  <a:ext uri="{FF2B5EF4-FFF2-40B4-BE49-F238E27FC236}">
                    <a16:creationId xmlns:a16="http://schemas.microsoft.com/office/drawing/2014/main" id="{3C9D5CB9-8B07-A5CA-51AF-888557E47368}"/>
                  </a:ext>
                </a:extLst>
              </p:cNvPr>
              <p:cNvGrpSpPr/>
              <p:nvPr/>
            </p:nvGrpSpPr>
            <p:grpSpPr>
              <a:xfrm>
                <a:off x="7784640" y="1719072"/>
                <a:ext cx="1324041" cy="951103"/>
                <a:chOff x="9528175" y="1719072"/>
                <a:chExt cx="1654176" cy="951103"/>
              </a:xfrm>
            </p:grpSpPr>
            <p:sp>
              <p:nvSpPr>
                <p:cNvPr id="86" name="Rectangle: Rounded Corners 85">
                  <a:extLst>
                    <a:ext uri="{FF2B5EF4-FFF2-40B4-BE49-F238E27FC236}">
                      <a16:creationId xmlns:a16="http://schemas.microsoft.com/office/drawing/2014/main" id="{872D2A6A-A42D-8644-80C8-521D162DD351}"/>
                    </a:ext>
                  </a:extLst>
                </p:cNvPr>
                <p:cNvSpPr/>
                <p:nvPr/>
              </p:nvSpPr>
              <p:spPr>
                <a:xfrm>
                  <a:off x="9528175" y="1719072"/>
                  <a:ext cx="1654176" cy="951103"/>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Identity &amp; Reference</a:t>
                  </a:r>
                </a:p>
              </p:txBody>
            </p:sp>
            <p:sp>
              <p:nvSpPr>
                <p:cNvPr id="87" name="Rectangle: Rounded Corners 86">
                  <a:extLst>
                    <a:ext uri="{FF2B5EF4-FFF2-40B4-BE49-F238E27FC236}">
                      <a16:creationId xmlns:a16="http://schemas.microsoft.com/office/drawing/2014/main" id="{52C983B2-E32B-912B-F566-17650C7AF64E}"/>
                    </a:ext>
                  </a:extLst>
                </p:cNvPr>
                <p:cNvSpPr/>
                <p:nvPr/>
              </p:nvSpPr>
              <p:spPr>
                <a:xfrm>
                  <a:off x="9604395" y="1973194"/>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Content Identity</a:t>
                  </a:r>
                </a:p>
              </p:txBody>
            </p:sp>
            <p:sp>
              <p:nvSpPr>
                <p:cNvPr id="88" name="Rectangle: Rounded Corners 87">
                  <a:extLst>
                    <a:ext uri="{FF2B5EF4-FFF2-40B4-BE49-F238E27FC236}">
                      <a16:creationId xmlns:a16="http://schemas.microsoft.com/office/drawing/2014/main" id="{6845D2B8-09C6-18A5-85C4-FCA00B0DF128}"/>
                    </a:ext>
                  </a:extLst>
                </p:cNvPr>
                <p:cNvSpPr/>
                <p:nvPr/>
              </p:nvSpPr>
              <p:spPr>
                <a:xfrm>
                  <a:off x="9604395" y="230969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Cross-Domain Reference</a:t>
                  </a:r>
                </a:p>
              </p:txBody>
            </p:sp>
          </p:grpSp>
          <p:grpSp>
            <p:nvGrpSpPr>
              <p:cNvPr id="57" name="Group 56">
                <a:extLst>
                  <a:ext uri="{FF2B5EF4-FFF2-40B4-BE49-F238E27FC236}">
                    <a16:creationId xmlns:a16="http://schemas.microsoft.com/office/drawing/2014/main" id="{00873A67-D6F3-A683-EA71-44ADEEF2BA5A}"/>
                  </a:ext>
                </a:extLst>
              </p:cNvPr>
              <p:cNvGrpSpPr/>
              <p:nvPr/>
            </p:nvGrpSpPr>
            <p:grpSpPr>
              <a:xfrm>
                <a:off x="7784640" y="2877160"/>
                <a:ext cx="1324041" cy="2081102"/>
                <a:chOff x="9528175" y="2831258"/>
                <a:chExt cx="1654176" cy="2081102"/>
              </a:xfrm>
            </p:grpSpPr>
            <p:sp>
              <p:nvSpPr>
                <p:cNvPr id="80" name="Rectangle: Rounded Corners 79">
                  <a:extLst>
                    <a:ext uri="{FF2B5EF4-FFF2-40B4-BE49-F238E27FC236}">
                      <a16:creationId xmlns:a16="http://schemas.microsoft.com/office/drawing/2014/main" id="{B5206B2C-F43A-6ADA-2233-8742418350BE}"/>
                    </a:ext>
                  </a:extLst>
                </p:cNvPr>
                <p:cNvSpPr/>
                <p:nvPr/>
              </p:nvSpPr>
              <p:spPr>
                <a:xfrm>
                  <a:off x="9528175" y="2831258"/>
                  <a:ext cx="1654176" cy="208110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Derived Discovery</a:t>
                  </a:r>
                </a:p>
              </p:txBody>
            </p:sp>
            <p:sp>
              <p:nvSpPr>
                <p:cNvPr id="81" name="Rectangle: Rounded Corners 80">
                  <a:extLst>
                    <a:ext uri="{FF2B5EF4-FFF2-40B4-BE49-F238E27FC236}">
                      <a16:creationId xmlns:a16="http://schemas.microsoft.com/office/drawing/2014/main" id="{59E04FF0-A0FD-9D01-F176-4EFECD8E8101}"/>
                    </a:ext>
                  </a:extLst>
                </p:cNvPr>
                <p:cNvSpPr/>
                <p:nvPr/>
              </p:nvSpPr>
              <p:spPr>
                <a:xfrm>
                  <a:off x="9604395" y="3085381"/>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Descriptive Metadata</a:t>
                  </a:r>
                </a:p>
              </p:txBody>
            </p:sp>
            <p:sp>
              <p:nvSpPr>
                <p:cNvPr id="82" name="Rectangle: Rounded Corners 81">
                  <a:extLst>
                    <a:ext uri="{FF2B5EF4-FFF2-40B4-BE49-F238E27FC236}">
                      <a16:creationId xmlns:a16="http://schemas.microsoft.com/office/drawing/2014/main" id="{C7D1EC35-40B2-FE4C-32B2-1372F1EB66D6}"/>
                    </a:ext>
                  </a:extLst>
                </p:cNvPr>
                <p:cNvSpPr/>
                <p:nvPr/>
              </p:nvSpPr>
              <p:spPr>
                <a:xfrm>
                  <a:off x="9604395" y="3447950"/>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Taxonomy &amp; Classification</a:t>
                  </a:r>
                </a:p>
              </p:txBody>
            </p:sp>
            <p:sp>
              <p:nvSpPr>
                <p:cNvPr id="83" name="Rectangle: Rounded Corners 82">
                  <a:extLst>
                    <a:ext uri="{FF2B5EF4-FFF2-40B4-BE49-F238E27FC236}">
                      <a16:creationId xmlns:a16="http://schemas.microsoft.com/office/drawing/2014/main" id="{7FD72153-C638-F96E-9DAA-53408948A965}"/>
                    </a:ext>
                  </a:extLst>
                </p:cNvPr>
                <p:cNvSpPr/>
                <p:nvPr/>
              </p:nvSpPr>
              <p:spPr>
                <a:xfrm>
                  <a:off x="9604395" y="381051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Availability Summary</a:t>
                  </a:r>
                </a:p>
              </p:txBody>
            </p:sp>
            <p:sp>
              <p:nvSpPr>
                <p:cNvPr id="84" name="Rectangle: Rounded Corners 83">
                  <a:extLst>
                    <a:ext uri="{FF2B5EF4-FFF2-40B4-BE49-F238E27FC236}">
                      <a16:creationId xmlns:a16="http://schemas.microsoft.com/office/drawing/2014/main" id="{6D958D93-7085-C01C-DB46-9FCE5AC23139}"/>
                    </a:ext>
                  </a:extLst>
                </p:cNvPr>
                <p:cNvSpPr/>
                <p:nvPr/>
              </p:nvSpPr>
              <p:spPr>
                <a:xfrm>
                  <a:off x="9604395" y="4173088"/>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Search &amp; Relevance</a:t>
                  </a:r>
                </a:p>
              </p:txBody>
            </p:sp>
            <p:sp>
              <p:nvSpPr>
                <p:cNvPr id="85" name="Rectangle: Rounded Corners 84">
                  <a:extLst>
                    <a:ext uri="{FF2B5EF4-FFF2-40B4-BE49-F238E27FC236}">
                      <a16:creationId xmlns:a16="http://schemas.microsoft.com/office/drawing/2014/main" id="{159C9B9C-3BE2-4C5A-FFA1-61EBBFF0C991}"/>
                    </a:ext>
                  </a:extLst>
                </p:cNvPr>
                <p:cNvSpPr/>
                <p:nvPr/>
              </p:nvSpPr>
              <p:spPr>
                <a:xfrm>
                  <a:off x="9604395" y="4535657"/>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Asset Technical Summary</a:t>
                  </a:r>
                </a:p>
              </p:txBody>
            </p:sp>
          </p:grpSp>
          <p:grpSp>
            <p:nvGrpSpPr>
              <p:cNvPr id="58" name="Group 57">
                <a:extLst>
                  <a:ext uri="{FF2B5EF4-FFF2-40B4-BE49-F238E27FC236}">
                    <a16:creationId xmlns:a16="http://schemas.microsoft.com/office/drawing/2014/main" id="{E7867E49-76E9-E0E7-B69B-919A8CDDEDC5}"/>
                  </a:ext>
                </a:extLst>
              </p:cNvPr>
              <p:cNvGrpSpPr/>
              <p:nvPr/>
            </p:nvGrpSpPr>
            <p:grpSpPr>
              <a:xfrm>
                <a:off x="7784640" y="5165247"/>
                <a:ext cx="1324041" cy="1294390"/>
                <a:chOff x="9528175" y="5165247"/>
                <a:chExt cx="1654176" cy="1294390"/>
              </a:xfrm>
            </p:grpSpPr>
            <p:sp>
              <p:nvSpPr>
                <p:cNvPr id="76" name="Rectangle: Rounded Corners 75">
                  <a:extLst>
                    <a:ext uri="{FF2B5EF4-FFF2-40B4-BE49-F238E27FC236}">
                      <a16:creationId xmlns:a16="http://schemas.microsoft.com/office/drawing/2014/main" id="{8EFE1B64-DA77-9A19-C7FC-80B561C54139}"/>
                    </a:ext>
                  </a:extLst>
                </p:cNvPr>
                <p:cNvSpPr/>
                <p:nvPr/>
              </p:nvSpPr>
              <p:spPr>
                <a:xfrm>
                  <a:off x="9528175" y="5165247"/>
                  <a:ext cx="1654176" cy="129439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Operational</a:t>
                  </a:r>
                </a:p>
              </p:txBody>
            </p:sp>
            <p:sp>
              <p:nvSpPr>
                <p:cNvPr id="77" name="Rectangle: Rounded Corners 76">
                  <a:extLst>
                    <a:ext uri="{FF2B5EF4-FFF2-40B4-BE49-F238E27FC236}">
                      <a16:creationId xmlns:a16="http://schemas.microsoft.com/office/drawing/2014/main" id="{6BFBE07A-646A-FD8E-5E81-8E73A95C0AF3}"/>
                    </a:ext>
                  </a:extLst>
                </p:cNvPr>
                <p:cNvSpPr/>
                <p:nvPr/>
              </p:nvSpPr>
              <p:spPr>
                <a:xfrm>
                  <a:off x="9604395" y="541936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Ingestion &amp; Lineage</a:t>
                  </a:r>
                </a:p>
              </p:txBody>
            </p:sp>
            <p:sp>
              <p:nvSpPr>
                <p:cNvPr id="78" name="Rectangle: Rounded Corners 77">
                  <a:extLst>
                    <a:ext uri="{FF2B5EF4-FFF2-40B4-BE49-F238E27FC236}">
                      <a16:creationId xmlns:a16="http://schemas.microsoft.com/office/drawing/2014/main" id="{8F55BA4C-5D2A-A479-17A5-6390E6C97CC8}"/>
                    </a:ext>
                  </a:extLst>
                </p:cNvPr>
                <p:cNvSpPr/>
                <p:nvPr/>
              </p:nvSpPr>
              <p:spPr>
                <a:xfrm>
                  <a:off x="9604395" y="5759212"/>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Data Quality</a:t>
                  </a:r>
                </a:p>
              </p:txBody>
            </p:sp>
            <p:sp>
              <p:nvSpPr>
                <p:cNvPr id="79" name="Rectangle: Rounded Corners 78">
                  <a:extLst>
                    <a:ext uri="{FF2B5EF4-FFF2-40B4-BE49-F238E27FC236}">
                      <a16:creationId xmlns:a16="http://schemas.microsoft.com/office/drawing/2014/main" id="{BC401666-9422-502F-2881-0AF34AA3F88D}"/>
                    </a:ext>
                  </a:extLst>
                </p:cNvPr>
                <p:cNvSpPr/>
                <p:nvPr/>
              </p:nvSpPr>
              <p:spPr>
                <a:xfrm>
                  <a:off x="9604395" y="6099055"/>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Entity Resolution</a:t>
                  </a:r>
                </a:p>
              </p:txBody>
            </p:sp>
          </p:grpSp>
          <p:sp>
            <p:nvSpPr>
              <p:cNvPr id="59" name="Oval 58">
                <a:extLst>
                  <a:ext uri="{FF2B5EF4-FFF2-40B4-BE49-F238E27FC236}">
                    <a16:creationId xmlns:a16="http://schemas.microsoft.com/office/drawing/2014/main" id="{BB4A563A-7CB0-C7AE-7E68-F439EC340327}"/>
                  </a:ext>
                </a:extLst>
              </p:cNvPr>
              <p:cNvSpPr/>
              <p:nvPr/>
            </p:nvSpPr>
            <p:spPr>
              <a:xfrm>
                <a:off x="913149"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60" name="Oval 59">
                <a:extLst>
                  <a:ext uri="{FF2B5EF4-FFF2-40B4-BE49-F238E27FC236}">
                    <a16:creationId xmlns:a16="http://schemas.microsoft.com/office/drawing/2014/main" id="{D8C989A9-824A-A7BB-581A-31E2D12AD39C}"/>
                  </a:ext>
                </a:extLst>
              </p:cNvPr>
              <p:cNvSpPr/>
              <p:nvPr/>
            </p:nvSpPr>
            <p:spPr>
              <a:xfrm>
                <a:off x="31063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61" name="Oval 60">
                <a:extLst>
                  <a:ext uri="{FF2B5EF4-FFF2-40B4-BE49-F238E27FC236}">
                    <a16:creationId xmlns:a16="http://schemas.microsoft.com/office/drawing/2014/main" id="{6F46F731-40AF-06E0-BBE5-C788244D27A5}"/>
                  </a:ext>
                </a:extLst>
              </p:cNvPr>
              <p:cNvSpPr/>
              <p:nvPr/>
            </p:nvSpPr>
            <p:spPr>
              <a:xfrm>
                <a:off x="5303000"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62" name="Oval 61">
                <a:extLst>
                  <a:ext uri="{FF2B5EF4-FFF2-40B4-BE49-F238E27FC236}">
                    <a16:creationId xmlns:a16="http://schemas.microsoft.com/office/drawing/2014/main" id="{824D855C-699C-CA53-D300-82588BA9ACD0}"/>
                  </a:ext>
                </a:extLst>
              </p:cNvPr>
              <p:cNvSpPr/>
              <p:nvPr/>
            </p:nvSpPr>
            <p:spPr>
              <a:xfrm>
                <a:off x="913149" y="487072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4</a:t>
                </a:r>
              </a:p>
            </p:txBody>
          </p:sp>
          <p:sp>
            <p:nvSpPr>
              <p:cNvPr id="63" name="Oval 62">
                <a:extLst>
                  <a:ext uri="{FF2B5EF4-FFF2-40B4-BE49-F238E27FC236}">
                    <a16:creationId xmlns:a16="http://schemas.microsoft.com/office/drawing/2014/main" id="{63C2AA9A-018D-B6FC-1321-31630710C9E0}"/>
                  </a:ext>
                </a:extLst>
              </p:cNvPr>
              <p:cNvSpPr/>
              <p:nvPr/>
            </p:nvSpPr>
            <p:spPr>
              <a:xfrm>
                <a:off x="913149" y="5740153"/>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5</a:t>
                </a:r>
              </a:p>
            </p:txBody>
          </p:sp>
          <p:sp>
            <p:nvSpPr>
              <p:cNvPr id="64" name="Oval 63">
                <a:extLst>
                  <a:ext uri="{FF2B5EF4-FFF2-40B4-BE49-F238E27FC236}">
                    <a16:creationId xmlns:a16="http://schemas.microsoft.com/office/drawing/2014/main" id="{1761D09F-1615-CFCE-1E35-35273FFF4160}"/>
                  </a:ext>
                </a:extLst>
              </p:cNvPr>
              <p:cNvSpPr/>
              <p:nvPr/>
            </p:nvSpPr>
            <p:spPr>
              <a:xfrm>
                <a:off x="76796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6</a:t>
                </a:r>
              </a:p>
            </p:txBody>
          </p:sp>
          <p:sp>
            <p:nvSpPr>
              <p:cNvPr id="65" name="Oval 64">
                <a:extLst>
                  <a:ext uri="{FF2B5EF4-FFF2-40B4-BE49-F238E27FC236}">
                    <a16:creationId xmlns:a16="http://schemas.microsoft.com/office/drawing/2014/main" id="{C3CEEACE-AE2C-1C43-20C1-A2AC2743C0FC}"/>
                  </a:ext>
                </a:extLst>
              </p:cNvPr>
              <p:cNvSpPr/>
              <p:nvPr/>
            </p:nvSpPr>
            <p:spPr>
              <a:xfrm>
                <a:off x="7679642" y="2772162"/>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7</a:t>
                </a:r>
              </a:p>
            </p:txBody>
          </p:sp>
          <p:sp>
            <p:nvSpPr>
              <p:cNvPr id="66" name="Oval 65">
                <a:extLst>
                  <a:ext uri="{FF2B5EF4-FFF2-40B4-BE49-F238E27FC236}">
                    <a16:creationId xmlns:a16="http://schemas.microsoft.com/office/drawing/2014/main" id="{7AA62209-5D0D-29FF-3EE7-EABFFD3355C6}"/>
                  </a:ext>
                </a:extLst>
              </p:cNvPr>
              <p:cNvSpPr/>
              <p:nvPr/>
            </p:nvSpPr>
            <p:spPr>
              <a:xfrm>
                <a:off x="7679642" y="5064451"/>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8</a:t>
                </a:r>
              </a:p>
            </p:txBody>
          </p:sp>
          <p:grpSp>
            <p:nvGrpSpPr>
              <p:cNvPr id="67" name="Group 66">
                <a:extLst>
                  <a:ext uri="{FF2B5EF4-FFF2-40B4-BE49-F238E27FC236}">
                    <a16:creationId xmlns:a16="http://schemas.microsoft.com/office/drawing/2014/main" id="{84828B9C-120F-4E82-341A-95C3794581A2}"/>
                  </a:ext>
                </a:extLst>
              </p:cNvPr>
              <p:cNvGrpSpPr/>
              <p:nvPr/>
            </p:nvGrpSpPr>
            <p:grpSpPr>
              <a:xfrm>
                <a:off x="735186" y="3851600"/>
                <a:ext cx="237742" cy="221637"/>
                <a:chOff x="2609335" y="3905063"/>
                <a:chExt cx="477260" cy="477260"/>
              </a:xfrm>
            </p:grpSpPr>
            <p:sp>
              <p:nvSpPr>
                <p:cNvPr id="74" name="Oval 73">
                  <a:extLst>
                    <a:ext uri="{FF2B5EF4-FFF2-40B4-BE49-F238E27FC236}">
                      <a16:creationId xmlns:a16="http://schemas.microsoft.com/office/drawing/2014/main" id="{3F7C1C8E-DBD5-453A-A356-A30A2F76922E}"/>
                    </a:ext>
                  </a:extLst>
                </p:cNvPr>
                <p:cNvSpPr/>
                <p:nvPr/>
              </p:nvSpPr>
              <p:spPr>
                <a:xfrm>
                  <a:off x="2609335" y="3905063"/>
                  <a:ext cx="477260" cy="47726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5" name="Arrow: Right 74">
                  <a:extLst>
                    <a:ext uri="{FF2B5EF4-FFF2-40B4-BE49-F238E27FC236}">
                      <a16:creationId xmlns:a16="http://schemas.microsoft.com/office/drawing/2014/main" id="{001FCB84-E3F0-92DC-54DA-96ECD60BB759}"/>
                    </a:ext>
                  </a:extLst>
                </p:cNvPr>
                <p:cNvSpPr/>
                <p:nvPr/>
              </p:nvSpPr>
              <p:spPr>
                <a:xfrm>
                  <a:off x="2688198" y="4019446"/>
                  <a:ext cx="319534" cy="248494"/>
                </a:xfrm>
                <a:prstGeom prs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68" name="Group 67">
                <a:extLst>
                  <a:ext uri="{FF2B5EF4-FFF2-40B4-BE49-F238E27FC236}">
                    <a16:creationId xmlns:a16="http://schemas.microsoft.com/office/drawing/2014/main" id="{D21F8DE7-E125-E317-4423-E0791B16D548}"/>
                  </a:ext>
                </a:extLst>
              </p:cNvPr>
              <p:cNvGrpSpPr/>
              <p:nvPr/>
            </p:nvGrpSpPr>
            <p:grpSpPr>
              <a:xfrm>
                <a:off x="7537704" y="3851600"/>
                <a:ext cx="237742" cy="221637"/>
                <a:chOff x="5018954" y="3752147"/>
                <a:chExt cx="381020" cy="381020"/>
              </a:xfrm>
            </p:grpSpPr>
            <p:sp>
              <p:nvSpPr>
                <p:cNvPr id="72" name="Oval 71">
                  <a:extLst>
                    <a:ext uri="{FF2B5EF4-FFF2-40B4-BE49-F238E27FC236}">
                      <a16:creationId xmlns:a16="http://schemas.microsoft.com/office/drawing/2014/main" id="{BBD8DFE4-5158-E324-1F95-F812B9E084AA}"/>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3" name="Arrow: Left-Right 72">
                  <a:extLst>
                    <a:ext uri="{FF2B5EF4-FFF2-40B4-BE49-F238E27FC236}">
                      <a16:creationId xmlns:a16="http://schemas.microsoft.com/office/drawing/2014/main" id="{C083CAE1-408C-37ED-E32C-64476633DAB8}"/>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69" name="Group 68">
                <a:extLst>
                  <a:ext uri="{FF2B5EF4-FFF2-40B4-BE49-F238E27FC236}">
                    <a16:creationId xmlns:a16="http://schemas.microsoft.com/office/drawing/2014/main" id="{30EA7EE8-1F09-D7A9-3115-197787FE7C8F}"/>
                  </a:ext>
                </a:extLst>
              </p:cNvPr>
              <p:cNvGrpSpPr/>
              <p:nvPr/>
            </p:nvGrpSpPr>
            <p:grpSpPr>
              <a:xfrm>
                <a:off x="9105399" y="3851600"/>
                <a:ext cx="237742" cy="221637"/>
                <a:chOff x="5018954" y="3752147"/>
                <a:chExt cx="381020" cy="381020"/>
              </a:xfrm>
            </p:grpSpPr>
            <p:sp>
              <p:nvSpPr>
                <p:cNvPr id="70" name="Oval 69">
                  <a:extLst>
                    <a:ext uri="{FF2B5EF4-FFF2-40B4-BE49-F238E27FC236}">
                      <a16:creationId xmlns:a16="http://schemas.microsoft.com/office/drawing/2014/main" id="{85E9DFD6-286B-D34D-C172-38C9F17839EB}"/>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1" name="Arrow: Left-Right 70">
                  <a:extLst>
                    <a:ext uri="{FF2B5EF4-FFF2-40B4-BE49-F238E27FC236}">
                      <a16:creationId xmlns:a16="http://schemas.microsoft.com/office/drawing/2014/main" id="{00952B0F-4089-60F2-89C6-428F92F051B6}"/>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grpSp>
    </p:spTree>
    <p:extLst>
      <p:ext uri="{BB962C8B-B14F-4D97-AF65-F5344CB8AC3E}">
        <p14:creationId xmlns:p14="http://schemas.microsoft.com/office/powerpoint/2010/main" val="1499564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BC35-D28F-DD8D-71EB-E165874367E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159C5BE-5099-279E-D0F0-34ACFABA2EF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90E1F81-2438-B7F0-79DF-8A5EAF0E63F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0BF3A529-B891-4BDA-BF61-FF71DC79F62E}"/>
              </a:ext>
            </a:extLst>
          </p:cNvPr>
          <p:cNvSpPr>
            <a:spLocks noGrp="1"/>
          </p:cNvSpPr>
          <p:nvPr>
            <p:ph type="sldNum" sz="quarter" idx="30"/>
          </p:nvPr>
        </p:nvSpPr>
        <p:spPr/>
        <p:txBody>
          <a:bodyPr/>
          <a:lstStyle/>
          <a:p>
            <a:pPr algn="r"/>
            <a:fld id="{5D9A5160-6218-4E5A-B9E6-B93E3DAE377C}" type="slidenum">
              <a:rPr lang="en-US" smtClean="0"/>
              <a:pPr algn="r"/>
              <a:t>33</a:t>
            </a:fld>
            <a:endParaRPr lang="en-US"/>
          </a:p>
        </p:txBody>
      </p:sp>
      <p:sp>
        <p:nvSpPr>
          <p:cNvPr id="5" name="Title 4">
            <a:extLst>
              <a:ext uri="{FF2B5EF4-FFF2-40B4-BE49-F238E27FC236}">
                <a16:creationId xmlns:a16="http://schemas.microsoft.com/office/drawing/2014/main" id="{074369FD-AE9E-8CFF-7BF6-FE418CA5A92A}"/>
              </a:ext>
            </a:extLst>
          </p:cNvPr>
          <p:cNvSpPr>
            <a:spLocks noGrp="1"/>
          </p:cNvSpPr>
          <p:nvPr>
            <p:ph type="title"/>
          </p:nvPr>
        </p:nvSpPr>
        <p:spPr/>
        <p:txBody>
          <a:bodyPr/>
          <a:lstStyle/>
          <a:p>
            <a:r>
              <a:rPr lang="en-US"/>
              <a:t>A </a:t>
            </a:r>
            <a:r>
              <a:rPr lang="en-US" b="1"/>
              <a:t>federated metadata architecture</a:t>
            </a:r>
            <a:r>
              <a:rPr lang="en-US"/>
              <a:t> with a </a:t>
            </a:r>
            <a:r>
              <a:rPr lang="en-US" b="1"/>
              <a:t>thin, derived discovery layer</a:t>
            </a:r>
            <a:r>
              <a:rPr lang="en-US"/>
              <a:t> and </a:t>
            </a:r>
            <a:r>
              <a:rPr lang="en-US" b="1"/>
              <a:t>purpose-built stores</a:t>
            </a:r>
            <a:r>
              <a:rPr lang="en-US"/>
              <a:t> across sports, news, and general entertainment (3/3)</a:t>
            </a:r>
          </a:p>
        </p:txBody>
      </p:sp>
      <p:sp>
        <p:nvSpPr>
          <p:cNvPr id="92" name="Oval 91">
            <a:extLst>
              <a:ext uri="{FF2B5EF4-FFF2-40B4-BE49-F238E27FC236}">
                <a16:creationId xmlns:a16="http://schemas.microsoft.com/office/drawing/2014/main" id="{A655A41A-047B-3A97-8C93-C94FE756A56B}"/>
              </a:ext>
            </a:extLst>
          </p:cNvPr>
          <p:cNvSpPr/>
          <p:nvPr/>
        </p:nvSpPr>
        <p:spPr>
          <a:xfrm>
            <a:off x="9637554" y="1339637"/>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6</a:t>
            </a:r>
          </a:p>
        </p:txBody>
      </p:sp>
      <p:sp>
        <p:nvSpPr>
          <p:cNvPr id="93" name="Rectangle 92">
            <a:extLst>
              <a:ext uri="{FF2B5EF4-FFF2-40B4-BE49-F238E27FC236}">
                <a16:creationId xmlns:a16="http://schemas.microsoft.com/office/drawing/2014/main" id="{B6823172-B07F-76D9-0AF5-C8ECB05C9D48}"/>
              </a:ext>
            </a:extLst>
          </p:cNvPr>
          <p:cNvSpPr/>
          <p:nvPr/>
        </p:nvSpPr>
        <p:spPr>
          <a:xfrm>
            <a:off x="9941983" y="1377735"/>
            <a:ext cx="2069023" cy="142946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Identity &amp; Reference</a:t>
            </a:r>
            <a:r>
              <a:rPr lang="en-US" sz="900">
                <a:solidFill>
                  <a:schemeClr val="tx1"/>
                </a:solidFill>
              </a:rPr>
              <a:t> domain:</a:t>
            </a:r>
          </a:p>
          <a:p>
            <a:pPr marL="228600" indent="-228600">
              <a:buAutoNum type="alphaLcPeriod"/>
            </a:pPr>
            <a:r>
              <a:rPr lang="en-US" sz="900" b="1">
                <a:solidFill>
                  <a:schemeClr val="tx1"/>
                </a:solidFill>
              </a:rPr>
              <a:t>Universal Content Identity </a:t>
            </a:r>
            <a:r>
              <a:rPr lang="en-US" sz="900">
                <a:solidFill>
                  <a:schemeClr val="tx1"/>
                </a:solidFill>
              </a:rPr>
              <a:t>unified canonical identifier generated by the discovery layer for every asset across all verticals</a:t>
            </a:r>
          </a:p>
          <a:p>
            <a:pPr marL="228600" indent="-228600">
              <a:buAutoNum type="alphaLcPeriod"/>
            </a:pPr>
            <a:r>
              <a:rPr lang="en-US" sz="900" b="1">
                <a:solidFill>
                  <a:schemeClr val="tx1"/>
                </a:solidFill>
              </a:rPr>
              <a:t>Cross-Domain Reference Map</a:t>
            </a:r>
            <a:r>
              <a:rPr lang="en-US" sz="900">
                <a:solidFill>
                  <a:schemeClr val="tx1"/>
                </a:solidFill>
              </a:rPr>
              <a:t> the pointer registry that allows discovery layer to connect a single piece of content to its representations across all domains</a:t>
            </a:r>
          </a:p>
        </p:txBody>
      </p:sp>
      <p:sp>
        <p:nvSpPr>
          <p:cNvPr id="102" name="Oval 101">
            <a:extLst>
              <a:ext uri="{FF2B5EF4-FFF2-40B4-BE49-F238E27FC236}">
                <a16:creationId xmlns:a16="http://schemas.microsoft.com/office/drawing/2014/main" id="{47FC9F13-A679-7692-5B26-38E7C59BC0D5}"/>
              </a:ext>
            </a:extLst>
          </p:cNvPr>
          <p:cNvSpPr/>
          <p:nvPr/>
        </p:nvSpPr>
        <p:spPr>
          <a:xfrm>
            <a:off x="9637554" y="2892262"/>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7</a:t>
            </a:r>
          </a:p>
        </p:txBody>
      </p:sp>
      <p:sp>
        <p:nvSpPr>
          <p:cNvPr id="103" name="Rectangle 102">
            <a:extLst>
              <a:ext uri="{FF2B5EF4-FFF2-40B4-BE49-F238E27FC236}">
                <a16:creationId xmlns:a16="http://schemas.microsoft.com/office/drawing/2014/main" id="{97012DCD-9899-0800-2C1E-453B3AF37E99}"/>
              </a:ext>
            </a:extLst>
          </p:cNvPr>
          <p:cNvSpPr/>
          <p:nvPr/>
        </p:nvSpPr>
        <p:spPr>
          <a:xfrm>
            <a:off x="9941983" y="2930359"/>
            <a:ext cx="2069023" cy="2134091"/>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Derived Discovery</a:t>
            </a:r>
            <a:r>
              <a:rPr lang="en-US" sz="900">
                <a:solidFill>
                  <a:schemeClr val="tx1"/>
                </a:solidFill>
              </a:rPr>
              <a:t> domain:</a:t>
            </a:r>
          </a:p>
          <a:p>
            <a:pPr marL="228600" indent="-228600">
              <a:buAutoNum type="alphaLcPeriod"/>
            </a:pPr>
            <a:r>
              <a:rPr lang="en-US" sz="900" b="1">
                <a:solidFill>
                  <a:schemeClr val="tx1"/>
                </a:solidFill>
              </a:rPr>
              <a:t>Universal Descriptive Metadata </a:t>
            </a:r>
            <a:r>
              <a:rPr lang="en-US" sz="900">
                <a:solidFill>
                  <a:schemeClr val="tx1"/>
                </a:solidFill>
              </a:rPr>
              <a:t>normalized from vertical-specific schemas into a common vocabulary</a:t>
            </a:r>
          </a:p>
          <a:p>
            <a:pPr marL="228600" indent="-228600">
              <a:buAutoNum type="alphaLcPeriod"/>
            </a:pPr>
            <a:r>
              <a:rPr lang="en-US" sz="900" b="1">
                <a:solidFill>
                  <a:schemeClr val="tx1"/>
                </a:solidFill>
              </a:rPr>
              <a:t>Taxonomy &amp; Classification</a:t>
            </a:r>
            <a:r>
              <a:rPr lang="en-US" sz="900">
                <a:solidFill>
                  <a:schemeClr val="tx1"/>
                </a:solidFill>
              </a:rPr>
              <a:t> cross-vertical tagging schema</a:t>
            </a:r>
          </a:p>
          <a:p>
            <a:pPr marL="228600" indent="-228600">
              <a:buAutoNum type="alphaLcPeriod"/>
            </a:pPr>
            <a:r>
              <a:rPr lang="en-US" sz="900" b="1">
                <a:solidFill>
                  <a:schemeClr val="tx1"/>
                </a:solidFill>
              </a:rPr>
              <a:t>Availability Summary</a:t>
            </a:r>
            <a:r>
              <a:rPr lang="en-US" sz="900">
                <a:solidFill>
                  <a:schemeClr val="tx1"/>
                </a:solidFill>
              </a:rPr>
              <a:t> a derived, read-only summary of rights and distribution status</a:t>
            </a:r>
          </a:p>
          <a:p>
            <a:pPr marL="228600" indent="-228600">
              <a:buAutoNum type="alphaLcPeriod"/>
            </a:pPr>
            <a:r>
              <a:rPr lang="en-US" sz="900" b="1">
                <a:solidFill>
                  <a:schemeClr val="tx1"/>
                </a:solidFill>
              </a:rPr>
              <a:t>Search &amp; Relevance</a:t>
            </a:r>
            <a:r>
              <a:rPr lang="en-US" sz="900">
                <a:solidFill>
                  <a:schemeClr val="tx1"/>
                </a:solidFill>
              </a:rPr>
              <a:t> operational metadata that powers search ranking, recommendation, and editorial curation</a:t>
            </a:r>
          </a:p>
          <a:p>
            <a:pPr marL="228600" indent="-228600">
              <a:buAutoNum type="alphaLcPeriod"/>
            </a:pPr>
            <a:r>
              <a:rPr lang="en-US" sz="900" b="1">
                <a:solidFill>
                  <a:schemeClr val="tx1"/>
                </a:solidFill>
              </a:rPr>
              <a:t>Asset Technical Summary </a:t>
            </a:r>
            <a:r>
              <a:rPr lang="en-US" sz="900">
                <a:solidFill>
                  <a:schemeClr val="tx1"/>
                </a:solidFill>
              </a:rPr>
              <a:t>a thin technical summary for routing</a:t>
            </a:r>
          </a:p>
        </p:txBody>
      </p:sp>
      <p:sp>
        <p:nvSpPr>
          <p:cNvPr id="95" name="Oval 94">
            <a:extLst>
              <a:ext uri="{FF2B5EF4-FFF2-40B4-BE49-F238E27FC236}">
                <a16:creationId xmlns:a16="http://schemas.microsoft.com/office/drawing/2014/main" id="{735D0EAF-296F-28F3-6BFE-7C42C82339C3}"/>
              </a:ext>
            </a:extLst>
          </p:cNvPr>
          <p:cNvSpPr/>
          <p:nvPr/>
        </p:nvSpPr>
        <p:spPr>
          <a:xfrm>
            <a:off x="9637554" y="5149511"/>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8</a:t>
            </a:r>
          </a:p>
        </p:txBody>
      </p:sp>
      <p:sp>
        <p:nvSpPr>
          <p:cNvPr id="96" name="Rectangle 95">
            <a:extLst>
              <a:ext uri="{FF2B5EF4-FFF2-40B4-BE49-F238E27FC236}">
                <a16:creationId xmlns:a16="http://schemas.microsoft.com/office/drawing/2014/main" id="{5528B990-ABD2-62BF-419D-531CEA5F658A}"/>
              </a:ext>
            </a:extLst>
          </p:cNvPr>
          <p:cNvSpPr/>
          <p:nvPr/>
        </p:nvSpPr>
        <p:spPr>
          <a:xfrm>
            <a:off x="9941983" y="5187609"/>
            <a:ext cx="2069023" cy="1429466"/>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900" b="1">
                <a:solidFill>
                  <a:schemeClr val="tx1"/>
                </a:solidFill>
              </a:rPr>
              <a:t>Operational</a:t>
            </a:r>
            <a:r>
              <a:rPr lang="en-US" sz="900">
                <a:solidFill>
                  <a:schemeClr val="tx1"/>
                </a:solidFill>
              </a:rPr>
              <a:t> domain:</a:t>
            </a:r>
          </a:p>
          <a:p>
            <a:pPr marL="228600" indent="-228600">
              <a:buAutoNum type="alphaLcPeriod"/>
            </a:pPr>
            <a:r>
              <a:rPr lang="en-US" sz="900" b="1">
                <a:solidFill>
                  <a:schemeClr val="tx1"/>
                </a:solidFill>
              </a:rPr>
              <a:t>Ingestion &amp; Lineage </a:t>
            </a:r>
            <a:r>
              <a:rPr lang="en-US" sz="900">
                <a:solidFill>
                  <a:schemeClr val="tx1"/>
                </a:solidFill>
              </a:rPr>
              <a:t>identifier for the batch and streaming ingestion run</a:t>
            </a:r>
          </a:p>
          <a:p>
            <a:pPr marL="228600" indent="-228600">
              <a:buAutoNum type="alphaLcPeriod"/>
            </a:pPr>
            <a:r>
              <a:rPr lang="en-US" sz="900" b="1">
                <a:solidFill>
                  <a:schemeClr val="tx1"/>
                </a:solidFill>
              </a:rPr>
              <a:t>Data Quality</a:t>
            </a:r>
            <a:r>
              <a:rPr lang="en-US" sz="900">
                <a:solidFill>
                  <a:schemeClr val="tx1"/>
                </a:solidFill>
              </a:rPr>
              <a:t> to evaluate metadata completeness, missing required field, quality gate status etc.</a:t>
            </a:r>
          </a:p>
          <a:p>
            <a:pPr marL="228600" indent="-228600">
              <a:buAutoNum type="alphaLcPeriod"/>
            </a:pPr>
            <a:r>
              <a:rPr lang="en-US" sz="900" b="1">
                <a:solidFill>
                  <a:schemeClr val="tx1"/>
                </a:solidFill>
              </a:rPr>
              <a:t>Entity Resolution</a:t>
            </a:r>
            <a:r>
              <a:rPr lang="en-US" sz="900">
                <a:solidFill>
                  <a:schemeClr val="tx1"/>
                </a:solidFill>
              </a:rPr>
              <a:t> cross-vertical entity resolution service</a:t>
            </a:r>
          </a:p>
        </p:txBody>
      </p:sp>
      <p:sp>
        <p:nvSpPr>
          <p:cNvPr id="97" name="Rectangle 96">
            <a:extLst>
              <a:ext uri="{FF2B5EF4-FFF2-40B4-BE49-F238E27FC236}">
                <a16:creationId xmlns:a16="http://schemas.microsoft.com/office/drawing/2014/main" id="{7D3C4FC4-FEE8-2B44-A0D6-CC996C959AC6}"/>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DISCOVERY DOMAIN</a:t>
            </a:r>
          </a:p>
        </p:txBody>
      </p:sp>
      <p:pic>
        <p:nvPicPr>
          <p:cNvPr id="6" name="Graphic 5" descr="Circle with left arrow outline">
            <a:hlinkClick r:id="rId2" action="ppaction://hlinksldjump"/>
            <a:extLst>
              <a:ext uri="{FF2B5EF4-FFF2-40B4-BE49-F238E27FC236}">
                <a16:creationId xmlns:a16="http://schemas.microsoft.com/office/drawing/2014/main" id="{157243F1-A566-B018-E422-3641E783F0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grpSp>
        <p:nvGrpSpPr>
          <p:cNvPr id="7" name="Group 6">
            <a:extLst>
              <a:ext uri="{FF2B5EF4-FFF2-40B4-BE49-F238E27FC236}">
                <a16:creationId xmlns:a16="http://schemas.microsoft.com/office/drawing/2014/main" id="{420F55F8-F5F7-458B-A4A9-E0A04B76FA44}"/>
              </a:ext>
            </a:extLst>
          </p:cNvPr>
          <p:cNvGrpSpPr/>
          <p:nvPr/>
        </p:nvGrpSpPr>
        <p:grpSpPr>
          <a:xfrm>
            <a:off x="589463" y="1174438"/>
            <a:ext cx="8886441" cy="5372665"/>
            <a:chOff x="589463" y="1174438"/>
            <a:chExt cx="8886441" cy="5372665"/>
          </a:xfrm>
        </p:grpSpPr>
        <p:grpSp>
          <p:nvGrpSpPr>
            <p:cNvPr id="8" name="Group 7">
              <a:extLst>
                <a:ext uri="{FF2B5EF4-FFF2-40B4-BE49-F238E27FC236}">
                  <a16:creationId xmlns:a16="http://schemas.microsoft.com/office/drawing/2014/main" id="{706C72A7-10FD-59EE-8A6F-750334906C64}"/>
                </a:ext>
              </a:extLst>
            </p:cNvPr>
            <p:cNvGrpSpPr/>
            <p:nvPr/>
          </p:nvGrpSpPr>
          <p:grpSpPr>
            <a:xfrm>
              <a:off x="6733117" y="1174438"/>
              <a:ext cx="2742787" cy="123110"/>
              <a:chOff x="6733117" y="1174438"/>
              <a:chExt cx="2742787" cy="123110"/>
            </a:xfrm>
          </p:grpSpPr>
          <p:sp>
            <p:nvSpPr>
              <p:cNvPr id="207" name="Rectangle: Rounded Corners 206">
                <a:extLst>
                  <a:ext uri="{FF2B5EF4-FFF2-40B4-BE49-F238E27FC236}">
                    <a16:creationId xmlns:a16="http://schemas.microsoft.com/office/drawing/2014/main" id="{BFDA0698-C107-39E7-2B28-35B4FC7A4850}"/>
                  </a:ext>
                </a:extLst>
              </p:cNvPr>
              <p:cNvSpPr/>
              <p:nvPr/>
            </p:nvSpPr>
            <p:spPr>
              <a:xfrm>
                <a:off x="7154449" y="1174438"/>
                <a:ext cx="748312" cy="123110"/>
              </a:xfrm>
              <a:prstGeom prst="roundRect">
                <a:avLst>
                  <a:gd name="adj" fmla="val 26983"/>
                </a:avLst>
              </a:prstGeom>
              <a:solidFill>
                <a:srgbClr val="D2F1FC"/>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700">
                    <a:solidFill>
                      <a:schemeClr val="tx1"/>
                    </a:solidFill>
                  </a:rPr>
                  <a:t>Domain</a:t>
                </a:r>
              </a:p>
            </p:txBody>
          </p:sp>
          <p:sp>
            <p:nvSpPr>
              <p:cNvPr id="208" name="Rectangle: Rounded Corners 207">
                <a:extLst>
                  <a:ext uri="{FF2B5EF4-FFF2-40B4-BE49-F238E27FC236}">
                    <a16:creationId xmlns:a16="http://schemas.microsoft.com/office/drawing/2014/main" id="{2D9C38A8-215A-FBF2-3410-C0D677EEF89B}"/>
                  </a:ext>
                </a:extLst>
              </p:cNvPr>
              <p:cNvSpPr/>
              <p:nvPr/>
            </p:nvSpPr>
            <p:spPr>
              <a:xfrm>
                <a:off x="7941021" y="1174438"/>
                <a:ext cx="748312" cy="123110"/>
              </a:xfrm>
              <a:prstGeom prst="roundRect">
                <a:avLst>
                  <a:gd name="adj" fmla="val 2698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700">
                    <a:solidFill>
                      <a:schemeClr val="bg1"/>
                    </a:solidFill>
                  </a:rPr>
                  <a:t>Metadata store</a:t>
                </a:r>
              </a:p>
            </p:txBody>
          </p:sp>
          <p:sp>
            <p:nvSpPr>
              <p:cNvPr id="209" name="Rectangle: Single Corner Rounded 208">
                <a:extLst>
                  <a:ext uri="{FF2B5EF4-FFF2-40B4-BE49-F238E27FC236}">
                    <a16:creationId xmlns:a16="http://schemas.microsoft.com/office/drawing/2014/main" id="{36AA1D27-6BC2-60DC-9945-EA79EC5E524A}"/>
                  </a:ext>
                </a:extLst>
              </p:cNvPr>
              <p:cNvSpPr/>
              <p:nvPr/>
            </p:nvSpPr>
            <p:spPr>
              <a:xfrm>
                <a:off x="8727592" y="1174438"/>
                <a:ext cx="748312" cy="123110"/>
              </a:xfrm>
              <a:prstGeom prst="round1Rect">
                <a:avLst/>
              </a:prstGeom>
              <a:noFill/>
              <a:ln w="317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tx1">
                        <a:lumMod val="50000"/>
                        <a:lumOff val="50000"/>
                      </a:schemeClr>
                    </a:solidFill>
                  </a:rPr>
                  <a:t>Metadata</a:t>
                </a:r>
              </a:p>
            </p:txBody>
          </p:sp>
          <p:sp>
            <p:nvSpPr>
              <p:cNvPr id="210" name="Rectangle: Rounded Corners 209">
                <a:extLst>
                  <a:ext uri="{FF2B5EF4-FFF2-40B4-BE49-F238E27FC236}">
                    <a16:creationId xmlns:a16="http://schemas.microsoft.com/office/drawing/2014/main" id="{DAA0A446-69CD-D29C-5A1E-234A1B9097DA}"/>
                  </a:ext>
                </a:extLst>
              </p:cNvPr>
              <p:cNvSpPr/>
              <p:nvPr/>
            </p:nvSpPr>
            <p:spPr>
              <a:xfrm>
                <a:off x="6733117" y="1174438"/>
                <a:ext cx="352143" cy="123110"/>
              </a:xfrm>
              <a:prstGeom prst="roundRect">
                <a:avLst>
                  <a:gd name="adj" fmla="val 26983"/>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r"/>
                <a:r>
                  <a:rPr lang="en-US" sz="700">
                    <a:solidFill>
                      <a:schemeClr val="tx1"/>
                    </a:solidFill>
                  </a:rPr>
                  <a:t>Legend:</a:t>
                </a:r>
              </a:p>
            </p:txBody>
          </p:sp>
        </p:grpSp>
        <p:grpSp>
          <p:nvGrpSpPr>
            <p:cNvPr id="9" name="Group 8">
              <a:extLst>
                <a:ext uri="{FF2B5EF4-FFF2-40B4-BE49-F238E27FC236}">
                  <a16:creationId xmlns:a16="http://schemas.microsoft.com/office/drawing/2014/main" id="{B4240241-BBE6-A942-E987-6211269ADB2A}"/>
                </a:ext>
              </a:extLst>
            </p:cNvPr>
            <p:cNvGrpSpPr/>
            <p:nvPr/>
          </p:nvGrpSpPr>
          <p:grpSpPr>
            <a:xfrm>
              <a:off x="589463" y="1377734"/>
              <a:ext cx="8886441" cy="5169369"/>
              <a:chOff x="589463" y="1377734"/>
              <a:chExt cx="8886441" cy="5169369"/>
            </a:xfrm>
          </p:grpSpPr>
          <p:sp>
            <p:nvSpPr>
              <p:cNvPr id="10" name="Rectangle: Rounded Corners 9">
                <a:extLst>
                  <a:ext uri="{FF2B5EF4-FFF2-40B4-BE49-F238E27FC236}">
                    <a16:creationId xmlns:a16="http://schemas.microsoft.com/office/drawing/2014/main" id="{98F4A721-0927-63AA-942B-6A265C960613}"/>
                  </a:ext>
                </a:extLst>
              </p:cNvPr>
              <p:cNvSpPr/>
              <p:nvPr/>
            </p:nvSpPr>
            <p:spPr>
              <a:xfrm>
                <a:off x="589463" y="1377735"/>
                <a:ext cx="199495" cy="5169368"/>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Source Layer</a:t>
                </a:r>
              </a:p>
            </p:txBody>
          </p:sp>
          <p:sp>
            <p:nvSpPr>
              <p:cNvPr id="11" name="Rectangle: Rounded Corners 10">
                <a:extLst>
                  <a:ext uri="{FF2B5EF4-FFF2-40B4-BE49-F238E27FC236}">
                    <a16:creationId xmlns:a16="http://schemas.microsoft.com/office/drawing/2014/main" id="{B6126972-453E-56B6-FD66-7554B1C97221}"/>
                  </a:ext>
                </a:extLst>
              </p:cNvPr>
              <p:cNvSpPr/>
              <p:nvPr/>
            </p:nvSpPr>
            <p:spPr>
              <a:xfrm>
                <a:off x="9276409" y="1377735"/>
                <a:ext cx="199495" cy="5169368"/>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12" name="Rectangle: Rounded Corners 11">
                <a:extLst>
                  <a:ext uri="{FF2B5EF4-FFF2-40B4-BE49-F238E27FC236}">
                    <a16:creationId xmlns:a16="http://schemas.microsoft.com/office/drawing/2014/main" id="{95720CBA-CB82-9307-820B-0FB0A81D3BCD}"/>
                  </a:ext>
                </a:extLst>
              </p:cNvPr>
              <p:cNvSpPr/>
              <p:nvPr/>
            </p:nvSpPr>
            <p:spPr>
              <a:xfrm>
                <a:off x="7706332" y="1377735"/>
                <a:ext cx="1465848" cy="5169368"/>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13" name="Rectangle: Rounded Corners 12">
                <a:extLst>
                  <a:ext uri="{FF2B5EF4-FFF2-40B4-BE49-F238E27FC236}">
                    <a16:creationId xmlns:a16="http://schemas.microsoft.com/office/drawing/2014/main" id="{627674AA-C1A3-154C-AE41-7011AED2E3B4}"/>
                  </a:ext>
                </a:extLst>
              </p:cNvPr>
              <p:cNvSpPr/>
              <p:nvPr/>
            </p:nvSpPr>
            <p:spPr>
              <a:xfrm>
                <a:off x="902713" y="1377734"/>
                <a:ext cx="6699390" cy="5169369"/>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a:solidFill>
                      <a:schemeClr val="tx1"/>
                    </a:solidFill>
                  </a:rPr>
                  <a:t>Domain Layer</a:t>
                </a:r>
              </a:p>
            </p:txBody>
          </p:sp>
          <p:sp>
            <p:nvSpPr>
              <p:cNvPr id="14" name="Rectangle: Rounded Corners 13">
                <a:extLst>
                  <a:ext uri="{FF2B5EF4-FFF2-40B4-BE49-F238E27FC236}">
                    <a16:creationId xmlns:a16="http://schemas.microsoft.com/office/drawing/2014/main" id="{71309408-7F63-8685-737C-08D70F98C5A2}"/>
                  </a:ext>
                </a:extLst>
              </p:cNvPr>
              <p:cNvSpPr/>
              <p:nvPr/>
            </p:nvSpPr>
            <p:spPr>
              <a:xfrm>
                <a:off x="1017378"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Sports Domain</a:t>
                </a:r>
              </a:p>
            </p:txBody>
          </p:sp>
          <p:sp>
            <p:nvSpPr>
              <p:cNvPr id="15" name="Rectangle: Rounded Corners 14">
                <a:extLst>
                  <a:ext uri="{FF2B5EF4-FFF2-40B4-BE49-F238E27FC236}">
                    <a16:creationId xmlns:a16="http://schemas.microsoft.com/office/drawing/2014/main" id="{C6B032D6-FC21-5FB9-31A2-C9AEAA1426BE}"/>
                  </a:ext>
                </a:extLst>
              </p:cNvPr>
              <p:cNvSpPr/>
              <p:nvPr/>
            </p:nvSpPr>
            <p:spPr>
              <a:xfrm>
                <a:off x="3210571"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News Domain</a:t>
                </a:r>
              </a:p>
            </p:txBody>
          </p:sp>
          <p:sp>
            <p:nvSpPr>
              <p:cNvPr id="16" name="Rectangle: Rounded Corners 15">
                <a:extLst>
                  <a:ext uri="{FF2B5EF4-FFF2-40B4-BE49-F238E27FC236}">
                    <a16:creationId xmlns:a16="http://schemas.microsoft.com/office/drawing/2014/main" id="{970B7B92-4F16-7266-D9FD-F3B0FF2B01F6}"/>
                  </a:ext>
                </a:extLst>
              </p:cNvPr>
              <p:cNvSpPr/>
              <p:nvPr/>
            </p:nvSpPr>
            <p:spPr>
              <a:xfrm>
                <a:off x="5403766" y="1719072"/>
                <a:ext cx="2083672" cy="300693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General Entertainment Domain</a:t>
                </a:r>
              </a:p>
            </p:txBody>
          </p:sp>
          <p:sp>
            <p:nvSpPr>
              <p:cNvPr id="17" name="Rectangle: Rounded Corners 16">
                <a:extLst>
                  <a:ext uri="{FF2B5EF4-FFF2-40B4-BE49-F238E27FC236}">
                    <a16:creationId xmlns:a16="http://schemas.microsoft.com/office/drawing/2014/main" id="{1CBD33BD-3ED9-9487-221F-997D0E6AF24C}"/>
                  </a:ext>
                </a:extLst>
              </p:cNvPr>
              <p:cNvSpPr/>
              <p:nvPr/>
            </p:nvSpPr>
            <p:spPr>
              <a:xfrm>
                <a:off x="1171672"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Live Sports</a:t>
                </a:r>
              </a:p>
            </p:txBody>
          </p:sp>
          <p:sp>
            <p:nvSpPr>
              <p:cNvPr id="18" name="Rectangle: Single Corner Rounded 17">
                <a:extLst>
                  <a:ext uri="{FF2B5EF4-FFF2-40B4-BE49-F238E27FC236}">
                    <a16:creationId xmlns:a16="http://schemas.microsoft.com/office/drawing/2014/main" id="{7837D5E6-CFB4-C4ED-683C-908CDEBE1E97}"/>
                  </a:ext>
                </a:extLst>
              </p:cNvPr>
              <p:cNvSpPr/>
              <p:nvPr/>
            </p:nvSpPr>
            <p:spPr>
              <a:xfrm>
                <a:off x="122110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Live match state</a:t>
                </a:r>
              </a:p>
            </p:txBody>
          </p:sp>
          <p:sp>
            <p:nvSpPr>
              <p:cNvPr id="19" name="Rectangle: Single Corner Rounded 18">
                <a:extLst>
                  <a:ext uri="{FF2B5EF4-FFF2-40B4-BE49-F238E27FC236}">
                    <a16:creationId xmlns:a16="http://schemas.microsoft.com/office/drawing/2014/main" id="{9649AA88-91A0-CDAE-A9B6-0AE77853E04D}"/>
                  </a:ext>
                </a:extLst>
              </p:cNvPr>
              <p:cNvSpPr/>
              <p:nvPr/>
            </p:nvSpPr>
            <p:spPr>
              <a:xfrm>
                <a:off x="2079779"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Technical quality signals</a:t>
                </a:r>
              </a:p>
            </p:txBody>
          </p:sp>
          <p:sp>
            <p:nvSpPr>
              <p:cNvPr id="20" name="Rectangle: Single Corner Rounded 19">
                <a:extLst>
                  <a:ext uri="{FF2B5EF4-FFF2-40B4-BE49-F238E27FC236}">
                    <a16:creationId xmlns:a16="http://schemas.microsoft.com/office/drawing/2014/main" id="{8FD4B124-08BA-A646-6355-4ED5B8BF670D}"/>
                  </a:ext>
                </a:extLst>
              </p:cNvPr>
              <p:cNvSpPr/>
              <p:nvPr/>
            </p:nvSpPr>
            <p:spPr>
              <a:xfrm>
                <a:off x="1221109"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Real-time stats</a:t>
                </a:r>
              </a:p>
            </p:txBody>
          </p:sp>
          <p:sp>
            <p:nvSpPr>
              <p:cNvPr id="21" name="Rectangle: Single Corner Rounded 20">
                <a:extLst>
                  <a:ext uri="{FF2B5EF4-FFF2-40B4-BE49-F238E27FC236}">
                    <a16:creationId xmlns:a16="http://schemas.microsoft.com/office/drawing/2014/main" id="{A1959D43-393B-D6C9-6451-4EEB768FED78}"/>
                  </a:ext>
                </a:extLst>
              </p:cNvPr>
              <p:cNvSpPr/>
              <p:nvPr/>
            </p:nvSpPr>
            <p:spPr>
              <a:xfrm>
                <a:off x="1221109"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index</a:t>
                </a:r>
              </a:p>
            </p:txBody>
          </p:sp>
          <p:sp>
            <p:nvSpPr>
              <p:cNvPr id="22" name="Rectangle: Rounded Corners 21">
                <a:extLst>
                  <a:ext uri="{FF2B5EF4-FFF2-40B4-BE49-F238E27FC236}">
                    <a16:creationId xmlns:a16="http://schemas.microsoft.com/office/drawing/2014/main" id="{1A47EB71-1527-A7D5-9AF5-2B21EC1614BA}"/>
                  </a:ext>
                </a:extLst>
              </p:cNvPr>
              <p:cNvSpPr/>
              <p:nvPr/>
            </p:nvSpPr>
            <p:spPr>
              <a:xfrm>
                <a:off x="1171672"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Sports Archive</a:t>
                </a:r>
              </a:p>
            </p:txBody>
          </p:sp>
          <p:sp>
            <p:nvSpPr>
              <p:cNvPr id="23" name="Rectangle: Single Corner Rounded 22">
                <a:extLst>
                  <a:ext uri="{FF2B5EF4-FFF2-40B4-BE49-F238E27FC236}">
                    <a16:creationId xmlns:a16="http://schemas.microsoft.com/office/drawing/2014/main" id="{5DEB92A7-2F76-7250-2CC0-15EBDB4D00B8}"/>
                  </a:ext>
                </a:extLst>
              </p:cNvPr>
              <p:cNvSpPr/>
              <p:nvPr/>
            </p:nvSpPr>
            <p:spPr>
              <a:xfrm>
                <a:off x="122110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Match recordings</a:t>
                </a:r>
              </a:p>
            </p:txBody>
          </p:sp>
          <p:sp>
            <p:nvSpPr>
              <p:cNvPr id="24" name="Rectangle: Single Corner Rounded 23">
                <a:extLst>
                  <a:ext uri="{FF2B5EF4-FFF2-40B4-BE49-F238E27FC236}">
                    <a16:creationId xmlns:a16="http://schemas.microsoft.com/office/drawing/2014/main" id="{258C2678-A144-390A-F5E3-5B40FCD8C6BF}"/>
                  </a:ext>
                </a:extLst>
              </p:cNvPr>
              <p:cNvSpPr/>
              <p:nvPr/>
            </p:nvSpPr>
            <p:spPr>
              <a:xfrm>
                <a:off x="2079779"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25" name="Rectangle: Single Corner Rounded 24">
                <a:extLst>
                  <a:ext uri="{FF2B5EF4-FFF2-40B4-BE49-F238E27FC236}">
                    <a16:creationId xmlns:a16="http://schemas.microsoft.com/office/drawing/2014/main" id="{94DE5DD8-2C3B-2F35-1D57-59AC9996C6BA}"/>
                  </a:ext>
                </a:extLst>
              </p:cNvPr>
              <p:cNvSpPr/>
              <p:nvPr/>
            </p:nvSpPr>
            <p:spPr>
              <a:xfrm>
                <a:off x="122110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Highlight packages</a:t>
                </a:r>
              </a:p>
            </p:txBody>
          </p:sp>
          <p:sp>
            <p:nvSpPr>
              <p:cNvPr id="26" name="Rectangle: Single Corner Rounded 25">
                <a:extLst>
                  <a:ext uri="{FF2B5EF4-FFF2-40B4-BE49-F238E27FC236}">
                    <a16:creationId xmlns:a16="http://schemas.microsoft.com/office/drawing/2014/main" id="{1E0D9623-48CE-B654-F17B-78AAAE6CFEA4}"/>
                  </a:ext>
                </a:extLst>
              </p:cNvPr>
              <p:cNvSpPr/>
              <p:nvPr/>
            </p:nvSpPr>
            <p:spPr>
              <a:xfrm>
                <a:off x="2079779"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Archival rights windows</a:t>
                </a:r>
              </a:p>
            </p:txBody>
          </p:sp>
          <p:sp>
            <p:nvSpPr>
              <p:cNvPr id="27" name="Rectangle: Single Corner Rounded 26">
                <a:extLst>
                  <a:ext uri="{FF2B5EF4-FFF2-40B4-BE49-F238E27FC236}">
                    <a16:creationId xmlns:a16="http://schemas.microsoft.com/office/drawing/2014/main" id="{43D6BBC8-4E04-4F1F-1D96-6C19B293546C}"/>
                  </a:ext>
                </a:extLst>
              </p:cNvPr>
              <p:cNvSpPr/>
              <p:nvPr/>
            </p:nvSpPr>
            <p:spPr>
              <a:xfrm>
                <a:off x="1221109"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Athlete/team entity graph</a:t>
                </a:r>
              </a:p>
            </p:txBody>
          </p:sp>
          <p:sp>
            <p:nvSpPr>
              <p:cNvPr id="28" name="Rectangle: Rounded Corners 27">
                <a:extLst>
                  <a:ext uri="{FF2B5EF4-FFF2-40B4-BE49-F238E27FC236}">
                    <a16:creationId xmlns:a16="http://schemas.microsoft.com/office/drawing/2014/main" id="{081F3172-513A-7E2F-6283-BDB3EC131A08}"/>
                  </a:ext>
                </a:extLst>
              </p:cNvPr>
              <p:cNvSpPr/>
              <p:nvPr/>
            </p:nvSpPr>
            <p:spPr>
              <a:xfrm>
                <a:off x="3364865"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Publishing &amp; Versioning</a:t>
                </a:r>
              </a:p>
            </p:txBody>
          </p:sp>
          <p:sp>
            <p:nvSpPr>
              <p:cNvPr id="29" name="Rectangle: Single Corner Rounded 28">
                <a:extLst>
                  <a:ext uri="{FF2B5EF4-FFF2-40B4-BE49-F238E27FC236}">
                    <a16:creationId xmlns:a16="http://schemas.microsoft.com/office/drawing/2014/main" id="{8E39F43A-C601-1490-EB90-B5C899B92ECD}"/>
                  </a:ext>
                </a:extLst>
              </p:cNvPr>
              <p:cNvSpPr/>
              <p:nvPr/>
            </p:nvSpPr>
            <p:spPr>
              <a:xfrm>
                <a:off x="341430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Story ID</a:t>
                </a:r>
              </a:p>
            </p:txBody>
          </p:sp>
          <p:sp>
            <p:nvSpPr>
              <p:cNvPr id="30" name="Rectangle: Single Corner Rounded 29">
                <a:extLst>
                  <a:ext uri="{FF2B5EF4-FFF2-40B4-BE49-F238E27FC236}">
                    <a16:creationId xmlns:a16="http://schemas.microsoft.com/office/drawing/2014/main" id="{111EF844-53D8-9002-8290-60F0641E8BEB}"/>
                  </a:ext>
                </a:extLst>
              </p:cNvPr>
              <p:cNvSpPr/>
              <p:nvPr/>
            </p:nvSpPr>
            <p:spPr>
              <a:xfrm>
                <a:off x="4272972"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Embargo lift time</a:t>
                </a:r>
              </a:p>
            </p:txBody>
          </p:sp>
          <p:sp>
            <p:nvSpPr>
              <p:cNvPr id="31" name="Rectangle: Single Corner Rounded 30">
                <a:extLst>
                  <a:ext uri="{FF2B5EF4-FFF2-40B4-BE49-F238E27FC236}">
                    <a16:creationId xmlns:a16="http://schemas.microsoft.com/office/drawing/2014/main" id="{3F62F4BD-09AD-E788-E91A-0AB7CC7B68F9}"/>
                  </a:ext>
                </a:extLst>
              </p:cNvPr>
              <p:cNvSpPr/>
              <p:nvPr/>
            </p:nvSpPr>
            <p:spPr>
              <a:xfrm>
                <a:off x="341430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Version chain</a:t>
                </a:r>
              </a:p>
            </p:txBody>
          </p:sp>
          <p:sp>
            <p:nvSpPr>
              <p:cNvPr id="32" name="Rectangle: Single Corner Rounded 31">
                <a:extLst>
                  <a:ext uri="{FF2B5EF4-FFF2-40B4-BE49-F238E27FC236}">
                    <a16:creationId xmlns:a16="http://schemas.microsoft.com/office/drawing/2014/main" id="{71A43934-0E98-FAF1-D1E8-F59CD1CC19F9}"/>
                  </a:ext>
                </a:extLst>
              </p:cNvPr>
              <p:cNvSpPr/>
              <p:nvPr/>
            </p:nvSpPr>
            <p:spPr>
              <a:xfrm>
                <a:off x="4272972"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Wire source ID</a:t>
                </a:r>
              </a:p>
            </p:txBody>
          </p:sp>
          <p:sp>
            <p:nvSpPr>
              <p:cNvPr id="33" name="Rectangle: Single Corner Rounded 32">
                <a:extLst>
                  <a:ext uri="{FF2B5EF4-FFF2-40B4-BE49-F238E27FC236}">
                    <a16:creationId xmlns:a16="http://schemas.microsoft.com/office/drawing/2014/main" id="{99193723-754D-88E5-7AF6-C26E623CE1C0}"/>
                  </a:ext>
                </a:extLst>
              </p:cNvPr>
              <p:cNvSpPr/>
              <p:nvPr/>
            </p:nvSpPr>
            <p:spPr>
              <a:xfrm>
                <a:off x="341430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Publish Timestamp</a:t>
                </a:r>
              </a:p>
            </p:txBody>
          </p:sp>
          <p:sp>
            <p:nvSpPr>
              <p:cNvPr id="34" name="Rectangle: Single Corner Rounded 33">
                <a:extLst>
                  <a:ext uri="{FF2B5EF4-FFF2-40B4-BE49-F238E27FC236}">
                    <a16:creationId xmlns:a16="http://schemas.microsoft.com/office/drawing/2014/main" id="{AA78F2E9-8F58-97DF-E6F6-6D029B2B41B1}"/>
                  </a:ext>
                </a:extLst>
              </p:cNvPr>
              <p:cNvSpPr/>
              <p:nvPr/>
            </p:nvSpPr>
            <p:spPr>
              <a:xfrm>
                <a:off x="4272972"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Editorial desk assignment</a:t>
                </a:r>
              </a:p>
            </p:txBody>
          </p:sp>
          <p:sp>
            <p:nvSpPr>
              <p:cNvPr id="35" name="Rectangle: Rounded Corners 34">
                <a:extLst>
                  <a:ext uri="{FF2B5EF4-FFF2-40B4-BE49-F238E27FC236}">
                    <a16:creationId xmlns:a16="http://schemas.microsoft.com/office/drawing/2014/main" id="{15A4BF0C-76EC-4061-EE01-A4B51B6AE963}"/>
                  </a:ext>
                </a:extLst>
              </p:cNvPr>
              <p:cNvSpPr/>
              <p:nvPr/>
            </p:nvSpPr>
            <p:spPr>
              <a:xfrm>
                <a:off x="3364865"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News Entity &amp; Knowledge Graph</a:t>
                </a:r>
              </a:p>
            </p:txBody>
          </p:sp>
          <p:sp>
            <p:nvSpPr>
              <p:cNvPr id="36" name="Rectangle: Single Corner Rounded 35">
                <a:extLst>
                  <a:ext uri="{FF2B5EF4-FFF2-40B4-BE49-F238E27FC236}">
                    <a16:creationId xmlns:a16="http://schemas.microsoft.com/office/drawing/2014/main" id="{8555AD72-AF29-794F-1A60-EAEE1483BF07}"/>
                  </a:ext>
                </a:extLst>
              </p:cNvPr>
              <p:cNvSpPr/>
              <p:nvPr/>
            </p:nvSpPr>
            <p:spPr>
              <a:xfrm>
                <a:off x="341430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Named entity recognition output</a:t>
                </a:r>
              </a:p>
            </p:txBody>
          </p:sp>
          <p:sp>
            <p:nvSpPr>
              <p:cNvPr id="37" name="Rectangle: Single Corner Rounded 36">
                <a:extLst>
                  <a:ext uri="{FF2B5EF4-FFF2-40B4-BE49-F238E27FC236}">
                    <a16:creationId xmlns:a16="http://schemas.microsoft.com/office/drawing/2014/main" id="{F5D5DE60-D68B-CD82-84E5-E76AD9D2B988}"/>
                  </a:ext>
                </a:extLst>
              </p:cNvPr>
              <p:cNvSpPr/>
              <p:nvPr/>
            </p:nvSpPr>
            <p:spPr>
              <a:xfrm>
                <a:off x="4272972"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Sentiment signals</a:t>
                </a:r>
              </a:p>
            </p:txBody>
          </p:sp>
          <p:sp>
            <p:nvSpPr>
              <p:cNvPr id="38" name="Rectangle: Single Corner Rounded 37">
                <a:extLst>
                  <a:ext uri="{FF2B5EF4-FFF2-40B4-BE49-F238E27FC236}">
                    <a16:creationId xmlns:a16="http://schemas.microsoft.com/office/drawing/2014/main" id="{90A589EE-4788-0860-0EEF-A5F17421E89D}"/>
                  </a:ext>
                </a:extLst>
              </p:cNvPr>
              <p:cNvSpPr/>
              <p:nvPr/>
            </p:nvSpPr>
            <p:spPr>
              <a:xfrm>
                <a:off x="341430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Geotags</a:t>
                </a:r>
              </a:p>
            </p:txBody>
          </p:sp>
          <p:sp>
            <p:nvSpPr>
              <p:cNvPr id="39" name="Rectangle: Single Corner Rounded 38">
                <a:extLst>
                  <a:ext uri="{FF2B5EF4-FFF2-40B4-BE49-F238E27FC236}">
                    <a16:creationId xmlns:a16="http://schemas.microsoft.com/office/drawing/2014/main" id="{3A579E0D-8E86-4382-3522-88F00C0514A3}"/>
                  </a:ext>
                </a:extLst>
              </p:cNvPr>
              <p:cNvSpPr/>
              <p:nvPr/>
            </p:nvSpPr>
            <p:spPr>
              <a:xfrm>
                <a:off x="4272972"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Related story clusters</a:t>
                </a:r>
              </a:p>
            </p:txBody>
          </p:sp>
          <p:sp>
            <p:nvSpPr>
              <p:cNvPr id="40" name="Rectangle: Single Corner Rounded 39">
                <a:extLst>
                  <a:ext uri="{FF2B5EF4-FFF2-40B4-BE49-F238E27FC236}">
                    <a16:creationId xmlns:a16="http://schemas.microsoft.com/office/drawing/2014/main" id="{D937A0E1-CE32-CC72-5F6E-FFACF774848F}"/>
                  </a:ext>
                </a:extLst>
              </p:cNvPr>
              <p:cNvSpPr/>
              <p:nvPr/>
            </p:nvSpPr>
            <p:spPr>
              <a:xfrm>
                <a:off x="3414302"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Topic classification</a:t>
                </a:r>
              </a:p>
            </p:txBody>
          </p:sp>
          <p:sp>
            <p:nvSpPr>
              <p:cNvPr id="41" name="Rectangle: Rounded Corners 40">
                <a:extLst>
                  <a:ext uri="{FF2B5EF4-FFF2-40B4-BE49-F238E27FC236}">
                    <a16:creationId xmlns:a16="http://schemas.microsoft.com/office/drawing/2014/main" id="{65C433D5-B37C-188D-BFBC-009F73529D24}"/>
                  </a:ext>
                </a:extLst>
              </p:cNvPr>
              <p:cNvSpPr/>
              <p:nvPr/>
            </p:nvSpPr>
            <p:spPr>
              <a:xfrm>
                <a:off x="5558059" y="2036694"/>
                <a:ext cx="1775085" cy="1125606"/>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Content Catalog</a:t>
                </a:r>
              </a:p>
            </p:txBody>
          </p:sp>
          <p:sp>
            <p:nvSpPr>
              <p:cNvPr id="42" name="Rectangle: Single Corner Rounded 41">
                <a:extLst>
                  <a:ext uri="{FF2B5EF4-FFF2-40B4-BE49-F238E27FC236}">
                    <a16:creationId xmlns:a16="http://schemas.microsoft.com/office/drawing/2014/main" id="{C59ED6B2-109E-DF23-C18C-A485A64EC5A8}"/>
                  </a:ext>
                </a:extLst>
              </p:cNvPr>
              <p:cNvSpPr/>
              <p:nvPr/>
            </p:nvSpPr>
            <p:spPr>
              <a:xfrm>
                <a:off x="5607497"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EIDR</a:t>
                </a:r>
              </a:p>
            </p:txBody>
          </p:sp>
          <p:sp>
            <p:nvSpPr>
              <p:cNvPr id="43" name="Rectangle: Single Corner Rounded 42">
                <a:extLst>
                  <a:ext uri="{FF2B5EF4-FFF2-40B4-BE49-F238E27FC236}">
                    <a16:creationId xmlns:a16="http://schemas.microsoft.com/office/drawing/2014/main" id="{108E7103-61E3-7AB2-0049-8E436356D227}"/>
                  </a:ext>
                </a:extLst>
              </p:cNvPr>
              <p:cNvSpPr/>
              <p:nvPr/>
            </p:nvSpPr>
            <p:spPr>
              <a:xfrm>
                <a:off x="6466166" y="232649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MPAA/BBFC rating</a:t>
                </a:r>
              </a:p>
            </p:txBody>
          </p:sp>
          <p:sp>
            <p:nvSpPr>
              <p:cNvPr id="44" name="Rectangle: Single Corner Rounded 43">
                <a:extLst>
                  <a:ext uri="{FF2B5EF4-FFF2-40B4-BE49-F238E27FC236}">
                    <a16:creationId xmlns:a16="http://schemas.microsoft.com/office/drawing/2014/main" id="{CE4264DB-6D47-0518-5BC4-2ABE2CE21245}"/>
                  </a:ext>
                </a:extLst>
              </p:cNvPr>
              <p:cNvSpPr/>
              <p:nvPr/>
            </p:nvSpPr>
            <p:spPr>
              <a:xfrm>
                <a:off x="5607497"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Series-season-episode hierarchy</a:t>
                </a:r>
              </a:p>
            </p:txBody>
          </p:sp>
          <p:sp>
            <p:nvSpPr>
              <p:cNvPr id="45" name="Rectangle: Single Corner Rounded 44">
                <a:extLst>
                  <a:ext uri="{FF2B5EF4-FFF2-40B4-BE49-F238E27FC236}">
                    <a16:creationId xmlns:a16="http://schemas.microsoft.com/office/drawing/2014/main" id="{EFA7DCB2-917F-0588-7791-D00005A5769F}"/>
                  </a:ext>
                </a:extLst>
              </p:cNvPr>
              <p:cNvSpPr/>
              <p:nvPr/>
            </p:nvSpPr>
            <p:spPr>
              <a:xfrm>
                <a:off x="6466166" y="258840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Content advisory codes</a:t>
                </a:r>
              </a:p>
            </p:txBody>
          </p:sp>
          <p:sp>
            <p:nvSpPr>
              <p:cNvPr id="46" name="Rectangle: Single Corner Rounded 45">
                <a:extLst>
                  <a:ext uri="{FF2B5EF4-FFF2-40B4-BE49-F238E27FC236}">
                    <a16:creationId xmlns:a16="http://schemas.microsoft.com/office/drawing/2014/main" id="{AB20C8C1-044B-7DD0-FE8D-46C815177D9A}"/>
                  </a:ext>
                </a:extLst>
              </p:cNvPr>
              <p:cNvSpPr/>
              <p:nvPr/>
            </p:nvSpPr>
            <p:spPr>
              <a:xfrm>
                <a:off x="5607497"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Production credits</a:t>
                </a:r>
              </a:p>
            </p:txBody>
          </p:sp>
          <p:sp>
            <p:nvSpPr>
              <p:cNvPr id="47" name="Rectangle: Single Corner Rounded 46">
                <a:extLst>
                  <a:ext uri="{FF2B5EF4-FFF2-40B4-BE49-F238E27FC236}">
                    <a16:creationId xmlns:a16="http://schemas.microsoft.com/office/drawing/2014/main" id="{96AF09A4-A27F-DD2F-E037-70784C435F59}"/>
                  </a:ext>
                </a:extLst>
              </p:cNvPr>
              <p:cNvSpPr/>
              <p:nvPr/>
            </p:nvSpPr>
            <p:spPr>
              <a:xfrm>
                <a:off x="6466166" y="285032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Dubbing/subtitle inventory</a:t>
                </a:r>
              </a:p>
            </p:txBody>
          </p:sp>
          <p:sp>
            <p:nvSpPr>
              <p:cNvPr id="48" name="Rectangle: Rounded Corners 47">
                <a:extLst>
                  <a:ext uri="{FF2B5EF4-FFF2-40B4-BE49-F238E27FC236}">
                    <a16:creationId xmlns:a16="http://schemas.microsoft.com/office/drawing/2014/main" id="{35492C1E-53E9-6C9D-C252-96FE263929B4}"/>
                  </a:ext>
                </a:extLst>
              </p:cNvPr>
              <p:cNvSpPr/>
              <p:nvPr/>
            </p:nvSpPr>
            <p:spPr>
              <a:xfrm>
                <a:off x="5558059" y="3376544"/>
                <a:ext cx="1775085" cy="1125606"/>
              </a:xfrm>
              <a:prstGeom prst="roundRect">
                <a:avLst>
                  <a:gd name="adj" fmla="val 11173"/>
                </a:avLst>
              </a:prstGeom>
              <a:solidFill>
                <a:srgbClr val="002060"/>
              </a:solidFill>
              <a:ln w="952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a:solidFill>
                      <a:schemeClr val="bg1"/>
                    </a:solidFill>
                  </a:rPr>
                  <a:t>Audience &amp; Discovery</a:t>
                </a:r>
              </a:p>
            </p:txBody>
          </p:sp>
          <p:sp>
            <p:nvSpPr>
              <p:cNvPr id="49" name="Rectangle: Single Corner Rounded 48">
                <a:extLst>
                  <a:ext uri="{FF2B5EF4-FFF2-40B4-BE49-F238E27FC236}">
                    <a16:creationId xmlns:a16="http://schemas.microsoft.com/office/drawing/2014/main" id="{BFE0A3EE-E3E5-FF16-2FE8-C3552950B70C}"/>
                  </a:ext>
                </a:extLst>
              </p:cNvPr>
              <p:cNvSpPr/>
              <p:nvPr/>
            </p:nvSpPr>
            <p:spPr>
              <a:xfrm>
                <a:off x="5607497"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Genre taxonomy</a:t>
                </a:r>
              </a:p>
            </p:txBody>
          </p:sp>
          <p:sp>
            <p:nvSpPr>
              <p:cNvPr id="50" name="Rectangle: Single Corner Rounded 49">
                <a:extLst>
                  <a:ext uri="{FF2B5EF4-FFF2-40B4-BE49-F238E27FC236}">
                    <a16:creationId xmlns:a16="http://schemas.microsoft.com/office/drawing/2014/main" id="{71358390-5DBF-F7F2-7B4C-548B031E1396}"/>
                  </a:ext>
                </a:extLst>
              </p:cNvPr>
              <p:cNvSpPr/>
              <p:nvPr/>
            </p:nvSpPr>
            <p:spPr>
              <a:xfrm>
                <a:off x="6466166" y="3666342"/>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Thematic tags</a:t>
                </a:r>
              </a:p>
            </p:txBody>
          </p:sp>
          <p:sp>
            <p:nvSpPr>
              <p:cNvPr id="51" name="Rectangle: Single Corner Rounded 50">
                <a:extLst>
                  <a:ext uri="{FF2B5EF4-FFF2-40B4-BE49-F238E27FC236}">
                    <a16:creationId xmlns:a16="http://schemas.microsoft.com/office/drawing/2014/main" id="{48509CC5-92F2-7780-BDAC-CA0B170FC9FD}"/>
                  </a:ext>
                </a:extLst>
              </p:cNvPr>
              <p:cNvSpPr/>
              <p:nvPr/>
            </p:nvSpPr>
            <p:spPr>
              <a:xfrm>
                <a:off x="5607497"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Audience demographic affinity</a:t>
                </a:r>
              </a:p>
            </p:txBody>
          </p:sp>
          <p:sp>
            <p:nvSpPr>
              <p:cNvPr id="52" name="Rectangle: Single Corner Rounded 51">
                <a:extLst>
                  <a:ext uri="{FF2B5EF4-FFF2-40B4-BE49-F238E27FC236}">
                    <a16:creationId xmlns:a16="http://schemas.microsoft.com/office/drawing/2014/main" id="{F8BFCA63-26CC-A008-D492-11A01323237C}"/>
                  </a:ext>
                </a:extLst>
              </p:cNvPr>
              <p:cNvSpPr/>
              <p:nvPr/>
            </p:nvSpPr>
            <p:spPr>
              <a:xfrm>
                <a:off x="6466166" y="3928256"/>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Franchise relationships</a:t>
                </a:r>
              </a:p>
            </p:txBody>
          </p:sp>
          <p:sp>
            <p:nvSpPr>
              <p:cNvPr id="53" name="Rectangle: Single Corner Rounded 52">
                <a:extLst>
                  <a:ext uri="{FF2B5EF4-FFF2-40B4-BE49-F238E27FC236}">
                    <a16:creationId xmlns:a16="http://schemas.microsoft.com/office/drawing/2014/main" id="{66535E27-8F26-61D9-DEE5-D22E60514FF6}"/>
                  </a:ext>
                </a:extLst>
              </p:cNvPr>
              <p:cNvSpPr/>
              <p:nvPr/>
            </p:nvSpPr>
            <p:spPr>
              <a:xfrm>
                <a:off x="5607497" y="4190170"/>
                <a:ext cx="824226" cy="218794"/>
              </a:xfrm>
              <a:prstGeom prst="round1Rect">
                <a:avLst/>
              </a:prstGeom>
              <a:solidFill>
                <a:srgbClr val="002060"/>
              </a:solidFill>
              <a:ln w="3175">
                <a:solidFill>
                  <a:schemeClr val="tx1">
                    <a:lumMod val="65000"/>
                    <a:lumOff val="3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600">
                    <a:solidFill>
                      <a:schemeClr val="bg1">
                        <a:lumMod val="75000"/>
                      </a:schemeClr>
                    </a:solidFill>
                  </a:rPr>
                  <a:t>Viewing completion signals</a:t>
                </a:r>
              </a:p>
            </p:txBody>
          </p:sp>
          <p:grpSp>
            <p:nvGrpSpPr>
              <p:cNvPr id="54" name="Group 53">
                <a:extLst>
                  <a:ext uri="{FF2B5EF4-FFF2-40B4-BE49-F238E27FC236}">
                    <a16:creationId xmlns:a16="http://schemas.microsoft.com/office/drawing/2014/main" id="{3FB5E477-BAFE-A66B-4ECD-A5CE56694F8C}"/>
                  </a:ext>
                </a:extLst>
              </p:cNvPr>
              <p:cNvGrpSpPr/>
              <p:nvPr/>
            </p:nvGrpSpPr>
            <p:grpSpPr>
              <a:xfrm>
                <a:off x="1017378" y="4975722"/>
                <a:ext cx="6470059" cy="617098"/>
                <a:chOff x="1298448" y="5089220"/>
                <a:chExt cx="8083296" cy="617098"/>
              </a:xfrm>
            </p:grpSpPr>
            <p:sp>
              <p:nvSpPr>
                <p:cNvPr id="100" name="Rectangle: Rounded Corners 99">
                  <a:extLst>
                    <a:ext uri="{FF2B5EF4-FFF2-40B4-BE49-F238E27FC236}">
                      <a16:creationId xmlns:a16="http://schemas.microsoft.com/office/drawing/2014/main" id="{18CAE469-E3F9-C3EB-EACC-444764EC8CB8}"/>
                    </a:ext>
                  </a:extLst>
                </p:cNvPr>
                <p:cNvSpPr/>
                <p:nvPr/>
              </p:nvSpPr>
              <p:spPr>
                <a:xfrm>
                  <a:off x="1298448" y="5089220"/>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Rights &amp; Compliance</a:t>
                  </a:r>
                </a:p>
              </p:txBody>
            </p:sp>
            <p:sp>
              <p:nvSpPr>
                <p:cNvPr id="101" name="Rectangle: Rounded Corners 100">
                  <a:extLst>
                    <a:ext uri="{FF2B5EF4-FFF2-40B4-BE49-F238E27FC236}">
                      <a16:creationId xmlns:a16="http://schemas.microsoft.com/office/drawing/2014/main" id="{F67B73DD-BBB4-8C18-7FED-2E4A21FFE7B9}"/>
                    </a:ext>
                  </a:extLst>
                </p:cNvPr>
                <p:cNvSpPr/>
                <p:nvPr/>
              </p:nvSpPr>
              <p:spPr>
                <a:xfrm>
                  <a:off x="1491213"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Agreement</a:t>
                  </a:r>
                </a:p>
              </p:txBody>
            </p:sp>
            <p:sp>
              <p:nvSpPr>
                <p:cNvPr id="104" name="Rectangle: Rounded Corners 103">
                  <a:extLst>
                    <a:ext uri="{FF2B5EF4-FFF2-40B4-BE49-F238E27FC236}">
                      <a16:creationId xmlns:a16="http://schemas.microsoft.com/office/drawing/2014/main" id="{5B0BAED9-4E0B-9B3A-FE11-B82044F1BB85}"/>
                    </a:ext>
                  </a:extLst>
                </p:cNvPr>
                <p:cNvSpPr/>
                <p:nvPr/>
              </p:nvSpPr>
              <p:spPr>
                <a:xfrm>
                  <a:off x="2788307"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Rights Scope</a:t>
                  </a:r>
                </a:p>
              </p:txBody>
            </p:sp>
            <p:sp>
              <p:nvSpPr>
                <p:cNvPr id="105" name="Rectangle: Rounded Corners 104">
                  <a:extLst>
                    <a:ext uri="{FF2B5EF4-FFF2-40B4-BE49-F238E27FC236}">
                      <a16:creationId xmlns:a16="http://schemas.microsoft.com/office/drawing/2014/main" id="{3EA9FFB0-A6DB-27A4-FA58-0E29145744AB}"/>
                    </a:ext>
                  </a:extLst>
                </p:cNvPr>
                <p:cNvSpPr/>
                <p:nvPr/>
              </p:nvSpPr>
              <p:spPr>
                <a:xfrm>
                  <a:off x="4085401"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Temporal Window</a:t>
                  </a:r>
                </a:p>
              </p:txBody>
            </p:sp>
            <p:sp>
              <p:nvSpPr>
                <p:cNvPr id="204" name="Rectangle: Rounded Corners 203">
                  <a:extLst>
                    <a:ext uri="{FF2B5EF4-FFF2-40B4-BE49-F238E27FC236}">
                      <a16:creationId xmlns:a16="http://schemas.microsoft.com/office/drawing/2014/main" id="{8810C179-AD0D-22D5-222D-C28805B2BB92}"/>
                    </a:ext>
                  </a:extLst>
                </p:cNvPr>
                <p:cNvSpPr/>
                <p:nvPr/>
              </p:nvSpPr>
              <p:spPr>
                <a:xfrm>
                  <a:off x="5382496"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Obligations</a:t>
                  </a:r>
                </a:p>
              </p:txBody>
            </p:sp>
            <p:sp>
              <p:nvSpPr>
                <p:cNvPr id="205" name="Rectangle: Rounded Corners 204">
                  <a:extLst>
                    <a:ext uri="{FF2B5EF4-FFF2-40B4-BE49-F238E27FC236}">
                      <a16:creationId xmlns:a16="http://schemas.microsoft.com/office/drawing/2014/main" id="{71D45449-079F-255A-32D7-7B4F6AA0C1F1}"/>
                    </a:ext>
                  </a:extLst>
                </p:cNvPr>
                <p:cNvSpPr/>
                <p:nvPr/>
              </p:nvSpPr>
              <p:spPr>
                <a:xfrm>
                  <a:off x="6679590"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Compliance &amp; Audit</a:t>
                  </a:r>
                </a:p>
              </p:txBody>
            </p:sp>
            <p:sp>
              <p:nvSpPr>
                <p:cNvPr id="206" name="Rectangle: Rounded Corners 205">
                  <a:extLst>
                    <a:ext uri="{FF2B5EF4-FFF2-40B4-BE49-F238E27FC236}">
                      <a16:creationId xmlns:a16="http://schemas.microsoft.com/office/drawing/2014/main" id="{DD46E02A-11F8-2CC7-CE6B-638E5BF8B3EF}"/>
                    </a:ext>
                  </a:extLst>
                </p:cNvPr>
                <p:cNvSpPr/>
                <p:nvPr/>
              </p:nvSpPr>
              <p:spPr>
                <a:xfrm>
                  <a:off x="7976684" y="5348402"/>
                  <a:ext cx="1212296"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Vertical Extension</a:t>
                  </a:r>
                </a:p>
              </p:txBody>
            </p:sp>
          </p:grpSp>
          <p:grpSp>
            <p:nvGrpSpPr>
              <p:cNvPr id="55" name="Group 54">
                <a:extLst>
                  <a:ext uri="{FF2B5EF4-FFF2-40B4-BE49-F238E27FC236}">
                    <a16:creationId xmlns:a16="http://schemas.microsoft.com/office/drawing/2014/main" id="{C999D2C5-321C-077F-9FCD-427D8FF99C79}"/>
                  </a:ext>
                </a:extLst>
              </p:cNvPr>
              <p:cNvGrpSpPr/>
              <p:nvPr/>
            </p:nvGrpSpPr>
            <p:grpSpPr>
              <a:xfrm>
                <a:off x="1017378" y="5842539"/>
                <a:ext cx="6470059" cy="617098"/>
                <a:chOff x="1298448" y="5842539"/>
                <a:chExt cx="8083296" cy="617098"/>
              </a:xfrm>
            </p:grpSpPr>
            <p:sp>
              <p:nvSpPr>
                <p:cNvPr id="89" name="Rectangle: Rounded Corners 88">
                  <a:extLst>
                    <a:ext uri="{FF2B5EF4-FFF2-40B4-BE49-F238E27FC236}">
                      <a16:creationId xmlns:a16="http://schemas.microsoft.com/office/drawing/2014/main" id="{E3C9053D-71E3-AB01-6E46-5DE966A2FDD7}"/>
                    </a:ext>
                  </a:extLst>
                </p:cNvPr>
                <p:cNvSpPr/>
                <p:nvPr/>
              </p:nvSpPr>
              <p:spPr>
                <a:xfrm>
                  <a:off x="1298448" y="5842539"/>
                  <a:ext cx="8083296" cy="617098"/>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Distribution</a:t>
                  </a:r>
                </a:p>
              </p:txBody>
            </p:sp>
            <p:sp>
              <p:nvSpPr>
                <p:cNvPr id="90" name="Rectangle: Rounded Corners 89">
                  <a:extLst>
                    <a:ext uri="{FF2B5EF4-FFF2-40B4-BE49-F238E27FC236}">
                      <a16:creationId xmlns:a16="http://schemas.microsoft.com/office/drawing/2014/main" id="{4ACA3307-EDD3-A845-69B4-FAE9FE15C2C4}"/>
                    </a:ext>
                  </a:extLst>
                </p:cNvPr>
                <p:cNvSpPr/>
                <p:nvPr/>
              </p:nvSpPr>
              <p:spPr>
                <a:xfrm>
                  <a:off x="149121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Channel &amp; Platform Registry</a:t>
                  </a:r>
                </a:p>
              </p:txBody>
            </p:sp>
            <p:sp>
              <p:nvSpPr>
                <p:cNvPr id="91" name="Rectangle: Rounded Corners 90">
                  <a:extLst>
                    <a:ext uri="{FF2B5EF4-FFF2-40B4-BE49-F238E27FC236}">
                      <a16:creationId xmlns:a16="http://schemas.microsoft.com/office/drawing/2014/main" id="{D3CA4774-7738-7B28-7045-9805C48C813F}"/>
                    </a:ext>
                  </a:extLst>
                </p:cNvPr>
                <p:cNvSpPr/>
                <p:nvPr/>
              </p:nvSpPr>
              <p:spPr>
                <a:xfrm>
                  <a:off x="305439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Scheduling &amp; Slots</a:t>
                  </a:r>
                </a:p>
              </p:txBody>
            </p:sp>
            <p:sp>
              <p:nvSpPr>
                <p:cNvPr id="94" name="Rectangle: Rounded Corners 93">
                  <a:extLst>
                    <a:ext uri="{FF2B5EF4-FFF2-40B4-BE49-F238E27FC236}">
                      <a16:creationId xmlns:a16="http://schemas.microsoft.com/office/drawing/2014/main" id="{0908836C-04EE-DAF7-07E5-E099182FB74D}"/>
                    </a:ext>
                  </a:extLst>
                </p:cNvPr>
                <p:cNvSpPr/>
                <p:nvPr/>
              </p:nvSpPr>
              <p:spPr>
                <a:xfrm>
                  <a:off x="4617582"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VOD Publication</a:t>
                  </a:r>
                </a:p>
              </p:txBody>
            </p:sp>
            <p:sp>
              <p:nvSpPr>
                <p:cNvPr id="98" name="Rectangle: Rounded Corners 97">
                  <a:extLst>
                    <a:ext uri="{FF2B5EF4-FFF2-40B4-BE49-F238E27FC236}">
                      <a16:creationId xmlns:a16="http://schemas.microsoft.com/office/drawing/2014/main" id="{CDB02C32-8493-96E6-3839-18DE606A24B2}"/>
                    </a:ext>
                  </a:extLst>
                </p:cNvPr>
                <p:cNvSpPr/>
                <p:nvPr/>
              </p:nvSpPr>
              <p:spPr>
                <a:xfrm>
                  <a:off x="6180767"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Audience &amp; Performance</a:t>
                  </a:r>
                </a:p>
              </p:txBody>
            </p:sp>
            <p:sp>
              <p:nvSpPr>
                <p:cNvPr id="99" name="Rectangle: Rounded Corners 98">
                  <a:extLst>
                    <a:ext uri="{FF2B5EF4-FFF2-40B4-BE49-F238E27FC236}">
                      <a16:creationId xmlns:a16="http://schemas.microsoft.com/office/drawing/2014/main" id="{B26E07CF-6182-7CE3-6E99-E67C39CFFDE9}"/>
                    </a:ext>
                  </a:extLst>
                </p:cNvPr>
                <p:cNvSpPr/>
                <p:nvPr/>
              </p:nvSpPr>
              <p:spPr>
                <a:xfrm>
                  <a:off x="7743953" y="6113373"/>
                  <a:ext cx="1445027" cy="253568"/>
                </a:xfrm>
                <a:prstGeom prst="roundRect">
                  <a:avLst>
                    <a:gd name="adj" fmla="val 11173"/>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800">
                      <a:solidFill>
                        <a:schemeClr val="bg1"/>
                      </a:solidFill>
                    </a:rPr>
                    <a:t>Technical Delivery &amp; Quality</a:t>
                  </a:r>
                </a:p>
              </p:txBody>
            </p:sp>
          </p:grpSp>
          <p:grpSp>
            <p:nvGrpSpPr>
              <p:cNvPr id="56" name="Group 55">
                <a:extLst>
                  <a:ext uri="{FF2B5EF4-FFF2-40B4-BE49-F238E27FC236}">
                    <a16:creationId xmlns:a16="http://schemas.microsoft.com/office/drawing/2014/main" id="{F34D4C38-40A8-F81A-6FBA-99DBA2A11A22}"/>
                  </a:ext>
                </a:extLst>
              </p:cNvPr>
              <p:cNvGrpSpPr/>
              <p:nvPr/>
            </p:nvGrpSpPr>
            <p:grpSpPr>
              <a:xfrm>
                <a:off x="7784640" y="1719072"/>
                <a:ext cx="1324041" cy="951103"/>
                <a:chOff x="9528175" y="1719072"/>
                <a:chExt cx="1654176" cy="951103"/>
              </a:xfrm>
            </p:grpSpPr>
            <p:sp>
              <p:nvSpPr>
                <p:cNvPr id="86" name="Rectangle: Rounded Corners 85">
                  <a:extLst>
                    <a:ext uri="{FF2B5EF4-FFF2-40B4-BE49-F238E27FC236}">
                      <a16:creationId xmlns:a16="http://schemas.microsoft.com/office/drawing/2014/main" id="{3537AD8D-49C6-2B7D-2D93-6CF0C79A439E}"/>
                    </a:ext>
                  </a:extLst>
                </p:cNvPr>
                <p:cNvSpPr/>
                <p:nvPr/>
              </p:nvSpPr>
              <p:spPr>
                <a:xfrm>
                  <a:off x="9528175" y="1719072"/>
                  <a:ext cx="1654176" cy="951103"/>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Identity &amp; Reference</a:t>
                  </a:r>
                </a:p>
              </p:txBody>
            </p:sp>
            <p:sp>
              <p:nvSpPr>
                <p:cNvPr id="87" name="Rectangle: Rounded Corners 86">
                  <a:extLst>
                    <a:ext uri="{FF2B5EF4-FFF2-40B4-BE49-F238E27FC236}">
                      <a16:creationId xmlns:a16="http://schemas.microsoft.com/office/drawing/2014/main" id="{10A693D6-8DEC-0C15-C91B-54BBACA44BA1}"/>
                    </a:ext>
                  </a:extLst>
                </p:cNvPr>
                <p:cNvSpPr/>
                <p:nvPr/>
              </p:nvSpPr>
              <p:spPr>
                <a:xfrm>
                  <a:off x="9604395" y="1973194"/>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Content Identity</a:t>
                  </a:r>
                </a:p>
              </p:txBody>
            </p:sp>
            <p:sp>
              <p:nvSpPr>
                <p:cNvPr id="88" name="Rectangle: Rounded Corners 87">
                  <a:extLst>
                    <a:ext uri="{FF2B5EF4-FFF2-40B4-BE49-F238E27FC236}">
                      <a16:creationId xmlns:a16="http://schemas.microsoft.com/office/drawing/2014/main" id="{C37375BA-B282-221C-028C-6957FCF1A254}"/>
                    </a:ext>
                  </a:extLst>
                </p:cNvPr>
                <p:cNvSpPr/>
                <p:nvPr/>
              </p:nvSpPr>
              <p:spPr>
                <a:xfrm>
                  <a:off x="9604395" y="230969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Cross-Domain Reference</a:t>
                  </a:r>
                </a:p>
              </p:txBody>
            </p:sp>
          </p:grpSp>
          <p:grpSp>
            <p:nvGrpSpPr>
              <p:cNvPr id="57" name="Group 56">
                <a:extLst>
                  <a:ext uri="{FF2B5EF4-FFF2-40B4-BE49-F238E27FC236}">
                    <a16:creationId xmlns:a16="http://schemas.microsoft.com/office/drawing/2014/main" id="{4A59B294-1385-6C06-D72F-68567E5176F3}"/>
                  </a:ext>
                </a:extLst>
              </p:cNvPr>
              <p:cNvGrpSpPr/>
              <p:nvPr/>
            </p:nvGrpSpPr>
            <p:grpSpPr>
              <a:xfrm>
                <a:off x="7784640" y="2877160"/>
                <a:ext cx="1324041" cy="2081102"/>
                <a:chOff x="9528175" y="2831258"/>
                <a:chExt cx="1654176" cy="2081102"/>
              </a:xfrm>
            </p:grpSpPr>
            <p:sp>
              <p:nvSpPr>
                <p:cNvPr id="80" name="Rectangle: Rounded Corners 79">
                  <a:extLst>
                    <a:ext uri="{FF2B5EF4-FFF2-40B4-BE49-F238E27FC236}">
                      <a16:creationId xmlns:a16="http://schemas.microsoft.com/office/drawing/2014/main" id="{FB6AB247-9650-4D0C-4065-A299D4970C97}"/>
                    </a:ext>
                  </a:extLst>
                </p:cNvPr>
                <p:cNvSpPr/>
                <p:nvPr/>
              </p:nvSpPr>
              <p:spPr>
                <a:xfrm>
                  <a:off x="9528175" y="2831258"/>
                  <a:ext cx="1654176" cy="2081102"/>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Derived Discovery</a:t>
                  </a:r>
                </a:p>
              </p:txBody>
            </p:sp>
            <p:sp>
              <p:nvSpPr>
                <p:cNvPr id="81" name="Rectangle: Rounded Corners 80">
                  <a:extLst>
                    <a:ext uri="{FF2B5EF4-FFF2-40B4-BE49-F238E27FC236}">
                      <a16:creationId xmlns:a16="http://schemas.microsoft.com/office/drawing/2014/main" id="{D75C0F3C-AD70-E17E-347C-5AFE0A21264F}"/>
                    </a:ext>
                  </a:extLst>
                </p:cNvPr>
                <p:cNvSpPr/>
                <p:nvPr/>
              </p:nvSpPr>
              <p:spPr>
                <a:xfrm>
                  <a:off x="9604395" y="3085381"/>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Universal Descriptive Metadata</a:t>
                  </a:r>
                </a:p>
              </p:txBody>
            </p:sp>
            <p:sp>
              <p:nvSpPr>
                <p:cNvPr id="82" name="Rectangle: Rounded Corners 81">
                  <a:extLst>
                    <a:ext uri="{FF2B5EF4-FFF2-40B4-BE49-F238E27FC236}">
                      <a16:creationId xmlns:a16="http://schemas.microsoft.com/office/drawing/2014/main" id="{FADB8D77-E8B3-9402-14F9-1CBEEBD8550A}"/>
                    </a:ext>
                  </a:extLst>
                </p:cNvPr>
                <p:cNvSpPr/>
                <p:nvPr/>
              </p:nvSpPr>
              <p:spPr>
                <a:xfrm>
                  <a:off x="9604395" y="3447950"/>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Taxonomy &amp; Classification</a:t>
                  </a:r>
                </a:p>
              </p:txBody>
            </p:sp>
            <p:sp>
              <p:nvSpPr>
                <p:cNvPr id="83" name="Rectangle: Rounded Corners 82">
                  <a:extLst>
                    <a:ext uri="{FF2B5EF4-FFF2-40B4-BE49-F238E27FC236}">
                      <a16:creationId xmlns:a16="http://schemas.microsoft.com/office/drawing/2014/main" id="{91ED0A7F-5D80-8C53-DE83-6DF054B5383E}"/>
                    </a:ext>
                  </a:extLst>
                </p:cNvPr>
                <p:cNvSpPr/>
                <p:nvPr/>
              </p:nvSpPr>
              <p:spPr>
                <a:xfrm>
                  <a:off x="9604395" y="381051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Availability Summary</a:t>
                  </a:r>
                </a:p>
              </p:txBody>
            </p:sp>
            <p:sp>
              <p:nvSpPr>
                <p:cNvPr id="84" name="Rectangle: Rounded Corners 83">
                  <a:extLst>
                    <a:ext uri="{FF2B5EF4-FFF2-40B4-BE49-F238E27FC236}">
                      <a16:creationId xmlns:a16="http://schemas.microsoft.com/office/drawing/2014/main" id="{CBFCC676-C5C1-188C-CB26-F633F36E9897}"/>
                    </a:ext>
                  </a:extLst>
                </p:cNvPr>
                <p:cNvSpPr/>
                <p:nvPr/>
              </p:nvSpPr>
              <p:spPr>
                <a:xfrm>
                  <a:off x="9604395" y="4173088"/>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Search &amp; Relevance</a:t>
                  </a:r>
                </a:p>
              </p:txBody>
            </p:sp>
            <p:sp>
              <p:nvSpPr>
                <p:cNvPr id="85" name="Rectangle: Rounded Corners 84">
                  <a:extLst>
                    <a:ext uri="{FF2B5EF4-FFF2-40B4-BE49-F238E27FC236}">
                      <a16:creationId xmlns:a16="http://schemas.microsoft.com/office/drawing/2014/main" id="{EE16AFE7-209A-2B5A-FA32-11D0120DBD74}"/>
                    </a:ext>
                  </a:extLst>
                </p:cNvPr>
                <p:cNvSpPr/>
                <p:nvPr/>
              </p:nvSpPr>
              <p:spPr>
                <a:xfrm>
                  <a:off x="9604395" y="4535657"/>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Asset Technical Summary</a:t>
                  </a:r>
                </a:p>
              </p:txBody>
            </p:sp>
          </p:grpSp>
          <p:grpSp>
            <p:nvGrpSpPr>
              <p:cNvPr id="58" name="Group 57">
                <a:extLst>
                  <a:ext uri="{FF2B5EF4-FFF2-40B4-BE49-F238E27FC236}">
                    <a16:creationId xmlns:a16="http://schemas.microsoft.com/office/drawing/2014/main" id="{C4BB62E8-7AFE-7B73-8BB1-62ACD3B74B89}"/>
                  </a:ext>
                </a:extLst>
              </p:cNvPr>
              <p:cNvGrpSpPr/>
              <p:nvPr/>
            </p:nvGrpSpPr>
            <p:grpSpPr>
              <a:xfrm>
                <a:off x="7784640" y="5165247"/>
                <a:ext cx="1324041" cy="1294390"/>
                <a:chOff x="9528175" y="5165247"/>
                <a:chExt cx="1654176" cy="1294390"/>
              </a:xfrm>
            </p:grpSpPr>
            <p:sp>
              <p:nvSpPr>
                <p:cNvPr id="76" name="Rectangle: Rounded Corners 75">
                  <a:extLst>
                    <a:ext uri="{FF2B5EF4-FFF2-40B4-BE49-F238E27FC236}">
                      <a16:creationId xmlns:a16="http://schemas.microsoft.com/office/drawing/2014/main" id="{7FEFE25B-A653-C731-FE6F-15786B073E12}"/>
                    </a:ext>
                  </a:extLst>
                </p:cNvPr>
                <p:cNvSpPr/>
                <p:nvPr/>
              </p:nvSpPr>
              <p:spPr>
                <a:xfrm>
                  <a:off x="9528175" y="5165247"/>
                  <a:ext cx="1654176" cy="129439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900" b="1">
                      <a:solidFill>
                        <a:schemeClr val="tx1"/>
                      </a:solidFill>
                    </a:rPr>
                    <a:t>Operational</a:t>
                  </a:r>
                </a:p>
              </p:txBody>
            </p:sp>
            <p:sp>
              <p:nvSpPr>
                <p:cNvPr id="77" name="Rectangle: Rounded Corners 76">
                  <a:extLst>
                    <a:ext uri="{FF2B5EF4-FFF2-40B4-BE49-F238E27FC236}">
                      <a16:creationId xmlns:a16="http://schemas.microsoft.com/office/drawing/2014/main" id="{6026DD57-C55A-0DB8-B829-C3E9F71025DA}"/>
                    </a:ext>
                  </a:extLst>
                </p:cNvPr>
                <p:cNvSpPr/>
                <p:nvPr/>
              </p:nvSpPr>
              <p:spPr>
                <a:xfrm>
                  <a:off x="9604395" y="5419369"/>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Ingestion &amp; Lineage</a:t>
                  </a:r>
                </a:p>
              </p:txBody>
            </p:sp>
            <p:sp>
              <p:nvSpPr>
                <p:cNvPr id="78" name="Rectangle: Rounded Corners 77">
                  <a:extLst>
                    <a:ext uri="{FF2B5EF4-FFF2-40B4-BE49-F238E27FC236}">
                      <a16:creationId xmlns:a16="http://schemas.microsoft.com/office/drawing/2014/main" id="{E068CA8C-9015-ED70-D13A-3A1012A23BB6}"/>
                    </a:ext>
                  </a:extLst>
                </p:cNvPr>
                <p:cNvSpPr/>
                <p:nvPr/>
              </p:nvSpPr>
              <p:spPr>
                <a:xfrm>
                  <a:off x="9604395" y="5759212"/>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Data Quality</a:t>
                  </a:r>
                </a:p>
              </p:txBody>
            </p:sp>
            <p:sp>
              <p:nvSpPr>
                <p:cNvPr id="79" name="Rectangle: Rounded Corners 78">
                  <a:extLst>
                    <a:ext uri="{FF2B5EF4-FFF2-40B4-BE49-F238E27FC236}">
                      <a16:creationId xmlns:a16="http://schemas.microsoft.com/office/drawing/2014/main" id="{BE464057-341E-4D1D-5CD5-A40387EF937D}"/>
                    </a:ext>
                  </a:extLst>
                </p:cNvPr>
                <p:cNvSpPr/>
                <p:nvPr/>
              </p:nvSpPr>
              <p:spPr>
                <a:xfrm>
                  <a:off x="9604395" y="6099055"/>
                  <a:ext cx="1501737" cy="289798"/>
                </a:xfrm>
                <a:prstGeom prst="roundRect">
                  <a:avLst>
                    <a:gd name="adj" fmla="val 7788"/>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a:solidFill>
                        <a:schemeClr val="bg1"/>
                      </a:solidFill>
                    </a:rPr>
                    <a:t>Entity Resolution</a:t>
                  </a:r>
                </a:p>
              </p:txBody>
            </p:sp>
          </p:grpSp>
          <p:sp>
            <p:nvSpPr>
              <p:cNvPr id="59" name="Oval 58">
                <a:extLst>
                  <a:ext uri="{FF2B5EF4-FFF2-40B4-BE49-F238E27FC236}">
                    <a16:creationId xmlns:a16="http://schemas.microsoft.com/office/drawing/2014/main" id="{26AE41F8-DEBD-AA10-5F3A-066FBBEE6E20}"/>
                  </a:ext>
                </a:extLst>
              </p:cNvPr>
              <p:cNvSpPr/>
              <p:nvPr/>
            </p:nvSpPr>
            <p:spPr>
              <a:xfrm>
                <a:off x="913149"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60" name="Oval 59">
                <a:extLst>
                  <a:ext uri="{FF2B5EF4-FFF2-40B4-BE49-F238E27FC236}">
                    <a16:creationId xmlns:a16="http://schemas.microsoft.com/office/drawing/2014/main" id="{C6545C1B-13E1-80B6-4EB8-D051C584CCF8}"/>
                  </a:ext>
                </a:extLst>
              </p:cNvPr>
              <p:cNvSpPr/>
              <p:nvPr/>
            </p:nvSpPr>
            <p:spPr>
              <a:xfrm>
                <a:off x="31063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61" name="Oval 60">
                <a:extLst>
                  <a:ext uri="{FF2B5EF4-FFF2-40B4-BE49-F238E27FC236}">
                    <a16:creationId xmlns:a16="http://schemas.microsoft.com/office/drawing/2014/main" id="{17D6026F-07FA-6D14-858E-D45D571D3E0C}"/>
                  </a:ext>
                </a:extLst>
              </p:cNvPr>
              <p:cNvSpPr/>
              <p:nvPr/>
            </p:nvSpPr>
            <p:spPr>
              <a:xfrm>
                <a:off x="5303000"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62" name="Oval 61">
                <a:extLst>
                  <a:ext uri="{FF2B5EF4-FFF2-40B4-BE49-F238E27FC236}">
                    <a16:creationId xmlns:a16="http://schemas.microsoft.com/office/drawing/2014/main" id="{E2F3E517-5821-AA60-A5F8-0EDE6E5E39C2}"/>
                  </a:ext>
                </a:extLst>
              </p:cNvPr>
              <p:cNvSpPr/>
              <p:nvPr/>
            </p:nvSpPr>
            <p:spPr>
              <a:xfrm>
                <a:off x="913149" y="487072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4</a:t>
                </a:r>
              </a:p>
            </p:txBody>
          </p:sp>
          <p:sp>
            <p:nvSpPr>
              <p:cNvPr id="63" name="Oval 62">
                <a:extLst>
                  <a:ext uri="{FF2B5EF4-FFF2-40B4-BE49-F238E27FC236}">
                    <a16:creationId xmlns:a16="http://schemas.microsoft.com/office/drawing/2014/main" id="{10B8D001-CC1A-5692-0895-61F7E0585DA7}"/>
                  </a:ext>
                </a:extLst>
              </p:cNvPr>
              <p:cNvSpPr/>
              <p:nvPr/>
            </p:nvSpPr>
            <p:spPr>
              <a:xfrm>
                <a:off x="913149" y="5740153"/>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5</a:t>
                </a:r>
              </a:p>
            </p:txBody>
          </p:sp>
          <p:sp>
            <p:nvSpPr>
              <p:cNvPr id="64" name="Oval 63">
                <a:extLst>
                  <a:ext uri="{FF2B5EF4-FFF2-40B4-BE49-F238E27FC236}">
                    <a16:creationId xmlns:a16="http://schemas.microsoft.com/office/drawing/2014/main" id="{F3692510-9F9B-CAA2-B60F-3D959F9732C4}"/>
                  </a:ext>
                </a:extLst>
              </p:cNvPr>
              <p:cNvSpPr/>
              <p:nvPr/>
            </p:nvSpPr>
            <p:spPr>
              <a:xfrm>
                <a:off x="7679642" y="1614074"/>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6</a:t>
                </a:r>
              </a:p>
            </p:txBody>
          </p:sp>
          <p:sp>
            <p:nvSpPr>
              <p:cNvPr id="65" name="Oval 64">
                <a:extLst>
                  <a:ext uri="{FF2B5EF4-FFF2-40B4-BE49-F238E27FC236}">
                    <a16:creationId xmlns:a16="http://schemas.microsoft.com/office/drawing/2014/main" id="{0652B987-FAAD-45DA-982D-2097643A3831}"/>
                  </a:ext>
                </a:extLst>
              </p:cNvPr>
              <p:cNvSpPr/>
              <p:nvPr/>
            </p:nvSpPr>
            <p:spPr>
              <a:xfrm>
                <a:off x="7679642" y="2772162"/>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7</a:t>
                </a:r>
              </a:p>
            </p:txBody>
          </p:sp>
          <p:sp>
            <p:nvSpPr>
              <p:cNvPr id="66" name="Oval 65">
                <a:extLst>
                  <a:ext uri="{FF2B5EF4-FFF2-40B4-BE49-F238E27FC236}">
                    <a16:creationId xmlns:a16="http://schemas.microsoft.com/office/drawing/2014/main" id="{14A1D682-F5A4-5DFF-A32F-C130952F1F95}"/>
                  </a:ext>
                </a:extLst>
              </p:cNvPr>
              <p:cNvSpPr/>
              <p:nvPr/>
            </p:nvSpPr>
            <p:spPr>
              <a:xfrm>
                <a:off x="7679642" y="5064451"/>
                <a:ext cx="209996" cy="20999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900">
                    <a:solidFill>
                      <a:schemeClr val="bg1"/>
                    </a:solidFill>
                  </a:rPr>
                  <a:t>8</a:t>
                </a:r>
              </a:p>
            </p:txBody>
          </p:sp>
          <p:grpSp>
            <p:nvGrpSpPr>
              <p:cNvPr id="67" name="Group 66">
                <a:extLst>
                  <a:ext uri="{FF2B5EF4-FFF2-40B4-BE49-F238E27FC236}">
                    <a16:creationId xmlns:a16="http://schemas.microsoft.com/office/drawing/2014/main" id="{320D4F51-0F34-9D7E-95A9-08AF63FA3C32}"/>
                  </a:ext>
                </a:extLst>
              </p:cNvPr>
              <p:cNvGrpSpPr/>
              <p:nvPr/>
            </p:nvGrpSpPr>
            <p:grpSpPr>
              <a:xfrm>
                <a:off x="735186" y="3851600"/>
                <a:ext cx="237742" cy="221637"/>
                <a:chOff x="2609335" y="3905063"/>
                <a:chExt cx="477260" cy="477260"/>
              </a:xfrm>
            </p:grpSpPr>
            <p:sp>
              <p:nvSpPr>
                <p:cNvPr id="74" name="Oval 73">
                  <a:extLst>
                    <a:ext uri="{FF2B5EF4-FFF2-40B4-BE49-F238E27FC236}">
                      <a16:creationId xmlns:a16="http://schemas.microsoft.com/office/drawing/2014/main" id="{262CCEA9-5436-A74B-701A-8DED301FFA05}"/>
                    </a:ext>
                  </a:extLst>
                </p:cNvPr>
                <p:cNvSpPr/>
                <p:nvPr/>
              </p:nvSpPr>
              <p:spPr>
                <a:xfrm>
                  <a:off x="2609335" y="3905063"/>
                  <a:ext cx="477260" cy="47726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5" name="Arrow: Right 74">
                  <a:extLst>
                    <a:ext uri="{FF2B5EF4-FFF2-40B4-BE49-F238E27FC236}">
                      <a16:creationId xmlns:a16="http://schemas.microsoft.com/office/drawing/2014/main" id="{D48AEDF5-AFFF-6CFC-89A0-DBA627B58D04}"/>
                    </a:ext>
                  </a:extLst>
                </p:cNvPr>
                <p:cNvSpPr/>
                <p:nvPr/>
              </p:nvSpPr>
              <p:spPr>
                <a:xfrm>
                  <a:off x="2688198" y="4019446"/>
                  <a:ext cx="319534" cy="248494"/>
                </a:xfrm>
                <a:prstGeom prs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68" name="Group 67">
                <a:extLst>
                  <a:ext uri="{FF2B5EF4-FFF2-40B4-BE49-F238E27FC236}">
                    <a16:creationId xmlns:a16="http://schemas.microsoft.com/office/drawing/2014/main" id="{430FEF6A-24AC-F35E-3FEF-C9F9B2A5B57D}"/>
                  </a:ext>
                </a:extLst>
              </p:cNvPr>
              <p:cNvGrpSpPr/>
              <p:nvPr/>
            </p:nvGrpSpPr>
            <p:grpSpPr>
              <a:xfrm>
                <a:off x="7537704" y="3851600"/>
                <a:ext cx="237742" cy="221637"/>
                <a:chOff x="5018954" y="3752147"/>
                <a:chExt cx="381020" cy="381020"/>
              </a:xfrm>
            </p:grpSpPr>
            <p:sp>
              <p:nvSpPr>
                <p:cNvPr id="72" name="Oval 71">
                  <a:extLst>
                    <a:ext uri="{FF2B5EF4-FFF2-40B4-BE49-F238E27FC236}">
                      <a16:creationId xmlns:a16="http://schemas.microsoft.com/office/drawing/2014/main" id="{AC437439-7AA2-8FA2-9C0F-CE0CE6190AEE}"/>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3" name="Arrow: Left-Right 72">
                  <a:extLst>
                    <a:ext uri="{FF2B5EF4-FFF2-40B4-BE49-F238E27FC236}">
                      <a16:creationId xmlns:a16="http://schemas.microsoft.com/office/drawing/2014/main" id="{6D442206-C696-5B12-8E07-7E41DE9269A4}"/>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nvGrpSpPr>
              <p:cNvPr id="69" name="Group 68">
                <a:extLst>
                  <a:ext uri="{FF2B5EF4-FFF2-40B4-BE49-F238E27FC236}">
                    <a16:creationId xmlns:a16="http://schemas.microsoft.com/office/drawing/2014/main" id="{D580D415-696D-EEC5-271D-C4103BB1039D}"/>
                  </a:ext>
                </a:extLst>
              </p:cNvPr>
              <p:cNvGrpSpPr/>
              <p:nvPr/>
            </p:nvGrpSpPr>
            <p:grpSpPr>
              <a:xfrm>
                <a:off x="9105399" y="3851600"/>
                <a:ext cx="237742" cy="221637"/>
                <a:chOff x="5018954" y="3752147"/>
                <a:chExt cx="381020" cy="381020"/>
              </a:xfrm>
            </p:grpSpPr>
            <p:sp>
              <p:nvSpPr>
                <p:cNvPr id="70" name="Oval 69">
                  <a:extLst>
                    <a:ext uri="{FF2B5EF4-FFF2-40B4-BE49-F238E27FC236}">
                      <a16:creationId xmlns:a16="http://schemas.microsoft.com/office/drawing/2014/main" id="{C67C5257-9BE6-FB6E-3C95-04B7ED4F1D35}"/>
                    </a:ext>
                  </a:extLst>
                </p:cNvPr>
                <p:cNvSpPr/>
                <p:nvPr/>
              </p:nvSpPr>
              <p:spPr>
                <a:xfrm>
                  <a:off x="5018954" y="3752147"/>
                  <a:ext cx="381020" cy="381020"/>
                </a:xfrm>
                <a:prstGeom prst="ellipse">
                  <a:avLst/>
                </a:prstGeom>
                <a:solidFill>
                  <a:schemeClr val="tx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1" name="Arrow: Left-Right 70">
                  <a:extLst>
                    <a:ext uri="{FF2B5EF4-FFF2-40B4-BE49-F238E27FC236}">
                      <a16:creationId xmlns:a16="http://schemas.microsoft.com/office/drawing/2014/main" id="{90357936-A6F8-BFE4-DFBC-CC70C74F9C9F}"/>
                    </a:ext>
                  </a:extLst>
                </p:cNvPr>
                <p:cNvSpPr/>
                <p:nvPr/>
              </p:nvSpPr>
              <p:spPr>
                <a:xfrm>
                  <a:off x="5060089" y="3843465"/>
                  <a:ext cx="298751" cy="198384"/>
                </a:xfrm>
                <a:prstGeom prst="leftRightArrow">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grpSp>
      </p:grpSp>
    </p:spTree>
    <p:extLst>
      <p:ext uri="{BB962C8B-B14F-4D97-AF65-F5344CB8AC3E}">
        <p14:creationId xmlns:p14="http://schemas.microsoft.com/office/powerpoint/2010/main" val="2417371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C3B9B4-4336-3B8F-5D1B-292E7E459DC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9481B51-B239-7E68-75D5-CE63C4790CE8}"/>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CB3F46E3-D767-1B6C-52E7-243A22E919E7}"/>
              </a:ext>
            </a:extLst>
          </p:cNvPr>
          <p:cNvSpPr>
            <a:spLocks noGrp="1"/>
          </p:cNvSpPr>
          <p:nvPr>
            <p:ph type="sldNum" sz="quarter" idx="30"/>
          </p:nvPr>
        </p:nvSpPr>
        <p:spPr/>
        <p:txBody>
          <a:bodyPr/>
          <a:lstStyle/>
          <a:p>
            <a:pPr algn="r"/>
            <a:fld id="{5D9A5160-6218-4E5A-B9E6-B93E3DAE377C}" type="slidenum">
              <a:rPr lang="en-US" smtClean="0"/>
              <a:pPr algn="r"/>
              <a:t>34</a:t>
            </a:fld>
            <a:endParaRPr lang="en-US"/>
          </a:p>
        </p:txBody>
      </p:sp>
      <p:sp>
        <p:nvSpPr>
          <p:cNvPr id="5" name="Title 4">
            <a:extLst>
              <a:ext uri="{FF2B5EF4-FFF2-40B4-BE49-F238E27FC236}">
                <a16:creationId xmlns:a16="http://schemas.microsoft.com/office/drawing/2014/main" id="{AD22884F-74A2-4DA4-6C33-AA7E9E20A412}"/>
              </a:ext>
            </a:extLst>
          </p:cNvPr>
          <p:cNvSpPr>
            <a:spLocks noGrp="1"/>
          </p:cNvSpPr>
          <p:nvPr>
            <p:ph type="title"/>
          </p:nvPr>
        </p:nvSpPr>
        <p:spPr/>
        <p:txBody>
          <a:bodyPr/>
          <a:lstStyle/>
          <a:p>
            <a:r>
              <a:rPr lang="en-US"/>
              <a:t>Marketing and promotional assets’ value levers of content intelligence layer</a:t>
            </a:r>
          </a:p>
        </p:txBody>
      </p:sp>
      <p:graphicFrame>
        <p:nvGraphicFramePr>
          <p:cNvPr id="6" name="Table 5">
            <a:extLst>
              <a:ext uri="{FF2B5EF4-FFF2-40B4-BE49-F238E27FC236}">
                <a16:creationId xmlns:a16="http://schemas.microsoft.com/office/drawing/2014/main" id="{E2958089-BB0A-6568-B231-154D4E2ECE72}"/>
              </a:ext>
            </a:extLst>
          </p:cNvPr>
          <p:cNvGraphicFramePr>
            <a:graphicFrameLocks noGrp="1"/>
          </p:cNvGraphicFramePr>
          <p:nvPr>
            <p:extLst>
              <p:ext uri="{D42A27DB-BD31-4B8C-83A1-F6EECF244321}">
                <p14:modId xmlns:p14="http://schemas.microsoft.com/office/powerpoint/2010/main" val="1010873764"/>
              </p:ext>
            </p:extLst>
          </p:nvPr>
        </p:nvGraphicFramePr>
        <p:xfrm>
          <a:off x="549678" y="985996"/>
          <a:ext cx="11090940" cy="2378996"/>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5876">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velocity acceleration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Manual screening of hours of footage to identify promo-worthy moments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Engagement metadata (viewership spikes, social velocity) auto-surfaces candidate moments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Compress campaign ideation-to-delivery cycle; respond to events in near-real-time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launch timeline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Creative variant generation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Limited A/B testing due to manual creative production costs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Template-based rendering generates multiple creative variants from single editorial decision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Test 5-10x more creative concepts per campaign with same production budget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Number of creative variants tested per campaign; cost per variant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Resource reallocation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Editorial teams spend time on repetitive promo cuts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Automation handles mechanical aspects; editors focus on strategic campaign narrative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Shift senior editorial talent from execution to higher-value creative strategy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Editorial time allocation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951753627"/>
                  </a:ext>
                </a:extLst>
              </a:tr>
            </a:tbl>
          </a:graphicData>
        </a:graphic>
      </p:graphicFrame>
      <p:graphicFrame>
        <p:nvGraphicFramePr>
          <p:cNvPr id="7" name="Table 6">
            <a:extLst>
              <a:ext uri="{FF2B5EF4-FFF2-40B4-BE49-F238E27FC236}">
                <a16:creationId xmlns:a16="http://schemas.microsoft.com/office/drawing/2014/main" id="{AF6FC185-CC20-D2A6-8AA7-A3DE0F961E91}"/>
              </a:ext>
            </a:extLst>
          </p:cNvPr>
          <p:cNvGraphicFramePr>
            <a:graphicFrameLocks noGrp="1"/>
          </p:cNvGraphicFramePr>
          <p:nvPr>
            <p:extLst>
              <p:ext uri="{D42A27DB-BD31-4B8C-83A1-F6EECF244321}">
                <p14:modId xmlns:p14="http://schemas.microsoft.com/office/powerpoint/2010/main" val="3729249282"/>
              </p:ext>
            </p:extLst>
          </p:nvPr>
        </p:nvGraphicFramePr>
        <p:xfrm>
          <a:off x="549678" y="3799481"/>
          <a:ext cx="11090940" cy="150716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2">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responsiveness premium</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Advertisers pay premium for time-sensitive placements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Same-day promo turnaround enables responsive campaign execution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Capture time-sensitive advertising opportunities that require rapid creative execution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Premium pricing capture for responsive campaigns; win rate on time-sensitive RFPs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Cross-promotion effectiveness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Generic promos due to production constraints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Audience-specific promos using metadata-driven targeting</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Improved tune-in rates and cross-portfolio viewership migration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Promo effectiveness (tune-in lift); cross-viewership conversion rates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pic>
        <p:nvPicPr>
          <p:cNvPr id="9" name="Graphic 8" descr="Circle with left arrow outline">
            <a:hlinkClick r:id="rId2" action="ppaction://hlinksldjump"/>
            <a:extLst>
              <a:ext uri="{FF2B5EF4-FFF2-40B4-BE49-F238E27FC236}">
                <a16:creationId xmlns:a16="http://schemas.microsoft.com/office/drawing/2014/main" id="{49538670-FF44-7A89-A641-CACA7CE799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585099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D49BE-914C-A1F9-3EF7-2339E79A0A0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7D03B7D-B7A3-4A4B-0FF1-1CC1C9CF233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9DC21DA-1CE3-47C2-AEF9-58548DD8A73D}"/>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01536AB5-0B78-CB62-299F-EDDD730BCFBD}"/>
              </a:ext>
            </a:extLst>
          </p:cNvPr>
          <p:cNvSpPr>
            <a:spLocks noGrp="1"/>
          </p:cNvSpPr>
          <p:nvPr>
            <p:ph type="sldNum" sz="quarter" idx="30"/>
          </p:nvPr>
        </p:nvSpPr>
        <p:spPr/>
        <p:txBody>
          <a:bodyPr/>
          <a:lstStyle/>
          <a:p>
            <a:pPr algn="r"/>
            <a:fld id="{5D9A5160-6218-4E5A-B9E6-B93E3DAE377C}" type="slidenum">
              <a:rPr lang="en-US" smtClean="0"/>
              <a:pPr algn="r"/>
              <a:t>35</a:t>
            </a:fld>
            <a:endParaRPr lang="en-US"/>
          </a:p>
        </p:txBody>
      </p:sp>
      <p:sp>
        <p:nvSpPr>
          <p:cNvPr id="5" name="Title 4">
            <a:extLst>
              <a:ext uri="{FF2B5EF4-FFF2-40B4-BE49-F238E27FC236}">
                <a16:creationId xmlns:a16="http://schemas.microsoft.com/office/drawing/2014/main" id="{EA83CA74-B893-E0A6-5023-68ADEF19CFDF}"/>
              </a:ext>
            </a:extLst>
          </p:cNvPr>
          <p:cNvSpPr>
            <a:spLocks noGrp="1"/>
          </p:cNvSpPr>
          <p:nvPr>
            <p:ph type="title"/>
          </p:nvPr>
        </p:nvSpPr>
        <p:spPr/>
        <p:txBody>
          <a:bodyPr/>
          <a:lstStyle/>
          <a:p>
            <a:r>
              <a:rPr lang="en-US"/>
              <a:t>Social and digital formats’ value levers of content intelligence layer</a:t>
            </a:r>
          </a:p>
        </p:txBody>
      </p:sp>
      <p:graphicFrame>
        <p:nvGraphicFramePr>
          <p:cNvPr id="6" name="Table 5">
            <a:extLst>
              <a:ext uri="{FF2B5EF4-FFF2-40B4-BE49-F238E27FC236}">
                <a16:creationId xmlns:a16="http://schemas.microsoft.com/office/drawing/2014/main" id="{26C045B4-F2B6-BBC8-3C59-F37700DCF5B6}"/>
              </a:ext>
            </a:extLst>
          </p:cNvPr>
          <p:cNvGraphicFramePr>
            <a:graphicFrameLocks noGrp="1"/>
          </p:cNvGraphicFramePr>
          <p:nvPr>
            <p:extLst>
              <p:ext uri="{D42A27DB-BD31-4B8C-83A1-F6EECF244321}">
                <p14:modId xmlns:p14="http://schemas.microsoft.com/office/powerpoint/2010/main" val="1275678019"/>
              </p:ext>
            </p:extLst>
          </p:nvPr>
        </p:nvGraphicFramePr>
        <p:xfrm>
          <a:off x="549678" y="985996"/>
          <a:ext cx="11090940" cy="2226596"/>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5876">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content production scalability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Separate social team manually reformats select highlights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Multi-platform rendering from single editorial selection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Multiply social content output without proportional headcount increase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posts per editorial FTE; time from content availability to social publish</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Platform-native optimization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Generic aspect ratios and durations that underperform on platform algorithms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Face detection and subject tracking metadata enables intelligent auto-cropping to 9:16, 1:1, 16:9</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algorithm favorability; reduced re-work from manual cropping errors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engagement rates; creative re-work volume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Hashtag and caption automation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teams write captions and research trending hashtags per post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Content taxonomy and trending topic crosswalk auto-generates platform-optimized captions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Eliminate repetitive copywriting; ensure SEO/hashtag best practices at scale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Time spent on caption writing; hashtag effectiveness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951753627"/>
                  </a:ext>
                </a:extLst>
              </a:tr>
            </a:tbl>
          </a:graphicData>
        </a:graphic>
      </p:graphicFrame>
      <p:graphicFrame>
        <p:nvGraphicFramePr>
          <p:cNvPr id="7" name="Table 6">
            <a:extLst>
              <a:ext uri="{FF2B5EF4-FFF2-40B4-BE49-F238E27FC236}">
                <a16:creationId xmlns:a16="http://schemas.microsoft.com/office/drawing/2014/main" id="{42BA846E-E2C7-ABF9-659B-49EA48C6D3CF}"/>
              </a:ext>
            </a:extLst>
          </p:cNvPr>
          <p:cNvGraphicFramePr>
            <a:graphicFrameLocks noGrp="1"/>
          </p:cNvGraphicFramePr>
          <p:nvPr>
            <p:extLst>
              <p:ext uri="{D42A27DB-BD31-4B8C-83A1-F6EECF244321}">
                <p14:modId xmlns:p14="http://schemas.microsoft.com/office/powerpoint/2010/main" val="656414433"/>
              </p:ext>
            </p:extLst>
          </p:nvPr>
        </p:nvGraphicFramePr>
        <p:xfrm>
          <a:off x="549678" y="3799481"/>
          <a:ext cx="11090940" cy="205580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monetization arbitrage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revenue share programs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Greater content volume enables CPM/revenue share capture at scale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Transform social from pure marketing expense to partial P&amp;L contributor</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platform revenue; cost per social-sourced acquisition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Audience growth velocity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Social algorithms reward posting frequency and engagement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Consistent high-frequency posting feeds algorithm favorability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Accelerate follower growth; compound reach advantage over competitors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Follower growth rate; organic reach per post; share of social voice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Real-time engagement capture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Live events drive social conversation peaks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Sub-10-minute turnaround from event to social publish captures peak engagement window</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Ride engagement waves while audience is actively discussing the moment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Post timing vs. peak conversation window; engagement rate by publish latency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1209871283"/>
                  </a:ext>
                </a:extLst>
              </a:tr>
            </a:tbl>
          </a:graphicData>
        </a:graphic>
      </p:graphicFrame>
      <p:pic>
        <p:nvPicPr>
          <p:cNvPr id="9" name="Graphic 8" descr="Circle with left arrow outline">
            <a:hlinkClick r:id="rId2" action="ppaction://hlinksldjump"/>
            <a:extLst>
              <a:ext uri="{FF2B5EF4-FFF2-40B4-BE49-F238E27FC236}">
                <a16:creationId xmlns:a16="http://schemas.microsoft.com/office/drawing/2014/main" id="{F2B23B58-33D9-9748-224E-1D23130BDC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173953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B76E8-DB16-5D91-51C4-514EC0E8C50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1406E38-E571-CB3B-F3A1-5793035F782F}"/>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5246AC1-F47D-7211-8D48-72417ED5F705}"/>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17CBCFEB-D26B-F59B-48D2-B3EE7665710B}"/>
              </a:ext>
            </a:extLst>
          </p:cNvPr>
          <p:cNvSpPr>
            <a:spLocks noGrp="1"/>
          </p:cNvSpPr>
          <p:nvPr>
            <p:ph type="sldNum" sz="quarter" idx="30"/>
          </p:nvPr>
        </p:nvSpPr>
        <p:spPr/>
        <p:txBody>
          <a:bodyPr/>
          <a:lstStyle/>
          <a:p>
            <a:pPr algn="r"/>
            <a:fld id="{5D9A5160-6218-4E5A-B9E6-B93E3DAE377C}" type="slidenum">
              <a:rPr lang="en-US" smtClean="0"/>
              <a:pPr algn="r"/>
              <a:t>36</a:t>
            </a:fld>
            <a:endParaRPr lang="en-US"/>
          </a:p>
        </p:txBody>
      </p:sp>
      <p:sp>
        <p:nvSpPr>
          <p:cNvPr id="5" name="Title 4">
            <a:extLst>
              <a:ext uri="{FF2B5EF4-FFF2-40B4-BE49-F238E27FC236}">
                <a16:creationId xmlns:a16="http://schemas.microsoft.com/office/drawing/2014/main" id="{22445DE1-0A37-1BDE-F444-8608851268C4}"/>
              </a:ext>
            </a:extLst>
          </p:cNvPr>
          <p:cNvSpPr>
            <a:spLocks noGrp="1"/>
          </p:cNvSpPr>
          <p:nvPr>
            <p:ph type="title"/>
          </p:nvPr>
        </p:nvSpPr>
        <p:spPr/>
        <p:txBody>
          <a:bodyPr/>
          <a:lstStyle/>
          <a:p>
            <a:r>
              <a:rPr lang="en-US"/>
              <a:t>Editorial and content extensions’ value levers of content intelligence layer</a:t>
            </a:r>
          </a:p>
        </p:txBody>
      </p:sp>
      <p:graphicFrame>
        <p:nvGraphicFramePr>
          <p:cNvPr id="6" name="Table 5">
            <a:extLst>
              <a:ext uri="{FF2B5EF4-FFF2-40B4-BE49-F238E27FC236}">
                <a16:creationId xmlns:a16="http://schemas.microsoft.com/office/drawing/2014/main" id="{DC113FEF-F916-9437-5CC4-15FB94E6F8D7}"/>
              </a:ext>
            </a:extLst>
          </p:cNvPr>
          <p:cNvGraphicFramePr>
            <a:graphicFrameLocks noGrp="1"/>
          </p:cNvGraphicFramePr>
          <p:nvPr>
            <p:extLst>
              <p:ext uri="{D42A27DB-BD31-4B8C-83A1-F6EECF244321}">
                <p14:modId xmlns:p14="http://schemas.microsoft.com/office/powerpoint/2010/main" val="57418514"/>
              </p:ext>
            </p:extLst>
          </p:nvPr>
        </p:nvGraphicFramePr>
        <p:xfrm>
          <a:off x="549678" y="985996"/>
          <a:ext cx="11090940" cy="1373156"/>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5876">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2">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Talent soundbite library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Manual review of interviews to find quotable moments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Speaker diarization and sentiment tagging surfaces high-impact quotes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Build reusable soundbite library; accelerate future content assembly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Time to identify usable soundbite; soundbite reuse rate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Recap automation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Editors watch full episodes/events to identify key moments for recaps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"Key moment" metadata enables automated recap assembly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Produce recaps without full re-watch; consistent recap cadence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Editorial hours per recap; recap production consistency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graphicFrame>
        <p:nvGraphicFramePr>
          <p:cNvPr id="7" name="Table 6">
            <a:extLst>
              <a:ext uri="{FF2B5EF4-FFF2-40B4-BE49-F238E27FC236}">
                <a16:creationId xmlns:a16="http://schemas.microsoft.com/office/drawing/2014/main" id="{085731A6-3899-AA95-70C6-4473D684E772}"/>
              </a:ext>
            </a:extLst>
          </p:cNvPr>
          <p:cNvGraphicFramePr>
            <a:graphicFrameLocks noGrp="1"/>
          </p:cNvGraphicFramePr>
          <p:nvPr>
            <p:extLst>
              <p:ext uri="{D42A27DB-BD31-4B8C-83A1-F6EECF244321}">
                <p14:modId xmlns:p14="http://schemas.microsoft.com/office/powerpoint/2010/main" val="588939437"/>
              </p:ext>
            </p:extLst>
          </p:nvPr>
        </p:nvGraphicFramePr>
        <p:xfrm>
          <a:off x="549678" y="3799481"/>
          <a:ext cx="11090940" cy="150716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Companion content engagement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Streaming platforms reward content ecosystems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Systematic companion content production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Increased time-on-platform; improved retention through content depth</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Viewer session duration; content ecosystem completion rates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Talent as distribution channel</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Athletes/actors/personalities share content featuring themselves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Talent soundbite clips are sharable assets talent can distribute on personal channels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Leverage talent's social reach without incremental marketing spend</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Talent social shares; reach via talent channels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pic>
        <p:nvPicPr>
          <p:cNvPr id="9" name="Graphic 8" descr="Circle with left arrow outline">
            <a:hlinkClick r:id="rId2" action="ppaction://hlinksldjump"/>
            <a:extLst>
              <a:ext uri="{FF2B5EF4-FFF2-40B4-BE49-F238E27FC236}">
                <a16:creationId xmlns:a16="http://schemas.microsoft.com/office/drawing/2014/main" id="{27BAA715-3EFE-906A-A7F9-EECBF6713A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2412181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4B2C2-77B4-7DA1-8C08-683269B1692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FDE0914-E1B5-DD84-5BB4-CEA8B31335A2}"/>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0701B60-851E-8A15-1178-CEC7B8E55D0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15FAEB5C-9EFD-A5AC-086D-0C47122EBA55}"/>
              </a:ext>
            </a:extLst>
          </p:cNvPr>
          <p:cNvSpPr>
            <a:spLocks noGrp="1"/>
          </p:cNvSpPr>
          <p:nvPr>
            <p:ph type="sldNum" sz="quarter" idx="30"/>
          </p:nvPr>
        </p:nvSpPr>
        <p:spPr/>
        <p:txBody>
          <a:bodyPr/>
          <a:lstStyle/>
          <a:p>
            <a:pPr algn="r"/>
            <a:fld id="{5D9A5160-6218-4E5A-B9E6-B93E3DAE377C}" type="slidenum">
              <a:rPr lang="en-US" smtClean="0"/>
              <a:pPr algn="r"/>
              <a:t>37</a:t>
            </a:fld>
            <a:endParaRPr lang="en-US"/>
          </a:p>
        </p:txBody>
      </p:sp>
      <p:sp>
        <p:nvSpPr>
          <p:cNvPr id="5" name="Title 4">
            <a:extLst>
              <a:ext uri="{FF2B5EF4-FFF2-40B4-BE49-F238E27FC236}">
                <a16:creationId xmlns:a16="http://schemas.microsoft.com/office/drawing/2014/main" id="{9BFE4823-9AD7-A19A-8578-5E3C28F15101}"/>
              </a:ext>
            </a:extLst>
          </p:cNvPr>
          <p:cNvSpPr>
            <a:spLocks noGrp="1"/>
          </p:cNvSpPr>
          <p:nvPr>
            <p:ph type="title"/>
          </p:nvPr>
        </p:nvSpPr>
        <p:spPr/>
        <p:txBody>
          <a:bodyPr/>
          <a:lstStyle/>
          <a:p>
            <a:r>
              <a:rPr lang="en-US"/>
              <a:t>Platform-specific short form contents’ value levers of content intelligence layer</a:t>
            </a:r>
          </a:p>
        </p:txBody>
      </p:sp>
      <p:graphicFrame>
        <p:nvGraphicFramePr>
          <p:cNvPr id="7" name="Table 6">
            <a:extLst>
              <a:ext uri="{FF2B5EF4-FFF2-40B4-BE49-F238E27FC236}">
                <a16:creationId xmlns:a16="http://schemas.microsoft.com/office/drawing/2014/main" id="{12DE9D99-FEDA-D85C-D148-C390B33CAB34}"/>
              </a:ext>
            </a:extLst>
          </p:cNvPr>
          <p:cNvGraphicFramePr>
            <a:graphicFrameLocks noGrp="1"/>
          </p:cNvGraphicFramePr>
          <p:nvPr>
            <p:extLst>
              <p:ext uri="{D42A27DB-BD31-4B8C-83A1-F6EECF244321}">
                <p14:modId xmlns:p14="http://schemas.microsoft.com/office/powerpoint/2010/main" val="1450414515"/>
              </p:ext>
            </p:extLst>
          </p:nvPr>
        </p:nvGraphicFramePr>
        <p:xfrm>
          <a:off x="549678" y="3799481"/>
          <a:ext cx="11090940" cy="181196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2">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AVOD/FAST inventory expansion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Ad-supported streaming growing faster than subscription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Abundant platform-optimized content enables new AVOD/FAST channel launches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Launch niche channels (classic matches, specific sports, themed programming) without incremental content production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AVOD/FAST channel count; ad inventory available; CPM rates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partnership value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deals include content volume commitments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Guaranteed content delivery cadence (X new clips/week) strengthens platform partnership terms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Meet content commitments without manual production scaling; negotiate better revenue shares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content commitment fulfillment; revenue share terms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graphicFrame>
        <p:nvGraphicFramePr>
          <p:cNvPr id="8" name="Table 7">
            <a:extLst>
              <a:ext uri="{FF2B5EF4-FFF2-40B4-BE49-F238E27FC236}">
                <a16:creationId xmlns:a16="http://schemas.microsoft.com/office/drawing/2014/main" id="{E70C0C8B-9D30-4C90-036A-6440C430F5DA}"/>
              </a:ext>
            </a:extLst>
          </p:cNvPr>
          <p:cNvGraphicFramePr>
            <a:graphicFrameLocks noGrp="1"/>
          </p:cNvGraphicFramePr>
          <p:nvPr>
            <p:extLst>
              <p:ext uri="{D42A27DB-BD31-4B8C-83A1-F6EECF244321}">
                <p14:modId xmlns:p14="http://schemas.microsoft.com/office/powerpoint/2010/main" val="3647862175"/>
              </p:ext>
            </p:extLst>
          </p:nvPr>
        </p:nvGraphicFramePr>
        <p:xfrm>
          <a:off x="549678" y="985996"/>
          <a:ext cx="11090940" cy="2377753"/>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4633">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team queue elimination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Platform reps (AVOD, FAST, streaming) submit one-off requests creating editorial bottlenecks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Self-serve discovery portal; platform teams pull pre-rendered options directly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Eliminate request-approval-production cycles; platform teams self-sufficient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Request queue volume; average request fulfillment time; platform team satisfaction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Format pre-optimization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Content delivered in wrong specs requires re-encoding or rejection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Distribution domain enforces platform specs at render time (AVOD 30s max, FAST 15s bumpers)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Eliminate technical rejections; first-pass acceptance rate improvement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Content rejection rate; technical re-work volume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Interstitial filler production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FAST channels need continuous interstitials; often sourced externally or left as dead air</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Auto-generated filler from evergreen metadata</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Fill programming gaps with owned content; reduce third-party content licensing</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Filler content sourcing mix (owned vs. licensed); filler production cost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951753627"/>
                  </a:ext>
                </a:extLst>
              </a:tr>
            </a:tbl>
          </a:graphicData>
        </a:graphic>
      </p:graphicFrame>
      <p:pic>
        <p:nvPicPr>
          <p:cNvPr id="9" name="Graphic 8" descr="Circle with left arrow outline">
            <a:hlinkClick r:id="rId2" action="ppaction://hlinksldjump"/>
            <a:extLst>
              <a:ext uri="{FF2B5EF4-FFF2-40B4-BE49-F238E27FC236}">
                <a16:creationId xmlns:a16="http://schemas.microsoft.com/office/drawing/2014/main" id="{27803249-C69C-4CA0-F02C-AFE854CBEA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1505761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5F07-ED58-8479-B656-BD8F9477D9F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B66908F-52C5-AC7E-8C9B-E99C1D05666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41E95B0-3EE7-4491-1BD3-17997B437A41}"/>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D80085C4-14AC-D823-B7CE-EC719E02F0B3}"/>
              </a:ext>
            </a:extLst>
          </p:cNvPr>
          <p:cNvSpPr>
            <a:spLocks noGrp="1"/>
          </p:cNvSpPr>
          <p:nvPr>
            <p:ph type="sldNum" sz="quarter" idx="30"/>
          </p:nvPr>
        </p:nvSpPr>
        <p:spPr/>
        <p:txBody>
          <a:bodyPr/>
          <a:lstStyle/>
          <a:p>
            <a:pPr algn="r"/>
            <a:fld id="{5D9A5160-6218-4E5A-B9E6-B93E3DAE377C}" type="slidenum">
              <a:rPr lang="en-US" smtClean="0"/>
              <a:pPr algn="r"/>
              <a:t>38</a:t>
            </a:fld>
            <a:endParaRPr lang="en-US"/>
          </a:p>
        </p:txBody>
      </p:sp>
      <p:sp>
        <p:nvSpPr>
          <p:cNvPr id="5" name="Title 4">
            <a:extLst>
              <a:ext uri="{FF2B5EF4-FFF2-40B4-BE49-F238E27FC236}">
                <a16:creationId xmlns:a16="http://schemas.microsoft.com/office/drawing/2014/main" id="{9B3DC921-A2C1-52FE-13BF-F06E74B9232F}"/>
              </a:ext>
            </a:extLst>
          </p:cNvPr>
          <p:cNvSpPr>
            <a:spLocks noGrp="1"/>
          </p:cNvSpPr>
          <p:nvPr>
            <p:ph type="title"/>
          </p:nvPr>
        </p:nvSpPr>
        <p:spPr/>
        <p:txBody>
          <a:bodyPr/>
          <a:lstStyle/>
          <a:p>
            <a:r>
              <a:rPr lang="en-US"/>
              <a:t>Paid media short form contents’ value levers of content intelligence layer</a:t>
            </a:r>
          </a:p>
        </p:txBody>
      </p:sp>
      <p:graphicFrame>
        <p:nvGraphicFramePr>
          <p:cNvPr id="6" name="Table 5">
            <a:extLst>
              <a:ext uri="{FF2B5EF4-FFF2-40B4-BE49-F238E27FC236}">
                <a16:creationId xmlns:a16="http://schemas.microsoft.com/office/drawing/2014/main" id="{996B7148-CC08-DB6D-0076-7D239E428BFA}"/>
              </a:ext>
            </a:extLst>
          </p:cNvPr>
          <p:cNvGraphicFramePr>
            <a:graphicFrameLocks noGrp="1"/>
          </p:cNvGraphicFramePr>
          <p:nvPr>
            <p:extLst>
              <p:ext uri="{D42A27DB-BD31-4B8C-83A1-F6EECF244321}">
                <p14:modId xmlns:p14="http://schemas.microsoft.com/office/powerpoint/2010/main" val="3882294839"/>
              </p:ext>
            </p:extLst>
          </p:nvPr>
        </p:nvGraphicFramePr>
        <p:xfrm>
          <a:off x="549678" y="985996"/>
          <a:ext cx="11090940" cy="2072953"/>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4633">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Digital ad creative production velocity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creative production is 1-2 week lead time; limits campaign responsiveness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Parameterized ad generation (6s, 10s, 15s, 30s variants) from single creative brief</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Launch campaigns within 24-48 hours; test-and-iterate mid-campaign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launch timeline; mid-campaign creative iteration cycles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Localized variant generation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Separate creative production for each geography; expensive and slow</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Geo-tagged metadata and language overlays enable automated localization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Expand geographic campaign reach with marginal incremental cost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Geographic market coverage; cost per localized variant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Creative test economics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A/B testing limited by creative production costs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Generate 10-20 creative variants for systematic testing</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Optimize creative performance through rapid experimentation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Creative variants tested per campaign; performance lift from optimization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951753627"/>
                  </a:ext>
                </a:extLst>
              </a:tr>
            </a:tbl>
          </a:graphicData>
        </a:graphic>
      </p:graphicFrame>
      <p:graphicFrame>
        <p:nvGraphicFramePr>
          <p:cNvPr id="7" name="Table 6">
            <a:extLst>
              <a:ext uri="{FF2B5EF4-FFF2-40B4-BE49-F238E27FC236}">
                <a16:creationId xmlns:a16="http://schemas.microsoft.com/office/drawing/2014/main" id="{CFCB3CB0-701E-9952-13BE-AE56E0AED760}"/>
              </a:ext>
            </a:extLst>
          </p:cNvPr>
          <p:cNvGraphicFramePr>
            <a:graphicFrameLocks noGrp="1"/>
          </p:cNvGraphicFramePr>
          <p:nvPr>
            <p:extLst>
              <p:ext uri="{D42A27DB-BD31-4B8C-83A1-F6EECF244321}">
                <p14:modId xmlns:p14="http://schemas.microsoft.com/office/powerpoint/2010/main" val="1233147875"/>
              </p:ext>
            </p:extLst>
          </p:nvPr>
        </p:nvGraphicFramePr>
        <p:xfrm>
          <a:off x="549678" y="3799481"/>
          <a:ext cx="11090940" cy="150716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2">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performance optimization</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Digital advertising ROI measured in CPM, CTR, conversion rates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Rapid creative testing identifies winning variants; shift budget to top performers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Improve campaign efficiency; reduce wasted ad spend on underperforming creative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Campaign CPM; CTR; cost per acquisition; Return on Ad Spend</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Personalization at scale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Addressable advertising enables audience-specific creative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Metadata-driven creative variants - sports fans see sports-heavy ads, news audiences see news-heavy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Improved relevance drives engagement; premium pricing for personalized inventory</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Personalized ad performance vs. generic; personalization premium pricing</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pic>
        <p:nvPicPr>
          <p:cNvPr id="8" name="Graphic 7" descr="Circle with left arrow outline">
            <a:hlinkClick r:id="rId2" action="ppaction://hlinksldjump"/>
            <a:extLst>
              <a:ext uri="{FF2B5EF4-FFF2-40B4-BE49-F238E27FC236}">
                <a16:creationId xmlns:a16="http://schemas.microsoft.com/office/drawing/2014/main" id="{87F81AEC-F003-3C48-A4CD-756445C221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4173104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20788-FFC6-C5E8-33D8-A374F0341E8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CF48CFA-3C87-58DD-FDC8-34643EA786F0}"/>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A8A4B8F-5227-D5E0-B26C-92B5EDE0EA52}"/>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3A32C622-057D-0090-471C-50B659BC9355}"/>
              </a:ext>
            </a:extLst>
          </p:cNvPr>
          <p:cNvSpPr>
            <a:spLocks noGrp="1"/>
          </p:cNvSpPr>
          <p:nvPr>
            <p:ph type="sldNum" sz="quarter" idx="30"/>
          </p:nvPr>
        </p:nvSpPr>
        <p:spPr/>
        <p:txBody>
          <a:bodyPr/>
          <a:lstStyle/>
          <a:p>
            <a:pPr algn="r"/>
            <a:fld id="{5D9A5160-6218-4E5A-B9E6-B93E3DAE377C}" type="slidenum">
              <a:rPr lang="en-US" smtClean="0"/>
              <a:pPr algn="r"/>
              <a:t>39</a:t>
            </a:fld>
            <a:endParaRPr lang="en-US"/>
          </a:p>
        </p:txBody>
      </p:sp>
      <p:sp>
        <p:nvSpPr>
          <p:cNvPr id="5" name="Title 4">
            <a:extLst>
              <a:ext uri="{FF2B5EF4-FFF2-40B4-BE49-F238E27FC236}">
                <a16:creationId xmlns:a16="http://schemas.microsoft.com/office/drawing/2014/main" id="{E26E8049-6FFF-DA32-3EA0-80EDCEDF1820}"/>
              </a:ext>
            </a:extLst>
          </p:cNvPr>
          <p:cNvSpPr>
            <a:spLocks noGrp="1"/>
          </p:cNvSpPr>
          <p:nvPr>
            <p:ph type="title"/>
          </p:nvPr>
        </p:nvSpPr>
        <p:spPr/>
        <p:txBody>
          <a:bodyPr/>
          <a:lstStyle/>
          <a:p>
            <a:r>
              <a:rPr lang="en-US"/>
              <a:t>Other short-form contents’ value levers of content intelligence layer</a:t>
            </a:r>
          </a:p>
        </p:txBody>
      </p:sp>
      <p:graphicFrame>
        <p:nvGraphicFramePr>
          <p:cNvPr id="6" name="Table 5">
            <a:extLst>
              <a:ext uri="{FF2B5EF4-FFF2-40B4-BE49-F238E27FC236}">
                <a16:creationId xmlns:a16="http://schemas.microsoft.com/office/drawing/2014/main" id="{6A6CF7E0-3A2A-0726-F4DB-E4DD68035463}"/>
              </a:ext>
            </a:extLst>
          </p:cNvPr>
          <p:cNvGraphicFramePr>
            <a:graphicFrameLocks noGrp="1"/>
          </p:cNvGraphicFramePr>
          <p:nvPr>
            <p:extLst>
              <p:ext uri="{D42A27DB-BD31-4B8C-83A1-F6EECF244321}">
                <p14:modId xmlns:p14="http://schemas.microsoft.com/office/powerpoint/2010/main" val="1417800321"/>
              </p:ext>
            </p:extLst>
          </p:nvPr>
        </p:nvGraphicFramePr>
        <p:xfrm>
          <a:off x="549678" y="985996"/>
          <a:ext cx="11090940" cy="2225353"/>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74633">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Assumed baseline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3">
                  <a:txBody>
                    <a:bodyPr/>
                    <a:lstStyle/>
                    <a:p>
                      <a:r>
                        <a:rPr lang="en-US" sz="1000"/>
                        <a:t>Operational Efficiency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Evergreen content assembly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One-time productions that age quickly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"Top 10 goals of 2024" auto-assembled from metadata queries; regenerates annually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Produce perennial content without annual re-production costs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Evergreen content reuse rates; production cost per evergreen asset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Template-driven production</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Bespoke motion graphics for title cards, motion posters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Metadata populates pre-designed templates (team colors, player stats, match details)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Consistent brand presentation; eliminate per-asset design work</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Design hours per asset; brand consistency scores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Filler content economics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Low-value interstitial content often outsourced or skipped</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Auto-generated micro-content fills gaps at near-zero marginal cost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Owned filler replaces licensed or dead air; maintains viewer engagement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Filler content sourcing cost; viewer drop-off during transitions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951753627"/>
                  </a:ext>
                </a:extLst>
              </a:tr>
            </a:tbl>
          </a:graphicData>
        </a:graphic>
      </p:graphicFrame>
      <p:graphicFrame>
        <p:nvGraphicFramePr>
          <p:cNvPr id="7" name="Table 6">
            <a:extLst>
              <a:ext uri="{FF2B5EF4-FFF2-40B4-BE49-F238E27FC236}">
                <a16:creationId xmlns:a16="http://schemas.microsoft.com/office/drawing/2014/main" id="{52C90EF9-BEC4-DC28-766B-671D6BAF76CD}"/>
              </a:ext>
            </a:extLst>
          </p:cNvPr>
          <p:cNvGraphicFramePr>
            <a:graphicFrameLocks noGrp="1"/>
          </p:cNvGraphicFramePr>
          <p:nvPr>
            <p:extLst>
              <p:ext uri="{D42A27DB-BD31-4B8C-83A1-F6EECF244321}">
                <p14:modId xmlns:p14="http://schemas.microsoft.com/office/powerpoint/2010/main" val="714507671"/>
              </p:ext>
            </p:extLst>
          </p:nvPr>
        </p:nvGraphicFramePr>
        <p:xfrm>
          <a:off x="549678" y="3799481"/>
          <a:ext cx="11090940" cy="1354764"/>
        </p:xfrm>
        <a:graphic>
          <a:graphicData uri="http://schemas.openxmlformats.org/drawingml/2006/table">
            <a:tbl>
              <a:tblPr firstRow="1" bandRow="1">
                <a:tableStyleId>{2D5ABB26-0587-4C30-8999-92F81FD0307C}</a:tableStyleId>
              </a:tblPr>
              <a:tblGrid>
                <a:gridCol w="1848490">
                  <a:extLst>
                    <a:ext uri="{9D8B030D-6E8A-4147-A177-3AD203B41FA5}">
                      <a16:colId xmlns:a16="http://schemas.microsoft.com/office/drawing/2014/main" val="700985019"/>
                    </a:ext>
                  </a:extLst>
                </a:gridCol>
                <a:gridCol w="1848490">
                  <a:extLst>
                    <a:ext uri="{9D8B030D-6E8A-4147-A177-3AD203B41FA5}">
                      <a16:colId xmlns:a16="http://schemas.microsoft.com/office/drawing/2014/main" val="2368449853"/>
                    </a:ext>
                  </a:extLst>
                </a:gridCol>
                <a:gridCol w="1848490">
                  <a:extLst>
                    <a:ext uri="{9D8B030D-6E8A-4147-A177-3AD203B41FA5}">
                      <a16:colId xmlns:a16="http://schemas.microsoft.com/office/drawing/2014/main" val="902762166"/>
                    </a:ext>
                  </a:extLst>
                </a:gridCol>
                <a:gridCol w="1848490">
                  <a:extLst>
                    <a:ext uri="{9D8B030D-6E8A-4147-A177-3AD203B41FA5}">
                      <a16:colId xmlns:a16="http://schemas.microsoft.com/office/drawing/2014/main" val="3665568974"/>
                    </a:ext>
                  </a:extLst>
                </a:gridCol>
                <a:gridCol w="1848490">
                  <a:extLst>
                    <a:ext uri="{9D8B030D-6E8A-4147-A177-3AD203B41FA5}">
                      <a16:colId xmlns:a16="http://schemas.microsoft.com/office/drawing/2014/main" val="3460259808"/>
                    </a:ext>
                  </a:extLst>
                </a:gridCol>
                <a:gridCol w="1848490">
                  <a:extLst>
                    <a:ext uri="{9D8B030D-6E8A-4147-A177-3AD203B41FA5}">
                      <a16:colId xmlns:a16="http://schemas.microsoft.com/office/drawing/2014/main" val="3275692620"/>
                    </a:ext>
                  </a:extLst>
                </a:gridCol>
              </a:tblGrid>
              <a:tr h="257484">
                <a:tc>
                  <a:txBody>
                    <a:bodyPr/>
                    <a:lstStyle/>
                    <a:p>
                      <a:r>
                        <a:rPr lang="en-US" sz="1000" b="1"/>
                        <a:t>Value mechanism layer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Category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Market Dynamic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Metadata unlock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Mechanism</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tc>
                  <a:txBody>
                    <a:bodyPr/>
                    <a:lstStyle/>
                    <a:p>
                      <a:r>
                        <a:rPr lang="en-US" sz="1000" b="1"/>
                        <a:t>Measurement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1FF"/>
                    </a:solidFill>
                  </a:tcPr>
                </a:tc>
                <a:extLst>
                  <a:ext uri="{0D108BD9-81ED-4DB2-BD59-A6C34878D82A}">
                    <a16:rowId xmlns:a16="http://schemas.microsoft.com/office/drawing/2014/main" val="2840516703"/>
                  </a:ext>
                </a:extLst>
              </a:tr>
              <a:tr h="370840">
                <a:tc rowSpan="2">
                  <a:txBody>
                    <a:bodyPr/>
                    <a:lstStyle/>
                    <a:p>
                      <a:r>
                        <a:rPr lang="en-US" sz="1000"/>
                        <a:t>Revenue Enablement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Snackable content virality</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Short, surprising, emotionally resonant content drives organic sharing</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"Snackability index" (pacing, visual density, quotability) surfaces viral candidates</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Increase organic reach through share-optimized content</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Share rate; organic reach multiplier; viral content hit rate</a:t>
                      </a:r>
                    </a:p>
                  </a:txBody>
                  <a:tcP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4031862272"/>
                  </a:ext>
                </a:extLst>
              </a:tr>
              <a:tr h="370840">
                <a:tc vMerge="1">
                  <a:txBody>
                    <a:bodyPr/>
                    <a:lstStyle/>
                    <a:p>
                      <a:endParaRPr lang="en-US" sz="1000"/>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Licensing revenue opportunities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Third parties license highlight clips, compilations, historical moments</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Searchable, rights-cleared archive enables rapid licensing fulfillment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Capture licensing revenue from easily discoverable, properly tagged content</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tc>
                  <a:txBody>
                    <a:bodyPr/>
                    <a:lstStyle/>
                    <a:p>
                      <a:r>
                        <a:rPr lang="en-US" sz="1000"/>
                        <a:t>Licensing inquiry response time; licensing deal volume; licensing revenue</a:t>
                      </a:r>
                    </a:p>
                  </a:txBody>
                  <a:tcPr>
                    <a:lnT w="12700" cap="flat" cmpd="sng" algn="ctr">
                      <a:solidFill>
                        <a:schemeClr val="bg1">
                          <a:lumMod val="85000"/>
                        </a:schemeClr>
                      </a:solidFill>
                      <a:prstDash val="sysDash"/>
                      <a:round/>
                      <a:headEnd type="none" w="med" len="med"/>
                      <a:tailEnd type="none" w="med" len="med"/>
                    </a:lnT>
                    <a:lnB w="12700" cap="flat" cmpd="sng" algn="ctr">
                      <a:solidFill>
                        <a:schemeClr val="bg1">
                          <a:lumMod val="85000"/>
                        </a:schemeClr>
                      </a:solidFill>
                      <a:prstDash val="sysDash"/>
                      <a:round/>
                      <a:headEnd type="none" w="med" len="med"/>
                      <a:tailEnd type="none" w="med" len="med"/>
                    </a:lnB>
                  </a:tcPr>
                </a:tc>
                <a:extLst>
                  <a:ext uri="{0D108BD9-81ED-4DB2-BD59-A6C34878D82A}">
                    <a16:rowId xmlns:a16="http://schemas.microsoft.com/office/drawing/2014/main" val="3012245644"/>
                  </a:ext>
                </a:extLst>
              </a:tr>
            </a:tbl>
          </a:graphicData>
        </a:graphic>
      </p:graphicFrame>
      <p:pic>
        <p:nvPicPr>
          <p:cNvPr id="8" name="Graphic 7" descr="Circle with left arrow outline">
            <a:hlinkClick r:id="rId2" action="ppaction://hlinksldjump"/>
            <a:extLst>
              <a:ext uri="{FF2B5EF4-FFF2-40B4-BE49-F238E27FC236}">
                <a16:creationId xmlns:a16="http://schemas.microsoft.com/office/drawing/2014/main" id="{E09CE39D-0D0E-A534-8D96-320F52238D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2169011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09FC47-8C10-B3BE-47D9-43E9D20A92DE}"/>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CE3EA5C7-72D1-A91A-A38E-B1C6635DF817}"/>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2058668A-F9BF-31BA-57A0-78EAA8D9AA94}"/>
              </a:ext>
            </a:extLst>
          </p:cNvPr>
          <p:cNvSpPr>
            <a:spLocks noGrp="1"/>
          </p:cNvSpPr>
          <p:nvPr>
            <p:ph type="sldNum" sz="quarter" idx="30"/>
          </p:nvPr>
        </p:nvSpPr>
        <p:spPr/>
        <p:txBody>
          <a:bodyPr/>
          <a:lstStyle/>
          <a:p>
            <a:pPr algn="r"/>
            <a:fld id="{5D9A5160-6218-4E5A-B9E6-B93E3DAE377C}" type="slidenum">
              <a:rPr lang="en-US" smtClean="0"/>
              <a:pPr algn="r"/>
              <a:t>40</a:t>
            </a:fld>
            <a:endParaRPr lang="en-US"/>
          </a:p>
        </p:txBody>
      </p:sp>
      <p:sp>
        <p:nvSpPr>
          <p:cNvPr id="5" name="Title 4">
            <a:extLst>
              <a:ext uri="{FF2B5EF4-FFF2-40B4-BE49-F238E27FC236}">
                <a16:creationId xmlns:a16="http://schemas.microsoft.com/office/drawing/2014/main" id="{6C4023B0-CF9D-28ED-5D31-5D9AF44DC1E5}"/>
              </a:ext>
            </a:extLst>
          </p:cNvPr>
          <p:cNvSpPr>
            <a:spLocks noGrp="1"/>
          </p:cNvSpPr>
          <p:nvPr>
            <p:ph type="title"/>
          </p:nvPr>
        </p:nvSpPr>
        <p:spPr/>
        <p:txBody>
          <a:bodyPr/>
          <a:lstStyle/>
          <a:p>
            <a:r>
              <a:rPr lang="en-US"/>
              <a:t>Sports domain will consist of entities to capture live events, generate highlights in real time, and sync real-time metadata</a:t>
            </a:r>
          </a:p>
        </p:txBody>
      </p:sp>
      <p:graphicFrame>
        <p:nvGraphicFramePr>
          <p:cNvPr id="8" name="Table 7">
            <a:extLst>
              <a:ext uri="{FF2B5EF4-FFF2-40B4-BE49-F238E27FC236}">
                <a16:creationId xmlns:a16="http://schemas.microsoft.com/office/drawing/2014/main" id="{17B0D889-17BC-4F61-9574-0A9A61EC17AF}"/>
              </a:ext>
            </a:extLst>
          </p:cNvPr>
          <p:cNvGraphicFramePr>
            <a:graphicFrameLocks noGrp="1"/>
          </p:cNvGraphicFramePr>
          <p:nvPr/>
        </p:nvGraphicFramePr>
        <p:xfrm>
          <a:off x="549678" y="1184521"/>
          <a:ext cx="11090263" cy="5402941"/>
        </p:xfrm>
        <a:graphic>
          <a:graphicData uri="http://schemas.openxmlformats.org/drawingml/2006/table">
            <a:tbl>
              <a:tblPr/>
              <a:tblGrid>
                <a:gridCol w="448551">
                  <a:extLst>
                    <a:ext uri="{9D8B030D-6E8A-4147-A177-3AD203B41FA5}">
                      <a16:colId xmlns:a16="http://schemas.microsoft.com/office/drawing/2014/main" val="1597620517"/>
                    </a:ext>
                  </a:extLst>
                </a:gridCol>
                <a:gridCol w="448551">
                  <a:extLst>
                    <a:ext uri="{9D8B030D-6E8A-4147-A177-3AD203B41FA5}">
                      <a16:colId xmlns:a16="http://schemas.microsoft.com/office/drawing/2014/main" val="1199642106"/>
                    </a:ext>
                  </a:extLst>
                </a:gridCol>
                <a:gridCol w="448551">
                  <a:extLst>
                    <a:ext uri="{9D8B030D-6E8A-4147-A177-3AD203B41FA5}">
                      <a16:colId xmlns:a16="http://schemas.microsoft.com/office/drawing/2014/main" val="3040750567"/>
                    </a:ext>
                  </a:extLst>
                </a:gridCol>
                <a:gridCol w="448551">
                  <a:extLst>
                    <a:ext uri="{9D8B030D-6E8A-4147-A177-3AD203B41FA5}">
                      <a16:colId xmlns:a16="http://schemas.microsoft.com/office/drawing/2014/main" val="3964438014"/>
                    </a:ext>
                  </a:extLst>
                </a:gridCol>
                <a:gridCol w="58507">
                  <a:extLst>
                    <a:ext uri="{9D8B030D-6E8A-4147-A177-3AD203B41FA5}">
                      <a16:colId xmlns:a16="http://schemas.microsoft.com/office/drawing/2014/main" val="3685176801"/>
                    </a:ext>
                  </a:extLst>
                </a:gridCol>
                <a:gridCol w="448551">
                  <a:extLst>
                    <a:ext uri="{9D8B030D-6E8A-4147-A177-3AD203B41FA5}">
                      <a16:colId xmlns:a16="http://schemas.microsoft.com/office/drawing/2014/main" val="250013897"/>
                    </a:ext>
                  </a:extLst>
                </a:gridCol>
                <a:gridCol w="448551">
                  <a:extLst>
                    <a:ext uri="{9D8B030D-6E8A-4147-A177-3AD203B41FA5}">
                      <a16:colId xmlns:a16="http://schemas.microsoft.com/office/drawing/2014/main" val="685413217"/>
                    </a:ext>
                  </a:extLst>
                </a:gridCol>
                <a:gridCol w="448551">
                  <a:extLst>
                    <a:ext uri="{9D8B030D-6E8A-4147-A177-3AD203B41FA5}">
                      <a16:colId xmlns:a16="http://schemas.microsoft.com/office/drawing/2014/main" val="1447346622"/>
                    </a:ext>
                  </a:extLst>
                </a:gridCol>
                <a:gridCol w="448551">
                  <a:extLst>
                    <a:ext uri="{9D8B030D-6E8A-4147-A177-3AD203B41FA5}">
                      <a16:colId xmlns:a16="http://schemas.microsoft.com/office/drawing/2014/main" val="3325195840"/>
                    </a:ext>
                  </a:extLst>
                </a:gridCol>
                <a:gridCol w="448551">
                  <a:extLst>
                    <a:ext uri="{9D8B030D-6E8A-4147-A177-3AD203B41FA5}">
                      <a16:colId xmlns:a16="http://schemas.microsoft.com/office/drawing/2014/main" val="3661807851"/>
                    </a:ext>
                  </a:extLst>
                </a:gridCol>
                <a:gridCol w="539562">
                  <a:extLst>
                    <a:ext uri="{9D8B030D-6E8A-4147-A177-3AD203B41FA5}">
                      <a16:colId xmlns:a16="http://schemas.microsoft.com/office/drawing/2014/main" val="3723434765"/>
                    </a:ext>
                  </a:extLst>
                </a:gridCol>
                <a:gridCol w="58507">
                  <a:extLst>
                    <a:ext uri="{9D8B030D-6E8A-4147-A177-3AD203B41FA5}">
                      <a16:colId xmlns:a16="http://schemas.microsoft.com/office/drawing/2014/main" val="3439416417"/>
                    </a:ext>
                  </a:extLst>
                </a:gridCol>
                <a:gridCol w="448551">
                  <a:extLst>
                    <a:ext uri="{9D8B030D-6E8A-4147-A177-3AD203B41FA5}">
                      <a16:colId xmlns:a16="http://schemas.microsoft.com/office/drawing/2014/main" val="4026466278"/>
                    </a:ext>
                  </a:extLst>
                </a:gridCol>
                <a:gridCol w="448551">
                  <a:extLst>
                    <a:ext uri="{9D8B030D-6E8A-4147-A177-3AD203B41FA5}">
                      <a16:colId xmlns:a16="http://schemas.microsoft.com/office/drawing/2014/main" val="887649401"/>
                    </a:ext>
                  </a:extLst>
                </a:gridCol>
                <a:gridCol w="448551">
                  <a:extLst>
                    <a:ext uri="{9D8B030D-6E8A-4147-A177-3AD203B41FA5}">
                      <a16:colId xmlns:a16="http://schemas.microsoft.com/office/drawing/2014/main" val="3002819984"/>
                    </a:ext>
                  </a:extLst>
                </a:gridCol>
                <a:gridCol w="448551">
                  <a:extLst>
                    <a:ext uri="{9D8B030D-6E8A-4147-A177-3AD203B41FA5}">
                      <a16:colId xmlns:a16="http://schemas.microsoft.com/office/drawing/2014/main" val="718747302"/>
                    </a:ext>
                  </a:extLst>
                </a:gridCol>
                <a:gridCol w="448551">
                  <a:extLst>
                    <a:ext uri="{9D8B030D-6E8A-4147-A177-3AD203B41FA5}">
                      <a16:colId xmlns:a16="http://schemas.microsoft.com/office/drawing/2014/main" val="1999375042"/>
                    </a:ext>
                  </a:extLst>
                </a:gridCol>
                <a:gridCol w="58507">
                  <a:extLst>
                    <a:ext uri="{9D8B030D-6E8A-4147-A177-3AD203B41FA5}">
                      <a16:colId xmlns:a16="http://schemas.microsoft.com/office/drawing/2014/main" val="672978863"/>
                    </a:ext>
                  </a:extLst>
                </a:gridCol>
                <a:gridCol w="448551">
                  <a:extLst>
                    <a:ext uri="{9D8B030D-6E8A-4147-A177-3AD203B41FA5}">
                      <a16:colId xmlns:a16="http://schemas.microsoft.com/office/drawing/2014/main" val="1358985284"/>
                    </a:ext>
                  </a:extLst>
                </a:gridCol>
                <a:gridCol w="448551">
                  <a:extLst>
                    <a:ext uri="{9D8B030D-6E8A-4147-A177-3AD203B41FA5}">
                      <a16:colId xmlns:a16="http://schemas.microsoft.com/office/drawing/2014/main" val="2495350002"/>
                    </a:ext>
                  </a:extLst>
                </a:gridCol>
                <a:gridCol w="448551">
                  <a:extLst>
                    <a:ext uri="{9D8B030D-6E8A-4147-A177-3AD203B41FA5}">
                      <a16:colId xmlns:a16="http://schemas.microsoft.com/office/drawing/2014/main" val="4066954097"/>
                    </a:ext>
                  </a:extLst>
                </a:gridCol>
                <a:gridCol w="448551">
                  <a:extLst>
                    <a:ext uri="{9D8B030D-6E8A-4147-A177-3AD203B41FA5}">
                      <a16:colId xmlns:a16="http://schemas.microsoft.com/office/drawing/2014/main" val="3560505760"/>
                    </a:ext>
                  </a:extLst>
                </a:gridCol>
                <a:gridCol w="448551">
                  <a:extLst>
                    <a:ext uri="{9D8B030D-6E8A-4147-A177-3AD203B41FA5}">
                      <a16:colId xmlns:a16="http://schemas.microsoft.com/office/drawing/2014/main" val="3924733867"/>
                    </a:ext>
                  </a:extLst>
                </a:gridCol>
                <a:gridCol w="58507">
                  <a:extLst>
                    <a:ext uri="{9D8B030D-6E8A-4147-A177-3AD203B41FA5}">
                      <a16:colId xmlns:a16="http://schemas.microsoft.com/office/drawing/2014/main" val="306620697"/>
                    </a:ext>
                  </a:extLst>
                </a:gridCol>
                <a:gridCol w="448551">
                  <a:extLst>
                    <a:ext uri="{9D8B030D-6E8A-4147-A177-3AD203B41FA5}">
                      <a16:colId xmlns:a16="http://schemas.microsoft.com/office/drawing/2014/main" val="3237260317"/>
                    </a:ext>
                  </a:extLst>
                </a:gridCol>
                <a:gridCol w="448551">
                  <a:extLst>
                    <a:ext uri="{9D8B030D-6E8A-4147-A177-3AD203B41FA5}">
                      <a16:colId xmlns:a16="http://schemas.microsoft.com/office/drawing/2014/main" val="1718211675"/>
                    </a:ext>
                  </a:extLst>
                </a:gridCol>
                <a:gridCol w="448551">
                  <a:extLst>
                    <a:ext uri="{9D8B030D-6E8A-4147-A177-3AD203B41FA5}">
                      <a16:colId xmlns:a16="http://schemas.microsoft.com/office/drawing/2014/main" val="407825105"/>
                    </a:ext>
                  </a:extLst>
                </a:gridCol>
                <a:gridCol w="448551">
                  <a:extLst>
                    <a:ext uri="{9D8B030D-6E8A-4147-A177-3AD203B41FA5}">
                      <a16:colId xmlns:a16="http://schemas.microsoft.com/office/drawing/2014/main" val="2220060872"/>
                    </a:ext>
                  </a:extLst>
                </a:gridCol>
              </a:tblGrid>
              <a:tr h="120141">
                <a:tc gridSpan="28">
                  <a:txBody>
                    <a:bodyPr/>
                    <a:lstStyle/>
                    <a:p>
                      <a:pPr algn="l" fontAlgn="ctr">
                        <a:buNone/>
                      </a:pPr>
                      <a:r>
                        <a:rPr lang="en-IN" sz="700" b="1" i="0" u="none" strike="noStrike">
                          <a:solidFill>
                            <a:srgbClr val="000000"/>
                          </a:solidFill>
                          <a:effectLst/>
                          <a:latin typeface="Book Antiqua" panose="02040602050305030304" pitchFamily="18" charset="0"/>
                        </a:rPr>
                        <a:t>Core Domain Entities</a:t>
                      </a:r>
                    </a:p>
                  </a:txBody>
                  <a:tcPr marL="3036" marR="3036" marT="30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38604866"/>
                  </a:ext>
                </a:extLst>
              </a:tr>
              <a:tr h="108540">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Calibri" panose="020F0502020204030204" pitchFamily="34" charset="0"/>
                      </a:endParaRPr>
                    </a:p>
                  </a:txBody>
                  <a:tcPr marL="3036" marR="3036" marT="303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9750234"/>
                  </a:ext>
                </a:extLst>
              </a:tr>
              <a:tr h="126148">
                <a:tc gridSpan="3">
                  <a:txBody>
                    <a:bodyPr/>
                    <a:lstStyle/>
                    <a:p>
                      <a:pPr algn="l" fontAlgn="ctr">
                        <a:buNone/>
                      </a:pPr>
                      <a:r>
                        <a:rPr lang="en-IN" sz="700" b="1" i="0" u="none" strike="noStrike">
                          <a:solidFill>
                            <a:srgbClr val="FFFFFF"/>
                          </a:solidFill>
                          <a:effectLst/>
                          <a:latin typeface="+mn-lt"/>
                        </a:rPr>
                        <a:t>Live Event (Aggregate Root)</a:t>
                      </a:r>
                    </a:p>
                  </a:txBody>
                  <a:tcPr marL="3036" marR="3036" marT="303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8AB"/>
                    </a:solidFill>
                  </a:tcPr>
                </a:tc>
                <a:tc hMerge="1">
                  <a:txBody>
                    <a:bodyPr/>
                    <a:lstStyle/>
                    <a:p>
                      <a:endParaRPr lang="en-US"/>
                    </a:p>
                  </a:txBody>
                  <a:tcPr/>
                </a:tc>
                <a:tc hMerge="1">
                  <a:txBody>
                    <a:bodyPr/>
                    <a:lstStyle/>
                    <a:p>
                      <a:endParaRPr lang="en-US"/>
                    </a:p>
                  </a:txBody>
                  <a:tcPr/>
                </a:tc>
                <a:tc>
                  <a:txBody>
                    <a:bodyPr/>
                    <a:lstStyle/>
                    <a:p>
                      <a:pPr algn="l" fontAlgn="ctr">
                        <a:buNone/>
                      </a:pPr>
                      <a:r>
                        <a:rPr lang="en-IN" sz="700" b="0" i="0" u="none" strike="noStrike">
                          <a:solidFill>
                            <a:srgbClr val="FFFFFF"/>
                          </a:solidFill>
                          <a:effectLst/>
                          <a:latin typeface="+mn-lt"/>
                        </a:rPr>
                        <a:t> </a:t>
                      </a:r>
                    </a:p>
                  </a:txBody>
                  <a:tcPr marL="3036" marR="3036" marT="303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8AB"/>
                    </a:solidFill>
                  </a:tcPr>
                </a:tc>
                <a:tc>
                  <a:txBody>
                    <a:bodyPr/>
                    <a:lstStyle/>
                    <a:p>
                      <a:pPr algn="l" fontAlgn="ctr">
                        <a:buNone/>
                      </a:pPr>
                      <a:endParaRPr lang="en-IN" sz="700" b="0" i="0" u="none" strike="noStrike">
                        <a:solidFill>
                          <a:srgbClr val="000000"/>
                        </a:solidFill>
                        <a:effectLst/>
                        <a:latin typeface="+mn-lt"/>
                      </a:endParaRPr>
                    </a:p>
                  </a:txBody>
                  <a:tcPr marL="3036" marR="3036" marT="30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5">
                  <a:txBody>
                    <a:bodyPr/>
                    <a:lstStyle/>
                    <a:p>
                      <a:pPr algn="l" fontAlgn="ctr">
                        <a:buNone/>
                      </a:pPr>
                      <a:r>
                        <a:rPr lang="en-US" sz="700" b="1" i="0" u="none" strike="noStrike">
                          <a:solidFill>
                            <a:srgbClr val="FFFFFF"/>
                          </a:solidFill>
                          <a:effectLst/>
                          <a:latin typeface="+mn-lt"/>
                        </a:rPr>
                        <a:t>Live Feed (Real-Time Stream Management)</a:t>
                      </a:r>
                    </a:p>
                  </a:txBody>
                  <a:tcPr marL="3036" marR="3036" marT="303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8A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buNone/>
                      </a:pPr>
                      <a:r>
                        <a:rPr lang="en-IN" sz="700" b="1" i="0" u="none" strike="noStrike">
                          <a:solidFill>
                            <a:srgbClr val="FFFFFF"/>
                          </a:solidFill>
                          <a:effectLst/>
                          <a:latin typeface="+mn-lt"/>
                        </a:rPr>
                        <a:t> </a:t>
                      </a:r>
                    </a:p>
                  </a:txBody>
                  <a:tcPr marL="3036" marR="3036" marT="303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8AB"/>
                    </a:solidFill>
                  </a:tcPr>
                </a:tc>
                <a:tc>
                  <a:txBody>
                    <a:bodyPr/>
                    <a:lstStyle/>
                    <a:p>
                      <a:pPr algn="l" fontAlgn="ctr">
                        <a:buNone/>
                      </a:pPr>
                      <a:endParaRPr lang="en-IN" sz="700" b="0" i="0" u="none" strike="noStrike">
                        <a:solidFill>
                          <a:srgbClr val="000000"/>
                        </a:solidFill>
                        <a:effectLst/>
                        <a:latin typeface="+mn-lt"/>
                      </a:endParaRPr>
                    </a:p>
                  </a:txBody>
                  <a:tcPr marL="3036" marR="3036" marT="30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l" fontAlgn="ctr">
                        <a:buNone/>
                      </a:pPr>
                      <a:r>
                        <a:rPr lang="en-US" sz="700" b="1" i="0" u="none" strike="noStrike">
                          <a:solidFill>
                            <a:srgbClr val="FFFFFF"/>
                          </a:solidFill>
                          <a:effectLst/>
                          <a:latin typeface="+mn-lt"/>
                        </a:rPr>
                        <a:t>Live Highlight (Real-Time AI Generation)</a:t>
                      </a:r>
                    </a:p>
                  </a:txBody>
                  <a:tcPr marL="3036" marR="3036" marT="303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8AB"/>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buNone/>
                      </a:pPr>
                      <a:r>
                        <a:rPr lang="en-IN" sz="700" b="1" i="0" u="none" strike="noStrike">
                          <a:solidFill>
                            <a:srgbClr val="FFFFFF"/>
                          </a:solidFill>
                          <a:effectLst/>
                          <a:latin typeface="+mn-lt"/>
                        </a:rPr>
                        <a:t> </a:t>
                      </a:r>
                    </a:p>
                  </a:txBody>
                  <a:tcPr marL="3036" marR="3036" marT="303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8AB"/>
                    </a:solidFill>
                  </a:tcPr>
                </a:tc>
                <a:tc>
                  <a:txBody>
                    <a:bodyPr/>
                    <a:lstStyle/>
                    <a:p>
                      <a:pPr algn="l" fontAlgn="ctr">
                        <a:buNone/>
                      </a:pPr>
                      <a:endParaRPr lang="en-IN" sz="700" b="0" i="0" u="none" strike="noStrike">
                        <a:solidFill>
                          <a:srgbClr val="000000"/>
                        </a:solidFill>
                        <a:effectLst/>
                        <a:latin typeface="+mn-lt"/>
                      </a:endParaRPr>
                    </a:p>
                  </a:txBody>
                  <a:tcPr marL="3036" marR="3036" marT="30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l" fontAlgn="ctr">
                        <a:buNone/>
                      </a:pPr>
                      <a:r>
                        <a:rPr lang="en-US" sz="700" b="1" i="0" u="none" strike="noStrike">
                          <a:solidFill>
                            <a:srgbClr val="FFFFFF"/>
                          </a:solidFill>
                          <a:effectLst/>
                          <a:latin typeface="+mn-lt"/>
                        </a:rPr>
                        <a:t>Match Metadata (Real-Time Data Sync)</a:t>
                      </a:r>
                    </a:p>
                  </a:txBody>
                  <a:tcPr marL="3036" marR="3036" marT="303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8AB"/>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buNone/>
                      </a:pPr>
                      <a:r>
                        <a:rPr lang="en-IN" sz="700" b="1" i="0" u="none" strike="noStrike">
                          <a:solidFill>
                            <a:srgbClr val="FFFFFF"/>
                          </a:solidFill>
                          <a:effectLst/>
                          <a:latin typeface="+mn-lt"/>
                        </a:rPr>
                        <a:t> </a:t>
                      </a:r>
                    </a:p>
                  </a:txBody>
                  <a:tcPr marL="3036" marR="3036" marT="303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8AB"/>
                    </a:solidFill>
                  </a:tcPr>
                </a:tc>
                <a:tc>
                  <a:txBody>
                    <a:bodyPr/>
                    <a:lstStyle/>
                    <a:p>
                      <a:pPr algn="l" fontAlgn="ctr">
                        <a:buNone/>
                      </a:pPr>
                      <a:endParaRPr lang="en-IN" sz="700" b="0" i="0" u="none" strike="noStrike">
                        <a:solidFill>
                          <a:srgbClr val="000000"/>
                        </a:solidFill>
                        <a:effectLst/>
                        <a:latin typeface="+mn-lt"/>
                      </a:endParaRPr>
                    </a:p>
                  </a:txBody>
                  <a:tcPr marL="3036" marR="3036" marT="30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ctr">
                        <a:buNone/>
                      </a:pPr>
                      <a:r>
                        <a:rPr lang="en-IN" sz="700" b="1" i="0" u="none" strike="noStrike">
                          <a:solidFill>
                            <a:srgbClr val="FFFFFF"/>
                          </a:solidFill>
                          <a:effectLst/>
                          <a:latin typeface="+mn-lt"/>
                        </a:rPr>
                        <a:t>Compliance Recording</a:t>
                      </a:r>
                    </a:p>
                  </a:txBody>
                  <a:tcPr marL="3036" marR="3036" marT="303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8AB"/>
                    </a:solidFill>
                  </a:tcPr>
                </a:tc>
                <a:tc hMerge="1">
                  <a:txBody>
                    <a:bodyPr/>
                    <a:lstStyle/>
                    <a:p>
                      <a:endParaRPr lang="en-US"/>
                    </a:p>
                  </a:txBody>
                  <a:tcPr/>
                </a:tc>
                <a:tc hMerge="1">
                  <a:txBody>
                    <a:bodyPr/>
                    <a:lstStyle/>
                    <a:p>
                      <a:endParaRPr lang="en-US"/>
                    </a:p>
                  </a:txBody>
                  <a:tcPr/>
                </a:tc>
                <a:tc>
                  <a:txBody>
                    <a:bodyPr/>
                    <a:lstStyle/>
                    <a:p>
                      <a:pPr algn="l" fontAlgn="ctr">
                        <a:buNone/>
                      </a:pPr>
                      <a:r>
                        <a:rPr lang="en-IN" sz="700" b="0" i="0" u="none" strike="noStrike">
                          <a:solidFill>
                            <a:srgbClr val="000000"/>
                          </a:solidFill>
                          <a:effectLst/>
                          <a:latin typeface="+mn-lt"/>
                        </a:rPr>
                        <a:t> </a:t>
                      </a:r>
                    </a:p>
                  </a:txBody>
                  <a:tcPr marL="3036" marR="3036" marT="303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8AB"/>
                    </a:solidFill>
                  </a:tcPr>
                </a:tc>
                <a:extLst>
                  <a:ext uri="{0D108BD9-81ED-4DB2-BD59-A6C34878D82A}">
                    <a16:rowId xmlns:a16="http://schemas.microsoft.com/office/drawing/2014/main" val="3852627874"/>
                  </a:ext>
                </a:extLst>
              </a:tr>
              <a:tr h="108540">
                <a:tc gridSpan="2">
                  <a:txBody>
                    <a:bodyPr/>
                    <a:lstStyle/>
                    <a:p>
                      <a:pPr algn="l" fontAlgn="b">
                        <a:buNone/>
                      </a:pPr>
                      <a:r>
                        <a:rPr lang="en-IN" sz="700" b="0" i="0" u="none" strike="noStrike" err="1">
                          <a:solidFill>
                            <a:srgbClr val="000000"/>
                          </a:solidFill>
                          <a:effectLst/>
                          <a:latin typeface="+mn-lt"/>
                        </a:rPr>
                        <a:t>Indentity</a:t>
                      </a:r>
                      <a:endParaRPr lang="en-IN" sz="700" b="0" i="0" u="none" strike="noStrike">
                        <a:solidFill>
                          <a:srgbClr val="000000"/>
                        </a:solidFill>
                        <a:effectLst/>
                        <a:latin typeface="+mn-lt"/>
                      </a:endParaRP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Identity</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Identity</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Identity</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Indentity</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822523007"/>
                  </a:ext>
                </a:extLst>
              </a:tr>
              <a:tr h="108540">
                <a:tc gridSpan="2">
                  <a:txBody>
                    <a:bodyPr/>
                    <a:lstStyle/>
                    <a:p>
                      <a:pPr algn="l" fontAlgn="b">
                        <a:buNone/>
                      </a:pPr>
                      <a:r>
                        <a:rPr lang="en-IN" sz="700" b="0" i="0" u="none" strike="noStrike">
                          <a:solidFill>
                            <a:srgbClr val="000000"/>
                          </a:solidFill>
                          <a:effectLst/>
                          <a:latin typeface="+mn-lt"/>
                        </a:rPr>
                        <a:t>Event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Feed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Highlight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Metadata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Recording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55952320"/>
                  </a:ext>
                </a:extLst>
              </a:tr>
              <a:tr h="108540">
                <a:tc gridSpan="2">
                  <a:txBody>
                    <a:bodyPr/>
                    <a:lstStyle/>
                    <a:p>
                      <a:pPr algn="l" fontAlgn="b">
                        <a:buNone/>
                      </a:pPr>
                      <a:r>
                        <a:rPr lang="en-IN" sz="700" b="0" i="0" u="none" strike="noStrike">
                          <a:solidFill>
                            <a:srgbClr val="000000"/>
                          </a:solidFill>
                          <a:effectLst/>
                          <a:latin typeface="+mn-lt"/>
                        </a:rPr>
                        <a:t>Externals IDs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US" sz="700" b="0" i="0" u="none" strike="noStrike">
                          <a:solidFill>
                            <a:srgbClr val="000000"/>
                          </a:solidFill>
                          <a:effectLst/>
                          <a:latin typeface="+mn-lt"/>
                        </a:rPr>
                        <a:t>Event ID (Parent Live Event)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Event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Event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Event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05286531"/>
                  </a:ext>
                </a:extLst>
              </a:tr>
              <a:tr h="108540">
                <a:tc gridSpan="2">
                  <a:txBody>
                    <a:bodyPr/>
                    <a:lstStyle/>
                    <a:p>
                      <a:pPr algn="l" fontAlgn="b">
                        <a:buNone/>
                      </a:pPr>
                      <a:r>
                        <a:rPr lang="en-IN" sz="700" b="0" i="0" u="none" strike="noStrike">
                          <a:solidFill>
                            <a:srgbClr val="000000"/>
                          </a:solidFill>
                          <a:effectLst/>
                          <a:latin typeface="+mn-lt"/>
                        </a:rPr>
                        <a:t>Classification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Feed Classification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Content Definition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Data Provider</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Regulatory Context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1651568332"/>
                  </a:ext>
                </a:extLst>
              </a:tr>
              <a:tr h="108540">
                <a:tc gridSpan="2">
                  <a:txBody>
                    <a:bodyPr/>
                    <a:lstStyle/>
                    <a:p>
                      <a:pPr algn="l" fontAlgn="b">
                        <a:buNone/>
                      </a:pPr>
                      <a:r>
                        <a:rPr lang="en-IN" sz="700" b="0" i="0" u="none" strike="noStrike">
                          <a:solidFill>
                            <a:srgbClr val="000000"/>
                          </a:solidFill>
                          <a:effectLst/>
                          <a:latin typeface="+mn-lt"/>
                        </a:rPr>
                        <a:t>Sport Type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5">
                  <a:txBody>
                    <a:bodyPr/>
                    <a:lstStyle/>
                    <a:p>
                      <a:pPr algn="l" fontAlgn="b">
                        <a:buNone/>
                      </a:pPr>
                      <a:r>
                        <a:rPr lang="en-US" sz="700" b="0" i="0" u="none" strike="noStrike">
                          <a:solidFill>
                            <a:srgbClr val="000000"/>
                          </a:solidFill>
                          <a:effectLst/>
                          <a:latin typeface="+mn-lt"/>
                        </a:rPr>
                        <a:t>Feed Type (primary; backup; tactical; etc.)</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Highlight type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Provider</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Regulator</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58644949"/>
                  </a:ext>
                </a:extLst>
              </a:tr>
              <a:tr h="108540">
                <a:tc gridSpan="2">
                  <a:txBody>
                    <a:bodyPr/>
                    <a:lstStyle/>
                    <a:p>
                      <a:pPr algn="l" fontAlgn="b">
                        <a:buNone/>
                      </a:pPr>
                      <a:r>
                        <a:rPr lang="en-IN" sz="700" b="0" i="0" u="none" strike="noStrike">
                          <a:solidFill>
                            <a:srgbClr val="000000"/>
                          </a:solidFill>
                          <a:effectLst/>
                          <a:latin typeface="+mn-lt"/>
                        </a:rPr>
                        <a:t>Competition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5">
                  <a:txBody>
                    <a:bodyPr/>
                    <a:lstStyle/>
                    <a:p>
                      <a:pPr algn="l" fontAlgn="b">
                        <a:buNone/>
                      </a:pPr>
                      <a:r>
                        <a:rPr lang="en-US" sz="700" b="0" i="0" u="none" strike="noStrike">
                          <a:solidFill>
                            <a:srgbClr val="000000"/>
                          </a:solidFill>
                          <a:effectLst/>
                          <a:latin typeface="+mn-lt"/>
                        </a:rPr>
                        <a:t>Feed Priority (primary; backup; specialty)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Match time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5">
                  <a:txBody>
                    <a:bodyPr/>
                    <a:lstStyle/>
                    <a:p>
                      <a:pPr algn="l" fontAlgn="b">
                        <a:buNone/>
                      </a:pPr>
                      <a:r>
                        <a:rPr lang="en-US" sz="700" b="0" i="0" u="none" strike="noStrike">
                          <a:solidFill>
                            <a:srgbClr val="000000"/>
                          </a:solidFill>
                          <a:effectLst/>
                          <a:latin typeface="+mn-lt"/>
                        </a:rPr>
                        <a:t>Provider match ID (external correlation ID)</a:t>
                      </a:r>
                    </a:p>
                  </a:txBody>
                  <a:tcPr marL="91082"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Requirement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5770927"/>
                  </a:ext>
                </a:extLst>
              </a:tr>
              <a:tr h="108540">
                <a:tc gridSpan="2">
                  <a:txBody>
                    <a:bodyPr/>
                    <a:lstStyle/>
                    <a:p>
                      <a:pPr algn="l" fontAlgn="b">
                        <a:buNone/>
                      </a:pPr>
                      <a:r>
                        <a:rPr lang="en-IN" sz="700" b="0" i="0" u="none" strike="noStrike">
                          <a:solidFill>
                            <a:srgbClr val="000000"/>
                          </a:solidFill>
                          <a:effectLst/>
                          <a:latin typeface="+mn-lt"/>
                        </a:rPr>
                        <a:t>Season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Source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Detected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Feed type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Jurisdiction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10494865"/>
                  </a:ext>
                </a:extLst>
              </a:tr>
              <a:tr h="108540">
                <a:tc gridSpan="2">
                  <a:txBody>
                    <a:bodyPr/>
                    <a:lstStyle/>
                    <a:p>
                      <a:pPr algn="l" fontAlgn="b">
                        <a:buNone/>
                      </a:pPr>
                      <a:r>
                        <a:rPr lang="en-IN" sz="700" b="0" i="0" u="none" strike="noStrike">
                          <a:solidFill>
                            <a:srgbClr val="000000"/>
                          </a:solidFill>
                          <a:effectLst/>
                          <a:latin typeface="+mn-lt"/>
                        </a:rPr>
                        <a:t>Match Day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6">
                  <a:txBody>
                    <a:bodyPr/>
                    <a:lstStyle/>
                    <a:p>
                      <a:pPr algn="l" fontAlgn="b">
                        <a:buNone/>
                      </a:pPr>
                      <a:r>
                        <a:rPr lang="en-IN" sz="700" b="0" i="0" u="none" strike="noStrike">
                          <a:solidFill>
                            <a:srgbClr val="000000"/>
                          </a:solidFill>
                          <a:effectLst/>
                          <a:latin typeface="+mn-lt"/>
                        </a:rPr>
                        <a:t>Source Type (venue-uplink; remote production; studio)</a:t>
                      </a:r>
                    </a:p>
                  </a:txBody>
                  <a:tcPr marL="91082"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Published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Live Score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Recording Details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1301263943"/>
                  </a:ext>
                </a:extLst>
              </a:tr>
              <a:tr h="108540">
                <a:tc gridSpan="2">
                  <a:txBody>
                    <a:bodyPr/>
                    <a:lstStyle/>
                    <a:p>
                      <a:pPr algn="l" fontAlgn="b">
                        <a:buNone/>
                      </a:pPr>
                      <a:r>
                        <a:rPr lang="en-IN" sz="700" b="0" i="0" u="none" strike="noStrike">
                          <a:solidFill>
                            <a:srgbClr val="000000"/>
                          </a:solidFill>
                          <a:effectLst/>
                          <a:latin typeface="+mn-lt"/>
                        </a:rPr>
                        <a:t>Participants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Provider</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Generation latency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Home score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Recording Start Time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422057249"/>
                  </a:ext>
                </a:extLst>
              </a:tr>
              <a:tr h="108540">
                <a:tc gridSpan="2">
                  <a:txBody>
                    <a:bodyPr/>
                    <a:lstStyle/>
                    <a:p>
                      <a:pPr algn="l" fontAlgn="b">
                        <a:buNone/>
                      </a:pPr>
                      <a:r>
                        <a:rPr lang="en-IN" sz="700" b="0" i="0" u="none" strike="noStrike">
                          <a:solidFill>
                            <a:srgbClr val="000000"/>
                          </a:solidFill>
                          <a:effectLst/>
                          <a:latin typeface="+mn-lt"/>
                        </a:rPr>
                        <a:t>Home Team</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5">
                  <a:txBody>
                    <a:bodyPr/>
                    <a:lstStyle/>
                    <a:p>
                      <a:pPr algn="l" fontAlgn="b">
                        <a:buNone/>
                      </a:pPr>
                      <a:r>
                        <a:rPr lang="en-IN" sz="700" b="0" i="0" u="none" strike="noStrike">
                          <a:solidFill>
                            <a:srgbClr val="000000"/>
                          </a:solidFill>
                          <a:effectLst/>
                          <a:latin typeface="+mn-lt"/>
                        </a:rPr>
                        <a:t>Ingest Location (physical/cloud location)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Video Segment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Away score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Recording End Time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35675720"/>
                  </a:ext>
                </a:extLst>
              </a:tr>
              <a:tr h="108540">
                <a:tc gridSpan="2">
                  <a:txBody>
                    <a:bodyPr/>
                    <a:lstStyle/>
                    <a:p>
                      <a:pPr algn="l" fontAlgn="b">
                        <a:buNone/>
                      </a:pPr>
                      <a:r>
                        <a:rPr lang="en-IN" sz="700" b="0" i="0" u="none" strike="noStrike">
                          <a:solidFill>
                            <a:srgbClr val="000000"/>
                          </a:solidFill>
                          <a:effectLst/>
                          <a:latin typeface="+mn-lt"/>
                        </a:rPr>
                        <a:t>Away Team</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Technical Specification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Start time code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l" fontAlgn="b">
                        <a:buNone/>
                      </a:pPr>
                      <a:r>
                        <a:rPr lang="en-IN" sz="700" b="0" i="0" u="none" strike="noStrike">
                          <a:solidFill>
                            <a:srgbClr val="000000"/>
                          </a:solidFill>
                          <a:effectLst/>
                          <a:latin typeface="+mn-lt"/>
                        </a:rPr>
                        <a:t>Score events (timestamped records)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Duration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818110844"/>
                  </a:ext>
                </a:extLst>
              </a:tr>
              <a:tr h="108540">
                <a:tc>
                  <a:txBody>
                    <a:bodyPr/>
                    <a:lstStyle/>
                    <a:p>
                      <a:pPr algn="l" fontAlgn="b">
                        <a:buNone/>
                      </a:pPr>
                      <a:r>
                        <a:rPr lang="en-IN" sz="700" b="0" i="0" u="none" strike="noStrike">
                          <a:solidFill>
                            <a:srgbClr val="000000"/>
                          </a:solidFill>
                          <a:effectLst/>
                          <a:latin typeface="+mn-lt"/>
                        </a:rPr>
                        <a:t>Venue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Codec</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End time code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Live Statistics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Storage Location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11775622"/>
                  </a:ext>
                </a:extLst>
              </a:tr>
              <a:tr h="108540">
                <a:tc gridSpan="2">
                  <a:txBody>
                    <a:bodyPr/>
                    <a:lstStyle/>
                    <a:p>
                      <a:pPr algn="l" fontAlgn="b">
                        <a:buNone/>
                      </a:pPr>
                      <a:r>
                        <a:rPr lang="en-IN" sz="700" b="0" i="0" u="none" strike="noStrike">
                          <a:solidFill>
                            <a:srgbClr val="000000"/>
                          </a:solidFill>
                          <a:effectLst/>
                          <a:latin typeface="+mn-lt"/>
                        </a:rPr>
                        <a:t>Officials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Resolution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Duration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Possessions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Technical Specifications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593260334"/>
                  </a:ext>
                </a:extLst>
              </a:tr>
              <a:tr h="108540">
                <a:tc gridSpan="3">
                  <a:txBody>
                    <a:bodyPr/>
                    <a:lstStyle/>
                    <a:p>
                      <a:pPr algn="l" fontAlgn="b">
                        <a:buNone/>
                      </a:pPr>
                      <a:r>
                        <a:rPr lang="en-IN" sz="700" b="0" i="0" u="none" strike="noStrike">
                          <a:solidFill>
                            <a:srgbClr val="000000"/>
                          </a:solidFill>
                          <a:effectLst/>
                          <a:latin typeface="+mn-lt"/>
                        </a:rPr>
                        <a:t>Lifecycle Timestamps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Frame rate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AI Analysis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Shots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Resolution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21770237"/>
                  </a:ext>
                </a:extLst>
              </a:tr>
              <a:tr h="108540">
                <a:tc gridSpan="2">
                  <a:txBody>
                    <a:bodyPr/>
                    <a:lstStyle/>
                    <a:p>
                      <a:pPr algn="l" fontAlgn="b">
                        <a:buNone/>
                      </a:pPr>
                      <a:r>
                        <a:rPr lang="en-IN" sz="700" b="0" i="0" u="none" strike="noStrike">
                          <a:solidFill>
                            <a:srgbClr val="000000"/>
                          </a:solidFill>
                          <a:effectLst/>
                          <a:latin typeface="+mn-lt"/>
                        </a:rPr>
                        <a:t>Scheduled Start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Bit rate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AI Model</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Passes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Codec</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19802364"/>
                  </a:ext>
                </a:extLst>
              </a:tr>
              <a:tr h="108540">
                <a:tc gridSpan="2">
                  <a:txBody>
                    <a:bodyPr/>
                    <a:lstStyle/>
                    <a:p>
                      <a:pPr algn="l" fontAlgn="b">
                        <a:buNone/>
                      </a:pPr>
                      <a:r>
                        <a:rPr lang="en-IN" sz="700" b="0" i="0" u="none" strike="noStrike">
                          <a:solidFill>
                            <a:srgbClr val="000000"/>
                          </a:solidFill>
                          <a:effectLst/>
                          <a:latin typeface="+mn-lt"/>
                        </a:rPr>
                        <a:t>Broadcast Start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Color space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Confidence Score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Tackles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Audio Tracks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20912253"/>
                  </a:ext>
                </a:extLst>
              </a:tr>
              <a:tr h="108540">
                <a:tc gridSpan="2">
                  <a:txBody>
                    <a:bodyPr/>
                    <a:lstStyle/>
                    <a:p>
                      <a:pPr algn="l" fontAlgn="b">
                        <a:buNone/>
                      </a:pPr>
                      <a:r>
                        <a:rPr lang="en-IN" sz="700" b="0" i="0" u="none" strike="noStrike">
                          <a:solidFill>
                            <a:srgbClr val="000000"/>
                          </a:solidFill>
                          <a:effectLst/>
                          <a:latin typeface="+mn-lt"/>
                        </a:rPr>
                        <a:t>Actual Kick-off</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Audio channels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Detected Entities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Fouls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Closed Captions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850170145"/>
                  </a:ext>
                </a:extLst>
              </a:tr>
              <a:tr h="108540">
                <a:tc gridSpan="2">
                  <a:txBody>
                    <a:bodyPr/>
                    <a:lstStyle/>
                    <a:p>
                      <a:pPr algn="l" fontAlgn="b">
                        <a:buNone/>
                      </a:pPr>
                      <a:r>
                        <a:rPr lang="en-IN" sz="700" b="0" i="0" u="none" strike="noStrike">
                          <a:solidFill>
                            <a:srgbClr val="000000"/>
                          </a:solidFill>
                          <a:effectLst/>
                          <a:latin typeface="+mn-lt"/>
                        </a:rPr>
                        <a:t>Half Time Start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Real-Time Quality Metrics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Action Classification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Corners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Chain of Custody</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1536691872"/>
                  </a:ext>
                </a:extLst>
              </a:tr>
              <a:tr h="108540">
                <a:tc gridSpan="2">
                  <a:txBody>
                    <a:bodyPr/>
                    <a:lstStyle/>
                    <a:p>
                      <a:pPr algn="l" fontAlgn="b">
                        <a:buNone/>
                      </a:pPr>
                      <a:r>
                        <a:rPr lang="en-IN" sz="700" b="0" i="0" u="none" strike="noStrike">
                          <a:solidFill>
                            <a:srgbClr val="000000"/>
                          </a:solidFill>
                          <a:effectLst/>
                          <a:latin typeface="+mn-lt"/>
                        </a:rPr>
                        <a:t>Second Half Start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Current latency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Visual Metadata</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Offsides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Recording System</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32710400"/>
                  </a:ext>
                </a:extLst>
              </a:tr>
              <a:tr h="108540">
                <a:tc gridSpan="2">
                  <a:txBody>
                    <a:bodyPr/>
                    <a:lstStyle/>
                    <a:p>
                      <a:pPr algn="l" fontAlgn="b">
                        <a:buNone/>
                      </a:pPr>
                      <a:r>
                        <a:rPr lang="en-IN" sz="700" b="0" i="0" u="none" strike="noStrike">
                          <a:solidFill>
                            <a:srgbClr val="000000"/>
                          </a:solidFill>
                          <a:effectLst/>
                          <a:latin typeface="+mn-lt"/>
                        </a:rPr>
                        <a:t>Full Time Whistle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Target latency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Key players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Yellow cards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Verification Checksum</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79610907"/>
                  </a:ext>
                </a:extLst>
              </a:tr>
              <a:tr h="108540">
                <a:tc gridSpan="2">
                  <a:txBody>
                    <a:bodyPr/>
                    <a:lstStyle/>
                    <a:p>
                      <a:pPr algn="l" fontAlgn="b">
                        <a:buNone/>
                      </a:pPr>
                      <a:r>
                        <a:rPr lang="en-IN" sz="700" b="0" i="0" u="none" strike="noStrike">
                          <a:solidFill>
                            <a:srgbClr val="000000"/>
                          </a:solidFill>
                          <a:effectLst/>
                          <a:latin typeface="+mn-lt"/>
                        </a:rPr>
                        <a:t>Broadcast End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Packets received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Ball Trajectory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Red cards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Encryption Status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1216542"/>
                  </a:ext>
                </a:extLst>
              </a:tr>
              <a:tr h="108540">
                <a:tc gridSpan="3">
                  <a:txBody>
                    <a:bodyPr/>
                    <a:lstStyle/>
                    <a:p>
                      <a:pPr algn="l" fontAlgn="b">
                        <a:buNone/>
                      </a:pPr>
                      <a:r>
                        <a:rPr lang="en-IN" sz="700" b="0" i="0" u="none" strike="noStrike">
                          <a:solidFill>
                            <a:srgbClr val="000000"/>
                          </a:solidFill>
                          <a:effectLst/>
                          <a:latin typeface="+mn-lt"/>
                        </a:rPr>
                        <a:t>Hand-off Completed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Packets lost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Crowd Reaction Level</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Substitutions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Access Log</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8821172"/>
                  </a:ext>
                </a:extLst>
              </a:tr>
              <a:tr h="108540">
                <a:tc gridSpan="2">
                  <a:txBody>
                    <a:bodyPr/>
                    <a:lstStyle/>
                    <a:p>
                      <a:pPr algn="l" fontAlgn="b">
                        <a:buNone/>
                      </a:pPr>
                      <a:r>
                        <a:rPr lang="en-IN" sz="700" b="0" i="0" u="none" strike="noStrike">
                          <a:solidFill>
                            <a:srgbClr val="000000"/>
                          </a:solidFill>
                          <a:effectLst/>
                          <a:latin typeface="+mn-lt"/>
                        </a:rPr>
                        <a:t>Live State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Packet loss rate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Editorial Enrichment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l" fontAlgn="b">
                        <a:buNone/>
                      </a:pPr>
                      <a:r>
                        <a:rPr lang="en-IN" sz="700" b="0" i="0" u="none" strike="noStrike">
                          <a:solidFill>
                            <a:srgbClr val="000000"/>
                          </a:solidFill>
                          <a:effectLst/>
                          <a:latin typeface="+mn-lt"/>
                        </a:rPr>
                        <a:t>Advanced Metrics (Premium Providers)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Retention Management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475109058"/>
                  </a:ext>
                </a:extLst>
              </a:tr>
              <a:tr h="108540">
                <a:tc gridSpan="2">
                  <a:txBody>
                    <a:bodyPr/>
                    <a:lstStyle/>
                    <a:p>
                      <a:pPr algn="l" fontAlgn="b">
                        <a:buNone/>
                      </a:pPr>
                      <a:r>
                        <a:rPr lang="en-IN" sz="700" b="0" i="0" u="none" strike="noStrike">
                          <a:solidFill>
                            <a:srgbClr val="000000"/>
                          </a:solidFill>
                          <a:effectLst/>
                          <a:latin typeface="+mn-lt"/>
                        </a:rPr>
                        <a:t>Event Status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Jitter</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Auto-generated title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Expected goals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Retention Deadline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23149158"/>
                  </a:ext>
                </a:extLst>
              </a:tr>
              <a:tr h="108540">
                <a:tc gridSpan="2">
                  <a:txBody>
                    <a:bodyPr/>
                    <a:lstStyle/>
                    <a:p>
                      <a:pPr algn="l" fontAlgn="b">
                        <a:buNone/>
                      </a:pPr>
                      <a:r>
                        <a:rPr lang="en-IN" sz="700" b="0" i="0" u="none" strike="noStrike">
                          <a:solidFill>
                            <a:srgbClr val="000000"/>
                          </a:solidFill>
                          <a:effectLst/>
                          <a:latin typeface="+mn-lt"/>
                        </a:rPr>
                        <a:t>Match Clock</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Bit error rate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Auto-generated description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Heatmap</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Deletion Status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85886594"/>
                  </a:ext>
                </a:extLst>
              </a:tr>
              <a:tr h="108540">
                <a:tc gridSpan="2">
                  <a:txBody>
                    <a:bodyPr/>
                    <a:lstStyle/>
                    <a:p>
                      <a:pPr algn="l" fontAlgn="b">
                        <a:buNone/>
                      </a:pPr>
                      <a:r>
                        <a:rPr lang="en-IN" sz="700" b="0" i="0" u="none" strike="noStrike">
                          <a:solidFill>
                            <a:srgbClr val="000000"/>
                          </a:solidFill>
                          <a:effectLst/>
                          <a:latin typeface="+mn-lt"/>
                        </a:rPr>
                        <a:t>Curren Period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Quality score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Tags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Pass Network</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Deletion Date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68483806"/>
                  </a:ext>
                </a:extLst>
              </a:tr>
              <a:tr h="108540">
                <a:tc gridSpan="3">
                  <a:txBody>
                    <a:bodyPr/>
                    <a:lstStyle/>
                    <a:p>
                      <a:pPr algn="l" fontAlgn="b">
                        <a:buNone/>
                      </a:pPr>
                      <a:r>
                        <a:rPr lang="en-IN" sz="700" b="0" i="0" u="none" strike="noStrike">
                          <a:solidFill>
                            <a:srgbClr val="000000"/>
                          </a:solidFill>
                          <a:effectLst/>
                          <a:latin typeface="+mn-lt"/>
                        </a:rPr>
                        <a:t>Content References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Delivery Infrastructure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Importance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Pressure Map</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Incident Association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971900818"/>
                  </a:ext>
                </a:extLst>
              </a:tr>
              <a:tr h="108540">
                <a:tc gridSpan="4">
                  <a:txBody>
                    <a:bodyPr/>
                    <a:lstStyle/>
                    <a:p>
                      <a:pPr algn="l" fontAlgn="b">
                        <a:buNone/>
                      </a:pPr>
                      <a:r>
                        <a:rPr lang="en-IN" sz="700" b="0" i="0" u="none" strike="noStrike">
                          <a:solidFill>
                            <a:srgbClr val="000000"/>
                          </a:solidFill>
                          <a:effectLst/>
                          <a:latin typeface="+mn-lt"/>
                        </a:rPr>
                        <a:t>Active Feed (broadcasting feed)</a:t>
                      </a:r>
                    </a:p>
                  </a:txBody>
                  <a:tcPr marL="91082"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Ingestion end-points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Production Status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Event Timeline</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Complaint References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44436123"/>
                  </a:ext>
                </a:extLst>
              </a:tr>
              <a:tr h="108540">
                <a:tc gridSpan="2">
                  <a:txBody>
                    <a:bodyPr/>
                    <a:lstStyle/>
                    <a:p>
                      <a:pPr algn="l" fontAlgn="b">
                        <a:buNone/>
                      </a:pPr>
                      <a:r>
                        <a:rPr lang="en-IN" sz="700" b="0" i="0" u="none" strike="noStrike">
                          <a:solidFill>
                            <a:srgbClr val="000000"/>
                          </a:solidFill>
                          <a:effectLst/>
                          <a:latin typeface="+mn-lt"/>
                        </a:rPr>
                        <a:t>Live Highlights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CDN distribution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Clip asset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l" fontAlgn="b">
                        <a:buNone/>
                      </a:pPr>
                      <a:r>
                        <a:rPr lang="en-US" sz="700" b="0" i="0" u="none" strike="noStrike">
                          <a:solidFill>
                            <a:srgbClr val="000000"/>
                          </a:solidFill>
                          <a:effectLst/>
                          <a:latin typeface="+mn-lt"/>
                        </a:rPr>
                        <a:t>Match Events (chronological evet log)</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Broadcast Incidents</a:t>
                      </a:r>
                    </a:p>
                  </a:txBody>
                  <a:tcPr marL="91082" marR="3036" marT="303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9728928"/>
                  </a:ext>
                </a:extLst>
              </a:tr>
              <a:tr h="108540">
                <a:tc gridSpan="3">
                  <a:txBody>
                    <a:bodyPr/>
                    <a:lstStyle/>
                    <a:p>
                      <a:pPr algn="l" fontAlgn="b">
                        <a:buNone/>
                      </a:pPr>
                      <a:r>
                        <a:rPr lang="en-IN" sz="700" b="0" i="0" u="none" strike="noStrike">
                          <a:solidFill>
                            <a:srgbClr val="000000"/>
                          </a:solidFill>
                          <a:effectLst/>
                          <a:latin typeface="+mn-lt"/>
                        </a:rPr>
                        <a:t>Compliance Recording</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Delivery targets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Thumb nail asset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Sync Management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47498423"/>
                  </a:ext>
                </a:extLst>
              </a:tr>
              <a:tr h="108540">
                <a:tc gridSpan="3">
                  <a:txBody>
                    <a:bodyPr/>
                    <a:lstStyle/>
                    <a:p>
                      <a:pPr algn="l" fontAlgn="b">
                        <a:buNone/>
                      </a:pPr>
                      <a:r>
                        <a:rPr lang="en-IN" sz="700" b="0" i="0" u="none" strike="noStrike">
                          <a:solidFill>
                            <a:srgbClr val="000000"/>
                          </a:solidFill>
                          <a:effectLst/>
                          <a:latin typeface="+mn-lt"/>
                        </a:rPr>
                        <a:t>Real-time Metadata</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Lifecycle and Status</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IN" sz="700" b="0" i="0" u="none" strike="noStrike">
                          <a:solidFill>
                            <a:srgbClr val="000000"/>
                          </a:solidFill>
                          <a:effectLst/>
                          <a:latin typeface="+mn-lt"/>
                        </a:rPr>
                        <a:t>Status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Last sync timestamp</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93314233"/>
                  </a:ext>
                </a:extLst>
              </a:tr>
              <a:tr h="108540">
                <a:tc gridSpan="2">
                  <a:txBody>
                    <a:bodyPr/>
                    <a:lstStyle/>
                    <a:p>
                      <a:pPr algn="l" fontAlgn="b">
                        <a:buNone/>
                      </a:pPr>
                      <a:r>
                        <a:rPr lang="en-IN" sz="700" b="0" i="0" u="none" strike="noStrike">
                          <a:solidFill>
                            <a:srgbClr val="000000"/>
                          </a:solidFill>
                          <a:effectLst/>
                          <a:latin typeface="+mn-lt"/>
                        </a:rPr>
                        <a:t>Live Score</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6">
                  <a:txBody>
                    <a:bodyPr/>
                    <a:lstStyle/>
                    <a:p>
                      <a:pPr algn="l" fontAlgn="b">
                        <a:buNone/>
                      </a:pPr>
                      <a:r>
                        <a:rPr lang="en-US" sz="700" b="0" i="0" u="none" strike="noStrike">
                          <a:solidFill>
                            <a:srgbClr val="000000"/>
                          </a:solidFill>
                          <a:effectLst/>
                          <a:latin typeface="+mn-lt"/>
                        </a:rPr>
                        <a:t>Feed Status (standby; active; degraded; failed; completed)</a:t>
                      </a:r>
                    </a:p>
                  </a:txBody>
                  <a:tcPr marL="91082"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Workflow</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Sync frequency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846466828"/>
                  </a:ext>
                </a:extLst>
              </a:tr>
              <a:tr h="108540">
                <a:tc gridSpan="2">
                  <a:txBody>
                    <a:bodyPr/>
                    <a:lstStyle/>
                    <a:p>
                      <a:pPr algn="l" fontAlgn="b">
                        <a:buNone/>
                      </a:pPr>
                      <a:r>
                        <a:rPr lang="en-IN" sz="700" b="0" i="0" u="none" strike="noStrike">
                          <a:solidFill>
                            <a:srgbClr val="000000"/>
                          </a:solidFill>
                          <a:effectLst/>
                          <a:latin typeface="+mn-lt"/>
                        </a:rPr>
                        <a:t>Live Stats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Activated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Created by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Data latency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2417554833"/>
                  </a:ext>
                </a:extLst>
              </a:tr>
              <a:tr h="108540">
                <a:tc gridSpan="3">
                  <a:txBody>
                    <a:bodyPr/>
                    <a:lstStyle/>
                    <a:p>
                      <a:pPr algn="l" fontAlgn="b">
                        <a:buNone/>
                      </a:pPr>
                      <a:r>
                        <a:rPr lang="en-IN" sz="700" b="0" i="0" u="none" strike="noStrike">
                          <a:solidFill>
                            <a:srgbClr val="000000"/>
                          </a:solidFill>
                          <a:effectLst/>
                          <a:latin typeface="+mn-lt"/>
                        </a:rPr>
                        <a:t>Significant Events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Deactivated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Reviewed by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Sync errors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1738316311"/>
                  </a:ext>
                </a:extLst>
              </a:tr>
              <a:tr h="108540">
                <a:tc gridSpan="2">
                  <a:txBody>
                    <a:bodyPr/>
                    <a:lstStyle/>
                    <a:p>
                      <a:pPr algn="l" fontAlgn="b">
                        <a:buNone/>
                      </a:pPr>
                      <a:r>
                        <a:rPr lang="en-IN" sz="700" b="0" i="0" u="none" strike="noStrike">
                          <a:solidFill>
                            <a:srgbClr val="000000"/>
                          </a:solidFill>
                          <a:effectLst/>
                          <a:latin typeface="+mn-lt"/>
                        </a:rPr>
                        <a:t>Operational</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Failover Ebents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Published target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Quality Control</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874437052"/>
                  </a:ext>
                </a:extLst>
              </a:tr>
              <a:tr h="108540">
                <a:tc gridSpan="3">
                  <a:txBody>
                    <a:bodyPr/>
                    <a:lstStyle/>
                    <a:p>
                      <a:pPr algn="l" fontAlgn="b">
                        <a:buNone/>
                      </a:pPr>
                      <a:r>
                        <a:rPr lang="en-IN" sz="700" b="0" i="0" u="none" strike="noStrike">
                          <a:solidFill>
                            <a:srgbClr val="000000"/>
                          </a:solidFill>
                          <a:effectLst/>
                          <a:latin typeface="+mn-lt"/>
                        </a:rPr>
                        <a:t>Broadcast Quality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Monitoring &amp; Alerting</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Performance Tracking</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a:noFill/>
                    </a:lnR>
                    <a:lnT>
                      <a:noFill/>
                    </a:lnT>
                    <a:lnB>
                      <a:noFill/>
                    </a:lnB>
                    <a:solidFill>
                      <a:srgbClr val="D9D9D9"/>
                    </a:solidFill>
                  </a:tcPr>
                </a:tc>
                <a:tc>
                  <a:txBody>
                    <a:bodyPr/>
                    <a:lstStyle/>
                    <a:p>
                      <a:pPr algn="l" fontAlgn="b">
                        <a:buNone/>
                      </a:pPr>
                      <a:r>
                        <a:rPr lang="en-IN" sz="700" b="0" i="0" u="none" strike="noStrike">
                          <a:solidFill>
                            <a:srgbClr val="000000"/>
                          </a:solidFill>
                          <a:effectLst/>
                          <a:latin typeface="+mn-lt"/>
                        </a:rPr>
                        <a:t> </a:t>
                      </a:r>
                    </a:p>
                  </a:txBody>
                  <a:tcPr marL="45541"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Data quality</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4084970829"/>
                  </a:ext>
                </a:extLst>
              </a:tr>
              <a:tr h="108540">
                <a:tc gridSpan="2">
                  <a:txBody>
                    <a:bodyPr/>
                    <a:lstStyle/>
                    <a:p>
                      <a:pPr algn="l" fontAlgn="b">
                        <a:buNone/>
                      </a:pPr>
                      <a:r>
                        <a:rPr lang="en-IN" sz="700" b="0" i="0" u="none" strike="noStrike">
                          <a:solidFill>
                            <a:srgbClr val="000000"/>
                          </a:solidFill>
                          <a:effectLst/>
                          <a:latin typeface="+mn-lt"/>
                        </a:rPr>
                        <a:t>Incident Log</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Alert thresholds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View count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Anomalies detected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3473285233"/>
                  </a:ext>
                </a:extLst>
              </a:tr>
              <a:tr h="108540">
                <a:tc gridSpan="3">
                  <a:txBody>
                    <a:bodyPr/>
                    <a:lstStyle/>
                    <a:p>
                      <a:pPr algn="l" fontAlgn="b">
                        <a:buNone/>
                      </a:pPr>
                      <a:r>
                        <a:rPr lang="en-IN" sz="700" b="0" i="0" u="none" strike="noStrike">
                          <a:solidFill>
                            <a:srgbClr val="000000"/>
                          </a:solidFill>
                          <a:effectLst/>
                          <a:latin typeface="+mn-lt"/>
                        </a:rPr>
                        <a:t>Hand-off Preparation</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l" fontAlgn="b">
                        <a:buNone/>
                      </a:pPr>
                      <a:r>
                        <a:rPr lang="en-IN" sz="700" b="0" i="0" u="none" strike="noStrike">
                          <a:solidFill>
                            <a:srgbClr val="000000"/>
                          </a:solidFill>
                          <a:effectLst/>
                          <a:latin typeface="+mn-lt"/>
                        </a:rPr>
                        <a:t>Last health check</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Engagement score</a:t>
                      </a:r>
                    </a:p>
                  </a:txBody>
                  <a:tcPr marL="91082" marR="3036" marT="303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Manual overrides</a:t>
                      </a:r>
                    </a:p>
                  </a:txBody>
                  <a:tcPr marL="91082" marR="3036" marT="303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247307989"/>
                  </a:ext>
                </a:extLst>
              </a:tr>
              <a:tr h="108540">
                <a:tc gridSpan="2">
                  <a:txBody>
                    <a:bodyPr/>
                    <a:lstStyle/>
                    <a:p>
                      <a:pPr algn="l" fontAlgn="b">
                        <a:buNone/>
                      </a:pPr>
                      <a:r>
                        <a:rPr lang="en-IN" sz="700" b="0" i="0" u="none" strike="noStrike">
                          <a:solidFill>
                            <a:srgbClr val="000000"/>
                          </a:solidFill>
                          <a:effectLst/>
                          <a:latin typeface="+mn-lt"/>
                        </a:rPr>
                        <a:t>Hand-off Status</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b">
                        <a:buNone/>
                      </a:pPr>
                      <a:r>
                        <a:rPr lang="en-IN" sz="700" b="0" i="0" u="none" strike="noStrike">
                          <a:solidFill>
                            <a:srgbClr val="000000"/>
                          </a:solidFill>
                          <a:effectLst/>
                          <a:latin typeface="+mn-lt"/>
                        </a:rPr>
                        <a:t>Health check interval</a:t>
                      </a:r>
                    </a:p>
                  </a:txBody>
                  <a:tcPr marL="91082" marR="3036" marT="303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3689015297"/>
                  </a:ext>
                </a:extLst>
              </a:tr>
              <a:tr h="108540">
                <a:tc gridSpan="3">
                  <a:txBody>
                    <a:bodyPr/>
                    <a:lstStyle/>
                    <a:p>
                      <a:pPr algn="l" fontAlgn="b">
                        <a:buNone/>
                      </a:pPr>
                      <a:r>
                        <a:rPr lang="en-IN" sz="700" b="0" i="0" u="none" strike="noStrike">
                          <a:solidFill>
                            <a:srgbClr val="000000"/>
                          </a:solidFill>
                          <a:effectLst/>
                          <a:latin typeface="+mn-lt"/>
                        </a:rPr>
                        <a:t>Scripted Content Asset ID</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3898442994"/>
                  </a:ext>
                </a:extLst>
              </a:tr>
              <a:tr h="108540">
                <a:tc gridSpan="3">
                  <a:txBody>
                    <a:bodyPr/>
                    <a:lstStyle/>
                    <a:p>
                      <a:pPr algn="l" fontAlgn="b">
                        <a:buNone/>
                      </a:pPr>
                      <a:r>
                        <a:rPr lang="en-IN" sz="700" b="0" i="0" u="none" strike="noStrike">
                          <a:solidFill>
                            <a:srgbClr val="000000"/>
                          </a:solidFill>
                          <a:effectLst/>
                          <a:latin typeface="+mn-lt"/>
                        </a:rPr>
                        <a:t>State Management</a:t>
                      </a:r>
                    </a:p>
                  </a:txBody>
                  <a:tcPr marL="45541" marR="3036" marT="3036"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hMerge="1">
                  <a:txBody>
                    <a:bodyPr/>
                    <a:lstStyle/>
                    <a:p>
                      <a:endParaRPr lang="en-US"/>
                    </a:p>
                  </a:txBody>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228564217"/>
                  </a:ext>
                </a:extLst>
              </a:tr>
              <a:tr h="108540">
                <a:tc gridSpan="2">
                  <a:txBody>
                    <a:bodyPr/>
                    <a:lstStyle/>
                    <a:p>
                      <a:pPr algn="l" fontAlgn="b">
                        <a:buNone/>
                      </a:pPr>
                      <a:r>
                        <a:rPr lang="en-IN" sz="700" b="0" i="0" u="none" strike="noStrike">
                          <a:solidFill>
                            <a:srgbClr val="000000"/>
                          </a:solidFill>
                          <a:effectLst/>
                          <a:latin typeface="+mn-lt"/>
                        </a:rPr>
                        <a:t>Version</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1236528091"/>
                  </a:ext>
                </a:extLst>
              </a:tr>
              <a:tr h="108540">
                <a:tc gridSpan="2">
                  <a:txBody>
                    <a:bodyPr/>
                    <a:lstStyle/>
                    <a:p>
                      <a:pPr algn="l" fontAlgn="b">
                        <a:buNone/>
                      </a:pPr>
                      <a:r>
                        <a:rPr lang="en-IN" sz="700" b="0" i="0" u="none" strike="noStrike">
                          <a:solidFill>
                            <a:srgbClr val="000000"/>
                          </a:solidFill>
                          <a:effectLst/>
                          <a:latin typeface="+mn-lt"/>
                        </a:rPr>
                        <a:t>Created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3573810398"/>
                  </a:ext>
                </a:extLst>
              </a:tr>
              <a:tr h="108540">
                <a:tc gridSpan="2">
                  <a:txBody>
                    <a:bodyPr/>
                    <a:lstStyle/>
                    <a:p>
                      <a:pPr algn="l" fontAlgn="b">
                        <a:buNone/>
                      </a:pPr>
                      <a:r>
                        <a:rPr lang="en-IN" sz="700" b="0" i="0" u="none" strike="noStrike">
                          <a:solidFill>
                            <a:srgbClr val="000000"/>
                          </a:solidFill>
                          <a:effectLst/>
                          <a:latin typeface="+mn-lt"/>
                        </a:rPr>
                        <a:t>Last Updated At</a:t>
                      </a:r>
                    </a:p>
                  </a:txBody>
                  <a:tcPr marL="91082" marR="3036" marT="3036"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1961035255"/>
                  </a:ext>
                </a:extLst>
              </a:tr>
              <a:tr h="108540">
                <a:tc gridSpan="2">
                  <a:txBody>
                    <a:bodyPr/>
                    <a:lstStyle/>
                    <a:p>
                      <a:pPr algn="l" fontAlgn="b">
                        <a:buNone/>
                      </a:pPr>
                      <a:r>
                        <a:rPr lang="en-IN" sz="700" b="0" i="0" u="none" strike="noStrike">
                          <a:solidFill>
                            <a:srgbClr val="000000"/>
                          </a:solidFill>
                          <a:effectLst/>
                          <a:latin typeface="+mn-lt"/>
                        </a:rPr>
                        <a:t>Last Modified By</a:t>
                      </a:r>
                    </a:p>
                  </a:txBody>
                  <a:tcPr marL="91082" marR="3036" marT="303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IN" sz="700" b="0" i="0" u="none" strike="noStrike">
                          <a:solidFill>
                            <a:srgbClr val="000000"/>
                          </a:solidFill>
                          <a:effectLst/>
                          <a:latin typeface="+mn-lt"/>
                        </a:rPr>
                        <a:t> </a:t>
                      </a:r>
                    </a:p>
                  </a:txBody>
                  <a:tcPr marL="3036" marR="3036" marT="3036"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1002129258"/>
                  </a:ext>
                </a:extLst>
              </a:tr>
              <a:tr h="108540">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tc>
                  <a:txBody>
                    <a:bodyPr/>
                    <a:lstStyle/>
                    <a:p>
                      <a:pPr algn="l" fontAlgn="b">
                        <a:buNone/>
                      </a:pPr>
                      <a:endParaRPr lang="en-IN" sz="700" b="0" i="0" u="none" strike="noStrike">
                        <a:solidFill>
                          <a:srgbClr val="000000"/>
                        </a:solidFill>
                        <a:effectLst/>
                        <a:latin typeface="+mn-lt"/>
                      </a:endParaRPr>
                    </a:p>
                  </a:txBody>
                  <a:tcPr marL="3036" marR="3036" marT="3036" marB="0" anchor="b">
                    <a:lnL>
                      <a:noFill/>
                    </a:lnL>
                    <a:lnR>
                      <a:noFill/>
                    </a:lnR>
                    <a:lnT>
                      <a:noFill/>
                    </a:lnT>
                    <a:lnB>
                      <a:noFill/>
                    </a:lnB>
                    <a:noFill/>
                  </a:tcPr>
                </a:tc>
                <a:extLst>
                  <a:ext uri="{0D108BD9-81ED-4DB2-BD59-A6C34878D82A}">
                    <a16:rowId xmlns:a16="http://schemas.microsoft.com/office/drawing/2014/main" val="4154084156"/>
                  </a:ext>
                </a:extLst>
              </a:tr>
            </a:tbl>
          </a:graphicData>
        </a:graphic>
      </p:graphicFrame>
      <p:sp>
        <p:nvSpPr>
          <p:cNvPr id="9" name="Rectangle 8">
            <a:extLst>
              <a:ext uri="{FF2B5EF4-FFF2-40B4-BE49-F238E27FC236}">
                <a16:creationId xmlns:a16="http://schemas.microsoft.com/office/drawing/2014/main" id="{982D2DA0-854B-B0EB-CCDB-F4D3CE4540FB}"/>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SPORTS DOMAIN</a:t>
            </a:r>
          </a:p>
        </p:txBody>
      </p:sp>
      <p:grpSp>
        <p:nvGrpSpPr>
          <p:cNvPr id="10" name="Group 9">
            <a:extLst>
              <a:ext uri="{FF2B5EF4-FFF2-40B4-BE49-F238E27FC236}">
                <a16:creationId xmlns:a16="http://schemas.microsoft.com/office/drawing/2014/main" id="{1235BB2E-7853-D186-80B5-E52CE279E2CC}"/>
              </a:ext>
            </a:extLst>
          </p:cNvPr>
          <p:cNvGrpSpPr/>
          <p:nvPr/>
        </p:nvGrpSpPr>
        <p:grpSpPr>
          <a:xfrm>
            <a:off x="10848528" y="93608"/>
            <a:ext cx="740359" cy="178532"/>
            <a:chOff x="10704512" y="620688"/>
            <a:chExt cx="884375" cy="250540"/>
          </a:xfrm>
        </p:grpSpPr>
        <p:sp>
          <p:nvSpPr>
            <p:cNvPr id="11" name="Rectangle 10">
              <a:extLst>
                <a:ext uri="{FF2B5EF4-FFF2-40B4-BE49-F238E27FC236}">
                  <a16:creationId xmlns:a16="http://schemas.microsoft.com/office/drawing/2014/main" id="{50EF3DE8-2833-18FB-1891-A5B10AAD2234}"/>
                </a:ext>
              </a:extLst>
            </p:cNvPr>
            <p:cNvSpPr/>
            <p:nvPr/>
          </p:nvSpPr>
          <p:spPr>
            <a:xfrm>
              <a:off x="10725532" y="620688"/>
              <a:ext cx="863355" cy="25054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a:solidFill>
                    <a:schemeClr val="tx1"/>
                  </a:solidFill>
                </a:rPr>
                <a:t>INDICATIVE</a:t>
              </a:r>
            </a:p>
          </p:txBody>
        </p:sp>
        <p:cxnSp>
          <p:nvCxnSpPr>
            <p:cNvPr id="12" name="Straight Connector 11">
              <a:extLst>
                <a:ext uri="{FF2B5EF4-FFF2-40B4-BE49-F238E27FC236}">
                  <a16:creationId xmlns:a16="http://schemas.microsoft.com/office/drawing/2014/main" id="{A15D2689-EA23-A97C-88D3-EB82E5954D7A}"/>
                </a:ext>
              </a:extLst>
            </p:cNvPr>
            <p:cNvCxnSpPr>
              <a:cxnSpLocks/>
            </p:cNvCxnSpPr>
            <p:nvPr/>
          </p:nvCxnSpPr>
          <p:spPr>
            <a:xfrm>
              <a:off x="10704512" y="871228"/>
              <a:ext cx="884375"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0A4D1CA-EA8F-7564-AA9A-03848C5FF470}"/>
                </a:ext>
              </a:extLst>
            </p:cNvPr>
            <p:cNvCxnSpPr/>
            <p:nvPr/>
          </p:nvCxnSpPr>
          <p:spPr>
            <a:xfrm>
              <a:off x="10709274" y="620688"/>
              <a:ext cx="0" cy="25054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4426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9CC6-448E-B880-07B0-102E17DD474C}"/>
            </a:ext>
          </a:extLst>
        </p:cNvPr>
        <p:cNvGrpSpPr/>
        <p:nvPr/>
      </p:nvGrpSpPr>
      <p:grpSpPr>
        <a:xfrm>
          <a:off x="0" y="0"/>
          <a:ext cx="0" cy="0"/>
          <a:chOff x="0" y="0"/>
          <a:chExt cx="0" cy="0"/>
        </a:xfrm>
      </p:grpSpPr>
      <p:sp>
        <p:nvSpPr>
          <p:cNvPr id="149" name="Rectangle: Rounded Corners 148">
            <a:extLst>
              <a:ext uri="{FF2B5EF4-FFF2-40B4-BE49-F238E27FC236}">
                <a16:creationId xmlns:a16="http://schemas.microsoft.com/office/drawing/2014/main" id="{D943FA23-CE76-A24B-3365-EDA79ACB6A70}"/>
              </a:ext>
            </a:extLst>
          </p:cNvPr>
          <p:cNvSpPr/>
          <p:nvPr/>
        </p:nvSpPr>
        <p:spPr>
          <a:xfrm>
            <a:off x="413886" y="1196751"/>
            <a:ext cx="7931217" cy="5348427"/>
          </a:xfrm>
          <a:prstGeom prst="roundRect">
            <a:avLst>
              <a:gd name="adj" fmla="val 1396"/>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100" b="1">
                <a:solidFill>
                  <a:schemeClr val="tx1"/>
                </a:solidFill>
              </a:rPr>
              <a:t>Live event orchestrator</a:t>
            </a:r>
          </a:p>
        </p:txBody>
      </p:sp>
      <p:sp>
        <p:nvSpPr>
          <p:cNvPr id="2" name="Date Placeholder 1">
            <a:extLst>
              <a:ext uri="{FF2B5EF4-FFF2-40B4-BE49-F238E27FC236}">
                <a16:creationId xmlns:a16="http://schemas.microsoft.com/office/drawing/2014/main" id="{13244D36-C224-181B-3BA8-CC1192749217}"/>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76FCF10-A639-2A34-EC88-A3037431520F}"/>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EA11E109-EEFA-B7B7-65F7-ED9B37105439}"/>
              </a:ext>
            </a:extLst>
          </p:cNvPr>
          <p:cNvSpPr>
            <a:spLocks noGrp="1"/>
          </p:cNvSpPr>
          <p:nvPr>
            <p:ph type="sldNum" sz="quarter" idx="30"/>
          </p:nvPr>
        </p:nvSpPr>
        <p:spPr/>
        <p:txBody>
          <a:bodyPr/>
          <a:lstStyle/>
          <a:p>
            <a:pPr algn="r"/>
            <a:fld id="{5D9A5160-6218-4E5A-B9E6-B93E3DAE377C}" type="slidenum">
              <a:rPr lang="en-US" smtClean="0"/>
              <a:pPr algn="r"/>
              <a:t>41</a:t>
            </a:fld>
            <a:endParaRPr lang="en-US"/>
          </a:p>
        </p:txBody>
      </p:sp>
      <p:sp>
        <p:nvSpPr>
          <p:cNvPr id="5" name="Title 4">
            <a:extLst>
              <a:ext uri="{FF2B5EF4-FFF2-40B4-BE49-F238E27FC236}">
                <a16:creationId xmlns:a16="http://schemas.microsoft.com/office/drawing/2014/main" id="{7BE70E42-8104-67B9-0B6F-8CE499FCFC0D}"/>
              </a:ext>
            </a:extLst>
          </p:cNvPr>
          <p:cNvSpPr>
            <a:spLocks noGrp="1"/>
          </p:cNvSpPr>
          <p:nvPr>
            <p:ph type="title"/>
          </p:nvPr>
        </p:nvSpPr>
        <p:spPr/>
        <p:txBody>
          <a:bodyPr/>
          <a:lstStyle/>
          <a:p>
            <a:r>
              <a:rPr lang="en-US"/>
              <a:t>The Live Event Orchestrator service coordinates required systems and services for live event delivery with sub-5-second latency and 99.9% reliability</a:t>
            </a:r>
          </a:p>
        </p:txBody>
      </p:sp>
      <p:sp>
        <p:nvSpPr>
          <p:cNvPr id="6" name="Rectangle 5">
            <a:extLst>
              <a:ext uri="{FF2B5EF4-FFF2-40B4-BE49-F238E27FC236}">
                <a16:creationId xmlns:a16="http://schemas.microsoft.com/office/drawing/2014/main" id="{A04C7D7D-E3B4-F61A-4EE4-E539328487F7}"/>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SPORTS DOMAIN SERVICES</a:t>
            </a:r>
          </a:p>
        </p:txBody>
      </p:sp>
      <p:sp>
        <p:nvSpPr>
          <p:cNvPr id="23" name="Rectangle: Rounded Corners 22">
            <a:extLst>
              <a:ext uri="{FF2B5EF4-FFF2-40B4-BE49-F238E27FC236}">
                <a16:creationId xmlns:a16="http://schemas.microsoft.com/office/drawing/2014/main" id="{F3F54313-0B96-8516-B99D-F65D0C009113}"/>
              </a:ext>
            </a:extLst>
          </p:cNvPr>
          <p:cNvSpPr/>
          <p:nvPr/>
        </p:nvSpPr>
        <p:spPr>
          <a:xfrm>
            <a:off x="8572216" y="2263069"/>
            <a:ext cx="1050239" cy="588284"/>
          </a:xfrm>
          <a:prstGeom prst="round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Distribution</a:t>
            </a:r>
          </a:p>
        </p:txBody>
      </p:sp>
      <p:sp>
        <p:nvSpPr>
          <p:cNvPr id="24" name="Rectangle: Rounded Corners 23">
            <a:extLst>
              <a:ext uri="{FF2B5EF4-FFF2-40B4-BE49-F238E27FC236}">
                <a16:creationId xmlns:a16="http://schemas.microsoft.com/office/drawing/2014/main" id="{4AC5C307-7B66-B281-C5A5-0E97675F64CC}"/>
              </a:ext>
            </a:extLst>
          </p:cNvPr>
          <p:cNvSpPr/>
          <p:nvPr/>
        </p:nvSpPr>
        <p:spPr>
          <a:xfrm>
            <a:off x="8572216" y="3022640"/>
            <a:ext cx="1050239" cy="588284"/>
          </a:xfrm>
          <a:prstGeom prst="round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Rights &amp; Compliance</a:t>
            </a:r>
          </a:p>
        </p:txBody>
      </p:sp>
      <p:sp>
        <p:nvSpPr>
          <p:cNvPr id="25" name="Rectangle: Rounded Corners 24">
            <a:extLst>
              <a:ext uri="{FF2B5EF4-FFF2-40B4-BE49-F238E27FC236}">
                <a16:creationId xmlns:a16="http://schemas.microsoft.com/office/drawing/2014/main" id="{2909AD7B-AF81-E03A-B33B-35C129A904FE}"/>
              </a:ext>
            </a:extLst>
          </p:cNvPr>
          <p:cNvSpPr/>
          <p:nvPr/>
        </p:nvSpPr>
        <p:spPr>
          <a:xfrm>
            <a:off x="8572216" y="3782211"/>
            <a:ext cx="1050239" cy="588284"/>
          </a:xfrm>
          <a:prstGeom prst="round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Other Channels (e.g., social media)</a:t>
            </a:r>
          </a:p>
        </p:txBody>
      </p:sp>
      <p:sp>
        <p:nvSpPr>
          <p:cNvPr id="26" name="Rectangle: Rounded Corners 25">
            <a:extLst>
              <a:ext uri="{FF2B5EF4-FFF2-40B4-BE49-F238E27FC236}">
                <a16:creationId xmlns:a16="http://schemas.microsoft.com/office/drawing/2014/main" id="{7DCE4FE8-9426-F89D-706E-142EB1943095}"/>
              </a:ext>
            </a:extLst>
          </p:cNvPr>
          <p:cNvSpPr/>
          <p:nvPr/>
        </p:nvSpPr>
        <p:spPr>
          <a:xfrm>
            <a:off x="8572216" y="4541784"/>
            <a:ext cx="1050239" cy="588284"/>
          </a:xfrm>
          <a:prstGeom prst="round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Analytics</a:t>
            </a:r>
          </a:p>
        </p:txBody>
      </p:sp>
      <p:grpSp>
        <p:nvGrpSpPr>
          <p:cNvPr id="34" name="Group 33">
            <a:extLst>
              <a:ext uri="{FF2B5EF4-FFF2-40B4-BE49-F238E27FC236}">
                <a16:creationId xmlns:a16="http://schemas.microsoft.com/office/drawing/2014/main" id="{7D6DF286-47A6-C9FF-9725-17598B1998ED}"/>
              </a:ext>
            </a:extLst>
          </p:cNvPr>
          <p:cNvGrpSpPr/>
          <p:nvPr/>
        </p:nvGrpSpPr>
        <p:grpSpPr>
          <a:xfrm>
            <a:off x="596750" y="1490039"/>
            <a:ext cx="1162758" cy="4875073"/>
            <a:chOff x="596750" y="1326414"/>
            <a:chExt cx="1162758" cy="4875073"/>
          </a:xfrm>
        </p:grpSpPr>
        <p:sp>
          <p:nvSpPr>
            <p:cNvPr id="9" name="Rectangle 8">
              <a:extLst>
                <a:ext uri="{FF2B5EF4-FFF2-40B4-BE49-F238E27FC236}">
                  <a16:creationId xmlns:a16="http://schemas.microsoft.com/office/drawing/2014/main" id="{597A6384-C225-AF91-7E0D-5A805D98BFE7}"/>
                </a:ext>
              </a:extLst>
            </p:cNvPr>
            <p:cNvSpPr/>
            <p:nvPr/>
          </p:nvSpPr>
          <p:spPr>
            <a:xfrm>
              <a:off x="596750" y="1326414"/>
              <a:ext cx="1162758" cy="487507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00" b="1">
                  <a:solidFill>
                    <a:schemeClr val="tx1"/>
                  </a:solidFill>
                </a:rPr>
                <a:t>Monitor Live Events</a:t>
              </a:r>
            </a:p>
          </p:txBody>
        </p:sp>
        <p:sp>
          <p:nvSpPr>
            <p:cNvPr id="27" name="Rectangle: Rounded Corners 26">
              <a:extLst>
                <a:ext uri="{FF2B5EF4-FFF2-40B4-BE49-F238E27FC236}">
                  <a16:creationId xmlns:a16="http://schemas.microsoft.com/office/drawing/2014/main" id="{77D6F9C6-B84F-703E-7769-012F054DCF16}"/>
                </a:ext>
              </a:extLst>
            </p:cNvPr>
            <p:cNvSpPr/>
            <p:nvPr/>
          </p:nvSpPr>
          <p:spPr>
            <a:xfrm>
              <a:off x="692234" y="2039124"/>
              <a:ext cx="971789" cy="637336"/>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Feed quality</a:t>
              </a:r>
            </a:p>
          </p:txBody>
        </p:sp>
        <p:sp>
          <p:nvSpPr>
            <p:cNvPr id="28" name="Rectangle: Rounded Corners 27">
              <a:extLst>
                <a:ext uri="{FF2B5EF4-FFF2-40B4-BE49-F238E27FC236}">
                  <a16:creationId xmlns:a16="http://schemas.microsoft.com/office/drawing/2014/main" id="{3795BD2E-2E7F-3858-DBF5-ED81FB3A8424}"/>
                </a:ext>
              </a:extLst>
            </p:cNvPr>
            <p:cNvSpPr/>
            <p:nvPr/>
          </p:nvSpPr>
          <p:spPr>
            <a:xfrm>
              <a:off x="692235" y="2976564"/>
              <a:ext cx="971789" cy="637336"/>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Latency</a:t>
              </a:r>
            </a:p>
          </p:txBody>
        </p:sp>
        <p:sp>
          <p:nvSpPr>
            <p:cNvPr id="29" name="Rectangle: Rounded Corners 28">
              <a:extLst>
                <a:ext uri="{FF2B5EF4-FFF2-40B4-BE49-F238E27FC236}">
                  <a16:creationId xmlns:a16="http://schemas.microsoft.com/office/drawing/2014/main" id="{1B5D1DE2-2846-50FD-D990-1A1D90BCF3CD}"/>
                </a:ext>
              </a:extLst>
            </p:cNvPr>
            <p:cNvSpPr/>
            <p:nvPr/>
          </p:nvSpPr>
          <p:spPr>
            <a:xfrm>
              <a:off x="692235" y="3914003"/>
              <a:ext cx="971789" cy="637336"/>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Packet loss</a:t>
              </a:r>
            </a:p>
          </p:txBody>
        </p:sp>
        <p:sp>
          <p:nvSpPr>
            <p:cNvPr id="30" name="Rectangle: Rounded Corners 29">
              <a:extLst>
                <a:ext uri="{FF2B5EF4-FFF2-40B4-BE49-F238E27FC236}">
                  <a16:creationId xmlns:a16="http://schemas.microsoft.com/office/drawing/2014/main" id="{807D3C06-725A-DB3B-D7E1-91C35E029644}"/>
                </a:ext>
              </a:extLst>
            </p:cNvPr>
            <p:cNvSpPr/>
            <p:nvPr/>
          </p:nvSpPr>
          <p:spPr>
            <a:xfrm>
              <a:off x="692235" y="4851441"/>
              <a:ext cx="971789" cy="637336"/>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CDN performance</a:t>
              </a:r>
            </a:p>
          </p:txBody>
        </p:sp>
      </p:grpSp>
      <p:sp>
        <p:nvSpPr>
          <p:cNvPr id="7" name="Rectangle 6">
            <a:extLst>
              <a:ext uri="{FF2B5EF4-FFF2-40B4-BE49-F238E27FC236}">
                <a16:creationId xmlns:a16="http://schemas.microsoft.com/office/drawing/2014/main" id="{CE5BDB0A-2F01-08B4-CC3E-35A2A27EA897}"/>
              </a:ext>
            </a:extLst>
          </p:cNvPr>
          <p:cNvSpPr/>
          <p:nvPr/>
        </p:nvSpPr>
        <p:spPr>
          <a:xfrm>
            <a:off x="2001598" y="1491027"/>
            <a:ext cx="6126401" cy="111608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00" b="1">
                <a:solidFill>
                  <a:schemeClr val="tx1"/>
                </a:solidFill>
              </a:rPr>
              <a:t>Prepare for Event</a:t>
            </a:r>
          </a:p>
        </p:txBody>
      </p:sp>
      <p:sp>
        <p:nvSpPr>
          <p:cNvPr id="8" name="Rectangle 7">
            <a:extLst>
              <a:ext uri="{FF2B5EF4-FFF2-40B4-BE49-F238E27FC236}">
                <a16:creationId xmlns:a16="http://schemas.microsoft.com/office/drawing/2014/main" id="{BD99145C-FF40-5B66-84F6-462CD4542412}"/>
              </a:ext>
            </a:extLst>
          </p:cNvPr>
          <p:cNvSpPr/>
          <p:nvPr/>
        </p:nvSpPr>
        <p:spPr>
          <a:xfrm>
            <a:off x="2001597" y="2736773"/>
            <a:ext cx="6126400" cy="111608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00" b="1">
                <a:solidFill>
                  <a:schemeClr val="tx1"/>
                </a:solidFill>
              </a:rPr>
              <a:t>Start Broadcast</a:t>
            </a:r>
          </a:p>
        </p:txBody>
      </p:sp>
      <p:sp>
        <p:nvSpPr>
          <p:cNvPr id="11" name="Rectangle 10">
            <a:extLst>
              <a:ext uri="{FF2B5EF4-FFF2-40B4-BE49-F238E27FC236}">
                <a16:creationId xmlns:a16="http://schemas.microsoft.com/office/drawing/2014/main" id="{A29D1BDC-3167-369C-FFBF-6FDE9BF2EAE0}"/>
              </a:ext>
            </a:extLst>
          </p:cNvPr>
          <p:cNvSpPr/>
          <p:nvPr/>
        </p:nvSpPr>
        <p:spPr>
          <a:xfrm>
            <a:off x="2001597" y="4003280"/>
            <a:ext cx="6126400" cy="111608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00" b="1">
                <a:solidFill>
                  <a:schemeClr val="tx1"/>
                </a:solidFill>
              </a:rPr>
              <a:t>Handle Half-Time</a:t>
            </a:r>
          </a:p>
        </p:txBody>
      </p:sp>
      <p:sp>
        <p:nvSpPr>
          <p:cNvPr id="12" name="Rectangle: Rounded Corners 11">
            <a:extLst>
              <a:ext uri="{FF2B5EF4-FFF2-40B4-BE49-F238E27FC236}">
                <a16:creationId xmlns:a16="http://schemas.microsoft.com/office/drawing/2014/main" id="{7BCFEBE7-9FD8-A13A-B3C8-755DA07B4B24}"/>
              </a:ext>
            </a:extLst>
          </p:cNvPr>
          <p:cNvSpPr/>
          <p:nvPr/>
        </p:nvSpPr>
        <p:spPr>
          <a:xfrm>
            <a:off x="2091960" y="1830764"/>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Provision CDN capacity</a:t>
            </a:r>
          </a:p>
        </p:txBody>
      </p:sp>
      <p:sp>
        <p:nvSpPr>
          <p:cNvPr id="13" name="Rectangle: Rounded Corners 12">
            <a:extLst>
              <a:ext uri="{FF2B5EF4-FFF2-40B4-BE49-F238E27FC236}">
                <a16:creationId xmlns:a16="http://schemas.microsoft.com/office/drawing/2014/main" id="{66F710B5-2D89-221D-650F-ED2C093F5E7E}"/>
              </a:ext>
            </a:extLst>
          </p:cNvPr>
          <p:cNvSpPr/>
          <p:nvPr/>
        </p:nvSpPr>
        <p:spPr>
          <a:xfrm>
            <a:off x="3623458" y="1830764"/>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Activate feed infrastructure</a:t>
            </a:r>
          </a:p>
        </p:txBody>
      </p:sp>
      <p:sp>
        <p:nvSpPr>
          <p:cNvPr id="14" name="Rectangle: Rounded Corners 13">
            <a:extLst>
              <a:ext uri="{FF2B5EF4-FFF2-40B4-BE49-F238E27FC236}">
                <a16:creationId xmlns:a16="http://schemas.microsoft.com/office/drawing/2014/main" id="{C38A19E9-E96C-6D63-756D-2C4FD7B0F833}"/>
              </a:ext>
            </a:extLst>
          </p:cNvPr>
          <p:cNvSpPr/>
          <p:nvPr/>
        </p:nvSpPr>
        <p:spPr>
          <a:xfrm>
            <a:off x="5154956" y="1830764"/>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Initialize monitoring system</a:t>
            </a:r>
          </a:p>
        </p:txBody>
      </p:sp>
      <p:sp>
        <p:nvSpPr>
          <p:cNvPr id="15" name="Rectangle: Rounded Corners 14">
            <a:extLst>
              <a:ext uri="{FF2B5EF4-FFF2-40B4-BE49-F238E27FC236}">
                <a16:creationId xmlns:a16="http://schemas.microsoft.com/office/drawing/2014/main" id="{EC6B1D11-E0E9-53FE-9FE4-FE2A4E8823B7}"/>
              </a:ext>
            </a:extLst>
          </p:cNvPr>
          <p:cNvSpPr/>
          <p:nvPr/>
        </p:nvSpPr>
        <p:spPr>
          <a:xfrm>
            <a:off x="6686453" y="1830764"/>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Notify dependent systems</a:t>
            </a:r>
          </a:p>
        </p:txBody>
      </p:sp>
      <p:sp>
        <p:nvSpPr>
          <p:cNvPr id="16" name="Rectangle 15">
            <a:extLst>
              <a:ext uri="{FF2B5EF4-FFF2-40B4-BE49-F238E27FC236}">
                <a16:creationId xmlns:a16="http://schemas.microsoft.com/office/drawing/2014/main" id="{AEF423D8-BFF2-DA1A-4889-6FEC931345A8}"/>
              </a:ext>
            </a:extLst>
          </p:cNvPr>
          <p:cNvSpPr/>
          <p:nvPr/>
        </p:nvSpPr>
        <p:spPr>
          <a:xfrm>
            <a:off x="2001596" y="5249027"/>
            <a:ext cx="6126399" cy="1116085"/>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00" b="1">
                <a:solidFill>
                  <a:schemeClr val="tx1"/>
                </a:solidFill>
              </a:rPr>
              <a:t>Complete Broadcast</a:t>
            </a:r>
          </a:p>
        </p:txBody>
      </p:sp>
      <p:sp>
        <p:nvSpPr>
          <p:cNvPr id="19" name="Rectangle: Rounded Corners 18">
            <a:extLst>
              <a:ext uri="{FF2B5EF4-FFF2-40B4-BE49-F238E27FC236}">
                <a16:creationId xmlns:a16="http://schemas.microsoft.com/office/drawing/2014/main" id="{95320FE9-7098-9AC5-739C-3CB7B224374A}"/>
              </a:ext>
            </a:extLst>
          </p:cNvPr>
          <p:cNvSpPr/>
          <p:nvPr/>
        </p:nvSpPr>
        <p:spPr>
          <a:xfrm>
            <a:off x="2170372" y="3103986"/>
            <a:ext cx="104263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Activate primary feed</a:t>
            </a:r>
          </a:p>
        </p:txBody>
      </p:sp>
      <p:sp>
        <p:nvSpPr>
          <p:cNvPr id="20" name="Rectangle: Rounded Corners 19">
            <a:extLst>
              <a:ext uri="{FF2B5EF4-FFF2-40B4-BE49-F238E27FC236}">
                <a16:creationId xmlns:a16="http://schemas.microsoft.com/office/drawing/2014/main" id="{88E1ACCD-A515-7D20-5C86-42792EF58452}"/>
              </a:ext>
            </a:extLst>
          </p:cNvPr>
          <p:cNvSpPr/>
          <p:nvPr/>
        </p:nvSpPr>
        <p:spPr>
          <a:xfrm>
            <a:off x="3756429" y="3103986"/>
            <a:ext cx="104263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AI highlight detection</a:t>
            </a:r>
          </a:p>
        </p:txBody>
      </p:sp>
      <p:sp>
        <p:nvSpPr>
          <p:cNvPr id="22" name="Rectangle: Rounded Corners 21">
            <a:extLst>
              <a:ext uri="{FF2B5EF4-FFF2-40B4-BE49-F238E27FC236}">
                <a16:creationId xmlns:a16="http://schemas.microsoft.com/office/drawing/2014/main" id="{1311BE35-2B86-20C3-D968-D775FAB47688}"/>
              </a:ext>
            </a:extLst>
          </p:cNvPr>
          <p:cNvSpPr/>
          <p:nvPr/>
        </p:nvSpPr>
        <p:spPr>
          <a:xfrm>
            <a:off x="6928543" y="3103986"/>
            <a:ext cx="104263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Emit domain events</a:t>
            </a:r>
          </a:p>
        </p:txBody>
      </p:sp>
      <p:sp>
        <p:nvSpPr>
          <p:cNvPr id="31" name="Rectangle: Rounded Corners 30">
            <a:extLst>
              <a:ext uri="{FF2B5EF4-FFF2-40B4-BE49-F238E27FC236}">
                <a16:creationId xmlns:a16="http://schemas.microsoft.com/office/drawing/2014/main" id="{A365C6C9-C004-AE02-0F1D-F1682CAA3EF2}"/>
              </a:ext>
            </a:extLst>
          </p:cNvPr>
          <p:cNvSpPr/>
          <p:nvPr/>
        </p:nvSpPr>
        <p:spPr>
          <a:xfrm>
            <a:off x="2890938" y="4358027"/>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Process half-time highlights</a:t>
            </a:r>
          </a:p>
        </p:txBody>
      </p:sp>
      <p:sp>
        <p:nvSpPr>
          <p:cNvPr id="32" name="Rectangle: Rounded Corners 31">
            <a:extLst>
              <a:ext uri="{FF2B5EF4-FFF2-40B4-BE49-F238E27FC236}">
                <a16:creationId xmlns:a16="http://schemas.microsoft.com/office/drawing/2014/main" id="{CE022CC7-C7DB-83E3-B6BE-7042A8AE3863}"/>
              </a:ext>
            </a:extLst>
          </p:cNvPr>
          <p:cNvSpPr/>
          <p:nvPr/>
        </p:nvSpPr>
        <p:spPr>
          <a:xfrm>
            <a:off x="4422436" y="4358027"/>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Infrastructure optimization</a:t>
            </a:r>
          </a:p>
        </p:txBody>
      </p:sp>
      <p:sp>
        <p:nvSpPr>
          <p:cNvPr id="33" name="Rectangle: Rounded Corners 32">
            <a:extLst>
              <a:ext uri="{FF2B5EF4-FFF2-40B4-BE49-F238E27FC236}">
                <a16:creationId xmlns:a16="http://schemas.microsoft.com/office/drawing/2014/main" id="{26F1CC55-E5DA-0E90-EC7F-EC5BA4FE1574}"/>
              </a:ext>
            </a:extLst>
          </p:cNvPr>
          <p:cNvSpPr/>
          <p:nvPr/>
        </p:nvSpPr>
        <p:spPr>
          <a:xfrm>
            <a:off x="5953933" y="4358027"/>
            <a:ext cx="128472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Metadata reconciliation</a:t>
            </a:r>
          </a:p>
        </p:txBody>
      </p:sp>
      <p:sp>
        <p:nvSpPr>
          <p:cNvPr id="35" name="Rectangle: Rounded Corners 34">
            <a:extLst>
              <a:ext uri="{FF2B5EF4-FFF2-40B4-BE49-F238E27FC236}">
                <a16:creationId xmlns:a16="http://schemas.microsoft.com/office/drawing/2014/main" id="{994C2C08-17C9-73DB-520C-DAFFE9B39BC6}"/>
              </a:ext>
            </a:extLst>
          </p:cNvPr>
          <p:cNvSpPr/>
          <p:nvPr/>
        </p:nvSpPr>
        <p:spPr>
          <a:xfrm>
            <a:off x="2091960" y="5602251"/>
            <a:ext cx="1112565"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Post-match coverage</a:t>
            </a:r>
          </a:p>
        </p:txBody>
      </p:sp>
      <p:sp>
        <p:nvSpPr>
          <p:cNvPr id="36" name="Rectangle: Rounded Corners 35">
            <a:extLst>
              <a:ext uri="{FF2B5EF4-FFF2-40B4-BE49-F238E27FC236}">
                <a16:creationId xmlns:a16="http://schemas.microsoft.com/office/drawing/2014/main" id="{107A641C-9C83-9C26-A4FB-EA2AAE132686}"/>
              </a:ext>
            </a:extLst>
          </p:cNvPr>
          <p:cNvSpPr/>
          <p:nvPr/>
        </p:nvSpPr>
        <p:spPr>
          <a:xfrm>
            <a:off x="3283623" y="5602251"/>
            <a:ext cx="1112565"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Asset generation</a:t>
            </a:r>
          </a:p>
        </p:txBody>
      </p:sp>
      <p:sp>
        <p:nvSpPr>
          <p:cNvPr id="37" name="Rectangle: Rounded Corners 36">
            <a:extLst>
              <a:ext uri="{FF2B5EF4-FFF2-40B4-BE49-F238E27FC236}">
                <a16:creationId xmlns:a16="http://schemas.microsoft.com/office/drawing/2014/main" id="{FDDB7E9F-24F7-EA5A-32FE-8B0D37125454}"/>
              </a:ext>
            </a:extLst>
          </p:cNvPr>
          <p:cNvSpPr/>
          <p:nvPr/>
        </p:nvSpPr>
        <p:spPr>
          <a:xfrm>
            <a:off x="5666948" y="5602251"/>
            <a:ext cx="1112565"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Handoff to scripted content domain</a:t>
            </a:r>
          </a:p>
        </p:txBody>
      </p:sp>
      <p:sp>
        <p:nvSpPr>
          <p:cNvPr id="38" name="Rectangle: Rounded Corners 37">
            <a:extLst>
              <a:ext uri="{FF2B5EF4-FFF2-40B4-BE49-F238E27FC236}">
                <a16:creationId xmlns:a16="http://schemas.microsoft.com/office/drawing/2014/main" id="{5FB53BA8-71CF-16E0-E053-4F1C39DFF382}"/>
              </a:ext>
            </a:extLst>
          </p:cNvPr>
          <p:cNvSpPr/>
          <p:nvPr/>
        </p:nvSpPr>
        <p:spPr>
          <a:xfrm>
            <a:off x="6858611" y="5602251"/>
            <a:ext cx="1112565"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Emit broadcast event</a:t>
            </a:r>
          </a:p>
        </p:txBody>
      </p:sp>
      <p:sp>
        <p:nvSpPr>
          <p:cNvPr id="41" name="Rectangle: Rounded Corners 40">
            <a:extLst>
              <a:ext uri="{FF2B5EF4-FFF2-40B4-BE49-F238E27FC236}">
                <a16:creationId xmlns:a16="http://schemas.microsoft.com/office/drawing/2014/main" id="{2C3BCDA7-B5ED-D014-7664-E6DD55736B22}"/>
              </a:ext>
            </a:extLst>
          </p:cNvPr>
          <p:cNvSpPr/>
          <p:nvPr/>
        </p:nvSpPr>
        <p:spPr>
          <a:xfrm>
            <a:off x="4475286" y="5602251"/>
            <a:ext cx="1112565"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Finalize compliance recording</a:t>
            </a:r>
          </a:p>
        </p:txBody>
      </p:sp>
      <p:cxnSp>
        <p:nvCxnSpPr>
          <p:cNvPr id="40" name="Connector: Elbow 39">
            <a:extLst>
              <a:ext uri="{FF2B5EF4-FFF2-40B4-BE49-F238E27FC236}">
                <a16:creationId xmlns:a16="http://schemas.microsoft.com/office/drawing/2014/main" id="{EAAF8F41-6682-5734-E5FB-045750E3D522}"/>
              </a:ext>
            </a:extLst>
          </p:cNvPr>
          <p:cNvCxnSpPr>
            <a:cxnSpLocks/>
            <a:stCxn id="8" idx="1"/>
            <a:endCxn id="9" idx="3"/>
          </p:cNvCxnSpPr>
          <p:nvPr/>
        </p:nvCxnSpPr>
        <p:spPr>
          <a:xfrm rot="10800000" flipV="1">
            <a:off x="1759509" y="3294814"/>
            <a:ext cx="242089" cy="632761"/>
          </a:xfrm>
          <a:prstGeom prst="bentConnector3">
            <a:avLst>
              <a:gd name="adj1" fmla="val 50000"/>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B8CE449-37D8-81A7-AAFD-303684979CE1}"/>
              </a:ext>
            </a:extLst>
          </p:cNvPr>
          <p:cNvCxnSpPr>
            <a:stCxn id="7" idx="2"/>
            <a:endCxn id="8" idx="0"/>
          </p:cNvCxnSpPr>
          <p:nvPr/>
        </p:nvCxnSpPr>
        <p:spPr>
          <a:xfrm flipH="1">
            <a:off x="5064797" y="2607111"/>
            <a:ext cx="2" cy="12966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F8D6252-571D-4AC6-AD04-594F32CBE5C9}"/>
              </a:ext>
            </a:extLst>
          </p:cNvPr>
          <p:cNvCxnSpPr>
            <a:stCxn id="7" idx="3"/>
            <a:endCxn id="23" idx="1"/>
          </p:cNvCxnSpPr>
          <p:nvPr/>
        </p:nvCxnSpPr>
        <p:spPr>
          <a:xfrm>
            <a:off x="8127999" y="2049069"/>
            <a:ext cx="444217" cy="508142"/>
          </a:xfrm>
          <a:prstGeom prst="bentConnector3">
            <a:avLst>
              <a:gd name="adj1" fmla="val 33799"/>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13578993-AB6D-D204-8368-66E06E0249EE}"/>
              </a:ext>
            </a:extLst>
          </p:cNvPr>
          <p:cNvCxnSpPr>
            <a:stCxn id="7" idx="3"/>
            <a:endCxn id="24" idx="1"/>
          </p:cNvCxnSpPr>
          <p:nvPr/>
        </p:nvCxnSpPr>
        <p:spPr>
          <a:xfrm>
            <a:off x="8127999" y="2049069"/>
            <a:ext cx="444217" cy="1267713"/>
          </a:xfrm>
          <a:prstGeom prst="bentConnector3">
            <a:avLst>
              <a:gd name="adj1" fmla="val 33799"/>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5B9DDE8A-6857-E028-F2FD-DFEC93F9204D}"/>
              </a:ext>
            </a:extLst>
          </p:cNvPr>
          <p:cNvCxnSpPr>
            <a:stCxn id="7" idx="3"/>
            <a:endCxn id="25" idx="1"/>
          </p:cNvCxnSpPr>
          <p:nvPr/>
        </p:nvCxnSpPr>
        <p:spPr>
          <a:xfrm>
            <a:off x="8127999" y="2049069"/>
            <a:ext cx="444217" cy="2027284"/>
          </a:xfrm>
          <a:prstGeom prst="bentConnector3">
            <a:avLst>
              <a:gd name="adj1" fmla="val 32846"/>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Rounded Corners 51">
            <a:extLst>
              <a:ext uri="{FF2B5EF4-FFF2-40B4-BE49-F238E27FC236}">
                <a16:creationId xmlns:a16="http://schemas.microsoft.com/office/drawing/2014/main" id="{D3B645A7-F977-444B-8314-70C4306D8387}"/>
              </a:ext>
            </a:extLst>
          </p:cNvPr>
          <p:cNvSpPr/>
          <p:nvPr/>
        </p:nvSpPr>
        <p:spPr>
          <a:xfrm>
            <a:off x="5342486" y="3103986"/>
            <a:ext cx="1042632" cy="515494"/>
          </a:xfrm>
          <a:prstGeom prst="round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Metadata synchronization</a:t>
            </a:r>
          </a:p>
        </p:txBody>
      </p:sp>
      <p:cxnSp>
        <p:nvCxnSpPr>
          <p:cNvPr id="55" name="Connector: Elbow 54">
            <a:extLst>
              <a:ext uri="{FF2B5EF4-FFF2-40B4-BE49-F238E27FC236}">
                <a16:creationId xmlns:a16="http://schemas.microsoft.com/office/drawing/2014/main" id="{84467C70-963B-7526-7B61-06ABA873D93F}"/>
              </a:ext>
            </a:extLst>
          </p:cNvPr>
          <p:cNvCxnSpPr>
            <a:stCxn id="19" idx="0"/>
            <a:endCxn id="20" idx="0"/>
          </p:cNvCxnSpPr>
          <p:nvPr/>
        </p:nvCxnSpPr>
        <p:spPr>
          <a:xfrm rot="5400000" flipH="1" flipV="1">
            <a:off x="3484716" y="2310958"/>
            <a:ext cx="12700" cy="1586057"/>
          </a:xfrm>
          <a:prstGeom prst="bentConnector3">
            <a:avLst>
              <a:gd name="adj1" fmla="val 1299984"/>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16952085-72E1-95AA-AB3D-2DB1876703BC}"/>
              </a:ext>
            </a:extLst>
          </p:cNvPr>
          <p:cNvCxnSpPr>
            <a:stCxn id="19" idx="2"/>
            <a:endCxn id="52" idx="2"/>
          </p:cNvCxnSpPr>
          <p:nvPr/>
        </p:nvCxnSpPr>
        <p:spPr>
          <a:xfrm rot="16200000" flipH="1">
            <a:off x="4277745" y="2033423"/>
            <a:ext cx="12700" cy="3172114"/>
          </a:xfrm>
          <a:prstGeom prst="bentConnector3">
            <a:avLst>
              <a:gd name="adj1" fmla="val 1050000"/>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C29E8F7B-564B-9E43-6A8E-F02CF9CD8D35}"/>
              </a:ext>
            </a:extLst>
          </p:cNvPr>
          <p:cNvCxnSpPr>
            <a:cxnSpLocks/>
            <a:stCxn id="22" idx="0"/>
            <a:endCxn id="19" idx="0"/>
          </p:cNvCxnSpPr>
          <p:nvPr/>
        </p:nvCxnSpPr>
        <p:spPr>
          <a:xfrm rot="16200000" flipV="1">
            <a:off x="5070774" y="724900"/>
            <a:ext cx="12700" cy="4758171"/>
          </a:xfrm>
          <a:prstGeom prst="bentConnector3">
            <a:avLst>
              <a:gd name="adj1" fmla="val 1269457"/>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52A956EF-FDED-FCDB-B377-4048A85472F0}"/>
              </a:ext>
            </a:extLst>
          </p:cNvPr>
          <p:cNvCxnSpPr>
            <a:stCxn id="20" idx="3"/>
            <a:endCxn id="22" idx="0"/>
          </p:cNvCxnSpPr>
          <p:nvPr/>
        </p:nvCxnSpPr>
        <p:spPr>
          <a:xfrm flipV="1">
            <a:off x="4799061" y="3103986"/>
            <a:ext cx="2650798" cy="257747"/>
          </a:xfrm>
          <a:prstGeom prst="bentConnector4">
            <a:avLst>
              <a:gd name="adj1" fmla="val 8546"/>
              <a:gd name="adj2" fmla="val 16077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20848248-084F-5B0B-CA3A-2E0D587365F4}"/>
              </a:ext>
            </a:extLst>
          </p:cNvPr>
          <p:cNvCxnSpPr>
            <a:stCxn id="22" idx="3"/>
            <a:endCxn id="23" idx="1"/>
          </p:cNvCxnSpPr>
          <p:nvPr/>
        </p:nvCxnSpPr>
        <p:spPr>
          <a:xfrm flipV="1">
            <a:off x="7971175" y="2557211"/>
            <a:ext cx="601041" cy="804522"/>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7D86AFB9-E343-CB11-75F8-8CE2B4E5A494}"/>
              </a:ext>
            </a:extLst>
          </p:cNvPr>
          <p:cNvCxnSpPr>
            <a:cxnSpLocks/>
            <a:stCxn id="22" idx="3"/>
            <a:endCxn id="25" idx="1"/>
          </p:cNvCxnSpPr>
          <p:nvPr/>
        </p:nvCxnSpPr>
        <p:spPr>
          <a:xfrm>
            <a:off x="7971175" y="3361733"/>
            <a:ext cx="601041" cy="714620"/>
          </a:xfrm>
          <a:prstGeom prst="bentConnector3">
            <a:avLst>
              <a:gd name="adj1" fmla="val 50000"/>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681F4888-D250-437E-7A39-46EDCD37262D}"/>
              </a:ext>
            </a:extLst>
          </p:cNvPr>
          <p:cNvCxnSpPr>
            <a:stCxn id="22" idx="3"/>
            <a:endCxn id="26" idx="1"/>
          </p:cNvCxnSpPr>
          <p:nvPr/>
        </p:nvCxnSpPr>
        <p:spPr>
          <a:xfrm>
            <a:off x="7971175" y="3361733"/>
            <a:ext cx="601041" cy="1474193"/>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06016444-AA30-C2B4-9D24-817884C55944}"/>
              </a:ext>
            </a:extLst>
          </p:cNvPr>
          <p:cNvCxnSpPr>
            <a:cxnSpLocks/>
            <a:stCxn id="14" idx="2"/>
            <a:endCxn id="9" idx="0"/>
          </p:cNvCxnSpPr>
          <p:nvPr/>
        </p:nvCxnSpPr>
        <p:spPr>
          <a:xfrm rot="5400000" flipH="1">
            <a:off x="3059613" y="-391445"/>
            <a:ext cx="856219" cy="4619188"/>
          </a:xfrm>
          <a:prstGeom prst="bentConnector5">
            <a:avLst>
              <a:gd name="adj1" fmla="val -14833"/>
              <a:gd name="adj2" fmla="val 85715"/>
              <a:gd name="adj3" fmla="val 11409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DCEB7E43-0F8E-E0E6-4AB0-BE476145A4A7}"/>
              </a:ext>
            </a:extLst>
          </p:cNvPr>
          <p:cNvCxnSpPr>
            <a:stCxn id="52" idx="3"/>
            <a:endCxn id="22" idx="1"/>
          </p:cNvCxnSpPr>
          <p:nvPr/>
        </p:nvCxnSpPr>
        <p:spPr>
          <a:xfrm>
            <a:off x="6385118" y="3361733"/>
            <a:ext cx="543425"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C6660A65-6A91-91AA-9E58-F232B35CBF14}"/>
              </a:ext>
            </a:extLst>
          </p:cNvPr>
          <p:cNvCxnSpPr>
            <a:stCxn id="19" idx="0"/>
            <a:endCxn id="52" idx="0"/>
          </p:cNvCxnSpPr>
          <p:nvPr/>
        </p:nvCxnSpPr>
        <p:spPr>
          <a:xfrm rot="5400000" flipH="1" flipV="1">
            <a:off x="4277745" y="1517929"/>
            <a:ext cx="12700" cy="3172114"/>
          </a:xfrm>
          <a:prstGeom prst="bentConnector3">
            <a:avLst>
              <a:gd name="adj1" fmla="val 1266669"/>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6A98972B-77C9-4009-E87E-6CFA2D80AE4A}"/>
              </a:ext>
            </a:extLst>
          </p:cNvPr>
          <p:cNvCxnSpPr>
            <a:stCxn id="8" idx="2"/>
            <a:endCxn id="11" idx="0"/>
          </p:cNvCxnSpPr>
          <p:nvPr/>
        </p:nvCxnSpPr>
        <p:spPr>
          <a:xfrm>
            <a:off x="5064797" y="3852857"/>
            <a:ext cx="0" cy="150423"/>
          </a:xfrm>
          <a:prstGeom prst="straightConnector1">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602507BF-F356-B3A2-013C-3391A1CBC829}"/>
              </a:ext>
            </a:extLst>
          </p:cNvPr>
          <p:cNvCxnSpPr>
            <a:cxnSpLocks/>
            <a:stCxn id="32" idx="2"/>
            <a:endCxn id="12" idx="0"/>
          </p:cNvCxnSpPr>
          <p:nvPr/>
        </p:nvCxnSpPr>
        <p:spPr>
          <a:xfrm rot="5400000" flipH="1">
            <a:off x="2378180" y="2186905"/>
            <a:ext cx="3042757" cy="2330476"/>
          </a:xfrm>
          <a:prstGeom prst="bentConnector5">
            <a:avLst>
              <a:gd name="adj1" fmla="val -5615"/>
              <a:gd name="adj2" fmla="val 139498"/>
              <a:gd name="adj3" fmla="val 104982"/>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64CE16D5-8B33-5404-34A2-092A661EE551}"/>
              </a:ext>
            </a:extLst>
          </p:cNvPr>
          <p:cNvCxnSpPr>
            <a:stCxn id="31" idx="0"/>
            <a:endCxn id="33" idx="0"/>
          </p:cNvCxnSpPr>
          <p:nvPr/>
        </p:nvCxnSpPr>
        <p:spPr>
          <a:xfrm rot="5400000" flipH="1" flipV="1">
            <a:off x="5064796" y="2826530"/>
            <a:ext cx="12700" cy="3062995"/>
          </a:xfrm>
          <a:prstGeom prst="bentConnector3">
            <a:avLst>
              <a:gd name="adj1" fmla="val 814717"/>
            </a:avLst>
          </a:prstGeom>
          <a:ln w="1270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5" name="Rectangle: Rounded Corners 124">
            <a:extLst>
              <a:ext uri="{FF2B5EF4-FFF2-40B4-BE49-F238E27FC236}">
                <a16:creationId xmlns:a16="http://schemas.microsoft.com/office/drawing/2014/main" id="{7D13F712-B74E-B518-258C-F8E589DDECD8}"/>
              </a:ext>
            </a:extLst>
          </p:cNvPr>
          <p:cNvSpPr/>
          <p:nvPr/>
        </p:nvSpPr>
        <p:spPr>
          <a:xfrm>
            <a:off x="8572216" y="5301357"/>
            <a:ext cx="1050239" cy="588284"/>
          </a:xfrm>
          <a:prstGeom prst="round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000">
                <a:solidFill>
                  <a:schemeClr val="tx1"/>
                </a:solidFill>
              </a:rPr>
              <a:t>Scripted Content Domain</a:t>
            </a:r>
          </a:p>
        </p:txBody>
      </p:sp>
      <p:cxnSp>
        <p:nvCxnSpPr>
          <p:cNvPr id="127" name="Connector: Elbow 126">
            <a:extLst>
              <a:ext uri="{FF2B5EF4-FFF2-40B4-BE49-F238E27FC236}">
                <a16:creationId xmlns:a16="http://schemas.microsoft.com/office/drawing/2014/main" id="{73BA1832-B7E8-9086-8580-781C48ABF828}"/>
              </a:ext>
            </a:extLst>
          </p:cNvPr>
          <p:cNvCxnSpPr>
            <a:stCxn id="38" idx="3"/>
            <a:endCxn id="23" idx="1"/>
          </p:cNvCxnSpPr>
          <p:nvPr/>
        </p:nvCxnSpPr>
        <p:spPr>
          <a:xfrm flipV="1">
            <a:off x="7971176" y="2557211"/>
            <a:ext cx="601040" cy="3302787"/>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965EAB35-D9E7-CF13-B248-6154CCF20129}"/>
              </a:ext>
            </a:extLst>
          </p:cNvPr>
          <p:cNvCxnSpPr>
            <a:stCxn id="38" idx="3"/>
            <a:endCxn id="26" idx="1"/>
          </p:cNvCxnSpPr>
          <p:nvPr/>
        </p:nvCxnSpPr>
        <p:spPr>
          <a:xfrm flipV="1">
            <a:off x="7971176" y="4835926"/>
            <a:ext cx="601040" cy="1024072"/>
          </a:xfrm>
          <a:prstGeom prst="bentConnector3">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679BBAA4-86EE-67AA-C1CF-0C37D2146BD5}"/>
              </a:ext>
            </a:extLst>
          </p:cNvPr>
          <p:cNvCxnSpPr>
            <a:cxnSpLocks/>
            <a:stCxn id="37" idx="2"/>
            <a:endCxn id="125" idx="1"/>
          </p:cNvCxnSpPr>
          <p:nvPr/>
        </p:nvCxnSpPr>
        <p:spPr>
          <a:xfrm rot="5400000" flipH="1" flipV="1">
            <a:off x="7136600" y="4682129"/>
            <a:ext cx="522246" cy="2348985"/>
          </a:xfrm>
          <a:prstGeom prst="bentConnector4">
            <a:avLst>
              <a:gd name="adj1" fmla="val -26749"/>
              <a:gd name="adj2" fmla="val 91848"/>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51D6B10-3602-DDCE-C8E7-C9FF15EDC69B}"/>
              </a:ext>
            </a:extLst>
          </p:cNvPr>
          <p:cNvCxnSpPr>
            <a:stCxn id="35" idx="3"/>
            <a:endCxn id="36" idx="1"/>
          </p:cNvCxnSpPr>
          <p:nvPr/>
        </p:nvCxnSpPr>
        <p:spPr>
          <a:xfrm>
            <a:off x="3204525" y="5859998"/>
            <a:ext cx="79098"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B0033C00-1323-031E-E5C7-64D59B932C90}"/>
              </a:ext>
            </a:extLst>
          </p:cNvPr>
          <p:cNvCxnSpPr>
            <a:stCxn id="36" idx="3"/>
            <a:endCxn id="41" idx="1"/>
          </p:cNvCxnSpPr>
          <p:nvPr/>
        </p:nvCxnSpPr>
        <p:spPr>
          <a:xfrm>
            <a:off x="4396188" y="5859998"/>
            <a:ext cx="79098"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B4495134-789A-57FD-6D7F-D5F3D9C1C608}"/>
              </a:ext>
            </a:extLst>
          </p:cNvPr>
          <p:cNvSpPr/>
          <p:nvPr/>
        </p:nvSpPr>
        <p:spPr>
          <a:xfrm>
            <a:off x="1918522" y="140332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1</a:t>
            </a:r>
          </a:p>
        </p:txBody>
      </p:sp>
      <p:sp>
        <p:nvSpPr>
          <p:cNvPr id="152" name="Oval 151">
            <a:extLst>
              <a:ext uri="{FF2B5EF4-FFF2-40B4-BE49-F238E27FC236}">
                <a16:creationId xmlns:a16="http://schemas.microsoft.com/office/drawing/2014/main" id="{D7BFA1A9-A2DA-11E1-DEBD-9AE82F726FB1}"/>
              </a:ext>
            </a:extLst>
          </p:cNvPr>
          <p:cNvSpPr/>
          <p:nvPr/>
        </p:nvSpPr>
        <p:spPr>
          <a:xfrm>
            <a:off x="1918522" y="264710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2</a:t>
            </a:r>
          </a:p>
        </p:txBody>
      </p:sp>
      <p:sp>
        <p:nvSpPr>
          <p:cNvPr id="153" name="Oval 152">
            <a:extLst>
              <a:ext uri="{FF2B5EF4-FFF2-40B4-BE49-F238E27FC236}">
                <a16:creationId xmlns:a16="http://schemas.microsoft.com/office/drawing/2014/main" id="{5D256E4D-E979-8973-011B-F28608BD266A}"/>
              </a:ext>
            </a:extLst>
          </p:cNvPr>
          <p:cNvSpPr/>
          <p:nvPr/>
        </p:nvSpPr>
        <p:spPr>
          <a:xfrm>
            <a:off x="510030" y="140332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3</a:t>
            </a:r>
          </a:p>
        </p:txBody>
      </p:sp>
      <p:sp>
        <p:nvSpPr>
          <p:cNvPr id="154" name="Oval 153">
            <a:extLst>
              <a:ext uri="{FF2B5EF4-FFF2-40B4-BE49-F238E27FC236}">
                <a16:creationId xmlns:a16="http://schemas.microsoft.com/office/drawing/2014/main" id="{999C3DFF-8429-856E-D05C-E56FE22A5347}"/>
              </a:ext>
            </a:extLst>
          </p:cNvPr>
          <p:cNvSpPr/>
          <p:nvPr/>
        </p:nvSpPr>
        <p:spPr>
          <a:xfrm>
            <a:off x="1918522" y="3915033"/>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4</a:t>
            </a:r>
          </a:p>
        </p:txBody>
      </p:sp>
      <p:sp>
        <p:nvSpPr>
          <p:cNvPr id="155" name="Oval 154">
            <a:extLst>
              <a:ext uri="{FF2B5EF4-FFF2-40B4-BE49-F238E27FC236}">
                <a16:creationId xmlns:a16="http://schemas.microsoft.com/office/drawing/2014/main" id="{FB32A696-346C-EC0F-7037-F3B48A89B663}"/>
              </a:ext>
            </a:extLst>
          </p:cNvPr>
          <p:cNvSpPr/>
          <p:nvPr/>
        </p:nvSpPr>
        <p:spPr>
          <a:xfrm>
            <a:off x="1918522" y="5162308"/>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5</a:t>
            </a:r>
          </a:p>
        </p:txBody>
      </p:sp>
      <p:sp>
        <p:nvSpPr>
          <p:cNvPr id="156" name="Oval 155">
            <a:extLst>
              <a:ext uri="{FF2B5EF4-FFF2-40B4-BE49-F238E27FC236}">
                <a16:creationId xmlns:a16="http://schemas.microsoft.com/office/drawing/2014/main" id="{D6A75519-5AF4-0579-C0CE-F8EEBCECB7FF}"/>
              </a:ext>
            </a:extLst>
          </p:cNvPr>
          <p:cNvSpPr/>
          <p:nvPr/>
        </p:nvSpPr>
        <p:spPr>
          <a:xfrm>
            <a:off x="9882936" y="140332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1</a:t>
            </a:r>
          </a:p>
        </p:txBody>
      </p:sp>
      <p:sp>
        <p:nvSpPr>
          <p:cNvPr id="157" name="Rectangle 156">
            <a:extLst>
              <a:ext uri="{FF2B5EF4-FFF2-40B4-BE49-F238E27FC236}">
                <a16:creationId xmlns:a16="http://schemas.microsoft.com/office/drawing/2014/main" id="{E57114D0-53FB-8397-753A-F81F6DA6C263}"/>
              </a:ext>
            </a:extLst>
          </p:cNvPr>
          <p:cNvSpPr/>
          <p:nvPr/>
        </p:nvSpPr>
        <p:spPr>
          <a:xfrm>
            <a:off x="10100041" y="1403321"/>
            <a:ext cx="1857010" cy="3746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a:solidFill>
                  <a:schemeClr val="tx1"/>
                </a:solidFill>
              </a:rPr>
              <a:t>Pre-provision all infrastructure 2 hours before kickoff</a:t>
            </a:r>
          </a:p>
        </p:txBody>
      </p:sp>
      <p:sp>
        <p:nvSpPr>
          <p:cNvPr id="158" name="Oval 157">
            <a:extLst>
              <a:ext uri="{FF2B5EF4-FFF2-40B4-BE49-F238E27FC236}">
                <a16:creationId xmlns:a16="http://schemas.microsoft.com/office/drawing/2014/main" id="{0B8CA5A2-F64E-7903-4BC6-C4B374F607EE}"/>
              </a:ext>
            </a:extLst>
          </p:cNvPr>
          <p:cNvSpPr/>
          <p:nvPr/>
        </p:nvSpPr>
        <p:spPr>
          <a:xfrm>
            <a:off x="9882936" y="200811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2</a:t>
            </a:r>
          </a:p>
        </p:txBody>
      </p:sp>
      <p:sp>
        <p:nvSpPr>
          <p:cNvPr id="159" name="Rectangle 158">
            <a:extLst>
              <a:ext uri="{FF2B5EF4-FFF2-40B4-BE49-F238E27FC236}">
                <a16:creationId xmlns:a16="http://schemas.microsoft.com/office/drawing/2014/main" id="{2DA4DF26-61DF-BD30-738C-5A9FDB7C6CE2}"/>
              </a:ext>
            </a:extLst>
          </p:cNvPr>
          <p:cNvSpPr/>
          <p:nvPr/>
        </p:nvSpPr>
        <p:spPr>
          <a:xfrm>
            <a:off x="10100041" y="2008111"/>
            <a:ext cx="1857010" cy="3746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a:solidFill>
                  <a:schemeClr val="tx1"/>
                </a:solidFill>
              </a:rPr>
              <a:t>Transition from pre-match to live with zero dropped frames</a:t>
            </a:r>
          </a:p>
        </p:txBody>
      </p:sp>
      <p:sp>
        <p:nvSpPr>
          <p:cNvPr id="160" name="Oval 159">
            <a:extLst>
              <a:ext uri="{FF2B5EF4-FFF2-40B4-BE49-F238E27FC236}">
                <a16:creationId xmlns:a16="http://schemas.microsoft.com/office/drawing/2014/main" id="{C1EC77E5-6592-F25A-848F-675794D4BFF8}"/>
              </a:ext>
            </a:extLst>
          </p:cNvPr>
          <p:cNvSpPr/>
          <p:nvPr/>
        </p:nvSpPr>
        <p:spPr>
          <a:xfrm>
            <a:off x="9882936" y="2607110"/>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3</a:t>
            </a:r>
          </a:p>
        </p:txBody>
      </p:sp>
      <p:sp>
        <p:nvSpPr>
          <p:cNvPr id="161" name="Rectangle 160">
            <a:extLst>
              <a:ext uri="{FF2B5EF4-FFF2-40B4-BE49-F238E27FC236}">
                <a16:creationId xmlns:a16="http://schemas.microsoft.com/office/drawing/2014/main" id="{57816604-20DF-0C6C-D10E-53B51AEC0C85}"/>
              </a:ext>
            </a:extLst>
          </p:cNvPr>
          <p:cNvSpPr/>
          <p:nvPr/>
        </p:nvSpPr>
        <p:spPr>
          <a:xfrm>
            <a:off x="10100041" y="2607111"/>
            <a:ext cx="1857010" cy="3746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a:solidFill>
                  <a:schemeClr val="tx1"/>
                </a:solidFill>
              </a:rPr>
              <a:t>Continuous health monitoring with automatic remediation</a:t>
            </a:r>
          </a:p>
        </p:txBody>
      </p:sp>
      <p:sp>
        <p:nvSpPr>
          <p:cNvPr id="162" name="Oval 161">
            <a:extLst>
              <a:ext uri="{FF2B5EF4-FFF2-40B4-BE49-F238E27FC236}">
                <a16:creationId xmlns:a16="http://schemas.microsoft.com/office/drawing/2014/main" id="{2E1BE3D5-5491-172D-9D5D-FC613FA73783}"/>
              </a:ext>
            </a:extLst>
          </p:cNvPr>
          <p:cNvSpPr/>
          <p:nvPr/>
        </p:nvSpPr>
        <p:spPr>
          <a:xfrm>
            <a:off x="9882936" y="3206109"/>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4</a:t>
            </a:r>
          </a:p>
        </p:txBody>
      </p:sp>
      <p:sp>
        <p:nvSpPr>
          <p:cNvPr id="163" name="Rectangle 162">
            <a:extLst>
              <a:ext uri="{FF2B5EF4-FFF2-40B4-BE49-F238E27FC236}">
                <a16:creationId xmlns:a16="http://schemas.microsoft.com/office/drawing/2014/main" id="{0E734372-7928-916B-E118-55070914ECB7}"/>
              </a:ext>
            </a:extLst>
          </p:cNvPr>
          <p:cNvSpPr/>
          <p:nvPr/>
        </p:nvSpPr>
        <p:spPr>
          <a:xfrm>
            <a:off x="10100041" y="3206110"/>
            <a:ext cx="1857010" cy="37468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a:solidFill>
                  <a:schemeClr val="tx1"/>
                </a:solidFill>
              </a:rPr>
              <a:t>Optimize infrastructure during half-time break</a:t>
            </a:r>
          </a:p>
        </p:txBody>
      </p:sp>
      <p:sp>
        <p:nvSpPr>
          <p:cNvPr id="164" name="Oval 163">
            <a:extLst>
              <a:ext uri="{FF2B5EF4-FFF2-40B4-BE49-F238E27FC236}">
                <a16:creationId xmlns:a16="http://schemas.microsoft.com/office/drawing/2014/main" id="{882643B8-9E09-31BC-A274-D5CB4CC18D8D}"/>
              </a:ext>
            </a:extLst>
          </p:cNvPr>
          <p:cNvSpPr/>
          <p:nvPr/>
        </p:nvSpPr>
        <p:spPr>
          <a:xfrm>
            <a:off x="9882936" y="3783232"/>
            <a:ext cx="173438" cy="173436"/>
          </a:xfrm>
          <a:prstGeom prst="ellipse">
            <a:avLst/>
          </a:prstGeom>
          <a:solidFill>
            <a:srgbClr val="00206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000" b="1">
                <a:solidFill>
                  <a:schemeClr val="bg1"/>
                </a:solidFill>
              </a:rPr>
              <a:t>5</a:t>
            </a:r>
          </a:p>
        </p:txBody>
      </p:sp>
      <p:sp>
        <p:nvSpPr>
          <p:cNvPr id="165" name="Rectangle 164">
            <a:extLst>
              <a:ext uri="{FF2B5EF4-FFF2-40B4-BE49-F238E27FC236}">
                <a16:creationId xmlns:a16="http://schemas.microsoft.com/office/drawing/2014/main" id="{C30A30DB-F914-A8A8-F14B-8AAB9C029BEF}"/>
              </a:ext>
            </a:extLst>
          </p:cNvPr>
          <p:cNvSpPr/>
          <p:nvPr/>
        </p:nvSpPr>
        <p:spPr>
          <a:xfrm>
            <a:off x="10100041" y="3783233"/>
            <a:ext cx="1857010" cy="56844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a:solidFill>
                  <a:schemeClr val="tx1"/>
                </a:solidFill>
              </a:rPr>
              <a:t>Live event shutdown with immediate post-match processing</a:t>
            </a:r>
          </a:p>
        </p:txBody>
      </p:sp>
    </p:spTree>
    <p:extLst>
      <p:ext uri="{BB962C8B-B14F-4D97-AF65-F5344CB8AC3E}">
        <p14:creationId xmlns:p14="http://schemas.microsoft.com/office/powerpoint/2010/main" val="1287261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AC7D81-2F3A-E159-5AB1-71683018496E}"/>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2422F59-D5C7-40E0-3FCA-878C74405BA4}"/>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A42D55D5-97E8-8540-3110-C4AAACE84D61}"/>
              </a:ext>
            </a:extLst>
          </p:cNvPr>
          <p:cNvSpPr>
            <a:spLocks noGrp="1"/>
          </p:cNvSpPr>
          <p:nvPr>
            <p:ph type="sldNum" sz="quarter" idx="30"/>
          </p:nvPr>
        </p:nvSpPr>
        <p:spPr/>
        <p:txBody>
          <a:bodyPr/>
          <a:lstStyle/>
          <a:p>
            <a:pPr algn="r"/>
            <a:fld id="{5D9A5160-6218-4E5A-B9E6-B93E3DAE377C}" type="slidenum">
              <a:rPr lang="en-US" smtClean="0"/>
              <a:pPr algn="r"/>
              <a:t>42</a:t>
            </a:fld>
            <a:endParaRPr lang="en-US"/>
          </a:p>
        </p:txBody>
      </p:sp>
      <p:sp>
        <p:nvSpPr>
          <p:cNvPr id="5" name="Title 4">
            <a:extLst>
              <a:ext uri="{FF2B5EF4-FFF2-40B4-BE49-F238E27FC236}">
                <a16:creationId xmlns:a16="http://schemas.microsoft.com/office/drawing/2014/main" id="{7B8E866F-C65E-E71D-8CFD-2B6BF878EC5E}"/>
              </a:ext>
            </a:extLst>
          </p:cNvPr>
          <p:cNvSpPr>
            <a:spLocks noGrp="1"/>
          </p:cNvSpPr>
          <p:nvPr>
            <p:ph type="title"/>
          </p:nvPr>
        </p:nvSpPr>
        <p:spPr/>
        <p:txBody>
          <a:bodyPr/>
          <a:lstStyle/>
          <a:p>
            <a:r>
              <a:rPr lang="en-US"/>
              <a:t>Half-time advertisement inventory</a:t>
            </a:r>
          </a:p>
        </p:txBody>
      </p:sp>
      <p:sp>
        <p:nvSpPr>
          <p:cNvPr id="6" name="Rectangle 5">
            <a:extLst>
              <a:ext uri="{FF2B5EF4-FFF2-40B4-BE49-F238E27FC236}">
                <a16:creationId xmlns:a16="http://schemas.microsoft.com/office/drawing/2014/main" id="{B8791541-A46D-58FE-FE34-3905BE8EFEC6}"/>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PILLAR 1: BROADCAST VELOCITY</a:t>
            </a:r>
          </a:p>
        </p:txBody>
      </p:sp>
      <p:grpSp>
        <p:nvGrpSpPr>
          <p:cNvPr id="18" name="Group 17">
            <a:extLst>
              <a:ext uri="{FF2B5EF4-FFF2-40B4-BE49-F238E27FC236}">
                <a16:creationId xmlns:a16="http://schemas.microsoft.com/office/drawing/2014/main" id="{0D1594EA-2F31-6D60-8F6D-B1DCDC5F7D51}"/>
              </a:ext>
            </a:extLst>
          </p:cNvPr>
          <p:cNvGrpSpPr/>
          <p:nvPr/>
        </p:nvGrpSpPr>
        <p:grpSpPr>
          <a:xfrm>
            <a:off x="474133" y="922867"/>
            <a:ext cx="5427134" cy="5529867"/>
            <a:chOff x="474133" y="922867"/>
            <a:chExt cx="5427134" cy="5529867"/>
          </a:xfrm>
        </p:grpSpPr>
        <p:sp>
          <p:nvSpPr>
            <p:cNvPr id="16" name="Rectangle 15">
              <a:extLst>
                <a:ext uri="{FF2B5EF4-FFF2-40B4-BE49-F238E27FC236}">
                  <a16:creationId xmlns:a16="http://schemas.microsoft.com/office/drawing/2014/main" id="{CA7F5542-ABE5-0845-AABF-8AF9A8AC2055}"/>
                </a:ext>
              </a:extLst>
            </p:cNvPr>
            <p:cNvSpPr/>
            <p:nvPr/>
          </p:nvSpPr>
          <p:spPr>
            <a:xfrm>
              <a:off x="474133" y="922867"/>
              <a:ext cx="5427134" cy="552986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9" name="Group 8">
              <a:extLst>
                <a:ext uri="{FF2B5EF4-FFF2-40B4-BE49-F238E27FC236}">
                  <a16:creationId xmlns:a16="http://schemas.microsoft.com/office/drawing/2014/main" id="{39DD30D4-6EC0-7F8B-C753-B75BB963B300}"/>
                </a:ext>
              </a:extLst>
            </p:cNvPr>
            <p:cNvGrpSpPr/>
            <p:nvPr/>
          </p:nvGrpSpPr>
          <p:grpSpPr>
            <a:xfrm>
              <a:off x="550198" y="1013675"/>
              <a:ext cx="5219894" cy="199245"/>
              <a:chOff x="550199" y="1013675"/>
              <a:chExt cx="2158076" cy="199245"/>
            </a:xfrm>
          </p:grpSpPr>
          <p:sp>
            <p:nvSpPr>
              <p:cNvPr id="7" name="Rectangle 6">
                <a:extLst>
                  <a:ext uri="{FF2B5EF4-FFF2-40B4-BE49-F238E27FC236}">
                    <a16:creationId xmlns:a16="http://schemas.microsoft.com/office/drawing/2014/main" id="{5C01F945-9EBC-D4ED-2387-850CB0B5EADC}"/>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Baseline assumptions</a:t>
                </a:r>
                <a:endParaRPr lang="en-US" sz="1400" b="1">
                  <a:solidFill>
                    <a:schemeClr val="tx1"/>
                  </a:solidFill>
                </a:endParaRPr>
              </a:p>
            </p:txBody>
          </p:sp>
          <p:cxnSp>
            <p:nvCxnSpPr>
              <p:cNvPr id="8" name="Straight Connector 7">
                <a:extLst>
                  <a:ext uri="{FF2B5EF4-FFF2-40B4-BE49-F238E27FC236}">
                    <a16:creationId xmlns:a16="http://schemas.microsoft.com/office/drawing/2014/main" id="{FD341B50-F950-AE56-DF4F-4D7A26020457}"/>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B24B314-1DC4-F952-77DE-5E5DCDAD6BEA}"/>
                </a:ext>
              </a:extLst>
            </p:cNvPr>
            <p:cNvSpPr/>
            <p:nvPr/>
          </p:nvSpPr>
          <p:spPr>
            <a:xfrm>
              <a:off x="550198"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Match Distribution by Tier</a:t>
              </a:r>
            </a:p>
            <a:p>
              <a:pPr marL="171450" indent="-171450">
                <a:buFont typeface="Wingdings" panose="05000000000000000000" pitchFamily="2" charset="2"/>
                <a:buChar char="§"/>
              </a:pPr>
              <a:r>
                <a:rPr lang="en-US" sz="1000">
                  <a:solidFill>
                    <a:schemeClr val="tx1"/>
                  </a:solidFill>
                </a:rPr>
                <a:t>Tier 1 (Premium): 30 matches/year (20% of total)</a:t>
              </a:r>
            </a:p>
            <a:p>
              <a:pPr marL="171450" indent="-171450">
                <a:buFont typeface="Wingdings" panose="05000000000000000000" pitchFamily="2" charset="2"/>
                <a:buChar char="§"/>
              </a:pPr>
              <a:r>
                <a:rPr lang="en-US" sz="1000">
                  <a:solidFill>
                    <a:schemeClr val="tx1"/>
                  </a:solidFill>
                </a:rPr>
                <a:t>Tier 2 (Standard): 70 matches/year (47% of total)</a:t>
              </a:r>
            </a:p>
            <a:p>
              <a:pPr marL="171450" indent="-171450">
                <a:buFont typeface="Wingdings" panose="05000000000000000000" pitchFamily="2" charset="2"/>
                <a:buChar char="§"/>
              </a:pPr>
              <a:r>
                <a:rPr lang="en-US" sz="1000">
                  <a:solidFill>
                    <a:schemeClr val="tx1"/>
                  </a:solidFill>
                </a:rPr>
                <a:t>Tier 3 (Lower): 50 matches/year (33% of total)</a:t>
              </a:r>
            </a:p>
            <a:p>
              <a:pPr marL="171450" indent="-171450">
                <a:buFont typeface="Wingdings" panose="05000000000000000000" pitchFamily="2" charset="2"/>
                <a:buChar char="§"/>
              </a:pPr>
              <a:r>
                <a:rPr lang="en-US" sz="1000">
                  <a:solidFill>
                    <a:schemeClr val="tx1"/>
                  </a:solidFill>
                </a:rPr>
                <a:t>Total: 150 matches/year</a:t>
              </a:r>
            </a:p>
            <a:p>
              <a:pPr>
                <a:spcBef>
                  <a:spcPts val="600"/>
                </a:spcBef>
              </a:pPr>
              <a:r>
                <a:rPr lang="en-US" sz="1000" b="1">
                  <a:solidFill>
                    <a:schemeClr val="tx1"/>
                  </a:solidFill>
                </a:rPr>
                <a:t>Half-Time Viewership</a:t>
              </a:r>
            </a:p>
            <a:p>
              <a:pPr marL="171450" indent="-171450">
                <a:buFont typeface="Wingdings" panose="05000000000000000000" pitchFamily="2" charset="2"/>
                <a:buChar char="§"/>
              </a:pPr>
              <a:r>
                <a:rPr lang="en-US" sz="1000">
                  <a:solidFill>
                    <a:schemeClr val="tx1"/>
                  </a:solidFill>
                </a:rPr>
                <a:t>Viewers take breaks during half-time (bathroom, tea, channel switching)</a:t>
              </a:r>
            </a:p>
            <a:p>
              <a:pPr marL="171450" indent="-171450">
                <a:buFont typeface="Wingdings" panose="05000000000000000000" pitchFamily="2" charset="2"/>
                <a:buChar char="§"/>
              </a:pPr>
              <a:r>
                <a:rPr lang="en-US" sz="1000">
                  <a:solidFill>
                    <a:schemeClr val="tx1"/>
                  </a:solidFill>
                </a:rPr>
                <a:t>Tier 1: 5M viewers (37.5% drop from 8M live peak)</a:t>
              </a:r>
            </a:p>
            <a:p>
              <a:pPr marL="171450" indent="-171450">
                <a:buFont typeface="Wingdings" panose="05000000000000000000" pitchFamily="2" charset="2"/>
                <a:buChar char="§"/>
              </a:pPr>
              <a:r>
                <a:rPr lang="en-US" sz="1000">
                  <a:solidFill>
                    <a:schemeClr val="tx1"/>
                  </a:solidFill>
                </a:rPr>
                <a:t>Tier 2: 2.5M viewers (37.5% drop from 4M live peak)</a:t>
              </a:r>
            </a:p>
            <a:p>
              <a:pPr marL="171450" indent="-171450">
                <a:buFont typeface="Wingdings" panose="05000000000000000000" pitchFamily="2" charset="2"/>
                <a:buChar char="§"/>
              </a:pPr>
              <a:r>
                <a:rPr lang="en-US" sz="1000">
                  <a:solidFill>
                    <a:schemeClr val="tx1"/>
                  </a:solidFill>
                </a:rPr>
                <a:t>Tier 3: 1M viewers (33% drop from 1.5M live peak)</a:t>
              </a:r>
            </a:p>
            <a:p>
              <a:pPr>
                <a:spcBef>
                  <a:spcPts val="600"/>
                </a:spcBef>
              </a:pPr>
              <a:r>
                <a:rPr lang="en-US" sz="1000" b="1">
                  <a:solidFill>
                    <a:schemeClr val="tx1"/>
                  </a:solidFill>
                </a:rPr>
                <a:t>CPM (Cost Per Thousand for 30-sec spot)</a:t>
              </a:r>
            </a:p>
            <a:p>
              <a:pPr marL="171450" indent="-171450">
                <a:buFont typeface="Wingdings" panose="05000000000000000000" pitchFamily="2" charset="2"/>
                <a:buChar char="§"/>
              </a:pPr>
              <a:r>
                <a:rPr lang="en-US" sz="1000">
                  <a:solidFill>
                    <a:schemeClr val="tx1"/>
                  </a:solidFill>
                </a:rPr>
                <a:t>Half-time CPMs are 60-70% lower than live action CPMs (€15-25) due to viewer disengagement</a:t>
              </a:r>
            </a:p>
            <a:p>
              <a:pPr marL="171450" indent="-171450">
                <a:buFont typeface="Wingdings" panose="05000000000000000000" pitchFamily="2" charset="2"/>
                <a:buChar char="§"/>
              </a:pPr>
              <a:r>
                <a:rPr lang="en-US" sz="1000">
                  <a:solidFill>
                    <a:schemeClr val="tx1"/>
                  </a:solidFill>
                </a:rPr>
                <a:t>Tier 1: €4 per spot (premium matches, higher demand)</a:t>
              </a:r>
            </a:p>
            <a:p>
              <a:pPr marL="171450" indent="-171450">
                <a:buFont typeface="Wingdings" panose="05000000000000000000" pitchFamily="2" charset="2"/>
                <a:buChar char="§"/>
              </a:pPr>
              <a:r>
                <a:rPr lang="en-US" sz="1000">
                  <a:solidFill>
                    <a:schemeClr val="tx1"/>
                  </a:solidFill>
                </a:rPr>
                <a:t>Tier 2: €3 per spot (standard matches)</a:t>
              </a:r>
            </a:p>
            <a:p>
              <a:pPr marL="171450" indent="-171450">
                <a:buFont typeface="Wingdings" panose="05000000000000000000" pitchFamily="2" charset="2"/>
                <a:buChar char="§"/>
              </a:pPr>
              <a:r>
                <a:rPr lang="en-US" sz="1000">
                  <a:solidFill>
                    <a:schemeClr val="tx1"/>
                  </a:solidFill>
                </a:rPr>
                <a:t>Tier 3: €2 per spot (lower-tier matches, lower demand)</a:t>
              </a:r>
            </a:p>
            <a:p>
              <a:pPr>
                <a:spcBef>
                  <a:spcPts val="600"/>
                </a:spcBef>
              </a:pPr>
              <a:r>
                <a:rPr lang="en-US" sz="1000" b="1">
                  <a:solidFill>
                    <a:schemeClr val="tx1"/>
                  </a:solidFill>
                </a:rPr>
                <a:t>Ad sports per match</a:t>
              </a:r>
            </a:p>
            <a:p>
              <a:pPr marL="171450" indent="-171450">
                <a:buFont typeface="Wingdings" panose="05000000000000000000" pitchFamily="2" charset="2"/>
                <a:buChar char="§"/>
              </a:pPr>
              <a:r>
                <a:rPr lang="en-US" sz="1000">
                  <a:solidFill>
                    <a:schemeClr val="tx1"/>
                  </a:solidFill>
                </a:rPr>
                <a:t>Current half-time structure allows only 2 ad breaks (3 min each)</a:t>
              </a:r>
            </a:p>
            <a:p>
              <a:pPr marL="171450" indent="-171450">
                <a:buFont typeface="Wingdings" panose="05000000000000000000" pitchFamily="2" charset="2"/>
                <a:buChar char="§"/>
              </a:pPr>
              <a:r>
                <a:rPr lang="en-US" sz="1000">
                  <a:solidFill>
                    <a:schemeClr val="tx1"/>
                  </a:solidFill>
                </a:rPr>
                <a:t>All tiers: 12 spots (6 minutes of ads ÷ 0.5 min per spot)</a:t>
              </a:r>
            </a:p>
          </p:txBody>
        </p:sp>
      </p:grpSp>
      <p:grpSp>
        <p:nvGrpSpPr>
          <p:cNvPr id="19" name="Group 18">
            <a:extLst>
              <a:ext uri="{FF2B5EF4-FFF2-40B4-BE49-F238E27FC236}">
                <a16:creationId xmlns:a16="http://schemas.microsoft.com/office/drawing/2014/main" id="{8E451E68-9842-FB95-3AC4-9529AEA15875}"/>
              </a:ext>
            </a:extLst>
          </p:cNvPr>
          <p:cNvGrpSpPr/>
          <p:nvPr/>
        </p:nvGrpSpPr>
        <p:grpSpPr>
          <a:xfrm>
            <a:off x="6317102" y="922867"/>
            <a:ext cx="5427134" cy="5529867"/>
            <a:chOff x="6317102" y="922867"/>
            <a:chExt cx="5427134" cy="5529867"/>
          </a:xfrm>
        </p:grpSpPr>
        <p:sp>
          <p:nvSpPr>
            <p:cNvPr id="17" name="Rectangle 16">
              <a:extLst>
                <a:ext uri="{FF2B5EF4-FFF2-40B4-BE49-F238E27FC236}">
                  <a16:creationId xmlns:a16="http://schemas.microsoft.com/office/drawing/2014/main" id="{527830F0-AC4D-544D-5DD6-2C290EB440F5}"/>
                </a:ext>
              </a:extLst>
            </p:cNvPr>
            <p:cNvSpPr/>
            <p:nvPr/>
          </p:nvSpPr>
          <p:spPr>
            <a:xfrm>
              <a:off x="6317102" y="922867"/>
              <a:ext cx="5427134" cy="5529866"/>
            </a:xfrm>
            <a:prstGeom prst="rect">
              <a:avLst/>
            </a:prstGeom>
            <a:solidFill>
              <a:srgbClr val="DDEF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 name="Group 9">
              <a:extLst>
                <a:ext uri="{FF2B5EF4-FFF2-40B4-BE49-F238E27FC236}">
                  <a16:creationId xmlns:a16="http://schemas.microsoft.com/office/drawing/2014/main" id="{9A246F2B-E897-885D-6800-AAA456B865C3}"/>
                </a:ext>
              </a:extLst>
            </p:cNvPr>
            <p:cNvGrpSpPr/>
            <p:nvPr/>
          </p:nvGrpSpPr>
          <p:grpSpPr>
            <a:xfrm>
              <a:off x="6420722" y="1013675"/>
              <a:ext cx="5219894" cy="199245"/>
              <a:chOff x="550199" y="1013675"/>
              <a:chExt cx="2158076" cy="199245"/>
            </a:xfrm>
          </p:grpSpPr>
          <p:sp>
            <p:nvSpPr>
              <p:cNvPr id="11" name="Rectangle 10">
                <a:extLst>
                  <a:ext uri="{FF2B5EF4-FFF2-40B4-BE49-F238E27FC236}">
                    <a16:creationId xmlns:a16="http://schemas.microsoft.com/office/drawing/2014/main" id="{FA14B7C0-421E-F5A6-9829-F26CE1806649}"/>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Recommended architecture assumptions</a:t>
                </a:r>
                <a:endParaRPr lang="en-US" sz="1400" b="1">
                  <a:solidFill>
                    <a:schemeClr val="tx1"/>
                  </a:solidFill>
                </a:endParaRPr>
              </a:p>
            </p:txBody>
          </p:sp>
          <p:cxnSp>
            <p:nvCxnSpPr>
              <p:cNvPr id="12" name="Straight Connector 11">
                <a:extLst>
                  <a:ext uri="{FF2B5EF4-FFF2-40B4-BE49-F238E27FC236}">
                    <a16:creationId xmlns:a16="http://schemas.microsoft.com/office/drawing/2014/main" id="{990ACAE4-491C-6B8B-4A62-4264ED78C522}"/>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FA26E6E0-B710-5965-DF60-BF1D306B9FA8}"/>
                </a:ext>
              </a:extLst>
            </p:cNvPr>
            <p:cNvSpPr/>
            <p:nvPr/>
          </p:nvSpPr>
          <p:spPr>
            <a:xfrm>
              <a:off x="6420722"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Half-Time Viewership</a:t>
              </a:r>
            </a:p>
            <a:p>
              <a:pPr marL="171450" indent="-171450">
                <a:buFont typeface="Wingdings" panose="05000000000000000000" pitchFamily="2" charset="2"/>
                <a:buChar char="§"/>
              </a:pPr>
              <a:r>
                <a:rPr lang="en-US" sz="1000">
                  <a:solidFill>
                    <a:schemeClr val="tx1"/>
                  </a:solidFill>
                </a:rPr>
                <a:t>+4% retention improvement across all tiers</a:t>
              </a:r>
            </a:p>
            <a:p>
              <a:pPr marL="171450" indent="-171450">
                <a:buFont typeface="Wingdings" panose="05000000000000000000" pitchFamily="2" charset="2"/>
                <a:buChar char="§"/>
              </a:pPr>
              <a:r>
                <a:rPr lang="en-US" sz="1000">
                  <a:solidFill>
                    <a:schemeClr val="tx1"/>
                  </a:solidFill>
                </a:rPr>
                <a:t>Rationale: Better content (all goals shown, comprehensive highlights) reduces channel switching</a:t>
              </a:r>
            </a:p>
            <a:p>
              <a:pPr>
                <a:spcBef>
                  <a:spcPts val="600"/>
                </a:spcBef>
              </a:pPr>
              <a:r>
                <a:rPr lang="en-US" sz="1000" b="1">
                  <a:solidFill>
                    <a:schemeClr val="tx1"/>
                  </a:solidFill>
                </a:rPr>
                <a:t>CPM Premium</a:t>
              </a:r>
            </a:p>
            <a:p>
              <a:pPr marL="171450" indent="-171450">
                <a:buFont typeface="Wingdings" panose="05000000000000000000" pitchFamily="2" charset="2"/>
                <a:buChar char="§"/>
              </a:pPr>
              <a:r>
                <a:rPr lang="en-US" sz="1000">
                  <a:solidFill>
                    <a:schemeClr val="tx1"/>
                  </a:solidFill>
                </a:rPr>
                <a:t>+15% CPM increase across all tiers</a:t>
              </a:r>
            </a:p>
            <a:p>
              <a:pPr marL="171450" indent="-171450">
                <a:buFont typeface="Wingdings" panose="05000000000000000000" pitchFamily="2" charset="2"/>
                <a:buChar char="§"/>
              </a:pPr>
              <a:r>
                <a:rPr lang="en-US" sz="1000">
                  <a:solidFill>
                    <a:schemeClr val="tx1"/>
                  </a:solidFill>
                </a:rPr>
                <a:t>Rationale: Better engagement leading to higher advertiser willingness to pay</a:t>
              </a:r>
            </a:p>
            <a:p>
              <a:pPr>
                <a:spcBef>
                  <a:spcPts val="600"/>
                </a:spcBef>
              </a:pPr>
              <a:r>
                <a:rPr lang="en-US" sz="1000" b="1">
                  <a:solidFill>
                    <a:schemeClr val="tx1"/>
                  </a:solidFill>
                </a:rPr>
                <a:t>Additional Ad Inventory</a:t>
              </a:r>
            </a:p>
            <a:p>
              <a:pPr marL="171450" indent="-171450">
                <a:buFont typeface="Wingdings" panose="05000000000000000000" pitchFamily="2" charset="2"/>
                <a:buChar char="§"/>
              </a:pPr>
              <a:r>
                <a:rPr lang="en-US" sz="1000">
                  <a:solidFill>
                    <a:schemeClr val="tx1"/>
                  </a:solidFill>
                </a:rPr>
                <a:t>+2 spots per match (14 total vs 12 baseline)</a:t>
              </a:r>
            </a:p>
            <a:p>
              <a:pPr marL="171450" indent="-171450">
                <a:buFont typeface="Wingdings" panose="05000000000000000000" pitchFamily="2" charset="2"/>
                <a:buChar char="§"/>
              </a:pPr>
              <a:r>
                <a:rPr lang="en-US" sz="1000">
                  <a:solidFill>
                    <a:schemeClr val="tx1"/>
                  </a:solidFill>
                </a:rPr>
                <a:t>Rationale: Faster automated clip production frees 2 minutes for additional ad break</a:t>
              </a:r>
            </a:p>
            <a:p>
              <a:pPr>
                <a:spcBef>
                  <a:spcPts val="600"/>
                </a:spcBef>
              </a:pPr>
              <a:r>
                <a:rPr lang="en-US" sz="1000" b="1">
                  <a:solidFill>
                    <a:schemeClr val="tx1"/>
                  </a:solidFill>
                </a:rPr>
                <a:t>Production speed</a:t>
              </a:r>
            </a:p>
            <a:p>
              <a:pPr marL="171450" indent="-171450">
                <a:buFont typeface="Wingdings" panose="05000000000000000000" pitchFamily="2" charset="2"/>
                <a:buChar char="§"/>
              </a:pPr>
              <a:r>
                <a:rPr lang="en-US" sz="1000">
                  <a:solidFill>
                    <a:schemeClr val="tx1"/>
                  </a:solidFill>
                </a:rPr>
                <a:t>Automated clip creation: &lt;90 seconds from final whistle to package ready</a:t>
              </a:r>
            </a:p>
            <a:p>
              <a:pPr marL="171450" indent="-171450">
                <a:buFont typeface="Wingdings" panose="05000000000000000000" pitchFamily="2" charset="2"/>
                <a:buChar char="§"/>
              </a:pPr>
              <a:r>
                <a:rPr lang="en-US" sz="1000">
                  <a:solidFill>
                    <a:schemeClr val="tx1"/>
                  </a:solidFill>
                </a:rPr>
                <a:t>Manual baseline: 12-15 minutes (current state)</a:t>
              </a:r>
            </a:p>
            <a:p>
              <a:pPr marL="171450" indent="-171450">
                <a:buFont typeface="Wingdings" panose="05000000000000000000" pitchFamily="2" charset="2"/>
                <a:buChar char="§"/>
              </a:pPr>
              <a:r>
                <a:rPr lang="en-US" sz="1000">
                  <a:solidFill>
                    <a:schemeClr val="tx1"/>
                  </a:solidFill>
                </a:rPr>
                <a:t>Assumption: AI goal detection accuracy ≥95%, automated clipping ≥90% quality vs manual</a:t>
              </a:r>
            </a:p>
          </p:txBody>
        </p:sp>
      </p:grpSp>
      <p:pic>
        <p:nvPicPr>
          <p:cNvPr id="13" name="Graphic 12" descr="Circle with left arrow outline">
            <a:hlinkClick r:id="rId2" action="ppaction://hlinksldjump"/>
            <a:extLst>
              <a:ext uri="{FF2B5EF4-FFF2-40B4-BE49-F238E27FC236}">
                <a16:creationId xmlns:a16="http://schemas.microsoft.com/office/drawing/2014/main" id="{A2624C86-1303-0C2B-C8E3-2B1DC4642A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2870061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0BC72-5345-F905-B043-C154B2F371D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16E4606-3B7E-E68E-D03C-4178239F5EF9}"/>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FA9C20F-CCAD-1556-E08F-80D911B73BA9}"/>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78934AAE-EF91-A86E-98EB-7AF63BDA255D}"/>
              </a:ext>
            </a:extLst>
          </p:cNvPr>
          <p:cNvSpPr>
            <a:spLocks noGrp="1"/>
          </p:cNvSpPr>
          <p:nvPr>
            <p:ph type="sldNum" sz="quarter" idx="30"/>
          </p:nvPr>
        </p:nvSpPr>
        <p:spPr/>
        <p:txBody>
          <a:bodyPr/>
          <a:lstStyle/>
          <a:p>
            <a:pPr algn="r"/>
            <a:fld id="{5D9A5160-6218-4E5A-B9E6-B93E3DAE377C}" type="slidenum">
              <a:rPr lang="en-US" smtClean="0"/>
              <a:pPr algn="r"/>
              <a:t>43</a:t>
            </a:fld>
            <a:endParaRPr lang="en-US"/>
          </a:p>
        </p:txBody>
      </p:sp>
      <p:sp>
        <p:nvSpPr>
          <p:cNvPr id="5" name="Title 4">
            <a:extLst>
              <a:ext uri="{FF2B5EF4-FFF2-40B4-BE49-F238E27FC236}">
                <a16:creationId xmlns:a16="http://schemas.microsoft.com/office/drawing/2014/main" id="{CD423915-4DC4-058D-AFA2-FDBD8AB45F20}"/>
              </a:ext>
            </a:extLst>
          </p:cNvPr>
          <p:cNvSpPr>
            <a:spLocks noGrp="1"/>
          </p:cNvSpPr>
          <p:nvPr>
            <p:ph type="title"/>
          </p:nvPr>
        </p:nvSpPr>
        <p:spPr/>
        <p:txBody>
          <a:bodyPr/>
          <a:lstStyle/>
          <a:p>
            <a:r>
              <a:rPr lang="en-US"/>
              <a:t>Same-evening highlights show</a:t>
            </a:r>
          </a:p>
        </p:txBody>
      </p:sp>
      <p:sp>
        <p:nvSpPr>
          <p:cNvPr id="6" name="Rectangle 5">
            <a:extLst>
              <a:ext uri="{FF2B5EF4-FFF2-40B4-BE49-F238E27FC236}">
                <a16:creationId xmlns:a16="http://schemas.microsoft.com/office/drawing/2014/main" id="{C59851DF-6D2C-397D-7866-CCE3BDA6717B}"/>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PILLAR 1: BROADCAST VELOCITY</a:t>
            </a:r>
          </a:p>
        </p:txBody>
      </p:sp>
      <p:grpSp>
        <p:nvGrpSpPr>
          <p:cNvPr id="18" name="Group 17">
            <a:extLst>
              <a:ext uri="{FF2B5EF4-FFF2-40B4-BE49-F238E27FC236}">
                <a16:creationId xmlns:a16="http://schemas.microsoft.com/office/drawing/2014/main" id="{254C0C6D-D491-F6AD-6225-EB79FA673C0D}"/>
              </a:ext>
            </a:extLst>
          </p:cNvPr>
          <p:cNvGrpSpPr/>
          <p:nvPr/>
        </p:nvGrpSpPr>
        <p:grpSpPr>
          <a:xfrm>
            <a:off x="474133" y="922867"/>
            <a:ext cx="5427134" cy="5529867"/>
            <a:chOff x="474133" y="922867"/>
            <a:chExt cx="5427134" cy="5529867"/>
          </a:xfrm>
        </p:grpSpPr>
        <p:sp>
          <p:nvSpPr>
            <p:cNvPr id="16" name="Rectangle 15">
              <a:extLst>
                <a:ext uri="{FF2B5EF4-FFF2-40B4-BE49-F238E27FC236}">
                  <a16:creationId xmlns:a16="http://schemas.microsoft.com/office/drawing/2014/main" id="{4CF57C4E-99F1-B0B8-FB63-BEF4957104F1}"/>
                </a:ext>
              </a:extLst>
            </p:cNvPr>
            <p:cNvSpPr/>
            <p:nvPr/>
          </p:nvSpPr>
          <p:spPr>
            <a:xfrm>
              <a:off x="474133" y="922867"/>
              <a:ext cx="5427134" cy="552986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9" name="Group 8">
              <a:extLst>
                <a:ext uri="{FF2B5EF4-FFF2-40B4-BE49-F238E27FC236}">
                  <a16:creationId xmlns:a16="http://schemas.microsoft.com/office/drawing/2014/main" id="{0712220F-AE44-4C0F-6DF4-D72B6DE70D3B}"/>
                </a:ext>
              </a:extLst>
            </p:cNvPr>
            <p:cNvGrpSpPr/>
            <p:nvPr/>
          </p:nvGrpSpPr>
          <p:grpSpPr>
            <a:xfrm>
              <a:off x="550198" y="1013675"/>
              <a:ext cx="5219894" cy="199245"/>
              <a:chOff x="550199" y="1013675"/>
              <a:chExt cx="2158076" cy="199245"/>
            </a:xfrm>
          </p:grpSpPr>
          <p:sp>
            <p:nvSpPr>
              <p:cNvPr id="7" name="Rectangle 6">
                <a:extLst>
                  <a:ext uri="{FF2B5EF4-FFF2-40B4-BE49-F238E27FC236}">
                    <a16:creationId xmlns:a16="http://schemas.microsoft.com/office/drawing/2014/main" id="{119A8C67-0B11-3C56-5B79-265CAC8A811E}"/>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Baseline assumptions</a:t>
                </a:r>
                <a:endParaRPr lang="en-US" sz="1400" b="1">
                  <a:solidFill>
                    <a:schemeClr val="tx1"/>
                  </a:solidFill>
                </a:endParaRPr>
              </a:p>
            </p:txBody>
          </p:sp>
          <p:cxnSp>
            <p:nvCxnSpPr>
              <p:cNvPr id="8" name="Straight Connector 7">
                <a:extLst>
                  <a:ext uri="{FF2B5EF4-FFF2-40B4-BE49-F238E27FC236}">
                    <a16:creationId xmlns:a16="http://schemas.microsoft.com/office/drawing/2014/main" id="{94EE0CE0-726D-5163-8FBA-BA3446C45766}"/>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044FB1C2-ECD0-E5BB-8627-723F53F4C57C}"/>
                </a:ext>
              </a:extLst>
            </p:cNvPr>
            <p:cNvSpPr/>
            <p:nvPr/>
          </p:nvSpPr>
          <p:spPr>
            <a:xfrm>
              <a:off x="550198"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Current broadcast timing</a:t>
              </a:r>
            </a:p>
            <a:p>
              <a:pPr marL="171450" indent="-171450">
                <a:buFont typeface="Wingdings" panose="05000000000000000000" pitchFamily="2" charset="2"/>
                <a:buChar char="§"/>
              </a:pPr>
              <a:r>
                <a:rPr lang="en-US" sz="1000">
                  <a:solidFill>
                    <a:schemeClr val="tx1"/>
                  </a:solidFill>
                </a:rPr>
                <a:t>Saturday 3pm matches end ~4:50pm</a:t>
              </a:r>
            </a:p>
            <a:p>
              <a:pPr marL="171450" indent="-171450">
                <a:buFont typeface="Wingdings" panose="05000000000000000000" pitchFamily="2" charset="2"/>
                <a:buChar char="§"/>
              </a:pPr>
              <a:r>
                <a:rPr lang="en-US" sz="1000">
                  <a:solidFill>
                    <a:schemeClr val="tx1"/>
                  </a:solidFill>
                </a:rPr>
                <a:t>Manual highlights production: 3+ hours (all 5 matches ready by 8pm)</a:t>
              </a:r>
            </a:p>
            <a:p>
              <a:pPr marL="171450" indent="-171450">
                <a:buFont typeface="Wingdings" panose="05000000000000000000" pitchFamily="2" charset="2"/>
                <a:buChar char="§"/>
              </a:pPr>
              <a:r>
                <a:rPr lang="en-US" sz="1000">
                  <a:solidFill>
                    <a:schemeClr val="tx1"/>
                  </a:solidFill>
                </a:rPr>
                <a:t>Broadcast: Sunday afternoon 2pm (18-24 hours post-match)</a:t>
              </a:r>
            </a:p>
            <a:p>
              <a:pPr marL="171450" indent="-171450">
                <a:buFont typeface="Wingdings" panose="05000000000000000000" pitchFamily="2" charset="2"/>
                <a:buChar char="§"/>
              </a:pPr>
              <a:r>
                <a:rPr lang="en-US" sz="1000">
                  <a:solidFill>
                    <a:schemeClr val="tx1"/>
                  </a:solidFill>
                </a:rPr>
                <a:t>Assumption: Sunday afternoon is only available prime slot (Saturday evening occupied)</a:t>
              </a:r>
            </a:p>
            <a:p>
              <a:pPr>
                <a:spcBef>
                  <a:spcPts val="600"/>
                </a:spcBef>
              </a:pPr>
              <a:r>
                <a:rPr lang="en-US" sz="1000" b="1">
                  <a:solidFill>
                    <a:schemeClr val="tx1"/>
                  </a:solidFill>
                </a:rPr>
                <a:t>Baseline viewership</a:t>
              </a:r>
            </a:p>
            <a:p>
              <a:pPr marL="171450" indent="-171450">
                <a:buFont typeface="Wingdings" panose="05000000000000000000" pitchFamily="2" charset="2"/>
                <a:buChar char="§"/>
              </a:pPr>
              <a:r>
                <a:rPr lang="en-US" sz="1000">
                  <a:solidFill>
                    <a:schemeClr val="tx1"/>
                  </a:solidFill>
                </a:rPr>
                <a:t>Sunday afternoon: 1.2M average viewers</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Next-day timing reduces urgency (fans already know results via social media)</a:t>
              </a:r>
            </a:p>
            <a:p>
              <a:pPr marL="628650" lvl="1" indent="-171450">
                <a:buFont typeface="Wingdings" panose="05000000000000000000" pitchFamily="2" charset="2"/>
                <a:buChar char="§"/>
              </a:pPr>
              <a:r>
                <a:rPr lang="en-US" sz="1000">
                  <a:solidFill>
                    <a:schemeClr val="tx1"/>
                  </a:solidFill>
                </a:rPr>
                <a:t>Sunday afternoon is moderate viewership slot (not prime time)</a:t>
              </a:r>
            </a:p>
            <a:p>
              <a:pPr marL="628650" lvl="1" indent="-171450">
                <a:buFont typeface="Wingdings" panose="05000000000000000000" pitchFamily="2" charset="2"/>
                <a:buChar char="§"/>
              </a:pPr>
              <a:r>
                <a:rPr lang="en-US" sz="1000">
                  <a:solidFill>
                    <a:schemeClr val="tx1"/>
                  </a:solidFill>
                </a:rPr>
                <a:t>Competing with other activities (family time, preparation for Monday)</a:t>
              </a:r>
            </a:p>
            <a:p>
              <a:pPr>
                <a:spcBef>
                  <a:spcPts val="600"/>
                </a:spcBef>
              </a:pPr>
              <a:r>
                <a:rPr lang="en-US" sz="1000" b="1">
                  <a:solidFill>
                    <a:schemeClr val="tx1"/>
                  </a:solidFill>
                </a:rPr>
                <a:t>Baseline ad metrices</a:t>
              </a:r>
            </a:p>
            <a:p>
              <a:pPr marL="171450" indent="-171450">
                <a:buFont typeface="Wingdings" panose="05000000000000000000" pitchFamily="2" charset="2"/>
                <a:buChar char="§"/>
              </a:pPr>
              <a:r>
                <a:rPr lang="en-US" sz="1000">
                  <a:solidFill>
                    <a:schemeClr val="tx1"/>
                  </a:solidFill>
                </a:rPr>
                <a:t>60-minute show: 12 minutes of ads (20% ad load, industry standard)</a:t>
              </a:r>
            </a:p>
            <a:p>
              <a:pPr marL="171450" indent="-171450">
                <a:buFont typeface="Wingdings" panose="05000000000000000000" pitchFamily="2" charset="2"/>
                <a:buChar char="§"/>
              </a:pPr>
              <a:r>
                <a:rPr lang="en-US" sz="1000">
                  <a:solidFill>
                    <a:schemeClr val="tx1"/>
                  </a:solidFill>
                </a:rPr>
                <a:t>24 spots total (12 min ÷ 0.5 min per spot)</a:t>
              </a:r>
            </a:p>
            <a:p>
              <a:pPr marL="171450" indent="-171450">
                <a:buFont typeface="Wingdings" panose="05000000000000000000" pitchFamily="2" charset="2"/>
                <a:buChar char="§"/>
              </a:pPr>
              <a:r>
                <a:rPr lang="en-US" sz="1000">
                  <a:solidFill>
                    <a:schemeClr val="tx1"/>
                  </a:solidFill>
                </a:rPr>
                <a:t>CPM: €8 (Sunday afternoon, moderate demand)</a:t>
              </a:r>
            </a:p>
            <a:p>
              <a:pPr marL="171450" indent="-171450">
                <a:buFont typeface="Wingdings" panose="05000000000000000000" pitchFamily="2" charset="2"/>
                <a:buChar char="§"/>
              </a:pPr>
              <a:r>
                <a:rPr lang="en-US" sz="1000">
                  <a:solidFill>
                    <a:schemeClr val="tx1"/>
                  </a:solidFill>
                </a:rPr>
                <a:t>Assumption: 20% ad load is maximum acceptable without viewer backlash</a:t>
              </a:r>
            </a:p>
            <a:p>
              <a:pPr>
                <a:spcBef>
                  <a:spcPts val="600"/>
                </a:spcBef>
              </a:pPr>
              <a:r>
                <a:rPr lang="en-US" sz="1000" b="1">
                  <a:solidFill>
                    <a:schemeClr val="tx1"/>
                  </a:solidFill>
                </a:rPr>
                <a:t>Annual volume</a:t>
              </a:r>
            </a:p>
            <a:p>
              <a:pPr marL="171450" indent="-171450">
                <a:buFont typeface="Wingdings" panose="05000000000000000000" pitchFamily="2" charset="2"/>
                <a:buChar char="§"/>
              </a:pPr>
              <a:r>
                <a:rPr lang="en-US" sz="1000">
                  <a:solidFill>
                    <a:schemeClr val="tx1"/>
                  </a:solidFill>
                </a:rPr>
                <a:t>30 Goals Shows per season</a:t>
              </a:r>
            </a:p>
            <a:p>
              <a:pPr marL="171450" indent="-171450">
                <a:buFont typeface="Wingdings" panose="05000000000000000000" pitchFamily="2" charset="2"/>
                <a:buChar char="§"/>
              </a:pPr>
              <a:r>
                <a:rPr lang="en-US" sz="1000">
                  <a:solidFill>
                    <a:schemeClr val="tx1"/>
                  </a:solidFill>
                </a:rPr>
                <a:t>Rationale: Not every Saturday has 5 simultaneous 3pm matches (some weekends have fewer)</a:t>
              </a:r>
            </a:p>
          </p:txBody>
        </p:sp>
      </p:grpSp>
      <p:grpSp>
        <p:nvGrpSpPr>
          <p:cNvPr id="19" name="Group 18">
            <a:extLst>
              <a:ext uri="{FF2B5EF4-FFF2-40B4-BE49-F238E27FC236}">
                <a16:creationId xmlns:a16="http://schemas.microsoft.com/office/drawing/2014/main" id="{F7782194-21C1-D9BE-B43C-8659FFB9D5CD}"/>
              </a:ext>
            </a:extLst>
          </p:cNvPr>
          <p:cNvGrpSpPr/>
          <p:nvPr/>
        </p:nvGrpSpPr>
        <p:grpSpPr>
          <a:xfrm>
            <a:off x="6317102" y="922867"/>
            <a:ext cx="5427134" cy="5529867"/>
            <a:chOff x="6317102" y="922867"/>
            <a:chExt cx="5427134" cy="5529867"/>
          </a:xfrm>
        </p:grpSpPr>
        <p:sp>
          <p:nvSpPr>
            <p:cNvPr id="17" name="Rectangle 16">
              <a:extLst>
                <a:ext uri="{FF2B5EF4-FFF2-40B4-BE49-F238E27FC236}">
                  <a16:creationId xmlns:a16="http://schemas.microsoft.com/office/drawing/2014/main" id="{9D2BE0E2-7206-1B29-6746-124545AABBF7}"/>
                </a:ext>
              </a:extLst>
            </p:cNvPr>
            <p:cNvSpPr/>
            <p:nvPr/>
          </p:nvSpPr>
          <p:spPr>
            <a:xfrm>
              <a:off x="6317102" y="922867"/>
              <a:ext cx="5427134" cy="5529866"/>
            </a:xfrm>
            <a:prstGeom prst="rect">
              <a:avLst/>
            </a:prstGeom>
            <a:solidFill>
              <a:srgbClr val="DDEF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 name="Group 9">
              <a:extLst>
                <a:ext uri="{FF2B5EF4-FFF2-40B4-BE49-F238E27FC236}">
                  <a16:creationId xmlns:a16="http://schemas.microsoft.com/office/drawing/2014/main" id="{3B53DCAF-E2C2-5B30-9444-95C2774E8BE2}"/>
                </a:ext>
              </a:extLst>
            </p:cNvPr>
            <p:cNvGrpSpPr/>
            <p:nvPr/>
          </p:nvGrpSpPr>
          <p:grpSpPr>
            <a:xfrm>
              <a:off x="6420722" y="1013675"/>
              <a:ext cx="5219894" cy="199245"/>
              <a:chOff x="550199" y="1013675"/>
              <a:chExt cx="2158076" cy="199245"/>
            </a:xfrm>
          </p:grpSpPr>
          <p:sp>
            <p:nvSpPr>
              <p:cNvPr id="11" name="Rectangle 10">
                <a:extLst>
                  <a:ext uri="{FF2B5EF4-FFF2-40B4-BE49-F238E27FC236}">
                    <a16:creationId xmlns:a16="http://schemas.microsoft.com/office/drawing/2014/main" id="{B0D28877-A8C2-8083-9CB8-374644311D44}"/>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Recommended architecture assumptions</a:t>
                </a:r>
                <a:endParaRPr lang="en-US" sz="1400" b="1">
                  <a:solidFill>
                    <a:schemeClr val="tx1"/>
                  </a:solidFill>
                </a:endParaRPr>
              </a:p>
            </p:txBody>
          </p:sp>
          <p:cxnSp>
            <p:nvCxnSpPr>
              <p:cNvPr id="12" name="Straight Connector 11">
                <a:extLst>
                  <a:ext uri="{FF2B5EF4-FFF2-40B4-BE49-F238E27FC236}">
                    <a16:creationId xmlns:a16="http://schemas.microsoft.com/office/drawing/2014/main" id="{FDCB2B9A-6D39-8986-18F8-D2C7A99AF9CB}"/>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725BADAC-0367-D300-1DA6-8ED9F1384D04}"/>
                </a:ext>
              </a:extLst>
            </p:cNvPr>
            <p:cNvSpPr/>
            <p:nvPr/>
          </p:nvSpPr>
          <p:spPr>
            <a:xfrm>
              <a:off x="6420722"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Enhanced Broadcast Timing</a:t>
              </a:r>
            </a:p>
            <a:p>
              <a:pPr marL="171450" indent="-171450">
                <a:buFont typeface="Wingdings" panose="05000000000000000000" pitchFamily="2" charset="2"/>
                <a:buChar char="§"/>
              </a:pPr>
              <a:r>
                <a:rPr lang="en-US" sz="1000">
                  <a:solidFill>
                    <a:schemeClr val="tx1"/>
                  </a:solidFill>
                </a:rPr>
                <a:t>Automated production: 35 minutes total (all 5 matches ready by 5:25pm)</a:t>
              </a:r>
            </a:p>
            <a:p>
              <a:pPr marL="171450" indent="-171450">
                <a:buFont typeface="Wingdings" panose="05000000000000000000" pitchFamily="2" charset="2"/>
                <a:buChar char="§"/>
              </a:pPr>
              <a:r>
                <a:rPr lang="en-US" sz="1000">
                  <a:solidFill>
                    <a:schemeClr val="tx1"/>
                  </a:solidFill>
                </a:rPr>
                <a:t>Broadcast: Saturday 6pm (same evening, 70 minutes post-match)</a:t>
              </a:r>
            </a:p>
            <a:p>
              <a:pPr marL="171450" indent="-171450">
                <a:buFont typeface="Wingdings" panose="05000000000000000000" pitchFamily="2" charset="2"/>
                <a:buChar char="§"/>
              </a:pPr>
              <a:r>
                <a:rPr lang="en-US" sz="1000">
                  <a:solidFill>
                    <a:schemeClr val="tx1"/>
                  </a:solidFill>
                </a:rPr>
                <a:t>Assumption: Saturday 6pm slot becomes available (TNT Sports controls programming)</a:t>
              </a:r>
            </a:p>
            <a:p>
              <a:pPr>
                <a:spcBef>
                  <a:spcPts val="600"/>
                </a:spcBef>
              </a:pPr>
              <a:r>
                <a:rPr lang="en-US" sz="1000" b="1">
                  <a:solidFill>
                    <a:schemeClr val="tx1"/>
                  </a:solidFill>
                </a:rPr>
                <a:t>Enhanced viewership</a:t>
              </a:r>
            </a:p>
            <a:p>
              <a:pPr marL="171450" indent="-171450">
                <a:buFont typeface="Wingdings" panose="05000000000000000000" pitchFamily="2" charset="2"/>
                <a:buChar char="§"/>
              </a:pPr>
              <a:r>
                <a:rPr lang="en-US" sz="1000">
                  <a:solidFill>
                    <a:schemeClr val="tx1"/>
                  </a:solidFill>
                </a:rPr>
                <a:t>Saturday 6pm: 1.8M average viewers (+50% vs baseline)</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Same-day broadcast captures "hot" demand (fans eager for highlights)</a:t>
              </a:r>
            </a:p>
            <a:p>
              <a:pPr marL="628650" lvl="1" indent="-171450">
                <a:buFont typeface="Wingdings" panose="05000000000000000000" pitchFamily="2" charset="2"/>
                <a:buChar char="§"/>
              </a:pPr>
              <a:r>
                <a:rPr lang="en-US" sz="1000">
                  <a:solidFill>
                    <a:schemeClr val="tx1"/>
                  </a:solidFill>
                </a:rPr>
                <a:t>Saturday evening is prime family viewing time</a:t>
              </a:r>
            </a:p>
            <a:p>
              <a:pPr marL="628650" lvl="1" indent="-171450">
                <a:buFont typeface="Wingdings" panose="05000000000000000000" pitchFamily="2" charset="2"/>
                <a:buChar char="§"/>
              </a:pPr>
              <a:r>
                <a:rPr lang="en-US" sz="1000">
                  <a:solidFill>
                    <a:schemeClr val="tx1"/>
                  </a:solidFill>
                </a:rPr>
                <a:t>No social media spoilers yet (immediate gratification)</a:t>
              </a:r>
            </a:p>
            <a:p>
              <a:pPr>
                <a:spcBef>
                  <a:spcPts val="600"/>
                </a:spcBef>
              </a:pPr>
              <a:r>
                <a:rPr lang="en-US" sz="1000" b="1">
                  <a:solidFill>
                    <a:schemeClr val="tx1"/>
                  </a:solidFill>
                </a:rPr>
                <a:t>Enhanced CPM</a:t>
              </a:r>
            </a:p>
            <a:p>
              <a:pPr marL="171450" indent="-171450">
                <a:buFont typeface="Wingdings" panose="05000000000000000000" pitchFamily="2" charset="2"/>
                <a:buChar char="§"/>
              </a:pPr>
              <a:r>
                <a:rPr lang="en-US" sz="1000">
                  <a:solidFill>
                    <a:schemeClr val="tx1"/>
                  </a:solidFill>
                </a:rPr>
                <a:t>€12 per spot (+50% vs baseline €8)</a:t>
              </a:r>
            </a:p>
            <a:p>
              <a:pPr marL="171450" indent="-171450">
                <a:buFont typeface="Wingdings" panose="05000000000000000000" pitchFamily="2" charset="2"/>
                <a:buChar char="§"/>
              </a:pPr>
              <a:r>
                <a:rPr lang="en-US" sz="1000">
                  <a:solidFill>
                    <a:schemeClr val="tx1"/>
                  </a:solidFill>
                </a:rPr>
                <a:t>Rationale: Saturday evening prime time commands 40-60% premium vs Sunday afternoon</a:t>
              </a:r>
            </a:p>
            <a:p>
              <a:pPr>
                <a:spcBef>
                  <a:spcPts val="600"/>
                </a:spcBef>
              </a:pPr>
              <a:r>
                <a:rPr lang="en-US" sz="1000" b="1">
                  <a:solidFill>
                    <a:schemeClr val="tx1"/>
                  </a:solidFill>
                </a:rPr>
                <a:t>Production Automation Speed</a:t>
              </a:r>
            </a:p>
            <a:p>
              <a:pPr marL="171450" indent="-171450">
                <a:buFont typeface="Wingdings" panose="05000000000000000000" pitchFamily="2" charset="2"/>
                <a:buChar char="§"/>
              </a:pPr>
              <a:r>
                <a:rPr lang="en-US" sz="1000">
                  <a:solidFill>
                    <a:schemeClr val="tx1"/>
                  </a:solidFill>
                </a:rPr>
                <a:t>Goal detection: &lt;3 seconds per goal (AI real-time)</a:t>
              </a:r>
            </a:p>
            <a:p>
              <a:pPr marL="171450" indent="-171450">
                <a:buFont typeface="Wingdings" panose="05000000000000000000" pitchFamily="2" charset="2"/>
                <a:buChar char="§"/>
              </a:pPr>
              <a:r>
                <a:rPr lang="en-US" sz="1000">
                  <a:solidFill>
                    <a:schemeClr val="tx1"/>
                  </a:solidFill>
                </a:rPr>
                <a:t>Clip creation: 30 seconds per goal (automated multi-angle assembly)</a:t>
              </a:r>
            </a:p>
            <a:p>
              <a:pPr marL="171450" indent="-171450">
                <a:buFont typeface="Wingdings" panose="05000000000000000000" pitchFamily="2" charset="2"/>
                <a:buChar char="§"/>
              </a:pPr>
              <a:r>
                <a:rPr lang="en-US" sz="1000">
                  <a:solidFill>
                    <a:schemeClr val="tx1"/>
                  </a:solidFill>
                </a:rPr>
                <a:t>Package assembly: 90 seconds (all match highlights compiled)</a:t>
              </a:r>
            </a:p>
            <a:p>
              <a:pPr marL="171450" indent="-171450">
                <a:buFont typeface="Wingdings" panose="05000000000000000000" pitchFamily="2" charset="2"/>
                <a:buChar char="§"/>
              </a:pPr>
              <a:r>
                <a:rPr lang="en-US" sz="1000">
                  <a:solidFill>
                    <a:schemeClr val="tx1"/>
                  </a:solidFill>
                </a:rPr>
                <a:t>Assumption: 5 matches in parallel processing (adequate compute capacity)</a:t>
              </a:r>
            </a:p>
          </p:txBody>
        </p:sp>
      </p:grpSp>
      <p:pic>
        <p:nvPicPr>
          <p:cNvPr id="13" name="Graphic 12" descr="Circle with left arrow outline">
            <a:hlinkClick r:id="rId2" action="ppaction://hlinksldjump"/>
            <a:extLst>
              <a:ext uri="{FF2B5EF4-FFF2-40B4-BE49-F238E27FC236}">
                <a16:creationId xmlns:a16="http://schemas.microsoft.com/office/drawing/2014/main" id="{F91D875B-4B1B-2A3A-51E9-D8B4CA5D79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2420319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C6E8-E5BB-BCEA-8EB0-D78FB895E45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8DF6AC3-E582-7E69-06DB-AB972858943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54DD430-6355-643B-CCC9-FFCAC91D1A3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4D82EAF1-5521-34C1-2574-3EDA07D35005}"/>
              </a:ext>
            </a:extLst>
          </p:cNvPr>
          <p:cNvSpPr>
            <a:spLocks noGrp="1"/>
          </p:cNvSpPr>
          <p:nvPr>
            <p:ph type="sldNum" sz="quarter" idx="30"/>
          </p:nvPr>
        </p:nvSpPr>
        <p:spPr/>
        <p:txBody>
          <a:bodyPr/>
          <a:lstStyle/>
          <a:p>
            <a:pPr algn="r"/>
            <a:fld id="{5D9A5160-6218-4E5A-B9E6-B93E3DAE377C}" type="slidenum">
              <a:rPr lang="en-US" smtClean="0"/>
              <a:pPr algn="r"/>
              <a:t>44</a:t>
            </a:fld>
            <a:endParaRPr lang="en-US"/>
          </a:p>
        </p:txBody>
      </p:sp>
      <p:sp>
        <p:nvSpPr>
          <p:cNvPr id="5" name="Title 4">
            <a:extLst>
              <a:ext uri="{FF2B5EF4-FFF2-40B4-BE49-F238E27FC236}">
                <a16:creationId xmlns:a16="http://schemas.microsoft.com/office/drawing/2014/main" id="{9777B7BE-37E2-CC8B-D4EA-DC5BE8DD9C08}"/>
              </a:ext>
            </a:extLst>
          </p:cNvPr>
          <p:cNvSpPr>
            <a:spLocks noGrp="1"/>
          </p:cNvSpPr>
          <p:nvPr>
            <p:ph type="title"/>
          </p:nvPr>
        </p:nvSpPr>
        <p:spPr/>
        <p:txBody>
          <a:bodyPr/>
          <a:lstStyle/>
          <a:p>
            <a:r>
              <a:rPr lang="en-US"/>
              <a:t>Pre-match build-up enhancements</a:t>
            </a:r>
          </a:p>
        </p:txBody>
      </p:sp>
      <p:sp>
        <p:nvSpPr>
          <p:cNvPr id="6" name="Rectangle 5">
            <a:extLst>
              <a:ext uri="{FF2B5EF4-FFF2-40B4-BE49-F238E27FC236}">
                <a16:creationId xmlns:a16="http://schemas.microsoft.com/office/drawing/2014/main" id="{84751C4D-AA34-4E5A-6038-1A62FF275F46}"/>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PILLAR 1: BROADCAST VELOCITY</a:t>
            </a:r>
          </a:p>
        </p:txBody>
      </p:sp>
      <p:grpSp>
        <p:nvGrpSpPr>
          <p:cNvPr id="18" name="Group 17">
            <a:extLst>
              <a:ext uri="{FF2B5EF4-FFF2-40B4-BE49-F238E27FC236}">
                <a16:creationId xmlns:a16="http://schemas.microsoft.com/office/drawing/2014/main" id="{D3CD2B22-B210-4907-69D0-0CF49CE7ED64}"/>
              </a:ext>
            </a:extLst>
          </p:cNvPr>
          <p:cNvGrpSpPr/>
          <p:nvPr/>
        </p:nvGrpSpPr>
        <p:grpSpPr>
          <a:xfrm>
            <a:off x="474133" y="922867"/>
            <a:ext cx="5427134" cy="5529867"/>
            <a:chOff x="474133" y="922867"/>
            <a:chExt cx="5427134" cy="5529867"/>
          </a:xfrm>
        </p:grpSpPr>
        <p:sp>
          <p:nvSpPr>
            <p:cNvPr id="16" name="Rectangle 15">
              <a:extLst>
                <a:ext uri="{FF2B5EF4-FFF2-40B4-BE49-F238E27FC236}">
                  <a16:creationId xmlns:a16="http://schemas.microsoft.com/office/drawing/2014/main" id="{FA3BDC16-935F-6968-9B89-C6A35AF86EC3}"/>
                </a:ext>
              </a:extLst>
            </p:cNvPr>
            <p:cNvSpPr/>
            <p:nvPr/>
          </p:nvSpPr>
          <p:spPr>
            <a:xfrm>
              <a:off x="474133" y="922867"/>
              <a:ext cx="5427134" cy="552986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9" name="Group 8">
              <a:extLst>
                <a:ext uri="{FF2B5EF4-FFF2-40B4-BE49-F238E27FC236}">
                  <a16:creationId xmlns:a16="http://schemas.microsoft.com/office/drawing/2014/main" id="{A9B3CAE9-AF68-D581-D36F-F28CFE2D1CC0}"/>
                </a:ext>
              </a:extLst>
            </p:cNvPr>
            <p:cNvGrpSpPr/>
            <p:nvPr/>
          </p:nvGrpSpPr>
          <p:grpSpPr>
            <a:xfrm>
              <a:off x="550198" y="1013675"/>
              <a:ext cx="5219894" cy="199245"/>
              <a:chOff x="550199" y="1013675"/>
              <a:chExt cx="2158076" cy="199245"/>
            </a:xfrm>
          </p:grpSpPr>
          <p:sp>
            <p:nvSpPr>
              <p:cNvPr id="7" name="Rectangle 6">
                <a:extLst>
                  <a:ext uri="{FF2B5EF4-FFF2-40B4-BE49-F238E27FC236}">
                    <a16:creationId xmlns:a16="http://schemas.microsoft.com/office/drawing/2014/main" id="{0A66C984-0574-61E9-6A7F-176AA9EED854}"/>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Baseline assumptions</a:t>
                </a:r>
                <a:endParaRPr lang="en-US" sz="1400" b="1">
                  <a:solidFill>
                    <a:schemeClr val="tx1"/>
                  </a:solidFill>
                </a:endParaRPr>
              </a:p>
            </p:txBody>
          </p:sp>
          <p:cxnSp>
            <p:nvCxnSpPr>
              <p:cNvPr id="8" name="Straight Connector 7">
                <a:extLst>
                  <a:ext uri="{FF2B5EF4-FFF2-40B4-BE49-F238E27FC236}">
                    <a16:creationId xmlns:a16="http://schemas.microsoft.com/office/drawing/2014/main" id="{62DC5A99-7B38-6457-3E7C-08962B16F231}"/>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B757803-BB77-BC1C-611C-7B6BFE1719FF}"/>
                </a:ext>
              </a:extLst>
            </p:cNvPr>
            <p:cNvSpPr/>
            <p:nvPr/>
          </p:nvSpPr>
          <p:spPr>
            <a:xfrm>
              <a:off x="550198"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Current pre-match production</a:t>
              </a:r>
            </a:p>
            <a:p>
              <a:pPr marL="171450" indent="-171450">
                <a:buFont typeface="Wingdings" panose="05000000000000000000" pitchFamily="2" charset="2"/>
                <a:buChar char="§"/>
              </a:pPr>
              <a:r>
                <a:rPr lang="en-US" sz="1000">
                  <a:solidFill>
                    <a:schemeClr val="tx1"/>
                  </a:solidFill>
                </a:rPr>
                <a:t>60-minute show (7-8pm before 8pm kickoff)</a:t>
              </a:r>
            </a:p>
            <a:p>
              <a:pPr marL="171450" indent="-171450">
                <a:buFont typeface="Wingdings" panose="05000000000000000000" pitchFamily="2" charset="2"/>
                <a:buChar char="§"/>
              </a:pPr>
              <a:r>
                <a:rPr lang="en-US" sz="1000">
                  <a:solidFill>
                    <a:schemeClr val="tx1"/>
                  </a:solidFill>
                </a:rPr>
                <a:t>Archive usage: 3-5 clips per show (basic context)</a:t>
              </a:r>
            </a:p>
            <a:p>
              <a:pPr marL="171450" indent="-171450">
                <a:buFont typeface="Wingdings" panose="05000000000000000000" pitchFamily="2" charset="2"/>
                <a:buChar char="§"/>
              </a:pPr>
              <a:r>
                <a:rPr lang="en-US" sz="1000">
                  <a:solidFill>
                    <a:schemeClr val="tx1"/>
                  </a:solidFill>
                </a:rPr>
                <a:t>Archive discovery time: 2-3 days (producer requests archivist, manual search)</a:t>
              </a:r>
            </a:p>
            <a:p>
              <a:pPr marL="171450" indent="-171450">
                <a:buFont typeface="Wingdings" panose="05000000000000000000" pitchFamily="2" charset="2"/>
                <a:buChar char="§"/>
              </a:pPr>
              <a:r>
                <a:rPr lang="en-US" sz="1000">
                  <a:solidFill>
                    <a:schemeClr val="tx1"/>
                  </a:solidFill>
                </a:rPr>
                <a:t>Assumption: Producers use "low-hanging fruit" only (recent matches, easy to find)</a:t>
              </a:r>
            </a:p>
            <a:p>
              <a:pPr>
                <a:spcBef>
                  <a:spcPts val="600"/>
                </a:spcBef>
              </a:pPr>
              <a:r>
                <a:rPr lang="en-US" sz="1000" b="1">
                  <a:solidFill>
                    <a:schemeClr val="tx1"/>
                  </a:solidFill>
                </a:rPr>
                <a:t>Baseline viewership</a:t>
              </a:r>
            </a:p>
            <a:p>
              <a:pPr marL="171450" indent="-171450">
                <a:buFont typeface="Wingdings" panose="05000000000000000000" pitchFamily="2" charset="2"/>
                <a:buChar char="§"/>
              </a:pPr>
              <a:r>
                <a:rPr lang="en-US" sz="1000">
                  <a:solidFill>
                    <a:schemeClr val="tx1"/>
                  </a:solidFill>
                </a:rPr>
                <a:t>1.4M average viewers</a:t>
              </a:r>
            </a:p>
            <a:p>
              <a:pPr marL="171450" indent="-171450">
                <a:buFont typeface="Wingdings" panose="05000000000000000000" pitchFamily="2" charset="2"/>
                <a:buChar char="§"/>
              </a:pPr>
              <a:r>
                <a:rPr lang="en-US" sz="1000">
                  <a:solidFill>
                    <a:schemeClr val="tx1"/>
                  </a:solidFill>
                </a:rPr>
                <a:t>Rationale: Pre-match is "nice to have" not "must-see" (viewers can skip, tune in at kickoff)</a:t>
              </a:r>
            </a:p>
            <a:p>
              <a:pPr>
                <a:spcBef>
                  <a:spcPts val="600"/>
                </a:spcBef>
              </a:pPr>
              <a:r>
                <a:rPr lang="en-US" sz="1000" b="1">
                  <a:solidFill>
                    <a:schemeClr val="tx1"/>
                  </a:solidFill>
                </a:rPr>
                <a:t>Baseline ad metrices</a:t>
              </a:r>
            </a:p>
            <a:p>
              <a:pPr marL="171450" indent="-171450">
                <a:buFont typeface="Wingdings" panose="05000000000000000000" pitchFamily="2" charset="2"/>
                <a:buChar char="§"/>
              </a:pPr>
              <a:r>
                <a:rPr lang="en-US" sz="1000">
                  <a:solidFill>
                    <a:schemeClr val="tx1"/>
                  </a:solidFill>
                </a:rPr>
                <a:t>60-minute show: 12 minutes of ads (24 spots)</a:t>
              </a:r>
            </a:p>
            <a:p>
              <a:pPr marL="171450" indent="-171450">
                <a:buFont typeface="Wingdings" panose="05000000000000000000" pitchFamily="2" charset="2"/>
                <a:buChar char="§"/>
              </a:pPr>
              <a:r>
                <a:rPr lang="en-US" sz="1000">
                  <a:solidFill>
                    <a:schemeClr val="tx1"/>
                  </a:solidFill>
                </a:rPr>
                <a:t>CPM: €10 (pre-match is higher value than shoulder programming, but not live)</a:t>
              </a:r>
            </a:p>
            <a:p>
              <a:pPr marL="171450" indent="-171450">
                <a:buFont typeface="Wingdings" panose="05000000000000000000" pitchFamily="2" charset="2"/>
                <a:buChar char="§"/>
              </a:pPr>
              <a:r>
                <a:rPr lang="en-US" sz="1000">
                  <a:solidFill>
                    <a:schemeClr val="tx1"/>
                  </a:solidFill>
                </a:rPr>
                <a:t>Assumption: Pre-match CPM is 40% of live action CPM (€25)</a:t>
              </a:r>
            </a:p>
            <a:p>
              <a:pPr>
                <a:spcBef>
                  <a:spcPts val="600"/>
                </a:spcBef>
              </a:pPr>
              <a:r>
                <a:rPr lang="en-US" sz="1000" b="1">
                  <a:solidFill>
                    <a:schemeClr val="tx1"/>
                  </a:solidFill>
                </a:rPr>
                <a:t>Annual volume</a:t>
              </a:r>
            </a:p>
            <a:p>
              <a:pPr marL="171450" indent="-171450">
                <a:buFont typeface="Wingdings" panose="05000000000000000000" pitchFamily="2" charset="2"/>
                <a:buChar char="§"/>
              </a:pPr>
              <a:r>
                <a:rPr lang="en-US" sz="1000">
                  <a:solidFill>
                    <a:schemeClr val="tx1"/>
                  </a:solidFill>
                </a:rPr>
                <a:t>50 premium pre-match shows per season</a:t>
              </a:r>
            </a:p>
            <a:p>
              <a:pPr marL="171450" indent="-171450">
                <a:buFont typeface="Wingdings" panose="05000000000000000000" pitchFamily="2" charset="2"/>
                <a:buChar char="§"/>
              </a:pPr>
              <a:r>
                <a:rPr lang="en-US" sz="1000">
                  <a:solidFill>
                    <a:schemeClr val="tx1"/>
                  </a:solidFill>
                </a:rPr>
                <a:t>Rationale: Not all matches warrant full 60-min pre-match build-up (only high-profile matches)</a:t>
              </a:r>
            </a:p>
          </p:txBody>
        </p:sp>
      </p:grpSp>
      <p:grpSp>
        <p:nvGrpSpPr>
          <p:cNvPr id="19" name="Group 18">
            <a:extLst>
              <a:ext uri="{FF2B5EF4-FFF2-40B4-BE49-F238E27FC236}">
                <a16:creationId xmlns:a16="http://schemas.microsoft.com/office/drawing/2014/main" id="{158A24E4-2193-B583-605C-42AFC7E9943F}"/>
              </a:ext>
            </a:extLst>
          </p:cNvPr>
          <p:cNvGrpSpPr/>
          <p:nvPr/>
        </p:nvGrpSpPr>
        <p:grpSpPr>
          <a:xfrm>
            <a:off x="6317102" y="922867"/>
            <a:ext cx="5427134" cy="5529867"/>
            <a:chOff x="6317102" y="922867"/>
            <a:chExt cx="5427134" cy="5529867"/>
          </a:xfrm>
        </p:grpSpPr>
        <p:sp>
          <p:nvSpPr>
            <p:cNvPr id="17" name="Rectangle 16">
              <a:extLst>
                <a:ext uri="{FF2B5EF4-FFF2-40B4-BE49-F238E27FC236}">
                  <a16:creationId xmlns:a16="http://schemas.microsoft.com/office/drawing/2014/main" id="{1546FA5B-CE8A-04AE-F8D2-1AE484C3DF10}"/>
                </a:ext>
              </a:extLst>
            </p:cNvPr>
            <p:cNvSpPr/>
            <p:nvPr/>
          </p:nvSpPr>
          <p:spPr>
            <a:xfrm>
              <a:off x="6317102" y="922867"/>
              <a:ext cx="5427134" cy="5529866"/>
            </a:xfrm>
            <a:prstGeom prst="rect">
              <a:avLst/>
            </a:prstGeom>
            <a:solidFill>
              <a:srgbClr val="DDEF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 name="Group 9">
              <a:extLst>
                <a:ext uri="{FF2B5EF4-FFF2-40B4-BE49-F238E27FC236}">
                  <a16:creationId xmlns:a16="http://schemas.microsoft.com/office/drawing/2014/main" id="{0160CFD8-6DB4-ADB5-58F6-780548AE57F0}"/>
                </a:ext>
              </a:extLst>
            </p:cNvPr>
            <p:cNvGrpSpPr/>
            <p:nvPr/>
          </p:nvGrpSpPr>
          <p:grpSpPr>
            <a:xfrm>
              <a:off x="6420722" y="1013675"/>
              <a:ext cx="5219894" cy="199245"/>
              <a:chOff x="550199" y="1013675"/>
              <a:chExt cx="2158076" cy="199245"/>
            </a:xfrm>
          </p:grpSpPr>
          <p:sp>
            <p:nvSpPr>
              <p:cNvPr id="11" name="Rectangle 10">
                <a:extLst>
                  <a:ext uri="{FF2B5EF4-FFF2-40B4-BE49-F238E27FC236}">
                    <a16:creationId xmlns:a16="http://schemas.microsoft.com/office/drawing/2014/main" id="{EBB7D09B-390F-A9B7-9A6B-EF25AD7C6068}"/>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Recommended architecture assumptions</a:t>
                </a:r>
                <a:endParaRPr lang="en-US" sz="1400" b="1">
                  <a:solidFill>
                    <a:schemeClr val="tx1"/>
                  </a:solidFill>
                </a:endParaRPr>
              </a:p>
            </p:txBody>
          </p:sp>
          <p:cxnSp>
            <p:nvCxnSpPr>
              <p:cNvPr id="12" name="Straight Connector 11">
                <a:extLst>
                  <a:ext uri="{FF2B5EF4-FFF2-40B4-BE49-F238E27FC236}">
                    <a16:creationId xmlns:a16="http://schemas.microsoft.com/office/drawing/2014/main" id="{51D8664F-9EEF-D7A1-171B-D311CB9E16E9}"/>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44841AD2-D454-5F00-0B6A-D49706C98260}"/>
                </a:ext>
              </a:extLst>
            </p:cNvPr>
            <p:cNvSpPr/>
            <p:nvPr/>
          </p:nvSpPr>
          <p:spPr>
            <a:xfrm>
              <a:off x="6420722"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Enhanced Archive Integration</a:t>
              </a:r>
            </a:p>
            <a:p>
              <a:pPr marL="171450" indent="-171450">
                <a:buFont typeface="Wingdings" panose="05000000000000000000" pitchFamily="2" charset="2"/>
                <a:buChar char="§"/>
              </a:pPr>
              <a:r>
                <a:rPr lang="en-US" sz="1000">
                  <a:solidFill>
                    <a:schemeClr val="tx1"/>
                  </a:solidFill>
                </a:rPr>
                <a:t>Archive usage: 15-20 clips per show (comprehensive storytelling)</a:t>
              </a:r>
            </a:p>
            <a:p>
              <a:pPr marL="171450" indent="-171450">
                <a:buFont typeface="Wingdings" panose="05000000000000000000" pitchFamily="2" charset="2"/>
                <a:buChar char="§"/>
              </a:pPr>
              <a:r>
                <a:rPr lang="en-US" sz="1000">
                  <a:solidFill>
                    <a:schemeClr val="tx1"/>
                  </a:solidFill>
                </a:rPr>
                <a:t>Archive discovery time: &lt;5 minutes (semantic search, instant results)</a:t>
              </a:r>
            </a:p>
            <a:p>
              <a:pPr marL="171450" indent="-171450">
                <a:buFont typeface="Wingdings" panose="05000000000000000000" pitchFamily="2" charset="2"/>
                <a:buChar char="§"/>
              </a:pPr>
              <a:r>
                <a:rPr lang="en-US" sz="1000">
                  <a:solidFill>
                    <a:schemeClr val="tx1"/>
                  </a:solidFill>
                </a:rPr>
                <a:t>Assumption: Federated archive has 50,000 matches fully indexed with semantic metadata</a:t>
              </a:r>
            </a:p>
            <a:p>
              <a:pPr>
                <a:spcBef>
                  <a:spcPts val="600"/>
                </a:spcBef>
              </a:pPr>
              <a:r>
                <a:rPr lang="en-US" sz="1000" b="1">
                  <a:solidFill>
                    <a:schemeClr val="tx1"/>
                  </a:solidFill>
                </a:rPr>
                <a:t>Content Quality Improvement</a:t>
              </a:r>
            </a:p>
            <a:p>
              <a:pPr marL="171450" indent="-171450">
                <a:buFont typeface="Wingdings" panose="05000000000000000000" pitchFamily="2" charset="2"/>
                <a:buChar char="§"/>
              </a:pPr>
              <a:r>
                <a:rPr lang="en-US" sz="1000">
                  <a:solidFill>
                    <a:schemeClr val="tx1"/>
                  </a:solidFill>
                </a:rPr>
                <a:t>Deep-dive storytelling enabled (historical rivalries, player journeys, tactical precedents)</a:t>
              </a:r>
            </a:p>
            <a:p>
              <a:pPr marL="171450" indent="-171450">
                <a:buFont typeface="Wingdings" panose="05000000000000000000" pitchFamily="2" charset="2"/>
                <a:buChar char="§"/>
              </a:pPr>
              <a:r>
                <a:rPr lang="en-US" sz="1000">
                  <a:solidFill>
                    <a:schemeClr val="tx1"/>
                  </a:solidFill>
                </a:rPr>
                <a:t>Assumption: Producers have time to create richer content (2 days saved on archive search that can be invested in creative work). Example: "Last 10 encounters between these teams" (10 matches × 3 clips each = 30 clips available in minutes)</a:t>
              </a:r>
            </a:p>
            <a:p>
              <a:pPr>
                <a:spcBef>
                  <a:spcPts val="600"/>
                </a:spcBef>
              </a:pPr>
              <a:r>
                <a:rPr lang="en-US" sz="1000" b="1">
                  <a:solidFill>
                    <a:schemeClr val="tx1"/>
                  </a:solidFill>
                </a:rPr>
                <a:t>Enhanced viewership</a:t>
              </a:r>
            </a:p>
            <a:p>
              <a:pPr marL="171450" indent="-171450">
                <a:buFont typeface="Wingdings" panose="05000000000000000000" pitchFamily="2" charset="2"/>
                <a:buChar char="§"/>
              </a:pPr>
              <a:r>
                <a:rPr lang="en-US" sz="1000">
                  <a:solidFill>
                    <a:schemeClr val="tx1"/>
                  </a:solidFill>
                </a:rPr>
                <a:t>1.9M average viewers (+36% vs baseline)</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Word-of-mouth</a:t>
              </a:r>
            </a:p>
            <a:p>
              <a:pPr marL="628650" lvl="1" indent="-171450">
                <a:buFont typeface="Wingdings" panose="05000000000000000000" pitchFamily="2" charset="2"/>
                <a:buChar char="§"/>
              </a:pPr>
              <a:r>
                <a:rPr lang="en-US" sz="1000">
                  <a:solidFill>
                    <a:schemeClr val="tx1"/>
                  </a:solidFill>
                </a:rPr>
                <a:t>Social media virality. Clips from pre-match shows shared widely</a:t>
              </a:r>
            </a:p>
            <a:p>
              <a:pPr>
                <a:spcBef>
                  <a:spcPts val="600"/>
                </a:spcBef>
              </a:pPr>
              <a:r>
                <a:rPr lang="en-US" sz="1000" b="1">
                  <a:solidFill>
                    <a:schemeClr val="tx1"/>
                  </a:solidFill>
                </a:rPr>
                <a:t>Enhanced CPM</a:t>
              </a:r>
            </a:p>
            <a:p>
              <a:pPr marL="171450" indent="-171450">
                <a:buFont typeface="Wingdings" panose="05000000000000000000" pitchFamily="2" charset="2"/>
                <a:buChar char="§"/>
              </a:pPr>
              <a:r>
                <a:rPr lang="en-US" sz="1000">
                  <a:solidFill>
                    <a:schemeClr val="tx1"/>
                  </a:solidFill>
                </a:rPr>
                <a:t>€13 per spot (+30% vs baseline €10)</a:t>
              </a:r>
            </a:p>
            <a:p>
              <a:pPr marL="171450" indent="-171450">
                <a:buFont typeface="Wingdings" panose="05000000000000000000" pitchFamily="2" charset="2"/>
                <a:buChar char="§"/>
              </a:pPr>
              <a:r>
                <a:rPr lang="en-US" sz="1000">
                  <a:solidFill>
                    <a:schemeClr val="tx1"/>
                  </a:solidFill>
                </a:rPr>
                <a:t>Rationale: Higher quality content → higher engagement → advertisers pay premium</a:t>
              </a:r>
            </a:p>
            <a:p>
              <a:pPr marL="171450" indent="-171450">
                <a:buFont typeface="Wingdings" panose="05000000000000000000" pitchFamily="2" charset="2"/>
                <a:buChar char="§"/>
              </a:pPr>
              <a:r>
                <a:rPr lang="en-US" sz="1000">
                  <a:solidFill>
                    <a:schemeClr val="tx1"/>
                  </a:solidFill>
                </a:rPr>
                <a:t>Assumption: 10-30% CPM premium for demonstrably better content is industry norm</a:t>
              </a:r>
            </a:p>
            <a:p>
              <a:pPr>
                <a:spcBef>
                  <a:spcPts val="600"/>
                </a:spcBef>
              </a:pPr>
              <a:r>
                <a:rPr lang="en-US" sz="1000" b="1">
                  <a:solidFill>
                    <a:schemeClr val="tx1"/>
                  </a:solidFill>
                </a:rPr>
                <a:t>Business Case Conservatism</a:t>
              </a:r>
            </a:p>
            <a:p>
              <a:pPr marL="171450" indent="-171450">
                <a:buFont typeface="Wingdings" panose="05000000000000000000" pitchFamily="2" charset="2"/>
                <a:buChar char="§"/>
              </a:pPr>
              <a:r>
                <a:rPr lang="en-US" sz="1000">
                  <a:solidFill>
                    <a:schemeClr val="tx1"/>
                  </a:solidFill>
                </a:rPr>
                <a:t>Calculated value: €12.8M/year</a:t>
              </a:r>
            </a:p>
            <a:p>
              <a:pPr marL="171450" indent="-171450">
                <a:buFont typeface="Wingdings" panose="05000000000000000000" pitchFamily="2" charset="2"/>
                <a:buChar char="§"/>
              </a:pPr>
              <a:r>
                <a:rPr lang="en-US" sz="1000">
                  <a:solidFill>
                    <a:schemeClr val="tx1"/>
                  </a:solidFill>
                </a:rPr>
                <a:t>Business case uses: €2.0M/year (16% of calculated)</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Not all 50 shows will achieve peak viewership (some matches less compelling)</a:t>
              </a:r>
            </a:p>
            <a:p>
              <a:pPr marL="628650" lvl="1" indent="-171450">
                <a:buFont typeface="Wingdings" panose="05000000000000000000" pitchFamily="2" charset="2"/>
                <a:buChar char="§"/>
              </a:pPr>
              <a:r>
                <a:rPr lang="en-US" sz="1000">
                  <a:solidFill>
                    <a:schemeClr val="tx1"/>
                  </a:solidFill>
                </a:rPr>
                <a:t>Viewership uplift may take 2-3 years to fully realize (habit formation)</a:t>
              </a:r>
            </a:p>
            <a:p>
              <a:pPr marL="628650" lvl="1" indent="-171450">
                <a:buFont typeface="Wingdings" panose="05000000000000000000" pitchFamily="2" charset="2"/>
                <a:buChar char="§"/>
              </a:pPr>
              <a:r>
                <a:rPr lang="en-US" sz="1000">
                  <a:solidFill>
                    <a:schemeClr val="tx1"/>
                  </a:solidFill>
                </a:rPr>
                <a:t>Conservative buffer for attribution (other factors also improve pre-match quality)</a:t>
              </a:r>
            </a:p>
          </p:txBody>
        </p:sp>
      </p:grpSp>
      <p:pic>
        <p:nvPicPr>
          <p:cNvPr id="13" name="Graphic 12" descr="Circle with left arrow outline">
            <a:hlinkClick r:id="rId2" action="ppaction://hlinksldjump"/>
            <a:extLst>
              <a:ext uri="{FF2B5EF4-FFF2-40B4-BE49-F238E27FC236}">
                <a16:creationId xmlns:a16="http://schemas.microsoft.com/office/drawing/2014/main" id="{0A277E37-AA73-1716-7AFE-BECC508DBD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358167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7F7C1-1A9D-91F9-869A-90C9203866C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EDAA097-4103-BA50-A950-B6DA3518B02A}"/>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F226E239-08EC-A9B6-F55F-7AA602879541}"/>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38504B7E-9C0E-9DCF-6799-C9D0FF50CFA1}"/>
              </a:ext>
            </a:extLst>
          </p:cNvPr>
          <p:cNvSpPr>
            <a:spLocks noGrp="1"/>
          </p:cNvSpPr>
          <p:nvPr>
            <p:ph type="sldNum" sz="quarter" idx="30"/>
          </p:nvPr>
        </p:nvSpPr>
        <p:spPr/>
        <p:txBody>
          <a:bodyPr/>
          <a:lstStyle/>
          <a:p>
            <a:pPr algn="r"/>
            <a:fld id="{5D9A5160-6218-4E5A-B9E6-B93E3DAE377C}" type="slidenum">
              <a:rPr lang="en-US" smtClean="0"/>
              <a:pPr algn="r"/>
              <a:t>45</a:t>
            </a:fld>
            <a:endParaRPr lang="en-US"/>
          </a:p>
        </p:txBody>
      </p:sp>
      <p:sp>
        <p:nvSpPr>
          <p:cNvPr id="5" name="Title 4">
            <a:extLst>
              <a:ext uri="{FF2B5EF4-FFF2-40B4-BE49-F238E27FC236}">
                <a16:creationId xmlns:a16="http://schemas.microsoft.com/office/drawing/2014/main" id="{F8A4F8C3-F57A-A027-D3A3-E47AF3AC344E}"/>
              </a:ext>
            </a:extLst>
          </p:cNvPr>
          <p:cNvSpPr>
            <a:spLocks noGrp="1"/>
          </p:cNvSpPr>
          <p:nvPr>
            <p:ph type="title"/>
          </p:nvPr>
        </p:nvSpPr>
        <p:spPr/>
        <p:txBody>
          <a:bodyPr/>
          <a:lstStyle/>
          <a:p>
            <a:r>
              <a:rPr lang="en-US"/>
              <a:t>Shoulder programming – Magazine shows</a:t>
            </a:r>
          </a:p>
        </p:txBody>
      </p:sp>
      <p:sp>
        <p:nvSpPr>
          <p:cNvPr id="6" name="Rectangle 5">
            <a:extLst>
              <a:ext uri="{FF2B5EF4-FFF2-40B4-BE49-F238E27FC236}">
                <a16:creationId xmlns:a16="http://schemas.microsoft.com/office/drawing/2014/main" id="{87A3F5EC-DFD6-69AF-C840-5B2F9133F12E}"/>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PILLAR 1: BROADCAST VELOCITY</a:t>
            </a:r>
          </a:p>
        </p:txBody>
      </p:sp>
      <p:grpSp>
        <p:nvGrpSpPr>
          <p:cNvPr id="18" name="Group 17">
            <a:extLst>
              <a:ext uri="{FF2B5EF4-FFF2-40B4-BE49-F238E27FC236}">
                <a16:creationId xmlns:a16="http://schemas.microsoft.com/office/drawing/2014/main" id="{AFD94D4F-5A0B-7439-35B6-BAA289C2DF16}"/>
              </a:ext>
            </a:extLst>
          </p:cNvPr>
          <p:cNvGrpSpPr/>
          <p:nvPr/>
        </p:nvGrpSpPr>
        <p:grpSpPr>
          <a:xfrm>
            <a:off x="474133" y="922867"/>
            <a:ext cx="5427134" cy="5529867"/>
            <a:chOff x="474133" y="922867"/>
            <a:chExt cx="5427134" cy="5529867"/>
          </a:xfrm>
        </p:grpSpPr>
        <p:sp>
          <p:nvSpPr>
            <p:cNvPr id="16" name="Rectangle 15">
              <a:extLst>
                <a:ext uri="{FF2B5EF4-FFF2-40B4-BE49-F238E27FC236}">
                  <a16:creationId xmlns:a16="http://schemas.microsoft.com/office/drawing/2014/main" id="{9A856FFE-2558-2CD5-7435-8EB3B3E6953C}"/>
                </a:ext>
              </a:extLst>
            </p:cNvPr>
            <p:cNvSpPr/>
            <p:nvPr/>
          </p:nvSpPr>
          <p:spPr>
            <a:xfrm>
              <a:off x="474133" y="922867"/>
              <a:ext cx="5427134" cy="552986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9" name="Group 8">
              <a:extLst>
                <a:ext uri="{FF2B5EF4-FFF2-40B4-BE49-F238E27FC236}">
                  <a16:creationId xmlns:a16="http://schemas.microsoft.com/office/drawing/2014/main" id="{8985B496-AC1B-2A6D-3E7C-18EB62E01BA7}"/>
                </a:ext>
              </a:extLst>
            </p:cNvPr>
            <p:cNvGrpSpPr/>
            <p:nvPr/>
          </p:nvGrpSpPr>
          <p:grpSpPr>
            <a:xfrm>
              <a:off x="550198" y="1013675"/>
              <a:ext cx="5219894" cy="199245"/>
              <a:chOff x="550199" y="1013675"/>
              <a:chExt cx="2158076" cy="199245"/>
            </a:xfrm>
          </p:grpSpPr>
          <p:sp>
            <p:nvSpPr>
              <p:cNvPr id="7" name="Rectangle 6">
                <a:extLst>
                  <a:ext uri="{FF2B5EF4-FFF2-40B4-BE49-F238E27FC236}">
                    <a16:creationId xmlns:a16="http://schemas.microsoft.com/office/drawing/2014/main" id="{3A9FA75F-78C8-F678-93B5-203B690B4B71}"/>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Baseline assumptions</a:t>
                </a:r>
                <a:endParaRPr lang="en-US" sz="1400" b="1">
                  <a:solidFill>
                    <a:schemeClr val="tx1"/>
                  </a:solidFill>
                </a:endParaRPr>
              </a:p>
            </p:txBody>
          </p:sp>
          <p:cxnSp>
            <p:nvCxnSpPr>
              <p:cNvPr id="8" name="Straight Connector 7">
                <a:extLst>
                  <a:ext uri="{FF2B5EF4-FFF2-40B4-BE49-F238E27FC236}">
                    <a16:creationId xmlns:a16="http://schemas.microsoft.com/office/drawing/2014/main" id="{077B4837-0E72-9D07-07EA-7FD755DC15ED}"/>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3170E9EB-5A08-90F8-A954-08B248E60923}"/>
                </a:ext>
              </a:extLst>
            </p:cNvPr>
            <p:cNvSpPr/>
            <p:nvPr/>
          </p:nvSpPr>
          <p:spPr>
            <a:xfrm>
              <a:off x="550198"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Current Magazine Show Format</a:t>
              </a:r>
            </a:p>
            <a:p>
              <a:pPr marL="171450" indent="-171450">
                <a:buFont typeface="Wingdings" panose="05000000000000000000" pitchFamily="2" charset="2"/>
                <a:buChar char="§"/>
              </a:pPr>
              <a:r>
                <a:rPr lang="en-US" sz="1000">
                  <a:solidFill>
                    <a:schemeClr val="tx1"/>
                  </a:solidFill>
                </a:rPr>
                <a:t>60-minute weekly show (Sunday 6pm)</a:t>
              </a:r>
            </a:p>
            <a:p>
              <a:pPr marL="171450" indent="-171450">
                <a:buFont typeface="Wingdings" panose="05000000000000000000" pitchFamily="2" charset="2"/>
                <a:buChar char="§"/>
              </a:pPr>
              <a:r>
                <a:rPr lang="en-US" sz="1000">
                  <a:solidFill>
                    <a:schemeClr val="tx1"/>
                  </a:solidFill>
                </a:rPr>
                <a:t>Archive usage: 3-5 clips per show (basic highlights)</a:t>
              </a:r>
            </a:p>
            <a:p>
              <a:pPr marL="171450" indent="-171450">
                <a:buFont typeface="Wingdings" panose="05000000000000000000" pitchFamily="2" charset="2"/>
                <a:buChar char="§"/>
              </a:pPr>
              <a:r>
                <a:rPr lang="en-US" sz="1000">
                  <a:solidFill>
                    <a:schemeClr val="tx1"/>
                  </a:solidFill>
                </a:rPr>
                <a:t>Production time: 3 days (Monday-Wednesday research/edit, Thursday-Saturday refinement)</a:t>
              </a:r>
            </a:p>
            <a:p>
              <a:pPr marL="171450" indent="-171450">
                <a:buFont typeface="Wingdings" panose="05000000000000000000" pitchFamily="2" charset="2"/>
                <a:buChar char="§"/>
              </a:pPr>
              <a:r>
                <a:rPr lang="en-US" sz="1000">
                  <a:solidFill>
                    <a:schemeClr val="tx1"/>
                  </a:solidFill>
                </a:rPr>
                <a:t>Assumption: Limited archive access constrains storytelling depth</a:t>
              </a:r>
            </a:p>
            <a:p>
              <a:pPr>
                <a:spcBef>
                  <a:spcPts val="600"/>
                </a:spcBef>
              </a:pPr>
              <a:r>
                <a:rPr lang="en-US" sz="1000" b="1">
                  <a:solidFill>
                    <a:schemeClr val="tx1"/>
                  </a:solidFill>
                </a:rPr>
                <a:t>Baseline viewership</a:t>
              </a:r>
            </a:p>
            <a:p>
              <a:pPr marL="171450" indent="-171450">
                <a:buFont typeface="Wingdings" panose="05000000000000000000" pitchFamily="2" charset="2"/>
                <a:buChar char="§"/>
              </a:pPr>
              <a:r>
                <a:rPr lang="en-US" sz="1000">
                  <a:solidFill>
                    <a:schemeClr val="tx1"/>
                  </a:solidFill>
                </a:rPr>
                <a:t>800K average viewers</a:t>
              </a:r>
            </a:p>
            <a:p>
              <a:pPr marL="171450" indent="-171450">
                <a:buFont typeface="Wingdings" panose="05000000000000000000" pitchFamily="2" charset="2"/>
                <a:buChar char="§"/>
              </a:pPr>
              <a:r>
                <a:rPr lang="en-US" sz="1000">
                  <a:solidFill>
                    <a:schemeClr val="tx1"/>
                  </a:solidFill>
                </a:rPr>
                <a:t>Rationale: Magazine shows are "recap" content (viewers who missed live action tune in)</a:t>
              </a:r>
            </a:p>
            <a:p>
              <a:pPr>
                <a:spcBef>
                  <a:spcPts val="600"/>
                </a:spcBef>
              </a:pPr>
              <a:r>
                <a:rPr lang="en-US" sz="1000" b="1">
                  <a:solidFill>
                    <a:schemeClr val="tx1"/>
                  </a:solidFill>
                </a:rPr>
                <a:t>Baseline ad metrices</a:t>
              </a:r>
            </a:p>
            <a:p>
              <a:pPr marL="171450" indent="-171450">
                <a:buFont typeface="Wingdings" panose="05000000000000000000" pitchFamily="2" charset="2"/>
                <a:buChar char="§"/>
              </a:pPr>
              <a:r>
                <a:rPr lang="en-US" sz="1000">
                  <a:solidFill>
                    <a:schemeClr val="tx1"/>
                  </a:solidFill>
                </a:rPr>
                <a:t>60-minute show: 12 minutes of ads (24 spots)</a:t>
              </a:r>
            </a:p>
            <a:p>
              <a:pPr marL="171450" indent="-171450">
                <a:buFont typeface="Wingdings" panose="05000000000000000000" pitchFamily="2" charset="2"/>
                <a:buChar char="§"/>
              </a:pPr>
              <a:r>
                <a:rPr lang="en-US" sz="1000">
                  <a:solidFill>
                    <a:schemeClr val="tx1"/>
                  </a:solidFill>
                </a:rPr>
                <a:t>CPM: €7 (weekend afternoon, moderate demand)</a:t>
              </a:r>
            </a:p>
            <a:p>
              <a:pPr>
                <a:spcBef>
                  <a:spcPts val="600"/>
                </a:spcBef>
              </a:pPr>
              <a:r>
                <a:rPr lang="en-US" sz="1000" b="1">
                  <a:solidFill>
                    <a:schemeClr val="tx1"/>
                  </a:solidFill>
                </a:rPr>
                <a:t>Annual volume</a:t>
              </a:r>
            </a:p>
            <a:p>
              <a:pPr marL="171450" indent="-171450">
                <a:buFont typeface="Wingdings" panose="05000000000000000000" pitchFamily="2" charset="2"/>
                <a:buChar char="§"/>
              </a:pPr>
              <a:r>
                <a:rPr lang="en-US" sz="1000">
                  <a:solidFill>
                    <a:schemeClr val="tx1"/>
                  </a:solidFill>
                </a:rPr>
                <a:t>40 shows per season</a:t>
              </a:r>
            </a:p>
            <a:p>
              <a:pPr marL="171450" indent="-171450">
                <a:buFont typeface="Wingdings" panose="05000000000000000000" pitchFamily="2" charset="2"/>
                <a:buChar char="§"/>
              </a:pPr>
              <a:r>
                <a:rPr lang="en-US" sz="1000">
                  <a:solidFill>
                    <a:schemeClr val="tx1"/>
                  </a:solidFill>
                </a:rPr>
                <a:t>Assumption: Shows run during active season (September-May, ~8 months)</a:t>
              </a:r>
            </a:p>
          </p:txBody>
        </p:sp>
      </p:grpSp>
      <p:grpSp>
        <p:nvGrpSpPr>
          <p:cNvPr id="19" name="Group 18">
            <a:extLst>
              <a:ext uri="{FF2B5EF4-FFF2-40B4-BE49-F238E27FC236}">
                <a16:creationId xmlns:a16="http://schemas.microsoft.com/office/drawing/2014/main" id="{A9DCE7B2-295A-AC83-EE61-B93813E178FD}"/>
              </a:ext>
            </a:extLst>
          </p:cNvPr>
          <p:cNvGrpSpPr/>
          <p:nvPr/>
        </p:nvGrpSpPr>
        <p:grpSpPr>
          <a:xfrm>
            <a:off x="6317102" y="922867"/>
            <a:ext cx="5427134" cy="5529867"/>
            <a:chOff x="6317102" y="922867"/>
            <a:chExt cx="5427134" cy="5529867"/>
          </a:xfrm>
        </p:grpSpPr>
        <p:sp>
          <p:nvSpPr>
            <p:cNvPr id="17" name="Rectangle 16">
              <a:extLst>
                <a:ext uri="{FF2B5EF4-FFF2-40B4-BE49-F238E27FC236}">
                  <a16:creationId xmlns:a16="http://schemas.microsoft.com/office/drawing/2014/main" id="{B925E0EB-71D3-A718-D786-45457E806F54}"/>
                </a:ext>
              </a:extLst>
            </p:cNvPr>
            <p:cNvSpPr/>
            <p:nvPr/>
          </p:nvSpPr>
          <p:spPr>
            <a:xfrm>
              <a:off x="6317102" y="922867"/>
              <a:ext cx="5427134" cy="5529866"/>
            </a:xfrm>
            <a:prstGeom prst="rect">
              <a:avLst/>
            </a:prstGeom>
            <a:solidFill>
              <a:srgbClr val="DDEF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 name="Group 9">
              <a:extLst>
                <a:ext uri="{FF2B5EF4-FFF2-40B4-BE49-F238E27FC236}">
                  <a16:creationId xmlns:a16="http://schemas.microsoft.com/office/drawing/2014/main" id="{2BC0C485-DDAA-07C9-FCB5-602F7E1551C6}"/>
                </a:ext>
              </a:extLst>
            </p:cNvPr>
            <p:cNvGrpSpPr/>
            <p:nvPr/>
          </p:nvGrpSpPr>
          <p:grpSpPr>
            <a:xfrm>
              <a:off x="6420722" y="1013675"/>
              <a:ext cx="5219894" cy="199245"/>
              <a:chOff x="550199" y="1013675"/>
              <a:chExt cx="2158076" cy="199245"/>
            </a:xfrm>
          </p:grpSpPr>
          <p:sp>
            <p:nvSpPr>
              <p:cNvPr id="11" name="Rectangle 10">
                <a:extLst>
                  <a:ext uri="{FF2B5EF4-FFF2-40B4-BE49-F238E27FC236}">
                    <a16:creationId xmlns:a16="http://schemas.microsoft.com/office/drawing/2014/main" id="{1BFE1CD3-EB96-1627-8925-13B864A03AAD}"/>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Recommended architecture assumptions</a:t>
                </a:r>
                <a:endParaRPr lang="en-US" sz="1400" b="1">
                  <a:solidFill>
                    <a:schemeClr val="tx1"/>
                  </a:solidFill>
                </a:endParaRPr>
              </a:p>
            </p:txBody>
          </p:sp>
          <p:cxnSp>
            <p:nvCxnSpPr>
              <p:cNvPr id="12" name="Straight Connector 11">
                <a:extLst>
                  <a:ext uri="{FF2B5EF4-FFF2-40B4-BE49-F238E27FC236}">
                    <a16:creationId xmlns:a16="http://schemas.microsoft.com/office/drawing/2014/main" id="{A7BFBC3F-1803-6BB8-33F4-8FA8D89C6B1A}"/>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C0A013CF-E7F7-C66B-35E6-B3A0AE0FBFD2}"/>
                </a:ext>
              </a:extLst>
            </p:cNvPr>
            <p:cNvSpPr/>
            <p:nvPr/>
          </p:nvSpPr>
          <p:spPr>
            <a:xfrm>
              <a:off x="6420722"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Enhanced Archive-Driven Format</a:t>
              </a:r>
            </a:p>
            <a:p>
              <a:pPr marL="171450" indent="-171450">
                <a:buFont typeface="Wingdings" panose="05000000000000000000" pitchFamily="2" charset="2"/>
                <a:buChar char="§"/>
              </a:pPr>
              <a:r>
                <a:rPr lang="en-US" sz="1000">
                  <a:solidFill>
                    <a:schemeClr val="tx1"/>
                  </a:solidFill>
                </a:rPr>
                <a:t>Archive usage: 20-30 clips per show (rich narratives)</a:t>
              </a:r>
            </a:p>
            <a:p>
              <a:pPr marL="171450" indent="-171450">
                <a:buFont typeface="Wingdings" panose="05000000000000000000" pitchFamily="2" charset="2"/>
                <a:buChar char="§"/>
              </a:pPr>
              <a:r>
                <a:rPr lang="en-US" sz="1000">
                  <a:solidFill>
                    <a:schemeClr val="tx1"/>
                  </a:solidFill>
                </a:rPr>
                <a:t>Production time: 8 hours (vs 3 days, archive discovery instant)</a:t>
              </a:r>
            </a:p>
            <a:p>
              <a:pPr>
                <a:spcBef>
                  <a:spcPts val="600"/>
                </a:spcBef>
              </a:pPr>
              <a:r>
                <a:rPr lang="en-US" sz="1000" b="1">
                  <a:solidFill>
                    <a:schemeClr val="tx1"/>
                  </a:solidFill>
                </a:rPr>
                <a:t>Enhanced viewership</a:t>
              </a:r>
            </a:p>
            <a:p>
              <a:pPr marL="171450" indent="-171450">
                <a:buFont typeface="Wingdings" panose="05000000000000000000" pitchFamily="2" charset="2"/>
                <a:buChar char="§"/>
              </a:pPr>
              <a:r>
                <a:rPr lang="en-US" sz="1000">
                  <a:solidFill>
                    <a:schemeClr val="tx1"/>
                  </a:solidFill>
                </a:rPr>
                <a:t>1.1M average viewers (+38% vs baseline)</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Quality differentiation</a:t>
              </a:r>
            </a:p>
            <a:p>
              <a:pPr marL="628650" lvl="1" indent="-171450">
                <a:buFont typeface="Wingdings" panose="05000000000000000000" pitchFamily="2" charset="2"/>
                <a:buChar char="§"/>
              </a:pPr>
              <a:r>
                <a:rPr lang="en-US" sz="1000">
                  <a:solidFill>
                    <a:schemeClr val="tx1"/>
                  </a:solidFill>
                </a:rPr>
                <a:t>Archive-driven storytelling creates unique content</a:t>
              </a:r>
            </a:p>
            <a:p>
              <a:pPr marL="628650" lvl="1" indent="-171450">
                <a:buFont typeface="Wingdings" panose="05000000000000000000" pitchFamily="2" charset="2"/>
                <a:buChar char="§"/>
              </a:pPr>
              <a:r>
                <a:rPr lang="en-US" sz="1000">
                  <a:solidFill>
                    <a:schemeClr val="tx1"/>
                  </a:solidFill>
                </a:rPr>
                <a:t>Social media sharing</a:t>
              </a:r>
            </a:p>
            <a:p>
              <a:pPr>
                <a:spcBef>
                  <a:spcPts val="600"/>
                </a:spcBef>
              </a:pPr>
              <a:r>
                <a:rPr lang="en-US" sz="1000" b="1">
                  <a:solidFill>
                    <a:schemeClr val="tx1"/>
                  </a:solidFill>
                </a:rPr>
                <a:t>Enhanced CPM</a:t>
              </a:r>
            </a:p>
            <a:p>
              <a:pPr marL="171450" indent="-171450">
                <a:buFont typeface="Wingdings" panose="05000000000000000000" pitchFamily="2" charset="2"/>
                <a:buChar char="§"/>
              </a:pPr>
              <a:r>
                <a:rPr lang="en-US" sz="1000">
                  <a:solidFill>
                    <a:schemeClr val="tx1"/>
                  </a:solidFill>
                </a:rPr>
                <a:t>€9 per spot (+29% vs baseline €7)</a:t>
              </a:r>
            </a:p>
            <a:p>
              <a:pPr marL="171450" indent="-171450">
                <a:buFont typeface="Wingdings" panose="05000000000000000000" pitchFamily="2" charset="2"/>
                <a:buChar char="§"/>
              </a:pPr>
              <a:r>
                <a:rPr lang="en-US" sz="1000">
                  <a:solidFill>
                    <a:schemeClr val="tx1"/>
                  </a:solidFill>
                </a:rPr>
                <a:t>Rationale: Better content quality commands premium pricing</a:t>
              </a:r>
            </a:p>
            <a:p>
              <a:pPr>
                <a:spcBef>
                  <a:spcPts val="600"/>
                </a:spcBef>
              </a:pPr>
              <a:r>
                <a:rPr lang="en-US" sz="1000" b="1">
                  <a:solidFill>
                    <a:schemeClr val="tx1"/>
                  </a:solidFill>
                </a:rPr>
                <a:t>Business Case Conservatism</a:t>
              </a:r>
            </a:p>
            <a:p>
              <a:pPr marL="171450" indent="-171450">
                <a:buFont typeface="Wingdings" panose="05000000000000000000" pitchFamily="2" charset="2"/>
                <a:buChar char="§"/>
              </a:pPr>
              <a:r>
                <a:rPr lang="en-US" sz="1000">
                  <a:solidFill>
                    <a:schemeClr val="tx1"/>
                  </a:solidFill>
                </a:rPr>
                <a:t>Calculated value: €4.1M/year</a:t>
              </a:r>
            </a:p>
            <a:p>
              <a:pPr marL="171450" indent="-171450">
                <a:buFont typeface="Wingdings" panose="05000000000000000000" pitchFamily="2" charset="2"/>
                <a:buChar char="§"/>
              </a:pPr>
              <a:r>
                <a:rPr lang="en-US" sz="1000">
                  <a:solidFill>
                    <a:schemeClr val="tx1"/>
                  </a:solidFill>
                </a:rPr>
                <a:t>Business case uses: €2.0M/year (49% of calculated)</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Viewership uplift assumes consistent quality (some weeks may be weaker)</a:t>
              </a:r>
            </a:p>
            <a:p>
              <a:pPr marL="628650" lvl="1" indent="-171450">
                <a:buFont typeface="Wingdings" panose="05000000000000000000" pitchFamily="2" charset="2"/>
                <a:buChar char="§"/>
              </a:pPr>
              <a:r>
                <a:rPr lang="en-US" sz="1000">
                  <a:solidFill>
                    <a:schemeClr val="tx1"/>
                  </a:solidFill>
                </a:rPr>
                <a:t>CPM premium may not materialize immediately (takes time to build reputation)</a:t>
              </a:r>
            </a:p>
          </p:txBody>
        </p:sp>
      </p:grpSp>
      <p:pic>
        <p:nvPicPr>
          <p:cNvPr id="13" name="Graphic 12" descr="Circle with left arrow outline">
            <a:hlinkClick r:id="rId2" action="ppaction://hlinksldjump"/>
            <a:extLst>
              <a:ext uri="{FF2B5EF4-FFF2-40B4-BE49-F238E27FC236}">
                <a16:creationId xmlns:a16="http://schemas.microsoft.com/office/drawing/2014/main" id="{77A8FB61-6225-6886-5692-B35D00652C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4086633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9E3C8-2125-A477-9241-632711488E2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E34DA4B-5A60-0A6E-A24C-1E7ECEFDBDF2}"/>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0858121-B1AA-C720-9BC0-DA9A1B54979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053EB8CA-A4E8-D472-F084-66B15E465204}"/>
              </a:ext>
            </a:extLst>
          </p:cNvPr>
          <p:cNvSpPr>
            <a:spLocks noGrp="1"/>
          </p:cNvSpPr>
          <p:nvPr>
            <p:ph type="sldNum" sz="quarter" idx="30"/>
          </p:nvPr>
        </p:nvSpPr>
        <p:spPr/>
        <p:txBody>
          <a:bodyPr/>
          <a:lstStyle/>
          <a:p>
            <a:pPr algn="r"/>
            <a:fld id="{5D9A5160-6218-4E5A-B9E6-B93E3DAE377C}" type="slidenum">
              <a:rPr lang="en-US" smtClean="0"/>
              <a:pPr algn="r"/>
              <a:t>46</a:t>
            </a:fld>
            <a:endParaRPr lang="en-US"/>
          </a:p>
        </p:txBody>
      </p:sp>
      <p:sp>
        <p:nvSpPr>
          <p:cNvPr id="5" name="Title 4">
            <a:extLst>
              <a:ext uri="{FF2B5EF4-FFF2-40B4-BE49-F238E27FC236}">
                <a16:creationId xmlns:a16="http://schemas.microsoft.com/office/drawing/2014/main" id="{DEFA206E-42B1-A325-3C83-D93FFC1CC8B3}"/>
              </a:ext>
            </a:extLst>
          </p:cNvPr>
          <p:cNvSpPr>
            <a:spLocks noGrp="1"/>
          </p:cNvSpPr>
          <p:nvPr>
            <p:ph type="title"/>
          </p:nvPr>
        </p:nvSpPr>
        <p:spPr/>
        <p:txBody>
          <a:bodyPr/>
          <a:lstStyle/>
          <a:p>
            <a:r>
              <a:rPr lang="en-US"/>
              <a:t>Pre-Match Build-Up Viewership</a:t>
            </a:r>
          </a:p>
        </p:txBody>
      </p:sp>
      <p:sp>
        <p:nvSpPr>
          <p:cNvPr id="6" name="Rectangle 5">
            <a:extLst>
              <a:ext uri="{FF2B5EF4-FFF2-40B4-BE49-F238E27FC236}">
                <a16:creationId xmlns:a16="http://schemas.microsoft.com/office/drawing/2014/main" id="{2BB838BD-2AE1-EF4C-73B1-4897C672DB6B}"/>
              </a:ext>
            </a:extLst>
          </p:cNvPr>
          <p:cNvSpPr/>
          <p:nvPr/>
        </p:nvSpPr>
        <p:spPr>
          <a:xfrm>
            <a:off x="550863" y="188640"/>
            <a:ext cx="4176985" cy="2004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en-US" sz="900" b="1">
                <a:solidFill>
                  <a:schemeClr val="tx1"/>
                </a:solidFill>
              </a:rPr>
              <a:t>PILLAR 2: PROGRAMMING EXCELLENCE</a:t>
            </a:r>
          </a:p>
        </p:txBody>
      </p:sp>
      <p:grpSp>
        <p:nvGrpSpPr>
          <p:cNvPr id="18" name="Group 17">
            <a:extLst>
              <a:ext uri="{FF2B5EF4-FFF2-40B4-BE49-F238E27FC236}">
                <a16:creationId xmlns:a16="http://schemas.microsoft.com/office/drawing/2014/main" id="{4EE2341F-EBE0-3DA8-28BD-7DA54BC2A9D4}"/>
              </a:ext>
            </a:extLst>
          </p:cNvPr>
          <p:cNvGrpSpPr/>
          <p:nvPr/>
        </p:nvGrpSpPr>
        <p:grpSpPr>
          <a:xfrm>
            <a:off x="474133" y="922867"/>
            <a:ext cx="5427134" cy="5529867"/>
            <a:chOff x="474133" y="922867"/>
            <a:chExt cx="5427134" cy="5529867"/>
          </a:xfrm>
        </p:grpSpPr>
        <p:sp>
          <p:nvSpPr>
            <p:cNvPr id="16" name="Rectangle 15">
              <a:extLst>
                <a:ext uri="{FF2B5EF4-FFF2-40B4-BE49-F238E27FC236}">
                  <a16:creationId xmlns:a16="http://schemas.microsoft.com/office/drawing/2014/main" id="{A2E2FA76-AC34-D6FB-9ABB-145C25763F08}"/>
                </a:ext>
              </a:extLst>
            </p:cNvPr>
            <p:cNvSpPr/>
            <p:nvPr/>
          </p:nvSpPr>
          <p:spPr>
            <a:xfrm>
              <a:off x="474133" y="922867"/>
              <a:ext cx="5427134" cy="552986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9" name="Group 8">
              <a:extLst>
                <a:ext uri="{FF2B5EF4-FFF2-40B4-BE49-F238E27FC236}">
                  <a16:creationId xmlns:a16="http://schemas.microsoft.com/office/drawing/2014/main" id="{59F80DFB-A5A3-E269-E29F-18B03CB08D0E}"/>
                </a:ext>
              </a:extLst>
            </p:cNvPr>
            <p:cNvGrpSpPr/>
            <p:nvPr/>
          </p:nvGrpSpPr>
          <p:grpSpPr>
            <a:xfrm>
              <a:off x="550198" y="1013675"/>
              <a:ext cx="5219894" cy="199245"/>
              <a:chOff x="550199" y="1013675"/>
              <a:chExt cx="2158076" cy="199245"/>
            </a:xfrm>
          </p:grpSpPr>
          <p:sp>
            <p:nvSpPr>
              <p:cNvPr id="7" name="Rectangle 6">
                <a:extLst>
                  <a:ext uri="{FF2B5EF4-FFF2-40B4-BE49-F238E27FC236}">
                    <a16:creationId xmlns:a16="http://schemas.microsoft.com/office/drawing/2014/main" id="{25C80101-A740-C777-5691-4F7B585C0ADE}"/>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Baseline assumptions</a:t>
                </a:r>
                <a:endParaRPr lang="en-US" sz="1400" b="1">
                  <a:solidFill>
                    <a:schemeClr val="tx1"/>
                  </a:solidFill>
                </a:endParaRPr>
              </a:p>
            </p:txBody>
          </p:sp>
          <p:cxnSp>
            <p:nvCxnSpPr>
              <p:cNvPr id="8" name="Straight Connector 7">
                <a:extLst>
                  <a:ext uri="{FF2B5EF4-FFF2-40B4-BE49-F238E27FC236}">
                    <a16:creationId xmlns:a16="http://schemas.microsoft.com/office/drawing/2014/main" id="{FD5206B7-AF53-B370-3A90-700CCB79CEC3}"/>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1F885A-7ED2-85E3-BAD4-2B307FD2701C}"/>
                </a:ext>
              </a:extLst>
            </p:cNvPr>
            <p:cNvSpPr/>
            <p:nvPr/>
          </p:nvSpPr>
          <p:spPr>
            <a:xfrm>
              <a:off x="550198"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Current brand positioning</a:t>
              </a:r>
            </a:p>
            <a:p>
              <a:pPr marL="171450" indent="-171450">
                <a:buFont typeface="Wingdings" panose="05000000000000000000" pitchFamily="2" charset="2"/>
                <a:buChar char="§"/>
              </a:pPr>
              <a:r>
                <a:rPr lang="en-US" sz="1000">
                  <a:solidFill>
                    <a:schemeClr val="tx1"/>
                  </a:solidFill>
                </a:rPr>
                <a:t>Weighted average CPM: €10.30 across all programming</a:t>
              </a:r>
            </a:p>
            <a:p>
              <a:pPr marL="628650" lvl="1" indent="-171450">
                <a:buFont typeface="Wingdings" panose="05000000000000000000" pitchFamily="2" charset="2"/>
                <a:buChar char="§"/>
              </a:pPr>
              <a:r>
                <a:rPr lang="en-US" sz="1000">
                  <a:solidFill>
                    <a:schemeClr val="tx1"/>
                  </a:solidFill>
                </a:rPr>
                <a:t>Live action (60% of inventory): €12 CPM</a:t>
              </a:r>
            </a:p>
            <a:p>
              <a:pPr marL="628650" lvl="1" indent="-171450">
                <a:buFont typeface="Wingdings" panose="05000000000000000000" pitchFamily="2" charset="2"/>
                <a:buChar char="§"/>
              </a:pPr>
              <a:r>
                <a:rPr lang="en-US" sz="1000">
                  <a:solidFill>
                    <a:schemeClr val="tx1"/>
                  </a:solidFill>
                </a:rPr>
                <a:t>Half-time (10%): €5 CPM</a:t>
              </a:r>
            </a:p>
            <a:p>
              <a:pPr marL="628650" lvl="1" indent="-171450">
                <a:buFont typeface="Wingdings" panose="05000000000000000000" pitchFamily="2" charset="2"/>
                <a:buChar char="§"/>
              </a:pPr>
              <a:r>
                <a:rPr lang="en-US" sz="1000">
                  <a:solidFill>
                    <a:schemeClr val="tx1"/>
                  </a:solidFill>
                </a:rPr>
                <a:t>Pre-match (15%): €10 CPM</a:t>
              </a:r>
            </a:p>
            <a:p>
              <a:pPr marL="628650" lvl="1" indent="-171450">
                <a:buFont typeface="Wingdings" panose="05000000000000000000" pitchFamily="2" charset="2"/>
                <a:buChar char="§"/>
              </a:pPr>
              <a:r>
                <a:rPr lang="en-US" sz="1000">
                  <a:solidFill>
                    <a:schemeClr val="tx1"/>
                  </a:solidFill>
                </a:rPr>
                <a:t>Magazine shows (10%): €7 CPM</a:t>
              </a:r>
            </a:p>
            <a:p>
              <a:pPr marL="628650" lvl="1" indent="-171450">
                <a:buFont typeface="Wingdings" panose="05000000000000000000" pitchFamily="2" charset="2"/>
                <a:buChar char="§"/>
              </a:pPr>
              <a:r>
                <a:rPr lang="en-US" sz="1000">
                  <a:solidFill>
                    <a:schemeClr val="tx1"/>
                  </a:solidFill>
                </a:rPr>
                <a:t>Post-match (5%): €8 CPM</a:t>
              </a:r>
            </a:p>
            <a:p>
              <a:pPr marL="628650" lvl="1" indent="-171450">
                <a:buFont typeface="Wingdings" panose="05000000000000000000" pitchFamily="2" charset="2"/>
                <a:buChar char="§"/>
              </a:pPr>
              <a:r>
                <a:rPr lang="en-US" sz="1000">
                  <a:solidFill>
                    <a:schemeClr val="tx1"/>
                  </a:solidFill>
                </a:rPr>
                <a:t>Weighted: (0.6×12) + (0.1×5) + (0.15×10) + (0.1×7) + (0.05×8) = €10.30</a:t>
              </a:r>
            </a:p>
            <a:p>
              <a:pPr>
                <a:spcBef>
                  <a:spcPts val="600"/>
                </a:spcBef>
              </a:pPr>
              <a:r>
                <a:rPr lang="en-US" sz="1000" b="1">
                  <a:solidFill>
                    <a:schemeClr val="tx1"/>
                  </a:solidFill>
                </a:rPr>
                <a:t>Total Ad revenue baseline</a:t>
              </a:r>
            </a:p>
            <a:p>
              <a:pPr marL="171450" indent="-171450">
                <a:buFont typeface="Wingdings" panose="05000000000000000000" pitchFamily="2" charset="2"/>
                <a:buChar char="§"/>
              </a:pPr>
              <a:r>
                <a:rPr lang="en-US" sz="1000">
                  <a:solidFill>
                    <a:schemeClr val="tx1"/>
                  </a:solidFill>
                </a:rPr>
                <a:t>€120M/year total (across all TNT Sports programming)</a:t>
              </a:r>
            </a:p>
            <a:p>
              <a:pPr marL="171450" indent="-171450">
                <a:buFont typeface="Wingdings" panose="05000000000000000000" pitchFamily="2" charset="2"/>
                <a:buChar char="§"/>
              </a:pPr>
              <a:r>
                <a:rPr lang="en-US" sz="1000">
                  <a:solidFill>
                    <a:schemeClr val="tx1"/>
                  </a:solidFill>
                </a:rPr>
                <a:t>Assumption: This is actual current revenue (provided as business case input)</a:t>
              </a:r>
            </a:p>
            <a:p>
              <a:pPr>
                <a:spcBef>
                  <a:spcPts val="600"/>
                </a:spcBef>
              </a:pPr>
              <a:r>
                <a:rPr lang="en-US" sz="1000" b="1">
                  <a:solidFill>
                    <a:schemeClr val="tx1"/>
                  </a:solidFill>
                </a:rPr>
                <a:t>Total impression volume</a:t>
              </a:r>
            </a:p>
            <a:p>
              <a:pPr marL="171450" indent="-171450">
                <a:buFont typeface="Wingdings" panose="05000000000000000000" pitchFamily="2" charset="2"/>
                <a:buChar char="§"/>
              </a:pPr>
              <a:r>
                <a:rPr lang="en-US" sz="1000">
                  <a:solidFill>
                    <a:schemeClr val="tx1"/>
                  </a:solidFill>
                </a:rPr>
                <a:t>€120M ÷ €10.30 CPM = 11.65 billion impressions/year</a:t>
              </a:r>
            </a:p>
            <a:p>
              <a:pPr marL="171450" indent="-171450">
                <a:buFont typeface="Wingdings" panose="05000000000000000000" pitchFamily="2" charset="2"/>
                <a:buChar char="§"/>
              </a:pPr>
              <a:r>
                <a:rPr lang="en-US" sz="1000">
                  <a:solidFill>
                    <a:schemeClr val="tx1"/>
                  </a:solidFill>
                </a:rPr>
                <a:t>Assumption: Impression volume stays constant (same number of ad spots sold)</a:t>
              </a:r>
            </a:p>
          </p:txBody>
        </p:sp>
      </p:grpSp>
      <p:grpSp>
        <p:nvGrpSpPr>
          <p:cNvPr id="19" name="Group 18">
            <a:extLst>
              <a:ext uri="{FF2B5EF4-FFF2-40B4-BE49-F238E27FC236}">
                <a16:creationId xmlns:a16="http://schemas.microsoft.com/office/drawing/2014/main" id="{A4C722EE-E38F-2E8C-69A4-8D2B6EE4A9B3}"/>
              </a:ext>
            </a:extLst>
          </p:cNvPr>
          <p:cNvGrpSpPr/>
          <p:nvPr/>
        </p:nvGrpSpPr>
        <p:grpSpPr>
          <a:xfrm>
            <a:off x="6317102" y="922867"/>
            <a:ext cx="5427134" cy="5529867"/>
            <a:chOff x="6317102" y="922867"/>
            <a:chExt cx="5427134" cy="5529867"/>
          </a:xfrm>
        </p:grpSpPr>
        <p:sp>
          <p:nvSpPr>
            <p:cNvPr id="17" name="Rectangle 16">
              <a:extLst>
                <a:ext uri="{FF2B5EF4-FFF2-40B4-BE49-F238E27FC236}">
                  <a16:creationId xmlns:a16="http://schemas.microsoft.com/office/drawing/2014/main" id="{EF683C1D-FFC9-D872-7D7E-E1B767ACE0EB}"/>
                </a:ext>
              </a:extLst>
            </p:cNvPr>
            <p:cNvSpPr/>
            <p:nvPr/>
          </p:nvSpPr>
          <p:spPr>
            <a:xfrm>
              <a:off x="6317102" y="922867"/>
              <a:ext cx="5427134" cy="5529866"/>
            </a:xfrm>
            <a:prstGeom prst="rect">
              <a:avLst/>
            </a:prstGeom>
            <a:solidFill>
              <a:srgbClr val="DDEFFF"/>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 name="Group 9">
              <a:extLst>
                <a:ext uri="{FF2B5EF4-FFF2-40B4-BE49-F238E27FC236}">
                  <a16:creationId xmlns:a16="http://schemas.microsoft.com/office/drawing/2014/main" id="{AEA2AEC3-EDAF-E6BB-585A-3E9D95FA55B5}"/>
                </a:ext>
              </a:extLst>
            </p:cNvPr>
            <p:cNvGrpSpPr/>
            <p:nvPr/>
          </p:nvGrpSpPr>
          <p:grpSpPr>
            <a:xfrm>
              <a:off x="6420722" y="1013675"/>
              <a:ext cx="5219894" cy="199245"/>
              <a:chOff x="550199" y="1013675"/>
              <a:chExt cx="2158076" cy="199245"/>
            </a:xfrm>
          </p:grpSpPr>
          <p:sp>
            <p:nvSpPr>
              <p:cNvPr id="11" name="Rectangle 10">
                <a:extLst>
                  <a:ext uri="{FF2B5EF4-FFF2-40B4-BE49-F238E27FC236}">
                    <a16:creationId xmlns:a16="http://schemas.microsoft.com/office/drawing/2014/main" id="{5BC7195F-F27C-3D29-E9EE-A54F6466A6BF}"/>
                  </a:ext>
                </a:extLst>
              </p:cNvPr>
              <p:cNvSpPr/>
              <p:nvPr/>
            </p:nvSpPr>
            <p:spPr>
              <a:xfrm>
                <a:off x="550199" y="1013675"/>
                <a:ext cx="2158076" cy="19924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000" b="1">
                    <a:solidFill>
                      <a:schemeClr val="tx1"/>
                    </a:solidFill>
                  </a:rPr>
                  <a:t>Recommended architecture assumptions</a:t>
                </a:r>
                <a:endParaRPr lang="en-US" sz="1400" b="1">
                  <a:solidFill>
                    <a:schemeClr val="tx1"/>
                  </a:solidFill>
                </a:endParaRPr>
              </a:p>
            </p:txBody>
          </p:sp>
          <p:cxnSp>
            <p:nvCxnSpPr>
              <p:cNvPr id="12" name="Straight Connector 11">
                <a:extLst>
                  <a:ext uri="{FF2B5EF4-FFF2-40B4-BE49-F238E27FC236}">
                    <a16:creationId xmlns:a16="http://schemas.microsoft.com/office/drawing/2014/main" id="{3D6F1EFE-8430-3EB1-51C7-B383B1CE1EA3}"/>
                  </a:ext>
                </a:extLst>
              </p:cNvPr>
              <p:cNvCxnSpPr>
                <a:cxnSpLocks/>
              </p:cNvCxnSpPr>
              <p:nvPr/>
            </p:nvCxnSpPr>
            <p:spPr>
              <a:xfrm>
                <a:off x="550199" y="1212920"/>
                <a:ext cx="21580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66F49833-A7B6-F6C2-1315-F6BE0722BCE3}"/>
                </a:ext>
              </a:extLst>
            </p:cNvPr>
            <p:cNvSpPr/>
            <p:nvPr/>
          </p:nvSpPr>
          <p:spPr>
            <a:xfrm>
              <a:off x="6420722" y="1320799"/>
              <a:ext cx="5219894" cy="513193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a:solidFill>
                    <a:schemeClr val="tx1"/>
                  </a:solidFill>
                </a:rPr>
                <a:t>CPM premium</a:t>
              </a:r>
            </a:p>
            <a:p>
              <a:pPr marL="171450" indent="-171450">
                <a:buFont typeface="Wingdings" panose="05000000000000000000" pitchFamily="2" charset="2"/>
                <a:buChar char="§"/>
              </a:pPr>
              <a:r>
                <a:rPr lang="en-US" sz="1000">
                  <a:solidFill>
                    <a:schemeClr val="tx1"/>
                  </a:solidFill>
                </a:rPr>
                <a:t>+7% across all inventory types</a:t>
              </a:r>
            </a:p>
            <a:p>
              <a:pPr marL="171450" indent="-171450">
                <a:buFont typeface="Wingdings" panose="05000000000000000000" pitchFamily="2" charset="2"/>
                <a:buChar char="§"/>
              </a:pPr>
              <a:r>
                <a:rPr lang="en-US" sz="1000">
                  <a:solidFill>
                    <a:schemeClr val="tx1"/>
                  </a:solidFill>
                </a:rPr>
                <a:t>Federated weighted CPM: €10.30 × 1.07 = €11.02</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Premium broadcasters (BBC Sport, Sky MNF) command 5-10% CPM premiums</a:t>
              </a:r>
            </a:p>
            <a:p>
              <a:pPr marL="628650" lvl="1" indent="-171450">
                <a:buFont typeface="Wingdings" panose="05000000000000000000" pitchFamily="2" charset="2"/>
                <a:buChar char="§"/>
              </a:pPr>
              <a:r>
                <a:rPr lang="en-US" sz="1000">
                  <a:solidFill>
                    <a:schemeClr val="tx1"/>
                  </a:solidFill>
                </a:rPr>
                <a:t>Achieving 7% premium is within industry norms</a:t>
              </a:r>
            </a:p>
            <a:p>
              <a:pPr marL="171450" indent="-171450">
                <a:buFont typeface="Wingdings" panose="05000000000000000000" pitchFamily="2" charset="2"/>
                <a:buChar char="§"/>
              </a:pPr>
              <a:r>
                <a:rPr lang="en-US" sz="1000">
                  <a:solidFill>
                    <a:schemeClr val="tx1"/>
                  </a:solidFill>
                </a:rPr>
                <a:t>Assumption: Advertisers value "engaged audiences" (archive-rich content → higher engagement)</a:t>
              </a:r>
            </a:p>
            <a:p>
              <a:pPr>
                <a:spcBef>
                  <a:spcPts val="600"/>
                </a:spcBef>
              </a:pPr>
              <a:r>
                <a:rPr lang="en-US" sz="1000" b="1">
                  <a:solidFill>
                    <a:schemeClr val="tx1"/>
                  </a:solidFill>
                </a:rPr>
                <a:t>Revenue calculation</a:t>
              </a:r>
            </a:p>
            <a:p>
              <a:pPr marL="171450" indent="-171450">
                <a:buFont typeface="Wingdings" panose="05000000000000000000" pitchFamily="2" charset="2"/>
                <a:buChar char="§"/>
              </a:pPr>
              <a:r>
                <a:rPr lang="en-US" sz="1000">
                  <a:solidFill>
                    <a:schemeClr val="tx1"/>
                  </a:solidFill>
                </a:rPr>
                <a:t>Same impression volume: 11.65 billion</a:t>
              </a:r>
            </a:p>
            <a:p>
              <a:pPr marL="171450" indent="-171450">
                <a:buFont typeface="Wingdings" panose="05000000000000000000" pitchFamily="2" charset="2"/>
                <a:buChar char="§"/>
              </a:pPr>
              <a:r>
                <a:rPr lang="en-US" sz="1000">
                  <a:solidFill>
                    <a:schemeClr val="tx1"/>
                  </a:solidFill>
                </a:rPr>
                <a:t>Premium CPM: €11.02</a:t>
              </a:r>
            </a:p>
            <a:p>
              <a:pPr marL="171450" indent="-171450">
                <a:buFont typeface="Wingdings" panose="05000000000000000000" pitchFamily="2" charset="2"/>
                <a:buChar char="§"/>
              </a:pPr>
              <a:r>
                <a:rPr lang="en-US" sz="1000">
                  <a:solidFill>
                    <a:schemeClr val="tx1"/>
                  </a:solidFill>
                </a:rPr>
                <a:t>Revenue: 11,650,485 thousands × €11.02 = €128.4M</a:t>
              </a:r>
            </a:p>
            <a:p>
              <a:pPr marL="171450" indent="-171450">
                <a:buFont typeface="Wingdings" panose="05000000000000000000" pitchFamily="2" charset="2"/>
                <a:buChar char="§"/>
              </a:pPr>
              <a:r>
                <a:rPr lang="en-US" sz="1000">
                  <a:solidFill>
                    <a:schemeClr val="tx1"/>
                  </a:solidFill>
                </a:rPr>
                <a:t>Incremental: €128.4M - €120M = €8.4M/year</a:t>
              </a:r>
            </a:p>
            <a:p>
              <a:pPr>
                <a:spcBef>
                  <a:spcPts val="600"/>
                </a:spcBef>
              </a:pPr>
              <a:r>
                <a:rPr lang="en-US" sz="1000" b="1">
                  <a:solidFill>
                    <a:schemeClr val="tx1"/>
                  </a:solidFill>
                </a:rPr>
                <a:t>Attribution to archive-driven quality</a:t>
              </a:r>
            </a:p>
            <a:p>
              <a:pPr marL="171450" indent="-171450">
                <a:buFont typeface="Wingdings" panose="05000000000000000000" pitchFamily="2" charset="2"/>
                <a:buChar char="§"/>
              </a:pPr>
              <a:r>
                <a:rPr lang="en-US" sz="1000">
                  <a:solidFill>
                    <a:schemeClr val="tx1"/>
                  </a:solidFill>
                </a:rPr>
                <a:t>Total CPM uplift: €8.4M</a:t>
              </a:r>
            </a:p>
            <a:p>
              <a:pPr marL="171450" indent="-171450">
                <a:buFont typeface="Wingdings" panose="05000000000000000000" pitchFamily="2" charset="2"/>
                <a:buChar char="§"/>
              </a:pPr>
              <a:r>
                <a:rPr lang="en-US" sz="1000">
                  <a:solidFill>
                    <a:schemeClr val="tx1"/>
                  </a:solidFill>
                </a:rPr>
                <a:t>Attributable to archive capabilities: 30%</a:t>
              </a:r>
            </a:p>
            <a:p>
              <a:pPr marL="171450" indent="-171450">
                <a:buFont typeface="Wingdings" panose="05000000000000000000" pitchFamily="2" charset="2"/>
                <a:buChar char="§"/>
              </a:pPr>
              <a:r>
                <a:rPr lang="en-US" sz="1000">
                  <a:solidFill>
                    <a:schemeClr val="tx1"/>
                  </a:solidFill>
                </a:rPr>
                <a:t>Rationale</a:t>
              </a:r>
            </a:p>
            <a:p>
              <a:pPr marL="628650" lvl="1" indent="-171450">
                <a:buFont typeface="Wingdings" panose="05000000000000000000" pitchFamily="2" charset="2"/>
                <a:buChar char="§"/>
              </a:pPr>
              <a:r>
                <a:rPr lang="en-US" sz="1000">
                  <a:solidFill>
                    <a:schemeClr val="tx1"/>
                  </a:solidFill>
                </a:rPr>
                <a:t>Other factors also drive premium (commentary talent, production values, camera work)</a:t>
              </a:r>
            </a:p>
            <a:p>
              <a:pPr marL="628650" lvl="1" indent="-171450">
                <a:buFont typeface="Wingdings" panose="05000000000000000000" pitchFamily="2" charset="2"/>
                <a:buChar char="§"/>
              </a:pPr>
              <a:r>
                <a:rPr lang="en-US" sz="1000">
                  <a:solidFill>
                    <a:schemeClr val="tx1"/>
                  </a:solidFill>
                </a:rPr>
                <a:t>Archive integration is measurable differentiator (can track via brand surveys)</a:t>
              </a:r>
            </a:p>
            <a:p>
              <a:pPr marL="628650" lvl="1" indent="-171450">
                <a:buFont typeface="Wingdings" panose="05000000000000000000" pitchFamily="2" charset="2"/>
                <a:buChar char="§"/>
              </a:pPr>
              <a:r>
                <a:rPr lang="en-US" sz="1000">
                  <a:solidFill>
                    <a:schemeClr val="tx1"/>
                  </a:solidFill>
                </a:rPr>
                <a:t>Conservative attribution avoids over-claiming</a:t>
              </a:r>
            </a:p>
          </p:txBody>
        </p:sp>
      </p:grpSp>
      <p:pic>
        <p:nvPicPr>
          <p:cNvPr id="13" name="Graphic 12" descr="Circle with left arrow outline">
            <a:hlinkClick r:id="rId2" action="ppaction://hlinksldjump"/>
            <a:extLst>
              <a:ext uri="{FF2B5EF4-FFF2-40B4-BE49-F238E27FC236}">
                <a16:creationId xmlns:a16="http://schemas.microsoft.com/office/drawing/2014/main" id="{6ED85173-A904-084B-B88E-B4E22BF133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1778341" y="512709"/>
            <a:ext cx="288296" cy="288296"/>
          </a:xfrm>
          <a:prstGeom prst="rect">
            <a:avLst/>
          </a:prstGeom>
        </p:spPr>
      </p:pic>
    </p:spTree>
    <p:extLst>
      <p:ext uri="{BB962C8B-B14F-4D97-AF65-F5344CB8AC3E}">
        <p14:creationId xmlns:p14="http://schemas.microsoft.com/office/powerpoint/2010/main" val="3715853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62B73D-12EB-B711-16CB-100C1D622803}"/>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02074C92-867F-07B1-B5E2-08692F3193C6}"/>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87289795-3EC8-ABCC-8E90-A5195D8CB27C}"/>
              </a:ext>
            </a:extLst>
          </p:cNvPr>
          <p:cNvSpPr>
            <a:spLocks noGrp="1"/>
          </p:cNvSpPr>
          <p:nvPr>
            <p:ph type="sldNum" sz="quarter" idx="30"/>
          </p:nvPr>
        </p:nvSpPr>
        <p:spPr/>
        <p:txBody>
          <a:bodyPr/>
          <a:lstStyle/>
          <a:p>
            <a:pPr algn="r"/>
            <a:fld id="{5D9A5160-6218-4E5A-B9E6-B93E3DAE377C}" type="slidenum">
              <a:rPr lang="en-US" smtClean="0"/>
              <a:pPr algn="r"/>
              <a:t>47</a:t>
            </a:fld>
            <a:endParaRPr lang="en-US"/>
          </a:p>
        </p:txBody>
      </p:sp>
      <p:sp>
        <p:nvSpPr>
          <p:cNvPr id="5" name="Title 4">
            <a:extLst>
              <a:ext uri="{FF2B5EF4-FFF2-40B4-BE49-F238E27FC236}">
                <a16:creationId xmlns:a16="http://schemas.microsoft.com/office/drawing/2014/main" id="{AB37D359-12D5-9FA6-8BE7-64B899AF25FC}"/>
              </a:ext>
            </a:extLst>
          </p:cNvPr>
          <p:cNvSpPr>
            <a:spLocks noGrp="1"/>
          </p:cNvSpPr>
          <p:nvPr>
            <p:ph type="title"/>
          </p:nvPr>
        </p:nvSpPr>
        <p:spPr/>
        <p:txBody>
          <a:bodyPr/>
          <a:lstStyle/>
          <a:p>
            <a:endParaRPr lang="en-US"/>
          </a:p>
        </p:txBody>
      </p:sp>
      <p:grpSp>
        <p:nvGrpSpPr>
          <p:cNvPr id="70" name="Group 69">
            <a:extLst>
              <a:ext uri="{FF2B5EF4-FFF2-40B4-BE49-F238E27FC236}">
                <a16:creationId xmlns:a16="http://schemas.microsoft.com/office/drawing/2014/main" id="{D9273975-6DEC-95D8-98EC-E6687553BAD7}"/>
              </a:ext>
            </a:extLst>
          </p:cNvPr>
          <p:cNvGrpSpPr/>
          <p:nvPr/>
        </p:nvGrpSpPr>
        <p:grpSpPr>
          <a:xfrm>
            <a:off x="405607" y="1415446"/>
            <a:ext cx="11380787" cy="5037296"/>
            <a:chOff x="260350" y="1415446"/>
            <a:chExt cx="11380787" cy="5037296"/>
          </a:xfrm>
        </p:grpSpPr>
        <p:sp>
          <p:nvSpPr>
            <p:cNvPr id="18" name="Rectangle 17">
              <a:extLst>
                <a:ext uri="{FF2B5EF4-FFF2-40B4-BE49-F238E27FC236}">
                  <a16:creationId xmlns:a16="http://schemas.microsoft.com/office/drawing/2014/main" id="{00FB618F-6EC2-CB3D-80F5-227DDF3B827C}"/>
                </a:ext>
              </a:extLst>
            </p:cNvPr>
            <p:cNvSpPr/>
            <p:nvPr/>
          </p:nvSpPr>
          <p:spPr>
            <a:xfrm>
              <a:off x="550863" y="1744133"/>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Content Ingest &amp; Metadata Enrichment</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Live or pre-recorded content enters domain-specific metadata store</a:t>
              </a:r>
            </a:p>
            <a:p>
              <a:pPr marL="171450" indent="-171450">
                <a:buFont typeface="Wingdings" panose="05000000000000000000" pitchFamily="2" charset="2"/>
                <a:buChar char="§"/>
              </a:pPr>
              <a:r>
                <a:rPr lang="en-US" sz="1000">
                  <a:solidFill>
                    <a:schemeClr val="bg1">
                      <a:lumMod val="50000"/>
                    </a:schemeClr>
                  </a:solidFill>
                </a:rPr>
                <a:t>AI-assisted tagging: temporal markers, scene detection, speaker ID, sentiment, game state</a:t>
              </a:r>
            </a:p>
          </p:txBody>
        </p:sp>
        <p:sp>
          <p:nvSpPr>
            <p:cNvPr id="19" name="Rectangle 18">
              <a:extLst>
                <a:ext uri="{FF2B5EF4-FFF2-40B4-BE49-F238E27FC236}">
                  <a16:creationId xmlns:a16="http://schemas.microsoft.com/office/drawing/2014/main" id="{F7E37A2B-B40B-76AE-7768-E90DF27D6CE9}"/>
                </a:ext>
              </a:extLst>
            </p:cNvPr>
            <p:cNvSpPr/>
            <p:nvPr/>
          </p:nvSpPr>
          <p:spPr>
            <a:xfrm>
              <a:off x="2369173" y="1744133"/>
              <a:ext cx="1466596"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Discovery Query</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Editor searches unified discovery layer: "Goals from last week" or "Breaking news climate"</a:t>
              </a:r>
            </a:p>
            <a:p>
              <a:pPr marL="171450" indent="-171450">
                <a:buFont typeface="Wingdings" panose="05000000000000000000" pitchFamily="2" charset="2"/>
                <a:buChar char="§"/>
              </a:pPr>
              <a:r>
                <a:rPr lang="en-US" sz="1000">
                  <a:solidFill>
                    <a:schemeClr val="bg1">
                      <a:lumMod val="50000"/>
                    </a:schemeClr>
                  </a:solidFill>
                </a:rPr>
                <a:t>Discovery layer aggregates from Sports, News, Entertainment domains</a:t>
              </a:r>
            </a:p>
          </p:txBody>
        </p:sp>
        <p:sp>
          <p:nvSpPr>
            <p:cNvPr id="20" name="Rectangle 19">
              <a:extLst>
                <a:ext uri="{FF2B5EF4-FFF2-40B4-BE49-F238E27FC236}">
                  <a16:creationId xmlns:a16="http://schemas.microsoft.com/office/drawing/2014/main" id="{4D030F9B-7458-9ACE-1703-770A42AAE03F}"/>
                </a:ext>
              </a:extLst>
            </p:cNvPr>
            <p:cNvSpPr/>
            <p:nvPr/>
          </p:nvSpPr>
          <p:spPr>
            <a:xfrm>
              <a:off x="4249140" y="1744133"/>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Rights &amp; Compliance Check</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Discovery layer queries Rights domain: usage windows, platform restrictions, territorial limits</a:t>
              </a:r>
            </a:p>
            <a:p>
              <a:pPr marL="171450" indent="-171450">
                <a:buFont typeface="Wingdings" panose="05000000000000000000" pitchFamily="2" charset="2"/>
                <a:buChar char="§"/>
              </a:pPr>
              <a:r>
                <a:rPr lang="en-US" sz="1000">
                  <a:solidFill>
                    <a:schemeClr val="bg1">
                      <a:lumMod val="50000"/>
                    </a:schemeClr>
                  </a:solidFill>
                </a:rPr>
                <a:t>Filters results to only rights-cleared content for intended platforms</a:t>
              </a:r>
            </a:p>
          </p:txBody>
        </p:sp>
        <p:sp>
          <p:nvSpPr>
            <p:cNvPr id="21" name="Rectangle 20">
              <a:extLst>
                <a:ext uri="{FF2B5EF4-FFF2-40B4-BE49-F238E27FC236}">
                  <a16:creationId xmlns:a16="http://schemas.microsoft.com/office/drawing/2014/main" id="{3A79E2B5-436E-1581-0508-ED620D65D0F4}"/>
                </a:ext>
              </a:extLst>
            </p:cNvPr>
            <p:cNvSpPr/>
            <p:nvPr/>
          </p:nvSpPr>
          <p:spPr>
            <a:xfrm>
              <a:off x="6067450" y="1744133"/>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AI-Assisted Candidate Generation</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System suggests clips based on engagement metadata, viewership spikes, sentiment scores</a:t>
              </a:r>
            </a:p>
          </p:txBody>
        </p:sp>
        <p:sp>
          <p:nvSpPr>
            <p:cNvPr id="22" name="Rectangle 21">
              <a:extLst>
                <a:ext uri="{FF2B5EF4-FFF2-40B4-BE49-F238E27FC236}">
                  <a16:creationId xmlns:a16="http://schemas.microsoft.com/office/drawing/2014/main" id="{32289AFF-F25E-5B89-BAC7-B1FCC2AAE55D}"/>
                </a:ext>
              </a:extLst>
            </p:cNvPr>
            <p:cNvSpPr/>
            <p:nvPr/>
          </p:nvSpPr>
          <p:spPr>
            <a:xfrm>
              <a:off x="7885760" y="1744133"/>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Curation &amp; Selection</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Editor reviews AI candidates, applies editorial judgment, selects final assets</a:t>
              </a:r>
            </a:p>
            <a:p>
              <a:pPr marL="171450" indent="-171450">
                <a:buFont typeface="Wingdings" panose="05000000000000000000" pitchFamily="2" charset="2"/>
                <a:buChar char="§"/>
              </a:pPr>
              <a:r>
                <a:rPr lang="en-US" sz="1000">
                  <a:solidFill>
                    <a:schemeClr val="bg1">
                      <a:lumMod val="50000"/>
                    </a:schemeClr>
                  </a:solidFill>
                </a:rPr>
                <a:t>Can adjust in/out points, add editorial notes, assign narrative framing</a:t>
              </a:r>
            </a:p>
          </p:txBody>
        </p:sp>
        <p:sp>
          <p:nvSpPr>
            <p:cNvPr id="23" name="Rectangle 22">
              <a:extLst>
                <a:ext uri="{FF2B5EF4-FFF2-40B4-BE49-F238E27FC236}">
                  <a16:creationId xmlns:a16="http://schemas.microsoft.com/office/drawing/2014/main" id="{89F75884-7B9A-336B-7A8B-E9B32C718A76}"/>
                </a:ext>
              </a:extLst>
            </p:cNvPr>
            <p:cNvSpPr/>
            <p:nvPr/>
          </p:nvSpPr>
          <p:spPr>
            <a:xfrm>
              <a:off x="9704070" y="1744133"/>
              <a:ext cx="1937067"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Target Format &amp; Platform Selection</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Editor specifies output formats: "TikTok vertical + Instagram Reel + YouTube Short"</a:t>
              </a:r>
            </a:p>
            <a:p>
              <a:pPr marL="171450" indent="-171450">
                <a:buFont typeface="Wingdings" panose="05000000000000000000" pitchFamily="2" charset="2"/>
                <a:buChar char="§"/>
              </a:pPr>
              <a:r>
                <a:rPr lang="en-US" sz="1000">
                  <a:solidFill>
                    <a:schemeClr val="bg1">
                      <a:lumMod val="50000"/>
                    </a:schemeClr>
                  </a:solidFill>
                </a:rPr>
                <a:t>Distribution domain provides platform specs: aspect ratios, max duration, codec requirements</a:t>
              </a:r>
            </a:p>
            <a:p>
              <a:pPr marL="171450" indent="-171450">
                <a:buFont typeface="Wingdings" panose="05000000000000000000" pitchFamily="2" charset="2"/>
                <a:buChar char="§"/>
              </a:pPr>
              <a:r>
                <a:rPr lang="en-US" sz="1000">
                  <a:solidFill>
                    <a:schemeClr val="bg1">
                      <a:lumMod val="50000"/>
                    </a:schemeClr>
                  </a:solidFill>
                </a:rPr>
                <a:t>Rights domain validates content cleared for selected platforms and territories</a:t>
              </a:r>
            </a:p>
          </p:txBody>
        </p:sp>
        <p:sp>
          <p:nvSpPr>
            <p:cNvPr id="24" name="Rectangle 23">
              <a:extLst>
                <a:ext uri="{FF2B5EF4-FFF2-40B4-BE49-F238E27FC236}">
                  <a16:creationId xmlns:a16="http://schemas.microsoft.com/office/drawing/2014/main" id="{342BD6EB-18E1-4B40-66EA-18F1F629A3C5}"/>
                </a:ext>
              </a:extLst>
            </p:cNvPr>
            <p:cNvSpPr/>
            <p:nvPr/>
          </p:nvSpPr>
          <p:spPr>
            <a:xfrm>
              <a:off x="550863" y="4429208"/>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Metadata Enrichment Feedback Loop</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Performance data updates original metadata: "high-engagement moment" tag added</a:t>
              </a:r>
            </a:p>
            <a:p>
              <a:pPr marL="171450" indent="-171450">
                <a:buFont typeface="Wingdings" panose="05000000000000000000" pitchFamily="2" charset="2"/>
                <a:buChar char="§"/>
              </a:pPr>
              <a:r>
                <a:rPr lang="en-US" sz="1000">
                  <a:solidFill>
                    <a:schemeClr val="bg1">
                      <a:lumMod val="50000"/>
                    </a:schemeClr>
                  </a:solidFill>
                </a:rPr>
                <a:t>Improves future AI candidate suggestions and template selection accuracy</a:t>
              </a:r>
            </a:p>
          </p:txBody>
        </p:sp>
        <p:sp>
          <p:nvSpPr>
            <p:cNvPr id="26" name="Rectangle 25">
              <a:extLst>
                <a:ext uri="{FF2B5EF4-FFF2-40B4-BE49-F238E27FC236}">
                  <a16:creationId xmlns:a16="http://schemas.microsoft.com/office/drawing/2014/main" id="{187050E8-CDCC-11A0-0CE7-1C11CDCFF7C0}"/>
                </a:ext>
              </a:extLst>
            </p:cNvPr>
            <p:cNvSpPr/>
            <p:nvPr/>
          </p:nvSpPr>
          <p:spPr>
            <a:xfrm>
              <a:off x="2797572" y="4429208"/>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Publish &amp; Performance Tracking</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Content published to selected platforms with metadata-driven captions and hashtags</a:t>
              </a:r>
            </a:p>
            <a:p>
              <a:pPr marL="171450" indent="-171450">
                <a:buFont typeface="Wingdings" panose="05000000000000000000" pitchFamily="2" charset="2"/>
                <a:buChar char="§"/>
              </a:pPr>
              <a:r>
                <a:rPr lang="en-US" sz="1000">
                  <a:solidFill>
                    <a:schemeClr val="bg1">
                      <a:lumMod val="50000"/>
                    </a:schemeClr>
                  </a:solidFill>
                </a:rPr>
                <a:t>Performance metrics fed back to metadata store: engagement, completion rate, virality score</a:t>
              </a:r>
            </a:p>
          </p:txBody>
        </p:sp>
        <p:sp>
          <p:nvSpPr>
            <p:cNvPr id="27" name="Rectangle 26">
              <a:extLst>
                <a:ext uri="{FF2B5EF4-FFF2-40B4-BE49-F238E27FC236}">
                  <a16:creationId xmlns:a16="http://schemas.microsoft.com/office/drawing/2014/main" id="{060EBE79-7E1C-0D07-0B82-9DFA328680B7}"/>
                </a:ext>
              </a:extLst>
            </p:cNvPr>
            <p:cNvSpPr/>
            <p:nvPr/>
          </p:nvSpPr>
          <p:spPr>
            <a:xfrm>
              <a:off x="5044281" y="4429208"/>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Editorial QA &amp; Approval</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Editor previews all variants, can request adjustments to framing or timing</a:t>
              </a:r>
            </a:p>
            <a:p>
              <a:pPr marL="171450" indent="-171450">
                <a:buFont typeface="Wingdings" panose="05000000000000000000" pitchFamily="2" charset="2"/>
                <a:buChar char="§"/>
              </a:pPr>
              <a:r>
                <a:rPr lang="en-US" sz="1000">
                  <a:solidFill>
                    <a:schemeClr val="bg1">
                      <a:lumMod val="50000"/>
                    </a:schemeClr>
                  </a:solidFill>
                </a:rPr>
                <a:t>Batch approval for compliant outputs, flag edge cases for manual review</a:t>
              </a:r>
            </a:p>
          </p:txBody>
        </p:sp>
        <p:sp>
          <p:nvSpPr>
            <p:cNvPr id="28" name="Rectangle 27">
              <a:extLst>
                <a:ext uri="{FF2B5EF4-FFF2-40B4-BE49-F238E27FC236}">
                  <a16:creationId xmlns:a16="http://schemas.microsoft.com/office/drawing/2014/main" id="{BAC89C9D-8640-5350-7711-1FE2EE14D1A2}"/>
                </a:ext>
              </a:extLst>
            </p:cNvPr>
            <p:cNvSpPr/>
            <p:nvPr/>
          </p:nvSpPr>
          <p:spPr>
            <a:xfrm>
              <a:off x="7290990" y="4429208"/>
              <a:ext cx="1404939"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Automated Multi-Format Rendering</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Rendering pipeline generates all requested variants in parallel</a:t>
              </a:r>
            </a:p>
          </p:txBody>
        </p:sp>
        <p:sp>
          <p:nvSpPr>
            <p:cNvPr id="29" name="Rectangle 28">
              <a:extLst>
                <a:ext uri="{FF2B5EF4-FFF2-40B4-BE49-F238E27FC236}">
                  <a16:creationId xmlns:a16="http://schemas.microsoft.com/office/drawing/2014/main" id="{36790553-5EC1-BC79-6428-883C0401C3D1}"/>
                </a:ext>
              </a:extLst>
            </p:cNvPr>
            <p:cNvSpPr/>
            <p:nvPr/>
          </p:nvSpPr>
          <p:spPr>
            <a:xfrm>
              <a:off x="9537700" y="4429208"/>
              <a:ext cx="2103437" cy="2023534"/>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000" b="1">
                  <a:solidFill>
                    <a:schemeClr val="tx1"/>
                  </a:solidFill>
                </a:rPr>
                <a:t>Template Routing &amp; Parameter Mapping</a:t>
              </a:r>
            </a:p>
            <a:p>
              <a:endParaRPr lang="en-US" sz="1000">
                <a:solidFill>
                  <a:schemeClr val="tx1"/>
                </a:solidFill>
              </a:endParaRPr>
            </a:p>
            <a:p>
              <a:pPr marL="171450" indent="-171450">
                <a:buFont typeface="Wingdings" panose="05000000000000000000" pitchFamily="2" charset="2"/>
                <a:buChar char="§"/>
              </a:pPr>
              <a:r>
                <a:rPr lang="en-US" sz="1000">
                  <a:solidFill>
                    <a:schemeClr val="bg1">
                      <a:lumMod val="50000"/>
                    </a:schemeClr>
                  </a:solidFill>
                </a:rPr>
                <a:t>Format engine selects appropriate template: Social Vertical, AVOD Cutdown, Promo 30s, etc.</a:t>
              </a:r>
            </a:p>
            <a:p>
              <a:pPr marL="171450" indent="-171450">
                <a:buFont typeface="Wingdings" panose="05000000000000000000" pitchFamily="2" charset="2"/>
                <a:buChar char="§"/>
              </a:pPr>
              <a:r>
                <a:rPr lang="en-US" sz="1000">
                  <a:solidFill>
                    <a:schemeClr val="bg1">
                      <a:lumMod val="50000"/>
                    </a:schemeClr>
                  </a:solidFill>
                </a:rPr>
                <a:t>Maps metadata to template parameters: title overlays from event metadata, logos from brand assets</a:t>
              </a:r>
            </a:p>
            <a:p>
              <a:pPr marL="171450" indent="-171450">
                <a:buFont typeface="Wingdings" panose="05000000000000000000" pitchFamily="2" charset="2"/>
                <a:buChar char="§"/>
              </a:pPr>
              <a:r>
                <a:rPr lang="en-US" sz="1000">
                  <a:solidFill>
                    <a:schemeClr val="bg1">
                      <a:lumMod val="50000"/>
                    </a:schemeClr>
                  </a:solidFill>
                </a:rPr>
                <a:t>Auto-crops to platform aspect ratio using face detection + subject tracking metadata</a:t>
              </a:r>
            </a:p>
          </p:txBody>
        </p:sp>
        <p:sp>
          <p:nvSpPr>
            <p:cNvPr id="30" name="Oval 29">
              <a:extLst>
                <a:ext uri="{FF2B5EF4-FFF2-40B4-BE49-F238E27FC236}">
                  <a16:creationId xmlns:a16="http://schemas.microsoft.com/office/drawing/2014/main" id="{D418C444-0ADB-63EA-5E80-7BAFABE89AD1}"/>
                </a:ext>
              </a:extLst>
            </p:cNvPr>
            <p:cNvSpPr/>
            <p:nvPr/>
          </p:nvSpPr>
          <p:spPr>
            <a:xfrm>
              <a:off x="550863" y="1415446"/>
              <a:ext cx="286808" cy="286808"/>
            </a:xfrm>
            <a:prstGeom prst="ellipse">
              <a:avLst/>
            </a:prstGeom>
            <a:solidFill>
              <a:schemeClr val="bg1">
                <a:lumMod val="8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1</a:t>
              </a:r>
            </a:p>
          </p:txBody>
        </p:sp>
        <p:sp>
          <p:nvSpPr>
            <p:cNvPr id="31" name="Oval 30">
              <a:extLst>
                <a:ext uri="{FF2B5EF4-FFF2-40B4-BE49-F238E27FC236}">
                  <a16:creationId xmlns:a16="http://schemas.microsoft.com/office/drawing/2014/main" id="{0724BF5B-1340-17FE-2F1F-ABA0DDD8B483}"/>
                </a:ext>
              </a:extLst>
            </p:cNvPr>
            <p:cNvSpPr/>
            <p:nvPr/>
          </p:nvSpPr>
          <p:spPr>
            <a:xfrm>
              <a:off x="2369173" y="1415446"/>
              <a:ext cx="286808" cy="286808"/>
            </a:xfrm>
            <a:prstGeom prst="ellipse">
              <a:avLst/>
            </a:prstGeom>
            <a:solidFill>
              <a:schemeClr val="bg1">
                <a:lumMod val="8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2</a:t>
              </a:r>
            </a:p>
          </p:txBody>
        </p:sp>
        <p:sp>
          <p:nvSpPr>
            <p:cNvPr id="32" name="Oval 31">
              <a:extLst>
                <a:ext uri="{FF2B5EF4-FFF2-40B4-BE49-F238E27FC236}">
                  <a16:creationId xmlns:a16="http://schemas.microsoft.com/office/drawing/2014/main" id="{3D218826-5E1D-B897-A09D-1A5288A74153}"/>
                </a:ext>
              </a:extLst>
            </p:cNvPr>
            <p:cNvSpPr/>
            <p:nvPr/>
          </p:nvSpPr>
          <p:spPr>
            <a:xfrm>
              <a:off x="4249140" y="1415446"/>
              <a:ext cx="286808" cy="286808"/>
            </a:xfrm>
            <a:prstGeom prst="ellipse">
              <a:avLst/>
            </a:prstGeom>
            <a:solidFill>
              <a:schemeClr val="bg1">
                <a:lumMod val="85000"/>
              </a:schemeClr>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3</a:t>
              </a:r>
            </a:p>
          </p:txBody>
        </p:sp>
        <p:sp>
          <p:nvSpPr>
            <p:cNvPr id="33" name="Oval 32">
              <a:extLst>
                <a:ext uri="{FF2B5EF4-FFF2-40B4-BE49-F238E27FC236}">
                  <a16:creationId xmlns:a16="http://schemas.microsoft.com/office/drawing/2014/main" id="{5ECF6B2F-0CA6-7C28-582C-C0A296949A50}"/>
                </a:ext>
              </a:extLst>
            </p:cNvPr>
            <p:cNvSpPr/>
            <p:nvPr/>
          </p:nvSpPr>
          <p:spPr>
            <a:xfrm>
              <a:off x="6067450" y="1415446"/>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4</a:t>
              </a:r>
            </a:p>
          </p:txBody>
        </p:sp>
        <p:sp>
          <p:nvSpPr>
            <p:cNvPr id="34" name="Oval 33">
              <a:extLst>
                <a:ext uri="{FF2B5EF4-FFF2-40B4-BE49-F238E27FC236}">
                  <a16:creationId xmlns:a16="http://schemas.microsoft.com/office/drawing/2014/main" id="{EBC4B702-2F75-B34E-54E2-C6FB798399A5}"/>
                </a:ext>
              </a:extLst>
            </p:cNvPr>
            <p:cNvSpPr/>
            <p:nvPr/>
          </p:nvSpPr>
          <p:spPr>
            <a:xfrm>
              <a:off x="7885760" y="1415446"/>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5</a:t>
              </a:r>
            </a:p>
          </p:txBody>
        </p:sp>
        <p:sp>
          <p:nvSpPr>
            <p:cNvPr id="35" name="Oval 34">
              <a:extLst>
                <a:ext uri="{FF2B5EF4-FFF2-40B4-BE49-F238E27FC236}">
                  <a16:creationId xmlns:a16="http://schemas.microsoft.com/office/drawing/2014/main" id="{1352719C-DD78-1A0C-C662-5F9964A2D4C3}"/>
                </a:ext>
              </a:extLst>
            </p:cNvPr>
            <p:cNvSpPr/>
            <p:nvPr/>
          </p:nvSpPr>
          <p:spPr>
            <a:xfrm>
              <a:off x="9704070" y="1415446"/>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6</a:t>
              </a:r>
            </a:p>
          </p:txBody>
        </p:sp>
        <p:sp>
          <p:nvSpPr>
            <p:cNvPr id="36" name="Oval 35">
              <a:extLst>
                <a:ext uri="{FF2B5EF4-FFF2-40B4-BE49-F238E27FC236}">
                  <a16:creationId xmlns:a16="http://schemas.microsoft.com/office/drawing/2014/main" id="{9F539903-AF0E-31C5-7662-9435F8F62AB2}"/>
                </a:ext>
              </a:extLst>
            </p:cNvPr>
            <p:cNvSpPr/>
            <p:nvPr/>
          </p:nvSpPr>
          <p:spPr>
            <a:xfrm>
              <a:off x="9537700" y="4105801"/>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7</a:t>
              </a:r>
            </a:p>
          </p:txBody>
        </p:sp>
        <p:sp>
          <p:nvSpPr>
            <p:cNvPr id="37" name="Oval 36">
              <a:extLst>
                <a:ext uri="{FF2B5EF4-FFF2-40B4-BE49-F238E27FC236}">
                  <a16:creationId xmlns:a16="http://schemas.microsoft.com/office/drawing/2014/main" id="{897F5FB1-909A-4464-C358-C6D77D0C948D}"/>
                </a:ext>
              </a:extLst>
            </p:cNvPr>
            <p:cNvSpPr/>
            <p:nvPr/>
          </p:nvSpPr>
          <p:spPr>
            <a:xfrm>
              <a:off x="7290990" y="4105801"/>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8</a:t>
              </a:r>
            </a:p>
          </p:txBody>
        </p:sp>
        <p:sp>
          <p:nvSpPr>
            <p:cNvPr id="38" name="Oval 37">
              <a:extLst>
                <a:ext uri="{FF2B5EF4-FFF2-40B4-BE49-F238E27FC236}">
                  <a16:creationId xmlns:a16="http://schemas.microsoft.com/office/drawing/2014/main" id="{9C985FDF-0A40-0DD4-9BA9-8C2B902CAB3F}"/>
                </a:ext>
              </a:extLst>
            </p:cNvPr>
            <p:cNvSpPr/>
            <p:nvPr/>
          </p:nvSpPr>
          <p:spPr>
            <a:xfrm>
              <a:off x="5044280" y="4105801"/>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9</a:t>
              </a:r>
            </a:p>
          </p:txBody>
        </p:sp>
        <p:sp>
          <p:nvSpPr>
            <p:cNvPr id="39" name="Oval 38">
              <a:extLst>
                <a:ext uri="{FF2B5EF4-FFF2-40B4-BE49-F238E27FC236}">
                  <a16:creationId xmlns:a16="http://schemas.microsoft.com/office/drawing/2014/main" id="{DCFEA723-72DA-9F96-F5B5-3B0FFC631F45}"/>
                </a:ext>
              </a:extLst>
            </p:cNvPr>
            <p:cNvSpPr/>
            <p:nvPr/>
          </p:nvSpPr>
          <p:spPr>
            <a:xfrm>
              <a:off x="2797572" y="4105801"/>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10</a:t>
              </a:r>
            </a:p>
          </p:txBody>
        </p:sp>
        <p:sp>
          <p:nvSpPr>
            <p:cNvPr id="40" name="Oval 39">
              <a:extLst>
                <a:ext uri="{FF2B5EF4-FFF2-40B4-BE49-F238E27FC236}">
                  <a16:creationId xmlns:a16="http://schemas.microsoft.com/office/drawing/2014/main" id="{2F1A7568-848B-8FC8-3941-4A3121895599}"/>
                </a:ext>
              </a:extLst>
            </p:cNvPr>
            <p:cNvSpPr/>
            <p:nvPr/>
          </p:nvSpPr>
          <p:spPr>
            <a:xfrm>
              <a:off x="550863" y="4105801"/>
              <a:ext cx="286808" cy="286808"/>
            </a:xfrm>
            <a:prstGeom prst="ellipse">
              <a:avLst/>
            </a:prstGeom>
            <a:solidFill>
              <a:srgbClr val="E1F1FF"/>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tx1"/>
                  </a:solidFill>
                </a:rPr>
                <a:t>11</a:t>
              </a:r>
            </a:p>
          </p:txBody>
        </p:sp>
        <p:cxnSp>
          <p:nvCxnSpPr>
            <p:cNvPr id="42" name="Straight Arrow Connector 41">
              <a:extLst>
                <a:ext uri="{FF2B5EF4-FFF2-40B4-BE49-F238E27FC236}">
                  <a16:creationId xmlns:a16="http://schemas.microsoft.com/office/drawing/2014/main" id="{963E6A16-AD3E-FA57-9181-897C7A4B5A4D}"/>
                </a:ext>
              </a:extLst>
            </p:cNvPr>
            <p:cNvCxnSpPr>
              <a:stCxn id="30" idx="6"/>
              <a:endCxn id="31" idx="2"/>
            </p:cNvCxnSpPr>
            <p:nvPr/>
          </p:nvCxnSpPr>
          <p:spPr>
            <a:xfrm>
              <a:off x="837671" y="1558850"/>
              <a:ext cx="15315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4CB1FDA-9B47-94B0-7C92-BF61C5A9C6B9}"/>
                </a:ext>
              </a:extLst>
            </p:cNvPr>
            <p:cNvCxnSpPr>
              <a:stCxn id="31" idx="6"/>
              <a:endCxn id="32" idx="2"/>
            </p:cNvCxnSpPr>
            <p:nvPr/>
          </p:nvCxnSpPr>
          <p:spPr>
            <a:xfrm>
              <a:off x="2655981" y="1558850"/>
              <a:ext cx="1593159"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8515E9E-848D-C4EC-B130-E85260502B39}"/>
                </a:ext>
              </a:extLst>
            </p:cNvPr>
            <p:cNvCxnSpPr>
              <a:stCxn id="32" idx="6"/>
              <a:endCxn id="33" idx="2"/>
            </p:cNvCxnSpPr>
            <p:nvPr/>
          </p:nvCxnSpPr>
          <p:spPr>
            <a:xfrm>
              <a:off x="4535948" y="1558850"/>
              <a:ext cx="15315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5A4F8AC-1520-74D7-CF97-75AE907C4385}"/>
                </a:ext>
              </a:extLst>
            </p:cNvPr>
            <p:cNvCxnSpPr>
              <a:stCxn id="33" idx="6"/>
              <a:endCxn id="34" idx="2"/>
            </p:cNvCxnSpPr>
            <p:nvPr/>
          </p:nvCxnSpPr>
          <p:spPr>
            <a:xfrm>
              <a:off x="6354258" y="1558850"/>
              <a:ext cx="15315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74C3E4A-6EE8-D99E-1079-433FD53245F9}"/>
                </a:ext>
              </a:extLst>
            </p:cNvPr>
            <p:cNvCxnSpPr>
              <a:stCxn id="34" idx="6"/>
              <a:endCxn id="35" idx="2"/>
            </p:cNvCxnSpPr>
            <p:nvPr/>
          </p:nvCxnSpPr>
          <p:spPr>
            <a:xfrm>
              <a:off x="8172568" y="1558850"/>
              <a:ext cx="15315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7B31D8E0-D3CF-1905-1B1D-6B26175FB1A8}"/>
                </a:ext>
              </a:extLst>
            </p:cNvPr>
            <p:cNvCxnSpPr>
              <a:stCxn id="35" idx="6"/>
              <a:endCxn id="36" idx="6"/>
            </p:cNvCxnSpPr>
            <p:nvPr/>
          </p:nvCxnSpPr>
          <p:spPr>
            <a:xfrm flipH="1">
              <a:off x="9824508" y="1558850"/>
              <a:ext cx="166370" cy="2690355"/>
            </a:xfrm>
            <a:prstGeom prst="bentConnector3">
              <a:avLst>
                <a:gd name="adj1" fmla="val -1063614"/>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FC730FF-1AC6-7670-3155-C962C1161A9A}"/>
                </a:ext>
              </a:extLst>
            </p:cNvPr>
            <p:cNvCxnSpPr>
              <a:stCxn id="36" idx="2"/>
              <a:endCxn id="37" idx="6"/>
            </p:cNvCxnSpPr>
            <p:nvPr/>
          </p:nvCxnSpPr>
          <p:spPr>
            <a:xfrm flipH="1">
              <a:off x="7577798" y="4249205"/>
              <a:ext cx="19599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ECC0395-65C9-B81D-CAE5-65CED98AE0F5}"/>
                </a:ext>
              </a:extLst>
            </p:cNvPr>
            <p:cNvCxnSpPr>
              <a:stCxn id="37" idx="2"/>
              <a:endCxn id="38" idx="6"/>
            </p:cNvCxnSpPr>
            <p:nvPr/>
          </p:nvCxnSpPr>
          <p:spPr>
            <a:xfrm flipH="1">
              <a:off x="5331088" y="4249205"/>
              <a:ext cx="1959902"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3A1BF4E4-2837-7C06-39F6-3F19959F2E95}"/>
                </a:ext>
              </a:extLst>
            </p:cNvPr>
            <p:cNvCxnSpPr>
              <a:stCxn id="38" idx="2"/>
              <a:endCxn id="39" idx="6"/>
            </p:cNvCxnSpPr>
            <p:nvPr/>
          </p:nvCxnSpPr>
          <p:spPr>
            <a:xfrm flipH="1">
              <a:off x="3084380" y="4249205"/>
              <a:ext cx="1959900"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178D616-C650-9435-3DCE-4BC320D1D4D5}"/>
                </a:ext>
              </a:extLst>
            </p:cNvPr>
            <p:cNvCxnSpPr>
              <a:stCxn id="39" idx="2"/>
              <a:endCxn id="40" idx="6"/>
            </p:cNvCxnSpPr>
            <p:nvPr/>
          </p:nvCxnSpPr>
          <p:spPr>
            <a:xfrm flipH="1">
              <a:off x="837671" y="4249205"/>
              <a:ext cx="1959901" cy="0"/>
            </a:xfrm>
            <a:prstGeom prst="straightConnector1">
              <a:avLst/>
            </a:prstGeom>
            <a:ln w="3175">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173D0D6F-09E0-33B4-AFEA-8C8BAE7500CA}"/>
                </a:ext>
              </a:extLst>
            </p:cNvPr>
            <p:cNvGrpSpPr/>
            <p:nvPr/>
          </p:nvGrpSpPr>
          <p:grpSpPr>
            <a:xfrm>
              <a:off x="260350" y="1558851"/>
              <a:ext cx="303213" cy="2690355"/>
              <a:chOff x="260350" y="1558851"/>
              <a:chExt cx="303213" cy="2690355"/>
            </a:xfrm>
          </p:grpSpPr>
          <p:cxnSp>
            <p:nvCxnSpPr>
              <p:cNvPr id="63" name="Connector: Elbow 62">
                <a:extLst>
                  <a:ext uri="{FF2B5EF4-FFF2-40B4-BE49-F238E27FC236}">
                    <a16:creationId xmlns:a16="http://schemas.microsoft.com/office/drawing/2014/main" id="{6150935A-4BC2-F827-A359-FDE1E877D0A6}"/>
                  </a:ext>
                </a:extLst>
              </p:cNvPr>
              <p:cNvCxnSpPr>
                <a:stCxn id="40" idx="2"/>
                <a:endCxn id="30" idx="2"/>
              </p:cNvCxnSpPr>
              <p:nvPr/>
            </p:nvCxnSpPr>
            <p:spPr>
              <a:xfrm rot="10800000">
                <a:off x="550863" y="1558851"/>
                <a:ext cx="12700" cy="2690355"/>
              </a:xfrm>
              <a:prstGeom prst="bentConnector3">
                <a:avLst>
                  <a:gd name="adj1" fmla="val 1733331"/>
                </a:avLst>
              </a:prstGeom>
              <a:ln w="12700">
                <a:solidFill>
                  <a:schemeClr val="bg1">
                    <a:lumMod val="85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4EF495DB-049D-F815-A731-4D4C4A785723}"/>
                  </a:ext>
                </a:extLst>
              </p:cNvPr>
              <p:cNvSpPr/>
              <p:nvPr/>
            </p:nvSpPr>
            <p:spPr>
              <a:xfrm>
                <a:off x="260350" y="2194984"/>
                <a:ext cx="158750" cy="154516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1000">
                    <a:solidFill>
                      <a:schemeClr val="tx1">
                        <a:lumMod val="50000"/>
                        <a:lumOff val="50000"/>
                      </a:schemeClr>
                    </a:solidFill>
                  </a:rPr>
                  <a:t>Continuous Improvement</a:t>
                </a:r>
              </a:p>
            </p:txBody>
          </p:sp>
        </p:grpSp>
      </p:grpSp>
    </p:spTree>
    <p:extLst>
      <p:ext uri="{BB962C8B-B14F-4D97-AF65-F5344CB8AC3E}">
        <p14:creationId xmlns:p14="http://schemas.microsoft.com/office/powerpoint/2010/main" val="24597239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D4F3-3159-1E4A-46A4-F086C778E77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49D723A-1658-0E00-E2B2-85DA2328238F}"/>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8F940CC-642D-7F6A-CAA8-0B549327C0A7}"/>
              </a:ext>
            </a:extLst>
          </p:cNvPr>
          <p:cNvSpPr>
            <a:spLocks noGrp="1"/>
          </p:cNvSpPr>
          <p:nvPr>
            <p:ph type="ftr" sz="quarter" idx="29"/>
          </p:nvPr>
        </p:nvSpPr>
        <p:spPr/>
        <p:txBody>
          <a:bodyPr/>
          <a:lstStyle/>
          <a:p>
            <a:pPr>
              <a:spcBef>
                <a:spcPts val="1000"/>
              </a:spcBef>
              <a:buFont typeface="Arial" panose="020B0604020202020204" pitchFamily="34" charset="0"/>
              <a:buNone/>
            </a:pPr>
            <a:r>
              <a:rPr lang="en-US"/>
              <a:t>Data Strategy for Linear TV PoV | Capgemini Invent | March 2026</a:t>
            </a:r>
          </a:p>
        </p:txBody>
      </p:sp>
      <p:sp>
        <p:nvSpPr>
          <p:cNvPr id="4" name="Slide Number Placeholder 3">
            <a:extLst>
              <a:ext uri="{FF2B5EF4-FFF2-40B4-BE49-F238E27FC236}">
                <a16:creationId xmlns:a16="http://schemas.microsoft.com/office/drawing/2014/main" id="{10689875-4280-D082-BE18-26AE89E7825F}"/>
              </a:ext>
            </a:extLst>
          </p:cNvPr>
          <p:cNvSpPr>
            <a:spLocks noGrp="1"/>
          </p:cNvSpPr>
          <p:nvPr>
            <p:ph type="sldNum" sz="quarter" idx="30"/>
          </p:nvPr>
        </p:nvSpPr>
        <p:spPr/>
        <p:txBody>
          <a:bodyPr/>
          <a:lstStyle/>
          <a:p>
            <a:pPr algn="r"/>
            <a:fld id="{5D9A5160-6218-4E5A-B9E6-B93E3DAE377C}" type="slidenum">
              <a:rPr lang="en-US" smtClean="0"/>
              <a:pPr algn="r"/>
              <a:t>48</a:t>
            </a:fld>
            <a:endParaRPr lang="en-US"/>
          </a:p>
        </p:txBody>
      </p:sp>
      <p:sp>
        <p:nvSpPr>
          <p:cNvPr id="5" name="Title 4">
            <a:extLst>
              <a:ext uri="{FF2B5EF4-FFF2-40B4-BE49-F238E27FC236}">
                <a16:creationId xmlns:a16="http://schemas.microsoft.com/office/drawing/2014/main" id="{8264F377-55B3-27BA-3B6D-C2BE216C9D6A}"/>
              </a:ext>
            </a:extLst>
          </p:cNvPr>
          <p:cNvSpPr>
            <a:spLocks noGrp="1"/>
          </p:cNvSpPr>
          <p:nvPr>
            <p:ph type="title"/>
          </p:nvPr>
        </p:nvSpPr>
        <p:spPr/>
        <p:txBody>
          <a:bodyPr/>
          <a:lstStyle/>
          <a:p>
            <a:endParaRPr lang="en-US" dirty="0"/>
          </a:p>
        </p:txBody>
      </p:sp>
      <p:sp>
        <p:nvSpPr>
          <p:cNvPr id="6" name="Rectangle: Rounded Corners 5">
            <a:extLst>
              <a:ext uri="{FF2B5EF4-FFF2-40B4-BE49-F238E27FC236}">
                <a16:creationId xmlns:a16="http://schemas.microsoft.com/office/drawing/2014/main" id="{7E84C7BB-CCD6-2A49-C423-68C97775B8CD}"/>
              </a:ext>
            </a:extLst>
          </p:cNvPr>
          <p:cNvSpPr/>
          <p:nvPr/>
        </p:nvSpPr>
        <p:spPr>
          <a:xfrm>
            <a:off x="589463" y="1628775"/>
            <a:ext cx="248103" cy="4823967"/>
          </a:xfrm>
          <a:prstGeom prst="roundRect">
            <a:avLst>
              <a:gd name="adj" fmla="val 10072"/>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dirty="0">
                <a:solidFill>
                  <a:schemeClr val="tx1">
                    <a:lumMod val="50000"/>
                    <a:lumOff val="50000"/>
                  </a:schemeClr>
                </a:solidFill>
              </a:rPr>
              <a:t>Source Layer</a:t>
            </a:r>
          </a:p>
        </p:txBody>
      </p:sp>
      <p:sp>
        <p:nvSpPr>
          <p:cNvPr id="7" name="Rectangle: Rounded Corners 6">
            <a:extLst>
              <a:ext uri="{FF2B5EF4-FFF2-40B4-BE49-F238E27FC236}">
                <a16:creationId xmlns:a16="http://schemas.microsoft.com/office/drawing/2014/main" id="{6AE6747C-6268-85C4-6E9F-577269171BCC}"/>
              </a:ext>
            </a:extLst>
          </p:cNvPr>
          <p:cNvSpPr/>
          <p:nvPr/>
        </p:nvSpPr>
        <p:spPr>
          <a:xfrm>
            <a:off x="11393034" y="1628775"/>
            <a:ext cx="248103" cy="4824413"/>
          </a:xfrm>
          <a:prstGeom prst="roundRect">
            <a:avLst>
              <a:gd name="adj" fmla="val 18797"/>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900">
                <a:solidFill>
                  <a:schemeClr val="tx1">
                    <a:lumMod val="50000"/>
                    <a:lumOff val="50000"/>
                  </a:schemeClr>
                </a:solidFill>
              </a:rPr>
              <a:t>Presentation Layer</a:t>
            </a:r>
          </a:p>
        </p:txBody>
      </p:sp>
      <p:sp>
        <p:nvSpPr>
          <p:cNvPr id="8" name="Rectangle: Rounded Corners 7">
            <a:extLst>
              <a:ext uri="{FF2B5EF4-FFF2-40B4-BE49-F238E27FC236}">
                <a16:creationId xmlns:a16="http://schemas.microsoft.com/office/drawing/2014/main" id="{050B3570-4270-23A1-4423-38E0E4D10404}"/>
              </a:ext>
            </a:extLst>
          </p:cNvPr>
          <p:cNvSpPr/>
          <p:nvPr/>
        </p:nvSpPr>
        <p:spPr>
          <a:xfrm>
            <a:off x="4533914" y="1628775"/>
            <a:ext cx="6272172" cy="4824413"/>
          </a:xfrm>
          <a:prstGeom prst="roundRect">
            <a:avLst>
              <a:gd name="adj" fmla="val 612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t" anchorCtr="0" forceAA="0" compatLnSpc="1">
            <a:prstTxWarp prst="textNoShape">
              <a:avLst/>
            </a:prstTxWarp>
            <a:noAutofit/>
          </a:bodyPr>
          <a:lstStyle/>
          <a:p>
            <a:pPr algn="ctr"/>
            <a:r>
              <a:rPr lang="en-US" sz="1050" b="1">
                <a:solidFill>
                  <a:schemeClr val="tx1"/>
                </a:solidFill>
              </a:rPr>
              <a:t>Discovery Layer</a:t>
            </a:r>
          </a:p>
        </p:txBody>
      </p:sp>
      <p:sp>
        <p:nvSpPr>
          <p:cNvPr id="9" name="Rectangle: Rounded Corners 8">
            <a:extLst>
              <a:ext uri="{FF2B5EF4-FFF2-40B4-BE49-F238E27FC236}">
                <a16:creationId xmlns:a16="http://schemas.microsoft.com/office/drawing/2014/main" id="{C4B3A8CE-51AB-A3FF-4EB5-EF583AE73FDA}"/>
              </a:ext>
            </a:extLst>
          </p:cNvPr>
          <p:cNvSpPr/>
          <p:nvPr/>
        </p:nvSpPr>
        <p:spPr>
          <a:xfrm>
            <a:off x="979038" y="1628775"/>
            <a:ext cx="2967929" cy="4823968"/>
          </a:xfrm>
          <a:prstGeom prst="roundRect">
            <a:avLst>
              <a:gd name="adj" fmla="val 1141"/>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050" b="1" dirty="0">
                <a:solidFill>
                  <a:schemeClr val="tx1"/>
                </a:solidFill>
              </a:rPr>
              <a:t>Domain Layer</a:t>
            </a:r>
          </a:p>
        </p:txBody>
      </p:sp>
      <p:sp>
        <p:nvSpPr>
          <p:cNvPr id="10" name="Rectangle: Rounded Corners 9">
            <a:extLst>
              <a:ext uri="{FF2B5EF4-FFF2-40B4-BE49-F238E27FC236}">
                <a16:creationId xmlns:a16="http://schemas.microsoft.com/office/drawing/2014/main" id="{FC417502-9CEA-9EC1-0A13-54D6237EE899}"/>
              </a:ext>
            </a:extLst>
          </p:cNvPr>
          <p:cNvSpPr/>
          <p:nvPr/>
        </p:nvSpPr>
        <p:spPr>
          <a:xfrm>
            <a:off x="1083434" y="3307682"/>
            <a:ext cx="864000" cy="543918"/>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US" sz="900" b="1" dirty="0">
                <a:solidFill>
                  <a:schemeClr val="tx1"/>
                </a:solidFill>
              </a:rPr>
              <a:t>Sports Domain</a:t>
            </a:r>
          </a:p>
        </p:txBody>
      </p:sp>
      <p:sp>
        <p:nvSpPr>
          <p:cNvPr id="11" name="Rectangle: Rounded Corners 10">
            <a:extLst>
              <a:ext uri="{FF2B5EF4-FFF2-40B4-BE49-F238E27FC236}">
                <a16:creationId xmlns:a16="http://schemas.microsoft.com/office/drawing/2014/main" id="{FA4ED273-3CB7-8FA8-5D0F-657E4DC0D878}"/>
              </a:ext>
            </a:extLst>
          </p:cNvPr>
          <p:cNvSpPr/>
          <p:nvPr/>
        </p:nvSpPr>
        <p:spPr>
          <a:xfrm>
            <a:off x="2023307" y="3307681"/>
            <a:ext cx="864000" cy="543919"/>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US" sz="900" b="1" dirty="0">
                <a:solidFill>
                  <a:schemeClr val="tx1"/>
                </a:solidFill>
              </a:rPr>
              <a:t>News Domain</a:t>
            </a:r>
          </a:p>
        </p:txBody>
      </p:sp>
      <p:sp>
        <p:nvSpPr>
          <p:cNvPr id="12" name="Rectangle: Rounded Corners 11">
            <a:extLst>
              <a:ext uri="{FF2B5EF4-FFF2-40B4-BE49-F238E27FC236}">
                <a16:creationId xmlns:a16="http://schemas.microsoft.com/office/drawing/2014/main" id="{7D011227-DA68-F120-9EE9-1E14C7F07D56}"/>
              </a:ext>
            </a:extLst>
          </p:cNvPr>
          <p:cNvSpPr/>
          <p:nvPr/>
        </p:nvSpPr>
        <p:spPr>
          <a:xfrm>
            <a:off x="2963180" y="3307681"/>
            <a:ext cx="864000" cy="543920"/>
          </a:xfrm>
          <a:prstGeom prst="roundRect">
            <a:avLst>
              <a:gd name="adj" fmla="val 3493"/>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US" sz="900" b="1" dirty="0">
                <a:solidFill>
                  <a:schemeClr val="tx1"/>
                </a:solidFill>
              </a:rPr>
              <a:t>General Entertainment Domain</a:t>
            </a:r>
          </a:p>
        </p:txBody>
      </p:sp>
      <p:sp>
        <p:nvSpPr>
          <p:cNvPr id="86" name="Rectangle: Rounded Corners 85">
            <a:extLst>
              <a:ext uri="{FF2B5EF4-FFF2-40B4-BE49-F238E27FC236}">
                <a16:creationId xmlns:a16="http://schemas.microsoft.com/office/drawing/2014/main" id="{38664CAF-0C85-AD7A-98CA-6555672DBD96}"/>
              </a:ext>
            </a:extLst>
          </p:cNvPr>
          <p:cNvSpPr/>
          <p:nvPr/>
        </p:nvSpPr>
        <p:spPr>
          <a:xfrm>
            <a:off x="1083434" y="4073237"/>
            <a:ext cx="2743746" cy="336717"/>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US" sz="900" b="1" dirty="0">
                <a:solidFill>
                  <a:schemeClr val="tx1"/>
                </a:solidFill>
              </a:rPr>
              <a:t>Rights &amp; Compliance</a:t>
            </a:r>
          </a:p>
        </p:txBody>
      </p:sp>
      <p:sp>
        <p:nvSpPr>
          <p:cNvPr id="93" name="Rectangle: Rounded Corners 92">
            <a:extLst>
              <a:ext uri="{FF2B5EF4-FFF2-40B4-BE49-F238E27FC236}">
                <a16:creationId xmlns:a16="http://schemas.microsoft.com/office/drawing/2014/main" id="{DDE20947-1A7C-4513-E05F-C5EFBC2265B9}"/>
              </a:ext>
            </a:extLst>
          </p:cNvPr>
          <p:cNvSpPr/>
          <p:nvPr/>
        </p:nvSpPr>
        <p:spPr>
          <a:xfrm>
            <a:off x="1083434" y="4590936"/>
            <a:ext cx="2743746" cy="338400"/>
          </a:xfrm>
          <a:prstGeom prst="roundRect">
            <a:avLst>
              <a:gd name="adj" fmla="val 13371"/>
            </a:avLst>
          </a:prstGeom>
          <a:solidFill>
            <a:schemeClr val="accent2">
              <a:lumMod val="20000"/>
              <a:lumOff val="80000"/>
            </a:schemeClr>
          </a:solid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US" sz="900" b="1" dirty="0">
                <a:solidFill>
                  <a:schemeClr val="tx1"/>
                </a:solidFill>
              </a:rPr>
              <a:t>Distribution</a:t>
            </a:r>
          </a:p>
        </p:txBody>
      </p:sp>
      <p:sp>
        <p:nvSpPr>
          <p:cNvPr id="117" name="Arrow: Right 116">
            <a:extLst>
              <a:ext uri="{FF2B5EF4-FFF2-40B4-BE49-F238E27FC236}">
                <a16:creationId xmlns:a16="http://schemas.microsoft.com/office/drawing/2014/main" id="{C5138ACF-2037-5162-97EE-2F58FED3C1AA}"/>
              </a:ext>
            </a:extLst>
          </p:cNvPr>
          <p:cNvSpPr/>
          <p:nvPr/>
        </p:nvSpPr>
        <p:spPr>
          <a:xfrm>
            <a:off x="837566" y="3905501"/>
            <a:ext cx="141068" cy="115399"/>
          </a:xfrm>
          <a:prstGeom prst="rightArrow">
            <a:avLst/>
          </a:prstGeom>
          <a:solidFill>
            <a:schemeClr val="tx1">
              <a:lumMod val="75000"/>
              <a:lumOff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0" name="Arrow: Left-Right 119">
            <a:extLst>
              <a:ext uri="{FF2B5EF4-FFF2-40B4-BE49-F238E27FC236}">
                <a16:creationId xmlns:a16="http://schemas.microsoft.com/office/drawing/2014/main" id="{C6EC46C4-83C4-0996-9FCB-95ACD1BCC11A}"/>
              </a:ext>
            </a:extLst>
          </p:cNvPr>
          <p:cNvSpPr/>
          <p:nvPr/>
        </p:nvSpPr>
        <p:spPr>
          <a:xfrm>
            <a:off x="3946966" y="3905094"/>
            <a:ext cx="586947" cy="116213"/>
          </a:xfrm>
          <a:prstGeom prst="leftRightArrow">
            <a:avLst/>
          </a:prstGeom>
          <a:solidFill>
            <a:schemeClr val="tx1">
              <a:lumMod val="75000"/>
              <a:lumOff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3" name="Arrow: Left-Right 122">
            <a:extLst>
              <a:ext uri="{FF2B5EF4-FFF2-40B4-BE49-F238E27FC236}">
                <a16:creationId xmlns:a16="http://schemas.microsoft.com/office/drawing/2014/main" id="{830BDF82-08DF-CB28-C27C-39BF95F429A5}"/>
              </a:ext>
            </a:extLst>
          </p:cNvPr>
          <p:cNvSpPr/>
          <p:nvPr/>
        </p:nvSpPr>
        <p:spPr>
          <a:xfrm>
            <a:off x="10512612" y="3450779"/>
            <a:ext cx="880421" cy="123111"/>
          </a:xfrm>
          <a:prstGeom prst="leftRightArrow">
            <a:avLst/>
          </a:prstGeom>
          <a:solidFill>
            <a:schemeClr val="tx1">
              <a:lumMod val="75000"/>
              <a:lumOff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5" name="TextBox 124">
            <a:extLst>
              <a:ext uri="{FF2B5EF4-FFF2-40B4-BE49-F238E27FC236}">
                <a16:creationId xmlns:a16="http://schemas.microsoft.com/office/drawing/2014/main" id="{3979FE4D-4067-DFCB-803E-93938E5B1222}"/>
              </a:ext>
            </a:extLst>
          </p:cNvPr>
          <p:cNvSpPr txBox="1"/>
          <p:nvPr/>
        </p:nvSpPr>
        <p:spPr>
          <a:xfrm>
            <a:off x="10871440" y="80428"/>
            <a:ext cx="521594" cy="309958"/>
          </a:xfrm>
          <a:prstGeom prst="rect">
            <a:avLst/>
          </a:prstGeom>
          <a:noFill/>
        </p:spPr>
        <p:txBody>
          <a:bodyPr vert="horz" wrap="none" lIns="90000" tIns="46800" rIns="90000" bIns="46800" rtlCol="0" anchor="ctr">
            <a:spAutoFit/>
          </a:bodyPr>
          <a:lstStyle/>
          <a:p>
            <a:pPr algn="l">
              <a:spcBef>
                <a:spcPct val="0"/>
              </a:spcBef>
            </a:pPr>
            <a:r>
              <a:rPr lang="en-US" sz="1400" dirty="0">
                <a:highlight>
                  <a:srgbClr val="FFFF00"/>
                </a:highlight>
              </a:rPr>
              <a:t>WIP</a:t>
            </a:r>
            <a:endParaRPr lang="en-IN" sz="1400" dirty="0" err="1">
              <a:highlight>
                <a:srgbClr val="FFFF00"/>
              </a:highlight>
            </a:endParaRPr>
          </a:p>
        </p:txBody>
      </p:sp>
      <p:sp>
        <p:nvSpPr>
          <p:cNvPr id="18" name="Rectangle 17">
            <a:extLst>
              <a:ext uri="{FF2B5EF4-FFF2-40B4-BE49-F238E27FC236}">
                <a16:creationId xmlns:a16="http://schemas.microsoft.com/office/drawing/2014/main" id="{D52713ED-D874-AF98-5979-9CA20466251A}"/>
              </a:ext>
            </a:extLst>
          </p:cNvPr>
          <p:cNvSpPr/>
          <p:nvPr/>
        </p:nvSpPr>
        <p:spPr>
          <a:xfrm>
            <a:off x="4907666" y="2607041"/>
            <a:ext cx="1188334" cy="1802726"/>
          </a:xfrm>
          <a:prstGeom prst="rect">
            <a:avLst/>
          </a:prstGeom>
          <a:solidFill>
            <a:schemeClr val="accent3">
              <a:lumMod val="10000"/>
              <a:lumOff val="90000"/>
            </a:schemeClr>
          </a:solidFill>
          <a:ln w="952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US" sz="900" dirty="0">
                <a:solidFill>
                  <a:schemeClr val="tx1"/>
                </a:solidFill>
              </a:rPr>
              <a:t>Metadata Processing &amp; Ingestion Engine</a:t>
            </a:r>
            <a:endParaRPr lang="en-IN" sz="900" dirty="0" err="1">
              <a:solidFill>
                <a:schemeClr val="tx1"/>
              </a:solidFill>
            </a:endParaRPr>
          </a:p>
        </p:txBody>
      </p:sp>
      <p:sp>
        <p:nvSpPr>
          <p:cNvPr id="19" name="Rectangle 18">
            <a:extLst>
              <a:ext uri="{FF2B5EF4-FFF2-40B4-BE49-F238E27FC236}">
                <a16:creationId xmlns:a16="http://schemas.microsoft.com/office/drawing/2014/main" id="{B7767725-DB7D-7766-09AD-8B6BA900E824}"/>
              </a:ext>
            </a:extLst>
          </p:cNvPr>
          <p:cNvSpPr/>
          <p:nvPr/>
        </p:nvSpPr>
        <p:spPr>
          <a:xfrm>
            <a:off x="6358235" y="2607040"/>
            <a:ext cx="1188334" cy="1802911"/>
          </a:xfrm>
          <a:prstGeom prst="rect">
            <a:avLst/>
          </a:prstGeom>
          <a:solidFill>
            <a:schemeClr val="accent3">
              <a:lumMod val="10000"/>
              <a:lumOff val="90000"/>
            </a:schemeClr>
          </a:solidFill>
          <a:ln w="952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US" sz="900" dirty="0">
                <a:solidFill>
                  <a:schemeClr val="tx1"/>
                </a:solidFill>
              </a:rPr>
              <a:t>Identity Engine</a:t>
            </a:r>
            <a:endParaRPr lang="en-IN" sz="900" dirty="0" err="1">
              <a:solidFill>
                <a:schemeClr val="tx1"/>
              </a:solidFill>
            </a:endParaRPr>
          </a:p>
        </p:txBody>
      </p:sp>
      <p:sp>
        <p:nvSpPr>
          <p:cNvPr id="20" name="Rectangle 19">
            <a:extLst>
              <a:ext uri="{FF2B5EF4-FFF2-40B4-BE49-F238E27FC236}">
                <a16:creationId xmlns:a16="http://schemas.microsoft.com/office/drawing/2014/main" id="{1DC33D03-F868-07EA-6A55-7A57DCCC99AF}"/>
              </a:ext>
            </a:extLst>
          </p:cNvPr>
          <p:cNvSpPr/>
          <p:nvPr/>
        </p:nvSpPr>
        <p:spPr>
          <a:xfrm>
            <a:off x="7847262" y="2607041"/>
            <a:ext cx="1188334" cy="1810588"/>
          </a:xfrm>
          <a:prstGeom prst="rect">
            <a:avLst/>
          </a:prstGeom>
          <a:solidFill>
            <a:schemeClr val="accent3">
              <a:lumMod val="10000"/>
              <a:lumOff val="90000"/>
            </a:schemeClr>
          </a:solidFill>
          <a:ln w="952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US" sz="900" dirty="0">
                <a:solidFill>
                  <a:schemeClr val="tx1"/>
                </a:solidFill>
              </a:rPr>
              <a:t>Semantic Engine </a:t>
            </a:r>
          </a:p>
          <a:p>
            <a:pPr algn="ctr"/>
            <a:r>
              <a:rPr lang="en-US" sz="900" dirty="0">
                <a:solidFill>
                  <a:schemeClr val="tx1"/>
                </a:solidFill>
              </a:rPr>
              <a:t>(precomputed)</a:t>
            </a:r>
            <a:endParaRPr lang="en-IN" sz="900" dirty="0" err="1">
              <a:solidFill>
                <a:schemeClr val="tx1"/>
              </a:solidFill>
            </a:endParaRPr>
          </a:p>
        </p:txBody>
      </p:sp>
      <p:sp>
        <p:nvSpPr>
          <p:cNvPr id="21" name="Rectangle 20">
            <a:extLst>
              <a:ext uri="{FF2B5EF4-FFF2-40B4-BE49-F238E27FC236}">
                <a16:creationId xmlns:a16="http://schemas.microsoft.com/office/drawing/2014/main" id="{5C59C27C-048B-2CCA-9E62-A97B8C0FFD48}"/>
              </a:ext>
            </a:extLst>
          </p:cNvPr>
          <p:cNvSpPr/>
          <p:nvPr/>
        </p:nvSpPr>
        <p:spPr>
          <a:xfrm>
            <a:off x="9317059" y="2607040"/>
            <a:ext cx="1188334" cy="1810589"/>
          </a:xfrm>
          <a:prstGeom prst="rect">
            <a:avLst/>
          </a:prstGeom>
          <a:solidFill>
            <a:schemeClr val="accent3">
              <a:lumMod val="10000"/>
              <a:lumOff val="90000"/>
            </a:schemeClr>
          </a:solidFill>
          <a:ln w="952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US" sz="900" dirty="0">
                <a:solidFill>
                  <a:schemeClr val="tx1"/>
                </a:solidFill>
              </a:rPr>
              <a:t>Deliver Engine</a:t>
            </a:r>
            <a:endParaRPr lang="en-IN" sz="900" dirty="0" err="1">
              <a:solidFill>
                <a:schemeClr val="tx1"/>
              </a:solidFill>
            </a:endParaRPr>
          </a:p>
        </p:txBody>
      </p:sp>
      <p:sp>
        <p:nvSpPr>
          <p:cNvPr id="22" name="Rectangle 21">
            <a:extLst>
              <a:ext uri="{FF2B5EF4-FFF2-40B4-BE49-F238E27FC236}">
                <a16:creationId xmlns:a16="http://schemas.microsoft.com/office/drawing/2014/main" id="{7873380F-82D1-E9E8-989F-DFD1E2C86A8A}"/>
              </a:ext>
            </a:extLst>
          </p:cNvPr>
          <p:cNvSpPr/>
          <p:nvPr/>
        </p:nvSpPr>
        <p:spPr>
          <a:xfrm>
            <a:off x="4914885" y="4737244"/>
            <a:ext cx="5597727" cy="809174"/>
          </a:xfrm>
          <a:prstGeom prst="rect">
            <a:avLst/>
          </a:prstGeom>
          <a:solidFill>
            <a:schemeClr val="accent3">
              <a:lumMod val="10000"/>
              <a:lumOff val="90000"/>
            </a:schemeClr>
          </a:solidFill>
          <a:ln w="952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US" sz="900" dirty="0">
                <a:solidFill>
                  <a:schemeClr val="tx1"/>
                </a:solidFill>
              </a:rPr>
              <a:t>Operational and Feedback Engine</a:t>
            </a:r>
            <a:endParaRPr lang="en-IN" sz="900" dirty="0" err="1">
              <a:solidFill>
                <a:schemeClr val="tx1"/>
              </a:solidFill>
            </a:endParaRPr>
          </a:p>
        </p:txBody>
      </p:sp>
      <p:sp>
        <p:nvSpPr>
          <p:cNvPr id="23" name="Arrow: Right 22">
            <a:extLst>
              <a:ext uri="{FF2B5EF4-FFF2-40B4-BE49-F238E27FC236}">
                <a16:creationId xmlns:a16="http://schemas.microsoft.com/office/drawing/2014/main" id="{D72A26DB-E804-A2F9-18A7-C823BE49B131}"/>
              </a:ext>
            </a:extLst>
          </p:cNvPr>
          <p:cNvSpPr/>
          <p:nvPr/>
        </p:nvSpPr>
        <p:spPr>
          <a:xfrm>
            <a:off x="6096001" y="3434667"/>
            <a:ext cx="262234"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4" name="Arrow: Right 23">
            <a:extLst>
              <a:ext uri="{FF2B5EF4-FFF2-40B4-BE49-F238E27FC236}">
                <a16:creationId xmlns:a16="http://schemas.microsoft.com/office/drawing/2014/main" id="{45C25388-546A-FE6A-3721-9EB683089489}"/>
              </a:ext>
            </a:extLst>
          </p:cNvPr>
          <p:cNvSpPr/>
          <p:nvPr/>
        </p:nvSpPr>
        <p:spPr>
          <a:xfrm>
            <a:off x="7546568" y="3434667"/>
            <a:ext cx="300693"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6" name="Arrow: Right 25">
            <a:extLst>
              <a:ext uri="{FF2B5EF4-FFF2-40B4-BE49-F238E27FC236}">
                <a16:creationId xmlns:a16="http://schemas.microsoft.com/office/drawing/2014/main" id="{C7FC1DC2-02F2-EDB8-F37E-65FB2D40B45B}"/>
              </a:ext>
            </a:extLst>
          </p:cNvPr>
          <p:cNvSpPr/>
          <p:nvPr/>
        </p:nvSpPr>
        <p:spPr>
          <a:xfrm>
            <a:off x="9035595" y="3434667"/>
            <a:ext cx="281463"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37" name="Group 36">
            <a:extLst>
              <a:ext uri="{FF2B5EF4-FFF2-40B4-BE49-F238E27FC236}">
                <a16:creationId xmlns:a16="http://schemas.microsoft.com/office/drawing/2014/main" id="{F398D0F3-7540-AF4A-E200-2B1BC25EC2AB}"/>
              </a:ext>
            </a:extLst>
          </p:cNvPr>
          <p:cNvGrpSpPr/>
          <p:nvPr/>
        </p:nvGrpSpPr>
        <p:grpSpPr>
          <a:xfrm>
            <a:off x="4907666" y="2366010"/>
            <a:ext cx="4121677" cy="114300"/>
            <a:chOff x="4907666" y="2366010"/>
            <a:chExt cx="4121677" cy="114300"/>
          </a:xfrm>
        </p:grpSpPr>
        <p:cxnSp>
          <p:nvCxnSpPr>
            <p:cNvPr id="33" name="Straight Connector 32">
              <a:extLst>
                <a:ext uri="{FF2B5EF4-FFF2-40B4-BE49-F238E27FC236}">
                  <a16:creationId xmlns:a16="http://schemas.microsoft.com/office/drawing/2014/main" id="{FEB03AFC-DE28-E71E-683A-F8CD87A2E47A}"/>
                </a:ext>
              </a:extLst>
            </p:cNvPr>
            <p:cNvCxnSpPr>
              <a:cxnSpLocks/>
            </p:cNvCxnSpPr>
            <p:nvPr/>
          </p:nvCxnSpPr>
          <p:spPr>
            <a:xfrm>
              <a:off x="4907666" y="2423160"/>
              <a:ext cx="412071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A716D1-6634-57C1-B607-07C438134FC9}"/>
                </a:ext>
              </a:extLst>
            </p:cNvPr>
            <p:cNvCxnSpPr>
              <a:cxnSpLocks/>
            </p:cNvCxnSpPr>
            <p:nvPr/>
          </p:nvCxnSpPr>
          <p:spPr>
            <a:xfrm>
              <a:off x="4907666" y="2366010"/>
              <a:ext cx="0" cy="1143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77AA43A-1567-10E2-11D8-F1A247222E59}"/>
                </a:ext>
              </a:extLst>
            </p:cNvPr>
            <p:cNvCxnSpPr>
              <a:cxnSpLocks/>
            </p:cNvCxnSpPr>
            <p:nvPr/>
          </p:nvCxnSpPr>
          <p:spPr>
            <a:xfrm>
              <a:off x="9029343" y="2366010"/>
              <a:ext cx="0" cy="1143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E0DC4C72-D13E-E9F5-D43A-6399725A4C88}"/>
              </a:ext>
            </a:extLst>
          </p:cNvPr>
          <p:cNvGrpSpPr/>
          <p:nvPr/>
        </p:nvGrpSpPr>
        <p:grpSpPr>
          <a:xfrm>
            <a:off x="9317058" y="2366010"/>
            <a:ext cx="1188000" cy="114300"/>
            <a:chOff x="4907666" y="2366010"/>
            <a:chExt cx="1188000" cy="114300"/>
          </a:xfrm>
        </p:grpSpPr>
        <p:cxnSp>
          <p:nvCxnSpPr>
            <p:cNvPr id="40" name="Straight Connector 39">
              <a:extLst>
                <a:ext uri="{FF2B5EF4-FFF2-40B4-BE49-F238E27FC236}">
                  <a16:creationId xmlns:a16="http://schemas.microsoft.com/office/drawing/2014/main" id="{068A9589-5EEC-82C6-F500-C6753707F56C}"/>
                </a:ext>
              </a:extLst>
            </p:cNvPr>
            <p:cNvCxnSpPr>
              <a:cxnSpLocks/>
            </p:cNvCxnSpPr>
            <p:nvPr/>
          </p:nvCxnSpPr>
          <p:spPr>
            <a:xfrm>
              <a:off x="4907666" y="2423160"/>
              <a:ext cx="1188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8494376-EA17-5FAB-88C5-BAB3A0FA92BC}"/>
                </a:ext>
              </a:extLst>
            </p:cNvPr>
            <p:cNvCxnSpPr>
              <a:cxnSpLocks/>
            </p:cNvCxnSpPr>
            <p:nvPr/>
          </p:nvCxnSpPr>
          <p:spPr>
            <a:xfrm>
              <a:off x="4907666" y="2366010"/>
              <a:ext cx="0" cy="1143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9CBDA85-F9F8-85C3-5EDF-D78927B96D48}"/>
                </a:ext>
              </a:extLst>
            </p:cNvPr>
            <p:cNvCxnSpPr>
              <a:cxnSpLocks/>
            </p:cNvCxnSpPr>
            <p:nvPr/>
          </p:nvCxnSpPr>
          <p:spPr>
            <a:xfrm>
              <a:off x="6090309" y="2366010"/>
              <a:ext cx="0" cy="1143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C2ADB60C-422C-C860-C712-CB29C2582A0A}"/>
              </a:ext>
            </a:extLst>
          </p:cNvPr>
          <p:cNvSpPr/>
          <p:nvPr/>
        </p:nvSpPr>
        <p:spPr>
          <a:xfrm>
            <a:off x="6598283" y="2326640"/>
            <a:ext cx="708238" cy="198117"/>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tx1">
                    <a:lumMod val="50000"/>
                    <a:lumOff val="50000"/>
                  </a:schemeClr>
                </a:solidFill>
              </a:rPr>
              <a:t>Build time</a:t>
            </a:r>
            <a:endParaRPr lang="en-IN" sz="800" dirty="0" err="1">
              <a:solidFill>
                <a:schemeClr val="tx1">
                  <a:lumMod val="50000"/>
                  <a:lumOff val="50000"/>
                </a:schemeClr>
              </a:solidFill>
            </a:endParaRPr>
          </a:p>
        </p:txBody>
      </p:sp>
      <p:sp>
        <p:nvSpPr>
          <p:cNvPr id="48" name="Rectangle 47">
            <a:extLst>
              <a:ext uri="{FF2B5EF4-FFF2-40B4-BE49-F238E27FC236}">
                <a16:creationId xmlns:a16="http://schemas.microsoft.com/office/drawing/2014/main" id="{BA1C10A6-D574-D8E3-8E71-726D409DB526}"/>
              </a:ext>
            </a:extLst>
          </p:cNvPr>
          <p:cNvSpPr/>
          <p:nvPr/>
        </p:nvSpPr>
        <p:spPr>
          <a:xfrm>
            <a:off x="9555885" y="2326640"/>
            <a:ext cx="708238" cy="198117"/>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dirty="0">
                <a:solidFill>
                  <a:schemeClr val="tx1">
                    <a:lumMod val="50000"/>
                    <a:lumOff val="50000"/>
                  </a:schemeClr>
                </a:solidFill>
              </a:rPr>
              <a:t>Run time</a:t>
            </a:r>
            <a:endParaRPr lang="en-IN" sz="800" dirty="0" err="1">
              <a:solidFill>
                <a:schemeClr val="tx1">
                  <a:lumMod val="50000"/>
                  <a:lumOff val="50000"/>
                </a:schemeClr>
              </a:solidFill>
            </a:endParaRPr>
          </a:p>
        </p:txBody>
      </p:sp>
      <p:grpSp>
        <p:nvGrpSpPr>
          <p:cNvPr id="126" name="Group 125">
            <a:extLst>
              <a:ext uri="{FF2B5EF4-FFF2-40B4-BE49-F238E27FC236}">
                <a16:creationId xmlns:a16="http://schemas.microsoft.com/office/drawing/2014/main" id="{ACA771A6-D15B-F93B-DAB3-50AFE5B5E0FD}"/>
              </a:ext>
            </a:extLst>
          </p:cNvPr>
          <p:cNvGrpSpPr/>
          <p:nvPr/>
        </p:nvGrpSpPr>
        <p:grpSpPr>
          <a:xfrm>
            <a:off x="5444135" y="4409768"/>
            <a:ext cx="4528402" cy="331726"/>
            <a:chOff x="5444135" y="3796552"/>
            <a:chExt cx="4528402" cy="331726"/>
          </a:xfrm>
        </p:grpSpPr>
        <p:sp>
          <p:nvSpPr>
            <p:cNvPr id="50" name="Arrow: Right 49">
              <a:extLst>
                <a:ext uri="{FF2B5EF4-FFF2-40B4-BE49-F238E27FC236}">
                  <a16:creationId xmlns:a16="http://schemas.microsoft.com/office/drawing/2014/main" id="{A7EF47CF-A21E-C0CB-A705-E19E917223DE}"/>
                </a:ext>
              </a:extLst>
            </p:cNvPr>
            <p:cNvSpPr/>
            <p:nvPr/>
          </p:nvSpPr>
          <p:spPr>
            <a:xfrm rot="16200000">
              <a:off x="5335975" y="3904718"/>
              <a:ext cx="331720"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2" name="Arrow: Right 51">
              <a:extLst>
                <a:ext uri="{FF2B5EF4-FFF2-40B4-BE49-F238E27FC236}">
                  <a16:creationId xmlns:a16="http://schemas.microsoft.com/office/drawing/2014/main" id="{80A5274C-E00A-56DE-D181-3E5FF65BACD3}"/>
                </a:ext>
              </a:extLst>
            </p:cNvPr>
            <p:cNvSpPr/>
            <p:nvPr/>
          </p:nvSpPr>
          <p:spPr>
            <a:xfrm rot="16200000">
              <a:off x="6802162" y="3904716"/>
              <a:ext cx="331720"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Arrow: Right 54">
              <a:extLst>
                <a:ext uri="{FF2B5EF4-FFF2-40B4-BE49-F238E27FC236}">
                  <a16:creationId xmlns:a16="http://schemas.microsoft.com/office/drawing/2014/main" id="{463A129D-3BBB-AA35-211E-F2440BBB199F}"/>
                </a:ext>
              </a:extLst>
            </p:cNvPr>
            <p:cNvSpPr/>
            <p:nvPr/>
          </p:nvSpPr>
          <p:spPr>
            <a:xfrm rot="16200000">
              <a:off x="8275570" y="3904714"/>
              <a:ext cx="331720"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7" name="Arrow: Right 56">
              <a:extLst>
                <a:ext uri="{FF2B5EF4-FFF2-40B4-BE49-F238E27FC236}">
                  <a16:creationId xmlns:a16="http://schemas.microsoft.com/office/drawing/2014/main" id="{72E7DF46-9952-A2A6-CB17-BA2F48F8081E}"/>
                </a:ext>
              </a:extLst>
            </p:cNvPr>
            <p:cNvSpPr/>
            <p:nvPr/>
          </p:nvSpPr>
          <p:spPr>
            <a:xfrm rot="16200000">
              <a:off x="9748978" y="3904712"/>
              <a:ext cx="331720" cy="115399"/>
            </a:xfrm>
            <a:prstGeom prst="rightArrow">
              <a:avLst/>
            </a:prstGeom>
            <a:solidFill>
              <a:schemeClr val="bg1">
                <a:lumMod val="6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sp>
        <p:nvSpPr>
          <p:cNvPr id="59" name="Arrow: Right 58">
            <a:extLst>
              <a:ext uri="{FF2B5EF4-FFF2-40B4-BE49-F238E27FC236}">
                <a16:creationId xmlns:a16="http://schemas.microsoft.com/office/drawing/2014/main" id="{A79E32E5-8731-E899-D92F-FE126C9B1B3F}"/>
              </a:ext>
            </a:extLst>
          </p:cNvPr>
          <p:cNvSpPr/>
          <p:nvPr/>
        </p:nvSpPr>
        <p:spPr>
          <a:xfrm flipH="1">
            <a:off x="10518281" y="5084132"/>
            <a:ext cx="874752" cy="115399"/>
          </a:xfrm>
          <a:prstGeom prst="rightArrow">
            <a:avLst/>
          </a:prstGeom>
          <a:solidFill>
            <a:schemeClr val="tx1">
              <a:lumMod val="75000"/>
              <a:lumOff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1" name="TextBox 60">
            <a:extLst>
              <a:ext uri="{FF2B5EF4-FFF2-40B4-BE49-F238E27FC236}">
                <a16:creationId xmlns:a16="http://schemas.microsoft.com/office/drawing/2014/main" id="{3E2A8FA8-F38B-3651-A5AE-C431982C292D}"/>
              </a:ext>
            </a:extLst>
          </p:cNvPr>
          <p:cNvSpPr txBox="1"/>
          <p:nvPr/>
        </p:nvSpPr>
        <p:spPr>
          <a:xfrm>
            <a:off x="10560146" y="3532053"/>
            <a:ext cx="789296" cy="202236"/>
          </a:xfrm>
          <a:prstGeom prst="rect">
            <a:avLst/>
          </a:prstGeom>
          <a:noFill/>
        </p:spPr>
        <p:txBody>
          <a:bodyPr vert="horz" wrap="none" lIns="90000" tIns="46800" rIns="90000" bIns="46800" rtlCol="0" anchor="ctr">
            <a:spAutoFit/>
          </a:bodyPr>
          <a:lstStyle/>
          <a:p>
            <a:pPr algn="ctr">
              <a:spcBef>
                <a:spcPct val="0"/>
              </a:spcBef>
            </a:pPr>
            <a:r>
              <a:rPr lang="en-US" sz="700" dirty="0">
                <a:solidFill>
                  <a:schemeClr val="tx1">
                    <a:lumMod val="50000"/>
                    <a:lumOff val="50000"/>
                  </a:schemeClr>
                </a:solidFill>
              </a:rPr>
              <a:t>Discovery APIs</a:t>
            </a:r>
            <a:endParaRPr lang="en-IN" sz="700" dirty="0" err="1">
              <a:solidFill>
                <a:schemeClr val="tx1">
                  <a:lumMod val="50000"/>
                  <a:lumOff val="50000"/>
                </a:schemeClr>
              </a:solidFill>
            </a:endParaRPr>
          </a:p>
        </p:txBody>
      </p:sp>
      <p:sp>
        <p:nvSpPr>
          <p:cNvPr id="63" name="TextBox 62">
            <a:extLst>
              <a:ext uri="{FF2B5EF4-FFF2-40B4-BE49-F238E27FC236}">
                <a16:creationId xmlns:a16="http://schemas.microsoft.com/office/drawing/2014/main" id="{4137B827-5A1B-0536-6E6A-B7D160E2475A}"/>
              </a:ext>
            </a:extLst>
          </p:cNvPr>
          <p:cNvSpPr txBox="1"/>
          <p:nvPr/>
        </p:nvSpPr>
        <p:spPr>
          <a:xfrm>
            <a:off x="10229072" y="5158538"/>
            <a:ext cx="1447503" cy="202236"/>
          </a:xfrm>
          <a:prstGeom prst="rect">
            <a:avLst/>
          </a:prstGeom>
          <a:noFill/>
        </p:spPr>
        <p:txBody>
          <a:bodyPr vert="horz" wrap="square" lIns="90000" tIns="46800" rIns="90000" bIns="46800" rtlCol="0" anchor="ctr">
            <a:spAutoFit/>
          </a:bodyPr>
          <a:lstStyle/>
          <a:p>
            <a:pPr algn="ctr">
              <a:spcBef>
                <a:spcPct val="0"/>
              </a:spcBef>
            </a:pPr>
            <a:r>
              <a:rPr lang="en-US" sz="700" dirty="0">
                <a:solidFill>
                  <a:schemeClr val="tx1">
                    <a:lumMod val="50000"/>
                    <a:lumOff val="50000"/>
                  </a:schemeClr>
                </a:solidFill>
              </a:rPr>
              <a:t>(Search, Clicks, Usage)</a:t>
            </a:r>
            <a:endParaRPr lang="en-IN" sz="700" dirty="0" err="1">
              <a:solidFill>
                <a:schemeClr val="tx1">
                  <a:lumMod val="50000"/>
                  <a:lumOff val="50000"/>
                </a:schemeClr>
              </a:solidFill>
            </a:endParaRPr>
          </a:p>
        </p:txBody>
      </p:sp>
      <p:sp>
        <p:nvSpPr>
          <p:cNvPr id="68" name="TextBox 67">
            <a:extLst>
              <a:ext uri="{FF2B5EF4-FFF2-40B4-BE49-F238E27FC236}">
                <a16:creationId xmlns:a16="http://schemas.microsoft.com/office/drawing/2014/main" id="{82A102A1-387D-6F64-DCCE-669C5A46B026}"/>
              </a:ext>
            </a:extLst>
          </p:cNvPr>
          <p:cNvSpPr txBox="1"/>
          <p:nvPr/>
        </p:nvSpPr>
        <p:spPr>
          <a:xfrm>
            <a:off x="4904593" y="2922733"/>
            <a:ext cx="1185262" cy="848567"/>
          </a:xfrm>
          <a:prstGeom prst="rect">
            <a:avLst/>
          </a:prstGeom>
          <a:noFill/>
        </p:spPr>
        <p:txBody>
          <a:bodyPr vert="horz" wrap="square" lIns="90000" tIns="46800" rIns="90000" bIns="46800" rtlCol="0" anchor="ctr">
            <a:spAutoFit/>
          </a:bodyPr>
          <a:lstStyle/>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Ingestion</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Normalization</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Standardization</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Enrichment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Classification</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Metadata Quality Check</a:t>
            </a:r>
            <a:endParaRPr lang="en-IN" sz="700" dirty="0" err="1">
              <a:solidFill>
                <a:schemeClr val="tx1">
                  <a:lumMod val="65000"/>
                  <a:lumOff val="35000"/>
                </a:schemeClr>
              </a:solidFill>
            </a:endParaRPr>
          </a:p>
        </p:txBody>
      </p:sp>
      <p:sp>
        <p:nvSpPr>
          <p:cNvPr id="69" name="TextBox 68">
            <a:extLst>
              <a:ext uri="{FF2B5EF4-FFF2-40B4-BE49-F238E27FC236}">
                <a16:creationId xmlns:a16="http://schemas.microsoft.com/office/drawing/2014/main" id="{4F29FC54-82E6-A09A-FA67-F56776A9FD80}"/>
              </a:ext>
            </a:extLst>
          </p:cNvPr>
          <p:cNvSpPr txBox="1"/>
          <p:nvPr/>
        </p:nvSpPr>
        <p:spPr>
          <a:xfrm>
            <a:off x="6358234" y="2922733"/>
            <a:ext cx="1185262" cy="417679"/>
          </a:xfrm>
          <a:prstGeom prst="rect">
            <a:avLst/>
          </a:prstGeom>
          <a:noFill/>
        </p:spPr>
        <p:txBody>
          <a:bodyPr vert="horz" wrap="square" lIns="90000" tIns="46800" rIns="90000" bIns="46800" rtlCol="0" anchor="ctr">
            <a:spAutoFit/>
          </a:bodyPr>
          <a:lstStyle/>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Entity Resolution</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Relationship Mapping</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Cross Domain Linking</a:t>
            </a:r>
          </a:p>
        </p:txBody>
      </p:sp>
      <p:sp>
        <p:nvSpPr>
          <p:cNvPr id="70" name="TextBox 69">
            <a:extLst>
              <a:ext uri="{FF2B5EF4-FFF2-40B4-BE49-F238E27FC236}">
                <a16:creationId xmlns:a16="http://schemas.microsoft.com/office/drawing/2014/main" id="{359AA37F-BDFD-20A6-6528-780A4A5311C1}"/>
              </a:ext>
            </a:extLst>
          </p:cNvPr>
          <p:cNvSpPr txBox="1"/>
          <p:nvPr/>
        </p:nvSpPr>
        <p:spPr>
          <a:xfrm>
            <a:off x="7861758" y="2922733"/>
            <a:ext cx="1185262" cy="848567"/>
          </a:xfrm>
          <a:prstGeom prst="rect">
            <a:avLst/>
          </a:prstGeom>
          <a:noFill/>
        </p:spPr>
        <p:txBody>
          <a:bodyPr vert="horz" wrap="square" lIns="90000" tIns="46800" rIns="90000" bIns="46800" rtlCol="0" anchor="ctr">
            <a:spAutoFit/>
          </a:bodyPr>
          <a:lstStyle/>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Business Context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Ontology Management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Embeddings Generation &amp; Lifecycle Management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Context Enrichment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KPI Mapping</a:t>
            </a:r>
          </a:p>
        </p:txBody>
      </p:sp>
      <p:sp>
        <p:nvSpPr>
          <p:cNvPr id="124" name="TextBox 123">
            <a:extLst>
              <a:ext uri="{FF2B5EF4-FFF2-40B4-BE49-F238E27FC236}">
                <a16:creationId xmlns:a16="http://schemas.microsoft.com/office/drawing/2014/main" id="{44CD5CC1-3EBE-E36F-47ED-5A68517F0328}"/>
              </a:ext>
            </a:extLst>
          </p:cNvPr>
          <p:cNvSpPr txBox="1"/>
          <p:nvPr/>
        </p:nvSpPr>
        <p:spPr>
          <a:xfrm>
            <a:off x="9317058" y="2922733"/>
            <a:ext cx="1185262" cy="1494897"/>
          </a:xfrm>
          <a:prstGeom prst="rect">
            <a:avLst/>
          </a:prstGeom>
          <a:noFill/>
        </p:spPr>
        <p:txBody>
          <a:bodyPr vert="horz" wrap="square" lIns="90000" tIns="46800" rIns="90000" bIns="46800" rtlCol="0" anchor="ctr">
            <a:spAutoFit/>
          </a:bodyPr>
          <a:lstStyle/>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Sematic Query Interpretation (Run Time)</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Search and Index Lookup</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Embedding Based Retrieval</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Graph Traversal</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Ranking</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Trust Scoring</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Caching and Performance Optimization</a:t>
            </a:r>
          </a:p>
        </p:txBody>
      </p:sp>
      <p:sp>
        <p:nvSpPr>
          <p:cNvPr id="129" name="TextBox 128">
            <a:extLst>
              <a:ext uri="{FF2B5EF4-FFF2-40B4-BE49-F238E27FC236}">
                <a16:creationId xmlns:a16="http://schemas.microsoft.com/office/drawing/2014/main" id="{53BE789E-3EAE-7075-3C72-BC981ACC3CAA}"/>
              </a:ext>
            </a:extLst>
          </p:cNvPr>
          <p:cNvSpPr txBox="1"/>
          <p:nvPr/>
        </p:nvSpPr>
        <p:spPr>
          <a:xfrm>
            <a:off x="6690167" y="4913295"/>
            <a:ext cx="2118167" cy="633123"/>
          </a:xfrm>
          <a:prstGeom prst="rect">
            <a:avLst/>
          </a:prstGeom>
          <a:noFill/>
        </p:spPr>
        <p:txBody>
          <a:bodyPr vert="horz" wrap="square" lIns="90000" tIns="46800" rIns="90000" bIns="46800" rtlCol="0" anchor="ctr">
            <a:spAutoFit/>
          </a:bodyPr>
          <a:lstStyle/>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Monitoring and Observability</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Governance and Policy Enforcement</a:t>
            </a:r>
          </a:p>
          <a:p>
            <a:pPr marL="92075" indent="-92075" algn="l">
              <a:spcBef>
                <a:spcPct val="0"/>
              </a:spcBef>
              <a:buFont typeface="Wingdings" panose="05000000000000000000" pitchFamily="2" charset="2"/>
              <a:buChar char="§"/>
            </a:pPr>
            <a:r>
              <a:rPr lang="en-US" sz="700" dirty="0">
                <a:solidFill>
                  <a:schemeClr val="tx1">
                    <a:lumMod val="65000"/>
                    <a:lumOff val="35000"/>
                  </a:schemeClr>
                </a:solidFill>
              </a:rPr>
              <a:t>Feedback Processing (Better Tags, Better Rankings, Query Patterns, Entity Accuracy, Dataset Usage Failures)</a:t>
            </a:r>
          </a:p>
        </p:txBody>
      </p:sp>
      <p:sp>
        <p:nvSpPr>
          <p:cNvPr id="130" name="TextBox 129">
            <a:extLst>
              <a:ext uri="{FF2B5EF4-FFF2-40B4-BE49-F238E27FC236}">
                <a16:creationId xmlns:a16="http://schemas.microsoft.com/office/drawing/2014/main" id="{74C0BAB0-1AEF-BE0A-EB96-9B269A967267}"/>
              </a:ext>
            </a:extLst>
          </p:cNvPr>
          <p:cNvSpPr txBox="1"/>
          <p:nvPr/>
        </p:nvSpPr>
        <p:spPr>
          <a:xfrm>
            <a:off x="3879550" y="3971285"/>
            <a:ext cx="977637" cy="633123"/>
          </a:xfrm>
          <a:prstGeom prst="rect">
            <a:avLst/>
          </a:prstGeom>
          <a:noFill/>
        </p:spPr>
        <p:txBody>
          <a:bodyPr vert="horz" wrap="square" lIns="0" tIns="46800" rIns="0" bIns="46800" rtlCol="0" anchor="ctr">
            <a:spAutoFit/>
          </a:bodyPr>
          <a:lstStyle/>
          <a:p>
            <a:pPr>
              <a:spcBef>
                <a:spcPct val="0"/>
              </a:spcBef>
            </a:pPr>
            <a:r>
              <a:rPr lang="en-US" sz="700" dirty="0">
                <a:solidFill>
                  <a:schemeClr val="tx1">
                    <a:lumMod val="65000"/>
                    <a:lumOff val="35000"/>
                  </a:schemeClr>
                </a:solidFill>
              </a:rPr>
              <a:t>Processing Frequency</a:t>
            </a:r>
          </a:p>
          <a:p>
            <a:pPr>
              <a:spcBef>
                <a:spcPct val="0"/>
              </a:spcBef>
            </a:pPr>
            <a:r>
              <a:rPr lang="en-US" sz="700" dirty="0">
                <a:solidFill>
                  <a:schemeClr val="tx1">
                    <a:lumMod val="65000"/>
                    <a:lumOff val="35000"/>
                  </a:schemeClr>
                </a:solidFill>
              </a:rPr>
              <a:t>Event driven</a:t>
            </a:r>
            <a:r>
              <a:rPr lang="en-US" sz="700" dirty="0">
                <a:solidFill>
                  <a:schemeClr val="tx1">
                    <a:lumMod val="50000"/>
                    <a:lumOff val="50000"/>
                  </a:schemeClr>
                </a:solidFill>
              </a:rPr>
              <a:t>: News (for 72hrs editorial cycle)</a:t>
            </a:r>
          </a:p>
          <a:p>
            <a:pPr algn="l">
              <a:spcBef>
                <a:spcPct val="0"/>
              </a:spcBef>
            </a:pPr>
            <a:r>
              <a:rPr lang="en-US" sz="700" dirty="0">
                <a:solidFill>
                  <a:schemeClr val="tx1">
                    <a:lumMod val="65000"/>
                    <a:lumOff val="35000"/>
                  </a:schemeClr>
                </a:solidFill>
              </a:rPr>
              <a:t>Batch</a:t>
            </a:r>
            <a:r>
              <a:rPr lang="en-US" sz="700" dirty="0">
                <a:solidFill>
                  <a:schemeClr val="tx1">
                    <a:lumMod val="50000"/>
                    <a:lumOff val="50000"/>
                  </a:schemeClr>
                </a:solidFill>
              </a:rPr>
              <a:t>: Sports &amp; General Entertainment</a:t>
            </a:r>
            <a:endParaRPr lang="en-IN" sz="700" dirty="0" err="1">
              <a:solidFill>
                <a:schemeClr val="tx1">
                  <a:lumMod val="50000"/>
                  <a:lumOff val="50000"/>
                </a:schemeClr>
              </a:solidFill>
            </a:endParaRPr>
          </a:p>
        </p:txBody>
      </p:sp>
    </p:spTree>
    <p:extLst>
      <p:ext uri="{BB962C8B-B14F-4D97-AF65-F5344CB8AC3E}">
        <p14:creationId xmlns:p14="http://schemas.microsoft.com/office/powerpoint/2010/main" val="932004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ustom 3">
      <a:majorFont>
        <a:latin typeface="Book Antiqu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00571404-783E-400A-AF5F-9AF9BBFB88DD}"/>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B2760BA9-CA10-4456-8AFF-94558C328644}"/>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Invent_PPT-template_Master_February-02-2026" id="{BEC9A115-50DF-48F6-8F8F-116A076DE881}" vid="{5F04DF26-7530-4E39-8806-EC49C18F3CD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TaxCatchAll xmlns="17de28ac-b190-4cd4-a606-47e679de9d2c" xsi:nil="true"/>
    <Date xmlns="6a00c37a-6f72-4698-9b02-81ff9fa7b20d" xsi:nil="true"/>
    <ReuseCount xmlns="6a00c37a-6f72-4698-9b02-81ff9fa7b20d">0</ReuseCount>
    <FolderDescription xmlns="6a00c37a-6f72-4698-9b02-81ff9fa7b20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0046D-0765-4685-8521-7D1E34B9A377}">
  <ds:schemaRefs>
    <ds:schemaRef ds:uri="824554a9-948f-425c-b9e7-b190818b4b86"/>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236e399-9114-4801-8f86-93718d72aff3"/>
    <ds:schemaRef ds:uri="http://www.w3.org/XML/1998/namespace"/>
    <ds:schemaRef ds:uri="http://schemas.microsoft.com/office/2006/metadata/properties"/>
    <ds:schemaRef ds:uri="http://purl.org/dc/terms/"/>
    <ds:schemaRef ds:uri="http://purl.org/dc/elements/1.1/"/>
  </ds:schemaRefs>
</ds:datastoreItem>
</file>

<file path=customXml/itemProps2.xml><?xml version="1.0" encoding="utf-8"?>
<ds:datastoreItem xmlns:ds="http://schemas.openxmlformats.org/officeDocument/2006/customXml" ds:itemID="{FD10754F-6ABA-45A1-8060-066AD0F965BF}"/>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Capgemini-Invent-template-master_2025</Template>
  <TotalTime>760</TotalTime>
  <Words>11168</Words>
  <Application>Microsoft Office PowerPoint</Application>
  <PresentationFormat>Widescreen</PresentationFormat>
  <Paragraphs>2144</Paragraphs>
  <Slides>48</Slides>
  <Notes>1</Notes>
  <HiddenSlides>2</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48</vt:i4>
      </vt:variant>
    </vt:vector>
  </HeadingPairs>
  <TitlesOfParts>
    <vt:vector size="65" baseType="lpstr">
      <vt:lpstr>Ubuntu</vt:lpstr>
      <vt:lpstr>Ubuntu Medium</vt:lpstr>
      <vt:lpstr>Calibri</vt:lpstr>
      <vt:lpstr>Arial</vt:lpstr>
      <vt:lpstr>Ubuntu Light</vt:lpstr>
      <vt:lpstr>BentonSansF Medium</vt:lpstr>
      <vt:lpstr>Verdana</vt:lpstr>
      <vt:lpstr>Times New Roman</vt:lpstr>
      <vt:lpstr>BentonSansF Book</vt:lpstr>
      <vt:lpstr>Book Antiqua</vt:lpstr>
      <vt:lpstr>Wingdings</vt:lpstr>
      <vt:lpstr>Aptos</vt:lpstr>
      <vt:lpstr>Helvetica</vt:lpstr>
      <vt:lpstr>System Font Regular</vt:lpstr>
      <vt:lpstr>Capgemini_Bright_2025</vt:lpstr>
      <vt:lpstr>Capgemini_Blue_2025</vt:lpstr>
      <vt:lpstr>Capgemini_Dark_2025</vt:lpstr>
      <vt:lpstr>Data Landscape Strategy for Linear TV</vt:lpstr>
      <vt:lpstr>Executive Summary</vt:lpstr>
      <vt:lpstr>Linear TV Broadcasting</vt:lpstr>
      <vt:lpstr>PowerPoint Presentation</vt:lpstr>
      <vt:lpstr>PowerPoint Presentation</vt:lpstr>
      <vt:lpstr>A federated metadata architecture with a thin, derived discovery layer and purpose-built stores across sports, news, and general entertainment, unified by a single cross-portfolio, read-only, non-authoritative search surface.</vt:lpstr>
      <vt:lpstr>A federated metadata architecture with a thin, derived discovery layer and purpose-built stores across sports, news, and general entertainment, unified by a single cross-portfolio, read-only, non-authoritative search surface.</vt:lpstr>
      <vt:lpstr>A federated metadata architecture with a thin, derived discovery layer and purpose-built stores across sports, news, and general entertainment</vt:lpstr>
      <vt:lpstr>The architecture provides a reusable content intelligence layer, enabling editorial teams to generate derivative content volume at scale</vt:lpstr>
      <vt:lpstr>The domain-specific metadata stores optimized for linear become the foundation for automated editorial workflows across streaming, social, and digital channels.</vt:lpstr>
      <vt:lpstr>Editorial team shifts from manual production to metadata-driven curation</vt:lpstr>
      <vt:lpstr>The architecture creates the foundation for Artificial Intelligence to accelerate the business value from the metadata</vt:lpstr>
      <vt:lpstr>Sports Content Broadcasting</vt:lpstr>
      <vt:lpstr>PowerPoint Presentation</vt:lpstr>
      <vt:lpstr>Sports content strategy transforms broadcast into four revenue streams: live events, highlights, archives, and derivative clips</vt:lpstr>
      <vt:lpstr>In sports, strategic moments can drive millions of views (&amp; revenue). Having metadata at the heart of your content strategy is essential</vt:lpstr>
      <vt:lpstr>On the Game Day, metadata brings the content to life with insights and storytelling</vt:lpstr>
      <vt:lpstr>A robust metadata strategy underpins live, archive and scripted programming</vt:lpstr>
      <vt:lpstr>Data Estate for Sports Broadcasting</vt:lpstr>
      <vt:lpstr>PowerPoint Presentation</vt:lpstr>
      <vt:lpstr>Recommended data estate with AI-accelerated solutions offers significant opportunities to influence the 4 key pillars the business model…</vt:lpstr>
      <vt:lpstr>Purpose-built live and archive stores for sports create the foundation to capitalize on AI-accelerated solutions, generating significant incremental value</vt:lpstr>
      <vt:lpstr>Credentials</vt:lpstr>
      <vt:lpstr>Redesign Operator Interfaces and On‑Air Graphics to convert complex Race Physics into Clear, Live Commentary at Scale for 37th America’s Cup</vt:lpstr>
      <vt:lpstr>Build a future‑ready Innovation Operating Model enabling performance gains, broader societal impact, and new economic opportunities for French Football</vt:lpstr>
      <vt:lpstr>Assess Data Maturity and devise a futuristic Data Strategy with Digital Charter for CDO and Data Integration Platform For a global IT Product Distributor</vt:lpstr>
      <vt:lpstr>Make</vt:lpstr>
      <vt:lpstr>PowerPoint Presentation</vt:lpstr>
      <vt:lpstr>Appendix</vt:lpstr>
      <vt:lpstr>Key design principles for the recommended metadata store architecture</vt:lpstr>
      <vt:lpstr>A federated metadata architecture with a thin, derived discovery layer and purpose-built stores across sports, news, and general entertainment (1/3)</vt:lpstr>
      <vt:lpstr>A federated metadata architecture with a thin, derived discovery layer and purpose-built stores across sports, news, and general entertainment (2/3)</vt:lpstr>
      <vt:lpstr>A federated metadata architecture with a thin, derived discovery layer and purpose-built stores across sports, news, and general entertainment (3/3)</vt:lpstr>
      <vt:lpstr>Marketing and promotional assets’ value levers of content intelligence layer</vt:lpstr>
      <vt:lpstr>Social and digital formats’ value levers of content intelligence layer</vt:lpstr>
      <vt:lpstr>Editorial and content extensions’ value levers of content intelligence layer</vt:lpstr>
      <vt:lpstr>Platform-specific short form contents’ value levers of content intelligence layer</vt:lpstr>
      <vt:lpstr>Paid media short form contents’ value levers of content intelligence layer</vt:lpstr>
      <vt:lpstr>Other short-form contents’ value levers of content intelligence layer</vt:lpstr>
      <vt:lpstr>Sports domain will consist of entities to capture live events, generate highlights in real time, and sync real-time metadata</vt:lpstr>
      <vt:lpstr>The Live Event Orchestrator service coordinates required systems and services for live event delivery with sub-5-second latency and 99.9% reliability</vt:lpstr>
      <vt:lpstr>Half-time advertisement inventory</vt:lpstr>
      <vt:lpstr>Same-evening highlights show</vt:lpstr>
      <vt:lpstr>Pre-match build-up enhancements</vt:lpstr>
      <vt:lpstr>Shoulder programming – Magazine shows</vt:lpstr>
      <vt:lpstr>Pre-Match Build-Up Viewership</vt:lpstr>
      <vt:lpstr>PowerPoint Presentation</vt:lpstr>
      <vt:lpstr>PowerPoint Presentation</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Roy, Subrata</dc:creator>
  <cp:keywords/>
  <dc:description/>
  <cp:lastModifiedBy>Ranade, Shripriya Vinay</cp:lastModifiedBy>
  <cp:revision>2</cp:revision>
  <dcterms:created xsi:type="dcterms:W3CDTF">2026-02-07T07:54:21Z</dcterms:created>
  <dcterms:modified xsi:type="dcterms:W3CDTF">2026-04-22T12:44:20Z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