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3.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3.xml" ContentType="application/vnd.openxmlformats-officedocument.presentationml.tags+xml"/>
  <Override PartName="/ppt/notesSlides/notesSlide6.xml" ContentType="application/vnd.openxmlformats-officedocument.presentationml.notesSlide+xml"/>
  <Override PartName="/ppt/tags/tag24.xml" ContentType="application/vnd.openxmlformats-officedocument.presentationml.tags+xml"/>
  <Override PartName="/ppt/notesSlides/notesSlide7.xml" ContentType="application/vnd.openxmlformats-officedocument.presentationml.notesSlide+xml"/>
  <Override PartName="/ppt/tags/tag2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0.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11.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15.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6.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8" r:id="rId4"/>
  </p:sldMasterIdLst>
  <p:notesMasterIdLst>
    <p:notesMasterId r:id="rId25"/>
  </p:notesMasterIdLst>
  <p:sldIdLst>
    <p:sldId id="2147377252" r:id="rId5"/>
    <p:sldId id="2147481896" r:id="rId6"/>
    <p:sldId id="2147483094" r:id="rId7"/>
    <p:sldId id="2147483091" r:id="rId8"/>
    <p:sldId id="2147474073" r:id="rId9"/>
    <p:sldId id="2147483028" r:id="rId10"/>
    <p:sldId id="2147483027" r:id="rId11"/>
    <p:sldId id="2147483069" r:id="rId12"/>
    <p:sldId id="2147483071" r:id="rId13"/>
    <p:sldId id="2147483070" r:id="rId14"/>
    <p:sldId id="2147483038" r:id="rId15"/>
    <p:sldId id="2147483083" r:id="rId16"/>
    <p:sldId id="2147482517" r:id="rId17"/>
    <p:sldId id="2147483048" r:id="rId18"/>
    <p:sldId id="2147483025" r:id="rId19"/>
    <p:sldId id="2147483041" r:id="rId20"/>
    <p:sldId id="2147483099" r:id="rId21"/>
    <p:sldId id="2147483093" r:id="rId22"/>
    <p:sldId id="2147483065" r:id="rId23"/>
    <p:sldId id="2147482551" r:id="rId24"/>
  </p:sldIdLst>
  <p:sldSz cx="12192000" cy="6858000"/>
  <p:notesSz cx="6797675" cy="9929813"/>
  <p:custDataLst>
    <p:tags r:id="rId26"/>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83EF3D-D4FC-B84E-BB55-E4D52ABC7DAB}">
          <p14:sldIdLst>
            <p14:sldId id="2147377252"/>
          </p14:sldIdLst>
        </p14:section>
        <p14:section name="Executive Summary (7-8 slides)" id="{C2128021-E7CA-474A-89DD-314EA962BD3E}">
          <p14:sldIdLst/>
        </p14:section>
        <p14:section name="References (3 slides)" id="{3A0E2CDD-9D4B-0740-89E4-C261549FB0D3}">
          <p14:sldIdLst/>
        </p14:section>
        <p14:section name="Solution proposal (17-18 slides)" id="{45C52E53-BD6A-AB48-A82A-CE44EDA70D0C}">
          <p14:sldIdLst>
            <p14:sldId id="2147481896"/>
            <p14:sldId id="2147483094"/>
            <p14:sldId id="2147483091"/>
            <p14:sldId id="2147474073"/>
            <p14:sldId id="2147483028"/>
            <p14:sldId id="2147483027"/>
            <p14:sldId id="2147483069"/>
            <p14:sldId id="2147483071"/>
            <p14:sldId id="2147483070"/>
            <p14:sldId id="2147483038"/>
            <p14:sldId id="2147483083"/>
            <p14:sldId id="2147482517"/>
            <p14:sldId id="2147483048"/>
            <p14:sldId id="2147483025"/>
            <p14:sldId id="2147483041"/>
            <p14:sldId id="2147483099"/>
            <p14:sldId id="2147483093"/>
            <p14:sldId id="2147483065"/>
            <p14:sldId id="2147482551"/>
          </p14:sldIdLst>
        </p14:section>
        <p14:section name="Skills, resources ramp-up &amp; cost" id="{FB80423D-3EDB-7A41-B89D-E6EE54FE240A}">
          <p14:sldIdLst/>
        </p14:section>
        <p14:section name="Appendix" id="{0B41E89C-7390-4540-9E5F-3ABACFF75F68}">
          <p14:sldIdLst/>
        </p14:section>
      </p14:sectionLst>
    </p:ext>
    <p:ext uri="{EFAFB233-063F-42B5-8137-9DF3F51BA10A}">
      <p15:sldGuideLst xmlns:p15="http://schemas.microsoft.com/office/powerpoint/2012/main">
        <p15:guide id="3" pos="864" userDrawn="1">
          <p15:clr>
            <a:srgbClr val="A4A3A4"/>
          </p15:clr>
        </p15:guide>
        <p15:guide id="4" orient="horz" pos="618" userDrawn="1">
          <p15:clr>
            <a:srgbClr val="A4A3A4"/>
          </p15:clr>
        </p15:guide>
        <p15:guide id="5" orient="horz" pos="43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BAF58B12-0D32-C019-BEF8-FCBAB090F2B5}" name="Aasheim, Johannes" initials="" userId="S::johannes.aasheim@capgemini.com::e6d1bd55-9078-4f90-86b2-49040372faa9" providerId="AD"/>
  <p188:author id="{B1F4EA37-1A4E-454B-18CE-91088A299BA2}" name="Middleton, Ian" initials="MI" userId="S::ian.middleton@capgemini.com::a016d791-c3ab-47d9-9a8f-a2d2a007795b" providerId="AD"/>
  <p188:author id="{7F27AB3A-9119-A760-0F6D-EDD0070119EE}" name="Chang, Mark" initials="CM" userId="S::mark.a.chang@capgemini.com::cccc4d71-8dab-438b-a925-5c5a3ecb8a1a" providerId="AD"/>
  <p188:author id="{CC22829E-9DFC-C7B9-8351-E7C648FFC9EF}" name="Puglia, Alessandro" initials="" userId="S::alessandro.puglia@capgemini.com::7c4e0893-a520-4ab3-ba77-3029653b3a7b" providerId="AD"/>
  <p188:author id="{7822ECBB-C49D-9D47-16DD-4688B1513DC0}" name="Vander Sande, Frederic" initials="" userId="S::frederic.vandersande@capgemini.com::8a4cdb5a-3291-49be-bc3e-97c72753b954" providerId="AD"/>
  <p188:author id="{7B08BAC3-AE27-7BDF-0F24-AF574D1FB45E}" name="SBAI TANJI, Youssef" initials="" userId="S::youssef.sbai-tanji@capgemini.com::04344a2d-ca71-491b-8393-0b1cc812913f" providerId="AD"/>
  <p188:author id="{E9BC12D4-C1DC-C6EC-64D2-19AA135B3D4A}" name="Paquet, Catherine" initials="PC" userId="S::catherine.paquet@capgemini.com::b16e2291-64af-493e-9b84-ceb86e67150a" providerId="AD"/>
  <p188:author id="{89E810F6-24EC-07AD-1741-E3AABBC853FD}" name="Migliorini, Carlo" initials="" userId="S::carlo.migliorini.external@capgemini.com::085f9110-f1a0-4ccb-8a7f-4499cc1482de" providerId="AD"/>
  <p188:author id="{145BB3F6-AA35-F5FD-DD04-49C996930739}" name="Pasqualucci, Vincenzo" initials="VP" userId="S::vincenzo.pasqualucci@capgemini.com::f9563ddb-6342-4156-bcf7-336d38c26a0b" providerId="AD"/>
  <p188:author id="{73F2FAFF-0F66-5FEB-5228-97F253E75AE0}" name="QUATTROPANI, Luca" initials="" userId="S::luca.quattropani@capgemini.com::24aae911-73e9-46b6-ae4e-c2843691e74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ABDB"/>
    <a:srgbClr val="005482"/>
    <a:srgbClr val="CCECFF"/>
    <a:srgbClr val="2063B1"/>
    <a:srgbClr val="FDC400"/>
    <a:srgbClr val="75FFB3"/>
    <a:srgbClr val="A7FFCF"/>
    <a:srgbClr val="CCFF99"/>
    <a:srgbClr val="CCFFCC"/>
    <a:srgbClr val="33FF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CB6143-D07B-FC85-D595-F38CB3E11EE7}" v="3" dt="2026-02-18T05:29:45.016"/>
    <p1510:client id="{A0772825-ED21-40BF-85AE-187BF7C40491}" v="1" dt="2026-02-18T10:30:48.565"/>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49" autoAdjust="0"/>
    <p:restoredTop sz="90154" autoAdjust="0"/>
  </p:normalViewPr>
  <p:slideViewPr>
    <p:cSldViewPr snapToGrid="0">
      <p:cViewPr varScale="1">
        <p:scale>
          <a:sx n="100" d="100"/>
          <a:sy n="100" d="100"/>
        </p:scale>
        <p:origin x="1308" y="78"/>
      </p:cViewPr>
      <p:guideLst>
        <p:guide pos="864"/>
        <p:guide orient="horz" pos="618"/>
        <p:guide orient="horz" pos="436"/>
      </p:guideLst>
    </p:cSldViewPr>
  </p:slideViewPr>
  <p:notesTextViewPr>
    <p:cViewPr>
      <p:scale>
        <a:sx n="1" d="1"/>
        <a:sy n="1" d="1"/>
      </p:scale>
      <p:origin x="0" y="0"/>
    </p:cViewPr>
  </p:notesTextViewPr>
  <p:sorterViewPr>
    <p:cViewPr>
      <p:scale>
        <a:sx n="150" d="100"/>
        <a:sy n="150" d="100"/>
      </p:scale>
      <p:origin x="0" y="-3112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imukhe, Riya" userId="b8f55e00-efeb-4247-b928-f638a254fe55" providerId="ADAL" clId="{C48C6BA4-61B8-43ED-9B48-7BCC79A9D224}"/>
    <pc:docChg chg="custSel delSld modSld modMainMaster modSection">
      <pc:chgData name="Gaimukhe, Riya" userId="b8f55e00-efeb-4247-b928-f638a254fe55" providerId="ADAL" clId="{C48C6BA4-61B8-43ED-9B48-7BCC79A9D224}" dt="2026-02-18T10:30:49.571" v="18" actId="478"/>
      <pc:docMkLst>
        <pc:docMk/>
      </pc:docMkLst>
      <pc:sldChg chg="del">
        <pc:chgData name="Gaimukhe, Riya" userId="b8f55e00-efeb-4247-b928-f638a254fe55" providerId="ADAL" clId="{C48C6BA4-61B8-43ED-9B48-7BCC79A9D224}" dt="2026-02-18T10:29:34.508" v="10" actId="47"/>
        <pc:sldMkLst>
          <pc:docMk/>
          <pc:sldMk cId="1756145850" sldId="1421"/>
        </pc:sldMkLst>
      </pc:sldChg>
      <pc:sldChg chg="addSp delSp modSp mod">
        <pc:chgData name="Gaimukhe, Riya" userId="b8f55e00-efeb-4247-b928-f638a254fe55" providerId="ADAL" clId="{C48C6BA4-61B8-43ED-9B48-7BCC79A9D224}" dt="2026-02-18T10:29:09.040" v="1" actId="478"/>
        <pc:sldMkLst>
          <pc:docMk/>
          <pc:sldMk cId="293519067" sldId="2147377252"/>
        </pc:sldMkLst>
        <pc:spChg chg="add del mod">
          <ac:chgData name="Gaimukhe, Riya" userId="b8f55e00-efeb-4247-b928-f638a254fe55" providerId="ADAL" clId="{C48C6BA4-61B8-43ED-9B48-7BCC79A9D224}" dt="2026-02-18T10:29:09.040" v="1" actId="478"/>
          <ac:spMkLst>
            <pc:docMk/>
            <pc:sldMk cId="293519067" sldId="2147377252"/>
            <ac:spMk id="5" creationId="{5AE2245A-0E69-D445-2057-10B46C1A7C0A}"/>
          </ac:spMkLst>
        </pc:spChg>
        <pc:spChg chg="del">
          <ac:chgData name="Gaimukhe, Riya" userId="b8f55e00-efeb-4247-b928-f638a254fe55" providerId="ADAL" clId="{C48C6BA4-61B8-43ED-9B48-7BCC79A9D224}" dt="2026-02-18T10:29:07.687" v="0" actId="478"/>
          <ac:spMkLst>
            <pc:docMk/>
            <pc:sldMk cId="293519067" sldId="2147377252"/>
            <ac:spMk id="15" creationId="{822EA04D-BE73-4E90-9745-CBAF58C9AD68}"/>
          </ac:spMkLst>
        </pc:spChg>
      </pc:sldChg>
      <pc:sldChg chg="del">
        <pc:chgData name="Gaimukhe, Riya" userId="b8f55e00-efeb-4247-b928-f638a254fe55" providerId="ADAL" clId="{C48C6BA4-61B8-43ED-9B48-7BCC79A9D224}" dt="2026-02-18T10:30:42.080" v="16" actId="47"/>
        <pc:sldMkLst>
          <pc:docMk/>
          <pc:sldMk cId="3919966506" sldId="2147481899"/>
        </pc:sldMkLst>
      </pc:sldChg>
      <pc:sldChg chg="delSp mod">
        <pc:chgData name="Gaimukhe, Riya" userId="b8f55e00-efeb-4247-b928-f638a254fe55" providerId="ADAL" clId="{C48C6BA4-61B8-43ED-9B48-7BCC79A9D224}" dt="2026-02-18T10:30:49.571" v="18" actId="478"/>
        <pc:sldMkLst>
          <pc:docMk/>
          <pc:sldMk cId="1485816611" sldId="2147482551"/>
        </pc:sldMkLst>
        <pc:picChg chg="del">
          <ac:chgData name="Gaimukhe, Riya" userId="b8f55e00-efeb-4247-b928-f638a254fe55" providerId="ADAL" clId="{C48C6BA4-61B8-43ED-9B48-7BCC79A9D224}" dt="2026-02-18T10:30:49.571" v="18" actId="478"/>
          <ac:picMkLst>
            <pc:docMk/>
            <pc:sldMk cId="1485816611" sldId="2147482551"/>
            <ac:picMk id="113" creationId="{9A8C34E4-049A-31CD-FCF6-3DEEB9876201}"/>
          </ac:picMkLst>
        </pc:picChg>
        <pc:picChg chg="del">
          <ac:chgData name="Gaimukhe, Riya" userId="b8f55e00-efeb-4247-b928-f638a254fe55" providerId="ADAL" clId="{C48C6BA4-61B8-43ED-9B48-7BCC79A9D224}" dt="2026-02-18T10:30:48.565" v="17" actId="478"/>
          <ac:picMkLst>
            <pc:docMk/>
            <pc:sldMk cId="1485816611" sldId="2147482551"/>
            <ac:picMk id="1026" creationId="{17C81AEF-B9CF-1D60-2A73-27716EE52A0F}"/>
          </ac:picMkLst>
        </pc:picChg>
      </pc:sldChg>
      <pc:sldChg chg="del">
        <pc:chgData name="Gaimukhe, Riya" userId="b8f55e00-efeb-4247-b928-f638a254fe55" providerId="ADAL" clId="{C48C6BA4-61B8-43ED-9B48-7BCC79A9D224}" dt="2026-02-18T10:29:30.505" v="9" actId="47"/>
        <pc:sldMkLst>
          <pc:docMk/>
          <pc:sldMk cId="1375393823" sldId="2147482597"/>
        </pc:sldMkLst>
      </pc:sldChg>
      <pc:sldChg chg="del">
        <pc:chgData name="Gaimukhe, Riya" userId="b8f55e00-efeb-4247-b928-f638a254fe55" providerId="ADAL" clId="{C48C6BA4-61B8-43ED-9B48-7BCC79A9D224}" dt="2026-02-18T10:29:27.700" v="8" actId="47"/>
        <pc:sldMkLst>
          <pc:docMk/>
          <pc:sldMk cId="2403341683" sldId="2147483097"/>
        </pc:sldMkLst>
      </pc:sldChg>
      <pc:sldChg chg="del">
        <pc:chgData name="Gaimukhe, Riya" userId="b8f55e00-efeb-4247-b928-f638a254fe55" providerId="ADAL" clId="{C48C6BA4-61B8-43ED-9B48-7BCC79A9D224}" dt="2026-02-18T10:29:14.804" v="2" actId="47"/>
        <pc:sldMkLst>
          <pc:docMk/>
          <pc:sldMk cId="211786796" sldId="2147483102"/>
        </pc:sldMkLst>
      </pc:sldChg>
      <pc:sldChg chg="del">
        <pc:chgData name="Gaimukhe, Riya" userId="b8f55e00-efeb-4247-b928-f638a254fe55" providerId="ADAL" clId="{C48C6BA4-61B8-43ED-9B48-7BCC79A9D224}" dt="2026-02-18T10:29:22.906" v="3" actId="47"/>
        <pc:sldMkLst>
          <pc:docMk/>
          <pc:sldMk cId="509765146" sldId="2147483103"/>
        </pc:sldMkLst>
      </pc:sldChg>
      <pc:sldChg chg="del">
        <pc:chgData name="Gaimukhe, Riya" userId="b8f55e00-efeb-4247-b928-f638a254fe55" providerId="ADAL" clId="{C48C6BA4-61B8-43ED-9B48-7BCC79A9D224}" dt="2026-02-18T10:29:24.190" v="4" actId="47"/>
        <pc:sldMkLst>
          <pc:docMk/>
          <pc:sldMk cId="4069828498" sldId="2147483104"/>
        </pc:sldMkLst>
      </pc:sldChg>
      <pc:sldChg chg="del">
        <pc:chgData name="Gaimukhe, Riya" userId="b8f55e00-efeb-4247-b928-f638a254fe55" providerId="ADAL" clId="{C48C6BA4-61B8-43ED-9B48-7BCC79A9D224}" dt="2026-02-18T10:29:24.985" v="5" actId="47"/>
        <pc:sldMkLst>
          <pc:docMk/>
          <pc:sldMk cId="4197288905" sldId="2147483105"/>
        </pc:sldMkLst>
      </pc:sldChg>
      <pc:sldChg chg="del">
        <pc:chgData name="Gaimukhe, Riya" userId="b8f55e00-efeb-4247-b928-f638a254fe55" providerId="ADAL" clId="{C48C6BA4-61B8-43ED-9B48-7BCC79A9D224}" dt="2026-02-18T10:29:25.710" v="6" actId="47"/>
        <pc:sldMkLst>
          <pc:docMk/>
          <pc:sldMk cId="2637079897" sldId="2147483106"/>
        </pc:sldMkLst>
      </pc:sldChg>
      <pc:sldChg chg="del">
        <pc:chgData name="Gaimukhe, Riya" userId="b8f55e00-efeb-4247-b928-f638a254fe55" providerId="ADAL" clId="{C48C6BA4-61B8-43ED-9B48-7BCC79A9D224}" dt="2026-02-18T10:29:26.507" v="7" actId="47"/>
        <pc:sldMkLst>
          <pc:docMk/>
          <pc:sldMk cId="3009500134" sldId="2147483107"/>
        </pc:sldMkLst>
      </pc:sldChg>
      <pc:sldMasterChg chg="delSp mod delSldLayout modSldLayout">
        <pc:chgData name="Gaimukhe, Riya" userId="b8f55e00-efeb-4247-b928-f638a254fe55" providerId="ADAL" clId="{C48C6BA4-61B8-43ED-9B48-7BCC79A9D224}" dt="2026-02-18T10:30:21.516" v="15" actId="478"/>
        <pc:sldMasterMkLst>
          <pc:docMk/>
          <pc:sldMasterMk cId="2100884843" sldId="2147483878"/>
        </pc:sldMasterMkLst>
        <pc:picChg chg="del">
          <ac:chgData name="Gaimukhe, Riya" userId="b8f55e00-efeb-4247-b928-f638a254fe55" providerId="ADAL" clId="{C48C6BA4-61B8-43ED-9B48-7BCC79A9D224}" dt="2026-02-18T10:30:20.510" v="14" actId="478"/>
          <ac:picMkLst>
            <pc:docMk/>
            <pc:sldMasterMk cId="2100884843" sldId="2147483878"/>
            <ac:picMk id="10" creationId="{90B51F63-3B28-1B4F-5770-14B4096260E3}"/>
          </ac:picMkLst>
        </pc:picChg>
        <pc:picChg chg="del">
          <ac:chgData name="Gaimukhe, Riya" userId="b8f55e00-efeb-4247-b928-f638a254fe55" providerId="ADAL" clId="{C48C6BA4-61B8-43ED-9B48-7BCC79A9D224}" dt="2026-02-18T10:30:21.516" v="15" actId="478"/>
          <ac:picMkLst>
            <pc:docMk/>
            <pc:sldMasterMk cId="2100884843" sldId="2147483878"/>
            <ac:picMk id="28" creationId="{F5EAD1F8-D385-4F7B-B8F3-539267025C3B}"/>
          </ac:picMkLst>
        </pc:picChg>
        <pc:sldLayoutChg chg="delSp mod">
          <pc:chgData name="Gaimukhe, Riya" userId="b8f55e00-efeb-4247-b928-f638a254fe55" providerId="ADAL" clId="{C48C6BA4-61B8-43ED-9B48-7BCC79A9D224}" dt="2026-02-18T10:30:16.498" v="13" actId="478"/>
          <pc:sldLayoutMkLst>
            <pc:docMk/>
            <pc:sldMasterMk cId="2100884843" sldId="2147483878"/>
            <pc:sldLayoutMk cId="3050376705" sldId="2147483879"/>
          </pc:sldLayoutMkLst>
          <pc:spChg chg="del">
            <ac:chgData name="Gaimukhe, Riya" userId="b8f55e00-efeb-4247-b928-f638a254fe55" providerId="ADAL" clId="{C48C6BA4-61B8-43ED-9B48-7BCC79A9D224}" dt="2026-02-18T10:30:16.498" v="13" actId="478"/>
            <ac:spMkLst>
              <pc:docMk/>
              <pc:sldMasterMk cId="2100884843" sldId="2147483878"/>
              <pc:sldLayoutMk cId="3050376705" sldId="2147483879"/>
              <ac:spMk id="6" creationId="{B82FBF00-184A-445D-86C9-C33582C67623}"/>
            </ac:spMkLst>
          </pc:spChg>
        </pc:sldLayoutChg>
        <pc:sldLayoutChg chg="modSp mod">
          <pc:chgData name="Gaimukhe, Riya" userId="b8f55e00-efeb-4247-b928-f638a254fe55" providerId="ADAL" clId="{C48C6BA4-61B8-43ED-9B48-7BCC79A9D224}" dt="2026-02-18T10:30:06.988" v="12" actId="1076"/>
          <pc:sldLayoutMkLst>
            <pc:docMk/>
            <pc:sldMasterMk cId="2100884843" sldId="2147483878"/>
            <pc:sldLayoutMk cId="1758039480" sldId="2147484112"/>
          </pc:sldLayoutMkLst>
          <pc:spChg chg="mod">
            <ac:chgData name="Gaimukhe, Riya" userId="b8f55e00-efeb-4247-b928-f638a254fe55" providerId="ADAL" clId="{C48C6BA4-61B8-43ED-9B48-7BCC79A9D224}" dt="2026-02-18T10:30:06.988" v="12" actId="1076"/>
            <ac:spMkLst>
              <pc:docMk/>
              <pc:sldMasterMk cId="2100884843" sldId="2147483878"/>
              <pc:sldLayoutMk cId="1758039480" sldId="2147484112"/>
              <ac:spMk id="7" creationId="{AE4E8E1B-7E5C-4529-916D-87725CA07E62}"/>
            </ac:spMkLst>
          </pc:spChg>
        </pc:sldLayoutChg>
        <pc:sldLayoutChg chg="del">
          <pc:chgData name="Gaimukhe, Riya" userId="b8f55e00-efeb-4247-b928-f638a254fe55" providerId="ADAL" clId="{C48C6BA4-61B8-43ED-9B48-7BCC79A9D224}" dt="2026-02-18T10:29:34.508" v="10" actId="47"/>
          <pc:sldLayoutMkLst>
            <pc:docMk/>
            <pc:sldMasterMk cId="2100884843" sldId="2147483878"/>
            <pc:sldLayoutMk cId="150522203" sldId="2147484224"/>
          </pc:sldLayoutMkLst>
        </pc:sldLayoutChg>
      </pc:sldMasterChg>
    </pc:docChg>
  </pc:docChgLst>
  <pc:docChgLst>
    <pc:chgData name="Ranade, Shripriya Vinay" userId="S::shripriya-vinay.ranade@capgemini.com::ab164fce-475d-4163-8d0e-76c773d24d62" providerId="AD" clId="Web-{96CB6143-D07B-FC85-D595-F38CB3E11EE7}"/>
    <pc:docChg chg="modSld">
      <pc:chgData name="Ranade, Shripriya Vinay" userId="S::shripriya-vinay.ranade@capgemini.com::ab164fce-475d-4163-8d0e-76c773d24d62" providerId="AD" clId="Web-{96CB6143-D07B-FC85-D595-F38CB3E11EE7}" dt="2026-02-18T05:29:45.016" v="1"/>
      <pc:docMkLst>
        <pc:docMk/>
      </pc:docMkLst>
      <pc:sldChg chg="delSp">
        <pc:chgData name="Ranade, Shripriya Vinay" userId="S::shripriya-vinay.ranade@capgemini.com::ab164fce-475d-4163-8d0e-76c773d24d62" providerId="AD" clId="Web-{96CB6143-D07B-FC85-D595-F38CB3E11EE7}" dt="2026-02-18T05:29:45.016" v="1"/>
        <pc:sldMkLst>
          <pc:docMk/>
          <pc:sldMk cId="293519067" sldId="2147377252"/>
        </pc:sldMkLst>
        <pc:picChg chg="del">
          <ac:chgData name="Ranade, Shripriya Vinay" userId="S::shripriya-vinay.ranade@capgemini.com::ab164fce-475d-4163-8d0e-76c773d24d62" providerId="AD" clId="Web-{96CB6143-D07B-FC85-D595-F38CB3E11EE7}" dt="2026-02-18T05:29:40.547" v="0"/>
          <ac:picMkLst>
            <pc:docMk/>
            <pc:sldMk cId="293519067" sldId="2147377252"/>
            <ac:picMk id="2054" creationId="{9DA7E5B6-EC29-C3F2-07DC-DAEA29889D63}"/>
          </ac:picMkLst>
        </pc:picChg>
        <pc:picChg chg="del">
          <ac:chgData name="Ranade, Shripriya Vinay" userId="S::shripriya-vinay.ranade@capgemini.com::ab164fce-475d-4163-8d0e-76c773d24d62" providerId="AD" clId="Web-{96CB6143-D07B-FC85-D595-F38CB3E11EE7}" dt="2026-02-18T05:29:45.016" v="1"/>
          <ac:picMkLst>
            <pc:docMk/>
            <pc:sldMk cId="293519067" sldId="2147377252"/>
            <ac:picMk id="2056" creationId="{6AA53C57-7FE2-2DA5-96D4-748A66EDEFEB}"/>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16AF26-CAD7-4863-8ADC-52CFF232E40C}"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GB"/>
        </a:p>
      </dgm:t>
    </dgm:pt>
    <dgm:pt modelId="{85942C25-7E64-40C2-BB42-99F2565477EF}">
      <dgm:prSet phldrT="[Text]"/>
      <dgm:spPr>
        <a:solidFill>
          <a:srgbClr val="0070AD"/>
        </a:solidFill>
      </dgm:spPr>
      <dgm:t>
        <a:bodyPr/>
        <a:lstStyle/>
        <a:p>
          <a:r>
            <a:rPr lang="en-GB" b="1"/>
            <a:t>Business Objectives</a:t>
          </a:r>
        </a:p>
      </dgm:t>
    </dgm:pt>
    <dgm:pt modelId="{FC20EDB6-6D86-472A-A847-D49AB8D4C5F5}" type="parTrans" cxnId="{8225524A-F581-4199-A066-8D92C4D5B9D5}">
      <dgm:prSet/>
      <dgm:spPr/>
      <dgm:t>
        <a:bodyPr/>
        <a:lstStyle/>
        <a:p>
          <a:endParaRPr lang="en-GB"/>
        </a:p>
      </dgm:t>
    </dgm:pt>
    <dgm:pt modelId="{9DCA9894-927E-40B8-902D-843520DA3970}" type="sibTrans" cxnId="{8225524A-F581-4199-A066-8D92C4D5B9D5}">
      <dgm:prSet/>
      <dgm:spPr>
        <a:solidFill>
          <a:schemeClr val="bg1">
            <a:lumMod val="65000"/>
          </a:schemeClr>
        </a:solidFill>
      </dgm:spPr>
      <dgm:t>
        <a:bodyPr/>
        <a:lstStyle/>
        <a:p>
          <a:endParaRPr lang="en-GB"/>
        </a:p>
      </dgm:t>
    </dgm:pt>
    <dgm:pt modelId="{EFFA1035-656F-4A46-9670-BC268451C2DF}">
      <dgm:prSet phldrT="[Text]"/>
      <dgm:spPr>
        <a:solidFill>
          <a:srgbClr val="0070AD"/>
        </a:solidFill>
      </dgm:spPr>
      <dgm:t>
        <a:bodyPr/>
        <a:lstStyle/>
        <a:p>
          <a:pPr rtl="0"/>
          <a:r>
            <a:rPr lang="en-GB" b="1"/>
            <a:t>Architecture </a:t>
          </a:r>
          <a:r>
            <a:rPr lang="en-GB" b="1">
              <a:latin typeface="TheSans Swisscom Light"/>
            </a:rPr>
            <a:t>and Security Principles</a:t>
          </a:r>
          <a:endParaRPr lang="en-GB" b="1"/>
        </a:p>
      </dgm:t>
    </dgm:pt>
    <dgm:pt modelId="{06469BA8-188B-419D-B4B5-66CBCC3B896F}" type="parTrans" cxnId="{5DF9DBD1-62C5-40E2-8826-DB8E7471F787}">
      <dgm:prSet/>
      <dgm:spPr/>
      <dgm:t>
        <a:bodyPr/>
        <a:lstStyle/>
        <a:p>
          <a:endParaRPr lang="en-GB"/>
        </a:p>
      </dgm:t>
    </dgm:pt>
    <dgm:pt modelId="{5E4A26B0-BA39-457C-B20D-2A3F19CCEAEB}" type="sibTrans" cxnId="{5DF9DBD1-62C5-40E2-8826-DB8E7471F787}">
      <dgm:prSet/>
      <dgm:spPr>
        <a:solidFill>
          <a:schemeClr val="bg1">
            <a:lumMod val="65000"/>
          </a:schemeClr>
        </a:solidFill>
      </dgm:spPr>
      <dgm:t>
        <a:bodyPr/>
        <a:lstStyle/>
        <a:p>
          <a:endParaRPr lang="en-GB"/>
        </a:p>
      </dgm:t>
    </dgm:pt>
    <dgm:pt modelId="{CDB9094D-7355-4B2F-8B59-BA867BF5A5AD}">
      <dgm:prSet phldrT="[Text]"/>
      <dgm:spPr>
        <a:solidFill>
          <a:srgbClr val="0070AD"/>
        </a:solidFill>
      </dgm:spPr>
      <dgm:t>
        <a:bodyPr/>
        <a:lstStyle/>
        <a:p>
          <a:r>
            <a:rPr lang="en-GB" b="1"/>
            <a:t>Existing technology Landscape</a:t>
          </a:r>
        </a:p>
      </dgm:t>
    </dgm:pt>
    <dgm:pt modelId="{D014D1AA-3A4F-4663-9DD9-0AB9D8C92B36}" type="parTrans" cxnId="{5B3B1599-156B-4F92-A21B-6B531770AB39}">
      <dgm:prSet/>
      <dgm:spPr/>
      <dgm:t>
        <a:bodyPr/>
        <a:lstStyle/>
        <a:p>
          <a:endParaRPr lang="en-GB"/>
        </a:p>
      </dgm:t>
    </dgm:pt>
    <dgm:pt modelId="{B537E6F9-461C-4FB1-B144-7BE24DBE6523}" type="sibTrans" cxnId="{5B3B1599-156B-4F92-A21B-6B531770AB39}">
      <dgm:prSet/>
      <dgm:spPr>
        <a:solidFill>
          <a:schemeClr val="bg1">
            <a:lumMod val="65000"/>
          </a:schemeClr>
        </a:solidFill>
      </dgm:spPr>
      <dgm:t>
        <a:bodyPr/>
        <a:lstStyle/>
        <a:p>
          <a:endParaRPr lang="en-GB"/>
        </a:p>
      </dgm:t>
    </dgm:pt>
    <dgm:pt modelId="{09C65ECB-E4CD-4735-95A4-6E45C5B5A3A2}">
      <dgm:prSet phldrT="[Text]"/>
      <dgm:spPr>
        <a:solidFill>
          <a:srgbClr val="34B7FF"/>
        </a:solidFill>
      </dgm:spPr>
      <dgm:t>
        <a:bodyPr/>
        <a:lstStyle/>
        <a:p>
          <a:r>
            <a:rPr lang="en-GB" b="1"/>
            <a:t>Industry and Technology Best Practice</a:t>
          </a:r>
        </a:p>
      </dgm:t>
    </dgm:pt>
    <dgm:pt modelId="{FDA4E482-6E85-4DDC-93D0-819BADF9B6CD}" type="parTrans" cxnId="{A1364411-2BB8-4F1B-BA64-21FC7870B16B}">
      <dgm:prSet/>
      <dgm:spPr/>
      <dgm:t>
        <a:bodyPr/>
        <a:lstStyle/>
        <a:p>
          <a:endParaRPr lang="en-GB"/>
        </a:p>
      </dgm:t>
    </dgm:pt>
    <dgm:pt modelId="{8A8BAE0D-0314-4B98-8D34-7140F519E471}" type="sibTrans" cxnId="{A1364411-2BB8-4F1B-BA64-21FC7870B16B}">
      <dgm:prSet/>
      <dgm:spPr>
        <a:solidFill>
          <a:schemeClr val="bg1">
            <a:lumMod val="65000"/>
          </a:schemeClr>
        </a:solidFill>
      </dgm:spPr>
      <dgm:t>
        <a:bodyPr/>
        <a:lstStyle/>
        <a:p>
          <a:endParaRPr lang="en-GB"/>
        </a:p>
      </dgm:t>
    </dgm:pt>
    <dgm:pt modelId="{C81FBA17-F7C2-49E8-9B24-D4130253F5C6}">
      <dgm:prSet phldrT="[Text]"/>
      <dgm:spPr>
        <a:solidFill>
          <a:srgbClr val="0D80A4"/>
        </a:solidFill>
      </dgm:spPr>
      <dgm:t>
        <a:bodyPr/>
        <a:lstStyle/>
        <a:p>
          <a:r>
            <a:rPr lang="en-GB" b="1"/>
            <a:t>End State Architecture</a:t>
          </a:r>
        </a:p>
      </dgm:t>
    </dgm:pt>
    <dgm:pt modelId="{4C9FD051-17AB-4D81-9749-5778A2A446C6}" type="parTrans" cxnId="{FA2F24D7-7FF0-40AA-9129-A03BB843B4A2}">
      <dgm:prSet/>
      <dgm:spPr/>
      <dgm:t>
        <a:bodyPr/>
        <a:lstStyle/>
        <a:p>
          <a:endParaRPr lang="en-GB"/>
        </a:p>
      </dgm:t>
    </dgm:pt>
    <dgm:pt modelId="{455D2954-7015-4463-BFBA-E338923C12DB}" type="sibTrans" cxnId="{FA2F24D7-7FF0-40AA-9129-A03BB843B4A2}">
      <dgm:prSet/>
      <dgm:spPr>
        <a:solidFill>
          <a:schemeClr val="bg1">
            <a:lumMod val="65000"/>
          </a:schemeClr>
        </a:solidFill>
      </dgm:spPr>
      <dgm:t>
        <a:bodyPr/>
        <a:lstStyle/>
        <a:p>
          <a:endParaRPr lang="en-GB"/>
        </a:p>
      </dgm:t>
    </dgm:pt>
    <dgm:pt modelId="{0E579F0B-8EFD-4729-8056-A2032F2BA0A4}" type="pres">
      <dgm:prSet presAssocID="{B516AF26-CAD7-4863-8ADC-52CFF232E40C}" presName="cycle" presStyleCnt="0">
        <dgm:presLayoutVars>
          <dgm:dir/>
          <dgm:resizeHandles val="exact"/>
        </dgm:presLayoutVars>
      </dgm:prSet>
      <dgm:spPr/>
    </dgm:pt>
    <dgm:pt modelId="{ADB00ED5-C4D1-4568-A096-9481C2DB2360}" type="pres">
      <dgm:prSet presAssocID="{85942C25-7E64-40C2-BB42-99F2565477EF}" presName="node" presStyleLbl="node1" presStyleIdx="0" presStyleCnt="5" custRadScaleRad="100003" custRadScaleInc="-1148">
        <dgm:presLayoutVars>
          <dgm:bulletEnabled val="1"/>
        </dgm:presLayoutVars>
      </dgm:prSet>
      <dgm:spPr/>
    </dgm:pt>
    <dgm:pt modelId="{A0CB0F62-6EEC-4DDE-AA98-A75DED25F215}" type="pres">
      <dgm:prSet presAssocID="{9DCA9894-927E-40B8-902D-843520DA3970}" presName="sibTrans" presStyleLbl="sibTrans2D1" presStyleIdx="0" presStyleCnt="5" custLinFactNeighborX="-2410" custLinFactNeighborY="4452"/>
      <dgm:spPr/>
    </dgm:pt>
    <dgm:pt modelId="{F0EA1D00-E8A6-45F5-AD2A-E51732F68F7C}" type="pres">
      <dgm:prSet presAssocID="{9DCA9894-927E-40B8-902D-843520DA3970}" presName="connectorText" presStyleLbl="sibTrans2D1" presStyleIdx="0" presStyleCnt="5"/>
      <dgm:spPr/>
    </dgm:pt>
    <dgm:pt modelId="{AC8C69B9-D2F2-425A-BDCF-70765DCFCE31}" type="pres">
      <dgm:prSet presAssocID="{EFFA1035-656F-4A46-9670-BC268451C2DF}" presName="node" presStyleLbl="node1" presStyleIdx="1" presStyleCnt="5">
        <dgm:presLayoutVars>
          <dgm:bulletEnabled val="1"/>
        </dgm:presLayoutVars>
      </dgm:prSet>
      <dgm:spPr/>
    </dgm:pt>
    <dgm:pt modelId="{803393C8-FEE4-4126-9BBD-52EF919477F0}" type="pres">
      <dgm:prSet presAssocID="{5E4A26B0-BA39-457C-B20D-2A3F19CCEAEB}" presName="sibTrans" presStyleLbl="sibTrans2D1" presStyleIdx="1" presStyleCnt="5" custLinFactNeighborX="-2445" custLinFactNeighborY="4452"/>
      <dgm:spPr/>
    </dgm:pt>
    <dgm:pt modelId="{1CCEA52B-4241-48BD-815E-2C1861D1FB30}" type="pres">
      <dgm:prSet presAssocID="{5E4A26B0-BA39-457C-B20D-2A3F19CCEAEB}" presName="connectorText" presStyleLbl="sibTrans2D1" presStyleIdx="1" presStyleCnt="5"/>
      <dgm:spPr/>
    </dgm:pt>
    <dgm:pt modelId="{1D511A1C-FDA8-4AAD-9A55-4095E9CB51F7}" type="pres">
      <dgm:prSet presAssocID="{CDB9094D-7355-4B2F-8B59-BA867BF5A5AD}" presName="node" presStyleLbl="node1" presStyleIdx="2" presStyleCnt="5">
        <dgm:presLayoutVars>
          <dgm:bulletEnabled val="1"/>
        </dgm:presLayoutVars>
      </dgm:prSet>
      <dgm:spPr/>
    </dgm:pt>
    <dgm:pt modelId="{8E077517-81FA-44DF-8628-D10CBB5CEEED}" type="pres">
      <dgm:prSet presAssocID="{B537E6F9-461C-4FB1-B144-7BE24DBE6523}" presName="sibTrans" presStyleLbl="sibTrans2D1" presStyleIdx="2" presStyleCnt="5" custLinFactNeighborX="-2445" custLinFactNeighborY="4452"/>
      <dgm:spPr/>
    </dgm:pt>
    <dgm:pt modelId="{84CAC9F3-40EB-4421-AFD6-D7B6AD0FA459}" type="pres">
      <dgm:prSet presAssocID="{B537E6F9-461C-4FB1-B144-7BE24DBE6523}" presName="connectorText" presStyleLbl="sibTrans2D1" presStyleIdx="2" presStyleCnt="5"/>
      <dgm:spPr/>
    </dgm:pt>
    <dgm:pt modelId="{003036C4-C11A-41E9-86B9-46370EFC424C}" type="pres">
      <dgm:prSet presAssocID="{09C65ECB-E4CD-4735-95A4-6E45C5B5A3A2}" presName="node" presStyleLbl="node1" presStyleIdx="3" presStyleCnt="5">
        <dgm:presLayoutVars>
          <dgm:bulletEnabled val="1"/>
        </dgm:presLayoutVars>
      </dgm:prSet>
      <dgm:spPr/>
    </dgm:pt>
    <dgm:pt modelId="{4A9DBDF8-1DA6-4145-8E5F-C8D9E648D271}" type="pres">
      <dgm:prSet presAssocID="{8A8BAE0D-0314-4B98-8D34-7140F519E471}" presName="sibTrans" presStyleLbl="sibTrans2D1" presStyleIdx="3" presStyleCnt="5" custLinFactNeighborX="-2445" custLinFactNeighborY="4452"/>
      <dgm:spPr/>
    </dgm:pt>
    <dgm:pt modelId="{DF7546B8-AAC9-42F6-854C-B6A1F7C4FC47}" type="pres">
      <dgm:prSet presAssocID="{8A8BAE0D-0314-4B98-8D34-7140F519E471}" presName="connectorText" presStyleLbl="sibTrans2D1" presStyleIdx="3" presStyleCnt="5"/>
      <dgm:spPr/>
    </dgm:pt>
    <dgm:pt modelId="{8C465C3B-5C8F-43BF-9D9B-7087C99016B7}" type="pres">
      <dgm:prSet presAssocID="{C81FBA17-F7C2-49E8-9B24-D4130253F5C6}" presName="node" presStyleLbl="node1" presStyleIdx="4" presStyleCnt="5">
        <dgm:presLayoutVars>
          <dgm:bulletEnabled val="1"/>
        </dgm:presLayoutVars>
      </dgm:prSet>
      <dgm:spPr/>
    </dgm:pt>
    <dgm:pt modelId="{BE95D273-86BA-41DC-B17F-408A82BE5E54}" type="pres">
      <dgm:prSet presAssocID="{455D2954-7015-4463-BFBA-E338923C12DB}" presName="sibTrans" presStyleLbl="sibTrans2D1" presStyleIdx="4" presStyleCnt="5" custLinFactNeighborX="-2482" custLinFactNeighborY="4452"/>
      <dgm:spPr/>
    </dgm:pt>
    <dgm:pt modelId="{B9519B1F-AC2F-4B4B-B79A-E12788B06B2F}" type="pres">
      <dgm:prSet presAssocID="{455D2954-7015-4463-BFBA-E338923C12DB}" presName="connectorText" presStyleLbl="sibTrans2D1" presStyleIdx="4" presStyleCnt="5"/>
      <dgm:spPr/>
    </dgm:pt>
  </dgm:ptLst>
  <dgm:cxnLst>
    <dgm:cxn modelId="{57A53D11-3B96-4B49-8636-0392C04601BD}" type="presOf" srcId="{B516AF26-CAD7-4863-8ADC-52CFF232E40C}" destId="{0E579F0B-8EFD-4729-8056-A2032F2BA0A4}" srcOrd="0" destOrd="0" presId="urn:microsoft.com/office/officeart/2005/8/layout/cycle2"/>
    <dgm:cxn modelId="{A1364411-2BB8-4F1B-BA64-21FC7870B16B}" srcId="{B516AF26-CAD7-4863-8ADC-52CFF232E40C}" destId="{09C65ECB-E4CD-4735-95A4-6E45C5B5A3A2}" srcOrd="3" destOrd="0" parTransId="{FDA4E482-6E85-4DDC-93D0-819BADF9B6CD}" sibTransId="{8A8BAE0D-0314-4B98-8D34-7140F519E471}"/>
    <dgm:cxn modelId="{55A6141D-84E7-4FA5-9815-1ACE5576589B}" type="presOf" srcId="{455D2954-7015-4463-BFBA-E338923C12DB}" destId="{BE95D273-86BA-41DC-B17F-408A82BE5E54}" srcOrd="0" destOrd="0" presId="urn:microsoft.com/office/officeart/2005/8/layout/cycle2"/>
    <dgm:cxn modelId="{4665D237-B5E2-4831-833B-78DC9F1C688F}" type="presOf" srcId="{8A8BAE0D-0314-4B98-8D34-7140F519E471}" destId="{4A9DBDF8-1DA6-4145-8E5F-C8D9E648D271}" srcOrd="0" destOrd="0" presId="urn:microsoft.com/office/officeart/2005/8/layout/cycle2"/>
    <dgm:cxn modelId="{E179C95C-FE72-4933-B416-607F2EE43D18}" type="presOf" srcId="{CDB9094D-7355-4B2F-8B59-BA867BF5A5AD}" destId="{1D511A1C-FDA8-4AAD-9A55-4095E9CB51F7}" srcOrd="0" destOrd="0" presId="urn:microsoft.com/office/officeart/2005/8/layout/cycle2"/>
    <dgm:cxn modelId="{BB54CE41-6393-4946-8BB8-65DB08D96F86}" type="presOf" srcId="{B537E6F9-461C-4FB1-B144-7BE24DBE6523}" destId="{8E077517-81FA-44DF-8628-D10CBB5CEEED}" srcOrd="0" destOrd="0" presId="urn:microsoft.com/office/officeart/2005/8/layout/cycle2"/>
    <dgm:cxn modelId="{8225524A-F581-4199-A066-8D92C4D5B9D5}" srcId="{B516AF26-CAD7-4863-8ADC-52CFF232E40C}" destId="{85942C25-7E64-40C2-BB42-99F2565477EF}" srcOrd="0" destOrd="0" parTransId="{FC20EDB6-6D86-472A-A847-D49AB8D4C5F5}" sibTransId="{9DCA9894-927E-40B8-902D-843520DA3970}"/>
    <dgm:cxn modelId="{E38E8C70-9F58-42CD-A5D5-A2616761F074}" type="presOf" srcId="{455D2954-7015-4463-BFBA-E338923C12DB}" destId="{B9519B1F-AC2F-4B4B-B79A-E12788B06B2F}" srcOrd="1" destOrd="0" presId="urn:microsoft.com/office/officeart/2005/8/layout/cycle2"/>
    <dgm:cxn modelId="{DCE4D683-29B9-4A7D-A632-037AE76EC59F}" type="presOf" srcId="{09C65ECB-E4CD-4735-95A4-6E45C5B5A3A2}" destId="{003036C4-C11A-41E9-86B9-46370EFC424C}" srcOrd="0" destOrd="0" presId="urn:microsoft.com/office/officeart/2005/8/layout/cycle2"/>
    <dgm:cxn modelId="{42C4BB88-3AFB-42C7-A37D-F951ED9E58A0}" type="presOf" srcId="{5E4A26B0-BA39-457C-B20D-2A3F19CCEAEB}" destId="{803393C8-FEE4-4126-9BBD-52EF919477F0}" srcOrd="0" destOrd="0" presId="urn:microsoft.com/office/officeart/2005/8/layout/cycle2"/>
    <dgm:cxn modelId="{2885FA93-EDDD-4BE5-A0B7-3B7ED256D53B}" type="presOf" srcId="{B537E6F9-461C-4FB1-B144-7BE24DBE6523}" destId="{84CAC9F3-40EB-4421-AFD6-D7B6AD0FA459}" srcOrd="1" destOrd="0" presId="urn:microsoft.com/office/officeart/2005/8/layout/cycle2"/>
    <dgm:cxn modelId="{A90DD397-8FEE-458F-9AFC-0FB41399AE63}" type="presOf" srcId="{EFFA1035-656F-4A46-9670-BC268451C2DF}" destId="{AC8C69B9-D2F2-425A-BDCF-70765DCFCE31}" srcOrd="0" destOrd="0" presId="urn:microsoft.com/office/officeart/2005/8/layout/cycle2"/>
    <dgm:cxn modelId="{5B3B1599-156B-4F92-A21B-6B531770AB39}" srcId="{B516AF26-CAD7-4863-8ADC-52CFF232E40C}" destId="{CDB9094D-7355-4B2F-8B59-BA867BF5A5AD}" srcOrd="2" destOrd="0" parTransId="{D014D1AA-3A4F-4663-9DD9-0AB9D8C92B36}" sibTransId="{B537E6F9-461C-4FB1-B144-7BE24DBE6523}"/>
    <dgm:cxn modelId="{92C0B59B-2A55-4347-B3EF-387B67D56648}" type="presOf" srcId="{9DCA9894-927E-40B8-902D-843520DA3970}" destId="{A0CB0F62-6EEC-4DDE-AA98-A75DED25F215}" srcOrd="0" destOrd="0" presId="urn:microsoft.com/office/officeart/2005/8/layout/cycle2"/>
    <dgm:cxn modelId="{808654C6-99A9-405F-80F1-D21688057F0F}" type="presOf" srcId="{8A8BAE0D-0314-4B98-8D34-7140F519E471}" destId="{DF7546B8-AAC9-42F6-854C-B6A1F7C4FC47}" srcOrd="1" destOrd="0" presId="urn:microsoft.com/office/officeart/2005/8/layout/cycle2"/>
    <dgm:cxn modelId="{EAA027C9-7F05-4113-BC21-AF100D4D99D4}" type="presOf" srcId="{C81FBA17-F7C2-49E8-9B24-D4130253F5C6}" destId="{8C465C3B-5C8F-43BF-9D9B-7087C99016B7}" srcOrd="0" destOrd="0" presId="urn:microsoft.com/office/officeart/2005/8/layout/cycle2"/>
    <dgm:cxn modelId="{BB0546C9-4985-4D9C-911E-D788D23ADA8A}" type="presOf" srcId="{5E4A26B0-BA39-457C-B20D-2A3F19CCEAEB}" destId="{1CCEA52B-4241-48BD-815E-2C1861D1FB30}" srcOrd="1" destOrd="0" presId="urn:microsoft.com/office/officeart/2005/8/layout/cycle2"/>
    <dgm:cxn modelId="{5DF9DBD1-62C5-40E2-8826-DB8E7471F787}" srcId="{B516AF26-CAD7-4863-8ADC-52CFF232E40C}" destId="{EFFA1035-656F-4A46-9670-BC268451C2DF}" srcOrd="1" destOrd="0" parTransId="{06469BA8-188B-419D-B4B5-66CBCC3B896F}" sibTransId="{5E4A26B0-BA39-457C-B20D-2A3F19CCEAEB}"/>
    <dgm:cxn modelId="{FA2F24D7-7FF0-40AA-9129-A03BB843B4A2}" srcId="{B516AF26-CAD7-4863-8ADC-52CFF232E40C}" destId="{C81FBA17-F7C2-49E8-9B24-D4130253F5C6}" srcOrd="4" destOrd="0" parTransId="{4C9FD051-17AB-4D81-9749-5778A2A446C6}" sibTransId="{455D2954-7015-4463-BFBA-E338923C12DB}"/>
    <dgm:cxn modelId="{161CD9D7-B932-414B-9A8D-424ECBF378E4}" type="presOf" srcId="{85942C25-7E64-40C2-BB42-99F2565477EF}" destId="{ADB00ED5-C4D1-4568-A096-9481C2DB2360}" srcOrd="0" destOrd="0" presId="urn:microsoft.com/office/officeart/2005/8/layout/cycle2"/>
    <dgm:cxn modelId="{15D89AF3-8B1B-497F-9248-B40E3DAFA382}" type="presOf" srcId="{9DCA9894-927E-40B8-902D-843520DA3970}" destId="{F0EA1D00-E8A6-45F5-AD2A-E51732F68F7C}" srcOrd="1" destOrd="0" presId="urn:microsoft.com/office/officeart/2005/8/layout/cycle2"/>
    <dgm:cxn modelId="{17E70C31-AD0F-446C-BEE0-60A80D1F69FD}" type="presParOf" srcId="{0E579F0B-8EFD-4729-8056-A2032F2BA0A4}" destId="{ADB00ED5-C4D1-4568-A096-9481C2DB2360}" srcOrd="0" destOrd="0" presId="urn:microsoft.com/office/officeart/2005/8/layout/cycle2"/>
    <dgm:cxn modelId="{10821926-CB2D-48D2-9EB7-FE41505D363C}" type="presParOf" srcId="{0E579F0B-8EFD-4729-8056-A2032F2BA0A4}" destId="{A0CB0F62-6EEC-4DDE-AA98-A75DED25F215}" srcOrd="1" destOrd="0" presId="urn:microsoft.com/office/officeart/2005/8/layout/cycle2"/>
    <dgm:cxn modelId="{22FA8A70-20FA-44C6-A158-29CBBD09AA5E}" type="presParOf" srcId="{A0CB0F62-6EEC-4DDE-AA98-A75DED25F215}" destId="{F0EA1D00-E8A6-45F5-AD2A-E51732F68F7C}" srcOrd="0" destOrd="0" presId="urn:microsoft.com/office/officeart/2005/8/layout/cycle2"/>
    <dgm:cxn modelId="{A31CE342-8B26-49E6-9D39-0B33BBA5AD51}" type="presParOf" srcId="{0E579F0B-8EFD-4729-8056-A2032F2BA0A4}" destId="{AC8C69B9-D2F2-425A-BDCF-70765DCFCE31}" srcOrd="2" destOrd="0" presId="urn:microsoft.com/office/officeart/2005/8/layout/cycle2"/>
    <dgm:cxn modelId="{3181770F-E53E-40A0-B73B-41AE757DBAAB}" type="presParOf" srcId="{0E579F0B-8EFD-4729-8056-A2032F2BA0A4}" destId="{803393C8-FEE4-4126-9BBD-52EF919477F0}" srcOrd="3" destOrd="0" presId="urn:microsoft.com/office/officeart/2005/8/layout/cycle2"/>
    <dgm:cxn modelId="{D3C682E4-C2E7-4CBE-AA57-2BDB36C7C2D0}" type="presParOf" srcId="{803393C8-FEE4-4126-9BBD-52EF919477F0}" destId="{1CCEA52B-4241-48BD-815E-2C1861D1FB30}" srcOrd="0" destOrd="0" presId="urn:microsoft.com/office/officeart/2005/8/layout/cycle2"/>
    <dgm:cxn modelId="{7CC75AB9-0834-4730-B81E-B856D5720524}" type="presParOf" srcId="{0E579F0B-8EFD-4729-8056-A2032F2BA0A4}" destId="{1D511A1C-FDA8-4AAD-9A55-4095E9CB51F7}" srcOrd="4" destOrd="0" presId="urn:microsoft.com/office/officeart/2005/8/layout/cycle2"/>
    <dgm:cxn modelId="{25EC9AB4-F234-42B0-94B6-CC437B231DE4}" type="presParOf" srcId="{0E579F0B-8EFD-4729-8056-A2032F2BA0A4}" destId="{8E077517-81FA-44DF-8628-D10CBB5CEEED}" srcOrd="5" destOrd="0" presId="urn:microsoft.com/office/officeart/2005/8/layout/cycle2"/>
    <dgm:cxn modelId="{4F27326C-DDB2-4225-B01D-56B1D268D4F3}" type="presParOf" srcId="{8E077517-81FA-44DF-8628-D10CBB5CEEED}" destId="{84CAC9F3-40EB-4421-AFD6-D7B6AD0FA459}" srcOrd="0" destOrd="0" presId="urn:microsoft.com/office/officeart/2005/8/layout/cycle2"/>
    <dgm:cxn modelId="{9F30B5E0-71CF-4F48-8250-EE106EFC8E2D}" type="presParOf" srcId="{0E579F0B-8EFD-4729-8056-A2032F2BA0A4}" destId="{003036C4-C11A-41E9-86B9-46370EFC424C}" srcOrd="6" destOrd="0" presId="urn:microsoft.com/office/officeart/2005/8/layout/cycle2"/>
    <dgm:cxn modelId="{E86C6567-13B9-4556-B9CA-9442F25FC744}" type="presParOf" srcId="{0E579F0B-8EFD-4729-8056-A2032F2BA0A4}" destId="{4A9DBDF8-1DA6-4145-8E5F-C8D9E648D271}" srcOrd="7" destOrd="0" presId="urn:microsoft.com/office/officeart/2005/8/layout/cycle2"/>
    <dgm:cxn modelId="{04DAC50A-8315-4C60-9BCD-FDF15B444E99}" type="presParOf" srcId="{4A9DBDF8-1DA6-4145-8E5F-C8D9E648D271}" destId="{DF7546B8-AAC9-42F6-854C-B6A1F7C4FC47}" srcOrd="0" destOrd="0" presId="urn:microsoft.com/office/officeart/2005/8/layout/cycle2"/>
    <dgm:cxn modelId="{4DA93331-717B-4226-A1C3-1C9705565383}" type="presParOf" srcId="{0E579F0B-8EFD-4729-8056-A2032F2BA0A4}" destId="{8C465C3B-5C8F-43BF-9D9B-7087C99016B7}" srcOrd="8" destOrd="0" presId="urn:microsoft.com/office/officeart/2005/8/layout/cycle2"/>
    <dgm:cxn modelId="{BCC55144-05E5-436C-943C-8197C16D39F4}" type="presParOf" srcId="{0E579F0B-8EFD-4729-8056-A2032F2BA0A4}" destId="{BE95D273-86BA-41DC-B17F-408A82BE5E54}" srcOrd="9" destOrd="0" presId="urn:microsoft.com/office/officeart/2005/8/layout/cycle2"/>
    <dgm:cxn modelId="{D00C85A2-D777-4A6D-B13F-46E58FEC7BAD}" type="presParOf" srcId="{BE95D273-86BA-41DC-B17F-408A82BE5E54}" destId="{B9519B1F-AC2F-4B4B-B79A-E12788B06B2F}"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B00ED5-C4D1-4568-A096-9481C2DB2360}">
      <dsp:nvSpPr>
        <dsp:cNvPr id="0" name=""/>
        <dsp:cNvSpPr/>
      </dsp:nvSpPr>
      <dsp:spPr>
        <a:xfrm>
          <a:off x="2210317" y="0"/>
          <a:ext cx="1111633" cy="1111633"/>
        </a:xfrm>
        <a:prstGeom prst="ellipse">
          <a:avLst/>
        </a:prstGeom>
        <a:solidFill>
          <a:srgbClr val="0070A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b="1" kern="1200"/>
            <a:t>Business Objectives</a:t>
          </a:r>
        </a:p>
      </dsp:txBody>
      <dsp:txXfrm>
        <a:off x="2373112" y="162795"/>
        <a:ext cx="786043" cy="786043"/>
      </dsp:txXfrm>
    </dsp:sp>
    <dsp:sp modelId="{A0CB0F62-6EEC-4DDE-AA98-A75DED25F215}">
      <dsp:nvSpPr>
        <dsp:cNvPr id="0" name=""/>
        <dsp:cNvSpPr/>
      </dsp:nvSpPr>
      <dsp:spPr>
        <a:xfrm rot="2147668">
          <a:off x="3282329" y="870375"/>
          <a:ext cx="299611" cy="375176"/>
        </a:xfrm>
        <a:prstGeom prst="rightArrow">
          <a:avLst>
            <a:gd name="adj1" fmla="val 60000"/>
            <a:gd name="adj2" fmla="val 50000"/>
          </a:avLst>
        </a:prstGeom>
        <a:solidFill>
          <a:schemeClr val="bg1">
            <a:lumMod val="6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3290818" y="919125"/>
        <a:ext cx="209728" cy="225106"/>
      </dsp:txXfrm>
    </dsp:sp>
    <dsp:sp modelId="{AC8C69B9-D2F2-425A-BDCF-70765DCFCE31}">
      <dsp:nvSpPr>
        <dsp:cNvPr id="0" name=""/>
        <dsp:cNvSpPr/>
      </dsp:nvSpPr>
      <dsp:spPr>
        <a:xfrm>
          <a:off x="3570516" y="980806"/>
          <a:ext cx="1111633" cy="1111633"/>
        </a:xfrm>
        <a:prstGeom prst="ellipse">
          <a:avLst/>
        </a:prstGeom>
        <a:solidFill>
          <a:srgbClr val="0070A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rtl="0">
            <a:lnSpc>
              <a:spcPct val="90000"/>
            </a:lnSpc>
            <a:spcBef>
              <a:spcPct val="0"/>
            </a:spcBef>
            <a:spcAft>
              <a:spcPct val="35000"/>
            </a:spcAft>
            <a:buNone/>
          </a:pPr>
          <a:r>
            <a:rPr lang="en-GB" sz="1100" b="1" kern="1200"/>
            <a:t>Architecture </a:t>
          </a:r>
          <a:r>
            <a:rPr lang="en-GB" sz="1100" b="1" kern="1200">
              <a:latin typeface="TheSans Swisscom Light"/>
            </a:rPr>
            <a:t>and Security Principles</a:t>
          </a:r>
          <a:endParaRPr lang="en-GB" sz="1100" b="1" kern="1200"/>
        </a:p>
      </dsp:txBody>
      <dsp:txXfrm>
        <a:off x="3733311" y="1143601"/>
        <a:ext cx="786043" cy="786043"/>
      </dsp:txXfrm>
    </dsp:sp>
    <dsp:sp modelId="{803393C8-FEE4-4126-9BBD-52EF919477F0}">
      <dsp:nvSpPr>
        <dsp:cNvPr id="0" name=""/>
        <dsp:cNvSpPr/>
      </dsp:nvSpPr>
      <dsp:spPr>
        <a:xfrm rot="6480000">
          <a:off x="3716270" y="2151278"/>
          <a:ext cx="295214" cy="375176"/>
        </a:xfrm>
        <a:prstGeom prst="rightArrow">
          <a:avLst>
            <a:gd name="adj1" fmla="val 60000"/>
            <a:gd name="adj2" fmla="val 50000"/>
          </a:avLst>
        </a:prstGeom>
        <a:solidFill>
          <a:schemeClr val="bg1">
            <a:lumMod val="6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10800000">
        <a:off x="3774236" y="2184198"/>
        <a:ext cx="206650" cy="225106"/>
      </dsp:txXfrm>
    </dsp:sp>
    <dsp:sp modelId="{1D511A1C-FDA8-4AAD-9A55-4095E9CB51F7}">
      <dsp:nvSpPr>
        <dsp:cNvPr id="0" name=""/>
        <dsp:cNvSpPr/>
      </dsp:nvSpPr>
      <dsp:spPr>
        <a:xfrm>
          <a:off x="3054877" y="2567779"/>
          <a:ext cx="1111633" cy="1111633"/>
        </a:xfrm>
        <a:prstGeom prst="ellipse">
          <a:avLst/>
        </a:prstGeom>
        <a:solidFill>
          <a:srgbClr val="0070A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b="1" kern="1200"/>
            <a:t>Existing technology Landscape</a:t>
          </a:r>
        </a:p>
      </dsp:txBody>
      <dsp:txXfrm>
        <a:off x="3217672" y="2730574"/>
        <a:ext cx="786043" cy="786043"/>
      </dsp:txXfrm>
    </dsp:sp>
    <dsp:sp modelId="{8E077517-81FA-44DF-8628-D10CBB5CEEED}">
      <dsp:nvSpPr>
        <dsp:cNvPr id="0" name=""/>
        <dsp:cNvSpPr/>
      </dsp:nvSpPr>
      <dsp:spPr>
        <a:xfrm rot="10800000">
          <a:off x="2629902" y="2952711"/>
          <a:ext cx="295214" cy="375176"/>
        </a:xfrm>
        <a:prstGeom prst="rightArrow">
          <a:avLst>
            <a:gd name="adj1" fmla="val 60000"/>
            <a:gd name="adj2" fmla="val 50000"/>
          </a:avLst>
        </a:prstGeom>
        <a:solidFill>
          <a:schemeClr val="bg1">
            <a:lumMod val="6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10800000">
        <a:off x="2718466" y="3027746"/>
        <a:ext cx="206650" cy="225106"/>
      </dsp:txXfrm>
    </dsp:sp>
    <dsp:sp modelId="{003036C4-C11A-41E9-86B9-46370EFC424C}">
      <dsp:nvSpPr>
        <dsp:cNvPr id="0" name=""/>
        <dsp:cNvSpPr/>
      </dsp:nvSpPr>
      <dsp:spPr>
        <a:xfrm>
          <a:off x="1386234" y="2567779"/>
          <a:ext cx="1111633" cy="1111633"/>
        </a:xfrm>
        <a:prstGeom prst="ellipse">
          <a:avLst/>
        </a:prstGeom>
        <a:solidFill>
          <a:srgbClr val="34B7F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b="1" kern="1200"/>
            <a:t>Industry and Technology Best Practice</a:t>
          </a:r>
        </a:p>
      </dsp:txBody>
      <dsp:txXfrm>
        <a:off x="1549029" y="2730574"/>
        <a:ext cx="786043" cy="786043"/>
      </dsp:txXfrm>
    </dsp:sp>
    <dsp:sp modelId="{4A9DBDF8-1DA6-4145-8E5F-C8D9E648D271}">
      <dsp:nvSpPr>
        <dsp:cNvPr id="0" name=""/>
        <dsp:cNvSpPr/>
      </dsp:nvSpPr>
      <dsp:spPr>
        <a:xfrm rot="15120000">
          <a:off x="1531989" y="2167171"/>
          <a:ext cx="295214" cy="375176"/>
        </a:xfrm>
        <a:prstGeom prst="rightArrow">
          <a:avLst>
            <a:gd name="adj1" fmla="val 60000"/>
            <a:gd name="adj2" fmla="val 50000"/>
          </a:avLst>
        </a:prstGeom>
        <a:solidFill>
          <a:schemeClr val="bg1">
            <a:lumMod val="6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rot="10800000">
        <a:off x="1589955" y="2284321"/>
        <a:ext cx="206650" cy="225106"/>
      </dsp:txXfrm>
    </dsp:sp>
    <dsp:sp modelId="{8C465C3B-5C8F-43BF-9D9B-7087C99016B7}">
      <dsp:nvSpPr>
        <dsp:cNvPr id="0" name=""/>
        <dsp:cNvSpPr/>
      </dsp:nvSpPr>
      <dsp:spPr>
        <a:xfrm>
          <a:off x="870596" y="980806"/>
          <a:ext cx="1111633" cy="1111633"/>
        </a:xfrm>
        <a:prstGeom prst="ellipse">
          <a:avLst/>
        </a:prstGeom>
        <a:solidFill>
          <a:srgbClr val="0D80A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GB" sz="1100" b="1" kern="1200"/>
            <a:t>End State Architecture</a:t>
          </a:r>
        </a:p>
      </dsp:txBody>
      <dsp:txXfrm>
        <a:off x="1033391" y="1143601"/>
        <a:ext cx="786043" cy="786043"/>
      </dsp:txXfrm>
    </dsp:sp>
    <dsp:sp modelId="{BE95D273-86BA-41DC-B17F-408A82BE5E54}">
      <dsp:nvSpPr>
        <dsp:cNvPr id="0" name=""/>
        <dsp:cNvSpPr/>
      </dsp:nvSpPr>
      <dsp:spPr>
        <a:xfrm rot="19427534">
          <a:off x="1936998" y="880197"/>
          <a:ext cx="290831" cy="375176"/>
        </a:xfrm>
        <a:prstGeom prst="rightArrow">
          <a:avLst>
            <a:gd name="adj1" fmla="val 60000"/>
            <a:gd name="adj2" fmla="val 50000"/>
          </a:avLst>
        </a:prstGeom>
        <a:solidFill>
          <a:schemeClr val="bg1">
            <a:lumMod val="6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GB" sz="900" kern="1200"/>
        </a:p>
      </dsp:txBody>
      <dsp:txXfrm>
        <a:off x="1945423" y="981002"/>
        <a:ext cx="203582" cy="225106"/>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8215"/>
          </a:xfrm>
          <a:prstGeom prst="rect">
            <a:avLst/>
          </a:prstGeom>
        </p:spPr>
        <p:txBody>
          <a:bodyPr vert="horz" lIns="91440" tIns="45720" rIns="91440" bIns="45720" rtlCol="0"/>
          <a:lstStyle>
            <a:lvl1pPr algn="l" rtl="0">
              <a:defRPr sz="1200"/>
            </a:lvl1pPr>
          </a:lstStyle>
          <a:p>
            <a:endParaRPr lang="en-US"/>
          </a:p>
        </p:txBody>
      </p:sp>
      <p:sp>
        <p:nvSpPr>
          <p:cNvPr id="3" name="Datumsplatzhalter 2"/>
          <p:cNvSpPr>
            <a:spLocks noGrp="1"/>
          </p:cNvSpPr>
          <p:nvPr>
            <p:ph type="dt" idx="1"/>
          </p:nvPr>
        </p:nvSpPr>
        <p:spPr>
          <a:xfrm>
            <a:off x="3850443" y="0"/>
            <a:ext cx="2945659" cy="498215"/>
          </a:xfrm>
          <a:prstGeom prst="rect">
            <a:avLst/>
          </a:prstGeom>
        </p:spPr>
        <p:txBody>
          <a:bodyPr vert="horz" lIns="91440" tIns="45720" rIns="91440" bIns="45720" rtlCol="0"/>
          <a:lstStyle>
            <a:lvl1pPr algn="r" rtl="0">
              <a:defRPr sz="1200"/>
            </a:lvl1pPr>
          </a:lstStyle>
          <a:p>
            <a:fld id="{17191489-CA33-45A2-B113-C849B34A6439}" type="datetimeFigureOut">
              <a:rPr lang="en-US" smtClean="0"/>
              <a:pPr/>
              <a:t>2/18/2026</a:t>
            </a:fld>
            <a:endParaRPr lang="en-US"/>
          </a:p>
        </p:txBody>
      </p:sp>
      <p:sp>
        <p:nvSpPr>
          <p:cNvPr id="4" name="Folienbildplatzhalter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79768" y="4778722"/>
            <a:ext cx="5438140" cy="3909864"/>
          </a:xfrm>
          <a:prstGeom prst="rect">
            <a:avLst/>
          </a:prstGeom>
        </p:spPr>
        <p:txBody>
          <a:bodyPr vert="horz" lIns="91440" tIns="45720" rIns="91440" bIns="45720" rtlCol="0"/>
          <a:lstStyle/>
          <a:p>
            <a:pPr lvl="0"/>
            <a:r>
              <a:rPr lang="en-US"/>
              <a:t>Mastertextformat bearbeiten</a:t>
            </a:r>
          </a:p>
          <a:p>
            <a:pPr lvl="1"/>
            <a:r>
              <a:rPr lang="en-US"/>
              <a:t>Zweite Ebene</a:t>
            </a:r>
          </a:p>
          <a:p>
            <a:pPr lvl="2"/>
            <a:r>
              <a:rPr lang="en-US"/>
              <a:t>Dritte Ebene</a:t>
            </a:r>
          </a:p>
          <a:p>
            <a:pPr lvl="3"/>
            <a:r>
              <a:rPr lang="en-US"/>
              <a:t>Vierte Ebene</a:t>
            </a:r>
          </a:p>
          <a:p>
            <a:pPr lvl="4"/>
            <a:r>
              <a:rPr lang="en-US"/>
              <a:t>Fünfte Ebene</a:t>
            </a:r>
            <a:endParaRPr lang="en-US" dirty="0"/>
          </a:p>
        </p:txBody>
      </p:sp>
      <p:sp>
        <p:nvSpPr>
          <p:cNvPr id="6" name="Fußzeilenplatzhalter 5"/>
          <p:cNvSpPr>
            <a:spLocks noGrp="1"/>
          </p:cNvSpPr>
          <p:nvPr>
            <p:ph type="ftr" sz="quarter" idx="4"/>
          </p:nvPr>
        </p:nvSpPr>
        <p:spPr>
          <a:xfrm>
            <a:off x="0" y="9431600"/>
            <a:ext cx="2945659" cy="498214"/>
          </a:xfrm>
          <a:prstGeom prst="rect">
            <a:avLst/>
          </a:prstGeom>
        </p:spPr>
        <p:txBody>
          <a:bodyPr vert="horz" lIns="91440" tIns="45720" rIns="91440" bIns="45720" rtlCol="0" anchor="b"/>
          <a:lstStyle>
            <a:lvl1pPr algn="l" rtl="0">
              <a:defRPr sz="1200"/>
            </a:lvl1pPr>
          </a:lstStyle>
          <a:p>
            <a:endParaRPr lang="en-US"/>
          </a:p>
        </p:txBody>
      </p:sp>
      <p:sp>
        <p:nvSpPr>
          <p:cNvPr id="7" name="Foliennummernplatzhalter 6"/>
          <p:cNvSpPr>
            <a:spLocks noGrp="1"/>
          </p:cNvSpPr>
          <p:nvPr>
            <p:ph type="sldNum" sz="quarter" idx="5"/>
          </p:nvPr>
        </p:nvSpPr>
        <p:spPr>
          <a:xfrm>
            <a:off x="3850443" y="9431600"/>
            <a:ext cx="2945659" cy="498214"/>
          </a:xfrm>
          <a:prstGeom prst="rect">
            <a:avLst/>
          </a:prstGeom>
        </p:spPr>
        <p:txBody>
          <a:bodyPr vert="horz" lIns="91440" tIns="45720" rIns="91440" bIns="45720" rtlCol="0" anchor="b"/>
          <a:lstStyle>
            <a:lvl1pPr algn="r" rtl="0">
              <a:defRPr sz="1200"/>
            </a:lvl1pPr>
          </a:lstStyle>
          <a:p>
            <a:fld id="{808BEDF3-759A-4723-999B-775C30EE0BFD}" type="slidenum">
              <a:rPr lang="en-US" smtClean="0"/>
              <a:pPr/>
              <a:t>‹#›</a:t>
            </a:fld>
            <a:endParaRPr lang="en-US"/>
          </a:p>
        </p:txBody>
      </p:sp>
    </p:spTree>
    <p:extLst>
      <p:ext uri="{BB962C8B-B14F-4D97-AF65-F5344CB8AC3E}">
        <p14:creationId xmlns:p14="http://schemas.microsoft.com/office/powerpoint/2010/main" val="416119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slide" Target="../slides/slide3.xml"/><Relationship Id="rId4"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slide" Target="../slides/slide12.xml"/><Relationship Id="rId4"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slide" Target="../slides/slide17.xml"/><Relationship Id="rId4"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slide" Target="../slides/slide18.xml"/><Relationship Id="rId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808BEDF3-759A-4723-999B-775C30EE0BFD}" type="slidenum">
              <a:rPr lang="en-US" smtClean="0"/>
              <a:pPr/>
              <a:t>1</a:t>
            </a:fld>
            <a:endParaRPr lang="en-US"/>
          </a:p>
        </p:txBody>
      </p:sp>
    </p:spTree>
    <p:extLst>
      <p:ext uri="{BB962C8B-B14F-4D97-AF65-F5344CB8AC3E}">
        <p14:creationId xmlns:p14="http://schemas.microsoft.com/office/powerpoint/2010/main" val="2058241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08BEDF3-759A-4723-999B-775C30EE0BFD}" type="slidenum">
              <a:rPr lang="en-US" smtClean="0"/>
              <a:pPr/>
              <a:t>2</a:t>
            </a:fld>
            <a:endParaRPr lang="en-US"/>
          </a:p>
        </p:txBody>
      </p:sp>
    </p:spTree>
    <p:extLst>
      <p:ext uri="{BB962C8B-B14F-4D97-AF65-F5344CB8AC3E}">
        <p14:creationId xmlns:p14="http://schemas.microsoft.com/office/powerpoint/2010/main" val="3501308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9DB59-825D-192B-119C-CF0C576322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FC90E0-7581-B3E2-3120-3997D139E6A1}"/>
              </a:ext>
            </a:extLst>
          </p:cNvPr>
          <p:cNvSpPr>
            <a:spLocks noGrp="1" noRot="1" noChangeAspect="1"/>
          </p:cNvSpPr>
          <p:nvPr>
            <p:ph type="sldImg"/>
            <p:custDataLst>
              <p:tags r:id="rId1"/>
            </p:custDataLst>
          </p:nvPr>
        </p:nvSpPr>
        <p:spPr/>
      </p:sp>
      <p:sp>
        <p:nvSpPr>
          <p:cNvPr id="3" name="Notes Placeholder 2">
            <a:extLst>
              <a:ext uri="{FF2B5EF4-FFF2-40B4-BE49-F238E27FC236}">
                <a16:creationId xmlns:a16="http://schemas.microsoft.com/office/drawing/2014/main" id="{6C705372-791B-B284-523D-2C984E94C4D9}"/>
              </a:ext>
            </a:extLst>
          </p:cNvPr>
          <p:cNvSpPr>
            <a:spLocks noGrp="1"/>
          </p:cNvSpPr>
          <p:nvPr>
            <p:ph type="body" idx="1"/>
            <p:custDataLst>
              <p:tags r:id="rId2"/>
            </p:custDataLst>
          </p:nvPr>
        </p:nvSpPr>
        <p:spPr/>
        <p:txBody>
          <a:bodyPr/>
          <a:lstStyle/>
          <a:p>
            <a:endParaRPr lang="en-US"/>
          </a:p>
        </p:txBody>
      </p:sp>
      <p:sp>
        <p:nvSpPr>
          <p:cNvPr id="4" name="Slide Number Placeholder 3">
            <a:extLst>
              <a:ext uri="{FF2B5EF4-FFF2-40B4-BE49-F238E27FC236}">
                <a16:creationId xmlns:a16="http://schemas.microsoft.com/office/drawing/2014/main" id="{87B8D8CC-7BE3-7A25-7B29-A7C19DFC10AB}"/>
              </a:ext>
            </a:extLst>
          </p:cNvPr>
          <p:cNvSpPr>
            <a:spLocks noGrp="1"/>
          </p:cNvSpPr>
          <p:nvPr>
            <p:ph type="sldNum" sz="quarter" idx="5"/>
            <p:custDataLst>
              <p:tags r:id="rId3"/>
            </p:custDataLst>
          </p:nvPr>
        </p:nvSpPr>
        <p:spPr/>
        <p:txBody>
          <a:bodyPr/>
          <a:lstStyle/>
          <a:p>
            <a:fld id="{23471FE0-952E-452C-A6B0-7D8C3B6C46EA}" type="slidenum">
              <a:rPr lang="en-US" smtClean="0"/>
              <a:t>3</a:t>
            </a:fld>
            <a:endParaRPr lang="en-US"/>
          </a:p>
        </p:txBody>
      </p:sp>
    </p:spTree>
    <p:extLst>
      <p:ext uri="{BB962C8B-B14F-4D97-AF65-F5344CB8AC3E}">
        <p14:creationId xmlns:p14="http://schemas.microsoft.com/office/powerpoint/2010/main" val="4033685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EB7B08-7EAF-40B0-9CE2-4D0AB651D9AD}"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7260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buFont typeface="Calibri" panose="020F0502020204030204" pitchFamily="34" charset="0"/>
              <a:buChar char="-"/>
            </a:pPr>
            <a:endParaRPr lang="fr-BE" sz="12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76330321-DE6D-410F-8AD5-A3CF03ABDEDD}" type="slidenum">
              <a:rPr lang="nl-BE" smtClean="0"/>
              <a:t>5</a:t>
            </a:fld>
            <a:endParaRPr lang="nl-BE"/>
          </a:p>
        </p:txBody>
      </p:sp>
    </p:spTree>
    <p:extLst>
      <p:ext uri="{BB962C8B-B14F-4D97-AF65-F5344CB8AC3E}">
        <p14:creationId xmlns:p14="http://schemas.microsoft.com/office/powerpoint/2010/main" val="4067243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fld id="{76330321-DE6D-410F-8AD5-A3CF03ABDEDD}" type="slidenum">
              <a:rPr lang="nl-BE" smtClean="0"/>
              <a:t>8</a:t>
            </a:fld>
            <a:endParaRPr lang="nl-BE"/>
          </a:p>
        </p:txBody>
      </p:sp>
    </p:spTree>
    <p:extLst>
      <p:ext uri="{BB962C8B-B14F-4D97-AF65-F5344CB8AC3E}">
        <p14:creationId xmlns:p14="http://schemas.microsoft.com/office/powerpoint/2010/main" val="1322751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6330321-DE6D-410F-8AD5-A3CF03ABDEDD}" type="slidenum">
              <a:rPr lang="nl-BE" smtClean="0"/>
              <a:t>9</a:t>
            </a:fld>
            <a:endParaRPr lang="nl-BE"/>
          </a:p>
        </p:txBody>
      </p:sp>
    </p:spTree>
    <p:extLst>
      <p:ext uri="{BB962C8B-B14F-4D97-AF65-F5344CB8AC3E}">
        <p14:creationId xmlns:p14="http://schemas.microsoft.com/office/powerpoint/2010/main" val="8293307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808BEDF3-759A-4723-999B-775C30EE0BFD}" type="slidenum">
              <a:rPr lang="en-US" smtClean="0"/>
              <a:pPr/>
              <a:t>10</a:t>
            </a:fld>
            <a:endParaRPr lang="en-US"/>
          </a:p>
        </p:txBody>
      </p:sp>
    </p:spTree>
    <p:extLst>
      <p:ext uri="{BB962C8B-B14F-4D97-AF65-F5344CB8AC3E}">
        <p14:creationId xmlns:p14="http://schemas.microsoft.com/office/powerpoint/2010/main" val="1302923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a:ea typeface="Calibri"/>
              <a:cs typeface="Calibri"/>
            </a:endParaRPr>
          </a:p>
        </p:txBody>
      </p:sp>
      <p:sp>
        <p:nvSpPr>
          <p:cNvPr id="4" name="Slide Number Placeholder 3"/>
          <p:cNvSpPr>
            <a:spLocks noGrp="1"/>
          </p:cNvSpPr>
          <p:nvPr>
            <p:ph type="sldNum" sz="quarter" idx="5"/>
          </p:nvPr>
        </p:nvSpPr>
        <p:spPr/>
        <p:txBody>
          <a:bodyPr/>
          <a:lstStyle/>
          <a:p>
            <a:fld id="{808BEDF3-759A-4723-999B-775C30EE0BFD}" type="slidenum">
              <a:rPr lang="en-US" smtClean="0"/>
              <a:pPr/>
              <a:t>11</a:t>
            </a:fld>
            <a:endParaRPr lang="en-US" dirty="0"/>
          </a:p>
        </p:txBody>
      </p:sp>
    </p:spTree>
    <p:extLst>
      <p:ext uri="{BB962C8B-B14F-4D97-AF65-F5344CB8AC3E}">
        <p14:creationId xmlns:p14="http://schemas.microsoft.com/office/powerpoint/2010/main" val="1356785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9DB59-825D-192B-119C-CF0C576322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FC90E0-7581-B3E2-3120-3997D139E6A1}"/>
              </a:ext>
            </a:extLst>
          </p:cNvPr>
          <p:cNvSpPr>
            <a:spLocks noGrp="1" noRot="1" noChangeAspect="1"/>
          </p:cNvSpPr>
          <p:nvPr>
            <p:ph type="sldImg"/>
            <p:custDataLst>
              <p:tags r:id="rId1"/>
            </p:custDataLst>
          </p:nvPr>
        </p:nvSpPr>
        <p:spPr/>
      </p:sp>
      <p:sp>
        <p:nvSpPr>
          <p:cNvPr id="3" name="Notes Placeholder 2">
            <a:extLst>
              <a:ext uri="{FF2B5EF4-FFF2-40B4-BE49-F238E27FC236}">
                <a16:creationId xmlns:a16="http://schemas.microsoft.com/office/drawing/2014/main" id="{6C705372-791B-B284-523D-2C984E94C4D9}"/>
              </a:ext>
            </a:extLst>
          </p:cNvPr>
          <p:cNvSpPr>
            <a:spLocks noGrp="1"/>
          </p:cNvSpPr>
          <p:nvPr>
            <p:ph type="body" idx="1"/>
            <p:custDataLst>
              <p:tags r:id="rId2"/>
            </p:custDataLst>
          </p:nvPr>
        </p:nvSpPr>
        <p:spPr/>
        <p:txBody>
          <a:bodyPr/>
          <a:lstStyle/>
          <a:p>
            <a:endParaRPr lang="en-US"/>
          </a:p>
        </p:txBody>
      </p:sp>
      <p:sp>
        <p:nvSpPr>
          <p:cNvPr id="4" name="Slide Number Placeholder 3">
            <a:extLst>
              <a:ext uri="{FF2B5EF4-FFF2-40B4-BE49-F238E27FC236}">
                <a16:creationId xmlns:a16="http://schemas.microsoft.com/office/drawing/2014/main" id="{87B8D8CC-7BE3-7A25-7B29-A7C19DFC10AB}"/>
              </a:ext>
            </a:extLst>
          </p:cNvPr>
          <p:cNvSpPr>
            <a:spLocks noGrp="1"/>
          </p:cNvSpPr>
          <p:nvPr>
            <p:ph type="sldNum" sz="quarter" idx="5"/>
            <p:custDataLst>
              <p:tags r:id="rId3"/>
            </p:custDataLst>
          </p:nvPr>
        </p:nvSpPr>
        <p:spPr/>
        <p:txBody>
          <a:bodyPr/>
          <a:lstStyle/>
          <a:p>
            <a:fld id="{23471FE0-952E-452C-A6B0-7D8C3B6C46EA}" type="slidenum">
              <a:rPr lang="en-US" smtClean="0"/>
              <a:t>12</a:t>
            </a:fld>
            <a:endParaRPr lang="en-US"/>
          </a:p>
        </p:txBody>
      </p:sp>
    </p:spTree>
    <p:extLst>
      <p:ext uri="{BB962C8B-B14F-4D97-AF65-F5344CB8AC3E}">
        <p14:creationId xmlns:p14="http://schemas.microsoft.com/office/powerpoint/2010/main" val="3612937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fld id="{76330321-DE6D-410F-8AD5-A3CF03ABDEDD}" type="slidenum">
              <a:rPr lang="nl-BE" smtClean="0"/>
              <a:t>13</a:t>
            </a:fld>
            <a:endParaRPr lang="nl-BE"/>
          </a:p>
        </p:txBody>
      </p:sp>
    </p:spTree>
    <p:extLst>
      <p:ext uri="{BB962C8B-B14F-4D97-AF65-F5344CB8AC3E}">
        <p14:creationId xmlns:p14="http://schemas.microsoft.com/office/powerpoint/2010/main" val="16919616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fld id="{76330321-DE6D-410F-8AD5-A3CF03ABDEDD}" type="slidenum">
              <a:rPr lang="nl-BE" smtClean="0"/>
              <a:t>14</a:t>
            </a:fld>
            <a:endParaRPr lang="nl-BE"/>
          </a:p>
        </p:txBody>
      </p:sp>
    </p:spTree>
    <p:extLst>
      <p:ext uri="{BB962C8B-B14F-4D97-AF65-F5344CB8AC3E}">
        <p14:creationId xmlns:p14="http://schemas.microsoft.com/office/powerpoint/2010/main" val="158667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808BEDF3-759A-4723-999B-775C30EE0BFD}" type="slidenum">
              <a:rPr lang="en-US" smtClean="0"/>
              <a:pPr/>
              <a:t>15</a:t>
            </a:fld>
            <a:endParaRPr lang="en-US"/>
          </a:p>
        </p:txBody>
      </p:sp>
    </p:spTree>
    <p:extLst>
      <p:ext uri="{BB962C8B-B14F-4D97-AF65-F5344CB8AC3E}">
        <p14:creationId xmlns:p14="http://schemas.microsoft.com/office/powerpoint/2010/main" val="3662537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effectLst/>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808BEDF3-759A-4723-999B-775C30EE0BFD}" type="slidenum">
              <a:rPr lang="en-US" smtClean="0"/>
              <a:pPr/>
              <a:t>16</a:t>
            </a:fld>
            <a:endParaRPr lang="en-US"/>
          </a:p>
        </p:txBody>
      </p:sp>
    </p:spTree>
    <p:extLst>
      <p:ext uri="{BB962C8B-B14F-4D97-AF65-F5344CB8AC3E}">
        <p14:creationId xmlns:p14="http://schemas.microsoft.com/office/powerpoint/2010/main" val="12994911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9DB59-825D-192B-119C-CF0C576322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FC90E0-7581-B3E2-3120-3997D139E6A1}"/>
              </a:ext>
            </a:extLst>
          </p:cNvPr>
          <p:cNvSpPr>
            <a:spLocks noGrp="1" noRot="1" noChangeAspect="1"/>
          </p:cNvSpPr>
          <p:nvPr>
            <p:ph type="sldImg"/>
            <p:custDataLst>
              <p:tags r:id="rId1"/>
            </p:custDataLst>
          </p:nvPr>
        </p:nvSpPr>
        <p:spPr/>
      </p:sp>
      <p:sp>
        <p:nvSpPr>
          <p:cNvPr id="3" name="Notes Placeholder 2">
            <a:extLst>
              <a:ext uri="{FF2B5EF4-FFF2-40B4-BE49-F238E27FC236}">
                <a16:creationId xmlns:a16="http://schemas.microsoft.com/office/drawing/2014/main" id="{6C705372-791B-B284-523D-2C984E94C4D9}"/>
              </a:ext>
            </a:extLst>
          </p:cNvPr>
          <p:cNvSpPr>
            <a:spLocks noGrp="1"/>
          </p:cNvSpPr>
          <p:nvPr>
            <p:ph type="body" idx="1"/>
            <p:custDataLst>
              <p:tags r:id="rId2"/>
            </p:custDataLst>
          </p:nvPr>
        </p:nvSpPr>
        <p:spPr/>
        <p:txBody>
          <a:bodyPr/>
          <a:lstStyle/>
          <a:p>
            <a:endParaRPr lang="en-US"/>
          </a:p>
        </p:txBody>
      </p:sp>
      <p:sp>
        <p:nvSpPr>
          <p:cNvPr id="4" name="Slide Number Placeholder 3">
            <a:extLst>
              <a:ext uri="{FF2B5EF4-FFF2-40B4-BE49-F238E27FC236}">
                <a16:creationId xmlns:a16="http://schemas.microsoft.com/office/drawing/2014/main" id="{87B8D8CC-7BE3-7A25-7B29-A7C19DFC10AB}"/>
              </a:ext>
            </a:extLst>
          </p:cNvPr>
          <p:cNvSpPr>
            <a:spLocks noGrp="1"/>
          </p:cNvSpPr>
          <p:nvPr>
            <p:ph type="sldNum" sz="quarter" idx="5"/>
            <p:custDataLst>
              <p:tags r:id="rId3"/>
            </p:custDataLst>
          </p:nvPr>
        </p:nvSpPr>
        <p:spPr/>
        <p:txBody>
          <a:bodyPr/>
          <a:lstStyle/>
          <a:p>
            <a:fld id="{23471FE0-952E-452C-A6B0-7D8C3B6C46EA}" type="slidenum">
              <a:rPr lang="en-US" smtClean="0"/>
              <a:t>17</a:t>
            </a:fld>
            <a:endParaRPr lang="en-US"/>
          </a:p>
        </p:txBody>
      </p:sp>
    </p:spTree>
    <p:extLst>
      <p:ext uri="{BB962C8B-B14F-4D97-AF65-F5344CB8AC3E}">
        <p14:creationId xmlns:p14="http://schemas.microsoft.com/office/powerpoint/2010/main" val="26200752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9DB59-825D-192B-119C-CF0C576322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FC90E0-7581-B3E2-3120-3997D139E6A1}"/>
              </a:ext>
            </a:extLst>
          </p:cNvPr>
          <p:cNvSpPr>
            <a:spLocks noGrp="1" noRot="1" noChangeAspect="1"/>
          </p:cNvSpPr>
          <p:nvPr>
            <p:ph type="sldImg"/>
            <p:custDataLst>
              <p:tags r:id="rId1"/>
            </p:custDataLst>
          </p:nvPr>
        </p:nvSpPr>
        <p:spPr/>
      </p:sp>
      <p:sp>
        <p:nvSpPr>
          <p:cNvPr id="3" name="Notes Placeholder 2">
            <a:extLst>
              <a:ext uri="{FF2B5EF4-FFF2-40B4-BE49-F238E27FC236}">
                <a16:creationId xmlns:a16="http://schemas.microsoft.com/office/drawing/2014/main" id="{6C705372-791B-B284-523D-2C984E94C4D9}"/>
              </a:ext>
            </a:extLst>
          </p:cNvPr>
          <p:cNvSpPr>
            <a:spLocks noGrp="1"/>
          </p:cNvSpPr>
          <p:nvPr>
            <p:ph type="body" idx="1"/>
            <p:custDataLst>
              <p:tags r:id="rId2"/>
            </p:custDataLst>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87B8D8CC-7BE3-7A25-7B29-A7C19DFC10AB}"/>
              </a:ext>
            </a:extLst>
          </p:cNvPr>
          <p:cNvSpPr>
            <a:spLocks noGrp="1"/>
          </p:cNvSpPr>
          <p:nvPr>
            <p:ph type="sldNum" sz="quarter" idx="5"/>
            <p:custDataLst>
              <p:tags r:id="rId3"/>
            </p:custDataLst>
          </p:nvPr>
        </p:nvSpPr>
        <p:spPr/>
        <p:txBody>
          <a:bodyPr/>
          <a:lstStyle/>
          <a:p>
            <a:fld id="{23471FE0-952E-452C-A6B0-7D8C3B6C46EA}" type="slidenum">
              <a:rPr lang="en-US" smtClean="0"/>
              <a:t>18</a:t>
            </a:fld>
            <a:endParaRPr lang="en-US" dirty="0"/>
          </a:p>
        </p:txBody>
      </p:sp>
    </p:spTree>
    <p:extLst>
      <p:ext uri="{BB962C8B-B14F-4D97-AF65-F5344CB8AC3E}">
        <p14:creationId xmlns:p14="http://schemas.microsoft.com/office/powerpoint/2010/main" val="2905513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EB7B08-7EAF-40B0-9CE2-4D0AB651D9AD}"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2101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0D0C7-40CD-4254-A3DC-330F96769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987BCF-10E9-4C54-A5CB-6ABEA33E7ABF}"/>
              </a:ext>
            </a:extLst>
          </p:cNvPr>
          <p:cNvSpPr txBox="1">
            <a:spLocks noGrp="1"/>
          </p:cNvSpPr>
          <p:nvPr>
            <p:ph type="body" sz="quarter" idx="1"/>
          </p:nvPr>
        </p:nvSpPr>
        <p:spPr/>
        <p:txBody>
          <a:bodyPr/>
          <a:lstStyle/>
          <a:p>
            <a:endParaRPr lang="en-US" dirty="0"/>
          </a:p>
        </p:txBody>
      </p:sp>
      <p:sp>
        <p:nvSpPr>
          <p:cNvPr id="4" name="Slide Number Placeholder 3">
            <a:extLst>
              <a:ext uri="{FF2B5EF4-FFF2-40B4-BE49-F238E27FC236}">
                <a16:creationId xmlns:a16="http://schemas.microsoft.com/office/drawing/2014/main" id="{77A3E581-CDD8-4E93-B1C0-84ECE001792E}"/>
              </a:ext>
            </a:extLst>
          </p:cNvPr>
          <p:cNvSpPr txBox="1"/>
          <p:nvPr/>
        </p:nvSpPr>
        <p:spPr>
          <a:xfrm>
            <a:off x="3818966" y="9377312"/>
            <a:ext cx="2921582" cy="495351"/>
          </a:xfrm>
          <a:prstGeom prst="rect">
            <a:avLst/>
          </a:prstGeom>
          <a:noFill/>
          <a:ln>
            <a:noFill/>
          </a:ln>
        </p:spPr>
        <p:txBody>
          <a:bodyPr vert="horz" wrap="square" lIns="91440" tIns="45720" rIns="91440" bIns="4572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fld id="{B43DA622-E0B2-4243-AD54-17EA0353493B}" type="slidenum">
              <a:rPr kumimoji="0" lang="nl-BE" sz="1200" b="0" i="0" u="none" strike="noStrike" kern="1200" cap="none" spc="0" normalizeH="0" baseline="0" noProof="0" smtClean="0">
                <a:ln>
                  <a:noFill/>
                </a:ln>
                <a:solidFill>
                  <a:srgbClr val="000000"/>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t>20</a:t>
            </a:fld>
            <a:endParaRPr kumimoji="0" lang="nl-BE" sz="1200" b="0" i="0" u="none" strike="noStrike" kern="1200" cap="none" spc="0" normalizeH="0" baseline="0" noProof="0">
              <a:ln>
                <a:noFill/>
              </a:ln>
              <a:solidFill>
                <a:srgbClr val="000000"/>
              </a:solidFill>
              <a:effectLst/>
              <a:uLnTx/>
              <a:uFillTx/>
              <a:latin typeface="Calibri"/>
              <a:ea typeface="+mn-ea"/>
              <a:cs typeface="+mn-cs"/>
            </a:endParaRPr>
          </a:p>
        </p:txBody>
      </p:sp>
    </p:spTree>
    <p:extLst>
      <p:ext uri="{BB962C8B-B14F-4D97-AF65-F5344CB8AC3E}">
        <p14:creationId xmlns:p14="http://schemas.microsoft.com/office/powerpoint/2010/main" val="35120461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icture | Negative">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969376DA-1D97-7274-1B05-369C27210749}"/>
              </a:ext>
            </a:extLst>
          </p:cNvPr>
          <p:cNvGraphicFramePr>
            <a:graphicFrameLocks noChangeAspect="1"/>
          </p:cNvGraphicFramePr>
          <p:nvPr userDrawn="1">
            <p:custDataLst>
              <p:tags r:id="rId1"/>
            </p:custDataLst>
            <p:extLst>
              <p:ext uri="{D42A27DB-BD31-4B8C-83A1-F6EECF244321}">
                <p14:modId xmlns:p14="http://schemas.microsoft.com/office/powerpoint/2010/main" val="10855875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7" name="Objekt 6" hidden="1">
                        <a:extLst>
                          <a:ext uri="{FF2B5EF4-FFF2-40B4-BE49-F238E27FC236}">
                            <a16:creationId xmlns:a16="http://schemas.microsoft.com/office/drawing/2014/main" id="{969376DA-1D97-7274-1B05-369C272107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Bildplatzhalter 8">
            <a:extLst>
              <a:ext uri="{FF2B5EF4-FFF2-40B4-BE49-F238E27FC236}">
                <a16:creationId xmlns:a16="http://schemas.microsoft.com/office/drawing/2014/main" id="{4CAA1A37-9204-4A25-9054-31917E425592}"/>
              </a:ext>
            </a:extLst>
          </p:cNvPr>
          <p:cNvSpPr>
            <a:spLocks noGrp="1"/>
          </p:cNvSpPr>
          <p:nvPr>
            <p:ph type="pic" sz="quarter" idx="13" hasCustomPrompt="1"/>
          </p:nvPr>
        </p:nvSpPr>
        <p:spPr bwMode="gray">
          <a:xfrm>
            <a:off x="0" y="0"/>
            <a:ext cx="12191999" cy="6858000"/>
          </a:xfrm>
          <a:solidFill>
            <a:srgbClr val="DDE3E7"/>
          </a:solidFill>
        </p:spPr>
        <p:txBody>
          <a:bodyPr lIns="9432000" rIns="504000" bIns="0" anchor="ctr"/>
          <a:lstStyle>
            <a:lvl1pPr marL="0" indent="0" algn="l" rtl="0">
              <a:lnSpc>
                <a:spcPct val="100000"/>
              </a:lnSpc>
              <a:spcBef>
                <a:spcPts val="0"/>
              </a:spcBef>
              <a:spcAft>
                <a:spcPts val="0"/>
              </a:spcAft>
              <a:buFont typeface="Arial" panose="020B0604020202020204" pitchFamily="34" charset="0"/>
              <a:buNone/>
              <a:defRPr sz="1200" b="0">
                <a:latin typeface="+mn-lt"/>
              </a:defRPr>
            </a:lvl1pPr>
            <a:lvl2pPr marL="0" indent="0" algn="ctr">
              <a:lnSpc>
                <a:spcPct val="100000"/>
              </a:lnSpc>
              <a:spcBef>
                <a:spcPts val="0"/>
              </a:spcBef>
              <a:spcAft>
                <a:spcPts val="0"/>
              </a:spcAft>
              <a:buNone/>
              <a:defRPr sz="1200"/>
            </a:lvl2pPr>
            <a:lvl3pPr marL="0" indent="0" algn="ctr">
              <a:lnSpc>
                <a:spcPct val="100000"/>
              </a:lnSpc>
              <a:spcBef>
                <a:spcPts val="0"/>
              </a:spcBef>
              <a:spcAft>
                <a:spcPts val="0"/>
              </a:spcAft>
              <a:buNone/>
              <a:defRPr sz="1200"/>
            </a:lvl3pPr>
            <a:lvl4pPr marL="0" indent="0" algn="ctr">
              <a:lnSpc>
                <a:spcPct val="100000"/>
              </a:lnSpc>
              <a:spcBef>
                <a:spcPts val="0"/>
              </a:spcBef>
              <a:spcAft>
                <a:spcPts val="0"/>
              </a:spcAft>
              <a:buNone/>
              <a:defRPr sz="1200"/>
            </a:lvl4pPr>
            <a:lvl5pPr marL="0" indent="0" algn="ctr">
              <a:lnSpc>
                <a:spcPct val="100000"/>
              </a:lnSpc>
              <a:spcBef>
                <a:spcPts val="0"/>
              </a:spcBef>
              <a:spcAft>
                <a:spcPts val="0"/>
              </a:spcAft>
              <a:buNone/>
              <a:defRPr sz="1200"/>
            </a:lvl5pPr>
            <a:lvl6pPr marL="0" indent="0" algn="ctr">
              <a:lnSpc>
                <a:spcPct val="100000"/>
              </a:lnSpc>
              <a:spcBef>
                <a:spcPts val="0"/>
              </a:spcBef>
              <a:spcAft>
                <a:spcPts val="0"/>
              </a:spcAft>
              <a:buNone/>
              <a:defRPr sz="1200"/>
            </a:lvl6pPr>
            <a:lvl7pPr marL="0" indent="0" algn="ctr">
              <a:lnSpc>
                <a:spcPct val="100000"/>
              </a:lnSpc>
              <a:spcBef>
                <a:spcPts val="0"/>
              </a:spcBef>
              <a:spcAft>
                <a:spcPts val="0"/>
              </a:spcAft>
              <a:buNone/>
              <a:defRPr sz="1200"/>
            </a:lvl7pPr>
            <a:lvl8pPr marL="0" indent="0" algn="ctr">
              <a:lnSpc>
                <a:spcPct val="100000"/>
              </a:lnSpc>
              <a:spcBef>
                <a:spcPts val="0"/>
              </a:spcBef>
              <a:spcAft>
                <a:spcPts val="0"/>
              </a:spcAft>
              <a:buNone/>
              <a:defRPr sz="1200"/>
            </a:lvl8pPr>
            <a:lvl9pPr marL="0" indent="0" algn="ctr">
              <a:lnSpc>
                <a:spcPct val="100000"/>
              </a:lnSpc>
              <a:spcBef>
                <a:spcPts val="0"/>
              </a:spcBef>
              <a:spcAft>
                <a:spcPts val="0"/>
              </a:spcAft>
              <a:buNone/>
              <a:defRPr sz="1200"/>
            </a:lvl9pPr>
          </a:lstStyle>
          <a:p>
            <a:pPr lvl="0"/>
            <a:r>
              <a:rPr lang="en-AU"/>
              <a:t>Um ein Bild einzufügen, markieren Sie bitte den Bildplatzhalter und setzen </a:t>
            </a:r>
            <a:br>
              <a:rPr lang="en-AU"/>
            </a:br>
            <a:r>
              <a:rPr lang="en-AU"/>
              <a:t>Sie ihn mit Hilfe der rechten Maustaste in den Vordergrund. Durch ein Klick auf das Icon können Sie nun ein Bild einsetzen. </a:t>
            </a:r>
            <a:br>
              <a:rPr lang="en-AU"/>
            </a:br>
            <a:br>
              <a:rPr lang="en-AU"/>
            </a:br>
            <a:r>
              <a:rPr lang="en-AU"/>
              <a:t>Betätigen Sie danach die Zurücksetz-Schaltfläche auf dem Start Menüreiter.</a:t>
            </a:r>
          </a:p>
        </p:txBody>
      </p:sp>
      <p:sp>
        <p:nvSpPr>
          <p:cNvPr id="10" name="Text Placeholder 5">
            <a:extLst>
              <a:ext uri="{FF2B5EF4-FFF2-40B4-BE49-F238E27FC236}">
                <a16:creationId xmlns:a16="http://schemas.microsoft.com/office/drawing/2014/main" id="{CDB9E957-3F55-4CEB-ABFA-916F4BB161AA}"/>
              </a:ext>
            </a:extLst>
          </p:cNvPr>
          <p:cNvSpPr>
            <a:spLocks noGrp="1" noChangeAspect="1"/>
          </p:cNvSpPr>
          <p:nvPr>
            <p:ph type="body" sz="quarter" idx="15" hasCustomPrompt="1"/>
          </p:nvPr>
        </p:nvSpPr>
        <p:spPr bwMode="gray">
          <a:xfrm>
            <a:off x="263352" y="5120522"/>
            <a:ext cx="234000" cy="1260806"/>
          </a:xfrm>
          <a:blipFill>
            <a:blip r:embed="rId5" cstate="screen">
              <a:extLst>
                <a:ext uri="{28A0092B-C50C-407E-A947-70E740481C1C}">
                  <a14:useLocalDpi xmlns:a14="http://schemas.microsoft.com/office/drawing/2010/main"/>
                </a:ext>
              </a:extLst>
            </a:blip>
            <a:stretch>
              <a:fillRect/>
            </a:stretch>
          </a:blipFill>
        </p:spPr>
        <p:txBody>
          <a:bodyPr/>
          <a:lstStyle>
            <a:lvl1pPr marL="0" indent="0" rtl="0">
              <a:lnSpc>
                <a:spcPct val="100000"/>
              </a:lnSpc>
              <a:spcBef>
                <a:spcPts val="0"/>
              </a:spcBef>
              <a:spcAft>
                <a:spcPts val="0"/>
              </a:spcAft>
              <a:buFont typeface="Arial" panose="020B0604020202020204" pitchFamily="34" charset="0"/>
              <a:buNone/>
              <a:defRPr sz="100">
                <a:solidFill>
                  <a:schemeClr val="bg1"/>
                </a:solidFill>
              </a:defRPr>
            </a:lvl1pPr>
            <a:lvl2pPr marL="0" indent="0">
              <a:lnSpc>
                <a:spcPct val="100000"/>
              </a:lnSpc>
              <a:spcBef>
                <a:spcPts val="0"/>
              </a:spcBef>
              <a:spcAft>
                <a:spcPts val="0"/>
              </a:spcAft>
              <a:buFont typeface="Arial" panose="020B0604020202020204" pitchFamily="34" charset="0"/>
              <a:buNone/>
              <a:defRPr sz="100">
                <a:solidFill>
                  <a:schemeClr val="bg1"/>
                </a:solidFill>
              </a:defRPr>
            </a:lvl2pPr>
            <a:lvl3pPr marL="0" indent="0">
              <a:lnSpc>
                <a:spcPct val="100000"/>
              </a:lnSpc>
              <a:spcBef>
                <a:spcPts val="0"/>
              </a:spcBef>
              <a:spcAft>
                <a:spcPts val="0"/>
              </a:spcAft>
              <a:buNone/>
              <a:defRPr sz="100">
                <a:solidFill>
                  <a:schemeClr val="bg1"/>
                </a:solidFill>
              </a:defRPr>
            </a:lvl3pPr>
            <a:lvl4pPr marL="0" indent="0">
              <a:lnSpc>
                <a:spcPct val="100000"/>
              </a:lnSpc>
              <a:spcBef>
                <a:spcPts val="0"/>
              </a:spcBef>
              <a:spcAft>
                <a:spcPts val="0"/>
              </a:spcAft>
              <a:buNone/>
              <a:defRPr sz="100">
                <a:solidFill>
                  <a:schemeClr val="bg1"/>
                </a:solidFill>
              </a:defRPr>
            </a:lvl4pPr>
            <a:lvl5pPr marL="0" indent="0">
              <a:lnSpc>
                <a:spcPct val="100000"/>
              </a:lnSpc>
              <a:spcBef>
                <a:spcPts val="0"/>
              </a:spcBef>
              <a:spcAft>
                <a:spcPts val="0"/>
              </a:spcAft>
              <a:buNone/>
              <a:defRPr sz="100">
                <a:solidFill>
                  <a:schemeClr val="bg1"/>
                </a:solidFill>
              </a:defRPr>
            </a:lvl5pPr>
            <a:lvl6pPr marL="0" indent="0">
              <a:lnSpc>
                <a:spcPct val="100000"/>
              </a:lnSpc>
              <a:spcBef>
                <a:spcPts val="0"/>
              </a:spcBef>
              <a:spcAft>
                <a:spcPts val="0"/>
              </a:spcAft>
              <a:buNone/>
              <a:defRPr sz="100">
                <a:solidFill>
                  <a:schemeClr val="bg1"/>
                </a:solidFill>
              </a:defRPr>
            </a:lvl6pPr>
            <a:lvl7pPr marL="0" indent="0">
              <a:lnSpc>
                <a:spcPct val="100000"/>
              </a:lnSpc>
              <a:spcBef>
                <a:spcPts val="0"/>
              </a:spcBef>
              <a:spcAft>
                <a:spcPts val="0"/>
              </a:spcAft>
              <a:buNone/>
              <a:defRPr sz="100">
                <a:solidFill>
                  <a:schemeClr val="bg1"/>
                </a:solidFill>
              </a:defRPr>
            </a:lvl7pPr>
            <a:lvl8pPr marL="0" indent="0">
              <a:lnSpc>
                <a:spcPct val="100000"/>
              </a:lnSpc>
              <a:spcBef>
                <a:spcPts val="0"/>
              </a:spcBef>
              <a:spcAft>
                <a:spcPts val="0"/>
              </a:spcAft>
              <a:buNone/>
              <a:defRPr sz="100">
                <a:solidFill>
                  <a:schemeClr val="bg1"/>
                </a:solidFill>
              </a:defRPr>
            </a:lvl8pPr>
            <a:lvl9pPr marL="0" indent="0">
              <a:lnSpc>
                <a:spcPct val="100000"/>
              </a:lnSpc>
              <a:spcBef>
                <a:spcPts val="0"/>
              </a:spcBef>
              <a:spcAft>
                <a:spcPts val="0"/>
              </a:spcAft>
              <a:buNone/>
              <a:defRPr sz="100">
                <a:solidFill>
                  <a:schemeClr val="bg1"/>
                </a:solidFill>
              </a:defRPr>
            </a:lvl9pPr>
          </a:lstStyle>
          <a:p>
            <a:pPr lvl="0"/>
            <a:r>
              <a:rPr lang="en-AU"/>
              <a:t> </a:t>
            </a:r>
          </a:p>
        </p:txBody>
      </p:sp>
      <p:sp>
        <p:nvSpPr>
          <p:cNvPr id="2" name="Titel 1"/>
          <p:cNvSpPr>
            <a:spLocks noGrp="1"/>
          </p:cNvSpPr>
          <p:nvPr>
            <p:ph type="ctrTitle" hasCustomPrompt="1"/>
          </p:nvPr>
        </p:nvSpPr>
        <p:spPr bwMode="gray">
          <a:xfrm>
            <a:off x="1199456" y="333375"/>
            <a:ext cx="8208000" cy="3239002"/>
          </a:xfrm>
        </p:spPr>
        <p:txBody>
          <a:bodyPr vert="horz" tIns="0" bIns="0" anchor="b"/>
          <a:lstStyle>
            <a:lvl1pPr algn="l" rtl="0">
              <a:lnSpc>
                <a:spcPct val="90000"/>
              </a:lnSpc>
              <a:defRPr sz="6600" b="1" i="0" spc="-150" baseline="0">
                <a:solidFill>
                  <a:schemeClr val="bg1"/>
                </a:solidFill>
                <a:latin typeface="+mj-lt"/>
              </a:defRPr>
            </a:lvl1pPr>
          </a:lstStyle>
          <a:p>
            <a:r>
              <a:rPr lang="en-AU"/>
              <a:t>Titel der Präsentation</a:t>
            </a:r>
          </a:p>
        </p:txBody>
      </p:sp>
      <p:sp>
        <p:nvSpPr>
          <p:cNvPr id="3" name="Untertitel 2"/>
          <p:cNvSpPr>
            <a:spLocks noGrp="1"/>
          </p:cNvSpPr>
          <p:nvPr>
            <p:ph type="subTitle" idx="1" hasCustomPrompt="1"/>
          </p:nvPr>
        </p:nvSpPr>
        <p:spPr bwMode="gray">
          <a:xfrm>
            <a:off x="1199456" y="3716313"/>
            <a:ext cx="8208000" cy="720000"/>
          </a:xfrm>
        </p:spPr>
        <p:txBody>
          <a:bodyPr/>
          <a:lstStyle>
            <a:lvl1pPr marL="0" indent="0" algn="l" rtl="0">
              <a:lnSpc>
                <a:spcPct val="110000"/>
              </a:lnSpc>
              <a:spcBef>
                <a:spcPts val="0"/>
              </a:spcBef>
              <a:spcAft>
                <a:spcPts val="0"/>
              </a:spcAft>
              <a:buFont typeface="Arial" panose="020B0604020202020204" pitchFamily="34" charset="0"/>
              <a:buNone/>
              <a:defRPr sz="2000" b="0" spc="-50" baseline="0">
                <a:solidFill>
                  <a:schemeClr val="bg1"/>
                </a:solidFill>
                <a:latin typeface="+mn-lt"/>
              </a:defRPr>
            </a:lvl1pPr>
            <a:lvl2pPr marL="0" indent="0" algn="l" rtl="0">
              <a:lnSpc>
                <a:spcPct val="110000"/>
              </a:lnSpc>
              <a:spcBef>
                <a:spcPts val="0"/>
              </a:spcBef>
              <a:spcAft>
                <a:spcPts val="0"/>
              </a:spcAft>
              <a:buFont typeface="Arial" panose="020B0604020202020204" pitchFamily="34" charset="0"/>
              <a:buNone/>
              <a:defRPr sz="2000" b="0" spc="-50" baseline="0">
                <a:solidFill>
                  <a:schemeClr val="bg1"/>
                </a:solidFill>
                <a:latin typeface="+mn-lt"/>
              </a:defRPr>
            </a:lvl2pPr>
            <a:lvl3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3pPr>
            <a:lvl4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4pPr>
            <a:lvl5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5pPr>
            <a:lvl6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6pPr>
            <a:lvl7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7pPr>
            <a:lvl8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8pPr>
            <a:lvl9pPr marL="0" indent="0" algn="l">
              <a:lnSpc>
                <a:spcPct val="110000"/>
              </a:lnSpc>
              <a:spcBef>
                <a:spcPts val="0"/>
              </a:spcBef>
              <a:spcAft>
                <a:spcPts val="0"/>
              </a:spcAft>
              <a:buFont typeface="Arial" panose="020B0604020202020204" pitchFamily="34" charset="0"/>
              <a:buNone/>
              <a:defRPr sz="2000" b="0" spc="-50" baseline="0">
                <a:solidFill>
                  <a:schemeClr val="bg1"/>
                </a:solidFill>
                <a:latin typeface="+mn-lt"/>
              </a:defRPr>
            </a:lvl9pPr>
          </a:lstStyle>
          <a:p>
            <a:pPr lvl="0"/>
            <a:r>
              <a:rPr lang="en-AU"/>
              <a:t>Untertitel der Präsentation</a:t>
            </a:r>
          </a:p>
          <a:p>
            <a:pPr lvl="1"/>
            <a:r>
              <a:rPr lang="en-AU"/>
              <a:t>Zweite Ebene</a:t>
            </a:r>
          </a:p>
        </p:txBody>
      </p:sp>
      <p:sp>
        <p:nvSpPr>
          <p:cNvPr id="5" name="Text Placeholder 4">
            <a:extLst>
              <a:ext uri="{FF2B5EF4-FFF2-40B4-BE49-F238E27FC236}">
                <a16:creationId xmlns:a16="http://schemas.microsoft.com/office/drawing/2014/main" id="{ED13843B-397A-4AF2-BA72-5D7D093BB59A}"/>
              </a:ext>
            </a:extLst>
          </p:cNvPr>
          <p:cNvSpPr>
            <a:spLocks noGrp="1"/>
          </p:cNvSpPr>
          <p:nvPr>
            <p:ph type="body" sz="quarter" idx="16" hasCustomPrompt="1"/>
          </p:nvPr>
        </p:nvSpPr>
        <p:spPr>
          <a:xfrm>
            <a:off x="1199456" y="5697252"/>
            <a:ext cx="8208912" cy="684076"/>
          </a:xfrm>
        </p:spPr>
        <p:txBody>
          <a:bodyPr anchor="b"/>
          <a:lstStyle>
            <a:lvl1pPr marL="0" indent="0" rtl="0">
              <a:spcBef>
                <a:spcPts val="0"/>
              </a:spcBef>
              <a:spcAft>
                <a:spcPts val="0"/>
              </a:spcAft>
              <a:buFont typeface="Arial" panose="020B0604020202020204" pitchFamily="34" charset="0"/>
              <a:buNone/>
              <a:defRPr>
                <a:solidFill>
                  <a:schemeClr val="bg1"/>
                </a:solidFill>
              </a:defRPr>
            </a:lvl1pPr>
            <a:lvl2pPr marL="0" indent="0">
              <a:spcBef>
                <a:spcPts val="0"/>
              </a:spcBef>
              <a:spcAft>
                <a:spcPts val="0"/>
              </a:spcAft>
              <a:buNone/>
              <a:defRPr>
                <a:solidFill>
                  <a:schemeClr val="bg1"/>
                </a:solidFill>
              </a:defRPr>
            </a:lvl2pPr>
            <a:lvl3pPr marL="0" indent="0">
              <a:spcBef>
                <a:spcPts val="0"/>
              </a:spcBef>
              <a:spcAft>
                <a:spcPts val="0"/>
              </a:spcAft>
              <a:buNone/>
              <a:defRPr>
                <a:solidFill>
                  <a:schemeClr val="bg1"/>
                </a:solidFill>
              </a:defRPr>
            </a:lvl3pPr>
            <a:lvl4pPr marL="0" indent="0">
              <a:spcBef>
                <a:spcPts val="0"/>
              </a:spcBef>
              <a:spcAft>
                <a:spcPts val="0"/>
              </a:spcAft>
              <a:buNone/>
              <a:defRPr>
                <a:solidFill>
                  <a:schemeClr val="bg1"/>
                </a:solidFill>
              </a:defRPr>
            </a:lvl4pPr>
            <a:lvl5pPr marL="0" indent="0">
              <a:spcBef>
                <a:spcPts val="0"/>
              </a:spcBef>
              <a:spcAft>
                <a:spcPts val="0"/>
              </a:spcAft>
              <a:buNone/>
              <a:defRPr>
                <a:solidFill>
                  <a:schemeClr val="bg1"/>
                </a:solidFill>
              </a:defRPr>
            </a:lvl5pPr>
            <a:lvl6pPr marL="0" indent="0">
              <a:spcBef>
                <a:spcPts val="0"/>
              </a:spcBef>
              <a:spcAft>
                <a:spcPts val="0"/>
              </a:spcAft>
              <a:buNone/>
              <a:defRPr>
                <a:solidFill>
                  <a:schemeClr val="bg1"/>
                </a:solidFill>
              </a:defRPr>
            </a:lvl6pPr>
            <a:lvl7pPr marL="0" indent="0">
              <a:spcBef>
                <a:spcPts val="0"/>
              </a:spcBef>
              <a:spcAft>
                <a:spcPts val="0"/>
              </a:spcAft>
              <a:buNone/>
              <a:defRPr>
                <a:solidFill>
                  <a:schemeClr val="bg1"/>
                </a:solidFill>
              </a:defRPr>
            </a:lvl7pPr>
            <a:lvl8pPr marL="0" indent="0">
              <a:spcBef>
                <a:spcPts val="0"/>
              </a:spcBef>
              <a:spcAft>
                <a:spcPts val="0"/>
              </a:spcAft>
              <a:buNone/>
              <a:defRPr>
                <a:solidFill>
                  <a:schemeClr val="bg1"/>
                </a:solidFill>
              </a:defRPr>
            </a:lvl8pPr>
            <a:lvl9pPr marL="0" indent="0">
              <a:spcBef>
                <a:spcPts val="0"/>
              </a:spcBef>
              <a:spcAft>
                <a:spcPts val="0"/>
              </a:spcAft>
              <a:buNone/>
              <a:defRPr>
                <a:solidFill>
                  <a:schemeClr val="bg1"/>
                </a:solidFill>
              </a:defRPr>
            </a:lvl9pPr>
          </a:lstStyle>
          <a:p>
            <a:pPr lvl="0"/>
            <a:r>
              <a:rPr lang="en-AU"/>
              <a:t>C2 General</a:t>
            </a:r>
          </a:p>
        </p:txBody>
      </p:sp>
    </p:spTree>
    <p:extLst>
      <p:ext uri="{BB962C8B-B14F-4D97-AF65-F5344CB8AC3E}">
        <p14:creationId xmlns:p14="http://schemas.microsoft.com/office/powerpoint/2010/main" val="305037670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6D80D08F-6621-8B69-726B-76700BC02AE7}"/>
              </a:ext>
            </a:extLst>
          </p:cNvPr>
          <p:cNvGraphicFramePr>
            <a:graphicFrameLocks noChangeAspect="1"/>
          </p:cNvGraphicFramePr>
          <p:nvPr userDrawn="1">
            <p:custDataLst>
              <p:tags r:id="rId1"/>
            </p:custDataLst>
            <p:extLst>
              <p:ext uri="{D42A27DB-BD31-4B8C-83A1-F6EECF244321}">
                <p14:modId xmlns:p14="http://schemas.microsoft.com/office/powerpoint/2010/main" val="7694373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Objekt 2" hidden="1">
                        <a:extLst>
                          <a:ext uri="{FF2B5EF4-FFF2-40B4-BE49-F238E27FC236}">
                            <a16:creationId xmlns:a16="http://schemas.microsoft.com/office/drawing/2014/main" id="{6D80D08F-6621-8B69-726B-76700BC02AE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Fußzeilenplatzhalter 4"/>
          <p:cNvSpPr>
            <a:spLocks noGrp="1"/>
          </p:cNvSpPr>
          <p:nvPr>
            <p:ph type="ftr" sz="quarter" idx="11"/>
          </p:nvPr>
        </p:nvSpPr>
        <p:spPr bwMode="black"/>
        <p:txBody>
          <a:bodyPr/>
          <a:lstStyle>
            <a:lvl1pPr rtl="0">
              <a:defRPr/>
            </a:lvl1pPr>
          </a:lstStyle>
          <a:p>
            <a:endParaRPr lang="en-AU"/>
          </a:p>
        </p:txBody>
      </p:sp>
      <p:sp>
        <p:nvSpPr>
          <p:cNvPr id="6" name="Foliennummernplatzhalter 5"/>
          <p:cNvSpPr>
            <a:spLocks noGrp="1"/>
          </p:cNvSpPr>
          <p:nvPr>
            <p:ph type="sldNum" sz="quarter" idx="12"/>
          </p:nvPr>
        </p:nvSpPr>
        <p:spPr bwMode="black"/>
        <p:txBody>
          <a:bodyPr/>
          <a:lstStyle>
            <a:lvl1pPr rtl="0">
              <a:defRPr/>
            </a:lvl1pPr>
          </a:lstStyle>
          <a:p>
            <a:fld id="{8FF9B0DE-3FEB-4AA0-B465-B80EF7C1333D}" type="slidenum">
              <a:rPr lang="en-AU" smtClean="0"/>
              <a:pPr/>
              <a:t>‹#›</a:t>
            </a:fld>
            <a:endParaRPr lang="en-AU"/>
          </a:p>
        </p:txBody>
      </p:sp>
      <p:sp>
        <p:nvSpPr>
          <p:cNvPr id="12" name="Titel 11"/>
          <p:cNvSpPr>
            <a:spLocks noGrp="1"/>
          </p:cNvSpPr>
          <p:nvPr>
            <p:ph type="title" hasCustomPrompt="1"/>
          </p:nvPr>
        </p:nvSpPr>
        <p:spPr bwMode="black">
          <a:xfrm>
            <a:off x="1199455" y="332656"/>
            <a:ext cx="10512000" cy="720000"/>
          </a:xfrm>
        </p:spPr>
        <p:txBody>
          <a:bodyPr vert="horz"/>
          <a:lstStyle>
            <a:lvl1pPr rtl="0">
              <a:defRPr/>
            </a:lvl1pPr>
          </a:lstStyle>
          <a:p>
            <a:r>
              <a:rPr lang="en-AU"/>
              <a:t>Titel durch Klicken bearbeiten</a:t>
            </a:r>
          </a:p>
        </p:txBody>
      </p:sp>
    </p:spTree>
    <p:extLst>
      <p:ext uri="{BB962C8B-B14F-4D97-AF65-F5344CB8AC3E}">
        <p14:creationId xmlns:p14="http://schemas.microsoft.com/office/powerpoint/2010/main" val="287959864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1412341" y="332656"/>
            <a:ext cx="10350168" cy="720000"/>
          </a:xfrm>
        </p:spPr>
        <p:txBody>
          <a:bodyPr/>
          <a:lstStyle/>
          <a:p>
            <a:r>
              <a:rPr lang="en-US" dirty="0"/>
              <a:t>Click to edit Master title style</a:t>
            </a:r>
          </a:p>
        </p:txBody>
      </p:sp>
      <p:sp>
        <p:nvSpPr>
          <p:cNvPr id="3" name="btfpLayoutConfig" hidden="1"/>
          <p:cNvSpPr txBox="1"/>
          <p:nvPr userDrawn="1">
            <p:custDataLst>
              <p:tags r:id="rId2"/>
            </p:custDataLst>
          </p:nvPr>
        </p:nvSpPr>
        <p:spPr bwMode="gray">
          <a:xfrm>
            <a:off x="12700" y="12700"/>
            <a:ext cx="8890000" cy="88092"/>
          </a:xfrm>
          <a:prstGeom prst="rect">
            <a:avLst/>
          </a:prstGeom>
          <a:noFill/>
        </p:spPr>
        <p:txBody>
          <a:bodyPr vert="horz" wrap="square" lIns="36000" tIns="36000" rIns="36000" bIns="36000" rtlCol="0">
            <a:spAutoFit/>
          </a:bodyPr>
          <a:lstStyle/>
          <a:p>
            <a:pPr marL="0" indent="0">
              <a:buNone/>
            </a:pPr>
            <a:r>
              <a:rPr lang="de-DE" sz="100">
                <a:solidFill>
                  <a:srgbClr val="FFFFFF">
                    <a:alpha val="0"/>
                  </a:srgbClr>
                </a:solidFill>
              </a:rPr>
              <a:t>overall_0_132258050580959888 columns_1_132258050580959888 </a:t>
            </a:r>
          </a:p>
        </p:txBody>
      </p:sp>
      <p:cxnSp>
        <p:nvCxnSpPr>
          <p:cNvPr id="4" name="Straight Connector 3">
            <a:extLst>
              <a:ext uri="{FF2B5EF4-FFF2-40B4-BE49-F238E27FC236}">
                <a16:creationId xmlns:a16="http://schemas.microsoft.com/office/drawing/2014/main" id="{B6D2CE0A-459C-34F8-16D7-2A7F598FC903}"/>
              </a:ext>
            </a:extLst>
          </p:cNvPr>
          <p:cNvCxnSpPr>
            <a:cxnSpLocks/>
          </p:cNvCxnSpPr>
          <p:nvPr userDrawn="1"/>
        </p:nvCxnSpPr>
        <p:spPr>
          <a:xfrm>
            <a:off x="404813" y="1189894"/>
            <a:ext cx="11357696"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8DFAC96-82D1-CFB5-F784-267FAC2AC1BA}"/>
              </a:ext>
            </a:extLst>
          </p:cNvPr>
          <p:cNvCxnSpPr>
            <a:cxnSpLocks/>
          </p:cNvCxnSpPr>
          <p:nvPr userDrawn="1"/>
        </p:nvCxnSpPr>
        <p:spPr>
          <a:xfrm>
            <a:off x="404813" y="5886586"/>
            <a:ext cx="11357696"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2561628"/>
      </p:ext>
    </p:extLst>
  </p:cSld>
  <p:clrMapOvr>
    <a:masterClrMapping/>
  </p:clrMapOvr>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p:cNvSpPr>
            <a:spLocks noGrp="1"/>
          </p:cNvSpPr>
          <p:nvPr>
            <p:ph type="title"/>
            <p:custDataLst>
              <p:tags r:id="rId1"/>
            </p:custDataLst>
          </p:nvPr>
        </p:nvSpPr>
        <p:spPr>
          <a:xfrm>
            <a:off x="1412341" y="332656"/>
            <a:ext cx="10350168" cy="720000"/>
          </a:xfrm>
        </p:spPr>
        <p:txBody>
          <a:bodyPr/>
          <a:lstStyle/>
          <a:p>
            <a:r>
              <a:rPr lang="en-US" dirty="0"/>
              <a:t>Click to edit Master title style</a:t>
            </a:r>
          </a:p>
        </p:txBody>
      </p:sp>
      <p:sp>
        <p:nvSpPr>
          <p:cNvPr id="3" name="btfpLayoutConfig" hidden="1"/>
          <p:cNvSpPr txBox="1"/>
          <p:nvPr userDrawn="1">
            <p:custDataLst>
              <p:tags r:id="rId2"/>
            </p:custDataLst>
          </p:nvPr>
        </p:nvSpPr>
        <p:spPr bwMode="gray">
          <a:xfrm>
            <a:off x="12700" y="12700"/>
            <a:ext cx="8890000" cy="88092"/>
          </a:xfrm>
          <a:prstGeom prst="rect">
            <a:avLst/>
          </a:prstGeom>
          <a:noFill/>
        </p:spPr>
        <p:txBody>
          <a:bodyPr vert="horz" wrap="square" lIns="36000" tIns="36000" rIns="36000" bIns="36000" rtlCol="0">
            <a:spAutoFit/>
          </a:bodyPr>
          <a:lstStyle/>
          <a:p>
            <a:pPr marL="0" indent="0">
              <a:buNone/>
            </a:pPr>
            <a:r>
              <a:rPr lang="de-DE" sz="100">
                <a:solidFill>
                  <a:srgbClr val="FFFFFF">
                    <a:alpha val="0"/>
                  </a:srgbClr>
                </a:solidFill>
              </a:rPr>
              <a:t>overall_0_132258050580959888 columns_1_132258050580959888 </a:t>
            </a:r>
          </a:p>
        </p:txBody>
      </p:sp>
    </p:spTree>
    <p:extLst>
      <p:ext uri="{BB962C8B-B14F-4D97-AF65-F5344CB8AC3E}">
        <p14:creationId xmlns:p14="http://schemas.microsoft.com/office/powerpoint/2010/main" val="3837930304"/>
      </p:ext>
    </p:extLst>
  </p:cSld>
  <p:clrMapOvr>
    <a:masterClrMapping/>
  </p:clrMapOvr>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a:extLst>
              <a:ext uri="{FF2B5EF4-FFF2-40B4-BE49-F238E27FC236}">
                <a16:creationId xmlns:a16="http://schemas.microsoft.com/office/drawing/2014/main" id="{AE4E8E1B-7E5C-4529-916D-87725CA07E62}"/>
              </a:ext>
            </a:extLst>
          </p:cNvPr>
          <p:cNvSpPr>
            <a:spLocks noGrp="1"/>
          </p:cNvSpPr>
          <p:nvPr>
            <p:ph type="title"/>
          </p:nvPr>
        </p:nvSpPr>
        <p:spPr>
          <a:xfrm>
            <a:off x="404812" y="223474"/>
            <a:ext cx="10515600" cy="673394"/>
          </a:xfrm>
          <a:prstGeom prst="rect">
            <a:avLst/>
          </a:prstGeom>
        </p:spPr>
        <p:txBody>
          <a:bodyPr vert="horz" lIns="91440" tIns="45720" rIns="91440" bIns="45720" rtlCol="0" anchor="ctr">
            <a:normAutofit/>
          </a:bodyPr>
          <a:lstStyle>
            <a:lvl1pPr>
              <a:defRPr sz="2200"/>
            </a:lvl1pPr>
          </a:lstStyle>
          <a:p>
            <a:r>
              <a:rPr lang="en-US"/>
              <a:t>Click to edit Master title style</a:t>
            </a:r>
          </a:p>
        </p:txBody>
      </p:sp>
    </p:spTree>
    <p:extLst>
      <p:ext uri="{BB962C8B-B14F-4D97-AF65-F5344CB8AC3E}">
        <p14:creationId xmlns:p14="http://schemas.microsoft.com/office/powerpoint/2010/main" val="1758039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Only Title">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94B59A6-41DA-4C77-BA14-2A9488032159}"/>
              </a:ext>
            </a:extLst>
          </p:cNvPr>
          <p:cNvGraphicFramePr>
            <a:graphicFrameLocks noChangeAspect="1"/>
          </p:cNvGraphicFramePr>
          <p:nvPr userDrawn="1">
            <p:custDataLst>
              <p:tags r:id="rId1"/>
            </p:custDataLst>
            <p:extLst>
              <p:ext uri="{D42A27DB-BD31-4B8C-83A1-F6EECF244321}">
                <p14:modId xmlns:p14="http://schemas.microsoft.com/office/powerpoint/2010/main" val="35366959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a:extLst>
                          <a:ext uri="{FF2B5EF4-FFF2-40B4-BE49-F238E27FC236}">
                            <a16:creationId xmlns:a16="http://schemas.microsoft.com/office/drawing/2014/main" id="{694B59A6-41DA-4C77-BA14-2A948803215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vert="horz"/>
          <a:lstStyle>
            <a:lvl1pPr>
              <a:defRPr sz="2400" b="1"/>
            </a:lvl1pPr>
          </a:lstStyle>
          <a:p>
            <a:r>
              <a:rPr lang="en-US" noProof="0"/>
              <a:t>Click to edit Master title style</a:t>
            </a:r>
          </a:p>
        </p:txBody>
      </p:sp>
      <p:sp>
        <p:nvSpPr>
          <p:cNvPr id="5" name="Text Placeholder 4">
            <a:extLst>
              <a:ext uri="{FF2B5EF4-FFF2-40B4-BE49-F238E27FC236}">
                <a16:creationId xmlns:a16="http://schemas.microsoft.com/office/drawing/2014/main" id="{BE83A2CB-6BD9-4F7F-9D1B-F6B31E595F04}"/>
              </a:ext>
            </a:extLst>
          </p:cNvPr>
          <p:cNvSpPr>
            <a:spLocks noGrp="1"/>
          </p:cNvSpPr>
          <p:nvPr>
            <p:ph type="body" sz="quarter" idx="10"/>
          </p:nvPr>
        </p:nvSpPr>
        <p:spPr>
          <a:xfrm>
            <a:off x="404813" y="1212842"/>
            <a:ext cx="11375136" cy="381000"/>
          </a:xfrm>
        </p:spPr>
        <p:txBody>
          <a:bodyPr anchor="ctr"/>
          <a:lstStyle>
            <a:lvl1pPr>
              <a:defRPr sz="1600" b="0">
                <a:solidFill>
                  <a:schemeClr val="accent2"/>
                </a:solidFill>
                <a:latin typeface="+mj-lt"/>
              </a:defRPr>
            </a:lvl1pPr>
            <a:lvl2pPr marL="0" indent="0">
              <a:buNone/>
              <a:defRPr/>
            </a:lvl2pPr>
          </a:lstStyle>
          <a:p>
            <a:pPr lvl="0"/>
            <a:r>
              <a:rPr lang="en-US"/>
              <a:t>Click to edit Master text styles</a:t>
            </a:r>
          </a:p>
        </p:txBody>
      </p:sp>
    </p:spTree>
    <p:extLst>
      <p:ext uri="{BB962C8B-B14F-4D97-AF65-F5344CB8AC3E}">
        <p14:creationId xmlns:p14="http://schemas.microsoft.com/office/powerpoint/2010/main" val="3057594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and sub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3247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1E7BF792-6C43-E473-7F96-F98D22E245DB}"/>
              </a:ext>
            </a:extLst>
          </p:cNvPr>
          <p:cNvGraphicFramePr>
            <a:graphicFrameLocks noChangeAspect="1"/>
          </p:cNvGraphicFramePr>
          <p:nvPr userDrawn="1">
            <p:custDataLst>
              <p:tags r:id="rId9"/>
            </p:custDataLst>
            <p:extLst>
              <p:ext uri="{D42A27DB-BD31-4B8C-83A1-F6EECF244321}">
                <p14:modId xmlns:p14="http://schemas.microsoft.com/office/powerpoint/2010/main" val="19585430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395" imgH="396" progId="TCLayout.ActiveDocument.1">
                  <p:embed/>
                </p:oleObj>
              </mc:Choice>
              <mc:Fallback>
                <p:oleObj name="think-cell Slide" r:id="rId10" imgW="395" imgH="396" progId="TCLayout.ActiveDocument.1">
                  <p:embed/>
                  <p:pic>
                    <p:nvPicPr>
                      <p:cNvPr id="7" name="Objekt 6" hidden="1">
                        <a:extLst>
                          <a:ext uri="{FF2B5EF4-FFF2-40B4-BE49-F238E27FC236}">
                            <a16:creationId xmlns:a16="http://schemas.microsoft.com/office/drawing/2014/main" id="{1E7BF792-6C43-E473-7F96-F98D22E245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black">
          <a:xfrm>
            <a:off x="1412341" y="332656"/>
            <a:ext cx="9053466" cy="720000"/>
          </a:xfrm>
          <a:prstGeom prst="rect">
            <a:avLst/>
          </a:prstGeom>
        </p:spPr>
        <p:txBody>
          <a:bodyPr vert="horz" lIns="0" tIns="28800" rIns="0" bIns="0" rtlCol="0" anchor="t">
            <a:noAutofit/>
          </a:bodyPr>
          <a:lstStyle/>
          <a:p>
            <a:r>
              <a:rPr lang="en-US" dirty="0" err="1"/>
              <a:t>Titelmasterformat</a:t>
            </a:r>
            <a:r>
              <a:rPr lang="en-US" dirty="0"/>
              <a:t> </a:t>
            </a:r>
            <a:r>
              <a:rPr lang="en-US" dirty="0" err="1"/>
              <a:t>durch</a:t>
            </a:r>
            <a:r>
              <a:rPr lang="en-US" dirty="0"/>
              <a:t> </a:t>
            </a:r>
            <a:r>
              <a:rPr lang="en-US" dirty="0" err="1"/>
              <a:t>Klicken</a:t>
            </a:r>
            <a:r>
              <a:rPr lang="en-US" dirty="0"/>
              <a:t> </a:t>
            </a:r>
            <a:r>
              <a:rPr lang="en-US" dirty="0" err="1"/>
              <a:t>bearbeiten</a:t>
            </a:r>
            <a:endParaRPr lang="en-US" dirty="0"/>
          </a:p>
        </p:txBody>
      </p:sp>
      <p:sp>
        <p:nvSpPr>
          <p:cNvPr id="3" name="Textplatzhalter 2"/>
          <p:cNvSpPr>
            <a:spLocks noGrp="1"/>
          </p:cNvSpPr>
          <p:nvPr>
            <p:ph type="body" idx="1"/>
          </p:nvPr>
        </p:nvSpPr>
        <p:spPr bwMode="black">
          <a:xfrm>
            <a:off x="1200150" y="1484015"/>
            <a:ext cx="10512000" cy="4897313"/>
          </a:xfrm>
          <a:prstGeom prst="rect">
            <a:avLst/>
          </a:prstGeom>
        </p:spPr>
        <p:txBody>
          <a:bodyPr vert="horz" lIns="0" tIns="0" rIns="0" bIns="0" rtlCol="0">
            <a:noAutofit/>
          </a:bodyPr>
          <a:lstStyle/>
          <a:p>
            <a:pPr lvl="0"/>
            <a:r>
              <a:rPr lang="en-US"/>
              <a:t>Text durch Klicken bearbeiten. Nutzen Sie die Buttons „Listenebene erhöhen/verringern“ auf dem Register Start, um zwischen den eingerichteten Textebenen zu wechseln.</a:t>
            </a:r>
          </a:p>
          <a:p>
            <a:pPr lvl="1"/>
            <a:r>
              <a:rPr lang="en-US"/>
              <a:t>Zweite Ebene</a:t>
            </a:r>
          </a:p>
          <a:p>
            <a:pPr lvl="2"/>
            <a:r>
              <a:rPr lang="en-US"/>
              <a:t>Dritte Ebene</a:t>
            </a:r>
          </a:p>
          <a:p>
            <a:pPr lvl="3"/>
            <a:r>
              <a:rPr lang="en-US"/>
              <a:t>Vierte Ebene</a:t>
            </a:r>
          </a:p>
          <a:p>
            <a:pPr lvl="4"/>
            <a:r>
              <a:rPr lang="en-US"/>
              <a:t>Fünfte Ebene</a:t>
            </a:r>
          </a:p>
          <a:p>
            <a:pPr lvl="5"/>
            <a:r>
              <a:rPr lang="en-US"/>
              <a:t>Sechste Ebene</a:t>
            </a:r>
          </a:p>
          <a:p>
            <a:pPr lvl="6"/>
            <a:r>
              <a:rPr lang="en-US"/>
              <a:t>Siebte Ebene</a:t>
            </a:r>
          </a:p>
          <a:p>
            <a:pPr lvl="7"/>
            <a:r>
              <a:rPr lang="en-US"/>
              <a:t>Achte Ebene</a:t>
            </a:r>
          </a:p>
          <a:p>
            <a:pPr lvl="8"/>
            <a:r>
              <a:rPr lang="en-US"/>
              <a:t>Neunte Ebene</a:t>
            </a:r>
            <a:endParaRPr lang="en-US" dirty="0"/>
          </a:p>
        </p:txBody>
      </p:sp>
      <p:sp>
        <p:nvSpPr>
          <p:cNvPr id="5" name="Fußzeilenplatzhalter 4"/>
          <p:cNvSpPr>
            <a:spLocks noGrp="1"/>
          </p:cNvSpPr>
          <p:nvPr>
            <p:ph type="ftr" sz="quarter" idx="3"/>
          </p:nvPr>
        </p:nvSpPr>
        <p:spPr bwMode="black">
          <a:xfrm rot="16200000">
            <a:off x="-1645271" y="3392999"/>
            <a:ext cx="4105278" cy="287903"/>
          </a:xfrm>
          <a:prstGeom prst="rect">
            <a:avLst/>
          </a:prstGeom>
        </p:spPr>
        <p:txBody>
          <a:bodyPr vert="horz" lIns="0" tIns="0" rIns="0" bIns="0" rtlCol="0" anchor="ctr">
            <a:noAutofit/>
          </a:bodyPr>
          <a:lstStyle>
            <a:lvl1pPr algn="l" rtl="0">
              <a:defRPr sz="700">
                <a:solidFill>
                  <a:schemeClr val="tx1"/>
                </a:solidFill>
              </a:defRPr>
            </a:lvl1pPr>
          </a:lstStyle>
          <a:p>
            <a:endParaRPr lang="en-US"/>
          </a:p>
        </p:txBody>
      </p:sp>
      <p:sp>
        <p:nvSpPr>
          <p:cNvPr id="6" name="Foliennummernplatzhalter 5"/>
          <p:cNvSpPr>
            <a:spLocks noGrp="1"/>
          </p:cNvSpPr>
          <p:nvPr>
            <p:ph type="sldNum" sz="quarter" idx="4"/>
          </p:nvPr>
        </p:nvSpPr>
        <p:spPr bwMode="black">
          <a:xfrm flipH="1">
            <a:off x="11780940" y="6483167"/>
            <a:ext cx="360000" cy="288000"/>
          </a:xfrm>
          <a:prstGeom prst="rect">
            <a:avLst/>
          </a:prstGeom>
        </p:spPr>
        <p:txBody>
          <a:bodyPr vert="horz" lIns="0" tIns="0" rIns="0" bIns="14400" rtlCol="0" anchor="b">
            <a:noAutofit/>
          </a:bodyPr>
          <a:lstStyle>
            <a:lvl1pPr algn="ctr" rtl="0">
              <a:defRPr sz="1100">
                <a:solidFill>
                  <a:schemeClr val="tx1"/>
                </a:solidFill>
              </a:defRPr>
            </a:lvl1pPr>
          </a:lstStyle>
          <a:p>
            <a:fld id="{8FF9B0DE-3FEB-4AA0-B465-B80EF7C1333D}" type="slidenum">
              <a:rPr lang="en-US" smtClean="0"/>
              <a:pPr/>
              <a:t>‹#›</a:t>
            </a:fld>
            <a:endParaRPr lang="en-US"/>
          </a:p>
        </p:txBody>
      </p:sp>
      <p:grpSp>
        <p:nvGrpSpPr>
          <p:cNvPr id="22" name="Gruppieren 24">
            <a:extLst>
              <a:ext uri="{FF2B5EF4-FFF2-40B4-BE49-F238E27FC236}">
                <a16:creationId xmlns:a16="http://schemas.microsoft.com/office/drawing/2014/main" id="{34616715-2230-4D18-B11F-0892999C3E9E}"/>
              </a:ext>
            </a:extLst>
          </p:cNvPr>
          <p:cNvGrpSpPr/>
          <p:nvPr userDrawn="1"/>
        </p:nvGrpSpPr>
        <p:grpSpPr bwMode="gray">
          <a:xfrm>
            <a:off x="-168688" y="404664"/>
            <a:ext cx="72000" cy="5976664"/>
            <a:chOff x="-456728" y="404664"/>
            <a:chExt cx="216000" cy="5976664"/>
          </a:xfrm>
        </p:grpSpPr>
        <p:cxnSp>
          <p:nvCxnSpPr>
            <p:cNvPr id="26" name="Gerader Verbinder 22">
              <a:extLst>
                <a:ext uri="{FF2B5EF4-FFF2-40B4-BE49-F238E27FC236}">
                  <a16:creationId xmlns:a16="http://schemas.microsoft.com/office/drawing/2014/main" id="{BADCE3B3-C67C-4479-B25A-BB73A93FCAC5}"/>
                </a:ext>
              </a:extLst>
            </p:cNvPr>
            <p:cNvCxnSpPr>
              <a:cxnSpLocks/>
            </p:cNvCxnSpPr>
            <p:nvPr userDrawn="1"/>
          </p:nvCxnSpPr>
          <p:spPr bwMode="gray">
            <a:xfrm>
              <a:off x="-456728" y="40466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Gerader Verbinder 23">
              <a:extLst>
                <a:ext uri="{FF2B5EF4-FFF2-40B4-BE49-F238E27FC236}">
                  <a16:creationId xmlns:a16="http://schemas.microsoft.com/office/drawing/2014/main" id="{A2411F64-AFA2-4D54-B948-CACBB9F73133}"/>
                </a:ext>
              </a:extLst>
            </p:cNvPr>
            <p:cNvCxnSpPr/>
            <p:nvPr userDrawn="1"/>
          </p:nvCxnSpPr>
          <p:spPr bwMode="gray">
            <a:xfrm>
              <a:off x="-456728" y="6381328"/>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Gerader Verbinder 22">
              <a:extLst>
                <a:ext uri="{FF2B5EF4-FFF2-40B4-BE49-F238E27FC236}">
                  <a16:creationId xmlns:a16="http://schemas.microsoft.com/office/drawing/2014/main" id="{8A1E9B1F-474D-4064-9DD2-A9561135659C}"/>
                </a:ext>
              </a:extLst>
            </p:cNvPr>
            <p:cNvCxnSpPr>
              <a:cxnSpLocks/>
            </p:cNvCxnSpPr>
            <p:nvPr userDrawn="1"/>
          </p:nvCxnSpPr>
          <p:spPr bwMode="gray">
            <a:xfrm>
              <a:off x="-456728" y="148478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Gruppieren 20">
            <a:extLst>
              <a:ext uri="{FF2B5EF4-FFF2-40B4-BE49-F238E27FC236}">
                <a16:creationId xmlns:a16="http://schemas.microsoft.com/office/drawing/2014/main" id="{D86F7069-23BE-4CF9-90BB-7B9429005F9D}"/>
              </a:ext>
            </a:extLst>
          </p:cNvPr>
          <p:cNvGrpSpPr/>
          <p:nvPr userDrawn="1"/>
        </p:nvGrpSpPr>
        <p:grpSpPr bwMode="black">
          <a:xfrm>
            <a:off x="1199456" y="-171400"/>
            <a:ext cx="10513168" cy="72000"/>
            <a:chOff x="1199456" y="-243408"/>
            <a:chExt cx="10513168" cy="216000"/>
          </a:xfrm>
        </p:grpSpPr>
        <p:cxnSp>
          <p:nvCxnSpPr>
            <p:cNvPr id="31" name="Gerader Verbinder 12">
              <a:extLst>
                <a:ext uri="{FF2B5EF4-FFF2-40B4-BE49-F238E27FC236}">
                  <a16:creationId xmlns:a16="http://schemas.microsoft.com/office/drawing/2014/main" id="{498D72FE-3D74-49C5-8CF9-DA0115481CE7}"/>
                </a:ext>
              </a:extLst>
            </p:cNvPr>
            <p:cNvCxnSpPr/>
            <p:nvPr userDrawn="1"/>
          </p:nvCxnSpPr>
          <p:spPr bwMode="black">
            <a:xfrm>
              <a:off x="1199456" y="-243408"/>
              <a:ext cx="0" cy="2160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 name="Gerader Verbinder 13">
              <a:extLst>
                <a:ext uri="{FF2B5EF4-FFF2-40B4-BE49-F238E27FC236}">
                  <a16:creationId xmlns:a16="http://schemas.microsoft.com/office/drawing/2014/main" id="{917E7C58-6BCA-47A4-9FD3-D4F7BAE3F17D}"/>
                </a:ext>
              </a:extLst>
            </p:cNvPr>
            <p:cNvCxnSpPr/>
            <p:nvPr userDrawn="1"/>
          </p:nvCxnSpPr>
          <p:spPr bwMode="black">
            <a:xfrm>
              <a:off x="4511824" y="-243408"/>
              <a:ext cx="0" cy="216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Gerader Verbinder 14">
              <a:extLst>
                <a:ext uri="{FF2B5EF4-FFF2-40B4-BE49-F238E27FC236}">
                  <a16:creationId xmlns:a16="http://schemas.microsoft.com/office/drawing/2014/main" id="{C187A180-A169-4EB6-8D34-0AB6F8AC3B6A}"/>
                </a:ext>
              </a:extLst>
            </p:cNvPr>
            <p:cNvCxnSpPr/>
            <p:nvPr userDrawn="1"/>
          </p:nvCxnSpPr>
          <p:spPr bwMode="black">
            <a:xfrm>
              <a:off x="4799856" y="-243408"/>
              <a:ext cx="0" cy="216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Gerader Verbinder 15">
              <a:extLst>
                <a:ext uri="{FF2B5EF4-FFF2-40B4-BE49-F238E27FC236}">
                  <a16:creationId xmlns:a16="http://schemas.microsoft.com/office/drawing/2014/main" id="{6B8BA14C-61F7-4907-B5C3-DD2DCCFBC83E}"/>
                </a:ext>
              </a:extLst>
            </p:cNvPr>
            <p:cNvCxnSpPr/>
            <p:nvPr userDrawn="1"/>
          </p:nvCxnSpPr>
          <p:spPr bwMode="black">
            <a:xfrm>
              <a:off x="6312024" y="-243408"/>
              <a:ext cx="0" cy="2160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Gerader Verbinder 16">
              <a:extLst>
                <a:ext uri="{FF2B5EF4-FFF2-40B4-BE49-F238E27FC236}">
                  <a16:creationId xmlns:a16="http://schemas.microsoft.com/office/drawing/2014/main" id="{2AD55AAC-F91A-48DA-B806-809F0248F0A4}"/>
                </a:ext>
              </a:extLst>
            </p:cNvPr>
            <p:cNvCxnSpPr/>
            <p:nvPr userDrawn="1"/>
          </p:nvCxnSpPr>
          <p:spPr bwMode="black">
            <a:xfrm>
              <a:off x="6600056" y="-243408"/>
              <a:ext cx="0" cy="2160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Gerader Verbinder 17">
              <a:extLst>
                <a:ext uri="{FF2B5EF4-FFF2-40B4-BE49-F238E27FC236}">
                  <a16:creationId xmlns:a16="http://schemas.microsoft.com/office/drawing/2014/main" id="{7DFEA8B0-CE58-421B-BEAE-108C5DCCF6FD}"/>
                </a:ext>
              </a:extLst>
            </p:cNvPr>
            <p:cNvCxnSpPr/>
            <p:nvPr userDrawn="1"/>
          </p:nvCxnSpPr>
          <p:spPr bwMode="black">
            <a:xfrm>
              <a:off x="8112224" y="-243408"/>
              <a:ext cx="0" cy="216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Gerader Verbinder 18">
              <a:extLst>
                <a:ext uri="{FF2B5EF4-FFF2-40B4-BE49-F238E27FC236}">
                  <a16:creationId xmlns:a16="http://schemas.microsoft.com/office/drawing/2014/main" id="{11E7B42D-83F7-43BA-B975-BA5A620DF230}"/>
                </a:ext>
              </a:extLst>
            </p:cNvPr>
            <p:cNvCxnSpPr/>
            <p:nvPr userDrawn="1"/>
          </p:nvCxnSpPr>
          <p:spPr bwMode="black">
            <a:xfrm>
              <a:off x="8400256" y="-243408"/>
              <a:ext cx="0" cy="21600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Gerader Verbinder 19">
              <a:extLst>
                <a:ext uri="{FF2B5EF4-FFF2-40B4-BE49-F238E27FC236}">
                  <a16:creationId xmlns:a16="http://schemas.microsoft.com/office/drawing/2014/main" id="{639C70A6-FEB2-459A-B5C3-668F2B2CD706}"/>
                </a:ext>
              </a:extLst>
            </p:cNvPr>
            <p:cNvCxnSpPr/>
            <p:nvPr userDrawn="1"/>
          </p:nvCxnSpPr>
          <p:spPr bwMode="black">
            <a:xfrm>
              <a:off x="11712624" y="-243408"/>
              <a:ext cx="0" cy="2160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Gerader Verbinder 13">
              <a:extLst>
                <a:ext uri="{FF2B5EF4-FFF2-40B4-BE49-F238E27FC236}">
                  <a16:creationId xmlns:a16="http://schemas.microsoft.com/office/drawing/2014/main" id="{BDBA7992-EE35-4270-A00A-2CECE8F0358A}"/>
                </a:ext>
              </a:extLst>
            </p:cNvPr>
            <p:cNvCxnSpPr/>
            <p:nvPr userDrawn="1"/>
          </p:nvCxnSpPr>
          <p:spPr bwMode="black">
            <a:xfrm>
              <a:off x="3611724" y="-243408"/>
              <a:ext cx="0" cy="2160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Gerader Verbinder 14">
              <a:extLst>
                <a:ext uri="{FF2B5EF4-FFF2-40B4-BE49-F238E27FC236}">
                  <a16:creationId xmlns:a16="http://schemas.microsoft.com/office/drawing/2014/main" id="{15AB0177-321E-464E-82D7-15A14AC072D4}"/>
                </a:ext>
              </a:extLst>
            </p:cNvPr>
            <p:cNvCxnSpPr/>
            <p:nvPr userDrawn="1"/>
          </p:nvCxnSpPr>
          <p:spPr bwMode="black">
            <a:xfrm>
              <a:off x="3899756" y="-243408"/>
              <a:ext cx="0" cy="2160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Gerader Verbinder 17">
              <a:extLst>
                <a:ext uri="{FF2B5EF4-FFF2-40B4-BE49-F238E27FC236}">
                  <a16:creationId xmlns:a16="http://schemas.microsoft.com/office/drawing/2014/main" id="{0005E691-B2E6-4C9F-8583-53655958A68D}"/>
                </a:ext>
              </a:extLst>
            </p:cNvPr>
            <p:cNvCxnSpPr/>
            <p:nvPr userDrawn="1"/>
          </p:nvCxnSpPr>
          <p:spPr bwMode="black">
            <a:xfrm>
              <a:off x="9012324" y="-243408"/>
              <a:ext cx="0" cy="2160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Gerader Verbinder 18">
              <a:extLst>
                <a:ext uri="{FF2B5EF4-FFF2-40B4-BE49-F238E27FC236}">
                  <a16:creationId xmlns:a16="http://schemas.microsoft.com/office/drawing/2014/main" id="{630B6836-1230-414E-9FF2-D3D271CD80EC}"/>
                </a:ext>
              </a:extLst>
            </p:cNvPr>
            <p:cNvCxnSpPr/>
            <p:nvPr userDrawn="1"/>
          </p:nvCxnSpPr>
          <p:spPr bwMode="black">
            <a:xfrm>
              <a:off x="9300356" y="-243408"/>
              <a:ext cx="0" cy="2160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00884843"/>
      </p:ext>
    </p:extLst>
  </p:cSld>
  <p:clrMap bg1="lt1" tx1="dk1" bg2="lt2" tx2="dk2" accent1="accent1" accent2="accent2" accent3="accent3" accent4="accent4" accent5="accent5" accent6="accent6" hlink="hlink" folHlink="folHlink"/>
  <p:sldLayoutIdLst>
    <p:sldLayoutId id="2147483879" r:id="rId1"/>
    <p:sldLayoutId id="2147483903" r:id="rId2"/>
    <p:sldLayoutId id="2147484191" r:id="rId3"/>
    <p:sldLayoutId id="2147483951" r:id="rId4"/>
    <p:sldLayoutId id="2147484112" r:id="rId5"/>
    <p:sldLayoutId id="2147484127" r:id="rId6"/>
    <p:sldLayoutId id="2147484135" r:id="rId7"/>
  </p:sldLayoutIdLst>
  <p:hf hdr="0" ftr="0" dt="0"/>
  <p:txStyles>
    <p:titleStyle>
      <a:lvl1pPr algn="l" defTabSz="914400" rtl="0" eaLnBrk="1" latinLnBrk="0" hangingPunct="1">
        <a:lnSpc>
          <a:spcPct val="100000"/>
        </a:lnSpc>
        <a:spcBef>
          <a:spcPct val="0"/>
        </a:spcBef>
        <a:buNone/>
        <a:defRPr sz="2400" b="1" kern="1200" spc="-50"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600"/>
        </a:spcBef>
        <a:spcAft>
          <a:spcPts val="600"/>
        </a:spcAft>
        <a:buFont typeface="Arial" panose="020B0604020202020204" pitchFamily="34" charset="0"/>
        <a:buNone/>
        <a:defRPr sz="1600" b="0" kern="1200">
          <a:solidFill>
            <a:schemeClr val="tx1"/>
          </a:solidFill>
          <a:latin typeface="+mn-lt"/>
          <a:ea typeface="+mn-ea"/>
          <a:cs typeface="+mn-cs"/>
        </a:defRPr>
      </a:lvl1pPr>
      <a:lvl2pPr marL="180000" indent="-180000" algn="l" defTabSz="914400" rtl="0" eaLnBrk="1" latinLnBrk="0" hangingPunct="1">
        <a:lnSpc>
          <a:spcPct val="110000"/>
        </a:lnSpc>
        <a:spcBef>
          <a:spcPts val="200"/>
        </a:spcBef>
        <a:spcAft>
          <a:spcPts val="200"/>
        </a:spcAft>
        <a:buFont typeface="Arial" panose="020B0604020202020204" pitchFamily="34" charset="0"/>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3pPr>
      <a:lvl4pPr marL="54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4pPr>
      <a:lvl5pPr marL="72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5pPr>
      <a:lvl6pPr marL="90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6pPr>
      <a:lvl7pPr marL="108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7pPr>
      <a:lvl8pPr marL="126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8pPr>
      <a:lvl9pPr marL="1440000" indent="-180000" algn="l" defTabSz="914400" rtl="0" eaLnBrk="1" latinLnBrk="0" hangingPunct="1">
        <a:lnSpc>
          <a:spcPct val="110000"/>
        </a:lnSpc>
        <a:spcBef>
          <a:spcPts val="200"/>
        </a:spcBef>
        <a:spcAft>
          <a:spcPts val="200"/>
        </a:spcAft>
        <a:buFont typeface="TheSans Swisscom Light" panose="020B0300040303060204" pitchFamily="34" charset="0"/>
        <a:buChar char="−"/>
        <a:defRPr sz="16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6">
          <p15:clr>
            <a:srgbClr val="547EBF"/>
          </p15:clr>
        </p15:guide>
        <p15:guide id="5" pos="7378">
          <p15:clr>
            <a:srgbClr val="547EBF"/>
          </p15:clr>
        </p15:guide>
        <p15:guide id="11" orient="horz" pos="4020">
          <p15:clr>
            <a:srgbClr val="547EBF"/>
          </p15:clr>
        </p15:guide>
        <p15:guide id="14" orient="horz" pos="935">
          <p15:clr>
            <a:srgbClr val="547EBF"/>
          </p15:clr>
        </p15:guide>
        <p15:guide id="15" orient="horz" pos="255">
          <p15:clr>
            <a:srgbClr val="547EBF"/>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13" Type="http://schemas.openxmlformats.org/officeDocument/2006/relationships/image" Target="../media/image10.png"/><Relationship Id="rId3" Type="http://schemas.openxmlformats.org/officeDocument/2006/relationships/tags" Target="../tags/tag12.xml"/><Relationship Id="rId7" Type="http://schemas.openxmlformats.org/officeDocument/2006/relationships/slideLayout" Target="../slideLayouts/slideLayout4.xml"/><Relationship Id="rId12" Type="http://schemas.openxmlformats.org/officeDocument/2006/relationships/image" Target="../media/image9.svg"/><Relationship Id="rId2" Type="http://schemas.openxmlformats.org/officeDocument/2006/relationships/tags" Target="../tags/tag11.xml"/><Relationship Id="rId16" Type="http://schemas.openxmlformats.org/officeDocument/2006/relationships/image" Target="../media/image13.svg"/><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8.png"/><Relationship Id="rId5" Type="http://schemas.openxmlformats.org/officeDocument/2006/relationships/tags" Target="../tags/tag14.xm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tags" Target="../tags/tag13.xml"/><Relationship Id="rId9" Type="http://schemas.openxmlformats.org/officeDocument/2006/relationships/image" Target="../media/image6.png"/><Relationship Id="rId14" Type="http://schemas.openxmlformats.org/officeDocument/2006/relationships/image" Target="../media/image11.sv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8.png"/><Relationship Id="rId3" Type="http://schemas.openxmlformats.org/officeDocument/2006/relationships/tags" Target="../tags/tag18.xml"/><Relationship Id="rId7" Type="http://schemas.openxmlformats.org/officeDocument/2006/relationships/image" Target="../media/image14.emf"/><Relationship Id="rId12" Type="http://schemas.openxmlformats.org/officeDocument/2006/relationships/image" Target="../media/image17.png"/><Relationship Id="rId2" Type="http://schemas.openxmlformats.org/officeDocument/2006/relationships/tags" Target="../tags/tag17.xml"/><Relationship Id="rId16" Type="http://schemas.openxmlformats.org/officeDocument/2006/relationships/image" Target="../media/image21.jpeg"/><Relationship Id="rId1" Type="http://schemas.openxmlformats.org/officeDocument/2006/relationships/tags" Target="../tags/tag16.xml"/><Relationship Id="rId6" Type="http://schemas.openxmlformats.org/officeDocument/2006/relationships/oleObject" Target="../embeddings/oleObject5.bin"/><Relationship Id="rId11" Type="http://schemas.microsoft.com/office/2007/relationships/hdphoto" Target="../media/hdphoto2.wdp"/><Relationship Id="rId5" Type="http://schemas.openxmlformats.org/officeDocument/2006/relationships/notesSlide" Target="../notesSlides/notesSlide3.xml"/><Relationship Id="rId15" Type="http://schemas.openxmlformats.org/officeDocument/2006/relationships/image" Target="../media/image20.png"/><Relationship Id="rId10" Type="http://schemas.openxmlformats.org/officeDocument/2006/relationships/image" Target="../media/image16.png"/><Relationship Id="rId4" Type="http://schemas.openxmlformats.org/officeDocument/2006/relationships/slideLayout" Target="../slideLayouts/slideLayout4.xml"/><Relationship Id="rId9" Type="http://schemas.microsoft.com/office/2007/relationships/hdphoto" Target="../media/hdphoto1.wdp"/><Relationship Id="rId14" Type="http://schemas.openxmlformats.org/officeDocument/2006/relationships/image" Target="../media/image19.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3.emf"/><Relationship Id="rId4"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29.png"/><Relationship Id="rId3" Type="http://schemas.openxmlformats.org/officeDocument/2006/relationships/image" Target="../media/image3.emf"/><Relationship Id="rId7" Type="http://schemas.openxmlformats.org/officeDocument/2006/relationships/image" Target="../media/image25.png"/><Relationship Id="rId12" Type="http://schemas.openxmlformats.org/officeDocument/2006/relationships/image" Target="../media/image28.png"/><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image" Target="../media/image24.png"/><Relationship Id="rId11" Type="http://schemas.microsoft.com/office/2007/relationships/hdphoto" Target="../media/hdphoto4.wdp"/><Relationship Id="rId5" Type="http://schemas.openxmlformats.org/officeDocument/2006/relationships/image" Target="../media/image23.png"/><Relationship Id="rId10" Type="http://schemas.openxmlformats.org/officeDocument/2006/relationships/image" Target="../media/image27.png"/><Relationship Id="rId4" Type="http://schemas.openxmlformats.org/officeDocument/2006/relationships/image" Target="../media/image22.png"/><Relationship Id="rId9" Type="http://schemas.microsoft.com/office/2007/relationships/hdphoto" Target="../media/hdphoto3.wdp"/><Relationship Id="rId1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jpe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23.xml"/><Relationship Id="rId6" Type="http://schemas.openxmlformats.org/officeDocument/2006/relationships/image" Target="../media/image37.png"/><Relationship Id="rId5" Type="http://schemas.openxmlformats.org/officeDocument/2006/relationships/image" Target="../media/image3.emf"/><Relationship Id="rId4"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24.xml"/><Relationship Id="rId6" Type="http://schemas.openxmlformats.org/officeDocument/2006/relationships/image" Target="../media/image38.png"/><Relationship Id="rId5" Type="http://schemas.openxmlformats.org/officeDocument/2006/relationships/image" Target="../media/image3.emf"/><Relationship Id="rId4"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40.emf"/><Relationship Id="rId13" Type="http://schemas.openxmlformats.org/officeDocument/2006/relationships/image" Target="../media/image45.png"/><Relationship Id="rId18" Type="http://schemas.openxmlformats.org/officeDocument/2006/relationships/image" Target="../media/image50.png"/><Relationship Id="rId3" Type="http://schemas.openxmlformats.org/officeDocument/2006/relationships/tags" Target="../tags/tag28.xml"/><Relationship Id="rId7" Type="http://schemas.openxmlformats.org/officeDocument/2006/relationships/image" Target="../media/image14.emf"/><Relationship Id="rId12" Type="http://schemas.openxmlformats.org/officeDocument/2006/relationships/image" Target="../media/image44.png"/><Relationship Id="rId17" Type="http://schemas.openxmlformats.org/officeDocument/2006/relationships/image" Target="../media/image49.png"/><Relationship Id="rId2" Type="http://schemas.openxmlformats.org/officeDocument/2006/relationships/tags" Target="../tags/tag27.xml"/><Relationship Id="rId16" Type="http://schemas.openxmlformats.org/officeDocument/2006/relationships/image" Target="../media/image48.png"/><Relationship Id="rId1" Type="http://schemas.openxmlformats.org/officeDocument/2006/relationships/tags" Target="../tags/tag26.xml"/><Relationship Id="rId6" Type="http://schemas.openxmlformats.org/officeDocument/2006/relationships/oleObject" Target="../embeddings/oleObject5.bin"/><Relationship Id="rId11" Type="http://schemas.openxmlformats.org/officeDocument/2006/relationships/image" Target="../media/image43.png"/><Relationship Id="rId5" Type="http://schemas.openxmlformats.org/officeDocument/2006/relationships/notesSlide" Target="../notesSlides/notesSlide10.xml"/><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slideLayout" Target="../slideLayouts/slideLayout4.xml"/><Relationship Id="rId9" Type="http://schemas.openxmlformats.org/officeDocument/2006/relationships/image" Target="../media/image41.png"/><Relationship Id="rId14" Type="http://schemas.openxmlformats.org/officeDocument/2006/relationships/image" Target="../media/image46.png"/></Relationships>
</file>

<file path=ppt/slides/_rels/slide13.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svg"/><Relationship Id="rId3" Type="http://schemas.openxmlformats.org/officeDocument/2006/relationships/notesSlide" Target="../notesSlides/notesSlide11.xml"/><Relationship Id="rId7" Type="http://schemas.openxmlformats.org/officeDocument/2006/relationships/image" Target="../media/image52.svg"/><Relationship Id="rId12" Type="http://schemas.openxmlformats.org/officeDocument/2006/relationships/image" Target="../media/image57.png"/><Relationship Id="rId2" Type="http://schemas.openxmlformats.org/officeDocument/2006/relationships/slideLayout" Target="../slideLayouts/slideLayout7.xml"/><Relationship Id="rId1" Type="http://schemas.openxmlformats.org/officeDocument/2006/relationships/tags" Target="../tags/tag32.xml"/><Relationship Id="rId6" Type="http://schemas.openxmlformats.org/officeDocument/2006/relationships/image" Target="../media/image51.png"/><Relationship Id="rId11" Type="http://schemas.openxmlformats.org/officeDocument/2006/relationships/image" Target="../media/image56.svg"/><Relationship Id="rId5" Type="http://schemas.openxmlformats.org/officeDocument/2006/relationships/image" Target="../media/image3.emf"/><Relationship Id="rId10" Type="http://schemas.openxmlformats.org/officeDocument/2006/relationships/image" Target="../media/image55.png"/><Relationship Id="rId4" Type="http://schemas.openxmlformats.org/officeDocument/2006/relationships/oleObject" Target="../embeddings/oleObject8.bin"/><Relationship Id="rId9" Type="http://schemas.openxmlformats.org/officeDocument/2006/relationships/image" Target="../media/image54.svg"/></Relationships>
</file>

<file path=ppt/slides/_rels/slide14.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oleObject" Target="../embeddings/oleObject8.bin"/><Relationship Id="rId18" Type="http://schemas.openxmlformats.org/officeDocument/2006/relationships/image" Target="../media/image62.svg"/><Relationship Id="rId26" Type="http://schemas.openxmlformats.org/officeDocument/2006/relationships/image" Target="../media/image70.svg"/><Relationship Id="rId3" Type="http://schemas.openxmlformats.org/officeDocument/2006/relationships/tags" Target="../tags/tag35.xml"/><Relationship Id="rId21" Type="http://schemas.openxmlformats.org/officeDocument/2006/relationships/image" Target="../media/image65.png"/><Relationship Id="rId7" Type="http://schemas.openxmlformats.org/officeDocument/2006/relationships/tags" Target="../tags/tag39.xml"/><Relationship Id="rId12" Type="http://schemas.openxmlformats.org/officeDocument/2006/relationships/notesSlide" Target="../notesSlides/notesSlide12.xml"/><Relationship Id="rId17" Type="http://schemas.openxmlformats.org/officeDocument/2006/relationships/image" Target="../media/image61.png"/><Relationship Id="rId25" Type="http://schemas.openxmlformats.org/officeDocument/2006/relationships/image" Target="../media/image69.png"/><Relationship Id="rId2" Type="http://schemas.openxmlformats.org/officeDocument/2006/relationships/tags" Target="../tags/tag34.xml"/><Relationship Id="rId16" Type="http://schemas.openxmlformats.org/officeDocument/2006/relationships/image" Target="../media/image60.svg"/><Relationship Id="rId20" Type="http://schemas.openxmlformats.org/officeDocument/2006/relationships/image" Target="../media/image64.svg"/><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slideLayout" Target="../slideLayouts/slideLayout7.xml"/><Relationship Id="rId24" Type="http://schemas.openxmlformats.org/officeDocument/2006/relationships/image" Target="../media/image68.svg"/><Relationship Id="rId5" Type="http://schemas.openxmlformats.org/officeDocument/2006/relationships/tags" Target="../tags/tag37.xml"/><Relationship Id="rId15" Type="http://schemas.openxmlformats.org/officeDocument/2006/relationships/image" Target="../media/image59.png"/><Relationship Id="rId23" Type="http://schemas.openxmlformats.org/officeDocument/2006/relationships/image" Target="../media/image67.png"/><Relationship Id="rId28" Type="http://schemas.openxmlformats.org/officeDocument/2006/relationships/image" Target="../media/image72.svg"/><Relationship Id="rId10" Type="http://schemas.openxmlformats.org/officeDocument/2006/relationships/tags" Target="../tags/tag42.xml"/><Relationship Id="rId19" Type="http://schemas.openxmlformats.org/officeDocument/2006/relationships/image" Target="../media/image63.png"/><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image" Target="../media/image3.emf"/><Relationship Id="rId22" Type="http://schemas.openxmlformats.org/officeDocument/2006/relationships/image" Target="../media/image66.svg"/><Relationship Id="rId27" Type="http://schemas.openxmlformats.org/officeDocument/2006/relationships/image" Target="../media/image71.png"/></Relationships>
</file>

<file path=ppt/slides/_rels/slide1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image" Target="../media/image14.emf"/><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oleObject" Target="../embeddings/oleObject5.bin"/><Relationship Id="rId5" Type="http://schemas.openxmlformats.org/officeDocument/2006/relationships/notesSlide" Target="../notesSlides/notesSlide15.xml"/><Relationship Id="rId4"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74.emf"/><Relationship Id="rId3" Type="http://schemas.openxmlformats.org/officeDocument/2006/relationships/tags" Target="../tags/tag51.xml"/><Relationship Id="rId7" Type="http://schemas.openxmlformats.org/officeDocument/2006/relationships/image" Target="../media/image14.emf"/><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oleObject" Target="../embeddings/oleObject5.bin"/><Relationship Id="rId11" Type="http://schemas.openxmlformats.org/officeDocument/2006/relationships/image" Target="../media/image77.png"/><Relationship Id="rId5" Type="http://schemas.openxmlformats.org/officeDocument/2006/relationships/notesSlide" Target="../notesSlides/notesSlide16.xml"/><Relationship Id="rId10" Type="http://schemas.openxmlformats.org/officeDocument/2006/relationships/image" Target="../media/image76.png"/><Relationship Id="rId4" Type="http://schemas.openxmlformats.org/officeDocument/2006/relationships/slideLayout" Target="../slideLayouts/slideLayout4.xml"/><Relationship Id="rId9" Type="http://schemas.openxmlformats.org/officeDocument/2006/relationships/image" Target="../media/image75.png"/></Relationships>
</file>

<file path=ppt/slides/_rels/slide19.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3" Type="http://schemas.openxmlformats.org/officeDocument/2006/relationships/notesSlide" Target="../notesSlides/notesSlide17.xml"/><Relationship Id="rId7" Type="http://schemas.openxmlformats.org/officeDocument/2006/relationships/image" Target="../media/image79.png"/><Relationship Id="rId12" Type="http://schemas.openxmlformats.org/officeDocument/2006/relationships/image" Target="../media/image84.png"/><Relationship Id="rId2" Type="http://schemas.openxmlformats.org/officeDocument/2006/relationships/slideLayout" Target="../slideLayouts/slideLayout2.xml"/><Relationship Id="rId1" Type="http://schemas.openxmlformats.org/officeDocument/2006/relationships/tags" Target="../tags/tag55.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3.emf"/><Relationship Id="rId10" Type="http://schemas.openxmlformats.org/officeDocument/2006/relationships/image" Target="../media/image82.png"/><Relationship Id="rId4" Type="http://schemas.openxmlformats.org/officeDocument/2006/relationships/oleObject" Target="../embeddings/oleObject10.bin"/><Relationship Id="rId9" Type="http://schemas.openxmlformats.org/officeDocument/2006/relationships/image" Target="../media/image81.png"/><Relationship Id="rId14" Type="http://schemas.openxmlformats.org/officeDocument/2006/relationships/image" Target="../media/image86.pn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89.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Fastweb - History and Innovation">
            <a:extLst>
              <a:ext uri="{FF2B5EF4-FFF2-40B4-BE49-F238E27FC236}">
                <a16:creationId xmlns:a16="http://schemas.microsoft.com/office/drawing/2014/main" id="{CCDF93DA-3C20-DC3A-C8B9-D6A1F9D9D5D8}"/>
              </a:ext>
            </a:extLst>
          </p:cNvPr>
          <p:cNvPicPr>
            <a:picLocks noGrp="1" noChangeAspect="1" noChangeArrowheads="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Titel 7">
            <a:extLst>
              <a:ext uri="{FF2B5EF4-FFF2-40B4-BE49-F238E27FC236}">
                <a16:creationId xmlns:a16="http://schemas.microsoft.com/office/drawing/2014/main" id="{D89276F0-8D31-4CEF-A6D0-F1BAB651D07A}"/>
              </a:ext>
            </a:extLst>
          </p:cNvPr>
          <p:cNvSpPr>
            <a:spLocks noGrp="1"/>
          </p:cNvSpPr>
          <p:nvPr>
            <p:ph type="ctrTitle"/>
          </p:nvPr>
        </p:nvSpPr>
        <p:spPr>
          <a:xfrm>
            <a:off x="1199456" y="333375"/>
            <a:ext cx="10424854" cy="3239002"/>
          </a:xfrm>
        </p:spPr>
        <p:txBody>
          <a:bodyPr/>
          <a:lstStyle/>
          <a:p>
            <a:r>
              <a:rPr lang="de-DE" sz="5400" dirty="0" err="1"/>
              <a:t>Pre</a:t>
            </a:r>
            <a:r>
              <a:rPr lang="de-DE" sz="5400" dirty="0"/>
              <a:t>-PMI IT Work Stream</a:t>
            </a:r>
            <a:br>
              <a:rPr lang="de-DE" sz="5400" dirty="0"/>
            </a:br>
            <a:r>
              <a:rPr lang="de-DE" sz="5400" dirty="0" err="1"/>
              <a:t>Capgemini‘s</a:t>
            </a:r>
            <a:r>
              <a:rPr lang="de-DE" sz="5400" dirty="0"/>
              <a:t> RFS Response</a:t>
            </a:r>
          </a:p>
        </p:txBody>
      </p:sp>
      <p:sp>
        <p:nvSpPr>
          <p:cNvPr id="4" name="Rectangle: Rounded Corners 3">
            <a:extLst>
              <a:ext uri="{FF2B5EF4-FFF2-40B4-BE49-F238E27FC236}">
                <a16:creationId xmlns:a16="http://schemas.microsoft.com/office/drawing/2014/main" id="{E131D5C8-2C32-E4D0-07AC-BA7850C30F6F}"/>
              </a:ext>
            </a:extLst>
          </p:cNvPr>
          <p:cNvSpPr/>
          <p:nvPr/>
        </p:nvSpPr>
        <p:spPr bwMode="gray">
          <a:xfrm>
            <a:off x="8586869" y="200762"/>
            <a:ext cx="3258817" cy="932677"/>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dirty="0">
              <a:solidFill>
                <a:schemeClr val="tx1"/>
              </a:solidFill>
            </a:endParaRPr>
          </a:p>
        </p:txBody>
      </p:sp>
      <p:pic>
        <p:nvPicPr>
          <p:cNvPr id="3" name="Image 6" descr="Capgemini">
            <a:extLst>
              <a:ext uri="{FF2B5EF4-FFF2-40B4-BE49-F238E27FC236}">
                <a16:creationId xmlns:a16="http://schemas.microsoft.com/office/drawing/2014/main" id="{C9CC8091-708B-906B-2250-9F7078303E5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208386" y="-69727"/>
            <a:ext cx="4015781" cy="1628326"/>
          </a:xfrm>
          <a:prstGeom prst="rect">
            <a:avLst/>
          </a:prstGeom>
        </p:spPr>
      </p:pic>
    </p:spTree>
    <p:extLst>
      <p:ext uri="{BB962C8B-B14F-4D97-AF65-F5344CB8AC3E}">
        <p14:creationId xmlns:p14="http://schemas.microsoft.com/office/powerpoint/2010/main" val="293519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BF40C-5E73-0249-576C-16A20D8C5D7F}"/>
              </a:ext>
            </a:extLst>
          </p:cNvPr>
          <p:cNvSpPr>
            <a:spLocks noGrp="1"/>
          </p:cNvSpPr>
          <p:nvPr>
            <p:ph type="title"/>
          </p:nvPr>
        </p:nvSpPr>
        <p:spPr>
          <a:xfrm>
            <a:off x="1383313" y="337494"/>
            <a:ext cx="10039893" cy="720000"/>
          </a:xfrm>
        </p:spPr>
        <p:txBody>
          <a:bodyPr/>
          <a:lstStyle/>
          <a:p>
            <a:r>
              <a:rPr lang="en-US" dirty="0"/>
              <a:t>OUR FOCUS IS ON DAY 1 PREPARATION, SECURING BUSINESS CONTINUITY, PLANNING SYNERGY TARGETS AND DETAILLING FIRST “100 DAYS” </a:t>
            </a:r>
            <a:endParaRPr lang="en-GB" dirty="0"/>
          </a:p>
        </p:txBody>
      </p:sp>
      <p:sp>
        <p:nvSpPr>
          <p:cNvPr id="3" name="Freeform: Shape 3">
            <a:extLst>
              <a:ext uri="{FF2B5EF4-FFF2-40B4-BE49-F238E27FC236}">
                <a16:creationId xmlns:a16="http://schemas.microsoft.com/office/drawing/2014/main" id="{FA1C712F-8268-1943-4B66-8B77EB007E83}"/>
              </a:ext>
            </a:extLst>
          </p:cNvPr>
          <p:cNvSpPr/>
          <p:nvPr/>
        </p:nvSpPr>
        <p:spPr>
          <a:xfrm>
            <a:off x="9048680" y="1911908"/>
            <a:ext cx="3131656" cy="2094527"/>
          </a:xfrm>
          <a:custGeom>
            <a:avLst/>
            <a:gdLst>
              <a:gd name="connsiteX0" fmla="*/ 3174751 w 3174751"/>
              <a:gd name="connsiteY0" fmla="*/ 1064453 h 1757774"/>
              <a:gd name="connsiteX1" fmla="*/ 3174751 w 3174751"/>
              <a:gd name="connsiteY1" fmla="*/ 693321 h 1757774"/>
              <a:gd name="connsiteX2" fmla="*/ 3174751 w 3174751"/>
              <a:gd name="connsiteY2" fmla="*/ 0 h 1757774"/>
              <a:gd name="connsiteX3" fmla="*/ 0 w 3174751"/>
              <a:gd name="connsiteY3" fmla="*/ 0 h 1757774"/>
              <a:gd name="connsiteX4" fmla="*/ 0 w 3174751"/>
              <a:gd name="connsiteY4" fmla="*/ 1757774 h 1757774"/>
              <a:gd name="connsiteX5" fmla="*/ 3174751 w 3174751"/>
              <a:gd name="connsiteY5" fmla="*/ 1757774 h 1757774"/>
              <a:gd name="connsiteX6" fmla="*/ 3174751 w 3174751"/>
              <a:gd name="connsiteY6" fmla="*/ 1064453 h 1757774"/>
              <a:gd name="connsiteX0" fmla="*/ 3174751 w 3174751"/>
              <a:gd name="connsiteY0" fmla="*/ 1064453 h 1757774"/>
              <a:gd name="connsiteX1" fmla="*/ 3174751 w 3174751"/>
              <a:gd name="connsiteY1" fmla="*/ 0 h 1757774"/>
              <a:gd name="connsiteX2" fmla="*/ 0 w 3174751"/>
              <a:gd name="connsiteY2" fmla="*/ 0 h 1757774"/>
              <a:gd name="connsiteX3" fmla="*/ 0 w 3174751"/>
              <a:gd name="connsiteY3" fmla="*/ 1757774 h 1757774"/>
              <a:gd name="connsiteX4" fmla="*/ 3174751 w 3174751"/>
              <a:gd name="connsiteY4" fmla="*/ 1757774 h 1757774"/>
              <a:gd name="connsiteX5" fmla="*/ 3174751 w 3174751"/>
              <a:gd name="connsiteY5" fmla="*/ 1064453 h 1757774"/>
              <a:gd name="connsiteX0" fmla="*/ 3174751 w 3174751"/>
              <a:gd name="connsiteY0" fmla="*/ 1757774 h 1757774"/>
              <a:gd name="connsiteX1" fmla="*/ 3174751 w 3174751"/>
              <a:gd name="connsiteY1" fmla="*/ 0 h 1757774"/>
              <a:gd name="connsiteX2" fmla="*/ 0 w 3174751"/>
              <a:gd name="connsiteY2" fmla="*/ 0 h 1757774"/>
              <a:gd name="connsiteX3" fmla="*/ 0 w 3174751"/>
              <a:gd name="connsiteY3" fmla="*/ 1757774 h 1757774"/>
              <a:gd name="connsiteX4" fmla="*/ 3174751 w 3174751"/>
              <a:gd name="connsiteY4" fmla="*/ 1757774 h 1757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4751" h="1757774">
                <a:moveTo>
                  <a:pt x="3174751" y="1757774"/>
                </a:moveTo>
                <a:lnTo>
                  <a:pt x="3174751" y="0"/>
                </a:lnTo>
                <a:lnTo>
                  <a:pt x="0" y="0"/>
                </a:lnTo>
                <a:lnTo>
                  <a:pt x="0" y="1757774"/>
                </a:lnTo>
                <a:lnTo>
                  <a:pt x="3174751" y="1757774"/>
                </a:lnTo>
                <a:close/>
              </a:path>
            </a:pathLst>
          </a:custGeom>
          <a:solidFill>
            <a:schemeClr val="accent2">
              <a:lumMod val="60000"/>
              <a:lumOff val="40000"/>
            </a:schemeClr>
          </a:solidFill>
          <a:ln w="13221" cap="flat">
            <a:solidFill>
              <a:schemeClr val="bg1">
                <a:lumMod val="95000"/>
              </a:schemeClr>
            </a:solidFill>
            <a:prstDash val="solid"/>
            <a:miter/>
          </a:ln>
        </p:spPr>
        <p:txBody>
          <a:bodyPr/>
          <a:lstStyle/>
          <a:p>
            <a:endParaRPr lang="en-US"/>
          </a:p>
        </p:txBody>
      </p:sp>
      <p:pic>
        <p:nvPicPr>
          <p:cNvPr id="4" name="Graphic 3">
            <a:extLst>
              <a:ext uri="{FF2B5EF4-FFF2-40B4-BE49-F238E27FC236}">
                <a16:creationId xmlns:a16="http://schemas.microsoft.com/office/drawing/2014/main" id="{8543BE1D-D628-2DCC-ED45-A650A6CC6B61}"/>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6036342" y="1911908"/>
            <a:ext cx="3168000" cy="2094527"/>
          </a:xfrm>
          <a:prstGeom prst="rect">
            <a:avLst/>
          </a:prstGeom>
        </p:spPr>
      </p:pic>
      <p:pic>
        <p:nvPicPr>
          <p:cNvPr id="5" name="Graphic 4">
            <a:extLst>
              <a:ext uri="{FF2B5EF4-FFF2-40B4-BE49-F238E27FC236}">
                <a16:creationId xmlns:a16="http://schemas.microsoft.com/office/drawing/2014/main" id="{453567DA-0E3B-1CAC-6BC4-76325FC5DB56}"/>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3024003" y="1900333"/>
            <a:ext cx="3168000" cy="2105384"/>
          </a:xfrm>
          <a:prstGeom prst="rect">
            <a:avLst/>
          </a:prstGeom>
        </p:spPr>
      </p:pic>
      <p:pic>
        <p:nvPicPr>
          <p:cNvPr id="6" name="Graphic 5">
            <a:extLst>
              <a:ext uri="{FF2B5EF4-FFF2-40B4-BE49-F238E27FC236}">
                <a16:creationId xmlns:a16="http://schemas.microsoft.com/office/drawing/2014/main" id="{ABF4357E-24B0-D088-BFC7-920018FC9DCB}"/>
              </a:ext>
            </a:extLst>
          </p:cNvPr>
          <p:cNvPicPr>
            <a:picLocks/>
          </p:cNvPicPr>
          <p:nvPr/>
        </p:nvPicPr>
        <p:blipFill>
          <a:blip r:embed="rId13">
            <a:extLst>
              <a:ext uri="{96DAC541-7B7A-43D3-8B79-37D633B846F1}">
                <asvg:svgBlip xmlns:asvg="http://schemas.microsoft.com/office/drawing/2016/SVG/main" r:embed="rId14"/>
              </a:ext>
            </a:extLst>
          </a:blip>
          <a:stretch>
            <a:fillRect/>
          </a:stretch>
        </p:blipFill>
        <p:spPr>
          <a:xfrm>
            <a:off x="11664" y="1911190"/>
            <a:ext cx="3131656" cy="2094527"/>
          </a:xfrm>
          <a:prstGeom prst="rect">
            <a:avLst/>
          </a:prstGeom>
        </p:spPr>
      </p:pic>
      <p:sp>
        <p:nvSpPr>
          <p:cNvPr id="18" name="TextBox 17">
            <a:extLst>
              <a:ext uri="{FF2B5EF4-FFF2-40B4-BE49-F238E27FC236}">
                <a16:creationId xmlns:a16="http://schemas.microsoft.com/office/drawing/2014/main" id="{396E85CF-CC9D-317B-67C0-914D5E8B8BAD}"/>
              </a:ext>
            </a:extLst>
          </p:cNvPr>
          <p:cNvSpPr txBox="1"/>
          <p:nvPr/>
        </p:nvSpPr>
        <p:spPr>
          <a:xfrm>
            <a:off x="3359696" y="2600495"/>
            <a:ext cx="2544628" cy="1354217"/>
          </a:xfrm>
          <a:prstGeom prst="rect">
            <a:avLst/>
          </a:prstGeom>
          <a:noFill/>
        </p:spPr>
        <p:txBody>
          <a:bodyPr wrap="square" lIns="29250" rIns="29250" rtlCol="0">
            <a:spAutoFit/>
          </a:bodyPr>
          <a:lstStyle/>
          <a:p>
            <a:pPr marL="0" lvl="1">
              <a:defRPr/>
            </a:pPr>
            <a:r>
              <a:rPr lang="en-US" sz="1100" kern="0" cap="all" dirty="0">
                <a:solidFill>
                  <a:schemeClr val="bg1"/>
                </a:solidFill>
                <a:latin typeface="Verdana" panose="020B0604030504040204" pitchFamily="34" charset="0"/>
                <a:cs typeface="Calibri"/>
                <a:sym typeface="Calibri"/>
              </a:rPr>
              <a:t>Integration Preparation</a:t>
            </a:r>
          </a:p>
          <a:p>
            <a:pPr marL="0" lvl="1">
              <a:defRPr/>
            </a:pPr>
            <a:endParaRPr lang="en-US" sz="1100" kern="0" cap="all" dirty="0">
              <a:solidFill>
                <a:schemeClr val="bg1"/>
              </a:solidFill>
              <a:latin typeface="Verdana" panose="020B0604030504040204" pitchFamily="34" charset="0"/>
              <a:cs typeface="Calibri"/>
              <a:sym typeface="Calibri"/>
            </a:endParaRPr>
          </a:p>
          <a:p>
            <a:pPr marL="268288" lvl="1" indent="-268288">
              <a:buFont typeface="Wingdings" panose="05000000000000000000" pitchFamily="2" charset="2"/>
              <a:buChar char="§"/>
              <a:defRPr/>
            </a:pPr>
            <a:r>
              <a:rPr lang="en-US" sz="1000" dirty="0">
                <a:solidFill>
                  <a:schemeClr val="bg1"/>
                </a:solidFill>
                <a:latin typeface="Verdana" panose="020B0604030504040204" pitchFamily="34" charset="0"/>
              </a:rPr>
              <a:t>Plan to secure business continuity</a:t>
            </a:r>
          </a:p>
          <a:p>
            <a:pPr marL="268288" lvl="1" indent="-268288">
              <a:buFont typeface="Wingdings" panose="05000000000000000000" pitchFamily="2" charset="2"/>
              <a:buChar char="§"/>
              <a:defRPr/>
            </a:pPr>
            <a:r>
              <a:rPr lang="en-US" sz="1000" dirty="0">
                <a:solidFill>
                  <a:schemeClr val="bg1"/>
                </a:solidFill>
                <a:latin typeface="Verdana" panose="020B0604030504040204" pitchFamily="34" charset="0"/>
              </a:rPr>
              <a:t>Design convergence plan (Applications, Infrastructure and IT Operating Model)</a:t>
            </a:r>
          </a:p>
          <a:p>
            <a:pPr marL="268288" lvl="1" indent="-268288">
              <a:buFont typeface="Wingdings" panose="05000000000000000000" pitchFamily="2" charset="2"/>
              <a:buChar char="§"/>
              <a:defRPr/>
            </a:pPr>
            <a:r>
              <a:rPr lang="en-US" sz="1000" dirty="0">
                <a:solidFill>
                  <a:schemeClr val="bg1"/>
                </a:solidFill>
                <a:latin typeface="Verdana" panose="020B0604030504040204" pitchFamily="34" charset="0"/>
              </a:rPr>
              <a:t>Refine synergy targets and TSA</a:t>
            </a:r>
          </a:p>
          <a:p>
            <a:pPr marL="268288" lvl="1" indent="-268288">
              <a:buFont typeface="Wingdings" panose="05000000000000000000" pitchFamily="2" charset="2"/>
              <a:buChar char="§"/>
              <a:defRPr/>
            </a:pPr>
            <a:r>
              <a:rPr lang="en-US" sz="1000" dirty="0">
                <a:solidFill>
                  <a:schemeClr val="bg1"/>
                </a:solidFill>
                <a:latin typeface="Verdana" panose="020B0604030504040204" pitchFamily="34" charset="0"/>
              </a:rPr>
              <a:t>Detailed plan First « 100 days »</a:t>
            </a:r>
          </a:p>
        </p:txBody>
      </p:sp>
      <p:sp>
        <p:nvSpPr>
          <p:cNvPr id="19" name="TextBox 18">
            <a:extLst>
              <a:ext uri="{FF2B5EF4-FFF2-40B4-BE49-F238E27FC236}">
                <a16:creationId xmlns:a16="http://schemas.microsoft.com/office/drawing/2014/main" id="{BB976A53-F932-B2F3-C7CE-ED1457E72745}"/>
              </a:ext>
            </a:extLst>
          </p:cNvPr>
          <p:cNvSpPr txBox="1"/>
          <p:nvPr/>
        </p:nvSpPr>
        <p:spPr>
          <a:xfrm>
            <a:off x="6350185" y="2600495"/>
            <a:ext cx="2482119" cy="1184940"/>
          </a:xfrm>
          <a:prstGeom prst="rect">
            <a:avLst/>
          </a:prstGeom>
          <a:noFill/>
        </p:spPr>
        <p:txBody>
          <a:bodyPr wrap="square" lIns="29250" rIns="29250" rtlCol="0">
            <a:spAutoFit/>
          </a:bodyPr>
          <a:lstStyle/>
          <a:p>
            <a:pPr marL="0" lvl="1">
              <a:defRPr/>
            </a:pPr>
            <a:r>
              <a:rPr lang="en-US" sz="1100" kern="0" cap="all">
                <a:solidFill>
                  <a:schemeClr val="bg1">
                    <a:lumMod val="50000"/>
                  </a:schemeClr>
                </a:solidFill>
                <a:latin typeface="Verdana" panose="020B0604030504040204" pitchFamily="34" charset="0"/>
                <a:cs typeface="Calibri"/>
                <a:sym typeface="Calibri"/>
              </a:rPr>
              <a:t>Convergence planning</a:t>
            </a:r>
          </a:p>
          <a:p>
            <a:pPr marL="0" lvl="1">
              <a:defRPr/>
            </a:pPr>
            <a:endParaRPr lang="en-US" sz="1000" b="1">
              <a:solidFill>
                <a:schemeClr val="bg1">
                  <a:lumMod val="50000"/>
                </a:schemeClr>
              </a:solidFill>
              <a:latin typeface="Verdana" panose="020B0604030504040204" pitchFamily="34" charset="0"/>
            </a:endParaRPr>
          </a:p>
          <a:p>
            <a:pPr marL="268288" lvl="1" indent="-268288">
              <a:buFont typeface="Wingdings" panose="05000000000000000000" pitchFamily="2" charset="2"/>
              <a:buChar char="§"/>
              <a:defRPr/>
            </a:pPr>
            <a:r>
              <a:rPr lang="en-US" sz="1000">
                <a:solidFill>
                  <a:schemeClr val="bg1">
                    <a:lumMod val="50000"/>
                  </a:schemeClr>
                </a:solidFill>
                <a:latin typeface="Verdana" panose="020B0604030504040204" pitchFamily="34" charset="0"/>
              </a:rPr>
              <a:t>Stabilize business continuity</a:t>
            </a:r>
          </a:p>
          <a:p>
            <a:pPr marL="268288" lvl="1" indent="-268288">
              <a:buFont typeface="Wingdings" panose="05000000000000000000" pitchFamily="2" charset="2"/>
              <a:buChar char="§"/>
              <a:defRPr/>
            </a:pPr>
            <a:r>
              <a:rPr lang="en-US" sz="1000">
                <a:solidFill>
                  <a:schemeClr val="bg1">
                    <a:lumMod val="50000"/>
                  </a:schemeClr>
                </a:solidFill>
                <a:latin typeface="Verdana" panose="020B0604030504040204" pitchFamily="34" charset="0"/>
              </a:rPr>
              <a:t>Deliver &amp; track synergies </a:t>
            </a:r>
            <a:br>
              <a:rPr lang="en-US" sz="1000">
                <a:solidFill>
                  <a:schemeClr val="bg1">
                    <a:lumMod val="50000"/>
                  </a:schemeClr>
                </a:solidFill>
                <a:latin typeface="Verdana" panose="020B0604030504040204" pitchFamily="34" charset="0"/>
              </a:rPr>
            </a:br>
            <a:r>
              <a:rPr lang="en-US" sz="1000">
                <a:solidFill>
                  <a:schemeClr val="bg1">
                    <a:lumMod val="50000"/>
                  </a:schemeClr>
                </a:solidFill>
                <a:latin typeface="Verdana" panose="020B0604030504040204" pitchFamily="34" charset="0"/>
              </a:rPr>
              <a:t>quick wins</a:t>
            </a:r>
          </a:p>
          <a:p>
            <a:pPr marL="268288" lvl="1" indent="-268288">
              <a:buFont typeface="Wingdings" panose="05000000000000000000" pitchFamily="2" charset="2"/>
              <a:buChar char="§"/>
              <a:defRPr/>
            </a:pPr>
            <a:r>
              <a:rPr lang="en-US" sz="1000">
                <a:solidFill>
                  <a:schemeClr val="bg1">
                    <a:lumMod val="50000"/>
                  </a:schemeClr>
                </a:solidFill>
                <a:latin typeface="Verdana" panose="020B0604030504040204" pitchFamily="34" charset="0"/>
              </a:rPr>
              <a:t>Monitor &amp; track TSA</a:t>
            </a:r>
          </a:p>
          <a:p>
            <a:pPr marL="268288" lvl="1" indent="-268288">
              <a:buFont typeface="Wingdings" panose="05000000000000000000" pitchFamily="2" charset="2"/>
              <a:buChar char="§"/>
              <a:defRPr/>
            </a:pPr>
            <a:r>
              <a:rPr lang="en-US" sz="1000">
                <a:solidFill>
                  <a:schemeClr val="bg1">
                    <a:lumMod val="50000"/>
                  </a:schemeClr>
                </a:solidFill>
                <a:latin typeface="Verdana" panose="020B0604030504040204" pitchFamily="34" charset="0"/>
              </a:rPr>
              <a:t>Consolidate convergence plan</a:t>
            </a:r>
          </a:p>
        </p:txBody>
      </p:sp>
      <p:sp>
        <p:nvSpPr>
          <p:cNvPr id="20" name="TextBox 19">
            <a:extLst>
              <a:ext uri="{FF2B5EF4-FFF2-40B4-BE49-F238E27FC236}">
                <a16:creationId xmlns:a16="http://schemas.microsoft.com/office/drawing/2014/main" id="{E0BC2104-65AF-09F2-63C3-152D6A21C61A}"/>
              </a:ext>
            </a:extLst>
          </p:cNvPr>
          <p:cNvSpPr txBox="1"/>
          <p:nvPr/>
        </p:nvSpPr>
        <p:spPr>
          <a:xfrm>
            <a:off x="9336360" y="2600495"/>
            <a:ext cx="2498605" cy="877163"/>
          </a:xfrm>
          <a:prstGeom prst="rect">
            <a:avLst/>
          </a:prstGeom>
          <a:noFill/>
        </p:spPr>
        <p:txBody>
          <a:bodyPr wrap="square" lIns="29250" rIns="29250" rtlCol="0">
            <a:spAutoFit/>
          </a:bodyPr>
          <a:lstStyle/>
          <a:p>
            <a:pPr marL="0" lvl="1">
              <a:defRPr/>
            </a:pPr>
            <a:r>
              <a:rPr lang="en-US" sz="1100" kern="0" cap="all">
                <a:solidFill>
                  <a:schemeClr val="bg1">
                    <a:lumMod val="50000"/>
                  </a:schemeClr>
                </a:solidFill>
                <a:latin typeface="Verdana" panose="020B0604030504040204" pitchFamily="34" charset="0"/>
                <a:cs typeface="Calibri"/>
                <a:sym typeface="Calibri"/>
              </a:rPr>
              <a:t>Convergence Implementation</a:t>
            </a:r>
          </a:p>
          <a:p>
            <a:pPr marL="0" lvl="1">
              <a:defRPr/>
            </a:pPr>
            <a:endParaRPr lang="en-US" sz="1000" b="1">
              <a:solidFill>
                <a:schemeClr val="bg1">
                  <a:lumMod val="50000"/>
                </a:schemeClr>
              </a:solidFill>
              <a:latin typeface="Verdana" panose="020B0604030504040204" pitchFamily="34" charset="0"/>
            </a:endParaRPr>
          </a:p>
          <a:p>
            <a:pPr marL="268288" lvl="1" indent="-268288">
              <a:buFont typeface="Wingdings" panose="05000000000000000000" pitchFamily="2" charset="2"/>
              <a:buChar char="§"/>
              <a:defRPr/>
            </a:pPr>
            <a:r>
              <a:rPr lang="en-US" sz="1000">
                <a:solidFill>
                  <a:schemeClr val="bg1">
                    <a:lumMod val="50000"/>
                  </a:schemeClr>
                </a:solidFill>
                <a:latin typeface="Verdana" panose="020B0604030504040204" pitchFamily="34" charset="0"/>
              </a:rPr>
              <a:t>Implement convergence plan</a:t>
            </a:r>
          </a:p>
          <a:p>
            <a:pPr marL="268288" lvl="1" indent="-268288">
              <a:buFont typeface="Wingdings" panose="05000000000000000000" pitchFamily="2" charset="2"/>
              <a:buChar char="§"/>
              <a:defRPr/>
            </a:pPr>
            <a:r>
              <a:rPr lang="en-US" sz="1000">
                <a:solidFill>
                  <a:schemeClr val="bg1">
                    <a:lumMod val="50000"/>
                  </a:schemeClr>
                </a:solidFill>
                <a:latin typeface="Verdana" panose="020B0604030504040204" pitchFamily="34" charset="0"/>
              </a:rPr>
              <a:t>Build One Company</a:t>
            </a:r>
          </a:p>
          <a:p>
            <a:pPr marL="268288" lvl="1" indent="-268288">
              <a:buFont typeface="Wingdings" panose="05000000000000000000" pitchFamily="2" charset="2"/>
              <a:buChar char="§"/>
              <a:defRPr/>
            </a:pPr>
            <a:r>
              <a:rPr lang="en-US" sz="1000">
                <a:solidFill>
                  <a:schemeClr val="bg1">
                    <a:lumMod val="50000"/>
                  </a:schemeClr>
                </a:solidFill>
                <a:latin typeface="Verdana" panose="020B0604030504040204" pitchFamily="34" charset="0"/>
              </a:rPr>
              <a:t>Maximise merger’s benefits</a:t>
            </a:r>
          </a:p>
        </p:txBody>
      </p:sp>
      <p:sp>
        <p:nvSpPr>
          <p:cNvPr id="21" name="Rectangle 20">
            <a:extLst>
              <a:ext uri="{FF2B5EF4-FFF2-40B4-BE49-F238E27FC236}">
                <a16:creationId xmlns:a16="http://schemas.microsoft.com/office/drawing/2014/main" id="{B90A74FC-3761-FDBE-EF14-5D0F6CFA0FA8}"/>
              </a:ext>
            </a:extLst>
          </p:cNvPr>
          <p:cNvSpPr>
            <a:spLocks noChangeArrowheads="1"/>
          </p:cNvSpPr>
          <p:nvPr>
            <p:custDataLst>
              <p:tags r:id="rId1"/>
            </p:custDataLst>
          </p:nvPr>
        </p:nvSpPr>
        <p:spPr bwMode="auto">
          <a:xfrm>
            <a:off x="47328" y="1282539"/>
            <a:ext cx="1368152" cy="276139"/>
          </a:xfrm>
          <a:prstGeom prst="rect">
            <a:avLst/>
          </a:prstGeom>
          <a:noFill/>
          <a:ln w="9525">
            <a:noFill/>
            <a:miter lim="800000"/>
            <a:headEnd/>
            <a:tailEnd/>
          </a:ln>
          <a:effectLst/>
        </p:spPr>
        <p:txBody>
          <a:bodyPr lIns="29250" tIns="29250" rIns="29250" bIns="29250" anchor="ctr"/>
          <a:lstStyle/>
          <a:p>
            <a:pPr defTabSz="742950" eaLnBrk="0" fontAlgn="base" hangingPunct="0">
              <a:lnSpc>
                <a:spcPct val="90000"/>
              </a:lnSpc>
              <a:spcBef>
                <a:spcPct val="0"/>
              </a:spcBef>
              <a:spcAft>
                <a:spcPct val="0"/>
              </a:spcAft>
              <a:tabLst>
                <a:tab pos="5252244" algn="r"/>
              </a:tabLst>
              <a:defRPr/>
            </a:pPr>
            <a:r>
              <a:rPr lang="en-US" sz="1050" cap="all">
                <a:solidFill>
                  <a:schemeClr val="bg1">
                    <a:lumMod val="50000"/>
                  </a:schemeClr>
                </a:solidFill>
                <a:latin typeface="+mj-lt"/>
                <a:cs typeface="Calibri"/>
                <a:sym typeface="Calibri"/>
              </a:rPr>
              <a:t>Letter </a:t>
            </a:r>
            <a:br>
              <a:rPr lang="en-US" sz="1050" cap="all">
                <a:solidFill>
                  <a:schemeClr val="bg1">
                    <a:lumMod val="50000"/>
                  </a:schemeClr>
                </a:solidFill>
                <a:latin typeface="+mj-lt"/>
                <a:cs typeface="Calibri"/>
                <a:sym typeface="Calibri"/>
              </a:rPr>
            </a:br>
            <a:r>
              <a:rPr lang="en-US" sz="1050" cap="all">
                <a:solidFill>
                  <a:schemeClr val="bg1">
                    <a:lumMod val="50000"/>
                  </a:schemeClr>
                </a:solidFill>
                <a:latin typeface="+mj-lt"/>
                <a:cs typeface="Calibri"/>
                <a:sym typeface="Calibri"/>
              </a:rPr>
              <a:t>of intent</a:t>
            </a:r>
          </a:p>
        </p:txBody>
      </p:sp>
      <p:sp>
        <p:nvSpPr>
          <p:cNvPr id="22" name="Rectangle 40">
            <a:extLst>
              <a:ext uri="{FF2B5EF4-FFF2-40B4-BE49-F238E27FC236}">
                <a16:creationId xmlns:a16="http://schemas.microsoft.com/office/drawing/2014/main" id="{3A46D616-E6D2-D59A-39C4-C44C8A50A0E7}"/>
              </a:ext>
            </a:extLst>
          </p:cNvPr>
          <p:cNvSpPr>
            <a:spLocks noChangeArrowheads="1"/>
          </p:cNvSpPr>
          <p:nvPr>
            <p:custDataLst>
              <p:tags r:id="rId2"/>
            </p:custDataLst>
          </p:nvPr>
        </p:nvSpPr>
        <p:spPr bwMode="auto">
          <a:xfrm>
            <a:off x="2259665" y="1282539"/>
            <a:ext cx="1644845" cy="309668"/>
          </a:xfrm>
          <a:prstGeom prst="rect">
            <a:avLst/>
          </a:prstGeom>
          <a:noFill/>
          <a:ln w="9525">
            <a:noFill/>
            <a:miter lim="800000"/>
            <a:headEnd/>
            <a:tailEnd/>
          </a:ln>
          <a:effectLst/>
        </p:spPr>
        <p:txBody>
          <a:bodyPr lIns="29250" tIns="29250" rIns="29250" bIns="29250" anchor="ctr"/>
          <a:lstStyle/>
          <a:p>
            <a:pPr algn="ctr" defTabSz="742950" eaLnBrk="0" fontAlgn="base" hangingPunct="0">
              <a:lnSpc>
                <a:spcPct val="90000"/>
              </a:lnSpc>
              <a:spcBef>
                <a:spcPct val="0"/>
              </a:spcBef>
              <a:spcAft>
                <a:spcPct val="0"/>
              </a:spcAft>
              <a:tabLst>
                <a:tab pos="5252244" algn="r"/>
              </a:tabLst>
              <a:defRPr/>
            </a:pPr>
            <a:r>
              <a:rPr lang="en-US" sz="1050" cap="all">
                <a:solidFill>
                  <a:schemeClr val="bg1">
                    <a:lumMod val="50000"/>
                  </a:schemeClr>
                </a:solidFill>
                <a:latin typeface="+mj-lt"/>
                <a:cs typeface="Calibri"/>
                <a:sym typeface="Calibri"/>
              </a:rPr>
              <a:t>Contract </a:t>
            </a:r>
            <a:br>
              <a:rPr lang="en-US" sz="1050" cap="all">
                <a:solidFill>
                  <a:schemeClr val="bg1">
                    <a:lumMod val="50000"/>
                  </a:schemeClr>
                </a:solidFill>
                <a:latin typeface="+mj-lt"/>
                <a:cs typeface="Calibri"/>
                <a:sym typeface="Calibri"/>
              </a:rPr>
            </a:br>
            <a:r>
              <a:rPr lang="en-US" sz="1050" cap="all">
                <a:solidFill>
                  <a:schemeClr val="bg1">
                    <a:lumMod val="50000"/>
                  </a:schemeClr>
                </a:solidFill>
                <a:latin typeface="+mj-lt"/>
                <a:cs typeface="Calibri"/>
                <a:sym typeface="Calibri"/>
              </a:rPr>
              <a:t>signing</a:t>
            </a:r>
          </a:p>
        </p:txBody>
      </p:sp>
      <p:sp>
        <p:nvSpPr>
          <p:cNvPr id="23" name="Rectangle 26">
            <a:extLst>
              <a:ext uri="{FF2B5EF4-FFF2-40B4-BE49-F238E27FC236}">
                <a16:creationId xmlns:a16="http://schemas.microsoft.com/office/drawing/2014/main" id="{F2E9CC89-9AF4-CA4F-48D9-0F37670C3852}"/>
              </a:ext>
            </a:extLst>
          </p:cNvPr>
          <p:cNvSpPr>
            <a:spLocks noChangeArrowheads="1"/>
          </p:cNvSpPr>
          <p:nvPr>
            <p:custDataLst>
              <p:tags r:id="rId3"/>
            </p:custDataLst>
          </p:nvPr>
        </p:nvSpPr>
        <p:spPr bwMode="auto">
          <a:xfrm>
            <a:off x="8007934" y="1282539"/>
            <a:ext cx="2048506" cy="309668"/>
          </a:xfrm>
          <a:prstGeom prst="rect">
            <a:avLst/>
          </a:prstGeom>
          <a:noFill/>
          <a:ln w="9525">
            <a:noFill/>
            <a:miter lim="800000"/>
            <a:headEnd/>
            <a:tailEnd/>
          </a:ln>
          <a:effectLst/>
        </p:spPr>
        <p:txBody>
          <a:bodyPr lIns="29250" tIns="29250" rIns="29250" bIns="29250" anchor="ctr"/>
          <a:lstStyle/>
          <a:p>
            <a:pPr algn="ctr" defTabSz="742950" eaLnBrk="0" fontAlgn="base" hangingPunct="0">
              <a:lnSpc>
                <a:spcPct val="90000"/>
              </a:lnSpc>
              <a:spcBef>
                <a:spcPct val="0"/>
              </a:spcBef>
              <a:spcAft>
                <a:spcPct val="0"/>
              </a:spcAft>
              <a:tabLst>
                <a:tab pos="5252244" algn="r"/>
              </a:tabLst>
              <a:defRPr/>
            </a:pPr>
            <a:r>
              <a:rPr lang="en-US" sz="1050" cap="all">
                <a:solidFill>
                  <a:schemeClr val="bg1">
                    <a:lumMod val="50000"/>
                  </a:schemeClr>
                </a:solidFill>
                <a:latin typeface="+mj-lt"/>
                <a:cs typeface="Calibri"/>
                <a:sym typeface="Calibri"/>
              </a:rPr>
              <a:t>Quick wins delivered Convergence planning</a:t>
            </a:r>
          </a:p>
        </p:txBody>
      </p:sp>
      <p:sp>
        <p:nvSpPr>
          <p:cNvPr id="24" name="Rectangle 26">
            <a:extLst>
              <a:ext uri="{FF2B5EF4-FFF2-40B4-BE49-F238E27FC236}">
                <a16:creationId xmlns:a16="http://schemas.microsoft.com/office/drawing/2014/main" id="{94A22C60-F5D8-BA38-EF02-04A5D8124B1E}"/>
              </a:ext>
            </a:extLst>
          </p:cNvPr>
          <p:cNvSpPr>
            <a:spLocks noChangeArrowheads="1"/>
          </p:cNvSpPr>
          <p:nvPr>
            <p:custDataLst>
              <p:tags r:id="rId4"/>
            </p:custDataLst>
          </p:nvPr>
        </p:nvSpPr>
        <p:spPr bwMode="auto">
          <a:xfrm>
            <a:off x="5375920" y="1282539"/>
            <a:ext cx="1341987" cy="309668"/>
          </a:xfrm>
          <a:prstGeom prst="rect">
            <a:avLst/>
          </a:prstGeom>
          <a:noFill/>
          <a:ln w="9525">
            <a:noFill/>
            <a:miter lim="800000"/>
            <a:headEnd/>
            <a:tailEnd/>
          </a:ln>
          <a:effectLst/>
        </p:spPr>
        <p:txBody>
          <a:bodyPr lIns="29250" tIns="29250" rIns="29250" bIns="29250" anchor="ctr"/>
          <a:lstStyle/>
          <a:p>
            <a:pPr algn="ctr" defTabSz="742950" eaLnBrk="0" fontAlgn="base" hangingPunct="0">
              <a:lnSpc>
                <a:spcPct val="90000"/>
              </a:lnSpc>
              <a:spcBef>
                <a:spcPct val="0"/>
              </a:spcBef>
              <a:spcAft>
                <a:spcPct val="0"/>
              </a:spcAft>
              <a:tabLst>
                <a:tab pos="5252244" algn="r"/>
              </a:tabLst>
              <a:defRPr/>
            </a:pPr>
            <a:r>
              <a:rPr lang="en-US" sz="1050" cap="all">
                <a:solidFill>
                  <a:schemeClr val="bg1">
                    <a:lumMod val="50000"/>
                  </a:schemeClr>
                </a:solidFill>
                <a:latin typeface="+mj-lt"/>
                <a:cs typeface="Calibri"/>
                <a:sym typeface="Calibri"/>
              </a:rPr>
              <a:t>Closing of deal</a:t>
            </a:r>
          </a:p>
          <a:p>
            <a:pPr algn="ctr" defTabSz="742950" eaLnBrk="0" fontAlgn="base" hangingPunct="0">
              <a:lnSpc>
                <a:spcPct val="90000"/>
              </a:lnSpc>
              <a:spcBef>
                <a:spcPct val="0"/>
              </a:spcBef>
              <a:spcAft>
                <a:spcPct val="0"/>
              </a:spcAft>
              <a:tabLst>
                <a:tab pos="5252244" algn="r"/>
              </a:tabLst>
              <a:defRPr/>
            </a:pPr>
            <a:r>
              <a:rPr lang="en-US" sz="1050" cap="all">
                <a:solidFill>
                  <a:schemeClr val="bg1">
                    <a:lumMod val="50000"/>
                  </a:schemeClr>
                </a:solidFill>
                <a:latin typeface="+mj-lt"/>
                <a:cs typeface="Calibri"/>
                <a:sym typeface="Calibri"/>
              </a:rPr>
              <a:t>“Day-1” – Q1 2025</a:t>
            </a:r>
          </a:p>
        </p:txBody>
      </p:sp>
      <p:pic>
        <p:nvPicPr>
          <p:cNvPr id="25" name="Graphic 24">
            <a:extLst>
              <a:ext uri="{FF2B5EF4-FFF2-40B4-BE49-F238E27FC236}">
                <a16:creationId xmlns:a16="http://schemas.microsoft.com/office/drawing/2014/main" id="{206BB6FA-06CC-B118-AFB5-E931D28B66F8}"/>
              </a:ext>
            </a:extLst>
          </p:cNvPr>
          <p:cNvPicPr>
            <a:picLocks/>
          </p:cNvPicPr>
          <p:nvPr/>
        </p:nvPicPr>
        <p:blipFill>
          <a:blip r:embed="rId15" cstate="email">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47328" y="1666453"/>
            <a:ext cx="72000" cy="216000"/>
          </a:xfrm>
          <a:prstGeom prst="rect">
            <a:avLst/>
          </a:prstGeom>
        </p:spPr>
      </p:pic>
      <p:pic>
        <p:nvPicPr>
          <p:cNvPr id="26" name="Graphic 25">
            <a:extLst>
              <a:ext uri="{FF2B5EF4-FFF2-40B4-BE49-F238E27FC236}">
                <a16:creationId xmlns:a16="http://schemas.microsoft.com/office/drawing/2014/main" id="{DE0598A8-664B-F421-CCBA-DFB0737FBA75}"/>
              </a:ext>
            </a:extLst>
          </p:cNvPr>
          <p:cNvPicPr>
            <a:picLocks/>
          </p:cNvPicPr>
          <p:nvPr/>
        </p:nvPicPr>
        <p:blipFill>
          <a:blip r:embed="rId15" cstate="email">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3035672" y="1692630"/>
            <a:ext cx="72000" cy="216000"/>
          </a:xfrm>
          <a:prstGeom prst="rect">
            <a:avLst/>
          </a:prstGeom>
        </p:spPr>
      </p:pic>
      <p:pic>
        <p:nvPicPr>
          <p:cNvPr id="27" name="Graphic 26">
            <a:extLst>
              <a:ext uri="{FF2B5EF4-FFF2-40B4-BE49-F238E27FC236}">
                <a16:creationId xmlns:a16="http://schemas.microsoft.com/office/drawing/2014/main" id="{D19DD37D-6633-206F-B358-7FC14C776BA2}"/>
              </a:ext>
            </a:extLst>
          </p:cNvPr>
          <p:cNvPicPr>
            <a:picLocks/>
          </p:cNvPicPr>
          <p:nvPr/>
        </p:nvPicPr>
        <p:blipFill>
          <a:blip r:embed="rId15" cstate="email">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5977437" y="1692630"/>
            <a:ext cx="72000" cy="216000"/>
          </a:xfrm>
          <a:prstGeom prst="rect">
            <a:avLst/>
          </a:prstGeom>
        </p:spPr>
      </p:pic>
      <p:pic>
        <p:nvPicPr>
          <p:cNvPr id="28" name="Graphic 27">
            <a:extLst>
              <a:ext uri="{FF2B5EF4-FFF2-40B4-BE49-F238E27FC236}">
                <a16:creationId xmlns:a16="http://schemas.microsoft.com/office/drawing/2014/main" id="{C9B352D6-2222-EF46-C594-C722745385A8}"/>
              </a:ext>
            </a:extLst>
          </p:cNvPr>
          <p:cNvPicPr>
            <a:picLocks/>
          </p:cNvPicPr>
          <p:nvPr/>
        </p:nvPicPr>
        <p:blipFill>
          <a:blip r:embed="rId15" cstate="email">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8976320" y="1692630"/>
            <a:ext cx="72000" cy="216000"/>
          </a:xfrm>
          <a:prstGeom prst="rect">
            <a:avLst/>
          </a:prstGeom>
        </p:spPr>
      </p:pic>
      <p:pic>
        <p:nvPicPr>
          <p:cNvPr id="29" name="Graphic 28">
            <a:extLst>
              <a:ext uri="{FF2B5EF4-FFF2-40B4-BE49-F238E27FC236}">
                <a16:creationId xmlns:a16="http://schemas.microsoft.com/office/drawing/2014/main" id="{A645E694-5268-2557-ECAF-403F582FB248}"/>
              </a:ext>
            </a:extLst>
          </p:cNvPr>
          <p:cNvPicPr>
            <a:picLocks/>
          </p:cNvPicPr>
          <p:nvPr/>
        </p:nvPicPr>
        <p:blipFill>
          <a:blip r:embed="rId15" cstate="email">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1940581" y="1682883"/>
            <a:ext cx="72000" cy="216000"/>
          </a:xfrm>
          <a:prstGeom prst="rect">
            <a:avLst/>
          </a:prstGeom>
        </p:spPr>
      </p:pic>
      <p:sp>
        <p:nvSpPr>
          <p:cNvPr id="30" name="TextBox 29">
            <a:extLst>
              <a:ext uri="{FF2B5EF4-FFF2-40B4-BE49-F238E27FC236}">
                <a16:creationId xmlns:a16="http://schemas.microsoft.com/office/drawing/2014/main" id="{03FD3F14-557D-565E-B539-F5A14718236F}"/>
              </a:ext>
            </a:extLst>
          </p:cNvPr>
          <p:cNvSpPr txBox="1"/>
          <p:nvPr/>
        </p:nvSpPr>
        <p:spPr>
          <a:xfrm>
            <a:off x="3306037" y="2067802"/>
            <a:ext cx="2448272" cy="261610"/>
          </a:xfrm>
          <a:prstGeom prst="rect">
            <a:avLst/>
          </a:prstGeom>
          <a:noFill/>
        </p:spPr>
        <p:txBody>
          <a:bodyPr wrap="square" rtlCol="0">
            <a:spAutoFit/>
          </a:bodyPr>
          <a:lstStyle/>
          <a:p>
            <a:pPr algn="ctr" eaLnBrk="0" fontAlgn="base" hangingPunct="0"/>
            <a:r>
              <a:rPr lang="en-US" sz="1100" b="1" kern="0" cap="all">
                <a:solidFill>
                  <a:srgbClr val="FFFFFF"/>
                </a:solidFill>
                <a:cs typeface="Calibri"/>
                <a:sym typeface="Calibri"/>
              </a:rPr>
              <a:t>Day 1 Preparation</a:t>
            </a:r>
          </a:p>
        </p:txBody>
      </p:sp>
      <p:sp>
        <p:nvSpPr>
          <p:cNvPr id="31" name="TextBox 30">
            <a:extLst>
              <a:ext uri="{FF2B5EF4-FFF2-40B4-BE49-F238E27FC236}">
                <a16:creationId xmlns:a16="http://schemas.microsoft.com/office/drawing/2014/main" id="{DAB7EF11-6C5C-D40B-2194-F859F61C57CF}"/>
              </a:ext>
            </a:extLst>
          </p:cNvPr>
          <p:cNvSpPr txBox="1"/>
          <p:nvPr/>
        </p:nvSpPr>
        <p:spPr>
          <a:xfrm>
            <a:off x="6384032" y="2067802"/>
            <a:ext cx="2448272" cy="261610"/>
          </a:xfrm>
          <a:prstGeom prst="rect">
            <a:avLst/>
          </a:prstGeom>
          <a:noFill/>
        </p:spPr>
        <p:txBody>
          <a:bodyPr wrap="square" rtlCol="0">
            <a:spAutoFit/>
          </a:bodyPr>
          <a:lstStyle/>
          <a:p>
            <a:pPr algn="ctr" defTabSz="742950" eaLnBrk="0" fontAlgn="base" hangingPunct="0">
              <a:defRPr/>
            </a:pPr>
            <a:r>
              <a:rPr lang="en-US" sz="1100" b="1" kern="0" cap="all">
                <a:solidFill>
                  <a:schemeClr val="bg1">
                    <a:lumMod val="50000"/>
                  </a:schemeClr>
                </a:solidFill>
                <a:cs typeface="Calibri"/>
                <a:sym typeface="Calibri"/>
              </a:rPr>
              <a:t>First ‘100 days’</a:t>
            </a:r>
          </a:p>
        </p:txBody>
      </p:sp>
      <p:sp>
        <p:nvSpPr>
          <p:cNvPr id="32" name="TextBox 31">
            <a:extLst>
              <a:ext uri="{FF2B5EF4-FFF2-40B4-BE49-F238E27FC236}">
                <a16:creationId xmlns:a16="http://schemas.microsoft.com/office/drawing/2014/main" id="{6DF74EFF-2E7C-51C9-6055-F83F03B47A2F}"/>
              </a:ext>
            </a:extLst>
          </p:cNvPr>
          <p:cNvSpPr txBox="1"/>
          <p:nvPr/>
        </p:nvSpPr>
        <p:spPr>
          <a:xfrm>
            <a:off x="9336360" y="2067802"/>
            <a:ext cx="2448272" cy="261610"/>
          </a:xfrm>
          <a:prstGeom prst="rect">
            <a:avLst/>
          </a:prstGeom>
          <a:noFill/>
        </p:spPr>
        <p:txBody>
          <a:bodyPr wrap="square" rtlCol="0">
            <a:spAutoFit/>
          </a:bodyPr>
          <a:lstStyle/>
          <a:p>
            <a:pPr algn="ctr" defTabSz="742950" eaLnBrk="0" fontAlgn="base" hangingPunct="0">
              <a:defRPr/>
            </a:pPr>
            <a:r>
              <a:rPr lang="en-US" sz="1100" b="1" kern="0" cap="all">
                <a:solidFill>
                  <a:schemeClr val="bg1">
                    <a:lumMod val="50000"/>
                  </a:schemeClr>
                </a:solidFill>
                <a:cs typeface="Calibri"/>
                <a:sym typeface="Calibri"/>
              </a:rPr>
              <a:t>Integration execution</a:t>
            </a:r>
          </a:p>
        </p:txBody>
      </p:sp>
      <p:cxnSp>
        <p:nvCxnSpPr>
          <p:cNvPr id="33" name="Straight Connector 32">
            <a:extLst>
              <a:ext uri="{FF2B5EF4-FFF2-40B4-BE49-F238E27FC236}">
                <a16:creationId xmlns:a16="http://schemas.microsoft.com/office/drawing/2014/main" id="{CD439978-11E2-B4F6-E450-07CE9737C176}"/>
              </a:ext>
            </a:extLst>
          </p:cNvPr>
          <p:cNvCxnSpPr/>
          <p:nvPr/>
        </p:nvCxnSpPr>
        <p:spPr>
          <a:xfrm>
            <a:off x="3208627" y="2394401"/>
            <a:ext cx="2700000"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6229C89-0A2F-9AEC-0A70-91D9582FE245}"/>
              </a:ext>
            </a:extLst>
          </p:cNvPr>
          <p:cNvCxnSpPr/>
          <p:nvPr/>
        </p:nvCxnSpPr>
        <p:spPr>
          <a:xfrm>
            <a:off x="6241244" y="2394401"/>
            <a:ext cx="2700000"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11A359D-DA70-CFA6-0524-E0B5C1B715FF}"/>
              </a:ext>
            </a:extLst>
          </p:cNvPr>
          <p:cNvCxnSpPr/>
          <p:nvPr/>
        </p:nvCxnSpPr>
        <p:spPr>
          <a:xfrm>
            <a:off x="9286356" y="2394401"/>
            <a:ext cx="2700000"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D546B8F-A4AA-4B22-809C-1AD4F597D0ED}"/>
              </a:ext>
            </a:extLst>
          </p:cNvPr>
          <p:cNvSpPr txBox="1"/>
          <p:nvPr/>
        </p:nvSpPr>
        <p:spPr>
          <a:xfrm>
            <a:off x="292162" y="2067802"/>
            <a:ext cx="2448272" cy="430887"/>
          </a:xfrm>
          <a:prstGeom prst="rect">
            <a:avLst/>
          </a:prstGeom>
          <a:noFill/>
        </p:spPr>
        <p:txBody>
          <a:bodyPr wrap="square" rtlCol="0">
            <a:spAutoFit/>
          </a:bodyPr>
          <a:lstStyle/>
          <a:p>
            <a:pPr algn="ctr"/>
            <a:r>
              <a:rPr lang="en-US" sz="1100" b="1" kern="0" cap="all">
                <a:solidFill>
                  <a:schemeClr val="bg1">
                    <a:lumMod val="50000"/>
                  </a:schemeClr>
                </a:solidFill>
                <a:cs typeface="Calibri"/>
                <a:sym typeface="Calibri"/>
              </a:rPr>
              <a:t>Pre-signing</a:t>
            </a:r>
          </a:p>
          <a:p>
            <a:pPr algn="ctr"/>
            <a:endParaRPr lang="en-US" sz="1100" cap="all">
              <a:solidFill>
                <a:schemeClr val="bg1">
                  <a:lumMod val="50000"/>
                </a:schemeClr>
              </a:solidFill>
            </a:endParaRPr>
          </a:p>
        </p:txBody>
      </p:sp>
      <p:cxnSp>
        <p:nvCxnSpPr>
          <p:cNvPr id="41" name="Straight Connector 40">
            <a:extLst>
              <a:ext uri="{FF2B5EF4-FFF2-40B4-BE49-F238E27FC236}">
                <a16:creationId xmlns:a16="http://schemas.microsoft.com/office/drawing/2014/main" id="{6FB65BD6-139C-FAC3-E007-E8265F2C1FAC}"/>
              </a:ext>
            </a:extLst>
          </p:cNvPr>
          <p:cNvCxnSpPr/>
          <p:nvPr/>
        </p:nvCxnSpPr>
        <p:spPr>
          <a:xfrm>
            <a:off x="155640" y="2394401"/>
            <a:ext cx="2700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BCEFBE5-D378-404F-6B40-CB104EB49C7B}"/>
              </a:ext>
            </a:extLst>
          </p:cNvPr>
          <p:cNvSpPr txBox="1"/>
          <p:nvPr/>
        </p:nvSpPr>
        <p:spPr>
          <a:xfrm>
            <a:off x="379675" y="2600495"/>
            <a:ext cx="2440266" cy="877163"/>
          </a:xfrm>
          <a:prstGeom prst="rect">
            <a:avLst/>
          </a:prstGeom>
          <a:noFill/>
        </p:spPr>
        <p:txBody>
          <a:bodyPr wrap="square" lIns="29250" rIns="29250" rtlCol="0">
            <a:spAutoFit/>
          </a:bodyPr>
          <a:lstStyle/>
          <a:p>
            <a:pPr marL="0" lvl="1">
              <a:defRPr/>
            </a:pPr>
            <a:r>
              <a:rPr lang="en-US" sz="1100" kern="0" cap="all">
                <a:solidFill>
                  <a:schemeClr val="bg1">
                    <a:lumMod val="50000"/>
                  </a:schemeClr>
                </a:solidFill>
                <a:latin typeface="Verdana" panose="020B0604030504040204" pitchFamily="34" charset="0"/>
                <a:cs typeface="Calibri"/>
                <a:sym typeface="Calibri"/>
              </a:rPr>
              <a:t>Assessment &amp; Analysis</a:t>
            </a:r>
          </a:p>
          <a:p>
            <a:pPr marL="0" lvl="1">
              <a:defRPr/>
            </a:pPr>
            <a:endParaRPr lang="en-US" sz="1000">
              <a:solidFill>
                <a:schemeClr val="bg1">
                  <a:lumMod val="50000"/>
                </a:schemeClr>
              </a:solidFill>
              <a:latin typeface="Verdana" panose="020B0604030504040204" pitchFamily="34" charset="0"/>
            </a:endParaRPr>
          </a:p>
          <a:p>
            <a:pPr marL="177800" lvl="1" indent="-177800">
              <a:buFont typeface="Wingdings" panose="05000000000000000000" pitchFamily="2" charset="2"/>
              <a:buChar char="§"/>
              <a:defRPr/>
            </a:pPr>
            <a:r>
              <a:rPr lang="en-US" sz="1000">
                <a:solidFill>
                  <a:schemeClr val="bg1">
                    <a:lumMod val="50000"/>
                  </a:schemeClr>
                </a:solidFill>
                <a:latin typeface="Verdana" panose="020B0604030504040204" pitchFamily="34" charset="0"/>
              </a:rPr>
              <a:t>Conduct Detailed Due Diligence</a:t>
            </a:r>
          </a:p>
          <a:p>
            <a:pPr marL="177800" lvl="1" indent="-177800">
              <a:buFont typeface="Wingdings" panose="05000000000000000000" pitchFamily="2" charset="2"/>
              <a:buChar char="§"/>
              <a:defRPr/>
            </a:pPr>
            <a:r>
              <a:rPr lang="en-US" sz="1000">
                <a:solidFill>
                  <a:schemeClr val="bg1">
                    <a:lumMod val="50000"/>
                  </a:schemeClr>
                </a:solidFill>
                <a:latin typeface="Verdana" panose="020B0604030504040204" pitchFamily="34" charset="0"/>
              </a:rPr>
              <a:t>Evaluate Industrial and IT value </a:t>
            </a:r>
          </a:p>
          <a:p>
            <a:pPr marL="177800" lvl="1" indent="-177800">
              <a:buFont typeface="Wingdings" panose="05000000000000000000" pitchFamily="2" charset="2"/>
              <a:buChar char="§"/>
              <a:defRPr/>
            </a:pPr>
            <a:r>
              <a:rPr lang="en-US" sz="1000">
                <a:solidFill>
                  <a:schemeClr val="bg1">
                    <a:lumMod val="50000"/>
                  </a:schemeClr>
                </a:solidFill>
                <a:latin typeface="Verdana" panose="020B0604030504040204" pitchFamily="34" charset="0"/>
              </a:rPr>
              <a:t>Iterate on deal conditions</a:t>
            </a:r>
          </a:p>
        </p:txBody>
      </p:sp>
      <p:sp>
        <p:nvSpPr>
          <p:cNvPr id="55" name="TextBox 54">
            <a:extLst>
              <a:ext uri="{FF2B5EF4-FFF2-40B4-BE49-F238E27FC236}">
                <a16:creationId xmlns:a16="http://schemas.microsoft.com/office/drawing/2014/main" id="{0A8F5474-3A6A-CB0A-DE26-964F90BB6648}"/>
              </a:ext>
            </a:extLst>
          </p:cNvPr>
          <p:cNvSpPr txBox="1"/>
          <p:nvPr/>
        </p:nvSpPr>
        <p:spPr bwMode="gray">
          <a:xfrm>
            <a:off x="155640" y="6638454"/>
            <a:ext cx="351136" cy="165569"/>
          </a:xfrm>
          <a:prstGeom prst="rect">
            <a:avLst/>
          </a:prstGeom>
          <a:solidFill>
            <a:srgbClr val="0E80A4"/>
          </a:solidFill>
        </p:spPr>
        <p:txBody>
          <a:bodyPr vert="horz" wrap="square" lIns="0" tIns="0" rIns="0" bIns="0" rtlCol="0">
            <a:noAutofit/>
          </a:bodyPr>
          <a:lstStyle/>
          <a:p>
            <a:pPr marL="180000" indent="-180000" algn="l">
              <a:lnSpc>
                <a:spcPct val="110000"/>
              </a:lnSpc>
              <a:buFont typeface="Arial" panose="020B0604020202020204" pitchFamily="34" charset="0"/>
              <a:buChar char="•"/>
            </a:pPr>
            <a:endParaRPr lang="it-IT" sz="1600"/>
          </a:p>
        </p:txBody>
      </p:sp>
      <p:sp>
        <p:nvSpPr>
          <p:cNvPr id="56" name="Rectangle 40">
            <a:extLst>
              <a:ext uri="{FF2B5EF4-FFF2-40B4-BE49-F238E27FC236}">
                <a16:creationId xmlns:a16="http://schemas.microsoft.com/office/drawing/2014/main" id="{0B5925EF-E442-D8FB-75F0-A287472740DE}"/>
              </a:ext>
            </a:extLst>
          </p:cNvPr>
          <p:cNvSpPr>
            <a:spLocks noChangeArrowheads="1"/>
          </p:cNvSpPr>
          <p:nvPr>
            <p:custDataLst>
              <p:tags r:id="rId5"/>
            </p:custDataLst>
          </p:nvPr>
        </p:nvSpPr>
        <p:spPr bwMode="auto">
          <a:xfrm>
            <a:off x="522081" y="6603982"/>
            <a:ext cx="1692000" cy="234512"/>
          </a:xfrm>
          <a:prstGeom prst="rect">
            <a:avLst/>
          </a:prstGeom>
          <a:noFill/>
          <a:ln w="9525">
            <a:noFill/>
            <a:miter lim="800000"/>
            <a:headEnd/>
            <a:tailEnd/>
          </a:ln>
          <a:effectLst/>
        </p:spPr>
        <p:txBody>
          <a:bodyPr lIns="29250" tIns="29250" rIns="29250" bIns="29250" anchor="ctr"/>
          <a:lstStyle/>
          <a:p>
            <a:pPr algn="ctr" defTabSz="742950" eaLnBrk="0" fontAlgn="base" hangingPunct="0">
              <a:lnSpc>
                <a:spcPct val="90000"/>
              </a:lnSpc>
              <a:spcBef>
                <a:spcPct val="0"/>
              </a:spcBef>
              <a:spcAft>
                <a:spcPct val="0"/>
              </a:spcAft>
              <a:tabLst>
                <a:tab pos="5252244" algn="r"/>
              </a:tabLst>
              <a:defRPr/>
            </a:pPr>
            <a:r>
              <a:rPr lang="en-US" sz="1050" cap="all">
                <a:solidFill>
                  <a:schemeClr val="bg1">
                    <a:lumMod val="50000"/>
                  </a:schemeClr>
                </a:solidFill>
                <a:latin typeface="+mj-lt"/>
                <a:cs typeface="Calibri"/>
                <a:sym typeface="Calibri"/>
              </a:rPr>
              <a:t>IN SCOPE OF THIS PROPOSAL</a:t>
            </a:r>
          </a:p>
        </p:txBody>
      </p:sp>
      <p:sp>
        <p:nvSpPr>
          <p:cNvPr id="57" name="TextBox 56">
            <a:extLst>
              <a:ext uri="{FF2B5EF4-FFF2-40B4-BE49-F238E27FC236}">
                <a16:creationId xmlns:a16="http://schemas.microsoft.com/office/drawing/2014/main" id="{A0DF376C-1165-3C08-D0BB-1FEDC7F0A1F9}"/>
              </a:ext>
            </a:extLst>
          </p:cNvPr>
          <p:cNvSpPr txBox="1"/>
          <p:nvPr/>
        </p:nvSpPr>
        <p:spPr bwMode="gray">
          <a:xfrm>
            <a:off x="2368194" y="6638454"/>
            <a:ext cx="351136" cy="165569"/>
          </a:xfrm>
          <a:prstGeom prst="rect">
            <a:avLst/>
          </a:prstGeom>
          <a:solidFill>
            <a:srgbClr val="D1D1D1"/>
          </a:solidFill>
        </p:spPr>
        <p:txBody>
          <a:bodyPr vert="horz" wrap="square" lIns="0" tIns="0" rIns="0" bIns="0" rtlCol="0">
            <a:noAutofit/>
          </a:bodyPr>
          <a:lstStyle/>
          <a:p>
            <a:pPr marL="180000" indent="-180000" algn="l">
              <a:lnSpc>
                <a:spcPct val="110000"/>
              </a:lnSpc>
              <a:buFont typeface="Arial" panose="020B0604020202020204" pitchFamily="34" charset="0"/>
              <a:buChar char="•"/>
            </a:pPr>
            <a:endParaRPr lang="it-IT" sz="1600"/>
          </a:p>
        </p:txBody>
      </p:sp>
      <p:sp>
        <p:nvSpPr>
          <p:cNvPr id="58" name="Rectangle 40">
            <a:extLst>
              <a:ext uri="{FF2B5EF4-FFF2-40B4-BE49-F238E27FC236}">
                <a16:creationId xmlns:a16="http://schemas.microsoft.com/office/drawing/2014/main" id="{F0DF1E30-5F1B-7D79-6FFF-58B5F07DEA5E}"/>
              </a:ext>
            </a:extLst>
          </p:cNvPr>
          <p:cNvSpPr>
            <a:spLocks noChangeArrowheads="1"/>
          </p:cNvSpPr>
          <p:nvPr>
            <p:custDataLst>
              <p:tags r:id="rId6"/>
            </p:custDataLst>
          </p:nvPr>
        </p:nvSpPr>
        <p:spPr bwMode="auto">
          <a:xfrm>
            <a:off x="2734635" y="6603982"/>
            <a:ext cx="1980000" cy="234512"/>
          </a:xfrm>
          <a:prstGeom prst="rect">
            <a:avLst/>
          </a:prstGeom>
          <a:noFill/>
          <a:ln w="9525">
            <a:noFill/>
            <a:miter lim="800000"/>
            <a:headEnd/>
            <a:tailEnd/>
          </a:ln>
          <a:effectLst/>
        </p:spPr>
        <p:txBody>
          <a:bodyPr lIns="29250" tIns="29250" rIns="29250" bIns="29250" anchor="ctr"/>
          <a:lstStyle/>
          <a:p>
            <a:pPr algn="ctr" defTabSz="742950" eaLnBrk="0" fontAlgn="base" hangingPunct="0">
              <a:lnSpc>
                <a:spcPct val="90000"/>
              </a:lnSpc>
              <a:spcBef>
                <a:spcPct val="0"/>
              </a:spcBef>
              <a:spcAft>
                <a:spcPct val="0"/>
              </a:spcAft>
              <a:tabLst>
                <a:tab pos="5252244" algn="r"/>
              </a:tabLst>
              <a:defRPr/>
            </a:pPr>
            <a:r>
              <a:rPr lang="en-US" sz="1050" cap="all">
                <a:solidFill>
                  <a:schemeClr val="bg1">
                    <a:lumMod val="50000"/>
                  </a:schemeClr>
                </a:solidFill>
                <a:latin typeface="+mj-lt"/>
                <a:cs typeface="Calibri"/>
                <a:sym typeface="Calibri"/>
              </a:rPr>
              <a:t>OUT OF SCOPE OF THIS PROPOSAL</a:t>
            </a:r>
          </a:p>
        </p:txBody>
      </p:sp>
      <p:sp>
        <p:nvSpPr>
          <p:cNvPr id="52" name="TextBox 51">
            <a:extLst>
              <a:ext uri="{FF2B5EF4-FFF2-40B4-BE49-F238E27FC236}">
                <a16:creationId xmlns:a16="http://schemas.microsoft.com/office/drawing/2014/main" id="{643CE5B3-3556-536B-2D04-AA8789F1C323}"/>
              </a:ext>
            </a:extLst>
          </p:cNvPr>
          <p:cNvSpPr txBox="1"/>
          <p:nvPr/>
        </p:nvSpPr>
        <p:spPr bwMode="gray">
          <a:xfrm>
            <a:off x="620450" y="4166070"/>
            <a:ext cx="10831784" cy="2123658"/>
          </a:xfrm>
          <a:prstGeom prst="rect">
            <a:avLst/>
          </a:prstGeom>
          <a:noFill/>
        </p:spPr>
        <p:txBody>
          <a:bodyPr wrap="square" lIns="0" tIns="0" rIns="0" bIns="0">
            <a:noAutofit/>
          </a:bodyPr>
          <a:lstStyle/>
          <a:p>
            <a:pPr marL="144000" marR="0" lvl="0" indent="-144000" algn="l" defTabSz="914400" rtl="0" eaLnBrk="1" fontAlgn="auto" latinLnBrk="0" hangingPunct="1">
              <a:spcBef>
                <a:spcPts val="300"/>
              </a:spcBef>
              <a:buClr>
                <a:srgbClr val="105B76"/>
              </a:buClr>
              <a:buSzTx/>
              <a:buFont typeface="+mj-lt"/>
              <a:buAutoNum type="arabicPeriod"/>
              <a:tabLst/>
              <a:defRPr/>
            </a:pPr>
            <a:r>
              <a:rPr lang="en-US" sz="1200" b="1" dirty="0"/>
              <a:t>Secure business continuity</a:t>
            </a:r>
            <a:r>
              <a:rPr lang="en-US" sz="1200" dirty="0"/>
              <a:t> through seamless run of IT operations at day 1 (people, tools, process, operating model) and anticipation of key risks on the cybersecurity side</a:t>
            </a:r>
          </a:p>
          <a:p>
            <a:pPr marL="144000" marR="0" lvl="0" indent="-144000" algn="l" defTabSz="914400" rtl="0" eaLnBrk="1" fontAlgn="auto" latinLnBrk="0" hangingPunct="1">
              <a:spcBef>
                <a:spcPts val="300"/>
              </a:spcBef>
              <a:buClr>
                <a:srgbClr val="105B76"/>
              </a:buClr>
              <a:buSzTx/>
              <a:buFont typeface="+mj-lt"/>
              <a:buAutoNum type="arabicPeriod"/>
              <a:tabLst/>
              <a:defRPr/>
            </a:pPr>
            <a:r>
              <a:rPr lang="en-US" sz="1200" b="1" dirty="0"/>
              <a:t>Deliver synergies’ quick wins</a:t>
            </a:r>
            <a:r>
              <a:rPr lang="en-US" sz="1200" dirty="0"/>
              <a:t> on the IT cost side (e.g. on central IT functions mutualization, contract massification), as well as on the revenues side – which may be IT-dependent</a:t>
            </a:r>
          </a:p>
          <a:p>
            <a:pPr marL="144000" marR="0" lvl="0" indent="-144000" algn="l" defTabSz="914400" rtl="0" eaLnBrk="1" fontAlgn="auto" latinLnBrk="0" hangingPunct="1">
              <a:spcBef>
                <a:spcPts val="300"/>
              </a:spcBef>
              <a:buClr>
                <a:srgbClr val="105B76"/>
              </a:buClr>
              <a:buSzTx/>
              <a:buFont typeface="+mj-lt"/>
              <a:buAutoNum type="arabicPeriod"/>
              <a:tabLst/>
              <a:defRPr/>
            </a:pPr>
            <a:r>
              <a:rPr lang="en-US" sz="1200" b="1" dirty="0"/>
              <a:t>Define the IT evolution roadmap required to support the vision and speed on IT and network services convergence (OSS, BSS, ERP and Office IT)</a:t>
            </a:r>
          </a:p>
          <a:p>
            <a:pPr marL="144000" marR="0" lvl="0" indent="-144000" algn="l" defTabSz="914400" rtl="0" eaLnBrk="1" fontAlgn="auto" latinLnBrk="0" hangingPunct="1">
              <a:spcBef>
                <a:spcPts val="300"/>
              </a:spcBef>
              <a:buClr>
                <a:srgbClr val="105B76"/>
              </a:buClr>
              <a:buSzTx/>
              <a:buFont typeface="+mj-lt"/>
              <a:buAutoNum type="arabicPeriod"/>
              <a:tabLst/>
              <a:defRPr/>
            </a:pPr>
            <a:r>
              <a:rPr lang="en-US" sz="1200" b="1" dirty="0"/>
              <a:t>Build a medium to long term vision &amp; trajectory for IT convergence &amp; transformation</a:t>
            </a:r>
            <a:r>
              <a:rPr lang="en-US" sz="1200" dirty="0"/>
              <a:t>, to develop &amp; build a harmonized IT foundation and operating model for the new entity such as:</a:t>
            </a:r>
          </a:p>
          <a:p>
            <a:pPr marL="534988" lvl="1" indent="-174625">
              <a:spcBef>
                <a:spcPts val="300"/>
              </a:spcBef>
              <a:buClr>
                <a:srgbClr val="105B76"/>
              </a:buClr>
              <a:buFont typeface="Arial" panose="020B0604020202020204" pitchFamily="34" charset="0"/>
              <a:buChar char="•"/>
              <a:defRPr/>
            </a:pPr>
            <a:r>
              <a:rPr lang="en-US" sz="1200" dirty="0"/>
              <a:t>Best-in-class IT stack identification</a:t>
            </a:r>
          </a:p>
          <a:p>
            <a:pPr marL="534988" lvl="1" indent="-174625">
              <a:spcBef>
                <a:spcPts val="300"/>
              </a:spcBef>
              <a:buClr>
                <a:srgbClr val="105B76"/>
              </a:buClr>
              <a:buFont typeface="Arial" panose="020B0604020202020204" pitchFamily="34" charset="0"/>
              <a:buChar char="•"/>
              <a:defRPr/>
            </a:pPr>
            <a:r>
              <a:rPr lang="en-US" sz="1200" dirty="0"/>
              <a:t>ERP migration </a:t>
            </a:r>
          </a:p>
          <a:p>
            <a:pPr marL="534988" lvl="1" indent="-174625">
              <a:spcBef>
                <a:spcPts val="300"/>
              </a:spcBef>
              <a:buClr>
                <a:srgbClr val="105B76"/>
              </a:buClr>
              <a:buFont typeface="Arial" panose="020B0604020202020204" pitchFamily="34" charset="0"/>
              <a:buChar char="•"/>
              <a:defRPr/>
            </a:pPr>
            <a:r>
              <a:rPr lang="en-US" sz="1200" dirty="0"/>
              <a:t>OSS </a:t>
            </a:r>
            <a:r>
              <a:rPr lang="en-US" sz="1200" dirty="0" err="1"/>
              <a:t>modernisation</a:t>
            </a:r>
            <a:endParaRPr lang="en-US" sz="1200" dirty="0"/>
          </a:p>
          <a:p>
            <a:pPr marL="534988" lvl="1" indent="-174625">
              <a:spcBef>
                <a:spcPts val="300"/>
              </a:spcBef>
              <a:buClr>
                <a:srgbClr val="105B76"/>
              </a:buClr>
              <a:buFont typeface="Arial" panose="020B0604020202020204" pitchFamily="34" charset="0"/>
              <a:buChar char="•"/>
              <a:defRPr/>
            </a:pPr>
            <a:r>
              <a:rPr lang="en-US" sz="1200" dirty="0"/>
              <a:t>Data Center migration/consolidation</a:t>
            </a:r>
          </a:p>
          <a:p>
            <a:pPr marL="144000" marR="0" lvl="0" indent="-144000" algn="l" defTabSz="914400" rtl="0" eaLnBrk="1" fontAlgn="auto" latinLnBrk="0" hangingPunct="1">
              <a:spcBef>
                <a:spcPts val="300"/>
              </a:spcBef>
              <a:buClr>
                <a:srgbClr val="105B76"/>
              </a:buClr>
              <a:buSzTx/>
              <a:buFont typeface="+mj-lt"/>
              <a:buAutoNum type="arabicPeriod"/>
              <a:tabLst/>
              <a:defRPr/>
            </a:pPr>
            <a:r>
              <a:rPr lang="en-US" sz="1200" b="1" dirty="0"/>
              <a:t>Assess dependencies with other workstreams </a:t>
            </a:r>
            <a:r>
              <a:rPr lang="en-US" sz="1200" dirty="0"/>
              <a:t>throughout the steps above</a:t>
            </a:r>
          </a:p>
        </p:txBody>
      </p:sp>
      <p:sp>
        <p:nvSpPr>
          <p:cNvPr id="7" name="TextBox 6">
            <a:extLst>
              <a:ext uri="{FF2B5EF4-FFF2-40B4-BE49-F238E27FC236}">
                <a16:creationId xmlns:a16="http://schemas.microsoft.com/office/drawing/2014/main" id="{0C576257-C986-E537-BA76-33AB223EBB20}"/>
              </a:ext>
            </a:extLst>
          </p:cNvPr>
          <p:cNvSpPr txBox="1"/>
          <p:nvPr/>
        </p:nvSpPr>
        <p:spPr bwMode="gray">
          <a:xfrm rot="16200000">
            <a:off x="-856145" y="5235472"/>
            <a:ext cx="2259483" cy="212158"/>
          </a:xfrm>
          <a:prstGeom prst="roundRect">
            <a:avLst/>
          </a:prstGeom>
          <a:solidFill>
            <a:srgbClr val="FFC000"/>
          </a:solidFill>
        </p:spPr>
        <p:txBody>
          <a:bodyPr vert="horz" wrap="square" lIns="0" tIns="0" rIns="0" bIns="0" rtlCol="0" anchor="ctr">
            <a:noAutofit/>
          </a:bodyPr>
          <a:lstStyle/>
          <a:p>
            <a:pPr algn="ctr">
              <a:lnSpc>
                <a:spcPct val="110000"/>
              </a:lnSpc>
            </a:pPr>
            <a:r>
              <a:rPr lang="it-IT" sz="1600" b="1" i="1" dirty="0">
                <a:solidFill>
                  <a:schemeClr val="bg1"/>
                </a:solidFill>
              </a:rPr>
              <a:t>Must </a:t>
            </a:r>
            <a:r>
              <a:rPr lang="it-IT" sz="1600" b="1" i="1" dirty="0" err="1">
                <a:solidFill>
                  <a:schemeClr val="bg1"/>
                </a:solidFill>
              </a:rPr>
              <a:t>have</a:t>
            </a:r>
            <a:endParaRPr lang="it-IT" sz="1600" b="1" i="1" dirty="0">
              <a:solidFill>
                <a:schemeClr val="bg1"/>
              </a:solidFill>
            </a:endParaRPr>
          </a:p>
        </p:txBody>
      </p:sp>
      <p:grpSp>
        <p:nvGrpSpPr>
          <p:cNvPr id="53" name="Groupe 1">
            <a:extLst>
              <a:ext uri="{FF2B5EF4-FFF2-40B4-BE49-F238E27FC236}">
                <a16:creationId xmlns:a16="http://schemas.microsoft.com/office/drawing/2014/main" id="{A87D957A-10EF-35DD-6135-B9DAEA970477}"/>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54" name="Freeform 13">
              <a:extLst>
                <a:ext uri="{FF2B5EF4-FFF2-40B4-BE49-F238E27FC236}">
                  <a16:creationId xmlns:a16="http://schemas.microsoft.com/office/drawing/2014/main" id="{E001491A-3996-03F1-16F3-A89FDED95A35}"/>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59" name="Freeform 14">
              <a:extLst>
                <a:ext uri="{FF2B5EF4-FFF2-40B4-BE49-F238E27FC236}">
                  <a16:creationId xmlns:a16="http://schemas.microsoft.com/office/drawing/2014/main" id="{C932A8D7-EB54-CC11-0BFB-481901BAA23D}"/>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8" name="Foliennummernplatzhalter 5">
            <a:extLst>
              <a:ext uri="{FF2B5EF4-FFF2-40B4-BE49-F238E27FC236}">
                <a16:creationId xmlns:a16="http://schemas.microsoft.com/office/drawing/2014/main" id="{0E01552B-06C4-8B36-9F37-14486DE81110}"/>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2</a:t>
            </a:fld>
            <a:endParaRPr lang="en-US"/>
          </a:p>
        </p:txBody>
      </p:sp>
      <p:sp>
        <p:nvSpPr>
          <p:cNvPr id="64" name="Rectangle 27">
            <a:extLst>
              <a:ext uri="{FF2B5EF4-FFF2-40B4-BE49-F238E27FC236}">
                <a16:creationId xmlns:a16="http://schemas.microsoft.com/office/drawing/2014/main" id="{643E1D19-5F6C-46C1-7D89-7A8A7AEA4DF0}"/>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9" name="TextBox 8">
            <a:extLst>
              <a:ext uri="{FF2B5EF4-FFF2-40B4-BE49-F238E27FC236}">
                <a16:creationId xmlns:a16="http://schemas.microsoft.com/office/drawing/2014/main" id="{0F0E1D4C-F5D6-0E02-B8BC-C9F051896242}"/>
              </a:ext>
            </a:extLst>
          </p:cNvPr>
          <p:cNvSpPr txBox="1"/>
          <p:nvPr/>
        </p:nvSpPr>
        <p:spPr bwMode="gray">
          <a:xfrm>
            <a:off x="265" y="33649"/>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extLst>
      <p:ext uri="{BB962C8B-B14F-4D97-AF65-F5344CB8AC3E}">
        <p14:creationId xmlns:p14="http://schemas.microsoft.com/office/powerpoint/2010/main" val="11942885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D17BC-F4D9-3B33-FC3C-67CF8F9F6EF3}"/>
            </a:ext>
          </a:extLst>
        </p:cNvPr>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FB9B7799-E7AB-A34A-478F-C385A91B396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14" name="think-cell data - do not delete" hidden="1">
                        <a:extLst>
                          <a:ext uri="{FF2B5EF4-FFF2-40B4-BE49-F238E27FC236}">
                            <a16:creationId xmlns:a16="http://schemas.microsoft.com/office/drawing/2014/main" id="{FB9B7799-E7AB-A34A-478F-C385A91B3963}"/>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7D0CADD-0702-FF34-878F-6201CA0DEC58}"/>
              </a:ext>
            </a:extLst>
          </p:cNvPr>
          <p:cNvSpPr>
            <a:spLocks noGrp="1"/>
          </p:cNvSpPr>
          <p:nvPr>
            <p:ph type="title"/>
            <p:custDataLst>
              <p:tags r:id="rId3"/>
            </p:custDataLst>
          </p:nvPr>
        </p:nvSpPr>
        <p:spPr/>
        <p:txBody>
          <a:bodyPr vert="horz"/>
          <a:lstStyle/>
          <a:p>
            <a:pPr algn="l">
              <a:lnSpc>
                <a:spcPct val="110000"/>
              </a:lnSpc>
            </a:pPr>
            <a:r>
              <a:rPr lang="en-US" sz="2400" dirty="0"/>
              <a:t>OVERALL SCOPE &amp; APPROACH - </a:t>
            </a:r>
            <a:r>
              <a:rPr lang="en-US" dirty="0"/>
              <a:t>PROJECT'S STREAMS</a:t>
            </a:r>
            <a:endParaRPr lang="en-US" sz="2400" dirty="0"/>
          </a:p>
        </p:txBody>
      </p:sp>
      <p:sp>
        <p:nvSpPr>
          <p:cNvPr id="31" name="Arrow: Pentagon 30">
            <a:extLst>
              <a:ext uri="{FF2B5EF4-FFF2-40B4-BE49-F238E27FC236}">
                <a16:creationId xmlns:a16="http://schemas.microsoft.com/office/drawing/2014/main" id="{01919E58-1D13-453A-E7AC-F29DBEDC35BE}"/>
              </a:ext>
            </a:extLst>
          </p:cNvPr>
          <p:cNvSpPr/>
          <p:nvPr/>
        </p:nvSpPr>
        <p:spPr bwMode="gray">
          <a:xfrm>
            <a:off x="229565" y="2476874"/>
            <a:ext cx="4068000" cy="3644227"/>
          </a:xfrm>
          <a:prstGeom prst="homePlate">
            <a:avLst>
              <a:gd name="adj" fmla="val 12646"/>
            </a:avLst>
          </a:prstGeom>
          <a:solidFill>
            <a:srgbClr val="FFC000"/>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algn="ctr"/>
            <a:r>
              <a:rPr lang="en-GB" b="1" i="1">
                <a:solidFill>
                  <a:srgbClr val="E25B00"/>
                </a:solidFill>
              </a:rPr>
              <a:t>Assessment</a:t>
            </a:r>
          </a:p>
        </p:txBody>
      </p:sp>
      <p:sp>
        <p:nvSpPr>
          <p:cNvPr id="103" name="Rectangle: Rounded Corners 102">
            <a:extLst>
              <a:ext uri="{FF2B5EF4-FFF2-40B4-BE49-F238E27FC236}">
                <a16:creationId xmlns:a16="http://schemas.microsoft.com/office/drawing/2014/main" id="{21BE038D-AA10-8AF6-3D68-C8DEBEA7B99D}"/>
              </a:ext>
            </a:extLst>
          </p:cNvPr>
          <p:cNvSpPr/>
          <p:nvPr/>
        </p:nvSpPr>
        <p:spPr bwMode="gray">
          <a:xfrm>
            <a:off x="321005" y="1202541"/>
            <a:ext cx="11264586" cy="468000"/>
          </a:xfrm>
          <a:prstGeom prst="roundRect">
            <a:avLst/>
          </a:prstGeom>
          <a:solidFill>
            <a:srgbClr val="FFEEB9"/>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b="1">
                <a:solidFill>
                  <a:schemeClr val="tx1"/>
                </a:solidFill>
              </a:rPr>
              <a:t>Stream 1: Governance</a:t>
            </a:r>
          </a:p>
          <a:p>
            <a:pPr algn="ctr"/>
            <a:r>
              <a:rPr lang="en-GB" sz="1200" i="1">
                <a:solidFill>
                  <a:schemeClr val="tx1"/>
                </a:solidFill>
              </a:rPr>
              <a:t>Consolidate information to prepare day 1 and define 100 days plan. Risk mgmt. and interlock with IMO and other workstreams</a:t>
            </a:r>
          </a:p>
        </p:txBody>
      </p:sp>
      <p:sp>
        <p:nvSpPr>
          <p:cNvPr id="106" name="Rectangle: Rounded Corners 105">
            <a:extLst>
              <a:ext uri="{FF2B5EF4-FFF2-40B4-BE49-F238E27FC236}">
                <a16:creationId xmlns:a16="http://schemas.microsoft.com/office/drawing/2014/main" id="{ABC5A2BF-DB4D-39D2-55FE-92101085877A}"/>
              </a:ext>
            </a:extLst>
          </p:cNvPr>
          <p:cNvSpPr/>
          <p:nvPr/>
        </p:nvSpPr>
        <p:spPr bwMode="gray">
          <a:xfrm>
            <a:off x="321005" y="1835794"/>
            <a:ext cx="11264586" cy="468000"/>
          </a:xfrm>
          <a:prstGeom prst="roundRect">
            <a:avLst/>
          </a:prstGeom>
          <a:solidFill>
            <a:srgbClr val="FFEEB9"/>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b="1">
                <a:solidFill>
                  <a:schemeClr val="tx1"/>
                </a:solidFill>
              </a:rPr>
              <a:t>Stream 2: </a:t>
            </a:r>
            <a:r>
              <a:rPr lang="en-US" b="1">
                <a:solidFill>
                  <a:schemeClr val="tx1"/>
                </a:solidFill>
              </a:rPr>
              <a:t>IT Synergy plan and TSA disentanglement </a:t>
            </a:r>
            <a:endParaRPr lang="en-GB" b="1">
              <a:solidFill>
                <a:schemeClr val="tx1"/>
              </a:solidFill>
            </a:endParaRPr>
          </a:p>
          <a:p>
            <a:pPr algn="ctr">
              <a:buClr>
                <a:schemeClr val="tx1"/>
              </a:buClr>
              <a:defRPr sz="1800" b="0" i="0" u="none" strike="noStrike" kern="0" cap="none" spc="0" baseline="0">
                <a:solidFill>
                  <a:srgbClr val="000000"/>
                </a:solidFill>
                <a:uFillTx/>
              </a:defRPr>
            </a:pPr>
            <a:r>
              <a:rPr lang="en-US" sz="1200" i="1">
                <a:solidFill>
                  <a:schemeClr val="tx1"/>
                </a:solidFill>
              </a:rPr>
              <a:t>Consolidate synergies plan accordingly with TSA update, validate assumptions &amp; feasibility while continuously liaising with Business </a:t>
            </a:r>
          </a:p>
        </p:txBody>
      </p:sp>
      <p:sp>
        <p:nvSpPr>
          <p:cNvPr id="107" name="Arrow: Chevron 106">
            <a:extLst>
              <a:ext uri="{FF2B5EF4-FFF2-40B4-BE49-F238E27FC236}">
                <a16:creationId xmlns:a16="http://schemas.microsoft.com/office/drawing/2014/main" id="{9310AC27-750C-A789-70EE-61A09A6C5C04}"/>
              </a:ext>
            </a:extLst>
          </p:cNvPr>
          <p:cNvSpPr/>
          <p:nvPr/>
        </p:nvSpPr>
        <p:spPr bwMode="gray">
          <a:xfrm>
            <a:off x="4095216" y="2476874"/>
            <a:ext cx="4068000" cy="3644227"/>
          </a:xfrm>
          <a:prstGeom prst="chevron">
            <a:avLst>
              <a:gd name="adj" fmla="val 12442"/>
            </a:avLst>
          </a:prstGeom>
          <a:solidFill>
            <a:srgbClr val="FFC000"/>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algn="ctr"/>
            <a:r>
              <a:rPr lang="en-GB" b="1" i="1">
                <a:solidFill>
                  <a:srgbClr val="E25B00"/>
                </a:solidFill>
              </a:rPr>
              <a:t>Design</a:t>
            </a:r>
          </a:p>
        </p:txBody>
      </p:sp>
      <p:sp>
        <p:nvSpPr>
          <p:cNvPr id="108" name="Arrow: Chevron 107">
            <a:extLst>
              <a:ext uri="{FF2B5EF4-FFF2-40B4-BE49-F238E27FC236}">
                <a16:creationId xmlns:a16="http://schemas.microsoft.com/office/drawing/2014/main" id="{C7C73B21-D52D-D057-1628-00E061B071A3}"/>
              </a:ext>
            </a:extLst>
          </p:cNvPr>
          <p:cNvSpPr/>
          <p:nvPr/>
        </p:nvSpPr>
        <p:spPr bwMode="gray">
          <a:xfrm>
            <a:off x="7960867" y="2476874"/>
            <a:ext cx="4068000" cy="3644227"/>
          </a:xfrm>
          <a:prstGeom prst="chevron">
            <a:avLst>
              <a:gd name="adj" fmla="val 12442"/>
            </a:avLst>
          </a:prstGeom>
          <a:solidFill>
            <a:srgbClr val="FFC000"/>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algn="ctr"/>
            <a:r>
              <a:rPr lang="en-GB" b="1" i="1">
                <a:solidFill>
                  <a:srgbClr val="E25B00"/>
                </a:solidFill>
              </a:rPr>
              <a:t>Roadmap</a:t>
            </a:r>
          </a:p>
        </p:txBody>
      </p:sp>
      <p:pic>
        <p:nvPicPr>
          <p:cNvPr id="1028" name="Picture 4" descr="Governance - Free architecture and city icons">
            <a:extLst>
              <a:ext uri="{FF2B5EF4-FFF2-40B4-BE49-F238E27FC236}">
                <a16:creationId xmlns:a16="http://schemas.microsoft.com/office/drawing/2014/main" id="{F7590C5D-9622-29A6-2F95-7B9C27E3C3AA}"/>
              </a:ext>
            </a:extLst>
          </p:cNvPr>
          <p:cNvPicPr>
            <a:picLocks noChangeAspect="1" noChangeArrowheads="1"/>
          </p:cNvPicPr>
          <p:nvPr/>
        </p:nvPicPr>
        <p:blipFill>
          <a:blip r:embed="rId8" cstate="screen">
            <a:extLst>
              <a:ext uri="{BEBA8EAE-BF5A-486C-A8C5-ECC9F3942E4B}">
                <a14:imgProps xmlns:a14="http://schemas.microsoft.com/office/drawing/2010/main">
                  <a14:imgLayer r:embed="rId9">
                    <a14:imgEffect>
                      <a14:colorTemperature colorTemp="4700"/>
                    </a14:imgEffect>
                  </a14:imgLayer>
                </a14:imgProps>
              </a:ext>
              <a:ext uri="{28A0092B-C50C-407E-A947-70E740481C1C}">
                <a14:useLocalDpi xmlns:a14="http://schemas.microsoft.com/office/drawing/2010/main"/>
              </a:ext>
            </a:extLst>
          </a:blip>
          <a:srcRect/>
          <a:stretch>
            <a:fillRect/>
          </a:stretch>
        </p:blipFill>
        <p:spPr bwMode="auto">
          <a:xfrm>
            <a:off x="601237" y="1217225"/>
            <a:ext cx="432000" cy="4320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Icona lineare di sinergia dei costi Immagine e Vettoriale - Alamy">
            <a:extLst>
              <a:ext uri="{FF2B5EF4-FFF2-40B4-BE49-F238E27FC236}">
                <a16:creationId xmlns:a16="http://schemas.microsoft.com/office/drawing/2014/main" id="{140B773E-B2AD-7F55-CA80-1E37600AA3CB}"/>
              </a:ext>
            </a:extLst>
          </p:cNvPr>
          <p:cNvPicPr>
            <a:picLocks noChangeAspect="1" noChangeArrowheads="1"/>
          </p:cNvPicPr>
          <p:nvPr/>
        </p:nvPicPr>
        <p:blipFill rotWithShape="1">
          <a:blip r:embed="rId10" cstate="screen">
            <a:clrChange>
              <a:clrFrom>
                <a:srgbClr val="FFFFFF"/>
              </a:clrFrom>
              <a:clrTo>
                <a:srgbClr val="FFFFFF">
                  <a:alpha val="0"/>
                </a:srgbClr>
              </a:clrTo>
            </a:clrChange>
            <a:extLst>
              <a:ext uri="{BEBA8EAE-BF5A-486C-A8C5-ECC9F3942E4B}">
                <a14:imgProps xmlns:a14="http://schemas.microsoft.com/office/drawing/2010/main">
                  <a14:imgLayer r:embed="rId11">
                    <a14:imgEffect>
                      <a14:saturation sat="400000"/>
                    </a14:imgEffect>
                  </a14:imgLayer>
                </a14:imgProps>
              </a:ext>
              <a:ext uri="{28A0092B-C50C-407E-A947-70E740481C1C}">
                <a14:useLocalDpi xmlns:a14="http://schemas.microsoft.com/office/drawing/2010/main"/>
              </a:ext>
            </a:extLst>
          </a:blip>
          <a:srcRect/>
          <a:stretch/>
        </p:blipFill>
        <p:spPr bwMode="auto">
          <a:xfrm>
            <a:off x="539337" y="1879983"/>
            <a:ext cx="555800" cy="398365"/>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3EC21F40-67B4-BC11-100E-2B1C9C669F29}"/>
              </a:ext>
            </a:extLst>
          </p:cNvPr>
          <p:cNvGrpSpPr/>
          <p:nvPr/>
        </p:nvGrpSpPr>
        <p:grpSpPr>
          <a:xfrm>
            <a:off x="321005" y="3520105"/>
            <a:ext cx="11264586" cy="468000"/>
            <a:chOff x="321005" y="2914596"/>
            <a:chExt cx="11264586" cy="468000"/>
          </a:xfrm>
        </p:grpSpPr>
        <p:sp>
          <p:nvSpPr>
            <p:cNvPr id="109" name="Rectangle: Rounded Corners 108">
              <a:extLst>
                <a:ext uri="{FF2B5EF4-FFF2-40B4-BE49-F238E27FC236}">
                  <a16:creationId xmlns:a16="http://schemas.microsoft.com/office/drawing/2014/main" id="{068F1F99-1EDE-AD14-CD57-22AF93DD033D}"/>
                </a:ext>
              </a:extLst>
            </p:cNvPr>
            <p:cNvSpPr/>
            <p:nvPr/>
          </p:nvSpPr>
          <p:spPr bwMode="gray">
            <a:xfrm>
              <a:off x="321005" y="2914596"/>
              <a:ext cx="11264586" cy="468000"/>
            </a:xfrm>
            <a:prstGeom prst="roundRect">
              <a:avLst/>
            </a:prstGeom>
            <a:solidFill>
              <a:srgbClr val="FFEEB9"/>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b="1">
                  <a:solidFill>
                    <a:schemeClr val="tx1"/>
                  </a:solidFill>
                </a:rPr>
                <a:t>Stream 4: Application Domain (incl. Architecture, BSS, OSS, ERP, Office IT)</a:t>
              </a:r>
            </a:p>
            <a:p>
              <a:pPr algn="ctr"/>
              <a:r>
                <a:rPr lang="en-GB" sz="1200" i="1">
                  <a:solidFill>
                    <a:schemeClr val="tx1"/>
                  </a:solidFill>
                </a:rPr>
                <a:t>Define Application Landscape convergence and target state. Ensure a unified application stack and seamless migration experience</a:t>
              </a:r>
            </a:p>
          </p:txBody>
        </p:sp>
        <p:pic>
          <p:nvPicPr>
            <p:cNvPr id="1046" name="Picture 22" descr="Application Icons - Free SVG &amp; PNG Application Images - Noun Project">
              <a:extLst>
                <a:ext uri="{FF2B5EF4-FFF2-40B4-BE49-F238E27FC236}">
                  <a16:creationId xmlns:a16="http://schemas.microsoft.com/office/drawing/2014/main" id="{9BA4A741-50DD-878D-D869-33085C98FDE9}"/>
                </a:ext>
              </a:extLst>
            </p:cNvPr>
            <p:cNvPicPr>
              <a:picLocks noChangeAspect="1" noChangeArrowheads="1"/>
            </p:cNvPicPr>
            <p:nvPr/>
          </p:nvPicPr>
          <p:blipFill>
            <a:blip r:embed="rId12" cstate="screen">
              <a:clrChange>
                <a:clrFrom>
                  <a:srgbClr val="FFFFFF"/>
                </a:clrFrom>
                <a:clrTo>
                  <a:srgbClr val="FFFFFF">
                    <a:alpha val="0"/>
                  </a:srgbClr>
                </a:clrTo>
              </a:clrChange>
              <a:duotone>
                <a:prstClr val="black"/>
                <a:srgbClr val="0070C0">
                  <a:tint val="45000"/>
                  <a:satMod val="400000"/>
                </a:srgbClr>
              </a:duotone>
              <a:extLst>
                <a:ext uri="{28A0092B-C50C-407E-A947-70E740481C1C}">
                  <a14:useLocalDpi xmlns:a14="http://schemas.microsoft.com/office/drawing/2010/main"/>
                </a:ext>
              </a:extLst>
            </a:blip>
            <a:srcRect/>
            <a:stretch>
              <a:fillRect/>
            </a:stretch>
          </p:blipFill>
          <p:spPr bwMode="auto">
            <a:xfrm>
              <a:off x="606409" y="2936925"/>
              <a:ext cx="421657" cy="42165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a:extLst>
              <a:ext uri="{FF2B5EF4-FFF2-40B4-BE49-F238E27FC236}">
                <a16:creationId xmlns:a16="http://schemas.microsoft.com/office/drawing/2014/main" id="{4FB26897-30D5-DDDB-82C3-7BF062238BA6}"/>
              </a:ext>
            </a:extLst>
          </p:cNvPr>
          <p:cNvGrpSpPr/>
          <p:nvPr/>
        </p:nvGrpSpPr>
        <p:grpSpPr>
          <a:xfrm>
            <a:off x="321005" y="4826135"/>
            <a:ext cx="11264586" cy="468000"/>
            <a:chOff x="321005" y="4819890"/>
            <a:chExt cx="11264586" cy="468000"/>
          </a:xfrm>
        </p:grpSpPr>
        <p:sp>
          <p:nvSpPr>
            <p:cNvPr id="111" name="Rectangle: Rounded Corners 110">
              <a:extLst>
                <a:ext uri="{FF2B5EF4-FFF2-40B4-BE49-F238E27FC236}">
                  <a16:creationId xmlns:a16="http://schemas.microsoft.com/office/drawing/2014/main" id="{BF14C790-BD71-1225-5454-23E20050D888}"/>
                </a:ext>
              </a:extLst>
            </p:cNvPr>
            <p:cNvSpPr/>
            <p:nvPr/>
          </p:nvSpPr>
          <p:spPr bwMode="gray">
            <a:xfrm>
              <a:off x="321005" y="4819890"/>
              <a:ext cx="11264586" cy="468000"/>
            </a:xfrm>
            <a:prstGeom prst="roundRect">
              <a:avLst/>
            </a:prstGeom>
            <a:solidFill>
              <a:srgbClr val="FFEEB9"/>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b="1">
                  <a:solidFill>
                    <a:schemeClr val="tx1"/>
                  </a:solidFill>
                </a:rPr>
                <a:t>Stream 6: Cloud, Infrastructure &amp; Cyber Security</a:t>
              </a:r>
            </a:p>
            <a:p>
              <a:pPr algn="ctr"/>
              <a:r>
                <a:rPr lang="en-GB" sz="1200" i="1">
                  <a:solidFill>
                    <a:schemeClr val="tx1"/>
                  </a:solidFill>
                </a:rPr>
                <a:t>Define an integrated infrastructure architecture and related migration strategy. Define Cloud Strategy roadmap based on multi-cloud Telco best practices</a:t>
              </a:r>
              <a:endParaRPr lang="en-GB" b="1">
                <a:solidFill>
                  <a:schemeClr val="tx1"/>
                </a:solidFill>
              </a:endParaRPr>
            </a:p>
          </p:txBody>
        </p:sp>
        <p:pic>
          <p:nvPicPr>
            <p:cNvPr id="1048" name="Picture 24" descr="Data Cloud icon PNG and SVG Vector Free Download">
              <a:extLst>
                <a:ext uri="{FF2B5EF4-FFF2-40B4-BE49-F238E27FC236}">
                  <a16:creationId xmlns:a16="http://schemas.microsoft.com/office/drawing/2014/main" id="{32B1EDF0-1526-A4AE-B132-5C39CAD54ABA}"/>
                </a:ext>
              </a:extLst>
            </p:cNvPr>
            <p:cNvPicPr>
              <a:picLocks noChangeAspect="1" noChangeArrowheads="1"/>
            </p:cNvPicPr>
            <p:nvPr/>
          </p:nvPicPr>
          <p:blipFill>
            <a:blip r:embed="rId1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75359" y="4833959"/>
              <a:ext cx="483756" cy="43476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Group 6">
            <a:extLst>
              <a:ext uri="{FF2B5EF4-FFF2-40B4-BE49-F238E27FC236}">
                <a16:creationId xmlns:a16="http://schemas.microsoft.com/office/drawing/2014/main" id="{8B2459B0-245E-F0F5-B5FF-B5C838FF594D}"/>
              </a:ext>
            </a:extLst>
          </p:cNvPr>
          <p:cNvGrpSpPr/>
          <p:nvPr/>
        </p:nvGrpSpPr>
        <p:grpSpPr>
          <a:xfrm>
            <a:off x="321005" y="2881550"/>
            <a:ext cx="11264586" cy="504000"/>
            <a:chOff x="321005" y="4155878"/>
            <a:chExt cx="11264586" cy="504000"/>
          </a:xfrm>
        </p:grpSpPr>
        <p:sp>
          <p:nvSpPr>
            <p:cNvPr id="114" name="Rectangle: Rounded Corners 113">
              <a:extLst>
                <a:ext uri="{FF2B5EF4-FFF2-40B4-BE49-F238E27FC236}">
                  <a16:creationId xmlns:a16="http://schemas.microsoft.com/office/drawing/2014/main" id="{32B8DF9B-133B-BF8B-475A-5360B89872F9}"/>
                </a:ext>
              </a:extLst>
            </p:cNvPr>
            <p:cNvSpPr/>
            <p:nvPr/>
          </p:nvSpPr>
          <p:spPr bwMode="gray">
            <a:xfrm>
              <a:off x="321005" y="4183798"/>
              <a:ext cx="11264586" cy="468000"/>
            </a:xfrm>
            <a:prstGeom prst="roundRect">
              <a:avLst/>
            </a:prstGeom>
            <a:solidFill>
              <a:srgbClr val="FFEEB9"/>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b="1">
                  <a:solidFill>
                    <a:schemeClr val="tx1"/>
                  </a:solidFill>
                </a:rPr>
                <a:t>Stream 3: Operating Model (Intermediate and Target)</a:t>
              </a:r>
            </a:p>
            <a:p>
              <a:pPr algn="ctr">
                <a:buClr>
                  <a:schemeClr val="tx1"/>
                </a:buClr>
                <a:defRPr sz="1800" b="0" i="0" u="none" strike="noStrike" kern="0" cap="none" spc="0" baseline="0">
                  <a:solidFill>
                    <a:srgbClr val="000000"/>
                  </a:solidFill>
                  <a:uFillTx/>
                </a:defRPr>
              </a:pPr>
              <a:r>
                <a:rPr lang="en-GB" sz="1200" i="1" kern="0">
                  <a:solidFill>
                    <a:schemeClr val="tx1"/>
                  </a:solidFill>
                </a:rPr>
                <a:t>Define a Product oriented Operating Model and related intermediate scenarios to ensure smooth transition and standardization</a:t>
              </a:r>
            </a:p>
          </p:txBody>
        </p:sp>
        <p:pic>
          <p:nvPicPr>
            <p:cNvPr id="1050" name="Picture 26" descr="Operating Model Icon - Slide Team">
              <a:extLst>
                <a:ext uri="{FF2B5EF4-FFF2-40B4-BE49-F238E27FC236}">
                  <a16:creationId xmlns:a16="http://schemas.microsoft.com/office/drawing/2014/main" id="{0DD5586D-CB2B-DBA2-EBF7-A3407BC1374F}"/>
                </a:ext>
              </a:extLst>
            </p:cNvPr>
            <p:cNvPicPr>
              <a:picLocks noChangeAspect="1" noChangeArrowheads="1"/>
            </p:cNvPicPr>
            <p:nvPr/>
          </p:nvPicPr>
          <p:blipFill rotWithShape="1">
            <a:blip r:embed="rId1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499005" y="4155878"/>
              <a:ext cx="583056" cy="504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Group 7">
            <a:extLst>
              <a:ext uri="{FF2B5EF4-FFF2-40B4-BE49-F238E27FC236}">
                <a16:creationId xmlns:a16="http://schemas.microsoft.com/office/drawing/2014/main" id="{FE8F52C8-B0C3-1E59-73F7-74800B9DC8D6}"/>
              </a:ext>
            </a:extLst>
          </p:cNvPr>
          <p:cNvGrpSpPr/>
          <p:nvPr/>
        </p:nvGrpSpPr>
        <p:grpSpPr>
          <a:xfrm>
            <a:off x="321005" y="4160251"/>
            <a:ext cx="11264586" cy="468000"/>
            <a:chOff x="321005" y="3518594"/>
            <a:chExt cx="11264586" cy="468000"/>
          </a:xfrm>
        </p:grpSpPr>
        <p:sp>
          <p:nvSpPr>
            <p:cNvPr id="112" name="Rectangle: Rounded Corners 111">
              <a:extLst>
                <a:ext uri="{FF2B5EF4-FFF2-40B4-BE49-F238E27FC236}">
                  <a16:creationId xmlns:a16="http://schemas.microsoft.com/office/drawing/2014/main" id="{1826B772-A620-19B0-943A-E6BBB10EFF1C}"/>
                </a:ext>
              </a:extLst>
            </p:cNvPr>
            <p:cNvSpPr/>
            <p:nvPr/>
          </p:nvSpPr>
          <p:spPr bwMode="gray">
            <a:xfrm>
              <a:off x="321005" y="3518594"/>
              <a:ext cx="11264586" cy="468000"/>
            </a:xfrm>
            <a:prstGeom prst="roundRect">
              <a:avLst/>
            </a:prstGeom>
            <a:solidFill>
              <a:srgbClr val="FFEEB9"/>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tx1"/>
                  </a:solidFill>
                </a:rPr>
                <a:t>Stream 5: Data &amp; AI</a:t>
              </a:r>
            </a:p>
            <a:p>
              <a:pPr algn="ctr">
                <a:buClr>
                  <a:schemeClr val="tx1"/>
                </a:buClr>
                <a:defRPr sz="1800" b="0" i="0" u="none" strike="noStrike" kern="0" cap="none" spc="0" baseline="0">
                  <a:solidFill>
                    <a:srgbClr val="000000"/>
                  </a:solidFill>
                  <a:uFillTx/>
                </a:defRPr>
              </a:pPr>
              <a:r>
                <a:rPr lang="en-US" sz="1200" i="1" kern="0" dirty="0">
                  <a:solidFill>
                    <a:schemeClr val="tx1"/>
                  </a:solidFill>
                </a:rPr>
                <a:t>Define Data &amp; AI framework, in terms of process and technology, to be used at Day 1 and be further refined and strengthen</a:t>
              </a:r>
            </a:p>
          </p:txBody>
        </p:sp>
        <p:pic>
          <p:nvPicPr>
            <p:cNvPr id="1052" name="Picture 28" descr="Agreement Meticulous Line icon">
              <a:extLst>
                <a:ext uri="{FF2B5EF4-FFF2-40B4-BE49-F238E27FC236}">
                  <a16:creationId xmlns:a16="http://schemas.microsoft.com/office/drawing/2014/main" id="{FF46A5AE-06EE-7797-A2D6-351AABAF4253}"/>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605424" y="3569654"/>
              <a:ext cx="357525" cy="3575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Group 10">
            <a:extLst>
              <a:ext uri="{FF2B5EF4-FFF2-40B4-BE49-F238E27FC236}">
                <a16:creationId xmlns:a16="http://schemas.microsoft.com/office/drawing/2014/main" id="{46C55447-34F3-7EB5-9718-6D7991FBD40A}"/>
              </a:ext>
            </a:extLst>
          </p:cNvPr>
          <p:cNvGrpSpPr/>
          <p:nvPr/>
        </p:nvGrpSpPr>
        <p:grpSpPr>
          <a:xfrm>
            <a:off x="321005" y="5478134"/>
            <a:ext cx="11264586" cy="496305"/>
            <a:chOff x="321005" y="5448952"/>
            <a:chExt cx="11264586" cy="496305"/>
          </a:xfrm>
        </p:grpSpPr>
        <p:sp>
          <p:nvSpPr>
            <p:cNvPr id="113" name="Rectangle: Rounded Corners 112">
              <a:extLst>
                <a:ext uri="{FF2B5EF4-FFF2-40B4-BE49-F238E27FC236}">
                  <a16:creationId xmlns:a16="http://schemas.microsoft.com/office/drawing/2014/main" id="{B4946581-E7D0-EF4E-9D5D-8CC71F2394A1}"/>
                </a:ext>
              </a:extLst>
            </p:cNvPr>
            <p:cNvSpPr/>
            <p:nvPr/>
          </p:nvSpPr>
          <p:spPr bwMode="gray">
            <a:xfrm>
              <a:off x="321005" y="5477257"/>
              <a:ext cx="11264586" cy="468000"/>
            </a:xfrm>
            <a:prstGeom prst="roundRect">
              <a:avLst/>
            </a:prstGeom>
            <a:solidFill>
              <a:srgbClr val="FFEEB9"/>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b="1">
                  <a:solidFill>
                    <a:schemeClr val="tx1"/>
                  </a:solidFill>
                </a:rPr>
                <a:t>Stream 7: Sourcing &amp; Contract Management</a:t>
              </a:r>
            </a:p>
            <a:p>
              <a:pPr algn="ctr" hangingPunct="0">
                <a:buClr>
                  <a:schemeClr val="tx1"/>
                </a:buClr>
                <a:defRPr sz="1800" b="0" i="0" u="none" strike="noStrike" kern="0" cap="none" spc="0" baseline="0">
                  <a:solidFill>
                    <a:srgbClr val="000000"/>
                  </a:solidFill>
                  <a:uFillTx/>
                </a:defRPr>
              </a:pPr>
              <a:r>
                <a:rPr lang="en-US" sz="1200" i="1">
                  <a:solidFill>
                    <a:schemeClr val="tx1"/>
                  </a:solidFill>
                </a:rPr>
                <a:t>Define Service migration strategy to ensure harmonized IT investments </a:t>
              </a:r>
            </a:p>
          </p:txBody>
        </p:sp>
        <p:pic>
          <p:nvPicPr>
            <p:cNvPr id="1054" name="Picture 30" descr="AI and Big Data icon 29272455 Vector Art at Vecteezy">
              <a:extLst>
                <a:ext uri="{FF2B5EF4-FFF2-40B4-BE49-F238E27FC236}">
                  <a16:creationId xmlns:a16="http://schemas.microsoft.com/office/drawing/2014/main" id="{4A85AFD7-4374-0E08-7319-583FEEE516B5}"/>
                </a:ext>
              </a:extLst>
            </p:cNvPr>
            <p:cNvPicPr>
              <a:picLocks noChangeAspect="1" noChangeArrowheads="1"/>
            </p:cNvPicPr>
            <p:nvPr/>
          </p:nvPicPr>
          <p:blipFill>
            <a:blip r:embed="rId16"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83237" y="5448952"/>
              <a:ext cx="468000" cy="468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 name="Groupe 1">
            <a:extLst>
              <a:ext uri="{FF2B5EF4-FFF2-40B4-BE49-F238E27FC236}">
                <a16:creationId xmlns:a16="http://schemas.microsoft.com/office/drawing/2014/main" id="{9A99062C-8DA5-9125-455F-C1F832A90CAD}"/>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18" name="Freeform 13">
              <a:extLst>
                <a:ext uri="{FF2B5EF4-FFF2-40B4-BE49-F238E27FC236}">
                  <a16:creationId xmlns:a16="http://schemas.microsoft.com/office/drawing/2014/main" id="{3C39F7CA-F8AE-069A-9D3F-91B4EF478CD4}"/>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22" name="Freeform 14">
              <a:extLst>
                <a:ext uri="{FF2B5EF4-FFF2-40B4-BE49-F238E27FC236}">
                  <a16:creationId xmlns:a16="http://schemas.microsoft.com/office/drawing/2014/main" id="{295B9648-5A84-4D37-D63B-94A095412E73}"/>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3" name="Foliennummernplatzhalter 5">
            <a:extLst>
              <a:ext uri="{FF2B5EF4-FFF2-40B4-BE49-F238E27FC236}">
                <a16:creationId xmlns:a16="http://schemas.microsoft.com/office/drawing/2014/main" id="{E0A2A5C4-5D5B-B3B8-A875-753AAD162AA9}"/>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3</a:t>
            </a:fld>
            <a:endParaRPr lang="en-US"/>
          </a:p>
        </p:txBody>
      </p:sp>
      <p:sp>
        <p:nvSpPr>
          <p:cNvPr id="23" name="Rectangle 27">
            <a:extLst>
              <a:ext uri="{FF2B5EF4-FFF2-40B4-BE49-F238E27FC236}">
                <a16:creationId xmlns:a16="http://schemas.microsoft.com/office/drawing/2014/main" id="{86360A7B-4680-A15E-2C42-FCDF6C7A4EA3}"/>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4" name="TextBox 3">
            <a:extLst>
              <a:ext uri="{FF2B5EF4-FFF2-40B4-BE49-F238E27FC236}">
                <a16:creationId xmlns:a16="http://schemas.microsoft.com/office/drawing/2014/main" id="{4A9CDCE2-F40B-70EC-29B7-D70C19C22459}"/>
              </a:ext>
            </a:extLst>
          </p:cNvPr>
          <p:cNvSpPr txBox="1"/>
          <p:nvPr/>
        </p:nvSpPr>
        <p:spPr bwMode="gray">
          <a:xfrm>
            <a:off x="265" y="33649"/>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custDataLst>
      <p:tags r:id="rId1"/>
    </p:custDataLst>
    <p:extLst>
      <p:ext uri="{BB962C8B-B14F-4D97-AF65-F5344CB8AC3E}">
        <p14:creationId xmlns:p14="http://schemas.microsoft.com/office/powerpoint/2010/main" val="776947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TextBox 201">
            <a:extLst>
              <a:ext uri="{FF2B5EF4-FFF2-40B4-BE49-F238E27FC236}">
                <a16:creationId xmlns:a16="http://schemas.microsoft.com/office/drawing/2014/main" id="{24E13047-51CC-CC1B-61CB-A9CA8E1E1219}"/>
              </a:ext>
            </a:extLst>
          </p:cNvPr>
          <p:cNvSpPr txBox="1"/>
          <p:nvPr/>
        </p:nvSpPr>
        <p:spPr bwMode="gray">
          <a:xfrm>
            <a:off x="2853556" y="6533095"/>
            <a:ext cx="4920312" cy="276999"/>
          </a:xfrm>
          <a:prstGeom prst="rect">
            <a:avLst/>
          </a:prstGeom>
          <a:noFill/>
          <a:ln>
            <a:noFill/>
          </a:ln>
        </p:spPr>
        <p:txBody>
          <a:bodyPr wrap="square">
            <a:spAutoFit/>
          </a:bodyPr>
          <a:lstStyle/>
          <a:p>
            <a:r>
              <a:rPr lang="en-GB" sz="1200" dirty="0">
                <a:solidFill>
                  <a:srgbClr val="000000"/>
                </a:solidFill>
                <a:effectLst/>
                <a:latin typeface="Helvetica" pitchFamily="2" charset="0"/>
              </a:rPr>
              <a:t>#X: RFS Deliverables</a:t>
            </a:r>
          </a:p>
        </p:txBody>
      </p:sp>
      <p:sp>
        <p:nvSpPr>
          <p:cNvPr id="9" name="Rectangle 8">
            <a:extLst>
              <a:ext uri="{FF2B5EF4-FFF2-40B4-BE49-F238E27FC236}">
                <a16:creationId xmlns:a16="http://schemas.microsoft.com/office/drawing/2014/main" id="{F23043E9-A3DE-0AB8-0254-DF399438F522}"/>
              </a:ext>
            </a:extLst>
          </p:cNvPr>
          <p:cNvSpPr/>
          <p:nvPr/>
        </p:nvSpPr>
        <p:spPr>
          <a:xfrm>
            <a:off x="1824903" y="5517108"/>
            <a:ext cx="9883019" cy="983899"/>
          </a:xfrm>
          <a:prstGeom prst="rect">
            <a:avLst/>
          </a:prstGeom>
          <a:solidFill>
            <a:schemeClr val="accent1"/>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endParaRPr lang="en-IN" sz="1400" kern="0">
              <a:solidFill>
                <a:srgbClr val="000000"/>
              </a:solidFill>
              <a:latin typeface="+mj-lt"/>
              <a:sym typeface="Arial"/>
            </a:endParaRPr>
          </a:p>
        </p:txBody>
      </p:sp>
      <p:grpSp>
        <p:nvGrpSpPr>
          <p:cNvPr id="34" name="Groupe 1">
            <a:extLst>
              <a:ext uri="{FF2B5EF4-FFF2-40B4-BE49-F238E27FC236}">
                <a16:creationId xmlns:a16="http://schemas.microsoft.com/office/drawing/2014/main" id="{21F93DBE-D09A-4174-F71E-0E4724FBF760}"/>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41" name="Freeform 13">
              <a:extLst>
                <a:ext uri="{FF2B5EF4-FFF2-40B4-BE49-F238E27FC236}">
                  <a16:creationId xmlns:a16="http://schemas.microsoft.com/office/drawing/2014/main" id="{F9DD48A6-1A9E-9EB5-895A-A0334B256045}"/>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43" name="Freeform 14">
              <a:extLst>
                <a:ext uri="{FF2B5EF4-FFF2-40B4-BE49-F238E27FC236}">
                  <a16:creationId xmlns:a16="http://schemas.microsoft.com/office/drawing/2014/main" id="{E1B59224-6385-0BF7-D00B-1CD2DC34362C}"/>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graphicFrame>
        <p:nvGraphicFramePr>
          <p:cNvPr id="23" name="Object 22" hidden="1">
            <a:extLst>
              <a:ext uri="{FF2B5EF4-FFF2-40B4-BE49-F238E27FC236}">
                <a16:creationId xmlns:a16="http://schemas.microsoft.com/office/drawing/2014/main" id="{25A92186-3717-3190-B278-D622D8A1957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23" name="Object 22" hidden="1">
                        <a:extLst>
                          <a:ext uri="{FF2B5EF4-FFF2-40B4-BE49-F238E27FC236}">
                            <a16:creationId xmlns:a16="http://schemas.microsoft.com/office/drawing/2014/main" id="{25A92186-3717-3190-B278-D622D8A1957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348AD66-9053-4F20-8684-0E958FF719D7}"/>
              </a:ext>
            </a:extLst>
          </p:cNvPr>
          <p:cNvSpPr>
            <a:spLocks noGrp="1"/>
          </p:cNvSpPr>
          <p:nvPr>
            <p:ph type="title"/>
          </p:nvPr>
        </p:nvSpPr>
        <p:spPr>
          <a:xfrm>
            <a:off x="1383241" y="332656"/>
            <a:ext cx="10512000" cy="720000"/>
          </a:xfrm>
        </p:spPr>
        <p:txBody>
          <a:bodyPr vert="horz"/>
          <a:lstStyle/>
          <a:p>
            <a:r>
              <a:rPr lang="en-US" sz="2400" dirty="0">
                <a:solidFill>
                  <a:schemeClr val="tx1"/>
                </a:solidFill>
              </a:rPr>
              <a:t>HIGH-LEVEL PROJECT PLAN</a:t>
            </a:r>
          </a:p>
        </p:txBody>
      </p:sp>
      <p:grpSp>
        <p:nvGrpSpPr>
          <p:cNvPr id="76" name="Group 75">
            <a:extLst>
              <a:ext uri="{FF2B5EF4-FFF2-40B4-BE49-F238E27FC236}">
                <a16:creationId xmlns:a16="http://schemas.microsoft.com/office/drawing/2014/main" id="{979DE229-E6C7-9C46-B3C7-04B31146F4EF}"/>
              </a:ext>
            </a:extLst>
          </p:cNvPr>
          <p:cNvGrpSpPr/>
          <p:nvPr/>
        </p:nvGrpSpPr>
        <p:grpSpPr>
          <a:xfrm>
            <a:off x="10082054" y="5902444"/>
            <a:ext cx="2741339" cy="461665"/>
            <a:chOff x="3644979" y="2598051"/>
            <a:chExt cx="2741339" cy="461665"/>
          </a:xfrm>
        </p:grpSpPr>
        <p:sp>
          <p:nvSpPr>
            <p:cNvPr id="77" name="Diamond 76">
              <a:extLst>
                <a:ext uri="{FF2B5EF4-FFF2-40B4-BE49-F238E27FC236}">
                  <a16:creationId xmlns:a16="http://schemas.microsoft.com/office/drawing/2014/main" id="{78A7871E-7EA9-40A2-8517-8D5C90F94054}"/>
                </a:ext>
              </a:extLst>
            </p:cNvPr>
            <p:cNvSpPr/>
            <p:nvPr/>
          </p:nvSpPr>
          <p:spPr bwMode="gray">
            <a:xfrm>
              <a:off x="3644979" y="2683648"/>
              <a:ext cx="108000" cy="108000"/>
            </a:xfrm>
            <a:prstGeom prst="diamond">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dirty="0">
                <a:solidFill>
                  <a:schemeClr val="tx1"/>
                </a:solidFill>
              </a:endParaRPr>
            </a:p>
          </p:txBody>
        </p:sp>
        <p:sp>
          <p:nvSpPr>
            <p:cNvPr id="78" name="TextBox 77">
              <a:extLst>
                <a:ext uri="{FF2B5EF4-FFF2-40B4-BE49-F238E27FC236}">
                  <a16:creationId xmlns:a16="http://schemas.microsoft.com/office/drawing/2014/main" id="{FE14E694-2C44-7027-8674-7A05FA9CB3B8}"/>
                </a:ext>
              </a:extLst>
            </p:cNvPr>
            <p:cNvSpPr txBox="1"/>
            <p:nvPr/>
          </p:nvSpPr>
          <p:spPr bwMode="gray">
            <a:xfrm>
              <a:off x="3714853" y="2598051"/>
              <a:ext cx="2671465" cy="461665"/>
            </a:xfrm>
            <a:prstGeom prst="rect">
              <a:avLst/>
            </a:prstGeom>
            <a:noFill/>
            <a:ln>
              <a:noFill/>
            </a:ln>
          </p:spPr>
          <p:txBody>
            <a:bodyPr wrap="square">
              <a:spAutoFit/>
            </a:bodyPr>
            <a:lstStyle/>
            <a:p>
              <a:r>
                <a:rPr lang="en-GB" sz="1200" dirty="0">
                  <a:solidFill>
                    <a:srgbClr val="000000"/>
                  </a:solidFill>
                  <a:effectLst/>
                  <a:latin typeface="Helvetica" pitchFamily="2" charset="0"/>
                </a:rPr>
                <a:t>#6 – Initial IT HL </a:t>
              </a:r>
            </a:p>
            <a:p>
              <a:r>
                <a:rPr lang="en-GB" sz="1200" dirty="0">
                  <a:solidFill>
                    <a:srgbClr val="000000"/>
                  </a:solidFill>
                  <a:effectLst/>
                  <a:latin typeface="Helvetica" pitchFamily="2" charset="0"/>
                </a:rPr>
                <a:t>Integration Plan</a:t>
              </a:r>
            </a:p>
          </p:txBody>
        </p:sp>
      </p:grpSp>
      <p:grpSp>
        <p:nvGrpSpPr>
          <p:cNvPr id="6" name="Group 5">
            <a:extLst>
              <a:ext uri="{FF2B5EF4-FFF2-40B4-BE49-F238E27FC236}">
                <a16:creationId xmlns:a16="http://schemas.microsoft.com/office/drawing/2014/main" id="{CB080F3F-7AEA-F305-EE97-0D4874F466A6}"/>
              </a:ext>
            </a:extLst>
          </p:cNvPr>
          <p:cNvGrpSpPr/>
          <p:nvPr/>
        </p:nvGrpSpPr>
        <p:grpSpPr>
          <a:xfrm>
            <a:off x="249933" y="873148"/>
            <a:ext cx="11484019" cy="4515341"/>
            <a:chOff x="249933" y="873148"/>
            <a:chExt cx="11484019" cy="5559863"/>
          </a:xfrm>
        </p:grpSpPr>
        <p:sp>
          <p:nvSpPr>
            <p:cNvPr id="91" name="Rectangle : coins arrondis 90">
              <a:extLst>
                <a:ext uri="{FF2B5EF4-FFF2-40B4-BE49-F238E27FC236}">
                  <a16:creationId xmlns:a16="http://schemas.microsoft.com/office/drawing/2014/main" id="{07A30444-A406-65DC-87B8-DF3E738D690C}"/>
                </a:ext>
              </a:extLst>
            </p:cNvPr>
            <p:cNvSpPr>
              <a:spLocks noChangeArrowheads="1"/>
            </p:cNvSpPr>
            <p:nvPr/>
          </p:nvSpPr>
          <p:spPr bwMode="auto">
            <a:xfrm>
              <a:off x="1836474" y="873148"/>
              <a:ext cx="981177" cy="274884"/>
            </a:xfrm>
            <a:prstGeom prst="roundRect">
              <a:avLst/>
            </a:prstGeom>
            <a:solidFill>
              <a:schemeClr val="accent1"/>
            </a:solidFill>
            <a:ln w="9525">
              <a:noFill/>
              <a:miter lim="800000"/>
              <a:headEnd/>
              <a:tailEnd/>
            </a:ln>
            <a:effectLst/>
          </p:spPr>
          <p:txBody>
            <a:bodyPr wrap="square" lIns="0" tIns="46038" rIns="0" bIns="46038" anchor="ctr">
              <a:noAutofit/>
            </a:bodyPr>
            <a:lstStyle/>
            <a:p>
              <a:pPr marL="0" marR="0" lvl="0" indent="0" algn="ctr" defTabSz="914400" rtl="0" eaLnBrk="0" fontAlgn="auto" latinLnBrk="0" hangingPunct="0">
                <a:lnSpc>
                  <a:spcPct val="100000"/>
                </a:lnSpc>
                <a:spcBef>
                  <a:spcPts val="0"/>
                </a:spcBef>
                <a:spcAft>
                  <a:spcPts val="0"/>
                </a:spcAft>
                <a:buClrTx/>
                <a:buSzTx/>
                <a:buFontTx/>
                <a:buNone/>
                <a:tabLst>
                  <a:tab pos="6464300" algn="r"/>
                </a:tabLst>
                <a:defRPr/>
              </a:pPr>
              <a:r>
                <a:rPr kumimoji="0" lang="en-US" sz="1200" u="none" strike="noStrike" kern="1200" cap="none" spc="0" normalizeH="0" baseline="0" noProof="0">
                  <a:ln>
                    <a:noFill/>
                  </a:ln>
                  <a:solidFill>
                    <a:schemeClr val="accent5"/>
                  </a:solidFill>
                  <a:effectLst/>
                  <a:uLnTx/>
                  <a:uFillTx/>
                  <a:latin typeface="+mj-lt"/>
                  <a:ea typeface="Verdana" panose="020B0604030504040204" pitchFamily="34" charset="0"/>
                  <a:cs typeface="Arial" panose="020B0604020202020204" pitchFamily="34" charset="0"/>
                </a:rPr>
                <a:t>June</a:t>
              </a:r>
            </a:p>
          </p:txBody>
        </p:sp>
        <p:sp>
          <p:nvSpPr>
            <p:cNvPr id="35" name="Rectangle : coins arrondis 90">
              <a:extLst>
                <a:ext uri="{FF2B5EF4-FFF2-40B4-BE49-F238E27FC236}">
                  <a16:creationId xmlns:a16="http://schemas.microsoft.com/office/drawing/2014/main" id="{390C68D5-BF27-E80A-7D22-5642A42D6F40}"/>
                </a:ext>
              </a:extLst>
            </p:cNvPr>
            <p:cNvSpPr>
              <a:spLocks noChangeArrowheads="1"/>
            </p:cNvSpPr>
            <p:nvPr/>
          </p:nvSpPr>
          <p:spPr bwMode="auto">
            <a:xfrm>
              <a:off x="2860530" y="873148"/>
              <a:ext cx="1440000" cy="274884"/>
            </a:xfrm>
            <a:prstGeom prst="roundRect">
              <a:avLst/>
            </a:prstGeom>
            <a:solidFill>
              <a:schemeClr val="accent1"/>
            </a:solidFill>
            <a:ln w="9525">
              <a:noFill/>
              <a:miter lim="800000"/>
              <a:headEnd/>
              <a:tailEnd/>
            </a:ln>
            <a:effectLst/>
          </p:spPr>
          <p:txBody>
            <a:bodyPr wrap="square" lIns="0" tIns="46038" rIns="0" bIns="46038" anchor="ctr">
              <a:noAutofit/>
            </a:bodyPr>
            <a:lstStyle/>
            <a:p>
              <a:pPr marL="0" marR="0" lvl="0" indent="0" algn="ctr" defTabSz="914400" rtl="0" eaLnBrk="0" fontAlgn="auto" latinLnBrk="0" hangingPunct="0">
                <a:lnSpc>
                  <a:spcPct val="100000"/>
                </a:lnSpc>
                <a:spcBef>
                  <a:spcPts val="0"/>
                </a:spcBef>
                <a:spcAft>
                  <a:spcPts val="0"/>
                </a:spcAft>
                <a:buClrTx/>
                <a:buSzTx/>
                <a:buFontTx/>
                <a:buNone/>
                <a:tabLst>
                  <a:tab pos="6464300" algn="r"/>
                </a:tabLst>
                <a:defRPr/>
              </a:pPr>
              <a:r>
                <a:rPr kumimoji="0" lang="en-US" sz="1200" u="none" strike="noStrike" kern="1200" cap="none" spc="0" normalizeH="0" baseline="0" noProof="0">
                  <a:ln>
                    <a:noFill/>
                  </a:ln>
                  <a:solidFill>
                    <a:schemeClr val="accent5"/>
                  </a:solidFill>
                  <a:effectLst/>
                  <a:uLnTx/>
                  <a:uFillTx/>
                  <a:latin typeface="+mj-lt"/>
                  <a:ea typeface="Verdana" panose="020B0604030504040204" pitchFamily="34" charset="0"/>
                  <a:cs typeface="Arial" panose="020B0604020202020204" pitchFamily="34" charset="0"/>
                </a:rPr>
                <a:t>July</a:t>
              </a:r>
            </a:p>
          </p:txBody>
        </p:sp>
        <p:sp>
          <p:nvSpPr>
            <p:cNvPr id="36" name="Rectangle : coins arrondis 90">
              <a:extLst>
                <a:ext uri="{FF2B5EF4-FFF2-40B4-BE49-F238E27FC236}">
                  <a16:creationId xmlns:a16="http://schemas.microsoft.com/office/drawing/2014/main" id="{365541FD-5B99-232F-A8B8-489CFB9CBABA}"/>
                </a:ext>
              </a:extLst>
            </p:cNvPr>
            <p:cNvSpPr>
              <a:spLocks noChangeArrowheads="1"/>
            </p:cNvSpPr>
            <p:nvPr/>
          </p:nvSpPr>
          <p:spPr bwMode="auto">
            <a:xfrm>
              <a:off x="4343409" y="873148"/>
              <a:ext cx="1440000" cy="274884"/>
            </a:xfrm>
            <a:prstGeom prst="roundRect">
              <a:avLst/>
            </a:prstGeom>
            <a:solidFill>
              <a:schemeClr val="accent1"/>
            </a:solidFill>
            <a:ln w="9525">
              <a:noFill/>
              <a:miter lim="800000"/>
              <a:headEnd/>
              <a:tailEnd/>
            </a:ln>
            <a:effectLst/>
          </p:spPr>
          <p:txBody>
            <a:bodyPr wrap="square" lIns="0" tIns="46038" rIns="0" bIns="46038" anchor="ctr">
              <a:noAutofit/>
            </a:bodyPr>
            <a:lstStyle/>
            <a:p>
              <a:pPr marL="0" marR="0" lvl="0" indent="0" algn="ctr" defTabSz="914400" rtl="0" eaLnBrk="0" fontAlgn="auto" latinLnBrk="0" hangingPunct="0">
                <a:lnSpc>
                  <a:spcPct val="100000"/>
                </a:lnSpc>
                <a:spcBef>
                  <a:spcPts val="0"/>
                </a:spcBef>
                <a:spcAft>
                  <a:spcPts val="0"/>
                </a:spcAft>
                <a:buClrTx/>
                <a:buSzTx/>
                <a:buFontTx/>
                <a:buNone/>
                <a:tabLst>
                  <a:tab pos="6464300" algn="r"/>
                </a:tabLst>
                <a:defRPr/>
              </a:pPr>
              <a:r>
                <a:rPr kumimoji="0" lang="en-US" sz="1200" u="none" strike="noStrike" kern="1200" cap="none" spc="0" normalizeH="0" baseline="0" noProof="0">
                  <a:ln>
                    <a:noFill/>
                  </a:ln>
                  <a:solidFill>
                    <a:schemeClr val="accent5"/>
                  </a:solidFill>
                  <a:effectLst/>
                  <a:uLnTx/>
                  <a:uFillTx/>
                  <a:latin typeface="+mj-lt"/>
                  <a:ea typeface="Verdana" panose="020B0604030504040204" pitchFamily="34" charset="0"/>
                  <a:cs typeface="Arial" panose="020B0604020202020204" pitchFamily="34" charset="0"/>
                </a:rPr>
                <a:t>August</a:t>
              </a:r>
            </a:p>
          </p:txBody>
        </p:sp>
        <p:sp>
          <p:nvSpPr>
            <p:cNvPr id="37" name="Rectangle : coins arrondis 90">
              <a:extLst>
                <a:ext uri="{FF2B5EF4-FFF2-40B4-BE49-F238E27FC236}">
                  <a16:creationId xmlns:a16="http://schemas.microsoft.com/office/drawing/2014/main" id="{4FE81967-D14B-0BC6-DCB5-B015FDC56E35}"/>
                </a:ext>
              </a:extLst>
            </p:cNvPr>
            <p:cNvSpPr>
              <a:spLocks noChangeArrowheads="1"/>
            </p:cNvSpPr>
            <p:nvPr/>
          </p:nvSpPr>
          <p:spPr bwMode="auto">
            <a:xfrm>
              <a:off x="5826288" y="873148"/>
              <a:ext cx="1440000" cy="274884"/>
            </a:xfrm>
            <a:prstGeom prst="roundRect">
              <a:avLst/>
            </a:prstGeom>
            <a:solidFill>
              <a:schemeClr val="accent1"/>
            </a:solidFill>
            <a:ln w="9525">
              <a:noFill/>
              <a:miter lim="800000"/>
              <a:headEnd/>
              <a:tailEnd/>
            </a:ln>
            <a:effectLst/>
          </p:spPr>
          <p:txBody>
            <a:bodyPr wrap="square" lIns="0" tIns="46038" rIns="0" bIns="46038" anchor="ctr">
              <a:noAutofit/>
            </a:bodyPr>
            <a:lstStyle/>
            <a:p>
              <a:pPr marL="0" marR="0" lvl="0" indent="0" algn="ctr" defTabSz="914400" rtl="0" eaLnBrk="0" fontAlgn="auto" latinLnBrk="0" hangingPunct="0">
                <a:lnSpc>
                  <a:spcPct val="100000"/>
                </a:lnSpc>
                <a:spcBef>
                  <a:spcPts val="0"/>
                </a:spcBef>
                <a:spcAft>
                  <a:spcPts val="0"/>
                </a:spcAft>
                <a:buClrTx/>
                <a:buSzTx/>
                <a:buFontTx/>
                <a:buNone/>
                <a:tabLst>
                  <a:tab pos="6464300" algn="r"/>
                </a:tabLst>
                <a:defRPr/>
              </a:pPr>
              <a:r>
                <a:rPr lang="en-US" sz="1200" dirty="0">
                  <a:solidFill>
                    <a:schemeClr val="accent5"/>
                  </a:solidFill>
                  <a:latin typeface="+mj-lt"/>
                  <a:ea typeface="Verdana" panose="020B0604030504040204" pitchFamily="34" charset="0"/>
                  <a:cs typeface="Arial" panose="020B0604020202020204" pitchFamily="34" charset="0"/>
                </a:rPr>
                <a:t>S</a:t>
              </a:r>
              <a:r>
                <a:rPr kumimoji="0" lang="en-US" sz="1200" u="none" strike="noStrike" kern="1200" cap="none" spc="0" normalizeH="0" baseline="0" noProof="0" dirty="0" err="1">
                  <a:ln>
                    <a:noFill/>
                  </a:ln>
                  <a:solidFill>
                    <a:schemeClr val="accent5"/>
                  </a:solidFill>
                  <a:effectLst/>
                  <a:uLnTx/>
                  <a:uFillTx/>
                  <a:latin typeface="+mj-lt"/>
                  <a:ea typeface="Verdana" panose="020B0604030504040204" pitchFamily="34" charset="0"/>
                  <a:cs typeface="Arial" panose="020B0604020202020204" pitchFamily="34" charset="0"/>
                </a:rPr>
                <a:t>eptember</a:t>
              </a:r>
              <a:endParaRPr kumimoji="0" lang="en-US" sz="1200" u="none" strike="noStrike" kern="1200" cap="none" spc="0" normalizeH="0" baseline="0" noProof="0" dirty="0">
                <a:ln>
                  <a:noFill/>
                </a:ln>
                <a:solidFill>
                  <a:schemeClr val="accent5"/>
                </a:solidFill>
                <a:effectLst/>
                <a:uLnTx/>
                <a:uFillTx/>
                <a:latin typeface="+mj-lt"/>
                <a:ea typeface="Verdana" panose="020B0604030504040204" pitchFamily="34" charset="0"/>
                <a:cs typeface="Arial" panose="020B0604020202020204" pitchFamily="34" charset="0"/>
              </a:endParaRPr>
            </a:p>
          </p:txBody>
        </p:sp>
        <p:sp>
          <p:nvSpPr>
            <p:cNvPr id="38" name="Rectangle : coins arrondis 90">
              <a:extLst>
                <a:ext uri="{FF2B5EF4-FFF2-40B4-BE49-F238E27FC236}">
                  <a16:creationId xmlns:a16="http://schemas.microsoft.com/office/drawing/2014/main" id="{648247D0-A0BD-FFB7-8C64-29DA54734949}"/>
                </a:ext>
              </a:extLst>
            </p:cNvPr>
            <p:cNvSpPr>
              <a:spLocks noChangeArrowheads="1"/>
            </p:cNvSpPr>
            <p:nvPr/>
          </p:nvSpPr>
          <p:spPr bwMode="auto">
            <a:xfrm>
              <a:off x="8792046" y="873148"/>
              <a:ext cx="1440000" cy="274884"/>
            </a:xfrm>
            <a:prstGeom prst="roundRect">
              <a:avLst/>
            </a:prstGeom>
            <a:solidFill>
              <a:schemeClr val="accent1"/>
            </a:solidFill>
            <a:ln w="9525">
              <a:noFill/>
              <a:miter lim="800000"/>
              <a:headEnd/>
              <a:tailEnd/>
            </a:ln>
            <a:effectLst/>
          </p:spPr>
          <p:txBody>
            <a:bodyPr wrap="square" lIns="0" tIns="46038" rIns="0" bIns="46038" anchor="ctr">
              <a:noAutofit/>
            </a:bodyPr>
            <a:lstStyle/>
            <a:p>
              <a:pPr marL="0" marR="0" lvl="0" indent="0" algn="ctr" defTabSz="914400" rtl="0" eaLnBrk="0" fontAlgn="auto" latinLnBrk="0" hangingPunct="0">
                <a:lnSpc>
                  <a:spcPct val="100000"/>
                </a:lnSpc>
                <a:spcBef>
                  <a:spcPts val="0"/>
                </a:spcBef>
                <a:spcAft>
                  <a:spcPts val="0"/>
                </a:spcAft>
                <a:buClrTx/>
                <a:buSzTx/>
                <a:buFontTx/>
                <a:buNone/>
                <a:tabLst>
                  <a:tab pos="6464300" algn="r"/>
                </a:tabLst>
                <a:defRPr/>
              </a:pPr>
              <a:r>
                <a:rPr kumimoji="0" lang="en-US" sz="1200" u="none" strike="noStrike" kern="1200" cap="none" spc="0" normalizeH="0" baseline="0" noProof="0">
                  <a:ln>
                    <a:noFill/>
                  </a:ln>
                  <a:solidFill>
                    <a:schemeClr val="accent5"/>
                  </a:solidFill>
                  <a:effectLst/>
                  <a:uLnTx/>
                  <a:uFillTx/>
                  <a:latin typeface="+mj-lt"/>
                  <a:ea typeface="Verdana" panose="020B0604030504040204" pitchFamily="34" charset="0"/>
                  <a:cs typeface="Arial" panose="020B0604020202020204" pitchFamily="34" charset="0"/>
                </a:rPr>
                <a:t>November</a:t>
              </a:r>
            </a:p>
          </p:txBody>
        </p:sp>
        <p:sp>
          <p:nvSpPr>
            <p:cNvPr id="39" name="Rectangle : coins arrondis 90">
              <a:extLst>
                <a:ext uri="{FF2B5EF4-FFF2-40B4-BE49-F238E27FC236}">
                  <a16:creationId xmlns:a16="http://schemas.microsoft.com/office/drawing/2014/main" id="{406D96A0-5FE7-555C-5797-6B418B9F40C9}"/>
                </a:ext>
              </a:extLst>
            </p:cNvPr>
            <p:cNvSpPr>
              <a:spLocks noChangeArrowheads="1"/>
            </p:cNvSpPr>
            <p:nvPr/>
          </p:nvSpPr>
          <p:spPr bwMode="auto">
            <a:xfrm>
              <a:off x="7309167" y="873148"/>
              <a:ext cx="1440000" cy="274884"/>
            </a:xfrm>
            <a:prstGeom prst="roundRect">
              <a:avLst/>
            </a:prstGeom>
            <a:solidFill>
              <a:schemeClr val="accent1"/>
            </a:solidFill>
            <a:ln w="9525">
              <a:noFill/>
              <a:miter lim="800000"/>
              <a:headEnd/>
              <a:tailEnd/>
            </a:ln>
            <a:effectLst/>
          </p:spPr>
          <p:txBody>
            <a:bodyPr wrap="square" lIns="0" tIns="46038" rIns="0" bIns="46038" anchor="ctr">
              <a:noAutofit/>
            </a:bodyPr>
            <a:lstStyle/>
            <a:p>
              <a:pPr marL="0" marR="0" lvl="0" indent="0" algn="ctr" defTabSz="914400" rtl="0" eaLnBrk="0" fontAlgn="auto" latinLnBrk="0" hangingPunct="0">
                <a:lnSpc>
                  <a:spcPct val="100000"/>
                </a:lnSpc>
                <a:spcBef>
                  <a:spcPts val="0"/>
                </a:spcBef>
                <a:spcAft>
                  <a:spcPts val="0"/>
                </a:spcAft>
                <a:buClrTx/>
                <a:buSzTx/>
                <a:buFontTx/>
                <a:buNone/>
                <a:tabLst>
                  <a:tab pos="6464300" algn="r"/>
                </a:tabLst>
                <a:defRPr/>
              </a:pPr>
              <a:r>
                <a:rPr kumimoji="0" lang="en-US" sz="1200" u="none" strike="noStrike" kern="1200" cap="none" spc="0" normalizeH="0" baseline="0" noProof="0">
                  <a:ln>
                    <a:noFill/>
                  </a:ln>
                  <a:solidFill>
                    <a:schemeClr val="accent5"/>
                  </a:solidFill>
                  <a:effectLst/>
                  <a:uLnTx/>
                  <a:uFillTx/>
                  <a:latin typeface="+mj-lt"/>
                  <a:ea typeface="Verdana" panose="020B0604030504040204" pitchFamily="34" charset="0"/>
                  <a:cs typeface="Arial" panose="020B0604020202020204" pitchFamily="34" charset="0"/>
                </a:rPr>
                <a:t>October</a:t>
              </a:r>
            </a:p>
          </p:txBody>
        </p:sp>
        <p:sp>
          <p:nvSpPr>
            <p:cNvPr id="40" name="Rectangle : coins arrondis 90">
              <a:extLst>
                <a:ext uri="{FF2B5EF4-FFF2-40B4-BE49-F238E27FC236}">
                  <a16:creationId xmlns:a16="http://schemas.microsoft.com/office/drawing/2014/main" id="{34CFA0FA-19C4-2B59-B4E1-F7D5C8FF506B}"/>
                </a:ext>
              </a:extLst>
            </p:cNvPr>
            <p:cNvSpPr>
              <a:spLocks noChangeArrowheads="1"/>
            </p:cNvSpPr>
            <p:nvPr/>
          </p:nvSpPr>
          <p:spPr bwMode="auto">
            <a:xfrm>
              <a:off x="10274923" y="873148"/>
              <a:ext cx="1440000" cy="274884"/>
            </a:xfrm>
            <a:prstGeom prst="roundRect">
              <a:avLst/>
            </a:prstGeom>
            <a:solidFill>
              <a:schemeClr val="accent1"/>
            </a:solidFill>
            <a:ln w="9525">
              <a:noFill/>
              <a:miter lim="800000"/>
              <a:headEnd/>
              <a:tailEnd/>
            </a:ln>
            <a:effectLst/>
          </p:spPr>
          <p:txBody>
            <a:bodyPr wrap="square" lIns="0" tIns="46038" rIns="0" bIns="46038" anchor="ctr">
              <a:noAutofit/>
            </a:bodyPr>
            <a:lstStyle/>
            <a:p>
              <a:pPr marL="0" marR="0" lvl="0" indent="0" algn="ctr" defTabSz="914400" rtl="0" eaLnBrk="0" fontAlgn="auto" latinLnBrk="0" hangingPunct="0">
                <a:lnSpc>
                  <a:spcPct val="100000"/>
                </a:lnSpc>
                <a:spcBef>
                  <a:spcPts val="0"/>
                </a:spcBef>
                <a:spcAft>
                  <a:spcPts val="0"/>
                </a:spcAft>
                <a:buClrTx/>
                <a:buSzTx/>
                <a:buFontTx/>
                <a:buNone/>
                <a:tabLst>
                  <a:tab pos="6464300" algn="r"/>
                </a:tabLst>
                <a:defRPr/>
              </a:pPr>
              <a:r>
                <a:rPr kumimoji="0" lang="en-US" sz="1200" u="none" strike="noStrike" kern="1200" cap="none" spc="0" normalizeH="0" baseline="0" noProof="0">
                  <a:ln>
                    <a:noFill/>
                  </a:ln>
                  <a:solidFill>
                    <a:schemeClr val="accent5"/>
                  </a:solidFill>
                  <a:effectLst/>
                  <a:uLnTx/>
                  <a:uFillTx/>
                  <a:latin typeface="+mj-lt"/>
                  <a:ea typeface="Verdana" panose="020B0604030504040204" pitchFamily="34" charset="0"/>
                  <a:cs typeface="Arial" panose="020B0604020202020204" pitchFamily="34" charset="0"/>
                </a:rPr>
                <a:t>December</a:t>
              </a:r>
            </a:p>
          </p:txBody>
        </p:sp>
        <p:cxnSp>
          <p:nvCxnSpPr>
            <p:cNvPr id="68" name="Connecteur droit 67">
              <a:extLst>
                <a:ext uri="{FF2B5EF4-FFF2-40B4-BE49-F238E27FC236}">
                  <a16:creationId xmlns:a16="http://schemas.microsoft.com/office/drawing/2014/main" id="{13B394FA-25A1-97B1-5B69-9F17E78D85EF}"/>
                </a:ext>
              </a:extLst>
            </p:cNvPr>
            <p:cNvCxnSpPr>
              <a:cxnSpLocks/>
            </p:cNvCxnSpPr>
            <p:nvPr/>
          </p:nvCxnSpPr>
          <p:spPr>
            <a:xfrm>
              <a:off x="2645427" y="1599684"/>
              <a:ext cx="0" cy="466308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58" name="Group 57">
              <a:extLst>
                <a:ext uri="{FF2B5EF4-FFF2-40B4-BE49-F238E27FC236}">
                  <a16:creationId xmlns:a16="http://schemas.microsoft.com/office/drawing/2014/main" id="{1F741934-CA5D-A5EB-14FF-55082370205D}"/>
                </a:ext>
              </a:extLst>
            </p:cNvPr>
            <p:cNvGrpSpPr/>
            <p:nvPr/>
          </p:nvGrpSpPr>
          <p:grpSpPr>
            <a:xfrm>
              <a:off x="249933" y="4236127"/>
              <a:ext cx="11469074" cy="684507"/>
              <a:chOff x="249933" y="4918861"/>
              <a:chExt cx="11469074" cy="468000"/>
            </a:xfrm>
          </p:grpSpPr>
          <p:sp>
            <p:nvSpPr>
              <p:cNvPr id="22" name="Rectangle: Rounded Corners 111">
                <a:extLst>
                  <a:ext uri="{FF2B5EF4-FFF2-40B4-BE49-F238E27FC236}">
                    <a16:creationId xmlns:a16="http://schemas.microsoft.com/office/drawing/2014/main" id="{1D0E2CB7-3245-A730-600B-328EFFE6BF38}"/>
                  </a:ext>
                </a:extLst>
              </p:cNvPr>
              <p:cNvSpPr/>
              <p:nvPr/>
            </p:nvSpPr>
            <p:spPr bwMode="gray">
              <a:xfrm>
                <a:off x="249933" y="4918861"/>
                <a:ext cx="1452789" cy="468000"/>
              </a:xfrm>
              <a:prstGeom prst="roundRect">
                <a:avLst/>
              </a:prstGeom>
              <a:solidFill>
                <a:srgbClr val="FFEEB9"/>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Stream 5: </a:t>
                </a:r>
              </a:p>
              <a:p>
                <a:pPr algn="ctr"/>
                <a:r>
                  <a:rPr lang="en-US" sz="1400" b="1" dirty="0">
                    <a:solidFill>
                      <a:schemeClr val="tx1"/>
                    </a:solidFill>
                  </a:rPr>
                  <a:t>Data &amp; AI</a:t>
                </a:r>
              </a:p>
            </p:txBody>
          </p:sp>
          <p:sp>
            <p:nvSpPr>
              <p:cNvPr id="8" name="Rectangle : coins arrondis 7">
                <a:extLst>
                  <a:ext uri="{FF2B5EF4-FFF2-40B4-BE49-F238E27FC236}">
                    <a16:creationId xmlns:a16="http://schemas.microsoft.com/office/drawing/2014/main" id="{A2707011-B41F-A2EE-0E2A-388DB1D13A53}"/>
                  </a:ext>
                </a:extLst>
              </p:cNvPr>
              <p:cNvSpPr/>
              <p:nvPr/>
            </p:nvSpPr>
            <p:spPr>
              <a:xfrm>
                <a:off x="1835988" y="4918861"/>
                <a:ext cx="9883019" cy="465371"/>
              </a:xfrm>
              <a:prstGeom prst="roundRect">
                <a:avLst/>
              </a:prstGeom>
              <a:solidFill>
                <a:schemeClr val="bg1"/>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600"/>
                  </a:spcBef>
                  <a:spcAft>
                    <a:spcPts val="0"/>
                  </a:spcAft>
                  <a:buClrTx/>
                  <a:buSzTx/>
                  <a:buFontTx/>
                  <a:buNone/>
                  <a:tabLst/>
                  <a:defRPr/>
                </a:pPr>
                <a:endParaRPr kumimoji="0" lang="en-US" sz="900" b="1" i="0" u="none" strike="noStrike" kern="1200" cap="none" spc="0" normalizeH="0" baseline="0" noProof="0">
                  <a:ln>
                    <a:noFill/>
                  </a:ln>
                  <a:solidFill>
                    <a:schemeClr val="bg1"/>
                  </a:solidFill>
                  <a:effectLst/>
                  <a:uLnTx/>
                  <a:uFillTx/>
                  <a:ea typeface="+mn-ea"/>
                  <a:cs typeface="Segoe UI" panose="020B0502040204020203" pitchFamily="34" charset="0"/>
                </a:endParaRPr>
              </a:p>
            </p:txBody>
          </p:sp>
        </p:grpSp>
        <p:grpSp>
          <p:nvGrpSpPr>
            <p:cNvPr id="98" name="Group 97">
              <a:extLst>
                <a:ext uri="{FF2B5EF4-FFF2-40B4-BE49-F238E27FC236}">
                  <a16:creationId xmlns:a16="http://schemas.microsoft.com/office/drawing/2014/main" id="{5760F7D5-5DB8-A1DF-398C-C64AC8830921}"/>
                </a:ext>
              </a:extLst>
            </p:cNvPr>
            <p:cNvGrpSpPr/>
            <p:nvPr/>
          </p:nvGrpSpPr>
          <p:grpSpPr>
            <a:xfrm>
              <a:off x="249933" y="1262532"/>
              <a:ext cx="11484019" cy="684507"/>
              <a:chOff x="249933" y="1262532"/>
              <a:chExt cx="11484019" cy="684507"/>
            </a:xfrm>
          </p:grpSpPr>
          <p:grpSp>
            <p:nvGrpSpPr>
              <p:cNvPr id="64" name="Group 63">
                <a:extLst>
                  <a:ext uri="{FF2B5EF4-FFF2-40B4-BE49-F238E27FC236}">
                    <a16:creationId xmlns:a16="http://schemas.microsoft.com/office/drawing/2014/main" id="{C886B1CD-428F-0DD4-FB03-BCEFE634FAF0}"/>
                  </a:ext>
                </a:extLst>
              </p:cNvPr>
              <p:cNvGrpSpPr/>
              <p:nvPr/>
            </p:nvGrpSpPr>
            <p:grpSpPr>
              <a:xfrm>
                <a:off x="249933" y="1262532"/>
                <a:ext cx="11484019" cy="684507"/>
                <a:chOff x="249933" y="2110692"/>
                <a:chExt cx="11484019" cy="468000"/>
              </a:xfrm>
            </p:grpSpPr>
            <p:sp>
              <p:nvSpPr>
                <p:cNvPr id="16" name="Rectangle: Rounded Corners 102">
                  <a:extLst>
                    <a:ext uri="{FF2B5EF4-FFF2-40B4-BE49-F238E27FC236}">
                      <a16:creationId xmlns:a16="http://schemas.microsoft.com/office/drawing/2014/main" id="{079A6998-119D-7880-78EB-66F78417AED9}"/>
                    </a:ext>
                  </a:extLst>
                </p:cNvPr>
                <p:cNvSpPr/>
                <p:nvPr/>
              </p:nvSpPr>
              <p:spPr bwMode="gray">
                <a:xfrm>
                  <a:off x="249933" y="2110692"/>
                  <a:ext cx="1452789" cy="468000"/>
                </a:xfrm>
                <a:prstGeom prst="roundRect">
                  <a:avLst/>
                </a:prstGeom>
                <a:solidFill>
                  <a:srgbClr val="FFEEB9"/>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a:solidFill>
                        <a:schemeClr val="tx1"/>
                      </a:solidFill>
                    </a:rPr>
                    <a:t>Stream 1: </a:t>
                  </a:r>
                </a:p>
                <a:p>
                  <a:pPr algn="ctr"/>
                  <a:r>
                    <a:rPr lang="en-GB" sz="1400" b="1">
                      <a:solidFill>
                        <a:schemeClr val="tx1"/>
                      </a:solidFill>
                    </a:rPr>
                    <a:t>Governance</a:t>
                  </a:r>
                </a:p>
              </p:txBody>
            </p:sp>
            <p:sp>
              <p:nvSpPr>
                <p:cNvPr id="47" name="Rectangle : coins arrondis 7">
                  <a:extLst>
                    <a:ext uri="{FF2B5EF4-FFF2-40B4-BE49-F238E27FC236}">
                      <a16:creationId xmlns:a16="http://schemas.microsoft.com/office/drawing/2014/main" id="{EFEEB11B-7CC6-F7BE-F84F-AF07012077B9}"/>
                    </a:ext>
                  </a:extLst>
                </p:cNvPr>
                <p:cNvSpPr/>
                <p:nvPr/>
              </p:nvSpPr>
              <p:spPr>
                <a:xfrm>
                  <a:off x="1850933" y="2112007"/>
                  <a:ext cx="9883019" cy="465371"/>
                </a:xfrm>
                <a:prstGeom prst="roundRect">
                  <a:avLst/>
                </a:prstGeom>
                <a:solidFill>
                  <a:schemeClr val="bg1"/>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600"/>
                    </a:spcBef>
                    <a:spcAft>
                      <a:spcPts val="0"/>
                    </a:spcAft>
                    <a:buClrTx/>
                    <a:buSzTx/>
                    <a:buFontTx/>
                    <a:buNone/>
                    <a:tabLst/>
                    <a:defRPr/>
                  </a:pPr>
                  <a:endParaRPr kumimoji="0" lang="en-US" sz="900" b="1" i="0" u="none" strike="noStrike" kern="1200" cap="none" spc="0" normalizeH="0" baseline="0" noProof="0">
                    <a:ln>
                      <a:noFill/>
                    </a:ln>
                    <a:solidFill>
                      <a:schemeClr val="bg1"/>
                    </a:solidFill>
                    <a:effectLst/>
                    <a:uLnTx/>
                    <a:uFillTx/>
                    <a:ea typeface="+mn-ea"/>
                    <a:cs typeface="Segoe UI" panose="020B0502040204020203" pitchFamily="34" charset="0"/>
                  </a:endParaRPr>
                </a:p>
              </p:txBody>
            </p:sp>
          </p:grpSp>
          <p:sp>
            <p:nvSpPr>
              <p:cNvPr id="66" name="Pentagon 19">
                <a:extLst>
                  <a:ext uri="{FF2B5EF4-FFF2-40B4-BE49-F238E27FC236}">
                    <a16:creationId xmlns:a16="http://schemas.microsoft.com/office/drawing/2014/main" id="{A0BFD55C-DDA3-0327-BA3E-58C9D6D2EBD8}"/>
                  </a:ext>
                </a:extLst>
              </p:cNvPr>
              <p:cNvSpPr>
                <a:spLocks noChangeArrowheads="1"/>
              </p:cNvSpPr>
              <p:nvPr/>
            </p:nvSpPr>
            <p:spPr bwMode="auto">
              <a:xfrm>
                <a:off x="1915007" y="1331873"/>
                <a:ext cx="9603708" cy="155262"/>
              </a:xfrm>
              <a:prstGeom prst="homePlate">
                <a:avLst>
                  <a:gd name="adj" fmla="val 30166"/>
                </a:avLst>
              </a:prstGeom>
              <a:solidFill>
                <a:srgbClr val="005482"/>
              </a:solidFill>
              <a:ln w="12700" algn="ctr">
                <a:noFill/>
                <a:round/>
                <a:headEnd type="none" w="sm" len="sm"/>
                <a:tailEnd type="none" w="sm" len="sm"/>
              </a:ln>
              <a:effectLst/>
            </p:spPr>
            <p:txBody>
              <a:bodyPr lIns="36000" tIns="0" rIns="36000" bIns="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Risk &amp; Escalation mgmt., interlock with IMO and other workstreams</a:t>
                </a:r>
                <a:endParaRPr lang="en-US" sz="900" b="1">
                  <a:solidFill>
                    <a:schemeClr val="bg1"/>
                  </a:solidFill>
                  <a:latin typeface="Ubuntu"/>
                  <a:cs typeface="Calibri" pitchFamily="34" charset="0"/>
                </a:endParaRPr>
              </a:p>
            </p:txBody>
          </p:sp>
          <p:sp>
            <p:nvSpPr>
              <p:cNvPr id="67" name="Pentagon 19">
                <a:extLst>
                  <a:ext uri="{FF2B5EF4-FFF2-40B4-BE49-F238E27FC236}">
                    <a16:creationId xmlns:a16="http://schemas.microsoft.com/office/drawing/2014/main" id="{E1842E03-0F98-6C25-B072-55FD58F31E32}"/>
                  </a:ext>
                </a:extLst>
              </p:cNvPr>
              <p:cNvSpPr>
                <a:spLocks noChangeArrowheads="1"/>
              </p:cNvSpPr>
              <p:nvPr/>
            </p:nvSpPr>
            <p:spPr bwMode="auto">
              <a:xfrm>
                <a:off x="7268337" y="1539331"/>
                <a:ext cx="4242558" cy="155262"/>
              </a:xfrm>
              <a:prstGeom prst="homePlate">
                <a:avLst/>
              </a:prstGeom>
              <a:solidFill>
                <a:srgbClr val="005482"/>
              </a:solidFill>
              <a:ln w="12700" algn="ctr">
                <a:noFill/>
                <a:round/>
                <a:headEnd type="none" w="sm" len="sm"/>
                <a:tailEnd type="none" w="sm" len="sm"/>
              </a:ln>
              <a:effectLst/>
            </p:spPr>
            <p:txBody>
              <a:bodyPr lIns="36000" tIns="0" rIns="36000" bIns="0" anchor="ctr"/>
              <a:lstStyle/>
              <a:p>
                <a:pPr algn="ctr" eaLnBrk="0" hangingPunct="0">
                  <a:spcAft>
                    <a:spcPts val="600"/>
                  </a:spcAft>
                </a:pPr>
                <a:r>
                  <a:rPr lang="en-US" sz="900" b="1">
                    <a:solidFill>
                      <a:schemeClr val="bg1"/>
                    </a:solidFill>
                    <a:latin typeface="Ubuntu"/>
                    <a:cs typeface="Calibri" pitchFamily="34" charset="0"/>
                  </a:rPr>
                  <a:t>Day-1 prerequisites &amp; Preparation</a:t>
                </a:r>
              </a:p>
            </p:txBody>
          </p:sp>
          <p:sp>
            <p:nvSpPr>
              <p:cNvPr id="71" name="Pentagon 19">
                <a:extLst>
                  <a:ext uri="{FF2B5EF4-FFF2-40B4-BE49-F238E27FC236}">
                    <a16:creationId xmlns:a16="http://schemas.microsoft.com/office/drawing/2014/main" id="{BB26B0CA-B0AE-9EC2-1213-9F8610104D29}"/>
                  </a:ext>
                </a:extLst>
              </p:cNvPr>
              <p:cNvSpPr>
                <a:spLocks noChangeArrowheads="1"/>
              </p:cNvSpPr>
              <p:nvPr/>
            </p:nvSpPr>
            <p:spPr bwMode="auto">
              <a:xfrm>
                <a:off x="8646299" y="1755893"/>
                <a:ext cx="2872417" cy="172652"/>
              </a:xfrm>
              <a:prstGeom prst="homePlate">
                <a:avLst/>
              </a:prstGeom>
              <a:solidFill>
                <a:srgbClr val="005482"/>
              </a:solidFill>
              <a:ln w="12700" algn="ctr">
                <a:noFill/>
                <a:round/>
                <a:headEnd type="none" w="sm" len="sm"/>
                <a:tailEnd type="none" w="sm" len="sm"/>
              </a:ln>
              <a:effectLst/>
            </p:spPr>
            <p:txBody>
              <a:bodyPr lIns="36000" tIns="0" rIns="36000" bIns="0" anchor="ctr"/>
              <a:lstStyle/>
              <a:p>
                <a:pPr algn="ctr" eaLnBrk="0" hangingPunct="0">
                  <a:spcAft>
                    <a:spcPts val="600"/>
                  </a:spcAft>
                </a:pPr>
                <a:r>
                  <a:rPr lang="en-US" sz="900" b="1">
                    <a:solidFill>
                      <a:schemeClr val="bg1"/>
                    </a:solidFill>
                    <a:latin typeface="Ubuntu"/>
                    <a:cs typeface="Calibri" pitchFamily="34" charset="0"/>
                  </a:rPr>
                  <a:t>Day-100 Prerequisites &amp; Prep of Integration Exec</a:t>
                </a:r>
              </a:p>
            </p:txBody>
          </p:sp>
        </p:grpSp>
        <p:grpSp>
          <p:nvGrpSpPr>
            <p:cNvPr id="99" name="Group 98">
              <a:extLst>
                <a:ext uri="{FF2B5EF4-FFF2-40B4-BE49-F238E27FC236}">
                  <a16:creationId xmlns:a16="http://schemas.microsoft.com/office/drawing/2014/main" id="{2D4666A7-E946-65DB-5DBB-D8E5EF3BCAF5}"/>
                </a:ext>
              </a:extLst>
            </p:cNvPr>
            <p:cNvGrpSpPr/>
            <p:nvPr/>
          </p:nvGrpSpPr>
          <p:grpSpPr>
            <a:xfrm>
              <a:off x="249933" y="1997388"/>
              <a:ext cx="11484019" cy="699157"/>
              <a:chOff x="249933" y="2000649"/>
              <a:chExt cx="11484019" cy="699157"/>
            </a:xfrm>
          </p:grpSpPr>
          <p:grpSp>
            <p:nvGrpSpPr>
              <p:cNvPr id="62" name="Group 61">
                <a:extLst>
                  <a:ext uri="{FF2B5EF4-FFF2-40B4-BE49-F238E27FC236}">
                    <a16:creationId xmlns:a16="http://schemas.microsoft.com/office/drawing/2014/main" id="{A4473427-804D-87AA-E443-C1F48B5C87B7}"/>
                  </a:ext>
                </a:extLst>
              </p:cNvPr>
              <p:cNvGrpSpPr/>
              <p:nvPr/>
            </p:nvGrpSpPr>
            <p:grpSpPr>
              <a:xfrm>
                <a:off x="249933" y="2000649"/>
                <a:ext cx="11484019" cy="699157"/>
                <a:chOff x="249933" y="2665265"/>
                <a:chExt cx="11484019" cy="478016"/>
              </a:xfrm>
            </p:grpSpPr>
            <p:sp>
              <p:nvSpPr>
                <p:cNvPr id="17" name="Rectangle: Rounded Corners 105">
                  <a:extLst>
                    <a:ext uri="{FF2B5EF4-FFF2-40B4-BE49-F238E27FC236}">
                      <a16:creationId xmlns:a16="http://schemas.microsoft.com/office/drawing/2014/main" id="{F351D417-7EBA-2B1E-7FCF-7336788FC2D5}"/>
                    </a:ext>
                  </a:extLst>
                </p:cNvPr>
                <p:cNvSpPr/>
                <p:nvPr/>
              </p:nvSpPr>
              <p:spPr bwMode="gray">
                <a:xfrm>
                  <a:off x="249933" y="2675281"/>
                  <a:ext cx="1452789" cy="468000"/>
                </a:xfrm>
                <a:prstGeom prst="roundRect">
                  <a:avLst/>
                </a:prstGeom>
                <a:solidFill>
                  <a:srgbClr val="FFEEB9"/>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a:solidFill>
                        <a:schemeClr val="tx1"/>
                      </a:solidFill>
                    </a:rPr>
                    <a:t>Stream 2: </a:t>
                  </a:r>
                </a:p>
                <a:p>
                  <a:pPr algn="ctr"/>
                  <a:r>
                    <a:rPr lang="en-US" sz="1400" b="1">
                      <a:solidFill>
                        <a:schemeClr val="tx1"/>
                      </a:solidFill>
                    </a:rPr>
                    <a:t>IT Synergy plan and TSA</a:t>
                  </a:r>
                  <a:endParaRPr lang="en-GB" sz="1400" b="1">
                    <a:solidFill>
                      <a:schemeClr val="tx1"/>
                    </a:solidFill>
                  </a:endParaRPr>
                </a:p>
              </p:txBody>
            </p:sp>
            <p:sp>
              <p:nvSpPr>
                <p:cNvPr id="45" name="Rectangle : coins arrondis 7">
                  <a:extLst>
                    <a:ext uri="{FF2B5EF4-FFF2-40B4-BE49-F238E27FC236}">
                      <a16:creationId xmlns:a16="http://schemas.microsoft.com/office/drawing/2014/main" id="{062279C5-5594-7BCD-16CB-812D935FBB34}"/>
                    </a:ext>
                  </a:extLst>
                </p:cNvPr>
                <p:cNvSpPr/>
                <p:nvPr/>
              </p:nvSpPr>
              <p:spPr>
                <a:xfrm>
                  <a:off x="1850933" y="2665265"/>
                  <a:ext cx="9883019" cy="465371"/>
                </a:xfrm>
                <a:prstGeom prst="roundRect">
                  <a:avLst/>
                </a:prstGeom>
                <a:solidFill>
                  <a:schemeClr val="bg1"/>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600"/>
                    </a:spcBef>
                    <a:spcAft>
                      <a:spcPts val="0"/>
                    </a:spcAft>
                    <a:buClrTx/>
                    <a:buSzTx/>
                    <a:buFontTx/>
                    <a:buNone/>
                    <a:tabLst/>
                    <a:defRPr/>
                  </a:pPr>
                  <a:endParaRPr kumimoji="0" lang="en-US" sz="900" b="1" i="0" u="none" strike="noStrike" kern="1200" cap="none" spc="0" normalizeH="0" baseline="0" noProof="0">
                    <a:ln>
                      <a:noFill/>
                    </a:ln>
                    <a:solidFill>
                      <a:schemeClr val="bg1"/>
                    </a:solidFill>
                    <a:effectLst/>
                    <a:uLnTx/>
                    <a:uFillTx/>
                    <a:ea typeface="+mn-ea"/>
                    <a:cs typeface="Segoe UI" panose="020B0502040204020203" pitchFamily="34" charset="0"/>
                  </a:endParaRPr>
                </a:p>
              </p:txBody>
            </p:sp>
          </p:grpSp>
          <p:sp>
            <p:nvSpPr>
              <p:cNvPr id="144" name="Pentagon 19">
                <a:extLst>
                  <a:ext uri="{FF2B5EF4-FFF2-40B4-BE49-F238E27FC236}">
                    <a16:creationId xmlns:a16="http://schemas.microsoft.com/office/drawing/2014/main" id="{06EC5310-0D60-AB8A-B40D-07FA2FB753CF}"/>
                  </a:ext>
                </a:extLst>
              </p:cNvPr>
              <p:cNvSpPr>
                <a:spLocks noChangeArrowheads="1"/>
              </p:cNvSpPr>
              <p:nvPr/>
            </p:nvSpPr>
            <p:spPr bwMode="auto">
              <a:xfrm>
                <a:off x="1924969" y="2417743"/>
                <a:ext cx="3859806" cy="207893"/>
              </a:xfrm>
              <a:prstGeom prst="homePlate">
                <a:avLst>
                  <a:gd name="adj" fmla="val 30166"/>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Current TSA Analysis &amp; Gap Analysis (on small &amp; medium)</a:t>
                </a:r>
                <a:endParaRPr lang="en-US" sz="900" b="1">
                  <a:solidFill>
                    <a:schemeClr val="bg1"/>
                  </a:solidFill>
                  <a:latin typeface="Ubuntu"/>
                  <a:cs typeface="Calibri" pitchFamily="34" charset="0"/>
                </a:endParaRPr>
              </a:p>
            </p:txBody>
          </p:sp>
          <p:sp>
            <p:nvSpPr>
              <p:cNvPr id="146" name="Pentagon 19">
                <a:extLst>
                  <a:ext uri="{FF2B5EF4-FFF2-40B4-BE49-F238E27FC236}">
                    <a16:creationId xmlns:a16="http://schemas.microsoft.com/office/drawing/2014/main" id="{1A72BE13-C6FE-D527-0646-59892B3095E7}"/>
                  </a:ext>
                </a:extLst>
              </p:cNvPr>
              <p:cNvSpPr>
                <a:spLocks noChangeArrowheads="1"/>
              </p:cNvSpPr>
              <p:nvPr/>
            </p:nvSpPr>
            <p:spPr bwMode="auto">
              <a:xfrm>
                <a:off x="5767500" y="2416477"/>
                <a:ext cx="5736287" cy="202052"/>
              </a:xfrm>
              <a:prstGeom prst="chevron">
                <a:avLst>
                  <a:gd name="adj" fmla="val 27931"/>
                </a:avLst>
              </a:prstGeom>
              <a:solidFill>
                <a:srgbClr val="005482"/>
              </a:solidFill>
              <a:ln w="12700" algn="ctr">
                <a:noFill/>
                <a:round/>
                <a:headEnd type="none" w="sm" len="sm"/>
                <a:tailEnd type="none" w="sm" len="sm"/>
              </a:ln>
              <a:effectLst/>
            </p:spPr>
            <p:txBody>
              <a:bodyPr lIns="36000" tIns="36000" rIns="36000" bIns="36000" anchor="ctr"/>
              <a:lstStyle/>
              <a:p>
                <a:pPr algn="ctr" eaLnBrk="0" hangingPunct="0">
                  <a:spcAft>
                    <a:spcPts val="600"/>
                  </a:spcAft>
                </a:pPr>
                <a:r>
                  <a:rPr lang="en-US" sz="900" b="1">
                    <a:solidFill>
                      <a:schemeClr val="bg1"/>
                    </a:solidFill>
                    <a:latin typeface="Ubuntu"/>
                    <a:cs typeface="Calibri" pitchFamily="34" charset="0"/>
                  </a:rPr>
                  <a:t>TSA Disentanglement Plan Definition</a:t>
                </a:r>
              </a:p>
            </p:txBody>
          </p:sp>
          <p:sp>
            <p:nvSpPr>
              <p:cNvPr id="150" name="Pentagon 19">
                <a:extLst>
                  <a:ext uri="{FF2B5EF4-FFF2-40B4-BE49-F238E27FC236}">
                    <a16:creationId xmlns:a16="http://schemas.microsoft.com/office/drawing/2014/main" id="{FAFB4CBC-D034-F561-6B46-2AF3DCBAC95F}"/>
                  </a:ext>
                </a:extLst>
              </p:cNvPr>
              <p:cNvSpPr>
                <a:spLocks noChangeArrowheads="1"/>
              </p:cNvSpPr>
              <p:nvPr/>
            </p:nvSpPr>
            <p:spPr bwMode="auto">
              <a:xfrm>
                <a:off x="1924969" y="2172287"/>
                <a:ext cx="892682" cy="207893"/>
              </a:xfrm>
              <a:prstGeom prst="homePlate">
                <a:avLst>
                  <a:gd name="adj" fmla="val 30166"/>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Synergy Sync </a:t>
                </a:r>
                <a:endParaRPr lang="en-US" sz="900" b="1">
                  <a:solidFill>
                    <a:schemeClr val="bg1"/>
                  </a:solidFill>
                  <a:latin typeface="Ubuntu"/>
                  <a:cs typeface="Calibri" pitchFamily="34" charset="0"/>
                </a:endParaRPr>
              </a:p>
            </p:txBody>
          </p:sp>
          <p:sp>
            <p:nvSpPr>
              <p:cNvPr id="151" name="Pentagon 19">
                <a:extLst>
                  <a:ext uri="{FF2B5EF4-FFF2-40B4-BE49-F238E27FC236}">
                    <a16:creationId xmlns:a16="http://schemas.microsoft.com/office/drawing/2014/main" id="{C5EFB596-DC0F-7568-B3E7-B58D5E1C2CCE}"/>
                  </a:ext>
                </a:extLst>
              </p:cNvPr>
              <p:cNvSpPr>
                <a:spLocks noChangeArrowheads="1"/>
              </p:cNvSpPr>
              <p:nvPr/>
            </p:nvSpPr>
            <p:spPr bwMode="auto">
              <a:xfrm>
                <a:off x="2809516" y="2173943"/>
                <a:ext cx="5942381" cy="202052"/>
              </a:xfrm>
              <a:prstGeom prst="chevron">
                <a:avLst>
                  <a:gd name="adj" fmla="val 27931"/>
                </a:avLst>
              </a:prstGeom>
              <a:solidFill>
                <a:srgbClr val="005482"/>
              </a:solidFill>
              <a:ln w="12700" algn="ctr">
                <a:noFill/>
                <a:round/>
                <a:headEnd type="none" w="sm" len="sm"/>
                <a:tailEnd type="none" w="sm" len="sm"/>
              </a:ln>
              <a:effectLst/>
            </p:spPr>
            <p:txBody>
              <a:bodyPr lIns="36000" tIns="36000" rIns="36000" bIns="36000" anchor="ctr"/>
              <a:lstStyle/>
              <a:p>
                <a:pPr algn="ctr" eaLnBrk="0" hangingPunct="0">
                  <a:spcAft>
                    <a:spcPts val="600"/>
                  </a:spcAft>
                </a:pPr>
                <a:r>
                  <a:rPr lang="en-US" sz="900" b="1">
                    <a:solidFill>
                      <a:schemeClr val="bg1"/>
                    </a:solidFill>
                    <a:latin typeface="Ubuntu"/>
                    <a:cs typeface="Calibri" pitchFamily="34" charset="0"/>
                  </a:rPr>
                  <a:t>Synergy Plan Analysis &amp; Review</a:t>
                </a:r>
              </a:p>
            </p:txBody>
          </p:sp>
          <p:sp>
            <p:nvSpPr>
              <p:cNvPr id="153" name="Pentagon 19">
                <a:extLst>
                  <a:ext uri="{FF2B5EF4-FFF2-40B4-BE49-F238E27FC236}">
                    <a16:creationId xmlns:a16="http://schemas.microsoft.com/office/drawing/2014/main" id="{088F3933-73F5-E3FD-14EA-9A2F6EE5573A}"/>
                  </a:ext>
                </a:extLst>
              </p:cNvPr>
              <p:cNvSpPr>
                <a:spLocks noChangeArrowheads="1"/>
              </p:cNvSpPr>
              <p:nvPr/>
            </p:nvSpPr>
            <p:spPr bwMode="auto">
              <a:xfrm>
                <a:off x="8750672" y="2173943"/>
                <a:ext cx="2760579" cy="202052"/>
              </a:xfrm>
              <a:prstGeom prst="chevron">
                <a:avLst>
                  <a:gd name="adj" fmla="val 27931"/>
                </a:avLst>
              </a:prstGeom>
              <a:solidFill>
                <a:srgbClr val="005482"/>
              </a:solidFill>
              <a:ln w="12700" algn="ctr">
                <a:noFill/>
                <a:round/>
                <a:headEnd type="none" w="sm" len="sm"/>
                <a:tailEnd type="none" w="sm" len="sm"/>
              </a:ln>
              <a:effectLst/>
            </p:spPr>
            <p:txBody>
              <a:bodyPr lIns="36000" tIns="36000" rIns="36000" bIns="36000" anchor="ctr"/>
              <a:lstStyle/>
              <a:p>
                <a:pPr algn="ctr" eaLnBrk="0" hangingPunct="0">
                  <a:spcAft>
                    <a:spcPts val="600"/>
                  </a:spcAft>
                </a:pPr>
                <a:r>
                  <a:rPr lang="en-US" sz="900" b="1">
                    <a:solidFill>
                      <a:schemeClr val="bg1"/>
                    </a:solidFill>
                    <a:latin typeface="Ubuntu"/>
                    <a:cs typeface="Calibri" pitchFamily="34" charset="0"/>
                  </a:rPr>
                  <a:t>Agreement on Final Synergy Plan</a:t>
                </a:r>
              </a:p>
            </p:txBody>
          </p:sp>
        </p:grpSp>
        <p:grpSp>
          <p:nvGrpSpPr>
            <p:cNvPr id="96" name="Group 95">
              <a:extLst>
                <a:ext uri="{FF2B5EF4-FFF2-40B4-BE49-F238E27FC236}">
                  <a16:creationId xmlns:a16="http://schemas.microsoft.com/office/drawing/2014/main" id="{943E11DF-3325-E39F-C928-D7389A25E45F}"/>
                </a:ext>
              </a:extLst>
            </p:cNvPr>
            <p:cNvGrpSpPr/>
            <p:nvPr/>
          </p:nvGrpSpPr>
          <p:grpSpPr>
            <a:xfrm>
              <a:off x="249933" y="2746894"/>
              <a:ext cx="11484019" cy="684507"/>
              <a:chOff x="249933" y="4240454"/>
              <a:chExt cx="11484019" cy="684507"/>
            </a:xfrm>
          </p:grpSpPr>
          <p:grpSp>
            <p:nvGrpSpPr>
              <p:cNvPr id="59" name="Group 58">
                <a:extLst>
                  <a:ext uri="{FF2B5EF4-FFF2-40B4-BE49-F238E27FC236}">
                    <a16:creationId xmlns:a16="http://schemas.microsoft.com/office/drawing/2014/main" id="{43457EE7-9E97-F8F3-355F-75C018E9130A}"/>
                  </a:ext>
                </a:extLst>
              </p:cNvPr>
              <p:cNvGrpSpPr/>
              <p:nvPr/>
            </p:nvGrpSpPr>
            <p:grpSpPr>
              <a:xfrm>
                <a:off x="249933" y="4240454"/>
                <a:ext cx="11484019" cy="684507"/>
                <a:chOff x="249933" y="4357966"/>
                <a:chExt cx="11484019" cy="468000"/>
              </a:xfrm>
            </p:grpSpPr>
            <p:sp>
              <p:nvSpPr>
                <p:cNvPr id="25" name="Rectangle: Rounded Corners 113">
                  <a:extLst>
                    <a:ext uri="{FF2B5EF4-FFF2-40B4-BE49-F238E27FC236}">
                      <a16:creationId xmlns:a16="http://schemas.microsoft.com/office/drawing/2014/main" id="{2C095605-525B-24F4-CDA9-3C402F4E79EB}"/>
                    </a:ext>
                  </a:extLst>
                </p:cNvPr>
                <p:cNvSpPr/>
                <p:nvPr/>
              </p:nvSpPr>
              <p:spPr bwMode="gray">
                <a:xfrm>
                  <a:off x="249933" y="4357966"/>
                  <a:ext cx="1452789" cy="468000"/>
                </a:xfrm>
                <a:prstGeom prst="roundRect">
                  <a:avLst/>
                </a:prstGeom>
                <a:solidFill>
                  <a:srgbClr val="FFEEB9"/>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a:solidFill>
                        <a:schemeClr val="tx1"/>
                      </a:solidFill>
                    </a:rPr>
                    <a:t>Stream 3: </a:t>
                  </a:r>
                </a:p>
                <a:p>
                  <a:pPr algn="ctr"/>
                  <a:r>
                    <a:rPr lang="en-GB" sz="1400" b="1">
                      <a:solidFill>
                        <a:schemeClr val="tx1"/>
                      </a:solidFill>
                    </a:rPr>
                    <a:t>Operating Model</a:t>
                  </a:r>
                </a:p>
              </p:txBody>
            </p:sp>
            <p:sp>
              <p:nvSpPr>
                <p:cNvPr id="44" name="Rectangle : coins arrondis 7">
                  <a:extLst>
                    <a:ext uri="{FF2B5EF4-FFF2-40B4-BE49-F238E27FC236}">
                      <a16:creationId xmlns:a16="http://schemas.microsoft.com/office/drawing/2014/main" id="{8DEC8D19-8BAE-D97C-220A-C5796485EBB6}"/>
                    </a:ext>
                  </a:extLst>
                </p:cNvPr>
                <p:cNvSpPr/>
                <p:nvPr/>
              </p:nvSpPr>
              <p:spPr>
                <a:xfrm>
                  <a:off x="1850933" y="4360595"/>
                  <a:ext cx="9883019" cy="465371"/>
                </a:xfrm>
                <a:prstGeom prst="roundRect">
                  <a:avLst/>
                </a:prstGeom>
                <a:solidFill>
                  <a:schemeClr val="bg1"/>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600"/>
                    </a:spcBef>
                    <a:spcAft>
                      <a:spcPts val="0"/>
                    </a:spcAft>
                    <a:buClrTx/>
                    <a:buSzTx/>
                    <a:buFontTx/>
                    <a:buNone/>
                    <a:tabLst/>
                    <a:defRPr/>
                  </a:pPr>
                  <a:endParaRPr kumimoji="0" lang="en-US" sz="900" b="1" i="0" u="none" strike="noStrike" kern="1200" cap="none" spc="0" normalizeH="0" baseline="0" noProof="0">
                    <a:ln>
                      <a:noFill/>
                    </a:ln>
                    <a:solidFill>
                      <a:schemeClr val="bg1"/>
                    </a:solidFill>
                    <a:effectLst/>
                    <a:uLnTx/>
                    <a:uFillTx/>
                    <a:ea typeface="+mn-ea"/>
                    <a:cs typeface="Segoe UI" panose="020B0502040204020203" pitchFamily="34" charset="0"/>
                  </a:endParaRPr>
                </a:p>
              </p:txBody>
            </p:sp>
          </p:grpSp>
          <p:sp>
            <p:nvSpPr>
              <p:cNvPr id="172" name="Pentagon 19">
                <a:extLst>
                  <a:ext uri="{FF2B5EF4-FFF2-40B4-BE49-F238E27FC236}">
                    <a16:creationId xmlns:a16="http://schemas.microsoft.com/office/drawing/2014/main" id="{C8A1ACFA-AE78-BC38-1CF8-769A7E7FBB0D}"/>
                  </a:ext>
                </a:extLst>
              </p:cNvPr>
              <p:cNvSpPr>
                <a:spLocks noChangeArrowheads="1"/>
              </p:cNvSpPr>
              <p:nvPr/>
            </p:nvSpPr>
            <p:spPr bwMode="auto">
              <a:xfrm>
                <a:off x="1927533" y="4357428"/>
                <a:ext cx="3428022" cy="397753"/>
              </a:xfrm>
              <a:prstGeom prst="homePlate">
                <a:avLst>
                  <a:gd name="adj" fmla="val 30166"/>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Assessment (both companies Operating model &amp; methodologies)</a:t>
                </a:r>
                <a:endParaRPr lang="en-US" sz="900" b="1">
                  <a:solidFill>
                    <a:schemeClr val="bg1"/>
                  </a:solidFill>
                  <a:latin typeface="Ubuntu"/>
                  <a:cs typeface="Calibri" pitchFamily="34" charset="0"/>
                </a:endParaRPr>
              </a:p>
            </p:txBody>
          </p:sp>
          <p:sp>
            <p:nvSpPr>
              <p:cNvPr id="173" name="Pentagon 19">
                <a:extLst>
                  <a:ext uri="{FF2B5EF4-FFF2-40B4-BE49-F238E27FC236}">
                    <a16:creationId xmlns:a16="http://schemas.microsoft.com/office/drawing/2014/main" id="{906AC527-393D-03F3-3801-E4957A9EAFE4}"/>
                  </a:ext>
                </a:extLst>
              </p:cNvPr>
              <p:cNvSpPr>
                <a:spLocks noChangeArrowheads="1"/>
              </p:cNvSpPr>
              <p:nvPr/>
            </p:nvSpPr>
            <p:spPr bwMode="auto">
              <a:xfrm>
                <a:off x="5357957" y="4355652"/>
                <a:ext cx="4602400" cy="393356"/>
              </a:xfrm>
              <a:prstGeom prst="chevron">
                <a:avLst>
                  <a:gd name="adj" fmla="val 27931"/>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Iterative Design, syncing with other stream’s inputs, for Digital TOM (Intermediate and Target State) </a:t>
                </a:r>
                <a:endParaRPr lang="en-US" sz="900" b="1">
                  <a:solidFill>
                    <a:schemeClr val="bg1"/>
                  </a:solidFill>
                  <a:latin typeface="Ubuntu"/>
                  <a:cs typeface="Calibri" pitchFamily="34" charset="0"/>
                </a:endParaRPr>
              </a:p>
            </p:txBody>
          </p:sp>
          <p:sp>
            <p:nvSpPr>
              <p:cNvPr id="175" name="Pentagon 19">
                <a:extLst>
                  <a:ext uri="{FF2B5EF4-FFF2-40B4-BE49-F238E27FC236}">
                    <a16:creationId xmlns:a16="http://schemas.microsoft.com/office/drawing/2014/main" id="{741C91DD-488D-978F-65A4-0F2359B9EA21}"/>
                  </a:ext>
                </a:extLst>
              </p:cNvPr>
              <p:cNvSpPr>
                <a:spLocks noChangeArrowheads="1"/>
              </p:cNvSpPr>
              <p:nvPr/>
            </p:nvSpPr>
            <p:spPr bwMode="auto">
              <a:xfrm>
                <a:off x="9960358" y="4350539"/>
                <a:ext cx="1558356" cy="404641"/>
              </a:xfrm>
              <a:prstGeom prst="chevron">
                <a:avLst>
                  <a:gd name="adj" fmla="val 27931"/>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Roadmap Definition</a:t>
                </a:r>
                <a:endParaRPr lang="en-US" sz="900" b="1">
                  <a:solidFill>
                    <a:schemeClr val="bg1"/>
                  </a:solidFill>
                  <a:latin typeface="Ubuntu"/>
                  <a:cs typeface="Calibri" pitchFamily="34" charset="0"/>
                </a:endParaRPr>
              </a:p>
            </p:txBody>
          </p:sp>
        </p:grpSp>
        <p:grpSp>
          <p:nvGrpSpPr>
            <p:cNvPr id="97" name="Group 96">
              <a:extLst>
                <a:ext uri="{FF2B5EF4-FFF2-40B4-BE49-F238E27FC236}">
                  <a16:creationId xmlns:a16="http://schemas.microsoft.com/office/drawing/2014/main" id="{7EDBD21F-44C4-DEE2-ACFE-8B12578B6186}"/>
                </a:ext>
              </a:extLst>
            </p:cNvPr>
            <p:cNvGrpSpPr/>
            <p:nvPr/>
          </p:nvGrpSpPr>
          <p:grpSpPr>
            <a:xfrm>
              <a:off x="249933" y="5716688"/>
              <a:ext cx="11469074" cy="684507"/>
              <a:chOff x="249933" y="5716688"/>
              <a:chExt cx="11469074" cy="684507"/>
            </a:xfrm>
          </p:grpSpPr>
          <p:grpSp>
            <p:nvGrpSpPr>
              <p:cNvPr id="57" name="Group 56">
                <a:extLst>
                  <a:ext uri="{FF2B5EF4-FFF2-40B4-BE49-F238E27FC236}">
                    <a16:creationId xmlns:a16="http://schemas.microsoft.com/office/drawing/2014/main" id="{1F88AE7A-99FF-2094-00D6-16E1F7EF3D8D}"/>
                  </a:ext>
                </a:extLst>
              </p:cNvPr>
              <p:cNvGrpSpPr/>
              <p:nvPr/>
            </p:nvGrpSpPr>
            <p:grpSpPr>
              <a:xfrm>
                <a:off x="249933" y="5716688"/>
                <a:ext cx="11469074" cy="684507"/>
                <a:chOff x="249933" y="5479756"/>
                <a:chExt cx="11469074" cy="468000"/>
              </a:xfrm>
            </p:grpSpPr>
            <p:sp>
              <p:nvSpPr>
                <p:cNvPr id="24" name="Rectangle: Rounded Corners 112">
                  <a:extLst>
                    <a:ext uri="{FF2B5EF4-FFF2-40B4-BE49-F238E27FC236}">
                      <a16:creationId xmlns:a16="http://schemas.microsoft.com/office/drawing/2014/main" id="{8E8FF67A-019A-74FD-25C8-BC2A182B9EF0}"/>
                    </a:ext>
                  </a:extLst>
                </p:cNvPr>
                <p:cNvSpPr/>
                <p:nvPr/>
              </p:nvSpPr>
              <p:spPr bwMode="gray">
                <a:xfrm>
                  <a:off x="249933" y="5479756"/>
                  <a:ext cx="1452789" cy="468000"/>
                </a:xfrm>
                <a:prstGeom prst="roundRect">
                  <a:avLst/>
                </a:prstGeom>
                <a:solidFill>
                  <a:srgbClr val="FFEEB9"/>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200">
                      <a:solidFill>
                        <a:schemeClr val="tx1"/>
                      </a:solidFill>
                    </a:rPr>
                    <a:t>Stream 7: </a:t>
                  </a:r>
                </a:p>
                <a:p>
                  <a:pPr algn="ctr"/>
                  <a:r>
                    <a:rPr lang="en-GB" sz="1400" b="1">
                      <a:solidFill>
                        <a:schemeClr val="tx1"/>
                      </a:solidFill>
                    </a:rPr>
                    <a:t>Sourcing &amp; Contracts</a:t>
                  </a:r>
                </a:p>
              </p:txBody>
            </p:sp>
            <p:sp>
              <p:nvSpPr>
                <p:cNvPr id="42" name="Rectangle : coins arrondis 7">
                  <a:extLst>
                    <a:ext uri="{FF2B5EF4-FFF2-40B4-BE49-F238E27FC236}">
                      <a16:creationId xmlns:a16="http://schemas.microsoft.com/office/drawing/2014/main" id="{A204DB25-FE09-576B-7DB0-06C3F845F506}"/>
                    </a:ext>
                  </a:extLst>
                </p:cNvPr>
                <p:cNvSpPr/>
                <p:nvPr/>
              </p:nvSpPr>
              <p:spPr>
                <a:xfrm>
                  <a:off x="1835988" y="5482385"/>
                  <a:ext cx="9883019" cy="465371"/>
                </a:xfrm>
                <a:prstGeom prst="roundRect">
                  <a:avLst/>
                </a:prstGeom>
                <a:solidFill>
                  <a:schemeClr val="bg1"/>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600"/>
                    </a:spcBef>
                    <a:spcAft>
                      <a:spcPts val="0"/>
                    </a:spcAft>
                    <a:buClrTx/>
                    <a:buSzTx/>
                    <a:buFontTx/>
                    <a:buNone/>
                    <a:tabLst/>
                    <a:defRPr/>
                  </a:pPr>
                  <a:endParaRPr kumimoji="0" lang="en-US" sz="900" b="1" i="0" u="none" strike="noStrike" kern="1200" cap="none" spc="0" normalizeH="0" baseline="0" noProof="0">
                    <a:ln>
                      <a:noFill/>
                    </a:ln>
                    <a:solidFill>
                      <a:schemeClr val="bg1"/>
                    </a:solidFill>
                    <a:effectLst/>
                    <a:uLnTx/>
                    <a:uFillTx/>
                    <a:ea typeface="+mn-ea"/>
                    <a:cs typeface="Segoe UI" panose="020B0502040204020203" pitchFamily="34" charset="0"/>
                  </a:endParaRPr>
                </a:p>
              </p:txBody>
            </p:sp>
          </p:grpSp>
          <p:sp>
            <p:nvSpPr>
              <p:cNvPr id="176" name="Pentagon 19">
                <a:extLst>
                  <a:ext uri="{FF2B5EF4-FFF2-40B4-BE49-F238E27FC236}">
                    <a16:creationId xmlns:a16="http://schemas.microsoft.com/office/drawing/2014/main" id="{7A2EFDDC-3CC2-A4D7-5410-497FE93D1011}"/>
                  </a:ext>
                </a:extLst>
              </p:cNvPr>
              <p:cNvSpPr>
                <a:spLocks noChangeArrowheads="1"/>
              </p:cNvSpPr>
              <p:nvPr/>
            </p:nvSpPr>
            <p:spPr bwMode="auto">
              <a:xfrm>
                <a:off x="2847639" y="5959640"/>
                <a:ext cx="4073889" cy="207893"/>
              </a:xfrm>
              <a:prstGeom prst="homePlate">
                <a:avLst>
                  <a:gd name="adj" fmla="val 30166"/>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Analysis of the As-Is Contracts</a:t>
                </a:r>
                <a:endParaRPr lang="en-US" sz="900" b="1">
                  <a:solidFill>
                    <a:schemeClr val="bg1"/>
                  </a:solidFill>
                  <a:latin typeface="Ubuntu"/>
                  <a:cs typeface="Calibri" pitchFamily="34" charset="0"/>
                </a:endParaRPr>
              </a:p>
            </p:txBody>
          </p:sp>
          <p:sp>
            <p:nvSpPr>
              <p:cNvPr id="177" name="Pentagon 19">
                <a:extLst>
                  <a:ext uri="{FF2B5EF4-FFF2-40B4-BE49-F238E27FC236}">
                    <a16:creationId xmlns:a16="http://schemas.microsoft.com/office/drawing/2014/main" id="{BA4F0218-34D4-36B1-76BD-862D1967F2DD}"/>
                  </a:ext>
                </a:extLst>
              </p:cNvPr>
              <p:cNvSpPr>
                <a:spLocks noChangeArrowheads="1"/>
              </p:cNvSpPr>
              <p:nvPr/>
            </p:nvSpPr>
            <p:spPr bwMode="auto">
              <a:xfrm>
                <a:off x="6907220" y="5959640"/>
                <a:ext cx="4602400" cy="202052"/>
              </a:xfrm>
              <a:prstGeom prst="chevron">
                <a:avLst>
                  <a:gd name="adj" fmla="val 27931"/>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Iterative Design (syncing with other stream’s inputs)</a:t>
                </a:r>
                <a:endParaRPr lang="en-US" sz="900" b="1">
                  <a:solidFill>
                    <a:schemeClr val="bg1"/>
                  </a:solidFill>
                  <a:latin typeface="Ubuntu"/>
                  <a:cs typeface="Calibri" pitchFamily="34" charset="0"/>
                </a:endParaRPr>
              </a:p>
            </p:txBody>
          </p:sp>
        </p:grpSp>
        <p:grpSp>
          <p:nvGrpSpPr>
            <p:cNvPr id="29" name="Group 28">
              <a:extLst>
                <a:ext uri="{FF2B5EF4-FFF2-40B4-BE49-F238E27FC236}">
                  <a16:creationId xmlns:a16="http://schemas.microsoft.com/office/drawing/2014/main" id="{1D657EB7-4AF4-4146-8B31-D0767C3EE090}"/>
                </a:ext>
              </a:extLst>
            </p:cNvPr>
            <p:cNvGrpSpPr/>
            <p:nvPr/>
          </p:nvGrpSpPr>
          <p:grpSpPr>
            <a:xfrm>
              <a:off x="1924969" y="4278098"/>
              <a:ext cx="9578106" cy="599371"/>
              <a:chOff x="1924969" y="5094317"/>
              <a:chExt cx="3859806" cy="647954"/>
            </a:xfrm>
          </p:grpSpPr>
          <p:sp>
            <p:nvSpPr>
              <p:cNvPr id="19" name="Pentagon 19">
                <a:extLst>
                  <a:ext uri="{FF2B5EF4-FFF2-40B4-BE49-F238E27FC236}">
                    <a16:creationId xmlns:a16="http://schemas.microsoft.com/office/drawing/2014/main" id="{8A2969EF-43B6-E9FB-C153-053776CC5531}"/>
                  </a:ext>
                </a:extLst>
              </p:cNvPr>
              <p:cNvSpPr>
                <a:spLocks noChangeArrowheads="1"/>
              </p:cNvSpPr>
              <p:nvPr/>
            </p:nvSpPr>
            <p:spPr bwMode="auto">
              <a:xfrm>
                <a:off x="1924969" y="5094317"/>
                <a:ext cx="3859806" cy="192813"/>
              </a:xfrm>
              <a:prstGeom prst="homePlate">
                <a:avLst>
                  <a:gd name="adj" fmla="val 30166"/>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Mandatory Reporting Preparation &amp; Initial Synergy Delivery</a:t>
                </a:r>
                <a:endParaRPr lang="en-US" sz="900" b="1">
                  <a:solidFill>
                    <a:schemeClr val="bg1"/>
                  </a:solidFill>
                  <a:latin typeface="Ubuntu"/>
                  <a:cs typeface="Calibri" pitchFamily="34" charset="0"/>
                </a:endParaRPr>
              </a:p>
            </p:txBody>
          </p:sp>
          <p:sp>
            <p:nvSpPr>
              <p:cNvPr id="27" name="Pentagon 19">
                <a:extLst>
                  <a:ext uri="{FF2B5EF4-FFF2-40B4-BE49-F238E27FC236}">
                    <a16:creationId xmlns:a16="http://schemas.microsoft.com/office/drawing/2014/main" id="{42C87FEA-C85A-0E80-C2A5-1F09B3D37289}"/>
                  </a:ext>
                </a:extLst>
              </p:cNvPr>
              <p:cNvSpPr>
                <a:spLocks noChangeArrowheads="1"/>
              </p:cNvSpPr>
              <p:nvPr/>
            </p:nvSpPr>
            <p:spPr bwMode="auto">
              <a:xfrm>
                <a:off x="1924969" y="5324207"/>
                <a:ext cx="3859806" cy="192813"/>
              </a:xfrm>
              <a:prstGeom prst="homePlate">
                <a:avLst>
                  <a:gd name="adj" fmla="val 30166"/>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Data &amp; AI Enterprise Enablement </a:t>
                </a:r>
                <a:endParaRPr lang="en-US" sz="900" b="1">
                  <a:solidFill>
                    <a:schemeClr val="bg1"/>
                  </a:solidFill>
                  <a:latin typeface="Ubuntu"/>
                  <a:cs typeface="Calibri" pitchFamily="34" charset="0"/>
                </a:endParaRPr>
              </a:p>
            </p:txBody>
          </p:sp>
          <p:sp>
            <p:nvSpPr>
              <p:cNvPr id="28" name="Pentagon 19">
                <a:extLst>
                  <a:ext uri="{FF2B5EF4-FFF2-40B4-BE49-F238E27FC236}">
                    <a16:creationId xmlns:a16="http://schemas.microsoft.com/office/drawing/2014/main" id="{DD20824B-F9CC-4C85-136B-5CDF5ABA225C}"/>
                  </a:ext>
                </a:extLst>
              </p:cNvPr>
              <p:cNvSpPr>
                <a:spLocks noChangeArrowheads="1"/>
              </p:cNvSpPr>
              <p:nvPr/>
            </p:nvSpPr>
            <p:spPr bwMode="auto">
              <a:xfrm>
                <a:off x="1924969" y="5549458"/>
                <a:ext cx="3859806" cy="192813"/>
              </a:xfrm>
              <a:prstGeom prst="homePlate">
                <a:avLst>
                  <a:gd name="adj" fmla="val 30166"/>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Data Integration Planning</a:t>
                </a:r>
                <a:endParaRPr lang="en-US" sz="900" b="1">
                  <a:solidFill>
                    <a:schemeClr val="bg1"/>
                  </a:solidFill>
                  <a:latin typeface="Ubuntu"/>
                  <a:cs typeface="Calibri" pitchFamily="34" charset="0"/>
                </a:endParaRPr>
              </a:p>
            </p:txBody>
          </p:sp>
        </p:grpSp>
        <p:grpSp>
          <p:nvGrpSpPr>
            <p:cNvPr id="124" name="Group 123">
              <a:extLst>
                <a:ext uri="{FF2B5EF4-FFF2-40B4-BE49-F238E27FC236}">
                  <a16:creationId xmlns:a16="http://schemas.microsoft.com/office/drawing/2014/main" id="{82FDD8A2-EB15-59EA-2825-176C1B99B391}"/>
                </a:ext>
              </a:extLst>
            </p:cNvPr>
            <p:cNvGrpSpPr/>
            <p:nvPr/>
          </p:nvGrpSpPr>
          <p:grpSpPr>
            <a:xfrm>
              <a:off x="249933" y="3478957"/>
              <a:ext cx="11484019" cy="706821"/>
              <a:chOff x="249933" y="2741906"/>
              <a:chExt cx="11484019" cy="706821"/>
            </a:xfrm>
          </p:grpSpPr>
          <p:grpSp>
            <p:nvGrpSpPr>
              <p:cNvPr id="125" name="Group 124">
                <a:extLst>
                  <a:ext uri="{FF2B5EF4-FFF2-40B4-BE49-F238E27FC236}">
                    <a16:creationId xmlns:a16="http://schemas.microsoft.com/office/drawing/2014/main" id="{7BC2F148-DB04-0C6E-2316-F88B78D36C4A}"/>
                  </a:ext>
                </a:extLst>
              </p:cNvPr>
              <p:cNvGrpSpPr/>
              <p:nvPr/>
            </p:nvGrpSpPr>
            <p:grpSpPr>
              <a:xfrm>
                <a:off x="249933" y="2753415"/>
                <a:ext cx="11484019" cy="695312"/>
                <a:chOff x="249933" y="3228789"/>
                <a:chExt cx="11484019" cy="475387"/>
              </a:xfrm>
            </p:grpSpPr>
            <p:sp>
              <p:nvSpPr>
                <p:cNvPr id="133" name="Rectangle: Rounded Corners 108">
                  <a:extLst>
                    <a:ext uri="{FF2B5EF4-FFF2-40B4-BE49-F238E27FC236}">
                      <a16:creationId xmlns:a16="http://schemas.microsoft.com/office/drawing/2014/main" id="{293D2491-A94A-BF66-C64A-E8164385F1DE}"/>
                    </a:ext>
                  </a:extLst>
                </p:cNvPr>
                <p:cNvSpPr/>
                <p:nvPr/>
              </p:nvSpPr>
              <p:spPr bwMode="gray">
                <a:xfrm>
                  <a:off x="249933" y="3236176"/>
                  <a:ext cx="1452789" cy="468000"/>
                </a:xfrm>
                <a:prstGeom prst="roundRect">
                  <a:avLst/>
                </a:prstGeom>
                <a:solidFill>
                  <a:srgbClr val="FFEEB9"/>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Stream 4: </a:t>
                  </a:r>
                </a:p>
                <a:p>
                  <a:pPr algn="ctr"/>
                  <a:r>
                    <a:rPr lang="en-GB" sz="1400" b="1" dirty="0">
                      <a:solidFill>
                        <a:schemeClr val="tx1"/>
                      </a:solidFill>
                    </a:rPr>
                    <a:t>IT Application Domain</a:t>
                  </a:r>
                </a:p>
              </p:txBody>
            </p:sp>
            <p:sp>
              <p:nvSpPr>
                <p:cNvPr id="134" name="Rectangle : coins arrondis 7">
                  <a:extLst>
                    <a:ext uri="{FF2B5EF4-FFF2-40B4-BE49-F238E27FC236}">
                      <a16:creationId xmlns:a16="http://schemas.microsoft.com/office/drawing/2014/main" id="{6D169860-3470-4F53-786E-83191E6C3D3A}"/>
                    </a:ext>
                  </a:extLst>
                </p:cNvPr>
                <p:cNvSpPr/>
                <p:nvPr/>
              </p:nvSpPr>
              <p:spPr>
                <a:xfrm>
                  <a:off x="1850933" y="3228789"/>
                  <a:ext cx="9883019" cy="465371"/>
                </a:xfrm>
                <a:prstGeom prst="roundRect">
                  <a:avLst/>
                </a:prstGeom>
                <a:solidFill>
                  <a:schemeClr val="bg1"/>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600"/>
                    </a:spcBef>
                    <a:spcAft>
                      <a:spcPts val="0"/>
                    </a:spcAft>
                    <a:buClrTx/>
                    <a:buSzTx/>
                    <a:buFontTx/>
                    <a:buNone/>
                    <a:tabLst/>
                    <a:defRPr/>
                  </a:pPr>
                  <a:endParaRPr kumimoji="0" lang="en-US" sz="900" b="1" i="0" u="none" strike="noStrike" kern="1200" cap="none" spc="0" normalizeH="0" baseline="0" noProof="0">
                    <a:ln>
                      <a:noFill/>
                    </a:ln>
                    <a:solidFill>
                      <a:schemeClr val="bg1"/>
                    </a:solidFill>
                    <a:effectLst/>
                    <a:uLnTx/>
                    <a:uFillTx/>
                    <a:ea typeface="+mn-ea"/>
                    <a:cs typeface="Segoe UI" panose="020B0502040204020203" pitchFamily="34" charset="0"/>
                  </a:endParaRPr>
                </a:p>
              </p:txBody>
            </p:sp>
          </p:grpSp>
          <p:sp>
            <p:nvSpPr>
              <p:cNvPr id="126" name="Pentagon 19">
                <a:extLst>
                  <a:ext uri="{FF2B5EF4-FFF2-40B4-BE49-F238E27FC236}">
                    <a16:creationId xmlns:a16="http://schemas.microsoft.com/office/drawing/2014/main" id="{FB7E0858-582A-8BDF-1147-C76D72DDF9BF}"/>
                  </a:ext>
                </a:extLst>
              </p:cNvPr>
              <p:cNvSpPr>
                <a:spLocks noChangeArrowheads="1"/>
              </p:cNvSpPr>
              <p:nvPr/>
            </p:nvSpPr>
            <p:spPr bwMode="auto">
              <a:xfrm>
                <a:off x="2760663" y="2921710"/>
                <a:ext cx="3006827" cy="155262"/>
              </a:xfrm>
              <a:prstGeom prst="homePlate">
                <a:avLst>
                  <a:gd name="adj" fmla="val 30166"/>
                </a:avLst>
              </a:prstGeom>
              <a:solidFill>
                <a:srgbClr val="005482"/>
              </a:solidFill>
              <a:ln w="12700" algn="ctr">
                <a:noFill/>
                <a:round/>
                <a:headEnd type="none" w="sm" len="sm"/>
                <a:tailEnd type="none" w="sm" len="sm"/>
              </a:ln>
              <a:effectLst/>
            </p:spPr>
            <p:txBody>
              <a:bodyPr lIns="0" tIns="36000" rIns="0" bIns="36000" anchor="ctr"/>
              <a:lstStyle/>
              <a:p>
                <a:pPr algn="ctr" eaLnBrk="0" hangingPunct="0">
                  <a:spcAft>
                    <a:spcPts val="600"/>
                  </a:spcAft>
                </a:pPr>
                <a:r>
                  <a:rPr lang="en-GB" sz="800" b="1">
                    <a:solidFill>
                      <a:prstClr val="white"/>
                    </a:solidFill>
                    <a:latin typeface="Ubuntu"/>
                    <a:cs typeface="Calibri" pitchFamily="34" charset="0"/>
                  </a:rPr>
                  <a:t>Side by Side VF/FW application portfolio review</a:t>
                </a:r>
                <a:endParaRPr lang="en-US" sz="800" b="1">
                  <a:solidFill>
                    <a:prstClr val="white"/>
                  </a:solidFill>
                  <a:latin typeface="Ubuntu"/>
                  <a:cs typeface="Calibri" pitchFamily="34" charset="0"/>
                </a:endParaRPr>
              </a:p>
            </p:txBody>
          </p:sp>
          <p:sp>
            <p:nvSpPr>
              <p:cNvPr id="127" name="Pentagon 19">
                <a:extLst>
                  <a:ext uri="{FF2B5EF4-FFF2-40B4-BE49-F238E27FC236}">
                    <a16:creationId xmlns:a16="http://schemas.microsoft.com/office/drawing/2014/main" id="{9FE2464F-ADEA-EC09-2865-25FE42A31724}"/>
                  </a:ext>
                </a:extLst>
              </p:cNvPr>
              <p:cNvSpPr>
                <a:spLocks noChangeArrowheads="1"/>
              </p:cNvSpPr>
              <p:nvPr/>
            </p:nvSpPr>
            <p:spPr bwMode="auto">
              <a:xfrm>
                <a:off x="1927532" y="3281317"/>
                <a:ext cx="5485933" cy="155262"/>
              </a:xfrm>
              <a:prstGeom prst="homePlate">
                <a:avLst>
                  <a:gd name="adj" fmla="val 30166"/>
                </a:avLst>
              </a:prstGeom>
              <a:solidFill>
                <a:srgbClr val="005482"/>
              </a:solidFill>
              <a:ln w="12700" algn="ctr">
                <a:noFill/>
                <a:round/>
                <a:headEnd type="none" w="sm" len="sm"/>
                <a:tailEnd type="none" w="sm" len="sm"/>
              </a:ln>
              <a:effectLst/>
            </p:spPr>
            <p:txBody>
              <a:bodyPr lIns="36000" tIns="36000" rIns="36000" bIns="36000" anchor="ctr"/>
              <a:lstStyle/>
              <a:p>
                <a:pPr algn="ctr" eaLnBrk="0" hangingPunct="0">
                  <a:spcAft>
                    <a:spcPts val="600"/>
                  </a:spcAft>
                </a:pPr>
                <a:r>
                  <a:rPr lang="en-GB" sz="800" b="1">
                    <a:solidFill>
                      <a:prstClr val="white"/>
                    </a:solidFill>
                    <a:latin typeface="Ubuntu"/>
                    <a:cs typeface="Calibri" pitchFamily="34" charset="0"/>
                  </a:rPr>
                  <a:t>IT Strategy (Transition and End State Architecture Roadmap)</a:t>
                </a:r>
                <a:endParaRPr lang="en-US" sz="800" b="1">
                  <a:solidFill>
                    <a:prstClr val="white"/>
                  </a:solidFill>
                  <a:latin typeface="Ubuntu"/>
                  <a:cs typeface="Calibri" pitchFamily="34" charset="0"/>
                </a:endParaRPr>
              </a:p>
            </p:txBody>
          </p:sp>
          <p:sp>
            <p:nvSpPr>
              <p:cNvPr id="128" name="Pentagon 19">
                <a:extLst>
                  <a:ext uri="{FF2B5EF4-FFF2-40B4-BE49-F238E27FC236}">
                    <a16:creationId xmlns:a16="http://schemas.microsoft.com/office/drawing/2014/main" id="{65F391EA-9D4B-C86A-88F5-C56895656F66}"/>
                  </a:ext>
                </a:extLst>
              </p:cNvPr>
              <p:cNvSpPr>
                <a:spLocks noChangeArrowheads="1"/>
              </p:cNvSpPr>
              <p:nvPr/>
            </p:nvSpPr>
            <p:spPr bwMode="auto">
              <a:xfrm>
                <a:off x="2760663" y="3101513"/>
                <a:ext cx="3006824" cy="155262"/>
              </a:xfrm>
              <a:prstGeom prst="homePlate">
                <a:avLst>
                  <a:gd name="adj" fmla="val 30166"/>
                </a:avLst>
              </a:prstGeom>
              <a:solidFill>
                <a:srgbClr val="005482"/>
              </a:solidFill>
              <a:ln w="12700" algn="ctr">
                <a:noFill/>
                <a:round/>
                <a:headEnd type="none" w="sm" len="sm"/>
                <a:tailEnd type="none" w="sm" len="sm"/>
              </a:ln>
              <a:effectLst/>
            </p:spPr>
            <p:txBody>
              <a:bodyPr lIns="0" tIns="36000" rIns="0" bIns="36000" anchor="ctr"/>
              <a:lstStyle/>
              <a:p>
                <a:pPr algn="ctr" eaLnBrk="0" hangingPunct="0">
                  <a:spcAft>
                    <a:spcPts val="600"/>
                  </a:spcAft>
                </a:pPr>
                <a:r>
                  <a:rPr lang="en-GB" sz="800" b="1">
                    <a:solidFill>
                      <a:prstClr val="white"/>
                    </a:solidFill>
                    <a:latin typeface="Ubuntu"/>
                    <a:cs typeface="Calibri" pitchFamily="34" charset="0"/>
                  </a:rPr>
                  <a:t>ERP Dis-entanglement High Level Strategy</a:t>
                </a:r>
                <a:endParaRPr lang="en-US" sz="800" b="1">
                  <a:solidFill>
                    <a:prstClr val="white"/>
                  </a:solidFill>
                  <a:latin typeface="Ubuntu"/>
                  <a:cs typeface="Calibri" pitchFamily="34" charset="0"/>
                </a:endParaRPr>
              </a:p>
            </p:txBody>
          </p:sp>
          <p:sp>
            <p:nvSpPr>
              <p:cNvPr id="129" name="Pentagon 19">
                <a:extLst>
                  <a:ext uri="{FF2B5EF4-FFF2-40B4-BE49-F238E27FC236}">
                    <a16:creationId xmlns:a16="http://schemas.microsoft.com/office/drawing/2014/main" id="{67FD219A-36B7-EE09-8DFD-82444A85620F}"/>
                  </a:ext>
                </a:extLst>
              </p:cNvPr>
              <p:cNvSpPr>
                <a:spLocks noChangeArrowheads="1"/>
              </p:cNvSpPr>
              <p:nvPr/>
            </p:nvSpPr>
            <p:spPr bwMode="auto">
              <a:xfrm>
                <a:off x="1938108" y="2741906"/>
                <a:ext cx="2258894" cy="155262"/>
              </a:xfrm>
              <a:prstGeom prst="homePlate">
                <a:avLst>
                  <a:gd name="adj" fmla="val 30166"/>
                </a:avLst>
              </a:prstGeom>
              <a:solidFill>
                <a:srgbClr val="005482"/>
              </a:solidFill>
              <a:ln w="12700" algn="ctr">
                <a:noFill/>
                <a:round/>
                <a:headEnd type="none" w="sm" len="sm"/>
                <a:tailEnd type="none" w="sm" len="sm"/>
              </a:ln>
              <a:effectLst/>
            </p:spPr>
            <p:txBody>
              <a:bodyPr lIns="0" tIns="36000" rIns="0" bIns="36000" anchor="ctr"/>
              <a:lstStyle/>
              <a:p>
                <a:pPr algn="ctr" eaLnBrk="0" hangingPunct="0">
                  <a:spcAft>
                    <a:spcPts val="600"/>
                  </a:spcAft>
                </a:pPr>
                <a:r>
                  <a:rPr lang="en-GB" sz="800" b="1">
                    <a:solidFill>
                      <a:prstClr val="white"/>
                    </a:solidFill>
                    <a:latin typeface="Ubuntu"/>
                    <a:cs typeface="Calibri" pitchFamily="34" charset="0"/>
                  </a:rPr>
                  <a:t>AS IS Discovery &amp; Bus Drivers Gathering</a:t>
                </a:r>
                <a:endParaRPr lang="en-US" sz="800" b="1">
                  <a:solidFill>
                    <a:prstClr val="white"/>
                  </a:solidFill>
                  <a:latin typeface="Ubuntu"/>
                  <a:cs typeface="Calibri" pitchFamily="34" charset="0"/>
                </a:endParaRPr>
              </a:p>
            </p:txBody>
          </p:sp>
          <p:sp>
            <p:nvSpPr>
              <p:cNvPr id="130" name="Pentagon 19">
                <a:extLst>
                  <a:ext uri="{FF2B5EF4-FFF2-40B4-BE49-F238E27FC236}">
                    <a16:creationId xmlns:a16="http://schemas.microsoft.com/office/drawing/2014/main" id="{851415A1-0B5C-C126-ABB5-F6BEE9F442C7}"/>
                  </a:ext>
                </a:extLst>
              </p:cNvPr>
              <p:cNvSpPr>
                <a:spLocks noChangeArrowheads="1"/>
              </p:cNvSpPr>
              <p:nvPr/>
            </p:nvSpPr>
            <p:spPr bwMode="auto">
              <a:xfrm>
                <a:off x="10148043" y="3281317"/>
                <a:ext cx="1355031" cy="155262"/>
              </a:xfrm>
              <a:prstGeom prst="chevron">
                <a:avLst>
                  <a:gd name="adj" fmla="val 27931"/>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kumimoji="0" lang="en-GB" sz="900" b="1" i="0" u="none" strike="noStrike" kern="1200" cap="none" spc="0" normalizeH="0" baseline="0" noProof="0">
                    <a:ln>
                      <a:noFill/>
                    </a:ln>
                    <a:solidFill>
                      <a:prstClr val="white"/>
                    </a:solidFill>
                    <a:effectLst/>
                    <a:uLnTx/>
                    <a:uFillTx/>
                    <a:latin typeface="Ubuntu"/>
                    <a:ea typeface="+mn-ea"/>
                    <a:cs typeface="Calibri" pitchFamily="34" charset="0"/>
                  </a:rPr>
                  <a:t>Adaptations</a:t>
                </a:r>
                <a:endParaRPr kumimoji="0" lang="en-US" sz="900" b="1" i="0" u="none" strike="noStrike" kern="1200" cap="none" spc="0" normalizeH="0" baseline="0" noProof="0">
                  <a:ln>
                    <a:noFill/>
                  </a:ln>
                  <a:solidFill>
                    <a:prstClr val="white"/>
                  </a:solidFill>
                  <a:effectLst/>
                  <a:uLnTx/>
                  <a:uFillTx/>
                  <a:latin typeface="Ubuntu"/>
                  <a:ea typeface="+mn-ea"/>
                  <a:cs typeface="Calibri" pitchFamily="34" charset="0"/>
                </a:endParaRPr>
              </a:p>
            </p:txBody>
          </p:sp>
          <p:sp>
            <p:nvSpPr>
              <p:cNvPr id="132" name="Pentagon 19">
                <a:extLst>
                  <a:ext uri="{FF2B5EF4-FFF2-40B4-BE49-F238E27FC236}">
                    <a16:creationId xmlns:a16="http://schemas.microsoft.com/office/drawing/2014/main" id="{02AB5F1A-A10C-9EFD-676F-BE57C5E4DE51}"/>
                  </a:ext>
                </a:extLst>
              </p:cNvPr>
              <p:cNvSpPr>
                <a:spLocks noChangeArrowheads="1"/>
              </p:cNvSpPr>
              <p:nvPr/>
            </p:nvSpPr>
            <p:spPr bwMode="auto">
              <a:xfrm>
                <a:off x="7413466" y="3281317"/>
                <a:ext cx="2730021" cy="155262"/>
              </a:xfrm>
              <a:prstGeom prst="chevron">
                <a:avLst>
                  <a:gd name="adj" fmla="val 27931"/>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kumimoji="0" lang="en-GB" sz="900" b="1" i="0" u="none" strike="noStrike" kern="1200" cap="none" spc="0" normalizeH="0" baseline="0" noProof="0">
                    <a:ln>
                      <a:noFill/>
                    </a:ln>
                    <a:solidFill>
                      <a:prstClr val="white"/>
                    </a:solidFill>
                    <a:effectLst/>
                    <a:uLnTx/>
                    <a:uFillTx/>
                    <a:latin typeface="Ubuntu"/>
                    <a:ea typeface="+mn-ea"/>
                    <a:cs typeface="Calibri" pitchFamily="34" charset="0"/>
                  </a:rPr>
                  <a:t>High Level Integration Plan</a:t>
                </a:r>
                <a:endParaRPr kumimoji="0" lang="en-US" sz="900" b="1" i="0" u="none" strike="noStrike" kern="1200" cap="none" spc="0" normalizeH="0" baseline="0" noProof="0">
                  <a:ln>
                    <a:noFill/>
                  </a:ln>
                  <a:solidFill>
                    <a:prstClr val="white"/>
                  </a:solidFill>
                  <a:effectLst/>
                  <a:uLnTx/>
                  <a:uFillTx/>
                  <a:latin typeface="Ubuntu"/>
                  <a:ea typeface="+mn-ea"/>
                  <a:cs typeface="Calibri" pitchFamily="34" charset="0"/>
                </a:endParaRPr>
              </a:p>
            </p:txBody>
          </p:sp>
        </p:grpSp>
        <p:grpSp>
          <p:nvGrpSpPr>
            <p:cNvPr id="52" name="Group 51">
              <a:extLst>
                <a:ext uri="{FF2B5EF4-FFF2-40B4-BE49-F238E27FC236}">
                  <a16:creationId xmlns:a16="http://schemas.microsoft.com/office/drawing/2014/main" id="{AFCDFC28-E0FD-6ABD-B338-3758E6FF92F5}"/>
                </a:ext>
              </a:extLst>
            </p:cNvPr>
            <p:cNvGrpSpPr/>
            <p:nvPr/>
          </p:nvGrpSpPr>
          <p:grpSpPr>
            <a:xfrm>
              <a:off x="249933" y="4971386"/>
              <a:ext cx="11484019" cy="692564"/>
              <a:chOff x="249933" y="3494280"/>
              <a:chExt cx="11484019" cy="692564"/>
            </a:xfrm>
          </p:grpSpPr>
          <p:grpSp>
            <p:nvGrpSpPr>
              <p:cNvPr id="53" name="Group 52">
                <a:extLst>
                  <a:ext uri="{FF2B5EF4-FFF2-40B4-BE49-F238E27FC236}">
                    <a16:creationId xmlns:a16="http://schemas.microsoft.com/office/drawing/2014/main" id="{3C938C86-19C1-C5E4-9DD6-C8635E0A7B7B}"/>
                  </a:ext>
                </a:extLst>
              </p:cNvPr>
              <p:cNvGrpSpPr/>
              <p:nvPr/>
            </p:nvGrpSpPr>
            <p:grpSpPr>
              <a:xfrm>
                <a:off x="249933" y="3502337"/>
                <a:ext cx="11484019" cy="684507"/>
                <a:chOff x="249933" y="3502337"/>
                <a:chExt cx="11484019" cy="684507"/>
              </a:xfrm>
            </p:grpSpPr>
            <p:sp>
              <p:nvSpPr>
                <p:cNvPr id="86" name="Rectangle: Rounded Corners 110">
                  <a:extLst>
                    <a:ext uri="{FF2B5EF4-FFF2-40B4-BE49-F238E27FC236}">
                      <a16:creationId xmlns:a16="http://schemas.microsoft.com/office/drawing/2014/main" id="{120D2F10-C096-48E9-9CBB-03F8B343E318}"/>
                    </a:ext>
                  </a:extLst>
                </p:cNvPr>
                <p:cNvSpPr/>
                <p:nvPr/>
              </p:nvSpPr>
              <p:spPr bwMode="gray">
                <a:xfrm>
                  <a:off x="249933" y="3502337"/>
                  <a:ext cx="1452789" cy="684507"/>
                </a:xfrm>
                <a:prstGeom prst="roundRect">
                  <a:avLst/>
                </a:prstGeom>
                <a:solidFill>
                  <a:srgbClr val="FFEEB9"/>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100" dirty="0">
                      <a:solidFill>
                        <a:schemeClr val="tx1"/>
                      </a:solidFill>
                    </a:rPr>
                    <a:t>Stream 6: </a:t>
                  </a:r>
                </a:p>
                <a:p>
                  <a:pPr algn="ctr"/>
                  <a:r>
                    <a:rPr lang="en-GB" sz="1400" b="1" dirty="0">
                      <a:solidFill>
                        <a:schemeClr val="tx1"/>
                      </a:solidFill>
                    </a:rPr>
                    <a:t>Cloud, Infra &amp; Cyber Security</a:t>
                  </a:r>
                </a:p>
              </p:txBody>
            </p:sp>
            <p:sp>
              <p:nvSpPr>
                <p:cNvPr id="87" name="Rectangle : coins arrondis 7">
                  <a:extLst>
                    <a:ext uri="{FF2B5EF4-FFF2-40B4-BE49-F238E27FC236}">
                      <a16:creationId xmlns:a16="http://schemas.microsoft.com/office/drawing/2014/main" id="{8D8C481A-FABE-91B8-4665-03CF3408AF50}"/>
                    </a:ext>
                  </a:extLst>
                </p:cNvPr>
                <p:cNvSpPr/>
                <p:nvPr/>
              </p:nvSpPr>
              <p:spPr>
                <a:xfrm>
                  <a:off x="1850933" y="3502337"/>
                  <a:ext cx="9883019" cy="680662"/>
                </a:xfrm>
                <a:prstGeom prst="roundRect">
                  <a:avLst/>
                </a:prstGeom>
                <a:solidFill>
                  <a:schemeClr val="bg1"/>
                </a:solidFill>
                <a:ln>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600"/>
                    </a:spcBef>
                    <a:spcAft>
                      <a:spcPts val="0"/>
                    </a:spcAft>
                    <a:buClrTx/>
                    <a:buSzTx/>
                    <a:buFontTx/>
                    <a:buNone/>
                    <a:tabLst/>
                    <a:defRPr/>
                  </a:pPr>
                  <a:endParaRPr kumimoji="0" lang="en-US" sz="900" b="1" i="0" u="none" strike="noStrike" kern="1200" cap="none" spc="0" normalizeH="0" baseline="0" noProof="0">
                    <a:ln>
                      <a:noFill/>
                    </a:ln>
                    <a:solidFill>
                      <a:schemeClr val="bg1"/>
                    </a:solidFill>
                    <a:effectLst/>
                    <a:uLnTx/>
                    <a:uFillTx/>
                    <a:ea typeface="+mn-ea"/>
                    <a:cs typeface="Segoe UI" panose="020B0502040204020203" pitchFamily="34" charset="0"/>
                  </a:endParaRPr>
                </a:p>
              </p:txBody>
            </p:sp>
          </p:grpSp>
          <p:sp>
            <p:nvSpPr>
              <p:cNvPr id="79" name="Pentagon 19">
                <a:extLst>
                  <a:ext uri="{FF2B5EF4-FFF2-40B4-BE49-F238E27FC236}">
                    <a16:creationId xmlns:a16="http://schemas.microsoft.com/office/drawing/2014/main" id="{3EAE99CB-8B37-D4B9-8808-14894BE428AB}"/>
                  </a:ext>
                </a:extLst>
              </p:cNvPr>
              <p:cNvSpPr>
                <a:spLocks noChangeArrowheads="1"/>
              </p:cNvSpPr>
              <p:nvPr/>
            </p:nvSpPr>
            <p:spPr bwMode="auto">
              <a:xfrm>
                <a:off x="1926714" y="3724174"/>
                <a:ext cx="3168193" cy="207892"/>
              </a:xfrm>
              <a:prstGeom prst="homePlate">
                <a:avLst>
                  <a:gd name="adj" fmla="val 30166"/>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Cyber Security Assessment</a:t>
                </a:r>
                <a:endParaRPr lang="en-US" sz="900" b="1">
                  <a:solidFill>
                    <a:schemeClr val="bg1"/>
                  </a:solidFill>
                  <a:latin typeface="Ubuntu"/>
                  <a:cs typeface="Calibri" pitchFamily="34" charset="0"/>
                </a:endParaRPr>
              </a:p>
            </p:txBody>
          </p:sp>
          <p:sp>
            <p:nvSpPr>
              <p:cNvPr id="80" name="Pentagon 19">
                <a:extLst>
                  <a:ext uri="{FF2B5EF4-FFF2-40B4-BE49-F238E27FC236}">
                    <a16:creationId xmlns:a16="http://schemas.microsoft.com/office/drawing/2014/main" id="{BCDBB19D-E482-B063-9B23-09E119DC53D4}"/>
                  </a:ext>
                </a:extLst>
              </p:cNvPr>
              <p:cNvSpPr>
                <a:spLocks noChangeArrowheads="1"/>
              </p:cNvSpPr>
              <p:nvPr/>
            </p:nvSpPr>
            <p:spPr bwMode="auto">
              <a:xfrm>
                <a:off x="1926714" y="3496056"/>
                <a:ext cx="3164647" cy="207892"/>
              </a:xfrm>
              <a:prstGeom prst="homePlate">
                <a:avLst>
                  <a:gd name="adj" fmla="val 30166"/>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Cloud &amp; Infra Assessment</a:t>
                </a:r>
                <a:endParaRPr lang="en-US" sz="900" b="1">
                  <a:solidFill>
                    <a:schemeClr val="bg1"/>
                  </a:solidFill>
                  <a:latin typeface="Ubuntu"/>
                  <a:cs typeface="Calibri" pitchFamily="34" charset="0"/>
                </a:endParaRPr>
              </a:p>
            </p:txBody>
          </p:sp>
          <p:sp>
            <p:nvSpPr>
              <p:cNvPr id="81" name="Pentagon 19">
                <a:extLst>
                  <a:ext uri="{FF2B5EF4-FFF2-40B4-BE49-F238E27FC236}">
                    <a16:creationId xmlns:a16="http://schemas.microsoft.com/office/drawing/2014/main" id="{24876F55-FC45-23F4-7F89-73BB158BEDBC}"/>
                  </a:ext>
                </a:extLst>
              </p:cNvPr>
              <p:cNvSpPr>
                <a:spLocks noChangeArrowheads="1"/>
              </p:cNvSpPr>
              <p:nvPr/>
            </p:nvSpPr>
            <p:spPr bwMode="auto">
              <a:xfrm>
                <a:off x="1926714" y="3952291"/>
                <a:ext cx="3164650" cy="207892"/>
              </a:xfrm>
              <a:prstGeom prst="homePlate">
                <a:avLst>
                  <a:gd name="adj" fmla="val 30166"/>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Office IT Assessment</a:t>
                </a:r>
                <a:endParaRPr lang="en-US" sz="900" b="1">
                  <a:solidFill>
                    <a:schemeClr val="bg1"/>
                  </a:solidFill>
                  <a:latin typeface="Ubuntu"/>
                  <a:cs typeface="Calibri" pitchFamily="34" charset="0"/>
                </a:endParaRPr>
              </a:p>
            </p:txBody>
          </p:sp>
          <p:sp>
            <p:nvSpPr>
              <p:cNvPr id="82" name="Pentagon 19">
                <a:extLst>
                  <a:ext uri="{FF2B5EF4-FFF2-40B4-BE49-F238E27FC236}">
                    <a16:creationId xmlns:a16="http://schemas.microsoft.com/office/drawing/2014/main" id="{54E50AC9-98D0-089C-A08F-D167D94F005C}"/>
                  </a:ext>
                </a:extLst>
              </p:cNvPr>
              <p:cNvSpPr>
                <a:spLocks noChangeArrowheads="1"/>
              </p:cNvSpPr>
              <p:nvPr/>
            </p:nvSpPr>
            <p:spPr bwMode="auto">
              <a:xfrm>
                <a:off x="5105727" y="3494280"/>
                <a:ext cx="4950509" cy="202052"/>
              </a:xfrm>
              <a:prstGeom prst="chevron">
                <a:avLst>
                  <a:gd name="adj" fmla="val 27931"/>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dirty="0">
                    <a:solidFill>
                      <a:schemeClr val="bg1"/>
                    </a:solidFill>
                    <a:latin typeface="Ubuntu"/>
                    <a:cs typeface="Calibri" pitchFamily="34" charset="0"/>
                  </a:rPr>
                  <a:t>Cloud &amp; Infra Design &amp; Roadmap Definition</a:t>
                </a:r>
                <a:endParaRPr lang="en-US" sz="900" b="1" dirty="0">
                  <a:solidFill>
                    <a:schemeClr val="bg1"/>
                  </a:solidFill>
                  <a:latin typeface="Ubuntu"/>
                  <a:cs typeface="Calibri" pitchFamily="34" charset="0"/>
                </a:endParaRPr>
              </a:p>
            </p:txBody>
          </p:sp>
          <p:sp>
            <p:nvSpPr>
              <p:cNvPr id="83" name="Pentagon 19">
                <a:extLst>
                  <a:ext uri="{FF2B5EF4-FFF2-40B4-BE49-F238E27FC236}">
                    <a16:creationId xmlns:a16="http://schemas.microsoft.com/office/drawing/2014/main" id="{5657C7BD-2501-FAB0-550B-266B3BC55009}"/>
                  </a:ext>
                </a:extLst>
              </p:cNvPr>
              <p:cNvSpPr>
                <a:spLocks noChangeArrowheads="1"/>
              </p:cNvSpPr>
              <p:nvPr/>
            </p:nvSpPr>
            <p:spPr bwMode="auto">
              <a:xfrm>
                <a:off x="5105731" y="3723842"/>
                <a:ext cx="4950505" cy="202052"/>
              </a:xfrm>
              <a:prstGeom prst="chevron">
                <a:avLst>
                  <a:gd name="adj" fmla="val 27931"/>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Cyber Security Design &amp; Roadmap Definition</a:t>
                </a:r>
                <a:endParaRPr lang="en-US" sz="900" b="1">
                  <a:solidFill>
                    <a:schemeClr val="bg1"/>
                  </a:solidFill>
                  <a:latin typeface="Ubuntu"/>
                  <a:cs typeface="Calibri" pitchFamily="34" charset="0"/>
                </a:endParaRPr>
              </a:p>
            </p:txBody>
          </p:sp>
          <p:sp>
            <p:nvSpPr>
              <p:cNvPr id="84" name="Pentagon 19">
                <a:extLst>
                  <a:ext uri="{FF2B5EF4-FFF2-40B4-BE49-F238E27FC236}">
                    <a16:creationId xmlns:a16="http://schemas.microsoft.com/office/drawing/2014/main" id="{99745734-2121-627D-AAE1-416A88CE5E0E}"/>
                  </a:ext>
                </a:extLst>
              </p:cNvPr>
              <p:cNvSpPr>
                <a:spLocks noChangeArrowheads="1"/>
              </p:cNvSpPr>
              <p:nvPr/>
            </p:nvSpPr>
            <p:spPr bwMode="auto">
              <a:xfrm>
                <a:off x="5105731" y="3953405"/>
                <a:ext cx="4950505" cy="202052"/>
              </a:xfrm>
              <a:prstGeom prst="chevron">
                <a:avLst>
                  <a:gd name="adj" fmla="val 27931"/>
                </a:avLst>
              </a:prstGeom>
              <a:solidFill>
                <a:srgbClr val="005482"/>
              </a:solidFill>
              <a:ln w="12700" algn="ctr">
                <a:noFill/>
                <a:round/>
                <a:headEnd type="none" w="sm" len="sm"/>
                <a:tailEnd type="none" w="sm" len="sm"/>
              </a:ln>
              <a:effectLst/>
            </p:spPr>
            <p:txBody>
              <a:bodyPr lIns="36000" tIns="36000" rIns="36000" bIns="36000" anchor="ctr"/>
              <a:lstStyle/>
              <a:p>
                <a:pPr marL="0" marR="0" lvl="0" indent="0" algn="ctr" defTabSz="914400" rtl="0" eaLnBrk="0" fontAlgn="auto" latinLnBrk="0" hangingPunct="0">
                  <a:lnSpc>
                    <a:spcPct val="100000"/>
                  </a:lnSpc>
                  <a:spcBef>
                    <a:spcPts val="0"/>
                  </a:spcBef>
                  <a:spcAft>
                    <a:spcPts val="600"/>
                  </a:spcAft>
                  <a:buClrTx/>
                  <a:buSzTx/>
                  <a:buFontTx/>
                  <a:buNone/>
                  <a:tabLst/>
                  <a:defRPr/>
                </a:pPr>
                <a:r>
                  <a:rPr lang="en-GB" sz="900" b="1">
                    <a:solidFill>
                      <a:schemeClr val="bg1"/>
                    </a:solidFill>
                    <a:latin typeface="Ubuntu"/>
                    <a:cs typeface="Calibri" pitchFamily="34" charset="0"/>
                  </a:rPr>
                  <a:t>Office IT Design &amp; Roadmap Definition</a:t>
                </a:r>
                <a:endParaRPr lang="en-US" sz="900" b="1">
                  <a:solidFill>
                    <a:schemeClr val="bg1"/>
                  </a:solidFill>
                  <a:latin typeface="Ubuntu"/>
                  <a:cs typeface="Calibri" pitchFamily="34" charset="0"/>
                </a:endParaRPr>
              </a:p>
            </p:txBody>
          </p:sp>
          <p:sp>
            <p:nvSpPr>
              <p:cNvPr id="85" name="Pentagon 19">
                <a:extLst>
                  <a:ext uri="{FF2B5EF4-FFF2-40B4-BE49-F238E27FC236}">
                    <a16:creationId xmlns:a16="http://schemas.microsoft.com/office/drawing/2014/main" id="{7F347783-09F1-79AB-1499-89CC60F18AA9}"/>
                  </a:ext>
                </a:extLst>
              </p:cNvPr>
              <p:cNvSpPr>
                <a:spLocks noChangeArrowheads="1"/>
              </p:cNvSpPr>
              <p:nvPr/>
            </p:nvSpPr>
            <p:spPr bwMode="auto">
              <a:xfrm>
                <a:off x="10102141" y="3718285"/>
                <a:ext cx="1355031" cy="202052"/>
              </a:xfrm>
              <a:prstGeom prst="chevron">
                <a:avLst>
                  <a:gd name="adj" fmla="val 27931"/>
                </a:avLst>
              </a:prstGeom>
              <a:solidFill>
                <a:srgbClr val="005482"/>
              </a:solidFill>
              <a:ln w="12700" algn="ctr">
                <a:noFill/>
                <a:round/>
                <a:headEnd type="none" w="sm" len="sm"/>
                <a:tailEnd type="none" w="sm" len="sm"/>
              </a:ln>
              <a:effectLst/>
            </p:spPr>
            <p:txBody>
              <a:bodyPr lIns="36000" tIns="36000" rIns="36000" bIns="36000" anchor="ctr"/>
              <a:lstStyle/>
              <a:p>
                <a:pPr algn="ctr" eaLnBrk="0" hangingPunct="0">
                  <a:spcAft>
                    <a:spcPts val="600"/>
                  </a:spcAft>
                </a:pPr>
                <a:r>
                  <a:rPr lang="en-GB" sz="900" b="1">
                    <a:solidFill>
                      <a:schemeClr val="bg1"/>
                    </a:solidFill>
                    <a:latin typeface="Ubuntu"/>
                    <a:cs typeface="Calibri" pitchFamily="34" charset="0"/>
                  </a:rPr>
                  <a:t>Adaptations</a:t>
                </a:r>
                <a:endParaRPr lang="en-US" sz="900" b="1">
                  <a:solidFill>
                    <a:schemeClr val="bg1"/>
                  </a:solidFill>
                  <a:latin typeface="Ubuntu"/>
                  <a:cs typeface="Calibri" pitchFamily="34" charset="0"/>
                </a:endParaRPr>
              </a:p>
            </p:txBody>
          </p:sp>
        </p:grpSp>
        <p:sp>
          <p:nvSpPr>
            <p:cNvPr id="131" name="Rectangle 130">
              <a:extLst>
                <a:ext uri="{FF2B5EF4-FFF2-40B4-BE49-F238E27FC236}">
                  <a16:creationId xmlns:a16="http://schemas.microsoft.com/office/drawing/2014/main" id="{1432C898-6C5D-DFCF-65CE-0A6B70BDECC0}"/>
                </a:ext>
              </a:extLst>
            </p:cNvPr>
            <p:cNvSpPr/>
            <p:nvPr/>
          </p:nvSpPr>
          <p:spPr>
            <a:xfrm>
              <a:off x="11507614" y="1154093"/>
              <a:ext cx="200309" cy="5278918"/>
            </a:xfrm>
            <a:prstGeom prst="rect">
              <a:avLst/>
            </a:prstGeom>
            <a:pattFill prst="wdUpDiag">
              <a:fgClr>
                <a:schemeClr val="bg2">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grpSp>
      <p:sp>
        <p:nvSpPr>
          <p:cNvPr id="7" name="Rectangle: Rounded Corners 112">
            <a:extLst>
              <a:ext uri="{FF2B5EF4-FFF2-40B4-BE49-F238E27FC236}">
                <a16:creationId xmlns:a16="http://schemas.microsoft.com/office/drawing/2014/main" id="{AB5AF32B-F770-C856-9357-C3125DF55850}"/>
              </a:ext>
            </a:extLst>
          </p:cNvPr>
          <p:cNvSpPr/>
          <p:nvPr/>
        </p:nvSpPr>
        <p:spPr bwMode="gray">
          <a:xfrm>
            <a:off x="249932" y="5537270"/>
            <a:ext cx="1452789" cy="945897"/>
          </a:xfrm>
          <a:prstGeom prst="roundRect">
            <a:avLst/>
          </a:prstGeom>
          <a:solidFill>
            <a:srgbClr val="0070AD"/>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b="1" dirty="0">
                <a:solidFill>
                  <a:schemeClr val="bg1"/>
                </a:solidFill>
              </a:rPr>
              <a:t>RFS Deliverables</a:t>
            </a:r>
            <a:endParaRPr lang="en-GB" sz="2000" b="1" dirty="0">
              <a:solidFill>
                <a:schemeClr val="bg1"/>
              </a:solidFill>
            </a:endParaRPr>
          </a:p>
        </p:txBody>
      </p:sp>
      <p:sp>
        <p:nvSpPr>
          <p:cNvPr id="160" name="Foliennummernplatzhalter 5">
            <a:extLst>
              <a:ext uri="{FF2B5EF4-FFF2-40B4-BE49-F238E27FC236}">
                <a16:creationId xmlns:a16="http://schemas.microsoft.com/office/drawing/2014/main" id="{524E0B36-3FC8-7A02-0DB1-DDC741AB3189}"/>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4</a:t>
            </a:fld>
            <a:endParaRPr lang="en-US"/>
          </a:p>
        </p:txBody>
      </p:sp>
      <p:grpSp>
        <p:nvGrpSpPr>
          <p:cNvPr id="10" name="Group 9">
            <a:extLst>
              <a:ext uri="{FF2B5EF4-FFF2-40B4-BE49-F238E27FC236}">
                <a16:creationId xmlns:a16="http://schemas.microsoft.com/office/drawing/2014/main" id="{15452BB2-A199-28E9-F0C1-091D6C16F8CD}"/>
              </a:ext>
            </a:extLst>
          </p:cNvPr>
          <p:cNvGrpSpPr/>
          <p:nvPr/>
        </p:nvGrpSpPr>
        <p:grpSpPr>
          <a:xfrm>
            <a:off x="2715304" y="5517108"/>
            <a:ext cx="4990189" cy="276999"/>
            <a:chOff x="2873701" y="2598051"/>
            <a:chExt cx="4990189" cy="276999"/>
          </a:xfrm>
        </p:grpSpPr>
        <p:sp>
          <p:nvSpPr>
            <p:cNvPr id="161" name="Diamond 160">
              <a:extLst>
                <a:ext uri="{FF2B5EF4-FFF2-40B4-BE49-F238E27FC236}">
                  <a16:creationId xmlns:a16="http://schemas.microsoft.com/office/drawing/2014/main" id="{BE3545D6-AEEB-B2F0-13FD-C67A31C0B503}"/>
                </a:ext>
              </a:extLst>
            </p:cNvPr>
            <p:cNvSpPr/>
            <p:nvPr/>
          </p:nvSpPr>
          <p:spPr bwMode="gray">
            <a:xfrm>
              <a:off x="2873701" y="2683648"/>
              <a:ext cx="108000" cy="108000"/>
            </a:xfrm>
            <a:prstGeom prst="diamond">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dirty="0">
                <a:solidFill>
                  <a:schemeClr val="tx1"/>
                </a:solidFill>
              </a:endParaRPr>
            </a:p>
          </p:txBody>
        </p:sp>
        <p:sp>
          <p:nvSpPr>
            <p:cNvPr id="162" name="TextBox 161">
              <a:extLst>
                <a:ext uri="{FF2B5EF4-FFF2-40B4-BE49-F238E27FC236}">
                  <a16:creationId xmlns:a16="http://schemas.microsoft.com/office/drawing/2014/main" id="{6AF65CD2-7F3D-EE48-639F-7BB89D2302CD}"/>
                </a:ext>
              </a:extLst>
            </p:cNvPr>
            <p:cNvSpPr txBox="1"/>
            <p:nvPr/>
          </p:nvSpPr>
          <p:spPr bwMode="gray">
            <a:xfrm>
              <a:off x="2943578" y="2598051"/>
              <a:ext cx="4920312" cy="276999"/>
            </a:xfrm>
            <a:prstGeom prst="rect">
              <a:avLst/>
            </a:prstGeom>
            <a:noFill/>
            <a:ln>
              <a:noFill/>
            </a:ln>
          </p:spPr>
          <p:txBody>
            <a:bodyPr wrap="square">
              <a:spAutoFit/>
            </a:bodyPr>
            <a:lstStyle/>
            <a:p>
              <a:r>
                <a:rPr lang="en-GB" sz="1200" dirty="0">
                  <a:solidFill>
                    <a:srgbClr val="000000"/>
                  </a:solidFill>
                  <a:effectLst/>
                  <a:latin typeface="Helvetica" pitchFamily="2" charset="0"/>
                </a:rPr>
                <a:t>#1 – IT readiness requirements for the first 2 years after closing</a:t>
              </a:r>
            </a:p>
          </p:txBody>
        </p:sp>
      </p:grpSp>
      <p:sp>
        <p:nvSpPr>
          <p:cNvPr id="164" name="Diamond 163">
            <a:extLst>
              <a:ext uri="{FF2B5EF4-FFF2-40B4-BE49-F238E27FC236}">
                <a16:creationId xmlns:a16="http://schemas.microsoft.com/office/drawing/2014/main" id="{B7D52788-09AD-698C-88BF-76CB49C2A224}"/>
              </a:ext>
            </a:extLst>
          </p:cNvPr>
          <p:cNvSpPr/>
          <p:nvPr/>
        </p:nvSpPr>
        <p:spPr bwMode="gray">
          <a:xfrm>
            <a:off x="5932772" y="5798760"/>
            <a:ext cx="108000" cy="108000"/>
          </a:xfrm>
          <a:prstGeom prst="diamond">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dirty="0">
              <a:solidFill>
                <a:schemeClr val="tx1"/>
              </a:solidFill>
            </a:endParaRPr>
          </a:p>
        </p:txBody>
      </p:sp>
      <p:sp>
        <p:nvSpPr>
          <p:cNvPr id="165" name="TextBox 164">
            <a:extLst>
              <a:ext uri="{FF2B5EF4-FFF2-40B4-BE49-F238E27FC236}">
                <a16:creationId xmlns:a16="http://schemas.microsoft.com/office/drawing/2014/main" id="{626E7A9A-B7B1-C319-0509-59434D1256EE}"/>
              </a:ext>
            </a:extLst>
          </p:cNvPr>
          <p:cNvSpPr txBox="1"/>
          <p:nvPr/>
        </p:nvSpPr>
        <p:spPr bwMode="gray">
          <a:xfrm>
            <a:off x="6002649" y="5713163"/>
            <a:ext cx="4920312" cy="276999"/>
          </a:xfrm>
          <a:prstGeom prst="rect">
            <a:avLst/>
          </a:prstGeom>
          <a:noFill/>
          <a:ln>
            <a:noFill/>
          </a:ln>
        </p:spPr>
        <p:txBody>
          <a:bodyPr wrap="square">
            <a:spAutoFit/>
          </a:bodyPr>
          <a:lstStyle/>
          <a:p>
            <a:r>
              <a:rPr lang="en-GB" sz="1200" dirty="0">
                <a:solidFill>
                  <a:srgbClr val="000000"/>
                </a:solidFill>
                <a:effectLst/>
                <a:latin typeface="Helvetica" pitchFamily="2" charset="0"/>
              </a:rPr>
              <a:t>#2 – Side-by-side review of VF / FW application portfolio</a:t>
            </a:r>
          </a:p>
        </p:txBody>
      </p:sp>
      <p:sp>
        <p:nvSpPr>
          <p:cNvPr id="168" name="TextBox 167">
            <a:extLst>
              <a:ext uri="{FF2B5EF4-FFF2-40B4-BE49-F238E27FC236}">
                <a16:creationId xmlns:a16="http://schemas.microsoft.com/office/drawing/2014/main" id="{07BE9E45-D5CC-5648-BC3A-1E1B8B063F5B}"/>
              </a:ext>
            </a:extLst>
          </p:cNvPr>
          <p:cNvSpPr txBox="1"/>
          <p:nvPr/>
        </p:nvSpPr>
        <p:spPr bwMode="gray">
          <a:xfrm>
            <a:off x="5477860" y="6101925"/>
            <a:ext cx="4920312" cy="276999"/>
          </a:xfrm>
          <a:prstGeom prst="rect">
            <a:avLst/>
          </a:prstGeom>
          <a:noFill/>
          <a:ln>
            <a:noFill/>
          </a:ln>
        </p:spPr>
        <p:txBody>
          <a:bodyPr wrap="square">
            <a:spAutoFit/>
          </a:bodyPr>
          <a:lstStyle/>
          <a:p>
            <a:r>
              <a:rPr lang="en-GB" sz="1200" dirty="0">
                <a:solidFill>
                  <a:srgbClr val="000000"/>
                </a:solidFill>
                <a:effectLst/>
                <a:latin typeface="Helvetica" pitchFamily="2" charset="0"/>
              </a:rPr>
              <a:t>#4 – Risk mitigations actions</a:t>
            </a:r>
          </a:p>
        </p:txBody>
      </p:sp>
      <p:grpSp>
        <p:nvGrpSpPr>
          <p:cNvPr id="169" name="Group 168">
            <a:extLst>
              <a:ext uri="{FF2B5EF4-FFF2-40B4-BE49-F238E27FC236}">
                <a16:creationId xmlns:a16="http://schemas.microsoft.com/office/drawing/2014/main" id="{9C4D291D-4BB8-A3EB-8ACE-ACAF4C48512C}"/>
              </a:ext>
            </a:extLst>
          </p:cNvPr>
          <p:cNvGrpSpPr/>
          <p:nvPr/>
        </p:nvGrpSpPr>
        <p:grpSpPr>
          <a:xfrm>
            <a:off x="7295100" y="5520437"/>
            <a:ext cx="2741342" cy="276999"/>
            <a:chOff x="2873701" y="2598051"/>
            <a:chExt cx="2741342" cy="276999"/>
          </a:xfrm>
        </p:grpSpPr>
        <p:sp>
          <p:nvSpPr>
            <p:cNvPr id="170" name="Diamond 169">
              <a:extLst>
                <a:ext uri="{FF2B5EF4-FFF2-40B4-BE49-F238E27FC236}">
                  <a16:creationId xmlns:a16="http://schemas.microsoft.com/office/drawing/2014/main" id="{7B9EDB15-4B81-4D11-EC50-2BBFA40F68E8}"/>
                </a:ext>
              </a:extLst>
            </p:cNvPr>
            <p:cNvSpPr/>
            <p:nvPr/>
          </p:nvSpPr>
          <p:spPr bwMode="gray">
            <a:xfrm>
              <a:off x="2873701" y="2683648"/>
              <a:ext cx="108000" cy="108000"/>
            </a:xfrm>
            <a:prstGeom prst="diamond">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dirty="0">
                <a:solidFill>
                  <a:schemeClr val="tx1"/>
                </a:solidFill>
              </a:endParaRPr>
            </a:p>
          </p:txBody>
        </p:sp>
        <p:sp>
          <p:nvSpPr>
            <p:cNvPr id="171" name="TextBox 170">
              <a:extLst>
                <a:ext uri="{FF2B5EF4-FFF2-40B4-BE49-F238E27FC236}">
                  <a16:creationId xmlns:a16="http://schemas.microsoft.com/office/drawing/2014/main" id="{EF8F6C18-022C-277B-E00D-12323545785D}"/>
                </a:ext>
              </a:extLst>
            </p:cNvPr>
            <p:cNvSpPr txBox="1"/>
            <p:nvPr/>
          </p:nvSpPr>
          <p:spPr bwMode="gray">
            <a:xfrm>
              <a:off x="2943578" y="2598051"/>
              <a:ext cx="2671465" cy="276999"/>
            </a:xfrm>
            <a:prstGeom prst="rect">
              <a:avLst/>
            </a:prstGeom>
            <a:noFill/>
            <a:ln>
              <a:noFill/>
            </a:ln>
          </p:spPr>
          <p:txBody>
            <a:bodyPr wrap="square">
              <a:spAutoFit/>
            </a:bodyPr>
            <a:lstStyle/>
            <a:p>
              <a:r>
                <a:rPr lang="en-GB" sz="1200" dirty="0">
                  <a:solidFill>
                    <a:srgbClr val="000000"/>
                  </a:solidFill>
                  <a:effectLst/>
                  <a:latin typeface="Helvetica" pitchFamily="2" charset="0"/>
                </a:rPr>
                <a:t>#5 – IT Strategy (Detailed Design)</a:t>
              </a:r>
            </a:p>
          </p:txBody>
        </p:sp>
      </p:grpSp>
      <p:grpSp>
        <p:nvGrpSpPr>
          <p:cNvPr id="174" name="Group 173">
            <a:extLst>
              <a:ext uri="{FF2B5EF4-FFF2-40B4-BE49-F238E27FC236}">
                <a16:creationId xmlns:a16="http://schemas.microsoft.com/office/drawing/2014/main" id="{A1816005-6E80-40BC-C655-9A1EE854EE83}"/>
              </a:ext>
            </a:extLst>
          </p:cNvPr>
          <p:cNvGrpSpPr/>
          <p:nvPr/>
        </p:nvGrpSpPr>
        <p:grpSpPr>
          <a:xfrm>
            <a:off x="10085308" y="5705380"/>
            <a:ext cx="2733391" cy="276999"/>
            <a:chOff x="2873701" y="2598051"/>
            <a:chExt cx="2733391" cy="276999"/>
          </a:xfrm>
        </p:grpSpPr>
        <p:sp>
          <p:nvSpPr>
            <p:cNvPr id="178" name="Diamond 177">
              <a:extLst>
                <a:ext uri="{FF2B5EF4-FFF2-40B4-BE49-F238E27FC236}">
                  <a16:creationId xmlns:a16="http://schemas.microsoft.com/office/drawing/2014/main" id="{8EDF14CB-CC6D-E113-92C8-3078313FE41A}"/>
                </a:ext>
              </a:extLst>
            </p:cNvPr>
            <p:cNvSpPr/>
            <p:nvPr/>
          </p:nvSpPr>
          <p:spPr bwMode="gray">
            <a:xfrm>
              <a:off x="2873701" y="2683648"/>
              <a:ext cx="108000" cy="108000"/>
            </a:xfrm>
            <a:prstGeom prst="diamond">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dirty="0">
                <a:solidFill>
                  <a:schemeClr val="tx1"/>
                </a:solidFill>
              </a:endParaRPr>
            </a:p>
          </p:txBody>
        </p:sp>
        <p:sp>
          <p:nvSpPr>
            <p:cNvPr id="179" name="TextBox 178">
              <a:extLst>
                <a:ext uri="{FF2B5EF4-FFF2-40B4-BE49-F238E27FC236}">
                  <a16:creationId xmlns:a16="http://schemas.microsoft.com/office/drawing/2014/main" id="{7C82101E-A47D-2553-E785-24D8C7052B57}"/>
                </a:ext>
              </a:extLst>
            </p:cNvPr>
            <p:cNvSpPr txBox="1"/>
            <p:nvPr/>
          </p:nvSpPr>
          <p:spPr bwMode="gray">
            <a:xfrm>
              <a:off x="2935627" y="2598051"/>
              <a:ext cx="2671465" cy="276999"/>
            </a:xfrm>
            <a:prstGeom prst="rect">
              <a:avLst/>
            </a:prstGeom>
            <a:noFill/>
            <a:ln>
              <a:noFill/>
            </a:ln>
          </p:spPr>
          <p:txBody>
            <a:bodyPr wrap="square">
              <a:spAutoFit/>
            </a:bodyPr>
            <a:lstStyle/>
            <a:p>
              <a:r>
                <a:rPr lang="en-GB" sz="1200" dirty="0">
                  <a:solidFill>
                    <a:srgbClr val="000000"/>
                  </a:solidFill>
                  <a:effectLst/>
                  <a:latin typeface="Helvetica" pitchFamily="2" charset="0"/>
                </a:rPr>
                <a:t>#8 – </a:t>
              </a:r>
              <a:r>
                <a:rPr lang="en-GB" sz="1200" dirty="0">
                  <a:solidFill>
                    <a:srgbClr val="000000"/>
                  </a:solidFill>
                  <a:latin typeface="Helvetica" pitchFamily="2" charset="0"/>
                </a:rPr>
                <a:t>Sourcing Strategy</a:t>
              </a:r>
              <a:endParaRPr lang="en-GB" sz="1200" dirty="0">
                <a:solidFill>
                  <a:srgbClr val="000000"/>
                </a:solidFill>
                <a:effectLst/>
                <a:latin typeface="Helvetica" pitchFamily="2" charset="0"/>
              </a:endParaRPr>
            </a:p>
          </p:txBody>
        </p:sp>
      </p:grpSp>
      <p:grpSp>
        <p:nvGrpSpPr>
          <p:cNvPr id="180" name="Group 179">
            <a:extLst>
              <a:ext uri="{FF2B5EF4-FFF2-40B4-BE49-F238E27FC236}">
                <a16:creationId xmlns:a16="http://schemas.microsoft.com/office/drawing/2014/main" id="{34ABE56E-3DBB-2586-3DDE-21C6D7E9FC5D}"/>
              </a:ext>
            </a:extLst>
          </p:cNvPr>
          <p:cNvGrpSpPr/>
          <p:nvPr/>
        </p:nvGrpSpPr>
        <p:grpSpPr>
          <a:xfrm>
            <a:off x="10081206" y="5523892"/>
            <a:ext cx="2725465" cy="276999"/>
            <a:chOff x="2873701" y="2610630"/>
            <a:chExt cx="2725465" cy="276999"/>
          </a:xfrm>
        </p:grpSpPr>
        <p:sp>
          <p:nvSpPr>
            <p:cNvPr id="181" name="Diamond 180">
              <a:extLst>
                <a:ext uri="{FF2B5EF4-FFF2-40B4-BE49-F238E27FC236}">
                  <a16:creationId xmlns:a16="http://schemas.microsoft.com/office/drawing/2014/main" id="{875BBC44-B661-4954-E96F-507BDFF9AF36}"/>
                </a:ext>
              </a:extLst>
            </p:cNvPr>
            <p:cNvSpPr/>
            <p:nvPr/>
          </p:nvSpPr>
          <p:spPr bwMode="gray">
            <a:xfrm>
              <a:off x="2873701" y="2683648"/>
              <a:ext cx="108000" cy="108000"/>
            </a:xfrm>
            <a:prstGeom prst="diamond">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dirty="0">
                <a:solidFill>
                  <a:schemeClr val="tx1"/>
                </a:solidFill>
              </a:endParaRPr>
            </a:p>
          </p:txBody>
        </p:sp>
        <p:sp>
          <p:nvSpPr>
            <p:cNvPr id="182" name="TextBox 181">
              <a:extLst>
                <a:ext uri="{FF2B5EF4-FFF2-40B4-BE49-F238E27FC236}">
                  <a16:creationId xmlns:a16="http://schemas.microsoft.com/office/drawing/2014/main" id="{FE734B6A-FA07-8BE7-494E-B5D46CE6F023}"/>
                </a:ext>
              </a:extLst>
            </p:cNvPr>
            <p:cNvSpPr txBox="1"/>
            <p:nvPr/>
          </p:nvSpPr>
          <p:spPr bwMode="gray">
            <a:xfrm>
              <a:off x="2927701" y="2610630"/>
              <a:ext cx="2671465" cy="276999"/>
            </a:xfrm>
            <a:prstGeom prst="rect">
              <a:avLst/>
            </a:prstGeom>
            <a:noFill/>
            <a:ln>
              <a:noFill/>
            </a:ln>
          </p:spPr>
          <p:txBody>
            <a:bodyPr wrap="square">
              <a:spAutoFit/>
            </a:bodyPr>
            <a:lstStyle/>
            <a:p>
              <a:r>
                <a:rPr lang="en-GB" sz="1200" dirty="0">
                  <a:solidFill>
                    <a:srgbClr val="000000"/>
                  </a:solidFill>
                  <a:effectLst/>
                  <a:latin typeface="Helvetica" pitchFamily="2" charset="0"/>
                </a:rPr>
                <a:t>#7 – </a:t>
              </a:r>
              <a:r>
                <a:rPr lang="en-GB" sz="1200" dirty="0">
                  <a:solidFill>
                    <a:srgbClr val="000000"/>
                  </a:solidFill>
                  <a:latin typeface="Helvetica" pitchFamily="2" charset="0"/>
                </a:rPr>
                <a:t>Infra </a:t>
              </a:r>
              <a:r>
                <a:rPr lang="en-GB" sz="1200" dirty="0">
                  <a:solidFill>
                    <a:srgbClr val="000000"/>
                  </a:solidFill>
                  <a:effectLst/>
                  <a:latin typeface="Helvetica" pitchFamily="2" charset="0"/>
                </a:rPr>
                <a:t>migration plan</a:t>
              </a:r>
            </a:p>
          </p:txBody>
        </p:sp>
      </p:grpSp>
      <p:grpSp>
        <p:nvGrpSpPr>
          <p:cNvPr id="183" name="Group 182">
            <a:extLst>
              <a:ext uri="{FF2B5EF4-FFF2-40B4-BE49-F238E27FC236}">
                <a16:creationId xmlns:a16="http://schemas.microsoft.com/office/drawing/2014/main" id="{807C3B7A-ED36-1C0E-EEAA-1CF3ECD8438A}"/>
              </a:ext>
            </a:extLst>
          </p:cNvPr>
          <p:cNvGrpSpPr/>
          <p:nvPr/>
        </p:nvGrpSpPr>
        <p:grpSpPr>
          <a:xfrm>
            <a:off x="11389890" y="6057175"/>
            <a:ext cx="2741342" cy="276999"/>
            <a:chOff x="2873701" y="2598051"/>
            <a:chExt cx="2741342" cy="276999"/>
          </a:xfrm>
        </p:grpSpPr>
        <p:sp>
          <p:nvSpPr>
            <p:cNvPr id="184" name="Diamond 183">
              <a:extLst>
                <a:ext uri="{FF2B5EF4-FFF2-40B4-BE49-F238E27FC236}">
                  <a16:creationId xmlns:a16="http://schemas.microsoft.com/office/drawing/2014/main" id="{A5BF1EB5-730A-35AE-4E94-B3431BC25EFE}"/>
                </a:ext>
              </a:extLst>
            </p:cNvPr>
            <p:cNvSpPr/>
            <p:nvPr/>
          </p:nvSpPr>
          <p:spPr bwMode="gray">
            <a:xfrm>
              <a:off x="2873701" y="2683648"/>
              <a:ext cx="108000" cy="108000"/>
            </a:xfrm>
            <a:prstGeom prst="diamond">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dirty="0">
                <a:solidFill>
                  <a:schemeClr val="tx1"/>
                </a:solidFill>
              </a:endParaRPr>
            </a:p>
          </p:txBody>
        </p:sp>
        <p:sp>
          <p:nvSpPr>
            <p:cNvPr id="185" name="TextBox 184">
              <a:extLst>
                <a:ext uri="{FF2B5EF4-FFF2-40B4-BE49-F238E27FC236}">
                  <a16:creationId xmlns:a16="http://schemas.microsoft.com/office/drawing/2014/main" id="{2AD14EA7-74FA-4D0A-944F-0D9D0F1CB7DF}"/>
                </a:ext>
              </a:extLst>
            </p:cNvPr>
            <p:cNvSpPr txBox="1"/>
            <p:nvPr/>
          </p:nvSpPr>
          <p:spPr bwMode="gray">
            <a:xfrm>
              <a:off x="2943578" y="2598051"/>
              <a:ext cx="2671465" cy="276999"/>
            </a:xfrm>
            <a:prstGeom prst="rect">
              <a:avLst/>
            </a:prstGeom>
            <a:noFill/>
            <a:ln>
              <a:noFill/>
            </a:ln>
          </p:spPr>
          <p:txBody>
            <a:bodyPr wrap="square">
              <a:spAutoFit/>
            </a:bodyPr>
            <a:lstStyle/>
            <a:p>
              <a:endParaRPr lang="en-GB" sz="1200" dirty="0">
                <a:solidFill>
                  <a:srgbClr val="000000"/>
                </a:solidFill>
                <a:effectLst/>
                <a:latin typeface="Helvetica" pitchFamily="2" charset="0"/>
              </a:endParaRPr>
            </a:p>
          </p:txBody>
        </p:sp>
      </p:grpSp>
      <p:sp>
        <p:nvSpPr>
          <p:cNvPr id="189" name="TextBox 188">
            <a:extLst>
              <a:ext uri="{FF2B5EF4-FFF2-40B4-BE49-F238E27FC236}">
                <a16:creationId xmlns:a16="http://schemas.microsoft.com/office/drawing/2014/main" id="{0A57EF94-21FA-62B1-E43C-0D0BB2335B69}"/>
              </a:ext>
            </a:extLst>
          </p:cNvPr>
          <p:cNvSpPr txBox="1"/>
          <p:nvPr/>
        </p:nvSpPr>
        <p:spPr bwMode="gray">
          <a:xfrm>
            <a:off x="10756861" y="6233232"/>
            <a:ext cx="2004451" cy="276999"/>
          </a:xfrm>
          <a:prstGeom prst="rect">
            <a:avLst/>
          </a:prstGeom>
          <a:noFill/>
        </p:spPr>
        <p:txBody>
          <a:bodyPr wrap="square">
            <a:spAutoFit/>
          </a:bodyPr>
          <a:lstStyle/>
          <a:p>
            <a:r>
              <a:rPr lang="en-GB" sz="1200" dirty="0">
                <a:solidFill>
                  <a:srgbClr val="000000"/>
                </a:solidFill>
                <a:effectLst/>
                <a:latin typeface="Helvetica" pitchFamily="2" charset="0"/>
              </a:rPr>
              <a:t>#9 – </a:t>
            </a:r>
            <a:r>
              <a:rPr lang="en-GB" sz="1200" dirty="0">
                <a:solidFill>
                  <a:srgbClr val="000000"/>
                </a:solidFill>
                <a:latin typeface="Helvetica" pitchFamily="2" charset="0"/>
              </a:rPr>
              <a:t>TOM &amp; Org.</a:t>
            </a:r>
            <a:endParaRPr lang="en-GB" sz="1200" dirty="0"/>
          </a:p>
        </p:txBody>
      </p:sp>
      <p:sp>
        <p:nvSpPr>
          <p:cNvPr id="166" name="Diamond 165">
            <a:extLst>
              <a:ext uri="{FF2B5EF4-FFF2-40B4-BE49-F238E27FC236}">
                <a16:creationId xmlns:a16="http://schemas.microsoft.com/office/drawing/2014/main" id="{6C758D35-4CA5-224C-C2AE-DB1331F5987F}"/>
              </a:ext>
            </a:extLst>
          </p:cNvPr>
          <p:cNvSpPr/>
          <p:nvPr/>
        </p:nvSpPr>
        <p:spPr bwMode="gray">
          <a:xfrm>
            <a:off x="5932621" y="5976252"/>
            <a:ext cx="108000" cy="108000"/>
          </a:xfrm>
          <a:prstGeom prst="diamond">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dirty="0">
              <a:solidFill>
                <a:schemeClr val="tx1"/>
              </a:solidFill>
            </a:endParaRPr>
          </a:p>
        </p:txBody>
      </p:sp>
      <p:sp>
        <p:nvSpPr>
          <p:cNvPr id="190" name="Diamond 189">
            <a:extLst>
              <a:ext uri="{FF2B5EF4-FFF2-40B4-BE49-F238E27FC236}">
                <a16:creationId xmlns:a16="http://schemas.microsoft.com/office/drawing/2014/main" id="{9F72436E-6555-A8EF-416B-007241936E94}"/>
              </a:ext>
            </a:extLst>
          </p:cNvPr>
          <p:cNvSpPr/>
          <p:nvPr/>
        </p:nvSpPr>
        <p:spPr bwMode="gray">
          <a:xfrm>
            <a:off x="5407038" y="6184255"/>
            <a:ext cx="108000" cy="108000"/>
          </a:xfrm>
          <a:prstGeom prst="diamond">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dirty="0">
              <a:solidFill>
                <a:schemeClr val="tx1"/>
              </a:solidFill>
            </a:endParaRPr>
          </a:p>
        </p:txBody>
      </p:sp>
      <p:grpSp>
        <p:nvGrpSpPr>
          <p:cNvPr id="51" name="Group 50">
            <a:extLst>
              <a:ext uri="{FF2B5EF4-FFF2-40B4-BE49-F238E27FC236}">
                <a16:creationId xmlns:a16="http://schemas.microsoft.com/office/drawing/2014/main" id="{85E0AE02-05F8-4015-7D5F-D1330415BC3F}"/>
              </a:ext>
            </a:extLst>
          </p:cNvPr>
          <p:cNvGrpSpPr/>
          <p:nvPr/>
        </p:nvGrpSpPr>
        <p:grpSpPr>
          <a:xfrm>
            <a:off x="9693758" y="407705"/>
            <a:ext cx="1759271" cy="386153"/>
            <a:chOff x="12293278" y="2103199"/>
            <a:chExt cx="1759271" cy="386153"/>
          </a:xfrm>
        </p:grpSpPr>
        <p:cxnSp>
          <p:nvCxnSpPr>
            <p:cNvPr id="48" name="Straight Connector 47">
              <a:extLst>
                <a:ext uri="{FF2B5EF4-FFF2-40B4-BE49-F238E27FC236}">
                  <a16:creationId xmlns:a16="http://schemas.microsoft.com/office/drawing/2014/main" id="{D51C1EC9-BA40-5BA8-606F-1987DEF020B9}"/>
                </a:ext>
              </a:extLst>
            </p:cNvPr>
            <p:cNvCxnSpPr>
              <a:cxnSpLocks/>
            </p:cNvCxnSpPr>
            <p:nvPr/>
          </p:nvCxnSpPr>
          <p:spPr>
            <a:xfrm flipV="1">
              <a:off x="12340674" y="2103199"/>
              <a:ext cx="1692000" cy="1"/>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C836F7F3-6FA0-48D7-E8F8-CD6DEA6621F1}"/>
                </a:ext>
              </a:extLst>
            </p:cNvPr>
            <p:cNvSpPr/>
            <p:nvPr/>
          </p:nvSpPr>
          <p:spPr>
            <a:xfrm>
              <a:off x="12293278" y="2118197"/>
              <a:ext cx="1759271" cy="32582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i="1">
                  <a:solidFill>
                    <a:srgbClr val="FF6600"/>
                  </a:solidFill>
                </a:rPr>
                <a:t>Plan to be </a:t>
              </a:r>
              <a:r>
                <a:rPr lang="en-US" sz="1100" i="1" err="1">
                  <a:solidFill>
                    <a:srgbClr val="FF6600"/>
                  </a:solidFill>
                </a:rPr>
                <a:t>syncronised</a:t>
              </a:r>
              <a:r>
                <a:rPr lang="en-US" sz="1100" i="1">
                  <a:solidFill>
                    <a:srgbClr val="FF6600"/>
                  </a:solidFill>
                </a:rPr>
                <a:t> with </a:t>
              </a:r>
              <a:r>
                <a:rPr lang="en-US" sz="1100" i="1" err="1">
                  <a:solidFill>
                    <a:srgbClr val="FF6600"/>
                  </a:solidFill>
                </a:rPr>
                <a:t>SwissCom</a:t>
              </a:r>
              <a:r>
                <a:rPr lang="en-US" sz="1100" i="1">
                  <a:solidFill>
                    <a:srgbClr val="FF6600"/>
                  </a:solidFill>
                </a:rPr>
                <a:t> / FW constraints</a:t>
              </a:r>
              <a:endParaRPr lang="en-GB" sz="1100" i="1">
                <a:solidFill>
                  <a:srgbClr val="FF6600"/>
                </a:solidFill>
              </a:endParaRPr>
            </a:p>
          </p:txBody>
        </p:sp>
        <p:cxnSp>
          <p:nvCxnSpPr>
            <p:cNvPr id="50" name="Straight Connector 49">
              <a:extLst>
                <a:ext uri="{FF2B5EF4-FFF2-40B4-BE49-F238E27FC236}">
                  <a16:creationId xmlns:a16="http://schemas.microsoft.com/office/drawing/2014/main" id="{6F091834-3B3D-518B-EAC2-51CEC860915C}"/>
                </a:ext>
              </a:extLst>
            </p:cNvPr>
            <p:cNvCxnSpPr>
              <a:cxnSpLocks/>
            </p:cNvCxnSpPr>
            <p:nvPr/>
          </p:nvCxnSpPr>
          <p:spPr>
            <a:xfrm flipV="1">
              <a:off x="12340674" y="2489351"/>
              <a:ext cx="1692000" cy="1"/>
            </a:xfrm>
            <a:prstGeom prst="line">
              <a:avLst/>
            </a:prstGeom>
            <a:ln w="12700">
              <a:solidFill>
                <a:srgbClr val="FF6600"/>
              </a:solidFill>
            </a:ln>
          </p:spPr>
          <p:style>
            <a:lnRef idx="1">
              <a:schemeClr val="accent1"/>
            </a:lnRef>
            <a:fillRef idx="0">
              <a:schemeClr val="accent1"/>
            </a:fillRef>
            <a:effectRef idx="0">
              <a:schemeClr val="accent1"/>
            </a:effectRef>
            <a:fontRef idx="minor">
              <a:schemeClr val="tx1"/>
            </a:fontRef>
          </p:style>
        </p:cxnSp>
      </p:grpSp>
      <p:sp>
        <p:nvSpPr>
          <p:cNvPr id="3" name="Rectangle 27">
            <a:extLst>
              <a:ext uri="{FF2B5EF4-FFF2-40B4-BE49-F238E27FC236}">
                <a16:creationId xmlns:a16="http://schemas.microsoft.com/office/drawing/2014/main" id="{009BD8F8-4248-0331-FF4D-F6002A79AFA2}"/>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cxnSp>
        <p:nvCxnSpPr>
          <p:cNvPr id="196" name="Straight Arrow Connector 195">
            <a:extLst>
              <a:ext uri="{FF2B5EF4-FFF2-40B4-BE49-F238E27FC236}">
                <a16:creationId xmlns:a16="http://schemas.microsoft.com/office/drawing/2014/main" id="{439FA842-3214-6AFF-C9F1-1ABD1A924F22}"/>
              </a:ext>
            </a:extLst>
          </p:cNvPr>
          <p:cNvCxnSpPr>
            <a:cxnSpLocks/>
          </p:cNvCxnSpPr>
          <p:nvPr/>
        </p:nvCxnSpPr>
        <p:spPr bwMode="gray">
          <a:xfrm>
            <a:off x="5430891" y="5860097"/>
            <a:ext cx="419250" cy="0"/>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B2FBE2CC-8E03-16EF-10AA-02B569AFAD2A}"/>
              </a:ext>
            </a:extLst>
          </p:cNvPr>
          <p:cNvCxnSpPr>
            <a:cxnSpLocks/>
          </p:cNvCxnSpPr>
          <p:nvPr/>
        </p:nvCxnSpPr>
        <p:spPr bwMode="gray">
          <a:xfrm>
            <a:off x="5430891" y="6033322"/>
            <a:ext cx="419250" cy="0"/>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98" name="TextBox 197">
            <a:extLst>
              <a:ext uri="{FF2B5EF4-FFF2-40B4-BE49-F238E27FC236}">
                <a16:creationId xmlns:a16="http://schemas.microsoft.com/office/drawing/2014/main" id="{A2C7E3D3-FAFF-4F04-B44C-AB2F2F677514}"/>
              </a:ext>
            </a:extLst>
          </p:cNvPr>
          <p:cNvSpPr txBox="1"/>
          <p:nvPr/>
        </p:nvSpPr>
        <p:spPr bwMode="gray">
          <a:xfrm>
            <a:off x="6009422" y="5891901"/>
            <a:ext cx="4920312" cy="276999"/>
          </a:xfrm>
          <a:prstGeom prst="rect">
            <a:avLst/>
          </a:prstGeom>
          <a:noFill/>
          <a:ln>
            <a:noFill/>
          </a:ln>
        </p:spPr>
        <p:txBody>
          <a:bodyPr wrap="square">
            <a:spAutoFit/>
          </a:bodyPr>
          <a:lstStyle/>
          <a:p>
            <a:r>
              <a:rPr lang="en-GB" sz="1200" dirty="0">
                <a:solidFill>
                  <a:srgbClr val="000000"/>
                </a:solidFill>
                <a:effectLst/>
                <a:latin typeface="Helvetica" pitchFamily="2" charset="0"/>
              </a:rPr>
              <a:t>#3 – ERP disentanglement high level strategy</a:t>
            </a:r>
          </a:p>
        </p:txBody>
      </p:sp>
      <p:cxnSp>
        <p:nvCxnSpPr>
          <p:cNvPr id="199" name="Straight Arrow Connector 198">
            <a:extLst>
              <a:ext uri="{FF2B5EF4-FFF2-40B4-BE49-F238E27FC236}">
                <a16:creationId xmlns:a16="http://schemas.microsoft.com/office/drawing/2014/main" id="{573EB2F8-D4F5-1CC9-8BD2-CB21D954111E}"/>
              </a:ext>
            </a:extLst>
          </p:cNvPr>
          <p:cNvCxnSpPr>
            <a:cxnSpLocks/>
          </p:cNvCxnSpPr>
          <p:nvPr/>
        </p:nvCxnSpPr>
        <p:spPr bwMode="gray">
          <a:xfrm>
            <a:off x="9617192" y="6048832"/>
            <a:ext cx="419250" cy="0"/>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a:extLst>
              <a:ext uri="{FF2B5EF4-FFF2-40B4-BE49-F238E27FC236}">
                <a16:creationId xmlns:a16="http://schemas.microsoft.com/office/drawing/2014/main" id="{E298C88A-1060-B9C1-2411-88F936A6F15B}"/>
              </a:ext>
            </a:extLst>
          </p:cNvPr>
          <p:cNvCxnSpPr>
            <a:cxnSpLocks/>
          </p:cNvCxnSpPr>
          <p:nvPr/>
        </p:nvCxnSpPr>
        <p:spPr bwMode="gray">
          <a:xfrm>
            <a:off x="4859259" y="6678465"/>
            <a:ext cx="419250" cy="0"/>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1" name="TextBox 200">
            <a:extLst>
              <a:ext uri="{FF2B5EF4-FFF2-40B4-BE49-F238E27FC236}">
                <a16:creationId xmlns:a16="http://schemas.microsoft.com/office/drawing/2014/main" id="{F9C06C98-C749-2F5C-89C6-C5B3A19D6165}"/>
              </a:ext>
            </a:extLst>
          </p:cNvPr>
          <p:cNvSpPr txBox="1"/>
          <p:nvPr/>
        </p:nvSpPr>
        <p:spPr bwMode="gray">
          <a:xfrm>
            <a:off x="5255925" y="6540588"/>
            <a:ext cx="3694130" cy="276999"/>
          </a:xfrm>
          <a:prstGeom prst="rect">
            <a:avLst/>
          </a:prstGeom>
          <a:noFill/>
          <a:ln>
            <a:noFill/>
          </a:ln>
        </p:spPr>
        <p:txBody>
          <a:bodyPr wrap="square">
            <a:spAutoFit/>
          </a:bodyPr>
          <a:lstStyle/>
          <a:p>
            <a:r>
              <a:rPr lang="en-GB" sz="1200" dirty="0">
                <a:solidFill>
                  <a:srgbClr val="000000"/>
                </a:solidFill>
                <a:latin typeface="Helvetica" pitchFamily="2" charset="0"/>
              </a:rPr>
              <a:t>We suggest to postpone the deadline (if possible)</a:t>
            </a:r>
            <a:endParaRPr lang="en-GB" sz="1200" dirty="0">
              <a:solidFill>
                <a:srgbClr val="000000"/>
              </a:solidFill>
              <a:effectLst/>
              <a:latin typeface="Helvetica" pitchFamily="2" charset="0"/>
            </a:endParaRPr>
          </a:p>
        </p:txBody>
      </p:sp>
      <p:sp>
        <p:nvSpPr>
          <p:cNvPr id="203" name="Diamond 202">
            <a:extLst>
              <a:ext uri="{FF2B5EF4-FFF2-40B4-BE49-F238E27FC236}">
                <a16:creationId xmlns:a16="http://schemas.microsoft.com/office/drawing/2014/main" id="{CCABF8BC-D21B-403D-9B16-DD327B4A4BD6}"/>
              </a:ext>
            </a:extLst>
          </p:cNvPr>
          <p:cNvSpPr/>
          <p:nvPr/>
        </p:nvSpPr>
        <p:spPr bwMode="gray">
          <a:xfrm>
            <a:off x="2782734" y="6615425"/>
            <a:ext cx="108000" cy="108000"/>
          </a:xfrm>
          <a:prstGeom prst="diamond">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dirty="0">
              <a:solidFill>
                <a:schemeClr val="tx1"/>
              </a:solidFill>
            </a:endParaRPr>
          </a:p>
        </p:txBody>
      </p:sp>
      <p:sp>
        <p:nvSpPr>
          <p:cNvPr id="204" name="TextBox 203">
            <a:extLst>
              <a:ext uri="{FF2B5EF4-FFF2-40B4-BE49-F238E27FC236}">
                <a16:creationId xmlns:a16="http://schemas.microsoft.com/office/drawing/2014/main" id="{93C3C2AB-3A2C-C4C5-1055-71713BC6440B}"/>
              </a:ext>
            </a:extLst>
          </p:cNvPr>
          <p:cNvSpPr txBox="1"/>
          <p:nvPr/>
        </p:nvSpPr>
        <p:spPr bwMode="gray">
          <a:xfrm>
            <a:off x="1843628" y="6535352"/>
            <a:ext cx="4920312" cy="276999"/>
          </a:xfrm>
          <a:prstGeom prst="rect">
            <a:avLst/>
          </a:prstGeom>
          <a:noFill/>
          <a:ln>
            <a:noFill/>
          </a:ln>
        </p:spPr>
        <p:txBody>
          <a:bodyPr wrap="square">
            <a:spAutoFit/>
          </a:bodyPr>
          <a:lstStyle/>
          <a:p>
            <a:r>
              <a:rPr lang="en-GB" sz="1200" dirty="0">
                <a:solidFill>
                  <a:srgbClr val="000000"/>
                </a:solidFill>
                <a:effectLst/>
                <a:latin typeface="Helvetica" pitchFamily="2" charset="0"/>
              </a:rPr>
              <a:t>Legend:</a:t>
            </a:r>
          </a:p>
        </p:txBody>
      </p:sp>
      <p:sp>
        <p:nvSpPr>
          <p:cNvPr id="12" name="TextBox 11">
            <a:extLst>
              <a:ext uri="{FF2B5EF4-FFF2-40B4-BE49-F238E27FC236}">
                <a16:creationId xmlns:a16="http://schemas.microsoft.com/office/drawing/2014/main" id="{C3644ED9-265F-1F8A-35D6-02A33C201C61}"/>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extLst>
      <p:ext uri="{BB962C8B-B14F-4D97-AF65-F5344CB8AC3E}">
        <p14:creationId xmlns:p14="http://schemas.microsoft.com/office/powerpoint/2010/main" val="557024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34FDFB8E-7C26-7984-5FEA-5E8AB00B03B3}"/>
              </a:ext>
            </a:extLst>
          </p:cNvPr>
          <p:cNvSpPr/>
          <p:nvPr/>
        </p:nvSpPr>
        <p:spPr>
          <a:xfrm>
            <a:off x="144896" y="1600488"/>
            <a:ext cx="7293685" cy="3935640"/>
          </a:xfrm>
          <a:prstGeom prst="rect">
            <a:avLst/>
          </a:prstGeom>
          <a:solidFill>
            <a:schemeClr val="bg1"/>
          </a:solidFill>
          <a:ln w="3175" cap="flat" cmpd="sng" algn="ctr">
            <a:solidFill>
              <a:srgbClr val="CCCCCC"/>
            </a:solidFill>
            <a:prstDash val="solid"/>
            <a:miter lim="800000"/>
          </a:ln>
          <a:effectLst>
            <a:outerShdw blurRad="50800" dist="38100" dir="2700000" algn="tl" rotWithShape="0">
              <a:prstClr val="black">
                <a:alpha val="40000"/>
              </a:prstClr>
            </a:outerShdw>
          </a:effectLst>
        </p:spPr>
        <p:txBody>
          <a:bodyPr rtlCol="0" anchor="t"/>
          <a:lstStyle/>
          <a:p>
            <a:pPr marL="214313" marR="0" lvl="0" indent="-214313" defTabSz="712788"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000" b="0" i="0" u="none" strike="noStrike" kern="0" cap="none" spc="0" normalizeH="0" baseline="0" noProof="0" err="1">
              <a:ln>
                <a:noFill/>
              </a:ln>
              <a:solidFill>
                <a:srgbClr val="000000"/>
              </a:solidFill>
              <a:effectLst/>
              <a:uLnTx/>
              <a:uFillTx/>
              <a:latin typeface="Helvetica 75"/>
              <a:ea typeface="+mn-ea"/>
              <a:cs typeface="+mn-cs"/>
            </a:endParaRPr>
          </a:p>
        </p:txBody>
      </p:sp>
      <p:sp>
        <p:nvSpPr>
          <p:cNvPr id="2" name="Title 1">
            <a:extLst>
              <a:ext uri="{FF2B5EF4-FFF2-40B4-BE49-F238E27FC236}">
                <a16:creationId xmlns:a16="http://schemas.microsoft.com/office/drawing/2014/main" id="{069834C0-AA11-93C9-86F1-03E958FBE953}"/>
              </a:ext>
            </a:extLst>
          </p:cNvPr>
          <p:cNvSpPr>
            <a:spLocks noGrp="1"/>
          </p:cNvSpPr>
          <p:nvPr>
            <p:ph type="title"/>
          </p:nvPr>
        </p:nvSpPr>
        <p:spPr>
          <a:xfrm>
            <a:off x="1395911" y="332656"/>
            <a:ext cx="10512000" cy="720000"/>
          </a:xfrm>
        </p:spPr>
        <p:txBody>
          <a:bodyPr/>
          <a:lstStyle/>
          <a:p>
            <a:pPr marL="0" marR="0" lvl="0" indent="0" fontAlgn="auto">
              <a:spcBef>
                <a:spcPct val="0"/>
              </a:spcBef>
              <a:spcAft>
                <a:spcPts val="600"/>
              </a:spcAft>
              <a:buClrTx/>
              <a:buSzTx/>
              <a:tabLst>
                <a:tab pos="1881185" algn="l"/>
              </a:tabLst>
              <a:defRPr sz="1800" b="0" i="0" u="none" strike="noStrike" kern="0" cap="none" spc="0" baseline="0">
                <a:solidFill>
                  <a:srgbClr val="000000"/>
                </a:solidFill>
                <a:uFillTx/>
              </a:defRPr>
            </a:pPr>
            <a:r>
              <a:rPr lang="nl-BE" sz="2400" b="1" spc="-50" dirty="0">
                <a:latin typeface="+mj-lt"/>
                <a:ea typeface="+mj-ea"/>
                <a:cs typeface="+mj-cs"/>
              </a:rPr>
              <a:t>STREAM 1 | INTERLOCKING IT GOVERNANCE &amp; STREAMS WITH TRANSVERSAL IMO</a:t>
            </a:r>
            <a:endParaRPr lang="en-US" sz="2400" b="1" spc="-50" dirty="0">
              <a:latin typeface="+mj-lt"/>
              <a:ea typeface="+mj-ea"/>
              <a:cs typeface="+mj-cs"/>
            </a:endParaRPr>
          </a:p>
        </p:txBody>
      </p:sp>
      <p:sp>
        <p:nvSpPr>
          <p:cNvPr id="6" name="TextBox 5">
            <a:extLst>
              <a:ext uri="{FF2B5EF4-FFF2-40B4-BE49-F238E27FC236}">
                <a16:creationId xmlns:a16="http://schemas.microsoft.com/office/drawing/2014/main" id="{216C65A0-768E-A8B7-2F42-8ADFC7FB2AF4}"/>
              </a:ext>
            </a:extLst>
          </p:cNvPr>
          <p:cNvSpPr txBox="1"/>
          <p:nvPr/>
        </p:nvSpPr>
        <p:spPr>
          <a:xfrm>
            <a:off x="7626317" y="1500574"/>
            <a:ext cx="4086258" cy="4739759"/>
          </a:xfrm>
          <a:prstGeom prst="rect">
            <a:avLst/>
          </a:prstGeom>
          <a:noFill/>
        </p:spPr>
        <p:txBody>
          <a:bodyPr wrap="square" lIns="0" tIns="0" rIns="0" bIns="0" rtlCol="0" anchor="t">
            <a:spAutoFit/>
          </a:bodyPr>
          <a:lstStyle/>
          <a:p>
            <a:pPr defTabSz="1219170">
              <a:buClr>
                <a:srgbClr val="000000"/>
              </a:buClr>
              <a:buSzPts val="1100"/>
              <a:defRPr/>
            </a:pPr>
            <a:r>
              <a:rPr lang="en-US" sz="1400" b="1" kern="0" dirty="0">
                <a:solidFill>
                  <a:srgbClr val="1781E3"/>
                </a:solidFill>
                <a:sym typeface="Arial"/>
              </a:rPr>
              <a:t>The IT workstream’s Governance body will interface with the central IMO </a:t>
            </a:r>
            <a:r>
              <a:rPr lang="en-US" sz="1200" kern="0" dirty="0">
                <a:sym typeface="Arial"/>
              </a:rPr>
              <a:t>in terms of:</a:t>
            </a:r>
          </a:p>
          <a:p>
            <a:pPr marL="171450" indent="-171450" defTabSz="1219170">
              <a:buClr>
                <a:srgbClr val="000000"/>
              </a:buClr>
              <a:buSzPts val="1100"/>
              <a:buFont typeface="Arial" panose="020B0604020202020204" pitchFamily="34" charset="0"/>
              <a:buChar char="•"/>
              <a:defRPr/>
            </a:pPr>
            <a:r>
              <a:rPr lang="en-US" sz="1200" kern="0" dirty="0">
                <a:sym typeface="Arial"/>
              </a:rPr>
              <a:t>Alignment on strategic shifts impacting IT and other Workstreams (Day-1 timelines, constraints, etc.)</a:t>
            </a:r>
          </a:p>
          <a:p>
            <a:pPr marL="171450" indent="-171450" defTabSz="1219170">
              <a:buClr>
                <a:srgbClr val="000000"/>
              </a:buClr>
              <a:buSzPts val="1100"/>
              <a:buFont typeface="Arial" panose="020B0604020202020204" pitchFamily="34" charset="0"/>
              <a:buChar char="•"/>
              <a:defRPr/>
            </a:pPr>
            <a:r>
              <a:rPr lang="en-US" sz="1200" kern="0" dirty="0">
                <a:sym typeface="Arial"/>
              </a:rPr>
              <a:t>Alignment on strategic decisions cross-workstreams (</a:t>
            </a:r>
            <a:r>
              <a:rPr lang="en-US" sz="1200" kern="0" dirty="0" err="1">
                <a:sym typeface="Arial"/>
              </a:rPr>
              <a:t>eg</a:t>
            </a:r>
            <a:r>
              <a:rPr lang="en-US" sz="1200" kern="0" dirty="0">
                <a:sym typeface="Arial"/>
              </a:rPr>
              <a:t>: Business priorities, TSA plan, Synergy plan)</a:t>
            </a:r>
          </a:p>
          <a:p>
            <a:pPr marL="171450" indent="-171450" defTabSz="1219170">
              <a:buClr>
                <a:srgbClr val="000000"/>
              </a:buClr>
              <a:buSzPts val="1100"/>
              <a:buFont typeface="Arial" panose="020B0604020202020204" pitchFamily="34" charset="0"/>
              <a:buChar char="•"/>
              <a:defRPr/>
            </a:pPr>
            <a:r>
              <a:rPr lang="en-US" sz="1200" kern="0" dirty="0">
                <a:sym typeface="Arial"/>
              </a:rPr>
              <a:t>Track, analyze and address workstreams interdependencies, share risks &amp; ensure overall coordination &amp; Day-1 securitization</a:t>
            </a:r>
          </a:p>
          <a:p>
            <a:pPr marL="171450" indent="-171450" defTabSz="1219170">
              <a:buClr>
                <a:srgbClr val="000000"/>
              </a:buClr>
              <a:buSzPts val="1100"/>
              <a:buFont typeface="Arial" panose="020B0604020202020204" pitchFamily="34" charset="0"/>
              <a:buChar char="•"/>
              <a:defRPr/>
            </a:pPr>
            <a:endParaRPr lang="en-US" sz="1200" kern="0" dirty="0">
              <a:sym typeface="Arial"/>
            </a:endParaRPr>
          </a:p>
          <a:p>
            <a:pPr defTabSz="1219170">
              <a:buClr>
                <a:srgbClr val="000000"/>
              </a:buClr>
              <a:buSzPts val="1100"/>
              <a:defRPr/>
            </a:pPr>
            <a:r>
              <a:rPr lang="en-US" sz="1400" b="1" kern="0" dirty="0">
                <a:solidFill>
                  <a:srgbClr val="1781E3"/>
                </a:solidFill>
                <a:sym typeface="Arial"/>
              </a:rPr>
              <a:t>Set-up an Orchestration Office to</a:t>
            </a:r>
            <a:r>
              <a:rPr lang="en-US" sz="1200" kern="0" dirty="0">
                <a:sym typeface="Arial"/>
              </a:rPr>
              <a:t>:</a:t>
            </a:r>
          </a:p>
          <a:p>
            <a:pPr marL="171450" indent="-171450" defTabSz="1219170">
              <a:buClr>
                <a:srgbClr val="000000"/>
              </a:buClr>
              <a:buSzPts val="1100"/>
              <a:buFont typeface="Arial" panose="020B0604020202020204" pitchFamily="34" charset="0"/>
              <a:buChar char="•"/>
              <a:defRPr/>
            </a:pPr>
            <a:r>
              <a:rPr lang="en-US" sz="1200" kern="0" dirty="0">
                <a:sym typeface="Arial"/>
              </a:rPr>
              <a:t>Review and align IT project portfolio (</a:t>
            </a:r>
            <a:r>
              <a:rPr lang="en-US" sz="1200" kern="0" dirty="0" err="1">
                <a:sym typeface="Arial"/>
              </a:rPr>
              <a:t>eg</a:t>
            </a:r>
            <a:r>
              <a:rPr lang="en-US" sz="1200" kern="0" dirty="0">
                <a:sym typeface="Arial"/>
              </a:rPr>
              <a:t>: kill, review scope or confirm ongoing projects) to avoid conflicting and duplicated agenda</a:t>
            </a:r>
          </a:p>
          <a:p>
            <a:pPr marL="171450" indent="-171450" defTabSz="1219170">
              <a:buClr>
                <a:srgbClr val="000000"/>
              </a:buClr>
              <a:buSzPts val="1100"/>
              <a:buFont typeface="Arial" panose="020B0604020202020204" pitchFamily="34" charset="0"/>
              <a:buChar char="•"/>
              <a:defRPr/>
            </a:pPr>
            <a:r>
              <a:rPr lang="en-US" sz="1200" kern="0" dirty="0">
                <a:sym typeface="Arial"/>
              </a:rPr>
              <a:t>Ensure effective Program Mgt., Risk mgt. and Synergies tracking and realization</a:t>
            </a:r>
          </a:p>
          <a:p>
            <a:pPr marL="171450" indent="-171450" defTabSz="1219170">
              <a:buClr>
                <a:srgbClr val="000000"/>
              </a:buClr>
              <a:buSzPts val="1100"/>
              <a:buFont typeface="Arial" panose="020B0604020202020204" pitchFamily="34" charset="0"/>
              <a:buChar char="•"/>
              <a:defRPr/>
            </a:pPr>
            <a:r>
              <a:rPr lang="en-US" sz="1200" kern="0" dirty="0">
                <a:sym typeface="Arial"/>
              </a:rPr>
              <a:t>Manage pace of speed between the several streams to assure dependencies and milestones</a:t>
            </a:r>
          </a:p>
          <a:p>
            <a:pPr marL="171450" indent="-171450" defTabSz="1219170">
              <a:buClr>
                <a:srgbClr val="000000"/>
              </a:buClr>
              <a:buSzPts val="1100"/>
              <a:buFont typeface="Arial" panose="020B0604020202020204" pitchFamily="34" charset="0"/>
              <a:buChar char="•"/>
              <a:defRPr/>
            </a:pPr>
            <a:endParaRPr lang="en-US" sz="1200" kern="0" dirty="0">
              <a:sym typeface="Arial"/>
            </a:endParaRPr>
          </a:p>
          <a:p>
            <a:pPr defTabSz="1219170">
              <a:buClr>
                <a:srgbClr val="000000"/>
              </a:buClr>
              <a:buSzPts val="1100"/>
              <a:defRPr/>
            </a:pPr>
            <a:r>
              <a:rPr lang="en-US" sz="1400" b="1" kern="0" dirty="0">
                <a:solidFill>
                  <a:srgbClr val="1781E3"/>
                </a:solidFill>
                <a:sym typeface="Arial"/>
              </a:rPr>
              <a:t>Set-up an Integration Design Authority </a:t>
            </a:r>
            <a:r>
              <a:rPr lang="en-US" sz="1200" kern="0" dirty="0">
                <a:sym typeface="Arial"/>
              </a:rPr>
              <a:t>which will be responsible of : ​</a:t>
            </a:r>
            <a:endParaRPr lang="en-US" sz="1400" kern="0" dirty="0">
              <a:sym typeface="Arial"/>
            </a:endParaRPr>
          </a:p>
          <a:p>
            <a:pPr marL="171450" indent="-171450" defTabSz="1219170">
              <a:buClr>
                <a:srgbClr val="000000"/>
              </a:buClr>
              <a:buSzPts val="1100"/>
              <a:buFont typeface="Arial" panose="020B0604020202020204" pitchFamily="34" charset="0"/>
              <a:buChar char="•"/>
              <a:defRPr/>
            </a:pPr>
            <a:r>
              <a:rPr lang="en-US" sz="1200" kern="0" dirty="0">
                <a:sym typeface="Arial"/>
              </a:rPr>
              <a:t>Defining, documenting and validating the convergence of each system (Apps &amp; Infra)​</a:t>
            </a:r>
          </a:p>
          <a:p>
            <a:pPr marL="171450" indent="-171450" defTabSz="1219170">
              <a:buClr>
                <a:srgbClr val="000000"/>
              </a:buClr>
              <a:buSzPts val="1100"/>
              <a:buFont typeface="Arial" panose="020B0604020202020204" pitchFamily="34" charset="0"/>
              <a:buChar char="•"/>
              <a:defRPr/>
            </a:pPr>
            <a:r>
              <a:rPr lang="en-US" sz="1200" kern="0" dirty="0">
                <a:sym typeface="Arial"/>
              </a:rPr>
              <a:t>Ensuring overall IT coherence at global / local level​</a:t>
            </a:r>
          </a:p>
          <a:p>
            <a:pPr marL="171450" indent="-171450" defTabSz="1219170">
              <a:buClr>
                <a:srgbClr val="000000"/>
              </a:buClr>
              <a:buSzPts val="1100"/>
              <a:buFont typeface="Arial" panose="020B0604020202020204" pitchFamily="34" charset="0"/>
              <a:buChar char="•"/>
              <a:defRPr/>
            </a:pPr>
            <a:r>
              <a:rPr lang="en-US" sz="1200" kern="0" dirty="0">
                <a:sym typeface="Arial"/>
              </a:rPr>
              <a:t>Securing a detailed inventory of global / local assets.</a:t>
            </a:r>
          </a:p>
        </p:txBody>
      </p:sp>
      <p:sp>
        <p:nvSpPr>
          <p:cNvPr id="28" name="TextBox 6">
            <a:extLst>
              <a:ext uri="{FF2B5EF4-FFF2-40B4-BE49-F238E27FC236}">
                <a16:creationId xmlns:a16="http://schemas.microsoft.com/office/drawing/2014/main" id="{8CF91DCC-3DCC-7EB0-D0AC-73026B8D3332}"/>
              </a:ext>
            </a:extLst>
          </p:cNvPr>
          <p:cNvSpPr txBox="1"/>
          <p:nvPr/>
        </p:nvSpPr>
        <p:spPr>
          <a:xfrm>
            <a:off x="144896" y="5698351"/>
            <a:ext cx="7293685" cy="461665"/>
          </a:xfrm>
          <a:prstGeom prst="rect">
            <a:avLst/>
          </a:prstGeom>
          <a:noFill/>
        </p:spPr>
        <p:txBody>
          <a:bodyPr wrap="square" rtlCol="0">
            <a:spAutoFit/>
          </a:bodyPr>
          <a:lstStyle/>
          <a:p>
            <a:pPr algn="ctr"/>
            <a:r>
              <a:rPr lang="fr-BE" sz="1200" b="1" i="1" dirty="0">
                <a:solidFill>
                  <a:srgbClr val="FF6600"/>
                </a:solidFill>
              </a:rPr>
              <a:t>NEED TO FOCUS ON EFFORTS ON THE INITIAL STEPS TO SECURE</a:t>
            </a:r>
          </a:p>
          <a:p>
            <a:pPr algn="ctr"/>
            <a:r>
              <a:rPr lang="fr-BE" sz="1200" b="1" i="1" dirty="0">
                <a:solidFill>
                  <a:srgbClr val="FF6600"/>
                </a:solidFill>
              </a:rPr>
              <a:t>DAY-1 PREPARATION  &amp; COORDINATE IT STREAMS WITH IMO</a:t>
            </a:r>
            <a:endParaRPr lang="nl-BE" sz="1200" b="1" i="1" dirty="0">
              <a:solidFill>
                <a:srgbClr val="FF6600"/>
              </a:solidFill>
            </a:endParaRPr>
          </a:p>
        </p:txBody>
      </p:sp>
      <p:sp>
        <p:nvSpPr>
          <p:cNvPr id="37" name="Rectangle 36">
            <a:extLst>
              <a:ext uri="{FF2B5EF4-FFF2-40B4-BE49-F238E27FC236}">
                <a16:creationId xmlns:a16="http://schemas.microsoft.com/office/drawing/2014/main" id="{4D5E42A5-22E4-3FD9-C0ED-F3A86EBDB2CD}"/>
              </a:ext>
            </a:extLst>
          </p:cNvPr>
          <p:cNvSpPr/>
          <p:nvPr/>
        </p:nvSpPr>
        <p:spPr>
          <a:xfrm>
            <a:off x="1369517" y="3418895"/>
            <a:ext cx="4842080" cy="1947165"/>
          </a:xfrm>
          <a:prstGeom prst="rect">
            <a:avLst/>
          </a:prstGeom>
          <a:solidFill>
            <a:srgbClr val="8E908F">
              <a:lumMod val="40000"/>
              <a:lumOff val="60000"/>
            </a:srgbClr>
          </a:solidFill>
          <a:ln w="9525" cap="flat" cmpd="sng" algn="ctr">
            <a:solidFill>
              <a:srgbClr val="FFFFFF">
                <a:lumMod val="50000"/>
              </a:srgbClr>
            </a:solidFill>
            <a:prstDash val="solid"/>
            <a:miter lim="800000"/>
          </a:ln>
          <a:effectLst/>
        </p:spPr>
        <p:txBody>
          <a:bodyPr tIns="0" rtlCol="0" anchor="t"/>
          <a:lstStyle/>
          <a:p>
            <a:pPr marL="0" marR="0" lvl="0" indent="0" algn="ctr" defTabSz="712788" eaLnBrk="1" fontAlgn="base" latinLnBrk="0" hangingPunct="1">
              <a:lnSpc>
                <a:spcPct val="100000"/>
              </a:lnSpc>
              <a:spcBef>
                <a:spcPct val="0"/>
              </a:spcBef>
              <a:spcAft>
                <a:spcPct val="0"/>
              </a:spcAft>
              <a:buClrTx/>
              <a:buSzTx/>
              <a:buFontTx/>
              <a:buNone/>
              <a:tabLst/>
              <a:defRPr/>
            </a:pPr>
            <a:endParaRPr kumimoji="0" lang="en-US" sz="600" b="1" i="0" u="none" strike="noStrike" kern="0" cap="none" spc="0" normalizeH="0" baseline="0" noProof="0" dirty="0">
              <a:ln>
                <a:noFill/>
              </a:ln>
              <a:solidFill>
                <a:srgbClr val="000000"/>
              </a:solidFill>
              <a:effectLst/>
              <a:uLnTx/>
              <a:uFillTx/>
              <a:latin typeface="Helvetica 75"/>
              <a:ea typeface="+mn-ea"/>
              <a:cs typeface="+mn-cs"/>
            </a:endParaRPr>
          </a:p>
          <a:p>
            <a:pPr marL="0" marR="0" lvl="0" indent="0" algn="ctr" defTabSz="712788" eaLnBrk="1" fontAlgn="base" latinLnBrk="0" hangingPunct="1">
              <a:lnSpc>
                <a:spcPct val="100000"/>
              </a:lnSpc>
              <a:spcBef>
                <a:spcPct val="0"/>
              </a:spcBef>
              <a:spcAft>
                <a:spcPct val="0"/>
              </a:spcAft>
              <a:buClrTx/>
              <a:buSzTx/>
              <a:buFontTx/>
              <a:buNone/>
              <a:tabLst/>
              <a:defRPr/>
            </a:pPr>
            <a:endParaRPr kumimoji="0" lang="en-US" sz="600" b="1" i="0" u="none" strike="noStrike" kern="0" cap="none" spc="0" normalizeH="0" baseline="0" noProof="0" dirty="0">
              <a:ln>
                <a:noFill/>
              </a:ln>
              <a:solidFill>
                <a:srgbClr val="000000"/>
              </a:solidFill>
              <a:effectLst/>
              <a:uLnTx/>
              <a:uFillTx/>
              <a:latin typeface="Helvetica 75"/>
              <a:ea typeface="+mn-ea"/>
              <a:cs typeface="+mn-cs"/>
            </a:endParaRPr>
          </a:p>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700" b="1" i="0" u="none" strike="noStrike" kern="0" cap="none" spc="0" normalizeH="0" baseline="0" noProof="0" dirty="0">
                <a:ln>
                  <a:noFill/>
                </a:ln>
                <a:solidFill>
                  <a:srgbClr val="000000"/>
                </a:solidFill>
                <a:effectLst/>
                <a:uLnTx/>
                <a:uFillTx/>
                <a:latin typeface="Helvetica 75"/>
                <a:ea typeface="+mn-ea"/>
                <a:cs typeface="+mn-cs"/>
              </a:rPr>
              <a:t>Stream 1 : </a:t>
            </a:r>
            <a:r>
              <a:rPr kumimoji="0" lang="en-US" sz="700" i="0" u="none" strike="noStrike" kern="0" cap="none" spc="0" normalizeH="0" baseline="0" noProof="0" dirty="0">
                <a:ln>
                  <a:noFill/>
                </a:ln>
                <a:solidFill>
                  <a:srgbClr val="000000"/>
                </a:solidFill>
                <a:effectLst/>
                <a:uLnTx/>
                <a:uFillTx/>
                <a:latin typeface="Helvetica 75"/>
                <a:ea typeface="+mn-ea"/>
                <a:cs typeface="+mn-cs"/>
              </a:rPr>
              <a:t>IT Governance</a:t>
            </a:r>
          </a:p>
        </p:txBody>
      </p:sp>
      <p:sp>
        <p:nvSpPr>
          <p:cNvPr id="39" name="Rectangle 38">
            <a:extLst>
              <a:ext uri="{FF2B5EF4-FFF2-40B4-BE49-F238E27FC236}">
                <a16:creationId xmlns:a16="http://schemas.microsoft.com/office/drawing/2014/main" id="{E01A5E76-9841-6F7A-E95E-102B4F307245}"/>
              </a:ext>
            </a:extLst>
          </p:cNvPr>
          <p:cNvSpPr/>
          <p:nvPr/>
        </p:nvSpPr>
        <p:spPr>
          <a:xfrm>
            <a:off x="1307648" y="2936928"/>
            <a:ext cx="5017582" cy="659590"/>
          </a:xfrm>
          <a:prstGeom prst="rect">
            <a:avLst/>
          </a:prstGeom>
          <a:solidFill>
            <a:srgbClr val="FFCC66">
              <a:alpha val="40000"/>
            </a:srgbClr>
          </a:solidFill>
          <a:ln w="9525" cap="flat" cmpd="sng" algn="ctr">
            <a:solidFill>
              <a:srgbClr val="FF6600"/>
            </a:solidFill>
            <a:prstDash val="dash"/>
            <a:miter lim="800000"/>
          </a:ln>
          <a:effectLst/>
        </p:spPr>
        <p:txBody>
          <a:bodyPr rtlCol="0" anchor="t"/>
          <a:lstStyle/>
          <a:p>
            <a:pPr marL="0" marR="0" lvl="0" indent="0" algn="ctr" defTabSz="712788" eaLnBrk="1" fontAlgn="base" latinLnBrk="0" hangingPunct="1">
              <a:lnSpc>
                <a:spcPct val="100000"/>
              </a:lnSpc>
              <a:spcBef>
                <a:spcPct val="0"/>
              </a:spcBef>
              <a:spcAft>
                <a:spcPct val="0"/>
              </a:spcAft>
              <a:buClrTx/>
              <a:buSzTx/>
              <a:buFontTx/>
              <a:buNone/>
              <a:tabLst/>
              <a:defRPr/>
            </a:pPr>
            <a:endParaRPr kumimoji="0" lang="en-US" sz="700" b="1" i="0" u="none" strike="noStrike" kern="0" cap="none" spc="0" normalizeH="0" baseline="0" noProof="0">
              <a:ln>
                <a:noFill/>
              </a:ln>
              <a:solidFill>
                <a:srgbClr val="000000"/>
              </a:solidFill>
              <a:effectLst/>
              <a:uLnTx/>
              <a:uFillTx/>
              <a:latin typeface="Helvetica 75"/>
              <a:ea typeface="+mn-ea"/>
              <a:cs typeface="+mn-cs"/>
            </a:endParaRPr>
          </a:p>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700" b="1" i="0" u="none" strike="noStrike" kern="0" cap="none" spc="0" normalizeH="0" baseline="0" noProof="0">
                <a:ln>
                  <a:noFill/>
                </a:ln>
                <a:solidFill>
                  <a:srgbClr val="000000"/>
                </a:solidFill>
                <a:effectLst/>
                <a:uLnTx/>
                <a:uFillTx/>
                <a:latin typeface="Helvetica 75"/>
                <a:ea typeface="+mn-ea"/>
                <a:cs typeface="+mn-cs"/>
              </a:rPr>
              <a:t>IT INTEGRATION </a:t>
            </a:r>
            <a:r>
              <a:rPr kumimoji="0" lang="en-US" sz="700" b="1" i="0" u="none" strike="noStrike" kern="0" cap="none" spc="0" normalizeH="0" baseline="0" noProof="0" dirty="0">
                <a:ln>
                  <a:noFill/>
                </a:ln>
                <a:solidFill>
                  <a:srgbClr val="000000"/>
                </a:solidFill>
                <a:effectLst/>
                <a:uLnTx/>
                <a:uFillTx/>
                <a:latin typeface="Helvetica 75"/>
                <a:ea typeface="+mn-ea"/>
                <a:cs typeface="+mn-cs"/>
              </a:rPr>
              <a:t>PREPARATION</a:t>
            </a:r>
            <a:endParaRPr kumimoji="0" lang="en-US" sz="700" b="1" i="0" u="none" strike="noStrike" kern="0" cap="none" spc="0" normalizeH="0" baseline="0" noProof="0">
              <a:ln>
                <a:noFill/>
              </a:ln>
              <a:solidFill>
                <a:srgbClr val="000000"/>
              </a:solidFill>
              <a:effectLst/>
              <a:uLnTx/>
              <a:uFillTx/>
              <a:latin typeface="Helvetica 75"/>
              <a:ea typeface="+mn-ea"/>
              <a:cs typeface="+mn-cs"/>
            </a:endParaRPr>
          </a:p>
        </p:txBody>
      </p:sp>
      <p:sp>
        <p:nvSpPr>
          <p:cNvPr id="40" name="Rectangle 39">
            <a:extLst>
              <a:ext uri="{FF2B5EF4-FFF2-40B4-BE49-F238E27FC236}">
                <a16:creationId xmlns:a16="http://schemas.microsoft.com/office/drawing/2014/main" id="{C1B48D6D-5D38-3975-46A2-28694F4FD94D}"/>
              </a:ext>
            </a:extLst>
          </p:cNvPr>
          <p:cNvSpPr/>
          <p:nvPr/>
        </p:nvSpPr>
        <p:spPr>
          <a:xfrm>
            <a:off x="2737873" y="1706836"/>
            <a:ext cx="2733229" cy="176135"/>
          </a:xfrm>
          <a:prstGeom prst="rect">
            <a:avLst/>
          </a:prstGeom>
          <a:noFill/>
          <a:ln w="9525" cap="flat" cmpd="sng" algn="ctr">
            <a:solidFill>
              <a:srgbClr val="FF6600"/>
            </a:solidFill>
            <a:prstDash val="solid"/>
            <a:miter lim="800000"/>
          </a:ln>
          <a:effectLst/>
        </p:spPr>
        <p:txBody>
          <a:bodyPr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900" b="1" i="0" u="none" strike="noStrike" kern="0" cap="none" spc="0" normalizeH="0" baseline="0" noProof="0" dirty="0">
                <a:ln>
                  <a:noFill/>
                </a:ln>
                <a:solidFill>
                  <a:srgbClr val="000000"/>
                </a:solidFill>
                <a:effectLst/>
                <a:uLnTx/>
                <a:uFillTx/>
                <a:latin typeface="Helvetica 75"/>
                <a:ea typeface="+mn-ea"/>
                <a:cs typeface="+mn-cs"/>
              </a:rPr>
              <a:t>Integration Management Office (IMO)</a:t>
            </a:r>
          </a:p>
        </p:txBody>
      </p:sp>
      <p:sp>
        <p:nvSpPr>
          <p:cNvPr id="41" name="Rectangle 40">
            <a:extLst>
              <a:ext uri="{FF2B5EF4-FFF2-40B4-BE49-F238E27FC236}">
                <a16:creationId xmlns:a16="http://schemas.microsoft.com/office/drawing/2014/main" id="{AF789652-6BE1-85C5-388C-64935D7D860B}"/>
              </a:ext>
            </a:extLst>
          </p:cNvPr>
          <p:cNvSpPr/>
          <p:nvPr/>
        </p:nvSpPr>
        <p:spPr>
          <a:xfrm>
            <a:off x="392431" y="3314238"/>
            <a:ext cx="781833" cy="247936"/>
          </a:xfrm>
          <a:prstGeom prst="rect">
            <a:avLst/>
          </a:prstGeom>
          <a:solidFill>
            <a:srgbClr val="FFFFFF">
              <a:lumMod val="95000"/>
            </a:srgbClr>
          </a:solidFill>
          <a:ln w="6350" cap="flat" cmpd="sng" algn="ctr">
            <a:solidFill>
              <a:srgbClr val="FFFFFF">
                <a:lumMod val="50000"/>
              </a:srgbClr>
            </a:solidFill>
            <a:prstDash val="dash"/>
            <a:miter lim="800000"/>
          </a:ln>
          <a:effectLst/>
        </p:spPr>
        <p:txBody>
          <a:bodyPr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000000"/>
                </a:solidFill>
                <a:effectLst/>
                <a:uLnTx/>
                <a:uFillTx/>
                <a:latin typeface="Helvetica 75"/>
                <a:ea typeface="+mn-ea"/>
                <a:cs typeface="+mn-cs"/>
              </a:rPr>
              <a:t>CIO</a:t>
            </a:r>
            <a:endParaRPr kumimoji="0" lang="en-US" sz="800" b="0" i="0" u="none" strike="noStrike" kern="0" cap="none" spc="0" normalizeH="0" baseline="0" noProof="0">
              <a:ln>
                <a:noFill/>
              </a:ln>
              <a:solidFill>
                <a:srgbClr val="12ABDB"/>
              </a:solidFill>
              <a:effectLst/>
              <a:uLnTx/>
              <a:uFillTx/>
              <a:latin typeface="Helvetica 75"/>
              <a:ea typeface="+mn-ea"/>
              <a:cs typeface="+mn-cs"/>
            </a:endParaRPr>
          </a:p>
        </p:txBody>
      </p:sp>
      <p:sp>
        <p:nvSpPr>
          <p:cNvPr id="43" name="Rectangle 42">
            <a:extLst>
              <a:ext uri="{FF2B5EF4-FFF2-40B4-BE49-F238E27FC236}">
                <a16:creationId xmlns:a16="http://schemas.microsoft.com/office/drawing/2014/main" id="{0DF4B117-8CCD-7C40-A1A4-190DE42C2DD8}"/>
              </a:ext>
            </a:extLst>
          </p:cNvPr>
          <p:cNvSpPr/>
          <p:nvPr/>
        </p:nvSpPr>
        <p:spPr>
          <a:xfrm>
            <a:off x="310598" y="2941150"/>
            <a:ext cx="925534" cy="2424910"/>
          </a:xfrm>
          <a:prstGeom prst="rect">
            <a:avLst/>
          </a:prstGeom>
          <a:noFill/>
          <a:ln w="9525" cap="flat" cmpd="sng" algn="ctr">
            <a:solidFill>
              <a:srgbClr val="FF6600"/>
            </a:solidFill>
            <a:prstDash val="solid"/>
            <a:miter lim="800000"/>
          </a:ln>
          <a:effectLst/>
        </p:spPr>
        <p:txBody>
          <a:bodyPr rtlCol="0" anchor="t"/>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Helvetica 75"/>
                <a:ea typeface="+mn-ea"/>
                <a:cs typeface="+mn-cs"/>
              </a:rPr>
              <a:t>IT Swisscom / FASTWEB</a:t>
            </a:r>
          </a:p>
        </p:txBody>
      </p:sp>
      <p:sp>
        <p:nvSpPr>
          <p:cNvPr id="44" name="Rectangle 43">
            <a:extLst>
              <a:ext uri="{FF2B5EF4-FFF2-40B4-BE49-F238E27FC236}">
                <a16:creationId xmlns:a16="http://schemas.microsoft.com/office/drawing/2014/main" id="{1FC5715C-E93A-88A8-AA80-F3DB381B3B5F}"/>
              </a:ext>
            </a:extLst>
          </p:cNvPr>
          <p:cNvSpPr/>
          <p:nvPr/>
        </p:nvSpPr>
        <p:spPr>
          <a:xfrm>
            <a:off x="6418993" y="2936928"/>
            <a:ext cx="925827" cy="2424910"/>
          </a:xfrm>
          <a:prstGeom prst="rect">
            <a:avLst/>
          </a:prstGeom>
          <a:noFill/>
          <a:ln w="9525" cap="flat" cmpd="sng" algn="ctr">
            <a:solidFill>
              <a:srgbClr val="D3107C"/>
            </a:solidFill>
            <a:prstDash val="solid"/>
            <a:miter lim="800000"/>
          </a:ln>
          <a:effectLst/>
        </p:spPr>
        <p:txBody>
          <a:bodyPr rtlCol="0" anchor="t"/>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Helvetica 75"/>
                <a:ea typeface="+mn-ea"/>
                <a:cs typeface="+mn-cs"/>
              </a:rPr>
              <a:t>IT VODAFONE</a:t>
            </a:r>
          </a:p>
        </p:txBody>
      </p:sp>
      <p:sp>
        <p:nvSpPr>
          <p:cNvPr id="46" name="Rectangle 45">
            <a:extLst>
              <a:ext uri="{FF2B5EF4-FFF2-40B4-BE49-F238E27FC236}">
                <a16:creationId xmlns:a16="http://schemas.microsoft.com/office/drawing/2014/main" id="{70C014CE-F2CE-93CF-0A29-30702202C527}"/>
              </a:ext>
            </a:extLst>
          </p:cNvPr>
          <p:cNvSpPr/>
          <p:nvPr/>
        </p:nvSpPr>
        <p:spPr>
          <a:xfrm>
            <a:off x="382247" y="4220505"/>
            <a:ext cx="791510" cy="248837"/>
          </a:xfrm>
          <a:prstGeom prst="rect">
            <a:avLst/>
          </a:prstGeom>
          <a:noFill/>
          <a:ln w="9525" cap="flat" cmpd="sng" algn="ctr">
            <a:solidFill>
              <a:srgbClr val="FF6600"/>
            </a:solidFill>
            <a:prstDash val="solid"/>
            <a:miter lim="800000"/>
          </a:ln>
          <a:effectLst/>
        </p:spPr>
        <p:txBody>
          <a:bodyPr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err="1">
                <a:ln>
                  <a:noFill/>
                </a:ln>
                <a:solidFill>
                  <a:srgbClr val="000000"/>
                </a:solidFill>
                <a:effectLst/>
                <a:uLnTx/>
                <a:uFillTx/>
                <a:latin typeface="Helvetica 75"/>
                <a:ea typeface="+mn-ea"/>
                <a:cs typeface="+mn-cs"/>
              </a:rPr>
              <a:t>Transfo</a:t>
            </a:r>
            <a:r>
              <a:rPr kumimoji="0" lang="en-US" sz="800" b="0" i="0" u="none" strike="noStrike" kern="0" cap="none" spc="0" normalizeH="0" baseline="0" noProof="0" dirty="0">
                <a:ln>
                  <a:noFill/>
                </a:ln>
                <a:solidFill>
                  <a:srgbClr val="000000"/>
                </a:solidFill>
                <a:effectLst/>
                <a:uLnTx/>
                <a:uFillTx/>
                <a:latin typeface="Helvetica 75"/>
                <a:ea typeface="+mn-ea"/>
                <a:cs typeface="+mn-cs"/>
              </a:rPr>
              <a:t> Projects</a:t>
            </a:r>
          </a:p>
        </p:txBody>
      </p:sp>
      <p:sp>
        <p:nvSpPr>
          <p:cNvPr id="49" name="Rectangle 48">
            <a:extLst>
              <a:ext uri="{FF2B5EF4-FFF2-40B4-BE49-F238E27FC236}">
                <a16:creationId xmlns:a16="http://schemas.microsoft.com/office/drawing/2014/main" id="{7A89A0D4-8899-B3BF-0E07-201C7CAE1D10}"/>
              </a:ext>
            </a:extLst>
          </p:cNvPr>
          <p:cNvSpPr/>
          <p:nvPr/>
        </p:nvSpPr>
        <p:spPr>
          <a:xfrm>
            <a:off x="377609" y="4512158"/>
            <a:ext cx="791510" cy="276830"/>
          </a:xfrm>
          <a:prstGeom prst="rect">
            <a:avLst/>
          </a:prstGeom>
          <a:noFill/>
          <a:ln w="9525" cap="flat" cmpd="sng" algn="ctr">
            <a:solidFill>
              <a:srgbClr val="FF6600"/>
            </a:solidFill>
            <a:prstDash val="solid"/>
            <a:miter lim="800000"/>
          </a:ln>
          <a:effectLst/>
        </p:spPr>
        <p:txBody>
          <a:bodyPr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000000"/>
                </a:solidFill>
                <a:effectLst/>
                <a:uLnTx/>
                <a:uFillTx/>
                <a:latin typeface="Helvetica 75"/>
                <a:ea typeface="+mn-ea"/>
                <a:cs typeface="+mn-cs"/>
              </a:rPr>
              <a:t>BaU</a:t>
            </a:r>
          </a:p>
        </p:txBody>
      </p:sp>
      <p:sp>
        <p:nvSpPr>
          <p:cNvPr id="53" name="Rectangle 52">
            <a:extLst>
              <a:ext uri="{FF2B5EF4-FFF2-40B4-BE49-F238E27FC236}">
                <a16:creationId xmlns:a16="http://schemas.microsoft.com/office/drawing/2014/main" id="{33586E58-3013-C7AD-E5E7-DA7DFB6B35EC}"/>
              </a:ext>
            </a:extLst>
          </p:cNvPr>
          <p:cNvSpPr/>
          <p:nvPr/>
        </p:nvSpPr>
        <p:spPr>
          <a:xfrm>
            <a:off x="6486150" y="4191351"/>
            <a:ext cx="791510" cy="276830"/>
          </a:xfrm>
          <a:prstGeom prst="rect">
            <a:avLst/>
          </a:prstGeom>
          <a:noFill/>
          <a:ln w="9525" cap="flat" cmpd="sng" algn="ctr">
            <a:solidFill>
              <a:srgbClr val="D3107C"/>
            </a:solidFill>
            <a:prstDash val="solid"/>
            <a:miter lim="800000"/>
          </a:ln>
          <a:effectLst/>
        </p:spPr>
        <p:txBody>
          <a:bodyPr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dirty="0" err="1">
                <a:ln>
                  <a:noFill/>
                </a:ln>
                <a:solidFill>
                  <a:srgbClr val="000000"/>
                </a:solidFill>
                <a:effectLst/>
                <a:uLnTx/>
                <a:uFillTx/>
                <a:latin typeface="Helvetica 75"/>
                <a:ea typeface="+mn-ea"/>
                <a:cs typeface="+mn-cs"/>
              </a:rPr>
              <a:t>Transfo</a:t>
            </a:r>
            <a:r>
              <a:rPr kumimoji="0" lang="en-US" sz="800" b="0" i="0" u="none" strike="noStrike" kern="0" cap="none" spc="0" normalizeH="0" baseline="0" noProof="0" dirty="0">
                <a:ln>
                  <a:noFill/>
                </a:ln>
                <a:solidFill>
                  <a:srgbClr val="000000"/>
                </a:solidFill>
                <a:effectLst/>
                <a:uLnTx/>
                <a:uFillTx/>
                <a:latin typeface="Helvetica 75"/>
                <a:ea typeface="+mn-ea"/>
                <a:cs typeface="+mn-cs"/>
              </a:rPr>
              <a:t> Projects</a:t>
            </a:r>
          </a:p>
        </p:txBody>
      </p:sp>
      <p:sp>
        <p:nvSpPr>
          <p:cNvPr id="67" name="Rectangle 66">
            <a:extLst>
              <a:ext uri="{FF2B5EF4-FFF2-40B4-BE49-F238E27FC236}">
                <a16:creationId xmlns:a16="http://schemas.microsoft.com/office/drawing/2014/main" id="{36DF54D7-6FC8-8950-E697-B0097EDF542D}"/>
              </a:ext>
            </a:extLst>
          </p:cNvPr>
          <p:cNvSpPr/>
          <p:nvPr/>
        </p:nvSpPr>
        <p:spPr>
          <a:xfrm>
            <a:off x="6486150" y="4512158"/>
            <a:ext cx="791510" cy="276830"/>
          </a:xfrm>
          <a:prstGeom prst="rect">
            <a:avLst/>
          </a:prstGeom>
          <a:noFill/>
          <a:ln w="9525" cap="flat" cmpd="sng" algn="ctr">
            <a:solidFill>
              <a:srgbClr val="D3107C"/>
            </a:solidFill>
            <a:prstDash val="solid"/>
            <a:miter lim="800000"/>
          </a:ln>
          <a:effectLst/>
        </p:spPr>
        <p:txBody>
          <a:bodyPr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000000"/>
                </a:solidFill>
                <a:effectLst/>
                <a:uLnTx/>
                <a:uFillTx/>
                <a:latin typeface="Helvetica 75"/>
                <a:ea typeface="+mn-ea"/>
                <a:cs typeface="+mn-cs"/>
              </a:rPr>
              <a:t>BaU</a:t>
            </a:r>
          </a:p>
        </p:txBody>
      </p:sp>
      <p:sp>
        <p:nvSpPr>
          <p:cNvPr id="68" name="Rectangle 67">
            <a:extLst>
              <a:ext uri="{FF2B5EF4-FFF2-40B4-BE49-F238E27FC236}">
                <a16:creationId xmlns:a16="http://schemas.microsoft.com/office/drawing/2014/main" id="{A8D2ABDE-08F4-10AD-8274-CED4555C7552}"/>
              </a:ext>
            </a:extLst>
          </p:cNvPr>
          <p:cNvSpPr/>
          <p:nvPr/>
        </p:nvSpPr>
        <p:spPr>
          <a:xfrm>
            <a:off x="1513049" y="3829412"/>
            <a:ext cx="2274242" cy="293170"/>
          </a:xfrm>
          <a:prstGeom prst="rect">
            <a:avLst/>
          </a:prstGeom>
          <a:solidFill>
            <a:srgbClr val="FFF7DD"/>
          </a:solidFill>
          <a:ln w="9525" cap="flat" cmpd="sng" algn="ctr">
            <a:solidFill>
              <a:schemeClr val="accent1"/>
            </a:solidFill>
            <a:prstDash val="solid"/>
            <a:miter lim="800000"/>
          </a:ln>
          <a:effectLst/>
        </p:spPr>
        <p:txBody>
          <a:bodyPr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Helvetica 75"/>
                <a:ea typeface="+mn-ea"/>
                <a:cs typeface="+mn-cs"/>
              </a:rPr>
              <a:t>Orchestration Office</a:t>
            </a:r>
          </a:p>
        </p:txBody>
      </p:sp>
      <p:sp>
        <p:nvSpPr>
          <p:cNvPr id="69" name="Rectangle 68">
            <a:extLst>
              <a:ext uri="{FF2B5EF4-FFF2-40B4-BE49-F238E27FC236}">
                <a16:creationId xmlns:a16="http://schemas.microsoft.com/office/drawing/2014/main" id="{04A6CBB9-5F8D-CB56-F3BC-598D85ED9E6B}"/>
              </a:ext>
            </a:extLst>
          </p:cNvPr>
          <p:cNvSpPr/>
          <p:nvPr/>
        </p:nvSpPr>
        <p:spPr>
          <a:xfrm>
            <a:off x="6488800" y="3319527"/>
            <a:ext cx="781833" cy="247936"/>
          </a:xfrm>
          <a:prstGeom prst="rect">
            <a:avLst/>
          </a:prstGeom>
          <a:solidFill>
            <a:srgbClr val="FFFFFF">
              <a:lumMod val="95000"/>
            </a:srgbClr>
          </a:solidFill>
          <a:ln w="6350" cap="flat" cmpd="sng" algn="ctr">
            <a:solidFill>
              <a:srgbClr val="FFFFFF">
                <a:lumMod val="50000"/>
              </a:srgbClr>
            </a:solidFill>
            <a:prstDash val="dash"/>
            <a:miter lim="800000"/>
          </a:ln>
          <a:effectLst/>
        </p:spPr>
        <p:txBody>
          <a:bodyPr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000000"/>
                </a:solidFill>
                <a:effectLst/>
                <a:uLnTx/>
                <a:uFillTx/>
                <a:latin typeface="Helvetica 75"/>
                <a:ea typeface="+mn-ea"/>
                <a:cs typeface="+mn-cs"/>
              </a:rPr>
              <a:t>CIO</a:t>
            </a:r>
            <a:endParaRPr kumimoji="0" lang="en-US" sz="800" b="0" i="0" u="none" strike="noStrike" kern="0" cap="none" spc="0" normalizeH="0" baseline="0" noProof="0">
              <a:ln>
                <a:noFill/>
              </a:ln>
              <a:solidFill>
                <a:srgbClr val="12ABDB"/>
              </a:solidFill>
              <a:effectLst/>
              <a:uLnTx/>
              <a:uFillTx/>
              <a:latin typeface="Helvetica 75"/>
              <a:ea typeface="+mn-ea"/>
              <a:cs typeface="+mn-cs"/>
            </a:endParaRPr>
          </a:p>
        </p:txBody>
      </p:sp>
      <p:sp>
        <p:nvSpPr>
          <p:cNvPr id="71" name="Rectangle 70">
            <a:extLst>
              <a:ext uri="{FF2B5EF4-FFF2-40B4-BE49-F238E27FC236}">
                <a16:creationId xmlns:a16="http://schemas.microsoft.com/office/drawing/2014/main" id="{9ECF725F-556A-F200-FA3C-3C18586B47BD}"/>
              </a:ext>
            </a:extLst>
          </p:cNvPr>
          <p:cNvSpPr/>
          <p:nvPr/>
        </p:nvSpPr>
        <p:spPr>
          <a:xfrm>
            <a:off x="2737873" y="1938393"/>
            <a:ext cx="2733229" cy="176135"/>
          </a:xfrm>
          <a:prstGeom prst="rect">
            <a:avLst/>
          </a:prstGeom>
          <a:noFill/>
          <a:ln w="9525" cap="flat" cmpd="sng" algn="ctr">
            <a:solidFill>
              <a:schemeClr val="bg2">
                <a:lumMod val="90000"/>
              </a:schemeClr>
            </a:solidFill>
            <a:prstDash val="solid"/>
            <a:miter lim="800000"/>
          </a:ln>
          <a:effectLst/>
        </p:spPr>
        <p:txBody>
          <a:bodyPr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900" b="1" i="0" u="none" strike="noStrike" kern="0" cap="none" spc="0" normalizeH="0" baseline="0" noProof="0" dirty="0">
                <a:ln>
                  <a:noFill/>
                </a:ln>
                <a:solidFill>
                  <a:schemeClr val="bg1">
                    <a:lumMod val="50000"/>
                  </a:schemeClr>
                </a:solidFill>
                <a:effectLst/>
                <a:uLnTx/>
                <a:uFillTx/>
                <a:latin typeface="Helvetica 75"/>
                <a:ea typeface="+mn-ea"/>
                <a:cs typeface="+mn-cs"/>
              </a:rPr>
              <a:t>Sponsors</a:t>
            </a:r>
          </a:p>
        </p:txBody>
      </p:sp>
      <p:sp>
        <p:nvSpPr>
          <p:cNvPr id="83" name="Rectangle 82">
            <a:extLst>
              <a:ext uri="{FF2B5EF4-FFF2-40B4-BE49-F238E27FC236}">
                <a16:creationId xmlns:a16="http://schemas.microsoft.com/office/drawing/2014/main" id="{BEA9D4BE-37E5-813E-93F0-49FBED944AC1}"/>
              </a:ext>
            </a:extLst>
          </p:cNvPr>
          <p:cNvSpPr/>
          <p:nvPr/>
        </p:nvSpPr>
        <p:spPr>
          <a:xfrm>
            <a:off x="1418141" y="2178255"/>
            <a:ext cx="1542839" cy="176135"/>
          </a:xfrm>
          <a:prstGeom prst="rect">
            <a:avLst/>
          </a:prstGeom>
          <a:noFill/>
          <a:ln w="9525" cap="flat" cmpd="sng" algn="ctr">
            <a:solidFill>
              <a:schemeClr val="bg2">
                <a:lumMod val="90000"/>
              </a:schemeClr>
            </a:solidFill>
            <a:prstDash val="solid"/>
            <a:miter lim="800000"/>
          </a:ln>
          <a:effectLst/>
        </p:spPr>
        <p:txBody>
          <a:bodyPr lIns="36000" tIns="0" rIns="36000" bIns="0"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lang="en-US" sz="900" b="1" kern="0" dirty="0">
                <a:solidFill>
                  <a:schemeClr val="bg1">
                    <a:lumMod val="50000"/>
                  </a:schemeClr>
                </a:solidFill>
                <a:latin typeface="Helvetica 75"/>
              </a:rPr>
              <a:t>Commercial WS</a:t>
            </a:r>
            <a:endParaRPr kumimoji="0" lang="en-US" sz="900" b="1" i="0" u="none" strike="noStrike" kern="0" cap="none" spc="0" normalizeH="0" baseline="0" noProof="0" dirty="0">
              <a:ln>
                <a:noFill/>
              </a:ln>
              <a:solidFill>
                <a:schemeClr val="bg1">
                  <a:lumMod val="50000"/>
                </a:schemeClr>
              </a:solidFill>
              <a:effectLst/>
              <a:uLnTx/>
              <a:uFillTx/>
              <a:latin typeface="Helvetica 75"/>
              <a:ea typeface="+mn-ea"/>
              <a:cs typeface="+mn-cs"/>
            </a:endParaRPr>
          </a:p>
        </p:txBody>
      </p:sp>
      <p:sp>
        <p:nvSpPr>
          <p:cNvPr id="84" name="Rectangle 83">
            <a:extLst>
              <a:ext uri="{FF2B5EF4-FFF2-40B4-BE49-F238E27FC236}">
                <a16:creationId xmlns:a16="http://schemas.microsoft.com/office/drawing/2014/main" id="{73955506-ED3C-24FB-49DA-1BEDFFD5CB2B}"/>
              </a:ext>
            </a:extLst>
          </p:cNvPr>
          <p:cNvSpPr/>
          <p:nvPr/>
        </p:nvSpPr>
        <p:spPr>
          <a:xfrm>
            <a:off x="3028195" y="2178255"/>
            <a:ext cx="1542836" cy="176135"/>
          </a:xfrm>
          <a:prstGeom prst="rect">
            <a:avLst/>
          </a:prstGeom>
          <a:solidFill>
            <a:srgbClr val="FFCC66"/>
          </a:solidFill>
          <a:ln w="9525" cap="flat" cmpd="sng" algn="ctr">
            <a:solidFill>
              <a:schemeClr val="bg2">
                <a:lumMod val="90000"/>
              </a:schemeClr>
            </a:solidFill>
            <a:prstDash val="solid"/>
            <a:miter lim="800000"/>
          </a:ln>
          <a:effectLst/>
        </p:spPr>
        <p:txBody>
          <a:bodyPr lIns="36000" tIns="0" rIns="36000" bIns="0"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lang="en-US" sz="800" b="1" kern="0" dirty="0">
                <a:solidFill>
                  <a:schemeClr val="bg1">
                    <a:lumMod val="50000"/>
                  </a:schemeClr>
                </a:solidFill>
                <a:latin typeface="Helvetica 75"/>
              </a:rPr>
              <a:t>Functional Workstreams</a:t>
            </a:r>
            <a:endParaRPr kumimoji="0" lang="en-US" sz="800" b="1" i="0" u="none" strike="noStrike" kern="0" cap="none" spc="0" normalizeH="0" baseline="0" noProof="0" dirty="0">
              <a:ln>
                <a:noFill/>
              </a:ln>
              <a:solidFill>
                <a:schemeClr val="bg1">
                  <a:lumMod val="50000"/>
                </a:schemeClr>
              </a:solidFill>
              <a:effectLst/>
              <a:uLnTx/>
              <a:uFillTx/>
              <a:latin typeface="Helvetica 75"/>
              <a:ea typeface="+mn-ea"/>
              <a:cs typeface="+mn-cs"/>
            </a:endParaRPr>
          </a:p>
        </p:txBody>
      </p:sp>
      <p:sp>
        <p:nvSpPr>
          <p:cNvPr id="86" name="Rectangle 85">
            <a:extLst>
              <a:ext uri="{FF2B5EF4-FFF2-40B4-BE49-F238E27FC236}">
                <a16:creationId xmlns:a16="http://schemas.microsoft.com/office/drawing/2014/main" id="{C09FD41E-54AC-3F80-AFE3-A0BC879B10D9}"/>
              </a:ext>
            </a:extLst>
          </p:cNvPr>
          <p:cNvSpPr/>
          <p:nvPr/>
        </p:nvSpPr>
        <p:spPr>
          <a:xfrm>
            <a:off x="4640876" y="2178255"/>
            <a:ext cx="638854" cy="176135"/>
          </a:xfrm>
          <a:prstGeom prst="rect">
            <a:avLst/>
          </a:prstGeom>
          <a:noFill/>
          <a:ln w="9525" cap="flat" cmpd="sng" algn="ctr">
            <a:solidFill>
              <a:schemeClr val="bg2">
                <a:lumMod val="90000"/>
              </a:schemeClr>
            </a:solidFill>
            <a:prstDash val="solid"/>
            <a:miter lim="800000"/>
          </a:ln>
          <a:effectLst/>
        </p:spPr>
        <p:txBody>
          <a:bodyPr lIns="36000" tIns="0" rIns="36000" bIns="0"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900" b="1" i="0" u="none" strike="noStrike" kern="0" cap="none" spc="0" normalizeH="0" baseline="0" noProof="0" dirty="0">
                <a:ln>
                  <a:noFill/>
                </a:ln>
                <a:solidFill>
                  <a:schemeClr val="bg1">
                    <a:lumMod val="50000"/>
                  </a:schemeClr>
                </a:solidFill>
                <a:effectLst/>
                <a:uLnTx/>
                <a:uFillTx/>
                <a:latin typeface="Helvetica 75"/>
                <a:ea typeface="+mn-ea"/>
                <a:cs typeface="+mn-cs"/>
              </a:rPr>
              <a:t>People</a:t>
            </a:r>
          </a:p>
        </p:txBody>
      </p:sp>
      <p:sp>
        <p:nvSpPr>
          <p:cNvPr id="87" name="Rectangle 86">
            <a:extLst>
              <a:ext uri="{FF2B5EF4-FFF2-40B4-BE49-F238E27FC236}">
                <a16:creationId xmlns:a16="http://schemas.microsoft.com/office/drawing/2014/main" id="{5CA06BB1-396D-481D-BF17-69510C43BEC4}"/>
              </a:ext>
            </a:extLst>
          </p:cNvPr>
          <p:cNvSpPr/>
          <p:nvPr/>
        </p:nvSpPr>
        <p:spPr>
          <a:xfrm>
            <a:off x="5353547" y="2178255"/>
            <a:ext cx="1542836" cy="176135"/>
          </a:xfrm>
          <a:prstGeom prst="rect">
            <a:avLst/>
          </a:prstGeom>
          <a:noFill/>
          <a:ln w="9525" cap="flat" cmpd="sng" algn="ctr">
            <a:solidFill>
              <a:schemeClr val="bg2">
                <a:lumMod val="90000"/>
              </a:schemeClr>
            </a:solidFill>
            <a:prstDash val="solid"/>
            <a:miter lim="800000"/>
          </a:ln>
          <a:effectLst/>
        </p:spPr>
        <p:txBody>
          <a:bodyPr lIns="36000" tIns="0" rIns="36000" bIns="0"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lang="en-US" sz="800" b="1" kern="0" dirty="0">
                <a:solidFill>
                  <a:schemeClr val="bg1">
                    <a:lumMod val="50000"/>
                  </a:schemeClr>
                </a:solidFill>
                <a:latin typeface="Helvetica 75"/>
              </a:rPr>
              <a:t>Closing &amp; SPA </a:t>
            </a:r>
            <a:r>
              <a:rPr lang="en-US" sz="800" b="1" kern="0" dirty="0" err="1">
                <a:solidFill>
                  <a:schemeClr val="bg1">
                    <a:lumMod val="50000"/>
                  </a:schemeClr>
                </a:solidFill>
                <a:latin typeface="Helvetica 75"/>
              </a:rPr>
              <a:t>Mgmt</a:t>
            </a:r>
            <a:endParaRPr kumimoji="0" lang="en-US" sz="800" b="1" i="0" u="none" strike="noStrike" kern="0" cap="none" spc="0" normalizeH="0" baseline="0" noProof="0" dirty="0">
              <a:ln>
                <a:noFill/>
              </a:ln>
              <a:solidFill>
                <a:schemeClr val="bg1">
                  <a:lumMod val="50000"/>
                </a:schemeClr>
              </a:solidFill>
              <a:effectLst/>
              <a:uLnTx/>
              <a:uFillTx/>
              <a:latin typeface="Helvetica 75"/>
              <a:ea typeface="+mn-ea"/>
              <a:cs typeface="+mn-cs"/>
            </a:endParaRPr>
          </a:p>
        </p:txBody>
      </p:sp>
      <p:sp>
        <p:nvSpPr>
          <p:cNvPr id="88" name="Rectangle 87">
            <a:extLst>
              <a:ext uri="{FF2B5EF4-FFF2-40B4-BE49-F238E27FC236}">
                <a16:creationId xmlns:a16="http://schemas.microsoft.com/office/drawing/2014/main" id="{C4D04BC2-CF7C-2338-9482-8C20821B5FD4}"/>
              </a:ext>
            </a:extLst>
          </p:cNvPr>
          <p:cNvSpPr/>
          <p:nvPr/>
        </p:nvSpPr>
        <p:spPr>
          <a:xfrm>
            <a:off x="1418141" y="2403029"/>
            <a:ext cx="488275" cy="176135"/>
          </a:xfrm>
          <a:prstGeom prst="rect">
            <a:avLst/>
          </a:prstGeom>
          <a:noFill/>
          <a:ln w="9525" cap="flat" cmpd="sng" algn="ctr">
            <a:solidFill>
              <a:schemeClr val="bg2">
                <a:lumMod val="90000"/>
              </a:schemeClr>
            </a:solidFill>
            <a:prstDash val="solid"/>
            <a:miter lim="800000"/>
          </a:ln>
          <a:effectLst/>
        </p:spPr>
        <p:txBody>
          <a:bodyPr lIns="0" rIns="0"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lang="en-US" sz="800" b="1" kern="0" dirty="0">
                <a:solidFill>
                  <a:schemeClr val="bg1">
                    <a:lumMod val="50000"/>
                  </a:schemeClr>
                </a:solidFill>
                <a:latin typeface="Helvetica 75"/>
              </a:rPr>
              <a:t>B2C</a:t>
            </a:r>
            <a:endParaRPr kumimoji="0" lang="en-US" sz="800" b="1" i="0" u="none" strike="noStrike" kern="0" cap="none" spc="0" normalizeH="0" baseline="0" noProof="0" dirty="0">
              <a:ln>
                <a:noFill/>
              </a:ln>
              <a:solidFill>
                <a:schemeClr val="bg1">
                  <a:lumMod val="50000"/>
                </a:schemeClr>
              </a:solidFill>
              <a:effectLst/>
              <a:uLnTx/>
              <a:uFillTx/>
              <a:latin typeface="Helvetica 75"/>
              <a:ea typeface="+mn-ea"/>
              <a:cs typeface="+mn-cs"/>
            </a:endParaRPr>
          </a:p>
        </p:txBody>
      </p:sp>
      <p:sp>
        <p:nvSpPr>
          <p:cNvPr id="89" name="Rectangle 88">
            <a:extLst>
              <a:ext uri="{FF2B5EF4-FFF2-40B4-BE49-F238E27FC236}">
                <a16:creationId xmlns:a16="http://schemas.microsoft.com/office/drawing/2014/main" id="{8C3FF8F9-383E-96FC-A584-EF2838AF1B2D}"/>
              </a:ext>
            </a:extLst>
          </p:cNvPr>
          <p:cNvSpPr/>
          <p:nvPr/>
        </p:nvSpPr>
        <p:spPr>
          <a:xfrm>
            <a:off x="1945422" y="2403029"/>
            <a:ext cx="488275" cy="176135"/>
          </a:xfrm>
          <a:prstGeom prst="rect">
            <a:avLst/>
          </a:prstGeom>
          <a:noFill/>
          <a:ln w="9525" cap="flat" cmpd="sng" algn="ctr">
            <a:solidFill>
              <a:schemeClr val="bg2">
                <a:lumMod val="90000"/>
              </a:schemeClr>
            </a:solidFill>
            <a:prstDash val="solid"/>
            <a:miter lim="800000"/>
          </a:ln>
          <a:effectLst/>
        </p:spPr>
        <p:txBody>
          <a:bodyPr lIns="0" rIns="0"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lang="en-US" sz="800" b="1" kern="0">
                <a:solidFill>
                  <a:schemeClr val="bg1">
                    <a:lumMod val="50000"/>
                  </a:schemeClr>
                </a:solidFill>
                <a:latin typeface="Helvetica 75"/>
              </a:rPr>
              <a:t>B2B</a:t>
            </a:r>
            <a:endParaRPr kumimoji="0" lang="en-US" sz="800" b="1" i="0" u="none" strike="noStrike" kern="0" cap="none" spc="0" normalizeH="0" baseline="0" noProof="0">
              <a:ln>
                <a:noFill/>
              </a:ln>
              <a:solidFill>
                <a:schemeClr val="bg1">
                  <a:lumMod val="50000"/>
                </a:schemeClr>
              </a:solidFill>
              <a:effectLst/>
              <a:uLnTx/>
              <a:uFillTx/>
              <a:latin typeface="Helvetica 75"/>
              <a:ea typeface="+mn-ea"/>
              <a:cs typeface="+mn-cs"/>
            </a:endParaRPr>
          </a:p>
        </p:txBody>
      </p:sp>
      <p:sp>
        <p:nvSpPr>
          <p:cNvPr id="90" name="Rectangle 89">
            <a:extLst>
              <a:ext uri="{FF2B5EF4-FFF2-40B4-BE49-F238E27FC236}">
                <a16:creationId xmlns:a16="http://schemas.microsoft.com/office/drawing/2014/main" id="{99205BCF-EC97-A77C-E482-A941FFFB6C48}"/>
              </a:ext>
            </a:extLst>
          </p:cNvPr>
          <p:cNvSpPr/>
          <p:nvPr/>
        </p:nvSpPr>
        <p:spPr>
          <a:xfrm>
            <a:off x="2472704" y="2403029"/>
            <a:ext cx="488275" cy="176135"/>
          </a:xfrm>
          <a:prstGeom prst="rect">
            <a:avLst/>
          </a:prstGeom>
          <a:noFill/>
          <a:ln w="9525" cap="flat" cmpd="sng" algn="ctr">
            <a:solidFill>
              <a:schemeClr val="bg2">
                <a:lumMod val="90000"/>
              </a:schemeClr>
            </a:solidFill>
            <a:prstDash val="solid"/>
            <a:miter lim="800000"/>
          </a:ln>
          <a:effectLst/>
        </p:spPr>
        <p:txBody>
          <a:bodyPr lIns="0" rIns="0"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lang="en-US" sz="800" b="1" kern="0">
                <a:solidFill>
                  <a:schemeClr val="bg1">
                    <a:lumMod val="50000"/>
                  </a:schemeClr>
                </a:solidFill>
                <a:latin typeface="Helvetica 75"/>
              </a:rPr>
              <a:t>WHS</a:t>
            </a:r>
            <a:endParaRPr kumimoji="0" lang="en-US" sz="800" b="1" i="0" u="none" strike="noStrike" kern="0" cap="none" spc="0" normalizeH="0" baseline="0" noProof="0">
              <a:ln>
                <a:noFill/>
              </a:ln>
              <a:solidFill>
                <a:schemeClr val="bg1">
                  <a:lumMod val="50000"/>
                </a:schemeClr>
              </a:solidFill>
              <a:effectLst/>
              <a:uLnTx/>
              <a:uFillTx/>
              <a:latin typeface="Helvetica 75"/>
              <a:ea typeface="+mn-ea"/>
              <a:cs typeface="+mn-cs"/>
            </a:endParaRPr>
          </a:p>
        </p:txBody>
      </p:sp>
      <p:sp>
        <p:nvSpPr>
          <p:cNvPr id="91" name="Rectangle 90">
            <a:extLst>
              <a:ext uri="{FF2B5EF4-FFF2-40B4-BE49-F238E27FC236}">
                <a16:creationId xmlns:a16="http://schemas.microsoft.com/office/drawing/2014/main" id="{A8977CB1-66D1-A1FC-5A3C-9F4789158CDE}"/>
              </a:ext>
            </a:extLst>
          </p:cNvPr>
          <p:cNvSpPr/>
          <p:nvPr/>
        </p:nvSpPr>
        <p:spPr>
          <a:xfrm>
            <a:off x="3028194" y="2403029"/>
            <a:ext cx="488275" cy="176135"/>
          </a:xfrm>
          <a:prstGeom prst="rect">
            <a:avLst/>
          </a:prstGeom>
          <a:noFill/>
          <a:ln w="9525" cap="flat" cmpd="sng" algn="ctr">
            <a:solidFill>
              <a:schemeClr val="bg2">
                <a:lumMod val="90000"/>
              </a:schemeClr>
            </a:solidFill>
            <a:prstDash val="solid"/>
            <a:miter lim="800000"/>
          </a:ln>
          <a:effectLst/>
        </p:spPr>
        <p:txBody>
          <a:bodyPr lIns="0" rIns="0"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lang="en-US" sz="700" b="1" kern="0">
                <a:solidFill>
                  <a:schemeClr val="bg1">
                    <a:lumMod val="50000"/>
                  </a:schemeClr>
                </a:solidFill>
                <a:latin typeface="Helvetica 75"/>
              </a:rPr>
              <a:t>Network</a:t>
            </a:r>
            <a:endParaRPr kumimoji="0" lang="en-US" sz="700" b="1" i="0" u="none" strike="noStrike" kern="0" cap="none" spc="0" normalizeH="0" baseline="0" noProof="0">
              <a:ln>
                <a:noFill/>
              </a:ln>
              <a:solidFill>
                <a:schemeClr val="bg1">
                  <a:lumMod val="50000"/>
                </a:schemeClr>
              </a:solidFill>
              <a:effectLst/>
              <a:uLnTx/>
              <a:uFillTx/>
              <a:latin typeface="Helvetica 75"/>
              <a:ea typeface="+mn-ea"/>
              <a:cs typeface="+mn-cs"/>
            </a:endParaRPr>
          </a:p>
        </p:txBody>
      </p:sp>
      <p:sp>
        <p:nvSpPr>
          <p:cNvPr id="92" name="Rectangle 91">
            <a:extLst>
              <a:ext uri="{FF2B5EF4-FFF2-40B4-BE49-F238E27FC236}">
                <a16:creationId xmlns:a16="http://schemas.microsoft.com/office/drawing/2014/main" id="{67825A8E-E8D2-D068-5CDC-F38329DAC643}"/>
              </a:ext>
            </a:extLst>
          </p:cNvPr>
          <p:cNvSpPr/>
          <p:nvPr/>
        </p:nvSpPr>
        <p:spPr>
          <a:xfrm>
            <a:off x="3555475" y="2403029"/>
            <a:ext cx="488275" cy="176135"/>
          </a:xfrm>
          <a:prstGeom prst="rect">
            <a:avLst/>
          </a:prstGeom>
          <a:solidFill>
            <a:srgbClr val="FFCC66"/>
          </a:solidFill>
          <a:ln w="9525" cap="flat" cmpd="sng" algn="ctr">
            <a:solidFill>
              <a:schemeClr val="bg2">
                <a:lumMod val="90000"/>
              </a:schemeClr>
            </a:solidFill>
            <a:prstDash val="solid"/>
            <a:miter lim="800000"/>
          </a:ln>
          <a:effectLst/>
        </p:spPr>
        <p:txBody>
          <a:bodyPr lIns="0" rIns="0"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lang="en-US" sz="800" b="1" kern="0" dirty="0">
                <a:solidFill>
                  <a:schemeClr val="bg1">
                    <a:lumMod val="50000"/>
                  </a:schemeClr>
                </a:solidFill>
                <a:latin typeface="Helvetica 75"/>
              </a:rPr>
              <a:t>IT</a:t>
            </a:r>
            <a:endParaRPr kumimoji="0" lang="en-US" sz="800" b="1" i="0" u="none" strike="noStrike" kern="0" cap="none" spc="0" normalizeH="0" baseline="0" noProof="0" dirty="0">
              <a:ln>
                <a:noFill/>
              </a:ln>
              <a:solidFill>
                <a:schemeClr val="bg1">
                  <a:lumMod val="50000"/>
                </a:schemeClr>
              </a:solidFill>
              <a:effectLst/>
              <a:uLnTx/>
              <a:uFillTx/>
              <a:latin typeface="Helvetica 75"/>
              <a:ea typeface="+mn-ea"/>
              <a:cs typeface="+mn-cs"/>
            </a:endParaRPr>
          </a:p>
        </p:txBody>
      </p:sp>
      <p:sp>
        <p:nvSpPr>
          <p:cNvPr id="93" name="Rectangle 92">
            <a:extLst>
              <a:ext uri="{FF2B5EF4-FFF2-40B4-BE49-F238E27FC236}">
                <a16:creationId xmlns:a16="http://schemas.microsoft.com/office/drawing/2014/main" id="{6F341DC2-8B63-52BC-1F0E-5528D772A264}"/>
              </a:ext>
            </a:extLst>
          </p:cNvPr>
          <p:cNvSpPr/>
          <p:nvPr/>
        </p:nvSpPr>
        <p:spPr>
          <a:xfrm>
            <a:off x="4082757" y="2403029"/>
            <a:ext cx="488275" cy="176135"/>
          </a:xfrm>
          <a:prstGeom prst="rect">
            <a:avLst/>
          </a:prstGeom>
          <a:noFill/>
          <a:ln w="9525" cap="flat" cmpd="sng" algn="ctr">
            <a:solidFill>
              <a:schemeClr val="bg2">
                <a:lumMod val="90000"/>
              </a:schemeClr>
            </a:solidFill>
            <a:prstDash val="solid"/>
            <a:miter lim="800000"/>
          </a:ln>
          <a:effectLst/>
        </p:spPr>
        <p:txBody>
          <a:bodyPr lIns="0" rIns="0"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lang="en-US" sz="800" b="1" kern="0">
                <a:solidFill>
                  <a:schemeClr val="bg1">
                    <a:lumMod val="50000"/>
                  </a:schemeClr>
                </a:solidFill>
                <a:latin typeface="Helvetica 75"/>
              </a:rPr>
              <a:t>G&amp;A</a:t>
            </a:r>
            <a:endParaRPr kumimoji="0" lang="en-US" sz="800" b="1" i="0" u="none" strike="noStrike" kern="0" cap="none" spc="0" normalizeH="0" baseline="0" noProof="0">
              <a:ln>
                <a:noFill/>
              </a:ln>
              <a:solidFill>
                <a:schemeClr val="bg1">
                  <a:lumMod val="50000"/>
                </a:schemeClr>
              </a:solidFill>
              <a:effectLst/>
              <a:uLnTx/>
              <a:uFillTx/>
              <a:latin typeface="Helvetica 75"/>
              <a:ea typeface="+mn-ea"/>
              <a:cs typeface="+mn-cs"/>
            </a:endParaRPr>
          </a:p>
        </p:txBody>
      </p:sp>
      <p:sp>
        <p:nvSpPr>
          <p:cNvPr id="94" name="Rectangle 93">
            <a:extLst>
              <a:ext uri="{FF2B5EF4-FFF2-40B4-BE49-F238E27FC236}">
                <a16:creationId xmlns:a16="http://schemas.microsoft.com/office/drawing/2014/main" id="{1316D1C0-4D45-DAB5-5188-320C4B32F993}"/>
              </a:ext>
            </a:extLst>
          </p:cNvPr>
          <p:cNvSpPr/>
          <p:nvPr/>
        </p:nvSpPr>
        <p:spPr>
          <a:xfrm>
            <a:off x="4640876" y="2403029"/>
            <a:ext cx="638854" cy="176135"/>
          </a:xfrm>
          <a:prstGeom prst="rect">
            <a:avLst/>
          </a:prstGeom>
          <a:noFill/>
          <a:ln w="9525" cap="flat" cmpd="sng" algn="ctr">
            <a:solidFill>
              <a:schemeClr val="bg2">
                <a:lumMod val="90000"/>
              </a:schemeClr>
            </a:solidFill>
            <a:prstDash val="solid"/>
            <a:miter lim="800000"/>
          </a:ln>
          <a:effectLst/>
        </p:spPr>
        <p:txBody>
          <a:bodyPr lIns="0" rIns="0"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lang="en-US" sz="800" b="1" kern="0">
                <a:solidFill>
                  <a:schemeClr val="bg1">
                    <a:lumMod val="50000"/>
                  </a:schemeClr>
                </a:solidFill>
                <a:latin typeface="Helvetica 75"/>
              </a:rPr>
              <a:t>CM &amp; Org</a:t>
            </a:r>
            <a:endParaRPr kumimoji="0" lang="en-US" sz="800" b="1" i="0" u="none" strike="noStrike" kern="0" cap="none" spc="0" normalizeH="0" baseline="0" noProof="0">
              <a:ln>
                <a:noFill/>
              </a:ln>
              <a:solidFill>
                <a:schemeClr val="bg1">
                  <a:lumMod val="50000"/>
                </a:schemeClr>
              </a:solidFill>
              <a:effectLst/>
              <a:uLnTx/>
              <a:uFillTx/>
              <a:latin typeface="Helvetica 75"/>
              <a:ea typeface="+mn-ea"/>
              <a:cs typeface="+mn-cs"/>
            </a:endParaRPr>
          </a:p>
        </p:txBody>
      </p:sp>
      <p:sp>
        <p:nvSpPr>
          <p:cNvPr id="95" name="Rectangle 94">
            <a:extLst>
              <a:ext uri="{FF2B5EF4-FFF2-40B4-BE49-F238E27FC236}">
                <a16:creationId xmlns:a16="http://schemas.microsoft.com/office/drawing/2014/main" id="{2FD2264D-FAE1-B4AB-3645-9DC8CA9B04A7}"/>
              </a:ext>
            </a:extLst>
          </p:cNvPr>
          <p:cNvSpPr/>
          <p:nvPr/>
        </p:nvSpPr>
        <p:spPr>
          <a:xfrm>
            <a:off x="5349576" y="2403029"/>
            <a:ext cx="751916" cy="176135"/>
          </a:xfrm>
          <a:prstGeom prst="rect">
            <a:avLst/>
          </a:prstGeom>
          <a:noFill/>
          <a:ln w="9525" cap="flat" cmpd="sng" algn="ctr">
            <a:solidFill>
              <a:schemeClr val="bg2">
                <a:lumMod val="90000"/>
              </a:schemeClr>
            </a:solidFill>
            <a:prstDash val="solid"/>
            <a:miter lim="800000"/>
          </a:ln>
          <a:effectLst/>
        </p:spPr>
        <p:txBody>
          <a:bodyPr lIns="0" rIns="0"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700" b="1" i="0" u="none" strike="noStrike" kern="0" cap="none" spc="0" normalizeH="0" baseline="0" noProof="0">
                <a:ln>
                  <a:noFill/>
                </a:ln>
                <a:solidFill>
                  <a:schemeClr val="bg1">
                    <a:lumMod val="50000"/>
                  </a:schemeClr>
                </a:solidFill>
                <a:effectLst/>
                <a:uLnTx/>
                <a:uFillTx/>
                <a:latin typeface="Helvetica 75"/>
                <a:ea typeface="+mn-ea"/>
                <a:cs typeface="+mn-cs"/>
              </a:rPr>
              <a:t>SPA </a:t>
            </a:r>
            <a:r>
              <a:rPr kumimoji="0" lang="en-US" sz="700" b="1" i="0" u="none" strike="noStrike" kern="0" cap="none" spc="0" normalizeH="0" baseline="0" noProof="0" err="1">
                <a:ln>
                  <a:noFill/>
                </a:ln>
                <a:solidFill>
                  <a:schemeClr val="bg1">
                    <a:lumMod val="50000"/>
                  </a:schemeClr>
                </a:solidFill>
                <a:effectLst/>
                <a:uLnTx/>
                <a:uFillTx/>
                <a:latin typeface="Helvetica 75"/>
                <a:ea typeface="+mn-ea"/>
                <a:cs typeface="+mn-cs"/>
              </a:rPr>
              <a:t>Mgmt</a:t>
            </a:r>
            <a:endParaRPr kumimoji="0" lang="en-US" sz="700" b="1" i="0" u="none" strike="noStrike" kern="0" cap="none" spc="0" normalizeH="0" baseline="0" noProof="0">
              <a:ln>
                <a:noFill/>
              </a:ln>
              <a:solidFill>
                <a:schemeClr val="bg1">
                  <a:lumMod val="50000"/>
                </a:schemeClr>
              </a:solidFill>
              <a:effectLst/>
              <a:uLnTx/>
              <a:uFillTx/>
              <a:latin typeface="Helvetica 75"/>
              <a:ea typeface="+mn-ea"/>
              <a:cs typeface="+mn-cs"/>
            </a:endParaRPr>
          </a:p>
        </p:txBody>
      </p:sp>
      <p:sp>
        <p:nvSpPr>
          <p:cNvPr id="96" name="Rectangle 95">
            <a:extLst>
              <a:ext uri="{FF2B5EF4-FFF2-40B4-BE49-F238E27FC236}">
                <a16:creationId xmlns:a16="http://schemas.microsoft.com/office/drawing/2014/main" id="{B3CC700B-AA05-EE03-68AB-1C923B801AD5}"/>
              </a:ext>
            </a:extLst>
          </p:cNvPr>
          <p:cNvSpPr/>
          <p:nvPr/>
        </p:nvSpPr>
        <p:spPr>
          <a:xfrm>
            <a:off x="6144467" y="2403029"/>
            <a:ext cx="751916" cy="176135"/>
          </a:xfrm>
          <a:prstGeom prst="rect">
            <a:avLst/>
          </a:prstGeom>
          <a:noFill/>
          <a:ln w="9525" cap="flat" cmpd="sng" algn="ctr">
            <a:solidFill>
              <a:schemeClr val="bg2">
                <a:lumMod val="90000"/>
              </a:schemeClr>
            </a:solidFill>
            <a:prstDash val="solid"/>
            <a:miter lim="800000"/>
          </a:ln>
          <a:effectLst/>
        </p:spPr>
        <p:txBody>
          <a:bodyPr lIns="0" rIns="0"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lang="en-US" sz="800" b="1" kern="0" dirty="0">
                <a:solidFill>
                  <a:schemeClr val="bg1">
                    <a:lumMod val="50000"/>
                  </a:schemeClr>
                </a:solidFill>
                <a:latin typeface="Helvetica 75"/>
              </a:rPr>
              <a:t>Reg</a:t>
            </a:r>
            <a:endParaRPr kumimoji="0" lang="en-US" sz="800" b="1" i="0" u="none" strike="noStrike" kern="0" cap="none" spc="0" normalizeH="0" baseline="0" noProof="0" dirty="0">
              <a:ln>
                <a:noFill/>
              </a:ln>
              <a:solidFill>
                <a:schemeClr val="bg1">
                  <a:lumMod val="50000"/>
                </a:schemeClr>
              </a:solidFill>
              <a:effectLst/>
              <a:uLnTx/>
              <a:uFillTx/>
              <a:latin typeface="Helvetica 75"/>
              <a:ea typeface="+mn-ea"/>
              <a:cs typeface="+mn-cs"/>
            </a:endParaRPr>
          </a:p>
        </p:txBody>
      </p:sp>
      <p:sp>
        <p:nvSpPr>
          <p:cNvPr id="97" name="Trapèze 96">
            <a:extLst>
              <a:ext uri="{FF2B5EF4-FFF2-40B4-BE49-F238E27FC236}">
                <a16:creationId xmlns:a16="http://schemas.microsoft.com/office/drawing/2014/main" id="{29C1873A-61F8-1777-A420-191741715832}"/>
              </a:ext>
            </a:extLst>
          </p:cNvPr>
          <p:cNvSpPr/>
          <p:nvPr/>
        </p:nvSpPr>
        <p:spPr bwMode="gray">
          <a:xfrm>
            <a:off x="1300898" y="2654906"/>
            <a:ext cx="4981686" cy="224926"/>
          </a:xfrm>
          <a:prstGeom prst="trapezoid">
            <a:avLst>
              <a:gd name="adj" fmla="val 928578"/>
            </a:avLst>
          </a:prstGeom>
          <a:solidFill>
            <a:srgbClr val="FFCC6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fr-FR" sz="1100">
              <a:solidFill>
                <a:schemeClr val="tx1"/>
              </a:solidFill>
            </a:endParaRPr>
          </a:p>
        </p:txBody>
      </p:sp>
      <p:sp>
        <p:nvSpPr>
          <p:cNvPr id="99" name="Flèche : double flèche verticale 98">
            <a:extLst>
              <a:ext uri="{FF2B5EF4-FFF2-40B4-BE49-F238E27FC236}">
                <a16:creationId xmlns:a16="http://schemas.microsoft.com/office/drawing/2014/main" id="{034B3541-1608-57DA-12BA-3D21A4814832}"/>
              </a:ext>
            </a:extLst>
          </p:cNvPr>
          <p:cNvSpPr/>
          <p:nvPr/>
        </p:nvSpPr>
        <p:spPr bwMode="gray">
          <a:xfrm>
            <a:off x="3128907" y="1899590"/>
            <a:ext cx="132593" cy="244316"/>
          </a:xfrm>
          <a:prstGeom prst="upDownArrow">
            <a:avLst/>
          </a:prstGeom>
          <a:solidFill>
            <a:srgbClr val="FFCC6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fr-FR" sz="1400">
              <a:solidFill>
                <a:schemeClr val="tx1"/>
              </a:solidFill>
            </a:endParaRPr>
          </a:p>
        </p:txBody>
      </p:sp>
      <p:sp>
        <p:nvSpPr>
          <p:cNvPr id="100" name="Rectangle: Rounded Corners 105">
            <a:extLst>
              <a:ext uri="{FF2B5EF4-FFF2-40B4-BE49-F238E27FC236}">
                <a16:creationId xmlns:a16="http://schemas.microsoft.com/office/drawing/2014/main" id="{A2E044F3-F6D7-FBAD-78FD-9BA3850C0929}"/>
              </a:ext>
            </a:extLst>
          </p:cNvPr>
          <p:cNvSpPr/>
          <p:nvPr/>
        </p:nvSpPr>
        <p:spPr bwMode="gray">
          <a:xfrm>
            <a:off x="1513047" y="4229243"/>
            <a:ext cx="2209777" cy="125691"/>
          </a:xfrm>
          <a:prstGeom prst="roundRect">
            <a:avLst/>
          </a:prstGeom>
          <a:solidFill>
            <a:srgbClr val="FFF7DD"/>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r>
              <a:rPr lang="en-GB" sz="900" b="1" dirty="0">
                <a:solidFill>
                  <a:schemeClr val="tx1"/>
                </a:solidFill>
              </a:rPr>
              <a:t>Stream 2: </a:t>
            </a:r>
            <a:r>
              <a:rPr lang="en-US" sz="900" dirty="0">
                <a:solidFill>
                  <a:schemeClr val="tx1"/>
                </a:solidFill>
              </a:rPr>
              <a:t>IT Synergy plan and TSA</a:t>
            </a:r>
            <a:endParaRPr lang="en-US" sz="600" i="1" dirty="0">
              <a:solidFill>
                <a:schemeClr val="tx1"/>
              </a:solidFill>
            </a:endParaRPr>
          </a:p>
        </p:txBody>
      </p:sp>
      <p:sp>
        <p:nvSpPr>
          <p:cNvPr id="101" name="Rectangle: Rounded Corners 108">
            <a:extLst>
              <a:ext uri="{FF2B5EF4-FFF2-40B4-BE49-F238E27FC236}">
                <a16:creationId xmlns:a16="http://schemas.microsoft.com/office/drawing/2014/main" id="{0096090F-2649-634B-9D2B-9DBABDA093C5}"/>
              </a:ext>
            </a:extLst>
          </p:cNvPr>
          <p:cNvSpPr/>
          <p:nvPr/>
        </p:nvSpPr>
        <p:spPr bwMode="gray">
          <a:xfrm>
            <a:off x="1513047" y="4412376"/>
            <a:ext cx="4615696" cy="125691"/>
          </a:xfrm>
          <a:prstGeom prst="roundRect">
            <a:avLst/>
          </a:prstGeom>
          <a:solidFill>
            <a:srgbClr val="FFF7DD"/>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r>
              <a:rPr lang="en-GB" sz="900" b="1" dirty="0">
                <a:solidFill>
                  <a:schemeClr val="tx1"/>
                </a:solidFill>
              </a:rPr>
              <a:t>Stream 3: </a:t>
            </a:r>
            <a:r>
              <a:rPr lang="en-GB" sz="900" dirty="0">
                <a:solidFill>
                  <a:schemeClr val="tx1"/>
                </a:solidFill>
              </a:rPr>
              <a:t>App Domain</a:t>
            </a:r>
            <a:endParaRPr lang="en-GB" sz="600" i="1" dirty="0">
              <a:solidFill>
                <a:schemeClr val="tx1"/>
              </a:solidFill>
            </a:endParaRPr>
          </a:p>
        </p:txBody>
      </p:sp>
      <p:sp>
        <p:nvSpPr>
          <p:cNvPr id="102" name="Rectangle: Rounded Corners 110">
            <a:extLst>
              <a:ext uri="{FF2B5EF4-FFF2-40B4-BE49-F238E27FC236}">
                <a16:creationId xmlns:a16="http://schemas.microsoft.com/office/drawing/2014/main" id="{C5043BA7-C655-144B-2951-725EECC4BAD5}"/>
              </a:ext>
            </a:extLst>
          </p:cNvPr>
          <p:cNvSpPr/>
          <p:nvPr/>
        </p:nvSpPr>
        <p:spPr bwMode="gray">
          <a:xfrm>
            <a:off x="1513047" y="4595510"/>
            <a:ext cx="4615696" cy="125691"/>
          </a:xfrm>
          <a:prstGeom prst="roundRect">
            <a:avLst/>
          </a:prstGeom>
          <a:solidFill>
            <a:srgbClr val="FFF7DD"/>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r>
              <a:rPr lang="en-GB" sz="900" b="1" dirty="0">
                <a:solidFill>
                  <a:schemeClr val="tx1"/>
                </a:solidFill>
              </a:rPr>
              <a:t>Stream 4: </a:t>
            </a:r>
            <a:r>
              <a:rPr lang="en-GB" sz="900" dirty="0">
                <a:solidFill>
                  <a:schemeClr val="tx1"/>
                </a:solidFill>
              </a:rPr>
              <a:t>Cloud, Infrastructure &amp; Cyber</a:t>
            </a:r>
          </a:p>
        </p:txBody>
      </p:sp>
      <p:sp>
        <p:nvSpPr>
          <p:cNvPr id="103" name="Rectangle: Rounded Corners 111">
            <a:extLst>
              <a:ext uri="{FF2B5EF4-FFF2-40B4-BE49-F238E27FC236}">
                <a16:creationId xmlns:a16="http://schemas.microsoft.com/office/drawing/2014/main" id="{F517BC64-9BDE-59E1-6E41-FEECC0F7D794}"/>
              </a:ext>
            </a:extLst>
          </p:cNvPr>
          <p:cNvSpPr/>
          <p:nvPr/>
        </p:nvSpPr>
        <p:spPr bwMode="gray">
          <a:xfrm>
            <a:off x="1513047" y="4961776"/>
            <a:ext cx="4615696" cy="125691"/>
          </a:xfrm>
          <a:prstGeom prst="roundRect">
            <a:avLst/>
          </a:prstGeom>
          <a:solidFill>
            <a:srgbClr val="FFF7DD"/>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r>
              <a:rPr lang="en-GB" sz="900" b="1" dirty="0">
                <a:solidFill>
                  <a:schemeClr val="tx1"/>
                </a:solidFill>
              </a:rPr>
              <a:t>Stream 6: </a:t>
            </a:r>
            <a:r>
              <a:rPr lang="en-US" sz="900" dirty="0">
                <a:solidFill>
                  <a:schemeClr val="tx1"/>
                </a:solidFill>
              </a:rPr>
              <a:t>Data &amp; AI</a:t>
            </a:r>
            <a:endParaRPr lang="en-GB" sz="600" i="1" dirty="0">
              <a:solidFill>
                <a:schemeClr val="tx1"/>
              </a:solidFill>
            </a:endParaRPr>
          </a:p>
        </p:txBody>
      </p:sp>
      <p:sp>
        <p:nvSpPr>
          <p:cNvPr id="109" name="Rectangle: Rounded Corners 112">
            <a:extLst>
              <a:ext uri="{FF2B5EF4-FFF2-40B4-BE49-F238E27FC236}">
                <a16:creationId xmlns:a16="http://schemas.microsoft.com/office/drawing/2014/main" id="{94506084-5DF4-BCF4-F213-D6BEECC09299}"/>
              </a:ext>
            </a:extLst>
          </p:cNvPr>
          <p:cNvSpPr/>
          <p:nvPr/>
        </p:nvSpPr>
        <p:spPr bwMode="gray">
          <a:xfrm>
            <a:off x="1513047" y="5144911"/>
            <a:ext cx="2209777" cy="125691"/>
          </a:xfrm>
          <a:prstGeom prst="roundRect">
            <a:avLst/>
          </a:prstGeom>
          <a:solidFill>
            <a:srgbClr val="FFF7DD"/>
          </a:solidFill>
          <a:ln w="63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r>
              <a:rPr lang="en-GB" sz="900" b="1" dirty="0">
                <a:solidFill>
                  <a:schemeClr val="tx1"/>
                </a:solidFill>
              </a:rPr>
              <a:t>Stream 7: </a:t>
            </a:r>
            <a:r>
              <a:rPr lang="en-GB" sz="900" dirty="0">
                <a:solidFill>
                  <a:schemeClr val="tx1"/>
                </a:solidFill>
              </a:rPr>
              <a:t>Sourcing &amp; Contract Management</a:t>
            </a:r>
            <a:endParaRPr lang="en-US" sz="600" i="1" dirty="0">
              <a:solidFill>
                <a:schemeClr val="tx1"/>
              </a:solidFill>
            </a:endParaRPr>
          </a:p>
        </p:txBody>
      </p:sp>
      <p:sp>
        <p:nvSpPr>
          <p:cNvPr id="112" name="Rectangle: Rounded Corners 113">
            <a:extLst>
              <a:ext uri="{FF2B5EF4-FFF2-40B4-BE49-F238E27FC236}">
                <a16:creationId xmlns:a16="http://schemas.microsoft.com/office/drawing/2014/main" id="{8A57A3B9-C6E7-9BBC-E8D3-DBBD880A2AA2}"/>
              </a:ext>
            </a:extLst>
          </p:cNvPr>
          <p:cNvSpPr/>
          <p:nvPr/>
        </p:nvSpPr>
        <p:spPr bwMode="gray">
          <a:xfrm>
            <a:off x="1513047" y="4778643"/>
            <a:ext cx="4615696" cy="125691"/>
          </a:xfrm>
          <a:prstGeom prst="roundRect">
            <a:avLst/>
          </a:prstGeom>
          <a:solidFill>
            <a:srgbClr val="FFF7DD"/>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lIns="72000" tIns="0" rIns="0" bIns="0" rtlCol="0" anchor="ctr"/>
          <a:lstStyle/>
          <a:p>
            <a:r>
              <a:rPr lang="en-GB" sz="900" b="1" dirty="0">
                <a:solidFill>
                  <a:schemeClr val="tx1"/>
                </a:solidFill>
              </a:rPr>
              <a:t>Stream 5: </a:t>
            </a:r>
            <a:r>
              <a:rPr lang="en-GB" sz="900" dirty="0">
                <a:solidFill>
                  <a:schemeClr val="tx1"/>
                </a:solidFill>
              </a:rPr>
              <a:t>Operating Model</a:t>
            </a:r>
            <a:endParaRPr lang="en-GB" sz="600" i="1" kern="0" dirty="0">
              <a:solidFill>
                <a:schemeClr val="tx1"/>
              </a:solidFill>
            </a:endParaRPr>
          </a:p>
        </p:txBody>
      </p:sp>
      <p:sp>
        <p:nvSpPr>
          <p:cNvPr id="113" name="Rectangle 112">
            <a:extLst>
              <a:ext uri="{FF2B5EF4-FFF2-40B4-BE49-F238E27FC236}">
                <a16:creationId xmlns:a16="http://schemas.microsoft.com/office/drawing/2014/main" id="{19511BC7-3896-C4F4-DFEA-6B8566BB2909}"/>
              </a:ext>
            </a:extLst>
          </p:cNvPr>
          <p:cNvSpPr/>
          <p:nvPr/>
        </p:nvSpPr>
        <p:spPr>
          <a:xfrm>
            <a:off x="3854501" y="3829412"/>
            <a:ext cx="2274242" cy="293170"/>
          </a:xfrm>
          <a:prstGeom prst="rect">
            <a:avLst/>
          </a:prstGeom>
          <a:solidFill>
            <a:srgbClr val="FFEEB9"/>
          </a:solidFill>
          <a:ln w="9525" cap="flat" cmpd="sng" algn="ctr">
            <a:solidFill>
              <a:schemeClr val="accent1"/>
            </a:solidFill>
            <a:prstDash val="solid"/>
            <a:miter lim="800000"/>
          </a:ln>
          <a:effectLst/>
        </p:spPr>
        <p:txBody>
          <a:bodyPr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Helvetica 75"/>
                <a:ea typeface="+mn-ea"/>
                <a:cs typeface="+mn-cs"/>
              </a:rPr>
              <a:t>Integration Design Authority</a:t>
            </a:r>
          </a:p>
        </p:txBody>
      </p:sp>
      <p:sp>
        <p:nvSpPr>
          <p:cNvPr id="115" name="Rectangle 114">
            <a:extLst>
              <a:ext uri="{FF2B5EF4-FFF2-40B4-BE49-F238E27FC236}">
                <a16:creationId xmlns:a16="http://schemas.microsoft.com/office/drawing/2014/main" id="{1F4DB589-4CF4-ADF0-ED40-E9EB6669CD29}"/>
              </a:ext>
            </a:extLst>
          </p:cNvPr>
          <p:cNvSpPr/>
          <p:nvPr/>
        </p:nvSpPr>
        <p:spPr>
          <a:xfrm>
            <a:off x="5689494" y="1710585"/>
            <a:ext cx="1685023" cy="165138"/>
          </a:xfrm>
          <a:prstGeom prst="rect">
            <a:avLst/>
          </a:prstGeom>
          <a:solidFill>
            <a:srgbClr val="FFCC66"/>
          </a:solidFill>
          <a:ln w="9525" cap="flat" cmpd="sng" algn="ctr">
            <a:solidFill>
              <a:schemeClr val="bg2">
                <a:lumMod val="90000"/>
              </a:schemeClr>
            </a:solidFill>
            <a:prstDash val="solid"/>
            <a:miter lim="800000"/>
          </a:ln>
          <a:effectLst/>
        </p:spPr>
        <p:txBody>
          <a:bodyPr lIns="36000" tIns="0" rIns="36000" bIns="0" rtlCol="0" anchor="ctr"/>
          <a:lstStyle/>
          <a:p>
            <a:pPr algn="ctr" defTabSz="712788" fontAlgn="base">
              <a:spcBef>
                <a:spcPct val="0"/>
              </a:spcBef>
              <a:spcAft>
                <a:spcPct val="0"/>
              </a:spcAft>
            </a:pPr>
            <a:r>
              <a:rPr lang="en-US" sz="800" b="1" kern="0">
                <a:solidFill>
                  <a:schemeClr val="bg1">
                    <a:lumMod val="50000"/>
                  </a:schemeClr>
                </a:solidFill>
                <a:latin typeface="Helvetica 75"/>
              </a:rPr>
              <a:t>Central </a:t>
            </a:r>
            <a:r>
              <a:rPr lang="en-US" sz="800" b="1" kern="0" dirty="0" err="1">
                <a:solidFill>
                  <a:schemeClr val="bg1">
                    <a:lumMod val="50000"/>
                  </a:schemeClr>
                </a:solidFill>
                <a:latin typeface="Helvetica 75"/>
              </a:rPr>
              <a:t>SteerCo</a:t>
            </a:r>
            <a:endParaRPr lang="en-US" sz="800" b="1" kern="0" dirty="0">
              <a:solidFill>
                <a:schemeClr val="bg1">
                  <a:lumMod val="50000"/>
                </a:schemeClr>
              </a:solidFill>
              <a:latin typeface="Helvetica 75"/>
            </a:endParaRPr>
          </a:p>
        </p:txBody>
      </p:sp>
      <p:sp>
        <p:nvSpPr>
          <p:cNvPr id="116" name="Rectangle 115">
            <a:extLst>
              <a:ext uri="{FF2B5EF4-FFF2-40B4-BE49-F238E27FC236}">
                <a16:creationId xmlns:a16="http://schemas.microsoft.com/office/drawing/2014/main" id="{C780001E-63AF-7EDA-B477-77339F48376F}"/>
              </a:ext>
            </a:extLst>
          </p:cNvPr>
          <p:cNvSpPr/>
          <p:nvPr/>
        </p:nvSpPr>
        <p:spPr>
          <a:xfrm>
            <a:off x="377609" y="3630818"/>
            <a:ext cx="791510" cy="276830"/>
          </a:xfrm>
          <a:prstGeom prst="rect">
            <a:avLst/>
          </a:prstGeom>
          <a:noFill/>
          <a:ln w="9525" cap="flat" cmpd="sng" algn="ctr">
            <a:solidFill>
              <a:srgbClr val="FF6600"/>
            </a:solidFill>
            <a:prstDash val="solid"/>
            <a:miter lim="800000"/>
          </a:ln>
          <a:effectLst/>
        </p:spPr>
        <p:txBody>
          <a:bodyPr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000000"/>
                </a:solidFill>
                <a:effectLst/>
                <a:uLnTx/>
                <a:uFillTx/>
                <a:latin typeface="Helvetica 75"/>
                <a:ea typeface="+mn-ea"/>
                <a:cs typeface="+mn-cs"/>
              </a:rPr>
              <a:t>IT Teams</a:t>
            </a:r>
          </a:p>
        </p:txBody>
      </p:sp>
      <p:sp>
        <p:nvSpPr>
          <p:cNvPr id="118" name="Rectangle 117">
            <a:extLst>
              <a:ext uri="{FF2B5EF4-FFF2-40B4-BE49-F238E27FC236}">
                <a16:creationId xmlns:a16="http://schemas.microsoft.com/office/drawing/2014/main" id="{A6F5D499-E8C2-91FA-32CD-AFEE2AF0E29C}"/>
              </a:ext>
            </a:extLst>
          </p:cNvPr>
          <p:cNvSpPr/>
          <p:nvPr/>
        </p:nvSpPr>
        <p:spPr>
          <a:xfrm>
            <a:off x="6483961" y="3630818"/>
            <a:ext cx="791510" cy="276830"/>
          </a:xfrm>
          <a:prstGeom prst="rect">
            <a:avLst/>
          </a:prstGeom>
          <a:noFill/>
          <a:ln w="9525" cap="flat" cmpd="sng" algn="ctr">
            <a:solidFill>
              <a:srgbClr val="FF6600"/>
            </a:solidFill>
            <a:prstDash val="solid"/>
            <a:miter lim="800000"/>
          </a:ln>
          <a:effectLst/>
        </p:spPr>
        <p:txBody>
          <a:bodyPr rtlCol="0" anchor="ctr"/>
          <a:lstStyle/>
          <a:p>
            <a:pPr marL="0" marR="0" lvl="0" indent="0" algn="ctr" defTabSz="712788"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rgbClr val="000000"/>
                </a:solidFill>
                <a:effectLst/>
                <a:uLnTx/>
                <a:uFillTx/>
                <a:latin typeface="Helvetica 75"/>
                <a:ea typeface="+mn-ea"/>
                <a:cs typeface="+mn-cs"/>
              </a:rPr>
              <a:t>IT Teams</a:t>
            </a:r>
          </a:p>
        </p:txBody>
      </p:sp>
      <p:sp>
        <p:nvSpPr>
          <p:cNvPr id="119" name="Flèche : double flèche verticale 118">
            <a:extLst>
              <a:ext uri="{FF2B5EF4-FFF2-40B4-BE49-F238E27FC236}">
                <a16:creationId xmlns:a16="http://schemas.microsoft.com/office/drawing/2014/main" id="{9E4A97BB-9924-7DFB-17C8-FB24B211D1F0}"/>
              </a:ext>
            </a:extLst>
          </p:cNvPr>
          <p:cNvSpPr/>
          <p:nvPr/>
        </p:nvSpPr>
        <p:spPr bwMode="gray">
          <a:xfrm rot="16200000">
            <a:off x="6239583" y="3463854"/>
            <a:ext cx="163252" cy="508392"/>
          </a:xfrm>
          <a:prstGeom prst="upDownArrow">
            <a:avLst/>
          </a:prstGeom>
          <a:solidFill>
            <a:srgbClr val="FFEEB9"/>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fr-FR" sz="1100">
              <a:solidFill>
                <a:schemeClr val="tx1"/>
              </a:solidFill>
            </a:endParaRPr>
          </a:p>
        </p:txBody>
      </p:sp>
      <p:sp>
        <p:nvSpPr>
          <p:cNvPr id="121" name="Rectangle 120">
            <a:extLst>
              <a:ext uri="{FF2B5EF4-FFF2-40B4-BE49-F238E27FC236}">
                <a16:creationId xmlns:a16="http://schemas.microsoft.com/office/drawing/2014/main" id="{E41E43D3-36D2-430D-2974-183B43A03827}"/>
              </a:ext>
            </a:extLst>
          </p:cNvPr>
          <p:cNvSpPr/>
          <p:nvPr/>
        </p:nvSpPr>
        <p:spPr bwMode="gray">
          <a:xfrm>
            <a:off x="6076251" y="3677696"/>
            <a:ext cx="515387" cy="7266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fr-FR" sz="400" dirty="0">
              <a:solidFill>
                <a:schemeClr val="bg1">
                  <a:lumMod val="50000"/>
                </a:schemeClr>
              </a:solidFill>
            </a:endParaRPr>
          </a:p>
        </p:txBody>
      </p:sp>
      <p:grpSp>
        <p:nvGrpSpPr>
          <p:cNvPr id="122" name="Groupe 121">
            <a:extLst>
              <a:ext uri="{FF2B5EF4-FFF2-40B4-BE49-F238E27FC236}">
                <a16:creationId xmlns:a16="http://schemas.microsoft.com/office/drawing/2014/main" id="{FD3F4D98-E807-156A-22EB-0D8680F374A1}"/>
              </a:ext>
            </a:extLst>
          </p:cNvPr>
          <p:cNvGrpSpPr/>
          <p:nvPr/>
        </p:nvGrpSpPr>
        <p:grpSpPr>
          <a:xfrm>
            <a:off x="1028816" y="3636424"/>
            <a:ext cx="524626" cy="163252"/>
            <a:chOff x="2219348" y="3656533"/>
            <a:chExt cx="647203" cy="229548"/>
          </a:xfrm>
        </p:grpSpPr>
        <p:sp>
          <p:nvSpPr>
            <p:cNvPr id="123" name="Flèche : double flèche verticale 122">
              <a:extLst>
                <a:ext uri="{FF2B5EF4-FFF2-40B4-BE49-F238E27FC236}">
                  <a16:creationId xmlns:a16="http://schemas.microsoft.com/office/drawing/2014/main" id="{B138F8E8-EC7B-6368-7787-DB4580DBFC15}"/>
                </a:ext>
              </a:extLst>
            </p:cNvPr>
            <p:cNvSpPr/>
            <p:nvPr/>
          </p:nvSpPr>
          <p:spPr bwMode="gray">
            <a:xfrm rot="16200000">
              <a:off x="2418163" y="3457718"/>
              <a:ext cx="229548" cy="627178"/>
            </a:xfrm>
            <a:prstGeom prst="upDownArrow">
              <a:avLst/>
            </a:prstGeom>
            <a:solidFill>
              <a:srgbClr val="FFEEB9"/>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fr-FR" sz="1100">
                <a:solidFill>
                  <a:schemeClr val="tx1"/>
                </a:solidFill>
              </a:endParaRPr>
            </a:p>
          </p:txBody>
        </p:sp>
        <p:sp>
          <p:nvSpPr>
            <p:cNvPr id="124" name="Rectangle 123">
              <a:extLst>
                <a:ext uri="{FF2B5EF4-FFF2-40B4-BE49-F238E27FC236}">
                  <a16:creationId xmlns:a16="http://schemas.microsoft.com/office/drawing/2014/main" id="{3CEEE6A8-C87A-5446-552D-040DE71DC374}"/>
                </a:ext>
              </a:extLst>
            </p:cNvPr>
            <p:cNvSpPr/>
            <p:nvPr/>
          </p:nvSpPr>
          <p:spPr bwMode="gray">
            <a:xfrm>
              <a:off x="2230744" y="3714565"/>
              <a:ext cx="635807" cy="10217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fr-FR" sz="400" dirty="0">
                <a:solidFill>
                  <a:schemeClr val="bg1">
                    <a:lumMod val="50000"/>
                  </a:schemeClr>
                </a:solidFill>
              </a:endParaRPr>
            </a:p>
          </p:txBody>
        </p:sp>
      </p:grpSp>
      <p:sp>
        <p:nvSpPr>
          <p:cNvPr id="125" name="Flèche : double flèche verticale 124">
            <a:extLst>
              <a:ext uri="{FF2B5EF4-FFF2-40B4-BE49-F238E27FC236}">
                <a16:creationId xmlns:a16="http://schemas.microsoft.com/office/drawing/2014/main" id="{690C7E67-DA71-00E9-838A-B12130610123}"/>
              </a:ext>
            </a:extLst>
          </p:cNvPr>
          <p:cNvSpPr/>
          <p:nvPr/>
        </p:nvSpPr>
        <p:spPr bwMode="gray">
          <a:xfrm rot="16200000">
            <a:off x="3762656" y="3831975"/>
            <a:ext cx="116331" cy="325494"/>
          </a:xfrm>
          <a:prstGeom prst="upDownArrow">
            <a:avLst>
              <a:gd name="adj1" fmla="val 50000"/>
              <a:gd name="adj2" fmla="val 50000"/>
            </a:avLst>
          </a:prstGeom>
          <a:solidFill>
            <a:srgbClr val="FFCC6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fr-FR" sz="1100">
              <a:solidFill>
                <a:schemeClr val="tx1"/>
              </a:solidFill>
            </a:endParaRPr>
          </a:p>
        </p:txBody>
      </p:sp>
      <p:sp>
        <p:nvSpPr>
          <p:cNvPr id="139" name="Rectangle 138">
            <a:extLst>
              <a:ext uri="{FF2B5EF4-FFF2-40B4-BE49-F238E27FC236}">
                <a16:creationId xmlns:a16="http://schemas.microsoft.com/office/drawing/2014/main" id="{63C5AAFA-64A0-5D71-C4EF-F0612E7CE9FB}"/>
              </a:ext>
            </a:extLst>
          </p:cNvPr>
          <p:cNvSpPr/>
          <p:nvPr/>
        </p:nvSpPr>
        <p:spPr bwMode="gray">
          <a:xfrm>
            <a:off x="1369516" y="2150016"/>
            <a:ext cx="5573753" cy="460054"/>
          </a:xfrm>
          <a:prstGeom prst="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fr-FR" sz="2000" dirty="0">
              <a:solidFill>
                <a:schemeClr val="tx1"/>
              </a:solidFill>
            </a:endParaRPr>
          </a:p>
        </p:txBody>
      </p:sp>
      <p:sp>
        <p:nvSpPr>
          <p:cNvPr id="141" name="Rectangle 140">
            <a:extLst>
              <a:ext uri="{FF2B5EF4-FFF2-40B4-BE49-F238E27FC236}">
                <a16:creationId xmlns:a16="http://schemas.microsoft.com/office/drawing/2014/main" id="{7E0D7664-A5C9-3E58-2AF6-AC396B2EAEB5}"/>
              </a:ext>
            </a:extLst>
          </p:cNvPr>
          <p:cNvSpPr/>
          <p:nvPr/>
        </p:nvSpPr>
        <p:spPr>
          <a:xfrm>
            <a:off x="5689494" y="1928786"/>
            <a:ext cx="1685023" cy="165138"/>
          </a:xfrm>
          <a:prstGeom prst="rect">
            <a:avLst/>
          </a:prstGeom>
          <a:solidFill>
            <a:srgbClr val="FFCC66"/>
          </a:solidFill>
          <a:ln w="9525" cap="flat" cmpd="sng" algn="ctr">
            <a:solidFill>
              <a:schemeClr val="bg2">
                <a:lumMod val="90000"/>
              </a:schemeClr>
            </a:solidFill>
            <a:prstDash val="solid"/>
            <a:miter lim="800000"/>
          </a:ln>
          <a:effectLst/>
        </p:spPr>
        <p:txBody>
          <a:bodyPr lIns="36000" tIns="0" rIns="36000" bIns="0" rtlCol="0" anchor="ctr"/>
          <a:lstStyle/>
          <a:p>
            <a:pPr algn="ctr" defTabSz="712788" fontAlgn="base">
              <a:spcBef>
                <a:spcPct val="0"/>
              </a:spcBef>
              <a:spcAft>
                <a:spcPct val="0"/>
              </a:spcAft>
            </a:pPr>
            <a:r>
              <a:rPr lang="en-US" sz="800" b="1" kern="0" dirty="0">
                <a:solidFill>
                  <a:schemeClr val="bg1">
                    <a:lumMod val="50000"/>
                  </a:schemeClr>
                </a:solidFill>
                <a:latin typeface="Helvetica 75"/>
              </a:rPr>
              <a:t>Central </a:t>
            </a:r>
            <a:r>
              <a:rPr lang="en-US" sz="800" b="1" kern="0">
                <a:solidFill>
                  <a:schemeClr val="bg1">
                    <a:lumMod val="50000"/>
                  </a:schemeClr>
                </a:solidFill>
                <a:latin typeface="Helvetica 75"/>
              </a:rPr>
              <a:t>OpCo</a:t>
            </a:r>
            <a:endParaRPr lang="en-US" sz="800" b="1" kern="0" dirty="0">
              <a:solidFill>
                <a:schemeClr val="bg1">
                  <a:lumMod val="50000"/>
                </a:schemeClr>
              </a:solidFill>
              <a:latin typeface="Helvetica 75"/>
            </a:endParaRPr>
          </a:p>
        </p:txBody>
      </p:sp>
      <p:grpSp>
        <p:nvGrpSpPr>
          <p:cNvPr id="66" name="Groupe 1">
            <a:extLst>
              <a:ext uri="{FF2B5EF4-FFF2-40B4-BE49-F238E27FC236}">
                <a16:creationId xmlns:a16="http://schemas.microsoft.com/office/drawing/2014/main" id="{DB62CAC2-1857-A1E9-BF92-D8640FC999A9}"/>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104" name="Freeform 13">
              <a:extLst>
                <a:ext uri="{FF2B5EF4-FFF2-40B4-BE49-F238E27FC236}">
                  <a16:creationId xmlns:a16="http://schemas.microsoft.com/office/drawing/2014/main" id="{C332E62E-B66E-AA18-8B01-719925A2E16B}"/>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105" name="Freeform 14">
              <a:extLst>
                <a:ext uri="{FF2B5EF4-FFF2-40B4-BE49-F238E27FC236}">
                  <a16:creationId xmlns:a16="http://schemas.microsoft.com/office/drawing/2014/main" id="{6044134A-B3B5-98B3-D1BC-BD16D180780F}"/>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42" name="Slide Number Placeholder 41">
            <a:extLst>
              <a:ext uri="{FF2B5EF4-FFF2-40B4-BE49-F238E27FC236}">
                <a16:creationId xmlns:a16="http://schemas.microsoft.com/office/drawing/2014/main" id="{60237EAC-DFE8-2502-D328-D0234C11B3B8}"/>
              </a:ext>
            </a:extLst>
          </p:cNvPr>
          <p:cNvSpPr>
            <a:spLocks noGrp="1"/>
          </p:cNvSpPr>
          <p:nvPr>
            <p:ph type="sldNum" sz="quarter" idx="12"/>
          </p:nvPr>
        </p:nvSpPr>
        <p:spPr/>
        <p:txBody>
          <a:bodyPr/>
          <a:lstStyle/>
          <a:p>
            <a:fld id="{8FF9B0DE-3FEB-4AA0-B465-B80EF7C1333D}" type="slidenum">
              <a:rPr lang="en-AU" smtClean="0"/>
              <a:pPr/>
              <a:t>5</a:t>
            </a:fld>
            <a:endParaRPr lang="en-AU"/>
          </a:p>
        </p:txBody>
      </p:sp>
      <p:sp>
        <p:nvSpPr>
          <p:cNvPr id="4" name="Rectangle 27">
            <a:extLst>
              <a:ext uri="{FF2B5EF4-FFF2-40B4-BE49-F238E27FC236}">
                <a16:creationId xmlns:a16="http://schemas.microsoft.com/office/drawing/2014/main" id="{883C543A-DB05-5A92-195D-D12C126FCB33}"/>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9" name="TextBox 8">
            <a:extLst>
              <a:ext uri="{FF2B5EF4-FFF2-40B4-BE49-F238E27FC236}">
                <a16:creationId xmlns:a16="http://schemas.microsoft.com/office/drawing/2014/main" id="{2DA9A497-98D6-212C-978A-72DC6C53D4FE}"/>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extLst>
      <p:ext uri="{BB962C8B-B14F-4D97-AF65-F5344CB8AC3E}">
        <p14:creationId xmlns:p14="http://schemas.microsoft.com/office/powerpoint/2010/main" val="1004310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45" hidden="1">
            <a:extLst>
              <a:ext uri="{FF2B5EF4-FFF2-40B4-BE49-F238E27FC236}">
                <a16:creationId xmlns:a16="http://schemas.microsoft.com/office/drawing/2014/main" id="{32FAF357-2C79-4190-9665-5FD7CF392950}"/>
              </a:ext>
            </a:extLst>
          </p:cNvPr>
          <p:cNvGraphicFramePr/>
          <p:nvPr/>
        </p:nvGraphicFramePr>
        <p:xfrm>
          <a:off x="1591" y="1591"/>
          <a:ext cx="1591" cy="1591"/>
        </p:xfrm>
        <a:graphic>
          <a:graphicData uri="http://schemas.openxmlformats.org/presentationml/2006/ole">
            <mc:AlternateContent xmlns:mc="http://schemas.openxmlformats.org/markup-compatibility/2006">
              <mc:Choice xmlns:v="urn:schemas-microsoft-com:vml" Requires="v">
                <p:oleObj name="think-cell Slide" r:id="rId2" imgW="5787" imgH="5787" progId="TCLayout.ActiveDocument.1">
                  <p:embed/>
                </p:oleObj>
              </mc:Choice>
              <mc:Fallback>
                <p:oleObj name="think-cell Slide" r:id="rId2" imgW="5787" imgH="5787" progId="TCLayout.ActiveDocument.1">
                  <p:embed/>
                  <p:pic>
                    <p:nvPicPr>
                      <p:cNvPr id="3" name="Object 45" hidden="1">
                        <a:extLst>
                          <a:ext uri="{FF2B5EF4-FFF2-40B4-BE49-F238E27FC236}">
                            <a16:creationId xmlns:a16="http://schemas.microsoft.com/office/drawing/2014/main" id="{32FAF357-2C79-4190-9665-5FD7CF392950}"/>
                          </a:ext>
                        </a:extLst>
                      </p:cNvPr>
                      <p:cNvPicPr/>
                      <p:nvPr/>
                    </p:nvPicPr>
                    <p:blipFill>
                      <a:blip r:embed="rId3"/>
                      <a:stretch>
                        <a:fillRect/>
                      </a:stretch>
                    </p:blipFill>
                    <p:spPr>
                      <a:xfrm>
                        <a:off x="1591" y="1591"/>
                        <a:ext cx="1591" cy="1591"/>
                      </a:xfrm>
                      <a:prstGeom prst="rect">
                        <a:avLst/>
                      </a:prstGeom>
                      <a:noFill/>
                      <a:ln>
                        <a:noFill/>
                      </a:ln>
                    </p:spPr>
                  </p:pic>
                </p:oleObj>
              </mc:Fallback>
            </mc:AlternateContent>
          </a:graphicData>
        </a:graphic>
      </p:graphicFrame>
      <p:sp>
        <p:nvSpPr>
          <p:cNvPr id="19" name="Text Placeholder 1">
            <a:extLst>
              <a:ext uri="{FF2B5EF4-FFF2-40B4-BE49-F238E27FC236}">
                <a16:creationId xmlns:a16="http://schemas.microsoft.com/office/drawing/2014/main" id="{047F4C23-A7E4-4846-8AF8-C25D1832B8FD}"/>
              </a:ext>
            </a:extLst>
          </p:cNvPr>
          <p:cNvSpPr txBox="1"/>
          <p:nvPr/>
        </p:nvSpPr>
        <p:spPr>
          <a:xfrm>
            <a:off x="1301747" y="322127"/>
            <a:ext cx="6913841" cy="457684"/>
          </a:xfrm>
          <a:prstGeom prst="rect">
            <a:avLst/>
          </a:prstGeom>
          <a:noFill/>
          <a:ln>
            <a:noFill/>
          </a:ln>
        </p:spPr>
        <p:txBody>
          <a:bodyPr vert="horz" wrap="square" lIns="91440" tIns="45720" rIns="91440" bIns="45720" anchor="t" anchorCtr="0" compatLnSpc="1">
            <a:noAutofit/>
          </a:bodyPr>
          <a:lstStyle/>
          <a:p>
            <a:pPr marL="0" marR="0" lvl="0" indent="0" fontAlgn="auto">
              <a:spcBef>
                <a:spcPct val="0"/>
              </a:spcBef>
              <a:spcAft>
                <a:spcPts val="600"/>
              </a:spcAft>
              <a:buClrTx/>
              <a:buSzTx/>
              <a:tabLst>
                <a:tab pos="1881185" algn="l"/>
              </a:tabLst>
              <a:defRPr sz="1800" b="0" i="0" u="none" strike="noStrike" kern="0" cap="none" spc="0" baseline="0">
                <a:solidFill>
                  <a:srgbClr val="000000"/>
                </a:solidFill>
                <a:uFillTx/>
              </a:defRPr>
            </a:pPr>
            <a:r>
              <a:rPr lang="nl-BE" sz="2400" b="1" spc="-50" dirty="0">
                <a:latin typeface="+mj-lt"/>
                <a:ea typeface="+mj-ea"/>
                <a:cs typeface="+mj-cs"/>
              </a:rPr>
              <a:t>STREAM 2A | IT </a:t>
            </a:r>
            <a:r>
              <a:rPr lang="en-US" sz="2400" b="1" spc="-50" dirty="0">
                <a:latin typeface="+mj-lt"/>
                <a:ea typeface="+mj-ea"/>
                <a:cs typeface="+mj-cs"/>
              </a:rPr>
              <a:t>SYNERGY</a:t>
            </a:r>
            <a:r>
              <a:rPr lang="nl-BE" sz="2400" b="1" spc="-50" dirty="0">
                <a:latin typeface="+mj-lt"/>
                <a:ea typeface="+mj-ea"/>
                <a:cs typeface="+mj-cs"/>
              </a:rPr>
              <a:t> PLAN</a:t>
            </a:r>
            <a:endParaRPr lang="en-US" sz="2400" b="1" spc="-50" dirty="0">
              <a:latin typeface="+mj-lt"/>
              <a:ea typeface="+mj-ea"/>
              <a:cs typeface="+mj-cs"/>
            </a:endParaRPr>
          </a:p>
        </p:txBody>
      </p:sp>
      <p:sp>
        <p:nvSpPr>
          <p:cNvPr id="2" name="Rectangle: Rounded Corners 6">
            <a:extLst>
              <a:ext uri="{FF2B5EF4-FFF2-40B4-BE49-F238E27FC236}">
                <a16:creationId xmlns:a16="http://schemas.microsoft.com/office/drawing/2014/main" id="{F6F8317A-4FE5-C02D-CB51-BA57B04FA94F}"/>
              </a:ext>
            </a:extLst>
          </p:cNvPr>
          <p:cNvSpPr/>
          <p:nvPr/>
        </p:nvSpPr>
        <p:spPr bwMode="gray">
          <a:xfrm>
            <a:off x="460382" y="1923475"/>
            <a:ext cx="3384000" cy="4529085"/>
          </a:xfrm>
          <a:prstGeom prst="roundRect">
            <a:avLst>
              <a:gd name="adj" fmla="val 3810"/>
            </a:avLst>
          </a:prstGeom>
          <a:solidFill>
            <a:schemeClr val="bg1"/>
          </a:solidFill>
          <a:ln w="6350">
            <a:solidFill>
              <a:srgbClr val="0070C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dirty="0">
              <a:solidFill>
                <a:schemeClr val="tx1"/>
              </a:solidFill>
            </a:endParaRPr>
          </a:p>
        </p:txBody>
      </p:sp>
      <p:sp>
        <p:nvSpPr>
          <p:cNvPr id="8" name="Rectangle 7">
            <a:extLst>
              <a:ext uri="{FF2B5EF4-FFF2-40B4-BE49-F238E27FC236}">
                <a16:creationId xmlns:a16="http://schemas.microsoft.com/office/drawing/2014/main" id="{A87F87D1-DED6-40D3-B03E-CFB1100C1C20}"/>
              </a:ext>
            </a:extLst>
          </p:cNvPr>
          <p:cNvSpPr/>
          <p:nvPr/>
        </p:nvSpPr>
        <p:spPr bwMode="gray">
          <a:xfrm>
            <a:off x="986214" y="1694634"/>
            <a:ext cx="2332340" cy="45768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b="1" i="1" dirty="0">
                <a:solidFill>
                  <a:srgbClr val="1781E3"/>
                </a:solidFill>
              </a:rPr>
              <a:t>Costs – AS-IS Analysis</a:t>
            </a:r>
          </a:p>
        </p:txBody>
      </p:sp>
      <p:sp>
        <p:nvSpPr>
          <p:cNvPr id="25" name="Rectangle: Rounded Corners 10">
            <a:extLst>
              <a:ext uri="{FF2B5EF4-FFF2-40B4-BE49-F238E27FC236}">
                <a16:creationId xmlns:a16="http://schemas.microsoft.com/office/drawing/2014/main" id="{CCCC92BE-5EF6-5E9B-EC17-553EEF76A4E2}"/>
              </a:ext>
            </a:extLst>
          </p:cNvPr>
          <p:cNvSpPr/>
          <p:nvPr/>
        </p:nvSpPr>
        <p:spPr bwMode="gray">
          <a:xfrm>
            <a:off x="4141335" y="1923474"/>
            <a:ext cx="3975248" cy="4529085"/>
          </a:xfrm>
          <a:prstGeom prst="roundRect">
            <a:avLst>
              <a:gd name="adj" fmla="val 3810"/>
            </a:avLst>
          </a:prstGeom>
          <a:solidFill>
            <a:schemeClr val="bg1"/>
          </a:solidFill>
          <a:ln w="6350">
            <a:solidFill>
              <a:srgbClr val="0070C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dirty="0">
              <a:solidFill>
                <a:schemeClr val="tx1"/>
              </a:solidFill>
            </a:endParaRPr>
          </a:p>
        </p:txBody>
      </p:sp>
      <p:sp>
        <p:nvSpPr>
          <p:cNvPr id="29" name="Rectangle 28">
            <a:extLst>
              <a:ext uri="{FF2B5EF4-FFF2-40B4-BE49-F238E27FC236}">
                <a16:creationId xmlns:a16="http://schemas.microsoft.com/office/drawing/2014/main" id="{C9EB80A2-8D14-1FE7-DF8F-721938F3892D}"/>
              </a:ext>
            </a:extLst>
          </p:cNvPr>
          <p:cNvSpPr/>
          <p:nvPr/>
        </p:nvSpPr>
        <p:spPr bwMode="gray">
          <a:xfrm>
            <a:off x="5152041" y="1694634"/>
            <a:ext cx="1953840" cy="45768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b="1" i="1" dirty="0">
                <a:solidFill>
                  <a:srgbClr val="1781E3"/>
                </a:solidFill>
              </a:rPr>
              <a:t>Synergies review</a:t>
            </a:r>
          </a:p>
        </p:txBody>
      </p:sp>
      <p:sp>
        <p:nvSpPr>
          <p:cNvPr id="31" name="Rectangle: Rounded Corners 12">
            <a:extLst>
              <a:ext uri="{FF2B5EF4-FFF2-40B4-BE49-F238E27FC236}">
                <a16:creationId xmlns:a16="http://schemas.microsoft.com/office/drawing/2014/main" id="{D2F5C9E4-57AA-E6DA-953E-4D65FBB7733D}"/>
              </a:ext>
            </a:extLst>
          </p:cNvPr>
          <p:cNvSpPr/>
          <p:nvPr/>
        </p:nvSpPr>
        <p:spPr bwMode="gray">
          <a:xfrm>
            <a:off x="8489799" y="1923474"/>
            <a:ext cx="3384000" cy="4529085"/>
          </a:xfrm>
          <a:prstGeom prst="roundRect">
            <a:avLst>
              <a:gd name="adj" fmla="val 3810"/>
            </a:avLst>
          </a:prstGeom>
          <a:solidFill>
            <a:schemeClr val="bg1"/>
          </a:solidFill>
          <a:ln w="6350">
            <a:solidFill>
              <a:srgbClr val="0070C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dirty="0">
              <a:solidFill>
                <a:schemeClr val="tx1"/>
              </a:solidFill>
            </a:endParaRPr>
          </a:p>
        </p:txBody>
      </p:sp>
      <p:sp>
        <p:nvSpPr>
          <p:cNvPr id="32" name="Rectangle 31">
            <a:extLst>
              <a:ext uri="{FF2B5EF4-FFF2-40B4-BE49-F238E27FC236}">
                <a16:creationId xmlns:a16="http://schemas.microsoft.com/office/drawing/2014/main" id="{772FB9B9-5FB3-94A3-4194-F4231B2CC0E5}"/>
              </a:ext>
            </a:extLst>
          </p:cNvPr>
          <p:cNvSpPr/>
          <p:nvPr/>
        </p:nvSpPr>
        <p:spPr bwMode="gray">
          <a:xfrm>
            <a:off x="8674830" y="1694634"/>
            <a:ext cx="3013938" cy="45768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10000"/>
              </a:lnSpc>
            </a:pPr>
            <a:r>
              <a:rPr lang="en-GB" b="1" i="1">
                <a:solidFill>
                  <a:srgbClr val="1781E3"/>
                </a:solidFill>
              </a:rPr>
              <a:t>Synergies </a:t>
            </a:r>
            <a:r>
              <a:rPr lang="en-GB" b="1" i="1" dirty="0">
                <a:solidFill>
                  <a:srgbClr val="1781E3"/>
                </a:solidFill>
              </a:rPr>
              <a:t>Monitoring</a:t>
            </a:r>
          </a:p>
        </p:txBody>
      </p:sp>
      <p:grpSp>
        <p:nvGrpSpPr>
          <p:cNvPr id="35" name="Groupe 34">
            <a:extLst>
              <a:ext uri="{FF2B5EF4-FFF2-40B4-BE49-F238E27FC236}">
                <a16:creationId xmlns:a16="http://schemas.microsoft.com/office/drawing/2014/main" id="{07929C86-AA2F-9A1B-4AB4-A887E47BAA2B}"/>
              </a:ext>
            </a:extLst>
          </p:cNvPr>
          <p:cNvGrpSpPr/>
          <p:nvPr/>
        </p:nvGrpSpPr>
        <p:grpSpPr>
          <a:xfrm>
            <a:off x="4660666" y="2840905"/>
            <a:ext cx="2870668" cy="1323585"/>
            <a:chOff x="-87990" y="2338987"/>
            <a:chExt cx="5594121" cy="3120944"/>
          </a:xfrm>
        </p:grpSpPr>
        <p:pic>
          <p:nvPicPr>
            <p:cNvPr id="33" name="Picture 4">
              <a:extLst>
                <a:ext uri="{FF2B5EF4-FFF2-40B4-BE49-F238E27FC236}">
                  <a16:creationId xmlns:a16="http://schemas.microsoft.com/office/drawing/2014/main" id="{DCDEC4C2-53B7-2541-8A14-7D6D260E18F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7990" y="2338987"/>
              <a:ext cx="4853366" cy="2400238"/>
            </a:xfrm>
            <a:prstGeom prst="rect">
              <a:avLst/>
            </a:prstGeom>
            <a:ln>
              <a:solidFill>
                <a:srgbClr val="88D5ED"/>
              </a:solidFill>
            </a:ln>
          </p:spPr>
        </p:pic>
        <p:pic>
          <p:nvPicPr>
            <p:cNvPr id="34" name="Picture 56">
              <a:extLst>
                <a:ext uri="{FF2B5EF4-FFF2-40B4-BE49-F238E27FC236}">
                  <a16:creationId xmlns:a16="http://schemas.microsoft.com/office/drawing/2014/main" id="{777E06B1-B36F-430B-DF66-32B08A1E067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19367" y="2952753"/>
              <a:ext cx="4986764" cy="2507178"/>
            </a:xfrm>
            <a:prstGeom prst="rect">
              <a:avLst/>
            </a:prstGeom>
            <a:ln>
              <a:solidFill>
                <a:srgbClr val="88D5ED"/>
              </a:solidFill>
            </a:ln>
          </p:spPr>
        </p:pic>
      </p:grpSp>
      <p:sp>
        <p:nvSpPr>
          <p:cNvPr id="36" name="TextBox 13">
            <a:extLst>
              <a:ext uri="{FF2B5EF4-FFF2-40B4-BE49-F238E27FC236}">
                <a16:creationId xmlns:a16="http://schemas.microsoft.com/office/drawing/2014/main" id="{404A9F14-C21D-9F7F-87D4-383F56A56FC2}"/>
              </a:ext>
            </a:extLst>
          </p:cNvPr>
          <p:cNvSpPr txBox="1"/>
          <p:nvPr/>
        </p:nvSpPr>
        <p:spPr>
          <a:xfrm>
            <a:off x="4607094" y="2100792"/>
            <a:ext cx="3150558"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effectLst/>
                <a:uLnTx/>
                <a:uFillTx/>
                <a:latin typeface="Ubuntu"/>
                <a:ea typeface="+mn-ea"/>
                <a:cs typeface="+mn-cs"/>
              </a:rPr>
              <a:t>We start by </a:t>
            </a:r>
            <a:r>
              <a:rPr kumimoji="0" lang="en-US" sz="1200" u="none" strike="noStrike" kern="1200" cap="none" spc="0" normalizeH="0" baseline="0" noProof="0">
                <a:ln>
                  <a:noFill/>
                </a:ln>
                <a:effectLst/>
                <a:uLnTx/>
                <a:uFillTx/>
                <a:latin typeface="Ubuntu"/>
                <a:ea typeface="+mn-ea"/>
                <a:cs typeface="+mn-cs"/>
              </a:rPr>
              <a:t>reviewing</a:t>
            </a:r>
            <a:r>
              <a:rPr kumimoji="0" lang="en-US" sz="1200" u="none" strike="noStrike" kern="1200" cap="none" spc="0" normalizeH="0" baseline="0" noProof="0" dirty="0">
                <a:ln>
                  <a:noFill/>
                </a:ln>
                <a:effectLst/>
                <a:uLnTx/>
                <a:uFillTx/>
                <a:latin typeface="Ubuntu"/>
                <a:ea typeface="+mn-ea"/>
                <a:cs typeface="+mn-cs"/>
              </a:rPr>
              <a:t> synergies </a:t>
            </a:r>
            <a:r>
              <a:rPr kumimoji="0" lang="en-US" sz="1200" b="1" u="none" strike="noStrike" kern="1200" cap="none" spc="0" normalizeH="0" baseline="0" noProof="0" dirty="0">
                <a:ln>
                  <a:noFill/>
                </a:ln>
                <a:effectLst/>
                <a:uLnTx/>
                <a:uFillTx/>
                <a:latin typeface="Ubuntu"/>
                <a:ea typeface="+mn-ea"/>
                <a:cs typeface="+mn-cs"/>
              </a:rPr>
              <a:t>assumptions </a:t>
            </a:r>
            <a:r>
              <a:rPr kumimoji="0" lang="en-US" sz="1200" u="none" strike="noStrike" kern="1200" cap="none" spc="0" normalizeH="0" baseline="0" noProof="0">
                <a:ln>
                  <a:noFill/>
                </a:ln>
                <a:effectLst/>
                <a:uLnTx/>
                <a:uFillTx/>
                <a:latin typeface="Ubuntu"/>
                <a:ea typeface="+mn-ea"/>
                <a:cs typeface="+mn-cs"/>
              </a:rPr>
              <a:t>before</a:t>
            </a:r>
            <a:r>
              <a:rPr kumimoji="0" lang="en-US" sz="1200" u="none" strike="noStrike" kern="1200" cap="none" spc="0" normalizeH="0" baseline="0" noProof="0" dirty="0">
                <a:ln>
                  <a:noFill/>
                </a:ln>
                <a:effectLst/>
                <a:uLnTx/>
                <a:uFillTx/>
                <a:latin typeface="Ubuntu"/>
                <a:ea typeface="+mn-ea"/>
                <a:cs typeface="+mn-cs"/>
              </a:rPr>
              <a:t> analyzing </a:t>
            </a:r>
            <a:r>
              <a:rPr kumimoji="0" lang="en-US" sz="1200" b="1" u="none" strike="noStrike" kern="1200" cap="none" spc="0" normalizeH="0" baseline="0" noProof="0" dirty="0">
                <a:ln>
                  <a:noFill/>
                </a:ln>
                <a:effectLst/>
                <a:uLnTx/>
                <a:uFillTx/>
                <a:latin typeface="Ubuntu"/>
                <a:ea typeface="+mn-ea"/>
                <a:cs typeface="+mn-cs"/>
              </a:rPr>
              <a:t>costs &amp; synergies drivers</a:t>
            </a:r>
            <a:r>
              <a:rPr kumimoji="0" lang="en-US" sz="1200" u="none" strike="noStrike" kern="1200" cap="none" spc="0" normalizeH="0" baseline="0" noProof="0" dirty="0">
                <a:ln>
                  <a:noFill/>
                </a:ln>
                <a:effectLst/>
                <a:uLnTx/>
                <a:uFillTx/>
                <a:latin typeface="Ubuntu"/>
                <a:ea typeface="+mn-ea"/>
                <a:cs typeface="+mn-cs"/>
              </a:rPr>
              <a:t>.</a:t>
            </a:r>
          </a:p>
        </p:txBody>
      </p:sp>
      <p:sp>
        <p:nvSpPr>
          <p:cNvPr id="38" name="TextBox 13">
            <a:extLst>
              <a:ext uri="{FF2B5EF4-FFF2-40B4-BE49-F238E27FC236}">
                <a16:creationId xmlns:a16="http://schemas.microsoft.com/office/drawing/2014/main" id="{D8DA20DE-1935-0798-F5D9-D2B752D1483D}"/>
              </a:ext>
            </a:extLst>
          </p:cNvPr>
          <p:cNvSpPr txBox="1"/>
          <p:nvPr/>
        </p:nvSpPr>
        <p:spPr>
          <a:xfrm>
            <a:off x="4607094" y="4193986"/>
            <a:ext cx="3387556"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effectLst/>
                <a:uLnTx/>
                <a:uFillTx/>
                <a:latin typeface="Ubuntu"/>
                <a:ea typeface="+mn-ea"/>
                <a:cs typeface="+mn-cs"/>
              </a:rPr>
              <a:t>Then, we define </a:t>
            </a:r>
            <a:r>
              <a:rPr kumimoji="0" lang="en-US" sz="1200" u="none" strike="noStrike" kern="1200" cap="none" spc="0" normalizeH="0" baseline="0" noProof="0">
                <a:ln>
                  <a:noFill/>
                </a:ln>
                <a:effectLst/>
                <a:uLnTx/>
                <a:uFillTx/>
                <a:latin typeface="Ubuntu"/>
                <a:ea typeface="+mn-ea"/>
                <a:cs typeface="+mn-cs"/>
              </a:rPr>
              <a:t>synergy </a:t>
            </a:r>
            <a:r>
              <a:rPr kumimoji="0" lang="en-US" sz="1200" b="1" u="none" strike="noStrike" kern="1200" cap="none" spc="0" normalizeH="0" baseline="0" noProof="0" dirty="0">
                <a:ln>
                  <a:noFill/>
                </a:ln>
                <a:effectLst/>
                <a:uLnTx/>
                <a:uFillTx/>
                <a:latin typeface="Ubuntu"/>
                <a:ea typeface="+mn-ea"/>
                <a:cs typeface="+mn-cs"/>
              </a:rPr>
              <a:t>buckets</a:t>
            </a:r>
            <a:r>
              <a:rPr kumimoji="0" lang="en-US" sz="1200" u="none" strike="noStrike" kern="1200" cap="none" spc="0" normalizeH="0" baseline="0" noProof="0" dirty="0">
                <a:ln>
                  <a:noFill/>
                </a:ln>
                <a:effectLst/>
                <a:uLnTx/>
                <a:uFillTx/>
                <a:latin typeface="Ubuntu"/>
                <a:ea typeface="+mn-ea"/>
                <a:cs typeface="+mn-cs"/>
              </a:rPr>
              <a:t>, regrouped </a:t>
            </a:r>
            <a:r>
              <a:rPr kumimoji="0" lang="en-US" sz="1200" b="1" u="none" strike="noStrike" kern="1200" cap="none" spc="0" normalizeH="0" baseline="0" noProof="0" dirty="0">
                <a:ln>
                  <a:noFill/>
                </a:ln>
                <a:effectLst/>
                <a:uLnTx/>
                <a:uFillTx/>
                <a:latin typeface="Ubuntu"/>
                <a:ea typeface="+mn-ea"/>
                <a:cs typeface="+mn-cs"/>
              </a:rPr>
              <a:t>by streams </a:t>
            </a:r>
            <a:r>
              <a:rPr kumimoji="0" lang="en-US" sz="1200" u="none" strike="noStrike" kern="1200" cap="none" spc="0" normalizeH="0" baseline="0" noProof="0" dirty="0">
                <a:ln>
                  <a:noFill/>
                </a:ln>
                <a:effectLst/>
                <a:uLnTx/>
                <a:uFillTx/>
                <a:latin typeface="Ubuntu"/>
                <a:ea typeface="+mn-ea"/>
                <a:cs typeface="+mn-cs"/>
              </a:rPr>
              <a:t>and refine the sizing based on reviewed </a:t>
            </a:r>
            <a:r>
              <a:rPr kumimoji="0" lang="en-US" sz="1200" b="1" u="none" strike="noStrike" kern="1200" cap="none" spc="0" normalizeH="0" baseline="0" noProof="0" dirty="0">
                <a:ln>
                  <a:noFill/>
                </a:ln>
                <a:effectLst/>
                <a:uLnTx/>
                <a:uFillTx/>
                <a:latin typeface="Ubuntu"/>
                <a:ea typeface="+mn-ea"/>
                <a:cs typeface="+mn-cs"/>
              </a:rPr>
              <a:t>IT </a:t>
            </a:r>
            <a:r>
              <a:rPr kumimoji="0" lang="en-US" sz="1200" b="1" u="none" strike="noStrike" kern="1200" cap="none" spc="0" normalizeH="0" baseline="0" noProof="0">
                <a:ln>
                  <a:noFill/>
                </a:ln>
                <a:effectLst/>
                <a:uLnTx/>
                <a:uFillTx/>
                <a:latin typeface="Ubuntu"/>
                <a:ea typeface="+mn-ea"/>
                <a:cs typeface="+mn-cs"/>
              </a:rPr>
              <a:t>costs baseline.</a:t>
            </a:r>
            <a:endParaRPr kumimoji="0" lang="en-US" sz="1200" b="1" u="none" strike="noStrike" kern="1200" cap="none" spc="0" normalizeH="0" baseline="0" noProof="0" dirty="0">
              <a:ln>
                <a:noFill/>
              </a:ln>
              <a:effectLst/>
              <a:uLnTx/>
              <a:uFillTx/>
              <a:latin typeface="Ubuntu"/>
              <a:ea typeface="+mn-ea"/>
              <a:cs typeface="+mn-cs"/>
            </a:endParaRPr>
          </a:p>
        </p:txBody>
      </p:sp>
      <p:grpSp>
        <p:nvGrpSpPr>
          <p:cNvPr id="46" name="Groupe 45">
            <a:extLst>
              <a:ext uri="{FF2B5EF4-FFF2-40B4-BE49-F238E27FC236}">
                <a16:creationId xmlns:a16="http://schemas.microsoft.com/office/drawing/2014/main" id="{4DE944E7-4B43-69F9-B48F-E14875ECFBCD}"/>
              </a:ext>
            </a:extLst>
          </p:cNvPr>
          <p:cNvGrpSpPr/>
          <p:nvPr/>
        </p:nvGrpSpPr>
        <p:grpSpPr>
          <a:xfrm>
            <a:off x="4666355" y="4913027"/>
            <a:ext cx="2835796" cy="1332765"/>
            <a:chOff x="3237324" y="3605539"/>
            <a:chExt cx="5526164" cy="2856899"/>
          </a:xfrm>
        </p:grpSpPr>
        <p:pic>
          <p:nvPicPr>
            <p:cNvPr id="44" name="Picture 1">
              <a:extLst>
                <a:ext uri="{FF2B5EF4-FFF2-40B4-BE49-F238E27FC236}">
                  <a16:creationId xmlns:a16="http://schemas.microsoft.com/office/drawing/2014/main" id="{CB898C7E-5CBC-4E60-EC0A-0688A9B319D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237324" y="3605539"/>
              <a:ext cx="4864642" cy="2413675"/>
            </a:xfrm>
            <a:prstGeom prst="rect">
              <a:avLst/>
            </a:prstGeom>
            <a:ln>
              <a:solidFill>
                <a:srgbClr val="88D5ED"/>
              </a:solidFill>
            </a:ln>
          </p:spPr>
        </p:pic>
        <p:pic>
          <p:nvPicPr>
            <p:cNvPr id="45" name="Picture 2" descr="image">
              <a:extLst>
                <a:ext uri="{FF2B5EF4-FFF2-40B4-BE49-F238E27FC236}">
                  <a16:creationId xmlns:a16="http://schemas.microsoft.com/office/drawing/2014/main" id="{C45ED0E5-6C46-532C-975C-D24838574744}"/>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776725" y="3955259"/>
              <a:ext cx="4986763" cy="2507179"/>
            </a:xfrm>
            <a:prstGeom prst="rect">
              <a:avLst/>
            </a:prstGeom>
            <a:ln>
              <a:solidFill>
                <a:srgbClr val="88D5ED"/>
              </a:solidFill>
            </a:ln>
            <a:extLst>
              <a:ext uri="{909E8E84-426E-40DD-AFC4-6F175D3DCCD1}">
                <a14:hiddenFill xmlns:a14="http://schemas.microsoft.com/office/drawing/2010/main">
                  <a:solidFill>
                    <a:srgbClr val="FFFFFF"/>
                  </a:solidFill>
                </a14:hiddenFill>
              </a:ext>
            </a:extLst>
          </p:spPr>
        </p:pic>
      </p:grpSp>
      <p:grpSp>
        <p:nvGrpSpPr>
          <p:cNvPr id="52" name="Groupe 51">
            <a:extLst>
              <a:ext uri="{FF2B5EF4-FFF2-40B4-BE49-F238E27FC236}">
                <a16:creationId xmlns:a16="http://schemas.microsoft.com/office/drawing/2014/main" id="{64A39AA6-9E47-410E-56BB-B592139285E3}"/>
              </a:ext>
            </a:extLst>
          </p:cNvPr>
          <p:cNvGrpSpPr/>
          <p:nvPr/>
        </p:nvGrpSpPr>
        <p:grpSpPr>
          <a:xfrm>
            <a:off x="817572" y="4945225"/>
            <a:ext cx="2608109" cy="1323586"/>
            <a:chOff x="817572" y="4680753"/>
            <a:chExt cx="2608109" cy="1323586"/>
          </a:xfrm>
        </p:grpSpPr>
        <p:pic>
          <p:nvPicPr>
            <p:cNvPr id="47" name="Picture 67">
              <a:extLst>
                <a:ext uri="{FF2B5EF4-FFF2-40B4-BE49-F238E27FC236}">
                  <a16:creationId xmlns:a16="http://schemas.microsoft.com/office/drawing/2014/main" id="{823F09B4-6C94-7BC3-C2EC-4CCA1827C4EC}"/>
                </a:ext>
              </a:extLst>
            </p:cNvPr>
            <p:cNvPicPr>
              <a:picLocks noChangeAspect="1"/>
            </p:cNvPicPr>
            <p:nvPr/>
          </p:nvPicPr>
          <p:blipFill>
            <a:blip r:embed="rId8" cstate="screen">
              <a:extLst>
                <a:ext uri="{BEBA8EAE-BF5A-486C-A8C5-ECC9F3942E4B}">
                  <a14:imgProps xmlns:a14="http://schemas.microsoft.com/office/drawing/2010/main">
                    <a14:imgLayer r:embed="rId9">
                      <a14:imgEffect>
                        <a14:artisticPastelsSmooth/>
                      </a14:imgEffect>
                    </a14:imgLayer>
                  </a14:imgProps>
                </a:ext>
                <a:ext uri="{28A0092B-C50C-407E-A947-70E740481C1C}">
                  <a14:useLocalDpi xmlns:a14="http://schemas.microsoft.com/office/drawing/2010/main"/>
                </a:ext>
              </a:extLst>
            </a:blip>
            <a:stretch>
              <a:fillRect/>
            </a:stretch>
          </p:blipFill>
          <p:spPr>
            <a:xfrm>
              <a:off x="817572" y="4680753"/>
              <a:ext cx="2263788" cy="1019594"/>
            </a:xfrm>
            <a:prstGeom prst="rect">
              <a:avLst/>
            </a:prstGeom>
            <a:ln>
              <a:solidFill>
                <a:srgbClr val="88D5ED"/>
              </a:solidFill>
            </a:ln>
          </p:spPr>
        </p:pic>
        <p:pic>
          <p:nvPicPr>
            <p:cNvPr id="48" name="Picture 65">
              <a:extLst>
                <a:ext uri="{FF2B5EF4-FFF2-40B4-BE49-F238E27FC236}">
                  <a16:creationId xmlns:a16="http://schemas.microsoft.com/office/drawing/2014/main" id="{68C2483F-20AA-DF4A-6895-95129B54B4B8}"/>
                </a:ext>
              </a:extLst>
            </p:cNvPr>
            <p:cNvPicPr>
              <a:picLocks noChangeAspect="1"/>
            </p:cNvPicPr>
            <p:nvPr/>
          </p:nvPicPr>
          <p:blipFill>
            <a:blip r:embed="rId10" cstate="screen">
              <a:extLst>
                <a:ext uri="{BEBA8EAE-BF5A-486C-A8C5-ECC9F3942E4B}">
                  <a14:imgProps xmlns:a14="http://schemas.microsoft.com/office/drawing/2010/main">
                    <a14:imgLayer r:embed="rId11">
                      <a14:imgEffect>
                        <a14:artisticCutout/>
                      </a14:imgEffect>
                    </a14:imgLayer>
                  </a14:imgProps>
                </a:ext>
                <a:ext uri="{28A0092B-C50C-407E-A947-70E740481C1C}">
                  <a14:useLocalDpi xmlns:a14="http://schemas.microsoft.com/office/drawing/2010/main"/>
                </a:ext>
              </a:extLst>
            </a:blip>
            <a:stretch>
              <a:fillRect/>
            </a:stretch>
          </p:blipFill>
          <p:spPr>
            <a:xfrm>
              <a:off x="1099773" y="4941050"/>
              <a:ext cx="2325908" cy="1063289"/>
            </a:xfrm>
            <a:prstGeom prst="rect">
              <a:avLst/>
            </a:prstGeom>
            <a:ln>
              <a:solidFill>
                <a:srgbClr val="88D5ED"/>
              </a:solidFill>
            </a:ln>
          </p:spPr>
        </p:pic>
        <p:sp>
          <p:nvSpPr>
            <p:cNvPr id="50" name="Rectangle 49">
              <a:extLst>
                <a:ext uri="{FF2B5EF4-FFF2-40B4-BE49-F238E27FC236}">
                  <a16:creationId xmlns:a16="http://schemas.microsoft.com/office/drawing/2014/main" id="{03854A34-D3E2-EE01-03AB-4A3E46C25306}"/>
                </a:ext>
              </a:extLst>
            </p:cNvPr>
            <p:cNvSpPr/>
            <p:nvPr/>
          </p:nvSpPr>
          <p:spPr bwMode="gray">
            <a:xfrm>
              <a:off x="1565275" y="4707547"/>
              <a:ext cx="269875" cy="613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fr-FR" sz="1600" dirty="0">
                <a:solidFill>
                  <a:schemeClr val="tx1"/>
                </a:solidFill>
              </a:endParaRPr>
            </a:p>
          </p:txBody>
        </p:sp>
        <p:sp>
          <p:nvSpPr>
            <p:cNvPr id="51" name="Rectangle 50">
              <a:extLst>
                <a:ext uri="{FF2B5EF4-FFF2-40B4-BE49-F238E27FC236}">
                  <a16:creationId xmlns:a16="http://schemas.microsoft.com/office/drawing/2014/main" id="{138A9768-18E4-216D-FE28-3D35F453E7BB}"/>
                </a:ext>
              </a:extLst>
            </p:cNvPr>
            <p:cNvSpPr/>
            <p:nvPr/>
          </p:nvSpPr>
          <p:spPr bwMode="gray">
            <a:xfrm>
              <a:off x="1925638" y="5011969"/>
              <a:ext cx="269875" cy="6130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fr-FR" sz="1600" dirty="0">
                <a:solidFill>
                  <a:schemeClr val="tx1"/>
                </a:solidFill>
              </a:endParaRPr>
            </a:p>
          </p:txBody>
        </p:sp>
      </p:grpSp>
      <p:sp>
        <p:nvSpPr>
          <p:cNvPr id="53" name="TextBox 13">
            <a:extLst>
              <a:ext uri="{FF2B5EF4-FFF2-40B4-BE49-F238E27FC236}">
                <a16:creationId xmlns:a16="http://schemas.microsoft.com/office/drawing/2014/main" id="{C32911E0-4F9E-4F32-0F20-DC85E252938E}"/>
              </a:ext>
            </a:extLst>
          </p:cNvPr>
          <p:cNvSpPr txBox="1"/>
          <p:nvPr/>
        </p:nvSpPr>
        <p:spPr>
          <a:xfrm>
            <a:off x="501735" y="4193986"/>
            <a:ext cx="3387556"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effectLst/>
                <a:uLnTx/>
                <a:uFillTx/>
                <a:latin typeface="Ubuntu"/>
                <a:ea typeface="+mn-ea"/>
                <a:cs typeface="+mn-cs"/>
              </a:rPr>
              <a:t>Then, we compare the benchmark with </a:t>
            </a:r>
            <a:r>
              <a:rPr kumimoji="0" lang="en-US" sz="1200" b="1" u="none" strike="noStrike" kern="1200" cap="none" spc="0" normalizeH="0" baseline="0" noProof="0" dirty="0">
                <a:ln>
                  <a:noFill/>
                </a:ln>
                <a:effectLst/>
                <a:uLnTx/>
                <a:uFillTx/>
                <a:latin typeface="Ubuntu"/>
                <a:ea typeface="+mn-ea"/>
                <a:cs typeface="+mn-cs"/>
              </a:rPr>
              <a:t>costs mapped for both companies </a:t>
            </a:r>
            <a:r>
              <a:rPr kumimoji="0" lang="en-US" sz="1200" u="none" strike="noStrike" kern="1200" cap="none" spc="0" normalizeH="0" baseline="0" noProof="0" dirty="0">
                <a:ln>
                  <a:noFill/>
                </a:ln>
                <a:effectLst/>
                <a:uLnTx/>
                <a:uFillTx/>
                <a:latin typeface="Ubuntu"/>
                <a:ea typeface="+mn-ea"/>
                <a:cs typeface="+mn-cs"/>
              </a:rPr>
              <a:t>&amp; define our first version of the </a:t>
            </a:r>
            <a:r>
              <a:rPr kumimoji="0" lang="en-US" sz="1200" b="1" u="none" strike="noStrike" kern="1200" cap="none" spc="0" normalizeH="0" baseline="0" noProof="0" dirty="0">
                <a:ln>
                  <a:noFill/>
                </a:ln>
                <a:effectLst/>
                <a:uLnTx/>
                <a:uFillTx/>
                <a:latin typeface="Ubuntu"/>
                <a:ea typeface="+mn-ea"/>
                <a:cs typeface="+mn-cs"/>
              </a:rPr>
              <a:t>IT costs baseline</a:t>
            </a:r>
            <a:r>
              <a:rPr kumimoji="0" lang="en-US" sz="1200" u="none" strike="noStrike" kern="1200" cap="none" spc="0" normalizeH="0" baseline="0" noProof="0">
                <a:ln>
                  <a:noFill/>
                </a:ln>
                <a:effectLst/>
                <a:uLnTx/>
                <a:uFillTx/>
                <a:latin typeface="Ubuntu"/>
                <a:ea typeface="+mn-ea"/>
                <a:cs typeface="+mn-cs"/>
              </a:rPr>
              <a:t>.</a:t>
            </a:r>
            <a:endParaRPr kumimoji="0" lang="en-US" sz="1200" b="1" u="none" strike="noStrike" kern="1200" cap="none" spc="0" normalizeH="0" baseline="0" noProof="0" dirty="0">
              <a:ln>
                <a:noFill/>
              </a:ln>
              <a:effectLst/>
              <a:uLnTx/>
              <a:uFillTx/>
              <a:latin typeface="Ubuntu"/>
              <a:ea typeface="+mn-ea"/>
              <a:cs typeface="+mn-cs"/>
            </a:endParaRPr>
          </a:p>
        </p:txBody>
      </p:sp>
      <p:sp>
        <p:nvSpPr>
          <p:cNvPr id="54" name="TextBox 13">
            <a:extLst>
              <a:ext uri="{FF2B5EF4-FFF2-40B4-BE49-F238E27FC236}">
                <a16:creationId xmlns:a16="http://schemas.microsoft.com/office/drawing/2014/main" id="{94458403-BA6B-B0C1-82D3-7713FFAAE280}"/>
              </a:ext>
            </a:extLst>
          </p:cNvPr>
          <p:cNvSpPr txBox="1"/>
          <p:nvPr/>
        </p:nvSpPr>
        <p:spPr>
          <a:xfrm>
            <a:off x="501735" y="2101263"/>
            <a:ext cx="3387556"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effectLst/>
                <a:uLnTx/>
                <a:uFillTx/>
                <a:latin typeface="Ubuntu"/>
                <a:ea typeface="+mn-ea"/>
                <a:cs typeface="+mn-cs"/>
              </a:rPr>
              <a:t>The first step is to refresh our IT Costs </a:t>
            </a:r>
            <a:r>
              <a:rPr kumimoji="0" lang="en-US" sz="1200" b="1" u="none" strike="noStrike" kern="1200" cap="none" spc="0" normalizeH="0" baseline="0" noProof="0" dirty="0">
                <a:ln>
                  <a:noFill/>
                </a:ln>
                <a:effectLst/>
                <a:uLnTx/>
                <a:uFillTx/>
                <a:latin typeface="Ubuntu"/>
                <a:ea typeface="+mn-ea"/>
                <a:cs typeface="+mn-cs"/>
              </a:rPr>
              <a:t>Telco market benchmarks </a:t>
            </a:r>
            <a:r>
              <a:rPr kumimoji="0" lang="en-US" sz="1200" u="none" strike="noStrike" kern="1200" cap="none" spc="0" normalizeH="0" baseline="0" noProof="0" dirty="0">
                <a:ln>
                  <a:noFill/>
                </a:ln>
                <a:effectLst/>
                <a:uLnTx/>
                <a:uFillTx/>
                <a:latin typeface="Ubuntu"/>
                <a:ea typeface="+mn-ea"/>
                <a:cs typeface="+mn-cs"/>
              </a:rPr>
              <a:t>with the latest figures &amp; the relevant </a:t>
            </a:r>
            <a:r>
              <a:rPr kumimoji="0" lang="en-US" sz="1200" b="1" u="none" strike="noStrike" kern="1200" cap="none" spc="0" normalizeH="0" baseline="0" noProof="0" dirty="0">
                <a:ln>
                  <a:noFill/>
                </a:ln>
                <a:effectLst/>
                <a:uLnTx/>
                <a:uFillTx/>
                <a:latin typeface="Ubuntu"/>
                <a:ea typeface="+mn-ea"/>
                <a:cs typeface="+mn-cs"/>
              </a:rPr>
              <a:t>streams focus</a:t>
            </a:r>
            <a:r>
              <a:rPr kumimoji="0" lang="en-US" sz="1200" u="none" strike="noStrike" kern="1200" cap="none" spc="0" normalizeH="0" baseline="0" noProof="0" dirty="0">
                <a:ln>
                  <a:noFill/>
                </a:ln>
                <a:effectLst/>
                <a:uLnTx/>
                <a:uFillTx/>
                <a:latin typeface="Ubuntu"/>
                <a:ea typeface="+mn-ea"/>
                <a:cs typeface="+mn-cs"/>
              </a:rPr>
              <a:t>.</a:t>
            </a:r>
            <a:endParaRPr kumimoji="0" lang="en-US" sz="1200" b="1" u="none" strike="noStrike" kern="1200" cap="none" spc="0" normalizeH="0" baseline="0" noProof="0" dirty="0">
              <a:ln>
                <a:noFill/>
              </a:ln>
              <a:effectLst/>
              <a:uLnTx/>
              <a:uFillTx/>
              <a:latin typeface="Ubuntu"/>
              <a:ea typeface="+mn-ea"/>
              <a:cs typeface="+mn-cs"/>
            </a:endParaRPr>
          </a:p>
        </p:txBody>
      </p:sp>
      <p:sp>
        <p:nvSpPr>
          <p:cNvPr id="55" name="TextBox 13">
            <a:extLst>
              <a:ext uri="{FF2B5EF4-FFF2-40B4-BE49-F238E27FC236}">
                <a16:creationId xmlns:a16="http://schemas.microsoft.com/office/drawing/2014/main" id="{C25E21B7-789F-0A70-D14C-AA21566561B1}"/>
              </a:ext>
            </a:extLst>
          </p:cNvPr>
          <p:cNvSpPr txBox="1"/>
          <p:nvPr/>
        </p:nvSpPr>
        <p:spPr>
          <a:xfrm>
            <a:off x="8636920" y="2100792"/>
            <a:ext cx="3150558"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effectLst/>
                <a:uLnTx/>
                <a:uFillTx/>
                <a:latin typeface="Ubuntu"/>
                <a:ea typeface="+mn-ea"/>
                <a:cs typeface="+mn-cs"/>
              </a:rPr>
              <a:t>Once buckets are defined, we need to review the synergies </a:t>
            </a:r>
            <a:r>
              <a:rPr kumimoji="0" lang="en-US" sz="1200" b="1" u="none" strike="noStrike" kern="1200" cap="none" spc="0" normalizeH="0" baseline="0" noProof="0" dirty="0">
                <a:ln>
                  <a:noFill/>
                </a:ln>
                <a:effectLst/>
                <a:uLnTx/>
                <a:uFillTx/>
                <a:latin typeface="Ubuntu"/>
                <a:ea typeface="+mn-ea"/>
                <a:cs typeface="+mn-cs"/>
              </a:rPr>
              <a:t>roadmap &amp; planning</a:t>
            </a:r>
            <a:r>
              <a:rPr kumimoji="0" lang="en-US" sz="1200" u="none" strike="noStrike" kern="1200" cap="none" spc="0" normalizeH="0" baseline="0" noProof="0" dirty="0">
                <a:ln>
                  <a:noFill/>
                </a:ln>
                <a:effectLst/>
                <a:uLnTx/>
                <a:uFillTx/>
                <a:latin typeface="Ubuntu"/>
                <a:ea typeface="+mn-ea"/>
                <a:cs typeface="+mn-cs"/>
              </a:rPr>
              <a:t>, anticipating </a:t>
            </a:r>
            <a:r>
              <a:rPr kumimoji="0" lang="en-US" sz="1200" b="1" u="none" strike="noStrike" kern="1200" cap="none" spc="0" normalizeH="0" baseline="0" noProof="0" dirty="0">
                <a:ln>
                  <a:noFill/>
                </a:ln>
                <a:effectLst/>
                <a:uLnTx/>
                <a:uFillTx/>
                <a:latin typeface="Ubuntu"/>
                <a:ea typeface="+mn-ea"/>
                <a:cs typeface="+mn-cs"/>
              </a:rPr>
              <a:t>risks &amp; interdependencies</a:t>
            </a:r>
            <a:r>
              <a:rPr kumimoji="0" lang="en-US" sz="1200" u="none" strike="noStrike" kern="1200" cap="none" spc="0" normalizeH="0" baseline="0" noProof="0" dirty="0">
                <a:ln>
                  <a:noFill/>
                </a:ln>
                <a:effectLst/>
                <a:uLnTx/>
                <a:uFillTx/>
                <a:latin typeface="Ubuntu"/>
                <a:ea typeface="+mn-ea"/>
                <a:cs typeface="+mn-cs"/>
              </a:rPr>
              <a:t>.</a:t>
            </a:r>
          </a:p>
        </p:txBody>
      </p:sp>
      <p:sp>
        <p:nvSpPr>
          <p:cNvPr id="56" name="TextBox 13">
            <a:extLst>
              <a:ext uri="{FF2B5EF4-FFF2-40B4-BE49-F238E27FC236}">
                <a16:creationId xmlns:a16="http://schemas.microsoft.com/office/drawing/2014/main" id="{55D7B960-45C9-3486-EAFB-AE33A040867F}"/>
              </a:ext>
            </a:extLst>
          </p:cNvPr>
          <p:cNvSpPr txBox="1"/>
          <p:nvPr/>
        </p:nvSpPr>
        <p:spPr>
          <a:xfrm>
            <a:off x="8636920" y="4198824"/>
            <a:ext cx="3150558"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effectLst/>
                <a:uLnTx/>
                <a:uFillTx/>
                <a:latin typeface="Ubuntu"/>
                <a:ea typeface="+mn-ea"/>
                <a:cs typeface="+mn-cs"/>
              </a:rPr>
              <a:t>Before Day-1 the last step is to prepare the </a:t>
            </a:r>
            <a:r>
              <a:rPr kumimoji="0" lang="en-US" sz="1200" b="1" u="none" strike="noStrike" kern="1200" cap="none" spc="0" normalizeH="0" baseline="0" noProof="0" dirty="0">
                <a:ln>
                  <a:noFill/>
                </a:ln>
                <a:effectLst/>
                <a:uLnTx/>
                <a:uFillTx/>
                <a:latin typeface="Ubuntu"/>
                <a:ea typeface="+mn-ea"/>
                <a:cs typeface="+mn-cs"/>
              </a:rPr>
              <a:t>upcoming synergies monitoring </a:t>
            </a:r>
            <a:r>
              <a:rPr kumimoji="0" lang="en-US" sz="1200" u="none" strike="noStrike" kern="1200" cap="none" spc="0" normalizeH="0" baseline="0" noProof="0" dirty="0">
                <a:ln>
                  <a:noFill/>
                </a:ln>
                <a:effectLst/>
                <a:uLnTx/>
                <a:uFillTx/>
                <a:latin typeface="Ubuntu"/>
                <a:ea typeface="+mn-ea"/>
                <a:cs typeface="+mn-cs"/>
              </a:rPr>
              <a:t>through a tailor-made </a:t>
            </a:r>
            <a:r>
              <a:rPr kumimoji="0" lang="en-US" sz="1200" b="1" u="none" strike="noStrike" kern="1200" cap="none" spc="0" normalizeH="0" baseline="0" noProof="0" dirty="0">
                <a:ln>
                  <a:noFill/>
                </a:ln>
                <a:effectLst/>
                <a:uLnTx/>
                <a:uFillTx/>
                <a:latin typeface="Ubuntu"/>
                <a:ea typeface="+mn-ea"/>
                <a:cs typeface="+mn-cs"/>
              </a:rPr>
              <a:t>tracking tool</a:t>
            </a:r>
            <a:r>
              <a:rPr kumimoji="0" lang="en-US" sz="1200" u="none" strike="noStrike" kern="1200" cap="none" spc="0" normalizeH="0" baseline="0" noProof="0" dirty="0">
                <a:ln>
                  <a:noFill/>
                </a:ln>
                <a:effectLst/>
                <a:uLnTx/>
                <a:uFillTx/>
                <a:latin typeface="Ubuntu"/>
                <a:ea typeface="+mn-ea"/>
                <a:cs typeface="+mn-cs"/>
              </a:rPr>
              <a:t>.</a:t>
            </a:r>
          </a:p>
        </p:txBody>
      </p:sp>
      <p:pic>
        <p:nvPicPr>
          <p:cNvPr id="57" name="Picture 49">
            <a:extLst>
              <a:ext uri="{FF2B5EF4-FFF2-40B4-BE49-F238E27FC236}">
                <a16:creationId xmlns:a16="http://schemas.microsoft.com/office/drawing/2014/main" id="{C3C74C13-3750-E192-7773-D5EFA4482743}"/>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8988514" y="4924428"/>
            <a:ext cx="2373482" cy="1299795"/>
          </a:xfrm>
          <a:prstGeom prst="rect">
            <a:avLst/>
          </a:prstGeom>
          <a:ln>
            <a:solidFill>
              <a:srgbClr val="88D5ED"/>
            </a:solidFill>
          </a:ln>
        </p:spPr>
      </p:pic>
      <p:pic>
        <p:nvPicPr>
          <p:cNvPr id="58" name="Image 57">
            <a:extLst>
              <a:ext uri="{FF2B5EF4-FFF2-40B4-BE49-F238E27FC236}">
                <a16:creationId xmlns:a16="http://schemas.microsoft.com/office/drawing/2014/main" id="{B101B0FB-F2DD-E134-F3E7-99C82401F0F6}"/>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8988514" y="2807924"/>
            <a:ext cx="2350476" cy="1322143"/>
          </a:xfrm>
          <a:prstGeom prst="rect">
            <a:avLst/>
          </a:prstGeom>
        </p:spPr>
      </p:pic>
      <p:grpSp>
        <p:nvGrpSpPr>
          <p:cNvPr id="62" name="Groupe 61">
            <a:extLst>
              <a:ext uri="{FF2B5EF4-FFF2-40B4-BE49-F238E27FC236}">
                <a16:creationId xmlns:a16="http://schemas.microsoft.com/office/drawing/2014/main" id="{F5168675-E153-A54C-7054-CB65C2665D14}"/>
              </a:ext>
            </a:extLst>
          </p:cNvPr>
          <p:cNvGrpSpPr/>
          <p:nvPr/>
        </p:nvGrpSpPr>
        <p:grpSpPr>
          <a:xfrm>
            <a:off x="927248" y="2849224"/>
            <a:ext cx="2136796" cy="1201948"/>
            <a:chOff x="927248" y="2643744"/>
            <a:chExt cx="2136796" cy="1201948"/>
          </a:xfrm>
        </p:grpSpPr>
        <p:pic>
          <p:nvPicPr>
            <p:cNvPr id="60" name="Image 59">
              <a:extLst>
                <a:ext uri="{FF2B5EF4-FFF2-40B4-BE49-F238E27FC236}">
                  <a16:creationId xmlns:a16="http://schemas.microsoft.com/office/drawing/2014/main" id="{96C807B7-DD7B-1F03-4055-2CBA61E2FED0}"/>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927248" y="2643744"/>
              <a:ext cx="2136796" cy="1201948"/>
            </a:xfrm>
            <a:prstGeom prst="rect">
              <a:avLst/>
            </a:prstGeom>
          </p:spPr>
        </p:pic>
        <p:sp>
          <p:nvSpPr>
            <p:cNvPr id="61" name="Rectangle 60">
              <a:extLst>
                <a:ext uri="{FF2B5EF4-FFF2-40B4-BE49-F238E27FC236}">
                  <a16:creationId xmlns:a16="http://schemas.microsoft.com/office/drawing/2014/main" id="{E8F554B9-9626-7D83-AA9F-B1B00469AE3E}"/>
                </a:ext>
              </a:extLst>
            </p:cNvPr>
            <p:cNvSpPr/>
            <p:nvPr/>
          </p:nvSpPr>
          <p:spPr bwMode="gray">
            <a:xfrm>
              <a:off x="927248" y="2666458"/>
              <a:ext cx="223839" cy="15382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fr-FR" sz="1600" dirty="0">
                <a:solidFill>
                  <a:schemeClr val="tx1"/>
                </a:solidFill>
              </a:endParaRPr>
            </a:p>
          </p:txBody>
        </p:sp>
      </p:grpSp>
      <p:sp>
        <p:nvSpPr>
          <p:cNvPr id="63" name="Triangle isocèle 62">
            <a:extLst>
              <a:ext uri="{FF2B5EF4-FFF2-40B4-BE49-F238E27FC236}">
                <a16:creationId xmlns:a16="http://schemas.microsoft.com/office/drawing/2014/main" id="{101C97B4-096C-CF24-2D91-0454588B1A43}"/>
              </a:ext>
            </a:extLst>
          </p:cNvPr>
          <p:cNvSpPr/>
          <p:nvPr/>
        </p:nvSpPr>
        <p:spPr bwMode="gray">
          <a:xfrm rot="5400000">
            <a:off x="3482948" y="4149319"/>
            <a:ext cx="1060704" cy="99010"/>
          </a:xfrm>
          <a:prstGeom prst="triangle">
            <a:avLst/>
          </a:prstGeom>
          <a:solidFill>
            <a:srgbClr val="0070C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fr-FR" sz="1600" dirty="0">
              <a:solidFill>
                <a:schemeClr val="tx1"/>
              </a:solidFill>
            </a:endParaRPr>
          </a:p>
        </p:txBody>
      </p:sp>
      <p:sp>
        <p:nvSpPr>
          <p:cNvPr id="64" name="Triangle isocèle 63">
            <a:extLst>
              <a:ext uri="{FF2B5EF4-FFF2-40B4-BE49-F238E27FC236}">
                <a16:creationId xmlns:a16="http://schemas.microsoft.com/office/drawing/2014/main" id="{3B15B489-672A-9A8E-F738-9447071A9C29}"/>
              </a:ext>
            </a:extLst>
          </p:cNvPr>
          <p:cNvSpPr/>
          <p:nvPr/>
        </p:nvSpPr>
        <p:spPr bwMode="gray">
          <a:xfrm rot="5400000">
            <a:off x="7786877" y="4149319"/>
            <a:ext cx="1060704" cy="99010"/>
          </a:xfrm>
          <a:prstGeom prst="triangle">
            <a:avLst/>
          </a:prstGeom>
          <a:solidFill>
            <a:srgbClr val="0070C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fr-FR" sz="1600" dirty="0">
              <a:solidFill>
                <a:schemeClr val="tx1"/>
              </a:solidFill>
            </a:endParaRPr>
          </a:p>
        </p:txBody>
      </p:sp>
      <p:sp>
        <p:nvSpPr>
          <p:cNvPr id="5" name="Rectangle 4">
            <a:extLst>
              <a:ext uri="{FF2B5EF4-FFF2-40B4-BE49-F238E27FC236}">
                <a16:creationId xmlns:a16="http://schemas.microsoft.com/office/drawing/2014/main" id="{DF74AC95-1A60-F3C3-08FA-5B2FE278B22E}"/>
              </a:ext>
            </a:extLst>
          </p:cNvPr>
          <p:cNvSpPr/>
          <p:nvPr/>
        </p:nvSpPr>
        <p:spPr bwMode="gray">
          <a:xfrm>
            <a:off x="0" y="916420"/>
            <a:ext cx="12191999" cy="684431"/>
          </a:xfrm>
          <a:prstGeom prst="rect">
            <a:avLst/>
          </a:prstGeom>
          <a:solidFill>
            <a:srgbClr val="CCECFF"/>
          </a:solidFill>
          <a:ln w="6350" cap="flat" cmpd="sng" algn="ctr">
            <a:noFill/>
            <a:prstDash val="solid"/>
            <a:miter lim="800000"/>
          </a:ln>
          <a:effectLst/>
        </p:spPr>
        <p:txBody>
          <a:bodyPr rtlCol="0" anchor="ctr"/>
          <a:lstStyle/>
          <a:p>
            <a:pPr marL="0" marR="0" lvl="0" indent="0" defTabSz="914400" eaLnBrk="1" fontAlgn="auto" latinLnBrk="0" hangingPunct="1">
              <a:lnSpc>
                <a:spcPct val="110000"/>
              </a:lnSpc>
              <a:spcBef>
                <a:spcPts val="0"/>
              </a:spcBef>
              <a:spcAft>
                <a:spcPts val="0"/>
              </a:spcAft>
              <a:buClrTx/>
              <a:buSzTx/>
              <a:buFontTx/>
              <a:buNone/>
              <a:tabLst/>
              <a:defRPr/>
            </a:pPr>
            <a:r>
              <a:rPr kumimoji="0" lang="en-GB" sz="1600" b="0" i="1" u="none" strike="noStrike" kern="0" cap="none" spc="0" normalizeH="0" baseline="0" noProof="0" dirty="0">
                <a:ln>
                  <a:noFill/>
                </a:ln>
                <a:effectLst/>
                <a:uLnTx/>
                <a:uFillTx/>
                <a:latin typeface="+mj-lt"/>
              </a:rPr>
              <a:t>In order to ensure the synergies identified in the M&amp;A phase, it’s important to launch a detailed synergies analysis and validation to build a synergy plan that take into consideration dependencies, IT development costs, TSA disentanglement and timeline in an iterative approach.</a:t>
            </a:r>
          </a:p>
        </p:txBody>
      </p:sp>
      <p:grpSp>
        <p:nvGrpSpPr>
          <p:cNvPr id="9" name="Groupe 1">
            <a:extLst>
              <a:ext uri="{FF2B5EF4-FFF2-40B4-BE49-F238E27FC236}">
                <a16:creationId xmlns:a16="http://schemas.microsoft.com/office/drawing/2014/main" id="{01D14E49-45BA-0DEF-FD1F-6F1885F23BA2}"/>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10" name="Freeform 13">
              <a:extLst>
                <a:ext uri="{FF2B5EF4-FFF2-40B4-BE49-F238E27FC236}">
                  <a16:creationId xmlns:a16="http://schemas.microsoft.com/office/drawing/2014/main" id="{B6E7A44F-747E-B1B8-EB2C-1C0505255511}"/>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11" name="Freeform 14">
              <a:extLst>
                <a:ext uri="{FF2B5EF4-FFF2-40B4-BE49-F238E27FC236}">
                  <a16:creationId xmlns:a16="http://schemas.microsoft.com/office/drawing/2014/main" id="{A27176FF-4F5C-E6CB-5EEB-463DCDCAB69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4" name="Foliennummernplatzhalter 5">
            <a:extLst>
              <a:ext uri="{FF2B5EF4-FFF2-40B4-BE49-F238E27FC236}">
                <a16:creationId xmlns:a16="http://schemas.microsoft.com/office/drawing/2014/main" id="{042A17BD-E360-CC6E-6042-41311CEAFE73}"/>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6</a:t>
            </a:fld>
            <a:endParaRPr lang="en-US"/>
          </a:p>
        </p:txBody>
      </p:sp>
      <p:sp>
        <p:nvSpPr>
          <p:cNvPr id="12" name="Rectangle 27">
            <a:extLst>
              <a:ext uri="{FF2B5EF4-FFF2-40B4-BE49-F238E27FC236}">
                <a16:creationId xmlns:a16="http://schemas.microsoft.com/office/drawing/2014/main" id="{84762EF1-3E7A-5B27-7AA7-77AC5CB8DBB8}"/>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13" name="TextBox 12">
            <a:extLst>
              <a:ext uri="{FF2B5EF4-FFF2-40B4-BE49-F238E27FC236}">
                <a16:creationId xmlns:a16="http://schemas.microsoft.com/office/drawing/2014/main" id="{C04CD73E-556E-4D1C-119E-98624E1E4845}"/>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extLst>
      <p:ext uri="{BB962C8B-B14F-4D97-AF65-F5344CB8AC3E}">
        <p14:creationId xmlns:p14="http://schemas.microsoft.com/office/powerpoint/2010/main" val="106486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7A522DD-74F9-79A2-AE81-E03CF7195735}"/>
              </a:ext>
            </a:extLst>
          </p:cNvPr>
          <p:cNvSpPr txBox="1"/>
          <p:nvPr/>
        </p:nvSpPr>
        <p:spPr>
          <a:xfrm>
            <a:off x="1296909" y="317289"/>
            <a:ext cx="7990033" cy="457684"/>
          </a:xfrm>
          <a:prstGeom prst="rect">
            <a:avLst/>
          </a:prstGeom>
          <a:noFill/>
          <a:ln>
            <a:noFill/>
          </a:ln>
        </p:spPr>
        <p:txBody>
          <a:bodyPr vert="horz" wrap="square" lIns="91440" tIns="45720" rIns="91440" bIns="45720" anchor="t" anchorCtr="0" compatLnSpc="1">
            <a:noAutofit/>
          </a:bodyPr>
          <a:lstStyle/>
          <a:p>
            <a:pPr marL="0" marR="0" lvl="0" indent="0" fontAlgn="auto">
              <a:spcBef>
                <a:spcPct val="0"/>
              </a:spcBef>
              <a:spcAft>
                <a:spcPts val="600"/>
              </a:spcAft>
              <a:buClrTx/>
              <a:buSzTx/>
              <a:tabLst>
                <a:tab pos="1881185" algn="l"/>
              </a:tabLst>
              <a:defRPr sz="1800" b="0" i="0" u="none" strike="noStrike" kern="0" cap="none" spc="0" baseline="0">
                <a:solidFill>
                  <a:srgbClr val="000000"/>
                </a:solidFill>
                <a:uFillTx/>
              </a:defRPr>
            </a:pPr>
            <a:r>
              <a:rPr lang="en-GB" sz="2400" b="1" spc="-50" dirty="0">
                <a:latin typeface="+mj-lt"/>
                <a:ea typeface="+mj-ea"/>
                <a:cs typeface="+mj-cs"/>
              </a:rPr>
              <a:t>STREAM 2B | TSA MANAGEMENT &amp; DISENTANGLEMENT </a:t>
            </a:r>
          </a:p>
        </p:txBody>
      </p:sp>
      <p:sp>
        <p:nvSpPr>
          <p:cNvPr id="3" name="Rectangle 2">
            <a:extLst>
              <a:ext uri="{FF2B5EF4-FFF2-40B4-BE49-F238E27FC236}">
                <a16:creationId xmlns:a16="http://schemas.microsoft.com/office/drawing/2014/main" id="{6619BA84-78B6-CF60-7361-65A8ADB0A00D}"/>
              </a:ext>
            </a:extLst>
          </p:cNvPr>
          <p:cNvSpPr/>
          <p:nvPr/>
        </p:nvSpPr>
        <p:spPr bwMode="gray">
          <a:xfrm>
            <a:off x="360220" y="1237673"/>
            <a:ext cx="3694546" cy="4706449"/>
          </a:xfrm>
          <a:prstGeom prst="rect">
            <a:avLst/>
          </a:prstGeom>
          <a:solidFill>
            <a:schemeClr val="bg1"/>
          </a:solidFill>
          <a:ln w="6350">
            <a:solidFill>
              <a:srgbClr val="0070C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10000"/>
              </a:lnSpc>
            </a:pPr>
            <a:endParaRPr lang="fr-FR" sz="1600" dirty="0">
              <a:solidFill>
                <a:schemeClr val="tx1"/>
              </a:solidFill>
            </a:endParaRPr>
          </a:p>
        </p:txBody>
      </p:sp>
      <p:sp>
        <p:nvSpPr>
          <p:cNvPr id="4" name="Rectangle 3">
            <a:extLst>
              <a:ext uri="{FF2B5EF4-FFF2-40B4-BE49-F238E27FC236}">
                <a16:creationId xmlns:a16="http://schemas.microsoft.com/office/drawing/2014/main" id="{C9D82E29-ADEF-0133-3542-80DB4C2423B4}"/>
              </a:ext>
            </a:extLst>
          </p:cNvPr>
          <p:cNvSpPr/>
          <p:nvPr/>
        </p:nvSpPr>
        <p:spPr bwMode="gray">
          <a:xfrm>
            <a:off x="4211783" y="1237673"/>
            <a:ext cx="3694546" cy="4706449"/>
          </a:xfrm>
          <a:prstGeom prst="rect">
            <a:avLst/>
          </a:prstGeom>
          <a:solidFill>
            <a:schemeClr val="bg1"/>
          </a:solidFill>
          <a:ln w="6350">
            <a:solidFill>
              <a:srgbClr val="0070C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10000"/>
              </a:lnSpc>
            </a:pPr>
            <a:endParaRPr lang="fr-FR" sz="1600" b="1" dirty="0">
              <a:solidFill>
                <a:schemeClr val="tx1"/>
              </a:solidFill>
            </a:endParaRPr>
          </a:p>
        </p:txBody>
      </p:sp>
      <p:sp>
        <p:nvSpPr>
          <p:cNvPr id="5" name="Rectangle 4">
            <a:extLst>
              <a:ext uri="{FF2B5EF4-FFF2-40B4-BE49-F238E27FC236}">
                <a16:creationId xmlns:a16="http://schemas.microsoft.com/office/drawing/2014/main" id="{4BAC186D-EE1A-F492-5A7D-C83BCBEDF10A}"/>
              </a:ext>
            </a:extLst>
          </p:cNvPr>
          <p:cNvSpPr/>
          <p:nvPr/>
        </p:nvSpPr>
        <p:spPr bwMode="gray">
          <a:xfrm>
            <a:off x="8044875" y="1237673"/>
            <a:ext cx="3694546" cy="4706449"/>
          </a:xfrm>
          <a:prstGeom prst="rect">
            <a:avLst/>
          </a:prstGeom>
          <a:solidFill>
            <a:schemeClr val="bg1"/>
          </a:solidFill>
          <a:ln w="6350">
            <a:solidFill>
              <a:srgbClr val="0070C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10000"/>
              </a:lnSpc>
            </a:pPr>
            <a:endParaRPr lang="fr-FR" sz="1600" b="1" dirty="0">
              <a:solidFill>
                <a:schemeClr val="tx1"/>
              </a:solidFill>
            </a:endParaRPr>
          </a:p>
        </p:txBody>
      </p:sp>
      <p:grpSp>
        <p:nvGrpSpPr>
          <p:cNvPr id="12" name="Groupe 11">
            <a:extLst>
              <a:ext uri="{FF2B5EF4-FFF2-40B4-BE49-F238E27FC236}">
                <a16:creationId xmlns:a16="http://schemas.microsoft.com/office/drawing/2014/main" id="{698E5FBF-C129-EBBA-598A-944791BC6A10}"/>
              </a:ext>
            </a:extLst>
          </p:cNvPr>
          <p:cNvGrpSpPr/>
          <p:nvPr/>
        </p:nvGrpSpPr>
        <p:grpSpPr>
          <a:xfrm>
            <a:off x="4065943" y="2134026"/>
            <a:ext cx="3840386" cy="3566348"/>
            <a:chOff x="150707" y="785628"/>
            <a:chExt cx="6243704" cy="5470386"/>
          </a:xfrm>
        </p:grpSpPr>
        <p:sp>
          <p:nvSpPr>
            <p:cNvPr id="6" name="Rectangle 20">
              <a:extLst>
                <a:ext uri="{FF2B5EF4-FFF2-40B4-BE49-F238E27FC236}">
                  <a16:creationId xmlns:a16="http://schemas.microsoft.com/office/drawing/2014/main" id="{6257CA6F-0A91-8A18-D747-7F8C92B53F4D}"/>
                </a:ext>
              </a:extLst>
            </p:cNvPr>
            <p:cNvSpPr>
              <a:spLocks noChangeArrowheads="1"/>
            </p:cNvSpPr>
            <p:nvPr/>
          </p:nvSpPr>
          <p:spPr bwMode="gray">
            <a:xfrm>
              <a:off x="150707" y="3924826"/>
              <a:ext cx="6006596" cy="2331188"/>
            </a:xfrm>
            <a:prstGeom prst="roundRect">
              <a:avLst>
                <a:gd name="adj" fmla="val 4564"/>
              </a:avLst>
            </a:prstGeom>
            <a:noFill/>
            <a:ln>
              <a:noFill/>
            </a:ln>
            <a:effectLst/>
          </p:spPr>
          <p:txBody>
            <a:bodyPr lIns="36000" tIns="108000" rIns="108000" bIns="108000" anchor="ctr"/>
            <a:lstStyle/>
            <a:p>
              <a:pPr marL="542925" marR="0" lvl="0" indent="-285750" algn="l" defTabSz="914400" rtl="0" eaLnBrk="1" fontAlgn="auto" latinLnBrk="0" hangingPunct="1">
                <a:lnSpc>
                  <a:spcPct val="100000"/>
                </a:lnSpc>
                <a:spcBef>
                  <a:spcPts val="0"/>
                </a:spcBef>
                <a:spcAft>
                  <a:spcPts val="0"/>
                </a:spcAft>
                <a:buClrTx/>
                <a:buSzTx/>
                <a:buFontTx/>
                <a:buChar char="-"/>
                <a:tabLst/>
                <a:defRPr/>
              </a:pPr>
              <a:endParaRPr kumimoji="0" lang="en-US" sz="1000" b="0" i="0" u="none" strike="noStrike" kern="1200" cap="none" spc="0" normalizeH="0" baseline="0" noProof="0" dirty="0">
                <a:ln>
                  <a:noFill/>
                </a:ln>
                <a:solidFill>
                  <a:prstClr val="black"/>
                </a:solidFill>
                <a:effectLst/>
                <a:uLnTx/>
                <a:uFillTx/>
                <a:latin typeface="Ubuntu"/>
                <a:ea typeface="+mn-ea"/>
                <a:cs typeface="+mn-cs"/>
              </a:endParaRPr>
            </a:p>
            <a:p>
              <a:pPr marL="542925" marR="0" lvl="0" indent="-285750" algn="l" defTabSz="914400" rtl="0" eaLnBrk="1" fontAlgn="auto" latinLnBrk="0" hangingPunct="1">
                <a:lnSpc>
                  <a:spcPct val="100000"/>
                </a:lnSpc>
                <a:spcBef>
                  <a:spcPts val="0"/>
                </a:spcBef>
                <a:spcAft>
                  <a:spcPts val="0"/>
                </a:spcAft>
                <a:buClrTx/>
                <a:buSzTx/>
                <a:buFontTx/>
                <a:buChar char="-"/>
                <a:tabLst/>
                <a:defRPr/>
              </a:pPr>
              <a:endParaRPr lang="en-US" sz="1000" dirty="0">
                <a:solidFill>
                  <a:prstClr val="black"/>
                </a:solidFill>
                <a:latin typeface="Ubuntu"/>
              </a:endParaRPr>
            </a:p>
            <a:p>
              <a:pPr marL="542925"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dirty="0">
                  <a:ln>
                    <a:noFill/>
                  </a:ln>
                  <a:solidFill>
                    <a:prstClr val="black"/>
                  </a:solidFill>
                  <a:effectLst/>
                  <a:uLnTx/>
                  <a:uFillTx/>
                  <a:latin typeface="Ubuntu"/>
                  <a:ea typeface="+mn-ea"/>
                  <a:cs typeface="+mn-cs"/>
                </a:rPr>
                <a:t>The </a:t>
              </a:r>
              <a:r>
                <a:rPr kumimoji="0" lang="en-US" sz="1000" b="1" i="0" u="none" strike="noStrike" kern="1200" cap="none" spc="0" normalizeH="0" baseline="0" noProof="0" dirty="0">
                  <a:ln>
                    <a:noFill/>
                  </a:ln>
                  <a:solidFill>
                    <a:prstClr val="black"/>
                  </a:solidFill>
                  <a:effectLst/>
                  <a:uLnTx/>
                  <a:uFillTx/>
                  <a:latin typeface="Ubuntu"/>
                  <a:ea typeface="+mn-ea"/>
                  <a:cs typeface="+mn-cs"/>
                </a:rPr>
                <a:t>bundling </a:t>
              </a:r>
              <a:r>
                <a:rPr kumimoji="0" lang="en-US" sz="1000" b="0" i="0" u="none" strike="noStrike" kern="1200" cap="none" spc="0" normalizeH="0" baseline="0" noProof="0" dirty="0">
                  <a:ln>
                    <a:noFill/>
                  </a:ln>
                  <a:solidFill>
                    <a:prstClr val="black"/>
                  </a:solidFill>
                  <a:effectLst/>
                  <a:uLnTx/>
                  <a:uFillTx/>
                  <a:latin typeface="Ubuntu"/>
                  <a:ea typeface="+mn-ea"/>
                  <a:cs typeface="+mn-cs"/>
                </a:rPr>
                <a:t>of TSA are never the </a:t>
              </a:r>
              <a:r>
                <a:rPr kumimoji="0" lang="en-US" sz="1000" b="1" i="0" u="none" strike="noStrike" kern="1200" cap="none" spc="0" normalizeH="0" baseline="0" noProof="0" dirty="0">
                  <a:ln>
                    <a:noFill/>
                  </a:ln>
                  <a:solidFill>
                    <a:prstClr val="black"/>
                  </a:solidFill>
                  <a:effectLst/>
                  <a:uLnTx/>
                  <a:uFillTx/>
                  <a:latin typeface="Ubuntu"/>
                  <a:ea typeface="+mn-ea"/>
                  <a:cs typeface="+mn-cs"/>
                </a:rPr>
                <a:t>technical optimum </a:t>
              </a:r>
              <a:r>
                <a:rPr kumimoji="0" lang="en-US" sz="1000" b="0" i="0" u="none" strike="noStrike" kern="1200" cap="none" spc="0" normalizeH="0" baseline="0" noProof="0" dirty="0">
                  <a:ln>
                    <a:noFill/>
                  </a:ln>
                  <a:solidFill>
                    <a:prstClr val="black"/>
                  </a:solidFill>
                  <a:effectLst/>
                  <a:uLnTx/>
                  <a:uFillTx/>
                  <a:latin typeface="Ubuntu"/>
                  <a:ea typeface="+mn-ea"/>
                  <a:cs typeface="+mn-cs"/>
                </a:rPr>
                <a:t>by Apps, Servers &amp; FTEs to transfer</a:t>
              </a:r>
            </a:p>
            <a:p>
              <a:pPr marL="542925"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dirty="0">
                  <a:ln>
                    <a:noFill/>
                  </a:ln>
                  <a:solidFill>
                    <a:prstClr val="black"/>
                  </a:solidFill>
                  <a:effectLst/>
                  <a:uLnTx/>
                  <a:uFillTx/>
                  <a:latin typeface="Ubuntu"/>
                  <a:ea typeface="+mn-ea"/>
                  <a:cs typeface="+mn-cs"/>
                </a:rPr>
                <a:t>Whereas </a:t>
              </a:r>
              <a:r>
                <a:rPr kumimoji="0" lang="en-US" sz="1000" b="1" i="0" u="none" strike="noStrike" kern="1200" cap="none" spc="0" normalizeH="0" baseline="0" noProof="0" dirty="0">
                  <a:ln>
                    <a:noFill/>
                  </a:ln>
                  <a:solidFill>
                    <a:prstClr val="black"/>
                  </a:solidFill>
                  <a:effectLst/>
                  <a:uLnTx/>
                  <a:uFillTx/>
                  <a:latin typeface="Ubuntu"/>
                  <a:ea typeface="+mn-ea"/>
                  <a:cs typeface="+mn-cs"/>
                </a:rPr>
                <a:t>transparency </a:t>
              </a:r>
              <a:r>
                <a:rPr kumimoji="0" lang="en-US" sz="1000" b="0" i="0" u="none" strike="noStrike" kern="1200" cap="none" spc="0" normalizeH="0" baseline="0" noProof="0" dirty="0">
                  <a:ln>
                    <a:noFill/>
                  </a:ln>
                  <a:solidFill>
                    <a:prstClr val="black"/>
                  </a:solidFill>
                  <a:effectLst/>
                  <a:uLnTx/>
                  <a:uFillTx/>
                  <a:latin typeface="Ubuntu"/>
                  <a:ea typeface="+mn-ea"/>
                  <a:cs typeface="+mn-cs"/>
                </a:rPr>
                <a:t>is the rule in </a:t>
              </a:r>
              <a:r>
                <a:rPr kumimoji="0" lang="en-US" sz="1000" b="1" i="0" u="none" strike="noStrike" kern="1200" cap="none" spc="0" normalizeH="0" baseline="0" noProof="0" dirty="0">
                  <a:ln>
                    <a:noFill/>
                  </a:ln>
                  <a:solidFill>
                    <a:prstClr val="black"/>
                  </a:solidFill>
                  <a:effectLst/>
                  <a:uLnTx/>
                  <a:uFillTx/>
                  <a:latin typeface="Ubuntu"/>
                  <a:ea typeface="+mn-ea"/>
                  <a:cs typeface="+mn-cs"/>
                </a:rPr>
                <a:t>90% </a:t>
              </a:r>
              <a:r>
                <a:rPr kumimoji="0" lang="en-US" sz="1000" b="0" i="0" u="none" strike="noStrike" kern="1200" cap="none" spc="0" normalizeH="0" baseline="0" noProof="0" dirty="0">
                  <a:ln>
                    <a:noFill/>
                  </a:ln>
                  <a:solidFill>
                    <a:prstClr val="black"/>
                  </a:solidFill>
                  <a:effectLst/>
                  <a:uLnTx/>
                  <a:uFillTx/>
                  <a:latin typeface="Ubuntu"/>
                  <a:ea typeface="+mn-ea"/>
                  <a:cs typeface="+mn-cs"/>
                </a:rPr>
                <a:t>of the TSA, the Seller never </a:t>
              </a:r>
              <a:r>
                <a:rPr kumimoji="0" lang="en-US" sz="1000" b="1" i="0" u="none" strike="noStrike" kern="1200" cap="none" spc="0" normalizeH="0" baseline="0" noProof="0" dirty="0">
                  <a:ln>
                    <a:noFill/>
                  </a:ln>
                  <a:solidFill>
                    <a:prstClr val="black"/>
                  </a:solidFill>
                  <a:effectLst/>
                  <a:uLnTx/>
                  <a:uFillTx/>
                  <a:latin typeface="Ubuntu"/>
                  <a:ea typeface="+mn-ea"/>
                  <a:cs typeface="+mn-cs"/>
                </a:rPr>
                <a:t>justify enough </a:t>
              </a:r>
              <a:r>
                <a:rPr kumimoji="0" lang="en-US" sz="1000" i="0" u="none" strike="noStrike" kern="1200" cap="none" spc="0" normalizeH="0" baseline="0" noProof="0" dirty="0">
                  <a:ln>
                    <a:noFill/>
                  </a:ln>
                  <a:solidFill>
                    <a:prstClr val="black"/>
                  </a:solidFill>
                  <a:effectLst/>
                  <a:uLnTx/>
                  <a:uFillTx/>
                  <a:latin typeface="Ubuntu"/>
                  <a:ea typeface="+mn-ea"/>
                  <a:cs typeface="+mn-cs"/>
                </a:rPr>
                <a:t>the </a:t>
              </a:r>
              <a:r>
                <a:rPr kumimoji="0" lang="en-US" sz="1000" b="1" i="0" u="none" strike="noStrike" kern="1200" cap="none" spc="0" normalizeH="0" baseline="0" noProof="0" dirty="0">
                  <a:ln>
                    <a:noFill/>
                  </a:ln>
                  <a:solidFill>
                    <a:prstClr val="black"/>
                  </a:solidFill>
                  <a:effectLst/>
                  <a:uLnTx/>
                  <a:uFillTx/>
                  <a:latin typeface="Ubuntu"/>
                  <a:ea typeface="+mn-ea"/>
                  <a:cs typeface="+mn-cs"/>
                </a:rPr>
                <a:t>costs </a:t>
              </a:r>
              <a:r>
                <a:rPr kumimoji="0" lang="en-US" sz="1000" b="0" i="0" u="none" strike="noStrike" kern="1200" cap="none" spc="0" normalizeH="0" baseline="0" noProof="0" dirty="0">
                  <a:ln>
                    <a:noFill/>
                  </a:ln>
                  <a:solidFill>
                    <a:prstClr val="black"/>
                  </a:solidFill>
                  <a:effectLst/>
                  <a:uLnTx/>
                  <a:uFillTx/>
                  <a:latin typeface="Ubuntu"/>
                  <a:ea typeface="+mn-ea"/>
                  <a:cs typeface="+mn-cs"/>
                </a:rPr>
                <a:t>of TSA; and the Buyer always consider it as </a:t>
              </a:r>
              <a:r>
                <a:rPr kumimoji="0" lang="en-US" sz="1000" b="1" i="0" u="none" strike="noStrike" kern="1200" cap="none" spc="0" normalizeH="0" baseline="0" noProof="0" dirty="0">
                  <a:ln>
                    <a:noFill/>
                  </a:ln>
                  <a:solidFill>
                    <a:prstClr val="black"/>
                  </a:solidFill>
                  <a:effectLst/>
                  <a:uLnTx/>
                  <a:uFillTx/>
                  <a:latin typeface="Ubuntu"/>
                  <a:ea typeface="+mn-ea"/>
                  <a:cs typeface="+mn-cs"/>
                </a:rPr>
                <a:t>too expensive </a:t>
              </a:r>
              <a:r>
                <a:rPr kumimoji="0" lang="en-US" sz="1000" b="0" i="0" u="none" strike="noStrike" kern="1200" cap="none" spc="0" normalizeH="0" baseline="0" noProof="0" dirty="0">
                  <a:ln>
                    <a:noFill/>
                  </a:ln>
                  <a:solidFill>
                    <a:prstClr val="black"/>
                  </a:solidFill>
                  <a:effectLst/>
                  <a:uLnTx/>
                  <a:uFillTx/>
                  <a:latin typeface="Ubuntu"/>
                  <a:ea typeface="+mn-ea"/>
                  <a:cs typeface="+mn-cs"/>
                </a:rPr>
                <a:t>for IT services provided. </a:t>
              </a:r>
              <a:br>
                <a:rPr kumimoji="0" lang="en-US" sz="1000" b="0" i="0" u="none" strike="noStrike" kern="1200" cap="none" spc="0" normalizeH="0" baseline="0" noProof="0" dirty="0">
                  <a:ln>
                    <a:noFill/>
                  </a:ln>
                  <a:solidFill>
                    <a:prstClr val="black"/>
                  </a:solidFill>
                  <a:effectLst/>
                  <a:uLnTx/>
                  <a:uFillTx/>
                  <a:latin typeface="Ubuntu"/>
                  <a:ea typeface="+mn-ea"/>
                  <a:cs typeface="+mn-cs"/>
                </a:rPr>
              </a:br>
              <a:r>
                <a:rPr kumimoji="0" lang="en-US" sz="1000" b="0" i="1" u="none" strike="noStrike" kern="1200" cap="none" spc="0" normalizeH="0" baseline="0" noProof="0" dirty="0">
                  <a:ln>
                    <a:noFill/>
                  </a:ln>
                  <a:solidFill>
                    <a:prstClr val="black"/>
                  </a:solidFill>
                  <a:effectLst/>
                  <a:uLnTx/>
                  <a:uFillTx/>
                  <a:latin typeface="Ubuntu"/>
                  <a:ea typeface="+mn-ea"/>
                  <a:cs typeface="+mn-cs"/>
                </a:rPr>
                <a:t>It’s quickly a source of dispute / tensions</a:t>
              </a:r>
            </a:p>
            <a:p>
              <a:pPr marL="542925"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dirty="0">
                  <a:ln>
                    <a:noFill/>
                  </a:ln>
                  <a:solidFill>
                    <a:prstClr val="black"/>
                  </a:solidFill>
                  <a:effectLst/>
                  <a:uLnTx/>
                  <a:uFillTx/>
                  <a:latin typeface="Ubuntu"/>
                  <a:ea typeface="+mn-ea"/>
                  <a:cs typeface="+mn-cs"/>
                </a:rPr>
                <a:t>Small remaining pieces prevent to exit completely from one </a:t>
              </a:r>
              <a:r>
                <a:rPr kumimoji="0" lang="en-US" sz="1000" b="1" i="0" u="none" strike="noStrike" kern="1200" cap="none" spc="0" normalizeH="0" baseline="0" noProof="0" dirty="0">
                  <a:ln>
                    <a:noFill/>
                  </a:ln>
                  <a:solidFill>
                    <a:prstClr val="black"/>
                  </a:solidFill>
                  <a:effectLst/>
                  <a:uLnTx/>
                  <a:uFillTx/>
                  <a:latin typeface="Ubuntu"/>
                  <a:ea typeface="+mn-ea"/>
                  <a:cs typeface="+mn-cs"/>
                </a:rPr>
                <a:t>whole IT service </a:t>
              </a:r>
              <a:r>
                <a:rPr kumimoji="0" lang="en-US" sz="1000" b="0" i="0" u="none" strike="noStrike" kern="1200" cap="none" spc="0" normalizeH="0" baseline="0" noProof="0" dirty="0">
                  <a:ln>
                    <a:noFill/>
                  </a:ln>
                  <a:solidFill>
                    <a:prstClr val="black"/>
                  </a:solidFill>
                  <a:effectLst/>
                  <a:uLnTx/>
                  <a:uFillTx/>
                  <a:latin typeface="Ubuntu"/>
                  <a:ea typeface="+mn-ea"/>
                  <a:cs typeface="+mn-cs"/>
                </a:rPr>
                <a:t>letting significant costs to pay as the Seller cannot decommission it fully</a:t>
              </a:r>
            </a:p>
          </p:txBody>
        </p:sp>
        <p:pic>
          <p:nvPicPr>
            <p:cNvPr id="7" name="Image 6" descr="Une image contenant symbole&#10;&#10;Description générée automatiquement">
              <a:extLst>
                <a:ext uri="{FF2B5EF4-FFF2-40B4-BE49-F238E27FC236}">
                  <a16:creationId xmlns:a16="http://schemas.microsoft.com/office/drawing/2014/main" id="{74DF480B-65CA-66F2-2D5B-09EA1C10BCA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33863"/>
            <a:stretch/>
          </p:blipFill>
          <p:spPr>
            <a:xfrm>
              <a:off x="387338" y="1042669"/>
              <a:ext cx="842815" cy="786946"/>
            </a:xfrm>
            <a:prstGeom prst="rect">
              <a:avLst/>
            </a:prstGeom>
          </p:spPr>
        </p:pic>
        <p:sp>
          <p:nvSpPr>
            <p:cNvPr id="8" name="Rectangle 20">
              <a:extLst>
                <a:ext uri="{FF2B5EF4-FFF2-40B4-BE49-F238E27FC236}">
                  <a16:creationId xmlns:a16="http://schemas.microsoft.com/office/drawing/2014/main" id="{02CC9763-4B32-3DB5-B25A-0FB680555EA6}"/>
                </a:ext>
              </a:extLst>
            </p:cNvPr>
            <p:cNvSpPr>
              <a:spLocks noChangeArrowheads="1"/>
            </p:cNvSpPr>
            <p:nvPr/>
          </p:nvSpPr>
          <p:spPr bwMode="gray">
            <a:xfrm>
              <a:off x="757078" y="1469049"/>
              <a:ext cx="5420195" cy="2198341"/>
            </a:xfrm>
            <a:prstGeom prst="roundRect">
              <a:avLst>
                <a:gd name="adj" fmla="val 4564"/>
              </a:avLst>
            </a:prstGeom>
            <a:noFill/>
            <a:ln>
              <a:noFill/>
            </a:ln>
            <a:effectLst/>
          </p:spPr>
          <p:txBody>
            <a:bodyPr lIns="36000" tIns="108000" rIns="108000" bIns="108000" anchor="ctr"/>
            <a:lstStyle/>
            <a:p>
              <a:pPr marL="542925"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dirty="0">
                  <a:ln>
                    <a:noFill/>
                  </a:ln>
                  <a:solidFill>
                    <a:prstClr val="black"/>
                  </a:solidFill>
                  <a:effectLst/>
                  <a:uLnTx/>
                  <a:uFillTx/>
                  <a:latin typeface="Ubuntu"/>
                  <a:ea typeface="+mn-ea"/>
                  <a:cs typeface="+mn-cs"/>
                </a:rPr>
                <a:t>The </a:t>
              </a:r>
              <a:r>
                <a:rPr kumimoji="0" lang="en-US" sz="1000" b="1" i="0" u="none" strike="noStrike" kern="1200" cap="none" spc="0" normalizeH="0" baseline="0" noProof="0" dirty="0">
                  <a:ln>
                    <a:noFill/>
                  </a:ln>
                  <a:solidFill>
                    <a:prstClr val="black"/>
                  </a:solidFill>
                  <a:effectLst/>
                  <a:uLnTx/>
                  <a:uFillTx/>
                  <a:latin typeface="Ubuntu"/>
                  <a:ea typeface="+mn-ea"/>
                  <a:cs typeface="+mn-cs"/>
                </a:rPr>
                <a:t>structure </a:t>
              </a:r>
              <a:r>
                <a:rPr kumimoji="0" lang="en-US" sz="1000" b="0" i="0" u="none" strike="noStrike" kern="1200" cap="none" spc="0" normalizeH="0" baseline="0" noProof="0" dirty="0">
                  <a:ln>
                    <a:noFill/>
                  </a:ln>
                  <a:solidFill>
                    <a:prstClr val="black"/>
                  </a:solidFill>
                  <a:effectLst/>
                  <a:uLnTx/>
                  <a:uFillTx/>
                  <a:latin typeface="Ubuntu"/>
                  <a:ea typeface="+mn-ea"/>
                  <a:cs typeface="+mn-cs"/>
                </a:rPr>
                <a:t>of the contract (by IT Services or by site, </a:t>
              </a:r>
              <a:r>
                <a:rPr kumimoji="0" lang="en-US" sz="1000" b="0" i="0" u="none" strike="noStrike" kern="1200" cap="none" spc="0" normalizeH="0" baseline="0" noProof="0" dirty="0" err="1">
                  <a:ln>
                    <a:noFill/>
                  </a:ln>
                  <a:solidFill>
                    <a:prstClr val="black"/>
                  </a:solidFill>
                  <a:effectLst/>
                  <a:uLnTx/>
                  <a:uFillTx/>
                  <a:latin typeface="Ubuntu"/>
                  <a:ea typeface="+mn-ea"/>
                  <a:cs typeface="+mn-cs"/>
                </a:rPr>
                <a:t>etc</a:t>
              </a:r>
              <a:r>
                <a:rPr kumimoji="0" lang="en-US" sz="1000" b="0" i="0" u="none" strike="noStrike" kern="1200" cap="none" spc="0" normalizeH="0" baseline="0" noProof="0" dirty="0">
                  <a:ln>
                    <a:noFill/>
                  </a:ln>
                  <a:solidFill>
                    <a:prstClr val="black"/>
                  </a:solidFill>
                  <a:effectLst/>
                  <a:uLnTx/>
                  <a:uFillTx/>
                  <a:latin typeface="Ubuntu"/>
                  <a:ea typeface="+mn-ea"/>
                  <a:cs typeface="+mn-cs"/>
                </a:rPr>
                <a:t>) </a:t>
              </a:r>
              <a:r>
                <a:rPr kumimoji="0" lang="en-US" sz="1000" b="1" i="0" u="none" strike="noStrike" kern="1200" cap="none" spc="0" normalizeH="0" baseline="0" noProof="0" dirty="0">
                  <a:ln>
                    <a:noFill/>
                  </a:ln>
                  <a:solidFill>
                    <a:prstClr val="black"/>
                  </a:solidFill>
                  <a:effectLst/>
                  <a:uLnTx/>
                  <a:uFillTx/>
                  <a:latin typeface="Ubuntu"/>
                  <a:ea typeface="+mn-ea"/>
                  <a:cs typeface="+mn-cs"/>
                </a:rPr>
                <a:t>drives the exit plan</a:t>
              </a:r>
            </a:p>
            <a:p>
              <a:pPr marL="542925"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dirty="0">
                  <a:ln>
                    <a:noFill/>
                  </a:ln>
                  <a:solidFill>
                    <a:prstClr val="black"/>
                  </a:solidFill>
                  <a:effectLst/>
                  <a:uLnTx/>
                  <a:uFillTx/>
                  <a:latin typeface="Ubuntu"/>
                  <a:ea typeface="+mn-ea"/>
                  <a:cs typeface="+mn-cs"/>
                </a:rPr>
                <a:t>All precedent conditions to exit any service are the </a:t>
              </a:r>
              <a:r>
                <a:rPr kumimoji="0" lang="en-US" sz="1000" b="1" i="0" u="none" strike="noStrike" kern="1200" cap="none" spc="0" normalizeH="0" baseline="0" noProof="0" dirty="0">
                  <a:ln>
                    <a:noFill/>
                  </a:ln>
                  <a:solidFill>
                    <a:prstClr val="black"/>
                  </a:solidFill>
                  <a:effectLst/>
                  <a:uLnTx/>
                  <a:uFillTx/>
                  <a:latin typeface="Ubuntu"/>
                  <a:ea typeface="+mn-ea"/>
                  <a:cs typeface="+mn-cs"/>
                </a:rPr>
                <a:t>checklist </a:t>
              </a:r>
              <a:r>
                <a:rPr kumimoji="0" lang="en-US" sz="1000" b="0" i="0" u="none" strike="noStrike" kern="1200" cap="none" spc="0" normalizeH="0" baseline="0" noProof="0" dirty="0">
                  <a:ln>
                    <a:noFill/>
                  </a:ln>
                  <a:solidFill>
                    <a:prstClr val="black"/>
                  </a:solidFill>
                  <a:effectLst/>
                  <a:uLnTx/>
                  <a:uFillTx/>
                  <a:latin typeface="Ubuntu"/>
                  <a:ea typeface="+mn-ea"/>
                  <a:cs typeface="+mn-cs"/>
                </a:rPr>
                <a:t>to manage: source, KM, Open Incidents and Problems, </a:t>
              </a:r>
              <a:r>
                <a:rPr kumimoji="0" lang="en-US" sz="1000" b="0" i="0" u="none" strike="noStrike" kern="1200" cap="none" spc="0" normalizeH="0" baseline="0" noProof="0" dirty="0" err="1">
                  <a:ln>
                    <a:noFill/>
                  </a:ln>
                  <a:solidFill>
                    <a:prstClr val="black"/>
                  </a:solidFill>
                  <a:effectLst/>
                  <a:uLnTx/>
                  <a:uFillTx/>
                  <a:latin typeface="Ubuntu"/>
                  <a:ea typeface="+mn-ea"/>
                  <a:cs typeface="+mn-cs"/>
                </a:rPr>
                <a:t>etc</a:t>
              </a:r>
              <a:endParaRPr kumimoji="0" lang="en-US" sz="1000" b="0" i="0" u="none" strike="noStrike" kern="1200" cap="none" spc="0" normalizeH="0" baseline="0" noProof="0" dirty="0">
                <a:ln>
                  <a:noFill/>
                </a:ln>
                <a:solidFill>
                  <a:prstClr val="black"/>
                </a:solidFill>
                <a:effectLst/>
                <a:uLnTx/>
                <a:uFillTx/>
                <a:latin typeface="Ubuntu"/>
                <a:ea typeface="+mn-ea"/>
                <a:cs typeface="+mn-cs"/>
              </a:endParaRPr>
            </a:p>
            <a:p>
              <a:pPr marL="542925"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dirty="0">
                  <a:ln>
                    <a:noFill/>
                  </a:ln>
                  <a:solidFill>
                    <a:prstClr val="black"/>
                  </a:solidFill>
                  <a:effectLst/>
                  <a:uLnTx/>
                  <a:uFillTx/>
                  <a:latin typeface="Ubuntu"/>
                  <a:ea typeface="+mn-ea"/>
                  <a:cs typeface="+mn-cs"/>
                </a:rPr>
                <a:t>Close </a:t>
              </a:r>
              <a:r>
                <a:rPr kumimoji="0" lang="en-US" sz="1000" b="1" i="0" u="none" strike="noStrike" kern="1200" cap="none" spc="0" normalizeH="0" baseline="0" noProof="0" dirty="0">
                  <a:ln>
                    <a:noFill/>
                  </a:ln>
                  <a:solidFill>
                    <a:prstClr val="black"/>
                  </a:solidFill>
                  <a:effectLst/>
                  <a:uLnTx/>
                  <a:uFillTx/>
                  <a:latin typeface="Ubuntu"/>
                  <a:ea typeface="+mn-ea"/>
                  <a:cs typeface="+mn-cs"/>
                </a:rPr>
                <a:t>monitoring of costs </a:t>
              </a:r>
              <a:r>
                <a:rPr kumimoji="0" lang="en-US" sz="1000" b="0" i="0" u="none" strike="noStrike" kern="1200" cap="none" spc="0" normalizeH="0" baseline="0" noProof="0" dirty="0">
                  <a:ln>
                    <a:noFill/>
                  </a:ln>
                  <a:solidFill>
                    <a:prstClr val="black"/>
                  </a:solidFill>
                  <a:effectLst/>
                  <a:uLnTx/>
                  <a:uFillTx/>
                  <a:latin typeface="Ubuntu"/>
                  <a:ea typeface="+mn-ea"/>
                  <a:cs typeface="+mn-cs"/>
                </a:rPr>
                <a:t>and effectiveness of services save a lot of money: TSA costs is not a fixed fee to be paid by the buyer</a:t>
              </a:r>
            </a:p>
            <a:p>
              <a:pPr marL="542925"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dirty="0">
                  <a:ln>
                    <a:noFill/>
                  </a:ln>
                  <a:solidFill>
                    <a:prstClr val="black"/>
                  </a:solidFill>
                  <a:effectLst/>
                  <a:uLnTx/>
                  <a:uFillTx/>
                  <a:latin typeface="Ubuntu"/>
                  <a:ea typeface="+mn-ea"/>
                  <a:cs typeface="+mn-cs"/>
                </a:rPr>
                <a:t>No TSA exit on-time without a </a:t>
              </a:r>
              <a:r>
                <a:rPr kumimoji="0" lang="en-US" sz="1000" b="1" i="0" u="none" strike="noStrike" kern="1200" cap="none" spc="0" normalizeH="0" baseline="0" noProof="0" dirty="0">
                  <a:ln>
                    <a:noFill/>
                  </a:ln>
                  <a:solidFill>
                    <a:prstClr val="black"/>
                  </a:solidFill>
                  <a:effectLst/>
                  <a:uLnTx/>
                  <a:uFillTx/>
                  <a:latin typeface="Ubuntu"/>
                  <a:ea typeface="+mn-ea"/>
                  <a:cs typeface="+mn-cs"/>
                </a:rPr>
                <a:t>strong carve-out/in plan</a:t>
              </a:r>
              <a:endParaRPr kumimoji="0" lang="en-US" sz="1000" b="0" i="0" u="none" strike="noStrike" kern="1200" cap="none" spc="0" normalizeH="0" baseline="0" noProof="0" dirty="0">
                <a:ln>
                  <a:noFill/>
                </a:ln>
                <a:solidFill>
                  <a:prstClr val="black"/>
                </a:solidFill>
                <a:effectLst/>
                <a:uLnTx/>
                <a:uFillTx/>
                <a:latin typeface="Ubuntu"/>
                <a:ea typeface="+mn-ea"/>
                <a:cs typeface="+mn-cs"/>
              </a:endParaRPr>
            </a:p>
          </p:txBody>
        </p:sp>
        <p:sp>
          <p:nvSpPr>
            <p:cNvPr id="9" name="TextBox 13">
              <a:extLst>
                <a:ext uri="{FF2B5EF4-FFF2-40B4-BE49-F238E27FC236}">
                  <a16:creationId xmlns:a16="http://schemas.microsoft.com/office/drawing/2014/main" id="{C0B1C067-6B82-4718-7719-5918498FFD08}"/>
                </a:ext>
              </a:extLst>
            </p:cNvPr>
            <p:cNvSpPr txBox="1"/>
            <p:nvPr/>
          </p:nvSpPr>
          <p:spPr>
            <a:xfrm>
              <a:off x="834072" y="785628"/>
              <a:ext cx="1152526" cy="4506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dirty="0">
                  <a:ln>
                    <a:noFill/>
                  </a:ln>
                  <a:solidFill>
                    <a:srgbClr val="0070AD"/>
                  </a:solidFill>
                  <a:effectLst/>
                  <a:uLnTx/>
                  <a:uFillTx/>
                  <a:latin typeface="Ubuntu"/>
                  <a:ea typeface="+mn-ea"/>
                  <a:cs typeface="+mn-cs"/>
                </a:rPr>
                <a:t>Do’s</a:t>
              </a:r>
            </a:p>
          </p:txBody>
        </p:sp>
        <p:sp>
          <p:nvSpPr>
            <p:cNvPr id="10" name="TextBox 14">
              <a:extLst>
                <a:ext uri="{FF2B5EF4-FFF2-40B4-BE49-F238E27FC236}">
                  <a16:creationId xmlns:a16="http://schemas.microsoft.com/office/drawing/2014/main" id="{9995AC09-6F36-A3E4-B854-8D8BEFEB2E23}"/>
                </a:ext>
              </a:extLst>
            </p:cNvPr>
            <p:cNvSpPr txBox="1"/>
            <p:nvPr/>
          </p:nvSpPr>
          <p:spPr>
            <a:xfrm>
              <a:off x="4645114" y="3603862"/>
              <a:ext cx="1183208" cy="4506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dirty="0">
                  <a:ln>
                    <a:noFill/>
                  </a:ln>
                  <a:solidFill>
                    <a:srgbClr val="2B0A3D">
                      <a:lumMod val="75000"/>
                      <a:lumOff val="25000"/>
                    </a:srgbClr>
                  </a:solidFill>
                  <a:effectLst/>
                  <a:uLnTx/>
                  <a:uFillTx/>
                  <a:latin typeface="Ubuntu"/>
                  <a:ea typeface="+mn-ea"/>
                  <a:cs typeface="+mn-cs"/>
                </a:rPr>
                <a:t>Don’t</a:t>
              </a:r>
            </a:p>
          </p:txBody>
        </p:sp>
        <p:pic>
          <p:nvPicPr>
            <p:cNvPr id="11" name="Image 10" descr="Une image contenant capture d’écran, cercle, Graphique, violet&#10;&#10;Description générée automatiquement">
              <a:extLst>
                <a:ext uri="{FF2B5EF4-FFF2-40B4-BE49-F238E27FC236}">
                  <a16:creationId xmlns:a16="http://schemas.microsoft.com/office/drawing/2014/main" id="{A713D494-4D30-C2C6-4769-D0E05C7901F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41874"/>
            <a:stretch/>
          </p:blipFill>
          <p:spPr>
            <a:xfrm>
              <a:off x="5615778" y="3770116"/>
              <a:ext cx="778633" cy="786946"/>
            </a:xfrm>
            <a:prstGeom prst="rect">
              <a:avLst/>
            </a:prstGeom>
          </p:spPr>
        </p:pic>
      </p:grpSp>
      <p:grpSp>
        <p:nvGrpSpPr>
          <p:cNvPr id="16" name="Group 15">
            <a:extLst>
              <a:ext uri="{FF2B5EF4-FFF2-40B4-BE49-F238E27FC236}">
                <a16:creationId xmlns:a16="http://schemas.microsoft.com/office/drawing/2014/main" id="{92DCFC70-C3BF-D508-368A-107E653D1CD6}"/>
              </a:ext>
            </a:extLst>
          </p:cNvPr>
          <p:cNvGrpSpPr/>
          <p:nvPr/>
        </p:nvGrpSpPr>
        <p:grpSpPr>
          <a:xfrm>
            <a:off x="8183313" y="1648784"/>
            <a:ext cx="3556403" cy="3971545"/>
            <a:chOff x="8183313" y="1648784"/>
            <a:chExt cx="3556403" cy="3100498"/>
          </a:xfrm>
        </p:grpSpPr>
        <p:sp>
          <p:nvSpPr>
            <p:cNvPr id="26" name="Round Same Side Corner Rectangle 18">
              <a:extLst>
                <a:ext uri="{FF2B5EF4-FFF2-40B4-BE49-F238E27FC236}">
                  <a16:creationId xmlns:a16="http://schemas.microsoft.com/office/drawing/2014/main" id="{422AC7DB-2347-BAA9-6565-5FA483803B60}"/>
                </a:ext>
              </a:extLst>
            </p:cNvPr>
            <p:cNvSpPr/>
            <p:nvPr/>
          </p:nvSpPr>
          <p:spPr bwMode="auto">
            <a:xfrm rot="16200000" flipH="1">
              <a:off x="7888057" y="1944043"/>
              <a:ext cx="848658" cy="258146"/>
            </a:xfrm>
            <a:prstGeom prst="round2SameRect">
              <a:avLst/>
            </a:prstGeom>
            <a:solidFill>
              <a:srgbClr val="0070AD">
                <a:lumMod val="75000"/>
              </a:srgbClr>
            </a:solidFill>
            <a:ln w="6350" cap="flat" cmpd="sng" algn="ctr">
              <a:noFill/>
              <a:prstDash val="solid"/>
              <a:round/>
              <a:headEnd type="none" w="med" len="med"/>
              <a:tailEnd type="none" w="med" len="med"/>
            </a:ln>
            <a:effectLst/>
          </p:spPr>
          <p:txBody>
            <a:bodyPr vert="vert" wrap="square" lIns="45720" tIns="45720" rIns="45720" bIns="45720" numCol="1" rtlCol="0" anchor="ctr" anchorCtr="1" compatLnSpc="1">
              <a:prstTxWarp prst="textNoShape">
                <a:avLst/>
              </a:prstTxWarp>
            </a:bodyPr>
            <a:lstStyle/>
            <a:p>
              <a:pPr marL="0" marR="0" lvl="0" indent="0" defTabSz="914400" eaLnBrk="0" fontAlgn="auto" latinLnBrk="0" hangingPunct="0">
                <a:lnSpc>
                  <a:spcPct val="100000"/>
                </a:lnSpc>
                <a:spcBef>
                  <a:spcPts val="200"/>
                </a:spcBef>
                <a:spcAft>
                  <a:spcPts val="200"/>
                </a:spcAft>
                <a:buClrTx/>
                <a:buSzTx/>
                <a:buFontTx/>
                <a:buNone/>
                <a:tabLst/>
                <a:defRPr/>
              </a:pPr>
              <a:r>
                <a:rPr kumimoji="0" lang="en-GB" sz="2400" b="0" i="0" u="none" strike="noStrike" kern="0" cap="none" spc="0" normalizeH="0" baseline="0" noProof="0">
                  <a:ln>
                    <a:noFill/>
                  </a:ln>
                  <a:solidFill>
                    <a:prstClr val="white"/>
                  </a:solidFill>
                  <a:effectLst/>
                  <a:uLnTx/>
                  <a:uFillTx/>
                  <a:latin typeface="Ubuntu Medium"/>
                </a:rPr>
                <a:t>1</a:t>
              </a:r>
            </a:p>
          </p:txBody>
        </p:sp>
        <p:sp>
          <p:nvSpPr>
            <p:cNvPr id="27" name="Rounded Rectangle 10">
              <a:extLst>
                <a:ext uri="{FF2B5EF4-FFF2-40B4-BE49-F238E27FC236}">
                  <a16:creationId xmlns:a16="http://schemas.microsoft.com/office/drawing/2014/main" id="{78E4CE25-84C1-F7B4-C1D6-47E4B7ED85BA}"/>
                </a:ext>
              </a:extLst>
            </p:cNvPr>
            <p:cNvSpPr/>
            <p:nvPr/>
          </p:nvSpPr>
          <p:spPr bwMode="auto">
            <a:xfrm>
              <a:off x="8429019" y="1648784"/>
              <a:ext cx="3310697" cy="848654"/>
            </a:xfrm>
            <a:prstGeom prst="rect">
              <a:avLst/>
            </a:prstGeom>
            <a:solidFill>
              <a:srgbClr val="FFFFFF">
                <a:lumMod val="95000"/>
              </a:srgbClr>
            </a:solidFill>
            <a:ln w="6350" cap="flat" cmpd="sng" algn="ctr">
              <a:noFill/>
              <a:prstDash val="sysDash"/>
              <a:round/>
              <a:headEnd type="none" w="med" len="med"/>
              <a:tailEnd type="none" w="med" len="med"/>
            </a:ln>
            <a:effectLst/>
          </p:spPr>
          <p:txBody>
            <a:bodyPr vert="horz" wrap="square" lIns="108000" tIns="72000" rIns="36000" bIns="36000" numCol="1" rtlCol="0" anchor="ctr" anchorCtr="0" compatLnSpc="1">
              <a:prstTxWarp prst="textNoShape">
                <a:avLst/>
              </a:prstTxWarp>
            </a:bodyPr>
            <a:lstStyle/>
            <a:p>
              <a:pPr marL="0" marR="0" lvl="0" indent="0" defTabSz="914400" eaLnBrk="0" fontAlgn="auto" latinLnBrk="0" hangingPunct="0">
                <a:lnSpc>
                  <a:spcPct val="100000"/>
                </a:lnSpc>
                <a:spcBef>
                  <a:spcPts val="200"/>
                </a:spcBef>
                <a:spcAft>
                  <a:spcPts val="200"/>
                </a:spcAft>
                <a:buClrTx/>
                <a:buSzTx/>
                <a:buFontTx/>
                <a:buNone/>
                <a:tabLst/>
                <a:defRPr/>
              </a:pPr>
              <a:r>
                <a:rPr kumimoji="0" lang="en-US" sz="1100" b="1" i="0" u="none" strike="noStrike" kern="0" cap="none" spc="0" normalizeH="0" baseline="0" noProof="0" dirty="0">
                  <a:ln>
                    <a:noFill/>
                  </a:ln>
                  <a:solidFill>
                    <a:prstClr val="black"/>
                  </a:solidFill>
                  <a:effectLst/>
                  <a:uLnTx/>
                  <a:uFillTx/>
                  <a:latin typeface="Ubuntu" panose="020B0504030602030204" pitchFamily="34" charset="0"/>
                </a:rPr>
                <a:t>TSA Maximum duration &amp; Notice periods</a:t>
              </a:r>
              <a:endParaRPr kumimoji="0" lang="en-GB" sz="1100" b="1" i="0" u="none" strike="noStrike" kern="0" cap="none" spc="0" normalizeH="0" baseline="0" noProof="0" dirty="0">
                <a:ln>
                  <a:noFill/>
                </a:ln>
                <a:solidFill>
                  <a:prstClr val="black"/>
                </a:solidFill>
                <a:effectLst/>
                <a:uLnTx/>
                <a:uFillTx/>
                <a:latin typeface="Ubuntu" panose="020B0504030602030204" pitchFamily="34" charset="0"/>
              </a:endParaRPr>
            </a:p>
            <a:p>
              <a:pPr marL="0" marR="0" lvl="0" indent="0" defTabSz="914400" eaLnBrk="1" fontAlgn="t" latinLnBrk="0" hangingPunct="1">
                <a:lnSpc>
                  <a:spcPct val="100000"/>
                </a:lnSpc>
                <a:spcBef>
                  <a:spcPts val="200"/>
                </a:spcBef>
                <a:spcAft>
                  <a:spcPts val="200"/>
                </a:spcAft>
                <a:buClr>
                  <a:srgbClr val="0070AD"/>
                </a:buClr>
                <a:buSzTx/>
                <a:buFontTx/>
                <a:buNone/>
                <a:tabLst/>
                <a:defRPr/>
              </a:pPr>
              <a:r>
                <a:rPr kumimoji="0" lang="en-US" sz="900" b="0" i="0" u="none" strike="noStrike" kern="0" cap="none" spc="0" normalizeH="0" baseline="0" noProof="0" dirty="0">
                  <a:ln>
                    <a:noFill/>
                  </a:ln>
                  <a:solidFill>
                    <a:prstClr val="black"/>
                  </a:solidFill>
                  <a:effectLst/>
                  <a:uLnTx/>
                  <a:uFillTx/>
                  <a:latin typeface="Ubuntu" panose="020B0504030602030204" pitchFamily="34" charset="0"/>
                </a:rPr>
                <a:t>Based on each TSA criticality, TSA monitoring team in partnership with Domain's leads / project owners needs to  </a:t>
              </a:r>
              <a:r>
                <a:rPr lang="en-US" sz="900" kern="0" dirty="0">
                  <a:solidFill>
                    <a:prstClr val="black"/>
                  </a:solidFill>
                  <a:latin typeface="Ubuntu" panose="020B0504030602030204" pitchFamily="34" charset="0"/>
                </a:rPr>
                <a:t>f</a:t>
              </a:r>
              <a:r>
                <a:rPr kumimoji="0" lang="en-US" sz="900" b="0" i="0" u="none" strike="noStrike" kern="0" cap="none" spc="0" normalizeH="0" baseline="0" noProof="0" dirty="0" err="1">
                  <a:ln>
                    <a:noFill/>
                  </a:ln>
                  <a:solidFill>
                    <a:prstClr val="black"/>
                  </a:solidFill>
                  <a:effectLst/>
                  <a:uLnTx/>
                  <a:uFillTx/>
                  <a:latin typeface="Ubuntu" panose="020B0504030602030204" pitchFamily="34" charset="0"/>
                </a:rPr>
                <a:t>ollow</a:t>
              </a:r>
              <a:r>
                <a:rPr kumimoji="0" lang="en-US" sz="900" b="0" i="0" u="none" strike="noStrike" kern="0" cap="none" spc="0" normalizeH="0" baseline="0" noProof="0" dirty="0">
                  <a:ln>
                    <a:noFill/>
                  </a:ln>
                  <a:solidFill>
                    <a:prstClr val="black"/>
                  </a:solidFill>
                  <a:effectLst/>
                  <a:uLnTx/>
                  <a:uFillTx/>
                  <a:latin typeface="Ubuntu" panose="020B0504030602030204" pitchFamily="34" charset="0"/>
                </a:rPr>
                <a:t> TSA exit maximum date &amp; anticipate notice periods and Exit conditions</a:t>
              </a:r>
            </a:p>
          </p:txBody>
        </p:sp>
        <p:sp>
          <p:nvSpPr>
            <p:cNvPr id="29" name="Round Same Side Corner Rectangle 19">
              <a:extLst>
                <a:ext uri="{FF2B5EF4-FFF2-40B4-BE49-F238E27FC236}">
                  <a16:creationId xmlns:a16="http://schemas.microsoft.com/office/drawing/2014/main" id="{A15905B8-484A-332C-161D-C030B4F3C141}"/>
                </a:ext>
              </a:extLst>
            </p:cNvPr>
            <p:cNvSpPr/>
            <p:nvPr/>
          </p:nvSpPr>
          <p:spPr bwMode="auto">
            <a:xfrm rot="16200000" flipH="1">
              <a:off x="7798948" y="3065150"/>
              <a:ext cx="1026876" cy="258146"/>
            </a:xfrm>
            <a:prstGeom prst="round2SameRect">
              <a:avLst/>
            </a:prstGeom>
            <a:solidFill>
              <a:srgbClr val="0070AD">
                <a:lumMod val="60000"/>
                <a:lumOff val="40000"/>
              </a:srgbClr>
            </a:solidFill>
            <a:ln w="6350" cap="flat" cmpd="sng" algn="ctr">
              <a:noFill/>
              <a:prstDash val="solid"/>
              <a:round/>
              <a:headEnd type="none" w="med" len="med"/>
              <a:tailEnd type="none" w="med" len="med"/>
            </a:ln>
            <a:effectLst/>
          </p:spPr>
          <p:txBody>
            <a:bodyPr vert="vert" wrap="square" lIns="45720" tIns="45720" rIns="45720" bIns="45720" numCol="1" rtlCol="0" anchor="ctr" anchorCtr="1" compatLnSpc="1">
              <a:prstTxWarp prst="textNoShape">
                <a:avLst/>
              </a:prstTxWarp>
            </a:bodyPr>
            <a:lstStyle/>
            <a:p>
              <a:pPr marL="0" marR="0" lvl="0" indent="0" defTabSz="914400" eaLnBrk="0" fontAlgn="auto" latinLnBrk="0" hangingPunct="0">
                <a:lnSpc>
                  <a:spcPct val="100000"/>
                </a:lnSpc>
                <a:spcBef>
                  <a:spcPts val="200"/>
                </a:spcBef>
                <a:spcAft>
                  <a:spcPts val="200"/>
                </a:spcAft>
                <a:buClrTx/>
                <a:buSzTx/>
                <a:buFontTx/>
                <a:buNone/>
                <a:tabLst/>
                <a:defRPr/>
              </a:pPr>
              <a:r>
                <a:rPr kumimoji="0" lang="en-GB" sz="2400" b="0" i="0" u="none" strike="noStrike" kern="0" cap="none" spc="0" normalizeH="0" baseline="0" noProof="0">
                  <a:ln>
                    <a:noFill/>
                  </a:ln>
                  <a:solidFill>
                    <a:prstClr val="white"/>
                  </a:solidFill>
                  <a:effectLst/>
                  <a:uLnTx/>
                  <a:uFillTx/>
                  <a:latin typeface="Ubuntu Medium"/>
                </a:rPr>
                <a:t>2</a:t>
              </a:r>
            </a:p>
          </p:txBody>
        </p:sp>
        <p:sp>
          <p:nvSpPr>
            <p:cNvPr id="30" name="Rounded Rectangle 11">
              <a:extLst>
                <a:ext uri="{FF2B5EF4-FFF2-40B4-BE49-F238E27FC236}">
                  <a16:creationId xmlns:a16="http://schemas.microsoft.com/office/drawing/2014/main" id="{3786B03C-E863-8354-A359-57B1B143865C}"/>
                </a:ext>
              </a:extLst>
            </p:cNvPr>
            <p:cNvSpPr/>
            <p:nvPr/>
          </p:nvSpPr>
          <p:spPr bwMode="auto">
            <a:xfrm>
              <a:off x="8429019" y="2680783"/>
              <a:ext cx="3310402" cy="1026870"/>
            </a:xfrm>
            <a:prstGeom prst="rect">
              <a:avLst/>
            </a:prstGeom>
            <a:solidFill>
              <a:srgbClr val="FFFFFF">
                <a:lumMod val="95000"/>
              </a:srgbClr>
            </a:solidFill>
            <a:ln w="6350" cap="flat" cmpd="sng" algn="ctr">
              <a:noFill/>
              <a:prstDash val="sysDash"/>
              <a:round/>
              <a:headEnd type="none" w="med" len="med"/>
              <a:tailEnd type="none" w="med" len="med"/>
            </a:ln>
            <a:effectLst/>
          </p:spPr>
          <p:txBody>
            <a:bodyPr vert="horz" wrap="square" lIns="108000" tIns="72000" rIns="36000" bIns="36000" numCol="1" rtlCol="0" anchor="ctr" anchorCtr="0" compatLnSpc="1">
              <a:prstTxWarp prst="textNoShape">
                <a:avLst/>
              </a:prstTxWarp>
            </a:bodyPr>
            <a:lstStyle/>
            <a:p>
              <a:pPr marL="0" marR="0" lvl="0" indent="0" defTabSz="914400" eaLnBrk="0" fontAlgn="auto" latinLnBrk="0" hangingPunct="0">
                <a:lnSpc>
                  <a:spcPct val="100000"/>
                </a:lnSpc>
                <a:spcBef>
                  <a:spcPts val="200"/>
                </a:spcBef>
                <a:spcAft>
                  <a:spcPts val="200"/>
                </a:spcAft>
                <a:buClrTx/>
                <a:buSzTx/>
                <a:buFontTx/>
                <a:buNone/>
                <a:tabLst/>
                <a:defRPr/>
              </a:pPr>
              <a:r>
                <a:rPr kumimoji="0" lang="en-GB" sz="1100" b="1" i="0" u="none" strike="noStrike" kern="0" cap="none" spc="0" normalizeH="0" baseline="0" noProof="0" dirty="0">
                  <a:ln>
                    <a:noFill/>
                  </a:ln>
                  <a:solidFill>
                    <a:prstClr val="black"/>
                  </a:solidFill>
                  <a:effectLst/>
                  <a:uLnTx/>
                  <a:uFillTx/>
                  <a:latin typeface="Ubuntu" panose="020B0504030602030204" pitchFamily="34" charset="0"/>
                </a:rPr>
                <a:t>Cost analysis (part of synergy analysis)</a:t>
              </a:r>
            </a:p>
            <a:p>
              <a:pPr marL="0" marR="0" lvl="0" indent="0" defTabSz="914400" eaLnBrk="1" fontAlgn="t" latinLnBrk="0" hangingPunct="1">
                <a:lnSpc>
                  <a:spcPct val="100000"/>
                </a:lnSpc>
                <a:spcBef>
                  <a:spcPts val="200"/>
                </a:spcBef>
                <a:spcAft>
                  <a:spcPts val="200"/>
                </a:spcAft>
                <a:buClr>
                  <a:srgbClr val="0070AD"/>
                </a:buClr>
                <a:buSzTx/>
                <a:buFontTx/>
                <a:buNone/>
                <a:tabLst/>
                <a:defRPr/>
              </a:pPr>
              <a:r>
                <a:rPr kumimoji="0" lang="en-US" sz="900" b="0" i="0" u="none" strike="noStrike" kern="0" cap="none" spc="0" normalizeH="0" baseline="0" noProof="0" dirty="0">
                  <a:ln>
                    <a:noFill/>
                  </a:ln>
                  <a:solidFill>
                    <a:prstClr val="black"/>
                  </a:solidFill>
                  <a:effectLst/>
                  <a:uLnTx/>
                  <a:uFillTx/>
                  <a:latin typeface="Ubuntu" panose="020B0504030602030204" pitchFamily="34" charset="0"/>
                </a:rPr>
                <a:t>The TSA monitoring team in partnership with Domain’s leads/project owners should ensure that TSA Exit will be profitable on a long-term perspective. They will need to validate projects’ Build/Run costs &amp; compare it to TSA costs to understand if an early termination is favorable.</a:t>
              </a:r>
            </a:p>
          </p:txBody>
        </p:sp>
        <p:sp>
          <p:nvSpPr>
            <p:cNvPr id="32" name="Round Same Side Corner Rectangle 20">
              <a:extLst>
                <a:ext uri="{FF2B5EF4-FFF2-40B4-BE49-F238E27FC236}">
                  <a16:creationId xmlns:a16="http://schemas.microsoft.com/office/drawing/2014/main" id="{340D2B00-25D1-69D2-A27D-B8AC2EFAFC4A}"/>
                </a:ext>
              </a:extLst>
            </p:cNvPr>
            <p:cNvSpPr/>
            <p:nvPr/>
          </p:nvSpPr>
          <p:spPr bwMode="auto">
            <a:xfrm rot="16200000" flipH="1">
              <a:off x="7888057" y="4195880"/>
              <a:ext cx="848658" cy="258146"/>
            </a:xfrm>
            <a:prstGeom prst="round2SameRect">
              <a:avLst/>
            </a:prstGeom>
            <a:solidFill>
              <a:srgbClr val="0070AD">
                <a:lumMod val="40000"/>
                <a:lumOff val="60000"/>
              </a:srgbClr>
            </a:solidFill>
            <a:ln w="6350" cap="flat" cmpd="sng" algn="ctr">
              <a:noFill/>
              <a:prstDash val="solid"/>
              <a:round/>
              <a:headEnd type="none" w="med" len="med"/>
              <a:tailEnd type="none" w="med" len="med"/>
            </a:ln>
            <a:effectLst/>
          </p:spPr>
          <p:txBody>
            <a:bodyPr vert="vert" wrap="square" lIns="45720" tIns="45720" rIns="45720" bIns="45720" numCol="1" rtlCol="0" anchor="ctr" anchorCtr="1" compatLnSpc="1">
              <a:prstTxWarp prst="textNoShape">
                <a:avLst/>
              </a:prstTxWarp>
            </a:bodyPr>
            <a:lstStyle/>
            <a:p>
              <a:pPr marL="0" marR="0" lvl="0" indent="0" defTabSz="914400" eaLnBrk="0" fontAlgn="auto" latinLnBrk="0" hangingPunct="0">
                <a:lnSpc>
                  <a:spcPct val="100000"/>
                </a:lnSpc>
                <a:spcBef>
                  <a:spcPts val="200"/>
                </a:spcBef>
                <a:spcAft>
                  <a:spcPts val="200"/>
                </a:spcAft>
                <a:buClrTx/>
                <a:buSzTx/>
                <a:buFontTx/>
                <a:buNone/>
                <a:tabLst/>
                <a:defRPr/>
              </a:pPr>
              <a:r>
                <a:rPr kumimoji="0" lang="en-GB" sz="2400" b="0" i="0" u="none" strike="noStrike" kern="0" cap="none" spc="0" normalizeH="0" baseline="0" noProof="0">
                  <a:ln>
                    <a:noFill/>
                  </a:ln>
                  <a:solidFill>
                    <a:prstClr val="white"/>
                  </a:solidFill>
                  <a:effectLst/>
                  <a:uLnTx/>
                  <a:uFillTx/>
                  <a:latin typeface="Ubuntu Medium"/>
                </a:rPr>
                <a:t>3</a:t>
              </a:r>
            </a:p>
          </p:txBody>
        </p:sp>
        <p:sp>
          <p:nvSpPr>
            <p:cNvPr id="33" name="Rounded Rectangle 12">
              <a:extLst>
                <a:ext uri="{FF2B5EF4-FFF2-40B4-BE49-F238E27FC236}">
                  <a16:creationId xmlns:a16="http://schemas.microsoft.com/office/drawing/2014/main" id="{46E2A5B7-0B7B-3FEB-11A5-9AEC81B5DAB8}"/>
                </a:ext>
              </a:extLst>
            </p:cNvPr>
            <p:cNvSpPr/>
            <p:nvPr/>
          </p:nvSpPr>
          <p:spPr bwMode="auto">
            <a:xfrm>
              <a:off x="8429019" y="3900622"/>
              <a:ext cx="3310402" cy="848653"/>
            </a:xfrm>
            <a:prstGeom prst="rect">
              <a:avLst/>
            </a:prstGeom>
            <a:solidFill>
              <a:srgbClr val="FFFFFF">
                <a:lumMod val="95000"/>
              </a:srgbClr>
            </a:solidFill>
            <a:ln w="6350" cap="flat" cmpd="sng" algn="ctr">
              <a:noFill/>
              <a:prstDash val="sysDash"/>
              <a:round/>
              <a:headEnd type="none" w="med" len="med"/>
              <a:tailEnd type="none" w="med" len="med"/>
            </a:ln>
            <a:effectLst/>
          </p:spPr>
          <p:txBody>
            <a:bodyPr vert="horz" wrap="square" lIns="108000" tIns="72000" rIns="36000" bIns="36000" numCol="1" rtlCol="0" anchor="ctr" anchorCtr="0" compatLnSpc="1">
              <a:prstTxWarp prst="textNoShape">
                <a:avLst/>
              </a:prstTxWarp>
            </a:bodyPr>
            <a:lstStyle/>
            <a:p>
              <a:pPr marL="0" marR="0" lvl="0" indent="0" defTabSz="914400" eaLnBrk="0" fontAlgn="auto" latinLnBrk="0" hangingPunct="0">
                <a:lnSpc>
                  <a:spcPct val="100000"/>
                </a:lnSpc>
                <a:spcBef>
                  <a:spcPts val="200"/>
                </a:spcBef>
                <a:spcAft>
                  <a:spcPts val="200"/>
                </a:spcAft>
                <a:buClrTx/>
                <a:buSzTx/>
                <a:buFontTx/>
                <a:buNone/>
                <a:tabLst/>
                <a:defRPr/>
              </a:pPr>
              <a:r>
                <a:rPr kumimoji="0" lang="en-GB" sz="1100" b="1" i="0" u="none" strike="noStrike" kern="0" cap="none" spc="0" normalizeH="0" baseline="0" noProof="0" dirty="0">
                  <a:ln>
                    <a:noFill/>
                  </a:ln>
                  <a:solidFill>
                    <a:prstClr val="black"/>
                  </a:solidFill>
                  <a:effectLst/>
                  <a:uLnTx/>
                  <a:uFillTx/>
                  <a:latin typeface="Ubuntu" panose="020B0504030602030204" pitchFamily="34" charset="0"/>
                </a:rPr>
                <a:t>TSA Exit checklist</a:t>
              </a:r>
            </a:p>
            <a:p>
              <a:pPr marL="0" marR="0" lvl="0" indent="0" defTabSz="914400" eaLnBrk="1" fontAlgn="t" latinLnBrk="0" hangingPunct="1">
                <a:lnSpc>
                  <a:spcPct val="100000"/>
                </a:lnSpc>
                <a:spcBef>
                  <a:spcPts val="200"/>
                </a:spcBef>
                <a:spcAft>
                  <a:spcPts val="200"/>
                </a:spcAft>
                <a:buClr>
                  <a:srgbClr val="0070AD"/>
                </a:buClr>
                <a:buSzTx/>
                <a:buFontTx/>
                <a:buNone/>
                <a:tabLst/>
                <a:defRPr/>
              </a:pPr>
              <a:r>
                <a:rPr kumimoji="0" lang="en-US" sz="900" b="0" i="0" u="none" strike="noStrike" kern="0" cap="none" spc="0" normalizeH="0" baseline="0" noProof="0" dirty="0">
                  <a:ln>
                    <a:noFill/>
                  </a:ln>
                  <a:solidFill>
                    <a:prstClr val="black"/>
                  </a:solidFill>
                  <a:effectLst/>
                  <a:uLnTx/>
                  <a:uFillTx/>
                  <a:latin typeface="Ubuntu" panose="020B0504030602030204" pitchFamily="34" charset="0"/>
                </a:rPr>
                <a:t>Domain's leads / project owners should validate the TSA exit checklist to ensure that all the requirements are covered (data transferred, build , licensing, support, knowledge transfer, infra, cyber , etc.). </a:t>
              </a:r>
              <a:endParaRPr kumimoji="0" lang="en-GB" sz="900" b="0" i="0" u="none" strike="noStrike" kern="0" cap="none" spc="0" normalizeH="0" baseline="0" noProof="0" dirty="0">
                <a:ln>
                  <a:noFill/>
                </a:ln>
                <a:solidFill>
                  <a:prstClr val="black"/>
                </a:solidFill>
                <a:effectLst/>
                <a:uLnTx/>
                <a:uFillTx/>
                <a:latin typeface="Ubuntu" panose="020B0504030602030204" pitchFamily="34" charset="0"/>
              </a:endParaRPr>
            </a:p>
          </p:txBody>
        </p:sp>
      </p:grpSp>
      <p:sp>
        <p:nvSpPr>
          <p:cNvPr id="37" name="TextBox 65">
            <a:extLst>
              <a:ext uri="{FF2B5EF4-FFF2-40B4-BE49-F238E27FC236}">
                <a16:creationId xmlns:a16="http://schemas.microsoft.com/office/drawing/2014/main" id="{A72993C9-EA4C-BBE9-82E3-01806A183977}"/>
              </a:ext>
            </a:extLst>
          </p:cNvPr>
          <p:cNvSpPr txBox="1"/>
          <p:nvPr/>
        </p:nvSpPr>
        <p:spPr>
          <a:xfrm>
            <a:off x="404288" y="6119870"/>
            <a:ext cx="9573659" cy="630942"/>
          </a:xfrm>
          <a:prstGeom prst="rect">
            <a:avLst/>
          </a:prstGeom>
          <a:solidFill>
            <a:srgbClr val="CCECFF"/>
          </a:solidFill>
          <a:ln>
            <a:noFill/>
          </a:ln>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Ubuntu"/>
                <a:ea typeface="+mn-ea"/>
                <a:cs typeface="+mn-cs"/>
              </a:rPr>
              <a:t>The goal of having a </a:t>
            </a:r>
            <a:r>
              <a:rPr kumimoji="0" lang="en-US" sz="1400" b="1" i="0" u="none" strike="noStrike" kern="1200" cap="none" spc="0" normalizeH="0" baseline="0" noProof="0" dirty="0">
                <a:ln>
                  <a:noFill/>
                </a:ln>
                <a:effectLst/>
                <a:uLnTx/>
                <a:uFillTx/>
                <a:latin typeface="Ubuntu"/>
                <a:ea typeface="+mn-ea"/>
                <a:cs typeface="+mn-cs"/>
              </a:rPr>
              <a:t>solid TSA exit plan/strategy </a:t>
            </a:r>
            <a:r>
              <a:rPr kumimoji="0" lang="en-US" sz="1400" b="0" i="0" u="none" strike="noStrike" kern="1200" cap="none" spc="0" normalizeH="0" baseline="0" noProof="0" dirty="0">
                <a:ln>
                  <a:noFill/>
                </a:ln>
                <a:effectLst/>
                <a:uLnTx/>
                <a:uFillTx/>
                <a:latin typeface="Ubuntu"/>
                <a:ea typeface="+mn-ea"/>
                <a:cs typeface="+mn-cs"/>
              </a:rPr>
              <a:t>is to </a:t>
            </a:r>
            <a:r>
              <a:rPr kumimoji="0" lang="en-US" sz="1400" b="1" i="0" u="none" strike="noStrike" kern="1200" cap="none" spc="0" normalizeH="0" baseline="0" noProof="0" dirty="0">
                <a:ln>
                  <a:noFill/>
                </a:ln>
                <a:effectLst/>
                <a:uLnTx/>
                <a:uFillTx/>
                <a:latin typeface="Ubuntu"/>
                <a:ea typeface="+mn-ea"/>
                <a:cs typeface="+mn-cs"/>
              </a:rPr>
              <a:t>protect the value the transaction seeks to create </a:t>
            </a:r>
            <a:r>
              <a:rPr kumimoji="0" lang="en-US" sz="1400" b="0" i="0" u="none" strike="noStrike" kern="1200" cap="none" spc="0" normalizeH="0" baseline="0" noProof="0" dirty="0">
                <a:ln>
                  <a:noFill/>
                </a:ln>
                <a:effectLst/>
                <a:uLnTx/>
                <a:uFillTx/>
                <a:latin typeface="Ubuntu"/>
                <a:ea typeface="+mn-ea"/>
                <a:cs typeface="+mn-cs"/>
              </a:rPr>
              <a:t>and prevent unnecessary long-term reliance on another entity, save capital and free up team members to focus on strategic activities that support the growth thesis.</a:t>
            </a:r>
            <a:endParaRPr kumimoji="0" lang="fr-FR" sz="1200" b="0" i="0" u="none" strike="noStrike" kern="1200" cap="none" spc="0" normalizeH="0" baseline="0" noProof="0" dirty="0">
              <a:ln>
                <a:noFill/>
              </a:ln>
              <a:effectLst/>
              <a:uLnTx/>
              <a:uFillTx/>
              <a:latin typeface="Ubuntu"/>
              <a:ea typeface="+mn-ea"/>
              <a:cs typeface="+mn-cs"/>
            </a:endParaRPr>
          </a:p>
        </p:txBody>
      </p:sp>
      <p:sp>
        <p:nvSpPr>
          <p:cNvPr id="38" name="Rectangle 37">
            <a:extLst>
              <a:ext uri="{FF2B5EF4-FFF2-40B4-BE49-F238E27FC236}">
                <a16:creationId xmlns:a16="http://schemas.microsoft.com/office/drawing/2014/main" id="{2A22B960-E46A-7038-BD1A-38BA3CCF57C0}"/>
              </a:ext>
            </a:extLst>
          </p:cNvPr>
          <p:cNvSpPr/>
          <p:nvPr/>
        </p:nvSpPr>
        <p:spPr bwMode="gray">
          <a:xfrm>
            <a:off x="1090142" y="997542"/>
            <a:ext cx="2238686" cy="45768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b="1" i="1" dirty="0">
                <a:solidFill>
                  <a:srgbClr val="1781E3"/>
                </a:solidFill>
              </a:rPr>
              <a:t>TSA - Management</a:t>
            </a:r>
          </a:p>
        </p:txBody>
      </p:sp>
      <p:sp>
        <p:nvSpPr>
          <p:cNvPr id="39" name="Rectangle 38">
            <a:extLst>
              <a:ext uri="{FF2B5EF4-FFF2-40B4-BE49-F238E27FC236}">
                <a16:creationId xmlns:a16="http://schemas.microsoft.com/office/drawing/2014/main" id="{9C572B7E-70E3-6186-0A2A-486AC75D099B}"/>
              </a:ext>
            </a:extLst>
          </p:cNvPr>
          <p:cNvSpPr/>
          <p:nvPr/>
        </p:nvSpPr>
        <p:spPr bwMode="gray">
          <a:xfrm>
            <a:off x="4922173" y="997542"/>
            <a:ext cx="2413576" cy="45768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b="1" i="1" dirty="0">
                <a:solidFill>
                  <a:srgbClr val="1781E3"/>
                </a:solidFill>
              </a:rPr>
              <a:t>TSA </a:t>
            </a:r>
            <a:r>
              <a:rPr lang="en-GB" b="1" i="1">
                <a:solidFill>
                  <a:srgbClr val="1781E3"/>
                </a:solidFill>
              </a:rPr>
              <a:t>Exit </a:t>
            </a:r>
            <a:r>
              <a:rPr lang="en-GB" b="1" i="1" dirty="0">
                <a:solidFill>
                  <a:srgbClr val="1781E3"/>
                </a:solidFill>
              </a:rPr>
              <a:t>- Do’s &amp; Don’t</a:t>
            </a:r>
          </a:p>
        </p:txBody>
      </p:sp>
      <p:sp>
        <p:nvSpPr>
          <p:cNvPr id="40" name="Rectangle 39">
            <a:extLst>
              <a:ext uri="{FF2B5EF4-FFF2-40B4-BE49-F238E27FC236}">
                <a16:creationId xmlns:a16="http://schemas.microsoft.com/office/drawing/2014/main" id="{94811308-EBC6-CF69-5068-8521FEE494E5}"/>
              </a:ext>
            </a:extLst>
          </p:cNvPr>
          <p:cNvSpPr/>
          <p:nvPr/>
        </p:nvSpPr>
        <p:spPr bwMode="gray">
          <a:xfrm>
            <a:off x="8898091" y="997542"/>
            <a:ext cx="2084984" cy="45768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b="1" i="1" dirty="0">
                <a:solidFill>
                  <a:srgbClr val="1781E3"/>
                </a:solidFill>
              </a:rPr>
              <a:t>TSA Exit - Strategy</a:t>
            </a:r>
          </a:p>
        </p:txBody>
      </p:sp>
      <p:pic>
        <p:nvPicPr>
          <p:cNvPr id="2050" name="Picture 2">
            <a:extLst>
              <a:ext uri="{FF2B5EF4-FFF2-40B4-BE49-F238E27FC236}">
                <a16:creationId xmlns:a16="http://schemas.microsoft.com/office/drawing/2014/main" id="{6A38C019-EF6A-4620-6652-D73B76CDCAF1}"/>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22778" y="1582101"/>
            <a:ext cx="1024546" cy="719499"/>
          </a:xfrm>
          <a:prstGeom prst="rect">
            <a:avLst/>
          </a:prstGeom>
          <a:noFill/>
          <a:extLst>
            <a:ext uri="{909E8E84-426E-40DD-AFC4-6F175D3DCCD1}">
              <a14:hiddenFill xmlns:a14="http://schemas.microsoft.com/office/drawing/2010/main">
                <a:solidFill>
                  <a:srgbClr val="FFFFFF"/>
                </a:solidFill>
              </a14:hiddenFill>
            </a:ext>
          </a:extLst>
        </p:spPr>
      </p:pic>
      <p:sp>
        <p:nvSpPr>
          <p:cNvPr id="41" name="TextBox 13">
            <a:extLst>
              <a:ext uri="{FF2B5EF4-FFF2-40B4-BE49-F238E27FC236}">
                <a16:creationId xmlns:a16="http://schemas.microsoft.com/office/drawing/2014/main" id="{365746A7-9698-8E0F-E6AC-544F4634D212}"/>
              </a:ext>
            </a:extLst>
          </p:cNvPr>
          <p:cNvSpPr txBox="1"/>
          <p:nvPr/>
        </p:nvSpPr>
        <p:spPr>
          <a:xfrm>
            <a:off x="1572725" y="1462048"/>
            <a:ext cx="2507442" cy="1015663"/>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effectLst/>
                <a:uLnTx/>
                <a:uFillTx/>
                <a:latin typeface="Ubuntu"/>
                <a:ea typeface="+mn-ea"/>
                <a:cs typeface="+mn-cs"/>
              </a:rPr>
              <a:t>We developed a </a:t>
            </a:r>
            <a:r>
              <a:rPr kumimoji="0" lang="en-US" sz="1200" b="1" u="none" strike="noStrike" kern="1200" cap="none" spc="0" normalizeH="0" baseline="0" noProof="0" dirty="0">
                <a:ln>
                  <a:noFill/>
                </a:ln>
                <a:effectLst/>
                <a:uLnTx/>
                <a:uFillTx/>
                <a:latin typeface="Ubuntu"/>
                <a:ea typeface="+mn-ea"/>
                <a:cs typeface="+mn-cs"/>
              </a:rPr>
              <a:t>TSA Tracker </a:t>
            </a:r>
            <a:r>
              <a:rPr kumimoji="0" lang="en-US" sz="1200" u="none" strike="noStrike" kern="1200" cap="none" spc="0" normalizeH="0" baseline="0" noProof="0" dirty="0">
                <a:ln>
                  <a:noFill/>
                </a:ln>
                <a:effectLst/>
                <a:uLnTx/>
                <a:uFillTx/>
                <a:latin typeface="Ubuntu"/>
                <a:ea typeface="+mn-ea"/>
                <a:cs typeface="+mn-cs"/>
              </a:rPr>
              <a:t>to </a:t>
            </a:r>
            <a:r>
              <a:rPr kumimoji="0" lang="en-US" sz="1200" b="1" u="none" strike="noStrike" kern="1200" cap="none" spc="0" normalizeH="0" baseline="0" noProof="0" dirty="0">
                <a:ln>
                  <a:noFill/>
                </a:ln>
                <a:effectLst/>
                <a:uLnTx/>
                <a:uFillTx/>
                <a:latin typeface="Ubuntu"/>
                <a:ea typeface="+mn-ea"/>
                <a:cs typeface="+mn-cs"/>
              </a:rPr>
              <a:t>optimize </a:t>
            </a:r>
            <a:r>
              <a:rPr kumimoji="0" lang="en-US" sz="1200" u="none" strike="noStrike" kern="1200" cap="none" spc="0" normalizeH="0" baseline="0" noProof="0" dirty="0">
                <a:ln>
                  <a:noFill/>
                </a:ln>
                <a:effectLst/>
                <a:uLnTx/>
                <a:uFillTx/>
                <a:latin typeface="Ubuntu"/>
                <a:ea typeface="+mn-ea"/>
                <a:cs typeface="+mn-cs"/>
              </a:rPr>
              <a:t>the </a:t>
            </a:r>
            <a:r>
              <a:rPr kumimoji="0" lang="en-US" sz="1200" b="1" u="none" strike="noStrike" kern="1200" cap="none" spc="0" normalizeH="0" baseline="0" noProof="0" dirty="0">
                <a:ln>
                  <a:noFill/>
                </a:ln>
                <a:effectLst/>
                <a:uLnTx/>
                <a:uFillTx/>
                <a:latin typeface="Ubuntu"/>
                <a:ea typeface="+mn-ea"/>
                <a:cs typeface="+mn-cs"/>
              </a:rPr>
              <a:t>entire lifecycle management</a:t>
            </a:r>
            <a:r>
              <a:rPr kumimoji="0" lang="en-US" sz="1200" b="1" u="none" strike="noStrike" kern="1200" cap="none" spc="0" normalizeH="0" baseline="0" noProof="0">
                <a:ln>
                  <a:noFill/>
                </a:ln>
                <a:effectLst/>
                <a:uLnTx/>
                <a:uFillTx/>
                <a:latin typeface="Ubuntu"/>
                <a:ea typeface="+mn-ea"/>
                <a:cs typeface="+mn-cs"/>
              </a:rPr>
              <a:t> </a:t>
            </a:r>
            <a:r>
              <a:rPr kumimoji="0" lang="en-US" sz="1200" u="none" strike="noStrike" kern="1200" cap="none" spc="0" normalizeH="0" baseline="0" noProof="0" dirty="0">
                <a:ln>
                  <a:noFill/>
                </a:ln>
                <a:effectLst/>
                <a:uLnTx/>
                <a:uFillTx/>
                <a:latin typeface="Ubuntu"/>
                <a:ea typeface="+mn-ea"/>
                <a:cs typeface="+mn-cs"/>
              </a:rPr>
              <a:t>before preparing the </a:t>
            </a:r>
            <a:r>
              <a:rPr kumimoji="0" lang="en-US" sz="1200" b="1" u="none" strike="noStrike" kern="1200" cap="none" spc="0" normalizeH="0" baseline="0" noProof="0" dirty="0">
                <a:ln>
                  <a:noFill/>
                </a:ln>
                <a:effectLst/>
                <a:uLnTx/>
                <a:uFillTx/>
                <a:latin typeface="Ubuntu"/>
                <a:ea typeface="+mn-ea"/>
                <a:cs typeface="+mn-cs"/>
              </a:rPr>
              <a:t>disentanglement </a:t>
            </a:r>
            <a:r>
              <a:rPr kumimoji="0" lang="en-US" sz="1200" u="none" strike="noStrike" kern="1200" cap="none" spc="0" normalizeH="0" baseline="0" noProof="0" dirty="0">
                <a:ln>
                  <a:noFill/>
                </a:ln>
                <a:effectLst/>
                <a:uLnTx/>
                <a:uFillTx/>
                <a:latin typeface="Ubuntu"/>
                <a:ea typeface="+mn-ea"/>
                <a:cs typeface="+mn-cs"/>
              </a:rPr>
              <a:t>which can be adapted to your context.</a:t>
            </a:r>
            <a:endParaRPr kumimoji="0" lang="en-US" sz="1200" b="1" u="none" strike="noStrike" kern="1200" cap="none" spc="0" normalizeH="0" baseline="0" noProof="0" dirty="0">
              <a:ln>
                <a:noFill/>
              </a:ln>
              <a:effectLst/>
              <a:uLnTx/>
              <a:uFillTx/>
              <a:latin typeface="Ubuntu"/>
              <a:ea typeface="+mn-ea"/>
              <a:cs typeface="+mn-cs"/>
            </a:endParaRPr>
          </a:p>
        </p:txBody>
      </p:sp>
      <p:sp>
        <p:nvSpPr>
          <p:cNvPr id="42" name="TextBox 13">
            <a:extLst>
              <a:ext uri="{FF2B5EF4-FFF2-40B4-BE49-F238E27FC236}">
                <a16:creationId xmlns:a16="http://schemas.microsoft.com/office/drawing/2014/main" id="{C5F45E6A-A897-4C2D-726E-DF8FEAEFC8B0}"/>
              </a:ext>
            </a:extLst>
          </p:cNvPr>
          <p:cNvSpPr txBox="1"/>
          <p:nvPr/>
        </p:nvSpPr>
        <p:spPr>
          <a:xfrm>
            <a:off x="4515143" y="1483934"/>
            <a:ext cx="3150558"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effectLst/>
                <a:uLnTx/>
                <a:uFillTx/>
                <a:latin typeface="Ubuntu"/>
                <a:ea typeface="+mn-ea"/>
                <a:cs typeface="+mn-cs"/>
              </a:rPr>
              <a:t>Our extensive </a:t>
            </a:r>
            <a:r>
              <a:rPr kumimoji="0" lang="en-US" sz="1200" b="1" u="none" strike="noStrike" kern="1200" cap="none" spc="0" normalizeH="0" baseline="0" noProof="0" dirty="0">
                <a:ln>
                  <a:noFill/>
                </a:ln>
                <a:effectLst/>
                <a:uLnTx/>
                <a:uFillTx/>
                <a:latin typeface="Ubuntu"/>
                <a:ea typeface="+mn-ea"/>
                <a:cs typeface="+mn-cs"/>
              </a:rPr>
              <a:t>experience </a:t>
            </a:r>
            <a:r>
              <a:rPr kumimoji="0" lang="en-US" sz="1200" u="none" strike="noStrike" kern="1200" cap="none" spc="0" normalizeH="0" baseline="0" noProof="0" dirty="0">
                <a:ln>
                  <a:noFill/>
                </a:ln>
                <a:effectLst/>
                <a:uLnTx/>
                <a:uFillTx/>
                <a:latin typeface="Ubuntu"/>
                <a:ea typeface="+mn-ea"/>
                <a:cs typeface="+mn-cs"/>
              </a:rPr>
              <a:t>in TSA Management allowed use to </a:t>
            </a:r>
            <a:r>
              <a:rPr kumimoji="0" lang="en-US" sz="1200" b="1" u="none" strike="noStrike" kern="1200" cap="none" spc="0" normalizeH="0" baseline="0" noProof="0" dirty="0">
                <a:ln>
                  <a:noFill/>
                </a:ln>
                <a:effectLst/>
                <a:uLnTx/>
                <a:uFillTx/>
                <a:latin typeface="Ubuntu"/>
                <a:ea typeface="+mn-ea"/>
                <a:cs typeface="+mn-cs"/>
              </a:rPr>
              <a:t>identify best practices </a:t>
            </a:r>
            <a:r>
              <a:rPr kumimoji="0" lang="en-US" sz="1200" u="none" strike="noStrike" kern="1200" cap="none" spc="0" normalizeH="0" baseline="0" noProof="0">
                <a:ln>
                  <a:noFill/>
                </a:ln>
                <a:effectLst/>
                <a:uLnTx/>
                <a:uFillTx/>
                <a:latin typeface="Ubuntu"/>
                <a:ea typeface="+mn-ea"/>
                <a:cs typeface="+mn-cs"/>
              </a:rPr>
              <a:t>on how to </a:t>
            </a:r>
            <a:r>
              <a:rPr kumimoji="0" lang="en-US" sz="1200" u="none" strike="noStrike" kern="1200" cap="none" spc="0" normalizeH="0" baseline="0" noProof="0" dirty="0">
                <a:ln>
                  <a:noFill/>
                </a:ln>
                <a:effectLst/>
                <a:uLnTx/>
                <a:uFillTx/>
                <a:latin typeface="Ubuntu"/>
                <a:ea typeface="+mn-ea"/>
                <a:cs typeface="+mn-cs"/>
              </a:rPr>
              <a:t>prepare the exit </a:t>
            </a:r>
            <a:endParaRPr kumimoji="0" lang="en-US" sz="1200" b="1" u="none" strike="noStrike" kern="1200" cap="none" spc="0" normalizeH="0" baseline="0" noProof="0" dirty="0">
              <a:ln>
                <a:noFill/>
              </a:ln>
              <a:effectLst/>
              <a:uLnTx/>
              <a:uFillTx/>
              <a:latin typeface="Ubuntu"/>
              <a:ea typeface="+mn-ea"/>
              <a:cs typeface="+mn-cs"/>
            </a:endParaRPr>
          </a:p>
        </p:txBody>
      </p:sp>
      <p:pic>
        <p:nvPicPr>
          <p:cNvPr id="2052" name="Picture 4">
            <a:extLst>
              <a:ext uri="{FF2B5EF4-FFF2-40B4-BE49-F238E27FC236}">
                <a16:creationId xmlns:a16="http://schemas.microsoft.com/office/drawing/2014/main" id="{7CF862DF-4C05-1ACC-81E9-92763DFB20F6}"/>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547324" y="3221494"/>
            <a:ext cx="1732959" cy="453761"/>
          </a:xfrm>
          <a:prstGeom prst="rect">
            <a:avLst/>
          </a:prstGeom>
          <a:noFill/>
          <a:extLst>
            <a:ext uri="{909E8E84-426E-40DD-AFC4-6F175D3DCCD1}">
              <a14:hiddenFill xmlns:a14="http://schemas.microsoft.com/office/drawing/2010/main">
                <a:solidFill>
                  <a:srgbClr val="FFFFFF"/>
                </a:solidFill>
              </a14:hiddenFill>
            </a:ext>
          </a:extLst>
        </p:spPr>
      </p:pic>
      <p:sp>
        <p:nvSpPr>
          <p:cNvPr id="43" name="Ellipse 42">
            <a:extLst>
              <a:ext uri="{FF2B5EF4-FFF2-40B4-BE49-F238E27FC236}">
                <a16:creationId xmlns:a16="http://schemas.microsoft.com/office/drawing/2014/main" id="{46CB8A5D-141D-6490-66C2-A3756701F759}"/>
              </a:ext>
            </a:extLst>
          </p:cNvPr>
          <p:cNvSpPr/>
          <p:nvPr/>
        </p:nvSpPr>
        <p:spPr bwMode="gray">
          <a:xfrm>
            <a:off x="522778" y="2510040"/>
            <a:ext cx="209589" cy="209589"/>
          </a:xfrm>
          <a:prstGeom prst="ellipse">
            <a:avLst/>
          </a:prstGeom>
          <a:solidFill>
            <a:srgbClr val="EEF3F6"/>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fr-FR" sz="1200" b="1" dirty="0">
                <a:solidFill>
                  <a:schemeClr val="tx1"/>
                </a:solidFill>
              </a:rPr>
              <a:t>1</a:t>
            </a:r>
          </a:p>
        </p:txBody>
      </p:sp>
      <p:sp>
        <p:nvSpPr>
          <p:cNvPr id="44" name="Ellipse 43">
            <a:extLst>
              <a:ext uri="{FF2B5EF4-FFF2-40B4-BE49-F238E27FC236}">
                <a16:creationId xmlns:a16="http://schemas.microsoft.com/office/drawing/2014/main" id="{8A060E9C-2CFA-4A47-70A3-7E574A8B0B19}"/>
              </a:ext>
            </a:extLst>
          </p:cNvPr>
          <p:cNvSpPr/>
          <p:nvPr/>
        </p:nvSpPr>
        <p:spPr bwMode="gray">
          <a:xfrm>
            <a:off x="522777" y="3695588"/>
            <a:ext cx="209589" cy="209589"/>
          </a:xfrm>
          <a:prstGeom prst="ellipse">
            <a:avLst/>
          </a:prstGeom>
          <a:solidFill>
            <a:srgbClr val="EEF3F6"/>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fr-FR" sz="1200" b="1" dirty="0">
                <a:solidFill>
                  <a:schemeClr val="tx1"/>
                </a:solidFill>
              </a:rPr>
              <a:t>2</a:t>
            </a:r>
          </a:p>
        </p:txBody>
      </p:sp>
      <p:sp>
        <p:nvSpPr>
          <p:cNvPr id="45" name="Ellipse 44">
            <a:extLst>
              <a:ext uri="{FF2B5EF4-FFF2-40B4-BE49-F238E27FC236}">
                <a16:creationId xmlns:a16="http://schemas.microsoft.com/office/drawing/2014/main" id="{E7CA1C08-CED6-6A28-C0F5-C0DD3DCCB87F}"/>
              </a:ext>
            </a:extLst>
          </p:cNvPr>
          <p:cNvSpPr/>
          <p:nvPr/>
        </p:nvSpPr>
        <p:spPr bwMode="gray">
          <a:xfrm>
            <a:off x="522777" y="4894683"/>
            <a:ext cx="209589" cy="209589"/>
          </a:xfrm>
          <a:prstGeom prst="ellipse">
            <a:avLst/>
          </a:prstGeom>
          <a:solidFill>
            <a:srgbClr val="EEF3F6"/>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fr-FR" sz="1200" b="1" dirty="0">
                <a:solidFill>
                  <a:schemeClr val="tx1"/>
                </a:solidFill>
              </a:rPr>
              <a:t>3</a:t>
            </a:r>
          </a:p>
        </p:txBody>
      </p:sp>
      <p:pic>
        <p:nvPicPr>
          <p:cNvPr id="2054" name="Picture 6">
            <a:extLst>
              <a:ext uri="{FF2B5EF4-FFF2-40B4-BE49-F238E27FC236}">
                <a16:creationId xmlns:a16="http://schemas.microsoft.com/office/drawing/2014/main" id="{EE3AB3E3-590D-85AF-7270-E1E4CBC357B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42894" y="4402839"/>
            <a:ext cx="2964550" cy="430660"/>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13">
            <a:extLst>
              <a:ext uri="{FF2B5EF4-FFF2-40B4-BE49-F238E27FC236}">
                <a16:creationId xmlns:a16="http://schemas.microsoft.com/office/drawing/2014/main" id="{8B370685-0ABF-1BF2-13C4-B9954ADB49BE}"/>
              </a:ext>
            </a:extLst>
          </p:cNvPr>
          <p:cNvSpPr txBox="1"/>
          <p:nvPr/>
        </p:nvSpPr>
        <p:spPr>
          <a:xfrm>
            <a:off x="623623" y="2473382"/>
            <a:ext cx="102454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dirty="0">
                <a:ln>
                  <a:noFill/>
                </a:ln>
                <a:solidFill>
                  <a:srgbClr val="0070AD"/>
                </a:solidFill>
                <a:effectLst/>
                <a:uLnTx/>
                <a:uFillTx/>
                <a:latin typeface="Ubuntu"/>
                <a:ea typeface="+mn-ea"/>
                <a:cs typeface="+mn-cs"/>
              </a:rPr>
              <a:t>Invoicing </a:t>
            </a:r>
          </a:p>
        </p:txBody>
      </p:sp>
      <p:sp>
        <p:nvSpPr>
          <p:cNvPr id="47" name="TextBox 13">
            <a:extLst>
              <a:ext uri="{FF2B5EF4-FFF2-40B4-BE49-F238E27FC236}">
                <a16:creationId xmlns:a16="http://schemas.microsoft.com/office/drawing/2014/main" id="{B94F82A9-E2D5-4B29-7B45-565B7E381ED3}"/>
              </a:ext>
            </a:extLst>
          </p:cNvPr>
          <p:cNvSpPr txBox="1"/>
          <p:nvPr/>
        </p:nvSpPr>
        <p:spPr>
          <a:xfrm>
            <a:off x="623622" y="3658406"/>
            <a:ext cx="121787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dirty="0">
                <a:ln>
                  <a:noFill/>
                </a:ln>
                <a:solidFill>
                  <a:srgbClr val="0070AD"/>
                </a:solidFill>
                <a:effectLst/>
                <a:uLnTx/>
                <a:uFillTx/>
                <a:latin typeface="Ubuntu"/>
                <a:ea typeface="+mn-ea"/>
                <a:cs typeface="+mn-cs"/>
              </a:rPr>
              <a:t>Governance</a:t>
            </a:r>
          </a:p>
        </p:txBody>
      </p:sp>
      <p:sp>
        <p:nvSpPr>
          <p:cNvPr id="48" name="TextBox 13">
            <a:extLst>
              <a:ext uri="{FF2B5EF4-FFF2-40B4-BE49-F238E27FC236}">
                <a16:creationId xmlns:a16="http://schemas.microsoft.com/office/drawing/2014/main" id="{E0A14E4F-8759-DAFD-EE65-F8B72FE4A14E}"/>
              </a:ext>
            </a:extLst>
          </p:cNvPr>
          <p:cNvSpPr txBox="1"/>
          <p:nvPr/>
        </p:nvSpPr>
        <p:spPr>
          <a:xfrm>
            <a:off x="572822" y="4853550"/>
            <a:ext cx="121787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u="none" strike="noStrike" kern="1200" cap="none" spc="0" normalizeH="0" baseline="0" noProof="0" dirty="0">
                <a:ln>
                  <a:noFill/>
                </a:ln>
                <a:solidFill>
                  <a:srgbClr val="0070AD"/>
                </a:solidFill>
                <a:effectLst/>
                <a:uLnTx/>
                <a:uFillTx/>
                <a:latin typeface="Ubuntu"/>
                <a:ea typeface="+mn-ea"/>
                <a:cs typeface="+mn-cs"/>
              </a:rPr>
              <a:t>Dashboard</a:t>
            </a:r>
          </a:p>
        </p:txBody>
      </p:sp>
      <p:sp>
        <p:nvSpPr>
          <p:cNvPr id="49" name="TextBox 13">
            <a:extLst>
              <a:ext uri="{FF2B5EF4-FFF2-40B4-BE49-F238E27FC236}">
                <a16:creationId xmlns:a16="http://schemas.microsoft.com/office/drawing/2014/main" id="{050C7AD0-80EE-E40B-F1E6-FA37AE3C8FE2}"/>
              </a:ext>
            </a:extLst>
          </p:cNvPr>
          <p:cNvSpPr txBox="1"/>
          <p:nvPr/>
        </p:nvSpPr>
        <p:spPr>
          <a:xfrm>
            <a:off x="728946" y="2685788"/>
            <a:ext cx="3178498" cy="5078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effectLst/>
                <a:uLnTx/>
                <a:uFillTx/>
                <a:latin typeface="Ubuntu"/>
                <a:ea typeface="+mn-ea"/>
                <a:cs typeface="+mn-cs"/>
              </a:rPr>
              <a:t>Every month, invoices will need to be </a:t>
            </a:r>
            <a:r>
              <a:rPr kumimoji="0" lang="en-US" sz="900" b="1" u="none" strike="noStrike" kern="1200" cap="none" spc="0" normalizeH="0" baseline="0" noProof="0" dirty="0">
                <a:ln>
                  <a:noFill/>
                </a:ln>
                <a:effectLst/>
                <a:uLnTx/>
                <a:uFillTx/>
                <a:latin typeface="Ubuntu"/>
                <a:ea typeface="+mn-ea"/>
                <a:cs typeface="+mn-cs"/>
              </a:rPr>
              <a:t>tracked</a:t>
            </a:r>
            <a:r>
              <a:rPr kumimoji="0" lang="en-US" sz="900" u="none" strike="noStrike" kern="1200" cap="none" spc="0" normalizeH="0" baseline="0" noProof="0" dirty="0">
                <a:ln>
                  <a:noFill/>
                </a:ln>
                <a:effectLst/>
                <a:uLnTx/>
                <a:uFillTx/>
                <a:latin typeface="Ubuntu"/>
                <a:ea typeface="+mn-ea"/>
                <a:cs typeface="+mn-cs"/>
              </a:rPr>
              <a:t>, and thus need to be entered for </a:t>
            </a:r>
            <a:r>
              <a:rPr kumimoji="0" lang="en-US" sz="900" b="1" u="none" strike="noStrike" kern="1200" cap="none" spc="0" normalizeH="0" baseline="0" noProof="0" dirty="0">
                <a:ln>
                  <a:noFill/>
                </a:ln>
                <a:effectLst/>
                <a:uLnTx/>
                <a:uFillTx/>
                <a:latin typeface="Ubuntu"/>
                <a:ea typeface="+mn-ea"/>
                <a:cs typeface="+mn-cs"/>
              </a:rPr>
              <a:t>each month </a:t>
            </a:r>
            <a:r>
              <a:rPr kumimoji="0" lang="en-US" sz="900" u="none" strike="noStrike" kern="1200" cap="none" spc="0" normalizeH="0" baseline="0" noProof="0" dirty="0">
                <a:ln>
                  <a:noFill/>
                </a:ln>
                <a:effectLst/>
                <a:uLnTx/>
                <a:uFillTx/>
                <a:latin typeface="Ubuntu"/>
                <a:ea typeface="+mn-ea"/>
                <a:cs typeface="+mn-cs"/>
              </a:rPr>
              <a:t>of the year. </a:t>
            </a:r>
            <a:r>
              <a:rPr kumimoji="0" lang="en-US" sz="900" u="none" strike="noStrike" kern="1200" cap="none" spc="0" normalizeH="0" baseline="0" noProof="0">
                <a:ln>
                  <a:noFill/>
                </a:ln>
                <a:effectLst/>
                <a:uLnTx/>
                <a:uFillTx/>
                <a:latin typeface="Ubuntu"/>
                <a:ea typeface="+mn-ea"/>
                <a:cs typeface="+mn-cs"/>
              </a:rPr>
              <a:t>It allows to</a:t>
            </a:r>
            <a:r>
              <a:rPr kumimoji="0" lang="en-US" sz="900" u="none" strike="noStrike" kern="1200" cap="none" spc="0" normalizeH="0" baseline="0" noProof="0" dirty="0">
                <a:ln>
                  <a:noFill/>
                </a:ln>
                <a:effectLst/>
                <a:uLnTx/>
                <a:uFillTx/>
                <a:latin typeface="Ubuntu"/>
                <a:ea typeface="+mn-ea"/>
                <a:cs typeface="+mn-cs"/>
              </a:rPr>
              <a:t> track/reduce </a:t>
            </a:r>
            <a:r>
              <a:rPr kumimoji="0" lang="en-US" sz="900" b="1" u="none" strike="noStrike" kern="1200" cap="none" spc="0" normalizeH="0" baseline="0" noProof="0" dirty="0">
                <a:ln>
                  <a:noFill/>
                </a:ln>
                <a:effectLst/>
                <a:uLnTx/>
                <a:uFillTx/>
                <a:latin typeface="Ubuntu"/>
                <a:ea typeface="+mn-ea"/>
                <a:cs typeface="+mn-cs"/>
              </a:rPr>
              <a:t>financial risks </a:t>
            </a:r>
            <a:r>
              <a:rPr kumimoji="0" lang="en-US" sz="900" u="none" strike="noStrike" kern="1200" cap="none" spc="0" normalizeH="0" baseline="0" noProof="0" dirty="0">
                <a:ln>
                  <a:noFill/>
                </a:ln>
                <a:effectLst/>
                <a:uLnTx/>
                <a:uFillTx/>
                <a:latin typeface="Ubuntu"/>
                <a:ea typeface="+mn-ea"/>
                <a:cs typeface="+mn-cs"/>
              </a:rPr>
              <a:t>&amp; optimize </a:t>
            </a:r>
            <a:r>
              <a:rPr kumimoji="0" lang="en-US" sz="900" b="1" u="none" strike="noStrike" kern="1200" cap="none" spc="0" normalizeH="0" baseline="0" noProof="0" dirty="0">
                <a:ln>
                  <a:noFill/>
                </a:ln>
                <a:effectLst/>
                <a:uLnTx/>
                <a:uFillTx/>
                <a:latin typeface="Ubuntu"/>
                <a:ea typeface="+mn-ea"/>
                <a:cs typeface="+mn-cs"/>
              </a:rPr>
              <a:t>costs</a:t>
            </a:r>
            <a:r>
              <a:rPr kumimoji="0" lang="en-US" sz="900" u="none" strike="noStrike" kern="1200" cap="none" spc="0" normalizeH="0" baseline="0" noProof="0" dirty="0">
                <a:ln>
                  <a:noFill/>
                </a:ln>
                <a:effectLst/>
                <a:uLnTx/>
                <a:uFillTx/>
                <a:latin typeface="Ubuntu"/>
                <a:ea typeface="+mn-ea"/>
                <a:cs typeface="+mn-cs"/>
              </a:rPr>
              <a:t>.</a:t>
            </a:r>
            <a:endParaRPr kumimoji="0" lang="en-US" sz="900" b="1" u="none" strike="noStrike" kern="1200" cap="none" spc="0" normalizeH="0" baseline="0" noProof="0" dirty="0">
              <a:ln>
                <a:noFill/>
              </a:ln>
              <a:effectLst/>
              <a:uLnTx/>
              <a:uFillTx/>
              <a:latin typeface="Ubuntu"/>
              <a:ea typeface="+mn-ea"/>
              <a:cs typeface="+mn-cs"/>
            </a:endParaRPr>
          </a:p>
        </p:txBody>
      </p:sp>
      <p:sp>
        <p:nvSpPr>
          <p:cNvPr id="50" name="TextBox 13">
            <a:extLst>
              <a:ext uri="{FF2B5EF4-FFF2-40B4-BE49-F238E27FC236}">
                <a16:creationId xmlns:a16="http://schemas.microsoft.com/office/drawing/2014/main" id="{C9AE5403-38E2-B61A-D40B-627C30E38841}"/>
              </a:ext>
            </a:extLst>
          </p:cNvPr>
          <p:cNvSpPr txBox="1"/>
          <p:nvPr/>
        </p:nvSpPr>
        <p:spPr>
          <a:xfrm>
            <a:off x="728946" y="3913162"/>
            <a:ext cx="3024278" cy="5078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a:ln>
                  <a:noFill/>
                </a:ln>
                <a:effectLst/>
                <a:uLnTx/>
                <a:uFillTx/>
                <a:latin typeface="Ubuntu"/>
                <a:ea typeface="+mn-ea"/>
                <a:cs typeface="+mn-cs"/>
              </a:rPr>
              <a:t>Every month, the </a:t>
            </a:r>
            <a:r>
              <a:rPr kumimoji="0" lang="en-US" sz="900" u="none" strike="noStrike" kern="1200" cap="none" spc="0" normalizeH="0" baseline="0" noProof="0" dirty="0">
                <a:ln>
                  <a:noFill/>
                </a:ln>
                <a:effectLst/>
                <a:uLnTx/>
                <a:uFillTx/>
                <a:latin typeface="Ubuntu"/>
                <a:ea typeface="+mn-ea"/>
                <a:cs typeface="+mn-cs"/>
              </a:rPr>
              <a:t>committees / </a:t>
            </a:r>
            <a:r>
              <a:rPr kumimoji="0" lang="en-US" sz="900" u="none" strike="noStrike" kern="1200" cap="none" spc="0" normalizeH="0" baseline="0" noProof="0">
                <a:ln>
                  <a:noFill/>
                </a:ln>
                <a:effectLst/>
                <a:uLnTx/>
                <a:uFillTx/>
                <a:latin typeface="Ubuntu"/>
                <a:ea typeface="+mn-ea"/>
                <a:cs typeface="+mn-cs"/>
              </a:rPr>
              <a:t>meeting </a:t>
            </a:r>
            <a:r>
              <a:rPr kumimoji="0" lang="en-US" sz="900" b="1" u="none" strike="noStrike" kern="1200" cap="none" spc="0" normalizeH="0" baseline="0" noProof="0" dirty="0">
                <a:ln>
                  <a:noFill/>
                </a:ln>
                <a:effectLst/>
                <a:uLnTx/>
                <a:uFillTx/>
                <a:latin typeface="Ubuntu"/>
                <a:ea typeface="+mn-ea"/>
                <a:cs typeface="+mn-cs"/>
              </a:rPr>
              <a:t>dates </a:t>
            </a:r>
            <a:r>
              <a:rPr kumimoji="0" lang="en-US" sz="900" u="none" strike="noStrike" kern="1200" cap="none" spc="0" normalizeH="0" baseline="0" noProof="0">
                <a:ln>
                  <a:noFill/>
                </a:ln>
                <a:effectLst/>
                <a:uLnTx/>
                <a:uFillTx/>
                <a:latin typeface="Ubuntu"/>
                <a:ea typeface="+mn-ea"/>
                <a:cs typeface="+mn-cs"/>
              </a:rPr>
              <a:t>and their </a:t>
            </a:r>
            <a:r>
              <a:rPr kumimoji="0" lang="en-US" sz="900" b="1" u="none" strike="noStrike" kern="1200" cap="none" spc="0" normalizeH="0" baseline="0" noProof="0" dirty="0">
                <a:ln>
                  <a:noFill/>
                </a:ln>
                <a:effectLst/>
                <a:uLnTx/>
                <a:uFillTx/>
                <a:latin typeface="Ubuntu"/>
                <a:ea typeface="+mn-ea"/>
                <a:cs typeface="+mn-cs"/>
              </a:rPr>
              <a:t>realization </a:t>
            </a:r>
            <a:r>
              <a:rPr kumimoji="0" lang="en-US" sz="900" u="none" strike="noStrike" kern="1200" cap="none" spc="0" normalizeH="0" baseline="0" noProof="0">
                <a:ln>
                  <a:noFill/>
                </a:ln>
                <a:effectLst/>
                <a:uLnTx/>
                <a:uFillTx/>
                <a:latin typeface="Ubuntu"/>
                <a:ea typeface="+mn-ea"/>
                <a:cs typeface="+mn-cs"/>
              </a:rPr>
              <a:t>must be updated</a:t>
            </a:r>
            <a:r>
              <a:rPr kumimoji="0" lang="en-US" sz="900" u="none" strike="noStrike" kern="1200" cap="none" spc="0" normalizeH="0" baseline="0" noProof="0" dirty="0">
                <a:ln>
                  <a:noFill/>
                </a:ln>
                <a:effectLst/>
                <a:uLnTx/>
                <a:uFillTx/>
                <a:latin typeface="Ubuntu"/>
                <a:ea typeface="+mn-ea"/>
                <a:cs typeface="+mn-cs"/>
              </a:rPr>
              <a:t> to ensure a proper TSA steering</a:t>
            </a:r>
            <a:r>
              <a:rPr kumimoji="0" lang="en-US" sz="900" u="none" strike="noStrike" kern="1200" cap="none" spc="0" normalizeH="0" baseline="0" noProof="0">
                <a:ln>
                  <a:noFill/>
                </a:ln>
                <a:effectLst/>
                <a:uLnTx/>
                <a:uFillTx/>
                <a:latin typeface="Ubuntu"/>
                <a:ea typeface="+mn-ea"/>
                <a:cs typeface="+mn-cs"/>
              </a:rPr>
              <a:t>.</a:t>
            </a:r>
            <a:r>
              <a:rPr kumimoji="0" lang="en-US" sz="900" u="none" strike="noStrike" kern="1200" cap="none" spc="0" normalizeH="0" baseline="0" noProof="0" dirty="0">
                <a:ln>
                  <a:noFill/>
                </a:ln>
                <a:effectLst/>
                <a:uLnTx/>
                <a:uFillTx/>
                <a:latin typeface="Ubuntu"/>
                <a:ea typeface="+mn-ea"/>
                <a:cs typeface="+mn-cs"/>
              </a:rPr>
              <a:t> </a:t>
            </a:r>
            <a:endParaRPr kumimoji="0" lang="en-US" sz="900" b="1" u="none" strike="noStrike" kern="1200" cap="none" spc="0" normalizeH="0" baseline="0" noProof="0" dirty="0">
              <a:ln>
                <a:noFill/>
              </a:ln>
              <a:effectLst/>
              <a:uLnTx/>
              <a:uFillTx/>
              <a:latin typeface="Ubuntu"/>
              <a:ea typeface="+mn-ea"/>
              <a:cs typeface="+mn-cs"/>
            </a:endParaRPr>
          </a:p>
        </p:txBody>
      </p:sp>
      <p:sp>
        <p:nvSpPr>
          <p:cNvPr id="51" name="TextBox 13">
            <a:extLst>
              <a:ext uri="{FF2B5EF4-FFF2-40B4-BE49-F238E27FC236}">
                <a16:creationId xmlns:a16="http://schemas.microsoft.com/office/drawing/2014/main" id="{2033A04F-D558-D06D-662E-A4FD6C781A50}"/>
              </a:ext>
            </a:extLst>
          </p:cNvPr>
          <p:cNvSpPr txBox="1"/>
          <p:nvPr/>
        </p:nvSpPr>
        <p:spPr>
          <a:xfrm>
            <a:off x="728945" y="5081395"/>
            <a:ext cx="3198451" cy="369332"/>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effectLst/>
                <a:uLnTx/>
                <a:uFillTx/>
                <a:latin typeface="Ubuntu"/>
                <a:ea typeface="+mn-ea"/>
                <a:cs typeface="+mn-cs"/>
              </a:rPr>
              <a:t>Every month, any </a:t>
            </a:r>
            <a:r>
              <a:rPr kumimoji="0" lang="en-US" sz="900" b="1" u="none" strike="noStrike" kern="1200" cap="none" spc="0" normalizeH="0" baseline="0" noProof="0" dirty="0">
                <a:ln>
                  <a:noFill/>
                </a:ln>
                <a:effectLst/>
                <a:uLnTx/>
                <a:uFillTx/>
                <a:latin typeface="Ubuntu"/>
                <a:ea typeface="+mn-ea"/>
                <a:cs typeface="+mn-cs"/>
              </a:rPr>
              <a:t>services requiring termination attention </a:t>
            </a:r>
            <a:r>
              <a:rPr kumimoji="0" lang="en-US" sz="900" u="none" strike="noStrike" kern="1200" cap="none" spc="0" normalizeH="0" baseline="0" noProof="0" dirty="0">
                <a:ln>
                  <a:noFill/>
                </a:ln>
                <a:effectLst/>
                <a:uLnTx/>
                <a:uFillTx/>
                <a:latin typeface="Ubuntu"/>
                <a:ea typeface="+mn-ea"/>
                <a:cs typeface="+mn-cs"/>
              </a:rPr>
              <a:t>must be addressed individually &amp; referenced.</a:t>
            </a:r>
            <a:endParaRPr kumimoji="0" lang="en-US" sz="900" b="1" u="none" strike="noStrike" kern="1200" cap="none" spc="0" normalizeH="0" baseline="0" noProof="0" dirty="0">
              <a:ln>
                <a:noFill/>
              </a:ln>
              <a:effectLst/>
              <a:uLnTx/>
              <a:uFillTx/>
              <a:latin typeface="Ubuntu"/>
              <a:ea typeface="+mn-ea"/>
              <a:cs typeface="+mn-cs"/>
            </a:endParaRPr>
          </a:p>
        </p:txBody>
      </p:sp>
      <p:pic>
        <p:nvPicPr>
          <p:cNvPr id="2056" name="Picture 8">
            <a:extLst>
              <a:ext uri="{FF2B5EF4-FFF2-40B4-BE49-F238E27FC236}">
                <a16:creationId xmlns:a16="http://schemas.microsoft.com/office/drawing/2014/main" id="{5C5CD23D-3BBB-CB4A-5177-347B23F4296B}"/>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1612375" y="5464625"/>
            <a:ext cx="1411640" cy="412871"/>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e 1">
            <a:extLst>
              <a:ext uri="{FF2B5EF4-FFF2-40B4-BE49-F238E27FC236}">
                <a16:creationId xmlns:a16="http://schemas.microsoft.com/office/drawing/2014/main" id="{5B5B2BBE-8A7B-AB0D-C715-23A9927550BB}"/>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22" name="Freeform 13">
              <a:extLst>
                <a:ext uri="{FF2B5EF4-FFF2-40B4-BE49-F238E27FC236}">
                  <a16:creationId xmlns:a16="http://schemas.microsoft.com/office/drawing/2014/main" id="{4016132B-7E8E-1FBF-B303-92D4AC81711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23" name="Freeform 14">
              <a:extLst>
                <a:ext uri="{FF2B5EF4-FFF2-40B4-BE49-F238E27FC236}">
                  <a16:creationId xmlns:a16="http://schemas.microsoft.com/office/drawing/2014/main" id="{F29D8F16-55CC-FF04-4283-B9C2E351836C}"/>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13" name="Foliennummernplatzhalter 5">
            <a:extLst>
              <a:ext uri="{FF2B5EF4-FFF2-40B4-BE49-F238E27FC236}">
                <a16:creationId xmlns:a16="http://schemas.microsoft.com/office/drawing/2014/main" id="{83A8DE52-1C47-28D3-5B23-6BF8DB03BED9}"/>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7</a:t>
            </a:fld>
            <a:endParaRPr lang="en-US"/>
          </a:p>
        </p:txBody>
      </p:sp>
      <p:sp>
        <p:nvSpPr>
          <p:cNvPr id="17" name="Rectangle 27">
            <a:extLst>
              <a:ext uri="{FF2B5EF4-FFF2-40B4-BE49-F238E27FC236}">
                <a16:creationId xmlns:a16="http://schemas.microsoft.com/office/drawing/2014/main" id="{5DD1DCB7-D7B2-9A3E-C5A3-5037F9C5FDE7}"/>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18" name="TextBox 17">
            <a:extLst>
              <a:ext uri="{FF2B5EF4-FFF2-40B4-BE49-F238E27FC236}">
                <a16:creationId xmlns:a16="http://schemas.microsoft.com/office/drawing/2014/main" id="{2732B663-F720-ABF9-0451-333108EE95D3}"/>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extLst>
      <p:ext uri="{BB962C8B-B14F-4D97-AF65-F5344CB8AC3E}">
        <p14:creationId xmlns:p14="http://schemas.microsoft.com/office/powerpoint/2010/main" val="1142155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 name="Object 62" hidden="1">
            <a:extLst>
              <a:ext uri="{FF2B5EF4-FFF2-40B4-BE49-F238E27FC236}">
                <a16:creationId xmlns:a16="http://schemas.microsoft.com/office/drawing/2014/main" id="{AB1347F7-7C24-431B-B516-465C0430D2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3" name="Object 62" hidden="1">
                        <a:extLst>
                          <a:ext uri="{FF2B5EF4-FFF2-40B4-BE49-F238E27FC236}">
                            <a16:creationId xmlns:a16="http://schemas.microsoft.com/office/drawing/2014/main" id="{AB1347F7-7C24-431B-B516-465C0430D2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75" name="Text Placeholder 1">
            <a:extLst>
              <a:ext uri="{FF2B5EF4-FFF2-40B4-BE49-F238E27FC236}">
                <a16:creationId xmlns:a16="http://schemas.microsoft.com/office/drawing/2014/main" id="{62402C06-1596-45A9-9428-9E090193330C}"/>
              </a:ext>
            </a:extLst>
          </p:cNvPr>
          <p:cNvSpPr txBox="1"/>
          <p:nvPr/>
        </p:nvSpPr>
        <p:spPr>
          <a:xfrm>
            <a:off x="1301746" y="317289"/>
            <a:ext cx="10587899" cy="457684"/>
          </a:xfrm>
          <a:prstGeom prst="rect">
            <a:avLst/>
          </a:prstGeom>
          <a:noFill/>
          <a:ln>
            <a:noFill/>
          </a:ln>
        </p:spPr>
        <p:txBody>
          <a:bodyPr vert="horz" wrap="square" lIns="91440" tIns="45720" rIns="91440" bIns="45720" anchor="t" anchorCtr="0" compatLnSpc="1">
            <a:noAutofit/>
          </a:bodyPr>
          <a:lstStyle/>
          <a:p>
            <a:pPr>
              <a:spcBef>
                <a:spcPct val="0"/>
              </a:spcBef>
              <a:spcAft>
                <a:spcPts val="600"/>
              </a:spcAft>
              <a:tabLst>
                <a:tab pos="1881185" algn="l"/>
              </a:tabLst>
              <a:defRPr sz="1800" b="0" i="0" u="none" strike="noStrike" kern="0" cap="none" spc="0" baseline="0">
                <a:solidFill>
                  <a:srgbClr val="000000"/>
                </a:solidFill>
                <a:uFillTx/>
              </a:defRPr>
            </a:pPr>
            <a:r>
              <a:rPr lang="en-US" sz="2400" b="1" kern="0" spc="-50" dirty="0">
                <a:solidFill>
                  <a:srgbClr val="000000"/>
                </a:solidFill>
                <a:latin typeface="+mj-lt"/>
                <a:ea typeface="+mj-ea"/>
                <a:cs typeface="+mj-cs"/>
              </a:rPr>
              <a:t>STREAM 3 | IT OM: </a:t>
            </a:r>
            <a:r>
              <a:rPr lang="en-US" sz="2400" b="1" kern="0" spc="-50" dirty="0">
                <a:solidFill>
                  <a:srgbClr val="1781E3"/>
                </a:solidFill>
                <a:latin typeface="+mj-lt"/>
                <a:ea typeface="+mj-ea"/>
                <a:cs typeface="+mj-cs"/>
              </a:rPr>
              <a:t>CAPGEMINI FRAMEWORK TOWARDS AN AGILE TOM</a:t>
            </a:r>
          </a:p>
        </p:txBody>
      </p:sp>
      <p:sp>
        <p:nvSpPr>
          <p:cNvPr id="280" name="Rectangle 279">
            <a:extLst>
              <a:ext uri="{FF2B5EF4-FFF2-40B4-BE49-F238E27FC236}">
                <a16:creationId xmlns:a16="http://schemas.microsoft.com/office/drawing/2014/main" id="{AC346A23-A443-7B05-7715-4EE115AF70AD}"/>
              </a:ext>
            </a:extLst>
          </p:cNvPr>
          <p:cNvSpPr/>
          <p:nvPr/>
        </p:nvSpPr>
        <p:spPr bwMode="gray">
          <a:xfrm>
            <a:off x="0" y="991013"/>
            <a:ext cx="12191999" cy="720000"/>
          </a:xfrm>
          <a:prstGeom prst="rect">
            <a:avLst/>
          </a:prstGeom>
          <a:solidFill>
            <a:srgbClr val="CCECFF"/>
          </a:solidFill>
          <a:ln w="6350" cap="flat" cmpd="sng" algn="ctr">
            <a:noFill/>
            <a:prstDash val="solid"/>
            <a:miter lim="800000"/>
          </a:ln>
          <a:effectLst/>
        </p:spPr>
        <p:txBody>
          <a:bodyPr rtlCol="0" anchor="ctr"/>
          <a:lstStyle/>
          <a:p>
            <a:pPr>
              <a:lnSpc>
                <a:spcPct val="110000"/>
              </a:lnSpc>
            </a:pPr>
            <a:r>
              <a:rPr lang="en-GB" sz="1600" i="1" kern="0" dirty="0">
                <a:latin typeface="+mj-lt"/>
              </a:rPr>
              <a:t>The crucial part of the IT Operating Model will be not only to assess both companies based on Capgemini’s parameters framework, but also to highlight the key differences and design principles to be taken into consideration for the IT Target Operating Model definition</a:t>
            </a:r>
          </a:p>
        </p:txBody>
      </p:sp>
      <p:sp>
        <p:nvSpPr>
          <p:cNvPr id="281" name="Rectangle 280">
            <a:extLst>
              <a:ext uri="{FF2B5EF4-FFF2-40B4-BE49-F238E27FC236}">
                <a16:creationId xmlns:a16="http://schemas.microsoft.com/office/drawing/2014/main" id="{9F89A437-1A29-79E4-5AE5-922BACF1F355}"/>
              </a:ext>
            </a:extLst>
          </p:cNvPr>
          <p:cNvSpPr/>
          <p:nvPr/>
        </p:nvSpPr>
        <p:spPr>
          <a:xfrm>
            <a:off x="85630" y="1820438"/>
            <a:ext cx="3833310" cy="4804040"/>
          </a:xfrm>
          <a:prstGeom prst="rect">
            <a:avLst/>
          </a:prstGeom>
          <a:solidFill>
            <a:schemeClr val="accent1"/>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endParaRPr lang="en-IN" sz="1400" kern="0">
              <a:solidFill>
                <a:srgbClr val="000000"/>
              </a:solidFill>
              <a:latin typeface="+mj-lt"/>
              <a:sym typeface="Arial"/>
            </a:endParaRPr>
          </a:p>
        </p:txBody>
      </p:sp>
      <p:sp>
        <p:nvSpPr>
          <p:cNvPr id="282" name="Freeform 38">
            <a:extLst>
              <a:ext uri="{FF2B5EF4-FFF2-40B4-BE49-F238E27FC236}">
                <a16:creationId xmlns:a16="http://schemas.microsoft.com/office/drawing/2014/main" id="{9FDEC19D-EF5B-A016-EBFD-B94A67704C53}"/>
              </a:ext>
            </a:extLst>
          </p:cNvPr>
          <p:cNvSpPr>
            <a:spLocks/>
          </p:cNvSpPr>
          <p:nvPr/>
        </p:nvSpPr>
        <p:spPr bwMode="auto">
          <a:xfrm flipH="1">
            <a:off x="2396950" y="2230223"/>
            <a:ext cx="1457415" cy="1374924"/>
          </a:xfrm>
          <a:custGeom>
            <a:avLst/>
            <a:gdLst/>
            <a:ahLst/>
            <a:cxnLst>
              <a:cxn ang="0">
                <a:pos x="694" y="0"/>
              </a:cxn>
              <a:cxn ang="0">
                <a:pos x="0" y="830"/>
              </a:cxn>
              <a:cxn ang="0">
                <a:pos x="897" y="830"/>
              </a:cxn>
              <a:cxn ang="0">
                <a:pos x="1140" y="531"/>
              </a:cxn>
              <a:cxn ang="0">
                <a:pos x="694" y="0"/>
              </a:cxn>
            </a:cxnLst>
            <a:rect l="0" t="0" r="r" b="b"/>
            <a:pathLst>
              <a:path w="1141" h="831">
                <a:moveTo>
                  <a:pt x="694" y="0"/>
                </a:moveTo>
                <a:lnTo>
                  <a:pt x="0" y="830"/>
                </a:lnTo>
                <a:lnTo>
                  <a:pt x="897" y="830"/>
                </a:lnTo>
                <a:lnTo>
                  <a:pt x="1140" y="531"/>
                </a:lnTo>
                <a:lnTo>
                  <a:pt x="694" y="0"/>
                </a:lnTo>
              </a:path>
            </a:pathLst>
          </a:custGeom>
          <a:solidFill>
            <a:srgbClr val="0070C0"/>
          </a:solidFill>
          <a:ln w="6350" cap="rnd" cmpd="sng">
            <a:noFill/>
            <a:prstDash val="solid"/>
            <a:round/>
            <a:headEnd/>
            <a:tailEnd/>
          </a:ln>
          <a:effectLst/>
        </p:spPr>
        <p:txBody>
          <a:bodyPr lIns="0" tIns="30375" rIns="0" bIns="30375"/>
          <a:lstStyle/>
          <a:p>
            <a:pPr defTabSz="385763">
              <a:buClr>
                <a:srgbClr val="000000"/>
              </a:buClr>
              <a:buFont typeface="Arial"/>
              <a:buNone/>
              <a:defRPr/>
            </a:pPr>
            <a:endParaRPr lang="en-AU" sz="1000" b="1" kern="0">
              <a:solidFill>
                <a:srgbClr val="000000"/>
              </a:solidFill>
              <a:latin typeface="+mj-lt"/>
              <a:cs typeface="Arial"/>
              <a:sym typeface="Arial"/>
            </a:endParaRPr>
          </a:p>
        </p:txBody>
      </p:sp>
      <p:sp>
        <p:nvSpPr>
          <p:cNvPr id="283" name="Freeform 3">
            <a:extLst>
              <a:ext uri="{FF2B5EF4-FFF2-40B4-BE49-F238E27FC236}">
                <a16:creationId xmlns:a16="http://schemas.microsoft.com/office/drawing/2014/main" id="{AFFC13D0-E585-0676-E027-17B97A341365}"/>
              </a:ext>
            </a:extLst>
          </p:cNvPr>
          <p:cNvSpPr>
            <a:spLocks/>
          </p:cNvSpPr>
          <p:nvPr/>
        </p:nvSpPr>
        <p:spPr bwMode="auto">
          <a:xfrm flipH="1" flipV="1">
            <a:off x="2396950" y="3674403"/>
            <a:ext cx="1457415" cy="1373905"/>
          </a:xfrm>
          <a:custGeom>
            <a:avLst/>
            <a:gdLst/>
            <a:ahLst/>
            <a:cxnLst>
              <a:cxn ang="0">
                <a:pos x="694" y="0"/>
              </a:cxn>
              <a:cxn ang="0">
                <a:pos x="0" y="830"/>
              </a:cxn>
              <a:cxn ang="0">
                <a:pos x="897" y="830"/>
              </a:cxn>
              <a:cxn ang="0">
                <a:pos x="1140" y="531"/>
              </a:cxn>
              <a:cxn ang="0">
                <a:pos x="694" y="0"/>
              </a:cxn>
            </a:cxnLst>
            <a:rect l="0" t="0" r="r" b="b"/>
            <a:pathLst>
              <a:path w="1141" h="831">
                <a:moveTo>
                  <a:pt x="694" y="0"/>
                </a:moveTo>
                <a:lnTo>
                  <a:pt x="0" y="830"/>
                </a:lnTo>
                <a:lnTo>
                  <a:pt x="897" y="830"/>
                </a:lnTo>
                <a:lnTo>
                  <a:pt x="1140" y="531"/>
                </a:lnTo>
                <a:lnTo>
                  <a:pt x="694" y="0"/>
                </a:lnTo>
              </a:path>
            </a:pathLst>
          </a:custGeom>
          <a:solidFill>
            <a:srgbClr val="0070C0"/>
          </a:solidFill>
          <a:ln w="6350" cap="rnd" cmpd="sng">
            <a:noFill/>
            <a:prstDash val="solid"/>
            <a:round/>
            <a:headEnd/>
            <a:tailEnd/>
          </a:ln>
          <a:effectLst/>
        </p:spPr>
        <p:txBody>
          <a:bodyPr lIns="0" tIns="30375" rIns="0" bIns="30375"/>
          <a:lstStyle/>
          <a:p>
            <a:pPr defTabSz="385763">
              <a:buClr>
                <a:srgbClr val="000000"/>
              </a:buClr>
              <a:buFont typeface="Arial"/>
              <a:buNone/>
              <a:defRPr/>
            </a:pPr>
            <a:endParaRPr lang="en-AU" sz="1200" b="1" kern="0">
              <a:solidFill>
                <a:srgbClr val="000000"/>
              </a:solidFill>
              <a:latin typeface="+mj-lt"/>
              <a:cs typeface="Arial"/>
              <a:sym typeface="Arial"/>
            </a:endParaRPr>
          </a:p>
        </p:txBody>
      </p:sp>
      <p:sp>
        <p:nvSpPr>
          <p:cNvPr id="284" name="Freeform 4">
            <a:extLst>
              <a:ext uri="{FF2B5EF4-FFF2-40B4-BE49-F238E27FC236}">
                <a16:creationId xmlns:a16="http://schemas.microsoft.com/office/drawing/2014/main" id="{7991D7FF-5A5A-82B0-FFAF-DAD97EC9F8B6}"/>
              </a:ext>
            </a:extLst>
          </p:cNvPr>
          <p:cNvSpPr>
            <a:spLocks/>
          </p:cNvSpPr>
          <p:nvPr/>
        </p:nvSpPr>
        <p:spPr bwMode="auto">
          <a:xfrm flipV="1">
            <a:off x="168182" y="3674402"/>
            <a:ext cx="1456366" cy="1373905"/>
          </a:xfrm>
          <a:custGeom>
            <a:avLst/>
            <a:gdLst/>
            <a:ahLst/>
            <a:cxnLst>
              <a:cxn ang="0">
                <a:pos x="694" y="0"/>
              </a:cxn>
              <a:cxn ang="0">
                <a:pos x="0" y="830"/>
              </a:cxn>
              <a:cxn ang="0">
                <a:pos x="897" y="830"/>
              </a:cxn>
              <a:cxn ang="0">
                <a:pos x="1140" y="531"/>
              </a:cxn>
              <a:cxn ang="0">
                <a:pos x="694" y="0"/>
              </a:cxn>
            </a:cxnLst>
            <a:rect l="0" t="0" r="r" b="b"/>
            <a:pathLst>
              <a:path w="1141" h="831">
                <a:moveTo>
                  <a:pt x="694" y="0"/>
                </a:moveTo>
                <a:lnTo>
                  <a:pt x="0" y="830"/>
                </a:lnTo>
                <a:lnTo>
                  <a:pt x="897" y="830"/>
                </a:lnTo>
                <a:lnTo>
                  <a:pt x="1140" y="531"/>
                </a:lnTo>
                <a:lnTo>
                  <a:pt x="694" y="0"/>
                </a:lnTo>
              </a:path>
            </a:pathLst>
          </a:custGeom>
          <a:solidFill>
            <a:srgbClr val="0070C0"/>
          </a:solidFill>
          <a:ln w="6350" cap="rnd" cmpd="sng">
            <a:noFill/>
            <a:prstDash val="solid"/>
            <a:round/>
            <a:headEnd/>
            <a:tailEnd/>
          </a:ln>
          <a:effectLst/>
        </p:spPr>
        <p:txBody>
          <a:bodyPr lIns="0" tIns="30375" rIns="0" bIns="30375"/>
          <a:lstStyle/>
          <a:p>
            <a:pPr defTabSz="385763">
              <a:buClr>
                <a:srgbClr val="000000"/>
              </a:buClr>
              <a:buFont typeface="Arial"/>
              <a:buNone/>
              <a:defRPr/>
            </a:pPr>
            <a:endParaRPr lang="en-AU" sz="1200" b="1" kern="0">
              <a:solidFill>
                <a:srgbClr val="000000"/>
              </a:solidFill>
              <a:latin typeface="+mj-lt"/>
              <a:cs typeface="Arial"/>
              <a:sym typeface="Arial"/>
            </a:endParaRPr>
          </a:p>
        </p:txBody>
      </p:sp>
      <p:sp>
        <p:nvSpPr>
          <p:cNvPr id="285" name="AutoShape 5">
            <a:extLst>
              <a:ext uri="{FF2B5EF4-FFF2-40B4-BE49-F238E27FC236}">
                <a16:creationId xmlns:a16="http://schemas.microsoft.com/office/drawing/2014/main" id="{2B09547E-E8C7-A78F-5E40-0F8B5AAE71FE}"/>
              </a:ext>
            </a:extLst>
          </p:cNvPr>
          <p:cNvSpPr>
            <a:spLocks noChangeArrowheads="1"/>
          </p:cNvSpPr>
          <p:nvPr/>
        </p:nvSpPr>
        <p:spPr bwMode="auto">
          <a:xfrm>
            <a:off x="1377701" y="3138685"/>
            <a:ext cx="1274582" cy="1001148"/>
          </a:xfrm>
          <a:prstGeom prst="hexagon">
            <a:avLst>
              <a:gd name="adj" fmla="val 29593"/>
              <a:gd name="vf" fmla="val 115470"/>
            </a:avLst>
          </a:prstGeom>
          <a:solidFill>
            <a:srgbClr val="FFFFFF"/>
          </a:solidFill>
          <a:ln w="6350">
            <a:solidFill>
              <a:srgbClr val="3F3F47"/>
            </a:solidFill>
            <a:miter lim="800000"/>
            <a:headEnd/>
            <a:tailEnd/>
          </a:ln>
          <a:effectLst/>
        </p:spPr>
        <p:txBody>
          <a:bodyPr wrap="square" lIns="0" tIns="40500" rIns="0" bIns="40500" anchor="ctr"/>
          <a:lstStyle/>
          <a:p>
            <a:pPr algn="ctr" defTabSz="685748" eaLnBrk="0" hangingPunct="0">
              <a:spcBef>
                <a:spcPts val="200"/>
              </a:spcBef>
              <a:spcAft>
                <a:spcPts val="200"/>
              </a:spcAft>
              <a:buClr>
                <a:srgbClr val="000000"/>
              </a:buClr>
              <a:buFont typeface="Arial"/>
              <a:buNone/>
              <a:defRPr/>
            </a:pPr>
            <a:r>
              <a:rPr lang="en-AU" sz="1200" b="1" kern="0">
                <a:solidFill>
                  <a:srgbClr val="3F3F47"/>
                </a:solidFill>
                <a:latin typeface="+mj-lt"/>
                <a:cs typeface="Arial"/>
                <a:sym typeface="Arial"/>
              </a:rPr>
              <a:t>Vision</a:t>
            </a:r>
            <a:br>
              <a:rPr lang="en-AU" sz="1200" b="1" kern="0">
                <a:solidFill>
                  <a:srgbClr val="3F3F47"/>
                </a:solidFill>
                <a:latin typeface="+mj-lt"/>
                <a:cs typeface="Arial"/>
                <a:sym typeface="Arial"/>
              </a:rPr>
            </a:br>
            <a:r>
              <a:rPr lang="en-AU" sz="1200" b="1" kern="0">
                <a:solidFill>
                  <a:srgbClr val="3F3F47"/>
                </a:solidFill>
                <a:latin typeface="+mj-lt"/>
                <a:cs typeface="Arial"/>
                <a:sym typeface="Arial"/>
              </a:rPr>
              <a:t> &amp;</a:t>
            </a:r>
          </a:p>
          <a:p>
            <a:pPr algn="ctr" defTabSz="685748" eaLnBrk="0" hangingPunct="0">
              <a:spcBef>
                <a:spcPts val="200"/>
              </a:spcBef>
              <a:spcAft>
                <a:spcPts val="200"/>
              </a:spcAft>
              <a:buClr>
                <a:srgbClr val="000000"/>
              </a:buClr>
              <a:buFont typeface="Arial"/>
              <a:buNone/>
              <a:defRPr/>
            </a:pPr>
            <a:r>
              <a:rPr lang="en-AU" sz="1200" b="1" kern="0">
                <a:solidFill>
                  <a:srgbClr val="3F3F47"/>
                </a:solidFill>
                <a:latin typeface="+mj-lt"/>
                <a:cs typeface="Arial"/>
                <a:sym typeface="Arial"/>
              </a:rPr>
              <a:t>Strategy</a:t>
            </a:r>
          </a:p>
        </p:txBody>
      </p:sp>
      <p:sp>
        <p:nvSpPr>
          <p:cNvPr id="286" name="Freeform 7">
            <a:extLst>
              <a:ext uri="{FF2B5EF4-FFF2-40B4-BE49-F238E27FC236}">
                <a16:creationId xmlns:a16="http://schemas.microsoft.com/office/drawing/2014/main" id="{947E7569-D74B-D924-5BD6-372DA2F12DD9}"/>
              </a:ext>
            </a:extLst>
          </p:cNvPr>
          <p:cNvSpPr>
            <a:spLocks/>
          </p:cNvSpPr>
          <p:nvPr/>
        </p:nvSpPr>
        <p:spPr bwMode="auto">
          <a:xfrm>
            <a:off x="1117113" y="2192533"/>
            <a:ext cx="1794714" cy="879951"/>
          </a:xfrm>
          <a:custGeom>
            <a:avLst/>
            <a:gdLst/>
            <a:ahLst/>
            <a:cxnLst>
              <a:cxn ang="0">
                <a:pos x="0" y="0"/>
              </a:cxn>
              <a:cxn ang="0">
                <a:pos x="441" y="531"/>
              </a:cxn>
              <a:cxn ang="0">
                <a:pos x="958" y="531"/>
              </a:cxn>
              <a:cxn ang="0">
                <a:pos x="1405" y="0"/>
              </a:cxn>
              <a:cxn ang="0">
                <a:pos x="0" y="0"/>
              </a:cxn>
            </a:cxnLst>
            <a:rect l="0" t="0" r="r" b="b"/>
            <a:pathLst>
              <a:path w="1406" h="532">
                <a:moveTo>
                  <a:pt x="0" y="0"/>
                </a:moveTo>
                <a:lnTo>
                  <a:pt x="441" y="531"/>
                </a:lnTo>
                <a:lnTo>
                  <a:pt x="958" y="531"/>
                </a:lnTo>
                <a:lnTo>
                  <a:pt x="1405" y="0"/>
                </a:lnTo>
                <a:lnTo>
                  <a:pt x="0" y="0"/>
                </a:lnTo>
              </a:path>
            </a:pathLst>
          </a:custGeom>
          <a:solidFill>
            <a:srgbClr val="0070C0"/>
          </a:solidFill>
          <a:ln w="6350" cap="rnd" cmpd="sng">
            <a:noFill/>
            <a:prstDash val="solid"/>
            <a:round/>
            <a:headEnd/>
            <a:tailEnd/>
          </a:ln>
          <a:effectLst/>
        </p:spPr>
        <p:txBody>
          <a:bodyPr lIns="0" tIns="30375" rIns="0" bIns="30375"/>
          <a:lstStyle/>
          <a:p>
            <a:pPr defTabSz="385763">
              <a:buClr>
                <a:srgbClr val="000000"/>
              </a:buClr>
              <a:buFont typeface="Arial"/>
              <a:buNone/>
              <a:defRPr/>
            </a:pPr>
            <a:endParaRPr lang="en-AU" sz="1000" b="1" kern="0">
              <a:solidFill>
                <a:srgbClr val="000000"/>
              </a:solidFill>
              <a:latin typeface="+mj-lt"/>
              <a:cs typeface="Arial"/>
              <a:sym typeface="Arial"/>
            </a:endParaRPr>
          </a:p>
        </p:txBody>
      </p:sp>
      <p:sp>
        <p:nvSpPr>
          <p:cNvPr id="287" name="Freeform 8">
            <a:extLst>
              <a:ext uri="{FF2B5EF4-FFF2-40B4-BE49-F238E27FC236}">
                <a16:creationId xmlns:a16="http://schemas.microsoft.com/office/drawing/2014/main" id="{2732C6FF-A9D5-EE0C-1F3B-2A5A41C13B5F}"/>
              </a:ext>
            </a:extLst>
          </p:cNvPr>
          <p:cNvSpPr>
            <a:spLocks/>
          </p:cNvSpPr>
          <p:nvPr/>
        </p:nvSpPr>
        <p:spPr bwMode="auto">
          <a:xfrm>
            <a:off x="1117109" y="4208070"/>
            <a:ext cx="1794713" cy="879951"/>
          </a:xfrm>
          <a:custGeom>
            <a:avLst/>
            <a:gdLst/>
            <a:ahLst/>
            <a:cxnLst>
              <a:cxn ang="0">
                <a:pos x="0" y="531"/>
              </a:cxn>
              <a:cxn ang="0">
                <a:pos x="441" y="0"/>
              </a:cxn>
              <a:cxn ang="0">
                <a:pos x="958" y="0"/>
              </a:cxn>
              <a:cxn ang="0">
                <a:pos x="1405" y="531"/>
              </a:cxn>
              <a:cxn ang="0">
                <a:pos x="0" y="531"/>
              </a:cxn>
            </a:cxnLst>
            <a:rect l="0" t="0" r="r" b="b"/>
            <a:pathLst>
              <a:path w="1406" h="532">
                <a:moveTo>
                  <a:pt x="0" y="531"/>
                </a:moveTo>
                <a:lnTo>
                  <a:pt x="441" y="0"/>
                </a:lnTo>
                <a:lnTo>
                  <a:pt x="958" y="0"/>
                </a:lnTo>
                <a:lnTo>
                  <a:pt x="1405" y="531"/>
                </a:lnTo>
                <a:lnTo>
                  <a:pt x="0" y="531"/>
                </a:lnTo>
              </a:path>
            </a:pathLst>
          </a:custGeom>
          <a:solidFill>
            <a:srgbClr val="0070C0"/>
          </a:solidFill>
          <a:ln w="6350" cap="rnd" cmpd="sng">
            <a:noFill/>
            <a:prstDash val="solid"/>
            <a:round/>
            <a:headEnd/>
            <a:tailEnd/>
          </a:ln>
          <a:effectLst/>
        </p:spPr>
        <p:txBody>
          <a:bodyPr lIns="0" tIns="30375" rIns="0" bIns="30375"/>
          <a:lstStyle/>
          <a:p>
            <a:pPr defTabSz="385763">
              <a:buClr>
                <a:srgbClr val="000000"/>
              </a:buClr>
              <a:buFont typeface="Arial"/>
              <a:buNone/>
              <a:defRPr/>
            </a:pPr>
            <a:endParaRPr lang="en-AU" sz="1200" b="1" kern="0">
              <a:solidFill>
                <a:srgbClr val="000000"/>
              </a:solidFill>
              <a:latin typeface="+mj-lt"/>
              <a:cs typeface="Arial"/>
              <a:sym typeface="Arial"/>
            </a:endParaRPr>
          </a:p>
        </p:txBody>
      </p:sp>
      <p:sp>
        <p:nvSpPr>
          <p:cNvPr id="32" name="Freeform 9">
            <a:extLst>
              <a:ext uri="{FF2B5EF4-FFF2-40B4-BE49-F238E27FC236}">
                <a16:creationId xmlns:a16="http://schemas.microsoft.com/office/drawing/2014/main" id="{5CEEE4ED-3805-1258-773D-E6039E0B1348}"/>
              </a:ext>
            </a:extLst>
          </p:cNvPr>
          <p:cNvSpPr>
            <a:spLocks/>
          </p:cNvSpPr>
          <p:nvPr/>
        </p:nvSpPr>
        <p:spPr bwMode="auto">
          <a:xfrm>
            <a:off x="156707" y="2230223"/>
            <a:ext cx="1456366" cy="1374924"/>
          </a:xfrm>
          <a:custGeom>
            <a:avLst/>
            <a:gdLst/>
            <a:ahLst/>
            <a:cxnLst>
              <a:cxn ang="0">
                <a:pos x="694" y="0"/>
              </a:cxn>
              <a:cxn ang="0">
                <a:pos x="0" y="830"/>
              </a:cxn>
              <a:cxn ang="0">
                <a:pos x="897" y="830"/>
              </a:cxn>
              <a:cxn ang="0">
                <a:pos x="1140" y="531"/>
              </a:cxn>
              <a:cxn ang="0">
                <a:pos x="694" y="0"/>
              </a:cxn>
            </a:cxnLst>
            <a:rect l="0" t="0" r="r" b="b"/>
            <a:pathLst>
              <a:path w="1141" h="831">
                <a:moveTo>
                  <a:pt x="694" y="0"/>
                </a:moveTo>
                <a:lnTo>
                  <a:pt x="0" y="830"/>
                </a:lnTo>
                <a:lnTo>
                  <a:pt x="897" y="830"/>
                </a:lnTo>
                <a:lnTo>
                  <a:pt x="1140" y="531"/>
                </a:lnTo>
                <a:lnTo>
                  <a:pt x="694" y="0"/>
                </a:lnTo>
              </a:path>
            </a:pathLst>
          </a:custGeom>
          <a:solidFill>
            <a:srgbClr val="0070C0"/>
          </a:solidFill>
          <a:ln w="6350" cap="rnd" cmpd="sng">
            <a:noFill/>
            <a:prstDash val="solid"/>
            <a:round/>
            <a:headEnd/>
            <a:tailEnd/>
          </a:ln>
          <a:effectLst/>
        </p:spPr>
        <p:txBody>
          <a:bodyPr lIns="0" tIns="30375" rIns="0" bIns="30375"/>
          <a:lstStyle/>
          <a:p>
            <a:pPr defTabSz="385763">
              <a:buClr>
                <a:srgbClr val="000000"/>
              </a:buClr>
              <a:buFont typeface="Arial"/>
              <a:buNone/>
              <a:defRPr/>
            </a:pPr>
            <a:endParaRPr lang="en-AU" sz="1000" b="1" kern="0">
              <a:solidFill>
                <a:srgbClr val="000000"/>
              </a:solidFill>
              <a:latin typeface="+mj-lt"/>
              <a:cs typeface="Arial"/>
              <a:sym typeface="Arial"/>
            </a:endParaRPr>
          </a:p>
        </p:txBody>
      </p:sp>
      <p:sp>
        <p:nvSpPr>
          <p:cNvPr id="34" name="Rectangle 10">
            <a:extLst>
              <a:ext uri="{FF2B5EF4-FFF2-40B4-BE49-F238E27FC236}">
                <a16:creationId xmlns:a16="http://schemas.microsoft.com/office/drawing/2014/main" id="{02FAE57D-E75E-6AC7-87F6-335D710F85F2}"/>
              </a:ext>
            </a:extLst>
          </p:cNvPr>
          <p:cNvSpPr>
            <a:spLocks noChangeArrowheads="1"/>
          </p:cNvSpPr>
          <p:nvPr/>
        </p:nvSpPr>
        <p:spPr bwMode="auto">
          <a:xfrm>
            <a:off x="1560713" y="2547860"/>
            <a:ext cx="916271" cy="298409"/>
          </a:xfrm>
          <a:prstGeom prst="rect">
            <a:avLst/>
          </a:prstGeom>
          <a:noFill/>
          <a:ln w="6350">
            <a:noFill/>
            <a:miter lim="800000"/>
            <a:headEnd/>
            <a:tailEnd/>
          </a:ln>
          <a:effectLst/>
        </p:spPr>
        <p:txBody>
          <a:bodyPr wrap="square" lIns="0" tIns="40500" rIns="0" bIns="40500"/>
          <a:lstStyle/>
          <a:p>
            <a:pPr algn="ctr" defTabSz="685748" eaLnBrk="0" hangingPunct="0">
              <a:buClr>
                <a:srgbClr val="000000"/>
              </a:buClr>
              <a:buFont typeface="Arial"/>
              <a:buNone/>
              <a:defRPr/>
            </a:pPr>
            <a:r>
              <a:rPr lang="en-AU" sz="1200" b="1" kern="0">
                <a:solidFill>
                  <a:srgbClr val="FFFFFF"/>
                </a:solidFill>
                <a:latin typeface="+mj-lt"/>
                <a:cs typeface="Arial"/>
                <a:sym typeface="Arial"/>
              </a:rPr>
              <a:t>Process &amp; capabilities</a:t>
            </a:r>
          </a:p>
        </p:txBody>
      </p:sp>
      <p:sp>
        <p:nvSpPr>
          <p:cNvPr id="35" name="Rectangle 11">
            <a:extLst>
              <a:ext uri="{FF2B5EF4-FFF2-40B4-BE49-F238E27FC236}">
                <a16:creationId xmlns:a16="http://schemas.microsoft.com/office/drawing/2014/main" id="{83E4E959-AC5C-4C49-79F2-FC9A85CD9714}"/>
              </a:ext>
            </a:extLst>
          </p:cNvPr>
          <p:cNvSpPr>
            <a:spLocks noChangeArrowheads="1"/>
          </p:cNvSpPr>
          <p:nvPr/>
        </p:nvSpPr>
        <p:spPr bwMode="auto">
          <a:xfrm>
            <a:off x="1556328" y="4640832"/>
            <a:ext cx="916272" cy="301466"/>
          </a:xfrm>
          <a:prstGeom prst="rect">
            <a:avLst/>
          </a:prstGeom>
          <a:noFill/>
          <a:ln w="6350">
            <a:noFill/>
            <a:miter lim="800000"/>
            <a:headEnd/>
            <a:tailEnd/>
          </a:ln>
          <a:effectLst/>
        </p:spPr>
        <p:txBody>
          <a:bodyPr wrap="square" lIns="0" tIns="40500" rIns="0" bIns="40500"/>
          <a:lstStyle/>
          <a:p>
            <a:pPr algn="ctr" defTabSz="685748" eaLnBrk="0" hangingPunct="0">
              <a:buClr>
                <a:srgbClr val="000000"/>
              </a:buClr>
              <a:buFont typeface="Arial"/>
              <a:buNone/>
              <a:defRPr/>
            </a:pPr>
            <a:r>
              <a:rPr lang="en-AU" sz="1200" b="1" kern="0">
                <a:solidFill>
                  <a:srgbClr val="FFFFFF"/>
                </a:solidFill>
                <a:latin typeface="+mj-lt"/>
                <a:cs typeface="Arial"/>
                <a:sym typeface="Arial"/>
              </a:rPr>
              <a:t>Ways of </a:t>
            </a:r>
          </a:p>
          <a:p>
            <a:pPr algn="ctr" defTabSz="685748" eaLnBrk="0" hangingPunct="0">
              <a:buClr>
                <a:srgbClr val="000000"/>
              </a:buClr>
              <a:buFont typeface="Arial"/>
              <a:buNone/>
              <a:defRPr/>
            </a:pPr>
            <a:r>
              <a:rPr lang="en-AU" sz="1200" b="1" kern="0">
                <a:solidFill>
                  <a:srgbClr val="FFFFFF"/>
                </a:solidFill>
                <a:latin typeface="+mj-lt"/>
                <a:cs typeface="Arial"/>
                <a:sym typeface="Arial"/>
              </a:rPr>
              <a:t>Working</a:t>
            </a:r>
          </a:p>
        </p:txBody>
      </p:sp>
      <p:sp>
        <p:nvSpPr>
          <p:cNvPr id="36" name="Rectangle 12">
            <a:extLst>
              <a:ext uri="{FF2B5EF4-FFF2-40B4-BE49-F238E27FC236}">
                <a16:creationId xmlns:a16="http://schemas.microsoft.com/office/drawing/2014/main" id="{F1CD45F4-6387-DB25-F7C9-68008DDB93FE}"/>
              </a:ext>
            </a:extLst>
          </p:cNvPr>
          <p:cNvSpPr>
            <a:spLocks noChangeArrowheads="1"/>
          </p:cNvSpPr>
          <p:nvPr/>
        </p:nvSpPr>
        <p:spPr bwMode="auto">
          <a:xfrm>
            <a:off x="551727" y="2915134"/>
            <a:ext cx="916271" cy="301465"/>
          </a:xfrm>
          <a:prstGeom prst="rect">
            <a:avLst/>
          </a:prstGeom>
          <a:noFill/>
          <a:ln w="6350">
            <a:noFill/>
            <a:miter lim="800000"/>
            <a:headEnd/>
            <a:tailEnd/>
          </a:ln>
          <a:effectLst/>
        </p:spPr>
        <p:txBody>
          <a:bodyPr wrap="square" lIns="0" tIns="40500" rIns="0" bIns="40500"/>
          <a:lstStyle/>
          <a:p>
            <a:pPr algn="ctr" defTabSz="685748" eaLnBrk="0" hangingPunct="0">
              <a:buClr>
                <a:srgbClr val="000000"/>
              </a:buClr>
              <a:buFont typeface="Arial"/>
              <a:buNone/>
              <a:defRPr/>
            </a:pPr>
            <a:r>
              <a:rPr lang="en-AU" sz="1200" b="1" kern="0">
                <a:solidFill>
                  <a:srgbClr val="FFFFFF"/>
                </a:solidFill>
                <a:latin typeface="+mj-lt"/>
                <a:cs typeface="Arial"/>
                <a:sym typeface="Arial"/>
              </a:rPr>
              <a:t>Performance &amp;</a:t>
            </a:r>
          </a:p>
          <a:p>
            <a:pPr algn="ctr" defTabSz="685748" eaLnBrk="0" hangingPunct="0">
              <a:buClr>
                <a:srgbClr val="000000"/>
              </a:buClr>
              <a:buFont typeface="Arial"/>
              <a:buNone/>
              <a:defRPr/>
            </a:pPr>
            <a:r>
              <a:rPr lang="en-AU" sz="1200" b="1" kern="0">
                <a:solidFill>
                  <a:srgbClr val="FFFFFF"/>
                </a:solidFill>
                <a:latin typeface="+mj-lt"/>
                <a:cs typeface="Arial"/>
                <a:sym typeface="Arial"/>
              </a:rPr>
              <a:t>Governance</a:t>
            </a:r>
          </a:p>
        </p:txBody>
      </p:sp>
      <p:sp>
        <p:nvSpPr>
          <p:cNvPr id="37" name="Rectangle 13">
            <a:extLst>
              <a:ext uri="{FF2B5EF4-FFF2-40B4-BE49-F238E27FC236}">
                <a16:creationId xmlns:a16="http://schemas.microsoft.com/office/drawing/2014/main" id="{57DB0D8C-AEE5-5D8A-0251-EFEF6783C9FF}"/>
              </a:ext>
            </a:extLst>
          </p:cNvPr>
          <p:cNvSpPr>
            <a:spLocks noChangeArrowheads="1"/>
          </p:cNvSpPr>
          <p:nvPr/>
        </p:nvSpPr>
        <p:spPr bwMode="auto">
          <a:xfrm>
            <a:off x="2569351" y="2973645"/>
            <a:ext cx="916271" cy="301465"/>
          </a:xfrm>
          <a:prstGeom prst="rect">
            <a:avLst/>
          </a:prstGeom>
          <a:noFill/>
          <a:ln w="6350">
            <a:noFill/>
            <a:miter lim="800000"/>
            <a:headEnd/>
            <a:tailEnd/>
          </a:ln>
          <a:effectLst/>
        </p:spPr>
        <p:txBody>
          <a:bodyPr wrap="square" lIns="0" tIns="40500" rIns="0" bIns="40500"/>
          <a:lstStyle/>
          <a:p>
            <a:pPr algn="ctr" defTabSz="685748" eaLnBrk="0" hangingPunct="0">
              <a:buClr>
                <a:srgbClr val="000000"/>
              </a:buClr>
              <a:buFont typeface="Arial"/>
              <a:buNone/>
              <a:defRPr/>
            </a:pPr>
            <a:r>
              <a:rPr lang="en-AU" sz="1200" b="1" kern="0">
                <a:solidFill>
                  <a:srgbClr val="FFFFFF"/>
                </a:solidFill>
                <a:latin typeface="+mj-lt"/>
                <a:cs typeface="Arial"/>
                <a:sym typeface="Arial"/>
              </a:rPr>
              <a:t>Organisation Design</a:t>
            </a:r>
          </a:p>
        </p:txBody>
      </p:sp>
      <p:sp>
        <p:nvSpPr>
          <p:cNvPr id="38" name="Rectangle 14">
            <a:extLst>
              <a:ext uri="{FF2B5EF4-FFF2-40B4-BE49-F238E27FC236}">
                <a16:creationId xmlns:a16="http://schemas.microsoft.com/office/drawing/2014/main" id="{B0A29194-A549-7449-AA88-7CEC98C093A8}"/>
              </a:ext>
            </a:extLst>
          </p:cNvPr>
          <p:cNvSpPr>
            <a:spLocks noChangeArrowheads="1"/>
          </p:cNvSpPr>
          <p:nvPr/>
        </p:nvSpPr>
        <p:spPr bwMode="auto">
          <a:xfrm>
            <a:off x="584191" y="4043801"/>
            <a:ext cx="916271" cy="301465"/>
          </a:xfrm>
          <a:prstGeom prst="rect">
            <a:avLst/>
          </a:prstGeom>
          <a:noFill/>
          <a:ln w="6350">
            <a:noFill/>
            <a:miter lim="800000"/>
            <a:headEnd/>
            <a:tailEnd/>
          </a:ln>
          <a:effectLst/>
        </p:spPr>
        <p:txBody>
          <a:bodyPr wrap="square" lIns="0" tIns="40500" rIns="0" bIns="40500"/>
          <a:lstStyle/>
          <a:p>
            <a:pPr algn="ctr" defTabSz="685748" eaLnBrk="0" hangingPunct="0">
              <a:buClr>
                <a:srgbClr val="000000"/>
              </a:buClr>
              <a:buFont typeface="Arial"/>
              <a:buNone/>
              <a:defRPr/>
            </a:pPr>
            <a:r>
              <a:rPr lang="en-US" sz="1200" b="1" kern="0">
                <a:solidFill>
                  <a:srgbClr val="FFFFFF"/>
                </a:solidFill>
                <a:latin typeface="+mj-lt"/>
                <a:cs typeface="Arial"/>
                <a:sym typeface="Arial"/>
              </a:rPr>
              <a:t>To</a:t>
            </a:r>
            <a:r>
              <a:rPr lang="en-AU" sz="1200" b="1" kern="0">
                <a:solidFill>
                  <a:srgbClr val="FFFFFF"/>
                </a:solidFill>
                <a:latin typeface="+mj-lt"/>
                <a:cs typeface="Arial"/>
                <a:sym typeface="Arial"/>
              </a:rPr>
              <a:t>oling &amp; Automation</a:t>
            </a:r>
          </a:p>
        </p:txBody>
      </p:sp>
      <p:sp>
        <p:nvSpPr>
          <p:cNvPr id="39" name="Rectangle 15">
            <a:extLst>
              <a:ext uri="{FF2B5EF4-FFF2-40B4-BE49-F238E27FC236}">
                <a16:creationId xmlns:a16="http://schemas.microsoft.com/office/drawing/2014/main" id="{B55EFE61-6E7F-FF8F-D4BC-4FF1C6C51E84}"/>
              </a:ext>
            </a:extLst>
          </p:cNvPr>
          <p:cNvSpPr>
            <a:spLocks noChangeArrowheads="1"/>
          </p:cNvSpPr>
          <p:nvPr/>
        </p:nvSpPr>
        <p:spPr bwMode="auto">
          <a:xfrm>
            <a:off x="2572862" y="4034337"/>
            <a:ext cx="916271" cy="301465"/>
          </a:xfrm>
          <a:prstGeom prst="rect">
            <a:avLst/>
          </a:prstGeom>
          <a:noFill/>
          <a:ln w="6350">
            <a:noFill/>
            <a:miter lim="800000"/>
            <a:headEnd/>
            <a:tailEnd/>
          </a:ln>
          <a:effectLst/>
        </p:spPr>
        <p:txBody>
          <a:bodyPr wrap="square" lIns="0" tIns="40500" rIns="0" bIns="40500"/>
          <a:lstStyle/>
          <a:p>
            <a:pPr algn="ctr" defTabSz="685748" eaLnBrk="0" hangingPunct="0">
              <a:buClr>
                <a:srgbClr val="000000"/>
              </a:buClr>
              <a:buFont typeface="Arial"/>
              <a:buNone/>
              <a:defRPr/>
            </a:pPr>
            <a:r>
              <a:rPr lang="en-AU" sz="1200" b="1" kern="0">
                <a:solidFill>
                  <a:srgbClr val="FFFFFF"/>
                </a:solidFill>
                <a:latin typeface="+mj-lt"/>
                <a:cs typeface="Arial"/>
                <a:sym typeface="Arial"/>
              </a:rPr>
              <a:t>Product &amp; Services</a:t>
            </a:r>
          </a:p>
        </p:txBody>
      </p:sp>
      <p:sp>
        <p:nvSpPr>
          <p:cNvPr id="40" name="TextBox 39">
            <a:extLst>
              <a:ext uri="{FF2B5EF4-FFF2-40B4-BE49-F238E27FC236}">
                <a16:creationId xmlns:a16="http://schemas.microsoft.com/office/drawing/2014/main" id="{7F5AEB1B-AB17-DBA7-9B6D-FFBB6B00EB4E}"/>
              </a:ext>
            </a:extLst>
          </p:cNvPr>
          <p:cNvSpPr txBox="1"/>
          <p:nvPr/>
        </p:nvSpPr>
        <p:spPr>
          <a:xfrm>
            <a:off x="-177174" y="4361356"/>
            <a:ext cx="999628" cy="181075"/>
          </a:xfrm>
          <a:prstGeom prst="rect">
            <a:avLst/>
          </a:prstGeom>
          <a:noFill/>
        </p:spPr>
        <p:txBody>
          <a:bodyPr wrap="square" rtlCol="0">
            <a:spAutoFit/>
          </a:bodyPr>
          <a:lstStyle/>
          <a:p>
            <a:pPr defTabSz="685748">
              <a:lnSpc>
                <a:spcPts val="450"/>
              </a:lnSpc>
              <a:buClr>
                <a:srgbClr val="000000"/>
              </a:buClr>
              <a:buFont typeface="Arial"/>
              <a:buNone/>
              <a:defRPr/>
            </a:pPr>
            <a:endParaRPr lang="en-AU" sz="1200" b="1" kern="0">
              <a:solidFill>
                <a:srgbClr val="000000"/>
              </a:solidFill>
              <a:latin typeface="+mj-lt"/>
              <a:cs typeface="Arial"/>
              <a:sym typeface="Arial"/>
            </a:endParaRPr>
          </a:p>
        </p:txBody>
      </p:sp>
      <p:sp>
        <p:nvSpPr>
          <p:cNvPr id="41" name="TextBox 40">
            <a:extLst>
              <a:ext uri="{FF2B5EF4-FFF2-40B4-BE49-F238E27FC236}">
                <a16:creationId xmlns:a16="http://schemas.microsoft.com/office/drawing/2014/main" id="{150C4BE5-FDA1-91F4-5D0E-57F7EC0A8A2B}"/>
              </a:ext>
            </a:extLst>
          </p:cNvPr>
          <p:cNvSpPr txBox="1"/>
          <p:nvPr/>
        </p:nvSpPr>
        <p:spPr>
          <a:xfrm>
            <a:off x="1061542" y="1825480"/>
            <a:ext cx="1881487" cy="369332"/>
          </a:xfrm>
          <a:prstGeom prst="rect">
            <a:avLst/>
          </a:prstGeom>
          <a:noFill/>
        </p:spPr>
        <p:txBody>
          <a:bodyPr wrap="square" anchor="ctr">
            <a:spAutoFit/>
          </a:bodyPr>
          <a:lstStyle/>
          <a:p>
            <a:pPr algn="ctr">
              <a:buClr>
                <a:srgbClr val="000000"/>
              </a:buClr>
              <a:buFont typeface="Arial"/>
              <a:buNone/>
            </a:pPr>
            <a:r>
              <a:rPr lang="en-US" b="1" kern="0">
                <a:solidFill>
                  <a:srgbClr val="0070C0"/>
                </a:solidFill>
                <a:latin typeface="+mj-lt"/>
                <a:cs typeface="Arial"/>
                <a:sym typeface="Ubuntu" panose="020B0504030602030204" pitchFamily="34" charset="0"/>
              </a:rPr>
              <a:t>Framework</a:t>
            </a:r>
            <a:endParaRPr lang="en-IN" b="1" kern="0">
              <a:solidFill>
                <a:srgbClr val="0070C0"/>
              </a:solidFill>
              <a:latin typeface="+mj-lt"/>
              <a:cs typeface="Arial"/>
              <a:sym typeface="Arial"/>
            </a:endParaRPr>
          </a:p>
        </p:txBody>
      </p:sp>
      <p:sp>
        <p:nvSpPr>
          <p:cNvPr id="42" name="Oval 41">
            <a:extLst>
              <a:ext uri="{FF2B5EF4-FFF2-40B4-BE49-F238E27FC236}">
                <a16:creationId xmlns:a16="http://schemas.microsoft.com/office/drawing/2014/main" id="{58D7665A-E35C-F717-E03D-432A39416BB5}"/>
              </a:ext>
            </a:extLst>
          </p:cNvPr>
          <p:cNvSpPr/>
          <p:nvPr/>
        </p:nvSpPr>
        <p:spPr>
          <a:xfrm>
            <a:off x="1480074" y="3458315"/>
            <a:ext cx="288947" cy="288947"/>
          </a:xfrm>
          <a:prstGeom prst="ellipse">
            <a:avLst/>
          </a:prstGeom>
          <a:solidFill>
            <a:srgbClr val="5BC5F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200" b="1" kern="0">
                <a:solidFill>
                  <a:srgbClr val="000000"/>
                </a:solidFill>
                <a:latin typeface="+mj-lt"/>
                <a:sym typeface="Arial"/>
              </a:rPr>
              <a:t>1</a:t>
            </a:r>
          </a:p>
        </p:txBody>
      </p:sp>
      <p:sp>
        <p:nvSpPr>
          <p:cNvPr id="43" name="Oval 42">
            <a:extLst>
              <a:ext uri="{FF2B5EF4-FFF2-40B4-BE49-F238E27FC236}">
                <a16:creationId xmlns:a16="http://schemas.microsoft.com/office/drawing/2014/main" id="{94E7BD1B-8BAA-C563-A9BB-580F72F8A77D}"/>
              </a:ext>
            </a:extLst>
          </p:cNvPr>
          <p:cNvSpPr/>
          <p:nvPr/>
        </p:nvSpPr>
        <p:spPr>
          <a:xfrm>
            <a:off x="1850339" y="2262122"/>
            <a:ext cx="288947" cy="288947"/>
          </a:xfrm>
          <a:prstGeom prst="ellipse">
            <a:avLst/>
          </a:prstGeom>
          <a:solidFill>
            <a:srgbClr val="5BC5F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200" b="1" kern="0">
                <a:solidFill>
                  <a:srgbClr val="000000"/>
                </a:solidFill>
                <a:latin typeface="+mj-lt"/>
                <a:sym typeface="Arial"/>
              </a:rPr>
              <a:t>2</a:t>
            </a:r>
          </a:p>
        </p:txBody>
      </p:sp>
      <p:sp>
        <p:nvSpPr>
          <p:cNvPr id="44" name="Oval 43">
            <a:extLst>
              <a:ext uri="{FF2B5EF4-FFF2-40B4-BE49-F238E27FC236}">
                <a16:creationId xmlns:a16="http://schemas.microsoft.com/office/drawing/2014/main" id="{A4E14BCD-415C-BF1A-D873-E104460AD7EE}"/>
              </a:ext>
            </a:extLst>
          </p:cNvPr>
          <p:cNvSpPr/>
          <p:nvPr/>
        </p:nvSpPr>
        <p:spPr>
          <a:xfrm>
            <a:off x="2829971" y="2685236"/>
            <a:ext cx="288947" cy="288947"/>
          </a:xfrm>
          <a:prstGeom prst="ellipse">
            <a:avLst/>
          </a:prstGeom>
          <a:solidFill>
            <a:srgbClr val="5BC5F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200" b="1" kern="0">
                <a:solidFill>
                  <a:srgbClr val="000000"/>
                </a:solidFill>
                <a:latin typeface="+mj-lt"/>
                <a:sym typeface="Arial"/>
              </a:rPr>
              <a:t>3</a:t>
            </a:r>
          </a:p>
        </p:txBody>
      </p:sp>
      <p:sp>
        <p:nvSpPr>
          <p:cNvPr id="45" name="Oval 44">
            <a:extLst>
              <a:ext uri="{FF2B5EF4-FFF2-40B4-BE49-F238E27FC236}">
                <a16:creationId xmlns:a16="http://schemas.microsoft.com/office/drawing/2014/main" id="{4C608734-2E53-0745-7F83-BFBDDC3D094E}"/>
              </a:ext>
            </a:extLst>
          </p:cNvPr>
          <p:cNvSpPr/>
          <p:nvPr/>
        </p:nvSpPr>
        <p:spPr>
          <a:xfrm>
            <a:off x="1866275" y="4343236"/>
            <a:ext cx="288947" cy="288947"/>
          </a:xfrm>
          <a:prstGeom prst="ellipse">
            <a:avLst/>
          </a:prstGeom>
          <a:solidFill>
            <a:srgbClr val="5BC5F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200" b="1" kern="0">
                <a:solidFill>
                  <a:srgbClr val="000000"/>
                </a:solidFill>
                <a:latin typeface="+mj-lt"/>
                <a:sym typeface="Arial"/>
              </a:rPr>
              <a:t>5</a:t>
            </a:r>
          </a:p>
        </p:txBody>
      </p:sp>
      <p:sp>
        <p:nvSpPr>
          <p:cNvPr id="46" name="Oval 45">
            <a:extLst>
              <a:ext uri="{FF2B5EF4-FFF2-40B4-BE49-F238E27FC236}">
                <a16:creationId xmlns:a16="http://schemas.microsoft.com/office/drawing/2014/main" id="{24F2CA94-0B96-D89A-97CA-7EADC966B433}"/>
              </a:ext>
            </a:extLst>
          </p:cNvPr>
          <p:cNvSpPr/>
          <p:nvPr/>
        </p:nvSpPr>
        <p:spPr>
          <a:xfrm>
            <a:off x="2874306" y="3791449"/>
            <a:ext cx="288947" cy="288947"/>
          </a:xfrm>
          <a:prstGeom prst="ellipse">
            <a:avLst/>
          </a:prstGeom>
          <a:solidFill>
            <a:srgbClr val="5BC5F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200" b="1" kern="0">
                <a:solidFill>
                  <a:srgbClr val="000000"/>
                </a:solidFill>
                <a:latin typeface="+mj-lt"/>
                <a:sym typeface="Arial"/>
              </a:rPr>
              <a:t>4</a:t>
            </a:r>
          </a:p>
        </p:txBody>
      </p:sp>
      <p:sp>
        <p:nvSpPr>
          <p:cNvPr id="47" name="Oval 46">
            <a:extLst>
              <a:ext uri="{FF2B5EF4-FFF2-40B4-BE49-F238E27FC236}">
                <a16:creationId xmlns:a16="http://schemas.microsoft.com/office/drawing/2014/main" id="{DE0B1AE6-40EE-C60F-5EC7-2B5036181D26}"/>
              </a:ext>
            </a:extLst>
          </p:cNvPr>
          <p:cNvSpPr/>
          <p:nvPr/>
        </p:nvSpPr>
        <p:spPr>
          <a:xfrm>
            <a:off x="884890" y="3770663"/>
            <a:ext cx="288947" cy="288947"/>
          </a:xfrm>
          <a:prstGeom prst="ellipse">
            <a:avLst/>
          </a:prstGeom>
          <a:solidFill>
            <a:srgbClr val="5BC5F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200" b="1" kern="0">
                <a:solidFill>
                  <a:srgbClr val="000000"/>
                </a:solidFill>
                <a:latin typeface="+mj-lt"/>
                <a:sym typeface="Arial"/>
              </a:rPr>
              <a:t>6</a:t>
            </a:r>
          </a:p>
        </p:txBody>
      </p:sp>
      <p:sp>
        <p:nvSpPr>
          <p:cNvPr id="48" name="Oval 47">
            <a:extLst>
              <a:ext uri="{FF2B5EF4-FFF2-40B4-BE49-F238E27FC236}">
                <a16:creationId xmlns:a16="http://schemas.microsoft.com/office/drawing/2014/main" id="{C5AB1344-B96E-E7B6-54E7-5EEA731F423C}"/>
              </a:ext>
            </a:extLst>
          </p:cNvPr>
          <p:cNvSpPr/>
          <p:nvPr/>
        </p:nvSpPr>
        <p:spPr>
          <a:xfrm>
            <a:off x="917631" y="2612170"/>
            <a:ext cx="288947" cy="288947"/>
          </a:xfrm>
          <a:prstGeom prst="ellipse">
            <a:avLst/>
          </a:prstGeom>
          <a:solidFill>
            <a:srgbClr val="5BC5F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200" b="1" kern="0">
                <a:solidFill>
                  <a:srgbClr val="000000"/>
                </a:solidFill>
                <a:latin typeface="+mj-lt"/>
                <a:sym typeface="Arial"/>
              </a:rPr>
              <a:t>7</a:t>
            </a:r>
          </a:p>
        </p:txBody>
      </p:sp>
      <p:graphicFrame>
        <p:nvGraphicFramePr>
          <p:cNvPr id="49" name="Table 39">
            <a:extLst>
              <a:ext uri="{FF2B5EF4-FFF2-40B4-BE49-F238E27FC236}">
                <a16:creationId xmlns:a16="http://schemas.microsoft.com/office/drawing/2014/main" id="{53B0FF21-625B-6762-E4FF-07AB17D3AED5}"/>
              </a:ext>
            </a:extLst>
          </p:cNvPr>
          <p:cNvGraphicFramePr>
            <a:graphicFrameLocks noGrp="1"/>
          </p:cNvGraphicFramePr>
          <p:nvPr>
            <p:extLst>
              <p:ext uri="{D42A27DB-BD31-4B8C-83A1-F6EECF244321}">
                <p14:modId xmlns:p14="http://schemas.microsoft.com/office/powerpoint/2010/main" val="469321227"/>
              </p:ext>
            </p:extLst>
          </p:nvPr>
        </p:nvGraphicFramePr>
        <p:xfrm>
          <a:off x="4033579" y="2089866"/>
          <a:ext cx="7979996" cy="4535312"/>
        </p:xfrm>
        <a:graphic>
          <a:graphicData uri="http://schemas.openxmlformats.org/drawingml/2006/table">
            <a:tbl>
              <a:tblPr firstRow="1" bandRow="1"/>
              <a:tblGrid>
                <a:gridCol w="2533121">
                  <a:extLst>
                    <a:ext uri="{9D8B030D-6E8A-4147-A177-3AD203B41FA5}">
                      <a16:colId xmlns:a16="http://schemas.microsoft.com/office/drawing/2014/main" val="457683801"/>
                    </a:ext>
                  </a:extLst>
                </a:gridCol>
                <a:gridCol w="5446875">
                  <a:extLst>
                    <a:ext uri="{9D8B030D-6E8A-4147-A177-3AD203B41FA5}">
                      <a16:colId xmlns:a16="http://schemas.microsoft.com/office/drawing/2014/main" val="2387947098"/>
                    </a:ext>
                  </a:extLst>
                </a:gridCol>
              </a:tblGrid>
              <a:tr h="587128">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l"/>
                      <a:r>
                        <a:rPr lang="en-IN" sz="1600" b="1" i="0">
                          <a:solidFill>
                            <a:srgbClr val="0070AD"/>
                          </a:solidFill>
                          <a:latin typeface="+mj-lt"/>
                        </a:rPr>
                        <a:t>Vision &amp; Strategy</a:t>
                      </a:r>
                      <a:endParaRPr lang="en-IN" sz="1600" b="1" i="0" dirty="0">
                        <a:solidFill>
                          <a:srgbClr val="0070AD"/>
                        </a:solidFill>
                        <a:latin typeface="+mj-lt"/>
                      </a:endParaRPr>
                    </a:p>
                  </a:txBody>
                  <a:tcPr marL="504000" marR="180000" anchor="ctr">
                    <a:lnL w="12700" cmpd="sng">
                      <a:noFill/>
                    </a:lnL>
                    <a:lnR w="12700" cmpd="sng">
                      <a:noFill/>
                    </a:lnR>
                    <a:lnT w="38100" cmpd="sng">
                      <a:noFill/>
                    </a:lnT>
                    <a:lnB w="9525" cap="flat" cmpd="sng" algn="ctr">
                      <a:solidFill>
                        <a:srgbClr val="FFFFFF">
                          <a:lumMod val="50000"/>
                        </a:srgbClr>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indent="0" algn="l" fontAlgn="ctr">
                        <a:spcBef>
                          <a:spcPts val="100"/>
                        </a:spcBef>
                        <a:spcAft>
                          <a:spcPts val="100"/>
                        </a:spcAft>
                        <a:buFontTx/>
                        <a:buNone/>
                      </a:pPr>
                      <a:r>
                        <a:rPr lang="en-IN" sz="1200" b="0" i="0" u="none" strike="noStrike">
                          <a:solidFill>
                            <a:srgbClr val="000000"/>
                          </a:solidFill>
                          <a:effectLst/>
                          <a:latin typeface="+mj-lt"/>
                        </a:rPr>
                        <a:t>Alignment of strategy and goals between the Business and IT. Assess  </a:t>
                      </a:r>
                      <a:r>
                        <a:rPr lang="en-IN" sz="1200" b="1" i="0" u="none" strike="noStrike">
                          <a:solidFill>
                            <a:srgbClr val="000000"/>
                          </a:solidFill>
                          <a:effectLst/>
                          <a:latin typeface="+mj-lt"/>
                        </a:rPr>
                        <a:t>IT portfolio</a:t>
                      </a:r>
                      <a:r>
                        <a:rPr lang="en-IN" sz="1200" b="0" i="0" u="none" strike="noStrike">
                          <a:solidFill>
                            <a:srgbClr val="000000"/>
                          </a:solidFill>
                          <a:effectLst/>
                          <a:latin typeface="+mj-lt"/>
                        </a:rPr>
                        <a:t> to review initiatives </a:t>
                      </a:r>
                      <a:r>
                        <a:rPr lang="en-IN" sz="1200" b="1" i="0" u="none" strike="noStrike">
                          <a:solidFill>
                            <a:srgbClr val="000000"/>
                          </a:solidFill>
                          <a:effectLst/>
                          <a:latin typeface="+mj-lt"/>
                        </a:rPr>
                        <a:t>priority</a:t>
                      </a:r>
                      <a:endParaRPr lang="en-IN" sz="1200" b="1" i="0" u="none" strike="noStrike" dirty="0">
                        <a:solidFill>
                          <a:srgbClr val="000000"/>
                        </a:solidFill>
                        <a:effectLst/>
                        <a:latin typeface="+mj-lt"/>
                      </a:endParaRPr>
                    </a:p>
                  </a:txBody>
                  <a:tcPr marL="108000" marR="108000" marT="0" marB="0" anchor="ctr">
                    <a:lnL w="12700" cmpd="sng">
                      <a:noFill/>
                    </a:lnL>
                    <a:lnR w="12700" cmpd="sng">
                      <a:noFill/>
                    </a:lnR>
                    <a:lnT w="38100" cmpd="sng">
                      <a:noFill/>
                    </a:lnT>
                    <a:lnB w="9525" cap="flat" cmpd="sng" algn="ctr">
                      <a:solidFill>
                        <a:srgbClr val="FFFFFF">
                          <a:lumMod val="50000"/>
                        </a:srgbClr>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61874967"/>
                  </a:ext>
                </a:extLst>
              </a:tr>
              <a:tr h="85659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IN" sz="1600" b="1" i="0">
                          <a:solidFill>
                            <a:srgbClr val="0070AD"/>
                          </a:solidFill>
                          <a:latin typeface="+mj-lt"/>
                        </a:rPr>
                        <a:t>IT Capabilities &amp; Processes</a:t>
                      </a:r>
                    </a:p>
                  </a:txBody>
                  <a:tcPr marL="504000" marR="180000" anchor="ctr">
                    <a:lnL w="12700" cmpd="sng">
                      <a:noFill/>
                    </a:lnL>
                    <a:lnR w="12700" cmpd="sng">
                      <a:noFill/>
                    </a:lnR>
                    <a:lnT w="9525" cap="flat" cmpd="sng" algn="ctr">
                      <a:solidFill>
                        <a:srgbClr val="FFFFFF">
                          <a:lumMod val="50000"/>
                        </a:srgbClr>
                      </a:solidFill>
                      <a:prstDash val="sysDash"/>
                      <a:round/>
                      <a:headEnd type="none" w="med" len="med"/>
                      <a:tailEnd type="none" w="med" len="med"/>
                    </a:lnT>
                    <a:lnB w="9525" cap="flat" cmpd="sng" algn="ctr">
                      <a:solidFill>
                        <a:srgbClr val="FFFFFF">
                          <a:lumMod val="50000"/>
                        </a:srgbClr>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indent="0" algn="l" fontAlgn="ctr">
                        <a:spcBef>
                          <a:spcPts val="100"/>
                        </a:spcBef>
                        <a:spcAft>
                          <a:spcPts val="100"/>
                        </a:spcAft>
                        <a:buFont typeface="Arial" panose="020B0604020202020204" pitchFamily="34" charset="0"/>
                        <a:buNone/>
                      </a:pPr>
                      <a:r>
                        <a:rPr lang="en-IN" sz="1200" b="0" i="0" u="none" strike="noStrike">
                          <a:solidFill>
                            <a:srgbClr val="000000"/>
                          </a:solidFill>
                          <a:effectLst/>
                          <a:latin typeface="+mj-lt"/>
                        </a:rPr>
                        <a:t>Process and capability mapping to drive the Target Operating model design. Focus on </a:t>
                      </a:r>
                      <a:r>
                        <a:rPr lang="en-IN" sz="1200" b="1" i="0" u="none" strike="noStrike">
                          <a:solidFill>
                            <a:srgbClr val="000000"/>
                          </a:solidFill>
                          <a:effectLst/>
                          <a:latin typeface="+mj-lt"/>
                        </a:rPr>
                        <a:t>accountabilities</a:t>
                      </a:r>
                      <a:r>
                        <a:rPr lang="en-IN" sz="1200" b="0" i="0" u="none" strike="noStrike">
                          <a:solidFill>
                            <a:srgbClr val="000000"/>
                          </a:solidFill>
                          <a:effectLst/>
                          <a:latin typeface="+mj-lt"/>
                        </a:rPr>
                        <a:t> and grey areas to be tackled and addressed (eg: Demand mgmt., SW development,…). The underpinning concept will be a </a:t>
                      </a:r>
                      <a:r>
                        <a:rPr lang="en-IN" sz="1200" b="1" i="0" u="none" strike="noStrike">
                          <a:solidFill>
                            <a:srgbClr val="000000"/>
                          </a:solidFill>
                          <a:effectLst/>
                          <a:latin typeface="+mj-lt"/>
                        </a:rPr>
                        <a:t>Product oriented organization </a:t>
                      </a:r>
                      <a:r>
                        <a:rPr lang="en-IN" sz="1200" b="0" i="0" u="none" strike="noStrike">
                          <a:solidFill>
                            <a:srgbClr val="000000"/>
                          </a:solidFill>
                          <a:effectLst/>
                          <a:latin typeface="+mj-lt"/>
                        </a:rPr>
                        <a:t>to ensure customer centricity, business alignment, innovation and fast time to market</a:t>
                      </a:r>
                      <a:endParaRPr lang="en-IN" sz="1200" b="0" i="0" u="none" strike="noStrike" dirty="0">
                        <a:solidFill>
                          <a:srgbClr val="000000"/>
                        </a:solidFill>
                        <a:effectLst/>
                        <a:latin typeface="+mj-lt"/>
                      </a:endParaRPr>
                    </a:p>
                  </a:txBody>
                  <a:tcPr marL="108000" marR="108000" marT="0" marB="0" anchor="ctr">
                    <a:lnL w="12700" cmpd="sng">
                      <a:noFill/>
                    </a:lnL>
                    <a:lnR w="12700" cmpd="sng">
                      <a:noFill/>
                    </a:lnR>
                    <a:lnT w="9525" cap="flat" cmpd="sng" algn="ctr">
                      <a:solidFill>
                        <a:srgbClr val="FFFFFF">
                          <a:lumMod val="50000"/>
                        </a:srgbClr>
                      </a:solidFill>
                      <a:prstDash val="sysDash"/>
                      <a:round/>
                      <a:headEnd type="none" w="med" len="med"/>
                      <a:tailEnd type="none" w="med" len="med"/>
                    </a:lnT>
                    <a:lnB w="9525" cap="flat" cmpd="sng" algn="ctr">
                      <a:solidFill>
                        <a:srgbClr val="FFFFFF">
                          <a:lumMod val="50000"/>
                        </a:srgbClr>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02572267"/>
                  </a:ext>
                </a:extLst>
              </a:tr>
              <a:tr h="587128">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IN" sz="1600" b="1" i="0">
                          <a:solidFill>
                            <a:srgbClr val="0070AD"/>
                          </a:solidFill>
                          <a:latin typeface="+mj-lt"/>
                        </a:rPr>
                        <a:t>Organisation Design</a:t>
                      </a:r>
                    </a:p>
                  </a:txBody>
                  <a:tcPr marL="504000" marR="180000" anchor="ctr">
                    <a:lnL w="12700" cmpd="sng">
                      <a:noFill/>
                    </a:lnL>
                    <a:lnR w="12700" cmpd="sng">
                      <a:noFill/>
                    </a:lnR>
                    <a:lnT w="9525" cap="flat" cmpd="sng" algn="ctr">
                      <a:solidFill>
                        <a:srgbClr val="FFFFFF">
                          <a:lumMod val="50000"/>
                        </a:srgbClr>
                      </a:solidFill>
                      <a:prstDash val="sysDash"/>
                      <a:round/>
                      <a:headEnd type="none" w="med" len="med"/>
                      <a:tailEnd type="none" w="med" len="med"/>
                    </a:lnT>
                    <a:lnB w="9525" cap="flat" cmpd="sng" algn="ctr">
                      <a:solidFill>
                        <a:srgbClr val="FFFFFF">
                          <a:lumMod val="50000"/>
                        </a:srgbClr>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indent="0" algn="l" fontAlgn="ctr">
                        <a:spcBef>
                          <a:spcPts val="100"/>
                        </a:spcBef>
                        <a:spcAft>
                          <a:spcPts val="100"/>
                        </a:spcAft>
                        <a:buFont typeface="Arial" panose="020B0604020202020204" pitchFamily="34" charset="0"/>
                        <a:buNone/>
                      </a:pPr>
                      <a:r>
                        <a:rPr lang="en-IN" sz="1200" b="0" i="0" u="none" strike="noStrike">
                          <a:solidFill>
                            <a:srgbClr val="000000"/>
                          </a:solidFill>
                          <a:effectLst/>
                          <a:latin typeface="+mj-lt"/>
                        </a:rPr>
                        <a:t>Description of how the IT organisation is structured, with the right sizing and skills. Leverage on </a:t>
                      </a:r>
                      <a:r>
                        <a:rPr lang="en-IN" sz="1200" b="1" i="0" u="none" strike="noStrike">
                          <a:solidFill>
                            <a:srgbClr val="000000"/>
                          </a:solidFill>
                          <a:effectLst/>
                          <a:latin typeface="+mj-lt"/>
                        </a:rPr>
                        <a:t>E2E and Cross-functional team </a:t>
                      </a:r>
                      <a:r>
                        <a:rPr lang="en-IN" sz="1200" b="0" i="0" u="none" strike="noStrike">
                          <a:solidFill>
                            <a:srgbClr val="000000"/>
                          </a:solidFill>
                          <a:effectLst/>
                          <a:latin typeface="+mj-lt"/>
                        </a:rPr>
                        <a:t>principle with fit-for-purpose role definition to achieve </a:t>
                      </a:r>
                      <a:r>
                        <a:rPr lang="en-IN" sz="1200" b="1" i="0" u="none" strike="noStrike">
                          <a:solidFill>
                            <a:srgbClr val="000000"/>
                          </a:solidFill>
                          <a:effectLst/>
                          <a:latin typeface="+mj-lt"/>
                        </a:rPr>
                        <a:t>Organizational Agility, </a:t>
                      </a:r>
                      <a:r>
                        <a:rPr lang="en-IN" sz="1200" b="0" i="0" u="none" strike="noStrike">
                          <a:solidFill>
                            <a:srgbClr val="000000"/>
                          </a:solidFill>
                          <a:effectLst/>
                          <a:latin typeface="+mj-lt"/>
                        </a:rPr>
                        <a:t>avoiding silos and fragmentation</a:t>
                      </a:r>
                      <a:endParaRPr lang="en-IN" sz="1200" b="0" i="0" u="none" strike="noStrike" dirty="0">
                        <a:solidFill>
                          <a:srgbClr val="000000"/>
                        </a:solidFill>
                        <a:effectLst/>
                        <a:latin typeface="+mj-lt"/>
                      </a:endParaRPr>
                    </a:p>
                  </a:txBody>
                  <a:tcPr marL="108000" marR="108000" marT="0" marB="0" anchor="ctr">
                    <a:lnL w="12700" cmpd="sng">
                      <a:noFill/>
                    </a:lnL>
                    <a:lnR w="12700" cmpd="sng">
                      <a:noFill/>
                    </a:lnR>
                    <a:lnT w="9525" cap="flat" cmpd="sng" algn="ctr">
                      <a:solidFill>
                        <a:srgbClr val="FFFFFF">
                          <a:lumMod val="50000"/>
                        </a:srgbClr>
                      </a:solidFill>
                      <a:prstDash val="sysDash"/>
                      <a:round/>
                      <a:headEnd type="none" w="med" len="med"/>
                      <a:tailEnd type="none" w="med" len="med"/>
                    </a:lnT>
                    <a:lnB w="9525" cap="flat" cmpd="sng" algn="ctr">
                      <a:solidFill>
                        <a:srgbClr val="FFFFFF">
                          <a:lumMod val="50000"/>
                        </a:srgbClr>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2340819"/>
                  </a:ext>
                </a:extLst>
              </a:tr>
              <a:tr h="587128">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IN" sz="1600" b="1" i="0">
                          <a:solidFill>
                            <a:srgbClr val="0070AD"/>
                          </a:solidFill>
                          <a:latin typeface="+mj-lt"/>
                        </a:rPr>
                        <a:t>Product &amp; Services</a:t>
                      </a:r>
                    </a:p>
                  </a:txBody>
                  <a:tcPr marL="504000" marR="180000" anchor="ctr">
                    <a:lnL w="12700" cmpd="sng">
                      <a:noFill/>
                    </a:lnL>
                    <a:lnR w="12700" cmpd="sng">
                      <a:noFill/>
                    </a:lnR>
                    <a:lnT w="9525" cap="flat" cmpd="sng" algn="ctr">
                      <a:solidFill>
                        <a:srgbClr val="FFFFFF">
                          <a:lumMod val="50000"/>
                        </a:srgbClr>
                      </a:solidFill>
                      <a:prstDash val="sysDash"/>
                      <a:round/>
                      <a:headEnd type="none" w="med" len="med"/>
                      <a:tailEnd type="none" w="med" len="med"/>
                    </a:lnT>
                    <a:lnB w="9525" cap="flat" cmpd="sng" algn="ctr">
                      <a:solidFill>
                        <a:srgbClr val="FFFFFF">
                          <a:lumMod val="50000"/>
                        </a:srgbClr>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indent="0" algn="l" fontAlgn="ctr">
                        <a:spcBef>
                          <a:spcPts val="100"/>
                        </a:spcBef>
                        <a:spcAft>
                          <a:spcPts val="100"/>
                        </a:spcAft>
                        <a:buFont typeface="Arial" panose="020B0604020202020204" pitchFamily="34" charset="0"/>
                        <a:buNone/>
                      </a:pPr>
                      <a:r>
                        <a:rPr lang="en-IN" sz="1200" b="0" i="0" u="none" strike="noStrike">
                          <a:solidFill>
                            <a:srgbClr val="000000"/>
                          </a:solidFill>
                          <a:effectLst/>
                          <a:latin typeface="+mj-lt"/>
                        </a:rPr>
                        <a:t>Identification of </a:t>
                      </a:r>
                      <a:r>
                        <a:rPr lang="en-IN" sz="1200" b="1" i="0" u="none" strike="noStrike">
                          <a:solidFill>
                            <a:srgbClr val="000000"/>
                          </a:solidFill>
                          <a:effectLst/>
                          <a:latin typeface="+mj-lt"/>
                        </a:rPr>
                        <a:t>key offerings </a:t>
                      </a:r>
                      <a:r>
                        <a:rPr lang="en-IN" sz="1200" b="0" i="0" u="none" strike="noStrike">
                          <a:solidFill>
                            <a:srgbClr val="000000"/>
                          </a:solidFill>
                          <a:effectLst/>
                          <a:latin typeface="+mj-lt"/>
                        </a:rPr>
                        <a:t>to define IT Product &amp; Services (jointly with Business), establishing appropriate management mechanisms, KPIs and target to drive product &amp; services roadmap and evolution. </a:t>
                      </a:r>
                    </a:p>
                  </a:txBody>
                  <a:tcPr marL="108000" marR="108000" marT="0" marB="0" anchor="ctr">
                    <a:lnL w="12700" cmpd="sng">
                      <a:noFill/>
                    </a:lnL>
                    <a:lnR w="12700" cmpd="sng">
                      <a:noFill/>
                    </a:lnR>
                    <a:lnT w="9525" cap="flat" cmpd="sng" algn="ctr">
                      <a:solidFill>
                        <a:srgbClr val="FFFFFF">
                          <a:lumMod val="50000"/>
                        </a:srgbClr>
                      </a:solidFill>
                      <a:prstDash val="sysDash"/>
                      <a:round/>
                      <a:headEnd type="none" w="med" len="med"/>
                      <a:tailEnd type="none" w="med" len="med"/>
                    </a:lnT>
                    <a:lnB w="9525" cap="flat" cmpd="sng" algn="ctr">
                      <a:solidFill>
                        <a:srgbClr val="FFFFFF">
                          <a:lumMod val="50000"/>
                        </a:srgbClr>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53369408"/>
                  </a:ext>
                </a:extLst>
              </a:tr>
              <a:tr h="685272">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IN" sz="1600" b="1" i="0">
                          <a:solidFill>
                            <a:srgbClr val="0070AD"/>
                          </a:solidFill>
                          <a:latin typeface="+mj-lt"/>
                        </a:rPr>
                        <a:t>Ways of Working</a:t>
                      </a:r>
                    </a:p>
                  </a:txBody>
                  <a:tcPr marL="504000" marR="180000" anchor="ctr">
                    <a:lnL w="12700" cmpd="sng">
                      <a:noFill/>
                    </a:lnL>
                    <a:lnR w="12700" cmpd="sng">
                      <a:noFill/>
                    </a:lnR>
                    <a:lnT w="9525" cap="flat" cmpd="sng" algn="ctr">
                      <a:solidFill>
                        <a:srgbClr val="FFFFFF">
                          <a:lumMod val="50000"/>
                        </a:srgbClr>
                      </a:solidFill>
                      <a:prstDash val="sysDash"/>
                      <a:round/>
                      <a:headEnd type="none" w="med" len="med"/>
                      <a:tailEnd type="none" w="med" len="med"/>
                    </a:lnT>
                    <a:lnB w="9525" cap="flat" cmpd="sng" algn="ctr">
                      <a:solidFill>
                        <a:srgbClr val="FFFFFF">
                          <a:lumMod val="50000"/>
                        </a:srgbClr>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indent="0" algn="l" fontAlgn="ctr">
                        <a:spcBef>
                          <a:spcPts val="100"/>
                        </a:spcBef>
                        <a:spcAft>
                          <a:spcPts val="100"/>
                        </a:spcAft>
                        <a:buFont typeface="Arial" panose="020B0604020202020204" pitchFamily="34" charset="0"/>
                        <a:buNone/>
                      </a:pPr>
                      <a:r>
                        <a:rPr lang="en-IN" sz="1200" b="0" i="0" u="none" strike="noStrike">
                          <a:solidFill>
                            <a:srgbClr val="000000"/>
                          </a:solidFill>
                          <a:effectLst/>
                          <a:latin typeface="+mj-lt"/>
                        </a:rPr>
                        <a:t>Analysis of different ways of working (eg</a:t>
                      </a:r>
                      <a:r>
                        <a:rPr lang="en-IN" sz="1200" b="1" i="0" u="none" strike="noStrike">
                          <a:solidFill>
                            <a:srgbClr val="000000"/>
                          </a:solidFill>
                          <a:effectLst/>
                          <a:latin typeface="+mj-lt"/>
                        </a:rPr>
                        <a:t>: waterfall, hybrid agile, full agile, bi-modal, SAFe</a:t>
                      </a:r>
                      <a:r>
                        <a:rPr lang="en-IN" sz="1200" b="0" i="0" u="none" strike="noStrike">
                          <a:solidFill>
                            <a:srgbClr val="000000"/>
                          </a:solidFill>
                          <a:effectLst/>
                          <a:latin typeface="+mj-lt"/>
                        </a:rPr>
                        <a:t>), where they are applicable, how they can scale while ensuring delivery effectiveness. This include </a:t>
                      </a:r>
                      <a:r>
                        <a:rPr lang="en-IN" sz="1200" b="1" i="0" u="none" strike="noStrike">
                          <a:solidFill>
                            <a:srgbClr val="000000"/>
                          </a:solidFill>
                          <a:effectLst/>
                          <a:latin typeface="+mj-lt"/>
                        </a:rPr>
                        <a:t>skills</a:t>
                      </a:r>
                      <a:r>
                        <a:rPr lang="en-IN" sz="1200" b="0" i="0" u="none" strike="noStrike">
                          <a:solidFill>
                            <a:srgbClr val="000000"/>
                          </a:solidFill>
                          <a:effectLst/>
                          <a:latin typeface="+mj-lt"/>
                        </a:rPr>
                        <a:t> and </a:t>
                      </a:r>
                      <a:r>
                        <a:rPr lang="en-IN" sz="1200" b="1" i="0" u="none" strike="noStrike">
                          <a:solidFill>
                            <a:srgbClr val="000000"/>
                          </a:solidFill>
                          <a:effectLst/>
                          <a:latin typeface="+mj-lt"/>
                        </a:rPr>
                        <a:t>competences</a:t>
                      </a:r>
                      <a:r>
                        <a:rPr lang="en-IN" sz="1200" b="0" i="0" u="none" strike="noStrike">
                          <a:solidFill>
                            <a:srgbClr val="000000"/>
                          </a:solidFill>
                          <a:effectLst/>
                          <a:latin typeface="+mj-lt"/>
                        </a:rPr>
                        <a:t> dimensions and </a:t>
                      </a:r>
                      <a:r>
                        <a:rPr lang="en-IN" sz="1200" b="1" i="0" u="none" strike="noStrike">
                          <a:solidFill>
                            <a:srgbClr val="000000"/>
                          </a:solidFill>
                          <a:effectLst/>
                          <a:latin typeface="+mj-lt"/>
                        </a:rPr>
                        <a:t>Culture</a:t>
                      </a:r>
                      <a:endParaRPr lang="en-IN" sz="1200" b="1" i="0" u="none" strike="noStrike" dirty="0">
                        <a:solidFill>
                          <a:srgbClr val="000000"/>
                        </a:solidFill>
                        <a:effectLst/>
                        <a:latin typeface="+mj-lt"/>
                      </a:endParaRPr>
                    </a:p>
                  </a:txBody>
                  <a:tcPr marL="108000" marR="108000" marT="0" marB="0" anchor="ctr">
                    <a:lnL w="12700" cmpd="sng">
                      <a:noFill/>
                    </a:lnL>
                    <a:lnR w="12700" cmpd="sng">
                      <a:noFill/>
                    </a:lnR>
                    <a:lnT w="9525" cap="flat" cmpd="sng" algn="ctr">
                      <a:solidFill>
                        <a:srgbClr val="FFFFFF">
                          <a:lumMod val="50000"/>
                        </a:srgbClr>
                      </a:solidFill>
                      <a:prstDash val="sysDash"/>
                      <a:round/>
                      <a:headEnd type="none" w="med" len="med"/>
                      <a:tailEnd type="none" w="med" len="med"/>
                    </a:lnT>
                    <a:lnB w="9525" cap="flat" cmpd="sng" algn="ctr">
                      <a:solidFill>
                        <a:srgbClr val="FFFFFF">
                          <a:lumMod val="50000"/>
                        </a:srgbClr>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14596205"/>
                  </a:ext>
                </a:extLst>
              </a:tr>
              <a:tr h="587128">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IN" sz="1600" b="1" i="0">
                          <a:solidFill>
                            <a:srgbClr val="0070AD"/>
                          </a:solidFill>
                          <a:latin typeface="+mj-lt"/>
                        </a:rPr>
                        <a:t>Tooling &amp; Automation</a:t>
                      </a:r>
                    </a:p>
                  </a:txBody>
                  <a:tcPr marL="504000" marR="180000" anchor="ctr">
                    <a:lnL w="12700" cmpd="sng">
                      <a:noFill/>
                    </a:lnL>
                    <a:lnR w="12700" cmpd="sng">
                      <a:noFill/>
                    </a:lnR>
                    <a:lnT w="9525" cap="flat" cmpd="sng" algn="ctr">
                      <a:solidFill>
                        <a:srgbClr val="FFFFFF">
                          <a:lumMod val="50000"/>
                        </a:srgbClr>
                      </a:solidFill>
                      <a:prstDash val="sysDash"/>
                      <a:round/>
                      <a:headEnd type="none" w="med" len="med"/>
                      <a:tailEnd type="none" w="med" len="med"/>
                    </a:lnT>
                    <a:lnB w="9525" cap="flat" cmpd="sng" algn="ctr">
                      <a:solidFill>
                        <a:srgbClr val="FFFFFF">
                          <a:lumMod val="50000"/>
                        </a:srgbClr>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indent="0" algn="l" fontAlgn="ctr">
                        <a:spcBef>
                          <a:spcPts val="100"/>
                        </a:spcBef>
                        <a:spcAft>
                          <a:spcPts val="100"/>
                        </a:spcAft>
                        <a:buFont typeface="Arial" panose="020B0604020202020204" pitchFamily="34" charset="0"/>
                        <a:buNone/>
                      </a:pPr>
                      <a:r>
                        <a:rPr lang="en-IN" sz="1200" b="0" i="0" u="none" strike="noStrike">
                          <a:solidFill>
                            <a:srgbClr val="000000"/>
                          </a:solidFill>
                          <a:effectLst/>
                          <a:latin typeface="+mj-lt"/>
                        </a:rPr>
                        <a:t>Adoption of </a:t>
                      </a:r>
                      <a:r>
                        <a:rPr lang="en-IN" sz="1200" b="1" i="0" u="none" strike="noStrike">
                          <a:solidFill>
                            <a:srgbClr val="000000"/>
                          </a:solidFill>
                          <a:effectLst/>
                          <a:latin typeface="+mj-lt"/>
                        </a:rPr>
                        <a:t>digital tools </a:t>
                      </a:r>
                      <a:r>
                        <a:rPr lang="en-IN" sz="1200" b="0" i="0" u="none" strike="noStrike">
                          <a:solidFill>
                            <a:srgbClr val="000000"/>
                          </a:solidFill>
                          <a:effectLst/>
                          <a:latin typeface="+mj-lt"/>
                        </a:rPr>
                        <a:t>and automation opportunities leveraging GenAI across IT delivery and operations like continuous integration and deployment, analytics and process automation (eg: GenAI, cognitive, OCR,…)</a:t>
                      </a:r>
                      <a:endParaRPr lang="en-IN" sz="1200" b="0" i="0" u="none" strike="noStrike" dirty="0">
                        <a:solidFill>
                          <a:srgbClr val="000000"/>
                        </a:solidFill>
                        <a:effectLst/>
                        <a:latin typeface="+mj-lt"/>
                      </a:endParaRPr>
                    </a:p>
                  </a:txBody>
                  <a:tcPr marL="108000" marR="108000" marT="0" marB="0" anchor="ctr">
                    <a:lnL w="12700" cmpd="sng">
                      <a:noFill/>
                    </a:lnL>
                    <a:lnR w="12700" cmpd="sng">
                      <a:noFill/>
                    </a:lnR>
                    <a:lnT w="9525" cap="flat" cmpd="sng" algn="ctr">
                      <a:solidFill>
                        <a:srgbClr val="FFFFFF">
                          <a:lumMod val="50000"/>
                        </a:srgbClr>
                      </a:solidFill>
                      <a:prstDash val="sysDash"/>
                      <a:round/>
                      <a:headEnd type="none" w="med" len="med"/>
                      <a:tailEnd type="none" w="med" len="med"/>
                    </a:lnT>
                    <a:lnB w="9525" cap="flat" cmpd="sng" algn="ctr">
                      <a:solidFill>
                        <a:srgbClr val="FFFFFF">
                          <a:lumMod val="50000"/>
                        </a:srgbClr>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74929114"/>
                  </a:ext>
                </a:extLst>
              </a:tr>
              <a:tr h="587128">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r>
                        <a:rPr lang="en-IN" sz="1600" b="1" i="0">
                          <a:solidFill>
                            <a:srgbClr val="0070AD"/>
                          </a:solidFill>
                          <a:latin typeface="+mj-lt"/>
                        </a:rPr>
                        <a:t>Performance &amp; Governance</a:t>
                      </a:r>
                    </a:p>
                  </a:txBody>
                  <a:tcPr marL="504000" marR="180000" anchor="ctr">
                    <a:lnL w="12700" cmpd="sng">
                      <a:noFill/>
                    </a:lnL>
                    <a:lnR w="12700" cmpd="sng">
                      <a:noFill/>
                    </a:lnR>
                    <a:lnT w="9525" cap="flat" cmpd="sng" algn="ctr">
                      <a:solidFill>
                        <a:srgbClr val="FFFFFF">
                          <a:lumMod val="50000"/>
                        </a:srgbClr>
                      </a:solidFill>
                      <a:prstDash val="sysDash"/>
                      <a:round/>
                      <a:headEnd type="none" w="med" len="med"/>
                      <a:tailEnd type="none" w="med" len="med"/>
                    </a:lnT>
                    <a:lnB w="9525" cap="flat" cmpd="sng" algn="ctr">
                      <a:solidFill>
                        <a:srgbClr val="FFFFFF">
                          <a:lumMod val="50000"/>
                        </a:srgbClr>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indent="0" algn="l" fontAlgn="ctr">
                        <a:spcBef>
                          <a:spcPts val="100"/>
                        </a:spcBef>
                        <a:spcAft>
                          <a:spcPts val="100"/>
                        </a:spcAft>
                        <a:buFont typeface="Arial" panose="020B0604020202020204" pitchFamily="34" charset="0"/>
                        <a:buNone/>
                      </a:pPr>
                      <a:r>
                        <a:rPr lang="en-IN" sz="1200" b="0" i="0" u="none" strike="noStrike">
                          <a:solidFill>
                            <a:srgbClr val="000000"/>
                          </a:solidFill>
                          <a:effectLst/>
                          <a:latin typeface="+mj-lt"/>
                        </a:rPr>
                        <a:t>Establishment of </a:t>
                      </a:r>
                      <a:r>
                        <a:rPr lang="en-IN" sz="1200" b="1" i="0" u="none" strike="noStrike">
                          <a:solidFill>
                            <a:srgbClr val="000000"/>
                          </a:solidFill>
                          <a:effectLst/>
                          <a:latin typeface="+mj-lt"/>
                        </a:rPr>
                        <a:t>lean</a:t>
                      </a:r>
                      <a:r>
                        <a:rPr lang="en-IN" sz="1200" b="0" i="0" u="none" strike="noStrike">
                          <a:solidFill>
                            <a:srgbClr val="000000"/>
                          </a:solidFill>
                          <a:effectLst/>
                          <a:latin typeface="+mj-lt"/>
                        </a:rPr>
                        <a:t> and </a:t>
                      </a:r>
                      <a:r>
                        <a:rPr lang="en-IN" sz="1200" b="1" i="0" u="none" strike="noStrike">
                          <a:solidFill>
                            <a:srgbClr val="000000"/>
                          </a:solidFill>
                          <a:effectLst/>
                          <a:latin typeface="+mj-lt"/>
                        </a:rPr>
                        <a:t>fit-for-purpose IT governance </a:t>
                      </a:r>
                      <a:r>
                        <a:rPr lang="en-IN" sz="1200" b="0" i="0" u="none" strike="noStrike">
                          <a:solidFill>
                            <a:srgbClr val="000000"/>
                          </a:solidFill>
                          <a:effectLst/>
                          <a:latin typeface="+mj-lt"/>
                        </a:rPr>
                        <a:t>mechanisms (eg: IT Strategy update and alignment, Financial Mgmt, Lean Portfolio Mgmt) and effective Performance Mgmt capability</a:t>
                      </a:r>
                      <a:endParaRPr lang="en-IN" sz="1200" b="0" i="0" u="none" strike="noStrike" dirty="0">
                        <a:solidFill>
                          <a:srgbClr val="000000"/>
                        </a:solidFill>
                        <a:effectLst/>
                        <a:latin typeface="+mj-lt"/>
                      </a:endParaRPr>
                    </a:p>
                  </a:txBody>
                  <a:tcPr marL="108000" marR="108000" marT="0" marB="0" anchor="ctr">
                    <a:lnL w="12700" cmpd="sng">
                      <a:noFill/>
                    </a:lnL>
                    <a:lnR w="12700" cmpd="sng">
                      <a:noFill/>
                    </a:lnR>
                    <a:lnT w="9525" cap="flat" cmpd="sng" algn="ctr">
                      <a:solidFill>
                        <a:srgbClr val="FFFFFF">
                          <a:lumMod val="50000"/>
                        </a:srgbClr>
                      </a:solidFill>
                      <a:prstDash val="sysDash"/>
                      <a:round/>
                      <a:headEnd type="none" w="med" len="med"/>
                      <a:tailEnd type="none" w="med" len="med"/>
                    </a:lnT>
                    <a:lnB w="9525" cap="flat" cmpd="sng" algn="ctr">
                      <a:solidFill>
                        <a:srgbClr val="FFFFFF">
                          <a:lumMod val="50000"/>
                        </a:srgbClr>
                      </a:solidFill>
                      <a:prstDash val="sysDash"/>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76693125"/>
                  </a:ext>
                </a:extLst>
              </a:tr>
            </a:tbl>
          </a:graphicData>
        </a:graphic>
      </p:graphicFrame>
      <p:sp>
        <p:nvSpPr>
          <p:cNvPr id="50" name="Rectangle: Rounded Corners 49">
            <a:extLst>
              <a:ext uri="{FF2B5EF4-FFF2-40B4-BE49-F238E27FC236}">
                <a16:creationId xmlns:a16="http://schemas.microsoft.com/office/drawing/2014/main" id="{CAE27C6C-222B-3D01-FFA5-73170354C531}"/>
              </a:ext>
            </a:extLst>
          </p:cNvPr>
          <p:cNvSpPr/>
          <p:nvPr/>
        </p:nvSpPr>
        <p:spPr>
          <a:xfrm>
            <a:off x="4139038" y="1820047"/>
            <a:ext cx="2490171" cy="305284"/>
          </a:xfrm>
          <a:prstGeom prst="roundRect">
            <a:avLst/>
          </a:prstGeom>
          <a:solidFill>
            <a:srgbClr val="0070C0"/>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IN" sz="1400" b="1" i="1" kern="0" dirty="0">
                <a:solidFill>
                  <a:srgbClr val="FFFFFF"/>
                </a:solidFill>
                <a:latin typeface="+mj-lt"/>
                <a:sym typeface="Arial"/>
              </a:rPr>
              <a:t>Dimensions</a:t>
            </a:r>
            <a:endParaRPr lang="en-IN" sz="1400" b="1" i="1" kern="0">
              <a:solidFill>
                <a:srgbClr val="000000"/>
              </a:solidFill>
              <a:latin typeface="+mj-lt"/>
              <a:sym typeface="Arial"/>
            </a:endParaRPr>
          </a:p>
        </p:txBody>
      </p:sp>
      <p:sp>
        <p:nvSpPr>
          <p:cNvPr id="51" name="Oval 50">
            <a:extLst>
              <a:ext uri="{FF2B5EF4-FFF2-40B4-BE49-F238E27FC236}">
                <a16:creationId xmlns:a16="http://schemas.microsoft.com/office/drawing/2014/main" id="{02B92400-B811-F9F3-6704-783979E4A6AB}"/>
              </a:ext>
            </a:extLst>
          </p:cNvPr>
          <p:cNvSpPr/>
          <p:nvPr/>
        </p:nvSpPr>
        <p:spPr>
          <a:xfrm>
            <a:off x="4117128" y="2230223"/>
            <a:ext cx="288947" cy="288947"/>
          </a:xfrm>
          <a:prstGeom prst="ellipse">
            <a:avLst/>
          </a:prstGeom>
          <a:solidFill>
            <a:srgbClr val="5BC5F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400" b="1" kern="0">
                <a:solidFill>
                  <a:srgbClr val="000000"/>
                </a:solidFill>
                <a:latin typeface="+mj-lt"/>
                <a:sym typeface="Arial"/>
              </a:rPr>
              <a:t>1</a:t>
            </a:r>
          </a:p>
        </p:txBody>
      </p:sp>
      <p:sp>
        <p:nvSpPr>
          <p:cNvPr id="52" name="Oval 51">
            <a:extLst>
              <a:ext uri="{FF2B5EF4-FFF2-40B4-BE49-F238E27FC236}">
                <a16:creationId xmlns:a16="http://schemas.microsoft.com/office/drawing/2014/main" id="{FAD9BACA-C1A1-A847-3557-DCE82BEFDA20}"/>
              </a:ext>
            </a:extLst>
          </p:cNvPr>
          <p:cNvSpPr/>
          <p:nvPr/>
        </p:nvSpPr>
        <p:spPr>
          <a:xfrm>
            <a:off x="4117128" y="2963250"/>
            <a:ext cx="288947" cy="288947"/>
          </a:xfrm>
          <a:prstGeom prst="ellipse">
            <a:avLst/>
          </a:prstGeom>
          <a:solidFill>
            <a:srgbClr val="5BC5F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400" b="1" kern="0">
                <a:solidFill>
                  <a:srgbClr val="000000"/>
                </a:solidFill>
                <a:latin typeface="+mj-lt"/>
                <a:sym typeface="Arial"/>
              </a:rPr>
              <a:t>2</a:t>
            </a:r>
          </a:p>
        </p:txBody>
      </p:sp>
      <p:sp>
        <p:nvSpPr>
          <p:cNvPr id="65" name="Oval 64">
            <a:extLst>
              <a:ext uri="{FF2B5EF4-FFF2-40B4-BE49-F238E27FC236}">
                <a16:creationId xmlns:a16="http://schemas.microsoft.com/office/drawing/2014/main" id="{C89A7595-5313-C5E3-D95C-84B043ED9A56}"/>
              </a:ext>
            </a:extLst>
          </p:cNvPr>
          <p:cNvSpPr/>
          <p:nvPr/>
        </p:nvSpPr>
        <p:spPr>
          <a:xfrm>
            <a:off x="4117128" y="3734377"/>
            <a:ext cx="288947" cy="288947"/>
          </a:xfrm>
          <a:prstGeom prst="ellipse">
            <a:avLst/>
          </a:prstGeom>
          <a:solidFill>
            <a:srgbClr val="5BC5F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400" b="1" kern="0">
                <a:solidFill>
                  <a:srgbClr val="000000"/>
                </a:solidFill>
                <a:latin typeface="+mj-lt"/>
                <a:sym typeface="Arial"/>
              </a:rPr>
              <a:t>3</a:t>
            </a:r>
          </a:p>
        </p:txBody>
      </p:sp>
      <p:sp>
        <p:nvSpPr>
          <p:cNvPr id="66" name="Oval 65">
            <a:extLst>
              <a:ext uri="{FF2B5EF4-FFF2-40B4-BE49-F238E27FC236}">
                <a16:creationId xmlns:a16="http://schemas.microsoft.com/office/drawing/2014/main" id="{B63F4A92-D343-E13B-70DC-909D3382797B}"/>
              </a:ext>
            </a:extLst>
          </p:cNvPr>
          <p:cNvSpPr/>
          <p:nvPr/>
        </p:nvSpPr>
        <p:spPr>
          <a:xfrm>
            <a:off x="4117128" y="4327704"/>
            <a:ext cx="288947" cy="288947"/>
          </a:xfrm>
          <a:prstGeom prst="ellipse">
            <a:avLst/>
          </a:prstGeom>
          <a:solidFill>
            <a:srgbClr val="5BC5F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400" b="1" kern="0">
                <a:solidFill>
                  <a:srgbClr val="000000"/>
                </a:solidFill>
                <a:latin typeface="+mj-lt"/>
                <a:sym typeface="Arial"/>
              </a:rPr>
              <a:t>4</a:t>
            </a:r>
          </a:p>
        </p:txBody>
      </p:sp>
      <p:sp>
        <p:nvSpPr>
          <p:cNvPr id="67" name="Oval 66">
            <a:extLst>
              <a:ext uri="{FF2B5EF4-FFF2-40B4-BE49-F238E27FC236}">
                <a16:creationId xmlns:a16="http://schemas.microsoft.com/office/drawing/2014/main" id="{3E10AB92-0AD9-A63E-072B-BA4E0873EDC8}"/>
              </a:ext>
            </a:extLst>
          </p:cNvPr>
          <p:cNvSpPr/>
          <p:nvPr/>
        </p:nvSpPr>
        <p:spPr>
          <a:xfrm>
            <a:off x="4117128" y="4997231"/>
            <a:ext cx="288947" cy="288947"/>
          </a:xfrm>
          <a:prstGeom prst="ellipse">
            <a:avLst/>
          </a:prstGeom>
          <a:solidFill>
            <a:srgbClr val="5BC5F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400" b="1" kern="0">
                <a:solidFill>
                  <a:srgbClr val="000000"/>
                </a:solidFill>
                <a:latin typeface="+mj-lt"/>
                <a:sym typeface="Arial"/>
              </a:rPr>
              <a:t>5</a:t>
            </a:r>
          </a:p>
        </p:txBody>
      </p:sp>
      <p:sp>
        <p:nvSpPr>
          <p:cNvPr id="68" name="Oval 67">
            <a:extLst>
              <a:ext uri="{FF2B5EF4-FFF2-40B4-BE49-F238E27FC236}">
                <a16:creationId xmlns:a16="http://schemas.microsoft.com/office/drawing/2014/main" id="{CB4C80BC-8275-F6B0-6683-14567A41A14F}"/>
              </a:ext>
            </a:extLst>
          </p:cNvPr>
          <p:cNvSpPr/>
          <p:nvPr/>
        </p:nvSpPr>
        <p:spPr>
          <a:xfrm>
            <a:off x="4117128" y="5603258"/>
            <a:ext cx="288947" cy="288947"/>
          </a:xfrm>
          <a:prstGeom prst="ellipse">
            <a:avLst/>
          </a:prstGeom>
          <a:solidFill>
            <a:srgbClr val="5BC5F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400" b="1" kern="0">
                <a:solidFill>
                  <a:srgbClr val="000000"/>
                </a:solidFill>
                <a:latin typeface="+mj-lt"/>
                <a:sym typeface="Arial"/>
              </a:rPr>
              <a:t>6</a:t>
            </a:r>
          </a:p>
        </p:txBody>
      </p:sp>
      <p:sp>
        <p:nvSpPr>
          <p:cNvPr id="69" name="Oval 68">
            <a:extLst>
              <a:ext uri="{FF2B5EF4-FFF2-40B4-BE49-F238E27FC236}">
                <a16:creationId xmlns:a16="http://schemas.microsoft.com/office/drawing/2014/main" id="{F0DA637D-E321-3F7A-C340-A357F1305436}"/>
              </a:ext>
            </a:extLst>
          </p:cNvPr>
          <p:cNvSpPr/>
          <p:nvPr/>
        </p:nvSpPr>
        <p:spPr>
          <a:xfrm>
            <a:off x="4117128" y="6183883"/>
            <a:ext cx="288947" cy="288947"/>
          </a:xfrm>
          <a:prstGeom prst="ellipse">
            <a:avLst/>
          </a:prstGeom>
          <a:solidFill>
            <a:srgbClr val="5BC5F2"/>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400" b="1" kern="0">
                <a:solidFill>
                  <a:srgbClr val="000000"/>
                </a:solidFill>
                <a:latin typeface="+mj-lt"/>
                <a:sym typeface="Arial"/>
              </a:rPr>
              <a:t>7</a:t>
            </a:r>
          </a:p>
        </p:txBody>
      </p:sp>
      <p:sp>
        <p:nvSpPr>
          <p:cNvPr id="70" name="Rectangle: Rounded Corners 69">
            <a:extLst>
              <a:ext uri="{FF2B5EF4-FFF2-40B4-BE49-F238E27FC236}">
                <a16:creationId xmlns:a16="http://schemas.microsoft.com/office/drawing/2014/main" id="{95D0D274-25B5-E034-6BFD-7818757D35BF}"/>
              </a:ext>
            </a:extLst>
          </p:cNvPr>
          <p:cNvSpPr/>
          <p:nvPr/>
        </p:nvSpPr>
        <p:spPr>
          <a:xfrm>
            <a:off x="6676589" y="1820047"/>
            <a:ext cx="5297090" cy="305283"/>
          </a:xfrm>
          <a:prstGeom prst="roundRect">
            <a:avLst/>
          </a:prstGeom>
          <a:noFill/>
          <a:ln w="9525" cap="flat" cmpd="sng" algn="ctr">
            <a:solidFill>
              <a:srgbClr val="0070C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IN" sz="1400" b="1" i="1" kern="0" dirty="0">
                <a:solidFill>
                  <a:srgbClr val="0070C0"/>
                </a:solidFill>
                <a:latin typeface="+mj-lt"/>
                <a:sym typeface="Arial"/>
              </a:rPr>
              <a:t>Our convictions for defining the TOM</a:t>
            </a:r>
            <a:endParaRPr lang="en-IN" sz="1400" b="1" i="1" kern="0">
              <a:solidFill>
                <a:srgbClr val="0070C0"/>
              </a:solidFill>
              <a:latin typeface="+mj-lt"/>
              <a:sym typeface="Arial"/>
            </a:endParaRPr>
          </a:p>
        </p:txBody>
      </p:sp>
      <p:sp>
        <p:nvSpPr>
          <p:cNvPr id="71" name="TextBox 70">
            <a:extLst>
              <a:ext uri="{FF2B5EF4-FFF2-40B4-BE49-F238E27FC236}">
                <a16:creationId xmlns:a16="http://schemas.microsoft.com/office/drawing/2014/main" id="{B9F0FDB1-F834-04F0-3A83-A7D5FB541813}"/>
              </a:ext>
            </a:extLst>
          </p:cNvPr>
          <p:cNvSpPr txBox="1"/>
          <p:nvPr/>
        </p:nvSpPr>
        <p:spPr>
          <a:xfrm>
            <a:off x="-45414" y="5209721"/>
            <a:ext cx="4095398" cy="276999"/>
          </a:xfrm>
          <a:prstGeom prst="rect">
            <a:avLst/>
          </a:prstGeom>
          <a:noFill/>
        </p:spPr>
        <p:txBody>
          <a:bodyPr wrap="square" anchor="ctr">
            <a:spAutoFit/>
          </a:bodyPr>
          <a:lstStyle/>
          <a:p>
            <a:pPr algn="ctr">
              <a:buClr>
                <a:srgbClr val="000000"/>
              </a:buClr>
              <a:buFont typeface="Arial"/>
              <a:buNone/>
            </a:pPr>
            <a:r>
              <a:rPr lang="en-US" sz="1200" kern="0" dirty="0">
                <a:solidFill>
                  <a:srgbClr val="000000"/>
                </a:solidFill>
                <a:latin typeface="+mj-lt"/>
                <a:cs typeface="Arial"/>
                <a:sym typeface="Ubuntu" panose="020B0504030602030204" pitchFamily="34" charset="0"/>
              </a:rPr>
              <a:t>Example of As-Is operating model assessment</a:t>
            </a:r>
            <a:endParaRPr lang="en-IN" sz="1200" kern="0" dirty="0">
              <a:solidFill>
                <a:srgbClr val="000000"/>
              </a:solidFill>
              <a:latin typeface="+mj-lt"/>
              <a:cs typeface="Arial"/>
              <a:sym typeface="Arial"/>
            </a:endParaRPr>
          </a:p>
        </p:txBody>
      </p:sp>
      <p:pic>
        <p:nvPicPr>
          <p:cNvPr id="72" name="Picture 71">
            <a:extLst>
              <a:ext uri="{FF2B5EF4-FFF2-40B4-BE49-F238E27FC236}">
                <a16:creationId xmlns:a16="http://schemas.microsoft.com/office/drawing/2014/main" id="{8499FF28-597E-BE23-1474-4E5D26C56DC8}"/>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810975" y="5523368"/>
            <a:ext cx="2382620" cy="1044000"/>
          </a:xfrm>
          <a:prstGeom prst="rect">
            <a:avLst/>
          </a:prstGeom>
        </p:spPr>
      </p:pic>
      <p:cxnSp>
        <p:nvCxnSpPr>
          <p:cNvPr id="73" name="Straight Connector 72">
            <a:extLst>
              <a:ext uri="{FF2B5EF4-FFF2-40B4-BE49-F238E27FC236}">
                <a16:creationId xmlns:a16="http://schemas.microsoft.com/office/drawing/2014/main" id="{B116EFB8-320A-6FB6-F790-AB7D2B43C75C}"/>
              </a:ext>
            </a:extLst>
          </p:cNvPr>
          <p:cNvCxnSpPr>
            <a:cxnSpLocks/>
          </p:cNvCxnSpPr>
          <p:nvPr/>
        </p:nvCxnSpPr>
        <p:spPr bwMode="gray">
          <a:xfrm>
            <a:off x="265152" y="5163555"/>
            <a:ext cx="3492000" cy="0"/>
          </a:xfrm>
          <a:prstGeom prst="line">
            <a:avLst/>
          </a:prstGeom>
          <a:noFill/>
          <a:ln w="6350" cap="flat" cmpd="sng" algn="ctr">
            <a:solidFill>
              <a:srgbClr val="0070C0"/>
            </a:solidFill>
            <a:prstDash val="dash"/>
            <a:miter lim="800000"/>
            <a:headEnd type="oval" w="med" len="med"/>
            <a:tailEnd type="oval" w="med" len="med"/>
          </a:ln>
          <a:effectLst/>
        </p:spPr>
      </p:cxnSp>
      <p:grpSp>
        <p:nvGrpSpPr>
          <p:cNvPr id="5" name="Groupe 1">
            <a:extLst>
              <a:ext uri="{FF2B5EF4-FFF2-40B4-BE49-F238E27FC236}">
                <a16:creationId xmlns:a16="http://schemas.microsoft.com/office/drawing/2014/main" id="{A0C2EB28-8FC1-9EFB-014C-3C780EE0592D}"/>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6" name="Freeform 13">
              <a:extLst>
                <a:ext uri="{FF2B5EF4-FFF2-40B4-BE49-F238E27FC236}">
                  <a16:creationId xmlns:a16="http://schemas.microsoft.com/office/drawing/2014/main" id="{1BE0E884-3752-687C-A673-E4E2E463F829}"/>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7" name="Freeform 14">
              <a:extLst>
                <a:ext uri="{FF2B5EF4-FFF2-40B4-BE49-F238E27FC236}">
                  <a16:creationId xmlns:a16="http://schemas.microsoft.com/office/drawing/2014/main" id="{6D5B1FB2-3CC8-505A-2358-93DC4B19EEC2}"/>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4" name="Foliennummernplatzhalter 5">
            <a:extLst>
              <a:ext uri="{FF2B5EF4-FFF2-40B4-BE49-F238E27FC236}">
                <a16:creationId xmlns:a16="http://schemas.microsoft.com/office/drawing/2014/main" id="{E66BB175-3555-0983-0D32-D40913D19457}"/>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8</a:t>
            </a:fld>
            <a:endParaRPr lang="en-US"/>
          </a:p>
        </p:txBody>
      </p:sp>
      <p:sp>
        <p:nvSpPr>
          <p:cNvPr id="8" name="Rectangle 27">
            <a:extLst>
              <a:ext uri="{FF2B5EF4-FFF2-40B4-BE49-F238E27FC236}">
                <a16:creationId xmlns:a16="http://schemas.microsoft.com/office/drawing/2014/main" id="{CC136298-57D0-33FB-A906-474A964249DB}"/>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9" name="TextBox 8">
            <a:extLst>
              <a:ext uri="{FF2B5EF4-FFF2-40B4-BE49-F238E27FC236}">
                <a16:creationId xmlns:a16="http://schemas.microsoft.com/office/drawing/2014/main" id="{2D250A0A-9DBF-919F-D098-9C566AD7AFD5}"/>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extLst>
      <p:ext uri="{BB962C8B-B14F-4D97-AF65-F5344CB8AC3E}">
        <p14:creationId xmlns:p14="http://schemas.microsoft.com/office/powerpoint/2010/main" val="2862735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 name="Rectangle 536">
            <a:extLst>
              <a:ext uri="{FF2B5EF4-FFF2-40B4-BE49-F238E27FC236}">
                <a16:creationId xmlns:a16="http://schemas.microsoft.com/office/drawing/2014/main" id="{6B9A32B7-F50B-1EB1-B3B7-81ABB5C09566}"/>
              </a:ext>
            </a:extLst>
          </p:cNvPr>
          <p:cNvSpPr/>
          <p:nvPr/>
        </p:nvSpPr>
        <p:spPr bwMode="gray">
          <a:xfrm>
            <a:off x="6369502" y="3065014"/>
            <a:ext cx="2587868" cy="3460124"/>
          </a:xfrm>
          <a:prstGeom prst="rect">
            <a:avLst/>
          </a:prstGeom>
          <a:solidFill>
            <a:schemeClr val="bg1"/>
          </a:solidFill>
          <a:ln w="6350">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it-IT" sz="1600" b="1" dirty="0">
              <a:solidFill>
                <a:schemeClr val="tx1"/>
              </a:solidFill>
            </a:endParaRPr>
          </a:p>
        </p:txBody>
      </p:sp>
      <p:graphicFrame>
        <p:nvGraphicFramePr>
          <p:cNvPr id="6" name="Object 5" hidden="1">
            <a:extLst>
              <a:ext uri="{FF2B5EF4-FFF2-40B4-BE49-F238E27FC236}">
                <a16:creationId xmlns:a16="http://schemas.microsoft.com/office/drawing/2014/main" id="{F4B5D0F9-36D8-45EB-AA4B-B451FDE7C78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6" name="Object 5" hidden="1">
                        <a:extLst>
                          <a:ext uri="{FF2B5EF4-FFF2-40B4-BE49-F238E27FC236}">
                            <a16:creationId xmlns:a16="http://schemas.microsoft.com/office/drawing/2014/main" id="{F4B5D0F9-36D8-45EB-AA4B-B451FDE7C7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53B1ACA-953B-4E30-9DB5-927FE5001BDC}"/>
              </a:ext>
            </a:extLst>
          </p:cNvPr>
          <p:cNvSpPr>
            <a:spLocks noGrp="1"/>
          </p:cNvSpPr>
          <p:nvPr>
            <p:ph type="title"/>
          </p:nvPr>
        </p:nvSpPr>
        <p:spPr>
          <a:xfrm>
            <a:off x="1392989" y="332656"/>
            <a:ext cx="9053466" cy="432645"/>
          </a:xfrm>
        </p:spPr>
        <p:txBody>
          <a:bodyPr vert="horz"/>
          <a:lstStyle/>
          <a:p>
            <a:r>
              <a:rPr lang="it-IT" dirty="0"/>
              <a:t>STREAM 3 | </a:t>
            </a:r>
            <a:r>
              <a:rPr lang="en-US" sz="2400" b="1" kern="0" spc="-50" dirty="0">
                <a:solidFill>
                  <a:srgbClr val="000000"/>
                </a:solidFill>
                <a:latin typeface="+mj-lt"/>
                <a:ea typeface="+mj-ea"/>
                <a:cs typeface="+mj-cs"/>
              </a:rPr>
              <a:t>IT OPERATING MODEL</a:t>
            </a:r>
            <a:r>
              <a:rPr lang="it-IT" sz="2400" b="1" kern="0" spc="-50" dirty="0">
                <a:solidFill>
                  <a:srgbClr val="000000"/>
                </a:solidFill>
                <a:latin typeface="+mj-lt"/>
                <a:ea typeface="+mj-ea"/>
                <a:cs typeface="+mj-cs"/>
              </a:rPr>
              <a:t>:</a:t>
            </a:r>
            <a:r>
              <a:rPr lang="it-IT" dirty="0"/>
              <a:t> </a:t>
            </a:r>
            <a:r>
              <a:rPr lang="it-IT" dirty="0">
                <a:solidFill>
                  <a:srgbClr val="1781E3"/>
                </a:solidFill>
              </a:rPr>
              <a:t>ORGANIZATIONAL AGILITY JOURNEY</a:t>
            </a:r>
            <a:endParaRPr lang="nl-BE" dirty="0">
              <a:solidFill>
                <a:srgbClr val="1781E3"/>
              </a:solidFill>
            </a:endParaRPr>
          </a:p>
        </p:txBody>
      </p:sp>
      <p:sp>
        <p:nvSpPr>
          <p:cNvPr id="5" name="TextBox 4">
            <a:extLst>
              <a:ext uri="{FF2B5EF4-FFF2-40B4-BE49-F238E27FC236}">
                <a16:creationId xmlns:a16="http://schemas.microsoft.com/office/drawing/2014/main" id="{62287B92-92AD-1F1F-A3CE-956B75104245}"/>
              </a:ext>
            </a:extLst>
          </p:cNvPr>
          <p:cNvSpPr txBox="1"/>
          <p:nvPr/>
        </p:nvSpPr>
        <p:spPr bwMode="gray">
          <a:xfrm>
            <a:off x="150764" y="998182"/>
            <a:ext cx="932803" cy="1693801"/>
          </a:xfrm>
          <a:prstGeom prst="roundRect">
            <a:avLst>
              <a:gd name="adj" fmla="val 13363"/>
            </a:avLst>
          </a:prstGeom>
          <a:solidFill>
            <a:srgbClr val="FFC000"/>
          </a:solidFill>
        </p:spPr>
        <p:txBody>
          <a:bodyPr vert="horz" wrap="square" lIns="0" tIns="0" rIns="0" bIns="0" rtlCol="0" anchor="ctr">
            <a:noAutofit/>
          </a:bodyPr>
          <a:lstStyle/>
          <a:p>
            <a:pPr algn="ctr">
              <a:lnSpc>
                <a:spcPct val="110000"/>
              </a:lnSpc>
            </a:pPr>
            <a:r>
              <a:rPr lang="en-GB" sz="1600" b="1" dirty="0">
                <a:solidFill>
                  <a:schemeClr val="bg1"/>
                </a:solidFill>
              </a:rPr>
              <a:t>Our proposed approach</a:t>
            </a:r>
          </a:p>
        </p:txBody>
      </p:sp>
      <p:grpSp>
        <p:nvGrpSpPr>
          <p:cNvPr id="448" name="Groupe 1">
            <a:extLst>
              <a:ext uri="{FF2B5EF4-FFF2-40B4-BE49-F238E27FC236}">
                <a16:creationId xmlns:a16="http://schemas.microsoft.com/office/drawing/2014/main" id="{52B98498-1EDC-4ABF-82CA-D1EE813890D4}"/>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449" name="Freeform 13">
              <a:extLst>
                <a:ext uri="{FF2B5EF4-FFF2-40B4-BE49-F238E27FC236}">
                  <a16:creationId xmlns:a16="http://schemas.microsoft.com/office/drawing/2014/main" id="{6CDB88D0-7C76-D527-6CDB-97FD5B5FFF7E}"/>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450" name="Freeform 14">
              <a:extLst>
                <a:ext uri="{FF2B5EF4-FFF2-40B4-BE49-F238E27FC236}">
                  <a16:creationId xmlns:a16="http://schemas.microsoft.com/office/drawing/2014/main" id="{D75C1B78-2DDF-5C3D-5E3E-1E95F7AAFD8C}"/>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299" name="Rectangle 298">
            <a:extLst>
              <a:ext uri="{FF2B5EF4-FFF2-40B4-BE49-F238E27FC236}">
                <a16:creationId xmlns:a16="http://schemas.microsoft.com/office/drawing/2014/main" id="{E41AB9A8-808C-D42D-3F68-3153325D8FF3}"/>
              </a:ext>
            </a:extLst>
          </p:cNvPr>
          <p:cNvSpPr/>
          <p:nvPr/>
        </p:nvSpPr>
        <p:spPr bwMode="gray">
          <a:xfrm>
            <a:off x="1250162" y="998182"/>
            <a:ext cx="1950238" cy="206619"/>
          </a:xfrm>
          <a:prstGeom prst="rect">
            <a:avLst/>
          </a:prstGeom>
          <a:solidFill>
            <a:srgbClr val="FFC000">
              <a:alpha val="45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it-IT" sz="1600" b="1" dirty="0">
              <a:solidFill>
                <a:schemeClr val="tx1"/>
              </a:solidFill>
            </a:endParaRPr>
          </a:p>
        </p:txBody>
      </p:sp>
      <p:sp>
        <p:nvSpPr>
          <p:cNvPr id="498" name="Arrow: Right 497">
            <a:extLst>
              <a:ext uri="{FF2B5EF4-FFF2-40B4-BE49-F238E27FC236}">
                <a16:creationId xmlns:a16="http://schemas.microsoft.com/office/drawing/2014/main" id="{6A4BCB88-D0D8-66CE-B5A1-0E7E9EB62521}"/>
              </a:ext>
            </a:extLst>
          </p:cNvPr>
          <p:cNvSpPr/>
          <p:nvPr/>
        </p:nvSpPr>
        <p:spPr bwMode="gray">
          <a:xfrm>
            <a:off x="9839766" y="894619"/>
            <a:ext cx="2078112" cy="415007"/>
          </a:xfrm>
          <a:prstGeom prst="rightArrow">
            <a:avLst/>
          </a:prstGeom>
          <a:solidFill>
            <a:srgbClr val="FFC000">
              <a:alpha val="45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it-IT" sz="1600" dirty="0">
              <a:solidFill>
                <a:schemeClr val="tx1"/>
              </a:solidFill>
            </a:endParaRPr>
          </a:p>
        </p:txBody>
      </p:sp>
      <p:sp>
        <p:nvSpPr>
          <p:cNvPr id="499" name="Rectangle: Rounded Corners 498">
            <a:extLst>
              <a:ext uri="{FF2B5EF4-FFF2-40B4-BE49-F238E27FC236}">
                <a16:creationId xmlns:a16="http://schemas.microsoft.com/office/drawing/2014/main" id="{4B91E499-0BE5-EBFB-BD99-99FD8A3B72D2}"/>
              </a:ext>
            </a:extLst>
          </p:cNvPr>
          <p:cNvSpPr/>
          <p:nvPr/>
        </p:nvSpPr>
        <p:spPr bwMode="gray">
          <a:xfrm>
            <a:off x="1250162" y="1323983"/>
            <a:ext cx="1926000" cy="1368000"/>
          </a:xfrm>
          <a:prstGeom prst="roundRect">
            <a:avLst>
              <a:gd name="adj" fmla="val 9108"/>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lnSpc>
                <a:spcPct val="110000"/>
              </a:lnSpc>
            </a:pPr>
            <a:r>
              <a:rPr lang="en-GB" sz="1400" b="1" dirty="0">
                <a:solidFill>
                  <a:srgbClr val="FF9933"/>
                </a:solidFill>
              </a:rPr>
              <a:t>Assess</a:t>
            </a:r>
            <a:r>
              <a:rPr lang="en-GB" sz="1200">
                <a:solidFill>
                  <a:schemeClr val="tx1"/>
                </a:solidFill>
              </a:rPr>
              <a:t> both companies operating models (way of working, agile maturity, product portfolios,…) and value stream mapping on selected digital products</a:t>
            </a:r>
            <a:endParaRPr lang="en-GB" sz="1200" dirty="0">
              <a:solidFill>
                <a:schemeClr val="tx1"/>
              </a:solidFill>
            </a:endParaRPr>
          </a:p>
        </p:txBody>
      </p:sp>
      <p:sp>
        <p:nvSpPr>
          <p:cNvPr id="4" name="Oval 3">
            <a:extLst>
              <a:ext uri="{FF2B5EF4-FFF2-40B4-BE49-F238E27FC236}">
                <a16:creationId xmlns:a16="http://schemas.microsoft.com/office/drawing/2014/main" id="{7967ED05-2A14-612B-A194-A46166026A36}"/>
              </a:ext>
            </a:extLst>
          </p:cNvPr>
          <p:cNvSpPr/>
          <p:nvPr/>
        </p:nvSpPr>
        <p:spPr bwMode="gray">
          <a:xfrm>
            <a:off x="2015162" y="869563"/>
            <a:ext cx="396000" cy="396000"/>
          </a:xfrm>
          <a:prstGeom prst="ellipse">
            <a:avLst/>
          </a:prstGeom>
          <a:solidFill>
            <a:srgbClr val="FFC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600" b="1" dirty="0">
                <a:solidFill>
                  <a:schemeClr val="bg1"/>
                </a:solidFill>
              </a:rPr>
              <a:t>1</a:t>
            </a:r>
          </a:p>
        </p:txBody>
      </p:sp>
      <p:sp>
        <p:nvSpPr>
          <p:cNvPr id="500" name="Rectangle: Rounded Corners 499">
            <a:extLst>
              <a:ext uri="{FF2B5EF4-FFF2-40B4-BE49-F238E27FC236}">
                <a16:creationId xmlns:a16="http://schemas.microsoft.com/office/drawing/2014/main" id="{A5CF39E9-B95A-342A-87D7-3BA25CFE4A3B}"/>
              </a:ext>
            </a:extLst>
          </p:cNvPr>
          <p:cNvSpPr/>
          <p:nvPr/>
        </p:nvSpPr>
        <p:spPr bwMode="gray">
          <a:xfrm>
            <a:off x="3397563" y="1323983"/>
            <a:ext cx="1926000" cy="1368000"/>
          </a:xfrm>
          <a:prstGeom prst="roundRect">
            <a:avLst>
              <a:gd name="adj" fmla="val 10376"/>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lnSpc>
                <a:spcPct val="110000"/>
              </a:lnSpc>
            </a:pPr>
            <a:r>
              <a:rPr lang="en-US" sz="1400" b="1" dirty="0">
                <a:solidFill>
                  <a:srgbClr val="FF9933"/>
                </a:solidFill>
              </a:rPr>
              <a:t>Define TOM </a:t>
            </a:r>
            <a:r>
              <a:rPr lang="en-US" sz="1200" dirty="0">
                <a:solidFill>
                  <a:schemeClr val="tx1"/>
                </a:solidFill>
              </a:rPr>
              <a:t>based on a tailored </a:t>
            </a:r>
            <a:r>
              <a:rPr lang="en-US" sz="1200" dirty="0" err="1">
                <a:solidFill>
                  <a:schemeClr val="tx1"/>
                </a:solidFill>
              </a:rPr>
              <a:t>xScale</a:t>
            </a:r>
            <a:r>
              <a:rPr lang="en-US" sz="1200" dirty="0">
                <a:solidFill>
                  <a:schemeClr val="tx1"/>
                </a:solidFill>
              </a:rPr>
              <a:t> Digital Factory model and a reviewed / optimized Delivery Framework for “Standard Delivery”</a:t>
            </a:r>
          </a:p>
        </p:txBody>
      </p:sp>
      <p:sp>
        <p:nvSpPr>
          <p:cNvPr id="9" name="TextBox 8">
            <a:extLst>
              <a:ext uri="{FF2B5EF4-FFF2-40B4-BE49-F238E27FC236}">
                <a16:creationId xmlns:a16="http://schemas.microsoft.com/office/drawing/2014/main" id="{B8801E87-3A81-E0DE-AF46-C9D831F57105}"/>
              </a:ext>
            </a:extLst>
          </p:cNvPr>
          <p:cNvSpPr txBox="1"/>
          <p:nvPr/>
        </p:nvSpPr>
        <p:spPr bwMode="gray">
          <a:xfrm>
            <a:off x="4236906" y="1624775"/>
            <a:ext cx="1522599" cy="1335600"/>
          </a:xfrm>
          <a:prstGeom prst="rect">
            <a:avLst/>
          </a:prstGeom>
        </p:spPr>
        <p:txBody>
          <a:bodyPr vert="horz" wrap="square" lIns="0" tIns="0" rIns="0" bIns="0" rtlCol="0">
            <a:noAutofit/>
          </a:bodyPr>
          <a:lstStyle/>
          <a:p>
            <a:pPr algn="l">
              <a:lnSpc>
                <a:spcPct val="110000"/>
              </a:lnSpc>
            </a:pPr>
            <a:endParaRPr lang="en-GB" sz="1200" dirty="0"/>
          </a:p>
        </p:txBody>
      </p:sp>
      <p:sp>
        <p:nvSpPr>
          <p:cNvPr id="514" name="Rectangle: Rounded Corners 513">
            <a:extLst>
              <a:ext uri="{FF2B5EF4-FFF2-40B4-BE49-F238E27FC236}">
                <a16:creationId xmlns:a16="http://schemas.microsoft.com/office/drawing/2014/main" id="{3A867AD8-D9F0-7626-DAE7-3A725D7AC8E5}"/>
              </a:ext>
            </a:extLst>
          </p:cNvPr>
          <p:cNvSpPr/>
          <p:nvPr/>
        </p:nvSpPr>
        <p:spPr bwMode="gray">
          <a:xfrm>
            <a:off x="5544964" y="1323983"/>
            <a:ext cx="1926000" cy="1368000"/>
          </a:xfrm>
          <a:prstGeom prst="roundRect">
            <a:avLst>
              <a:gd name="adj" fmla="val 7231"/>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lnSpc>
                <a:spcPct val="110000"/>
              </a:lnSpc>
            </a:pPr>
            <a:r>
              <a:rPr lang="en-US" sz="1400" b="1" dirty="0">
                <a:solidFill>
                  <a:srgbClr val="FF9933"/>
                </a:solidFill>
              </a:rPr>
              <a:t>Gap Analysis</a:t>
            </a:r>
            <a:r>
              <a:rPr lang="en-US" sz="1200" dirty="0">
                <a:solidFill>
                  <a:schemeClr val="tx1"/>
                </a:solidFill>
              </a:rPr>
              <a:t>, roadmap definition, prioritization and quick win identification (</a:t>
            </a:r>
            <a:r>
              <a:rPr lang="en-US" sz="1200" dirty="0" err="1">
                <a:solidFill>
                  <a:schemeClr val="tx1"/>
                </a:solidFill>
              </a:rPr>
              <a:t>eg</a:t>
            </a:r>
            <a:r>
              <a:rPr lang="en-US" sz="1200" dirty="0">
                <a:solidFill>
                  <a:schemeClr val="tx1"/>
                </a:solidFill>
              </a:rPr>
              <a:t>: B2B/B2C products to be created / migrated into Digital Factory 1.0)</a:t>
            </a:r>
          </a:p>
        </p:txBody>
      </p:sp>
      <p:sp>
        <p:nvSpPr>
          <p:cNvPr id="515" name="Rectangle: Rounded Corners 514">
            <a:extLst>
              <a:ext uri="{FF2B5EF4-FFF2-40B4-BE49-F238E27FC236}">
                <a16:creationId xmlns:a16="http://schemas.microsoft.com/office/drawing/2014/main" id="{CB8D1A1C-BFBF-14D4-3DF9-498618C3E742}"/>
              </a:ext>
            </a:extLst>
          </p:cNvPr>
          <p:cNvSpPr/>
          <p:nvPr/>
        </p:nvSpPr>
        <p:spPr bwMode="gray">
          <a:xfrm>
            <a:off x="7692365" y="1323983"/>
            <a:ext cx="1926000" cy="1368000"/>
          </a:xfrm>
          <a:prstGeom prst="roundRect">
            <a:avLst>
              <a:gd name="adj" fmla="val 5658"/>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lnSpc>
                <a:spcPct val="110000"/>
              </a:lnSpc>
            </a:pPr>
            <a:r>
              <a:rPr lang="en-GB" sz="1400" b="1" dirty="0">
                <a:solidFill>
                  <a:srgbClr val="FF9933"/>
                </a:solidFill>
              </a:rPr>
              <a:t>Set-up </a:t>
            </a:r>
            <a:r>
              <a:rPr lang="en-GB" sz="1400" b="1" dirty="0" err="1">
                <a:solidFill>
                  <a:srgbClr val="FF9933"/>
                </a:solidFill>
              </a:rPr>
              <a:t>xScale</a:t>
            </a:r>
            <a:r>
              <a:rPr lang="en-GB" sz="1400" b="1" dirty="0">
                <a:solidFill>
                  <a:srgbClr val="FF9933"/>
                </a:solidFill>
              </a:rPr>
              <a:t> Digital Factory 1.0 </a:t>
            </a:r>
            <a:r>
              <a:rPr lang="en-GB" sz="1200" dirty="0">
                <a:solidFill>
                  <a:schemeClr val="tx1"/>
                </a:solidFill>
              </a:rPr>
              <a:t>with People, Processes, Tools and understand Business involvement</a:t>
            </a:r>
          </a:p>
        </p:txBody>
      </p:sp>
      <p:sp>
        <p:nvSpPr>
          <p:cNvPr id="516" name="Rectangle: Rounded Corners 515">
            <a:extLst>
              <a:ext uri="{FF2B5EF4-FFF2-40B4-BE49-F238E27FC236}">
                <a16:creationId xmlns:a16="http://schemas.microsoft.com/office/drawing/2014/main" id="{373086C9-091B-510E-9EDD-1483214AEE0B}"/>
              </a:ext>
            </a:extLst>
          </p:cNvPr>
          <p:cNvSpPr/>
          <p:nvPr/>
        </p:nvSpPr>
        <p:spPr bwMode="gray">
          <a:xfrm>
            <a:off x="9839767" y="1323983"/>
            <a:ext cx="1926000" cy="1193326"/>
          </a:xfrm>
          <a:prstGeom prst="roundRect">
            <a:avLst>
              <a:gd name="adj" fmla="val 8017"/>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lnSpc>
                <a:spcPct val="110000"/>
              </a:lnSpc>
            </a:pPr>
            <a:r>
              <a:rPr lang="en-GB" sz="1400" b="1" dirty="0">
                <a:solidFill>
                  <a:srgbClr val="FF9933"/>
                </a:solidFill>
              </a:rPr>
              <a:t>Scale-up the Digital Factory</a:t>
            </a:r>
            <a:r>
              <a:rPr lang="en-GB" sz="1200" dirty="0">
                <a:solidFill>
                  <a:schemeClr val="tx1"/>
                </a:solidFill>
              </a:rPr>
              <a:t>, through new value streams identification to build a proper IT Factory (</a:t>
            </a:r>
            <a:r>
              <a:rPr lang="en-GB" sz="1200" dirty="0" err="1">
                <a:solidFill>
                  <a:schemeClr val="tx1"/>
                </a:solidFill>
              </a:rPr>
              <a:t>eg</a:t>
            </a:r>
            <a:r>
              <a:rPr lang="en-GB" sz="1200" dirty="0">
                <a:solidFill>
                  <a:schemeClr val="tx1"/>
                </a:solidFill>
              </a:rPr>
              <a:t>: LPM, LACE,…)</a:t>
            </a:r>
          </a:p>
        </p:txBody>
      </p:sp>
      <p:sp>
        <p:nvSpPr>
          <p:cNvPr id="536" name="Rectangle 535">
            <a:extLst>
              <a:ext uri="{FF2B5EF4-FFF2-40B4-BE49-F238E27FC236}">
                <a16:creationId xmlns:a16="http://schemas.microsoft.com/office/drawing/2014/main" id="{C5E0ADBE-4028-CB73-938E-B508447A9916}"/>
              </a:ext>
            </a:extLst>
          </p:cNvPr>
          <p:cNvSpPr/>
          <p:nvPr/>
        </p:nvSpPr>
        <p:spPr bwMode="gray">
          <a:xfrm>
            <a:off x="3349532" y="3065014"/>
            <a:ext cx="2587868" cy="3460124"/>
          </a:xfrm>
          <a:prstGeom prst="rect">
            <a:avLst/>
          </a:prstGeom>
          <a:solidFill>
            <a:schemeClr val="bg1"/>
          </a:solidFill>
          <a:ln w="6350">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it-IT" sz="1600" b="1" dirty="0">
              <a:solidFill>
                <a:schemeClr val="tx1"/>
              </a:solidFill>
            </a:endParaRPr>
          </a:p>
        </p:txBody>
      </p:sp>
      <p:sp>
        <p:nvSpPr>
          <p:cNvPr id="25" name="Rectangle: Rounded Corners 24">
            <a:extLst>
              <a:ext uri="{FF2B5EF4-FFF2-40B4-BE49-F238E27FC236}">
                <a16:creationId xmlns:a16="http://schemas.microsoft.com/office/drawing/2014/main" id="{C123FCAC-8611-D1CC-2853-301FC6A6DF12}"/>
              </a:ext>
            </a:extLst>
          </p:cNvPr>
          <p:cNvSpPr/>
          <p:nvPr/>
        </p:nvSpPr>
        <p:spPr bwMode="gray">
          <a:xfrm>
            <a:off x="3416006" y="5222696"/>
            <a:ext cx="936000" cy="578709"/>
          </a:xfrm>
          <a:prstGeom prst="roundRect">
            <a:avLst>
              <a:gd name="adj" fmla="val 13889"/>
            </a:avLst>
          </a:prstGeom>
          <a:solidFill>
            <a:srgbClr val="FF66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10000"/>
              </a:lnSpc>
            </a:pPr>
            <a:r>
              <a:rPr lang="en-GB" sz="1200" b="1">
                <a:solidFill>
                  <a:schemeClr val="bg1"/>
                </a:solidFill>
              </a:rPr>
              <a:t>Digital Factory 1.0</a:t>
            </a:r>
          </a:p>
        </p:txBody>
      </p:sp>
      <p:sp>
        <p:nvSpPr>
          <p:cNvPr id="26" name="Rectangle: Rounded Corners 25">
            <a:extLst>
              <a:ext uri="{FF2B5EF4-FFF2-40B4-BE49-F238E27FC236}">
                <a16:creationId xmlns:a16="http://schemas.microsoft.com/office/drawing/2014/main" id="{4E1B5142-AB85-71AD-3096-92917EF03316}"/>
              </a:ext>
            </a:extLst>
          </p:cNvPr>
          <p:cNvSpPr/>
          <p:nvPr/>
        </p:nvSpPr>
        <p:spPr bwMode="gray">
          <a:xfrm>
            <a:off x="3554162" y="3354493"/>
            <a:ext cx="2281343" cy="265921"/>
          </a:xfrm>
          <a:prstGeom prst="roundRect">
            <a:avLst>
              <a:gd name="adj" fmla="val 13889"/>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200" dirty="0">
                <a:solidFill>
                  <a:schemeClr val="bg1"/>
                </a:solidFill>
              </a:rPr>
              <a:t>Demand </a:t>
            </a:r>
            <a:r>
              <a:rPr lang="en-GB" sz="1200" dirty="0" err="1">
                <a:solidFill>
                  <a:schemeClr val="bg1"/>
                </a:solidFill>
              </a:rPr>
              <a:t>Mgmt</a:t>
            </a:r>
            <a:endParaRPr lang="en-GB" sz="1200" dirty="0">
              <a:solidFill>
                <a:schemeClr val="bg1"/>
              </a:solidFill>
            </a:endParaRPr>
          </a:p>
        </p:txBody>
      </p:sp>
      <p:sp>
        <p:nvSpPr>
          <p:cNvPr id="27" name="Rectangle: Rounded Corners 26">
            <a:extLst>
              <a:ext uri="{FF2B5EF4-FFF2-40B4-BE49-F238E27FC236}">
                <a16:creationId xmlns:a16="http://schemas.microsoft.com/office/drawing/2014/main" id="{DBC6007D-2DEB-6885-62BA-01DE3DCE7DB5}"/>
              </a:ext>
            </a:extLst>
          </p:cNvPr>
          <p:cNvSpPr/>
          <p:nvPr/>
        </p:nvSpPr>
        <p:spPr bwMode="gray">
          <a:xfrm>
            <a:off x="3554162" y="3705029"/>
            <a:ext cx="2281343" cy="265921"/>
          </a:xfrm>
          <a:prstGeom prst="roundRect">
            <a:avLst>
              <a:gd name="adj" fmla="val 13889"/>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200" dirty="0">
                <a:solidFill>
                  <a:schemeClr val="bg1"/>
                </a:solidFill>
              </a:rPr>
              <a:t>Portfolio </a:t>
            </a:r>
            <a:r>
              <a:rPr lang="en-GB" sz="1200" dirty="0" err="1">
                <a:solidFill>
                  <a:schemeClr val="bg1"/>
                </a:solidFill>
              </a:rPr>
              <a:t>Mgmt</a:t>
            </a:r>
            <a:endParaRPr lang="en-GB" sz="1200" dirty="0">
              <a:solidFill>
                <a:schemeClr val="bg1"/>
              </a:solidFill>
            </a:endParaRPr>
          </a:p>
        </p:txBody>
      </p:sp>
      <p:sp>
        <p:nvSpPr>
          <p:cNvPr id="28" name="Rectangle: Rounded Corners 27">
            <a:extLst>
              <a:ext uri="{FF2B5EF4-FFF2-40B4-BE49-F238E27FC236}">
                <a16:creationId xmlns:a16="http://schemas.microsoft.com/office/drawing/2014/main" id="{0409FD3D-2127-D3A3-6CC2-0D3E5D854269}"/>
              </a:ext>
            </a:extLst>
          </p:cNvPr>
          <p:cNvSpPr/>
          <p:nvPr/>
        </p:nvSpPr>
        <p:spPr bwMode="gray">
          <a:xfrm>
            <a:off x="4424253" y="4096167"/>
            <a:ext cx="756000" cy="1726912"/>
          </a:xfrm>
          <a:prstGeom prst="roundRect">
            <a:avLst>
              <a:gd name="adj" fmla="val 13889"/>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050" b="1" dirty="0">
                <a:solidFill>
                  <a:schemeClr val="bg1"/>
                </a:solidFill>
              </a:rPr>
              <a:t>Standard Delivery</a:t>
            </a:r>
          </a:p>
        </p:txBody>
      </p:sp>
      <p:sp>
        <p:nvSpPr>
          <p:cNvPr id="29" name="Rectangle: Rounded Corners 28">
            <a:extLst>
              <a:ext uri="{FF2B5EF4-FFF2-40B4-BE49-F238E27FC236}">
                <a16:creationId xmlns:a16="http://schemas.microsoft.com/office/drawing/2014/main" id="{0B3B0551-8907-FD9D-C618-CB4F20CE3A70}"/>
              </a:ext>
            </a:extLst>
          </p:cNvPr>
          <p:cNvSpPr/>
          <p:nvPr/>
        </p:nvSpPr>
        <p:spPr bwMode="gray">
          <a:xfrm>
            <a:off x="5265778" y="4097060"/>
            <a:ext cx="549180" cy="1726912"/>
          </a:xfrm>
          <a:prstGeom prst="roundRect">
            <a:avLst>
              <a:gd name="adj" fmla="val 13889"/>
            </a:avLst>
          </a:prstGeom>
          <a:solidFill>
            <a:srgbClr val="00B050">
              <a:alpha val="2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10000"/>
              </a:lnSpc>
            </a:pPr>
            <a:r>
              <a:rPr lang="en-GB" sz="1000" b="1">
                <a:solidFill>
                  <a:schemeClr val="tx1"/>
                </a:solidFill>
              </a:rPr>
              <a:t>Design authority</a:t>
            </a:r>
          </a:p>
        </p:txBody>
      </p:sp>
      <p:sp>
        <p:nvSpPr>
          <p:cNvPr id="291" name="Rectangle: Rounded Corners 290">
            <a:extLst>
              <a:ext uri="{FF2B5EF4-FFF2-40B4-BE49-F238E27FC236}">
                <a16:creationId xmlns:a16="http://schemas.microsoft.com/office/drawing/2014/main" id="{AC73C710-5E0F-1F32-89A2-31AF3B50D025}"/>
              </a:ext>
            </a:extLst>
          </p:cNvPr>
          <p:cNvSpPr/>
          <p:nvPr/>
        </p:nvSpPr>
        <p:spPr bwMode="gray">
          <a:xfrm>
            <a:off x="3442175" y="5962465"/>
            <a:ext cx="2393330" cy="401664"/>
          </a:xfrm>
          <a:prstGeom prst="roundRect">
            <a:avLst>
              <a:gd name="adj" fmla="val 13889"/>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200" b="1" dirty="0">
                <a:solidFill>
                  <a:schemeClr val="bg1"/>
                </a:solidFill>
              </a:rPr>
              <a:t>Test, ITSM </a:t>
            </a:r>
          </a:p>
          <a:p>
            <a:pPr algn="ctr">
              <a:lnSpc>
                <a:spcPct val="110000"/>
              </a:lnSpc>
            </a:pPr>
            <a:r>
              <a:rPr lang="en-GB" sz="1200">
                <a:solidFill>
                  <a:schemeClr val="bg1"/>
                </a:solidFill>
              </a:rPr>
              <a:t>(</a:t>
            </a:r>
            <a:r>
              <a:rPr lang="en-GB" sz="1200" dirty="0" err="1">
                <a:solidFill>
                  <a:schemeClr val="bg1"/>
                </a:solidFill>
              </a:rPr>
              <a:t>eg</a:t>
            </a:r>
            <a:r>
              <a:rPr lang="en-GB" sz="1200">
                <a:solidFill>
                  <a:schemeClr val="bg1"/>
                </a:solidFill>
              </a:rPr>
              <a:t>: </a:t>
            </a:r>
            <a:r>
              <a:rPr lang="en-GB" sz="1200" dirty="0">
                <a:solidFill>
                  <a:schemeClr val="bg1"/>
                </a:solidFill>
              </a:rPr>
              <a:t>Incident &amp; </a:t>
            </a:r>
            <a:r>
              <a:rPr lang="en-GB" sz="1200">
                <a:solidFill>
                  <a:schemeClr val="bg1"/>
                </a:solidFill>
              </a:rPr>
              <a:t>Release </a:t>
            </a:r>
            <a:r>
              <a:rPr lang="en-GB" sz="1200" dirty="0" err="1">
                <a:solidFill>
                  <a:schemeClr val="bg1"/>
                </a:solidFill>
              </a:rPr>
              <a:t>Mgmt</a:t>
            </a:r>
            <a:r>
              <a:rPr lang="en-GB" sz="1200">
                <a:solidFill>
                  <a:schemeClr val="bg1"/>
                </a:solidFill>
              </a:rPr>
              <a:t>)</a:t>
            </a:r>
            <a:endParaRPr lang="en-GB" sz="1200" dirty="0">
              <a:solidFill>
                <a:schemeClr val="bg1"/>
              </a:solidFill>
            </a:endParaRPr>
          </a:p>
        </p:txBody>
      </p:sp>
      <p:sp>
        <p:nvSpPr>
          <p:cNvPr id="31" name="Rectangle: Rounded Corners 30">
            <a:extLst>
              <a:ext uri="{FF2B5EF4-FFF2-40B4-BE49-F238E27FC236}">
                <a16:creationId xmlns:a16="http://schemas.microsoft.com/office/drawing/2014/main" id="{61C79303-578E-D2D3-3905-2A09A76EDC14}"/>
              </a:ext>
            </a:extLst>
          </p:cNvPr>
          <p:cNvSpPr/>
          <p:nvPr/>
        </p:nvSpPr>
        <p:spPr bwMode="gray">
          <a:xfrm>
            <a:off x="6523698" y="3354493"/>
            <a:ext cx="2345271" cy="265921"/>
          </a:xfrm>
          <a:prstGeom prst="roundRect">
            <a:avLst>
              <a:gd name="adj" fmla="val 13889"/>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050" b="1">
                <a:solidFill>
                  <a:schemeClr val="bg1"/>
                </a:solidFill>
              </a:rPr>
              <a:t>Demand</a:t>
            </a:r>
          </a:p>
        </p:txBody>
      </p:sp>
      <p:sp>
        <p:nvSpPr>
          <p:cNvPr id="460" name="Rectangle: Rounded Corners 459">
            <a:extLst>
              <a:ext uri="{FF2B5EF4-FFF2-40B4-BE49-F238E27FC236}">
                <a16:creationId xmlns:a16="http://schemas.microsoft.com/office/drawing/2014/main" id="{0B779214-9842-621D-F55E-E980ED3800D3}"/>
              </a:ext>
            </a:extLst>
          </p:cNvPr>
          <p:cNvSpPr/>
          <p:nvPr/>
        </p:nvSpPr>
        <p:spPr bwMode="gray">
          <a:xfrm>
            <a:off x="6523698" y="3705029"/>
            <a:ext cx="2345271" cy="265921"/>
          </a:xfrm>
          <a:prstGeom prst="roundRect">
            <a:avLst>
              <a:gd name="adj" fmla="val 13889"/>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050" b="1">
                <a:solidFill>
                  <a:schemeClr val="bg1"/>
                </a:solidFill>
              </a:rPr>
              <a:t>Portfolio</a:t>
            </a:r>
          </a:p>
        </p:txBody>
      </p:sp>
      <p:sp>
        <p:nvSpPr>
          <p:cNvPr id="462" name="Rectangle: Rounded Corners 461">
            <a:extLst>
              <a:ext uri="{FF2B5EF4-FFF2-40B4-BE49-F238E27FC236}">
                <a16:creationId xmlns:a16="http://schemas.microsoft.com/office/drawing/2014/main" id="{9450A541-E35B-617D-172D-44F6F16265CE}"/>
              </a:ext>
            </a:extLst>
          </p:cNvPr>
          <p:cNvSpPr/>
          <p:nvPr/>
        </p:nvSpPr>
        <p:spPr bwMode="gray">
          <a:xfrm>
            <a:off x="8319790" y="4097060"/>
            <a:ext cx="549180" cy="1726912"/>
          </a:xfrm>
          <a:prstGeom prst="roundRect">
            <a:avLst>
              <a:gd name="adj" fmla="val 13889"/>
            </a:avLst>
          </a:prstGeom>
          <a:solidFill>
            <a:srgbClr val="00B050">
              <a:alpha val="2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10000"/>
              </a:lnSpc>
            </a:pPr>
            <a:r>
              <a:rPr lang="en-GB" sz="1000" b="1" dirty="0">
                <a:solidFill>
                  <a:schemeClr val="tx1"/>
                </a:solidFill>
              </a:rPr>
              <a:t>Design authority</a:t>
            </a:r>
          </a:p>
        </p:txBody>
      </p:sp>
      <p:sp>
        <p:nvSpPr>
          <p:cNvPr id="494" name="Rectangle: Rounded Corners 493">
            <a:extLst>
              <a:ext uri="{FF2B5EF4-FFF2-40B4-BE49-F238E27FC236}">
                <a16:creationId xmlns:a16="http://schemas.microsoft.com/office/drawing/2014/main" id="{FAE91A14-E0B4-E85C-64C0-D0A6A20B5190}"/>
              </a:ext>
            </a:extLst>
          </p:cNvPr>
          <p:cNvSpPr/>
          <p:nvPr/>
        </p:nvSpPr>
        <p:spPr bwMode="gray">
          <a:xfrm>
            <a:off x="6523698" y="4678308"/>
            <a:ext cx="798081" cy="1123098"/>
          </a:xfrm>
          <a:prstGeom prst="roundRect">
            <a:avLst>
              <a:gd name="adj" fmla="val 13889"/>
            </a:avLst>
          </a:prstGeom>
          <a:solidFill>
            <a:srgbClr val="FF66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200" b="1" dirty="0">
                <a:solidFill>
                  <a:schemeClr val="bg1"/>
                </a:solidFill>
              </a:rPr>
              <a:t>Digital Factory 2.0</a:t>
            </a:r>
          </a:p>
        </p:txBody>
      </p:sp>
      <p:sp>
        <p:nvSpPr>
          <p:cNvPr id="495" name="Rectangle: Rounded Corners 494">
            <a:extLst>
              <a:ext uri="{FF2B5EF4-FFF2-40B4-BE49-F238E27FC236}">
                <a16:creationId xmlns:a16="http://schemas.microsoft.com/office/drawing/2014/main" id="{C05A5B5C-E4CD-E0D1-AED8-549468E07938}"/>
              </a:ext>
            </a:extLst>
          </p:cNvPr>
          <p:cNvSpPr/>
          <p:nvPr/>
        </p:nvSpPr>
        <p:spPr bwMode="gray">
          <a:xfrm>
            <a:off x="7421666" y="4678307"/>
            <a:ext cx="826167" cy="1144771"/>
          </a:xfrm>
          <a:prstGeom prst="roundRect">
            <a:avLst>
              <a:gd name="adj" fmla="val 13889"/>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050" b="1">
                <a:solidFill>
                  <a:schemeClr val="bg1"/>
                </a:solidFill>
              </a:rPr>
              <a:t>Standard Delivery</a:t>
            </a:r>
          </a:p>
        </p:txBody>
      </p:sp>
      <p:sp>
        <p:nvSpPr>
          <p:cNvPr id="544" name="Rectangle 543">
            <a:extLst>
              <a:ext uri="{FF2B5EF4-FFF2-40B4-BE49-F238E27FC236}">
                <a16:creationId xmlns:a16="http://schemas.microsoft.com/office/drawing/2014/main" id="{7E730861-53B7-6C6F-732E-FBFF18F61E97}"/>
              </a:ext>
            </a:extLst>
          </p:cNvPr>
          <p:cNvSpPr/>
          <p:nvPr/>
        </p:nvSpPr>
        <p:spPr bwMode="gray">
          <a:xfrm>
            <a:off x="3397563" y="998182"/>
            <a:ext cx="1926000" cy="206619"/>
          </a:xfrm>
          <a:prstGeom prst="rect">
            <a:avLst/>
          </a:prstGeom>
          <a:solidFill>
            <a:srgbClr val="FFC000">
              <a:alpha val="45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it-IT" sz="1600" b="1" dirty="0">
              <a:solidFill>
                <a:schemeClr val="tx1"/>
              </a:solidFill>
            </a:endParaRPr>
          </a:p>
        </p:txBody>
      </p:sp>
      <p:sp>
        <p:nvSpPr>
          <p:cNvPr id="545" name="Oval 544">
            <a:extLst>
              <a:ext uri="{FF2B5EF4-FFF2-40B4-BE49-F238E27FC236}">
                <a16:creationId xmlns:a16="http://schemas.microsoft.com/office/drawing/2014/main" id="{035C5CA3-FB90-41D6-9944-263987B460FB}"/>
              </a:ext>
            </a:extLst>
          </p:cNvPr>
          <p:cNvSpPr/>
          <p:nvPr/>
        </p:nvSpPr>
        <p:spPr bwMode="gray">
          <a:xfrm>
            <a:off x="4162563" y="869563"/>
            <a:ext cx="396000" cy="396000"/>
          </a:xfrm>
          <a:prstGeom prst="ellipse">
            <a:avLst/>
          </a:prstGeom>
          <a:solidFill>
            <a:srgbClr val="FFC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600" b="1">
                <a:solidFill>
                  <a:schemeClr val="bg1"/>
                </a:solidFill>
              </a:rPr>
              <a:t>2</a:t>
            </a:r>
            <a:endParaRPr lang="en-GB" sz="1600" b="1" dirty="0">
              <a:solidFill>
                <a:schemeClr val="bg1"/>
              </a:solidFill>
            </a:endParaRPr>
          </a:p>
        </p:txBody>
      </p:sp>
      <p:sp>
        <p:nvSpPr>
          <p:cNvPr id="549" name="Rectangle 548">
            <a:extLst>
              <a:ext uri="{FF2B5EF4-FFF2-40B4-BE49-F238E27FC236}">
                <a16:creationId xmlns:a16="http://schemas.microsoft.com/office/drawing/2014/main" id="{E83BF956-B62E-B67B-8872-C0568DFF6F33}"/>
              </a:ext>
            </a:extLst>
          </p:cNvPr>
          <p:cNvSpPr/>
          <p:nvPr/>
        </p:nvSpPr>
        <p:spPr bwMode="gray">
          <a:xfrm>
            <a:off x="5544964" y="998182"/>
            <a:ext cx="1926000" cy="206619"/>
          </a:xfrm>
          <a:prstGeom prst="rect">
            <a:avLst/>
          </a:prstGeom>
          <a:solidFill>
            <a:srgbClr val="FFC000">
              <a:alpha val="45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it-IT" sz="1600" b="1" dirty="0">
              <a:solidFill>
                <a:schemeClr val="tx1"/>
              </a:solidFill>
            </a:endParaRPr>
          </a:p>
        </p:txBody>
      </p:sp>
      <p:sp>
        <p:nvSpPr>
          <p:cNvPr id="550" name="Oval 549">
            <a:extLst>
              <a:ext uri="{FF2B5EF4-FFF2-40B4-BE49-F238E27FC236}">
                <a16:creationId xmlns:a16="http://schemas.microsoft.com/office/drawing/2014/main" id="{449D018B-97BB-D839-67F8-E41B87181367}"/>
              </a:ext>
            </a:extLst>
          </p:cNvPr>
          <p:cNvSpPr/>
          <p:nvPr/>
        </p:nvSpPr>
        <p:spPr bwMode="gray">
          <a:xfrm>
            <a:off x="6309964" y="869563"/>
            <a:ext cx="396000" cy="396000"/>
          </a:xfrm>
          <a:prstGeom prst="ellipse">
            <a:avLst/>
          </a:prstGeom>
          <a:solidFill>
            <a:srgbClr val="FFC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600" b="1" dirty="0">
                <a:solidFill>
                  <a:schemeClr val="bg1"/>
                </a:solidFill>
              </a:rPr>
              <a:t>3</a:t>
            </a:r>
          </a:p>
        </p:txBody>
      </p:sp>
      <p:sp>
        <p:nvSpPr>
          <p:cNvPr id="551" name="Rectangle 550">
            <a:extLst>
              <a:ext uri="{FF2B5EF4-FFF2-40B4-BE49-F238E27FC236}">
                <a16:creationId xmlns:a16="http://schemas.microsoft.com/office/drawing/2014/main" id="{83F417BF-F78D-4ADE-0056-06F11DF0CDEC}"/>
              </a:ext>
            </a:extLst>
          </p:cNvPr>
          <p:cNvSpPr/>
          <p:nvPr/>
        </p:nvSpPr>
        <p:spPr bwMode="gray">
          <a:xfrm>
            <a:off x="7692365" y="998182"/>
            <a:ext cx="1926000" cy="206619"/>
          </a:xfrm>
          <a:prstGeom prst="rect">
            <a:avLst/>
          </a:prstGeom>
          <a:solidFill>
            <a:srgbClr val="FFC000">
              <a:alpha val="45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it-IT" sz="1600" b="1" dirty="0">
              <a:solidFill>
                <a:schemeClr val="tx1"/>
              </a:solidFill>
            </a:endParaRPr>
          </a:p>
        </p:txBody>
      </p:sp>
      <p:sp>
        <p:nvSpPr>
          <p:cNvPr id="552" name="Oval 551">
            <a:extLst>
              <a:ext uri="{FF2B5EF4-FFF2-40B4-BE49-F238E27FC236}">
                <a16:creationId xmlns:a16="http://schemas.microsoft.com/office/drawing/2014/main" id="{7DD069B0-8101-17D6-C6B8-062D854252DD}"/>
              </a:ext>
            </a:extLst>
          </p:cNvPr>
          <p:cNvSpPr/>
          <p:nvPr/>
        </p:nvSpPr>
        <p:spPr bwMode="gray">
          <a:xfrm>
            <a:off x="8457365" y="869563"/>
            <a:ext cx="396000" cy="396000"/>
          </a:xfrm>
          <a:prstGeom prst="ellipse">
            <a:avLst/>
          </a:prstGeom>
          <a:solidFill>
            <a:srgbClr val="FFC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600" b="1" dirty="0">
                <a:solidFill>
                  <a:schemeClr val="bg1"/>
                </a:solidFill>
              </a:rPr>
              <a:t>4</a:t>
            </a:r>
          </a:p>
        </p:txBody>
      </p:sp>
      <p:sp>
        <p:nvSpPr>
          <p:cNvPr id="553" name="Oval 552">
            <a:extLst>
              <a:ext uri="{FF2B5EF4-FFF2-40B4-BE49-F238E27FC236}">
                <a16:creationId xmlns:a16="http://schemas.microsoft.com/office/drawing/2014/main" id="{B9E35326-F5BA-1458-F1B8-8014A756A0FC}"/>
              </a:ext>
            </a:extLst>
          </p:cNvPr>
          <p:cNvSpPr/>
          <p:nvPr/>
        </p:nvSpPr>
        <p:spPr bwMode="gray">
          <a:xfrm>
            <a:off x="10604767" y="869563"/>
            <a:ext cx="396000" cy="396000"/>
          </a:xfrm>
          <a:prstGeom prst="ellipse">
            <a:avLst/>
          </a:prstGeom>
          <a:solidFill>
            <a:srgbClr val="FFC000"/>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600" b="1" dirty="0">
                <a:solidFill>
                  <a:schemeClr val="bg1"/>
                </a:solidFill>
              </a:rPr>
              <a:t>5</a:t>
            </a:r>
          </a:p>
        </p:txBody>
      </p:sp>
      <p:sp>
        <p:nvSpPr>
          <p:cNvPr id="554" name="Rectangle 553">
            <a:extLst>
              <a:ext uri="{FF2B5EF4-FFF2-40B4-BE49-F238E27FC236}">
                <a16:creationId xmlns:a16="http://schemas.microsoft.com/office/drawing/2014/main" id="{9A1DFA6B-9DA3-127A-0130-2586847820BC}"/>
              </a:ext>
            </a:extLst>
          </p:cNvPr>
          <p:cNvSpPr/>
          <p:nvPr/>
        </p:nvSpPr>
        <p:spPr bwMode="gray">
          <a:xfrm>
            <a:off x="5368102" y="998182"/>
            <a:ext cx="119016" cy="206619"/>
          </a:xfrm>
          <a:prstGeom prst="rect">
            <a:avLst/>
          </a:prstGeom>
          <a:solidFill>
            <a:srgbClr val="FFC000">
              <a:alpha val="45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it-IT" sz="1600" b="1" dirty="0">
              <a:solidFill>
                <a:schemeClr val="tx1"/>
              </a:solidFill>
            </a:endParaRPr>
          </a:p>
        </p:txBody>
      </p:sp>
      <p:sp>
        <p:nvSpPr>
          <p:cNvPr id="555" name="Rectangle 554">
            <a:extLst>
              <a:ext uri="{FF2B5EF4-FFF2-40B4-BE49-F238E27FC236}">
                <a16:creationId xmlns:a16="http://schemas.microsoft.com/office/drawing/2014/main" id="{632DF7DB-1DDD-EC0D-FE36-231FF77ACA77}"/>
              </a:ext>
            </a:extLst>
          </p:cNvPr>
          <p:cNvSpPr/>
          <p:nvPr/>
        </p:nvSpPr>
        <p:spPr bwMode="gray">
          <a:xfrm>
            <a:off x="3230516" y="998182"/>
            <a:ext cx="119016" cy="206619"/>
          </a:xfrm>
          <a:prstGeom prst="rect">
            <a:avLst/>
          </a:prstGeom>
          <a:solidFill>
            <a:srgbClr val="FFC000">
              <a:alpha val="45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it-IT" sz="1600" b="1" dirty="0">
              <a:solidFill>
                <a:schemeClr val="tx1"/>
              </a:solidFill>
            </a:endParaRPr>
          </a:p>
        </p:txBody>
      </p:sp>
      <p:sp>
        <p:nvSpPr>
          <p:cNvPr id="556" name="Rectangle 555">
            <a:extLst>
              <a:ext uri="{FF2B5EF4-FFF2-40B4-BE49-F238E27FC236}">
                <a16:creationId xmlns:a16="http://schemas.microsoft.com/office/drawing/2014/main" id="{4DE25D72-CE1B-C765-E612-65765243D145}"/>
              </a:ext>
            </a:extLst>
          </p:cNvPr>
          <p:cNvSpPr/>
          <p:nvPr/>
        </p:nvSpPr>
        <p:spPr bwMode="gray">
          <a:xfrm>
            <a:off x="7522156" y="998182"/>
            <a:ext cx="119016" cy="206619"/>
          </a:xfrm>
          <a:prstGeom prst="rect">
            <a:avLst/>
          </a:prstGeom>
          <a:solidFill>
            <a:srgbClr val="FFC000">
              <a:alpha val="45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it-IT" sz="1600" b="1" dirty="0">
              <a:solidFill>
                <a:schemeClr val="tx1"/>
              </a:solidFill>
            </a:endParaRPr>
          </a:p>
        </p:txBody>
      </p:sp>
      <p:sp>
        <p:nvSpPr>
          <p:cNvPr id="557" name="Rectangle 556">
            <a:extLst>
              <a:ext uri="{FF2B5EF4-FFF2-40B4-BE49-F238E27FC236}">
                <a16:creationId xmlns:a16="http://schemas.microsoft.com/office/drawing/2014/main" id="{BB6CF205-B9B1-FA7B-3422-B5BAACFCC464}"/>
              </a:ext>
            </a:extLst>
          </p:cNvPr>
          <p:cNvSpPr/>
          <p:nvPr/>
        </p:nvSpPr>
        <p:spPr bwMode="gray">
          <a:xfrm>
            <a:off x="9666343" y="998182"/>
            <a:ext cx="119016" cy="206619"/>
          </a:xfrm>
          <a:prstGeom prst="rect">
            <a:avLst/>
          </a:prstGeom>
          <a:solidFill>
            <a:srgbClr val="FFC000">
              <a:alpha val="45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it-IT" sz="1600" b="1" dirty="0">
              <a:solidFill>
                <a:schemeClr val="tx1"/>
              </a:solidFill>
            </a:endParaRPr>
          </a:p>
        </p:txBody>
      </p:sp>
      <p:sp>
        <p:nvSpPr>
          <p:cNvPr id="559" name="TextBox 558">
            <a:extLst>
              <a:ext uri="{FF2B5EF4-FFF2-40B4-BE49-F238E27FC236}">
                <a16:creationId xmlns:a16="http://schemas.microsoft.com/office/drawing/2014/main" id="{BD574850-E06A-BB91-D9AC-6DF3B862B204}"/>
              </a:ext>
            </a:extLst>
          </p:cNvPr>
          <p:cNvSpPr txBox="1"/>
          <p:nvPr/>
        </p:nvSpPr>
        <p:spPr bwMode="gray">
          <a:xfrm>
            <a:off x="150764" y="3065014"/>
            <a:ext cx="2980763" cy="3472739"/>
          </a:xfrm>
          <a:prstGeom prst="roundRect">
            <a:avLst>
              <a:gd name="adj" fmla="val 4948"/>
            </a:avLst>
          </a:prstGeom>
          <a:solidFill>
            <a:srgbClr val="1781E3"/>
          </a:solidFill>
        </p:spPr>
        <p:txBody>
          <a:bodyPr vert="horz" wrap="square" lIns="0" tIns="0" rIns="0" bIns="0" rtlCol="0">
            <a:noAutofit/>
          </a:bodyPr>
          <a:lstStyle/>
          <a:p>
            <a:pPr algn="l">
              <a:lnSpc>
                <a:spcPct val="110000"/>
              </a:lnSpc>
            </a:pPr>
            <a:endParaRPr lang="en-GB" sz="1600" b="1" dirty="0">
              <a:solidFill>
                <a:schemeClr val="bg1"/>
              </a:solidFill>
            </a:endParaRPr>
          </a:p>
        </p:txBody>
      </p:sp>
      <p:sp>
        <p:nvSpPr>
          <p:cNvPr id="560" name="TextBox 559">
            <a:extLst>
              <a:ext uri="{FF2B5EF4-FFF2-40B4-BE49-F238E27FC236}">
                <a16:creationId xmlns:a16="http://schemas.microsoft.com/office/drawing/2014/main" id="{43A31012-B8E0-D7DA-BEAC-1C95F261826C}"/>
              </a:ext>
            </a:extLst>
          </p:cNvPr>
          <p:cNvSpPr txBox="1"/>
          <p:nvPr/>
        </p:nvSpPr>
        <p:spPr bwMode="gray">
          <a:xfrm>
            <a:off x="266830" y="3263900"/>
            <a:ext cx="1847735" cy="244145"/>
          </a:xfrm>
          <a:prstGeom prst="rect">
            <a:avLst/>
          </a:prstGeom>
        </p:spPr>
        <p:txBody>
          <a:bodyPr vert="horz" wrap="square" lIns="0" tIns="0" rIns="0" bIns="0" rtlCol="0">
            <a:noAutofit/>
          </a:bodyPr>
          <a:lstStyle/>
          <a:p>
            <a:pPr algn="l">
              <a:lnSpc>
                <a:spcPct val="110000"/>
              </a:lnSpc>
            </a:pPr>
            <a:r>
              <a:rPr lang="en-GB" sz="1600" b="1" dirty="0">
                <a:solidFill>
                  <a:schemeClr val="bg1"/>
                </a:solidFill>
              </a:rPr>
              <a:t>Our Convictions:</a:t>
            </a:r>
          </a:p>
        </p:txBody>
      </p:sp>
      <p:sp>
        <p:nvSpPr>
          <p:cNvPr id="561" name="TextBox 560">
            <a:extLst>
              <a:ext uri="{FF2B5EF4-FFF2-40B4-BE49-F238E27FC236}">
                <a16:creationId xmlns:a16="http://schemas.microsoft.com/office/drawing/2014/main" id="{D73D78C8-BC0E-1033-8266-BFBD6B14F394}"/>
              </a:ext>
            </a:extLst>
          </p:cNvPr>
          <p:cNvSpPr txBox="1"/>
          <p:nvPr/>
        </p:nvSpPr>
        <p:spPr bwMode="gray">
          <a:xfrm>
            <a:off x="170140" y="3640960"/>
            <a:ext cx="2893204" cy="2726605"/>
          </a:xfrm>
          <a:prstGeom prst="rect">
            <a:avLst/>
          </a:prstGeom>
        </p:spPr>
        <p:txBody>
          <a:bodyPr vert="horz" wrap="square" lIns="36000" tIns="0" rIns="0" bIns="0" rtlCol="0">
            <a:noAutofit/>
          </a:bodyPr>
          <a:lstStyle/>
          <a:p>
            <a:pPr marL="144000" indent="-144000" algn="l">
              <a:buFont typeface="Arial" panose="020B0604020202020204" pitchFamily="34" charset="0"/>
              <a:buChar char="•"/>
            </a:pPr>
            <a:r>
              <a:rPr lang="en-GB" sz="1300" dirty="0">
                <a:solidFill>
                  <a:schemeClr val="bg1"/>
                </a:solidFill>
              </a:rPr>
              <a:t>Start building the </a:t>
            </a:r>
            <a:r>
              <a:rPr lang="en-GB" sz="1300" b="1" dirty="0">
                <a:solidFill>
                  <a:schemeClr val="bg1"/>
                </a:solidFill>
              </a:rPr>
              <a:t>Digital Factory</a:t>
            </a:r>
            <a:r>
              <a:rPr lang="en-GB" sz="1300" dirty="0">
                <a:solidFill>
                  <a:schemeClr val="bg1"/>
                </a:solidFill>
              </a:rPr>
              <a:t> by merging both companies’ Digital applications (</a:t>
            </a:r>
            <a:r>
              <a:rPr lang="en-GB" sz="1300" dirty="0" err="1">
                <a:solidFill>
                  <a:schemeClr val="bg1"/>
                </a:solidFill>
              </a:rPr>
              <a:t>ie</a:t>
            </a:r>
            <a:r>
              <a:rPr lang="en-GB" sz="1300" dirty="0">
                <a:solidFill>
                  <a:schemeClr val="bg1"/>
                </a:solidFill>
              </a:rPr>
              <a:t>: BSS, Data, AI)</a:t>
            </a:r>
          </a:p>
          <a:p>
            <a:pPr marL="144000" indent="-144000" algn="l">
              <a:buFont typeface="Arial" panose="020B0604020202020204" pitchFamily="34" charset="0"/>
              <a:buChar char="•"/>
            </a:pPr>
            <a:endParaRPr lang="en-GB" sz="1300" dirty="0">
              <a:solidFill>
                <a:schemeClr val="bg1"/>
              </a:solidFill>
            </a:endParaRPr>
          </a:p>
          <a:p>
            <a:pPr marL="144000" indent="-144000" algn="l">
              <a:buFont typeface="Arial" panose="020B0604020202020204" pitchFamily="34" charset="0"/>
              <a:buChar char="•"/>
            </a:pPr>
            <a:r>
              <a:rPr lang="en-GB" sz="1300" b="1" dirty="0">
                <a:solidFill>
                  <a:schemeClr val="bg1"/>
                </a:solidFill>
              </a:rPr>
              <a:t>Design Authority </a:t>
            </a:r>
            <a:r>
              <a:rPr lang="en-GB" sz="1300" dirty="0">
                <a:solidFill>
                  <a:schemeClr val="bg1"/>
                </a:solidFill>
              </a:rPr>
              <a:t>for design technical accelerators and architectural patterns to scale, validate design and ensure IT convergence</a:t>
            </a:r>
          </a:p>
          <a:p>
            <a:pPr marL="144000" indent="-144000" algn="l">
              <a:buFont typeface="Arial" panose="020B0604020202020204" pitchFamily="34" charset="0"/>
              <a:buChar char="•"/>
            </a:pPr>
            <a:endParaRPr lang="en-GB" sz="1300" dirty="0">
              <a:solidFill>
                <a:schemeClr val="bg1"/>
              </a:solidFill>
            </a:endParaRPr>
          </a:p>
          <a:p>
            <a:pPr marL="144000" indent="-144000" algn="l">
              <a:buFont typeface="Arial" panose="020B0604020202020204" pitchFamily="34" charset="0"/>
              <a:buChar char="•"/>
            </a:pPr>
            <a:r>
              <a:rPr lang="en-GB" sz="1300" b="1" dirty="0">
                <a:solidFill>
                  <a:schemeClr val="bg1"/>
                </a:solidFill>
              </a:rPr>
              <a:t>Portfolio </a:t>
            </a:r>
            <a:r>
              <a:rPr lang="en-GB" sz="1300" b="1" dirty="0" err="1">
                <a:solidFill>
                  <a:schemeClr val="bg1"/>
                </a:solidFill>
              </a:rPr>
              <a:t>Mgmt</a:t>
            </a:r>
            <a:r>
              <a:rPr lang="en-GB" sz="1300" dirty="0">
                <a:solidFill>
                  <a:schemeClr val="bg1"/>
                </a:solidFill>
              </a:rPr>
              <a:t>: for unified and prioritized backlog and alignment/orchestration between Digital Factory, Standard Delivery and Test/ITSM capabilities</a:t>
            </a:r>
          </a:p>
          <a:p>
            <a:pPr marL="285750" indent="-285750" algn="l">
              <a:lnSpc>
                <a:spcPct val="110000"/>
              </a:lnSpc>
              <a:buFont typeface="Arial" panose="020B0604020202020204" pitchFamily="34" charset="0"/>
              <a:buChar char="•"/>
            </a:pPr>
            <a:endParaRPr lang="en-GB" sz="1200" dirty="0">
              <a:solidFill>
                <a:schemeClr val="bg1"/>
              </a:solidFill>
            </a:endParaRPr>
          </a:p>
        </p:txBody>
      </p:sp>
      <p:sp>
        <p:nvSpPr>
          <p:cNvPr id="3" name="Arrow: Left-Right 2">
            <a:extLst>
              <a:ext uri="{FF2B5EF4-FFF2-40B4-BE49-F238E27FC236}">
                <a16:creationId xmlns:a16="http://schemas.microsoft.com/office/drawing/2014/main" id="{BD1972A5-4ED0-7C3B-91AF-D69B7A8349C3}"/>
              </a:ext>
            </a:extLst>
          </p:cNvPr>
          <p:cNvSpPr/>
          <p:nvPr/>
        </p:nvSpPr>
        <p:spPr bwMode="gray">
          <a:xfrm rot="5400000">
            <a:off x="4815401" y="5768100"/>
            <a:ext cx="396000" cy="180000"/>
          </a:xfrm>
          <a:prstGeom prst="leftRightArrow">
            <a:avLst/>
          </a:prstGeom>
          <a:solidFill>
            <a:srgbClr val="FFFF00"/>
          </a:solidFill>
          <a:ln w="6350">
            <a:solidFill>
              <a:srgbClr val="FDC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b="1">
              <a:solidFill>
                <a:schemeClr val="tx1"/>
              </a:solidFill>
            </a:endParaRPr>
          </a:p>
        </p:txBody>
      </p:sp>
      <p:sp>
        <p:nvSpPr>
          <p:cNvPr id="8" name="Arrow: Left-Right 7">
            <a:extLst>
              <a:ext uri="{FF2B5EF4-FFF2-40B4-BE49-F238E27FC236}">
                <a16:creationId xmlns:a16="http://schemas.microsoft.com/office/drawing/2014/main" id="{72A0B061-5E17-5E77-BEA7-B44FEFF3CD26}"/>
              </a:ext>
            </a:extLst>
          </p:cNvPr>
          <p:cNvSpPr/>
          <p:nvPr/>
        </p:nvSpPr>
        <p:spPr bwMode="gray">
          <a:xfrm rot="5400000">
            <a:off x="3637248" y="5768100"/>
            <a:ext cx="396000" cy="180000"/>
          </a:xfrm>
          <a:prstGeom prst="leftRightArrow">
            <a:avLst/>
          </a:prstGeom>
          <a:solidFill>
            <a:srgbClr val="FFFF00"/>
          </a:solidFill>
          <a:ln w="6350">
            <a:solidFill>
              <a:srgbClr val="FDC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b="1">
              <a:solidFill>
                <a:schemeClr val="tx1"/>
              </a:solidFill>
            </a:endParaRPr>
          </a:p>
        </p:txBody>
      </p:sp>
      <p:sp>
        <p:nvSpPr>
          <p:cNvPr id="18" name="Rectangle: Rounded Corners 17">
            <a:extLst>
              <a:ext uri="{FF2B5EF4-FFF2-40B4-BE49-F238E27FC236}">
                <a16:creationId xmlns:a16="http://schemas.microsoft.com/office/drawing/2014/main" id="{44D7DCFF-EB9B-50B6-1A1E-F832F23BC29F}"/>
              </a:ext>
            </a:extLst>
          </p:cNvPr>
          <p:cNvSpPr/>
          <p:nvPr/>
        </p:nvSpPr>
        <p:spPr bwMode="gray">
          <a:xfrm>
            <a:off x="6431085" y="5962465"/>
            <a:ext cx="2393330" cy="401664"/>
          </a:xfrm>
          <a:prstGeom prst="roundRect">
            <a:avLst>
              <a:gd name="adj" fmla="val 13889"/>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200" b="1" dirty="0">
                <a:solidFill>
                  <a:schemeClr val="bg1"/>
                </a:solidFill>
              </a:rPr>
              <a:t>Test, ITSM </a:t>
            </a:r>
          </a:p>
          <a:p>
            <a:pPr algn="ctr">
              <a:lnSpc>
                <a:spcPct val="110000"/>
              </a:lnSpc>
            </a:pPr>
            <a:r>
              <a:rPr lang="en-GB" sz="1200" dirty="0">
                <a:solidFill>
                  <a:schemeClr val="bg1"/>
                </a:solidFill>
              </a:rPr>
              <a:t>(</a:t>
            </a:r>
            <a:r>
              <a:rPr lang="en-GB" sz="1200" dirty="0" err="1">
                <a:solidFill>
                  <a:schemeClr val="bg1"/>
                </a:solidFill>
              </a:rPr>
              <a:t>eg</a:t>
            </a:r>
            <a:r>
              <a:rPr lang="en-GB" sz="1200" dirty="0">
                <a:solidFill>
                  <a:schemeClr val="bg1"/>
                </a:solidFill>
              </a:rPr>
              <a:t>: Incident &amp; Release </a:t>
            </a:r>
            <a:r>
              <a:rPr lang="en-GB" sz="1200" dirty="0" err="1">
                <a:solidFill>
                  <a:schemeClr val="bg1"/>
                </a:solidFill>
              </a:rPr>
              <a:t>Mgmt</a:t>
            </a:r>
            <a:r>
              <a:rPr lang="en-GB" sz="1200" dirty="0">
                <a:solidFill>
                  <a:schemeClr val="bg1"/>
                </a:solidFill>
              </a:rPr>
              <a:t>)</a:t>
            </a:r>
          </a:p>
        </p:txBody>
      </p:sp>
      <p:sp>
        <p:nvSpPr>
          <p:cNvPr id="20" name="Arrow: Left-Right 19">
            <a:extLst>
              <a:ext uri="{FF2B5EF4-FFF2-40B4-BE49-F238E27FC236}">
                <a16:creationId xmlns:a16="http://schemas.microsoft.com/office/drawing/2014/main" id="{F5FCD94A-6244-7482-5549-5E23451ED221}"/>
              </a:ext>
            </a:extLst>
          </p:cNvPr>
          <p:cNvSpPr/>
          <p:nvPr/>
        </p:nvSpPr>
        <p:spPr bwMode="gray">
          <a:xfrm rot="5400000">
            <a:off x="7889287" y="5768100"/>
            <a:ext cx="396000" cy="180000"/>
          </a:xfrm>
          <a:prstGeom prst="leftRightArrow">
            <a:avLst/>
          </a:prstGeom>
          <a:solidFill>
            <a:srgbClr val="FFFF00"/>
          </a:solidFill>
          <a:ln w="6350">
            <a:solidFill>
              <a:srgbClr val="FDC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b="1">
              <a:solidFill>
                <a:schemeClr val="tx1"/>
              </a:solidFill>
            </a:endParaRPr>
          </a:p>
        </p:txBody>
      </p:sp>
      <p:sp>
        <p:nvSpPr>
          <p:cNvPr id="21" name="Arrow: Left-Right 20">
            <a:extLst>
              <a:ext uri="{FF2B5EF4-FFF2-40B4-BE49-F238E27FC236}">
                <a16:creationId xmlns:a16="http://schemas.microsoft.com/office/drawing/2014/main" id="{32EE3246-5D20-1ABC-CFEB-19DAE13EC8C1}"/>
              </a:ext>
            </a:extLst>
          </p:cNvPr>
          <p:cNvSpPr/>
          <p:nvPr/>
        </p:nvSpPr>
        <p:spPr bwMode="gray">
          <a:xfrm rot="5400000">
            <a:off x="6754835" y="5768100"/>
            <a:ext cx="396000" cy="180000"/>
          </a:xfrm>
          <a:prstGeom prst="leftRightArrow">
            <a:avLst/>
          </a:prstGeom>
          <a:solidFill>
            <a:srgbClr val="FFFF00"/>
          </a:solidFill>
          <a:ln w="6350">
            <a:solidFill>
              <a:srgbClr val="FDC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b="1">
              <a:solidFill>
                <a:schemeClr val="tx1"/>
              </a:solidFill>
            </a:endParaRPr>
          </a:p>
        </p:txBody>
      </p:sp>
      <p:pic>
        <p:nvPicPr>
          <p:cNvPr id="451" name="Picture 450">
            <a:extLst>
              <a:ext uri="{FF2B5EF4-FFF2-40B4-BE49-F238E27FC236}">
                <a16:creationId xmlns:a16="http://schemas.microsoft.com/office/drawing/2014/main" id="{B471293C-E623-E427-594E-F4D9DF8449B9}"/>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rot="2983373">
            <a:off x="6039339" y="5196730"/>
            <a:ext cx="347607" cy="497760"/>
          </a:xfrm>
          <a:prstGeom prst="rect">
            <a:avLst/>
          </a:prstGeom>
        </p:spPr>
      </p:pic>
      <p:pic>
        <p:nvPicPr>
          <p:cNvPr id="453" name="Picture 452">
            <a:extLst>
              <a:ext uri="{FF2B5EF4-FFF2-40B4-BE49-F238E27FC236}">
                <a16:creationId xmlns:a16="http://schemas.microsoft.com/office/drawing/2014/main" id="{C4CEEEA1-EDF9-E200-4989-A333ECE0DFB0}"/>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rot="2983373">
            <a:off x="9028482" y="5196729"/>
            <a:ext cx="347607" cy="497760"/>
          </a:xfrm>
          <a:prstGeom prst="rect">
            <a:avLst/>
          </a:prstGeom>
        </p:spPr>
      </p:pic>
      <p:sp>
        <p:nvSpPr>
          <p:cNvPr id="454" name="TextBox 453">
            <a:extLst>
              <a:ext uri="{FF2B5EF4-FFF2-40B4-BE49-F238E27FC236}">
                <a16:creationId xmlns:a16="http://schemas.microsoft.com/office/drawing/2014/main" id="{40FF1FAB-0734-1706-FC6F-14CAE7F375D6}"/>
              </a:ext>
            </a:extLst>
          </p:cNvPr>
          <p:cNvSpPr txBox="1"/>
          <p:nvPr/>
        </p:nvSpPr>
        <p:spPr bwMode="gray">
          <a:xfrm>
            <a:off x="3810692" y="2736635"/>
            <a:ext cx="1665548" cy="307672"/>
          </a:xfrm>
          <a:prstGeom prst="rect">
            <a:avLst/>
          </a:prstGeom>
          <a:solidFill>
            <a:schemeClr val="bg1"/>
          </a:solidFill>
        </p:spPr>
        <p:txBody>
          <a:bodyPr vert="horz" wrap="none" lIns="0" tIns="0" rIns="0" bIns="0" rtlCol="0" anchor="ctr">
            <a:noAutofit/>
          </a:bodyPr>
          <a:lstStyle/>
          <a:p>
            <a:pPr algn="ctr">
              <a:lnSpc>
                <a:spcPct val="110000"/>
              </a:lnSpc>
            </a:pPr>
            <a:r>
              <a:rPr lang="en-GB" sz="1600" b="1" i="1" dirty="0">
                <a:solidFill>
                  <a:srgbClr val="1781E3"/>
                </a:solidFill>
              </a:rPr>
              <a:t>Digital Factory 1.0</a:t>
            </a:r>
          </a:p>
        </p:txBody>
      </p:sp>
      <p:sp>
        <p:nvSpPr>
          <p:cNvPr id="455" name="TextBox 454">
            <a:extLst>
              <a:ext uri="{FF2B5EF4-FFF2-40B4-BE49-F238E27FC236}">
                <a16:creationId xmlns:a16="http://schemas.microsoft.com/office/drawing/2014/main" id="{AA7DCB16-0681-E639-7F9A-5E9CF5276514}"/>
              </a:ext>
            </a:extLst>
          </p:cNvPr>
          <p:cNvSpPr txBox="1"/>
          <p:nvPr/>
        </p:nvSpPr>
        <p:spPr bwMode="gray">
          <a:xfrm>
            <a:off x="6830662" y="2736635"/>
            <a:ext cx="1665548" cy="307672"/>
          </a:xfrm>
          <a:prstGeom prst="rect">
            <a:avLst/>
          </a:prstGeom>
          <a:solidFill>
            <a:schemeClr val="bg1"/>
          </a:solidFill>
        </p:spPr>
        <p:txBody>
          <a:bodyPr vert="horz" wrap="none" lIns="0" tIns="0" rIns="0" bIns="0" rtlCol="0" anchor="ctr">
            <a:noAutofit/>
          </a:bodyPr>
          <a:lstStyle/>
          <a:p>
            <a:pPr algn="ctr">
              <a:lnSpc>
                <a:spcPct val="110000"/>
              </a:lnSpc>
            </a:pPr>
            <a:r>
              <a:rPr lang="en-GB" sz="1600" b="1" i="1" dirty="0">
                <a:solidFill>
                  <a:srgbClr val="1781E3"/>
                </a:solidFill>
              </a:rPr>
              <a:t>Digital Factory 2.0</a:t>
            </a:r>
          </a:p>
        </p:txBody>
      </p:sp>
      <p:sp>
        <p:nvSpPr>
          <p:cNvPr id="457" name="TextBox 456">
            <a:extLst>
              <a:ext uri="{FF2B5EF4-FFF2-40B4-BE49-F238E27FC236}">
                <a16:creationId xmlns:a16="http://schemas.microsoft.com/office/drawing/2014/main" id="{34B89C15-6F00-ECC7-C66D-DF4CFBB89349}"/>
              </a:ext>
            </a:extLst>
          </p:cNvPr>
          <p:cNvSpPr txBox="1"/>
          <p:nvPr/>
        </p:nvSpPr>
        <p:spPr bwMode="gray">
          <a:xfrm>
            <a:off x="9067675" y="4678307"/>
            <a:ext cx="295987" cy="231393"/>
          </a:xfrm>
          <a:prstGeom prst="rect">
            <a:avLst/>
          </a:prstGeom>
          <a:solidFill>
            <a:schemeClr val="bg1"/>
          </a:solidFill>
        </p:spPr>
        <p:txBody>
          <a:bodyPr vert="horz" wrap="none" lIns="0" tIns="0" rIns="0" bIns="0" rtlCol="0" anchor="ctr">
            <a:noAutofit/>
          </a:bodyPr>
          <a:lstStyle/>
          <a:p>
            <a:pPr algn="ctr">
              <a:lnSpc>
                <a:spcPct val="110000"/>
              </a:lnSpc>
            </a:pPr>
            <a:r>
              <a:rPr lang="en-GB" sz="2800" b="1" i="1" dirty="0">
                <a:solidFill>
                  <a:srgbClr val="FF6600"/>
                </a:solidFill>
              </a:rPr>
              <a:t>…</a:t>
            </a:r>
          </a:p>
        </p:txBody>
      </p:sp>
      <p:sp>
        <p:nvSpPr>
          <p:cNvPr id="459" name="Foliennummernplatzhalter 5">
            <a:extLst>
              <a:ext uri="{FF2B5EF4-FFF2-40B4-BE49-F238E27FC236}">
                <a16:creationId xmlns:a16="http://schemas.microsoft.com/office/drawing/2014/main" id="{588744FE-5055-F65C-8FAB-2F97F00B3A7F}"/>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9</a:t>
            </a:fld>
            <a:endParaRPr lang="en-US"/>
          </a:p>
        </p:txBody>
      </p:sp>
      <p:sp>
        <p:nvSpPr>
          <p:cNvPr id="461" name="Rectangle 27">
            <a:extLst>
              <a:ext uri="{FF2B5EF4-FFF2-40B4-BE49-F238E27FC236}">
                <a16:creationId xmlns:a16="http://schemas.microsoft.com/office/drawing/2014/main" id="{E9B61A06-B5C0-F399-B2BD-E07E4ADB7E9A}"/>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539" name="Rectangle 538">
            <a:extLst>
              <a:ext uri="{FF2B5EF4-FFF2-40B4-BE49-F238E27FC236}">
                <a16:creationId xmlns:a16="http://schemas.microsoft.com/office/drawing/2014/main" id="{9E7A6C5F-554D-C04D-9881-CA2D34709D87}"/>
              </a:ext>
            </a:extLst>
          </p:cNvPr>
          <p:cNvSpPr/>
          <p:nvPr/>
        </p:nvSpPr>
        <p:spPr bwMode="gray">
          <a:xfrm>
            <a:off x="9370220" y="3065014"/>
            <a:ext cx="2587868" cy="3460124"/>
          </a:xfrm>
          <a:prstGeom prst="rect">
            <a:avLst/>
          </a:prstGeom>
          <a:solidFill>
            <a:schemeClr val="bg1"/>
          </a:solidFill>
          <a:ln w="6350">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it-IT" sz="1600" b="1" dirty="0">
              <a:solidFill>
                <a:schemeClr val="tx1"/>
              </a:solidFill>
            </a:endParaRPr>
          </a:p>
        </p:txBody>
      </p:sp>
      <p:sp>
        <p:nvSpPr>
          <p:cNvPr id="476" name="Rectangle: Rounded Corners 475">
            <a:extLst>
              <a:ext uri="{FF2B5EF4-FFF2-40B4-BE49-F238E27FC236}">
                <a16:creationId xmlns:a16="http://schemas.microsoft.com/office/drawing/2014/main" id="{82B8343B-90FD-3DCF-B869-7C6B6C898ADB}"/>
              </a:ext>
            </a:extLst>
          </p:cNvPr>
          <p:cNvSpPr/>
          <p:nvPr/>
        </p:nvSpPr>
        <p:spPr bwMode="gray">
          <a:xfrm>
            <a:off x="11263736" y="4097060"/>
            <a:ext cx="549180" cy="1726912"/>
          </a:xfrm>
          <a:prstGeom prst="roundRect">
            <a:avLst>
              <a:gd name="adj" fmla="val 13889"/>
            </a:avLst>
          </a:prstGeom>
          <a:solidFill>
            <a:srgbClr val="00B050">
              <a:alpha val="22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10000"/>
              </a:lnSpc>
            </a:pPr>
            <a:r>
              <a:rPr lang="en-GB" sz="1000" b="1" dirty="0">
                <a:solidFill>
                  <a:schemeClr val="tx1"/>
                </a:solidFill>
              </a:rPr>
              <a:t>Design authority</a:t>
            </a:r>
          </a:p>
        </p:txBody>
      </p:sp>
      <p:sp>
        <p:nvSpPr>
          <p:cNvPr id="496" name="Rectangle: Rounded Corners 495">
            <a:extLst>
              <a:ext uri="{FF2B5EF4-FFF2-40B4-BE49-F238E27FC236}">
                <a16:creationId xmlns:a16="http://schemas.microsoft.com/office/drawing/2014/main" id="{17752E7C-5BB7-B5C6-A61E-378AC65EBB71}"/>
              </a:ext>
            </a:extLst>
          </p:cNvPr>
          <p:cNvSpPr/>
          <p:nvPr/>
        </p:nvSpPr>
        <p:spPr bwMode="gray">
          <a:xfrm>
            <a:off x="9501213" y="4110337"/>
            <a:ext cx="864399" cy="1691069"/>
          </a:xfrm>
          <a:prstGeom prst="roundRect">
            <a:avLst>
              <a:gd name="adj" fmla="val 13889"/>
            </a:avLst>
          </a:prstGeom>
          <a:solidFill>
            <a:srgbClr val="FF66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200" b="1" dirty="0">
                <a:solidFill>
                  <a:schemeClr val="bg1"/>
                </a:solidFill>
              </a:rPr>
              <a:t>IT </a:t>
            </a:r>
            <a:r>
              <a:rPr lang="en-GB" sz="1200" b="1">
                <a:solidFill>
                  <a:schemeClr val="bg1"/>
                </a:solidFill>
              </a:rPr>
              <a:t>Factory</a:t>
            </a:r>
          </a:p>
        </p:txBody>
      </p:sp>
      <p:sp>
        <p:nvSpPr>
          <p:cNvPr id="497" name="Rectangle: Rounded Corners 496">
            <a:extLst>
              <a:ext uri="{FF2B5EF4-FFF2-40B4-BE49-F238E27FC236}">
                <a16:creationId xmlns:a16="http://schemas.microsoft.com/office/drawing/2014/main" id="{AA6C42D5-B1BF-9EDF-33F9-F1EDC7A70971}"/>
              </a:ext>
            </a:extLst>
          </p:cNvPr>
          <p:cNvSpPr/>
          <p:nvPr/>
        </p:nvSpPr>
        <p:spPr bwMode="gray">
          <a:xfrm>
            <a:off x="10427267" y="5222696"/>
            <a:ext cx="798081" cy="600382"/>
          </a:xfrm>
          <a:prstGeom prst="roundRect">
            <a:avLst>
              <a:gd name="adj" fmla="val 13889"/>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050" b="1">
                <a:solidFill>
                  <a:schemeClr val="bg1"/>
                </a:solidFill>
              </a:rPr>
              <a:t>Standard Delivery</a:t>
            </a:r>
          </a:p>
        </p:txBody>
      </p:sp>
      <p:sp>
        <p:nvSpPr>
          <p:cNvPr id="16" name="Rectangle: Rounded Corners 15">
            <a:extLst>
              <a:ext uri="{FF2B5EF4-FFF2-40B4-BE49-F238E27FC236}">
                <a16:creationId xmlns:a16="http://schemas.microsoft.com/office/drawing/2014/main" id="{16538DB8-4317-2914-E942-BFD8B4FD471B}"/>
              </a:ext>
            </a:extLst>
          </p:cNvPr>
          <p:cNvSpPr/>
          <p:nvPr/>
        </p:nvSpPr>
        <p:spPr bwMode="gray">
          <a:xfrm>
            <a:off x="9478514" y="3354493"/>
            <a:ext cx="2345271" cy="265921"/>
          </a:xfrm>
          <a:prstGeom prst="roundRect">
            <a:avLst>
              <a:gd name="adj" fmla="val 13889"/>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050" b="1">
                <a:solidFill>
                  <a:schemeClr val="bg1"/>
                </a:solidFill>
              </a:rPr>
              <a:t>Demand</a:t>
            </a:r>
          </a:p>
        </p:txBody>
      </p:sp>
      <p:sp>
        <p:nvSpPr>
          <p:cNvPr id="17" name="Rectangle: Rounded Corners 16">
            <a:extLst>
              <a:ext uri="{FF2B5EF4-FFF2-40B4-BE49-F238E27FC236}">
                <a16:creationId xmlns:a16="http://schemas.microsoft.com/office/drawing/2014/main" id="{91FFAD78-5AC7-F5C0-0A19-352B6A6BE2C9}"/>
              </a:ext>
            </a:extLst>
          </p:cNvPr>
          <p:cNvSpPr/>
          <p:nvPr/>
        </p:nvSpPr>
        <p:spPr bwMode="gray">
          <a:xfrm>
            <a:off x="9478514" y="3705029"/>
            <a:ext cx="2345271" cy="265921"/>
          </a:xfrm>
          <a:prstGeom prst="roundRect">
            <a:avLst>
              <a:gd name="adj" fmla="val 13889"/>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050" b="1">
                <a:solidFill>
                  <a:schemeClr val="bg1"/>
                </a:solidFill>
              </a:rPr>
              <a:t>Portfolio</a:t>
            </a:r>
          </a:p>
        </p:txBody>
      </p:sp>
      <p:sp>
        <p:nvSpPr>
          <p:cNvPr id="19" name="Rectangle: Rounded Corners 18">
            <a:extLst>
              <a:ext uri="{FF2B5EF4-FFF2-40B4-BE49-F238E27FC236}">
                <a16:creationId xmlns:a16="http://schemas.microsoft.com/office/drawing/2014/main" id="{7F0DCBDA-7B70-009F-2688-EA507B98D6C8}"/>
              </a:ext>
            </a:extLst>
          </p:cNvPr>
          <p:cNvSpPr/>
          <p:nvPr/>
        </p:nvSpPr>
        <p:spPr bwMode="gray">
          <a:xfrm>
            <a:off x="9501213" y="5962465"/>
            <a:ext cx="2393330" cy="401664"/>
          </a:xfrm>
          <a:prstGeom prst="roundRect">
            <a:avLst>
              <a:gd name="adj" fmla="val 13889"/>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r>
              <a:rPr lang="en-GB" sz="1200" b="1" dirty="0">
                <a:solidFill>
                  <a:schemeClr val="bg1"/>
                </a:solidFill>
              </a:rPr>
              <a:t>Test, ITSM </a:t>
            </a:r>
          </a:p>
          <a:p>
            <a:pPr algn="ctr">
              <a:lnSpc>
                <a:spcPct val="110000"/>
              </a:lnSpc>
            </a:pPr>
            <a:r>
              <a:rPr lang="en-GB" sz="1200" dirty="0">
                <a:solidFill>
                  <a:schemeClr val="bg1"/>
                </a:solidFill>
              </a:rPr>
              <a:t>(</a:t>
            </a:r>
            <a:r>
              <a:rPr lang="en-GB" sz="1200" dirty="0" err="1">
                <a:solidFill>
                  <a:schemeClr val="bg1"/>
                </a:solidFill>
              </a:rPr>
              <a:t>eg</a:t>
            </a:r>
            <a:r>
              <a:rPr lang="en-GB" sz="1200" dirty="0">
                <a:solidFill>
                  <a:schemeClr val="bg1"/>
                </a:solidFill>
              </a:rPr>
              <a:t>: Incident &amp; Release </a:t>
            </a:r>
            <a:r>
              <a:rPr lang="en-GB" sz="1200" dirty="0" err="1">
                <a:solidFill>
                  <a:schemeClr val="bg1"/>
                </a:solidFill>
              </a:rPr>
              <a:t>Mgmt</a:t>
            </a:r>
            <a:r>
              <a:rPr lang="en-GB" sz="1200" dirty="0">
                <a:solidFill>
                  <a:schemeClr val="bg1"/>
                </a:solidFill>
              </a:rPr>
              <a:t>)</a:t>
            </a:r>
          </a:p>
        </p:txBody>
      </p:sp>
      <p:sp>
        <p:nvSpPr>
          <p:cNvPr id="22" name="Arrow: Left-Right 21">
            <a:extLst>
              <a:ext uri="{FF2B5EF4-FFF2-40B4-BE49-F238E27FC236}">
                <a16:creationId xmlns:a16="http://schemas.microsoft.com/office/drawing/2014/main" id="{9CB765A2-E5C3-1857-2204-DAC7AFE2A25A}"/>
              </a:ext>
            </a:extLst>
          </p:cNvPr>
          <p:cNvSpPr/>
          <p:nvPr/>
        </p:nvSpPr>
        <p:spPr bwMode="gray">
          <a:xfrm rot="5400000">
            <a:off x="10934436" y="5768100"/>
            <a:ext cx="396000" cy="180000"/>
          </a:xfrm>
          <a:prstGeom prst="leftRightArrow">
            <a:avLst/>
          </a:prstGeom>
          <a:solidFill>
            <a:srgbClr val="FFFF00"/>
          </a:solidFill>
          <a:ln w="6350">
            <a:solidFill>
              <a:srgbClr val="FDC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b="1">
              <a:solidFill>
                <a:schemeClr val="tx1"/>
              </a:solidFill>
            </a:endParaRPr>
          </a:p>
        </p:txBody>
      </p:sp>
      <p:sp>
        <p:nvSpPr>
          <p:cNvPr id="23" name="Arrow: Left-Right 22">
            <a:extLst>
              <a:ext uri="{FF2B5EF4-FFF2-40B4-BE49-F238E27FC236}">
                <a16:creationId xmlns:a16="http://schemas.microsoft.com/office/drawing/2014/main" id="{D1093D72-2625-1B16-0C4F-A33CA8BC1694}"/>
              </a:ext>
            </a:extLst>
          </p:cNvPr>
          <p:cNvSpPr/>
          <p:nvPr/>
        </p:nvSpPr>
        <p:spPr bwMode="gray">
          <a:xfrm rot="5400000">
            <a:off x="9676696" y="5768100"/>
            <a:ext cx="396000" cy="180000"/>
          </a:xfrm>
          <a:prstGeom prst="leftRightArrow">
            <a:avLst/>
          </a:prstGeom>
          <a:solidFill>
            <a:srgbClr val="FFFF00"/>
          </a:solidFill>
          <a:ln w="6350">
            <a:solidFill>
              <a:srgbClr val="FDC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GB" sz="1600" b="1">
              <a:solidFill>
                <a:schemeClr val="tx1"/>
              </a:solidFill>
            </a:endParaRPr>
          </a:p>
        </p:txBody>
      </p:sp>
      <p:sp>
        <p:nvSpPr>
          <p:cNvPr id="456" name="TextBox 455">
            <a:extLst>
              <a:ext uri="{FF2B5EF4-FFF2-40B4-BE49-F238E27FC236}">
                <a16:creationId xmlns:a16="http://schemas.microsoft.com/office/drawing/2014/main" id="{318CA941-0F45-41E7-5578-846C07FFF8D6}"/>
              </a:ext>
            </a:extLst>
          </p:cNvPr>
          <p:cNvSpPr txBox="1"/>
          <p:nvPr/>
        </p:nvSpPr>
        <p:spPr bwMode="gray">
          <a:xfrm>
            <a:off x="10139303" y="2736635"/>
            <a:ext cx="1049702" cy="307672"/>
          </a:xfrm>
          <a:prstGeom prst="rect">
            <a:avLst/>
          </a:prstGeom>
          <a:solidFill>
            <a:schemeClr val="bg1"/>
          </a:solidFill>
        </p:spPr>
        <p:txBody>
          <a:bodyPr vert="horz" wrap="none" lIns="0" tIns="0" rIns="0" bIns="0" rtlCol="0" anchor="ctr">
            <a:noAutofit/>
          </a:bodyPr>
          <a:lstStyle/>
          <a:p>
            <a:pPr algn="ctr">
              <a:lnSpc>
                <a:spcPct val="110000"/>
              </a:lnSpc>
            </a:pPr>
            <a:r>
              <a:rPr lang="en-GB" sz="1600" b="1" i="1" dirty="0">
                <a:solidFill>
                  <a:srgbClr val="1781E3"/>
                </a:solidFill>
              </a:rPr>
              <a:t>IT Factory</a:t>
            </a:r>
          </a:p>
        </p:txBody>
      </p:sp>
      <p:sp>
        <p:nvSpPr>
          <p:cNvPr id="7" name="TextBox 6">
            <a:extLst>
              <a:ext uri="{FF2B5EF4-FFF2-40B4-BE49-F238E27FC236}">
                <a16:creationId xmlns:a16="http://schemas.microsoft.com/office/drawing/2014/main" id="{97F5E576-ABF6-F5F9-D919-7C9961C38721}"/>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extLst>
      <p:ext uri="{BB962C8B-B14F-4D97-AF65-F5344CB8AC3E}">
        <p14:creationId xmlns:p14="http://schemas.microsoft.com/office/powerpoint/2010/main" val="46184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9A4373-C891-11E2-24F3-9E03F7B5018F}"/>
              </a:ext>
            </a:extLst>
          </p:cNvPr>
          <p:cNvSpPr>
            <a:spLocks noGrp="1"/>
          </p:cNvSpPr>
          <p:nvPr>
            <p:ph type="title"/>
          </p:nvPr>
        </p:nvSpPr>
        <p:spPr>
          <a:xfrm>
            <a:off x="1293898" y="314912"/>
            <a:ext cx="10141748" cy="491706"/>
          </a:xfrm>
          <a:noFill/>
          <a:ln>
            <a:noFill/>
          </a:ln>
        </p:spPr>
        <p:txBody>
          <a:bodyPr vert="horz" wrap="square" lIns="91440" tIns="45720" rIns="91440" bIns="45720" anchor="t" anchorCtr="0" compatLnSpc="1">
            <a:noAutofit/>
          </a:bodyPr>
          <a:lstStyle/>
          <a:p>
            <a:pPr>
              <a:spcAft>
                <a:spcPts val="600"/>
              </a:spcAft>
              <a:tabLst>
                <a:tab pos="1881185" algn="l"/>
              </a:tabLst>
            </a:pPr>
            <a:r>
              <a:rPr lang="en-GB" sz="2400" kern="0" dirty="0">
                <a:solidFill>
                  <a:srgbClr val="000000"/>
                </a:solidFill>
              </a:rPr>
              <a:t>STREAM 4 | APPLICATION DOMAIN | OVERALL APPROACH</a:t>
            </a:r>
            <a:endParaRPr lang="en-US" sz="2400" kern="0" dirty="0">
              <a:solidFill>
                <a:srgbClr val="000000"/>
              </a:solidFill>
            </a:endParaRPr>
          </a:p>
        </p:txBody>
      </p:sp>
      <p:sp>
        <p:nvSpPr>
          <p:cNvPr id="10" name="TextBox 9">
            <a:extLst>
              <a:ext uri="{FF2B5EF4-FFF2-40B4-BE49-F238E27FC236}">
                <a16:creationId xmlns:a16="http://schemas.microsoft.com/office/drawing/2014/main" id="{B89BCA8A-2CE8-2890-036F-8B6DC08E6C51}"/>
              </a:ext>
            </a:extLst>
          </p:cNvPr>
          <p:cNvSpPr txBox="1"/>
          <p:nvPr/>
        </p:nvSpPr>
        <p:spPr>
          <a:xfrm>
            <a:off x="358487" y="1495232"/>
            <a:ext cx="3962995" cy="3100849"/>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IN" sz="1150" b="1">
                <a:solidFill>
                  <a:srgbClr val="1E60AF"/>
                </a:solidFill>
                <a:latin typeface="+mj-lt"/>
              </a:rPr>
              <a:t>Create a comprehensive inventory of all existing BSS/OSS </a:t>
            </a:r>
            <a:r>
              <a:rPr lang="en-IN" sz="1150" b="1" dirty="0">
                <a:solidFill>
                  <a:srgbClr val="1E60AF"/>
                </a:solidFill>
                <a:latin typeface="+mj-lt"/>
              </a:rPr>
              <a:t>applications</a:t>
            </a:r>
            <a:r>
              <a:rPr lang="en-IN" sz="1150" b="1">
                <a:solidFill>
                  <a:srgbClr val="1E60AF"/>
                </a:solidFill>
                <a:latin typeface="+mj-lt"/>
              </a:rPr>
              <a:t>, Infrastructure, Products and </a:t>
            </a:r>
            <a:r>
              <a:rPr lang="en-IN" sz="1150">
                <a:latin typeface="+mj-lt"/>
              </a:rPr>
              <a:t>of </a:t>
            </a:r>
            <a:r>
              <a:rPr lang="en-IN" sz="1150" dirty="0">
                <a:latin typeface="+mj-lt"/>
              </a:rPr>
              <a:t>Vodafone and </a:t>
            </a:r>
            <a:r>
              <a:rPr lang="en-IN" sz="1150" dirty="0" err="1">
                <a:latin typeface="+mj-lt"/>
              </a:rPr>
              <a:t>FastWeb</a:t>
            </a:r>
            <a:r>
              <a:rPr lang="en-IN" sz="1150">
                <a:latin typeface="+mj-lt"/>
              </a:rPr>
              <a:t>. </a:t>
            </a:r>
          </a:p>
          <a:p>
            <a:pPr marL="171450" indent="-171450">
              <a:buFont typeface="Arial" panose="020B0604020202020204" pitchFamily="34" charset="0"/>
              <a:buChar char="•"/>
            </a:pPr>
            <a:r>
              <a:rPr lang="en-IN" sz="1150" b="1">
                <a:solidFill>
                  <a:srgbClr val="1E60AF"/>
                </a:solidFill>
                <a:latin typeface="+mj-lt"/>
              </a:rPr>
              <a:t>Requirement Capture </a:t>
            </a:r>
            <a:r>
              <a:rPr lang="en-IN" sz="1150">
                <a:solidFill>
                  <a:schemeClr val="tx1">
                    <a:lumMod val="85000"/>
                    <a:lumOff val="15000"/>
                  </a:schemeClr>
                </a:solidFill>
                <a:latin typeface="+mj-lt"/>
              </a:rPr>
              <a:t>through</a:t>
            </a:r>
            <a:r>
              <a:rPr lang="en-IN" sz="1150" b="1">
                <a:solidFill>
                  <a:srgbClr val="1E60AF"/>
                </a:solidFill>
                <a:latin typeface="+mj-lt"/>
              </a:rPr>
              <a:t> </a:t>
            </a:r>
            <a:r>
              <a:rPr lang="en-IN" sz="1150">
                <a:solidFill>
                  <a:srgbClr val="1E60AF"/>
                </a:solidFill>
                <a:latin typeface="+mj-lt"/>
                <a:cs typeface="Segoe UI"/>
              </a:rPr>
              <a:t>i</a:t>
            </a:r>
            <a:r>
              <a:rPr lang="en-IN" sz="1150">
                <a:latin typeface="+mj-lt"/>
                <a:cs typeface="Segoe UI"/>
              </a:rPr>
              <a:t>nterviewing stakeholders and leveraging on assets</a:t>
            </a:r>
            <a:r>
              <a:rPr lang="en-IN" sz="1150" b="1">
                <a:solidFill>
                  <a:srgbClr val="0070C0"/>
                </a:solidFill>
                <a:latin typeface="+mj-lt"/>
                <a:cs typeface="Segoe UI"/>
              </a:rPr>
              <a:t> </a:t>
            </a:r>
          </a:p>
          <a:p>
            <a:pPr marL="171450" indent="-171450">
              <a:buFont typeface="Arial" panose="020B0604020202020204" pitchFamily="34" charset="0"/>
              <a:buChar char="•"/>
            </a:pPr>
            <a:r>
              <a:rPr lang="en-IN" sz="1150" b="1">
                <a:solidFill>
                  <a:srgbClr val="1E60AF"/>
                </a:solidFill>
                <a:latin typeface="+mj-lt"/>
              </a:rPr>
              <a:t>Gather information to assess Digital </a:t>
            </a:r>
            <a:r>
              <a:rPr lang="en-IN" sz="1150" b="1" dirty="0">
                <a:solidFill>
                  <a:srgbClr val="1E60AF"/>
                </a:solidFill>
                <a:latin typeface="+mj-lt"/>
              </a:rPr>
              <a:t>Maturity </a:t>
            </a:r>
            <a:r>
              <a:rPr lang="en-IN" sz="1150" b="1">
                <a:solidFill>
                  <a:srgbClr val="1E60AF"/>
                </a:solidFill>
                <a:latin typeface="+mj-lt"/>
              </a:rPr>
              <a:t>of </a:t>
            </a:r>
            <a:r>
              <a:rPr lang="en-IN" sz="1150" b="1" dirty="0" err="1">
                <a:solidFill>
                  <a:srgbClr val="1E60AF"/>
                </a:solidFill>
                <a:latin typeface="+mj-lt"/>
              </a:rPr>
              <a:t>FastWeb</a:t>
            </a:r>
            <a:r>
              <a:rPr lang="en-IN" sz="1150" b="1">
                <a:solidFill>
                  <a:srgbClr val="1E60AF"/>
                </a:solidFill>
                <a:latin typeface="+mj-lt"/>
              </a:rPr>
              <a:t> and Vodafone </a:t>
            </a:r>
            <a:r>
              <a:rPr lang="en-IN" sz="1150">
                <a:latin typeface="+mj-lt"/>
              </a:rPr>
              <a:t>using </a:t>
            </a:r>
            <a:r>
              <a:rPr lang="en-IN" sz="1150" dirty="0">
                <a:latin typeface="+mj-lt"/>
              </a:rPr>
              <a:t>TMF Digital maturity model.</a:t>
            </a:r>
          </a:p>
          <a:p>
            <a:pPr marL="171450" indent="-171450">
              <a:buFont typeface="Arial" panose="020B0604020202020204" pitchFamily="34" charset="0"/>
              <a:buChar char="•"/>
            </a:pPr>
            <a:r>
              <a:rPr lang="en-US" sz="1150" b="1">
                <a:solidFill>
                  <a:srgbClr val="1E60AF"/>
                </a:solidFill>
                <a:latin typeface="+mj-lt"/>
              </a:rPr>
              <a:t>Understand the business and technical key </a:t>
            </a:r>
            <a:r>
              <a:rPr lang="en-US" sz="1150">
                <a:solidFill>
                  <a:schemeClr val="tx1">
                    <a:lumMod val="85000"/>
                    <a:lumOff val="15000"/>
                  </a:schemeClr>
                </a:solidFill>
                <a:latin typeface="+mj-lt"/>
              </a:rPr>
              <a:t>KPIs for </a:t>
            </a:r>
            <a:r>
              <a:rPr lang="en-IN" sz="1150" dirty="0" err="1">
                <a:solidFill>
                  <a:schemeClr val="tx1">
                    <a:lumMod val="85000"/>
                    <a:lumOff val="15000"/>
                  </a:schemeClr>
                </a:solidFill>
                <a:latin typeface="+mj-lt"/>
              </a:rPr>
              <a:t>FastWeb</a:t>
            </a:r>
            <a:r>
              <a:rPr lang="en-IN" sz="1150">
                <a:solidFill>
                  <a:schemeClr val="tx1">
                    <a:lumMod val="85000"/>
                    <a:lumOff val="15000"/>
                  </a:schemeClr>
                </a:solidFill>
                <a:latin typeface="+mj-lt"/>
              </a:rPr>
              <a:t> and Vodafone</a:t>
            </a:r>
            <a:endParaRPr lang="en-IN" sz="1150">
              <a:solidFill>
                <a:schemeClr val="tx1">
                  <a:lumMod val="85000"/>
                  <a:lumOff val="15000"/>
                </a:schemeClr>
              </a:solidFill>
            </a:endParaRPr>
          </a:p>
          <a:p>
            <a:pPr marL="171450" indent="-171450">
              <a:buFont typeface="Arial" panose="020B0604020202020204" pitchFamily="34" charset="0"/>
              <a:buChar char="•"/>
            </a:pPr>
            <a:r>
              <a:rPr lang="en-IN" sz="1150" b="1">
                <a:solidFill>
                  <a:srgbClr val="1E60AF"/>
                </a:solidFill>
                <a:latin typeface="+mj-lt"/>
              </a:rPr>
              <a:t>Understand Total </a:t>
            </a:r>
            <a:r>
              <a:rPr lang="en-IN" sz="1150" b="1" dirty="0">
                <a:solidFill>
                  <a:srgbClr val="1E60AF"/>
                </a:solidFill>
                <a:latin typeface="+mj-lt"/>
              </a:rPr>
              <a:t>Cost </a:t>
            </a:r>
            <a:r>
              <a:rPr lang="en-IN" sz="1150" b="1">
                <a:solidFill>
                  <a:srgbClr val="1E60AF"/>
                </a:solidFill>
                <a:latin typeface="+mj-lt"/>
              </a:rPr>
              <a:t>of ownership </a:t>
            </a:r>
            <a:r>
              <a:rPr lang="en-IN" sz="1150">
                <a:latin typeface="+mj-lt"/>
              </a:rPr>
              <a:t>of </a:t>
            </a:r>
            <a:r>
              <a:rPr lang="en-IN" sz="1150" dirty="0">
                <a:latin typeface="+mj-lt"/>
              </a:rPr>
              <a:t>existing </a:t>
            </a:r>
            <a:r>
              <a:rPr lang="en-IN" sz="1150">
                <a:latin typeface="+mj-lt"/>
              </a:rPr>
              <a:t>landscape for both the organizations</a:t>
            </a:r>
          </a:p>
          <a:p>
            <a:pPr marL="171450" indent="-171450">
              <a:buFont typeface="Arial" panose="020B0604020202020204" pitchFamily="34" charset="0"/>
              <a:buChar char="•"/>
            </a:pPr>
            <a:r>
              <a:rPr lang="en-IN" sz="1150" b="1">
                <a:solidFill>
                  <a:srgbClr val="1E60AF"/>
                </a:solidFill>
                <a:latin typeface="+mj-lt"/>
              </a:rPr>
              <a:t>Gather all  Financial Constraints and targets</a:t>
            </a:r>
            <a:r>
              <a:rPr lang="en-IN" sz="1150">
                <a:latin typeface="+mj-lt"/>
              </a:rPr>
              <a:t> </a:t>
            </a:r>
            <a:r>
              <a:rPr lang="en-IN" sz="1150" dirty="0">
                <a:latin typeface="+mj-lt"/>
              </a:rPr>
              <a:t>to be achieved from target OSS/ BSS architecture</a:t>
            </a:r>
            <a:r>
              <a:rPr lang="en-IN" sz="1150">
                <a:latin typeface="+mj-lt"/>
              </a:rPr>
              <a:t>. </a:t>
            </a:r>
            <a:endParaRPr lang="en-IN" sz="1150" dirty="0">
              <a:latin typeface="+mj-lt"/>
            </a:endParaRPr>
          </a:p>
          <a:p>
            <a:pPr marL="171450" indent="-171450">
              <a:buFont typeface="Arial" panose="020B0604020202020204" pitchFamily="34" charset="0"/>
              <a:buChar char="•"/>
            </a:pPr>
            <a:r>
              <a:rPr lang="en-IN" sz="1150" b="1">
                <a:solidFill>
                  <a:srgbClr val="1E60AF"/>
                </a:solidFill>
                <a:latin typeface="+mj-lt"/>
              </a:rPr>
              <a:t>Understand the </a:t>
            </a:r>
            <a:r>
              <a:rPr lang="en-IN" sz="1150" b="1" dirty="0">
                <a:solidFill>
                  <a:srgbClr val="1E60AF"/>
                </a:solidFill>
                <a:latin typeface="+mj-lt"/>
              </a:rPr>
              <a:t>IT </a:t>
            </a:r>
            <a:r>
              <a:rPr lang="en-IN" sz="1150" b="1">
                <a:solidFill>
                  <a:srgbClr val="1E60AF"/>
                </a:solidFill>
                <a:latin typeface="+mj-lt"/>
              </a:rPr>
              <a:t>architecture principles, security posture</a:t>
            </a:r>
            <a:r>
              <a:rPr lang="en-IN" sz="1150" b="1" dirty="0">
                <a:solidFill>
                  <a:srgbClr val="1E60AF"/>
                </a:solidFill>
                <a:latin typeface="+mj-lt"/>
              </a:rPr>
              <a:t> </a:t>
            </a:r>
            <a:r>
              <a:rPr lang="en-IN" sz="1150" b="1">
                <a:solidFill>
                  <a:srgbClr val="1E60AF"/>
                </a:solidFill>
                <a:latin typeface="+mj-lt"/>
              </a:rPr>
              <a:t>and strategies </a:t>
            </a:r>
            <a:r>
              <a:rPr lang="en-IN" sz="1150">
                <a:solidFill>
                  <a:schemeClr val="tx1">
                    <a:lumMod val="85000"/>
                    <a:lumOff val="15000"/>
                  </a:schemeClr>
                </a:solidFill>
                <a:latin typeface="+mj-lt"/>
              </a:rPr>
              <a:t>for the merged entity</a:t>
            </a:r>
            <a:endParaRPr lang="en-IN" sz="1150" b="1" dirty="0">
              <a:solidFill>
                <a:srgbClr val="0070C0"/>
              </a:solidFill>
              <a:latin typeface="+mj-lt"/>
            </a:endParaRPr>
          </a:p>
          <a:p>
            <a:pPr marL="171450" indent="-171450">
              <a:buFont typeface="Arial" panose="020B0604020202020204" pitchFamily="34" charset="0"/>
              <a:buChar char="•"/>
            </a:pPr>
            <a:r>
              <a:rPr lang="en-IN" sz="1150">
                <a:solidFill>
                  <a:schemeClr val="tx1">
                    <a:lumMod val="85000"/>
                    <a:lumOff val="15000"/>
                  </a:schemeClr>
                </a:solidFill>
                <a:latin typeface="+mj-lt"/>
              </a:rPr>
              <a:t>Take roadmap </a:t>
            </a:r>
            <a:r>
              <a:rPr lang="en-IN" sz="1150" b="1">
                <a:solidFill>
                  <a:schemeClr val="tx1">
                    <a:lumMod val="85000"/>
                    <a:lumOff val="15000"/>
                  </a:schemeClr>
                </a:solidFill>
                <a:latin typeface="+mj-lt"/>
              </a:rPr>
              <a:t>of </a:t>
            </a:r>
            <a:r>
              <a:rPr lang="en-IN" sz="1150" b="1">
                <a:solidFill>
                  <a:srgbClr val="1E60AF"/>
                </a:solidFill>
                <a:latin typeface="+mj-lt"/>
              </a:rPr>
              <a:t>existing Transformation programs</a:t>
            </a:r>
            <a:endParaRPr lang="en-IN" sz="1150" b="1" dirty="0">
              <a:solidFill>
                <a:srgbClr val="1E60AF"/>
              </a:solidFill>
              <a:latin typeface="+mj-lt"/>
            </a:endParaRPr>
          </a:p>
          <a:p>
            <a:endParaRPr lang="en-IN" sz="1150">
              <a:latin typeface="+mj-lt"/>
            </a:endParaRPr>
          </a:p>
        </p:txBody>
      </p:sp>
      <p:sp>
        <p:nvSpPr>
          <p:cNvPr id="11" name="TextBox 10">
            <a:extLst>
              <a:ext uri="{FF2B5EF4-FFF2-40B4-BE49-F238E27FC236}">
                <a16:creationId xmlns:a16="http://schemas.microsoft.com/office/drawing/2014/main" id="{1B9FE987-175F-CE89-19FD-97C3F3DC4690}"/>
              </a:ext>
            </a:extLst>
          </p:cNvPr>
          <p:cNvSpPr txBox="1"/>
          <p:nvPr/>
        </p:nvSpPr>
        <p:spPr>
          <a:xfrm>
            <a:off x="4344636" y="1495232"/>
            <a:ext cx="3727249" cy="3277820"/>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IN" sz="1150" b="1">
                <a:solidFill>
                  <a:srgbClr val="1E60AF"/>
                </a:solidFill>
                <a:latin typeface="+mj-lt"/>
              </a:rPr>
              <a:t>Create the IT Strategy, </a:t>
            </a:r>
            <a:r>
              <a:rPr lang="en-IN" sz="1150">
                <a:latin typeface="+mj-lt"/>
              </a:rPr>
              <a:t>aligned to the Strategic vision of </a:t>
            </a:r>
            <a:r>
              <a:rPr lang="en-IN" sz="1150" err="1">
                <a:latin typeface="+mj-lt"/>
              </a:rPr>
              <a:t>NewCo</a:t>
            </a:r>
            <a:r>
              <a:rPr lang="en-IN" sz="1150">
                <a:latin typeface="+mj-lt"/>
              </a:rPr>
              <a:t> and will include:</a:t>
            </a:r>
          </a:p>
          <a:p>
            <a:pPr marL="177800"/>
            <a:r>
              <a:rPr lang="en-IN" sz="1150">
                <a:latin typeface="Arial"/>
                <a:cs typeface="Arial"/>
              </a:rPr>
              <a:t>•</a:t>
            </a:r>
            <a:r>
              <a:rPr lang="en-IN" sz="1150">
                <a:ea typeface="+mn-lt"/>
                <a:cs typeface="+mn-lt"/>
              </a:rPr>
              <a:t>Vision</a:t>
            </a:r>
            <a:endParaRPr lang="en-IN" sz="1150"/>
          </a:p>
          <a:p>
            <a:pPr marL="177800"/>
            <a:r>
              <a:rPr lang="en-IN" sz="1150">
                <a:latin typeface="Arial"/>
                <a:cs typeface="Arial"/>
              </a:rPr>
              <a:t>•</a:t>
            </a:r>
            <a:r>
              <a:rPr lang="en-IN" sz="1150">
                <a:ea typeface="+mn-lt"/>
                <a:cs typeface="+mn-lt"/>
              </a:rPr>
              <a:t>Roadmap</a:t>
            </a:r>
            <a:endParaRPr lang="en-IN" sz="1150"/>
          </a:p>
          <a:p>
            <a:pPr marL="177800"/>
            <a:r>
              <a:rPr lang="en-IN" sz="1150">
                <a:latin typeface="Arial"/>
                <a:cs typeface="Arial"/>
              </a:rPr>
              <a:t>•</a:t>
            </a:r>
            <a:r>
              <a:rPr lang="en-IN" sz="1150">
                <a:ea typeface="+mn-lt"/>
                <a:cs typeface="+mn-lt"/>
              </a:rPr>
              <a:t>Define guiding principles</a:t>
            </a:r>
            <a:endParaRPr lang="en-IN" sz="1150"/>
          </a:p>
          <a:p>
            <a:pPr marL="177800"/>
            <a:r>
              <a:rPr lang="en-IN" sz="1150">
                <a:latin typeface="Arial"/>
                <a:cs typeface="Arial"/>
              </a:rPr>
              <a:t>•</a:t>
            </a:r>
            <a:r>
              <a:rPr lang="en-IN" sz="1150">
                <a:ea typeface="+mn-lt"/>
                <a:cs typeface="+mn-lt"/>
              </a:rPr>
              <a:t>Financial evaluation</a:t>
            </a:r>
            <a:endParaRPr lang="en-IN" sz="1150"/>
          </a:p>
          <a:p>
            <a:pPr marL="177800"/>
            <a:r>
              <a:rPr lang="en-IN" sz="1150">
                <a:latin typeface="Arial"/>
                <a:cs typeface="Arial"/>
              </a:rPr>
              <a:t>•</a:t>
            </a:r>
            <a:r>
              <a:rPr lang="en-IN" sz="1150">
                <a:ea typeface="+mn-lt"/>
                <a:cs typeface="+mn-lt"/>
              </a:rPr>
              <a:t>Short, Medium and Long term objectives</a:t>
            </a:r>
            <a:endParaRPr lang="en-IN" sz="1150"/>
          </a:p>
          <a:p>
            <a:pPr marL="177800"/>
            <a:r>
              <a:rPr lang="en-IN" sz="1150">
                <a:latin typeface="Arial"/>
                <a:cs typeface="Arial"/>
              </a:rPr>
              <a:t>•</a:t>
            </a:r>
            <a:r>
              <a:rPr lang="en-IN" sz="1150">
                <a:ea typeface="+mn-lt"/>
                <a:cs typeface="+mn-lt"/>
              </a:rPr>
              <a:t>Security and Governance</a:t>
            </a:r>
            <a:endParaRPr lang="en-IN" sz="1150"/>
          </a:p>
          <a:p>
            <a:pPr marL="177800"/>
            <a:r>
              <a:rPr lang="en-IN" sz="1150">
                <a:latin typeface="Arial"/>
                <a:cs typeface="Arial"/>
              </a:rPr>
              <a:t>•</a:t>
            </a:r>
            <a:r>
              <a:rPr lang="en-IN" sz="1150">
                <a:ea typeface="+mn-lt"/>
                <a:cs typeface="+mn-lt"/>
              </a:rPr>
              <a:t>High level target state</a:t>
            </a:r>
            <a:endParaRPr lang="en-IN" sz="1150"/>
          </a:p>
          <a:p>
            <a:pPr marL="177800"/>
            <a:r>
              <a:rPr lang="en-IN" sz="1150">
                <a:latin typeface="Arial"/>
                <a:cs typeface="Arial"/>
              </a:rPr>
              <a:t>•</a:t>
            </a:r>
            <a:r>
              <a:rPr lang="en-IN" sz="1150">
                <a:ea typeface="+mn-lt"/>
                <a:cs typeface="+mn-lt"/>
              </a:rPr>
              <a:t>Personnel</a:t>
            </a:r>
            <a:endParaRPr lang="en-IN" sz="1150">
              <a:latin typeface="+mj-lt"/>
            </a:endParaRPr>
          </a:p>
          <a:p>
            <a:pPr marL="171450" indent="-171450">
              <a:buFont typeface="Arial" panose="020B0604020202020204" pitchFamily="34" charset="0"/>
              <a:buChar char="•"/>
            </a:pPr>
            <a:r>
              <a:rPr lang="en-IN" sz="1150" b="1">
                <a:solidFill>
                  <a:srgbClr val="1E60AF"/>
                </a:solidFill>
                <a:latin typeface="+mj-lt"/>
              </a:rPr>
              <a:t>Set future Product strategy </a:t>
            </a:r>
            <a:r>
              <a:rPr lang="en-IN" sz="1150">
                <a:solidFill>
                  <a:schemeClr val="tx1">
                    <a:lumMod val="85000"/>
                    <a:lumOff val="15000"/>
                  </a:schemeClr>
                </a:solidFill>
                <a:latin typeface="+mj-lt"/>
              </a:rPr>
              <a:t>and </a:t>
            </a:r>
            <a:r>
              <a:rPr lang="en-GB" sz="1150">
                <a:latin typeface="+mj-lt"/>
              </a:rPr>
              <a:t>architecture in collaboration </a:t>
            </a:r>
            <a:r>
              <a:rPr lang="en-GB" sz="1150" dirty="0">
                <a:latin typeface="+mj-lt"/>
              </a:rPr>
              <a:t>with product owners of both </a:t>
            </a:r>
            <a:r>
              <a:rPr lang="en-GB" sz="1150" dirty="0" err="1">
                <a:latin typeface="+mj-lt"/>
              </a:rPr>
              <a:t>Fastweb</a:t>
            </a:r>
            <a:r>
              <a:rPr lang="en-GB" sz="1150" dirty="0">
                <a:latin typeface="+mj-lt"/>
              </a:rPr>
              <a:t> and Vodafone</a:t>
            </a:r>
            <a:r>
              <a:rPr lang="en-GB" sz="1150">
                <a:latin typeface="+mj-lt"/>
              </a:rPr>
              <a:t>. </a:t>
            </a:r>
          </a:p>
          <a:p>
            <a:pPr marL="171450" indent="-171450">
              <a:buFont typeface="Arial" panose="020B0604020202020204" pitchFamily="34" charset="0"/>
              <a:buChar char="•"/>
            </a:pPr>
            <a:r>
              <a:rPr lang="en-GB" sz="1150" b="1">
                <a:solidFill>
                  <a:srgbClr val="1E60AF"/>
                </a:solidFill>
                <a:latin typeface="+mj-lt"/>
              </a:rPr>
              <a:t>ERP Disentanglement Strategy </a:t>
            </a:r>
            <a:r>
              <a:rPr lang="en-GB" sz="1150">
                <a:solidFill>
                  <a:schemeClr val="tx1">
                    <a:lumMod val="85000"/>
                    <a:lumOff val="15000"/>
                  </a:schemeClr>
                </a:solidFill>
                <a:latin typeface="+mj-lt"/>
              </a:rPr>
              <a:t>through the analysis of </a:t>
            </a:r>
            <a:r>
              <a:rPr lang="en-GB" sz="1150">
                <a:solidFill>
                  <a:srgbClr val="000000"/>
                </a:solidFill>
                <a:latin typeface="+mj-lt"/>
              </a:rPr>
              <a:t>the current ERP environment and the creation of a ERP dedicated to the merged entity within 24 months</a:t>
            </a:r>
          </a:p>
          <a:p>
            <a:endParaRPr lang="en-IN" sz="1150">
              <a:solidFill>
                <a:srgbClr val="000000"/>
              </a:solidFill>
              <a:latin typeface="+mj-lt"/>
            </a:endParaRPr>
          </a:p>
          <a:p>
            <a:pPr>
              <a:spcAft>
                <a:spcPts val="400"/>
              </a:spcAft>
            </a:pPr>
            <a:endParaRPr lang="en-IN" sz="1150" dirty="0">
              <a:latin typeface="+mj-lt"/>
            </a:endParaRPr>
          </a:p>
        </p:txBody>
      </p:sp>
      <p:sp>
        <p:nvSpPr>
          <p:cNvPr id="77" name="TextBox 76">
            <a:extLst>
              <a:ext uri="{FF2B5EF4-FFF2-40B4-BE49-F238E27FC236}">
                <a16:creationId xmlns:a16="http://schemas.microsoft.com/office/drawing/2014/main" id="{DA6CD6A4-0958-F84E-8312-F416A52372B9}"/>
              </a:ext>
            </a:extLst>
          </p:cNvPr>
          <p:cNvSpPr txBox="1"/>
          <p:nvPr/>
        </p:nvSpPr>
        <p:spPr>
          <a:xfrm>
            <a:off x="8236985" y="1495232"/>
            <a:ext cx="3727249" cy="2882840"/>
          </a:xfrm>
          <a:prstGeom prst="rect">
            <a:avLst/>
          </a:prstGeom>
          <a:noFill/>
        </p:spPr>
        <p:txBody>
          <a:bodyPr wrap="square" lIns="91440" tIns="45720" rIns="91440" bIns="45720" anchor="t">
            <a:spAutoFit/>
          </a:bodyPr>
          <a:lstStyle/>
          <a:p>
            <a:pPr marL="171450" indent="-171450">
              <a:spcAft>
                <a:spcPts val="400"/>
              </a:spcAft>
              <a:buFont typeface="Arial" panose="020B0604020202020204" pitchFamily="34" charset="0"/>
              <a:buChar char="•"/>
            </a:pPr>
            <a:r>
              <a:rPr lang="en-IN" sz="1150" b="1" dirty="0">
                <a:solidFill>
                  <a:srgbClr val="1E60AF"/>
                </a:solidFill>
                <a:latin typeface="+mj-lt"/>
              </a:rPr>
              <a:t>Comparative analysis of existing IT components </a:t>
            </a:r>
            <a:r>
              <a:rPr lang="en-IN" sz="1150">
                <a:latin typeface="+mj-lt"/>
              </a:rPr>
              <a:t>taking </a:t>
            </a:r>
            <a:r>
              <a:rPr lang="en-IN" sz="1150" dirty="0">
                <a:latin typeface="+mj-lt"/>
              </a:rPr>
              <a:t>strategic requirements into </a:t>
            </a:r>
            <a:r>
              <a:rPr lang="en-IN" sz="1150">
                <a:latin typeface="+mj-lt"/>
              </a:rPr>
              <a:t>account.It </a:t>
            </a:r>
            <a:r>
              <a:rPr lang="en-US" sz="1150">
                <a:latin typeface="+mj-lt"/>
              </a:rPr>
              <a:t>will include benchmarking and identification of strengths &amp; weaknesses of each option for various ODA domains (</a:t>
            </a:r>
            <a:r>
              <a:rPr lang="en-IN" sz="1150">
                <a:ea typeface="+mn-lt"/>
                <a:cs typeface="+mn-lt"/>
              </a:rPr>
              <a:t>ClearSight tool for assessment)</a:t>
            </a:r>
            <a:endParaRPr lang="en-GB" sz="1150" b="1">
              <a:solidFill>
                <a:srgbClr val="0070C0"/>
              </a:solidFill>
              <a:latin typeface="+mj-lt"/>
            </a:endParaRPr>
          </a:p>
          <a:p>
            <a:pPr marL="171450" indent="-171450">
              <a:spcAft>
                <a:spcPts val="400"/>
              </a:spcAft>
              <a:buFont typeface="Arial" panose="020B0604020202020204" pitchFamily="34" charset="0"/>
              <a:buChar char="•"/>
            </a:pPr>
            <a:r>
              <a:rPr lang="en-GB" sz="1150" b="1">
                <a:solidFill>
                  <a:srgbClr val="1E60AF"/>
                </a:solidFill>
                <a:latin typeface="+mj-lt"/>
              </a:rPr>
              <a:t>Infrastructure Migration Strategy and Plan </a:t>
            </a:r>
            <a:r>
              <a:rPr lang="en-GB" sz="1150">
                <a:latin typeface="+mj-lt"/>
              </a:rPr>
              <a:t>to support the target state architecture</a:t>
            </a:r>
            <a:endParaRPr lang="en-GB" sz="1150">
              <a:solidFill>
                <a:srgbClr val="000000"/>
              </a:solidFill>
              <a:latin typeface="+mj-lt"/>
            </a:endParaRPr>
          </a:p>
          <a:p>
            <a:pPr marL="171450" indent="-171450">
              <a:spcAft>
                <a:spcPts val="400"/>
              </a:spcAft>
              <a:buFont typeface="Arial" panose="020B0604020202020204" pitchFamily="34" charset="0"/>
              <a:buChar char="•"/>
            </a:pPr>
            <a:r>
              <a:rPr lang="en-GB" sz="1150" b="1">
                <a:solidFill>
                  <a:srgbClr val="1E60AF"/>
                </a:solidFill>
                <a:latin typeface="+mj-lt"/>
              </a:rPr>
              <a:t>Integration Strategy and Plan </a:t>
            </a:r>
            <a:r>
              <a:rPr lang="en-US" sz="1150">
                <a:solidFill>
                  <a:srgbClr val="000000"/>
                </a:solidFill>
                <a:latin typeface="+mj-lt"/>
              </a:rPr>
              <a:t>will include a strategy on merging of Digital engagement channels to build One company experience.</a:t>
            </a:r>
          </a:p>
          <a:p>
            <a:pPr marL="171450" indent="-171450">
              <a:spcAft>
                <a:spcPts val="400"/>
              </a:spcAft>
              <a:buFont typeface="Arial" panose="020B0604020202020204" pitchFamily="34" charset="0"/>
              <a:buChar char="•"/>
            </a:pPr>
            <a:r>
              <a:rPr lang="en-US" sz="1150" b="1">
                <a:solidFill>
                  <a:srgbClr val="1E60AF"/>
                </a:solidFill>
                <a:latin typeface="+mj-lt"/>
                <a:sym typeface="Montserrat"/>
              </a:rPr>
              <a:t>Target architecture Blueprint </a:t>
            </a:r>
            <a:r>
              <a:rPr lang="en-US" sz="1150">
                <a:latin typeface="+mj-lt"/>
                <a:sym typeface="Montserrat"/>
              </a:rPr>
              <a:t>along with Transition states and </a:t>
            </a:r>
            <a:r>
              <a:rPr lang="en-US" sz="1150">
                <a:ea typeface="+mn-lt"/>
                <a:cs typeface="+mn-lt"/>
                <a:sym typeface="Montserrat"/>
              </a:rPr>
              <a:t>product roadmap.</a:t>
            </a:r>
            <a:r>
              <a:rPr lang="en-US" sz="1150">
                <a:latin typeface="+mj-lt"/>
                <a:sym typeface="Montserrat"/>
              </a:rPr>
              <a:t> </a:t>
            </a:r>
          </a:p>
          <a:p>
            <a:pPr marL="171450" indent="-171450">
              <a:spcAft>
                <a:spcPts val="400"/>
              </a:spcAft>
              <a:buFont typeface="Arial" panose="020B0604020202020204" pitchFamily="34" charset="0"/>
              <a:buChar char="•"/>
            </a:pPr>
            <a:r>
              <a:rPr lang="en-US" sz="1150" b="1">
                <a:solidFill>
                  <a:srgbClr val="1E60AF"/>
                </a:solidFill>
                <a:latin typeface="+mj-lt"/>
                <a:sym typeface="Montserrat"/>
              </a:rPr>
              <a:t>Customer Migration Approach </a:t>
            </a:r>
            <a:r>
              <a:rPr lang="en-US" sz="1150">
                <a:solidFill>
                  <a:schemeClr val="tx1">
                    <a:lumMod val="85000"/>
                    <a:lumOff val="15000"/>
                  </a:schemeClr>
                </a:solidFill>
                <a:latin typeface="+mj-lt"/>
                <a:sym typeface="Montserrat"/>
              </a:rPr>
              <a:t>w</a:t>
            </a:r>
            <a:r>
              <a:rPr lang="en-US" sz="1150">
                <a:latin typeface="+mj-lt"/>
              </a:rPr>
              <a:t>ill be developed as part of the Transition Plan</a:t>
            </a:r>
          </a:p>
        </p:txBody>
      </p:sp>
      <p:sp>
        <p:nvSpPr>
          <p:cNvPr id="2" name="Arrow: Chevron 1">
            <a:extLst>
              <a:ext uri="{FF2B5EF4-FFF2-40B4-BE49-F238E27FC236}">
                <a16:creationId xmlns:a16="http://schemas.microsoft.com/office/drawing/2014/main" id="{D00BC5E2-E3F3-A62D-2B37-24FC9B9171A7}"/>
              </a:ext>
            </a:extLst>
          </p:cNvPr>
          <p:cNvSpPr/>
          <p:nvPr/>
        </p:nvSpPr>
        <p:spPr>
          <a:xfrm>
            <a:off x="396586" y="918127"/>
            <a:ext cx="4060800" cy="498948"/>
          </a:xfrm>
          <a:prstGeom prst="chevron">
            <a:avLst/>
          </a:prstGeom>
          <a:solidFill>
            <a:srgbClr val="1E60A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n-GB" sz="1600" b="1">
                <a:solidFill>
                  <a:srgbClr val="FFFFFF"/>
                </a:solidFill>
                <a:ea typeface="Verdana"/>
              </a:rPr>
              <a:t>Assessment and Discovery</a:t>
            </a:r>
            <a:endParaRPr lang="en-GB" sz="1600" b="1" i="0" u="none" strike="noStrike" kern="1200" cap="none" spc="0" normalizeH="0" baseline="0" noProof="0">
              <a:ln>
                <a:noFill/>
              </a:ln>
              <a:solidFill>
                <a:srgbClr val="FFFFFF"/>
              </a:solidFill>
              <a:effectLst/>
              <a:uLnTx/>
              <a:uFillTx/>
              <a:ea typeface="Verdana"/>
            </a:endParaRPr>
          </a:p>
        </p:txBody>
      </p:sp>
      <p:sp>
        <p:nvSpPr>
          <p:cNvPr id="23" name="Arrow: Chevron 22">
            <a:extLst>
              <a:ext uri="{FF2B5EF4-FFF2-40B4-BE49-F238E27FC236}">
                <a16:creationId xmlns:a16="http://schemas.microsoft.com/office/drawing/2014/main" id="{8279F934-F69C-7579-7022-330AC8FC6A7B}"/>
              </a:ext>
            </a:extLst>
          </p:cNvPr>
          <p:cNvSpPr/>
          <p:nvPr/>
        </p:nvSpPr>
        <p:spPr>
          <a:xfrm>
            <a:off x="4234440" y="918127"/>
            <a:ext cx="4060392" cy="498948"/>
          </a:xfrm>
          <a:prstGeom prst="chevron">
            <a:avLst/>
          </a:prstGeom>
          <a:solidFill>
            <a:srgbClr val="0085B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n-GB" sz="1600" b="1">
                <a:solidFill>
                  <a:srgbClr val="FFFFFF"/>
                </a:solidFill>
                <a:ea typeface="Verdana"/>
              </a:rPr>
              <a:t>Strategic Planning</a:t>
            </a:r>
            <a:endParaRPr lang="en-GB" sz="1600" b="1" i="0" u="none" strike="noStrike" kern="1200" cap="none" spc="0" normalizeH="0" baseline="0" noProof="0">
              <a:ln>
                <a:noFill/>
              </a:ln>
              <a:solidFill>
                <a:srgbClr val="FFFFFF"/>
              </a:solidFill>
              <a:effectLst/>
              <a:uLnTx/>
              <a:uFillTx/>
              <a:ea typeface="Verdana"/>
            </a:endParaRPr>
          </a:p>
        </p:txBody>
      </p:sp>
      <p:sp>
        <p:nvSpPr>
          <p:cNvPr id="24" name="Arrow: Chevron 23">
            <a:extLst>
              <a:ext uri="{FF2B5EF4-FFF2-40B4-BE49-F238E27FC236}">
                <a16:creationId xmlns:a16="http://schemas.microsoft.com/office/drawing/2014/main" id="{E707E094-B236-23C4-D09F-98D83D48D62B}"/>
              </a:ext>
            </a:extLst>
          </p:cNvPr>
          <p:cNvSpPr/>
          <p:nvPr/>
        </p:nvSpPr>
        <p:spPr>
          <a:xfrm>
            <a:off x="8071885" y="918127"/>
            <a:ext cx="4060800" cy="498948"/>
          </a:xfrm>
          <a:prstGeom prst="chevron">
            <a:avLst/>
          </a:prstGeom>
          <a:solidFill>
            <a:srgbClr val="2AB1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n-GB" sz="1600" b="1">
                <a:solidFill>
                  <a:srgbClr val="FFFFFF"/>
                </a:solidFill>
                <a:ea typeface="Verdana"/>
              </a:rPr>
              <a:t>Gap Analysis, Decisioning &amp; Blueprinting</a:t>
            </a:r>
            <a:endParaRPr lang="en-GB" sz="1600" b="1" i="0" u="none" strike="noStrike" kern="1200" cap="none" spc="0" normalizeH="0" baseline="0" noProof="0">
              <a:ln>
                <a:noFill/>
              </a:ln>
              <a:solidFill>
                <a:srgbClr val="FFFFFF"/>
              </a:solidFill>
              <a:effectLst/>
              <a:uLnTx/>
              <a:uFillTx/>
              <a:ea typeface="Verdana"/>
            </a:endParaRPr>
          </a:p>
        </p:txBody>
      </p:sp>
      <p:sp>
        <p:nvSpPr>
          <p:cNvPr id="25" name="TextBox 24">
            <a:extLst>
              <a:ext uri="{FF2B5EF4-FFF2-40B4-BE49-F238E27FC236}">
                <a16:creationId xmlns:a16="http://schemas.microsoft.com/office/drawing/2014/main" id="{F6742396-D3AB-9BFC-81BB-508D43288CFC}"/>
              </a:ext>
            </a:extLst>
          </p:cNvPr>
          <p:cNvSpPr txBox="1"/>
          <p:nvPr/>
        </p:nvSpPr>
        <p:spPr>
          <a:xfrm>
            <a:off x="1599102" y="4953073"/>
            <a:ext cx="1371256" cy="307777"/>
          </a:xfrm>
          <a:prstGeom prst="rect">
            <a:avLst/>
          </a:prstGeom>
          <a:noFill/>
        </p:spPr>
        <p:txBody>
          <a:bodyPr wrap="square" lIns="0" tIns="0" rIns="0" bIns="0" rtlCol="0" anchor="t">
            <a:spAutoFit/>
          </a:bodyPr>
          <a:lstStyle/>
          <a:p>
            <a:pPr algn="ctr">
              <a:defRPr/>
            </a:pPr>
            <a:r>
              <a:rPr lang="en-GB" sz="1000">
                <a:solidFill>
                  <a:prstClr val="black"/>
                </a:solidFill>
                <a:latin typeface="+mj-lt"/>
              </a:rPr>
              <a:t>IT Readiness Requirements</a:t>
            </a:r>
            <a:endParaRPr lang="en-GB" sz="1000" b="0" i="0" u="none" strike="noStrike" kern="1200" cap="none" spc="0" normalizeH="0" baseline="0" noProof="0">
              <a:ln>
                <a:noFill/>
              </a:ln>
              <a:solidFill>
                <a:prstClr val="black"/>
              </a:solidFill>
              <a:effectLst/>
              <a:uLnTx/>
              <a:uFillTx/>
              <a:latin typeface="+mj-lt"/>
            </a:endParaRPr>
          </a:p>
        </p:txBody>
      </p:sp>
      <p:grpSp>
        <p:nvGrpSpPr>
          <p:cNvPr id="26" name="Notepad" descr="{&quot;Key&quot;:&quot;POWER_USER_SHAPE_ICON&quot;,&quot;Value&quot;:&quot;POWER_USER_SHAPE_ICON_STYLE_1&quot;}">
            <a:extLst>
              <a:ext uri="{FF2B5EF4-FFF2-40B4-BE49-F238E27FC236}">
                <a16:creationId xmlns:a16="http://schemas.microsoft.com/office/drawing/2014/main" id="{813388DE-6090-49D0-6ADE-024124C9533C}"/>
              </a:ext>
            </a:extLst>
          </p:cNvPr>
          <p:cNvGrpSpPr>
            <a:grpSpLocks noChangeAspect="1"/>
          </p:cNvGrpSpPr>
          <p:nvPr/>
        </p:nvGrpSpPr>
        <p:grpSpPr>
          <a:xfrm>
            <a:off x="2179051" y="4569364"/>
            <a:ext cx="294629" cy="319241"/>
            <a:chOff x="6288088" y="2614613"/>
            <a:chExt cx="588963" cy="638175"/>
          </a:xfrm>
          <a:solidFill>
            <a:schemeClr val="accent5"/>
          </a:solidFill>
        </p:grpSpPr>
        <p:sp>
          <p:nvSpPr>
            <p:cNvPr id="27" name="Freeform 269">
              <a:extLst>
                <a:ext uri="{FF2B5EF4-FFF2-40B4-BE49-F238E27FC236}">
                  <a16:creationId xmlns:a16="http://schemas.microsoft.com/office/drawing/2014/main" id="{284532CA-94CF-58E2-2C20-2F0784BC9EC5}"/>
                </a:ext>
              </a:extLst>
            </p:cNvPr>
            <p:cNvSpPr>
              <a:spLocks/>
            </p:cNvSpPr>
            <p:nvPr/>
          </p:nvSpPr>
          <p:spPr bwMode="auto">
            <a:xfrm>
              <a:off x="6338888" y="2862263"/>
              <a:ext cx="320675" cy="20638"/>
            </a:xfrm>
            <a:custGeom>
              <a:avLst/>
              <a:gdLst>
                <a:gd name="T0" fmla="*/ 538 w 538"/>
                <a:gd name="T1" fmla="*/ 16 h 33"/>
                <a:gd name="T2" fmla="*/ 521 w 538"/>
                <a:gd name="T3" fmla="*/ 0 h 33"/>
                <a:gd name="T4" fmla="*/ 17 w 538"/>
                <a:gd name="T5" fmla="*/ 0 h 33"/>
                <a:gd name="T6" fmla="*/ 0 w 538"/>
                <a:gd name="T7" fmla="*/ 16 h 33"/>
                <a:gd name="T8" fmla="*/ 17 w 538"/>
                <a:gd name="T9" fmla="*/ 33 h 33"/>
                <a:gd name="T10" fmla="*/ 521 w 538"/>
                <a:gd name="T11" fmla="*/ 33 h 33"/>
                <a:gd name="T12" fmla="*/ 538 w 538"/>
                <a:gd name="T13" fmla="*/ 16 h 33"/>
              </a:gdLst>
              <a:ahLst/>
              <a:cxnLst>
                <a:cxn ang="0">
                  <a:pos x="T0" y="T1"/>
                </a:cxn>
                <a:cxn ang="0">
                  <a:pos x="T2" y="T3"/>
                </a:cxn>
                <a:cxn ang="0">
                  <a:pos x="T4" y="T5"/>
                </a:cxn>
                <a:cxn ang="0">
                  <a:pos x="T6" y="T7"/>
                </a:cxn>
                <a:cxn ang="0">
                  <a:pos x="T8" y="T9"/>
                </a:cxn>
                <a:cxn ang="0">
                  <a:pos x="T10" y="T11"/>
                </a:cxn>
                <a:cxn ang="0">
                  <a:pos x="T12" y="T13"/>
                </a:cxn>
              </a:cxnLst>
              <a:rect l="0" t="0" r="r" b="b"/>
              <a:pathLst>
                <a:path w="538" h="33">
                  <a:moveTo>
                    <a:pt x="538" y="16"/>
                  </a:moveTo>
                  <a:cubicBezTo>
                    <a:pt x="538" y="7"/>
                    <a:pt x="531" y="0"/>
                    <a:pt x="521" y="0"/>
                  </a:cubicBezTo>
                  <a:lnTo>
                    <a:pt x="17" y="0"/>
                  </a:lnTo>
                  <a:cubicBezTo>
                    <a:pt x="8" y="0"/>
                    <a:pt x="0" y="7"/>
                    <a:pt x="0" y="16"/>
                  </a:cubicBezTo>
                  <a:cubicBezTo>
                    <a:pt x="0" y="26"/>
                    <a:pt x="8" y="33"/>
                    <a:pt x="17" y="33"/>
                  </a:cubicBezTo>
                  <a:lnTo>
                    <a:pt x="521" y="33"/>
                  </a:lnTo>
                  <a:cubicBezTo>
                    <a:pt x="531" y="33"/>
                    <a:pt x="538" y="26"/>
                    <a:pt x="538" y="16"/>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28" name="Freeform 270">
              <a:extLst>
                <a:ext uri="{FF2B5EF4-FFF2-40B4-BE49-F238E27FC236}">
                  <a16:creationId xmlns:a16="http://schemas.microsoft.com/office/drawing/2014/main" id="{D15E5FE5-50C0-FEDD-BDB2-8CFC08C310BA}"/>
                </a:ext>
              </a:extLst>
            </p:cNvPr>
            <p:cNvSpPr>
              <a:spLocks/>
            </p:cNvSpPr>
            <p:nvPr/>
          </p:nvSpPr>
          <p:spPr bwMode="auto">
            <a:xfrm>
              <a:off x="6338888" y="2938463"/>
              <a:ext cx="314325" cy="19050"/>
            </a:xfrm>
            <a:custGeom>
              <a:avLst/>
              <a:gdLst>
                <a:gd name="T0" fmla="*/ 526 w 526"/>
                <a:gd name="T1" fmla="*/ 17 h 33"/>
                <a:gd name="T2" fmla="*/ 510 w 526"/>
                <a:gd name="T3" fmla="*/ 0 h 33"/>
                <a:gd name="T4" fmla="*/ 17 w 526"/>
                <a:gd name="T5" fmla="*/ 0 h 33"/>
                <a:gd name="T6" fmla="*/ 0 w 526"/>
                <a:gd name="T7" fmla="*/ 17 h 33"/>
                <a:gd name="T8" fmla="*/ 17 w 526"/>
                <a:gd name="T9" fmla="*/ 33 h 33"/>
                <a:gd name="T10" fmla="*/ 510 w 526"/>
                <a:gd name="T11" fmla="*/ 33 h 33"/>
                <a:gd name="T12" fmla="*/ 526 w 526"/>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526" h="33">
                  <a:moveTo>
                    <a:pt x="526" y="17"/>
                  </a:moveTo>
                  <a:cubicBezTo>
                    <a:pt x="526" y="7"/>
                    <a:pt x="519" y="0"/>
                    <a:pt x="510" y="0"/>
                  </a:cubicBezTo>
                  <a:lnTo>
                    <a:pt x="17" y="0"/>
                  </a:lnTo>
                  <a:cubicBezTo>
                    <a:pt x="8" y="0"/>
                    <a:pt x="0" y="7"/>
                    <a:pt x="0" y="17"/>
                  </a:cubicBezTo>
                  <a:cubicBezTo>
                    <a:pt x="0" y="26"/>
                    <a:pt x="8" y="33"/>
                    <a:pt x="17" y="33"/>
                  </a:cubicBezTo>
                  <a:lnTo>
                    <a:pt x="510" y="33"/>
                  </a:lnTo>
                  <a:cubicBezTo>
                    <a:pt x="519" y="33"/>
                    <a:pt x="526" y="26"/>
                    <a:pt x="526" y="17"/>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29" name="Freeform 271">
              <a:extLst>
                <a:ext uri="{FF2B5EF4-FFF2-40B4-BE49-F238E27FC236}">
                  <a16:creationId xmlns:a16="http://schemas.microsoft.com/office/drawing/2014/main" id="{E442F177-F5D9-9666-0888-2ECA5478CD04}"/>
                </a:ext>
              </a:extLst>
            </p:cNvPr>
            <p:cNvSpPr>
              <a:spLocks/>
            </p:cNvSpPr>
            <p:nvPr/>
          </p:nvSpPr>
          <p:spPr bwMode="auto">
            <a:xfrm>
              <a:off x="6338888" y="3013076"/>
              <a:ext cx="239713" cy="20638"/>
            </a:xfrm>
            <a:custGeom>
              <a:avLst/>
              <a:gdLst>
                <a:gd name="T0" fmla="*/ 402 w 402"/>
                <a:gd name="T1" fmla="*/ 17 h 33"/>
                <a:gd name="T2" fmla="*/ 386 w 402"/>
                <a:gd name="T3" fmla="*/ 0 h 33"/>
                <a:gd name="T4" fmla="*/ 17 w 402"/>
                <a:gd name="T5" fmla="*/ 0 h 33"/>
                <a:gd name="T6" fmla="*/ 0 w 402"/>
                <a:gd name="T7" fmla="*/ 17 h 33"/>
                <a:gd name="T8" fmla="*/ 17 w 402"/>
                <a:gd name="T9" fmla="*/ 33 h 33"/>
                <a:gd name="T10" fmla="*/ 386 w 402"/>
                <a:gd name="T11" fmla="*/ 33 h 33"/>
                <a:gd name="T12" fmla="*/ 402 w 402"/>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402" h="33">
                  <a:moveTo>
                    <a:pt x="402" y="17"/>
                  </a:moveTo>
                  <a:cubicBezTo>
                    <a:pt x="402" y="7"/>
                    <a:pt x="395" y="0"/>
                    <a:pt x="386" y="0"/>
                  </a:cubicBezTo>
                  <a:lnTo>
                    <a:pt x="17" y="0"/>
                  </a:lnTo>
                  <a:cubicBezTo>
                    <a:pt x="8" y="0"/>
                    <a:pt x="0" y="7"/>
                    <a:pt x="0" y="17"/>
                  </a:cubicBezTo>
                  <a:cubicBezTo>
                    <a:pt x="0" y="26"/>
                    <a:pt x="8" y="33"/>
                    <a:pt x="17" y="33"/>
                  </a:cubicBezTo>
                  <a:lnTo>
                    <a:pt x="386" y="33"/>
                  </a:lnTo>
                  <a:cubicBezTo>
                    <a:pt x="395" y="33"/>
                    <a:pt x="402" y="26"/>
                    <a:pt x="402" y="17"/>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30" name="Freeform 272">
              <a:extLst>
                <a:ext uri="{FF2B5EF4-FFF2-40B4-BE49-F238E27FC236}">
                  <a16:creationId xmlns:a16="http://schemas.microsoft.com/office/drawing/2014/main" id="{E2519118-D147-C5AB-44BA-E8A7C7FFB324}"/>
                </a:ext>
              </a:extLst>
            </p:cNvPr>
            <p:cNvSpPr>
              <a:spLocks/>
            </p:cNvSpPr>
            <p:nvPr/>
          </p:nvSpPr>
          <p:spPr bwMode="auto">
            <a:xfrm>
              <a:off x="6338888" y="3089276"/>
              <a:ext cx="171450" cy="19050"/>
            </a:xfrm>
            <a:custGeom>
              <a:avLst/>
              <a:gdLst>
                <a:gd name="T0" fmla="*/ 17 w 286"/>
                <a:gd name="T1" fmla="*/ 0 h 34"/>
                <a:gd name="T2" fmla="*/ 0 w 286"/>
                <a:gd name="T3" fmla="*/ 17 h 34"/>
                <a:gd name="T4" fmla="*/ 17 w 286"/>
                <a:gd name="T5" fmla="*/ 34 h 34"/>
                <a:gd name="T6" fmla="*/ 269 w 286"/>
                <a:gd name="T7" fmla="*/ 34 h 34"/>
                <a:gd name="T8" fmla="*/ 286 w 286"/>
                <a:gd name="T9" fmla="*/ 17 h 34"/>
                <a:gd name="T10" fmla="*/ 269 w 286"/>
                <a:gd name="T11" fmla="*/ 0 h 34"/>
                <a:gd name="T12" fmla="*/ 17 w 286"/>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86" h="34">
                  <a:moveTo>
                    <a:pt x="17" y="0"/>
                  </a:moveTo>
                  <a:cubicBezTo>
                    <a:pt x="8" y="0"/>
                    <a:pt x="0" y="8"/>
                    <a:pt x="0" y="17"/>
                  </a:cubicBezTo>
                  <a:cubicBezTo>
                    <a:pt x="0" y="26"/>
                    <a:pt x="8" y="34"/>
                    <a:pt x="17" y="34"/>
                  </a:cubicBezTo>
                  <a:lnTo>
                    <a:pt x="269" y="34"/>
                  </a:lnTo>
                  <a:cubicBezTo>
                    <a:pt x="278" y="34"/>
                    <a:pt x="286" y="26"/>
                    <a:pt x="286" y="17"/>
                  </a:cubicBezTo>
                  <a:cubicBezTo>
                    <a:pt x="286" y="8"/>
                    <a:pt x="278" y="0"/>
                    <a:pt x="269" y="0"/>
                  </a:cubicBezTo>
                  <a:lnTo>
                    <a:pt x="17" y="0"/>
                  </a:ln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31" name="Freeform 273">
              <a:extLst>
                <a:ext uri="{FF2B5EF4-FFF2-40B4-BE49-F238E27FC236}">
                  <a16:creationId xmlns:a16="http://schemas.microsoft.com/office/drawing/2014/main" id="{BA533AFB-0CBF-D467-3199-AB92DCC22D92}"/>
                </a:ext>
              </a:extLst>
            </p:cNvPr>
            <p:cNvSpPr>
              <a:spLocks/>
            </p:cNvSpPr>
            <p:nvPr/>
          </p:nvSpPr>
          <p:spPr bwMode="auto">
            <a:xfrm>
              <a:off x="6338888" y="2786063"/>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32" name="Freeform 274">
              <a:extLst>
                <a:ext uri="{FF2B5EF4-FFF2-40B4-BE49-F238E27FC236}">
                  <a16:creationId xmlns:a16="http://schemas.microsoft.com/office/drawing/2014/main" id="{D8D18379-D720-CD10-0276-98BEC35503A1}"/>
                </a:ext>
              </a:extLst>
            </p:cNvPr>
            <p:cNvSpPr>
              <a:spLocks/>
            </p:cNvSpPr>
            <p:nvPr/>
          </p:nvSpPr>
          <p:spPr bwMode="auto">
            <a:xfrm>
              <a:off x="6338888" y="2711451"/>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33" name="Freeform 275">
              <a:extLst>
                <a:ext uri="{FF2B5EF4-FFF2-40B4-BE49-F238E27FC236}">
                  <a16:creationId xmlns:a16="http://schemas.microsoft.com/office/drawing/2014/main" id="{81B93C5C-4E3E-4823-834F-BF5656604426}"/>
                </a:ext>
              </a:extLst>
            </p:cNvPr>
            <p:cNvSpPr>
              <a:spLocks/>
            </p:cNvSpPr>
            <p:nvPr/>
          </p:nvSpPr>
          <p:spPr bwMode="auto">
            <a:xfrm>
              <a:off x="6635750" y="3128963"/>
              <a:ext cx="74613" cy="76200"/>
            </a:xfrm>
            <a:custGeom>
              <a:avLst/>
              <a:gdLst>
                <a:gd name="T0" fmla="*/ 109 w 125"/>
                <a:gd name="T1" fmla="*/ 0 h 126"/>
                <a:gd name="T2" fmla="*/ 92 w 125"/>
                <a:gd name="T3" fmla="*/ 16 h 126"/>
                <a:gd name="T4" fmla="*/ 92 w 125"/>
                <a:gd name="T5" fmla="*/ 63 h 126"/>
                <a:gd name="T6" fmla="*/ 61 w 125"/>
                <a:gd name="T7" fmla="*/ 93 h 126"/>
                <a:gd name="T8" fmla="*/ 16 w 125"/>
                <a:gd name="T9" fmla="*/ 93 h 126"/>
                <a:gd name="T10" fmla="*/ 0 w 125"/>
                <a:gd name="T11" fmla="*/ 110 h 126"/>
                <a:gd name="T12" fmla="*/ 16 w 125"/>
                <a:gd name="T13" fmla="*/ 126 h 126"/>
                <a:gd name="T14" fmla="*/ 61 w 125"/>
                <a:gd name="T15" fmla="*/ 126 h 126"/>
                <a:gd name="T16" fmla="*/ 125 w 125"/>
                <a:gd name="T17" fmla="*/ 63 h 126"/>
                <a:gd name="T18" fmla="*/ 125 w 125"/>
                <a:gd name="T19" fmla="*/ 16 h 126"/>
                <a:gd name="T20" fmla="*/ 109 w 125"/>
                <a:gd name="T21"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5" h="126">
                  <a:moveTo>
                    <a:pt x="109" y="0"/>
                  </a:moveTo>
                  <a:cubicBezTo>
                    <a:pt x="99" y="0"/>
                    <a:pt x="92" y="7"/>
                    <a:pt x="92" y="16"/>
                  </a:cubicBezTo>
                  <a:lnTo>
                    <a:pt x="92" y="63"/>
                  </a:lnTo>
                  <a:cubicBezTo>
                    <a:pt x="92" y="79"/>
                    <a:pt x="78" y="93"/>
                    <a:pt x="61" y="93"/>
                  </a:cubicBezTo>
                  <a:lnTo>
                    <a:pt x="16" y="93"/>
                  </a:lnTo>
                  <a:cubicBezTo>
                    <a:pt x="7" y="93"/>
                    <a:pt x="0" y="101"/>
                    <a:pt x="0" y="110"/>
                  </a:cubicBezTo>
                  <a:cubicBezTo>
                    <a:pt x="0" y="119"/>
                    <a:pt x="7" y="126"/>
                    <a:pt x="16" y="126"/>
                  </a:cubicBezTo>
                  <a:lnTo>
                    <a:pt x="61" y="126"/>
                  </a:lnTo>
                  <a:cubicBezTo>
                    <a:pt x="97" y="126"/>
                    <a:pt x="125" y="98"/>
                    <a:pt x="125" y="63"/>
                  </a:cubicBezTo>
                  <a:lnTo>
                    <a:pt x="125" y="16"/>
                  </a:lnTo>
                  <a:cubicBezTo>
                    <a:pt x="125" y="7"/>
                    <a:pt x="118" y="0"/>
                    <a:pt x="109" y="0"/>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34" name="Freeform 276">
              <a:extLst>
                <a:ext uri="{FF2B5EF4-FFF2-40B4-BE49-F238E27FC236}">
                  <a16:creationId xmlns:a16="http://schemas.microsoft.com/office/drawing/2014/main" id="{6F08AF7B-66F6-8F6D-61EE-A01DBE254431}"/>
                </a:ext>
              </a:extLst>
            </p:cNvPr>
            <p:cNvSpPr>
              <a:spLocks/>
            </p:cNvSpPr>
            <p:nvPr/>
          </p:nvSpPr>
          <p:spPr bwMode="auto">
            <a:xfrm>
              <a:off x="6288088" y="2614613"/>
              <a:ext cx="422275" cy="590550"/>
            </a:xfrm>
            <a:custGeom>
              <a:avLst/>
              <a:gdLst>
                <a:gd name="T0" fmla="*/ 272 w 706"/>
                <a:gd name="T1" fmla="*/ 953 h 986"/>
                <a:gd name="T2" fmla="*/ 64 w 706"/>
                <a:gd name="T3" fmla="*/ 953 h 986"/>
                <a:gd name="T4" fmla="*/ 33 w 706"/>
                <a:gd name="T5" fmla="*/ 923 h 986"/>
                <a:gd name="T6" fmla="*/ 33 w 706"/>
                <a:gd name="T7" fmla="*/ 64 h 986"/>
                <a:gd name="T8" fmla="*/ 64 w 706"/>
                <a:gd name="T9" fmla="*/ 34 h 986"/>
                <a:gd name="T10" fmla="*/ 218 w 706"/>
                <a:gd name="T11" fmla="*/ 34 h 986"/>
                <a:gd name="T12" fmla="*/ 643 w 706"/>
                <a:gd name="T13" fmla="*/ 34 h 986"/>
                <a:gd name="T14" fmla="*/ 673 w 706"/>
                <a:gd name="T15" fmla="*/ 64 h 986"/>
                <a:gd name="T16" fmla="*/ 673 w 706"/>
                <a:gd name="T17" fmla="*/ 479 h 986"/>
                <a:gd name="T18" fmla="*/ 690 w 706"/>
                <a:gd name="T19" fmla="*/ 496 h 986"/>
                <a:gd name="T20" fmla="*/ 706 w 706"/>
                <a:gd name="T21" fmla="*/ 479 h 986"/>
                <a:gd name="T22" fmla="*/ 706 w 706"/>
                <a:gd name="T23" fmla="*/ 64 h 986"/>
                <a:gd name="T24" fmla="*/ 643 w 706"/>
                <a:gd name="T25" fmla="*/ 0 h 986"/>
                <a:gd name="T26" fmla="*/ 218 w 706"/>
                <a:gd name="T27" fmla="*/ 0 h 986"/>
                <a:gd name="T28" fmla="*/ 64 w 706"/>
                <a:gd name="T29" fmla="*/ 0 h 986"/>
                <a:gd name="T30" fmla="*/ 0 w 706"/>
                <a:gd name="T31" fmla="*/ 64 h 986"/>
                <a:gd name="T32" fmla="*/ 0 w 706"/>
                <a:gd name="T33" fmla="*/ 923 h 986"/>
                <a:gd name="T34" fmla="*/ 64 w 706"/>
                <a:gd name="T35" fmla="*/ 986 h 986"/>
                <a:gd name="T36" fmla="*/ 272 w 706"/>
                <a:gd name="T37" fmla="*/ 986 h 986"/>
                <a:gd name="T38" fmla="*/ 289 w 706"/>
                <a:gd name="T39" fmla="*/ 970 h 986"/>
                <a:gd name="T40" fmla="*/ 272 w 706"/>
                <a:gd name="T41" fmla="*/ 95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06" h="986">
                  <a:moveTo>
                    <a:pt x="272" y="953"/>
                  </a:moveTo>
                  <a:lnTo>
                    <a:pt x="64" y="953"/>
                  </a:lnTo>
                  <a:cubicBezTo>
                    <a:pt x="47" y="953"/>
                    <a:pt x="33" y="939"/>
                    <a:pt x="33" y="923"/>
                  </a:cubicBezTo>
                  <a:lnTo>
                    <a:pt x="33" y="64"/>
                  </a:lnTo>
                  <a:cubicBezTo>
                    <a:pt x="33" y="47"/>
                    <a:pt x="47" y="34"/>
                    <a:pt x="64" y="34"/>
                  </a:cubicBezTo>
                  <a:lnTo>
                    <a:pt x="218" y="34"/>
                  </a:lnTo>
                  <a:lnTo>
                    <a:pt x="643" y="34"/>
                  </a:lnTo>
                  <a:cubicBezTo>
                    <a:pt x="659" y="34"/>
                    <a:pt x="673" y="47"/>
                    <a:pt x="673" y="64"/>
                  </a:cubicBezTo>
                  <a:lnTo>
                    <a:pt x="673" y="479"/>
                  </a:lnTo>
                  <a:cubicBezTo>
                    <a:pt x="673" y="488"/>
                    <a:pt x="680" y="496"/>
                    <a:pt x="690" y="496"/>
                  </a:cubicBezTo>
                  <a:cubicBezTo>
                    <a:pt x="699" y="496"/>
                    <a:pt x="706" y="488"/>
                    <a:pt x="706" y="479"/>
                  </a:cubicBezTo>
                  <a:lnTo>
                    <a:pt x="706" y="64"/>
                  </a:lnTo>
                  <a:cubicBezTo>
                    <a:pt x="706" y="29"/>
                    <a:pt x="678" y="0"/>
                    <a:pt x="643" y="0"/>
                  </a:cubicBezTo>
                  <a:lnTo>
                    <a:pt x="218" y="0"/>
                  </a:lnTo>
                  <a:lnTo>
                    <a:pt x="64" y="0"/>
                  </a:lnTo>
                  <a:cubicBezTo>
                    <a:pt x="28" y="0"/>
                    <a:pt x="0" y="29"/>
                    <a:pt x="0" y="64"/>
                  </a:cubicBezTo>
                  <a:lnTo>
                    <a:pt x="0" y="923"/>
                  </a:lnTo>
                  <a:cubicBezTo>
                    <a:pt x="0" y="958"/>
                    <a:pt x="29" y="986"/>
                    <a:pt x="64" y="986"/>
                  </a:cubicBezTo>
                  <a:lnTo>
                    <a:pt x="272" y="986"/>
                  </a:lnTo>
                  <a:cubicBezTo>
                    <a:pt x="282" y="986"/>
                    <a:pt x="289" y="979"/>
                    <a:pt x="289" y="970"/>
                  </a:cubicBezTo>
                  <a:cubicBezTo>
                    <a:pt x="289" y="961"/>
                    <a:pt x="282" y="953"/>
                    <a:pt x="272" y="953"/>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35" name="Freeform 277">
              <a:extLst>
                <a:ext uri="{FF2B5EF4-FFF2-40B4-BE49-F238E27FC236}">
                  <a16:creationId xmlns:a16="http://schemas.microsoft.com/office/drawing/2014/main" id="{6C6206CD-642F-08ED-0255-06974FAE3B08}"/>
                </a:ext>
              </a:extLst>
            </p:cNvPr>
            <p:cNvSpPr>
              <a:spLocks noEditPoints="1"/>
            </p:cNvSpPr>
            <p:nvPr/>
          </p:nvSpPr>
          <p:spPr bwMode="auto">
            <a:xfrm>
              <a:off x="6469063" y="2846388"/>
              <a:ext cx="407988" cy="406400"/>
            </a:xfrm>
            <a:custGeom>
              <a:avLst/>
              <a:gdLst>
                <a:gd name="T0" fmla="*/ 639 w 684"/>
                <a:gd name="T1" fmla="*/ 136 h 681"/>
                <a:gd name="T2" fmla="*/ 583 w 684"/>
                <a:gd name="T3" fmla="*/ 192 h 681"/>
                <a:gd name="T4" fmla="*/ 537 w 684"/>
                <a:gd name="T5" fmla="*/ 146 h 681"/>
                <a:gd name="T6" fmla="*/ 537 w 684"/>
                <a:gd name="T7" fmla="*/ 146 h 681"/>
                <a:gd name="T8" fmla="*/ 537 w 684"/>
                <a:gd name="T9" fmla="*/ 146 h 681"/>
                <a:gd name="T10" fmla="*/ 491 w 684"/>
                <a:gd name="T11" fmla="*/ 100 h 681"/>
                <a:gd name="T12" fmla="*/ 547 w 684"/>
                <a:gd name="T13" fmla="*/ 44 h 681"/>
                <a:gd name="T14" fmla="*/ 577 w 684"/>
                <a:gd name="T15" fmla="*/ 44 h 681"/>
                <a:gd name="T16" fmla="*/ 639 w 684"/>
                <a:gd name="T17" fmla="*/ 106 h 681"/>
                <a:gd name="T18" fmla="*/ 639 w 684"/>
                <a:gd name="T19" fmla="*/ 136 h 681"/>
                <a:gd name="T20" fmla="*/ 186 w 684"/>
                <a:gd name="T21" fmla="*/ 589 h 681"/>
                <a:gd name="T22" fmla="*/ 109 w 684"/>
                <a:gd name="T23" fmla="*/ 617 h 681"/>
                <a:gd name="T24" fmla="*/ 66 w 684"/>
                <a:gd name="T25" fmla="*/ 574 h 681"/>
                <a:gd name="T26" fmla="*/ 94 w 684"/>
                <a:gd name="T27" fmla="*/ 497 h 681"/>
                <a:gd name="T28" fmla="*/ 467 w 684"/>
                <a:gd name="T29" fmla="*/ 124 h 681"/>
                <a:gd name="T30" fmla="*/ 501 w 684"/>
                <a:gd name="T31" fmla="*/ 158 h 681"/>
                <a:gd name="T32" fmla="*/ 126 w 684"/>
                <a:gd name="T33" fmla="*/ 534 h 681"/>
                <a:gd name="T34" fmla="*/ 126 w 684"/>
                <a:gd name="T35" fmla="*/ 557 h 681"/>
                <a:gd name="T36" fmla="*/ 138 w 684"/>
                <a:gd name="T37" fmla="*/ 562 h 681"/>
                <a:gd name="T38" fmla="*/ 149 w 684"/>
                <a:gd name="T39" fmla="*/ 557 h 681"/>
                <a:gd name="T40" fmla="*/ 525 w 684"/>
                <a:gd name="T41" fmla="*/ 182 h 681"/>
                <a:gd name="T42" fmla="*/ 559 w 684"/>
                <a:gd name="T43" fmla="*/ 216 h 681"/>
                <a:gd name="T44" fmla="*/ 186 w 684"/>
                <a:gd name="T45" fmla="*/ 589 h 681"/>
                <a:gd name="T46" fmla="*/ 54 w 684"/>
                <a:gd name="T47" fmla="*/ 609 h 681"/>
                <a:gd name="T48" fmla="*/ 74 w 684"/>
                <a:gd name="T49" fmla="*/ 630 h 681"/>
                <a:gd name="T50" fmla="*/ 42 w 684"/>
                <a:gd name="T51" fmla="*/ 641 h 681"/>
                <a:gd name="T52" fmla="*/ 54 w 684"/>
                <a:gd name="T53" fmla="*/ 609 h 681"/>
                <a:gd name="T54" fmla="*/ 662 w 684"/>
                <a:gd name="T55" fmla="*/ 83 h 681"/>
                <a:gd name="T56" fmla="*/ 601 w 684"/>
                <a:gd name="T57" fmla="*/ 21 h 681"/>
                <a:gd name="T58" fmla="*/ 523 w 684"/>
                <a:gd name="T59" fmla="*/ 21 h 681"/>
                <a:gd name="T60" fmla="*/ 467 w 684"/>
                <a:gd name="T61" fmla="*/ 77 h 681"/>
                <a:gd name="T62" fmla="*/ 467 w 684"/>
                <a:gd name="T63" fmla="*/ 77 h 681"/>
                <a:gd name="T64" fmla="*/ 69 w 684"/>
                <a:gd name="T65" fmla="*/ 475 h 681"/>
                <a:gd name="T66" fmla="*/ 64 w 684"/>
                <a:gd name="T67" fmla="*/ 483 h 681"/>
                <a:gd name="T68" fmla="*/ 4 w 684"/>
                <a:gd name="T69" fmla="*/ 649 h 681"/>
                <a:gd name="T70" fmla="*/ 9 w 684"/>
                <a:gd name="T71" fmla="*/ 674 h 681"/>
                <a:gd name="T72" fmla="*/ 26 w 684"/>
                <a:gd name="T73" fmla="*/ 681 h 681"/>
                <a:gd name="T74" fmla="*/ 34 w 684"/>
                <a:gd name="T75" fmla="*/ 680 h 681"/>
                <a:gd name="T76" fmla="*/ 200 w 684"/>
                <a:gd name="T77" fmla="*/ 619 h 681"/>
                <a:gd name="T78" fmla="*/ 208 w 684"/>
                <a:gd name="T79" fmla="*/ 614 h 681"/>
                <a:gd name="T80" fmla="*/ 595 w 684"/>
                <a:gd name="T81" fmla="*/ 228 h 681"/>
                <a:gd name="T82" fmla="*/ 595 w 684"/>
                <a:gd name="T83" fmla="*/ 228 h 681"/>
                <a:gd name="T84" fmla="*/ 662 w 684"/>
                <a:gd name="T85" fmla="*/ 160 h 681"/>
                <a:gd name="T86" fmla="*/ 662 w 684"/>
                <a:gd name="T87" fmla="*/ 8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84" h="681">
                  <a:moveTo>
                    <a:pt x="639" y="136"/>
                  </a:moveTo>
                  <a:lnTo>
                    <a:pt x="583" y="192"/>
                  </a:lnTo>
                  <a:lnTo>
                    <a:pt x="537" y="146"/>
                  </a:lnTo>
                  <a:lnTo>
                    <a:pt x="537" y="146"/>
                  </a:lnTo>
                  <a:cubicBezTo>
                    <a:pt x="537" y="146"/>
                    <a:pt x="537" y="146"/>
                    <a:pt x="537" y="146"/>
                  </a:cubicBezTo>
                  <a:lnTo>
                    <a:pt x="491" y="100"/>
                  </a:lnTo>
                  <a:lnTo>
                    <a:pt x="547" y="44"/>
                  </a:lnTo>
                  <a:cubicBezTo>
                    <a:pt x="555" y="36"/>
                    <a:pt x="569" y="36"/>
                    <a:pt x="577" y="44"/>
                  </a:cubicBezTo>
                  <a:lnTo>
                    <a:pt x="639" y="106"/>
                  </a:lnTo>
                  <a:cubicBezTo>
                    <a:pt x="647" y="114"/>
                    <a:pt x="647" y="128"/>
                    <a:pt x="639" y="136"/>
                  </a:cubicBezTo>
                  <a:close/>
                  <a:moveTo>
                    <a:pt x="186" y="589"/>
                  </a:moveTo>
                  <a:lnTo>
                    <a:pt x="109" y="617"/>
                  </a:lnTo>
                  <a:lnTo>
                    <a:pt x="66" y="574"/>
                  </a:lnTo>
                  <a:lnTo>
                    <a:pt x="94" y="497"/>
                  </a:lnTo>
                  <a:lnTo>
                    <a:pt x="467" y="124"/>
                  </a:lnTo>
                  <a:lnTo>
                    <a:pt x="501" y="158"/>
                  </a:lnTo>
                  <a:lnTo>
                    <a:pt x="126" y="534"/>
                  </a:lnTo>
                  <a:cubicBezTo>
                    <a:pt x="119" y="540"/>
                    <a:pt x="119" y="551"/>
                    <a:pt x="126" y="557"/>
                  </a:cubicBezTo>
                  <a:cubicBezTo>
                    <a:pt x="129" y="560"/>
                    <a:pt x="133" y="562"/>
                    <a:pt x="138" y="562"/>
                  </a:cubicBezTo>
                  <a:cubicBezTo>
                    <a:pt x="142" y="562"/>
                    <a:pt x="146" y="560"/>
                    <a:pt x="149" y="557"/>
                  </a:cubicBezTo>
                  <a:lnTo>
                    <a:pt x="525" y="182"/>
                  </a:lnTo>
                  <a:lnTo>
                    <a:pt x="559" y="216"/>
                  </a:lnTo>
                  <a:lnTo>
                    <a:pt x="186" y="589"/>
                  </a:lnTo>
                  <a:close/>
                  <a:moveTo>
                    <a:pt x="54" y="609"/>
                  </a:moveTo>
                  <a:lnTo>
                    <a:pt x="74" y="630"/>
                  </a:lnTo>
                  <a:lnTo>
                    <a:pt x="42" y="641"/>
                  </a:lnTo>
                  <a:lnTo>
                    <a:pt x="54" y="609"/>
                  </a:lnTo>
                  <a:close/>
                  <a:moveTo>
                    <a:pt x="662" y="83"/>
                  </a:moveTo>
                  <a:lnTo>
                    <a:pt x="601" y="21"/>
                  </a:lnTo>
                  <a:cubicBezTo>
                    <a:pt x="580" y="0"/>
                    <a:pt x="544" y="0"/>
                    <a:pt x="523" y="21"/>
                  </a:cubicBezTo>
                  <a:lnTo>
                    <a:pt x="467" y="77"/>
                  </a:lnTo>
                  <a:lnTo>
                    <a:pt x="467" y="77"/>
                  </a:lnTo>
                  <a:lnTo>
                    <a:pt x="69" y="475"/>
                  </a:lnTo>
                  <a:cubicBezTo>
                    <a:pt x="67" y="477"/>
                    <a:pt x="65" y="480"/>
                    <a:pt x="64" y="483"/>
                  </a:cubicBezTo>
                  <a:lnTo>
                    <a:pt x="4" y="649"/>
                  </a:lnTo>
                  <a:cubicBezTo>
                    <a:pt x="0" y="658"/>
                    <a:pt x="2" y="667"/>
                    <a:pt x="9" y="674"/>
                  </a:cubicBezTo>
                  <a:cubicBezTo>
                    <a:pt x="14" y="679"/>
                    <a:pt x="20" y="681"/>
                    <a:pt x="26" y="681"/>
                  </a:cubicBezTo>
                  <a:cubicBezTo>
                    <a:pt x="29" y="681"/>
                    <a:pt x="31" y="681"/>
                    <a:pt x="34" y="680"/>
                  </a:cubicBezTo>
                  <a:lnTo>
                    <a:pt x="200" y="619"/>
                  </a:lnTo>
                  <a:cubicBezTo>
                    <a:pt x="203" y="618"/>
                    <a:pt x="206" y="616"/>
                    <a:pt x="208" y="614"/>
                  </a:cubicBezTo>
                  <a:lnTo>
                    <a:pt x="595" y="228"/>
                  </a:lnTo>
                  <a:lnTo>
                    <a:pt x="595" y="228"/>
                  </a:lnTo>
                  <a:lnTo>
                    <a:pt x="662" y="160"/>
                  </a:lnTo>
                  <a:cubicBezTo>
                    <a:pt x="684" y="138"/>
                    <a:pt x="684" y="104"/>
                    <a:pt x="662" y="83"/>
                  </a:cubicBezTo>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grpSp>
      <p:sp>
        <p:nvSpPr>
          <p:cNvPr id="36" name="TextBox 35">
            <a:extLst>
              <a:ext uri="{FF2B5EF4-FFF2-40B4-BE49-F238E27FC236}">
                <a16:creationId xmlns:a16="http://schemas.microsoft.com/office/drawing/2014/main" id="{93D265D2-501F-AD19-2849-F06BCA156D06}"/>
              </a:ext>
            </a:extLst>
          </p:cNvPr>
          <p:cNvSpPr txBox="1"/>
          <p:nvPr/>
        </p:nvSpPr>
        <p:spPr bwMode="gray">
          <a:xfrm rot="16200000">
            <a:off x="-323846" y="4686083"/>
            <a:ext cx="1371256" cy="296241"/>
          </a:xfrm>
          <a:prstGeom prst="rect">
            <a:avLst/>
          </a:prstGeom>
        </p:spPr>
        <p:txBody>
          <a:bodyPr vert="horz" wrap="square" lIns="0" tIns="0" rIns="0" bIns="0" rtlCol="0">
            <a:noAutofit/>
          </a:bodyPr>
          <a:lstStyle/>
          <a:p>
            <a:pPr algn="ctr">
              <a:lnSpc>
                <a:spcPct val="110000"/>
              </a:lnSpc>
            </a:pPr>
            <a:r>
              <a:rPr lang="it-IT" sz="1050" i="1">
                <a:solidFill>
                  <a:schemeClr val="tx1">
                    <a:lumMod val="65000"/>
                    <a:lumOff val="35000"/>
                  </a:schemeClr>
                </a:solidFill>
              </a:rPr>
              <a:t>Deliverables</a:t>
            </a:r>
            <a:endParaRPr lang="it-IT" sz="1200" i="1" dirty="0">
              <a:solidFill>
                <a:schemeClr val="tx1">
                  <a:lumMod val="65000"/>
                  <a:lumOff val="35000"/>
                </a:schemeClr>
              </a:solidFill>
            </a:endParaRPr>
          </a:p>
        </p:txBody>
      </p:sp>
      <p:sp>
        <p:nvSpPr>
          <p:cNvPr id="37" name="TextBox 36">
            <a:extLst>
              <a:ext uri="{FF2B5EF4-FFF2-40B4-BE49-F238E27FC236}">
                <a16:creationId xmlns:a16="http://schemas.microsoft.com/office/drawing/2014/main" id="{B370BC97-FF13-4B32-93B4-F8339741F3A2}"/>
              </a:ext>
            </a:extLst>
          </p:cNvPr>
          <p:cNvSpPr txBox="1"/>
          <p:nvPr/>
        </p:nvSpPr>
        <p:spPr>
          <a:xfrm>
            <a:off x="5250856" y="4953073"/>
            <a:ext cx="1237504" cy="153888"/>
          </a:xfrm>
          <a:prstGeom prst="rect">
            <a:avLst/>
          </a:prstGeom>
          <a:noFill/>
        </p:spPr>
        <p:txBody>
          <a:bodyPr wrap="square" lIns="0" tIns="0" rIns="0" bIns="0" rtlCol="0" anchor="t">
            <a:spAutoFit/>
          </a:bodyPr>
          <a:lstStyle/>
          <a:p>
            <a:pPr algn="ctr">
              <a:defRPr/>
            </a:pPr>
            <a:r>
              <a:rPr lang="en-GB" sz="1000">
                <a:solidFill>
                  <a:prstClr val="black"/>
                </a:solidFill>
                <a:latin typeface="+mj-lt"/>
              </a:rPr>
              <a:t>IT Strategy</a:t>
            </a:r>
            <a:endParaRPr lang="en-GB" sz="1000" b="0" i="0" u="none" strike="noStrike" kern="1200" cap="none" spc="0" normalizeH="0" baseline="0" noProof="0">
              <a:ln>
                <a:noFill/>
              </a:ln>
              <a:solidFill>
                <a:prstClr val="black"/>
              </a:solidFill>
              <a:effectLst/>
              <a:uLnTx/>
              <a:uFillTx/>
              <a:latin typeface="+mj-lt"/>
            </a:endParaRPr>
          </a:p>
        </p:txBody>
      </p:sp>
      <p:grpSp>
        <p:nvGrpSpPr>
          <p:cNvPr id="38" name="Modelling" descr="{&quot;Key&quot;:&quot;POWER_USER_SHAPE_ICON&quot;,&quot;Value&quot;:&quot;POWER_USER_SHAPE_ICON_STYLE_1&quot;}">
            <a:extLst>
              <a:ext uri="{FF2B5EF4-FFF2-40B4-BE49-F238E27FC236}">
                <a16:creationId xmlns:a16="http://schemas.microsoft.com/office/drawing/2014/main" id="{2431C92E-28D7-2EBA-6216-284692F349AB}"/>
              </a:ext>
            </a:extLst>
          </p:cNvPr>
          <p:cNvGrpSpPr>
            <a:grpSpLocks noChangeAspect="1"/>
          </p:cNvGrpSpPr>
          <p:nvPr>
            <p:custDataLst>
              <p:tags r:id="rId1"/>
            </p:custDataLst>
          </p:nvPr>
        </p:nvGrpSpPr>
        <p:grpSpPr>
          <a:xfrm>
            <a:off x="5662073" y="4575627"/>
            <a:ext cx="325738" cy="342970"/>
            <a:chOff x="6900863" y="4192588"/>
            <a:chExt cx="660400" cy="695325"/>
          </a:xfrm>
          <a:solidFill>
            <a:schemeClr val="accent2"/>
          </a:solidFill>
        </p:grpSpPr>
        <p:sp>
          <p:nvSpPr>
            <p:cNvPr id="39" name="Freeform 226">
              <a:extLst>
                <a:ext uri="{FF2B5EF4-FFF2-40B4-BE49-F238E27FC236}">
                  <a16:creationId xmlns:a16="http://schemas.microsoft.com/office/drawing/2014/main" id="{894F543E-BCCD-24AB-76B6-86FAC654193D}"/>
                </a:ext>
              </a:extLst>
            </p:cNvPr>
            <p:cNvSpPr>
              <a:spLocks noEditPoints="1"/>
            </p:cNvSpPr>
            <p:nvPr/>
          </p:nvSpPr>
          <p:spPr bwMode="auto">
            <a:xfrm>
              <a:off x="7100888" y="4411663"/>
              <a:ext cx="258763" cy="257175"/>
            </a:xfrm>
            <a:custGeom>
              <a:avLst/>
              <a:gdLst>
                <a:gd name="T0" fmla="*/ 94 w 189"/>
                <a:gd name="T1" fmla="*/ 16 h 188"/>
                <a:gd name="T2" fmla="*/ 17 w 189"/>
                <a:gd name="T3" fmla="*/ 94 h 188"/>
                <a:gd name="T4" fmla="*/ 94 w 189"/>
                <a:gd name="T5" fmla="*/ 171 h 188"/>
                <a:gd name="T6" fmla="*/ 172 w 189"/>
                <a:gd name="T7" fmla="*/ 94 h 188"/>
                <a:gd name="T8" fmla="*/ 94 w 189"/>
                <a:gd name="T9" fmla="*/ 16 h 188"/>
                <a:gd name="T10" fmla="*/ 94 w 189"/>
                <a:gd name="T11" fmla="*/ 188 h 188"/>
                <a:gd name="T12" fmla="*/ 0 w 189"/>
                <a:gd name="T13" fmla="*/ 94 h 188"/>
                <a:gd name="T14" fmla="*/ 94 w 189"/>
                <a:gd name="T15" fmla="*/ 0 h 188"/>
                <a:gd name="T16" fmla="*/ 189 w 189"/>
                <a:gd name="T17" fmla="*/ 94 h 188"/>
                <a:gd name="T18" fmla="*/ 94 w 189"/>
                <a:gd name="T19" fmla="*/ 18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9" h="188">
                  <a:moveTo>
                    <a:pt x="94" y="16"/>
                  </a:moveTo>
                  <a:cubicBezTo>
                    <a:pt x="52" y="16"/>
                    <a:pt x="17" y="51"/>
                    <a:pt x="17" y="94"/>
                  </a:cubicBezTo>
                  <a:cubicBezTo>
                    <a:pt x="17" y="137"/>
                    <a:pt x="52" y="171"/>
                    <a:pt x="94" y="171"/>
                  </a:cubicBezTo>
                  <a:cubicBezTo>
                    <a:pt x="137" y="171"/>
                    <a:pt x="172" y="137"/>
                    <a:pt x="172" y="94"/>
                  </a:cubicBezTo>
                  <a:cubicBezTo>
                    <a:pt x="172" y="51"/>
                    <a:pt x="137" y="16"/>
                    <a:pt x="94" y="16"/>
                  </a:cubicBezTo>
                  <a:close/>
                  <a:moveTo>
                    <a:pt x="94" y="188"/>
                  </a:moveTo>
                  <a:cubicBezTo>
                    <a:pt x="42" y="188"/>
                    <a:pt x="0" y="146"/>
                    <a:pt x="0" y="94"/>
                  </a:cubicBezTo>
                  <a:cubicBezTo>
                    <a:pt x="0" y="42"/>
                    <a:pt x="42" y="0"/>
                    <a:pt x="94" y="0"/>
                  </a:cubicBezTo>
                  <a:cubicBezTo>
                    <a:pt x="146" y="0"/>
                    <a:pt x="189" y="42"/>
                    <a:pt x="189" y="94"/>
                  </a:cubicBezTo>
                  <a:cubicBezTo>
                    <a:pt x="189" y="146"/>
                    <a:pt x="146" y="188"/>
                    <a:pt x="94" y="188"/>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58" name="Freeform 227">
              <a:extLst>
                <a:ext uri="{FF2B5EF4-FFF2-40B4-BE49-F238E27FC236}">
                  <a16:creationId xmlns:a16="http://schemas.microsoft.com/office/drawing/2014/main" id="{9CFB9481-E6AD-7CF4-5334-160BCCC964BA}"/>
                </a:ext>
              </a:extLst>
            </p:cNvPr>
            <p:cNvSpPr>
              <a:spLocks/>
            </p:cNvSpPr>
            <p:nvPr/>
          </p:nvSpPr>
          <p:spPr bwMode="auto">
            <a:xfrm>
              <a:off x="7215188" y="4443413"/>
              <a:ext cx="106363" cy="187325"/>
            </a:xfrm>
            <a:custGeom>
              <a:avLst/>
              <a:gdLst>
                <a:gd name="T0" fmla="*/ 57 w 67"/>
                <a:gd name="T1" fmla="*/ 118 h 118"/>
                <a:gd name="T2" fmla="*/ 0 w 67"/>
                <a:gd name="T3" fmla="*/ 61 h 118"/>
                <a:gd name="T4" fmla="*/ 52 w 67"/>
                <a:gd name="T5" fmla="*/ 0 h 118"/>
                <a:gd name="T6" fmla="*/ 63 w 67"/>
                <a:gd name="T7" fmla="*/ 9 h 118"/>
                <a:gd name="T8" fmla="*/ 20 w 67"/>
                <a:gd name="T9" fmla="*/ 60 h 118"/>
                <a:gd name="T10" fmla="*/ 67 w 67"/>
                <a:gd name="T11" fmla="*/ 108 h 118"/>
                <a:gd name="T12" fmla="*/ 57 w 67"/>
                <a:gd name="T13" fmla="*/ 118 h 118"/>
              </a:gdLst>
              <a:ahLst/>
              <a:cxnLst>
                <a:cxn ang="0">
                  <a:pos x="T0" y="T1"/>
                </a:cxn>
                <a:cxn ang="0">
                  <a:pos x="T2" y="T3"/>
                </a:cxn>
                <a:cxn ang="0">
                  <a:pos x="T4" y="T5"/>
                </a:cxn>
                <a:cxn ang="0">
                  <a:pos x="T6" y="T7"/>
                </a:cxn>
                <a:cxn ang="0">
                  <a:pos x="T8" y="T9"/>
                </a:cxn>
                <a:cxn ang="0">
                  <a:pos x="T10" y="T11"/>
                </a:cxn>
                <a:cxn ang="0">
                  <a:pos x="T12" y="T13"/>
                </a:cxn>
              </a:cxnLst>
              <a:rect l="0" t="0" r="r" b="b"/>
              <a:pathLst>
                <a:path w="67" h="118">
                  <a:moveTo>
                    <a:pt x="57" y="118"/>
                  </a:moveTo>
                  <a:lnTo>
                    <a:pt x="0" y="61"/>
                  </a:lnTo>
                  <a:lnTo>
                    <a:pt x="52" y="0"/>
                  </a:lnTo>
                  <a:lnTo>
                    <a:pt x="63" y="9"/>
                  </a:lnTo>
                  <a:lnTo>
                    <a:pt x="20" y="60"/>
                  </a:lnTo>
                  <a:lnTo>
                    <a:pt x="67" y="108"/>
                  </a:lnTo>
                  <a:lnTo>
                    <a:pt x="57" y="118"/>
                  </a:ln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59" name="Rectangle 228">
              <a:extLst>
                <a:ext uri="{FF2B5EF4-FFF2-40B4-BE49-F238E27FC236}">
                  <a16:creationId xmlns:a16="http://schemas.microsoft.com/office/drawing/2014/main" id="{4C78E891-421C-EEE9-BA8D-4C0BF0F9AF1D}"/>
                </a:ext>
              </a:extLst>
            </p:cNvPr>
            <p:cNvSpPr>
              <a:spLocks noChangeArrowheads="1"/>
            </p:cNvSpPr>
            <p:nvPr/>
          </p:nvSpPr>
          <p:spPr bwMode="auto">
            <a:xfrm>
              <a:off x="7112001" y="4527550"/>
              <a:ext cx="117475" cy="23813"/>
            </a:xfrm>
            <a:prstGeom prst="rect">
              <a:avLst/>
            </a:prstGeom>
            <a:grpFill/>
            <a:ln w="9525">
              <a:solidFill>
                <a:schemeClr val="accent2"/>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95" name="Freeform 229">
              <a:extLst>
                <a:ext uri="{FF2B5EF4-FFF2-40B4-BE49-F238E27FC236}">
                  <a16:creationId xmlns:a16="http://schemas.microsoft.com/office/drawing/2014/main" id="{B8C05967-EEBC-B2AE-B0FB-C31D7B381330}"/>
                </a:ext>
              </a:extLst>
            </p:cNvPr>
            <p:cNvSpPr>
              <a:spLocks/>
            </p:cNvSpPr>
            <p:nvPr/>
          </p:nvSpPr>
          <p:spPr bwMode="auto">
            <a:xfrm>
              <a:off x="7002463" y="4305300"/>
              <a:ext cx="454025" cy="176213"/>
            </a:xfrm>
            <a:custGeom>
              <a:avLst/>
              <a:gdLst>
                <a:gd name="T0" fmla="*/ 316 w 332"/>
                <a:gd name="T1" fmla="*/ 129 h 129"/>
                <a:gd name="T2" fmla="*/ 166 w 332"/>
                <a:gd name="T3" fmla="*/ 16 h 129"/>
                <a:gd name="T4" fmla="*/ 17 w 332"/>
                <a:gd name="T5" fmla="*/ 129 h 129"/>
                <a:gd name="T6" fmla="*/ 0 w 332"/>
                <a:gd name="T7" fmla="*/ 125 h 129"/>
                <a:gd name="T8" fmla="*/ 166 w 332"/>
                <a:gd name="T9" fmla="*/ 0 h 129"/>
                <a:gd name="T10" fmla="*/ 332 w 332"/>
                <a:gd name="T11" fmla="*/ 125 h 129"/>
                <a:gd name="T12" fmla="*/ 316 w 332"/>
                <a:gd name="T13" fmla="*/ 129 h 129"/>
              </a:gdLst>
              <a:ahLst/>
              <a:cxnLst>
                <a:cxn ang="0">
                  <a:pos x="T0" y="T1"/>
                </a:cxn>
                <a:cxn ang="0">
                  <a:pos x="T2" y="T3"/>
                </a:cxn>
                <a:cxn ang="0">
                  <a:pos x="T4" y="T5"/>
                </a:cxn>
                <a:cxn ang="0">
                  <a:pos x="T6" y="T7"/>
                </a:cxn>
                <a:cxn ang="0">
                  <a:pos x="T8" y="T9"/>
                </a:cxn>
                <a:cxn ang="0">
                  <a:pos x="T10" y="T11"/>
                </a:cxn>
                <a:cxn ang="0">
                  <a:pos x="T12" y="T13"/>
                </a:cxn>
              </a:cxnLst>
              <a:rect l="0" t="0" r="r" b="b"/>
              <a:pathLst>
                <a:path w="332" h="129">
                  <a:moveTo>
                    <a:pt x="316" y="129"/>
                  </a:moveTo>
                  <a:cubicBezTo>
                    <a:pt x="297" y="63"/>
                    <a:pt x="236" y="16"/>
                    <a:pt x="166" y="16"/>
                  </a:cubicBezTo>
                  <a:cubicBezTo>
                    <a:pt x="97" y="16"/>
                    <a:pt x="35" y="63"/>
                    <a:pt x="17" y="129"/>
                  </a:cubicBezTo>
                  <a:lnTo>
                    <a:pt x="0" y="125"/>
                  </a:lnTo>
                  <a:cubicBezTo>
                    <a:pt x="21" y="51"/>
                    <a:pt x="90" y="0"/>
                    <a:pt x="166" y="0"/>
                  </a:cubicBezTo>
                  <a:cubicBezTo>
                    <a:pt x="243" y="0"/>
                    <a:pt x="311" y="51"/>
                    <a:pt x="332" y="125"/>
                  </a:cubicBezTo>
                  <a:lnTo>
                    <a:pt x="316" y="129"/>
                  </a:ln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96" name="Freeform 230">
              <a:extLst>
                <a:ext uri="{FF2B5EF4-FFF2-40B4-BE49-F238E27FC236}">
                  <a16:creationId xmlns:a16="http://schemas.microsoft.com/office/drawing/2014/main" id="{E15E2AF3-A98E-1F5C-43AA-2F43BD80E641}"/>
                </a:ext>
              </a:extLst>
            </p:cNvPr>
            <p:cNvSpPr>
              <a:spLocks/>
            </p:cNvSpPr>
            <p:nvPr/>
          </p:nvSpPr>
          <p:spPr bwMode="auto">
            <a:xfrm>
              <a:off x="7002463" y="4597400"/>
              <a:ext cx="454025" cy="177800"/>
            </a:xfrm>
            <a:custGeom>
              <a:avLst/>
              <a:gdLst>
                <a:gd name="T0" fmla="*/ 166 w 332"/>
                <a:gd name="T1" fmla="*/ 130 h 130"/>
                <a:gd name="T2" fmla="*/ 0 w 332"/>
                <a:gd name="T3" fmla="*/ 5 h 130"/>
                <a:gd name="T4" fmla="*/ 17 w 332"/>
                <a:gd name="T5" fmla="*/ 0 h 130"/>
                <a:gd name="T6" fmla="*/ 166 w 332"/>
                <a:gd name="T7" fmla="*/ 113 h 130"/>
                <a:gd name="T8" fmla="*/ 316 w 332"/>
                <a:gd name="T9" fmla="*/ 0 h 130"/>
                <a:gd name="T10" fmla="*/ 332 w 332"/>
                <a:gd name="T11" fmla="*/ 5 h 130"/>
                <a:gd name="T12" fmla="*/ 166 w 332"/>
                <a:gd name="T13" fmla="*/ 130 h 130"/>
              </a:gdLst>
              <a:ahLst/>
              <a:cxnLst>
                <a:cxn ang="0">
                  <a:pos x="T0" y="T1"/>
                </a:cxn>
                <a:cxn ang="0">
                  <a:pos x="T2" y="T3"/>
                </a:cxn>
                <a:cxn ang="0">
                  <a:pos x="T4" y="T5"/>
                </a:cxn>
                <a:cxn ang="0">
                  <a:pos x="T6" y="T7"/>
                </a:cxn>
                <a:cxn ang="0">
                  <a:pos x="T8" y="T9"/>
                </a:cxn>
                <a:cxn ang="0">
                  <a:pos x="T10" y="T11"/>
                </a:cxn>
                <a:cxn ang="0">
                  <a:pos x="T12" y="T13"/>
                </a:cxn>
              </a:cxnLst>
              <a:rect l="0" t="0" r="r" b="b"/>
              <a:pathLst>
                <a:path w="332" h="130">
                  <a:moveTo>
                    <a:pt x="166" y="130"/>
                  </a:moveTo>
                  <a:cubicBezTo>
                    <a:pt x="90" y="130"/>
                    <a:pt x="21" y="79"/>
                    <a:pt x="0" y="5"/>
                  </a:cubicBezTo>
                  <a:lnTo>
                    <a:pt x="17" y="0"/>
                  </a:lnTo>
                  <a:cubicBezTo>
                    <a:pt x="35" y="67"/>
                    <a:pt x="97" y="113"/>
                    <a:pt x="166" y="113"/>
                  </a:cubicBezTo>
                  <a:cubicBezTo>
                    <a:pt x="236" y="113"/>
                    <a:pt x="297" y="67"/>
                    <a:pt x="316" y="0"/>
                  </a:cubicBezTo>
                  <a:lnTo>
                    <a:pt x="332" y="5"/>
                  </a:lnTo>
                  <a:cubicBezTo>
                    <a:pt x="311" y="79"/>
                    <a:pt x="243" y="130"/>
                    <a:pt x="166" y="130"/>
                  </a:cubicBezTo>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97" name="Freeform 231">
              <a:extLst>
                <a:ext uri="{FF2B5EF4-FFF2-40B4-BE49-F238E27FC236}">
                  <a16:creationId xmlns:a16="http://schemas.microsoft.com/office/drawing/2014/main" id="{8950FF72-DFCF-B0C4-9184-6EAFFB6D25F4}"/>
                </a:ext>
              </a:extLst>
            </p:cNvPr>
            <p:cNvSpPr>
              <a:spLocks noEditPoints="1"/>
            </p:cNvSpPr>
            <p:nvPr/>
          </p:nvSpPr>
          <p:spPr bwMode="auto">
            <a:xfrm>
              <a:off x="7412038" y="4471988"/>
              <a:ext cx="69850" cy="69850"/>
            </a:xfrm>
            <a:custGeom>
              <a:avLst/>
              <a:gdLst>
                <a:gd name="T0" fmla="*/ 16 w 51"/>
                <a:gd name="T1" fmla="*/ 35 h 51"/>
                <a:gd name="T2" fmla="*/ 34 w 51"/>
                <a:gd name="T3" fmla="*/ 35 h 51"/>
                <a:gd name="T4" fmla="*/ 34 w 51"/>
                <a:gd name="T5" fmla="*/ 17 h 51"/>
                <a:gd name="T6" fmla="*/ 16 w 51"/>
                <a:gd name="T7" fmla="*/ 17 h 51"/>
                <a:gd name="T8" fmla="*/ 16 w 51"/>
                <a:gd name="T9" fmla="*/ 35 h 51"/>
                <a:gd name="T10" fmla="*/ 51 w 51"/>
                <a:gd name="T11" fmla="*/ 51 h 51"/>
                <a:gd name="T12" fmla="*/ 0 w 51"/>
                <a:gd name="T13" fmla="*/ 51 h 51"/>
                <a:gd name="T14" fmla="*/ 0 w 51"/>
                <a:gd name="T15" fmla="*/ 0 h 51"/>
                <a:gd name="T16" fmla="*/ 51 w 51"/>
                <a:gd name="T17" fmla="*/ 0 h 51"/>
                <a:gd name="T18" fmla="*/ 51 w 51"/>
                <a:gd name="T1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51">
                  <a:moveTo>
                    <a:pt x="16" y="35"/>
                  </a:moveTo>
                  <a:lnTo>
                    <a:pt x="34" y="35"/>
                  </a:lnTo>
                  <a:lnTo>
                    <a:pt x="34" y="17"/>
                  </a:lnTo>
                  <a:lnTo>
                    <a:pt x="16" y="17"/>
                  </a:lnTo>
                  <a:lnTo>
                    <a:pt x="16" y="35"/>
                  </a:lnTo>
                  <a:close/>
                  <a:moveTo>
                    <a:pt x="51" y="51"/>
                  </a:moveTo>
                  <a:lnTo>
                    <a:pt x="0" y="51"/>
                  </a:lnTo>
                  <a:lnTo>
                    <a:pt x="0" y="0"/>
                  </a:lnTo>
                  <a:lnTo>
                    <a:pt x="51" y="0"/>
                  </a:lnTo>
                  <a:lnTo>
                    <a:pt x="51" y="51"/>
                  </a:ln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98" name="Freeform 232">
              <a:extLst>
                <a:ext uri="{FF2B5EF4-FFF2-40B4-BE49-F238E27FC236}">
                  <a16:creationId xmlns:a16="http://schemas.microsoft.com/office/drawing/2014/main" id="{D1BFD96B-E7D6-3220-0A83-4A72899598E0}"/>
                </a:ext>
              </a:extLst>
            </p:cNvPr>
            <p:cNvSpPr>
              <a:spLocks noEditPoints="1"/>
            </p:cNvSpPr>
            <p:nvPr/>
          </p:nvSpPr>
          <p:spPr bwMode="auto">
            <a:xfrm>
              <a:off x="6980238" y="4537075"/>
              <a:ext cx="69850" cy="69850"/>
            </a:xfrm>
            <a:custGeom>
              <a:avLst/>
              <a:gdLst>
                <a:gd name="T0" fmla="*/ 17 w 51"/>
                <a:gd name="T1" fmla="*/ 34 h 51"/>
                <a:gd name="T2" fmla="*/ 34 w 51"/>
                <a:gd name="T3" fmla="*/ 34 h 51"/>
                <a:gd name="T4" fmla="*/ 34 w 51"/>
                <a:gd name="T5" fmla="*/ 16 h 51"/>
                <a:gd name="T6" fmla="*/ 17 w 51"/>
                <a:gd name="T7" fmla="*/ 16 h 51"/>
                <a:gd name="T8" fmla="*/ 17 w 51"/>
                <a:gd name="T9" fmla="*/ 34 h 51"/>
                <a:gd name="T10" fmla="*/ 51 w 51"/>
                <a:gd name="T11" fmla="*/ 51 h 51"/>
                <a:gd name="T12" fmla="*/ 0 w 51"/>
                <a:gd name="T13" fmla="*/ 51 h 51"/>
                <a:gd name="T14" fmla="*/ 0 w 51"/>
                <a:gd name="T15" fmla="*/ 0 h 51"/>
                <a:gd name="T16" fmla="*/ 51 w 51"/>
                <a:gd name="T17" fmla="*/ 0 h 51"/>
                <a:gd name="T18" fmla="*/ 51 w 51"/>
                <a:gd name="T1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51">
                  <a:moveTo>
                    <a:pt x="17" y="34"/>
                  </a:moveTo>
                  <a:lnTo>
                    <a:pt x="34" y="34"/>
                  </a:lnTo>
                  <a:lnTo>
                    <a:pt x="34" y="16"/>
                  </a:lnTo>
                  <a:lnTo>
                    <a:pt x="17" y="16"/>
                  </a:lnTo>
                  <a:lnTo>
                    <a:pt x="17" y="34"/>
                  </a:lnTo>
                  <a:close/>
                  <a:moveTo>
                    <a:pt x="51" y="51"/>
                  </a:moveTo>
                  <a:lnTo>
                    <a:pt x="0" y="51"/>
                  </a:lnTo>
                  <a:lnTo>
                    <a:pt x="0" y="0"/>
                  </a:lnTo>
                  <a:lnTo>
                    <a:pt x="51" y="0"/>
                  </a:lnTo>
                  <a:lnTo>
                    <a:pt x="51" y="51"/>
                  </a:ln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110" name="Freeform 233">
              <a:extLst>
                <a:ext uri="{FF2B5EF4-FFF2-40B4-BE49-F238E27FC236}">
                  <a16:creationId xmlns:a16="http://schemas.microsoft.com/office/drawing/2014/main" id="{97D8F0E5-E722-60EE-AD6C-C0DF62C24039}"/>
                </a:ext>
              </a:extLst>
            </p:cNvPr>
            <p:cNvSpPr>
              <a:spLocks/>
            </p:cNvSpPr>
            <p:nvPr/>
          </p:nvSpPr>
          <p:spPr bwMode="auto">
            <a:xfrm>
              <a:off x="7288213" y="4214813"/>
              <a:ext cx="273050" cy="649288"/>
            </a:xfrm>
            <a:custGeom>
              <a:avLst/>
              <a:gdLst>
                <a:gd name="T0" fmla="*/ 3 w 200"/>
                <a:gd name="T1" fmla="*/ 475 h 475"/>
                <a:gd name="T2" fmla="*/ 0 w 200"/>
                <a:gd name="T3" fmla="*/ 459 h 475"/>
                <a:gd name="T4" fmla="*/ 183 w 200"/>
                <a:gd name="T5" fmla="*/ 238 h 475"/>
                <a:gd name="T6" fmla="*/ 0 w 200"/>
                <a:gd name="T7" fmla="*/ 17 h 475"/>
                <a:gd name="T8" fmla="*/ 3 w 200"/>
                <a:gd name="T9" fmla="*/ 0 h 475"/>
                <a:gd name="T10" fmla="*/ 200 w 200"/>
                <a:gd name="T11" fmla="*/ 238 h 475"/>
                <a:gd name="T12" fmla="*/ 3 w 200"/>
                <a:gd name="T13" fmla="*/ 475 h 475"/>
              </a:gdLst>
              <a:ahLst/>
              <a:cxnLst>
                <a:cxn ang="0">
                  <a:pos x="T0" y="T1"/>
                </a:cxn>
                <a:cxn ang="0">
                  <a:pos x="T2" y="T3"/>
                </a:cxn>
                <a:cxn ang="0">
                  <a:pos x="T4" y="T5"/>
                </a:cxn>
                <a:cxn ang="0">
                  <a:pos x="T6" y="T7"/>
                </a:cxn>
                <a:cxn ang="0">
                  <a:pos x="T8" y="T9"/>
                </a:cxn>
                <a:cxn ang="0">
                  <a:pos x="T10" y="T11"/>
                </a:cxn>
                <a:cxn ang="0">
                  <a:pos x="T12" y="T13"/>
                </a:cxn>
              </a:cxnLst>
              <a:rect l="0" t="0" r="r" b="b"/>
              <a:pathLst>
                <a:path w="200" h="475">
                  <a:moveTo>
                    <a:pt x="3" y="475"/>
                  </a:moveTo>
                  <a:lnTo>
                    <a:pt x="0" y="459"/>
                  </a:lnTo>
                  <a:cubicBezTo>
                    <a:pt x="106" y="439"/>
                    <a:pt x="183" y="346"/>
                    <a:pt x="183" y="238"/>
                  </a:cubicBezTo>
                  <a:cubicBezTo>
                    <a:pt x="183" y="130"/>
                    <a:pt x="106" y="37"/>
                    <a:pt x="0" y="17"/>
                  </a:cubicBezTo>
                  <a:lnTo>
                    <a:pt x="3" y="0"/>
                  </a:lnTo>
                  <a:cubicBezTo>
                    <a:pt x="117" y="22"/>
                    <a:pt x="200" y="122"/>
                    <a:pt x="200" y="238"/>
                  </a:cubicBezTo>
                  <a:cubicBezTo>
                    <a:pt x="200" y="354"/>
                    <a:pt x="117" y="454"/>
                    <a:pt x="3" y="475"/>
                  </a:cubicBezTo>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111" name="Freeform 234">
              <a:extLst>
                <a:ext uri="{FF2B5EF4-FFF2-40B4-BE49-F238E27FC236}">
                  <a16:creationId xmlns:a16="http://schemas.microsoft.com/office/drawing/2014/main" id="{F10AA69F-305C-7C8C-88C0-F1F78FE6F2D3}"/>
                </a:ext>
              </a:extLst>
            </p:cNvPr>
            <p:cNvSpPr>
              <a:spLocks/>
            </p:cNvSpPr>
            <p:nvPr/>
          </p:nvSpPr>
          <p:spPr bwMode="auto">
            <a:xfrm>
              <a:off x="6900863" y="4214813"/>
              <a:ext cx="273050" cy="649288"/>
            </a:xfrm>
            <a:custGeom>
              <a:avLst/>
              <a:gdLst>
                <a:gd name="T0" fmla="*/ 197 w 200"/>
                <a:gd name="T1" fmla="*/ 475 h 475"/>
                <a:gd name="T2" fmla="*/ 0 w 200"/>
                <a:gd name="T3" fmla="*/ 238 h 475"/>
                <a:gd name="T4" fmla="*/ 196 w 200"/>
                <a:gd name="T5" fmla="*/ 0 h 475"/>
                <a:gd name="T6" fmla="*/ 199 w 200"/>
                <a:gd name="T7" fmla="*/ 17 h 475"/>
                <a:gd name="T8" fmla="*/ 16 w 200"/>
                <a:gd name="T9" fmla="*/ 238 h 475"/>
                <a:gd name="T10" fmla="*/ 200 w 200"/>
                <a:gd name="T11" fmla="*/ 459 h 475"/>
                <a:gd name="T12" fmla="*/ 197 w 200"/>
                <a:gd name="T13" fmla="*/ 475 h 475"/>
              </a:gdLst>
              <a:ahLst/>
              <a:cxnLst>
                <a:cxn ang="0">
                  <a:pos x="T0" y="T1"/>
                </a:cxn>
                <a:cxn ang="0">
                  <a:pos x="T2" y="T3"/>
                </a:cxn>
                <a:cxn ang="0">
                  <a:pos x="T4" y="T5"/>
                </a:cxn>
                <a:cxn ang="0">
                  <a:pos x="T6" y="T7"/>
                </a:cxn>
                <a:cxn ang="0">
                  <a:pos x="T8" y="T9"/>
                </a:cxn>
                <a:cxn ang="0">
                  <a:pos x="T10" y="T11"/>
                </a:cxn>
                <a:cxn ang="0">
                  <a:pos x="T12" y="T13"/>
                </a:cxn>
              </a:cxnLst>
              <a:rect l="0" t="0" r="r" b="b"/>
              <a:pathLst>
                <a:path w="200" h="475">
                  <a:moveTo>
                    <a:pt x="197" y="475"/>
                  </a:moveTo>
                  <a:cubicBezTo>
                    <a:pt x="83" y="454"/>
                    <a:pt x="0" y="354"/>
                    <a:pt x="0" y="238"/>
                  </a:cubicBezTo>
                  <a:cubicBezTo>
                    <a:pt x="0" y="122"/>
                    <a:pt x="82" y="22"/>
                    <a:pt x="196" y="0"/>
                  </a:cubicBezTo>
                  <a:lnTo>
                    <a:pt x="199" y="17"/>
                  </a:lnTo>
                  <a:cubicBezTo>
                    <a:pt x="93" y="37"/>
                    <a:pt x="16" y="130"/>
                    <a:pt x="16" y="238"/>
                  </a:cubicBezTo>
                  <a:cubicBezTo>
                    <a:pt x="16" y="346"/>
                    <a:pt x="94" y="439"/>
                    <a:pt x="200" y="459"/>
                  </a:cubicBezTo>
                  <a:lnTo>
                    <a:pt x="197" y="475"/>
                  </a:ln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112" name="Freeform 235">
              <a:extLst>
                <a:ext uri="{FF2B5EF4-FFF2-40B4-BE49-F238E27FC236}">
                  <a16:creationId xmlns:a16="http://schemas.microsoft.com/office/drawing/2014/main" id="{DA3CAF57-4BF7-1AD2-AA88-B42A5108AA4A}"/>
                </a:ext>
              </a:extLst>
            </p:cNvPr>
            <p:cNvSpPr>
              <a:spLocks noEditPoints="1"/>
            </p:cNvSpPr>
            <p:nvPr/>
          </p:nvSpPr>
          <p:spPr bwMode="auto">
            <a:xfrm>
              <a:off x="7196138" y="4192588"/>
              <a:ext cx="68263" cy="66675"/>
            </a:xfrm>
            <a:custGeom>
              <a:avLst/>
              <a:gdLst>
                <a:gd name="T0" fmla="*/ 25 w 50"/>
                <a:gd name="T1" fmla="*/ 17 h 49"/>
                <a:gd name="T2" fmla="*/ 17 w 50"/>
                <a:gd name="T3" fmla="*/ 25 h 49"/>
                <a:gd name="T4" fmla="*/ 25 w 50"/>
                <a:gd name="T5" fmla="*/ 33 h 49"/>
                <a:gd name="T6" fmla="*/ 33 w 50"/>
                <a:gd name="T7" fmla="*/ 25 h 49"/>
                <a:gd name="T8" fmla="*/ 25 w 50"/>
                <a:gd name="T9" fmla="*/ 17 h 49"/>
                <a:gd name="T10" fmla="*/ 25 w 50"/>
                <a:gd name="T11" fmla="*/ 49 h 49"/>
                <a:gd name="T12" fmla="*/ 0 w 50"/>
                <a:gd name="T13" fmla="*/ 25 h 49"/>
                <a:gd name="T14" fmla="*/ 25 w 50"/>
                <a:gd name="T15" fmla="*/ 0 h 49"/>
                <a:gd name="T16" fmla="*/ 50 w 50"/>
                <a:gd name="T17" fmla="*/ 25 h 49"/>
                <a:gd name="T18" fmla="*/ 25 w 50"/>
                <a:gd name="T19"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49">
                  <a:moveTo>
                    <a:pt x="25" y="17"/>
                  </a:moveTo>
                  <a:cubicBezTo>
                    <a:pt x="21" y="17"/>
                    <a:pt x="17" y="20"/>
                    <a:pt x="17" y="25"/>
                  </a:cubicBezTo>
                  <a:cubicBezTo>
                    <a:pt x="17" y="29"/>
                    <a:pt x="21" y="33"/>
                    <a:pt x="25" y="33"/>
                  </a:cubicBezTo>
                  <a:cubicBezTo>
                    <a:pt x="30" y="33"/>
                    <a:pt x="33" y="29"/>
                    <a:pt x="33" y="25"/>
                  </a:cubicBezTo>
                  <a:cubicBezTo>
                    <a:pt x="33" y="20"/>
                    <a:pt x="30" y="17"/>
                    <a:pt x="25" y="17"/>
                  </a:cubicBezTo>
                  <a:close/>
                  <a:moveTo>
                    <a:pt x="25" y="49"/>
                  </a:moveTo>
                  <a:cubicBezTo>
                    <a:pt x="12" y="49"/>
                    <a:pt x="0" y="38"/>
                    <a:pt x="0" y="25"/>
                  </a:cubicBezTo>
                  <a:cubicBezTo>
                    <a:pt x="0" y="11"/>
                    <a:pt x="12" y="0"/>
                    <a:pt x="25" y="0"/>
                  </a:cubicBezTo>
                  <a:cubicBezTo>
                    <a:pt x="39" y="0"/>
                    <a:pt x="50" y="11"/>
                    <a:pt x="50" y="25"/>
                  </a:cubicBezTo>
                  <a:cubicBezTo>
                    <a:pt x="50" y="38"/>
                    <a:pt x="39" y="49"/>
                    <a:pt x="25" y="49"/>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113" name="Freeform 236">
              <a:extLst>
                <a:ext uri="{FF2B5EF4-FFF2-40B4-BE49-F238E27FC236}">
                  <a16:creationId xmlns:a16="http://schemas.microsoft.com/office/drawing/2014/main" id="{925DFCA0-7FF5-00AC-A3D7-4BB124BF6C1A}"/>
                </a:ext>
              </a:extLst>
            </p:cNvPr>
            <p:cNvSpPr>
              <a:spLocks noEditPoints="1"/>
            </p:cNvSpPr>
            <p:nvPr/>
          </p:nvSpPr>
          <p:spPr bwMode="auto">
            <a:xfrm>
              <a:off x="7196138" y="4819650"/>
              <a:ext cx="68263" cy="68263"/>
            </a:xfrm>
            <a:custGeom>
              <a:avLst/>
              <a:gdLst>
                <a:gd name="T0" fmla="*/ 25 w 50"/>
                <a:gd name="T1" fmla="*/ 17 h 50"/>
                <a:gd name="T2" fmla="*/ 17 w 50"/>
                <a:gd name="T3" fmla="*/ 25 h 50"/>
                <a:gd name="T4" fmla="*/ 25 w 50"/>
                <a:gd name="T5" fmla="*/ 33 h 50"/>
                <a:gd name="T6" fmla="*/ 33 w 50"/>
                <a:gd name="T7" fmla="*/ 25 h 50"/>
                <a:gd name="T8" fmla="*/ 25 w 50"/>
                <a:gd name="T9" fmla="*/ 17 h 50"/>
                <a:gd name="T10" fmla="*/ 25 w 50"/>
                <a:gd name="T11" fmla="*/ 50 h 50"/>
                <a:gd name="T12" fmla="*/ 0 w 50"/>
                <a:gd name="T13" fmla="*/ 25 h 50"/>
                <a:gd name="T14" fmla="*/ 25 w 50"/>
                <a:gd name="T15" fmla="*/ 0 h 50"/>
                <a:gd name="T16" fmla="*/ 50 w 50"/>
                <a:gd name="T17" fmla="*/ 25 h 50"/>
                <a:gd name="T18" fmla="*/ 25 w 50"/>
                <a:gd name="T19"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50">
                  <a:moveTo>
                    <a:pt x="25" y="17"/>
                  </a:moveTo>
                  <a:cubicBezTo>
                    <a:pt x="21" y="17"/>
                    <a:pt x="17" y="21"/>
                    <a:pt x="17" y="25"/>
                  </a:cubicBezTo>
                  <a:cubicBezTo>
                    <a:pt x="17" y="30"/>
                    <a:pt x="21" y="33"/>
                    <a:pt x="25" y="33"/>
                  </a:cubicBezTo>
                  <a:cubicBezTo>
                    <a:pt x="30" y="33"/>
                    <a:pt x="33" y="30"/>
                    <a:pt x="33" y="25"/>
                  </a:cubicBezTo>
                  <a:cubicBezTo>
                    <a:pt x="33" y="21"/>
                    <a:pt x="30" y="17"/>
                    <a:pt x="25" y="17"/>
                  </a:cubicBezTo>
                  <a:close/>
                  <a:moveTo>
                    <a:pt x="25" y="50"/>
                  </a:moveTo>
                  <a:cubicBezTo>
                    <a:pt x="12" y="50"/>
                    <a:pt x="0" y="39"/>
                    <a:pt x="0" y="25"/>
                  </a:cubicBezTo>
                  <a:cubicBezTo>
                    <a:pt x="0" y="11"/>
                    <a:pt x="12" y="0"/>
                    <a:pt x="25" y="0"/>
                  </a:cubicBezTo>
                  <a:cubicBezTo>
                    <a:pt x="39" y="0"/>
                    <a:pt x="50" y="11"/>
                    <a:pt x="50" y="25"/>
                  </a:cubicBezTo>
                  <a:cubicBezTo>
                    <a:pt x="50" y="39"/>
                    <a:pt x="39" y="50"/>
                    <a:pt x="25" y="50"/>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grpSp>
      <p:pic>
        <p:nvPicPr>
          <p:cNvPr id="114" name="Picture 113">
            <a:extLst>
              <a:ext uri="{FF2B5EF4-FFF2-40B4-BE49-F238E27FC236}">
                <a16:creationId xmlns:a16="http://schemas.microsoft.com/office/drawing/2014/main" id="{D7BBD34B-4E4E-D94A-5406-A173ED5AD80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377285" y="4439195"/>
            <a:ext cx="590654" cy="590652"/>
          </a:xfrm>
          <a:prstGeom prst="rect">
            <a:avLst/>
          </a:prstGeom>
          <a:ln>
            <a:noFill/>
          </a:ln>
        </p:spPr>
      </p:pic>
      <p:sp>
        <p:nvSpPr>
          <p:cNvPr id="115" name="TextBox 114">
            <a:extLst>
              <a:ext uri="{FF2B5EF4-FFF2-40B4-BE49-F238E27FC236}">
                <a16:creationId xmlns:a16="http://schemas.microsoft.com/office/drawing/2014/main" id="{C53CA5F9-296D-9D68-7175-8B151A9AA6A3}"/>
              </a:ext>
            </a:extLst>
          </p:cNvPr>
          <p:cNvSpPr txBox="1"/>
          <p:nvPr/>
        </p:nvSpPr>
        <p:spPr>
          <a:xfrm>
            <a:off x="9166379" y="4953073"/>
            <a:ext cx="1012467"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mj-lt"/>
                <a:ea typeface="+mn-ea"/>
                <a:cs typeface="+mn-cs"/>
              </a:rPr>
              <a:t>Architecture Blueprint</a:t>
            </a:r>
          </a:p>
        </p:txBody>
      </p:sp>
      <p:sp>
        <p:nvSpPr>
          <p:cNvPr id="116" name="TextBox 115">
            <a:extLst>
              <a:ext uri="{FF2B5EF4-FFF2-40B4-BE49-F238E27FC236}">
                <a16:creationId xmlns:a16="http://schemas.microsoft.com/office/drawing/2014/main" id="{8E5ACC7C-70DC-4959-40F5-D6C02357A1FD}"/>
              </a:ext>
            </a:extLst>
          </p:cNvPr>
          <p:cNvSpPr txBox="1"/>
          <p:nvPr/>
        </p:nvSpPr>
        <p:spPr>
          <a:xfrm>
            <a:off x="10171116" y="4953073"/>
            <a:ext cx="640306" cy="307777"/>
          </a:xfrm>
          <a:prstGeom prst="rect">
            <a:avLst/>
          </a:prstGeom>
          <a:noFill/>
        </p:spPr>
        <p:txBody>
          <a:bodyPr wrap="square" lIns="0" tIns="0" rIns="0" bIns="0" rtlCol="0" anchor="t">
            <a:spAutoFit/>
          </a:bodyPr>
          <a:lstStyle/>
          <a:p>
            <a:pPr algn="ctr">
              <a:defRPr/>
            </a:pPr>
            <a:r>
              <a:rPr lang="en-GB" sz="1000">
                <a:solidFill>
                  <a:prstClr val="black"/>
                </a:solidFill>
                <a:latin typeface="+mj-lt"/>
              </a:rPr>
              <a:t>Integration Plan</a:t>
            </a:r>
            <a:endParaRPr lang="en-GB" sz="1000" b="0" i="0" u="none" strike="noStrike" kern="1200" cap="none" spc="0" normalizeH="0" baseline="0" noProof="0">
              <a:ln>
                <a:noFill/>
              </a:ln>
              <a:solidFill>
                <a:prstClr val="black"/>
              </a:solidFill>
              <a:effectLst/>
              <a:uLnTx/>
              <a:uFillTx/>
              <a:latin typeface="+mj-lt"/>
            </a:endParaRPr>
          </a:p>
        </p:txBody>
      </p:sp>
      <p:grpSp>
        <p:nvGrpSpPr>
          <p:cNvPr id="133" name="Blueprint" descr="{&quot;Key&quot;:&quot;POWER_USER_SHAPE_ICON&quot;,&quot;Value&quot;:&quot;POWER_USER_SHAPE_ICON_STYLE_1&quot;}">
            <a:extLst>
              <a:ext uri="{FF2B5EF4-FFF2-40B4-BE49-F238E27FC236}">
                <a16:creationId xmlns:a16="http://schemas.microsoft.com/office/drawing/2014/main" id="{00A754E0-B872-62DC-C2DF-ADFE08D3DFA1}"/>
              </a:ext>
            </a:extLst>
          </p:cNvPr>
          <p:cNvGrpSpPr>
            <a:grpSpLocks noChangeAspect="1"/>
          </p:cNvGrpSpPr>
          <p:nvPr/>
        </p:nvGrpSpPr>
        <p:grpSpPr>
          <a:xfrm>
            <a:off x="11063333" y="4606735"/>
            <a:ext cx="348123" cy="294169"/>
            <a:chOff x="3819525" y="350838"/>
            <a:chExt cx="430213" cy="363538"/>
          </a:xfrm>
          <a:solidFill>
            <a:schemeClr val="accent5"/>
          </a:solidFill>
        </p:grpSpPr>
        <p:sp>
          <p:nvSpPr>
            <p:cNvPr id="134" name="Freeform 6">
              <a:extLst>
                <a:ext uri="{FF2B5EF4-FFF2-40B4-BE49-F238E27FC236}">
                  <a16:creationId xmlns:a16="http://schemas.microsoft.com/office/drawing/2014/main" id="{FAFE89BD-DF2C-CCDD-B567-B2D6913F566B}"/>
                </a:ext>
              </a:extLst>
            </p:cNvPr>
            <p:cNvSpPr>
              <a:spLocks noEditPoints="1"/>
            </p:cNvSpPr>
            <p:nvPr/>
          </p:nvSpPr>
          <p:spPr bwMode="auto">
            <a:xfrm>
              <a:off x="3911600" y="427038"/>
              <a:ext cx="274638" cy="287338"/>
            </a:xfrm>
            <a:custGeom>
              <a:avLst/>
              <a:gdLst>
                <a:gd name="T0" fmla="*/ 409 w 2147"/>
                <a:gd name="T1" fmla="*/ 1407 h 2251"/>
                <a:gd name="T2" fmla="*/ 195 w 2147"/>
                <a:gd name="T3" fmla="*/ 2055 h 2251"/>
                <a:gd name="T4" fmla="*/ 836 w 2147"/>
                <a:gd name="T5" fmla="*/ 1803 h 2251"/>
                <a:gd name="T6" fmla="*/ 1965 w 2147"/>
                <a:gd name="T7" fmla="*/ 559 h 2251"/>
                <a:gd name="T8" fmla="*/ 1553 w 2147"/>
                <a:gd name="T9" fmla="*/ 175 h 2251"/>
                <a:gd name="T10" fmla="*/ 409 w 2147"/>
                <a:gd name="T11" fmla="*/ 1407 h 2251"/>
                <a:gd name="T12" fmla="*/ 78 w 2147"/>
                <a:gd name="T13" fmla="*/ 2251 h 2251"/>
                <a:gd name="T14" fmla="*/ 28 w 2147"/>
                <a:gd name="T15" fmla="*/ 2231 h 2251"/>
                <a:gd name="T16" fmla="*/ 9 w 2147"/>
                <a:gd name="T17" fmla="*/ 2156 h 2251"/>
                <a:gd name="T18" fmla="*/ 277 w 2147"/>
                <a:gd name="T19" fmla="*/ 1346 h 2251"/>
                <a:gd name="T20" fmla="*/ 292 w 2147"/>
                <a:gd name="T21" fmla="*/ 1320 h 2251"/>
                <a:gd name="T22" fmla="*/ 1496 w 2147"/>
                <a:gd name="T23" fmla="*/ 24 h 2251"/>
                <a:gd name="T24" fmla="*/ 1546 w 2147"/>
                <a:gd name="T25" fmla="*/ 0 h 2251"/>
                <a:gd name="T26" fmla="*/ 1598 w 2147"/>
                <a:gd name="T27" fmla="*/ 20 h 2251"/>
                <a:gd name="T28" fmla="*/ 2116 w 2147"/>
                <a:gd name="T29" fmla="*/ 501 h 2251"/>
                <a:gd name="T30" fmla="*/ 2121 w 2147"/>
                <a:gd name="T31" fmla="*/ 603 h 2251"/>
                <a:gd name="T32" fmla="*/ 932 w 2147"/>
                <a:gd name="T33" fmla="*/ 1913 h 2251"/>
                <a:gd name="T34" fmla="*/ 904 w 2147"/>
                <a:gd name="T35" fmla="*/ 1932 h 2251"/>
                <a:gd name="T36" fmla="*/ 104 w 2147"/>
                <a:gd name="T37" fmla="*/ 2246 h 2251"/>
                <a:gd name="T38" fmla="*/ 78 w 2147"/>
                <a:gd name="T39" fmla="*/ 2251 h 2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47" h="2251">
                  <a:moveTo>
                    <a:pt x="409" y="1407"/>
                  </a:moveTo>
                  <a:lnTo>
                    <a:pt x="195" y="2055"/>
                  </a:lnTo>
                  <a:lnTo>
                    <a:pt x="836" y="1803"/>
                  </a:lnTo>
                  <a:lnTo>
                    <a:pt x="1965" y="559"/>
                  </a:lnTo>
                  <a:lnTo>
                    <a:pt x="1553" y="175"/>
                  </a:lnTo>
                  <a:lnTo>
                    <a:pt x="409" y="1407"/>
                  </a:lnTo>
                  <a:close/>
                  <a:moveTo>
                    <a:pt x="78" y="2251"/>
                  </a:moveTo>
                  <a:cubicBezTo>
                    <a:pt x="59" y="2251"/>
                    <a:pt x="41" y="2244"/>
                    <a:pt x="28" y="2231"/>
                  </a:cubicBezTo>
                  <a:cubicBezTo>
                    <a:pt x="7" y="2212"/>
                    <a:pt x="0" y="2182"/>
                    <a:pt x="9" y="2156"/>
                  </a:cubicBezTo>
                  <a:lnTo>
                    <a:pt x="277" y="1346"/>
                  </a:lnTo>
                  <a:cubicBezTo>
                    <a:pt x="280" y="1336"/>
                    <a:pt x="285" y="1327"/>
                    <a:pt x="292" y="1320"/>
                  </a:cubicBezTo>
                  <a:lnTo>
                    <a:pt x="1496" y="24"/>
                  </a:lnTo>
                  <a:cubicBezTo>
                    <a:pt x="1509" y="10"/>
                    <a:pt x="1527" y="1"/>
                    <a:pt x="1546" y="0"/>
                  </a:cubicBezTo>
                  <a:cubicBezTo>
                    <a:pt x="1565" y="0"/>
                    <a:pt x="1584" y="7"/>
                    <a:pt x="1598" y="20"/>
                  </a:cubicBezTo>
                  <a:lnTo>
                    <a:pt x="2116" y="501"/>
                  </a:lnTo>
                  <a:cubicBezTo>
                    <a:pt x="2145" y="528"/>
                    <a:pt x="2147" y="574"/>
                    <a:pt x="2121" y="603"/>
                  </a:cubicBezTo>
                  <a:lnTo>
                    <a:pt x="932" y="1913"/>
                  </a:lnTo>
                  <a:cubicBezTo>
                    <a:pt x="924" y="1921"/>
                    <a:pt x="915" y="1928"/>
                    <a:pt x="904" y="1932"/>
                  </a:cubicBezTo>
                  <a:lnTo>
                    <a:pt x="104" y="2246"/>
                  </a:lnTo>
                  <a:cubicBezTo>
                    <a:pt x="95" y="2249"/>
                    <a:pt x="86" y="2251"/>
                    <a:pt x="78" y="2251"/>
                  </a:cubicBezTo>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35" name="Freeform 7">
              <a:extLst>
                <a:ext uri="{FF2B5EF4-FFF2-40B4-BE49-F238E27FC236}">
                  <a16:creationId xmlns:a16="http://schemas.microsoft.com/office/drawing/2014/main" id="{46FF983D-C2E6-4D26-DBD7-29E308E8D963}"/>
                </a:ext>
              </a:extLst>
            </p:cNvPr>
            <p:cNvSpPr>
              <a:spLocks/>
            </p:cNvSpPr>
            <p:nvPr/>
          </p:nvSpPr>
          <p:spPr bwMode="auto">
            <a:xfrm>
              <a:off x="3994150" y="638175"/>
              <a:ext cx="38100" cy="36513"/>
            </a:xfrm>
            <a:custGeom>
              <a:avLst/>
              <a:gdLst>
                <a:gd name="T0" fmla="*/ 216 w 297"/>
                <a:gd name="T1" fmla="*/ 280 h 280"/>
                <a:gd name="T2" fmla="*/ 167 w 297"/>
                <a:gd name="T3" fmla="*/ 261 h 280"/>
                <a:gd name="T4" fmla="*/ 31 w 297"/>
                <a:gd name="T5" fmla="*/ 133 h 280"/>
                <a:gd name="T6" fmla="*/ 27 w 297"/>
                <a:gd name="T7" fmla="*/ 30 h 280"/>
                <a:gd name="T8" fmla="*/ 130 w 297"/>
                <a:gd name="T9" fmla="*/ 27 h 280"/>
                <a:gd name="T10" fmla="*/ 266 w 297"/>
                <a:gd name="T11" fmla="*/ 155 h 280"/>
                <a:gd name="T12" fmla="*/ 269 w 297"/>
                <a:gd name="T13" fmla="*/ 258 h 280"/>
                <a:gd name="T14" fmla="*/ 216 w 297"/>
                <a:gd name="T15" fmla="*/ 280 h 2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7" h="280">
                  <a:moveTo>
                    <a:pt x="216" y="280"/>
                  </a:moveTo>
                  <a:cubicBezTo>
                    <a:pt x="199" y="280"/>
                    <a:pt x="181" y="274"/>
                    <a:pt x="167" y="261"/>
                  </a:cubicBezTo>
                  <a:lnTo>
                    <a:pt x="31" y="133"/>
                  </a:lnTo>
                  <a:cubicBezTo>
                    <a:pt x="1" y="105"/>
                    <a:pt x="0" y="59"/>
                    <a:pt x="27" y="30"/>
                  </a:cubicBezTo>
                  <a:cubicBezTo>
                    <a:pt x="55" y="1"/>
                    <a:pt x="101" y="0"/>
                    <a:pt x="130" y="27"/>
                  </a:cubicBezTo>
                  <a:lnTo>
                    <a:pt x="266" y="155"/>
                  </a:lnTo>
                  <a:cubicBezTo>
                    <a:pt x="295" y="182"/>
                    <a:pt x="297" y="228"/>
                    <a:pt x="269" y="258"/>
                  </a:cubicBezTo>
                  <a:cubicBezTo>
                    <a:pt x="255" y="273"/>
                    <a:pt x="236" y="280"/>
                    <a:pt x="216" y="280"/>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36" name="Freeform 8">
              <a:extLst>
                <a:ext uri="{FF2B5EF4-FFF2-40B4-BE49-F238E27FC236}">
                  <a16:creationId xmlns:a16="http://schemas.microsoft.com/office/drawing/2014/main" id="{B685293B-B4C6-DB0F-0265-C07FDD20D90C}"/>
                </a:ext>
              </a:extLst>
            </p:cNvPr>
            <p:cNvSpPr>
              <a:spLocks/>
            </p:cNvSpPr>
            <p:nvPr/>
          </p:nvSpPr>
          <p:spPr bwMode="auto">
            <a:xfrm>
              <a:off x="3946525" y="593725"/>
              <a:ext cx="52388" cy="47625"/>
            </a:xfrm>
            <a:custGeom>
              <a:avLst/>
              <a:gdLst>
                <a:gd name="T0" fmla="*/ 325 w 405"/>
                <a:gd name="T1" fmla="*/ 377 h 377"/>
                <a:gd name="T2" fmla="*/ 276 w 405"/>
                <a:gd name="T3" fmla="*/ 358 h 377"/>
                <a:gd name="T4" fmla="*/ 32 w 405"/>
                <a:gd name="T5" fmla="*/ 134 h 377"/>
                <a:gd name="T6" fmla="*/ 27 w 405"/>
                <a:gd name="T7" fmla="*/ 32 h 377"/>
                <a:gd name="T8" fmla="*/ 130 w 405"/>
                <a:gd name="T9" fmla="*/ 27 h 377"/>
                <a:gd name="T10" fmla="*/ 374 w 405"/>
                <a:gd name="T11" fmla="*/ 251 h 377"/>
                <a:gd name="T12" fmla="*/ 378 w 405"/>
                <a:gd name="T13" fmla="*/ 354 h 377"/>
                <a:gd name="T14" fmla="*/ 325 w 405"/>
                <a:gd name="T15" fmla="*/ 377 h 3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5" h="377">
                  <a:moveTo>
                    <a:pt x="325" y="377"/>
                  </a:moveTo>
                  <a:cubicBezTo>
                    <a:pt x="307" y="377"/>
                    <a:pt x="290" y="371"/>
                    <a:pt x="276" y="358"/>
                  </a:cubicBezTo>
                  <a:lnTo>
                    <a:pt x="32" y="134"/>
                  </a:lnTo>
                  <a:cubicBezTo>
                    <a:pt x="2" y="107"/>
                    <a:pt x="0" y="61"/>
                    <a:pt x="27" y="32"/>
                  </a:cubicBezTo>
                  <a:cubicBezTo>
                    <a:pt x="54" y="2"/>
                    <a:pt x="100" y="0"/>
                    <a:pt x="130" y="27"/>
                  </a:cubicBezTo>
                  <a:lnTo>
                    <a:pt x="374" y="251"/>
                  </a:lnTo>
                  <a:cubicBezTo>
                    <a:pt x="403" y="278"/>
                    <a:pt x="405" y="324"/>
                    <a:pt x="378" y="354"/>
                  </a:cubicBezTo>
                  <a:cubicBezTo>
                    <a:pt x="364" y="369"/>
                    <a:pt x="345" y="377"/>
                    <a:pt x="325" y="377"/>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37" name="Freeform 9">
              <a:extLst>
                <a:ext uri="{FF2B5EF4-FFF2-40B4-BE49-F238E27FC236}">
                  <a16:creationId xmlns:a16="http://schemas.microsoft.com/office/drawing/2014/main" id="{47B0C92B-CC62-0274-F57B-629E77CE5A94}"/>
                </a:ext>
              </a:extLst>
            </p:cNvPr>
            <p:cNvSpPr>
              <a:spLocks/>
            </p:cNvSpPr>
            <p:nvPr/>
          </p:nvSpPr>
          <p:spPr bwMode="auto">
            <a:xfrm>
              <a:off x="3927475" y="647700"/>
              <a:ext cx="49213" cy="47625"/>
            </a:xfrm>
            <a:custGeom>
              <a:avLst/>
              <a:gdLst>
                <a:gd name="T0" fmla="*/ 305 w 385"/>
                <a:gd name="T1" fmla="*/ 366 h 366"/>
                <a:gd name="T2" fmla="*/ 255 w 385"/>
                <a:gd name="T3" fmla="*/ 346 h 366"/>
                <a:gd name="T4" fmla="*/ 30 w 385"/>
                <a:gd name="T5" fmla="*/ 133 h 366"/>
                <a:gd name="T6" fmla="*/ 28 w 385"/>
                <a:gd name="T7" fmla="*/ 30 h 366"/>
                <a:gd name="T8" fmla="*/ 130 w 385"/>
                <a:gd name="T9" fmla="*/ 28 h 366"/>
                <a:gd name="T10" fmla="*/ 355 w 385"/>
                <a:gd name="T11" fmla="*/ 241 h 366"/>
                <a:gd name="T12" fmla="*/ 358 w 385"/>
                <a:gd name="T13" fmla="*/ 344 h 366"/>
                <a:gd name="T14" fmla="*/ 305 w 385"/>
                <a:gd name="T15" fmla="*/ 366 h 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5" h="366">
                  <a:moveTo>
                    <a:pt x="305" y="366"/>
                  </a:moveTo>
                  <a:cubicBezTo>
                    <a:pt x="287" y="366"/>
                    <a:pt x="269" y="360"/>
                    <a:pt x="255" y="346"/>
                  </a:cubicBezTo>
                  <a:lnTo>
                    <a:pt x="30" y="133"/>
                  </a:lnTo>
                  <a:cubicBezTo>
                    <a:pt x="1" y="105"/>
                    <a:pt x="0" y="59"/>
                    <a:pt x="28" y="30"/>
                  </a:cubicBezTo>
                  <a:cubicBezTo>
                    <a:pt x="55" y="1"/>
                    <a:pt x="101" y="0"/>
                    <a:pt x="130" y="28"/>
                  </a:cubicBezTo>
                  <a:lnTo>
                    <a:pt x="355" y="241"/>
                  </a:lnTo>
                  <a:cubicBezTo>
                    <a:pt x="384" y="269"/>
                    <a:pt x="385" y="315"/>
                    <a:pt x="358" y="344"/>
                  </a:cubicBezTo>
                  <a:cubicBezTo>
                    <a:pt x="343" y="359"/>
                    <a:pt x="324" y="366"/>
                    <a:pt x="305" y="366"/>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38" name="Freeform 10">
              <a:extLst>
                <a:ext uri="{FF2B5EF4-FFF2-40B4-BE49-F238E27FC236}">
                  <a16:creationId xmlns:a16="http://schemas.microsoft.com/office/drawing/2014/main" id="{0C9B854F-330B-0111-D85E-AA82E2FC9A60}"/>
                </a:ext>
              </a:extLst>
            </p:cNvPr>
            <p:cNvSpPr>
              <a:spLocks noEditPoints="1"/>
            </p:cNvSpPr>
            <p:nvPr/>
          </p:nvSpPr>
          <p:spPr bwMode="auto">
            <a:xfrm>
              <a:off x="4117975" y="365125"/>
              <a:ext cx="131763" cy="122238"/>
            </a:xfrm>
            <a:custGeom>
              <a:avLst/>
              <a:gdLst>
                <a:gd name="T0" fmla="*/ 181 w 1040"/>
                <a:gd name="T1" fmla="*/ 397 h 959"/>
                <a:gd name="T2" fmla="*/ 599 w 1040"/>
                <a:gd name="T3" fmla="*/ 785 h 959"/>
                <a:gd name="T4" fmla="*/ 809 w 1040"/>
                <a:gd name="T5" fmla="*/ 565 h 959"/>
                <a:gd name="T6" fmla="*/ 791 w 1040"/>
                <a:gd name="T7" fmla="*/ 415 h 959"/>
                <a:gd name="T8" fmla="*/ 558 w 1040"/>
                <a:gd name="T9" fmla="*/ 203 h 959"/>
                <a:gd name="T10" fmla="*/ 535 w 1040"/>
                <a:gd name="T11" fmla="*/ 183 h 959"/>
                <a:gd name="T12" fmla="*/ 453 w 1040"/>
                <a:gd name="T13" fmla="*/ 145 h 959"/>
                <a:gd name="T14" fmla="*/ 373 w 1040"/>
                <a:gd name="T15" fmla="*/ 183 h 959"/>
                <a:gd name="T16" fmla="*/ 181 w 1040"/>
                <a:gd name="T17" fmla="*/ 397 h 959"/>
                <a:gd name="T18" fmla="*/ 602 w 1040"/>
                <a:gd name="T19" fmla="*/ 959 h 959"/>
                <a:gd name="T20" fmla="*/ 552 w 1040"/>
                <a:gd name="T21" fmla="*/ 940 h 959"/>
                <a:gd name="T22" fmla="*/ 31 w 1040"/>
                <a:gd name="T23" fmla="*/ 455 h 959"/>
                <a:gd name="T24" fmla="*/ 26 w 1040"/>
                <a:gd name="T25" fmla="*/ 354 h 959"/>
                <a:gd name="T26" fmla="*/ 264 w 1040"/>
                <a:gd name="T27" fmla="*/ 87 h 959"/>
                <a:gd name="T28" fmla="*/ 453 w 1040"/>
                <a:gd name="T29" fmla="*/ 0 h 959"/>
                <a:gd name="T30" fmla="*/ 631 w 1040"/>
                <a:gd name="T31" fmla="*/ 74 h 959"/>
                <a:gd name="T32" fmla="*/ 653 w 1040"/>
                <a:gd name="T33" fmla="*/ 94 h 959"/>
                <a:gd name="T34" fmla="*/ 893 w 1040"/>
                <a:gd name="T35" fmla="*/ 312 h 959"/>
                <a:gd name="T36" fmla="*/ 918 w 1040"/>
                <a:gd name="T37" fmla="*/ 661 h 959"/>
                <a:gd name="T38" fmla="*/ 654 w 1040"/>
                <a:gd name="T39" fmla="*/ 937 h 959"/>
                <a:gd name="T40" fmla="*/ 602 w 1040"/>
                <a:gd name="T41" fmla="*/ 959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40" h="959">
                  <a:moveTo>
                    <a:pt x="181" y="397"/>
                  </a:moveTo>
                  <a:lnTo>
                    <a:pt x="599" y="785"/>
                  </a:lnTo>
                  <a:cubicBezTo>
                    <a:pt x="690" y="690"/>
                    <a:pt x="797" y="578"/>
                    <a:pt x="809" y="565"/>
                  </a:cubicBezTo>
                  <a:cubicBezTo>
                    <a:pt x="852" y="516"/>
                    <a:pt x="860" y="483"/>
                    <a:pt x="791" y="415"/>
                  </a:cubicBezTo>
                  <a:cubicBezTo>
                    <a:pt x="719" y="344"/>
                    <a:pt x="644" y="279"/>
                    <a:pt x="558" y="203"/>
                  </a:cubicBezTo>
                  <a:lnTo>
                    <a:pt x="535" y="183"/>
                  </a:lnTo>
                  <a:cubicBezTo>
                    <a:pt x="506" y="158"/>
                    <a:pt x="479" y="145"/>
                    <a:pt x="453" y="145"/>
                  </a:cubicBezTo>
                  <a:cubicBezTo>
                    <a:pt x="408" y="145"/>
                    <a:pt x="373" y="183"/>
                    <a:pt x="373" y="183"/>
                  </a:cubicBezTo>
                  <a:lnTo>
                    <a:pt x="181" y="397"/>
                  </a:lnTo>
                  <a:close/>
                  <a:moveTo>
                    <a:pt x="602" y="959"/>
                  </a:moveTo>
                  <a:cubicBezTo>
                    <a:pt x="584" y="959"/>
                    <a:pt x="566" y="953"/>
                    <a:pt x="552" y="940"/>
                  </a:cubicBezTo>
                  <a:lnTo>
                    <a:pt x="31" y="455"/>
                  </a:lnTo>
                  <a:cubicBezTo>
                    <a:pt x="2" y="428"/>
                    <a:pt x="0" y="383"/>
                    <a:pt x="26" y="354"/>
                  </a:cubicBezTo>
                  <a:lnTo>
                    <a:pt x="264" y="87"/>
                  </a:lnTo>
                  <a:cubicBezTo>
                    <a:pt x="274" y="75"/>
                    <a:pt x="345" y="0"/>
                    <a:pt x="453" y="0"/>
                  </a:cubicBezTo>
                  <a:cubicBezTo>
                    <a:pt x="515" y="0"/>
                    <a:pt x="575" y="25"/>
                    <a:pt x="631" y="74"/>
                  </a:cubicBezTo>
                  <a:lnTo>
                    <a:pt x="653" y="94"/>
                  </a:lnTo>
                  <a:cubicBezTo>
                    <a:pt x="742" y="171"/>
                    <a:pt x="818" y="238"/>
                    <a:pt x="893" y="312"/>
                  </a:cubicBezTo>
                  <a:cubicBezTo>
                    <a:pt x="1040" y="457"/>
                    <a:pt x="987" y="582"/>
                    <a:pt x="918" y="661"/>
                  </a:cubicBezTo>
                  <a:cubicBezTo>
                    <a:pt x="897" y="684"/>
                    <a:pt x="679" y="911"/>
                    <a:pt x="654" y="937"/>
                  </a:cubicBezTo>
                  <a:cubicBezTo>
                    <a:pt x="640" y="952"/>
                    <a:pt x="621" y="959"/>
                    <a:pt x="602" y="959"/>
                  </a:cubicBezTo>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39" name="Freeform 11">
              <a:extLst>
                <a:ext uri="{FF2B5EF4-FFF2-40B4-BE49-F238E27FC236}">
                  <a16:creationId xmlns:a16="http://schemas.microsoft.com/office/drawing/2014/main" id="{81A615A8-D556-1178-A038-6D74789A389A}"/>
                </a:ext>
              </a:extLst>
            </p:cNvPr>
            <p:cNvSpPr>
              <a:spLocks/>
            </p:cNvSpPr>
            <p:nvPr/>
          </p:nvSpPr>
          <p:spPr bwMode="auto">
            <a:xfrm>
              <a:off x="4098925" y="401638"/>
              <a:ext cx="42863" cy="44450"/>
            </a:xfrm>
            <a:custGeom>
              <a:avLst/>
              <a:gdLst>
                <a:gd name="T0" fmla="*/ 81 w 329"/>
                <a:gd name="T1" fmla="*/ 348 h 348"/>
                <a:gd name="T2" fmla="*/ 34 w 329"/>
                <a:gd name="T3" fmla="*/ 331 h 348"/>
                <a:gd name="T4" fmla="*/ 26 w 329"/>
                <a:gd name="T5" fmla="*/ 229 h 348"/>
                <a:gd name="T6" fmla="*/ 193 w 329"/>
                <a:gd name="T7" fmla="*/ 34 h 348"/>
                <a:gd name="T8" fmla="*/ 295 w 329"/>
                <a:gd name="T9" fmla="*/ 26 h 348"/>
                <a:gd name="T10" fmla="*/ 303 w 329"/>
                <a:gd name="T11" fmla="*/ 129 h 348"/>
                <a:gd name="T12" fmla="*/ 136 w 329"/>
                <a:gd name="T13" fmla="*/ 323 h 348"/>
                <a:gd name="T14" fmla="*/ 81 w 329"/>
                <a:gd name="T15" fmla="*/ 348 h 3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9" h="348">
                  <a:moveTo>
                    <a:pt x="81" y="348"/>
                  </a:moveTo>
                  <a:cubicBezTo>
                    <a:pt x="64" y="348"/>
                    <a:pt x="47" y="343"/>
                    <a:pt x="34" y="331"/>
                  </a:cubicBezTo>
                  <a:cubicBezTo>
                    <a:pt x="3" y="305"/>
                    <a:pt x="0" y="259"/>
                    <a:pt x="26" y="229"/>
                  </a:cubicBezTo>
                  <a:lnTo>
                    <a:pt x="193" y="34"/>
                  </a:lnTo>
                  <a:cubicBezTo>
                    <a:pt x="219" y="4"/>
                    <a:pt x="265" y="0"/>
                    <a:pt x="295" y="26"/>
                  </a:cubicBezTo>
                  <a:cubicBezTo>
                    <a:pt x="325" y="53"/>
                    <a:pt x="329" y="98"/>
                    <a:pt x="303" y="129"/>
                  </a:cubicBezTo>
                  <a:lnTo>
                    <a:pt x="136" y="323"/>
                  </a:lnTo>
                  <a:cubicBezTo>
                    <a:pt x="121" y="340"/>
                    <a:pt x="101" y="348"/>
                    <a:pt x="81" y="348"/>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40" name="Freeform 12">
              <a:extLst>
                <a:ext uri="{FF2B5EF4-FFF2-40B4-BE49-F238E27FC236}">
                  <a16:creationId xmlns:a16="http://schemas.microsoft.com/office/drawing/2014/main" id="{C865871E-AD07-A0A8-872D-E534FAC45C9C}"/>
                </a:ext>
              </a:extLst>
            </p:cNvPr>
            <p:cNvSpPr>
              <a:spLocks/>
            </p:cNvSpPr>
            <p:nvPr/>
          </p:nvSpPr>
          <p:spPr bwMode="auto">
            <a:xfrm>
              <a:off x="4170363" y="466725"/>
              <a:ext cx="36513" cy="36513"/>
            </a:xfrm>
            <a:custGeom>
              <a:avLst/>
              <a:gdLst>
                <a:gd name="T0" fmla="*/ 80 w 287"/>
                <a:gd name="T1" fmla="*/ 288 h 288"/>
                <a:gd name="T2" fmla="*/ 31 w 287"/>
                <a:gd name="T3" fmla="*/ 268 h 288"/>
                <a:gd name="T4" fmla="*/ 27 w 287"/>
                <a:gd name="T5" fmla="*/ 166 h 288"/>
                <a:gd name="T6" fmla="*/ 154 w 287"/>
                <a:gd name="T7" fmla="*/ 31 h 288"/>
                <a:gd name="T8" fmla="*/ 256 w 287"/>
                <a:gd name="T9" fmla="*/ 27 h 288"/>
                <a:gd name="T10" fmla="*/ 260 w 287"/>
                <a:gd name="T11" fmla="*/ 129 h 288"/>
                <a:gd name="T12" fmla="*/ 133 w 287"/>
                <a:gd name="T13" fmla="*/ 265 h 288"/>
                <a:gd name="T14" fmla="*/ 80 w 287"/>
                <a:gd name="T15" fmla="*/ 288 h 2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7" h="288">
                  <a:moveTo>
                    <a:pt x="80" y="288"/>
                  </a:moveTo>
                  <a:cubicBezTo>
                    <a:pt x="63" y="288"/>
                    <a:pt x="45" y="281"/>
                    <a:pt x="31" y="268"/>
                  </a:cubicBezTo>
                  <a:cubicBezTo>
                    <a:pt x="2" y="241"/>
                    <a:pt x="0" y="195"/>
                    <a:pt x="27" y="166"/>
                  </a:cubicBezTo>
                  <a:lnTo>
                    <a:pt x="154" y="31"/>
                  </a:lnTo>
                  <a:cubicBezTo>
                    <a:pt x="181" y="1"/>
                    <a:pt x="227" y="0"/>
                    <a:pt x="256" y="27"/>
                  </a:cubicBezTo>
                  <a:cubicBezTo>
                    <a:pt x="285" y="54"/>
                    <a:pt x="287" y="100"/>
                    <a:pt x="260" y="129"/>
                  </a:cubicBezTo>
                  <a:lnTo>
                    <a:pt x="133" y="265"/>
                  </a:lnTo>
                  <a:cubicBezTo>
                    <a:pt x="119" y="280"/>
                    <a:pt x="100" y="288"/>
                    <a:pt x="80" y="288"/>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41" name="Freeform 13">
              <a:extLst>
                <a:ext uri="{FF2B5EF4-FFF2-40B4-BE49-F238E27FC236}">
                  <a16:creationId xmlns:a16="http://schemas.microsoft.com/office/drawing/2014/main" id="{175F3157-09F5-20FD-0597-48388039273D}"/>
                </a:ext>
              </a:extLst>
            </p:cNvPr>
            <p:cNvSpPr>
              <a:spLocks/>
            </p:cNvSpPr>
            <p:nvPr/>
          </p:nvSpPr>
          <p:spPr bwMode="auto">
            <a:xfrm>
              <a:off x="4135438" y="484188"/>
              <a:ext cx="17463" cy="19050"/>
            </a:xfrm>
            <a:custGeom>
              <a:avLst/>
              <a:gdLst>
                <a:gd name="T0" fmla="*/ 72 w 145"/>
                <a:gd name="T1" fmla="*/ 145 h 145"/>
                <a:gd name="T2" fmla="*/ 21 w 145"/>
                <a:gd name="T3" fmla="*/ 124 h 145"/>
                <a:gd name="T4" fmla="*/ 0 w 145"/>
                <a:gd name="T5" fmla="*/ 73 h 145"/>
                <a:gd name="T6" fmla="*/ 21 w 145"/>
                <a:gd name="T7" fmla="*/ 21 h 145"/>
                <a:gd name="T8" fmla="*/ 72 w 145"/>
                <a:gd name="T9" fmla="*/ 0 h 145"/>
                <a:gd name="T10" fmla="*/ 124 w 145"/>
                <a:gd name="T11" fmla="*/ 21 h 145"/>
                <a:gd name="T12" fmla="*/ 145 w 145"/>
                <a:gd name="T13" fmla="*/ 73 h 145"/>
                <a:gd name="T14" fmla="*/ 124 w 145"/>
                <a:gd name="T15" fmla="*/ 124 h 145"/>
                <a:gd name="T16" fmla="*/ 72 w 145"/>
                <a:gd name="T17" fmla="*/ 14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5" h="145">
                  <a:moveTo>
                    <a:pt x="72" y="145"/>
                  </a:moveTo>
                  <a:cubicBezTo>
                    <a:pt x="53" y="145"/>
                    <a:pt x="35" y="137"/>
                    <a:pt x="21" y="124"/>
                  </a:cubicBezTo>
                  <a:cubicBezTo>
                    <a:pt x="8" y="110"/>
                    <a:pt x="0" y="91"/>
                    <a:pt x="0" y="73"/>
                  </a:cubicBezTo>
                  <a:cubicBezTo>
                    <a:pt x="0" y="53"/>
                    <a:pt x="8" y="35"/>
                    <a:pt x="21" y="21"/>
                  </a:cubicBezTo>
                  <a:cubicBezTo>
                    <a:pt x="35" y="8"/>
                    <a:pt x="53" y="0"/>
                    <a:pt x="72" y="0"/>
                  </a:cubicBezTo>
                  <a:cubicBezTo>
                    <a:pt x="92" y="0"/>
                    <a:pt x="110" y="8"/>
                    <a:pt x="124" y="21"/>
                  </a:cubicBezTo>
                  <a:cubicBezTo>
                    <a:pt x="137" y="35"/>
                    <a:pt x="145" y="53"/>
                    <a:pt x="145" y="73"/>
                  </a:cubicBezTo>
                  <a:cubicBezTo>
                    <a:pt x="145" y="91"/>
                    <a:pt x="137" y="110"/>
                    <a:pt x="124" y="124"/>
                  </a:cubicBezTo>
                  <a:cubicBezTo>
                    <a:pt x="110" y="137"/>
                    <a:pt x="92" y="145"/>
                    <a:pt x="72" y="145"/>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42" name="Freeform 14">
              <a:extLst>
                <a:ext uri="{FF2B5EF4-FFF2-40B4-BE49-F238E27FC236}">
                  <a16:creationId xmlns:a16="http://schemas.microsoft.com/office/drawing/2014/main" id="{9BD5F27D-BB60-A33B-75B3-D7F5E3820A5E}"/>
                </a:ext>
              </a:extLst>
            </p:cNvPr>
            <p:cNvSpPr>
              <a:spLocks/>
            </p:cNvSpPr>
            <p:nvPr/>
          </p:nvSpPr>
          <p:spPr bwMode="auto">
            <a:xfrm>
              <a:off x="4008438" y="498475"/>
              <a:ext cx="131763" cy="138113"/>
            </a:xfrm>
            <a:custGeom>
              <a:avLst/>
              <a:gdLst>
                <a:gd name="T0" fmla="*/ 80 w 1028"/>
                <a:gd name="T1" fmla="*/ 1078 h 1078"/>
                <a:gd name="T2" fmla="*/ 31 w 1028"/>
                <a:gd name="T3" fmla="*/ 1058 h 1078"/>
                <a:gd name="T4" fmla="*/ 28 w 1028"/>
                <a:gd name="T5" fmla="*/ 956 h 1078"/>
                <a:gd name="T6" fmla="*/ 895 w 1028"/>
                <a:gd name="T7" fmla="*/ 31 h 1078"/>
                <a:gd name="T8" fmla="*/ 997 w 1028"/>
                <a:gd name="T9" fmla="*/ 28 h 1078"/>
                <a:gd name="T10" fmla="*/ 1000 w 1028"/>
                <a:gd name="T11" fmla="*/ 130 h 1078"/>
                <a:gd name="T12" fmla="*/ 133 w 1028"/>
                <a:gd name="T13" fmla="*/ 1054 h 1078"/>
                <a:gd name="T14" fmla="*/ 80 w 1028"/>
                <a:gd name="T15" fmla="*/ 1078 h 10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8" h="1078">
                  <a:moveTo>
                    <a:pt x="80" y="1078"/>
                  </a:moveTo>
                  <a:cubicBezTo>
                    <a:pt x="63" y="1078"/>
                    <a:pt x="45" y="1071"/>
                    <a:pt x="31" y="1058"/>
                  </a:cubicBezTo>
                  <a:cubicBezTo>
                    <a:pt x="2" y="1031"/>
                    <a:pt x="0" y="985"/>
                    <a:pt x="28" y="956"/>
                  </a:cubicBezTo>
                  <a:cubicBezTo>
                    <a:pt x="33" y="949"/>
                    <a:pt x="610" y="332"/>
                    <a:pt x="895" y="31"/>
                  </a:cubicBezTo>
                  <a:cubicBezTo>
                    <a:pt x="923" y="2"/>
                    <a:pt x="968" y="0"/>
                    <a:pt x="997" y="28"/>
                  </a:cubicBezTo>
                  <a:cubicBezTo>
                    <a:pt x="1027" y="55"/>
                    <a:pt x="1028" y="101"/>
                    <a:pt x="1000" y="130"/>
                  </a:cubicBezTo>
                  <a:cubicBezTo>
                    <a:pt x="716" y="432"/>
                    <a:pt x="139" y="1048"/>
                    <a:pt x="133" y="1054"/>
                  </a:cubicBezTo>
                  <a:cubicBezTo>
                    <a:pt x="119" y="1070"/>
                    <a:pt x="100" y="1078"/>
                    <a:pt x="80" y="1078"/>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43" name="Freeform 15">
              <a:extLst>
                <a:ext uri="{FF2B5EF4-FFF2-40B4-BE49-F238E27FC236}">
                  <a16:creationId xmlns:a16="http://schemas.microsoft.com/office/drawing/2014/main" id="{A1D788DB-61C7-09ED-4DCE-EEA6A078619F}"/>
                </a:ext>
              </a:extLst>
            </p:cNvPr>
            <p:cNvSpPr>
              <a:spLocks/>
            </p:cNvSpPr>
            <p:nvPr/>
          </p:nvSpPr>
          <p:spPr bwMode="auto">
            <a:xfrm>
              <a:off x="4110038" y="463550"/>
              <a:ext cx="19050" cy="19050"/>
            </a:xfrm>
            <a:custGeom>
              <a:avLst/>
              <a:gdLst>
                <a:gd name="T0" fmla="*/ 72 w 145"/>
                <a:gd name="T1" fmla="*/ 145 h 145"/>
                <a:gd name="T2" fmla="*/ 21 w 145"/>
                <a:gd name="T3" fmla="*/ 124 h 145"/>
                <a:gd name="T4" fmla="*/ 0 w 145"/>
                <a:gd name="T5" fmla="*/ 73 h 145"/>
                <a:gd name="T6" fmla="*/ 21 w 145"/>
                <a:gd name="T7" fmla="*/ 21 h 145"/>
                <a:gd name="T8" fmla="*/ 72 w 145"/>
                <a:gd name="T9" fmla="*/ 0 h 145"/>
                <a:gd name="T10" fmla="*/ 123 w 145"/>
                <a:gd name="T11" fmla="*/ 21 h 145"/>
                <a:gd name="T12" fmla="*/ 145 w 145"/>
                <a:gd name="T13" fmla="*/ 73 h 145"/>
                <a:gd name="T14" fmla="*/ 123 w 145"/>
                <a:gd name="T15" fmla="*/ 124 h 145"/>
                <a:gd name="T16" fmla="*/ 72 w 145"/>
                <a:gd name="T17" fmla="*/ 14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5" h="145">
                  <a:moveTo>
                    <a:pt x="72" y="145"/>
                  </a:moveTo>
                  <a:cubicBezTo>
                    <a:pt x="53" y="145"/>
                    <a:pt x="34" y="137"/>
                    <a:pt x="21" y="124"/>
                  </a:cubicBezTo>
                  <a:cubicBezTo>
                    <a:pt x="7" y="110"/>
                    <a:pt x="0" y="92"/>
                    <a:pt x="0" y="73"/>
                  </a:cubicBezTo>
                  <a:cubicBezTo>
                    <a:pt x="0" y="53"/>
                    <a:pt x="7" y="35"/>
                    <a:pt x="21" y="21"/>
                  </a:cubicBezTo>
                  <a:cubicBezTo>
                    <a:pt x="34" y="8"/>
                    <a:pt x="53" y="0"/>
                    <a:pt x="72" y="0"/>
                  </a:cubicBezTo>
                  <a:cubicBezTo>
                    <a:pt x="91" y="0"/>
                    <a:pt x="110" y="8"/>
                    <a:pt x="123" y="21"/>
                  </a:cubicBezTo>
                  <a:cubicBezTo>
                    <a:pt x="137" y="35"/>
                    <a:pt x="145" y="53"/>
                    <a:pt x="145" y="73"/>
                  </a:cubicBezTo>
                  <a:cubicBezTo>
                    <a:pt x="145" y="92"/>
                    <a:pt x="137" y="110"/>
                    <a:pt x="123" y="124"/>
                  </a:cubicBezTo>
                  <a:cubicBezTo>
                    <a:pt x="110" y="137"/>
                    <a:pt x="91" y="145"/>
                    <a:pt x="72" y="145"/>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44" name="Freeform 16">
              <a:extLst>
                <a:ext uri="{FF2B5EF4-FFF2-40B4-BE49-F238E27FC236}">
                  <a16:creationId xmlns:a16="http://schemas.microsoft.com/office/drawing/2014/main" id="{6DF1BBD0-508B-2681-DB35-BF5D01FD1794}"/>
                </a:ext>
              </a:extLst>
            </p:cNvPr>
            <p:cNvSpPr>
              <a:spLocks/>
            </p:cNvSpPr>
            <p:nvPr/>
          </p:nvSpPr>
          <p:spPr bwMode="auto">
            <a:xfrm>
              <a:off x="3987800" y="477838"/>
              <a:ext cx="125413" cy="133350"/>
            </a:xfrm>
            <a:custGeom>
              <a:avLst/>
              <a:gdLst>
                <a:gd name="T0" fmla="*/ 105 w 985"/>
                <a:gd name="T1" fmla="*/ 1041 h 1041"/>
                <a:gd name="T2" fmla="*/ 0 w 985"/>
                <a:gd name="T3" fmla="*/ 942 h 1041"/>
                <a:gd name="T4" fmla="*/ 852 w 985"/>
                <a:gd name="T5" fmla="*/ 31 h 1041"/>
                <a:gd name="T6" fmla="*/ 955 w 985"/>
                <a:gd name="T7" fmla="*/ 28 h 1041"/>
                <a:gd name="T8" fmla="*/ 958 w 985"/>
                <a:gd name="T9" fmla="*/ 130 h 1041"/>
                <a:gd name="T10" fmla="*/ 105 w 985"/>
                <a:gd name="T11" fmla="*/ 1041 h 1041"/>
              </a:gdLst>
              <a:ahLst/>
              <a:cxnLst>
                <a:cxn ang="0">
                  <a:pos x="T0" y="T1"/>
                </a:cxn>
                <a:cxn ang="0">
                  <a:pos x="T2" y="T3"/>
                </a:cxn>
                <a:cxn ang="0">
                  <a:pos x="T4" y="T5"/>
                </a:cxn>
                <a:cxn ang="0">
                  <a:pos x="T6" y="T7"/>
                </a:cxn>
                <a:cxn ang="0">
                  <a:pos x="T8" y="T9"/>
                </a:cxn>
                <a:cxn ang="0">
                  <a:pos x="T10" y="T11"/>
                </a:cxn>
              </a:cxnLst>
              <a:rect l="0" t="0" r="r" b="b"/>
              <a:pathLst>
                <a:path w="985" h="1041">
                  <a:moveTo>
                    <a:pt x="105" y="1041"/>
                  </a:moveTo>
                  <a:lnTo>
                    <a:pt x="0" y="942"/>
                  </a:lnTo>
                  <a:cubicBezTo>
                    <a:pt x="0" y="942"/>
                    <a:pt x="566" y="337"/>
                    <a:pt x="852" y="31"/>
                  </a:cubicBezTo>
                  <a:cubicBezTo>
                    <a:pt x="880" y="2"/>
                    <a:pt x="925" y="0"/>
                    <a:pt x="955" y="28"/>
                  </a:cubicBezTo>
                  <a:cubicBezTo>
                    <a:pt x="984" y="55"/>
                    <a:pt x="985" y="101"/>
                    <a:pt x="958" y="130"/>
                  </a:cubicBezTo>
                  <a:cubicBezTo>
                    <a:pt x="671" y="436"/>
                    <a:pt x="105" y="1041"/>
                    <a:pt x="105" y="1041"/>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45" name="Freeform 17">
              <a:extLst>
                <a:ext uri="{FF2B5EF4-FFF2-40B4-BE49-F238E27FC236}">
                  <a16:creationId xmlns:a16="http://schemas.microsoft.com/office/drawing/2014/main" id="{EB827EC4-E603-701D-7287-BC6626A2BEA9}"/>
                </a:ext>
              </a:extLst>
            </p:cNvPr>
            <p:cNvSpPr>
              <a:spLocks/>
            </p:cNvSpPr>
            <p:nvPr/>
          </p:nvSpPr>
          <p:spPr bwMode="auto">
            <a:xfrm>
              <a:off x="3819525" y="350838"/>
              <a:ext cx="222250" cy="323850"/>
            </a:xfrm>
            <a:custGeom>
              <a:avLst/>
              <a:gdLst>
                <a:gd name="T0" fmla="*/ 725 w 1739"/>
                <a:gd name="T1" fmla="*/ 2536 h 2536"/>
                <a:gd name="T2" fmla="*/ 73 w 1739"/>
                <a:gd name="T3" fmla="*/ 2536 h 2536"/>
                <a:gd name="T4" fmla="*/ 0 w 1739"/>
                <a:gd name="T5" fmla="*/ 2464 h 2536"/>
                <a:gd name="T6" fmla="*/ 0 w 1739"/>
                <a:gd name="T7" fmla="*/ 73 h 2536"/>
                <a:gd name="T8" fmla="*/ 73 w 1739"/>
                <a:gd name="T9" fmla="*/ 0 h 2536"/>
                <a:gd name="T10" fmla="*/ 1667 w 1739"/>
                <a:gd name="T11" fmla="*/ 0 h 2536"/>
                <a:gd name="T12" fmla="*/ 1739 w 1739"/>
                <a:gd name="T13" fmla="*/ 73 h 2536"/>
                <a:gd name="T14" fmla="*/ 1667 w 1739"/>
                <a:gd name="T15" fmla="*/ 145 h 2536"/>
                <a:gd name="T16" fmla="*/ 145 w 1739"/>
                <a:gd name="T17" fmla="*/ 145 h 2536"/>
                <a:gd name="T18" fmla="*/ 145 w 1739"/>
                <a:gd name="T19" fmla="*/ 2391 h 2536"/>
                <a:gd name="T20" fmla="*/ 725 w 1739"/>
                <a:gd name="T21" fmla="*/ 2391 h 2536"/>
                <a:gd name="T22" fmla="*/ 798 w 1739"/>
                <a:gd name="T23" fmla="*/ 2464 h 2536"/>
                <a:gd name="T24" fmla="*/ 725 w 1739"/>
                <a:gd name="T25" fmla="*/ 2536 h 2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9" h="2536">
                  <a:moveTo>
                    <a:pt x="725" y="2536"/>
                  </a:moveTo>
                  <a:lnTo>
                    <a:pt x="73" y="2536"/>
                  </a:lnTo>
                  <a:cubicBezTo>
                    <a:pt x="33" y="2536"/>
                    <a:pt x="0" y="2504"/>
                    <a:pt x="0" y="2464"/>
                  </a:cubicBezTo>
                  <a:lnTo>
                    <a:pt x="0" y="73"/>
                  </a:lnTo>
                  <a:cubicBezTo>
                    <a:pt x="0" y="33"/>
                    <a:pt x="33" y="0"/>
                    <a:pt x="73" y="0"/>
                  </a:cubicBezTo>
                  <a:lnTo>
                    <a:pt x="1667" y="0"/>
                  </a:lnTo>
                  <a:cubicBezTo>
                    <a:pt x="1707" y="0"/>
                    <a:pt x="1739" y="33"/>
                    <a:pt x="1739" y="73"/>
                  </a:cubicBezTo>
                  <a:cubicBezTo>
                    <a:pt x="1739" y="113"/>
                    <a:pt x="1707" y="145"/>
                    <a:pt x="1667" y="145"/>
                  </a:cubicBezTo>
                  <a:lnTo>
                    <a:pt x="145" y="145"/>
                  </a:lnTo>
                  <a:lnTo>
                    <a:pt x="145" y="2391"/>
                  </a:lnTo>
                  <a:lnTo>
                    <a:pt x="725" y="2391"/>
                  </a:lnTo>
                  <a:cubicBezTo>
                    <a:pt x="765" y="2391"/>
                    <a:pt x="798" y="2424"/>
                    <a:pt x="798" y="2464"/>
                  </a:cubicBezTo>
                  <a:cubicBezTo>
                    <a:pt x="798" y="2504"/>
                    <a:pt x="765" y="2536"/>
                    <a:pt x="725" y="2536"/>
                  </a:cubicBezTo>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46" name="Freeform 18">
              <a:extLst>
                <a:ext uri="{FF2B5EF4-FFF2-40B4-BE49-F238E27FC236}">
                  <a16:creationId xmlns:a16="http://schemas.microsoft.com/office/drawing/2014/main" id="{B61FF956-9CA4-0806-7912-0137F420B50B}"/>
                </a:ext>
              </a:extLst>
            </p:cNvPr>
            <p:cNvSpPr>
              <a:spLocks/>
            </p:cNvSpPr>
            <p:nvPr/>
          </p:nvSpPr>
          <p:spPr bwMode="auto">
            <a:xfrm>
              <a:off x="4048125" y="557213"/>
              <a:ext cx="109538" cy="117475"/>
            </a:xfrm>
            <a:custGeom>
              <a:avLst/>
              <a:gdLst>
                <a:gd name="T0" fmla="*/ 785 w 857"/>
                <a:gd name="T1" fmla="*/ 917 h 917"/>
                <a:gd name="T2" fmla="*/ 72 w 857"/>
                <a:gd name="T3" fmla="*/ 917 h 917"/>
                <a:gd name="T4" fmla="*/ 0 w 857"/>
                <a:gd name="T5" fmla="*/ 845 h 917"/>
                <a:gd name="T6" fmla="*/ 72 w 857"/>
                <a:gd name="T7" fmla="*/ 772 h 917"/>
                <a:gd name="T8" fmla="*/ 712 w 857"/>
                <a:gd name="T9" fmla="*/ 772 h 917"/>
                <a:gd name="T10" fmla="*/ 712 w 857"/>
                <a:gd name="T11" fmla="*/ 72 h 917"/>
                <a:gd name="T12" fmla="*/ 785 w 857"/>
                <a:gd name="T13" fmla="*/ 0 h 917"/>
                <a:gd name="T14" fmla="*/ 857 w 857"/>
                <a:gd name="T15" fmla="*/ 72 h 917"/>
                <a:gd name="T16" fmla="*/ 857 w 857"/>
                <a:gd name="T17" fmla="*/ 845 h 917"/>
                <a:gd name="T18" fmla="*/ 785 w 857"/>
                <a:gd name="T19" fmla="*/ 917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7" h="917">
                  <a:moveTo>
                    <a:pt x="785" y="917"/>
                  </a:moveTo>
                  <a:lnTo>
                    <a:pt x="72" y="917"/>
                  </a:lnTo>
                  <a:cubicBezTo>
                    <a:pt x="32" y="917"/>
                    <a:pt x="0" y="885"/>
                    <a:pt x="0" y="845"/>
                  </a:cubicBezTo>
                  <a:cubicBezTo>
                    <a:pt x="0" y="805"/>
                    <a:pt x="32" y="772"/>
                    <a:pt x="72" y="772"/>
                  </a:cubicBezTo>
                  <a:lnTo>
                    <a:pt x="712" y="772"/>
                  </a:lnTo>
                  <a:lnTo>
                    <a:pt x="712" y="72"/>
                  </a:lnTo>
                  <a:cubicBezTo>
                    <a:pt x="712" y="32"/>
                    <a:pt x="745" y="0"/>
                    <a:pt x="785" y="0"/>
                  </a:cubicBezTo>
                  <a:cubicBezTo>
                    <a:pt x="825" y="0"/>
                    <a:pt x="857" y="32"/>
                    <a:pt x="857" y="72"/>
                  </a:cubicBezTo>
                  <a:lnTo>
                    <a:pt x="857" y="845"/>
                  </a:lnTo>
                  <a:cubicBezTo>
                    <a:pt x="857" y="885"/>
                    <a:pt x="825" y="917"/>
                    <a:pt x="785" y="917"/>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47" name="Freeform 19">
              <a:extLst>
                <a:ext uri="{FF2B5EF4-FFF2-40B4-BE49-F238E27FC236}">
                  <a16:creationId xmlns:a16="http://schemas.microsoft.com/office/drawing/2014/main" id="{31EB8936-55A5-C4FA-EDD0-DD23E3A819E4}"/>
                </a:ext>
              </a:extLst>
            </p:cNvPr>
            <p:cNvSpPr>
              <a:spLocks/>
            </p:cNvSpPr>
            <p:nvPr/>
          </p:nvSpPr>
          <p:spPr bwMode="auto">
            <a:xfrm>
              <a:off x="4092575" y="350838"/>
              <a:ext cx="65088" cy="25400"/>
            </a:xfrm>
            <a:custGeom>
              <a:avLst/>
              <a:gdLst>
                <a:gd name="T0" fmla="*/ 435 w 507"/>
                <a:gd name="T1" fmla="*/ 206 h 206"/>
                <a:gd name="T2" fmla="*/ 363 w 507"/>
                <a:gd name="T3" fmla="*/ 145 h 206"/>
                <a:gd name="T4" fmla="*/ 72 w 507"/>
                <a:gd name="T5" fmla="*/ 145 h 206"/>
                <a:gd name="T6" fmla="*/ 0 w 507"/>
                <a:gd name="T7" fmla="*/ 73 h 206"/>
                <a:gd name="T8" fmla="*/ 72 w 507"/>
                <a:gd name="T9" fmla="*/ 0 h 206"/>
                <a:gd name="T10" fmla="*/ 435 w 507"/>
                <a:gd name="T11" fmla="*/ 0 h 206"/>
                <a:gd name="T12" fmla="*/ 507 w 507"/>
                <a:gd name="T13" fmla="*/ 73 h 206"/>
                <a:gd name="T14" fmla="*/ 507 w 507"/>
                <a:gd name="T15" fmla="*/ 133 h 206"/>
                <a:gd name="T16" fmla="*/ 435 w 507"/>
                <a:gd name="T17" fmla="*/ 20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7" h="206">
                  <a:moveTo>
                    <a:pt x="435" y="206"/>
                  </a:moveTo>
                  <a:cubicBezTo>
                    <a:pt x="399" y="206"/>
                    <a:pt x="369" y="179"/>
                    <a:pt x="363" y="145"/>
                  </a:cubicBezTo>
                  <a:lnTo>
                    <a:pt x="72" y="145"/>
                  </a:lnTo>
                  <a:cubicBezTo>
                    <a:pt x="32" y="145"/>
                    <a:pt x="0" y="113"/>
                    <a:pt x="0" y="73"/>
                  </a:cubicBezTo>
                  <a:cubicBezTo>
                    <a:pt x="0" y="33"/>
                    <a:pt x="32" y="0"/>
                    <a:pt x="72" y="0"/>
                  </a:cubicBezTo>
                  <a:lnTo>
                    <a:pt x="435" y="0"/>
                  </a:lnTo>
                  <a:cubicBezTo>
                    <a:pt x="475" y="0"/>
                    <a:pt x="507" y="33"/>
                    <a:pt x="507" y="73"/>
                  </a:cubicBezTo>
                  <a:lnTo>
                    <a:pt x="507" y="133"/>
                  </a:lnTo>
                  <a:cubicBezTo>
                    <a:pt x="507" y="173"/>
                    <a:pt x="475" y="206"/>
                    <a:pt x="435" y="206"/>
                  </a:cubicBezTo>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48" name="Freeform 20">
              <a:extLst>
                <a:ext uri="{FF2B5EF4-FFF2-40B4-BE49-F238E27FC236}">
                  <a16:creationId xmlns:a16="http://schemas.microsoft.com/office/drawing/2014/main" id="{5C463BBA-124A-CC3E-75AF-3AC1CAE8DF82}"/>
                </a:ext>
              </a:extLst>
            </p:cNvPr>
            <p:cNvSpPr>
              <a:spLocks/>
            </p:cNvSpPr>
            <p:nvPr/>
          </p:nvSpPr>
          <p:spPr bwMode="auto">
            <a:xfrm>
              <a:off x="3821113" y="352425"/>
              <a:ext cx="176213" cy="193675"/>
            </a:xfrm>
            <a:custGeom>
              <a:avLst/>
              <a:gdLst>
                <a:gd name="T0" fmla="*/ 1304 w 1376"/>
                <a:gd name="T1" fmla="*/ 1521 h 1521"/>
                <a:gd name="T2" fmla="*/ 72 w 1376"/>
                <a:gd name="T3" fmla="*/ 1521 h 1521"/>
                <a:gd name="T4" fmla="*/ 0 w 1376"/>
                <a:gd name="T5" fmla="*/ 1449 h 1521"/>
                <a:gd name="T6" fmla="*/ 0 w 1376"/>
                <a:gd name="T7" fmla="*/ 72 h 1521"/>
                <a:gd name="T8" fmla="*/ 72 w 1376"/>
                <a:gd name="T9" fmla="*/ 0 h 1521"/>
                <a:gd name="T10" fmla="*/ 1304 w 1376"/>
                <a:gd name="T11" fmla="*/ 0 h 1521"/>
                <a:gd name="T12" fmla="*/ 1376 w 1376"/>
                <a:gd name="T13" fmla="*/ 72 h 1521"/>
                <a:gd name="T14" fmla="*/ 1376 w 1376"/>
                <a:gd name="T15" fmla="*/ 627 h 1521"/>
                <a:gd name="T16" fmla="*/ 1304 w 1376"/>
                <a:gd name="T17" fmla="*/ 700 h 1521"/>
                <a:gd name="T18" fmla="*/ 1231 w 1376"/>
                <a:gd name="T19" fmla="*/ 627 h 1521"/>
                <a:gd name="T20" fmla="*/ 1231 w 1376"/>
                <a:gd name="T21" fmla="*/ 144 h 1521"/>
                <a:gd name="T22" fmla="*/ 144 w 1376"/>
                <a:gd name="T23" fmla="*/ 144 h 1521"/>
                <a:gd name="T24" fmla="*/ 144 w 1376"/>
                <a:gd name="T25" fmla="*/ 1376 h 1521"/>
                <a:gd name="T26" fmla="*/ 1231 w 1376"/>
                <a:gd name="T27" fmla="*/ 1376 h 1521"/>
                <a:gd name="T28" fmla="*/ 1231 w 1376"/>
                <a:gd name="T29" fmla="*/ 1002 h 1521"/>
                <a:gd name="T30" fmla="*/ 1304 w 1376"/>
                <a:gd name="T31" fmla="*/ 929 h 1521"/>
                <a:gd name="T32" fmla="*/ 1376 w 1376"/>
                <a:gd name="T33" fmla="*/ 1002 h 1521"/>
                <a:gd name="T34" fmla="*/ 1376 w 1376"/>
                <a:gd name="T35" fmla="*/ 1449 h 1521"/>
                <a:gd name="T36" fmla="*/ 1304 w 1376"/>
                <a:gd name="T37" fmla="*/ 1521 h 1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76" h="1521">
                  <a:moveTo>
                    <a:pt x="1304" y="1521"/>
                  </a:moveTo>
                  <a:lnTo>
                    <a:pt x="72" y="1521"/>
                  </a:lnTo>
                  <a:cubicBezTo>
                    <a:pt x="32" y="1521"/>
                    <a:pt x="0" y="1489"/>
                    <a:pt x="0" y="1449"/>
                  </a:cubicBezTo>
                  <a:lnTo>
                    <a:pt x="0" y="72"/>
                  </a:lnTo>
                  <a:cubicBezTo>
                    <a:pt x="0" y="32"/>
                    <a:pt x="32" y="0"/>
                    <a:pt x="72" y="0"/>
                  </a:cubicBezTo>
                  <a:lnTo>
                    <a:pt x="1304" y="0"/>
                  </a:lnTo>
                  <a:cubicBezTo>
                    <a:pt x="1344" y="0"/>
                    <a:pt x="1376" y="32"/>
                    <a:pt x="1376" y="72"/>
                  </a:cubicBezTo>
                  <a:lnTo>
                    <a:pt x="1376" y="627"/>
                  </a:lnTo>
                  <a:cubicBezTo>
                    <a:pt x="1376" y="668"/>
                    <a:pt x="1344" y="700"/>
                    <a:pt x="1304" y="700"/>
                  </a:cubicBezTo>
                  <a:cubicBezTo>
                    <a:pt x="1264" y="700"/>
                    <a:pt x="1231" y="668"/>
                    <a:pt x="1231" y="627"/>
                  </a:cubicBezTo>
                  <a:lnTo>
                    <a:pt x="1231" y="144"/>
                  </a:lnTo>
                  <a:lnTo>
                    <a:pt x="144" y="144"/>
                  </a:lnTo>
                  <a:lnTo>
                    <a:pt x="144" y="1376"/>
                  </a:lnTo>
                  <a:lnTo>
                    <a:pt x="1231" y="1376"/>
                  </a:lnTo>
                  <a:lnTo>
                    <a:pt x="1231" y="1002"/>
                  </a:lnTo>
                  <a:cubicBezTo>
                    <a:pt x="1231" y="962"/>
                    <a:pt x="1264" y="929"/>
                    <a:pt x="1304" y="929"/>
                  </a:cubicBezTo>
                  <a:cubicBezTo>
                    <a:pt x="1344" y="929"/>
                    <a:pt x="1376" y="962"/>
                    <a:pt x="1376" y="1002"/>
                  </a:cubicBezTo>
                  <a:lnTo>
                    <a:pt x="1376" y="1449"/>
                  </a:lnTo>
                  <a:cubicBezTo>
                    <a:pt x="1376" y="1489"/>
                    <a:pt x="1344" y="1521"/>
                    <a:pt x="1304" y="1521"/>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grpSp>
      <p:sp>
        <p:nvSpPr>
          <p:cNvPr id="149" name="TextBox 148">
            <a:extLst>
              <a:ext uri="{FF2B5EF4-FFF2-40B4-BE49-F238E27FC236}">
                <a16:creationId xmlns:a16="http://schemas.microsoft.com/office/drawing/2014/main" id="{71AA0364-3662-A022-7356-C17991B182E1}"/>
              </a:ext>
            </a:extLst>
          </p:cNvPr>
          <p:cNvSpPr txBox="1"/>
          <p:nvPr/>
        </p:nvSpPr>
        <p:spPr>
          <a:xfrm>
            <a:off x="10806116" y="4953073"/>
            <a:ext cx="862556" cy="307777"/>
          </a:xfrm>
          <a:prstGeom prst="rect">
            <a:avLst/>
          </a:prstGeom>
          <a:noFill/>
        </p:spPr>
        <p:txBody>
          <a:bodyPr wrap="square" lIns="0" tIns="0" rIns="0" bIns="0" rtlCol="0" anchor="t">
            <a:spAutoFit/>
          </a:bodyPr>
          <a:lstStyle/>
          <a:p>
            <a:pPr algn="ctr">
              <a:defRPr/>
            </a:pPr>
            <a:r>
              <a:rPr lang="en-GB" sz="1000">
                <a:solidFill>
                  <a:prstClr val="black"/>
                </a:solidFill>
                <a:latin typeface="+mj-lt"/>
              </a:rPr>
              <a:t>Infrastructure Migration Plan</a:t>
            </a:r>
            <a:endParaRPr lang="en-GB" sz="1000" b="0" i="0" u="none" strike="noStrike" kern="1200" cap="none" spc="0" normalizeH="0" baseline="0" noProof="0">
              <a:ln>
                <a:noFill/>
              </a:ln>
              <a:solidFill>
                <a:prstClr val="black"/>
              </a:solidFill>
              <a:effectLst/>
              <a:uLnTx/>
              <a:uFillTx/>
              <a:latin typeface="+mj-lt"/>
            </a:endParaRPr>
          </a:p>
        </p:txBody>
      </p:sp>
      <p:sp>
        <p:nvSpPr>
          <p:cNvPr id="150" name="TextBox 149">
            <a:extLst>
              <a:ext uri="{FF2B5EF4-FFF2-40B4-BE49-F238E27FC236}">
                <a16:creationId xmlns:a16="http://schemas.microsoft.com/office/drawing/2014/main" id="{437A38C3-4503-99E7-E1FF-46DC6CB4A877}"/>
              </a:ext>
            </a:extLst>
          </p:cNvPr>
          <p:cNvSpPr txBox="1"/>
          <p:nvPr/>
        </p:nvSpPr>
        <p:spPr>
          <a:xfrm>
            <a:off x="8375599" y="4953073"/>
            <a:ext cx="1011423" cy="307777"/>
          </a:xfrm>
          <a:prstGeom prst="rect">
            <a:avLst/>
          </a:prstGeom>
          <a:noFill/>
        </p:spPr>
        <p:txBody>
          <a:bodyPr wrap="square" lIns="0" tIns="0" rIns="0" bIns="0" rtlCol="0" anchor="t">
            <a:spAutoFit/>
          </a:bodyPr>
          <a:lstStyle/>
          <a:p>
            <a:pPr algn="ctr">
              <a:defRPr/>
            </a:pPr>
            <a:r>
              <a:rPr lang="en-GB" sz="1000">
                <a:solidFill>
                  <a:prstClr val="black"/>
                </a:solidFill>
                <a:latin typeface="+mj-lt"/>
              </a:rPr>
              <a:t>Application Analysis</a:t>
            </a:r>
            <a:endParaRPr lang="en-GB" sz="1000" b="0" i="0" u="none" strike="noStrike" kern="1200" cap="none" spc="0" normalizeH="0" baseline="0" noProof="0">
              <a:ln>
                <a:noFill/>
              </a:ln>
              <a:solidFill>
                <a:prstClr val="black"/>
              </a:solidFill>
              <a:effectLst/>
              <a:uLnTx/>
              <a:uFillTx/>
              <a:latin typeface="+mj-lt"/>
            </a:endParaRPr>
          </a:p>
        </p:txBody>
      </p:sp>
      <p:cxnSp>
        <p:nvCxnSpPr>
          <p:cNvPr id="168" name="Straight Connector 167">
            <a:extLst>
              <a:ext uri="{FF2B5EF4-FFF2-40B4-BE49-F238E27FC236}">
                <a16:creationId xmlns:a16="http://schemas.microsoft.com/office/drawing/2014/main" id="{B27DA3D0-117A-DAB2-F07B-8EC8EB076029}"/>
              </a:ext>
            </a:extLst>
          </p:cNvPr>
          <p:cNvCxnSpPr>
            <a:cxnSpLocks/>
          </p:cNvCxnSpPr>
          <p:nvPr/>
        </p:nvCxnSpPr>
        <p:spPr bwMode="gray">
          <a:xfrm>
            <a:off x="213661" y="5292874"/>
            <a:ext cx="11671041" cy="0"/>
          </a:xfrm>
          <a:prstGeom prst="line">
            <a:avLst/>
          </a:prstGeom>
          <a:ln w="3175">
            <a:solidFill>
              <a:srgbClr val="1E60AF"/>
            </a:solidFill>
            <a:prstDash val="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171" name="TextBox 170">
            <a:extLst>
              <a:ext uri="{FF2B5EF4-FFF2-40B4-BE49-F238E27FC236}">
                <a16:creationId xmlns:a16="http://schemas.microsoft.com/office/drawing/2014/main" id="{71D79770-D7E9-A1AA-FFA0-05F9E58286EB}"/>
              </a:ext>
            </a:extLst>
          </p:cNvPr>
          <p:cNvSpPr txBox="1"/>
          <p:nvPr/>
        </p:nvSpPr>
        <p:spPr>
          <a:xfrm>
            <a:off x="362656" y="5616116"/>
            <a:ext cx="1929668" cy="1015663"/>
          </a:xfrm>
          <a:prstGeom prst="rect">
            <a:avLst/>
          </a:prstGeom>
          <a:noFill/>
        </p:spPr>
        <p:txBody>
          <a:bodyPr wrap="square">
            <a:spAutoFit/>
          </a:bodyPr>
          <a:lstStyle/>
          <a:p>
            <a:pPr marL="177795" marR="0" lvl="1" indent="-177795" algn="l" defTabSz="914400" rtl="0" eaLnBrk="1" fontAlgn="auto" latinLnBrk="0" hangingPunct="1">
              <a:lnSpc>
                <a:spcPct val="100000"/>
              </a:lnSpc>
              <a:spcBef>
                <a:spcPts val="0"/>
              </a:spcBef>
              <a:spcAft>
                <a:spcPts val="600"/>
              </a:spcAft>
              <a:buClr>
                <a:srgbClr val="0070AD"/>
              </a:buClr>
              <a:buSzPct val="100000"/>
              <a:buFont typeface="Wingdings" panose="05000000000000000000" pitchFamily="2" charset="2"/>
              <a:buChar char="Ø"/>
              <a:tabLst>
                <a:tab pos="1146172" algn="l"/>
              </a:tabLst>
              <a:defRPr sz="1800" b="0" i="0" u="none" strike="noStrike" kern="0" cap="none" spc="0" baseline="0">
                <a:solidFill>
                  <a:srgbClr val="000000"/>
                </a:solidFill>
                <a:uFillTx/>
              </a:defRPr>
            </a:pPr>
            <a:r>
              <a:rPr kumimoji="0" lang="en-US" sz="1200" i="0" u="none" strike="noStrike" kern="1200" cap="none" spc="0" normalizeH="0" baseline="0" noProof="0" dirty="0">
                <a:ln>
                  <a:noFill/>
                </a:ln>
                <a:solidFill>
                  <a:srgbClr val="000000"/>
                </a:solidFill>
                <a:effectLst/>
                <a:uLnTx/>
                <a:uFillTx/>
                <a:latin typeface="+mj-lt"/>
                <a:ea typeface="+mn-ea"/>
                <a:cs typeface="+mn-cs"/>
              </a:rPr>
              <a:t>Follow a </a:t>
            </a:r>
            <a:r>
              <a:rPr kumimoji="0" lang="en-US" sz="1200" b="1" i="0" u="none" strike="noStrike" kern="1200" cap="none" spc="0" normalizeH="0" baseline="0" noProof="0" dirty="0">
                <a:ln>
                  <a:noFill/>
                </a:ln>
                <a:solidFill>
                  <a:srgbClr val="000000"/>
                </a:solidFill>
                <a:effectLst/>
                <a:uLnTx/>
                <a:uFillTx/>
                <a:latin typeface="+mj-lt"/>
                <a:ea typeface="+mn-ea"/>
                <a:cs typeface="+mn-cs"/>
              </a:rPr>
              <a:t>data-driven approach and fact-based analysis </a:t>
            </a:r>
            <a:r>
              <a:rPr kumimoji="0" lang="en-US" sz="1200" i="0" u="none" strike="noStrike" kern="1200" cap="none" spc="0" normalizeH="0" baseline="0" noProof="0" dirty="0">
                <a:ln>
                  <a:noFill/>
                </a:ln>
                <a:solidFill>
                  <a:srgbClr val="000000"/>
                </a:solidFill>
                <a:effectLst/>
                <a:uLnTx/>
                <a:uFillTx/>
                <a:latin typeface="+mj-lt"/>
                <a:ea typeface="+mn-ea"/>
                <a:cs typeface="+mn-cs"/>
              </a:rPr>
              <a:t>across IT and business/IT relationships and priorities</a:t>
            </a:r>
          </a:p>
        </p:txBody>
      </p:sp>
      <p:sp>
        <p:nvSpPr>
          <p:cNvPr id="172" name="TextBox 171">
            <a:extLst>
              <a:ext uri="{FF2B5EF4-FFF2-40B4-BE49-F238E27FC236}">
                <a16:creationId xmlns:a16="http://schemas.microsoft.com/office/drawing/2014/main" id="{15F7D489-22CB-6985-7439-93B12800E8EA}"/>
              </a:ext>
            </a:extLst>
          </p:cNvPr>
          <p:cNvSpPr txBox="1"/>
          <p:nvPr/>
        </p:nvSpPr>
        <p:spPr>
          <a:xfrm>
            <a:off x="2204334" y="5616116"/>
            <a:ext cx="2041024" cy="1200329"/>
          </a:xfrm>
          <a:prstGeom prst="rect">
            <a:avLst/>
          </a:prstGeom>
          <a:noFill/>
        </p:spPr>
        <p:txBody>
          <a:bodyPr wrap="square">
            <a:spAutoFit/>
          </a:bodyPr>
          <a:lstStyle/>
          <a:p>
            <a:pPr marL="177795" lvl="1" indent="-177795">
              <a:spcAft>
                <a:spcPts val="600"/>
              </a:spcAft>
              <a:buClr>
                <a:srgbClr val="0070AD"/>
              </a:buClr>
              <a:buSzPct val="100000"/>
              <a:buFont typeface="Wingdings" panose="05000000000000000000" pitchFamily="2" charset="2"/>
              <a:buChar char="Ø"/>
              <a:tabLst>
                <a:tab pos="1146172" algn="l"/>
              </a:tabLst>
              <a:defRPr sz="1800" b="0" i="0" u="none" strike="noStrike" kern="0" cap="none" spc="0" baseline="0">
                <a:solidFill>
                  <a:srgbClr val="000000"/>
                </a:solidFill>
                <a:uFillTx/>
              </a:defRPr>
            </a:pPr>
            <a:r>
              <a:rPr lang="en-US" sz="1200" b="1" dirty="0">
                <a:solidFill>
                  <a:srgbClr val="000000"/>
                </a:solidFill>
                <a:latin typeface="+mj-lt"/>
              </a:rPr>
              <a:t>Leveraging </a:t>
            </a:r>
            <a:r>
              <a:rPr lang="en-US" sz="1200" dirty="0">
                <a:solidFill>
                  <a:srgbClr val="000000"/>
                </a:solidFill>
                <a:latin typeface="+mj-lt"/>
              </a:rPr>
              <a:t>Capgemini’s own </a:t>
            </a:r>
            <a:r>
              <a:rPr lang="en-US" sz="1200" b="1" dirty="0" err="1">
                <a:solidFill>
                  <a:srgbClr val="000000"/>
                </a:solidFill>
                <a:latin typeface="+mj-lt"/>
              </a:rPr>
              <a:t>clearSight</a:t>
            </a:r>
            <a:r>
              <a:rPr lang="en-US" sz="1200" b="1" dirty="0">
                <a:solidFill>
                  <a:srgbClr val="000000"/>
                </a:solidFill>
                <a:latin typeface="+mj-lt"/>
              </a:rPr>
              <a:t> tool &amp; expertise</a:t>
            </a:r>
            <a:r>
              <a:rPr lang="en-US" sz="1200" dirty="0">
                <a:solidFill>
                  <a:srgbClr val="000000"/>
                </a:solidFill>
                <a:latin typeface="+mj-lt"/>
              </a:rPr>
              <a:t> to support </a:t>
            </a:r>
            <a:r>
              <a:rPr lang="en-US" sz="1200" b="1" dirty="0">
                <a:solidFill>
                  <a:srgbClr val="000000"/>
                </a:solidFill>
                <a:latin typeface="+mj-lt"/>
              </a:rPr>
              <a:t>accelerate the objectivation</a:t>
            </a:r>
            <a:r>
              <a:rPr lang="en-US" sz="1200" dirty="0">
                <a:solidFill>
                  <a:srgbClr val="000000"/>
                </a:solidFill>
                <a:latin typeface="+mj-lt"/>
              </a:rPr>
              <a:t> &amp; of the analysis based on facts</a:t>
            </a:r>
            <a:endParaRPr kumimoji="0" lang="en-US" sz="1200" i="0" u="none" strike="noStrike" kern="1200" cap="none" spc="0" normalizeH="0" baseline="0" noProof="0" dirty="0">
              <a:ln>
                <a:noFill/>
              </a:ln>
              <a:solidFill>
                <a:srgbClr val="000000"/>
              </a:solidFill>
              <a:effectLst/>
              <a:uLnTx/>
              <a:uFillTx/>
              <a:latin typeface="+mj-lt"/>
              <a:ea typeface="+mn-ea"/>
              <a:cs typeface="+mn-cs"/>
            </a:endParaRPr>
          </a:p>
        </p:txBody>
      </p:sp>
      <p:sp>
        <p:nvSpPr>
          <p:cNvPr id="173" name="TextBox 172">
            <a:extLst>
              <a:ext uri="{FF2B5EF4-FFF2-40B4-BE49-F238E27FC236}">
                <a16:creationId xmlns:a16="http://schemas.microsoft.com/office/drawing/2014/main" id="{6D288B91-14F6-36B3-85A8-6A5A8538EF6F}"/>
              </a:ext>
            </a:extLst>
          </p:cNvPr>
          <p:cNvSpPr txBox="1"/>
          <p:nvPr/>
        </p:nvSpPr>
        <p:spPr>
          <a:xfrm>
            <a:off x="4157368" y="5616116"/>
            <a:ext cx="2173249" cy="1200329"/>
          </a:xfrm>
          <a:prstGeom prst="rect">
            <a:avLst/>
          </a:prstGeom>
          <a:noFill/>
        </p:spPr>
        <p:txBody>
          <a:bodyPr wrap="square">
            <a:spAutoFit/>
          </a:bodyPr>
          <a:lstStyle/>
          <a:p>
            <a:pPr marL="177795" marR="0" lvl="1" indent="-177795" algn="l" defTabSz="914400" rtl="0" eaLnBrk="1" fontAlgn="auto" latinLnBrk="0" hangingPunct="1">
              <a:lnSpc>
                <a:spcPct val="100000"/>
              </a:lnSpc>
              <a:spcBef>
                <a:spcPts val="0"/>
              </a:spcBef>
              <a:spcAft>
                <a:spcPts val="600"/>
              </a:spcAft>
              <a:buClr>
                <a:srgbClr val="0070AD"/>
              </a:buClr>
              <a:buSzPct val="100000"/>
              <a:buFont typeface="Wingdings" panose="05000000000000000000" pitchFamily="2" charset="2"/>
              <a:buChar char="Ø"/>
              <a:tabLst>
                <a:tab pos="1146172" algn="l"/>
              </a:tabLst>
              <a:defRPr sz="1800" b="0" i="0" u="none" strike="noStrike" kern="0" cap="none" spc="0" baseline="0">
                <a:solidFill>
                  <a:srgbClr val="000000"/>
                </a:solidFill>
                <a:uFillTx/>
              </a:defRPr>
            </a:pPr>
            <a:r>
              <a:rPr kumimoji="0" lang="en-US" sz="1200" b="1" i="0" u="none" strike="noStrike" kern="1200" cap="none" spc="0" normalizeH="0" baseline="0" noProof="0" dirty="0">
                <a:ln>
                  <a:noFill/>
                </a:ln>
                <a:solidFill>
                  <a:srgbClr val="000000"/>
                </a:solidFill>
                <a:effectLst/>
                <a:uLnTx/>
                <a:uFillTx/>
                <a:latin typeface="+mj-lt"/>
                <a:ea typeface="+mn-ea"/>
                <a:cs typeface="+mn-cs"/>
              </a:rPr>
              <a:t>Address both buyer and</a:t>
            </a:r>
            <a:r>
              <a:rPr lang="en-US" sz="1200" b="1" dirty="0">
                <a:solidFill>
                  <a:srgbClr val="000000"/>
                </a:solidFill>
                <a:latin typeface="+mj-lt"/>
              </a:rPr>
              <a:t> seller</a:t>
            </a:r>
            <a:r>
              <a:rPr kumimoji="0" lang="en-US" sz="1200" i="0" u="none" strike="noStrike" kern="1200" cap="none" spc="0" normalizeH="0" baseline="0" noProof="0" dirty="0">
                <a:ln>
                  <a:noFill/>
                </a:ln>
                <a:solidFill>
                  <a:srgbClr val="000000"/>
                </a:solidFill>
                <a:effectLst/>
                <a:uLnTx/>
                <a:uFillTx/>
                <a:latin typeface="+mj-lt"/>
                <a:ea typeface="+mn-ea"/>
                <a:cs typeface="+mn-cs"/>
              </a:rPr>
              <a:t> by integrating / leveraging the different teams in </a:t>
            </a:r>
            <a:r>
              <a:rPr kumimoji="0" lang="en-US" sz="1200" b="1" i="0" u="none" strike="noStrike" kern="1200" cap="none" spc="0" normalizeH="0" baseline="0" noProof="0" dirty="0">
                <a:ln>
                  <a:noFill/>
                </a:ln>
                <a:solidFill>
                  <a:srgbClr val="000000"/>
                </a:solidFill>
                <a:effectLst/>
                <a:uLnTx/>
                <a:uFillTx/>
                <a:latin typeface="+mj-lt"/>
                <a:ea typeface="+mn-ea"/>
                <a:cs typeface="+mn-cs"/>
              </a:rPr>
              <a:t>strict ‘clean team’ set-</a:t>
            </a:r>
            <a:r>
              <a:rPr lang="en-US" sz="1200" b="1" dirty="0">
                <a:solidFill>
                  <a:srgbClr val="000000"/>
                </a:solidFill>
                <a:latin typeface="+mj-lt"/>
              </a:rPr>
              <a:t>up</a:t>
            </a:r>
            <a:r>
              <a:rPr lang="en-US" sz="1200" dirty="0">
                <a:solidFill>
                  <a:srgbClr val="000000"/>
                </a:solidFill>
                <a:latin typeface="+mj-lt"/>
              </a:rPr>
              <a:t> </a:t>
            </a:r>
            <a:r>
              <a:rPr kumimoji="0" lang="en-US" sz="1200" i="0" u="none" strike="noStrike" kern="1200" cap="none" spc="0" normalizeH="0" baseline="0" noProof="0" dirty="0">
                <a:ln>
                  <a:noFill/>
                </a:ln>
                <a:solidFill>
                  <a:srgbClr val="000000"/>
                </a:solidFill>
                <a:effectLst/>
                <a:uLnTx/>
                <a:uFillTx/>
                <a:latin typeface="+mj-lt"/>
                <a:ea typeface="+mn-ea"/>
                <a:cs typeface="+mn-cs"/>
              </a:rPr>
              <a:t>with all confidentiality obligations attached</a:t>
            </a:r>
          </a:p>
        </p:txBody>
      </p:sp>
      <p:sp>
        <p:nvSpPr>
          <p:cNvPr id="174" name="TextBox 173">
            <a:extLst>
              <a:ext uri="{FF2B5EF4-FFF2-40B4-BE49-F238E27FC236}">
                <a16:creationId xmlns:a16="http://schemas.microsoft.com/office/drawing/2014/main" id="{84624F55-7957-C103-D156-D863882060D1}"/>
              </a:ext>
            </a:extLst>
          </p:cNvPr>
          <p:cNvSpPr txBox="1"/>
          <p:nvPr/>
        </p:nvSpPr>
        <p:spPr>
          <a:xfrm>
            <a:off x="6242627" y="5616116"/>
            <a:ext cx="2041024" cy="1200329"/>
          </a:xfrm>
          <a:prstGeom prst="rect">
            <a:avLst/>
          </a:prstGeom>
          <a:noFill/>
        </p:spPr>
        <p:txBody>
          <a:bodyPr wrap="square">
            <a:spAutoFit/>
          </a:bodyPr>
          <a:lstStyle/>
          <a:p>
            <a:pPr marL="177795" marR="0" lvl="1" indent="-177795" algn="l" defTabSz="914400" rtl="0" eaLnBrk="1" fontAlgn="auto" latinLnBrk="0" hangingPunct="1">
              <a:lnSpc>
                <a:spcPct val="100000"/>
              </a:lnSpc>
              <a:spcBef>
                <a:spcPts val="0"/>
              </a:spcBef>
              <a:spcAft>
                <a:spcPts val="600"/>
              </a:spcAft>
              <a:buClr>
                <a:srgbClr val="0070AD"/>
              </a:buClr>
              <a:buSzPct val="100000"/>
              <a:buFont typeface="Wingdings" panose="05000000000000000000" pitchFamily="2" charset="2"/>
              <a:buChar char="Ø"/>
              <a:tabLst>
                <a:tab pos="1146172" algn="l"/>
              </a:tabLst>
              <a:defRPr sz="1800" b="0" i="0" u="none" strike="noStrike" kern="0" cap="none" spc="0" baseline="0">
                <a:solidFill>
                  <a:srgbClr val="000000"/>
                </a:solidFill>
                <a:uFillTx/>
              </a:defRPr>
            </a:pPr>
            <a:r>
              <a:rPr kumimoji="0" lang="en-US" sz="1200" b="1" i="0" u="none" strike="noStrike" kern="1200" cap="none" spc="0" normalizeH="0" baseline="0" noProof="0" dirty="0">
                <a:ln>
                  <a:noFill/>
                </a:ln>
                <a:solidFill>
                  <a:srgbClr val="000000"/>
                </a:solidFill>
                <a:effectLst/>
                <a:uLnTx/>
                <a:uFillTx/>
                <a:latin typeface="+mj-lt"/>
                <a:ea typeface="+mn-ea"/>
                <a:cs typeface="+mn-cs"/>
              </a:rPr>
              <a:t>Pragmatic &amp; collaborative ONE TEAM approach </a:t>
            </a:r>
            <a:r>
              <a:rPr kumimoji="0" lang="en-US" sz="1200" i="0" u="none" strike="noStrike" kern="1200" cap="none" spc="0" normalizeH="0" baseline="0" noProof="0" dirty="0">
                <a:ln>
                  <a:noFill/>
                </a:ln>
                <a:solidFill>
                  <a:srgbClr val="000000"/>
                </a:solidFill>
                <a:effectLst/>
                <a:uLnTx/>
                <a:uFillTx/>
                <a:latin typeface="+mj-lt"/>
                <a:ea typeface="+mn-ea"/>
                <a:cs typeface="+mn-cs"/>
              </a:rPr>
              <a:t>across </a:t>
            </a:r>
            <a:r>
              <a:rPr lang="en-US" sz="1200" dirty="0">
                <a:solidFill>
                  <a:srgbClr val="000000"/>
                </a:solidFill>
                <a:latin typeface="+mj-lt"/>
              </a:rPr>
              <a:t>the buyer</a:t>
            </a:r>
            <a:r>
              <a:rPr kumimoji="0" lang="en-US" sz="1200" i="0" u="none" strike="noStrike" kern="1200" cap="none" spc="0" normalizeH="0" baseline="0" noProof="0" dirty="0">
                <a:ln>
                  <a:noFill/>
                </a:ln>
                <a:solidFill>
                  <a:srgbClr val="000000"/>
                </a:solidFill>
                <a:effectLst/>
                <a:uLnTx/>
                <a:uFillTx/>
                <a:latin typeface="+mj-lt"/>
                <a:ea typeface="+mn-ea"/>
                <a:cs typeface="+mn-cs"/>
              </a:rPr>
              <a:t>, seller and Capgemini to ensure all parties are involved &amp; heard</a:t>
            </a:r>
          </a:p>
        </p:txBody>
      </p:sp>
      <p:sp>
        <p:nvSpPr>
          <p:cNvPr id="175" name="TextBox 174">
            <a:extLst>
              <a:ext uri="{FF2B5EF4-FFF2-40B4-BE49-F238E27FC236}">
                <a16:creationId xmlns:a16="http://schemas.microsoft.com/office/drawing/2014/main" id="{38047C39-CB08-1226-51B5-984C44FF6582}"/>
              </a:ext>
            </a:extLst>
          </p:cNvPr>
          <p:cNvSpPr txBox="1"/>
          <p:nvPr/>
        </p:nvSpPr>
        <p:spPr>
          <a:xfrm>
            <a:off x="8195661" y="5616116"/>
            <a:ext cx="1966212" cy="1200329"/>
          </a:xfrm>
          <a:prstGeom prst="rect">
            <a:avLst/>
          </a:prstGeom>
          <a:noFill/>
        </p:spPr>
        <p:txBody>
          <a:bodyPr wrap="square">
            <a:spAutoFit/>
          </a:bodyPr>
          <a:lstStyle/>
          <a:p>
            <a:pPr marL="177795" marR="0" lvl="1" indent="-177795" algn="l" defTabSz="914400" rtl="0" eaLnBrk="1" fontAlgn="auto" latinLnBrk="0" hangingPunct="1">
              <a:lnSpc>
                <a:spcPct val="100000"/>
              </a:lnSpc>
              <a:spcBef>
                <a:spcPts val="0"/>
              </a:spcBef>
              <a:spcAft>
                <a:spcPts val="600"/>
              </a:spcAft>
              <a:buClr>
                <a:srgbClr val="0070AD"/>
              </a:buClr>
              <a:buSzPct val="100000"/>
              <a:buFont typeface="Wingdings" panose="05000000000000000000" pitchFamily="2" charset="2"/>
              <a:buChar char="Ø"/>
              <a:tabLst>
                <a:tab pos="1146172" algn="l"/>
              </a:tabLst>
              <a:defRPr sz="1800" b="0" i="0" u="none" strike="noStrike" kern="0" cap="none" spc="0" baseline="0">
                <a:solidFill>
                  <a:srgbClr val="000000"/>
                </a:solidFill>
                <a:uFillTx/>
              </a:defRPr>
            </a:pPr>
            <a:r>
              <a:rPr kumimoji="0" lang="en-US" sz="1200" i="0" u="none" strike="noStrike" kern="1200" cap="none" spc="0" normalizeH="0" baseline="0" dirty="0">
                <a:ln>
                  <a:noFill/>
                </a:ln>
                <a:solidFill>
                  <a:srgbClr val="000000"/>
                </a:solidFill>
                <a:effectLst/>
                <a:uLnTx/>
                <a:uFillTx/>
                <a:latin typeface="+mj-lt"/>
                <a:ea typeface="+mn-ea"/>
                <a:cs typeface="+mn-cs"/>
              </a:rPr>
              <a:t>Set up </a:t>
            </a:r>
            <a:r>
              <a:rPr kumimoji="0" lang="en-US" sz="1200" b="1" i="0" u="none" strike="noStrike" kern="1200" cap="none" spc="0" normalizeH="0" baseline="0" dirty="0">
                <a:ln>
                  <a:noFill/>
                </a:ln>
                <a:solidFill>
                  <a:srgbClr val="000000"/>
                </a:solidFill>
                <a:effectLst/>
                <a:uLnTx/>
                <a:uFillTx/>
                <a:latin typeface="+mj-lt"/>
                <a:ea typeface="+mn-ea"/>
                <a:cs typeface="+mn-cs"/>
              </a:rPr>
              <a:t>Exco-level governance </a:t>
            </a:r>
            <a:r>
              <a:rPr kumimoji="0" lang="en-US" sz="1200" i="0" u="none" strike="noStrike" kern="1200" cap="none" spc="0" normalizeH="0" baseline="0" dirty="0">
                <a:ln>
                  <a:noFill/>
                </a:ln>
                <a:solidFill>
                  <a:srgbClr val="000000"/>
                </a:solidFill>
                <a:effectLst/>
                <a:uLnTx/>
                <a:uFillTx/>
                <a:latin typeface="+mj-lt"/>
                <a:ea typeface="+mn-ea"/>
                <a:cs typeface="+mn-cs"/>
              </a:rPr>
              <a:t>level </a:t>
            </a:r>
            <a:r>
              <a:rPr kumimoji="0" lang="en-US" sz="1200" b="1" i="0" u="none" strike="noStrike" kern="1200" cap="none" spc="0" normalizeH="0" baseline="0" dirty="0">
                <a:ln>
                  <a:noFill/>
                </a:ln>
                <a:solidFill>
                  <a:srgbClr val="000000"/>
                </a:solidFill>
                <a:effectLst/>
                <a:uLnTx/>
                <a:uFillTx/>
                <a:latin typeface="+mj-lt"/>
                <a:ea typeface="+mn-ea"/>
                <a:cs typeface="+mn-cs"/>
              </a:rPr>
              <a:t>with bi-weekly steering</a:t>
            </a:r>
            <a:r>
              <a:rPr kumimoji="0" lang="en-US" sz="1200" i="0" u="none" strike="noStrike" kern="1200" cap="none" spc="0" normalizeH="0" baseline="0" dirty="0">
                <a:ln>
                  <a:noFill/>
                </a:ln>
                <a:solidFill>
                  <a:srgbClr val="000000"/>
                </a:solidFill>
                <a:effectLst/>
                <a:uLnTx/>
                <a:uFillTx/>
                <a:latin typeface="+mj-lt"/>
                <a:ea typeface="+mn-ea"/>
                <a:cs typeface="+mn-cs"/>
              </a:rPr>
              <a:t> committees to validate progress and make key guiding decisions  </a:t>
            </a:r>
          </a:p>
        </p:txBody>
      </p:sp>
      <p:sp>
        <p:nvSpPr>
          <p:cNvPr id="176" name="TextBox 175">
            <a:extLst>
              <a:ext uri="{FF2B5EF4-FFF2-40B4-BE49-F238E27FC236}">
                <a16:creationId xmlns:a16="http://schemas.microsoft.com/office/drawing/2014/main" id="{424DE606-91CE-F0BD-68DC-8FE4FA8CC1C8}"/>
              </a:ext>
            </a:extLst>
          </p:cNvPr>
          <p:cNvSpPr txBox="1"/>
          <p:nvPr/>
        </p:nvSpPr>
        <p:spPr>
          <a:xfrm>
            <a:off x="10073884" y="5616116"/>
            <a:ext cx="1891923" cy="1200329"/>
          </a:xfrm>
          <a:prstGeom prst="rect">
            <a:avLst/>
          </a:prstGeom>
          <a:noFill/>
        </p:spPr>
        <p:txBody>
          <a:bodyPr wrap="square">
            <a:spAutoFit/>
          </a:bodyPr>
          <a:lstStyle/>
          <a:p>
            <a:pPr marL="177795" marR="0" lvl="1" indent="-177795" algn="l" defTabSz="914400" rtl="0" eaLnBrk="1" fontAlgn="auto" latinLnBrk="0" hangingPunct="1">
              <a:lnSpc>
                <a:spcPct val="100000"/>
              </a:lnSpc>
              <a:spcBef>
                <a:spcPts val="0"/>
              </a:spcBef>
              <a:spcAft>
                <a:spcPts val="600"/>
              </a:spcAft>
              <a:buClr>
                <a:srgbClr val="0070AD"/>
              </a:buClr>
              <a:buSzPct val="100000"/>
              <a:buFont typeface="Wingdings" panose="05000000000000000000" pitchFamily="2" charset="2"/>
              <a:buChar char="Ø"/>
              <a:tabLst>
                <a:tab pos="1146172" algn="l"/>
              </a:tabLst>
              <a:defRPr sz="1800" b="0" i="0" u="none" strike="noStrike" kern="0" cap="none" spc="0" baseline="0">
                <a:solidFill>
                  <a:srgbClr val="000000"/>
                </a:solidFill>
                <a:uFillTx/>
              </a:defRPr>
            </a:pPr>
            <a:r>
              <a:rPr lang="en-US" sz="1200" b="1" dirty="0">
                <a:solidFill>
                  <a:srgbClr val="000000"/>
                </a:solidFill>
                <a:latin typeface="+mj-lt"/>
              </a:rPr>
              <a:t>Stakeholders involved at </a:t>
            </a:r>
            <a:r>
              <a:rPr lang="en-US" sz="1200" b="1" dirty="0" err="1">
                <a:solidFill>
                  <a:srgbClr val="000000"/>
                </a:solidFill>
                <a:latin typeface="+mj-lt"/>
              </a:rPr>
              <a:t>CxO</a:t>
            </a:r>
            <a:r>
              <a:rPr lang="en-US" sz="1200" b="1" dirty="0">
                <a:solidFill>
                  <a:srgbClr val="000000"/>
                </a:solidFill>
                <a:latin typeface="+mj-lt"/>
              </a:rPr>
              <a:t> leve</a:t>
            </a:r>
            <a:r>
              <a:rPr lang="en-US" sz="1200" dirty="0">
                <a:solidFill>
                  <a:srgbClr val="000000"/>
                </a:solidFill>
                <a:latin typeface="+mj-lt"/>
              </a:rPr>
              <a:t>l, including </a:t>
            </a:r>
            <a:r>
              <a:rPr lang="en-US" sz="1200" b="1" dirty="0">
                <a:solidFill>
                  <a:srgbClr val="000000"/>
                </a:solidFill>
                <a:latin typeface="+mj-lt"/>
              </a:rPr>
              <a:t>CEO</a:t>
            </a:r>
            <a:r>
              <a:rPr lang="en-US" sz="1200" dirty="0">
                <a:solidFill>
                  <a:srgbClr val="000000"/>
                </a:solidFill>
                <a:latin typeface="+mj-lt"/>
              </a:rPr>
              <a:t> direct report, </a:t>
            </a:r>
            <a:r>
              <a:rPr lang="en-US" sz="1200" b="1" dirty="0">
                <a:solidFill>
                  <a:srgbClr val="000000"/>
                </a:solidFill>
                <a:latin typeface="+mj-lt"/>
              </a:rPr>
              <a:t>CIO, CMO </a:t>
            </a:r>
            <a:r>
              <a:rPr lang="en-US" sz="1200" dirty="0">
                <a:solidFill>
                  <a:srgbClr val="000000"/>
                </a:solidFill>
                <a:latin typeface="+mj-lt"/>
              </a:rPr>
              <a:t>and top directors as main client counterparts</a:t>
            </a:r>
            <a:endParaRPr kumimoji="0" lang="en-US" sz="1200" i="0" u="none" strike="noStrike" kern="1200" cap="none" spc="0" normalizeH="0" baseline="0" noProof="0" dirty="0">
              <a:ln>
                <a:noFill/>
              </a:ln>
              <a:solidFill>
                <a:srgbClr val="000000"/>
              </a:solidFill>
              <a:effectLst/>
              <a:uLnTx/>
              <a:uFillTx/>
              <a:latin typeface="+mj-lt"/>
              <a:ea typeface="+mn-ea"/>
              <a:cs typeface="+mn-cs"/>
            </a:endParaRPr>
          </a:p>
        </p:txBody>
      </p:sp>
      <p:grpSp>
        <p:nvGrpSpPr>
          <p:cNvPr id="177" name="Blueprint" descr="{&quot;Key&quot;:&quot;POWER_USER_SHAPE_ICON&quot;,&quot;Value&quot;:&quot;POWER_USER_SHAPE_ICON_STYLE_1&quot;}">
            <a:extLst>
              <a:ext uri="{FF2B5EF4-FFF2-40B4-BE49-F238E27FC236}">
                <a16:creationId xmlns:a16="http://schemas.microsoft.com/office/drawing/2014/main" id="{5198A32C-F6D9-DDEE-65DB-69A873B9B2AE}"/>
              </a:ext>
            </a:extLst>
          </p:cNvPr>
          <p:cNvGrpSpPr>
            <a:grpSpLocks noChangeAspect="1"/>
          </p:cNvGrpSpPr>
          <p:nvPr/>
        </p:nvGrpSpPr>
        <p:grpSpPr>
          <a:xfrm>
            <a:off x="10375110" y="4606735"/>
            <a:ext cx="348123" cy="294169"/>
            <a:chOff x="3819525" y="350838"/>
            <a:chExt cx="430213" cy="363538"/>
          </a:xfrm>
          <a:solidFill>
            <a:schemeClr val="accent5"/>
          </a:solidFill>
        </p:grpSpPr>
        <p:sp>
          <p:nvSpPr>
            <p:cNvPr id="178" name="Freeform 6">
              <a:extLst>
                <a:ext uri="{FF2B5EF4-FFF2-40B4-BE49-F238E27FC236}">
                  <a16:creationId xmlns:a16="http://schemas.microsoft.com/office/drawing/2014/main" id="{2685E7EC-E03B-807F-BD64-03082734543A}"/>
                </a:ext>
              </a:extLst>
            </p:cNvPr>
            <p:cNvSpPr>
              <a:spLocks noEditPoints="1"/>
            </p:cNvSpPr>
            <p:nvPr/>
          </p:nvSpPr>
          <p:spPr bwMode="auto">
            <a:xfrm>
              <a:off x="3911600" y="427038"/>
              <a:ext cx="274638" cy="287338"/>
            </a:xfrm>
            <a:custGeom>
              <a:avLst/>
              <a:gdLst>
                <a:gd name="T0" fmla="*/ 409 w 2147"/>
                <a:gd name="T1" fmla="*/ 1407 h 2251"/>
                <a:gd name="T2" fmla="*/ 195 w 2147"/>
                <a:gd name="T3" fmla="*/ 2055 h 2251"/>
                <a:gd name="T4" fmla="*/ 836 w 2147"/>
                <a:gd name="T5" fmla="*/ 1803 h 2251"/>
                <a:gd name="T6" fmla="*/ 1965 w 2147"/>
                <a:gd name="T7" fmla="*/ 559 h 2251"/>
                <a:gd name="T8" fmla="*/ 1553 w 2147"/>
                <a:gd name="T9" fmla="*/ 175 h 2251"/>
                <a:gd name="T10" fmla="*/ 409 w 2147"/>
                <a:gd name="T11" fmla="*/ 1407 h 2251"/>
                <a:gd name="T12" fmla="*/ 78 w 2147"/>
                <a:gd name="T13" fmla="*/ 2251 h 2251"/>
                <a:gd name="T14" fmla="*/ 28 w 2147"/>
                <a:gd name="T15" fmla="*/ 2231 h 2251"/>
                <a:gd name="T16" fmla="*/ 9 w 2147"/>
                <a:gd name="T17" fmla="*/ 2156 h 2251"/>
                <a:gd name="T18" fmla="*/ 277 w 2147"/>
                <a:gd name="T19" fmla="*/ 1346 h 2251"/>
                <a:gd name="T20" fmla="*/ 292 w 2147"/>
                <a:gd name="T21" fmla="*/ 1320 h 2251"/>
                <a:gd name="T22" fmla="*/ 1496 w 2147"/>
                <a:gd name="T23" fmla="*/ 24 h 2251"/>
                <a:gd name="T24" fmla="*/ 1546 w 2147"/>
                <a:gd name="T25" fmla="*/ 0 h 2251"/>
                <a:gd name="T26" fmla="*/ 1598 w 2147"/>
                <a:gd name="T27" fmla="*/ 20 h 2251"/>
                <a:gd name="T28" fmla="*/ 2116 w 2147"/>
                <a:gd name="T29" fmla="*/ 501 h 2251"/>
                <a:gd name="T30" fmla="*/ 2121 w 2147"/>
                <a:gd name="T31" fmla="*/ 603 h 2251"/>
                <a:gd name="T32" fmla="*/ 932 w 2147"/>
                <a:gd name="T33" fmla="*/ 1913 h 2251"/>
                <a:gd name="T34" fmla="*/ 904 w 2147"/>
                <a:gd name="T35" fmla="*/ 1932 h 2251"/>
                <a:gd name="T36" fmla="*/ 104 w 2147"/>
                <a:gd name="T37" fmla="*/ 2246 h 2251"/>
                <a:gd name="T38" fmla="*/ 78 w 2147"/>
                <a:gd name="T39" fmla="*/ 2251 h 2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47" h="2251">
                  <a:moveTo>
                    <a:pt x="409" y="1407"/>
                  </a:moveTo>
                  <a:lnTo>
                    <a:pt x="195" y="2055"/>
                  </a:lnTo>
                  <a:lnTo>
                    <a:pt x="836" y="1803"/>
                  </a:lnTo>
                  <a:lnTo>
                    <a:pt x="1965" y="559"/>
                  </a:lnTo>
                  <a:lnTo>
                    <a:pt x="1553" y="175"/>
                  </a:lnTo>
                  <a:lnTo>
                    <a:pt x="409" y="1407"/>
                  </a:lnTo>
                  <a:close/>
                  <a:moveTo>
                    <a:pt x="78" y="2251"/>
                  </a:moveTo>
                  <a:cubicBezTo>
                    <a:pt x="59" y="2251"/>
                    <a:pt x="41" y="2244"/>
                    <a:pt x="28" y="2231"/>
                  </a:cubicBezTo>
                  <a:cubicBezTo>
                    <a:pt x="7" y="2212"/>
                    <a:pt x="0" y="2182"/>
                    <a:pt x="9" y="2156"/>
                  </a:cubicBezTo>
                  <a:lnTo>
                    <a:pt x="277" y="1346"/>
                  </a:lnTo>
                  <a:cubicBezTo>
                    <a:pt x="280" y="1336"/>
                    <a:pt x="285" y="1327"/>
                    <a:pt x="292" y="1320"/>
                  </a:cubicBezTo>
                  <a:lnTo>
                    <a:pt x="1496" y="24"/>
                  </a:lnTo>
                  <a:cubicBezTo>
                    <a:pt x="1509" y="10"/>
                    <a:pt x="1527" y="1"/>
                    <a:pt x="1546" y="0"/>
                  </a:cubicBezTo>
                  <a:cubicBezTo>
                    <a:pt x="1565" y="0"/>
                    <a:pt x="1584" y="7"/>
                    <a:pt x="1598" y="20"/>
                  </a:cubicBezTo>
                  <a:lnTo>
                    <a:pt x="2116" y="501"/>
                  </a:lnTo>
                  <a:cubicBezTo>
                    <a:pt x="2145" y="528"/>
                    <a:pt x="2147" y="574"/>
                    <a:pt x="2121" y="603"/>
                  </a:cubicBezTo>
                  <a:lnTo>
                    <a:pt x="932" y="1913"/>
                  </a:lnTo>
                  <a:cubicBezTo>
                    <a:pt x="924" y="1921"/>
                    <a:pt x="915" y="1928"/>
                    <a:pt x="904" y="1932"/>
                  </a:cubicBezTo>
                  <a:lnTo>
                    <a:pt x="104" y="2246"/>
                  </a:lnTo>
                  <a:cubicBezTo>
                    <a:pt x="95" y="2249"/>
                    <a:pt x="86" y="2251"/>
                    <a:pt x="78" y="2251"/>
                  </a:cubicBezTo>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79" name="Freeform 7">
              <a:extLst>
                <a:ext uri="{FF2B5EF4-FFF2-40B4-BE49-F238E27FC236}">
                  <a16:creationId xmlns:a16="http://schemas.microsoft.com/office/drawing/2014/main" id="{B615FCDF-5679-03A5-6A72-3AF31F09FA3D}"/>
                </a:ext>
              </a:extLst>
            </p:cNvPr>
            <p:cNvSpPr>
              <a:spLocks/>
            </p:cNvSpPr>
            <p:nvPr/>
          </p:nvSpPr>
          <p:spPr bwMode="auto">
            <a:xfrm>
              <a:off x="3994150" y="638175"/>
              <a:ext cx="38100" cy="36513"/>
            </a:xfrm>
            <a:custGeom>
              <a:avLst/>
              <a:gdLst>
                <a:gd name="T0" fmla="*/ 216 w 297"/>
                <a:gd name="T1" fmla="*/ 280 h 280"/>
                <a:gd name="T2" fmla="*/ 167 w 297"/>
                <a:gd name="T3" fmla="*/ 261 h 280"/>
                <a:gd name="T4" fmla="*/ 31 w 297"/>
                <a:gd name="T5" fmla="*/ 133 h 280"/>
                <a:gd name="T6" fmla="*/ 27 w 297"/>
                <a:gd name="T7" fmla="*/ 30 h 280"/>
                <a:gd name="T8" fmla="*/ 130 w 297"/>
                <a:gd name="T9" fmla="*/ 27 h 280"/>
                <a:gd name="T10" fmla="*/ 266 w 297"/>
                <a:gd name="T11" fmla="*/ 155 h 280"/>
                <a:gd name="T12" fmla="*/ 269 w 297"/>
                <a:gd name="T13" fmla="*/ 258 h 280"/>
                <a:gd name="T14" fmla="*/ 216 w 297"/>
                <a:gd name="T15" fmla="*/ 280 h 2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7" h="280">
                  <a:moveTo>
                    <a:pt x="216" y="280"/>
                  </a:moveTo>
                  <a:cubicBezTo>
                    <a:pt x="199" y="280"/>
                    <a:pt x="181" y="274"/>
                    <a:pt x="167" y="261"/>
                  </a:cubicBezTo>
                  <a:lnTo>
                    <a:pt x="31" y="133"/>
                  </a:lnTo>
                  <a:cubicBezTo>
                    <a:pt x="1" y="105"/>
                    <a:pt x="0" y="59"/>
                    <a:pt x="27" y="30"/>
                  </a:cubicBezTo>
                  <a:cubicBezTo>
                    <a:pt x="55" y="1"/>
                    <a:pt x="101" y="0"/>
                    <a:pt x="130" y="27"/>
                  </a:cubicBezTo>
                  <a:lnTo>
                    <a:pt x="266" y="155"/>
                  </a:lnTo>
                  <a:cubicBezTo>
                    <a:pt x="295" y="182"/>
                    <a:pt x="297" y="228"/>
                    <a:pt x="269" y="258"/>
                  </a:cubicBezTo>
                  <a:cubicBezTo>
                    <a:pt x="255" y="273"/>
                    <a:pt x="236" y="280"/>
                    <a:pt x="216" y="280"/>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80" name="Freeform 8">
              <a:extLst>
                <a:ext uri="{FF2B5EF4-FFF2-40B4-BE49-F238E27FC236}">
                  <a16:creationId xmlns:a16="http://schemas.microsoft.com/office/drawing/2014/main" id="{0A48D12B-E5CB-62F9-425B-C2A42910EB98}"/>
                </a:ext>
              </a:extLst>
            </p:cNvPr>
            <p:cNvSpPr>
              <a:spLocks/>
            </p:cNvSpPr>
            <p:nvPr/>
          </p:nvSpPr>
          <p:spPr bwMode="auto">
            <a:xfrm>
              <a:off x="3946525" y="593725"/>
              <a:ext cx="52388" cy="47625"/>
            </a:xfrm>
            <a:custGeom>
              <a:avLst/>
              <a:gdLst>
                <a:gd name="T0" fmla="*/ 325 w 405"/>
                <a:gd name="T1" fmla="*/ 377 h 377"/>
                <a:gd name="T2" fmla="*/ 276 w 405"/>
                <a:gd name="T3" fmla="*/ 358 h 377"/>
                <a:gd name="T4" fmla="*/ 32 w 405"/>
                <a:gd name="T5" fmla="*/ 134 h 377"/>
                <a:gd name="T6" fmla="*/ 27 w 405"/>
                <a:gd name="T7" fmla="*/ 32 h 377"/>
                <a:gd name="T8" fmla="*/ 130 w 405"/>
                <a:gd name="T9" fmla="*/ 27 h 377"/>
                <a:gd name="T10" fmla="*/ 374 w 405"/>
                <a:gd name="T11" fmla="*/ 251 h 377"/>
                <a:gd name="T12" fmla="*/ 378 w 405"/>
                <a:gd name="T13" fmla="*/ 354 h 377"/>
                <a:gd name="T14" fmla="*/ 325 w 405"/>
                <a:gd name="T15" fmla="*/ 377 h 3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5" h="377">
                  <a:moveTo>
                    <a:pt x="325" y="377"/>
                  </a:moveTo>
                  <a:cubicBezTo>
                    <a:pt x="307" y="377"/>
                    <a:pt x="290" y="371"/>
                    <a:pt x="276" y="358"/>
                  </a:cubicBezTo>
                  <a:lnTo>
                    <a:pt x="32" y="134"/>
                  </a:lnTo>
                  <a:cubicBezTo>
                    <a:pt x="2" y="107"/>
                    <a:pt x="0" y="61"/>
                    <a:pt x="27" y="32"/>
                  </a:cubicBezTo>
                  <a:cubicBezTo>
                    <a:pt x="54" y="2"/>
                    <a:pt x="100" y="0"/>
                    <a:pt x="130" y="27"/>
                  </a:cubicBezTo>
                  <a:lnTo>
                    <a:pt x="374" y="251"/>
                  </a:lnTo>
                  <a:cubicBezTo>
                    <a:pt x="403" y="278"/>
                    <a:pt x="405" y="324"/>
                    <a:pt x="378" y="354"/>
                  </a:cubicBezTo>
                  <a:cubicBezTo>
                    <a:pt x="364" y="369"/>
                    <a:pt x="345" y="377"/>
                    <a:pt x="325" y="377"/>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81" name="Freeform 9">
              <a:extLst>
                <a:ext uri="{FF2B5EF4-FFF2-40B4-BE49-F238E27FC236}">
                  <a16:creationId xmlns:a16="http://schemas.microsoft.com/office/drawing/2014/main" id="{1DE9E74F-C4CA-4533-2CAA-F4B9C923BA2C}"/>
                </a:ext>
              </a:extLst>
            </p:cNvPr>
            <p:cNvSpPr>
              <a:spLocks/>
            </p:cNvSpPr>
            <p:nvPr/>
          </p:nvSpPr>
          <p:spPr bwMode="auto">
            <a:xfrm>
              <a:off x="3927475" y="647700"/>
              <a:ext cx="49213" cy="47625"/>
            </a:xfrm>
            <a:custGeom>
              <a:avLst/>
              <a:gdLst>
                <a:gd name="T0" fmla="*/ 305 w 385"/>
                <a:gd name="T1" fmla="*/ 366 h 366"/>
                <a:gd name="T2" fmla="*/ 255 w 385"/>
                <a:gd name="T3" fmla="*/ 346 h 366"/>
                <a:gd name="T4" fmla="*/ 30 w 385"/>
                <a:gd name="T5" fmla="*/ 133 h 366"/>
                <a:gd name="T6" fmla="*/ 28 w 385"/>
                <a:gd name="T7" fmla="*/ 30 h 366"/>
                <a:gd name="T8" fmla="*/ 130 w 385"/>
                <a:gd name="T9" fmla="*/ 28 h 366"/>
                <a:gd name="T10" fmla="*/ 355 w 385"/>
                <a:gd name="T11" fmla="*/ 241 h 366"/>
                <a:gd name="T12" fmla="*/ 358 w 385"/>
                <a:gd name="T13" fmla="*/ 344 h 366"/>
                <a:gd name="T14" fmla="*/ 305 w 385"/>
                <a:gd name="T15" fmla="*/ 366 h 3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5" h="366">
                  <a:moveTo>
                    <a:pt x="305" y="366"/>
                  </a:moveTo>
                  <a:cubicBezTo>
                    <a:pt x="287" y="366"/>
                    <a:pt x="269" y="360"/>
                    <a:pt x="255" y="346"/>
                  </a:cubicBezTo>
                  <a:lnTo>
                    <a:pt x="30" y="133"/>
                  </a:lnTo>
                  <a:cubicBezTo>
                    <a:pt x="1" y="105"/>
                    <a:pt x="0" y="59"/>
                    <a:pt x="28" y="30"/>
                  </a:cubicBezTo>
                  <a:cubicBezTo>
                    <a:pt x="55" y="1"/>
                    <a:pt x="101" y="0"/>
                    <a:pt x="130" y="28"/>
                  </a:cubicBezTo>
                  <a:lnTo>
                    <a:pt x="355" y="241"/>
                  </a:lnTo>
                  <a:cubicBezTo>
                    <a:pt x="384" y="269"/>
                    <a:pt x="385" y="315"/>
                    <a:pt x="358" y="344"/>
                  </a:cubicBezTo>
                  <a:cubicBezTo>
                    <a:pt x="343" y="359"/>
                    <a:pt x="324" y="366"/>
                    <a:pt x="305" y="366"/>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82" name="Freeform 10">
              <a:extLst>
                <a:ext uri="{FF2B5EF4-FFF2-40B4-BE49-F238E27FC236}">
                  <a16:creationId xmlns:a16="http://schemas.microsoft.com/office/drawing/2014/main" id="{EAFD1397-83A5-D275-F0F3-56C293E6B657}"/>
                </a:ext>
              </a:extLst>
            </p:cNvPr>
            <p:cNvSpPr>
              <a:spLocks noEditPoints="1"/>
            </p:cNvSpPr>
            <p:nvPr/>
          </p:nvSpPr>
          <p:spPr bwMode="auto">
            <a:xfrm>
              <a:off x="4117975" y="365125"/>
              <a:ext cx="131763" cy="122238"/>
            </a:xfrm>
            <a:custGeom>
              <a:avLst/>
              <a:gdLst>
                <a:gd name="T0" fmla="*/ 181 w 1040"/>
                <a:gd name="T1" fmla="*/ 397 h 959"/>
                <a:gd name="T2" fmla="*/ 599 w 1040"/>
                <a:gd name="T3" fmla="*/ 785 h 959"/>
                <a:gd name="T4" fmla="*/ 809 w 1040"/>
                <a:gd name="T5" fmla="*/ 565 h 959"/>
                <a:gd name="T6" fmla="*/ 791 w 1040"/>
                <a:gd name="T7" fmla="*/ 415 h 959"/>
                <a:gd name="T8" fmla="*/ 558 w 1040"/>
                <a:gd name="T9" fmla="*/ 203 h 959"/>
                <a:gd name="T10" fmla="*/ 535 w 1040"/>
                <a:gd name="T11" fmla="*/ 183 h 959"/>
                <a:gd name="T12" fmla="*/ 453 w 1040"/>
                <a:gd name="T13" fmla="*/ 145 h 959"/>
                <a:gd name="T14" fmla="*/ 373 w 1040"/>
                <a:gd name="T15" fmla="*/ 183 h 959"/>
                <a:gd name="T16" fmla="*/ 181 w 1040"/>
                <a:gd name="T17" fmla="*/ 397 h 959"/>
                <a:gd name="T18" fmla="*/ 602 w 1040"/>
                <a:gd name="T19" fmla="*/ 959 h 959"/>
                <a:gd name="T20" fmla="*/ 552 w 1040"/>
                <a:gd name="T21" fmla="*/ 940 h 959"/>
                <a:gd name="T22" fmla="*/ 31 w 1040"/>
                <a:gd name="T23" fmla="*/ 455 h 959"/>
                <a:gd name="T24" fmla="*/ 26 w 1040"/>
                <a:gd name="T25" fmla="*/ 354 h 959"/>
                <a:gd name="T26" fmla="*/ 264 w 1040"/>
                <a:gd name="T27" fmla="*/ 87 h 959"/>
                <a:gd name="T28" fmla="*/ 453 w 1040"/>
                <a:gd name="T29" fmla="*/ 0 h 959"/>
                <a:gd name="T30" fmla="*/ 631 w 1040"/>
                <a:gd name="T31" fmla="*/ 74 h 959"/>
                <a:gd name="T32" fmla="*/ 653 w 1040"/>
                <a:gd name="T33" fmla="*/ 94 h 959"/>
                <a:gd name="T34" fmla="*/ 893 w 1040"/>
                <a:gd name="T35" fmla="*/ 312 h 959"/>
                <a:gd name="T36" fmla="*/ 918 w 1040"/>
                <a:gd name="T37" fmla="*/ 661 h 959"/>
                <a:gd name="T38" fmla="*/ 654 w 1040"/>
                <a:gd name="T39" fmla="*/ 937 h 959"/>
                <a:gd name="T40" fmla="*/ 602 w 1040"/>
                <a:gd name="T41" fmla="*/ 959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40" h="959">
                  <a:moveTo>
                    <a:pt x="181" y="397"/>
                  </a:moveTo>
                  <a:lnTo>
                    <a:pt x="599" y="785"/>
                  </a:lnTo>
                  <a:cubicBezTo>
                    <a:pt x="690" y="690"/>
                    <a:pt x="797" y="578"/>
                    <a:pt x="809" y="565"/>
                  </a:cubicBezTo>
                  <a:cubicBezTo>
                    <a:pt x="852" y="516"/>
                    <a:pt x="860" y="483"/>
                    <a:pt x="791" y="415"/>
                  </a:cubicBezTo>
                  <a:cubicBezTo>
                    <a:pt x="719" y="344"/>
                    <a:pt x="644" y="279"/>
                    <a:pt x="558" y="203"/>
                  </a:cubicBezTo>
                  <a:lnTo>
                    <a:pt x="535" y="183"/>
                  </a:lnTo>
                  <a:cubicBezTo>
                    <a:pt x="506" y="158"/>
                    <a:pt x="479" y="145"/>
                    <a:pt x="453" y="145"/>
                  </a:cubicBezTo>
                  <a:cubicBezTo>
                    <a:pt x="408" y="145"/>
                    <a:pt x="373" y="183"/>
                    <a:pt x="373" y="183"/>
                  </a:cubicBezTo>
                  <a:lnTo>
                    <a:pt x="181" y="397"/>
                  </a:lnTo>
                  <a:close/>
                  <a:moveTo>
                    <a:pt x="602" y="959"/>
                  </a:moveTo>
                  <a:cubicBezTo>
                    <a:pt x="584" y="959"/>
                    <a:pt x="566" y="953"/>
                    <a:pt x="552" y="940"/>
                  </a:cubicBezTo>
                  <a:lnTo>
                    <a:pt x="31" y="455"/>
                  </a:lnTo>
                  <a:cubicBezTo>
                    <a:pt x="2" y="428"/>
                    <a:pt x="0" y="383"/>
                    <a:pt x="26" y="354"/>
                  </a:cubicBezTo>
                  <a:lnTo>
                    <a:pt x="264" y="87"/>
                  </a:lnTo>
                  <a:cubicBezTo>
                    <a:pt x="274" y="75"/>
                    <a:pt x="345" y="0"/>
                    <a:pt x="453" y="0"/>
                  </a:cubicBezTo>
                  <a:cubicBezTo>
                    <a:pt x="515" y="0"/>
                    <a:pt x="575" y="25"/>
                    <a:pt x="631" y="74"/>
                  </a:cubicBezTo>
                  <a:lnTo>
                    <a:pt x="653" y="94"/>
                  </a:lnTo>
                  <a:cubicBezTo>
                    <a:pt x="742" y="171"/>
                    <a:pt x="818" y="238"/>
                    <a:pt x="893" y="312"/>
                  </a:cubicBezTo>
                  <a:cubicBezTo>
                    <a:pt x="1040" y="457"/>
                    <a:pt x="987" y="582"/>
                    <a:pt x="918" y="661"/>
                  </a:cubicBezTo>
                  <a:cubicBezTo>
                    <a:pt x="897" y="684"/>
                    <a:pt x="679" y="911"/>
                    <a:pt x="654" y="937"/>
                  </a:cubicBezTo>
                  <a:cubicBezTo>
                    <a:pt x="640" y="952"/>
                    <a:pt x="621" y="959"/>
                    <a:pt x="602" y="959"/>
                  </a:cubicBezTo>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83" name="Freeform 11">
              <a:extLst>
                <a:ext uri="{FF2B5EF4-FFF2-40B4-BE49-F238E27FC236}">
                  <a16:creationId xmlns:a16="http://schemas.microsoft.com/office/drawing/2014/main" id="{21740670-864F-6D92-75AB-CFA113BBE9F0}"/>
                </a:ext>
              </a:extLst>
            </p:cNvPr>
            <p:cNvSpPr>
              <a:spLocks/>
            </p:cNvSpPr>
            <p:nvPr/>
          </p:nvSpPr>
          <p:spPr bwMode="auto">
            <a:xfrm>
              <a:off x="4098925" y="401638"/>
              <a:ext cx="42863" cy="44450"/>
            </a:xfrm>
            <a:custGeom>
              <a:avLst/>
              <a:gdLst>
                <a:gd name="T0" fmla="*/ 81 w 329"/>
                <a:gd name="T1" fmla="*/ 348 h 348"/>
                <a:gd name="T2" fmla="*/ 34 w 329"/>
                <a:gd name="T3" fmla="*/ 331 h 348"/>
                <a:gd name="T4" fmla="*/ 26 w 329"/>
                <a:gd name="T5" fmla="*/ 229 h 348"/>
                <a:gd name="T6" fmla="*/ 193 w 329"/>
                <a:gd name="T7" fmla="*/ 34 h 348"/>
                <a:gd name="T8" fmla="*/ 295 w 329"/>
                <a:gd name="T9" fmla="*/ 26 h 348"/>
                <a:gd name="T10" fmla="*/ 303 w 329"/>
                <a:gd name="T11" fmla="*/ 129 h 348"/>
                <a:gd name="T12" fmla="*/ 136 w 329"/>
                <a:gd name="T13" fmla="*/ 323 h 348"/>
                <a:gd name="T14" fmla="*/ 81 w 329"/>
                <a:gd name="T15" fmla="*/ 348 h 3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9" h="348">
                  <a:moveTo>
                    <a:pt x="81" y="348"/>
                  </a:moveTo>
                  <a:cubicBezTo>
                    <a:pt x="64" y="348"/>
                    <a:pt x="47" y="343"/>
                    <a:pt x="34" y="331"/>
                  </a:cubicBezTo>
                  <a:cubicBezTo>
                    <a:pt x="3" y="305"/>
                    <a:pt x="0" y="259"/>
                    <a:pt x="26" y="229"/>
                  </a:cubicBezTo>
                  <a:lnTo>
                    <a:pt x="193" y="34"/>
                  </a:lnTo>
                  <a:cubicBezTo>
                    <a:pt x="219" y="4"/>
                    <a:pt x="265" y="0"/>
                    <a:pt x="295" y="26"/>
                  </a:cubicBezTo>
                  <a:cubicBezTo>
                    <a:pt x="325" y="53"/>
                    <a:pt x="329" y="98"/>
                    <a:pt x="303" y="129"/>
                  </a:cubicBezTo>
                  <a:lnTo>
                    <a:pt x="136" y="323"/>
                  </a:lnTo>
                  <a:cubicBezTo>
                    <a:pt x="121" y="340"/>
                    <a:pt x="101" y="348"/>
                    <a:pt x="81" y="348"/>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84" name="Freeform 12">
              <a:extLst>
                <a:ext uri="{FF2B5EF4-FFF2-40B4-BE49-F238E27FC236}">
                  <a16:creationId xmlns:a16="http://schemas.microsoft.com/office/drawing/2014/main" id="{35DE2383-096C-4279-0203-A2E1B87969B1}"/>
                </a:ext>
              </a:extLst>
            </p:cNvPr>
            <p:cNvSpPr>
              <a:spLocks/>
            </p:cNvSpPr>
            <p:nvPr/>
          </p:nvSpPr>
          <p:spPr bwMode="auto">
            <a:xfrm>
              <a:off x="4170363" y="466725"/>
              <a:ext cx="36513" cy="36513"/>
            </a:xfrm>
            <a:custGeom>
              <a:avLst/>
              <a:gdLst>
                <a:gd name="T0" fmla="*/ 80 w 287"/>
                <a:gd name="T1" fmla="*/ 288 h 288"/>
                <a:gd name="T2" fmla="*/ 31 w 287"/>
                <a:gd name="T3" fmla="*/ 268 h 288"/>
                <a:gd name="T4" fmla="*/ 27 w 287"/>
                <a:gd name="T5" fmla="*/ 166 h 288"/>
                <a:gd name="T6" fmla="*/ 154 w 287"/>
                <a:gd name="T7" fmla="*/ 31 h 288"/>
                <a:gd name="T8" fmla="*/ 256 w 287"/>
                <a:gd name="T9" fmla="*/ 27 h 288"/>
                <a:gd name="T10" fmla="*/ 260 w 287"/>
                <a:gd name="T11" fmla="*/ 129 h 288"/>
                <a:gd name="T12" fmla="*/ 133 w 287"/>
                <a:gd name="T13" fmla="*/ 265 h 288"/>
                <a:gd name="T14" fmla="*/ 80 w 287"/>
                <a:gd name="T15" fmla="*/ 288 h 2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7" h="288">
                  <a:moveTo>
                    <a:pt x="80" y="288"/>
                  </a:moveTo>
                  <a:cubicBezTo>
                    <a:pt x="63" y="288"/>
                    <a:pt x="45" y="281"/>
                    <a:pt x="31" y="268"/>
                  </a:cubicBezTo>
                  <a:cubicBezTo>
                    <a:pt x="2" y="241"/>
                    <a:pt x="0" y="195"/>
                    <a:pt x="27" y="166"/>
                  </a:cubicBezTo>
                  <a:lnTo>
                    <a:pt x="154" y="31"/>
                  </a:lnTo>
                  <a:cubicBezTo>
                    <a:pt x="181" y="1"/>
                    <a:pt x="227" y="0"/>
                    <a:pt x="256" y="27"/>
                  </a:cubicBezTo>
                  <a:cubicBezTo>
                    <a:pt x="285" y="54"/>
                    <a:pt x="287" y="100"/>
                    <a:pt x="260" y="129"/>
                  </a:cubicBezTo>
                  <a:lnTo>
                    <a:pt x="133" y="265"/>
                  </a:lnTo>
                  <a:cubicBezTo>
                    <a:pt x="119" y="280"/>
                    <a:pt x="100" y="288"/>
                    <a:pt x="80" y="288"/>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85" name="Freeform 13">
              <a:extLst>
                <a:ext uri="{FF2B5EF4-FFF2-40B4-BE49-F238E27FC236}">
                  <a16:creationId xmlns:a16="http://schemas.microsoft.com/office/drawing/2014/main" id="{E9BEC98D-9E34-DC16-CAD3-B11550F8B579}"/>
                </a:ext>
              </a:extLst>
            </p:cNvPr>
            <p:cNvSpPr>
              <a:spLocks/>
            </p:cNvSpPr>
            <p:nvPr/>
          </p:nvSpPr>
          <p:spPr bwMode="auto">
            <a:xfrm>
              <a:off x="4135438" y="484188"/>
              <a:ext cx="17463" cy="19050"/>
            </a:xfrm>
            <a:custGeom>
              <a:avLst/>
              <a:gdLst>
                <a:gd name="T0" fmla="*/ 72 w 145"/>
                <a:gd name="T1" fmla="*/ 145 h 145"/>
                <a:gd name="T2" fmla="*/ 21 w 145"/>
                <a:gd name="T3" fmla="*/ 124 h 145"/>
                <a:gd name="T4" fmla="*/ 0 w 145"/>
                <a:gd name="T5" fmla="*/ 73 h 145"/>
                <a:gd name="T6" fmla="*/ 21 w 145"/>
                <a:gd name="T7" fmla="*/ 21 h 145"/>
                <a:gd name="T8" fmla="*/ 72 w 145"/>
                <a:gd name="T9" fmla="*/ 0 h 145"/>
                <a:gd name="T10" fmla="*/ 124 w 145"/>
                <a:gd name="T11" fmla="*/ 21 h 145"/>
                <a:gd name="T12" fmla="*/ 145 w 145"/>
                <a:gd name="T13" fmla="*/ 73 h 145"/>
                <a:gd name="T14" fmla="*/ 124 w 145"/>
                <a:gd name="T15" fmla="*/ 124 h 145"/>
                <a:gd name="T16" fmla="*/ 72 w 145"/>
                <a:gd name="T17" fmla="*/ 14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5" h="145">
                  <a:moveTo>
                    <a:pt x="72" y="145"/>
                  </a:moveTo>
                  <a:cubicBezTo>
                    <a:pt x="53" y="145"/>
                    <a:pt x="35" y="137"/>
                    <a:pt x="21" y="124"/>
                  </a:cubicBezTo>
                  <a:cubicBezTo>
                    <a:pt x="8" y="110"/>
                    <a:pt x="0" y="91"/>
                    <a:pt x="0" y="73"/>
                  </a:cubicBezTo>
                  <a:cubicBezTo>
                    <a:pt x="0" y="53"/>
                    <a:pt x="8" y="35"/>
                    <a:pt x="21" y="21"/>
                  </a:cubicBezTo>
                  <a:cubicBezTo>
                    <a:pt x="35" y="8"/>
                    <a:pt x="53" y="0"/>
                    <a:pt x="72" y="0"/>
                  </a:cubicBezTo>
                  <a:cubicBezTo>
                    <a:pt x="92" y="0"/>
                    <a:pt x="110" y="8"/>
                    <a:pt x="124" y="21"/>
                  </a:cubicBezTo>
                  <a:cubicBezTo>
                    <a:pt x="137" y="35"/>
                    <a:pt x="145" y="53"/>
                    <a:pt x="145" y="73"/>
                  </a:cubicBezTo>
                  <a:cubicBezTo>
                    <a:pt x="145" y="91"/>
                    <a:pt x="137" y="110"/>
                    <a:pt x="124" y="124"/>
                  </a:cubicBezTo>
                  <a:cubicBezTo>
                    <a:pt x="110" y="137"/>
                    <a:pt x="92" y="145"/>
                    <a:pt x="72" y="145"/>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86" name="Freeform 14">
              <a:extLst>
                <a:ext uri="{FF2B5EF4-FFF2-40B4-BE49-F238E27FC236}">
                  <a16:creationId xmlns:a16="http://schemas.microsoft.com/office/drawing/2014/main" id="{4FB9E75F-91ED-8E40-058C-AA4D48BFEF40}"/>
                </a:ext>
              </a:extLst>
            </p:cNvPr>
            <p:cNvSpPr>
              <a:spLocks/>
            </p:cNvSpPr>
            <p:nvPr/>
          </p:nvSpPr>
          <p:spPr bwMode="auto">
            <a:xfrm>
              <a:off x="4008438" y="498475"/>
              <a:ext cx="131763" cy="138113"/>
            </a:xfrm>
            <a:custGeom>
              <a:avLst/>
              <a:gdLst>
                <a:gd name="T0" fmla="*/ 80 w 1028"/>
                <a:gd name="T1" fmla="*/ 1078 h 1078"/>
                <a:gd name="T2" fmla="*/ 31 w 1028"/>
                <a:gd name="T3" fmla="*/ 1058 h 1078"/>
                <a:gd name="T4" fmla="*/ 28 w 1028"/>
                <a:gd name="T5" fmla="*/ 956 h 1078"/>
                <a:gd name="T6" fmla="*/ 895 w 1028"/>
                <a:gd name="T7" fmla="*/ 31 h 1078"/>
                <a:gd name="T8" fmla="*/ 997 w 1028"/>
                <a:gd name="T9" fmla="*/ 28 h 1078"/>
                <a:gd name="T10" fmla="*/ 1000 w 1028"/>
                <a:gd name="T11" fmla="*/ 130 h 1078"/>
                <a:gd name="T12" fmla="*/ 133 w 1028"/>
                <a:gd name="T13" fmla="*/ 1054 h 1078"/>
                <a:gd name="T14" fmla="*/ 80 w 1028"/>
                <a:gd name="T15" fmla="*/ 1078 h 10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8" h="1078">
                  <a:moveTo>
                    <a:pt x="80" y="1078"/>
                  </a:moveTo>
                  <a:cubicBezTo>
                    <a:pt x="63" y="1078"/>
                    <a:pt x="45" y="1071"/>
                    <a:pt x="31" y="1058"/>
                  </a:cubicBezTo>
                  <a:cubicBezTo>
                    <a:pt x="2" y="1031"/>
                    <a:pt x="0" y="985"/>
                    <a:pt x="28" y="956"/>
                  </a:cubicBezTo>
                  <a:cubicBezTo>
                    <a:pt x="33" y="949"/>
                    <a:pt x="610" y="332"/>
                    <a:pt x="895" y="31"/>
                  </a:cubicBezTo>
                  <a:cubicBezTo>
                    <a:pt x="923" y="2"/>
                    <a:pt x="968" y="0"/>
                    <a:pt x="997" y="28"/>
                  </a:cubicBezTo>
                  <a:cubicBezTo>
                    <a:pt x="1027" y="55"/>
                    <a:pt x="1028" y="101"/>
                    <a:pt x="1000" y="130"/>
                  </a:cubicBezTo>
                  <a:cubicBezTo>
                    <a:pt x="716" y="432"/>
                    <a:pt x="139" y="1048"/>
                    <a:pt x="133" y="1054"/>
                  </a:cubicBezTo>
                  <a:cubicBezTo>
                    <a:pt x="119" y="1070"/>
                    <a:pt x="100" y="1078"/>
                    <a:pt x="80" y="1078"/>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87" name="Freeform 15">
              <a:extLst>
                <a:ext uri="{FF2B5EF4-FFF2-40B4-BE49-F238E27FC236}">
                  <a16:creationId xmlns:a16="http://schemas.microsoft.com/office/drawing/2014/main" id="{98839045-8107-BDC2-C635-1D83681F482A}"/>
                </a:ext>
              </a:extLst>
            </p:cNvPr>
            <p:cNvSpPr>
              <a:spLocks/>
            </p:cNvSpPr>
            <p:nvPr/>
          </p:nvSpPr>
          <p:spPr bwMode="auto">
            <a:xfrm>
              <a:off x="4110038" y="463550"/>
              <a:ext cx="19050" cy="19050"/>
            </a:xfrm>
            <a:custGeom>
              <a:avLst/>
              <a:gdLst>
                <a:gd name="T0" fmla="*/ 72 w 145"/>
                <a:gd name="T1" fmla="*/ 145 h 145"/>
                <a:gd name="T2" fmla="*/ 21 w 145"/>
                <a:gd name="T3" fmla="*/ 124 h 145"/>
                <a:gd name="T4" fmla="*/ 0 w 145"/>
                <a:gd name="T5" fmla="*/ 73 h 145"/>
                <a:gd name="T6" fmla="*/ 21 w 145"/>
                <a:gd name="T7" fmla="*/ 21 h 145"/>
                <a:gd name="T8" fmla="*/ 72 w 145"/>
                <a:gd name="T9" fmla="*/ 0 h 145"/>
                <a:gd name="T10" fmla="*/ 123 w 145"/>
                <a:gd name="T11" fmla="*/ 21 h 145"/>
                <a:gd name="T12" fmla="*/ 145 w 145"/>
                <a:gd name="T13" fmla="*/ 73 h 145"/>
                <a:gd name="T14" fmla="*/ 123 w 145"/>
                <a:gd name="T15" fmla="*/ 124 h 145"/>
                <a:gd name="T16" fmla="*/ 72 w 145"/>
                <a:gd name="T17" fmla="*/ 14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5" h="145">
                  <a:moveTo>
                    <a:pt x="72" y="145"/>
                  </a:moveTo>
                  <a:cubicBezTo>
                    <a:pt x="53" y="145"/>
                    <a:pt x="34" y="137"/>
                    <a:pt x="21" y="124"/>
                  </a:cubicBezTo>
                  <a:cubicBezTo>
                    <a:pt x="7" y="110"/>
                    <a:pt x="0" y="92"/>
                    <a:pt x="0" y="73"/>
                  </a:cubicBezTo>
                  <a:cubicBezTo>
                    <a:pt x="0" y="53"/>
                    <a:pt x="7" y="35"/>
                    <a:pt x="21" y="21"/>
                  </a:cubicBezTo>
                  <a:cubicBezTo>
                    <a:pt x="34" y="8"/>
                    <a:pt x="53" y="0"/>
                    <a:pt x="72" y="0"/>
                  </a:cubicBezTo>
                  <a:cubicBezTo>
                    <a:pt x="91" y="0"/>
                    <a:pt x="110" y="8"/>
                    <a:pt x="123" y="21"/>
                  </a:cubicBezTo>
                  <a:cubicBezTo>
                    <a:pt x="137" y="35"/>
                    <a:pt x="145" y="53"/>
                    <a:pt x="145" y="73"/>
                  </a:cubicBezTo>
                  <a:cubicBezTo>
                    <a:pt x="145" y="92"/>
                    <a:pt x="137" y="110"/>
                    <a:pt x="123" y="124"/>
                  </a:cubicBezTo>
                  <a:cubicBezTo>
                    <a:pt x="110" y="137"/>
                    <a:pt x="91" y="145"/>
                    <a:pt x="72" y="145"/>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88" name="Freeform 16">
              <a:extLst>
                <a:ext uri="{FF2B5EF4-FFF2-40B4-BE49-F238E27FC236}">
                  <a16:creationId xmlns:a16="http://schemas.microsoft.com/office/drawing/2014/main" id="{BB5C336D-58DB-988E-FBD5-A8A014761992}"/>
                </a:ext>
              </a:extLst>
            </p:cNvPr>
            <p:cNvSpPr>
              <a:spLocks/>
            </p:cNvSpPr>
            <p:nvPr/>
          </p:nvSpPr>
          <p:spPr bwMode="auto">
            <a:xfrm>
              <a:off x="3987800" y="477838"/>
              <a:ext cx="125413" cy="133350"/>
            </a:xfrm>
            <a:custGeom>
              <a:avLst/>
              <a:gdLst>
                <a:gd name="T0" fmla="*/ 105 w 985"/>
                <a:gd name="T1" fmla="*/ 1041 h 1041"/>
                <a:gd name="T2" fmla="*/ 0 w 985"/>
                <a:gd name="T3" fmla="*/ 942 h 1041"/>
                <a:gd name="T4" fmla="*/ 852 w 985"/>
                <a:gd name="T5" fmla="*/ 31 h 1041"/>
                <a:gd name="T6" fmla="*/ 955 w 985"/>
                <a:gd name="T7" fmla="*/ 28 h 1041"/>
                <a:gd name="T8" fmla="*/ 958 w 985"/>
                <a:gd name="T9" fmla="*/ 130 h 1041"/>
                <a:gd name="T10" fmla="*/ 105 w 985"/>
                <a:gd name="T11" fmla="*/ 1041 h 1041"/>
              </a:gdLst>
              <a:ahLst/>
              <a:cxnLst>
                <a:cxn ang="0">
                  <a:pos x="T0" y="T1"/>
                </a:cxn>
                <a:cxn ang="0">
                  <a:pos x="T2" y="T3"/>
                </a:cxn>
                <a:cxn ang="0">
                  <a:pos x="T4" y="T5"/>
                </a:cxn>
                <a:cxn ang="0">
                  <a:pos x="T6" y="T7"/>
                </a:cxn>
                <a:cxn ang="0">
                  <a:pos x="T8" y="T9"/>
                </a:cxn>
                <a:cxn ang="0">
                  <a:pos x="T10" y="T11"/>
                </a:cxn>
              </a:cxnLst>
              <a:rect l="0" t="0" r="r" b="b"/>
              <a:pathLst>
                <a:path w="985" h="1041">
                  <a:moveTo>
                    <a:pt x="105" y="1041"/>
                  </a:moveTo>
                  <a:lnTo>
                    <a:pt x="0" y="942"/>
                  </a:lnTo>
                  <a:cubicBezTo>
                    <a:pt x="0" y="942"/>
                    <a:pt x="566" y="337"/>
                    <a:pt x="852" y="31"/>
                  </a:cubicBezTo>
                  <a:cubicBezTo>
                    <a:pt x="880" y="2"/>
                    <a:pt x="925" y="0"/>
                    <a:pt x="955" y="28"/>
                  </a:cubicBezTo>
                  <a:cubicBezTo>
                    <a:pt x="984" y="55"/>
                    <a:pt x="985" y="101"/>
                    <a:pt x="958" y="130"/>
                  </a:cubicBezTo>
                  <a:cubicBezTo>
                    <a:pt x="671" y="436"/>
                    <a:pt x="105" y="1041"/>
                    <a:pt x="105" y="1041"/>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89" name="Freeform 17">
              <a:extLst>
                <a:ext uri="{FF2B5EF4-FFF2-40B4-BE49-F238E27FC236}">
                  <a16:creationId xmlns:a16="http://schemas.microsoft.com/office/drawing/2014/main" id="{4DC89885-6A4B-1DE7-B3D4-67B613F09DBD}"/>
                </a:ext>
              </a:extLst>
            </p:cNvPr>
            <p:cNvSpPr>
              <a:spLocks/>
            </p:cNvSpPr>
            <p:nvPr/>
          </p:nvSpPr>
          <p:spPr bwMode="auto">
            <a:xfrm>
              <a:off x="3819525" y="350838"/>
              <a:ext cx="222250" cy="323850"/>
            </a:xfrm>
            <a:custGeom>
              <a:avLst/>
              <a:gdLst>
                <a:gd name="T0" fmla="*/ 725 w 1739"/>
                <a:gd name="T1" fmla="*/ 2536 h 2536"/>
                <a:gd name="T2" fmla="*/ 73 w 1739"/>
                <a:gd name="T3" fmla="*/ 2536 h 2536"/>
                <a:gd name="T4" fmla="*/ 0 w 1739"/>
                <a:gd name="T5" fmla="*/ 2464 h 2536"/>
                <a:gd name="T6" fmla="*/ 0 w 1739"/>
                <a:gd name="T7" fmla="*/ 73 h 2536"/>
                <a:gd name="T8" fmla="*/ 73 w 1739"/>
                <a:gd name="T9" fmla="*/ 0 h 2536"/>
                <a:gd name="T10" fmla="*/ 1667 w 1739"/>
                <a:gd name="T11" fmla="*/ 0 h 2536"/>
                <a:gd name="T12" fmla="*/ 1739 w 1739"/>
                <a:gd name="T13" fmla="*/ 73 h 2536"/>
                <a:gd name="T14" fmla="*/ 1667 w 1739"/>
                <a:gd name="T15" fmla="*/ 145 h 2536"/>
                <a:gd name="T16" fmla="*/ 145 w 1739"/>
                <a:gd name="T17" fmla="*/ 145 h 2536"/>
                <a:gd name="T18" fmla="*/ 145 w 1739"/>
                <a:gd name="T19" fmla="*/ 2391 h 2536"/>
                <a:gd name="T20" fmla="*/ 725 w 1739"/>
                <a:gd name="T21" fmla="*/ 2391 h 2536"/>
                <a:gd name="T22" fmla="*/ 798 w 1739"/>
                <a:gd name="T23" fmla="*/ 2464 h 2536"/>
                <a:gd name="T24" fmla="*/ 725 w 1739"/>
                <a:gd name="T25" fmla="*/ 2536 h 2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39" h="2536">
                  <a:moveTo>
                    <a:pt x="725" y="2536"/>
                  </a:moveTo>
                  <a:lnTo>
                    <a:pt x="73" y="2536"/>
                  </a:lnTo>
                  <a:cubicBezTo>
                    <a:pt x="33" y="2536"/>
                    <a:pt x="0" y="2504"/>
                    <a:pt x="0" y="2464"/>
                  </a:cubicBezTo>
                  <a:lnTo>
                    <a:pt x="0" y="73"/>
                  </a:lnTo>
                  <a:cubicBezTo>
                    <a:pt x="0" y="33"/>
                    <a:pt x="33" y="0"/>
                    <a:pt x="73" y="0"/>
                  </a:cubicBezTo>
                  <a:lnTo>
                    <a:pt x="1667" y="0"/>
                  </a:lnTo>
                  <a:cubicBezTo>
                    <a:pt x="1707" y="0"/>
                    <a:pt x="1739" y="33"/>
                    <a:pt x="1739" y="73"/>
                  </a:cubicBezTo>
                  <a:cubicBezTo>
                    <a:pt x="1739" y="113"/>
                    <a:pt x="1707" y="145"/>
                    <a:pt x="1667" y="145"/>
                  </a:cubicBezTo>
                  <a:lnTo>
                    <a:pt x="145" y="145"/>
                  </a:lnTo>
                  <a:lnTo>
                    <a:pt x="145" y="2391"/>
                  </a:lnTo>
                  <a:lnTo>
                    <a:pt x="725" y="2391"/>
                  </a:lnTo>
                  <a:cubicBezTo>
                    <a:pt x="765" y="2391"/>
                    <a:pt x="798" y="2424"/>
                    <a:pt x="798" y="2464"/>
                  </a:cubicBezTo>
                  <a:cubicBezTo>
                    <a:pt x="798" y="2504"/>
                    <a:pt x="765" y="2536"/>
                    <a:pt x="725" y="2536"/>
                  </a:cubicBezTo>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90" name="Freeform 18">
              <a:extLst>
                <a:ext uri="{FF2B5EF4-FFF2-40B4-BE49-F238E27FC236}">
                  <a16:creationId xmlns:a16="http://schemas.microsoft.com/office/drawing/2014/main" id="{0528549C-8DAF-4B45-2A86-593307479B3C}"/>
                </a:ext>
              </a:extLst>
            </p:cNvPr>
            <p:cNvSpPr>
              <a:spLocks/>
            </p:cNvSpPr>
            <p:nvPr/>
          </p:nvSpPr>
          <p:spPr bwMode="auto">
            <a:xfrm>
              <a:off x="4048125" y="557213"/>
              <a:ext cx="109538" cy="117475"/>
            </a:xfrm>
            <a:custGeom>
              <a:avLst/>
              <a:gdLst>
                <a:gd name="T0" fmla="*/ 785 w 857"/>
                <a:gd name="T1" fmla="*/ 917 h 917"/>
                <a:gd name="T2" fmla="*/ 72 w 857"/>
                <a:gd name="T3" fmla="*/ 917 h 917"/>
                <a:gd name="T4" fmla="*/ 0 w 857"/>
                <a:gd name="T5" fmla="*/ 845 h 917"/>
                <a:gd name="T6" fmla="*/ 72 w 857"/>
                <a:gd name="T7" fmla="*/ 772 h 917"/>
                <a:gd name="T8" fmla="*/ 712 w 857"/>
                <a:gd name="T9" fmla="*/ 772 h 917"/>
                <a:gd name="T10" fmla="*/ 712 w 857"/>
                <a:gd name="T11" fmla="*/ 72 h 917"/>
                <a:gd name="T12" fmla="*/ 785 w 857"/>
                <a:gd name="T13" fmla="*/ 0 h 917"/>
                <a:gd name="T14" fmla="*/ 857 w 857"/>
                <a:gd name="T15" fmla="*/ 72 h 917"/>
                <a:gd name="T16" fmla="*/ 857 w 857"/>
                <a:gd name="T17" fmla="*/ 845 h 917"/>
                <a:gd name="T18" fmla="*/ 785 w 857"/>
                <a:gd name="T19" fmla="*/ 917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7" h="917">
                  <a:moveTo>
                    <a:pt x="785" y="917"/>
                  </a:moveTo>
                  <a:lnTo>
                    <a:pt x="72" y="917"/>
                  </a:lnTo>
                  <a:cubicBezTo>
                    <a:pt x="32" y="917"/>
                    <a:pt x="0" y="885"/>
                    <a:pt x="0" y="845"/>
                  </a:cubicBezTo>
                  <a:cubicBezTo>
                    <a:pt x="0" y="805"/>
                    <a:pt x="32" y="772"/>
                    <a:pt x="72" y="772"/>
                  </a:cubicBezTo>
                  <a:lnTo>
                    <a:pt x="712" y="772"/>
                  </a:lnTo>
                  <a:lnTo>
                    <a:pt x="712" y="72"/>
                  </a:lnTo>
                  <a:cubicBezTo>
                    <a:pt x="712" y="32"/>
                    <a:pt x="745" y="0"/>
                    <a:pt x="785" y="0"/>
                  </a:cubicBezTo>
                  <a:cubicBezTo>
                    <a:pt x="825" y="0"/>
                    <a:pt x="857" y="32"/>
                    <a:pt x="857" y="72"/>
                  </a:cubicBezTo>
                  <a:lnTo>
                    <a:pt x="857" y="845"/>
                  </a:lnTo>
                  <a:cubicBezTo>
                    <a:pt x="857" y="885"/>
                    <a:pt x="825" y="917"/>
                    <a:pt x="785" y="917"/>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91" name="Freeform 19">
              <a:extLst>
                <a:ext uri="{FF2B5EF4-FFF2-40B4-BE49-F238E27FC236}">
                  <a16:creationId xmlns:a16="http://schemas.microsoft.com/office/drawing/2014/main" id="{421C1D2F-ED97-DF0D-0151-D95218B2FBF2}"/>
                </a:ext>
              </a:extLst>
            </p:cNvPr>
            <p:cNvSpPr>
              <a:spLocks/>
            </p:cNvSpPr>
            <p:nvPr/>
          </p:nvSpPr>
          <p:spPr bwMode="auto">
            <a:xfrm>
              <a:off x="4092575" y="350838"/>
              <a:ext cx="65088" cy="25400"/>
            </a:xfrm>
            <a:custGeom>
              <a:avLst/>
              <a:gdLst>
                <a:gd name="T0" fmla="*/ 435 w 507"/>
                <a:gd name="T1" fmla="*/ 206 h 206"/>
                <a:gd name="T2" fmla="*/ 363 w 507"/>
                <a:gd name="T3" fmla="*/ 145 h 206"/>
                <a:gd name="T4" fmla="*/ 72 w 507"/>
                <a:gd name="T5" fmla="*/ 145 h 206"/>
                <a:gd name="T6" fmla="*/ 0 w 507"/>
                <a:gd name="T7" fmla="*/ 73 h 206"/>
                <a:gd name="T8" fmla="*/ 72 w 507"/>
                <a:gd name="T9" fmla="*/ 0 h 206"/>
                <a:gd name="T10" fmla="*/ 435 w 507"/>
                <a:gd name="T11" fmla="*/ 0 h 206"/>
                <a:gd name="T12" fmla="*/ 507 w 507"/>
                <a:gd name="T13" fmla="*/ 73 h 206"/>
                <a:gd name="T14" fmla="*/ 507 w 507"/>
                <a:gd name="T15" fmla="*/ 133 h 206"/>
                <a:gd name="T16" fmla="*/ 435 w 507"/>
                <a:gd name="T17" fmla="*/ 20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7" h="206">
                  <a:moveTo>
                    <a:pt x="435" y="206"/>
                  </a:moveTo>
                  <a:cubicBezTo>
                    <a:pt x="399" y="206"/>
                    <a:pt x="369" y="179"/>
                    <a:pt x="363" y="145"/>
                  </a:cubicBezTo>
                  <a:lnTo>
                    <a:pt x="72" y="145"/>
                  </a:lnTo>
                  <a:cubicBezTo>
                    <a:pt x="32" y="145"/>
                    <a:pt x="0" y="113"/>
                    <a:pt x="0" y="73"/>
                  </a:cubicBezTo>
                  <a:cubicBezTo>
                    <a:pt x="0" y="33"/>
                    <a:pt x="32" y="0"/>
                    <a:pt x="72" y="0"/>
                  </a:cubicBezTo>
                  <a:lnTo>
                    <a:pt x="435" y="0"/>
                  </a:lnTo>
                  <a:cubicBezTo>
                    <a:pt x="475" y="0"/>
                    <a:pt x="507" y="33"/>
                    <a:pt x="507" y="73"/>
                  </a:cubicBezTo>
                  <a:lnTo>
                    <a:pt x="507" y="133"/>
                  </a:lnTo>
                  <a:cubicBezTo>
                    <a:pt x="507" y="173"/>
                    <a:pt x="475" y="206"/>
                    <a:pt x="435" y="206"/>
                  </a:cubicBezTo>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sp>
          <p:nvSpPr>
            <p:cNvPr id="192" name="Freeform 20">
              <a:extLst>
                <a:ext uri="{FF2B5EF4-FFF2-40B4-BE49-F238E27FC236}">
                  <a16:creationId xmlns:a16="http://schemas.microsoft.com/office/drawing/2014/main" id="{27F63F05-31A3-43D3-7E23-A2199CA61F2D}"/>
                </a:ext>
              </a:extLst>
            </p:cNvPr>
            <p:cNvSpPr>
              <a:spLocks/>
            </p:cNvSpPr>
            <p:nvPr/>
          </p:nvSpPr>
          <p:spPr bwMode="auto">
            <a:xfrm>
              <a:off x="3821113" y="352425"/>
              <a:ext cx="176213" cy="193675"/>
            </a:xfrm>
            <a:custGeom>
              <a:avLst/>
              <a:gdLst>
                <a:gd name="T0" fmla="*/ 1304 w 1376"/>
                <a:gd name="T1" fmla="*/ 1521 h 1521"/>
                <a:gd name="T2" fmla="*/ 72 w 1376"/>
                <a:gd name="T3" fmla="*/ 1521 h 1521"/>
                <a:gd name="T4" fmla="*/ 0 w 1376"/>
                <a:gd name="T5" fmla="*/ 1449 h 1521"/>
                <a:gd name="T6" fmla="*/ 0 w 1376"/>
                <a:gd name="T7" fmla="*/ 72 h 1521"/>
                <a:gd name="T8" fmla="*/ 72 w 1376"/>
                <a:gd name="T9" fmla="*/ 0 h 1521"/>
                <a:gd name="T10" fmla="*/ 1304 w 1376"/>
                <a:gd name="T11" fmla="*/ 0 h 1521"/>
                <a:gd name="T12" fmla="*/ 1376 w 1376"/>
                <a:gd name="T13" fmla="*/ 72 h 1521"/>
                <a:gd name="T14" fmla="*/ 1376 w 1376"/>
                <a:gd name="T15" fmla="*/ 627 h 1521"/>
                <a:gd name="T16" fmla="*/ 1304 w 1376"/>
                <a:gd name="T17" fmla="*/ 700 h 1521"/>
                <a:gd name="T18" fmla="*/ 1231 w 1376"/>
                <a:gd name="T19" fmla="*/ 627 h 1521"/>
                <a:gd name="T20" fmla="*/ 1231 w 1376"/>
                <a:gd name="T21" fmla="*/ 144 h 1521"/>
                <a:gd name="T22" fmla="*/ 144 w 1376"/>
                <a:gd name="T23" fmla="*/ 144 h 1521"/>
                <a:gd name="T24" fmla="*/ 144 w 1376"/>
                <a:gd name="T25" fmla="*/ 1376 h 1521"/>
                <a:gd name="T26" fmla="*/ 1231 w 1376"/>
                <a:gd name="T27" fmla="*/ 1376 h 1521"/>
                <a:gd name="T28" fmla="*/ 1231 w 1376"/>
                <a:gd name="T29" fmla="*/ 1002 h 1521"/>
                <a:gd name="T30" fmla="*/ 1304 w 1376"/>
                <a:gd name="T31" fmla="*/ 929 h 1521"/>
                <a:gd name="T32" fmla="*/ 1376 w 1376"/>
                <a:gd name="T33" fmla="*/ 1002 h 1521"/>
                <a:gd name="T34" fmla="*/ 1376 w 1376"/>
                <a:gd name="T35" fmla="*/ 1449 h 1521"/>
                <a:gd name="T36" fmla="*/ 1304 w 1376"/>
                <a:gd name="T37" fmla="*/ 1521 h 1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76" h="1521">
                  <a:moveTo>
                    <a:pt x="1304" y="1521"/>
                  </a:moveTo>
                  <a:lnTo>
                    <a:pt x="72" y="1521"/>
                  </a:lnTo>
                  <a:cubicBezTo>
                    <a:pt x="32" y="1521"/>
                    <a:pt x="0" y="1489"/>
                    <a:pt x="0" y="1449"/>
                  </a:cubicBezTo>
                  <a:lnTo>
                    <a:pt x="0" y="72"/>
                  </a:lnTo>
                  <a:cubicBezTo>
                    <a:pt x="0" y="32"/>
                    <a:pt x="32" y="0"/>
                    <a:pt x="72" y="0"/>
                  </a:cubicBezTo>
                  <a:lnTo>
                    <a:pt x="1304" y="0"/>
                  </a:lnTo>
                  <a:cubicBezTo>
                    <a:pt x="1344" y="0"/>
                    <a:pt x="1376" y="32"/>
                    <a:pt x="1376" y="72"/>
                  </a:cubicBezTo>
                  <a:lnTo>
                    <a:pt x="1376" y="627"/>
                  </a:lnTo>
                  <a:cubicBezTo>
                    <a:pt x="1376" y="668"/>
                    <a:pt x="1344" y="700"/>
                    <a:pt x="1304" y="700"/>
                  </a:cubicBezTo>
                  <a:cubicBezTo>
                    <a:pt x="1264" y="700"/>
                    <a:pt x="1231" y="668"/>
                    <a:pt x="1231" y="627"/>
                  </a:cubicBezTo>
                  <a:lnTo>
                    <a:pt x="1231" y="144"/>
                  </a:lnTo>
                  <a:lnTo>
                    <a:pt x="144" y="144"/>
                  </a:lnTo>
                  <a:lnTo>
                    <a:pt x="144" y="1376"/>
                  </a:lnTo>
                  <a:lnTo>
                    <a:pt x="1231" y="1376"/>
                  </a:lnTo>
                  <a:lnTo>
                    <a:pt x="1231" y="1002"/>
                  </a:lnTo>
                  <a:cubicBezTo>
                    <a:pt x="1231" y="962"/>
                    <a:pt x="1264" y="929"/>
                    <a:pt x="1304" y="929"/>
                  </a:cubicBezTo>
                  <a:cubicBezTo>
                    <a:pt x="1344" y="929"/>
                    <a:pt x="1376" y="962"/>
                    <a:pt x="1376" y="1002"/>
                  </a:cubicBezTo>
                  <a:lnTo>
                    <a:pt x="1376" y="1449"/>
                  </a:lnTo>
                  <a:cubicBezTo>
                    <a:pt x="1376" y="1489"/>
                    <a:pt x="1344" y="1521"/>
                    <a:pt x="1304" y="1521"/>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mj-lt"/>
                <a:ea typeface="+mn-ea"/>
                <a:cs typeface="+mn-cs"/>
              </a:endParaRPr>
            </a:p>
          </p:txBody>
        </p:sp>
      </p:grpSp>
      <p:grpSp>
        <p:nvGrpSpPr>
          <p:cNvPr id="203" name="Notepad" descr="{&quot;Key&quot;:&quot;POWER_USER_SHAPE_ICON&quot;,&quot;Value&quot;:&quot;POWER_USER_SHAPE_ICON_STYLE_1&quot;}">
            <a:extLst>
              <a:ext uri="{FF2B5EF4-FFF2-40B4-BE49-F238E27FC236}">
                <a16:creationId xmlns:a16="http://schemas.microsoft.com/office/drawing/2014/main" id="{EE5DE972-EB1A-AC89-6959-7EE6C1F9FEBF}"/>
              </a:ext>
            </a:extLst>
          </p:cNvPr>
          <p:cNvGrpSpPr>
            <a:grpSpLocks noChangeAspect="1"/>
          </p:cNvGrpSpPr>
          <p:nvPr/>
        </p:nvGrpSpPr>
        <p:grpSpPr>
          <a:xfrm>
            <a:off x="8743131" y="4569364"/>
            <a:ext cx="294629" cy="319241"/>
            <a:chOff x="6288088" y="2614613"/>
            <a:chExt cx="588963" cy="638175"/>
          </a:xfrm>
          <a:solidFill>
            <a:schemeClr val="accent5"/>
          </a:solidFill>
        </p:grpSpPr>
        <p:sp>
          <p:nvSpPr>
            <p:cNvPr id="204" name="Freeform 269">
              <a:extLst>
                <a:ext uri="{FF2B5EF4-FFF2-40B4-BE49-F238E27FC236}">
                  <a16:creationId xmlns:a16="http://schemas.microsoft.com/office/drawing/2014/main" id="{48CBC395-A7FB-CA16-63B3-33931CB3EB32}"/>
                </a:ext>
              </a:extLst>
            </p:cNvPr>
            <p:cNvSpPr>
              <a:spLocks/>
            </p:cNvSpPr>
            <p:nvPr/>
          </p:nvSpPr>
          <p:spPr bwMode="auto">
            <a:xfrm>
              <a:off x="6338888" y="2862263"/>
              <a:ext cx="320675" cy="20638"/>
            </a:xfrm>
            <a:custGeom>
              <a:avLst/>
              <a:gdLst>
                <a:gd name="T0" fmla="*/ 538 w 538"/>
                <a:gd name="T1" fmla="*/ 16 h 33"/>
                <a:gd name="T2" fmla="*/ 521 w 538"/>
                <a:gd name="T3" fmla="*/ 0 h 33"/>
                <a:gd name="T4" fmla="*/ 17 w 538"/>
                <a:gd name="T5" fmla="*/ 0 h 33"/>
                <a:gd name="T6" fmla="*/ 0 w 538"/>
                <a:gd name="T7" fmla="*/ 16 h 33"/>
                <a:gd name="T8" fmla="*/ 17 w 538"/>
                <a:gd name="T9" fmla="*/ 33 h 33"/>
                <a:gd name="T10" fmla="*/ 521 w 538"/>
                <a:gd name="T11" fmla="*/ 33 h 33"/>
                <a:gd name="T12" fmla="*/ 538 w 538"/>
                <a:gd name="T13" fmla="*/ 16 h 33"/>
              </a:gdLst>
              <a:ahLst/>
              <a:cxnLst>
                <a:cxn ang="0">
                  <a:pos x="T0" y="T1"/>
                </a:cxn>
                <a:cxn ang="0">
                  <a:pos x="T2" y="T3"/>
                </a:cxn>
                <a:cxn ang="0">
                  <a:pos x="T4" y="T5"/>
                </a:cxn>
                <a:cxn ang="0">
                  <a:pos x="T6" y="T7"/>
                </a:cxn>
                <a:cxn ang="0">
                  <a:pos x="T8" y="T9"/>
                </a:cxn>
                <a:cxn ang="0">
                  <a:pos x="T10" y="T11"/>
                </a:cxn>
                <a:cxn ang="0">
                  <a:pos x="T12" y="T13"/>
                </a:cxn>
              </a:cxnLst>
              <a:rect l="0" t="0" r="r" b="b"/>
              <a:pathLst>
                <a:path w="538" h="33">
                  <a:moveTo>
                    <a:pt x="538" y="16"/>
                  </a:moveTo>
                  <a:cubicBezTo>
                    <a:pt x="538" y="7"/>
                    <a:pt x="531" y="0"/>
                    <a:pt x="521" y="0"/>
                  </a:cubicBezTo>
                  <a:lnTo>
                    <a:pt x="17" y="0"/>
                  </a:lnTo>
                  <a:cubicBezTo>
                    <a:pt x="8" y="0"/>
                    <a:pt x="0" y="7"/>
                    <a:pt x="0" y="16"/>
                  </a:cubicBezTo>
                  <a:cubicBezTo>
                    <a:pt x="0" y="26"/>
                    <a:pt x="8" y="33"/>
                    <a:pt x="17" y="33"/>
                  </a:cubicBezTo>
                  <a:lnTo>
                    <a:pt x="521" y="33"/>
                  </a:lnTo>
                  <a:cubicBezTo>
                    <a:pt x="531" y="33"/>
                    <a:pt x="538" y="26"/>
                    <a:pt x="538" y="16"/>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205" name="Freeform 270">
              <a:extLst>
                <a:ext uri="{FF2B5EF4-FFF2-40B4-BE49-F238E27FC236}">
                  <a16:creationId xmlns:a16="http://schemas.microsoft.com/office/drawing/2014/main" id="{1F75FD54-39AE-51B5-C457-03CFB83C6D23}"/>
                </a:ext>
              </a:extLst>
            </p:cNvPr>
            <p:cNvSpPr>
              <a:spLocks/>
            </p:cNvSpPr>
            <p:nvPr/>
          </p:nvSpPr>
          <p:spPr bwMode="auto">
            <a:xfrm>
              <a:off x="6338888" y="2938463"/>
              <a:ext cx="314325" cy="19050"/>
            </a:xfrm>
            <a:custGeom>
              <a:avLst/>
              <a:gdLst>
                <a:gd name="T0" fmla="*/ 526 w 526"/>
                <a:gd name="T1" fmla="*/ 17 h 33"/>
                <a:gd name="T2" fmla="*/ 510 w 526"/>
                <a:gd name="T3" fmla="*/ 0 h 33"/>
                <a:gd name="T4" fmla="*/ 17 w 526"/>
                <a:gd name="T5" fmla="*/ 0 h 33"/>
                <a:gd name="T6" fmla="*/ 0 w 526"/>
                <a:gd name="T7" fmla="*/ 17 h 33"/>
                <a:gd name="T8" fmla="*/ 17 w 526"/>
                <a:gd name="T9" fmla="*/ 33 h 33"/>
                <a:gd name="T10" fmla="*/ 510 w 526"/>
                <a:gd name="T11" fmla="*/ 33 h 33"/>
                <a:gd name="T12" fmla="*/ 526 w 526"/>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526" h="33">
                  <a:moveTo>
                    <a:pt x="526" y="17"/>
                  </a:moveTo>
                  <a:cubicBezTo>
                    <a:pt x="526" y="7"/>
                    <a:pt x="519" y="0"/>
                    <a:pt x="510" y="0"/>
                  </a:cubicBezTo>
                  <a:lnTo>
                    <a:pt x="17" y="0"/>
                  </a:lnTo>
                  <a:cubicBezTo>
                    <a:pt x="8" y="0"/>
                    <a:pt x="0" y="7"/>
                    <a:pt x="0" y="17"/>
                  </a:cubicBezTo>
                  <a:cubicBezTo>
                    <a:pt x="0" y="26"/>
                    <a:pt x="8" y="33"/>
                    <a:pt x="17" y="33"/>
                  </a:cubicBezTo>
                  <a:lnTo>
                    <a:pt x="510" y="33"/>
                  </a:lnTo>
                  <a:cubicBezTo>
                    <a:pt x="519" y="33"/>
                    <a:pt x="526" y="26"/>
                    <a:pt x="526" y="17"/>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206" name="Freeform 271">
              <a:extLst>
                <a:ext uri="{FF2B5EF4-FFF2-40B4-BE49-F238E27FC236}">
                  <a16:creationId xmlns:a16="http://schemas.microsoft.com/office/drawing/2014/main" id="{0BC9EBC9-65F5-DDF0-97E5-19DD478E7C91}"/>
                </a:ext>
              </a:extLst>
            </p:cNvPr>
            <p:cNvSpPr>
              <a:spLocks/>
            </p:cNvSpPr>
            <p:nvPr/>
          </p:nvSpPr>
          <p:spPr bwMode="auto">
            <a:xfrm>
              <a:off x="6338888" y="3013076"/>
              <a:ext cx="239713" cy="20638"/>
            </a:xfrm>
            <a:custGeom>
              <a:avLst/>
              <a:gdLst>
                <a:gd name="T0" fmla="*/ 402 w 402"/>
                <a:gd name="T1" fmla="*/ 17 h 33"/>
                <a:gd name="T2" fmla="*/ 386 w 402"/>
                <a:gd name="T3" fmla="*/ 0 h 33"/>
                <a:gd name="T4" fmla="*/ 17 w 402"/>
                <a:gd name="T5" fmla="*/ 0 h 33"/>
                <a:gd name="T6" fmla="*/ 0 w 402"/>
                <a:gd name="T7" fmla="*/ 17 h 33"/>
                <a:gd name="T8" fmla="*/ 17 w 402"/>
                <a:gd name="T9" fmla="*/ 33 h 33"/>
                <a:gd name="T10" fmla="*/ 386 w 402"/>
                <a:gd name="T11" fmla="*/ 33 h 33"/>
                <a:gd name="T12" fmla="*/ 402 w 402"/>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402" h="33">
                  <a:moveTo>
                    <a:pt x="402" y="17"/>
                  </a:moveTo>
                  <a:cubicBezTo>
                    <a:pt x="402" y="7"/>
                    <a:pt x="395" y="0"/>
                    <a:pt x="386" y="0"/>
                  </a:cubicBezTo>
                  <a:lnTo>
                    <a:pt x="17" y="0"/>
                  </a:lnTo>
                  <a:cubicBezTo>
                    <a:pt x="8" y="0"/>
                    <a:pt x="0" y="7"/>
                    <a:pt x="0" y="17"/>
                  </a:cubicBezTo>
                  <a:cubicBezTo>
                    <a:pt x="0" y="26"/>
                    <a:pt x="8" y="33"/>
                    <a:pt x="17" y="33"/>
                  </a:cubicBezTo>
                  <a:lnTo>
                    <a:pt x="386" y="33"/>
                  </a:lnTo>
                  <a:cubicBezTo>
                    <a:pt x="395" y="33"/>
                    <a:pt x="402" y="26"/>
                    <a:pt x="402" y="17"/>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207" name="Freeform 272">
              <a:extLst>
                <a:ext uri="{FF2B5EF4-FFF2-40B4-BE49-F238E27FC236}">
                  <a16:creationId xmlns:a16="http://schemas.microsoft.com/office/drawing/2014/main" id="{689C7DD1-97FA-E389-7C72-6CD7EF05555D}"/>
                </a:ext>
              </a:extLst>
            </p:cNvPr>
            <p:cNvSpPr>
              <a:spLocks/>
            </p:cNvSpPr>
            <p:nvPr/>
          </p:nvSpPr>
          <p:spPr bwMode="auto">
            <a:xfrm>
              <a:off x="6338888" y="3089276"/>
              <a:ext cx="171450" cy="19050"/>
            </a:xfrm>
            <a:custGeom>
              <a:avLst/>
              <a:gdLst>
                <a:gd name="T0" fmla="*/ 17 w 286"/>
                <a:gd name="T1" fmla="*/ 0 h 34"/>
                <a:gd name="T2" fmla="*/ 0 w 286"/>
                <a:gd name="T3" fmla="*/ 17 h 34"/>
                <a:gd name="T4" fmla="*/ 17 w 286"/>
                <a:gd name="T5" fmla="*/ 34 h 34"/>
                <a:gd name="T6" fmla="*/ 269 w 286"/>
                <a:gd name="T7" fmla="*/ 34 h 34"/>
                <a:gd name="T8" fmla="*/ 286 w 286"/>
                <a:gd name="T9" fmla="*/ 17 h 34"/>
                <a:gd name="T10" fmla="*/ 269 w 286"/>
                <a:gd name="T11" fmla="*/ 0 h 34"/>
                <a:gd name="T12" fmla="*/ 17 w 286"/>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86" h="34">
                  <a:moveTo>
                    <a:pt x="17" y="0"/>
                  </a:moveTo>
                  <a:cubicBezTo>
                    <a:pt x="8" y="0"/>
                    <a:pt x="0" y="8"/>
                    <a:pt x="0" y="17"/>
                  </a:cubicBezTo>
                  <a:cubicBezTo>
                    <a:pt x="0" y="26"/>
                    <a:pt x="8" y="34"/>
                    <a:pt x="17" y="34"/>
                  </a:cubicBezTo>
                  <a:lnTo>
                    <a:pt x="269" y="34"/>
                  </a:lnTo>
                  <a:cubicBezTo>
                    <a:pt x="278" y="34"/>
                    <a:pt x="286" y="26"/>
                    <a:pt x="286" y="17"/>
                  </a:cubicBezTo>
                  <a:cubicBezTo>
                    <a:pt x="286" y="8"/>
                    <a:pt x="278" y="0"/>
                    <a:pt x="269" y="0"/>
                  </a:cubicBezTo>
                  <a:lnTo>
                    <a:pt x="17" y="0"/>
                  </a:ln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208" name="Freeform 273">
              <a:extLst>
                <a:ext uri="{FF2B5EF4-FFF2-40B4-BE49-F238E27FC236}">
                  <a16:creationId xmlns:a16="http://schemas.microsoft.com/office/drawing/2014/main" id="{CBCFE807-1DBC-1163-0C96-4A8542B6E540}"/>
                </a:ext>
              </a:extLst>
            </p:cNvPr>
            <p:cNvSpPr>
              <a:spLocks/>
            </p:cNvSpPr>
            <p:nvPr/>
          </p:nvSpPr>
          <p:spPr bwMode="auto">
            <a:xfrm>
              <a:off x="6338888" y="2786063"/>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209" name="Freeform 274">
              <a:extLst>
                <a:ext uri="{FF2B5EF4-FFF2-40B4-BE49-F238E27FC236}">
                  <a16:creationId xmlns:a16="http://schemas.microsoft.com/office/drawing/2014/main" id="{B16185B7-0CF6-6C71-29C5-4338635E2DEA}"/>
                </a:ext>
              </a:extLst>
            </p:cNvPr>
            <p:cNvSpPr>
              <a:spLocks/>
            </p:cNvSpPr>
            <p:nvPr/>
          </p:nvSpPr>
          <p:spPr bwMode="auto">
            <a:xfrm>
              <a:off x="6338888" y="2711451"/>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210" name="Freeform 275">
              <a:extLst>
                <a:ext uri="{FF2B5EF4-FFF2-40B4-BE49-F238E27FC236}">
                  <a16:creationId xmlns:a16="http://schemas.microsoft.com/office/drawing/2014/main" id="{F536060D-35B0-A82A-5255-6BDD675E7B40}"/>
                </a:ext>
              </a:extLst>
            </p:cNvPr>
            <p:cNvSpPr>
              <a:spLocks/>
            </p:cNvSpPr>
            <p:nvPr/>
          </p:nvSpPr>
          <p:spPr bwMode="auto">
            <a:xfrm>
              <a:off x="6635750" y="3128963"/>
              <a:ext cx="74613" cy="76200"/>
            </a:xfrm>
            <a:custGeom>
              <a:avLst/>
              <a:gdLst>
                <a:gd name="T0" fmla="*/ 109 w 125"/>
                <a:gd name="T1" fmla="*/ 0 h 126"/>
                <a:gd name="T2" fmla="*/ 92 w 125"/>
                <a:gd name="T3" fmla="*/ 16 h 126"/>
                <a:gd name="T4" fmla="*/ 92 w 125"/>
                <a:gd name="T5" fmla="*/ 63 h 126"/>
                <a:gd name="T6" fmla="*/ 61 w 125"/>
                <a:gd name="T7" fmla="*/ 93 h 126"/>
                <a:gd name="T8" fmla="*/ 16 w 125"/>
                <a:gd name="T9" fmla="*/ 93 h 126"/>
                <a:gd name="T10" fmla="*/ 0 w 125"/>
                <a:gd name="T11" fmla="*/ 110 h 126"/>
                <a:gd name="T12" fmla="*/ 16 w 125"/>
                <a:gd name="T13" fmla="*/ 126 h 126"/>
                <a:gd name="T14" fmla="*/ 61 w 125"/>
                <a:gd name="T15" fmla="*/ 126 h 126"/>
                <a:gd name="T16" fmla="*/ 125 w 125"/>
                <a:gd name="T17" fmla="*/ 63 h 126"/>
                <a:gd name="T18" fmla="*/ 125 w 125"/>
                <a:gd name="T19" fmla="*/ 16 h 126"/>
                <a:gd name="T20" fmla="*/ 109 w 125"/>
                <a:gd name="T21"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5" h="126">
                  <a:moveTo>
                    <a:pt x="109" y="0"/>
                  </a:moveTo>
                  <a:cubicBezTo>
                    <a:pt x="99" y="0"/>
                    <a:pt x="92" y="7"/>
                    <a:pt x="92" y="16"/>
                  </a:cubicBezTo>
                  <a:lnTo>
                    <a:pt x="92" y="63"/>
                  </a:lnTo>
                  <a:cubicBezTo>
                    <a:pt x="92" y="79"/>
                    <a:pt x="78" y="93"/>
                    <a:pt x="61" y="93"/>
                  </a:cubicBezTo>
                  <a:lnTo>
                    <a:pt x="16" y="93"/>
                  </a:lnTo>
                  <a:cubicBezTo>
                    <a:pt x="7" y="93"/>
                    <a:pt x="0" y="101"/>
                    <a:pt x="0" y="110"/>
                  </a:cubicBezTo>
                  <a:cubicBezTo>
                    <a:pt x="0" y="119"/>
                    <a:pt x="7" y="126"/>
                    <a:pt x="16" y="126"/>
                  </a:cubicBezTo>
                  <a:lnTo>
                    <a:pt x="61" y="126"/>
                  </a:lnTo>
                  <a:cubicBezTo>
                    <a:pt x="97" y="126"/>
                    <a:pt x="125" y="98"/>
                    <a:pt x="125" y="63"/>
                  </a:cubicBezTo>
                  <a:lnTo>
                    <a:pt x="125" y="16"/>
                  </a:lnTo>
                  <a:cubicBezTo>
                    <a:pt x="125" y="7"/>
                    <a:pt x="118" y="0"/>
                    <a:pt x="109" y="0"/>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211" name="Freeform 276">
              <a:extLst>
                <a:ext uri="{FF2B5EF4-FFF2-40B4-BE49-F238E27FC236}">
                  <a16:creationId xmlns:a16="http://schemas.microsoft.com/office/drawing/2014/main" id="{C2A38ABD-B7EC-D03E-1D0A-FC339027D600}"/>
                </a:ext>
              </a:extLst>
            </p:cNvPr>
            <p:cNvSpPr>
              <a:spLocks/>
            </p:cNvSpPr>
            <p:nvPr/>
          </p:nvSpPr>
          <p:spPr bwMode="auto">
            <a:xfrm>
              <a:off x="6288088" y="2614613"/>
              <a:ext cx="422275" cy="590550"/>
            </a:xfrm>
            <a:custGeom>
              <a:avLst/>
              <a:gdLst>
                <a:gd name="T0" fmla="*/ 272 w 706"/>
                <a:gd name="T1" fmla="*/ 953 h 986"/>
                <a:gd name="T2" fmla="*/ 64 w 706"/>
                <a:gd name="T3" fmla="*/ 953 h 986"/>
                <a:gd name="T4" fmla="*/ 33 w 706"/>
                <a:gd name="T5" fmla="*/ 923 h 986"/>
                <a:gd name="T6" fmla="*/ 33 w 706"/>
                <a:gd name="T7" fmla="*/ 64 h 986"/>
                <a:gd name="T8" fmla="*/ 64 w 706"/>
                <a:gd name="T9" fmla="*/ 34 h 986"/>
                <a:gd name="T10" fmla="*/ 218 w 706"/>
                <a:gd name="T11" fmla="*/ 34 h 986"/>
                <a:gd name="T12" fmla="*/ 643 w 706"/>
                <a:gd name="T13" fmla="*/ 34 h 986"/>
                <a:gd name="T14" fmla="*/ 673 w 706"/>
                <a:gd name="T15" fmla="*/ 64 h 986"/>
                <a:gd name="T16" fmla="*/ 673 w 706"/>
                <a:gd name="T17" fmla="*/ 479 h 986"/>
                <a:gd name="T18" fmla="*/ 690 w 706"/>
                <a:gd name="T19" fmla="*/ 496 h 986"/>
                <a:gd name="T20" fmla="*/ 706 w 706"/>
                <a:gd name="T21" fmla="*/ 479 h 986"/>
                <a:gd name="T22" fmla="*/ 706 w 706"/>
                <a:gd name="T23" fmla="*/ 64 h 986"/>
                <a:gd name="T24" fmla="*/ 643 w 706"/>
                <a:gd name="T25" fmla="*/ 0 h 986"/>
                <a:gd name="T26" fmla="*/ 218 w 706"/>
                <a:gd name="T27" fmla="*/ 0 h 986"/>
                <a:gd name="T28" fmla="*/ 64 w 706"/>
                <a:gd name="T29" fmla="*/ 0 h 986"/>
                <a:gd name="T30" fmla="*/ 0 w 706"/>
                <a:gd name="T31" fmla="*/ 64 h 986"/>
                <a:gd name="T32" fmla="*/ 0 w 706"/>
                <a:gd name="T33" fmla="*/ 923 h 986"/>
                <a:gd name="T34" fmla="*/ 64 w 706"/>
                <a:gd name="T35" fmla="*/ 986 h 986"/>
                <a:gd name="T36" fmla="*/ 272 w 706"/>
                <a:gd name="T37" fmla="*/ 986 h 986"/>
                <a:gd name="T38" fmla="*/ 289 w 706"/>
                <a:gd name="T39" fmla="*/ 970 h 986"/>
                <a:gd name="T40" fmla="*/ 272 w 706"/>
                <a:gd name="T41" fmla="*/ 95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06" h="986">
                  <a:moveTo>
                    <a:pt x="272" y="953"/>
                  </a:moveTo>
                  <a:lnTo>
                    <a:pt x="64" y="953"/>
                  </a:lnTo>
                  <a:cubicBezTo>
                    <a:pt x="47" y="953"/>
                    <a:pt x="33" y="939"/>
                    <a:pt x="33" y="923"/>
                  </a:cubicBezTo>
                  <a:lnTo>
                    <a:pt x="33" y="64"/>
                  </a:lnTo>
                  <a:cubicBezTo>
                    <a:pt x="33" y="47"/>
                    <a:pt x="47" y="34"/>
                    <a:pt x="64" y="34"/>
                  </a:cubicBezTo>
                  <a:lnTo>
                    <a:pt x="218" y="34"/>
                  </a:lnTo>
                  <a:lnTo>
                    <a:pt x="643" y="34"/>
                  </a:lnTo>
                  <a:cubicBezTo>
                    <a:pt x="659" y="34"/>
                    <a:pt x="673" y="47"/>
                    <a:pt x="673" y="64"/>
                  </a:cubicBezTo>
                  <a:lnTo>
                    <a:pt x="673" y="479"/>
                  </a:lnTo>
                  <a:cubicBezTo>
                    <a:pt x="673" y="488"/>
                    <a:pt x="680" y="496"/>
                    <a:pt x="690" y="496"/>
                  </a:cubicBezTo>
                  <a:cubicBezTo>
                    <a:pt x="699" y="496"/>
                    <a:pt x="706" y="488"/>
                    <a:pt x="706" y="479"/>
                  </a:cubicBezTo>
                  <a:lnTo>
                    <a:pt x="706" y="64"/>
                  </a:lnTo>
                  <a:cubicBezTo>
                    <a:pt x="706" y="29"/>
                    <a:pt x="678" y="0"/>
                    <a:pt x="643" y="0"/>
                  </a:cubicBezTo>
                  <a:lnTo>
                    <a:pt x="218" y="0"/>
                  </a:lnTo>
                  <a:lnTo>
                    <a:pt x="64" y="0"/>
                  </a:lnTo>
                  <a:cubicBezTo>
                    <a:pt x="28" y="0"/>
                    <a:pt x="0" y="29"/>
                    <a:pt x="0" y="64"/>
                  </a:cubicBezTo>
                  <a:lnTo>
                    <a:pt x="0" y="923"/>
                  </a:lnTo>
                  <a:cubicBezTo>
                    <a:pt x="0" y="958"/>
                    <a:pt x="29" y="986"/>
                    <a:pt x="64" y="986"/>
                  </a:cubicBezTo>
                  <a:lnTo>
                    <a:pt x="272" y="986"/>
                  </a:lnTo>
                  <a:cubicBezTo>
                    <a:pt x="282" y="986"/>
                    <a:pt x="289" y="979"/>
                    <a:pt x="289" y="970"/>
                  </a:cubicBezTo>
                  <a:cubicBezTo>
                    <a:pt x="289" y="961"/>
                    <a:pt x="282" y="953"/>
                    <a:pt x="272" y="953"/>
                  </a:cubicBezTo>
                  <a:close/>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sp>
          <p:nvSpPr>
            <p:cNvPr id="212" name="Freeform 277">
              <a:extLst>
                <a:ext uri="{FF2B5EF4-FFF2-40B4-BE49-F238E27FC236}">
                  <a16:creationId xmlns:a16="http://schemas.microsoft.com/office/drawing/2014/main" id="{87882202-FA8F-8557-D1BA-415F8C5398EC}"/>
                </a:ext>
              </a:extLst>
            </p:cNvPr>
            <p:cNvSpPr>
              <a:spLocks noEditPoints="1"/>
            </p:cNvSpPr>
            <p:nvPr/>
          </p:nvSpPr>
          <p:spPr bwMode="auto">
            <a:xfrm>
              <a:off x="6469063" y="2846388"/>
              <a:ext cx="407988" cy="406400"/>
            </a:xfrm>
            <a:custGeom>
              <a:avLst/>
              <a:gdLst>
                <a:gd name="T0" fmla="*/ 639 w 684"/>
                <a:gd name="T1" fmla="*/ 136 h 681"/>
                <a:gd name="T2" fmla="*/ 583 w 684"/>
                <a:gd name="T3" fmla="*/ 192 h 681"/>
                <a:gd name="T4" fmla="*/ 537 w 684"/>
                <a:gd name="T5" fmla="*/ 146 h 681"/>
                <a:gd name="T6" fmla="*/ 537 w 684"/>
                <a:gd name="T7" fmla="*/ 146 h 681"/>
                <a:gd name="T8" fmla="*/ 537 w 684"/>
                <a:gd name="T9" fmla="*/ 146 h 681"/>
                <a:gd name="T10" fmla="*/ 491 w 684"/>
                <a:gd name="T11" fmla="*/ 100 h 681"/>
                <a:gd name="T12" fmla="*/ 547 w 684"/>
                <a:gd name="T13" fmla="*/ 44 h 681"/>
                <a:gd name="T14" fmla="*/ 577 w 684"/>
                <a:gd name="T15" fmla="*/ 44 h 681"/>
                <a:gd name="T16" fmla="*/ 639 w 684"/>
                <a:gd name="T17" fmla="*/ 106 h 681"/>
                <a:gd name="T18" fmla="*/ 639 w 684"/>
                <a:gd name="T19" fmla="*/ 136 h 681"/>
                <a:gd name="T20" fmla="*/ 186 w 684"/>
                <a:gd name="T21" fmla="*/ 589 h 681"/>
                <a:gd name="T22" fmla="*/ 109 w 684"/>
                <a:gd name="T23" fmla="*/ 617 h 681"/>
                <a:gd name="T24" fmla="*/ 66 w 684"/>
                <a:gd name="T25" fmla="*/ 574 h 681"/>
                <a:gd name="T26" fmla="*/ 94 w 684"/>
                <a:gd name="T27" fmla="*/ 497 h 681"/>
                <a:gd name="T28" fmla="*/ 467 w 684"/>
                <a:gd name="T29" fmla="*/ 124 h 681"/>
                <a:gd name="T30" fmla="*/ 501 w 684"/>
                <a:gd name="T31" fmla="*/ 158 h 681"/>
                <a:gd name="T32" fmla="*/ 126 w 684"/>
                <a:gd name="T33" fmla="*/ 534 h 681"/>
                <a:gd name="T34" fmla="*/ 126 w 684"/>
                <a:gd name="T35" fmla="*/ 557 h 681"/>
                <a:gd name="T36" fmla="*/ 138 w 684"/>
                <a:gd name="T37" fmla="*/ 562 h 681"/>
                <a:gd name="T38" fmla="*/ 149 w 684"/>
                <a:gd name="T39" fmla="*/ 557 h 681"/>
                <a:gd name="T40" fmla="*/ 525 w 684"/>
                <a:gd name="T41" fmla="*/ 182 h 681"/>
                <a:gd name="T42" fmla="*/ 559 w 684"/>
                <a:gd name="T43" fmla="*/ 216 h 681"/>
                <a:gd name="T44" fmla="*/ 186 w 684"/>
                <a:gd name="T45" fmla="*/ 589 h 681"/>
                <a:gd name="T46" fmla="*/ 54 w 684"/>
                <a:gd name="T47" fmla="*/ 609 h 681"/>
                <a:gd name="T48" fmla="*/ 74 w 684"/>
                <a:gd name="T49" fmla="*/ 630 h 681"/>
                <a:gd name="T50" fmla="*/ 42 w 684"/>
                <a:gd name="T51" fmla="*/ 641 h 681"/>
                <a:gd name="T52" fmla="*/ 54 w 684"/>
                <a:gd name="T53" fmla="*/ 609 h 681"/>
                <a:gd name="T54" fmla="*/ 662 w 684"/>
                <a:gd name="T55" fmla="*/ 83 h 681"/>
                <a:gd name="T56" fmla="*/ 601 w 684"/>
                <a:gd name="T57" fmla="*/ 21 h 681"/>
                <a:gd name="T58" fmla="*/ 523 w 684"/>
                <a:gd name="T59" fmla="*/ 21 h 681"/>
                <a:gd name="T60" fmla="*/ 467 w 684"/>
                <a:gd name="T61" fmla="*/ 77 h 681"/>
                <a:gd name="T62" fmla="*/ 467 w 684"/>
                <a:gd name="T63" fmla="*/ 77 h 681"/>
                <a:gd name="T64" fmla="*/ 69 w 684"/>
                <a:gd name="T65" fmla="*/ 475 h 681"/>
                <a:gd name="T66" fmla="*/ 64 w 684"/>
                <a:gd name="T67" fmla="*/ 483 h 681"/>
                <a:gd name="T68" fmla="*/ 4 w 684"/>
                <a:gd name="T69" fmla="*/ 649 h 681"/>
                <a:gd name="T70" fmla="*/ 9 w 684"/>
                <a:gd name="T71" fmla="*/ 674 h 681"/>
                <a:gd name="T72" fmla="*/ 26 w 684"/>
                <a:gd name="T73" fmla="*/ 681 h 681"/>
                <a:gd name="T74" fmla="*/ 34 w 684"/>
                <a:gd name="T75" fmla="*/ 680 h 681"/>
                <a:gd name="T76" fmla="*/ 200 w 684"/>
                <a:gd name="T77" fmla="*/ 619 h 681"/>
                <a:gd name="T78" fmla="*/ 208 w 684"/>
                <a:gd name="T79" fmla="*/ 614 h 681"/>
                <a:gd name="T80" fmla="*/ 595 w 684"/>
                <a:gd name="T81" fmla="*/ 228 h 681"/>
                <a:gd name="T82" fmla="*/ 595 w 684"/>
                <a:gd name="T83" fmla="*/ 228 h 681"/>
                <a:gd name="T84" fmla="*/ 662 w 684"/>
                <a:gd name="T85" fmla="*/ 160 h 681"/>
                <a:gd name="T86" fmla="*/ 662 w 684"/>
                <a:gd name="T87" fmla="*/ 8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84" h="681">
                  <a:moveTo>
                    <a:pt x="639" y="136"/>
                  </a:moveTo>
                  <a:lnTo>
                    <a:pt x="583" y="192"/>
                  </a:lnTo>
                  <a:lnTo>
                    <a:pt x="537" y="146"/>
                  </a:lnTo>
                  <a:lnTo>
                    <a:pt x="537" y="146"/>
                  </a:lnTo>
                  <a:cubicBezTo>
                    <a:pt x="537" y="146"/>
                    <a:pt x="537" y="146"/>
                    <a:pt x="537" y="146"/>
                  </a:cubicBezTo>
                  <a:lnTo>
                    <a:pt x="491" y="100"/>
                  </a:lnTo>
                  <a:lnTo>
                    <a:pt x="547" y="44"/>
                  </a:lnTo>
                  <a:cubicBezTo>
                    <a:pt x="555" y="36"/>
                    <a:pt x="569" y="36"/>
                    <a:pt x="577" y="44"/>
                  </a:cubicBezTo>
                  <a:lnTo>
                    <a:pt x="639" y="106"/>
                  </a:lnTo>
                  <a:cubicBezTo>
                    <a:pt x="647" y="114"/>
                    <a:pt x="647" y="128"/>
                    <a:pt x="639" y="136"/>
                  </a:cubicBezTo>
                  <a:close/>
                  <a:moveTo>
                    <a:pt x="186" y="589"/>
                  </a:moveTo>
                  <a:lnTo>
                    <a:pt x="109" y="617"/>
                  </a:lnTo>
                  <a:lnTo>
                    <a:pt x="66" y="574"/>
                  </a:lnTo>
                  <a:lnTo>
                    <a:pt x="94" y="497"/>
                  </a:lnTo>
                  <a:lnTo>
                    <a:pt x="467" y="124"/>
                  </a:lnTo>
                  <a:lnTo>
                    <a:pt x="501" y="158"/>
                  </a:lnTo>
                  <a:lnTo>
                    <a:pt x="126" y="534"/>
                  </a:lnTo>
                  <a:cubicBezTo>
                    <a:pt x="119" y="540"/>
                    <a:pt x="119" y="551"/>
                    <a:pt x="126" y="557"/>
                  </a:cubicBezTo>
                  <a:cubicBezTo>
                    <a:pt x="129" y="560"/>
                    <a:pt x="133" y="562"/>
                    <a:pt x="138" y="562"/>
                  </a:cubicBezTo>
                  <a:cubicBezTo>
                    <a:pt x="142" y="562"/>
                    <a:pt x="146" y="560"/>
                    <a:pt x="149" y="557"/>
                  </a:cubicBezTo>
                  <a:lnTo>
                    <a:pt x="525" y="182"/>
                  </a:lnTo>
                  <a:lnTo>
                    <a:pt x="559" y="216"/>
                  </a:lnTo>
                  <a:lnTo>
                    <a:pt x="186" y="589"/>
                  </a:lnTo>
                  <a:close/>
                  <a:moveTo>
                    <a:pt x="54" y="609"/>
                  </a:moveTo>
                  <a:lnTo>
                    <a:pt x="74" y="630"/>
                  </a:lnTo>
                  <a:lnTo>
                    <a:pt x="42" y="641"/>
                  </a:lnTo>
                  <a:lnTo>
                    <a:pt x="54" y="609"/>
                  </a:lnTo>
                  <a:close/>
                  <a:moveTo>
                    <a:pt x="662" y="83"/>
                  </a:moveTo>
                  <a:lnTo>
                    <a:pt x="601" y="21"/>
                  </a:lnTo>
                  <a:cubicBezTo>
                    <a:pt x="580" y="0"/>
                    <a:pt x="544" y="0"/>
                    <a:pt x="523" y="21"/>
                  </a:cubicBezTo>
                  <a:lnTo>
                    <a:pt x="467" y="77"/>
                  </a:lnTo>
                  <a:lnTo>
                    <a:pt x="467" y="77"/>
                  </a:lnTo>
                  <a:lnTo>
                    <a:pt x="69" y="475"/>
                  </a:lnTo>
                  <a:cubicBezTo>
                    <a:pt x="67" y="477"/>
                    <a:pt x="65" y="480"/>
                    <a:pt x="64" y="483"/>
                  </a:cubicBezTo>
                  <a:lnTo>
                    <a:pt x="4" y="649"/>
                  </a:lnTo>
                  <a:cubicBezTo>
                    <a:pt x="0" y="658"/>
                    <a:pt x="2" y="667"/>
                    <a:pt x="9" y="674"/>
                  </a:cubicBezTo>
                  <a:cubicBezTo>
                    <a:pt x="14" y="679"/>
                    <a:pt x="20" y="681"/>
                    <a:pt x="26" y="681"/>
                  </a:cubicBezTo>
                  <a:cubicBezTo>
                    <a:pt x="29" y="681"/>
                    <a:pt x="31" y="681"/>
                    <a:pt x="34" y="680"/>
                  </a:cubicBezTo>
                  <a:lnTo>
                    <a:pt x="200" y="619"/>
                  </a:lnTo>
                  <a:cubicBezTo>
                    <a:pt x="203" y="618"/>
                    <a:pt x="206" y="616"/>
                    <a:pt x="208" y="614"/>
                  </a:cubicBezTo>
                  <a:lnTo>
                    <a:pt x="595" y="228"/>
                  </a:lnTo>
                  <a:lnTo>
                    <a:pt x="595" y="228"/>
                  </a:lnTo>
                  <a:lnTo>
                    <a:pt x="662" y="160"/>
                  </a:lnTo>
                  <a:cubicBezTo>
                    <a:pt x="684" y="138"/>
                    <a:pt x="684" y="104"/>
                    <a:pt x="662" y="83"/>
                  </a:cubicBezTo>
                </a:path>
              </a:pathLst>
            </a:custGeom>
            <a:grpFill/>
            <a:ln w="9525">
              <a:solidFill>
                <a:schemeClr val="accent2"/>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j-lt"/>
                <a:ea typeface="+mn-ea"/>
                <a:cs typeface="+mn-cs"/>
              </a:endParaRPr>
            </a:p>
          </p:txBody>
        </p:sp>
      </p:grpSp>
      <p:sp>
        <p:nvSpPr>
          <p:cNvPr id="213" name="TextBox 212">
            <a:extLst>
              <a:ext uri="{FF2B5EF4-FFF2-40B4-BE49-F238E27FC236}">
                <a16:creationId xmlns:a16="http://schemas.microsoft.com/office/drawing/2014/main" id="{70B1C922-C00E-C764-7A88-8AF722945013}"/>
              </a:ext>
            </a:extLst>
          </p:cNvPr>
          <p:cNvSpPr txBox="1"/>
          <p:nvPr/>
        </p:nvSpPr>
        <p:spPr bwMode="gray">
          <a:xfrm>
            <a:off x="154540" y="5394474"/>
            <a:ext cx="1371256" cy="296241"/>
          </a:xfrm>
          <a:prstGeom prst="rect">
            <a:avLst/>
          </a:prstGeom>
        </p:spPr>
        <p:txBody>
          <a:bodyPr vert="horz" wrap="square" lIns="0" tIns="0" rIns="0" bIns="0" rtlCol="0">
            <a:noAutofit/>
          </a:bodyPr>
          <a:lstStyle/>
          <a:p>
            <a:pPr algn="ctr">
              <a:lnSpc>
                <a:spcPct val="110000"/>
              </a:lnSpc>
            </a:pPr>
            <a:r>
              <a:rPr lang="it-IT" sz="1200" b="1" i="1">
                <a:solidFill>
                  <a:srgbClr val="1E60AF"/>
                </a:solidFill>
              </a:rPr>
              <a:t>Why Capgemini</a:t>
            </a:r>
            <a:endParaRPr lang="it-IT" sz="1600" b="1" i="1" dirty="0">
              <a:solidFill>
                <a:srgbClr val="1E60AF"/>
              </a:solidFill>
            </a:endParaRPr>
          </a:p>
        </p:txBody>
      </p:sp>
      <p:sp>
        <p:nvSpPr>
          <p:cNvPr id="6" name="Foliennummernplatzhalter 5">
            <a:extLst>
              <a:ext uri="{FF2B5EF4-FFF2-40B4-BE49-F238E27FC236}">
                <a16:creationId xmlns:a16="http://schemas.microsoft.com/office/drawing/2014/main" id="{3F8F9A91-D3A8-528F-7B3C-E51B8C3013FA}"/>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10</a:t>
            </a:fld>
            <a:endParaRPr lang="en-US"/>
          </a:p>
        </p:txBody>
      </p:sp>
      <p:sp>
        <p:nvSpPr>
          <p:cNvPr id="7" name="Rectangle 27">
            <a:extLst>
              <a:ext uri="{FF2B5EF4-FFF2-40B4-BE49-F238E27FC236}">
                <a16:creationId xmlns:a16="http://schemas.microsoft.com/office/drawing/2014/main" id="{61D75FE3-4588-252E-4DA2-0B9730E9C6D7}"/>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8" name="TextBox 7">
            <a:extLst>
              <a:ext uri="{FF2B5EF4-FFF2-40B4-BE49-F238E27FC236}">
                <a16:creationId xmlns:a16="http://schemas.microsoft.com/office/drawing/2014/main" id="{4D4B2585-F2B1-9331-C4AD-1E6DC7FD6AFE}"/>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grpSp>
        <p:nvGrpSpPr>
          <p:cNvPr id="3" name="Groupe 1">
            <a:extLst>
              <a:ext uri="{FF2B5EF4-FFF2-40B4-BE49-F238E27FC236}">
                <a16:creationId xmlns:a16="http://schemas.microsoft.com/office/drawing/2014/main" id="{2B3F7C13-D4BD-4E23-B32A-5060F4B8D64C}"/>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4" name="Freeform 13">
              <a:extLst>
                <a:ext uri="{FF2B5EF4-FFF2-40B4-BE49-F238E27FC236}">
                  <a16:creationId xmlns:a16="http://schemas.microsoft.com/office/drawing/2014/main" id="{6332A19C-4BDF-6B4C-6A4C-D628FCB272AE}"/>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9" name="Freeform 14">
              <a:extLst>
                <a:ext uri="{FF2B5EF4-FFF2-40B4-BE49-F238E27FC236}">
                  <a16:creationId xmlns:a16="http://schemas.microsoft.com/office/drawing/2014/main" id="{0B2FF189-D67E-DCFF-A5A5-4773A513FF33}"/>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Tree>
    <p:extLst>
      <p:ext uri="{BB962C8B-B14F-4D97-AF65-F5344CB8AC3E}">
        <p14:creationId xmlns:p14="http://schemas.microsoft.com/office/powerpoint/2010/main" val="3126551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A88C2E0-67C3-0433-1D10-6192CFA5C650}"/>
              </a:ext>
            </a:extLst>
          </p:cNvPr>
          <p:cNvSpPr>
            <a:spLocks noGrp="1"/>
          </p:cNvSpPr>
          <p:nvPr>
            <p:ph type="title"/>
          </p:nvPr>
        </p:nvSpPr>
        <p:spPr>
          <a:xfrm>
            <a:off x="1397827" y="363252"/>
            <a:ext cx="10350168" cy="720000"/>
          </a:xfrm>
        </p:spPr>
        <p:txBody>
          <a:bodyPr/>
          <a:lstStyle/>
          <a:p>
            <a:r>
              <a:rPr lang="en-GB" sz="2400" kern="0" dirty="0">
                <a:solidFill>
                  <a:srgbClr val="000000"/>
                </a:solidFill>
              </a:rPr>
              <a:t>STREAM 4A | INTEGRATE ENTERPRISE ARCHITECTURE APPROACH</a:t>
            </a:r>
            <a:endParaRPr lang="en-BE" dirty="0"/>
          </a:p>
        </p:txBody>
      </p:sp>
      <p:sp>
        <p:nvSpPr>
          <p:cNvPr id="9" name="TextBox 8">
            <a:extLst>
              <a:ext uri="{FF2B5EF4-FFF2-40B4-BE49-F238E27FC236}">
                <a16:creationId xmlns:a16="http://schemas.microsoft.com/office/drawing/2014/main" id="{A11D4C8E-6DE7-2387-DF2F-61B151B1B499}"/>
              </a:ext>
            </a:extLst>
          </p:cNvPr>
          <p:cNvSpPr txBox="1"/>
          <p:nvPr/>
        </p:nvSpPr>
        <p:spPr bwMode="gray">
          <a:xfrm>
            <a:off x="4015366" y="1223887"/>
            <a:ext cx="3960000" cy="1609226"/>
          </a:xfrm>
          <a:prstGeom prst="rect">
            <a:avLst/>
          </a:prstGeom>
        </p:spPr>
        <p:txBody>
          <a:bodyPr vert="horz" wrap="square" lIns="0" tIns="0" rIns="0" bIns="0" rtlCol="0" anchor="t">
            <a:noAutofit/>
          </a:bodyPr>
          <a:lstStyle/>
          <a:p>
            <a:pPr marL="0" marR="0" lvl="0" indent="0" algn="l" defTabSz="914400" rtl="0" eaLnBrk="1" fontAlgn="auto" latinLnBrk="0" hangingPunct="1">
              <a:spcBef>
                <a:spcPts val="0"/>
              </a:spcBef>
              <a:spcAft>
                <a:spcPts val="600"/>
              </a:spcAft>
              <a:buClrTx/>
              <a:buSzTx/>
              <a:buFontTx/>
              <a:buNone/>
              <a:tabLst/>
              <a:defRPr/>
            </a:pPr>
            <a:r>
              <a:rPr kumimoji="0" lang="en-GB" sz="1400" b="1" i="0" u="none" strike="noStrike" kern="1200" cap="none" spc="0" normalizeH="0" baseline="0" noProof="0" dirty="0">
                <a:ln>
                  <a:noFill/>
                </a:ln>
                <a:solidFill>
                  <a:srgbClr val="0070AD"/>
                </a:solidFill>
                <a:effectLst/>
                <a:uLnTx/>
                <a:uFillTx/>
                <a:latin typeface="+mj-lt"/>
              </a:rPr>
              <a:t>1. Business objectives</a:t>
            </a:r>
          </a:p>
          <a:p>
            <a:pPr marL="228600" marR="0" lvl="0" indent="-2286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prstClr val="black"/>
                </a:solidFill>
                <a:effectLst/>
                <a:uLnTx/>
                <a:uFillTx/>
                <a:latin typeface="+mj-lt"/>
              </a:rPr>
              <a:t>Business Vision and Strategy</a:t>
            </a:r>
            <a:r>
              <a:rPr kumimoji="0" lang="en-US" sz="1050" b="0" i="0" u="none" strike="noStrike" kern="1200" cap="none" spc="0" normalizeH="0" baseline="0" noProof="0" dirty="0">
                <a:ln>
                  <a:noFill/>
                </a:ln>
                <a:solidFill>
                  <a:prstClr val="black"/>
                </a:solidFill>
                <a:effectLst/>
                <a:uLnTx/>
                <a:uFillTx/>
                <a:latin typeface="+mj-lt"/>
              </a:rPr>
              <a:t>: Align on a unified business vision and growth strategy for the merged entity.</a:t>
            </a:r>
            <a:endParaRPr lang="en-US" sz="1050" b="0" i="0" u="none" strike="noStrike" kern="1200" cap="none" spc="0" normalizeH="0" baseline="0" noProof="0" dirty="0">
              <a:ln>
                <a:noFill/>
              </a:ln>
              <a:solidFill>
                <a:prstClr val="black"/>
              </a:solidFill>
              <a:effectLst/>
              <a:uLnTx/>
              <a:uFillTx/>
              <a:latin typeface="+mj-lt"/>
            </a:endParaRPr>
          </a:p>
          <a:p>
            <a:pPr marL="228600" marR="0" lvl="0" indent="-2286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prstClr val="black"/>
                </a:solidFill>
                <a:effectLst/>
                <a:uLnTx/>
                <a:uFillTx/>
                <a:latin typeface="+mj-lt"/>
              </a:rPr>
              <a:t>Market Operations</a:t>
            </a:r>
            <a:r>
              <a:rPr kumimoji="0" lang="en-US" sz="1050" b="0" i="0" u="none" strike="noStrike" kern="1200" cap="none" spc="0" normalizeH="0" baseline="0" noProof="0" dirty="0">
                <a:ln>
                  <a:noFill/>
                </a:ln>
                <a:solidFill>
                  <a:prstClr val="black"/>
                </a:solidFill>
                <a:effectLst/>
                <a:uLnTx/>
                <a:uFillTx/>
                <a:latin typeface="+mj-lt"/>
              </a:rPr>
              <a:t>: Address overlap in consumer, enterprise, and wholesale markets for mobile and wireline offerings.</a:t>
            </a:r>
            <a:endParaRPr lang="en-US" sz="1050" b="0" i="0" u="none" strike="noStrike" kern="1200" cap="none" spc="0" normalizeH="0" baseline="0" noProof="0" dirty="0">
              <a:ln>
                <a:noFill/>
              </a:ln>
              <a:solidFill>
                <a:prstClr val="black"/>
              </a:solidFill>
              <a:effectLst/>
              <a:uLnTx/>
              <a:uFillTx/>
              <a:latin typeface="+mj-lt"/>
            </a:endParaRPr>
          </a:p>
          <a:p>
            <a:pPr marL="228600" marR="0" lvl="0" indent="-2286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prstClr val="black"/>
                </a:solidFill>
                <a:effectLst/>
                <a:uLnTx/>
                <a:uFillTx/>
                <a:latin typeface="+mj-lt"/>
              </a:rPr>
              <a:t>Impact on Offerings</a:t>
            </a:r>
            <a:r>
              <a:rPr kumimoji="0" lang="en-US" sz="1050" b="0" i="0" u="none" strike="noStrike" kern="1200" cap="none" spc="0" normalizeH="0" baseline="0" noProof="0" dirty="0">
                <a:ln>
                  <a:noFill/>
                </a:ln>
                <a:solidFill>
                  <a:prstClr val="black"/>
                </a:solidFill>
                <a:effectLst/>
                <a:uLnTx/>
                <a:uFillTx/>
                <a:latin typeface="+mj-lt"/>
              </a:rPr>
              <a:t>: Determine how new product offerings affect strategic architecture.</a:t>
            </a:r>
            <a:endParaRPr lang="en-US" sz="1050" b="0" i="0" u="none" strike="noStrike" kern="1200" cap="none" spc="0" normalizeH="0" baseline="0" noProof="0" dirty="0">
              <a:ln>
                <a:noFill/>
              </a:ln>
              <a:solidFill>
                <a:prstClr val="black"/>
              </a:solidFill>
              <a:effectLst/>
              <a:uLnTx/>
              <a:uFillTx/>
              <a:latin typeface="+mj-lt"/>
            </a:endParaRPr>
          </a:p>
          <a:p>
            <a:pPr marL="228600" marR="0" lvl="0" indent="-2286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050" b="1" i="0" u="none" strike="noStrike" kern="1200" cap="none" spc="0" normalizeH="0" baseline="0" noProof="0" dirty="0">
                <a:ln>
                  <a:noFill/>
                </a:ln>
                <a:solidFill>
                  <a:prstClr val="black"/>
                </a:solidFill>
                <a:effectLst/>
                <a:uLnTx/>
                <a:uFillTx/>
                <a:latin typeface="+mj-lt"/>
              </a:rPr>
              <a:t>Prioritization</a:t>
            </a:r>
            <a:r>
              <a:rPr kumimoji="0" lang="en-US" sz="1050" b="0" i="0" u="none" strike="noStrike" kern="1200" cap="none" spc="0" normalizeH="0" baseline="0" noProof="0" dirty="0">
                <a:ln>
                  <a:noFill/>
                </a:ln>
                <a:solidFill>
                  <a:prstClr val="black"/>
                </a:solidFill>
                <a:effectLst/>
                <a:uLnTx/>
                <a:uFillTx/>
                <a:latin typeface="+mj-lt"/>
              </a:rPr>
              <a:t>: Decide on delivery and transition priorities for each line of business.</a:t>
            </a:r>
            <a:endParaRPr kumimoji="0" lang="en-IN" sz="1050" b="0" i="0" u="none" strike="noStrike" kern="1200" cap="none" spc="0" normalizeH="0" baseline="0" noProof="0" dirty="0">
              <a:ln>
                <a:noFill/>
              </a:ln>
              <a:solidFill>
                <a:prstClr val="black"/>
              </a:solidFill>
              <a:effectLst/>
              <a:uLnTx/>
              <a:uFillTx/>
              <a:latin typeface="+mj-lt"/>
            </a:endParaRPr>
          </a:p>
        </p:txBody>
      </p:sp>
      <p:sp>
        <p:nvSpPr>
          <p:cNvPr id="2" name="TextBox 1">
            <a:extLst>
              <a:ext uri="{FF2B5EF4-FFF2-40B4-BE49-F238E27FC236}">
                <a16:creationId xmlns:a16="http://schemas.microsoft.com/office/drawing/2014/main" id="{01B490FB-D343-1A73-81FE-F3D457ED53CB}"/>
              </a:ext>
            </a:extLst>
          </p:cNvPr>
          <p:cNvSpPr txBox="1"/>
          <p:nvPr/>
        </p:nvSpPr>
        <p:spPr bwMode="gray">
          <a:xfrm>
            <a:off x="8094168" y="1242307"/>
            <a:ext cx="3686772" cy="2424699"/>
          </a:xfrm>
          <a:prstGeom prst="rect">
            <a:avLst/>
          </a:prstGeom>
        </p:spPr>
        <p:txBody>
          <a:bodyPr vert="horz" wrap="square" lIns="0" tIns="0" rIns="0" bIns="0" rtlCol="0" anchor="t">
            <a:noAutofit/>
          </a:bodyPr>
          <a:lstStyle/>
          <a:p>
            <a:pPr marL="0" marR="0" lvl="0" indent="0" algn="l" defTabSz="914400" rtl="0" eaLnBrk="1" fontAlgn="auto" latinLnBrk="0" hangingPunct="1">
              <a:spcBef>
                <a:spcPts val="0"/>
              </a:spcBef>
              <a:spcAft>
                <a:spcPts val="600"/>
              </a:spcAft>
              <a:buClrTx/>
              <a:buSzTx/>
              <a:buFontTx/>
              <a:buNone/>
              <a:tabLst/>
              <a:defRPr/>
            </a:pPr>
            <a:r>
              <a:rPr kumimoji="0" lang="en-GB" sz="1400" b="1" i="0" u="none" strike="noStrike" kern="1200" cap="none" spc="0" normalizeH="0" baseline="0" noProof="0" dirty="0">
                <a:ln>
                  <a:noFill/>
                </a:ln>
                <a:solidFill>
                  <a:srgbClr val="12ABDB"/>
                </a:solidFill>
                <a:effectLst/>
                <a:uLnTx/>
                <a:uFillTx/>
                <a:latin typeface="+mj-lt"/>
              </a:rPr>
              <a:t>3. Existing technology Landscape</a:t>
            </a:r>
          </a:p>
          <a:p>
            <a:pPr marL="228600" indent="-228600" algn="l">
              <a:buFont typeface="Arial" panose="020B0604020202020204" pitchFamily="34" charset="0"/>
              <a:buChar char="•"/>
            </a:pPr>
            <a:r>
              <a:rPr lang="en-US" sz="1050" b="1" i="0" dirty="0">
                <a:effectLst/>
                <a:latin typeface="+mj-lt"/>
              </a:rPr>
              <a:t>Create Inventory</a:t>
            </a:r>
            <a:r>
              <a:rPr lang="en-US" sz="1050" b="0" i="0" dirty="0">
                <a:effectLst/>
                <a:latin typeface="+mj-lt"/>
              </a:rPr>
              <a:t>: List all BSS/OSS applications of Vodafone and </a:t>
            </a:r>
            <a:r>
              <a:rPr lang="en-US" sz="1050" b="0" i="0" dirty="0" err="1">
                <a:effectLst/>
                <a:latin typeface="+mj-lt"/>
              </a:rPr>
              <a:t>FastWeb</a:t>
            </a:r>
            <a:r>
              <a:rPr lang="en-US" sz="1050" b="0" i="0" dirty="0">
                <a:effectLst/>
                <a:latin typeface="+mj-lt"/>
              </a:rPr>
              <a:t>.</a:t>
            </a:r>
          </a:p>
          <a:p>
            <a:pPr marL="228600" indent="-228600" algn="l">
              <a:buFont typeface="Arial" panose="020B0604020202020204" pitchFamily="34" charset="0"/>
              <a:buChar char="•"/>
            </a:pPr>
            <a:r>
              <a:rPr lang="en-US" sz="1050" b="1" i="0" dirty="0">
                <a:effectLst/>
                <a:latin typeface="+mj-lt"/>
              </a:rPr>
              <a:t>KPI Analysis</a:t>
            </a:r>
            <a:r>
              <a:rPr lang="en-US" sz="1050" b="0" i="0" dirty="0">
                <a:effectLst/>
                <a:latin typeface="+mj-lt"/>
              </a:rPr>
              <a:t>: Identify key business KPIs to find strengths and weaknesses.</a:t>
            </a:r>
          </a:p>
          <a:p>
            <a:pPr marL="228600" indent="-228600" algn="l">
              <a:buFont typeface="Arial" panose="020B0604020202020204" pitchFamily="34" charset="0"/>
              <a:buChar char="•"/>
            </a:pPr>
            <a:r>
              <a:rPr lang="en-US" sz="1050" b="1" i="0" dirty="0">
                <a:effectLst/>
                <a:latin typeface="+mj-lt"/>
              </a:rPr>
              <a:t>TCO and Scalability</a:t>
            </a:r>
            <a:r>
              <a:rPr lang="en-US" sz="1050" b="0" i="0" dirty="0">
                <a:effectLst/>
                <a:latin typeface="+mj-lt"/>
              </a:rPr>
              <a:t>: Assess Total Cost of Ownership, scalability, flexibility, and future-readiness of current systems.</a:t>
            </a:r>
          </a:p>
          <a:p>
            <a:pPr marL="228600" indent="-228600" algn="l">
              <a:buFont typeface="Arial" panose="020B0604020202020204" pitchFamily="34" charset="0"/>
              <a:buChar char="•"/>
            </a:pPr>
            <a:r>
              <a:rPr lang="en-US" sz="1050" b="1" i="0" dirty="0">
                <a:effectLst/>
                <a:latin typeface="+mj-lt"/>
              </a:rPr>
              <a:t>Cost and Target Constraints</a:t>
            </a:r>
            <a:r>
              <a:rPr lang="en-US" sz="1050" b="0" i="0" dirty="0">
                <a:effectLst/>
                <a:latin typeface="+mj-lt"/>
              </a:rPr>
              <a:t>: Gather cost constraints and targets for the new OSS/BSS architecture.</a:t>
            </a:r>
          </a:p>
          <a:p>
            <a:pPr marL="228600" indent="-228600" algn="l">
              <a:buFont typeface="Arial" panose="020B0604020202020204" pitchFamily="34" charset="0"/>
              <a:buChar char="•"/>
            </a:pPr>
            <a:r>
              <a:rPr lang="en-US" sz="1050" b="1" i="0" dirty="0">
                <a:effectLst/>
                <a:latin typeface="+mj-lt"/>
              </a:rPr>
              <a:t>Strategic Goals Impact</a:t>
            </a:r>
            <a:r>
              <a:rPr lang="en-US" sz="1050" b="0" i="0" dirty="0">
                <a:effectLst/>
                <a:latin typeface="+mj-lt"/>
              </a:rPr>
              <a:t>: Evaluate the impact of major programs.</a:t>
            </a:r>
          </a:p>
          <a:p>
            <a:pPr marL="228600" indent="-228600" algn="l">
              <a:buFont typeface="Arial" panose="020B0604020202020204" pitchFamily="34" charset="0"/>
              <a:buChar char="•"/>
            </a:pPr>
            <a:r>
              <a:rPr lang="en-US" sz="1050" b="1" i="0" dirty="0">
                <a:effectLst/>
                <a:latin typeface="+mj-lt"/>
              </a:rPr>
              <a:t>Digital Maturity and Technical Debt</a:t>
            </a:r>
            <a:r>
              <a:rPr lang="en-US" sz="1050" b="0" i="0" dirty="0">
                <a:effectLst/>
                <a:latin typeface="+mj-lt"/>
              </a:rPr>
              <a:t>: Assess digital maturity, technical debt, and flexibility of existing applications.</a:t>
            </a:r>
          </a:p>
          <a:p>
            <a:pPr marL="228600" indent="-228600" algn="l">
              <a:buFont typeface="Arial" panose="020B0604020202020204" pitchFamily="34" charset="0"/>
              <a:buChar char="•"/>
            </a:pPr>
            <a:r>
              <a:rPr lang="en-US" sz="1050" b="1" i="0" dirty="0">
                <a:effectLst/>
                <a:latin typeface="+mj-lt"/>
              </a:rPr>
              <a:t>Detailed IT Assessment</a:t>
            </a:r>
            <a:r>
              <a:rPr lang="en-US" sz="1050" b="0" i="0" dirty="0">
                <a:effectLst/>
                <a:latin typeface="+mj-lt"/>
              </a:rPr>
              <a:t>: Use tools like </a:t>
            </a:r>
            <a:r>
              <a:rPr lang="en-US" sz="1050" b="0" i="0" dirty="0" err="1">
                <a:effectLst/>
                <a:latin typeface="+mj-lt"/>
              </a:rPr>
              <a:t>clearSight</a:t>
            </a:r>
            <a:r>
              <a:rPr lang="en-US" sz="1050" b="0" i="0" dirty="0">
                <a:effectLst/>
                <a:latin typeface="+mj-lt"/>
              </a:rPr>
              <a:t>, interviews, surveys, and deep dives to evaluate IT operations.</a:t>
            </a:r>
          </a:p>
        </p:txBody>
      </p:sp>
      <p:sp>
        <p:nvSpPr>
          <p:cNvPr id="4" name="TextBox 3">
            <a:extLst>
              <a:ext uri="{FF2B5EF4-FFF2-40B4-BE49-F238E27FC236}">
                <a16:creationId xmlns:a16="http://schemas.microsoft.com/office/drawing/2014/main" id="{A7C34897-D100-01E9-72B2-F109FEF4B97B}"/>
              </a:ext>
            </a:extLst>
          </p:cNvPr>
          <p:cNvSpPr txBox="1"/>
          <p:nvPr/>
        </p:nvSpPr>
        <p:spPr bwMode="gray">
          <a:xfrm>
            <a:off x="4015366" y="2997578"/>
            <a:ext cx="3960000" cy="1719856"/>
          </a:xfrm>
          <a:prstGeom prst="rect">
            <a:avLst/>
          </a:prstGeom>
        </p:spPr>
        <p:txBody>
          <a:bodyPr vert="horz" wrap="square" lIns="0" tIns="0" rIns="0" bIns="0" rtlCol="0" anchor="t">
            <a:noAutofit/>
          </a:bodyPr>
          <a:lstStyle/>
          <a:p>
            <a:pPr marL="0" marR="0" lvl="0" indent="0" algn="l" defTabSz="914400" rtl="0" eaLnBrk="1" fontAlgn="auto" latinLnBrk="0" hangingPunct="1">
              <a:spcBef>
                <a:spcPts val="0"/>
              </a:spcBef>
              <a:spcAft>
                <a:spcPts val="600"/>
              </a:spcAft>
              <a:buClrTx/>
              <a:buSzTx/>
              <a:buNone/>
              <a:tabLst/>
              <a:defRPr/>
            </a:pPr>
            <a:r>
              <a:rPr kumimoji="0" lang="en-GB" sz="1400" b="1" i="0" u="none" strike="noStrike" kern="1200" cap="none" spc="0" normalizeH="0" baseline="0" noProof="0" dirty="0">
                <a:ln>
                  <a:noFill/>
                </a:ln>
                <a:solidFill>
                  <a:srgbClr val="002060"/>
                </a:solidFill>
                <a:effectLst/>
                <a:uLnTx/>
                <a:uFillTx/>
                <a:latin typeface="+mj-lt"/>
              </a:rPr>
              <a:t>2. Architecture Principles</a:t>
            </a:r>
            <a:endParaRPr lang="en-US" sz="1400" dirty="0">
              <a:solidFill>
                <a:srgbClr val="002060"/>
              </a:solidFill>
              <a:latin typeface="+mj-lt"/>
            </a:endParaRPr>
          </a:p>
          <a:p>
            <a:pPr marL="171450" indent="-171450">
              <a:buFont typeface="Arial"/>
              <a:buChar char="•"/>
              <a:defRPr/>
            </a:pPr>
            <a:r>
              <a:rPr lang="en-US" sz="1050" dirty="0">
                <a:solidFill>
                  <a:prstClr val="black"/>
                </a:solidFill>
                <a:latin typeface="+mj-lt"/>
              </a:rPr>
              <a:t>It is essential that the architecture principles and security posture for the</a:t>
            </a:r>
            <a:r>
              <a:rPr lang="en-US" sz="1050" b="1" dirty="0">
                <a:solidFill>
                  <a:prstClr val="black"/>
                </a:solidFill>
                <a:latin typeface="+mj-lt"/>
              </a:rPr>
              <a:t> merged entity is agreed</a:t>
            </a:r>
            <a:r>
              <a:rPr lang="en-US" sz="1050" dirty="0">
                <a:solidFill>
                  <a:prstClr val="black"/>
                </a:solidFill>
                <a:latin typeface="+mj-lt"/>
              </a:rPr>
              <a:t>.</a:t>
            </a:r>
          </a:p>
          <a:p>
            <a:pPr marL="171450" indent="-171450">
              <a:buFont typeface="Arial"/>
              <a:buChar char="•"/>
              <a:defRPr/>
            </a:pPr>
            <a:r>
              <a:rPr lang="en-US" sz="1050" b="1" dirty="0">
                <a:solidFill>
                  <a:prstClr val="black"/>
                </a:solidFill>
                <a:latin typeface="+mj-lt"/>
              </a:rPr>
              <a:t>Architecture</a:t>
            </a:r>
            <a:r>
              <a:rPr kumimoji="0" lang="en-US" sz="1050" b="1" i="0" u="none" strike="noStrike" kern="1200" cap="none" spc="0" normalizeH="0" baseline="0" noProof="0" dirty="0">
                <a:ln>
                  <a:noFill/>
                </a:ln>
                <a:solidFill>
                  <a:prstClr val="black"/>
                </a:solidFill>
                <a:effectLst/>
                <a:uLnTx/>
                <a:uFillTx/>
                <a:latin typeface="+mj-lt"/>
              </a:rPr>
              <a:t> principles – </a:t>
            </a:r>
            <a:r>
              <a:rPr kumimoji="0" lang="en-US" sz="1050" i="0" u="none" strike="noStrike" kern="1200" cap="none" spc="0" normalizeH="0" baseline="0" noProof="0" dirty="0">
                <a:ln>
                  <a:noFill/>
                </a:ln>
                <a:solidFill>
                  <a:prstClr val="black"/>
                </a:solidFill>
                <a:effectLst/>
                <a:uLnTx/>
                <a:uFillTx/>
                <a:latin typeface="+mj-lt"/>
              </a:rPr>
              <a:t>underlying general rules and guidelines for the use and deployment of all IT resources and assets across the enterprise.</a:t>
            </a:r>
            <a:r>
              <a:rPr lang="en-US" sz="1050" dirty="0">
                <a:solidFill>
                  <a:prstClr val="black"/>
                </a:solidFill>
                <a:latin typeface="+mj-lt"/>
              </a:rPr>
              <a:t> </a:t>
            </a:r>
          </a:p>
          <a:p>
            <a:pPr marL="171450" marR="0" lvl="0" indent="-171450" algn="l" defTabSz="914400" rtl="0" eaLnBrk="1" fontAlgn="auto" latinLnBrk="0" hangingPunct="1">
              <a:spcBef>
                <a:spcPts val="0"/>
              </a:spcBef>
              <a:spcAft>
                <a:spcPts val="0"/>
              </a:spcAft>
              <a:buClrTx/>
              <a:buSzTx/>
              <a:buFont typeface="Arial"/>
              <a:buChar char="•"/>
              <a:tabLst/>
              <a:defRPr/>
            </a:pPr>
            <a:r>
              <a:rPr kumimoji="0" lang="en-US" sz="1050" i="0" u="none" strike="noStrike" kern="1200" cap="none" spc="0" normalizeH="0" baseline="0" noProof="0" dirty="0">
                <a:ln>
                  <a:noFill/>
                </a:ln>
                <a:solidFill>
                  <a:prstClr val="black"/>
                </a:solidFill>
                <a:effectLst/>
                <a:uLnTx/>
                <a:uFillTx/>
                <a:latin typeface="+mj-lt"/>
              </a:rPr>
              <a:t>Reflect a level of consensus among the various elements of the enterprise and form the basis for </a:t>
            </a:r>
            <a:r>
              <a:rPr kumimoji="0" lang="en-US" sz="1050" b="1" i="0" u="none" strike="noStrike" kern="1200" cap="none" spc="0" normalizeH="0" baseline="0" noProof="0" dirty="0">
                <a:ln>
                  <a:noFill/>
                </a:ln>
                <a:solidFill>
                  <a:prstClr val="black"/>
                </a:solidFill>
                <a:effectLst/>
                <a:uLnTx/>
                <a:uFillTx/>
                <a:latin typeface="+mj-lt"/>
              </a:rPr>
              <a:t>making future IT decisions</a:t>
            </a:r>
            <a:r>
              <a:rPr kumimoji="0" lang="en-US" sz="1050" i="0" u="none" strike="noStrike" kern="1200" cap="none" spc="0" normalizeH="0" baseline="0" noProof="0" dirty="0">
                <a:ln>
                  <a:noFill/>
                </a:ln>
                <a:solidFill>
                  <a:prstClr val="black"/>
                </a:solidFill>
                <a:effectLst/>
                <a:uLnTx/>
                <a:uFillTx/>
                <a:latin typeface="+mj-lt"/>
              </a:rPr>
              <a:t>.</a:t>
            </a:r>
            <a:endParaRPr lang="en-US" sz="1050" i="0" u="none" strike="noStrike" kern="1200" cap="none" spc="0" normalizeH="0" baseline="0" noProof="0" dirty="0">
              <a:ln>
                <a:noFill/>
              </a:ln>
              <a:solidFill>
                <a:prstClr val="black"/>
              </a:solidFill>
              <a:effectLst/>
              <a:uLnTx/>
              <a:uFillTx/>
              <a:latin typeface="+mj-lt"/>
            </a:endParaRPr>
          </a:p>
          <a:p>
            <a:pPr marL="171450" marR="0" lvl="0" indent="-171450" algn="l" defTabSz="914400" rtl="0" eaLnBrk="1" fontAlgn="auto" latinLnBrk="0" hangingPunct="1">
              <a:spcBef>
                <a:spcPts val="0"/>
              </a:spcBef>
              <a:spcAft>
                <a:spcPts val="0"/>
              </a:spcAft>
              <a:buClrTx/>
              <a:buSzTx/>
              <a:buFont typeface="Arial"/>
              <a:buChar char="•"/>
              <a:tabLst/>
              <a:defRPr/>
            </a:pPr>
            <a:r>
              <a:rPr kumimoji="0" lang="en-US" sz="1050" i="0" u="none" strike="noStrike" kern="1200" cap="none" spc="0" normalizeH="0" baseline="0" noProof="0" dirty="0">
                <a:ln>
                  <a:noFill/>
                </a:ln>
                <a:solidFill>
                  <a:prstClr val="black"/>
                </a:solidFill>
                <a:effectLst/>
                <a:uLnTx/>
                <a:uFillTx/>
                <a:latin typeface="+mj-lt"/>
              </a:rPr>
              <a:t>Each architecture principle should be clearly related back to the </a:t>
            </a:r>
            <a:r>
              <a:rPr kumimoji="0" lang="en-US" sz="1050" b="1" i="0" u="none" strike="noStrike" kern="1200" cap="none" spc="0" normalizeH="0" baseline="0" noProof="0" dirty="0">
                <a:ln>
                  <a:noFill/>
                </a:ln>
                <a:solidFill>
                  <a:prstClr val="black"/>
                </a:solidFill>
                <a:effectLst/>
                <a:uLnTx/>
                <a:uFillTx/>
                <a:latin typeface="+mj-lt"/>
              </a:rPr>
              <a:t>business objectives </a:t>
            </a:r>
            <a:r>
              <a:rPr kumimoji="0" lang="en-US" sz="1050" i="0" u="none" strike="noStrike" kern="1200" cap="none" spc="0" normalizeH="0" baseline="0" noProof="0" dirty="0">
                <a:ln>
                  <a:noFill/>
                </a:ln>
                <a:solidFill>
                  <a:prstClr val="black"/>
                </a:solidFill>
                <a:effectLst/>
                <a:uLnTx/>
                <a:uFillTx/>
                <a:latin typeface="+mj-lt"/>
              </a:rPr>
              <a:t>and </a:t>
            </a:r>
            <a:r>
              <a:rPr kumimoji="0" lang="en-US" sz="1050" b="1" i="0" u="none" strike="noStrike" kern="1200" cap="none" spc="0" normalizeH="0" baseline="0" noProof="0" dirty="0">
                <a:ln>
                  <a:noFill/>
                </a:ln>
                <a:solidFill>
                  <a:prstClr val="black"/>
                </a:solidFill>
                <a:effectLst/>
                <a:uLnTx/>
                <a:uFillTx/>
                <a:latin typeface="+mj-lt"/>
              </a:rPr>
              <a:t>key architecture drivers</a:t>
            </a:r>
            <a:r>
              <a:rPr kumimoji="0" lang="en-US" sz="1050" i="0" u="none" strike="noStrike" kern="1200" cap="none" spc="0" normalizeH="0" baseline="0" noProof="0" dirty="0">
                <a:ln>
                  <a:noFill/>
                </a:ln>
                <a:solidFill>
                  <a:prstClr val="black"/>
                </a:solidFill>
                <a:effectLst/>
                <a:uLnTx/>
                <a:uFillTx/>
                <a:latin typeface="+mj-lt"/>
              </a:rPr>
              <a:t>.</a:t>
            </a:r>
            <a:endParaRPr lang="en-US" sz="1050" i="0" u="none" strike="noStrike" kern="1200" cap="none" spc="0" normalizeH="0" baseline="0" noProof="0" dirty="0">
              <a:ln>
                <a:noFill/>
              </a:ln>
              <a:solidFill>
                <a:prstClr val="black"/>
              </a:solidFill>
              <a:effectLst/>
              <a:uLnTx/>
              <a:uFillTx/>
              <a:latin typeface="+mj-lt"/>
            </a:endParaRPr>
          </a:p>
        </p:txBody>
      </p:sp>
      <p:sp>
        <p:nvSpPr>
          <p:cNvPr id="5" name="TextBox 4">
            <a:extLst>
              <a:ext uri="{FF2B5EF4-FFF2-40B4-BE49-F238E27FC236}">
                <a16:creationId xmlns:a16="http://schemas.microsoft.com/office/drawing/2014/main" id="{B5106B01-353E-F006-3E07-423088A4F8B4}"/>
              </a:ext>
            </a:extLst>
          </p:cNvPr>
          <p:cNvSpPr txBox="1"/>
          <p:nvPr/>
        </p:nvSpPr>
        <p:spPr bwMode="gray">
          <a:xfrm>
            <a:off x="8094168" y="3789932"/>
            <a:ext cx="3686772" cy="1112046"/>
          </a:xfrm>
          <a:prstGeom prst="rect">
            <a:avLst/>
          </a:prstGeom>
        </p:spPr>
        <p:txBody>
          <a:bodyPr vert="horz" wrap="square" lIns="0" tIns="0" rIns="0" bIns="0" rtlCol="0">
            <a:noAutofit/>
          </a:bodyPr>
          <a:lstStyle/>
          <a:p>
            <a:pPr marL="0" marR="0" lvl="0" indent="0" algn="l" defTabSz="914400" rtl="0" eaLnBrk="1" fontAlgn="auto" latinLnBrk="0" hangingPunct="1">
              <a:spcBef>
                <a:spcPts val="0"/>
              </a:spcBef>
              <a:spcAft>
                <a:spcPts val="600"/>
              </a:spcAft>
              <a:buClrTx/>
              <a:buSzTx/>
              <a:buFontTx/>
              <a:buNone/>
              <a:tabLst/>
              <a:defRPr/>
            </a:pPr>
            <a:r>
              <a:rPr kumimoji="0" lang="en-US" sz="1400" b="1" i="0" u="none" strike="noStrike" kern="1200" cap="none" spc="0" normalizeH="0" baseline="0" noProof="0" dirty="0">
                <a:ln>
                  <a:noFill/>
                </a:ln>
                <a:solidFill>
                  <a:srgbClr val="34B7FF"/>
                </a:solidFill>
                <a:effectLst/>
                <a:uLnTx/>
                <a:uFillTx/>
                <a:latin typeface="+mj-lt"/>
              </a:rPr>
              <a:t>4. Industry and Technology Best Practice</a:t>
            </a:r>
          </a:p>
          <a:p>
            <a:pPr marL="0" marR="0" lvl="0" indent="0" algn="l" defTabSz="914400" rtl="0" eaLnBrk="1" fontAlgn="auto" latinLnBrk="0" hangingPunct="1">
              <a:spcBef>
                <a:spcPts val="0"/>
              </a:spcBef>
              <a:spcAft>
                <a:spcPts val="0"/>
              </a:spcAft>
              <a:buClrTx/>
              <a:buSzTx/>
              <a:buFontTx/>
              <a:buNone/>
              <a:tabLst/>
              <a:defRPr/>
            </a:pPr>
            <a:r>
              <a:rPr lang="en-US" sz="1050" dirty="0">
                <a:solidFill>
                  <a:prstClr val="black"/>
                </a:solidFill>
                <a:latin typeface="+mj-lt"/>
              </a:rPr>
              <a:t>The merger of the 2 IT systems is an opportunity to follow standard architecture framework and build a state-of-the-art solution, based on TMF standards (e.g. ODA, BPM, SID), as well as technology best of breed patterns (OpenAPI, SRE, etc.) </a:t>
            </a:r>
            <a:endParaRPr kumimoji="0" lang="en-GB" sz="1050" i="0" u="none" strike="noStrike" kern="1200" cap="none" spc="0" normalizeH="0" baseline="0" noProof="0" dirty="0">
              <a:ln>
                <a:noFill/>
              </a:ln>
              <a:solidFill>
                <a:prstClr val="black"/>
              </a:solidFill>
              <a:effectLst/>
              <a:uLnTx/>
              <a:uFillTx/>
              <a:latin typeface="+mj-lt"/>
            </a:endParaRPr>
          </a:p>
        </p:txBody>
      </p:sp>
      <p:sp>
        <p:nvSpPr>
          <p:cNvPr id="12" name="TextBox 11">
            <a:extLst>
              <a:ext uri="{FF2B5EF4-FFF2-40B4-BE49-F238E27FC236}">
                <a16:creationId xmlns:a16="http://schemas.microsoft.com/office/drawing/2014/main" id="{0050786F-07E5-AC4B-B30A-7BAF26B2142F}"/>
              </a:ext>
            </a:extLst>
          </p:cNvPr>
          <p:cNvSpPr txBox="1"/>
          <p:nvPr/>
        </p:nvSpPr>
        <p:spPr bwMode="gray">
          <a:xfrm>
            <a:off x="4176413" y="4766324"/>
            <a:ext cx="7888201" cy="1609226"/>
          </a:xfrm>
          <a:prstGeom prst="rect">
            <a:avLst/>
          </a:prstGeom>
        </p:spPr>
        <p:txBody>
          <a:bodyPr vert="horz" wrap="square" lIns="0" tIns="0" rIns="0" bIns="0" numCol="2" rtlCol="0" anchor="t">
            <a:noAutofit/>
          </a:bodyPr>
          <a:lstStyle/>
          <a:p>
            <a:pPr marL="0" marR="0" lvl="0" indent="0" algn="l" defTabSz="914400" rtl="0" eaLnBrk="1" fontAlgn="auto" latinLnBrk="0" hangingPunct="1">
              <a:spcBef>
                <a:spcPts val="0"/>
              </a:spcBef>
              <a:spcAft>
                <a:spcPts val="600"/>
              </a:spcAft>
              <a:buClrTx/>
              <a:buSzTx/>
              <a:buFontTx/>
              <a:buNone/>
              <a:tabLst/>
              <a:defRPr/>
            </a:pPr>
            <a:r>
              <a:rPr kumimoji="0" lang="en-US" sz="1400" b="1" i="0" u="none" strike="noStrike" kern="1200" cap="none" spc="0" normalizeH="0" baseline="0" noProof="0" dirty="0">
                <a:ln>
                  <a:noFill/>
                </a:ln>
                <a:solidFill>
                  <a:srgbClr val="0D80A4"/>
                </a:solidFill>
                <a:effectLst/>
                <a:uLnTx/>
                <a:uFillTx/>
                <a:latin typeface="+mj-lt"/>
              </a:rPr>
              <a:t>5. End State Architecture</a:t>
            </a:r>
          </a:p>
          <a:p>
            <a:pPr marL="0" marR="0" lvl="0" indent="0" algn="l" defTabSz="914400" rtl="0" eaLnBrk="1" fontAlgn="auto" latinLnBrk="0" hangingPunct="1">
              <a:spcBef>
                <a:spcPts val="0"/>
              </a:spcBef>
              <a:spcAft>
                <a:spcPts val="0"/>
              </a:spcAft>
              <a:buClrTx/>
              <a:buSzTx/>
              <a:buFontTx/>
              <a:buNone/>
              <a:tabLst/>
              <a:defRPr/>
            </a:pPr>
            <a:r>
              <a:rPr kumimoji="0" lang="en-US" sz="1050" b="1" i="0" u="none" strike="noStrike" kern="1200" cap="none" spc="0" normalizeH="0" baseline="0" noProof="0" dirty="0">
                <a:ln>
                  <a:noFill/>
                </a:ln>
                <a:effectLst/>
                <a:uLnTx/>
                <a:uFillTx/>
                <a:latin typeface="+mj-lt"/>
              </a:rPr>
              <a:t>Gap Analysis</a:t>
            </a:r>
            <a:r>
              <a:rPr kumimoji="0" lang="en-US" sz="1050" i="0" u="none" strike="noStrike" kern="1200" cap="none" spc="0" normalizeH="0" baseline="0" noProof="0" dirty="0">
                <a:ln>
                  <a:noFill/>
                </a:ln>
                <a:effectLst/>
                <a:uLnTx/>
                <a:uFillTx/>
                <a:latin typeface="+mj-lt"/>
              </a:rPr>
              <a:t>:</a:t>
            </a:r>
            <a:endParaRPr lang="en-US" sz="1050" i="0" u="none" strike="noStrike" kern="1200" cap="none" spc="0" normalizeH="0" baseline="0" noProof="0" dirty="0">
              <a:ln>
                <a:noFill/>
              </a:ln>
              <a:effectLst/>
              <a:uLnTx/>
              <a:uFillTx/>
              <a:latin typeface="+mj-lt"/>
            </a:endParaRP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050" i="0" u="none" strike="noStrike" kern="1200" cap="none" spc="0" normalizeH="0" baseline="0" noProof="0" dirty="0">
                <a:ln>
                  <a:noFill/>
                </a:ln>
                <a:effectLst/>
                <a:uLnTx/>
                <a:uFillTx/>
                <a:latin typeface="+mj-lt"/>
              </a:rPr>
              <a:t>Conduct a gap analysis of existing IT components considering strategic requirements.</a:t>
            </a:r>
            <a:endParaRPr lang="en-US" sz="1050" i="0" u="none" strike="noStrike" kern="1200" cap="none" spc="0" normalizeH="0" baseline="0" noProof="0" dirty="0">
              <a:ln>
                <a:noFill/>
              </a:ln>
              <a:effectLst/>
              <a:uLnTx/>
              <a:uFillTx/>
              <a:latin typeface="+mj-lt"/>
            </a:endParaRP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050" i="0" u="none" strike="noStrike" kern="1200" cap="none" spc="0" normalizeH="0" baseline="0" noProof="0" dirty="0">
                <a:ln>
                  <a:noFill/>
                </a:ln>
                <a:effectLst/>
                <a:uLnTx/>
                <a:uFillTx/>
                <a:latin typeface="+mj-lt"/>
              </a:rPr>
              <a:t>Perform a comparative analysis, benchmarking strengths and weaknesses for different ODA domains.</a:t>
            </a:r>
            <a:endParaRPr lang="en-US" sz="1050" i="0" u="none" strike="noStrike" kern="1200" cap="none" spc="0" normalizeH="0" baseline="0" noProof="0" dirty="0">
              <a:ln>
                <a:noFill/>
              </a:ln>
              <a:effectLst/>
              <a:uLnTx/>
              <a:uFillTx/>
              <a:latin typeface="+mj-lt"/>
            </a:endParaRPr>
          </a:p>
          <a:p>
            <a:pPr marL="0" marR="0" lvl="0" indent="0" algn="l" defTabSz="914400" rtl="0" eaLnBrk="1" fontAlgn="auto" latinLnBrk="0" hangingPunct="1">
              <a:spcBef>
                <a:spcPts val="0"/>
              </a:spcBef>
              <a:spcAft>
                <a:spcPts val="0"/>
              </a:spcAft>
              <a:buClrTx/>
              <a:buSzTx/>
              <a:buFontTx/>
              <a:buNone/>
              <a:tabLst/>
              <a:defRPr/>
            </a:pPr>
            <a:r>
              <a:rPr kumimoji="0" lang="en-US" sz="1050" b="1" i="0" u="none" strike="noStrike" kern="1200" cap="none" spc="0" normalizeH="0" baseline="0" noProof="0" dirty="0">
                <a:ln>
                  <a:noFill/>
                </a:ln>
                <a:effectLst/>
                <a:uLnTx/>
                <a:uFillTx/>
                <a:latin typeface="+mj-lt"/>
              </a:rPr>
              <a:t>Strategy Selection</a:t>
            </a:r>
            <a:r>
              <a:rPr kumimoji="0" lang="en-US" sz="1050" i="0" u="none" strike="noStrike" kern="1200" cap="none" spc="0" normalizeH="0" baseline="0" noProof="0" dirty="0">
                <a:ln>
                  <a:noFill/>
                </a:ln>
                <a:effectLst/>
                <a:uLnTx/>
                <a:uFillTx/>
                <a:latin typeface="+mj-lt"/>
              </a:rPr>
              <a:t>:</a:t>
            </a:r>
            <a:endParaRPr lang="en-US" sz="1050" i="0" u="none" strike="noStrike" kern="1200" cap="none" spc="0" normalizeH="0" baseline="0" noProof="0" dirty="0">
              <a:ln>
                <a:noFill/>
              </a:ln>
              <a:effectLst/>
              <a:uLnTx/>
              <a:uFillTx/>
              <a:latin typeface="+mj-lt"/>
            </a:endParaRP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050" i="0" u="none" strike="noStrike" kern="1200" cap="none" spc="0" normalizeH="0" baseline="0" noProof="0" dirty="0">
                <a:ln>
                  <a:noFill/>
                </a:ln>
                <a:effectLst/>
                <a:uLnTx/>
                <a:uFillTx/>
                <a:latin typeface="+mj-lt"/>
              </a:rPr>
              <a:t>Choose the best approach: Green Field Stack, Cap-and-Grow, continue phased transformation of one existing stack, or partial replacements of one existing stack. (see next slide)</a:t>
            </a: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endParaRPr lang="en-US" sz="1050" dirty="0">
              <a:latin typeface="+mj-lt"/>
            </a:endParaRP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endParaRPr lang="en-US" sz="1050" i="0" u="none" strike="noStrike" kern="1200" cap="none" spc="0" normalizeH="0" baseline="0" noProof="0" dirty="0">
              <a:ln>
                <a:noFill/>
              </a:ln>
              <a:effectLst/>
              <a:uLnTx/>
              <a:uFillTx/>
              <a:latin typeface="+mj-lt"/>
            </a:endParaRPr>
          </a:p>
          <a:p>
            <a:pPr marL="0" marR="0" lvl="0" indent="0" algn="l" defTabSz="914400" rtl="0" eaLnBrk="1" fontAlgn="auto" latinLnBrk="0" hangingPunct="1">
              <a:spcBef>
                <a:spcPts val="0"/>
              </a:spcBef>
              <a:spcAft>
                <a:spcPts val="0"/>
              </a:spcAft>
              <a:buClrTx/>
              <a:buSzTx/>
              <a:buFontTx/>
              <a:buNone/>
              <a:tabLst/>
              <a:defRPr/>
            </a:pPr>
            <a:r>
              <a:rPr kumimoji="0" lang="en-US" sz="1050" b="1" i="0" u="none" strike="noStrike" kern="1200" cap="none" spc="0" normalizeH="0" baseline="0" noProof="0" dirty="0">
                <a:ln>
                  <a:noFill/>
                </a:ln>
                <a:effectLst/>
                <a:uLnTx/>
                <a:uFillTx/>
                <a:latin typeface="+mj-lt"/>
              </a:rPr>
              <a:t>Output</a:t>
            </a:r>
            <a:r>
              <a:rPr kumimoji="0" lang="en-US" sz="1050" i="0" u="none" strike="noStrike" kern="1200" cap="none" spc="0" normalizeH="0" baseline="0" noProof="0" dirty="0">
                <a:ln>
                  <a:noFill/>
                </a:ln>
                <a:effectLst/>
                <a:uLnTx/>
                <a:uFillTx/>
                <a:latin typeface="+mj-lt"/>
              </a:rPr>
              <a:t>:</a:t>
            </a:r>
            <a:endParaRPr lang="en-US" sz="1050" i="0" u="none" strike="noStrike" kern="1200" cap="none" spc="0" normalizeH="0" baseline="0" noProof="0" dirty="0">
              <a:ln>
                <a:noFill/>
              </a:ln>
              <a:effectLst/>
              <a:uLnTx/>
              <a:uFillTx/>
              <a:latin typeface="+mj-lt"/>
            </a:endParaRPr>
          </a:p>
          <a:p>
            <a:pPr marL="171450" indent="-171450">
              <a:buFont typeface="Arial" panose="020B0604020202020204" pitchFamily="34" charset="0"/>
              <a:buChar char="•"/>
              <a:defRPr/>
            </a:pPr>
            <a:r>
              <a:rPr lang="en-US" sz="1050" dirty="0">
                <a:latin typeface="+mj-lt"/>
              </a:rPr>
              <a:t>Target</a:t>
            </a:r>
            <a:r>
              <a:rPr kumimoji="0" lang="en-US" sz="1050" i="0" u="none" strike="noStrike" kern="1200" cap="none" spc="0" normalizeH="0" baseline="0" noProof="0" dirty="0">
                <a:ln>
                  <a:noFill/>
                </a:ln>
                <a:effectLst/>
                <a:uLnTx/>
                <a:uFillTx/>
                <a:latin typeface="+mj-lt"/>
              </a:rPr>
              <a:t> Architecture Blueprint</a:t>
            </a:r>
            <a:endParaRPr lang="en-US" sz="1050" dirty="0">
              <a:latin typeface="+mj-lt"/>
            </a:endParaRPr>
          </a:p>
          <a:p>
            <a:pPr marL="171450" indent="-171450">
              <a:buFont typeface="Arial" panose="020B0604020202020204" pitchFamily="34" charset="0"/>
              <a:buChar char="•"/>
              <a:defRPr/>
            </a:pPr>
            <a:r>
              <a:rPr lang="en-US" sz="1050" dirty="0">
                <a:latin typeface="+mj-lt"/>
              </a:rPr>
              <a:t>Transition states/roadmap and plan</a:t>
            </a:r>
          </a:p>
          <a:p>
            <a:pPr marL="171450" indent="-171450">
              <a:buFont typeface="Arial" panose="020B0604020202020204" pitchFamily="34" charset="0"/>
              <a:buChar char="•"/>
              <a:defRPr/>
            </a:pPr>
            <a:r>
              <a:rPr lang="en-US" sz="1050" dirty="0">
                <a:latin typeface="+mj-lt"/>
              </a:rPr>
              <a:t>ERP disentanglement strategy</a:t>
            </a:r>
          </a:p>
          <a:p>
            <a:pPr marL="171450" indent="-171450">
              <a:buFont typeface="Arial" panose="020B0604020202020204" pitchFamily="34" charset="0"/>
              <a:buChar char="•"/>
              <a:defRPr/>
            </a:pPr>
            <a:r>
              <a:rPr lang="en-US" sz="1050" dirty="0">
                <a:latin typeface="+mj-lt"/>
              </a:rPr>
              <a:t>Integration Plan</a:t>
            </a:r>
          </a:p>
          <a:p>
            <a:pPr marL="171450" indent="-171450">
              <a:buFont typeface="Arial" panose="020B0604020202020204" pitchFamily="34" charset="0"/>
              <a:buChar char="•"/>
              <a:defRPr/>
            </a:pPr>
            <a:r>
              <a:rPr lang="en-US" sz="1050" dirty="0">
                <a:latin typeface="+mj-lt"/>
              </a:rPr>
              <a:t>Infrastructure Migration Plan </a:t>
            </a:r>
          </a:p>
          <a:p>
            <a:pPr marL="171450" marR="0" lvl="0" indent="-171450" algn="l" defTabSz="914400" rtl="0" eaLnBrk="1" fontAlgn="auto" latinLnBrk="0" hangingPunct="1">
              <a:spcBef>
                <a:spcPts val="0"/>
              </a:spcBef>
              <a:spcAft>
                <a:spcPts val="0"/>
              </a:spcAft>
              <a:buClrTx/>
              <a:buSzTx/>
              <a:buFont typeface="Arial" panose="020B0604020202020204" pitchFamily="34" charset="0"/>
              <a:buChar char="•"/>
              <a:tabLst/>
              <a:defRPr/>
            </a:pPr>
            <a:r>
              <a:rPr lang="en-US" sz="1050" dirty="0">
                <a:latin typeface="+mj-lt"/>
              </a:rPr>
              <a:t>Strategy</a:t>
            </a:r>
            <a:r>
              <a:rPr kumimoji="0" lang="en-US" sz="1050" i="0" u="none" strike="noStrike" kern="1200" cap="none" spc="0" normalizeH="0" baseline="0" noProof="0" dirty="0">
                <a:ln>
                  <a:noFill/>
                </a:ln>
                <a:effectLst/>
                <a:uLnTx/>
                <a:uFillTx/>
                <a:latin typeface="+mj-lt"/>
              </a:rPr>
              <a:t> for merging digital engagement channels</a:t>
            </a:r>
            <a:endParaRPr lang="en-US" sz="1050" i="0" u="none" strike="noStrike" kern="1200" cap="none" spc="0" normalizeH="0" baseline="0" noProof="0" dirty="0">
              <a:ln>
                <a:noFill/>
              </a:ln>
              <a:effectLst/>
              <a:uLnTx/>
              <a:uFillTx/>
              <a:latin typeface="+mj-lt"/>
            </a:endParaRPr>
          </a:p>
          <a:p>
            <a:pPr marL="171450" indent="-171450">
              <a:buFont typeface="Arial" panose="020B0604020202020204" pitchFamily="34" charset="0"/>
              <a:buChar char="•"/>
              <a:defRPr/>
            </a:pPr>
            <a:r>
              <a:rPr lang="en-US" sz="1050" dirty="0">
                <a:latin typeface="+mj-lt"/>
              </a:rPr>
              <a:t>Customer Migration strategy, Risk</a:t>
            </a:r>
            <a:r>
              <a:rPr kumimoji="0" lang="en-US" sz="1050" i="0" u="none" strike="noStrike" kern="1200" cap="none" spc="0" normalizeH="0" baseline="0" noProof="0" dirty="0">
                <a:ln>
                  <a:noFill/>
                </a:ln>
                <a:effectLst/>
                <a:uLnTx/>
                <a:uFillTx/>
                <a:latin typeface="+mj-lt"/>
              </a:rPr>
              <a:t> register and mitigation options.</a:t>
            </a:r>
            <a:endParaRPr lang="en-GB" sz="1050" i="0" u="none" strike="noStrike" kern="1200" cap="none" spc="0" normalizeH="0" baseline="0" noProof="0" dirty="0">
              <a:ln>
                <a:noFill/>
              </a:ln>
              <a:effectLst/>
              <a:uLnTx/>
              <a:uFillTx/>
              <a:latin typeface="+mj-lt"/>
            </a:endParaRPr>
          </a:p>
        </p:txBody>
      </p:sp>
      <p:grpSp>
        <p:nvGrpSpPr>
          <p:cNvPr id="15" name="Groupe 1">
            <a:extLst>
              <a:ext uri="{FF2B5EF4-FFF2-40B4-BE49-F238E27FC236}">
                <a16:creationId xmlns:a16="http://schemas.microsoft.com/office/drawing/2014/main" id="{A5A879C8-C2F6-86A0-787C-A187EA726AB7}"/>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16" name="Freeform 13">
              <a:extLst>
                <a:ext uri="{FF2B5EF4-FFF2-40B4-BE49-F238E27FC236}">
                  <a16:creationId xmlns:a16="http://schemas.microsoft.com/office/drawing/2014/main" id="{F61525CB-1499-3DE6-B2A4-3D0CC48232E2}"/>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17" name="Freeform 14">
              <a:extLst>
                <a:ext uri="{FF2B5EF4-FFF2-40B4-BE49-F238E27FC236}">
                  <a16:creationId xmlns:a16="http://schemas.microsoft.com/office/drawing/2014/main" id="{C0560245-75AD-082D-C8D9-A511CA5D7DE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3" name="Foliennummernplatzhalter 5">
            <a:extLst>
              <a:ext uri="{FF2B5EF4-FFF2-40B4-BE49-F238E27FC236}">
                <a16:creationId xmlns:a16="http://schemas.microsoft.com/office/drawing/2014/main" id="{3C4E509B-F0E7-3660-3F5E-8C06F682EFD7}"/>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11</a:t>
            </a:fld>
            <a:endParaRPr lang="en-US"/>
          </a:p>
        </p:txBody>
      </p:sp>
      <p:sp>
        <p:nvSpPr>
          <p:cNvPr id="13" name="Rectangle 27">
            <a:extLst>
              <a:ext uri="{FF2B5EF4-FFF2-40B4-BE49-F238E27FC236}">
                <a16:creationId xmlns:a16="http://schemas.microsoft.com/office/drawing/2014/main" id="{D344FADD-68B7-EA27-BB17-1B021E8618ED}"/>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grpSp>
        <p:nvGrpSpPr>
          <p:cNvPr id="26" name="Group 25">
            <a:extLst>
              <a:ext uri="{FF2B5EF4-FFF2-40B4-BE49-F238E27FC236}">
                <a16:creationId xmlns:a16="http://schemas.microsoft.com/office/drawing/2014/main" id="{F917A724-0742-5351-3B84-7D8C154E1C62}"/>
              </a:ext>
            </a:extLst>
          </p:cNvPr>
          <p:cNvGrpSpPr/>
          <p:nvPr/>
        </p:nvGrpSpPr>
        <p:grpSpPr>
          <a:xfrm>
            <a:off x="-654269" y="1940363"/>
            <a:ext cx="5552746" cy="3679417"/>
            <a:chOff x="-762000" y="1586209"/>
            <a:chExt cx="5383020" cy="3566951"/>
          </a:xfrm>
        </p:grpSpPr>
        <p:grpSp>
          <p:nvGrpSpPr>
            <p:cNvPr id="6" name="Group 5">
              <a:extLst>
                <a:ext uri="{FF2B5EF4-FFF2-40B4-BE49-F238E27FC236}">
                  <a16:creationId xmlns:a16="http://schemas.microsoft.com/office/drawing/2014/main" id="{CF2F310E-71E0-98EA-8473-0E2699544511}"/>
                </a:ext>
              </a:extLst>
            </p:cNvPr>
            <p:cNvGrpSpPr/>
            <p:nvPr/>
          </p:nvGrpSpPr>
          <p:grpSpPr>
            <a:xfrm>
              <a:off x="-762000" y="1586209"/>
              <a:ext cx="5383020" cy="3566951"/>
              <a:chOff x="-5196377" y="1073931"/>
              <a:chExt cx="7416824" cy="4914611"/>
            </a:xfrm>
          </p:grpSpPr>
          <p:graphicFrame>
            <p:nvGraphicFramePr>
              <p:cNvPr id="7" name="Diagram 6">
                <a:extLst>
                  <a:ext uri="{FF2B5EF4-FFF2-40B4-BE49-F238E27FC236}">
                    <a16:creationId xmlns:a16="http://schemas.microsoft.com/office/drawing/2014/main" id="{0B044C13-D5CA-4580-87C5-10054B74748A}"/>
                  </a:ext>
                </a:extLst>
              </p:cNvPr>
              <p:cNvGraphicFramePr/>
              <p:nvPr>
                <p:extLst>
                  <p:ext uri="{D42A27DB-BD31-4B8C-83A1-F6EECF244321}">
                    <p14:modId xmlns:p14="http://schemas.microsoft.com/office/powerpoint/2010/main" val="1367476779"/>
                  </p:ext>
                </p:extLst>
              </p:nvPr>
            </p:nvGraphicFramePr>
            <p:xfrm>
              <a:off x="-5196377" y="1073931"/>
              <a:ext cx="7416824" cy="49146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Oval 9">
                <a:extLst>
                  <a:ext uri="{FF2B5EF4-FFF2-40B4-BE49-F238E27FC236}">
                    <a16:creationId xmlns:a16="http://schemas.microsoft.com/office/drawing/2014/main" id="{85EB5AE3-15E8-2716-87D9-A114CCECEBAE}"/>
                  </a:ext>
                </a:extLst>
              </p:cNvPr>
              <p:cNvSpPr/>
              <p:nvPr/>
            </p:nvSpPr>
            <p:spPr bwMode="gray">
              <a:xfrm>
                <a:off x="-2316057" y="2900522"/>
                <a:ext cx="1656184" cy="1584176"/>
              </a:xfrm>
              <a:prstGeom prst="ellipse">
                <a:avLst/>
              </a:prstGeom>
              <a:solidFill>
                <a:schemeClr val="accent1">
                  <a:lumMod val="50000"/>
                </a:schemeClr>
              </a:solidFill>
              <a:ln w="12700" cap="flat" cmpd="sng" algn="ctr">
                <a:noFill/>
                <a:prstDash val="solid"/>
                <a:miter lim="800000"/>
              </a:ln>
              <a:effectLst>
                <a:outerShdw blurRad="50800" dist="38100" dir="5400000" algn="t" rotWithShape="0">
                  <a:prstClr val="black">
                    <a:alpha val="40000"/>
                  </a:prstClr>
                </a:outerShdw>
              </a:effectLst>
            </p:spPr>
            <p:txBody>
              <a:bodyPr lIns="0" tIns="0" rIns="0" bIns="0" rtlCol="0" anchor="ctr"/>
              <a:lstStyle/>
              <a:p>
                <a:pPr algn="ctr" defTabSz="609585">
                  <a:spcAft>
                    <a:spcPts val="1200"/>
                  </a:spcAft>
                  <a:buClr>
                    <a:srgbClr val="0070AD"/>
                  </a:buClr>
                </a:pPr>
                <a:r>
                  <a:rPr lang="en-GB" sz="1400" b="1" kern="0" dirty="0" err="1">
                    <a:solidFill>
                      <a:schemeClr val="bg1"/>
                    </a:solidFill>
                    <a:latin typeface="+mj-lt"/>
                  </a:rPr>
                  <a:t>NewCo</a:t>
                </a:r>
                <a:r>
                  <a:rPr lang="en-GB" sz="1400" b="1" kern="0" dirty="0">
                    <a:solidFill>
                      <a:schemeClr val="bg1"/>
                    </a:solidFill>
                    <a:latin typeface="+mj-lt"/>
                  </a:rPr>
                  <a:t> </a:t>
                </a:r>
                <a:br>
                  <a:rPr lang="en-GB" sz="1400" b="1" kern="0" dirty="0">
                    <a:solidFill>
                      <a:schemeClr val="bg1"/>
                    </a:solidFill>
                    <a:latin typeface="+mj-lt"/>
                  </a:rPr>
                </a:br>
                <a:r>
                  <a:rPr lang="en-GB" sz="1400" b="1" kern="0" dirty="0">
                    <a:solidFill>
                      <a:schemeClr val="bg1"/>
                    </a:solidFill>
                    <a:latin typeface="+mj-lt"/>
                  </a:rPr>
                  <a:t>IT </a:t>
                </a:r>
                <a:r>
                  <a:rPr lang="en-GB" sz="1200" b="1" kern="0" dirty="0">
                    <a:solidFill>
                      <a:schemeClr val="bg1"/>
                    </a:solidFill>
                    <a:latin typeface="+mj-lt"/>
                  </a:rPr>
                  <a:t>Design</a:t>
                </a:r>
                <a:r>
                  <a:rPr lang="en-GB" sz="1400" b="1" kern="0" dirty="0">
                    <a:solidFill>
                      <a:schemeClr val="bg1"/>
                    </a:solidFill>
                    <a:latin typeface="+mj-lt"/>
                  </a:rPr>
                  <a:t> Authority</a:t>
                </a:r>
              </a:p>
            </p:txBody>
          </p:sp>
        </p:grpSp>
        <p:grpSp>
          <p:nvGrpSpPr>
            <p:cNvPr id="25" name="Group 24">
              <a:extLst>
                <a:ext uri="{FF2B5EF4-FFF2-40B4-BE49-F238E27FC236}">
                  <a16:creationId xmlns:a16="http://schemas.microsoft.com/office/drawing/2014/main" id="{B616241A-9B3E-55B7-100F-A7F218302847}"/>
                </a:ext>
              </a:extLst>
            </p:cNvPr>
            <p:cNvGrpSpPr/>
            <p:nvPr/>
          </p:nvGrpSpPr>
          <p:grpSpPr>
            <a:xfrm>
              <a:off x="190352" y="1596369"/>
              <a:ext cx="3005039" cy="2754270"/>
              <a:chOff x="190352" y="1596369"/>
              <a:chExt cx="3005039" cy="2754270"/>
            </a:xfrm>
          </p:grpSpPr>
          <p:sp>
            <p:nvSpPr>
              <p:cNvPr id="18" name="Oval 17">
                <a:extLst>
                  <a:ext uri="{FF2B5EF4-FFF2-40B4-BE49-F238E27FC236}">
                    <a16:creationId xmlns:a16="http://schemas.microsoft.com/office/drawing/2014/main" id="{937B55DA-135C-DE73-7B3F-16A1BD2B4923}"/>
                  </a:ext>
                </a:extLst>
              </p:cNvPr>
              <p:cNvSpPr/>
              <p:nvPr/>
            </p:nvSpPr>
            <p:spPr>
              <a:xfrm>
                <a:off x="1539464" y="1596369"/>
                <a:ext cx="288947" cy="288947"/>
              </a:xfrm>
              <a:prstGeom prst="ellipse">
                <a:avLst/>
              </a:prstGeom>
              <a:solidFill>
                <a:schemeClr val="accent3"/>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200" b="1" kern="0" dirty="0">
                    <a:solidFill>
                      <a:schemeClr val="bg1"/>
                    </a:solidFill>
                    <a:latin typeface="+mj-lt"/>
                    <a:sym typeface="Arial"/>
                  </a:rPr>
                  <a:t>1</a:t>
                </a:r>
              </a:p>
            </p:txBody>
          </p:sp>
          <p:sp>
            <p:nvSpPr>
              <p:cNvPr id="19" name="Oval 18">
                <a:extLst>
                  <a:ext uri="{FF2B5EF4-FFF2-40B4-BE49-F238E27FC236}">
                    <a16:creationId xmlns:a16="http://schemas.microsoft.com/office/drawing/2014/main" id="{ABC3C41D-F06D-87A3-F4F8-45C5FE60C6A6}"/>
                  </a:ext>
                </a:extLst>
              </p:cNvPr>
              <p:cNvSpPr/>
              <p:nvPr/>
            </p:nvSpPr>
            <p:spPr>
              <a:xfrm>
                <a:off x="2906444" y="2503604"/>
                <a:ext cx="288947" cy="288947"/>
              </a:xfrm>
              <a:prstGeom prst="ellipse">
                <a:avLst/>
              </a:prstGeom>
              <a:solidFill>
                <a:schemeClr val="accent3"/>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200" b="1" kern="0" dirty="0">
                    <a:solidFill>
                      <a:schemeClr val="bg1"/>
                    </a:solidFill>
                    <a:latin typeface="+mj-lt"/>
                    <a:sym typeface="Arial"/>
                  </a:rPr>
                  <a:t>2</a:t>
                </a:r>
              </a:p>
            </p:txBody>
          </p:sp>
          <p:sp>
            <p:nvSpPr>
              <p:cNvPr id="22" name="Oval 21">
                <a:extLst>
                  <a:ext uri="{FF2B5EF4-FFF2-40B4-BE49-F238E27FC236}">
                    <a16:creationId xmlns:a16="http://schemas.microsoft.com/office/drawing/2014/main" id="{68BA60D3-312C-A803-1500-7E6346966BF2}"/>
                  </a:ext>
                </a:extLst>
              </p:cNvPr>
              <p:cNvSpPr/>
              <p:nvPr/>
            </p:nvSpPr>
            <p:spPr>
              <a:xfrm>
                <a:off x="2310232" y="4061692"/>
                <a:ext cx="288947" cy="288947"/>
              </a:xfrm>
              <a:prstGeom prst="ellipse">
                <a:avLst/>
              </a:prstGeom>
              <a:solidFill>
                <a:schemeClr val="accent3"/>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200" b="1" kern="0" dirty="0">
                    <a:solidFill>
                      <a:schemeClr val="bg1"/>
                    </a:solidFill>
                    <a:latin typeface="+mj-lt"/>
                    <a:sym typeface="Arial"/>
                  </a:rPr>
                  <a:t>3</a:t>
                </a:r>
              </a:p>
            </p:txBody>
          </p:sp>
          <p:sp>
            <p:nvSpPr>
              <p:cNvPr id="23" name="Oval 22">
                <a:extLst>
                  <a:ext uri="{FF2B5EF4-FFF2-40B4-BE49-F238E27FC236}">
                    <a16:creationId xmlns:a16="http://schemas.microsoft.com/office/drawing/2014/main" id="{E4AB7E70-0DE9-3963-E332-D27C090E96ED}"/>
                  </a:ext>
                </a:extLst>
              </p:cNvPr>
              <p:cNvSpPr/>
              <p:nvPr/>
            </p:nvSpPr>
            <p:spPr>
              <a:xfrm>
                <a:off x="627268" y="4061692"/>
                <a:ext cx="288947" cy="288947"/>
              </a:xfrm>
              <a:prstGeom prst="ellipse">
                <a:avLst/>
              </a:prstGeom>
              <a:solidFill>
                <a:schemeClr val="accent3"/>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200" b="1" kern="0" dirty="0">
                    <a:solidFill>
                      <a:schemeClr val="bg1"/>
                    </a:solidFill>
                    <a:latin typeface="+mj-lt"/>
                    <a:sym typeface="Arial"/>
                  </a:rPr>
                  <a:t>4</a:t>
                </a:r>
              </a:p>
            </p:txBody>
          </p:sp>
          <p:sp>
            <p:nvSpPr>
              <p:cNvPr id="24" name="Oval 23">
                <a:extLst>
                  <a:ext uri="{FF2B5EF4-FFF2-40B4-BE49-F238E27FC236}">
                    <a16:creationId xmlns:a16="http://schemas.microsoft.com/office/drawing/2014/main" id="{0882DEFC-9039-39A4-87E0-EA9D78233C1E}"/>
                  </a:ext>
                </a:extLst>
              </p:cNvPr>
              <p:cNvSpPr/>
              <p:nvPr/>
            </p:nvSpPr>
            <p:spPr>
              <a:xfrm>
                <a:off x="190352" y="2503604"/>
                <a:ext cx="288947" cy="288947"/>
              </a:xfrm>
              <a:prstGeom prst="ellipse">
                <a:avLst/>
              </a:prstGeom>
              <a:solidFill>
                <a:schemeClr val="accent3"/>
              </a:solidFill>
              <a:ln w="952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Clr>
                    <a:srgbClr val="000000"/>
                  </a:buClr>
                  <a:buFont typeface="Arial"/>
                  <a:buNone/>
                  <a:defRPr/>
                </a:pPr>
                <a:r>
                  <a:rPr lang="en-US" sz="1200" b="1" kern="0" dirty="0">
                    <a:solidFill>
                      <a:schemeClr val="bg1"/>
                    </a:solidFill>
                    <a:latin typeface="+mj-lt"/>
                    <a:sym typeface="Arial"/>
                  </a:rPr>
                  <a:t>5</a:t>
                </a:r>
              </a:p>
            </p:txBody>
          </p:sp>
        </p:grpSp>
      </p:grpSp>
      <p:sp>
        <p:nvSpPr>
          <p:cNvPr id="31" name="TextBox 30">
            <a:extLst>
              <a:ext uri="{FF2B5EF4-FFF2-40B4-BE49-F238E27FC236}">
                <a16:creationId xmlns:a16="http://schemas.microsoft.com/office/drawing/2014/main" id="{446880AB-5F62-13F2-31BE-CF917E1440E5}"/>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extLst>
      <p:ext uri="{BB962C8B-B14F-4D97-AF65-F5344CB8AC3E}">
        <p14:creationId xmlns:p14="http://schemas.microsoft.com/office/powerpoint/2010/main" val="38841948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D17BC-F4D9-3B33-FC3C-67CF8F9F6EF3}"/>
            </a:ext>
          </a:extLst>
        </p:cNvPr>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FB9B7799-E7AB-A34A-478F-C385A91B396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14" name="think-cell data - do not delete" hidden="1">
                        <a:extLst>
                          <a:ext uri="{FF2B5EF4-FFF2-40B4-BE49-F238E27FC236}">
                            <a16:creationId xmlns:a16="http://schemas.microsoft.com/office/drawing/2014/main" id="{FB9B7799-E7AB-A34A-478F-C385A91B3963}"/>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7D0CADD-0702-FF34-878F-6201CA0DEC58}"/>
              </a:ext>
            </a:extLst>
          </p:cNvPr>
          <p:cNvSpPr>
            <a:spLocks noGrp="1"/>
          </p:cNvSpPr>
          <p:nvPr>
            <p:ph type="title"/>
            <p:custDataLst>
              <p:tags r:id="rId3"/>
            </p:custDataLst>
          </p:nvPr>
        </p:nvSpPr>
        <p:spPr>
          <a:xfrm>
            <a:off x="1407503" y="358414"/>
            <a:ext cx="10172240" cy="720000"/>
          </a:xfrm>
        </p:spPr>
        <p:txBody>
          <a:bodyPr vert="horz"/>
          <a:lstStyle/>
          <a:p>
            <a:r>
              <a:rPr lang="en-GB" sz="2400" kern="0" dirty="0">
                <a:solidFill>
                  <a:srgbClr val="000000"/>
                </a:solidFill>
              </a:rPr>
              <a:t>STREAM 4A | </a:t>
            </a:r>
            <a:r>
              <a:rPr lang="en-GB" kern="0" dirty="0">
                <a:solidFill>
                  <a:srgbClr val="000000"/>
                </a:solidFill>
              </a:rPr>
              <a:t>INTEGRATED</a:t>
            </a:r>
            <a:r>
              <a:rPr lang="en-GB" sz="2400" kern="0" dirty="0">
                <a:solidFill>
                  <a:srgbClr val="000000"/>
                </a:solidFill>
              </a:rPr>
              <a:t> ENTERPRISE ARCHITECTURE APPROACH</a:t>
            </a:r>
            <a:br>
              <a:rPr lang="en-GB" sz="2400" kern="0" dirty="0"/>
            </a:br>
            <a:r>
              <a:rPr lang="en-US" sz="1800" b="0" i="1" dirty="0"/>
              <a:t>Key topics to be addressed in this context to ensure a successful IT Architecture and transition </a:t>
            </a:r>
          </a:p>
        </p:txBody>
      </p:sp>
      <p:pic>
        <p:nvPicPr>
          <p:cNvPr id="804" name="Picture 803">
            <a:extLst>
              <a:ext uri="{FF2B5EF4-FFF2-40B4-BE49-F238E27FC236}">
                <a16:creationId xmlns:a16="http://schemas.microsoft.com/office/drawing/2014/main" id="{698CD976-BFBB-43EC-41B4-C81793B21E8C}"/>
              </a:ext>
            </a:extLst>
          </p:cNvPr>
          <p:cNvPicPr>
            <a:picLocks noChangeAspect="1"/>
          </p:cNvPicPr>
          <p:nvPr/>
        </p:nvPicPr>
        <p:blipFill>
          <a:blip r:embed="rId8"/>
          <a:stretch>
            <a:fillRect/>
          </a:stretch>
        </p:blipFill>
        <p:spPr>
          <a:xfrm>
            <a:off x="1696773" y="1915258"/>
            <a:ext cx="8798454" cy="4188532"/>
          </a:xfrm>
          <a:prstGeom prst="rect">
            <a:avLst/>
          </a:prstGeom>
        </p:spPr>
      </p:pic>
      <p:sp>
        <p:nvSpPr>
          <p:cNvPr id="805" name="Callout: Bent Line 804">
            <a:extLst>
              <a:ext uri="{FF2B5EF4-FFF2-40B4-BE49-F238E27FC236}">
                <a16:creationId xmlns:a16="http://schemas.microsoft.com/office/drawing/2014/main" id="{84A4D23F-F6A7-E80D-CE8B-A871449F5CAF}"/>
              </a:ext>
            </a:extLst>
          </p:cNvPr>
          <p:cNvSpPr/>
          <p:nvPr/>
        </p:nvSpPr>
        <p:spPr>
          <a:xfrm>
            <a:off x="79432" y="1280253"/>
            <a:ext cx="1457263" cy="489255"/>
          </a:xfrm>
          <a:prstGeom prst="borderCallout2">
            <a:avLst>
              <a:gd name="adj1" fmla="val 92063"/>
              <a:gd name="adj2" fmla="val 93882"/>
              <a:gd name="adj3" fmla="val 131499"/>
              <a:gd name="adj4" fmla="val 119005"/>
              <a:gd name="adj5" fmla="val 200284"/>
              <a:gd name="adj6" fmla="val 134350"/>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Decide the Channel (App, Web, Store,..) Strategy and schedule immediate actions</a:t>
            </a:r>
          </a:p>
        </p:txBody>
      </p:sp>
      <p:sp>
        <p:nvSpPr>
          <p:cNvPr id="806" name="Callout: Bent Line 805">
            <a:extLst>
              <a:ext uri="{FF2B5EF4-FFF2-40B4-BE49-F238E27FC236}">
                <a16:creationId xmlns:a16="http://schemas.microsoft.com/office/drawing/2014/main" id="{0FFBB600-6DF3-0703-50AD-7CF0C1EFE09E}"/>
              </a:ext>
            </a:extLst>
          </p:cNvPr>
          <p:cNvSpPr/>
          <p:nvPr/>
        </p:nvSpPr>
        <p:spPr>
          <a:xfrm>
            <a:off x="79432" y="2371853"/>
            <a:ext cx="1457260" cy="470263"/>
          </a:xfrm>
          <a:prstGeom prst="borderCallout2">
            <a:avLst>
              <a:gd name="adj1" fmla="val 72478"/>
              <a:gd name="adj2" fmla="val 92702"/>
              <a:gd name="adj3" fmla="val 92888"/>
              <a:gd name="adj4" fmla="val 106354"/>
              <a:gd name="adj5" fmla="val 238108"/>
              <a:gd name="adj6" fmla="val 130507"/>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Customer Experience coexistence on the 2 Portals or setup the foundation of a “newco” Branded Portal</a:t>
            </a:r>
          </a:p>
        </p:txBody>
      </p:sp>
      <p:sp>
        <p:nvSpPr>
          <p:cNvPr id="807" name="Callout: Bent Line 806">
            <a:extLst>
              <a:ext uri="{FF2B5EF4-FFF2-40B4-BE49-F238E27FC236}">
                <a16:creationId xmlns:a16="http://schemas.microsoft.com/office/drawing/2014/main" id="{5B62EC9E-C595-A671-61E4-A2EDA5BAC1E8}"/>
              </a:ext>
            </a:extLst>
          </p:cNvPr>
          <p:cNvSpPr/>
          <p:nvPr/>
        </p:nvSpPr>
        <p:spPr>
          <a:xfrm>
            <a:off x="79432" y="1826053"/>
            <a:ext cx="1457259" cy="489255"/>
          </a:xfrm>
          <a:prstGeom prst="borderCallout2">
            <a:avLst>
              <a:gd name="adj1" fmla="val 78904"/>
              <a:gd name="adj2" fmla="val 99965"/>
              <a:gd name="adj3" fmla="val 84707"/>
              <a:gd name="adj4" fmla="val 112744"/>
              <a:gd name="adj5" fmla="val 151830"/>
              <a:gd name="adj6" fmla="val 133339"/>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Contact </a:t>
            </a:r>
            <a:r>
              <a:rPr lang="en-GB" sz="800" err="1">
                <a:solidFill>
                  <a:schemeClr val="tx1"/>
                </a:solidFill>
              </a:rPr>
              <a:t>Center</a:t>
            </a:r>
            <a:r>
              <a:rPr lang="en-GB" sz="800">
                <a:solidFill>
                  <a:schemeClr val="tx1"/>
                </a:solidFill>
              </a:rPr>
              <a:t> enablement features of the </a:t>
            </a:r>
            <a:r>
              <a:rPr lang="en-GB" sz="800" err="1">
                <a:solidFill>
                  <a:schemeClr val="tx1"/>
                </a:solidFill>
              </a:rPr>
              <a:t>NewCo</a:t>
            </a:r>
            <a:r>
              <a:rPr lang="en-GB" sz="800">
                <a:solidFill>
                  <a:schemeClr val="tx1"/>
                </a:solidFill>
              </a:rPr>
              <a:t> Customer Service Operations policies</a:t>
            </a:r>
          </a:p>
        </p:txBody>
      </p:sp>
      <p:sp>
        <p:nvSpPr>
          <p:cNvPr id="808" name="Callout: Bent Line 807">
            <a:extLst>
              <a:ext uri="{FF2B5EF4-FFF2-40B4-BE49-F238E27FC236}">
                <a16:creationId xmlns:a16="http://schemas.microsoft.com/office/drawing/2014/main" id="{2FF3024B-1CE0-F51E-BD71-A1BE2DC5E22B}"/>
              </a:ext>
            </a:extLst>
          </p:cNvPr>
          <p:cNvSpPr/>
          <p:nvPr/>
        </p:nvSpPr>
        <p:spPr>
          <a:xfrm>
            <a:off x="79432" y="2898661"/>
            <a:ext cx="1457261" cy="569876"/>
          </a:xfrm>
          <a:prstGeom prst="borderCallout2">
            <a:avLst>
              <a:gd name="adj1" fmla="val 86724"/>
              <a:gd name="adj2" fmla="val 98149"/>
              <a:gd name="adj3" fmla="val 131102"/>
              <a:gd name="adj4" fmla="val 129497"/>
              <a:gd name="adj5" fmla="val 108513"/>
              <a:gd name="adj6" fmla="val 246370"/>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Rationalize a  common Product &amp; Offering Catalog view and unique CPQ approach and experience to the customer facing services</a:t>
            </a:r>
          </a:p>
        </p:txBody>
      </p:sp>
      <p:sp>
        <p:nvSpPr>
          <p:cNvPr id="809" name="Callout: Bent Line 808">
            <a:extLst>
              <a:ext uri="{FF2B5EF4-FFF2-40B4-BE49-F238E27FC236}">
                <a16:creationId xmlns:a16="http://schemas.microsoft.com/office/drawing/2014/main" id="{C8C774CD-5F28-487A-49A8-60E8C57E5FC1}"/>
              </a:ext>
            </a:extLst>
          </p:cNvPr>
          <p:cNvSpPr/>
          <p:nvPr/>
        </p:nvSpPr>
        <p:spPr>
          <a:xfrm>
            <a:off x="1711404" y="1267784"/>
            <a:ext cx="2638346" cy="501724"/>
          </a:xfrm>
          <a:prstGeom prst="borderCallout2">
            <a:avLst>
              <a:gd name="adj1" fmla="val 91382"/>
              <a:gd name="adj2" fmla="val 69133"/>
              <a:gd name="adj3" fmla="val 146787"/>
              <a:gd name="adj4" fmla="val 68338"/>
              <a:gd name="adj5" fmla="val 336066"/>
              <a:gd name="adj6" fmla="val 94564"/>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Define and Leverage the primary and enabling role of a common Intermediation Layer able to provide an early “One Platform” experience by also keeping transparently alive the 2 BSS/OSS Stack during the transition</a:t>
            </a:r>
          </a:p>
        </p:txBody>
      </p:sp>
      <p:sp>
        <p:nvSpPr>
          <p:cNvPr id="810" name="Callout: Bent Line 809">
            <a:extLst>
              <a:ext uri="{FF2B5EF4-FFF2-40B4-BE49-F238E27FC236}">
                <a16:creationId xmlns:a16="http://schemas.microsoft.com/office/drawing/2014/main" id="{F86BA984-376E-A95E-DB91-6417C9FB16D9}"/>
              </a:ext>
            </a:extLst>
          </p:cNvPr>
          <p:cNvSpPr/>
          <p:nvPr/>
        </p:nvSpPr>
        <p:spPr>
          <a:xfrm>
            <a:off x="4480004" y="1267783"/>
            <a:ext cx="1783636" cy="467884"/>
          </a:xfrm>
          <a:prstGeom prst="borderCallout2">
            <a:avLst>
              <a:gd name="adj1" fmla="val 94987"/>
              <a:gd name="adj2" fmla="val 28489"/>
              <a:gd name="adj3" fmla="val 160005"/>
              <a:gd name="adj4" fmla="val 34445"/>
              <a:gd name="adj5" fmla="val 477791"/>
              <a:gd name="adj6" fmla="val 6982"/>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Resolve the primary role between the 2 master CRM stacks</a:t>
            </a:r>
            <a:br>
              <a:rPr lang="en-GB" sz="800">
                <a:solidFill>
                  <a:schemeClr val="tx1"/>
                </a:solidFill>
              </a:rPr>
            </a:br>
            <a:r>
              <a:rPr lang="en-GB" sz="800">
                <a:solidFill>
                  <a:schemeClr val="tx1"/>
                </a:solidFill>
              </a:rPr>
              <a:t>for B2B and B2C</a:t>
            </a:r>
          </a:p>
        </p:txBody>
      </p:sp>
      <p:sp>
        <p:nvSpPr>
          <p:cNvPr id="811" name="Callout: Bent Line 810">
            <a:extLst>
              <a:ext uri="{FF2B5EF4-FFF2-40B4-BE49-F238E27FC236}">
                <a16:creationId xmlns:a16="http://schemas.microsoft.com/office/drawing/2014/main" id="{B6A2B1BD-D7ED-101B-FEFC-8A259BF4D279}"/>
              </a:ext>
            </a:extLst>
          </p:cNvPr>
          <p:cNvSpPr/>
          <p:nvPr/>
        </p:nvSpPr>
        <p:spPr>
          <a:xfrm>
            <a:off x="10512318" y="4986797"/>
            <a:ext cx="1600245" cy="642170"/>
          </a:xfrm>
          <a:prstGeom prst="borderCallout2">
            <a:avLst>
              <a:gd name="adj1" fmla="val 42231"/>
              <a:gd name="adj2" fmla="val -9360"/>
              <a:gd name="adj3" fmla="val 50075"/>
              <a:gd name="adj4" fmla="val -78004"/>
              <a:gd name="adj5" fmla="val 64928"/>
              <a:gd name="adj6" fmla="val -118298"/>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Accelerate the ERP Process Merge and Rationalization for the NewCo Legal </a:t>
            </a:r>
            <a:br>
              <a:rPr lang="en-GB" sz="800">
                <a:solidFill>
                  <a:schemeClr val="tx1"/>
                </a:solidFill>
              </a:rPr>
            </a:br>
            <a:r>
              <a:rPr lang="en-GB" sz="800">
                <a:solidFill>
                  <a:schemeClr val="tx1"/>
                </a:solidFill>
              </a:rPr>
              <a:t>Entity founded on </a:t>
            </a:r>
          </a:p>
        </p:txBody>
      </p:sp>
      <p:pic>
        <p:nvPicPr>
          <p:cNvPr id="812" name="Picture 811">
            <a:extLst>
              <a:ext uri="{FF2B5EF4-FFF2-40B4-BE49-F238E27FC236}">
                <a16:creationId xmlns:a16="http://schemas.microsoft.com/office/drawing/2014/main" id="{4669992B-C6BF-DBA6-BD41-B6088AE10E3D}"/>
              </a:ext>
            </a:extLst>
          </p:cNvPr>
          <p:cNvPicPr>
            <a:picLocks noChangeAspect="1"/>
          </p:cNvPicPr>
          <p:nvPr/>
        </p:nvPicPr>
        <p:blipFill rotWithShape="1">
          <a:blip r:embed="rId9" cstate="screen">
            <a:extLst>
              <a:ext uri="{28A0092B-C50C-407E-A947-70E740481C1C}">
                <a14:useLocalDpi xmlns:a14="http://schemas.microsoft.com/office/drawing/2010/main"/>
              </a:ext>
            </a:extLst>
          </a:blip>
          <a:srcRect l="-1"/>
          <a:stretch/>
        </p:blipFill>
        <p:spPr>
          <a:xfrm>
            <a:off x="5539780" y="1551827"/>
            <a:ext cx="368299" cy="109207"/>
          </a:xfrm>
          <a:prstGeom prst="roundRect">
            <a:avLst/>
          </a:prstGeom>
        </p:spPr>
      </p:pic>
      <p:pic>
        <p:nvPicPr>
          <p:cNvPr id="813" name="Picture 812">
            <a:extLst>
              <a:ext uri="{FF2B5EF4-FFF2-40B4-BE49-F238E27FC236}">
                <a16:creationId xmlns:a16="http://schemas.microsoft.com/office/drawing/2014/main" id="{B89450D9-F12D-7C66-F66E-D676EBA29FB5}"/>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1698201" y="5555441"/>
            <a:ext cx="477638" cy="235716"/>
          </a:xfrm>
          <a:prstGeom prst="rect">
            <a:avLst/>
          </a:prstGeom>
          <a:ln>
            <a:noFill/>
          </a:ln>
        </p:spPr>
      </p:pic>
      <p:pic>
        <p:nvPicPr>
          <p:cNvPr id="814" name="Google Shape;846;p1">
            <a:extLst>
              <a:ext uri="{FF2B5EF4-FFF2-40B4-BE49-F238E27FC236}">
                <a16:creationId xmlns:a16="http://schemas.microsoft.com/office/drawing/2014/main" id="{1FF686A9-55D9-7CB9-A403-DFAB70E68C65}"/>
              </a:ext>
            </a:extLst>
          </p:cNvPr>
          <p:cNvPicPr preferRelativeResize="0"/>
          <p:nvPr/>
        </p:nvPicPr>
        <p:blipFill>
          <a:blip r:embed="rId11" cstate="screen">
            <a:alphaModFix/>
            <a:extLst>
              <a:ext uri="{28A0092B-C50C-407E-A947-70E740481C1C}">
                <a14:useLocalDpi xmlns:a14="http://schemas.microsoft.com/office/drawing/2010/main"/>
              </a:ext>
            </a:extLst>
          </a:blip>
          <a:stretch>
            <a:fillRect/>
          </a:stretch>
        </p:blipFill>
        <p:spPr>
          <a:xfrm>
            <a:off x="5920058" y="1518646"/>
            <a:ext cx="343582" cy="175571"/>
          </a:xfrm>
          <a:prstGeom prst="rect">
            <a:avLst/>
          </a:prstGeom>
          <a:noFill/>
          <a:ln>
            <a:noFill/>
          </a:ln>
        </p:spPr>
      </p:pic>
      <p:sp>
        <p:nvSpPr>
          <p:cNvPr id="815" name="Callout: Bent Line 814">
            <a:extLst>
              <a:ext uri="{FF2B5EF4-FFF2-40B4-BE49-F238E27FC236}">
                <a16:creationId xmlns:a16="http://schemas.microsoft.com/office/drawing/2014/main" id="{1434A700-3E53-8103-1644-37CF9C127225}"/>
              </a:ext>
            </a:extLst>
          </p:cNvPr>
          <p:cNvSpPr/>
          <p:nvPr/>
        </p:nvSpPr>
        <p:spPr>
          <a:xfrm>
            <a:off x="6393894" y="1270763"/>
            <a:ext cx="1783636" cy="464903"/>
          </a:xfrm>
          <a:prstGeom prst="borderCallout2">
            <a:avLst>
              <a:gd name="adj1" fmla="val 94987"/>
              <a:gd name="adj2" fmla="val 28489"/>
              <a:gd name="adj3" fmla="val 184044"/>
              <a:gd name="adj4" fmla="val -58119"/>
              <a:gd name="adj5" fmla="val 434746"/>
              <a:gd name="adj6" fmla="val -82467"/>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Found the Wholesale BSS Stack starting from Fastweb current </a:t>
            </a:r>
            <a:br>
              <a:rPr lang="en-GB" sz="800">
                <a:solidFill>
                  <a:schemeClr val="tx1"/>
                </a:solidFill>
              </a:rPr>
            </a:br>
            <a:r>
              <a:rPr lang="en-GB" sz="800">
                <a:solidFill>
                  <a:schemeClr val="tx1"/>
                </a:solidFill>
              </a:rPr>
              <a:t>solution</a:t>
            </a:r>
          </a:p>
        </p:txBody>
      </p:sp>
      <p:pic>
        <p:nvPicPr>
          <p:cNvPr id="816" name="Google Shape;846;p1">
            <a:extLst>
              <a:ext uri="{FF2B5EF4-FFF2-40B4-BE49-F238E27FC236}">
                <a16:creationId xmlns:a16="http://schemas.microsoft.com/office/drawing/2014/main" id="{728585B0-4475-1A2D-EA55-EFC878F8E7EA}"/>
              </a:ext>
            </a:extLst>
          </p:cNvPr>
          <p:cNvPicPr preferRelativeResize="0"/>
          <p:nvPr/>
        </p:nvPicPr>
        <p:blipFill>
          <a:blip r:embed="rId12" cstate="screen">
            <a:alphaModFix/>
            <a:extLst>
              <a:ext uri="{28A0092B-C50C-407E-A947-70E740481C1C}">
                <a14:useLocalDpi xmlns:a14="http://schemas.microsoft.com/office/drawing/2010/main"/>
              </a:ext>
            </a:extLst>
          </a:blip>
          <a:stretch>
            <a:fillRect/>
          </a:stretch>
        </p:blipFill>
        <p:spPr>
          <a:xfrm>
            <a:off x="7759700" y="1545826"/>
            <a:ext cx="417830" cy="212786"/>
          </a:xfrm>
          <a:prstGeom prst="rect">
            <a:avLst/>
          </a:prstGeom>
          <a:noFill/>
          <a:ln>
            <a:noFill/>
          </a:ln>
        </p:spPr>
      </p:pic>
      <p:sp>
        <p:nvSpPr>
          <p:cNvPr id="817" name="Callout: Bent Line 816">
            <a:extLst>
              <a:ext uri="{FF2B5EF4-FFF2-40B4-BE49-F238E27FC236}">
                <a16:creationId xmlns:a16="http://schemas.microsoft.com/office/drawing/2014/main" id="{F4CC5A71-1C6F-8CEE-5D89-847EE408E6B9}"/>
              </a:ext>
            </a:extLst>
          </p:cNvPr>
          <p:cNvSpPr/>
          <p:nvPr/>
        </p:nvSpPr>
        <p:spPr>
          <a:xfrm>
            <a:off x="9651296" y="1244222"/>
            <a:ext cx="2428326" cy="525285"/>
          </a:xfrm>
          <a:prstGeom prst="borderCallout2">
            <a:avLst>
              <a:gd name="adj1" fmla="val 94987"/>
              <a:gd name="adj2" fmla="val 28489"/>
              <a:gd name="adj3" fmla="val 128044"/>
              <a:gd name="adj4" fmla="val 26602"/>
              <a:gd name="adj5" fmla="val 282503"/>
              <a:gd name="adj6" fmla="val -20397"/>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Define an immediate Data Management strategy to ensure a data-driven “glue” between the 2 business and operational stacks</a:t>
            </a:r>
            <a:r>
              <a:rPr lang="en-GB" sz="800" dirty="0">
                <a:solidFill>
                  <a:schemeClr val="tx1"/>
                </a:solidFill>
              </a:rPr>
              <a:t> even if starting from 2 different roadmap and </a:t>
            </a:r>
            <a:r>
              <a:rPr lang="en-GB" sz="800">
                <a:solidFill>
                  <a:schemeClr val="tx1"/>
                </a:solidFill>
              </a:rPr>
              <a:t>cloud stacks </a:t>
            </a:r>
            <a:endParaRPr lang="en-GB" sz="800" dirty="0">
              <a:solidFill>
                <a:schemeClr val="tx1"/>
              </a:solidFill>
            </a:endParaRPr>
          </a:p>
        </p:txBody>
      </p:sp>
      <p:sp>
        <p:nvSpPr>
          <p:cNvPr id="818" name="Callout: Bent Line 817">
            <a:extLst>
              <a:ext uri="{FF2B5EF4-FFF2-40B4-BE49-F238E27FC236}">
                <a16:creationId xmlns:a16="http://schemas.microsoft.com/office/drawing/2014/main" id="{8F953104-F568-F08F-7557-08768DAE3AF4}"/>
              </a:ext>
            </a:extLst>
          </p:cNvPr>
          <p:cNvSpPr/>
          <p:nvPr/>
        </p:nvSpPr>
        <p:spPr>
          <a:xfrm>
            <a:off x="79432" y="3525082"/>
            <a:ext cx="1457262" cy="613859"/>
          </a:xfrm>
          <a:prstGeom prst="borderCallout2">
            <a:avLst>
              <a:gd name="adj1" fmla="val 93676"/>
              <a:gd name="adj2" fmla="val 96188"/>
              <a:gd name="adj3" fmla="val 97967"/>
              <a:gd name="adj4" fmla="val 126011"/>
              <a:gd name="adj5" fmla="val 125871"/>
              <a:gd name="adj6" fmla="val 244504"/>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Design the Convergent Service &amp; Resource catalog paving the way to the template-drive management of the integrated NewCo’s network</a:t>
            </a:r>
          </a:p>
        </p:txBody>
      </p:sp>
      <p:sp>
        <p:nvSpPr>
          <p:cNvPr id="819" name="Callout: Bent Line 818">
            <a:extLst>
              <a:ext uri="{FF2B5EF4-FFF2-40B4-BE49-F238E27FC236}">
                <a16:creationId xmlns:a16="http://schemas.microsoft.com/office/drawing/2014/main" id="{F489F181-D64C-89C0-52EB-E50308FF757B}"/>
              </a:ext>
            </a:extLst>
          </p:cNvPr>
          <p:cNvSpPr/>
          <p:nvPr/>
        </p:nvSpPr>
        <p:spPr>
          <a:xfrm>
            <a:off x="79432" y="5394177"/>
            <a:ext cx="1457262" cy="959681"/>
          </a:xfrm>
          <a:prstGeom prst="borderCallout2">
            <a:avLst>
              <a:gd name="adj1" fmla="val 32644"/>
              <a:gd name="adj2" fmla="val 91831"/>
              <a:gd name="adj3" fmla="val -8782"/>
              <a:gd name="adj4" fmla="val 126708"/>
              <a:gd name="adj5" fmla="val -42936"/>
              <a:gd name="adj6" fmla="val 318321"/>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Design a “Federated” layer among the 2 N&amp;S inventories to uniform their model and provide a common end-to-end view on the entire network for management purposes</a:t>
            </a:r>
          </a:p>
        </p:txBody>
      </p:sp>
      <p:pic>
        <p:nvPicPr>
          <p:cNvPr id="820" name="Picture 819">
            <a:extLst>
              <a:ext uri="{FF2B5EF4-FFF2-40B4-BE49-F238E27FC236}">
                <a16:creationId xmlns:a16="http://schemas.microsoft.com/office/drawing/2014/main" id="{CD4AA826-11A9-B8CB-334D-5E8BBB3020C3}"/>
              </a:ext>
            </a:extLst>
          </p:cNvPr>
          <p:cNvPicPr>
            <a:picLocks noChangeAspect="1"/>
          </p:cNvPicPr>
          <p:nvPr/>
        </p:nvPicPr>
        <p:blipFill rotWithShape="1">
          <a:blip r:embed="rId13" cstate="screen">
            <a:extLst>
              <a:ext uri="{28A0092B-C50C-407E-A947-70E740481C1C}">
                <a14:useLocalDpi xmlns:a14="http://schemas.microsoft.com/office/drawing/2010/main"/>
              </a:ext>
            </a:extLst>
          </a:blip>
          <a:srcRect l="-1"/>
          <a:stretch/>
        </p:blipFill>
        <p:spPr>
          <a:xfrm>
            <a:off x="1460430" y="6160332"/>
            <a:ext cx="457269" cy="135588"/>
          </a:xfrm>
          <a:prstGeom prst="roundRect">
            <a:avLst/>
          </a:prstGeom>
        </p:spPr>
      </p:pic>
      <p:pic>
        <p:nvPicPr>
          <p:cNvPr id="821" name="Picture 820">
            <a:extLst>
              <a:ext uri="{FF2B5EF4-FFF2-40B4-BE49-F238E27FC236}">
                <a16:creationId xmlns:a16="http://schemas.microsoft.com/office/drawing/2014/main" id="{F80BF713-CEB4-9672-3C7D-0CFD92FBA58B}"/>
              </a:ext>
            </a:extLst>
          </p:cNvPr>
          <p:cNvPicPr>
            <a:picLocks noChangeAspect="1"/>
          </p:cNvPicPr>
          <p:nvPr/>
        </p:nvPicPr>
        <p:blipFill rotWithShape="1">
          <a:blip r:embed="rId14" cstate="screen">
            <a:extLst>
              <a:ext uri="{28A0092B-C50C-407E-A947-70E740481C1C}">
                <a14:useLocalDpi xmlns:a14="http://schemas.microsoft.com/office/drawing/2010/main"/>
              </a:ext>
            </a:extLst>
          </a:blip>
          <a:srcRect/>
          <a:stretch/>
        </p:blipFill>
        <p:spPr>
          <a:xfrm>
            <a:off x="916777" y="6161024"/>
            <a:ext cx="495564" cy="161971"/>
          </a:xfrm>
          <a:prstGeom prst="roundRect">
            <a:avLst/>
          </a:prstGeom>
        </p:spPr>
      </p:pic>
      <p:sp>
        <p:nvSpPr>
          <p:cNvPr id="822" name="Callout: Bent Line 821">
            <a:extLst>
              <a:ext uri="{FF2B5EF4-FFF2-40B4-BE49-F238E27FC236}">
                <a16:creationId xmlns:a16="http://schemas.microsoft.com/office/drawing/2014/main" id="{8398D554-E6B0-C643-A98D-90D89F72FC13}"/>
              </a:ext>
            </a:extLst>
          </p:cNvPr>
          <p:cNvSpPr/>
          <p:nvPr/>
        </p:nvSpPr>
        <p:spPr>
          <a:xfrm>
            <a:off x="79432" y="6410400"/>
            <a:ext cx="1457262" cy="393848"/>
          </a:xfrm>
          <a:prstGeom prst="borderCallout2">
            <a:avLst>
              <a:gd name="adj1" fmla="val 32644"/>
              <a:gd name="adj2" fmla="val 91831"/>
              <a:gd name="adj3" fmla="val 54859"/>
              <a:gd name="adj4" fmla="val 115553"/>
              <a:gd name="adj5" fmla="val -226956"/>
              <a:gd name="adj6" fmla="val 173507"/>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Focus on a common approach to Identity Management</a:t>
            </a:r>
          </a:p>
        </p:txBody>
      </p:sp>
      <p:sp>
        <p:nvSpPr>
          <p:cNvPr id="823" name="Callout: Bent Line 822">
            <a:extLst>
              <a:ext uri="{FF2B5EF4-FFF2-40B4-BE49-F238E27FC236}">
                <a16:creationId xmlns:a16="http://schemas.microsoft.com/office/drawing/2014/main" id="{4EC4777F-01D3-1881-9C66-7E53BD6E2DD9}"/>
              </a:ext>
            </a:extLst>
          </p:cNvPr>
          <p:cNvSpPr/>
          <p:nvPr/>
        </p:nvSpPr>
        <p:spPr>
          <a:xfrm>
            <a:off x="10512318" y="4412059"/>
            <a:ext cx="1600245" cy="500877"/>
          </a:xfrm>
          <a:prstGeom prst="borderCallout2">
            <a:avLst>
              <a:gd name="adj1" fmla="val 52252"/>
              <a:gd name="adj2" fmla="val 1490"/>
              <a:gd name="adj3" fmla="val 45065"/>
              <a:gd name="adj4" fmla="val -76090"/>
              <a:gd name="adj5" fmla="val 46481"/>
              <a:gd name="adj6" fmla="val -130014"/>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Assess Fraud Management and Revenue Assurance stacks to accelerate the adoption of a common RA/FM stack</a:t>
            </a:r>
          </a:p>
        </p:txBody>
      </p:sp>
      <p:sp>
        <p:nvSpPr>
          <p:cNvPr id="824" name="Callout: Bent Line 823">
            <a:extLst>
              <a:ext uri="{FF2B5EF4-FFF2-40B4-BE49-F238E27FC236}">
                <a16:creationId xmlns:a16="http://schemas.microsoft.com/office/drawing/2014/main" id="{DF369E5F-E4C0-69A4-1418-EF730F4651D4}"/>
              </a:ext>
            </a:extLst>
          </p:cNvPr>
          <p:cNvSpPr/>
          <p:nvPr/>
        </p:nvSpPr>
        <p:spPr>
          <a:xfrm>
            <a:off x="10512318" y="2720247"/>
            <a:ext cx="1600245" cy="642170"/>
          </a:xfrm>
          <a:prstGeom prst="borderCallout2">
            <a:avLst>
              <a:gd name="adj1" fmla="val 52252"/>
              <a:gd name="adj2" fmla="val 1490"/>
              <a:gd name="adj3" fmla="val 81981"/>
              <a:gd name="adj4" fmla="val -7520"/>
              <a:gd name="adj5" fmla="val 147725"/>
              <a:gd name="adj6" fmla="val -22556"/>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Decide for a common set of Smart Analytics Technologies to provide both OSS and  BSS BI Frameworks</a:t>
            </a:r>
          </a:p>
        </p:txBody>
      </p:sp>
      <p:sp>
        <p:nvSpPr>
          <p:cNvPr id="825" name="Callout: Bent Line 824">
            <a:extLst>
              <a:ext uri="{FF2B5EF4-FFF2-40B4-BE49-F238E27FC236}">
                <a16:creationId xmlns:a16="http://schemas.microsoft.com/office/drawing/2014/main" id="{4A5BBEEB-784E-17D1-E052-18F10C05F0CB}"/>
              </a:ext>
            </a:extLst>
          </p:cNvPr>
          <p:cNvSpPr/>
          <p:nvPr/>
        </p:nvSpPr>
        <p:spPr>
          <a:xfrm>
            <a:off x="8253146" y="1267783"/>
            <a:ext cx="1322533" cy="494288"/>
          </a:xfrm>
          <a:prstGeom prst="borderCallout2">
            <a:avLst>
              <a:gd name="adj1" fmla="val 78621"/>
              <a:gd name="adj2" fmla="val 2548"/>
              <a:gd name="adj3" fmla="val 78026"/>
              <a:gd name="adj4" fmla="val -9954"/>
              <a:gd name="adj5" fmla="val 261445"/>
              <a:gd name="adj6" fmla="val -203854"/>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dirty="0">
                <a:solidFill>
                  <a:schemeClr val="tx1"/>
                </a:solidFill>
              </a:rPr>
              <a:t>Integrate the Customer within a common Customer Inventory with related Service base</a:t>
            </a:r>
          </a:p>
        </p:txBody>
      </p:sp>
      <p:sp>
        <p:nvSpPr>
          <p:cNvPr id="826" name="Callout: Bent Line 825">
            <a:extLst>
              <a:ext uri="{FF2B5EF4-FFF2-40B4-BE49-F238E27FC236}">
                <a16:creationId xmlns:a16="http://schemas.microsoft.com/office/drawing/2014/main" id="{8ECB768C-4C75-798A-65A9-DBD019369219}"/>
              </a:ext>
            </a:extLst>
          </p:cNvPr>
          <p:cNvSpPr/>
          <p:nvPr/>
        </p:nvSpPr>
        <p:spPr>
          <a:xfrm>
            <a:off x="10512318" y="3427810"/>
            <a:ext cx="1600245" cy="918856"/>
          </a:xfrm>
          <a:prstGeom prst="borderCallout2">
            <a:avLst>
              <a:gd name="adj1" fmla="val 52252"/>
              <a:gd name="adj2" fmla="val 1490"/>
              <a:gd name="adj3" fmla="val 72076"/>
              <a:gd name="adj4" fmla="val -16330"/>
              <a:gd name="adj5" fmla="val 75253"/>
              <a:gd name="adj6" fmla="val -224415"/>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Assess the overall Assurance stack for both B2C and B2B with a strong focus on decommissioning non-mission critical legacy systems and analyze the NewCo role of the main technologies such as</a:t>
            </a:r>
          </a:p>
        </p:txBody>
      </p:sp>
      <p:pic>
        <p:nvPicPr>
          <p:cNvPr id="827" name="Picture 826">
            <a:extLst>
              <a:ext uri="{FF2B5EF4-FFF2-40B4-BE49-F238E27FC236}">
                <a16:creationId xmlns:a16="http://schemas.microsoft.com/office/drawing/2014/main" id="{2CF494C6-2625-704F-D7A7-E2AC04E0B4DF}"/>
              </a:ext>
            </a:extLst>
          </p:cNvPr>
          <p:cNvPicPr>
            <a:picLocks noChangeAspect="1"/>
          </p:cNvPicPr>
          <p:nvPr/>
        </p:nvPicPr>
        <p:blipFill rotWithShape="1">
          <a:blip r:embed="rId15" cstate="screen">
            <a:extLst>
              <a:ext uri="{28A0092B-C50C-407E-A947-70E740481C1C}">
                <a14:useLocalDpi xmlns:a14="http://schemas.microsoft.com/office/drawing/2010/main"/>
              </a:ext>
            </a:extLst>
          </a:blip>
          <a:srcRect/>
          <a:stretch/>
        </p:blipFill>
        <p:spPr>
          <a:xfrm>
            <a:off x="10975418" y="4238900"/>
            <a:ext cx="589304" cy="119814"/>
          </a:xfrm>
          <a:prstGeom prst="roundRect">
            <a:avLst/>
          </a:prstGeom>
        </p:spPr>
      </p:pic>
      <p:sp>
        <p:nvSpPr>
          <p:cNvPr id="829" name="Callout: Bent Line 828">
            <a:extLst>
              <a:ext uri="{FF2B5EF4-FFF2-40B4-BE49-F238E27FC236}">
                <a16:creationId xmlns:a16="http://schemas.microsoft.com/office/drawing/2014/main" id="{6614FD2F-C621-F9ED-B76C-638E553FF9EE}"/>
              </a:ext>
            </a:extLst>
          </p:cNvPr>
          <p:cNvSpPr/>
          <p:nvPr/>
        </p:nvSpPr>
        <p:spPr>
          <a:xfrm>
            <a:off x="10525699" y="1949740"/>
            <a:ext cx="1600245" cy="705114"/>
          </a:xfrm>
          <a:prstGeom prst="borderCallout2">
            <a:avLst>
              <a:gd name="adj1" fmla="val 52252"/>
              <a:gd name="adj2" fmla="val 1490"/>
              <a:gd name="adj3" fmla="val 81981"/>
              <a:gd name="adj4" fmla="val -7520"/>
              <a:gd name="adj5" fmla="val 83835"/>
              <a:gd name="adj6" fmla="val -22238"/>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800">
                <a:solidFill>
                  <a:schemeClr val="tx1"/>
                </a:solidFill>
              </a:rPr>
              <a:t>Collect and classify all Intelligent Automation services and assets (AI / ML etc) that can be used or are already used by the different architectural layers and related domains</a:t>
            </a:r>
            <a:endParaRPr lang="en-GB" sz="800">
              <a:solidFill>
                <a:schemeClr val="tx1"/>
              </a:solidFill>
            </a:endParaRPr>
          </a:p>
        </p:txBody>
      </p:sp>
      <p:sp>
        <p:nvSpPr>
          <p:cNvPr id="831" name="Rectangle 49">
            <a:extLst>
              <a:ext uri="{FF2B5EF4-FFF2-40B4-BE49-F238E27FC236}">
                <a16:creationId xmlns:a16="http://schemas.microsoft.com/office/drawing/2014/main" id="{8A31CE0F-FFE4-D0AB-A18B-D07493076E6B}"/>
              </a:ext>
            </a:extLst>
          </p:cNvPr>
          <p:cNvSpPr/>
          <p:nvPr/>
        </p:nvSpPr>
        <p:spPr>
          <a:xfrm>
            <a:off x="3441701" y="6130257"/>
            <a:ext cx="6832600" cy="640959"/>
          </a:xfrm>
          <a:prstGeom prst="borderCallout2">
            <a:avLst>
              <a:gd name="adj1" fmla="val -213"/>
              <a:gd name="adj2" fmla="val 43873"/>
              <a:gd name="adj3" fmla="val -52075"/>
              <a:gd name="adj4" fmla="val 40834"/>
              <a:gd name="adj5" fmla="val -81261"/>
              <a:gd name="adj6" fmla="val 33168"/>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800">
                <a:solidFill>
                  <a:schemeClr val="tx1"/>
                </a:solidFill>
              </a:rPr>
              <a:t>Thanks to Capgemini Engineering Global Business Lines SMEs, key components of the proposed organization model, we will have a clear view on the current Vodafone and </a:t>
            </a:r>
            <a:r>
              <a:rPr lang="en-US" sz="800" dirty="0" err="1">
                <a:solidFill>
                  <a:schemeClr val="tx1"/>
                </a:solidFill>
              </a:rPr>
              <a:t>Fastweb</a:t>
            </a:r>
            <a:r>
              <a:rPr lang="en-US" sz="800">
                <a:solidFill>
                  <a:schemeClr val="tx1"/>
                </a:solidFill>
              </a:rPr>
              <a:t> network strategy and deployment programs </a:t>
            </a:r>
            <a:r>
              <a:rPr lang="en-US" sz="800" dirty="0">
                <a:solidFill>
                  <a:schemeClr val="tx1"/>
                </a:solidFill>
              </a:rPr>
              <a:t>ensuring success in key operations as:</a:t>
            </a:r>
          </a:p>
          <a:p>
            <a:pPr marL="171450" indent="-171450">
              <a:buFont typeface="Arial" panose="020B0604020202020204" pitchFamily="34" charset="0"/>
              <a:buChar char="•"/>
            </a:pPr>
            <a:r>
              <a:rPr lang="en-US" sz="800">
                <a:solidFill>
                  <a:schemeClr val="tx1"/>
                </a:solidFill>
              </a:rPr>
              <a:t>OSS convergence and </a:t>
            </a:r>
            <a:r>
              <a:rPr lang="en-US" sz="800" dirty="0">
                <a:solidFill>
                  <a:schemeClr val="tx1"/>
                </a:solidFill>
              </a:rPr>
              <a:t>evolution towards future-proof model </a:t>
            </a:r>
            <a:r>
              <a:rPr lang="en-US" sz="800">
                <a:solidFill>
                  <a:schemeClr val="tx1"/>
                </a:solidFill>
              </a:rPr>
              <a:t>(SDN-oriented, </a:t>
            </a:r>
            <a:r>
              <a:rPr lang="en-US" sz="800" dirty="0">
                <a:solidFill>
                  <a:schemeClr val="tx1"/>
                </a:solidFill>
              </a:rPr>
              <a:t>based on Domain Controllers &amp; Orchestrators)</a:t>
            </a:r>
          </a:p>
          <a:p>
            <a:pPr marL="171450" indent="-171450">
              <a:buFont typeface="Arial" panose="020B0604020202020204" pitchFamily="34" charset="0"/>
              <a:buChar char="•"/>
            </a:pPr>
            <a:r>
              <a:rPr lang="en-US" sz="800" dirty="0">
                <a:solidFill>
                  <a:schemeClr val="tx1"/>
                </a:solidFill>
              </a:rPr>
              <a:t>5G SA Core Network convergence (harmonizing parallel solutions </a:t>
            </a:r>
            <a:r>
              <a:rPr lang="en-US" sz="800">
                <a:solidFill>
                  <a:schemeClr val="tx1"/>
                </a:solidFill>
              </a:rPr>
              <a:t>in a </a:t>
            </a:r>
            <a:r>
              <a:rPr lang="en-US" sz="800" dirty="0">
                <a:solidFill>
                  <a:schemeClr val="tx1"/>
                </a:solidFill>
              </a:rPr>
              <a:t>single model)</a:t>
            </a:r>
          </a:p>
          <a:p>
            <a:pPr marL="171450" indent="-171450">
              <a:buFont typeface="Arial" panose="020B0604020202020204" pitchFamily="34" charset="0"/>
              <a:buChar char="•"/>
            </a:pPr>
            <a:r>
              <a:rPr lang="en-US" sz="800" dirty="0">
                <a:solidFill>
                  <a:schemeClr val="tx1"/>
                </a:solidFill>
              </a:rPr>
              <a:t>Harmonization of complementary &amp; innovative </a:t>
            </a:r>
            <a:r>
              <a:rPr lang="en-US" sz="800">
                <a:solidFill>
                  <a:schemeClr val="tx1"/>
                </a:solidFill>
              </a:rPr>
              <a:t>technologies (</a:t>
            </a:r>
            <a:r>
              <a:rPr lang="en-US" sz="800" dirty="0">
                <a:solidFill>
                  <a:schemeClr val="tx1"/>
                </a:solidFill>
              </a:rPr>
              <a:t>e.</a:t>
            </a:r>
            <a:r>
              <a:rPr lang="en-US" sz="800">
                <a:solidFill>
                  <a:schemeClr val="tx1"/>
                </a:solidFill>
              </a:rPr>
              <a:t>g.</a:t>
            </a:r>
            <a:r>
              <a:rPr lang="en-US" sz="800" dirty="0">
                <a:solidFill>
                  <a:schemeClr val="tx1"/>
                </a:solidFill>
              </a:rPr>
              <a:t> FWA)</a:t>
            </a:r>
          </a:p>
        </p:txBody>
      </p:sp>
      <p:sp>
        <p:nvSpPr>
          <p:cNvPr id="833" name="Callout: Bent Line 832">
            <a:extLst>
              <a:ext uri="{FF2B5EF4-FFF2-40B4-BE49-F238E27FC236}">
                <a16:creationId xmlns:a16="http://schemas.microsoft.com/office/drawing/2014/main" id="{30D8A9E4-9609-6A02-4387-8677CF7987A2}"/>
              </a:ext>
            </a:extLst>
          </p:cNvPr>
          <p:cNvSpPr/>
          <p:nvPr/>
        </p:nvSpPr>
        <p:spPr>
          <a:xfrm>
            <a:off x="79432" y="4195486"/>
            <a:ext cx="1457262" cy="1142146"/>
          </a:xfrm>
          <a:prstGeom prst="borderCallout2">
            <a:avLst>
              <a:gd name="adj1" fmla="val 32644"/>
              <a:gd name="adj2" fmla="val 91831"/>
              <a:gd name="adj3" fmla="val 54859"/>
              <a:gd name="adj4" fmla="val 115553"/>
              <a:gd name="adj5" fmla="val 31589"/>
              <a:gd name="adj6" fmla="val 253684"/>
            </a:avLst>
          </a:prstGeom>
          <a:solidFill>
            <a:schemeClr val="bg1"/>
          </a:solidFill>
          <a:ln>
            <a:solidFill>
              <a:schemeClr val="bg2">
                <a:lumMod val="75000"/>
              </a:schemeClr>
            </a:solidFill>
          </a:ln>
          <a:effectLst>
            <a:outerShdw blurRad="50800" dist="38100" dir="5400000" algn="t" rotWithShape="0">
              <a:prstClr val="black">
                <a:alpha val="4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GB" sz="800">
                <a:solidFill>
                  <a:schemeClr val="tx1"/>
                </a:solidFill>
              </a:rPr>
              <a:t>Define a common strategy and a multi-phase / transition plan to provide an enterprise framework for the E2E Service Orchestration management for  both B2C and B2B delivery orders, leveraging a “business platform” approach and decommissioning legacy</a:t>
            </a:r>
          </a:p>
        </p:txBody>
      </p:sp>
      <p:sp>
        <p:nvSpPr>
          <p:cNvPr id="834" name="Oval 833">
            <a:extLst>
              <a:ext uri="{FF2B5EF4-FFF2-40B4-BE49-F238E27FC236}">
                <a16:creationId xmlns:a16="http://schemas.microsoft.com/office/drawing/2014/main" id="{1F60E2BA-3B6E-D270-FE83-0D82682F2596}"/>
              </a:ext>
            </a:extLst>
          </p:cNvPr>
          <p:cNvSpPr/>
          <p:nvPr/>
        </p:nvSpPr>
        <p:spPr>
          <a:xfrm>
            <a:off x="2004025" y="2255415"/>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35" name="Oval 834">
            <a:extLst>
              <a:ext uri="{FF2B5EF4-FFF2-40B4-BE49-F238E27FC236}">
                <a16:creationId xmlns:a16="http://schemas.microsoft.com/office/drawing/2014/main" id="{3FB7E5D7-7E3A-E9CE-A04E-6404A31F46B5}"/>
              </a:ext>
            </a:extLst>
          </p:cNvPr>
          <p:cNvSpPr/>
          <p:nvPr/>
        </p:nvSpPr>
        <p:spPr>
          <a:xfrm>
            <a:off x="2019900" y="2582854"/>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36" name="Oval 835">
            <a:extLst>
              <a:ext uri="{FF2B5EF4-FFF2-40B4-BE49-F238E27FC236}">
                <a16:creationId xmlns:a16="http://schemas.microsoft.com/office/drawing/2014/main" id="{887414EA-FC94-B347-578C-AA4F56729229}"/>
              </a:ext>
            </a:extLst>
          </p:cNvPr>
          <p:cNvSpPr/>
          <p:nvPr/>
        </p:nvSpPr>
        <p:spPr>
          <a:xfrm>
            <a:off x="1968025" y="3475428"/>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37" name="Oval 836">
            <a:extLst>
              <a:ext uri="{FF2B5EF4-FFF2-40B4-BE49-F238E27FC236}">
                <a16:creationId xmlns:a16="http://schemas.microsoft.com/office/drawing/2014/main" id="{BA7FA0B1-7F00-76C4-78D5-1301876FAAC2}"/>
              </a:ext>
            </a:extLst>
          </p:cNvPr>
          <p:cNvSpPr/>
          <p:nvPr/>
        </p:nvSpPr>
        <p:spPr>
          <a:xfrm>
            <a:off x="3679350" y="3464200"/>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38" name="Oval 837">
            <a:extLst>
              <a:ext uri="{FF2B5EF4-FFF2-40B4-BE49-F238E27FC236}">
                <a16:creationId xmlns:a16="http://schemas.microsoft.com/office/drawing/2014/main" id="{F358D5DB-6163-2451-75BD-8FB03749ECA0}"/>
              </a:ext>
            </a:extLst>
          </p:cNvPr>
          <p:cNvSpPr/>
          <p:nvPr/>
        </p:nvSpPr>
        <p:spPr>
          <a:xfrm>
            <a:off x="3643350" y="4262807"/>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39" name="Oval 838">
            <a:extLst>
              <a:ext uri="{FF2B5EF4-FFF2-40B4-BE49-F238E27FC236}">
                <a16:creationId xmlns:a16="http://schemas.microsoft.com/office/drawing/2014/main" id="{6B7E9D71-65A4-74FD-FFAC-11983C97EC98}"/>
              </a:ext>
            </a:extLst>
          </p:cNvPr>
          <p:cNvSpPr/>
          <p:nvPr/>
        </p:nvSpPr>
        <p:spPr>
          <a:xfrm>
            <a:off x="3751350" y="4510457"/>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40" name="Oval 839">
            <a:extLst>
              <a:ext uri="{FF2B5EF4-FFF2-40B4-BE49-F238E27FC236}">
                <a16:creationId xmlns:a16="http://schemas.microsoft.com/office/drawing/2014/main" id="{70D12792-29AC-D070-1E5E-CDFDF358A84B}"/>
              </a:ext>
            </a:extLst>
          </p:cNvPr>
          <p:cNvSpPr/>
          <p:nvPr/>
        </p:nvSpPr>
        <p:spPr>
          <a:xfrm>
            <a:off x="4703850" y="4942330"/>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41" name="Oval 840">
            <a:extLst>
              <a:ext uri="{FF2B5EF4-FFF2-40B4-BE49-F238E27FC236}">
                <a16:creationId xmlns:a16="http://schemas.microsoft.com/office/drawing/2014/main" id="{2E87D086-D2FE-1B7C-0EA5-A6C0DCCB17FD}"/>
              </a:ext>
            </a:extLst>
          </p:cNvPr>
          <p:cNvSpPr/>
          <p:nvPr/>
        </p:nvSpPr>
        <p:spPr>
          <a:xfrm>
            <a:off x="2589300" y="5469434"/>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42" name="Oval 841">
            <a:extLst>
              <a:ext uri="{FF2B5EF4-FFF2-40B4-BE49-F238E27FC236}">
                <a16:creationId xmlns:a16="http://schemas.microsoft.com/office/drawing/2014/main" id="{0E098D36-4228-2418-77D9-C6061A21D0EA}"/>
              </a:ext>
            </a:extLst>
          </p:cNvPr>
          <p:cNvSpPr/>
          <p:nvPr/>
        </p:nvSpPr>
        <p:spPr>
          <a:xfrm>
            <a:off x="4163025" y="2907493"/>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43" name="Oval 842">
            <a:extLst>
              <a:ext uri="{FF2B5EF4-FFF2-40B4-BE49-F238E27FC236}">
                <a16:creationId xmlns:a16="http://schemas.microsoft.com/office/drawing/2014/main" id="{FC6464C0-5B41-4337-4EF9-390AAE3DF9E8}"/>
              </a:ext>
            </a:extLst>
          </p:cNvPr>
          <p:cNvSpPr/>
          <p:nvPr/>
        </p:nvSpPr>
        <p:spPr>
          <a:xfrm>
            <a:off x="4564134" y="3500200"/>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44" name="Oval 843">
            <a:extLst>
              <a:ext uri="{FF2B5EF4-FFF2-40B4-BE49-F238E27FC236}">
                <a16:creationId xmlns:a16="http://schemas.microsoft.com/office/drawing/2014/main" id="{47FB2F45-D4B2-7D89-048B-0B6EE00D8184}"/>
              </a:ext>
            </a:extLst>
          </p:cNvPr>
          <p:cNvSpPr/>
          <p:nvPr/>
        </p:nvSpPr>
        <p:spPr>
          <a:xfrm>
            <a:off x="4883222" y="3254137"/>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45" name="Oval 844">
            <a:extLst>
              <a:ext uri="{FF2B5EF4-FFF2-40B4-BE49-F238E27FC236}">
                <a16:creationId xmlns:a16="http://schemas.microsoft.com/office/drawing/2014/main" id="{953ED043-FD72-562A-DB8F-B2D3D73824DE}"/>
              </a:ext>
            </a:extLst>
          </p:cNvPr>
          <p:cNvSpPr/>
          <p:nvPr/>
        </p:nvSpPr>
        <p:spPr>
          <a:xfrm>
            <a:off x="9452999" y="2738832"/>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46" name="Oval 845">
            <a:extLst>
              <a:ext uri="{FF2B5EF4-FFF2-40B4-BE49-F238E27FC236}">
                <a16:creationId xmlns:a16="http://schemas.microsoft.com/office/drawing/2014/main" id="{AD79D97C-54D5-03E5-6834-E2FFAA12416E}"/>
              </a:ext>
            </a:extLst>
          </p:cNvPr>
          <p:cNvSpPr/>
          <p:nvPr/>
        </p:nvSpPr>
        <p:spPr>
          <a:xfrm>
            <a:off x="5503780" y="2522183"/>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47" name="Oval 846">
            <a:extLst>
              <a:ext uri="{FF2B5EF4-FFF2-40B4-BE49-F238E27FC236}">
                <a16:creationId xmlns:a16="http://schemas.microsoft.com/office/drawing/2014/main" id="{3662CE3B-82EC-96B2-8A98-E4946F79A566}"/>
              </a:ext>
            </a:extLst>
          </p:cNvPr>
          <p:cNvSpPr/>
          <p:nvPr/>
        </p:nvSpPr>
        <p:spPr>
          <a:xfrm>
            <a:off x="10104932" y="3695565"/>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48" name="Oval 847">
            <a:extLst>
              <a:ext uri="{FF2B5EF4-FFF2-40B4-BE49-F238E27FC236}">
                <a16:creationId xmlns:a16="http://schemas.microsoft.com/office/drawing/2014/main" id="{4AC14B13-13A4-315F-FBDD-099DDF26E233}"/>
              </a:ext>
            </a:extLst>
          </p:cNvPr>
          <p:cNvSpPr/>
          <p:nvPr/>
        </p:nvSpPr>
        <p:spPr>
          <a:xfrm>
            <a:off x="6887599" y="4102941"/>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49" name="Oval 848">
            <a:extLst>
              <a:ext uri="{FF2B5EF4-FFF2-40B4-BE49-F238E27FC236}">
                <a16:creationId xmlns:a16="http://schemas.microsoft.com/office/drawing/2014/main" id="{22F37F3F-BE9A-74E0-4970-82D7A459AE61}"/>
              </a:ext>
            </a:extLst>
          </p:cNvPr>
          <p:cNvSpPr/>
          <p:nvPr/>
        </p:nvSpPr>
        <p:spPr>
          <a:xfrm>
            <a:off x="8360799" y="4644692"/>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50" name="Oval 849">
            <a:extLst>
              <a:ext uri="{FF2B5EF4-FFF2-40B4-BE49-F238E27FC236}">
                <a16:creationId xmlns:a16="http://schemas.microsoft.com/office/drawing/2014/main" id="{7ABE7298-68F5-071F-9089-330851A84952}"/>
              </a:ext>
            </a:extLst>
          </p:cNvPr>
          <p:cNvSpPr/>
          <p:nvPr/>
        </p:nvSpPr>
        <p:spPr>
          <a:xfrm>
            <a:off x="8585166" y="5387576"/>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51" name="Oval 850">
            <a:extLst>
              <a:ext uri="{FF2B5EF4-FFF2-40B4-BE49-F238E27FC236}">
                <a16:creationId xmlns:a16="http://schemas.microsoft.com/office/drawing/2014/main" id="{3016A799-4702-A208-5795-E73C06FA8EEA}"/>
              </a:ext>
            </a:extLst>
          </p:cNvPr>
          <p:cNvSpPr/>
          <p:nvPr/>
        </p:nvSpPr>
        <p:spPr>
          <a:xfrm>
            <a:off x="5687929" y="5555441"/>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852" name="Oval 851">
            <a:extLst>
              <a:ext uri="{FF2B5EF4-FFF2-40B4-BE49-F238E27FC236}">
                <a16:creationId xmlns:a16="http://schemas.microsoft.com/office/drawing/2014/main" id="{60D53F23-EC65-44A3-998D-B4D82B3C0C7F}"/>
              </a:ext>
            </a:extLst>
          </p:cNvPr>
          <p:cNvSpPr/>
          <p:nvPr/>
        </p:nvSpPr>
        <p:spPr>
          <a:xfrm>
            <a:off x="10104932" y="2501696"/>
            <a:ext cx="72000" cy="72000"/>
          </a:xfrm>
          <a:prstGeom prst="ellipse">
            <a:avLst/>
          </a:prstGeom>
          <a:solidFill>
            <a:srgbClr val="C00000"/>
          </a:solidFill>
          <a:ln w="3175">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50" b="1"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pic>
        <p:nvPicPr>
          <p:cNvPr id="5" name="Picture 4">
            <a:extLst>
              <a:ext uri="{FF2B5EF4-FFF2-40B4-BE49-F238E27FC236}">
                <a16:creationId xmlns:a16="http://schemas.microsoft.com/office/drawing/2014/main" id="{AD58C1FC-4BAB-1C0D-FEAE-F0E4FF4E63F1}"/>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11470980" y="1624053"/>
            <a:ext cx="294005" cy="176403"/>
          </a:xfrm>
          <a:prstGeom prst="roundRect">
            <a:avLst/>
          </a:prstGeom>
        </p:spPr>
      </p:pic>
      <p:pic>
        <p:nvPicPr>
          <p:cNvPr id="6" name="Picture 5">
            <a:extLst>
              <a:ext uri="{FF2B5EF4-FFF2-40B4-BE49-F238E27FC236}">
                <a16:creationId xmlns:a16="http://schemas.microsoft.com/office/drawing/2014/main" id="{FD638DCA-F217-9D73-5F69-BACD8D3AA5A1}"/>
              </a:ext>
            </a:extLst>
          </p:cNvPr>
          <p:cNvPicPr>
            <a:picLocks noChangeAspect="1"/>
          </p:cNvPicPr>
          <p:nvPr/>
        </p:nvPicPr>
        <p:blipFill rotWithShape="1">
          <a:blip r:embed="rId17" cstate="email">
            <a:extLst>
              <a:ext uri="{28A0092B-C50C-407E-A947-70E740481C1C}">
                <a14:useLocalDpi xmlns:a14="http://schemas.microsoft.com/office/drawing/2010/main"/>
              </a:ext>
            </a:extLst>
          </a:blip>
          <a:srcRect/>
          <a:stretch/>
        </p:blipFill>
        <p:spPr>
          <a:xfrm>
            <a:off x="11786840" y="1600337"/>
            <a:ext cx="242027" cy="203459"/>
          </a:xfrm>
          <a:prstGeom prst="roundRect">
            <a:avLst/>
          </a:prstGeom>
        </p:spPr>
      </p:pic>
      <p:grpSp>
        <p:nvGrpSpPr>
          <p:cNvPr id="4" name="Groupe 1">
            <a:extLst>
              <a:ext uri="{FF2B5EF4-FFF2-40B4-BE49-F238E27FC236}">
                <a16:creationId xmlns:a16="http://schemas.microsoft.com/office/drawing/2014/main" id="{13AB0803-FAAC-CC30-9DDF-DB9854AE4392}"/>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7" name="Freeform 13">
              <a:extLst>
                <a:ext uri="{FF2B5EF4-FFF2-40B4-BE49-F238E27FC236}">
                  <a16:creationId xmlns:a16="http://schemas.microsoft.com/office/drawing/2014/main" id="{7368081F-CC51-AC7B-D20B-FBC27F3CBA8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8" name="Freeform 14">
              <a:extLst>
                <a:ext uri="{FF2B5EF4-FFF2-40B4-BE49-F238E27FC236}">
                  <a16:creationId xmlns:a16="http://schemas.microsoft.com/office/drawing/2014/main" id="{B1100C43-D1B1-6534-51EE-0D597561316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3" name="Foliennummernplatzhalter 5">
            <a:extLst>
              <a:ext uri="{FF2B5EF4-FFF2-40B4-BE49-F238E27FC236}">
                <a16:creationId xmlns:a16="http://schemas.microsoft.com/office/drawing/2014/main" id="{1792BAC3-C018-B49E-45BF-2960A1449D76}"/>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12</a:t>
            </a:fld>
            <a:endParaRPr lang="en-US"/>
          </a:p>
        </p:txBody>
      </p:sp>
      <p:sp>
        <p:nvSpPr>
          <p:cNvPr id="9" name="Rectangle 27">
            <a:extLst>
              <a:ext uri="{FF2B5EF4-FFF2-40B4-BE49-F238E27FC236}">
                <a16:creationId xmlns:a16="http://schemas.microsoft.com/office/drawing/2014/main" id="{EE9110CC-290C-882C-6FA6-D92F66E58A69}"/>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12" name="AutoShape 2" descr="Our brand — HPE Design System">
            <a:extLst>
              <a:ext uri="{FF2B5EF4-FFF2-40B4-BE49-F238E27FC236}">
                <a16:creationId xmlns:a16="http://schemas.microsoft.com/office/drawing/2014/main" id="{4A5CFF48-4B49-5E22-9681-B940438049B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 name="AutoShape 4" descr="Our brand — HPE Design System">
            <a:extLst>
              <a:ext uri="{FF2B5EF4-FFF2-40B4-BE49-F238E27FC236}">
                <a16:creationId xmlns:a16="http://schemas.microsoft.com/office/drawing/2014/main" id="{D9FE14DD-2EBF-9F3E-720A-F22642F5BFB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5" name="Picture 14">
            <a:extLst>
              <a:ext uri="{FF2B5EF4-FFF2-40B4-BE49-F238E27FC236}">
                <a16:creationId xmlns:a16="http://schemas.microsoft.com/office/drawing/2014/main" id="{B14E4393-5E81-0C3D-420B-9C4F04722246}"/>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11647872" y="4220507"/>
            <a:ext cx="379950" cy="150397"/>
          </a:xfrm>
          <a:prstGeom prst="rect">
            <a:avLst/>
          </a:prstGeom>
        </p:spPr>
      </p:pic>
      <p:sp>
        <p:nvSpPr>
          <p:cNvPr id="16" name="TextBox 15">
            <a:extLst>
              <a:ext uri="{FF2B5EF4-FFF2-40B4-BE49-F238E27FC236}">
                <a16:creationId xmlns:a16="http://schemas.microsoft.com/office/drawing/2014/main" id="{E7FF3917-1D3E-9F57-5C78-D224D7EDE93B}"/>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custDataLst>
      <p:tags r:id="rId1"/>
    </p:custDataLst>
    <p:extLst>
      <p:ext uri="{BB962C8B-B14F-4D97-AF65-F5344CB8AC3E}">
        <p14:creationId xmlns:p14="http://schemas.microsoft.com/office/powerpoint/2010/main" val="30688659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 name="Object 62" hidden="1">
            <a:extLst>
              <a:ext uri="{FF2B5EF4-FFF2-40B4-BE49-F238E27FC236}">
                <a16:creationId xmlns:a16="http://schemas.microsoft.com/office/drawing/2014/main" id="{AB1347F7-7C24-431B-B516-465C0430D2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3" name="Object 62" hidden="1">
                        <a:extLst>
                          <a:ext uri="{FF2B5EF4-FFF2-40B4-BE49-F238E27FC236}">
                            <a16:creationId xmlns:a16="http://schemas.microsoft.com/office/drawing/2014/main" id="{AB1347F7-7C24-431B-B516-465C0430D2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75" name="Text Placeholder 1">
            <a:extLst>
              <a:ext uri="{FF2B5EF4-FFF2-40B4-BE49-F238E27FC236}">
                <a16:creationId xmlns:a16="http://schemas.microsoft.com/office/drawing/2014/main" id="{62402C06-1596-45A9-9428-9E090193330C}"/>
              </a:ext>
            </a:extLst>
          </p:cNvPr>
          <p:cNvSpPr txBox="1"/>
          <p:nvPr/>
        </p:nvSpPr>
        <p:spPr>
          <a:xfrm>
            <a:off x="1296911" y="317512"/>
            <a:ext cx="8318424" cy="457684"/>
          </a:xfrm>
          <a:prstGeom prst="rect">
            <a:avLst/>
          </a:prstGeom>
          <a:noFill/>
          <a:ln>
            <a:noFill/>
          </a:ln>
        </p:spPr>
        <p:txBody>
          <a:bodyPr vert="horz" wrap="square" lIns="91440" tIns="45720" rIns="91440" bIns="45720" anchor="t" anchorCtr="0" compatLnSpc="1">
            <a:noAutofit/>
          </a:bodyPr>
          <a:lstStyle/>
          <a:p>
            <a:pPr>
              <a:spcBef>
                <a:spcPct val="0"/>
              </a:spcBef>
              <a:spcAft>
                <a:spcPts val="600"/>
              </a:spcAft>
              <a:tabLst>
                <a:tab pos="1881185" algn="l"/>
              </a:tabLst>
              <a:defRPr sz="1800" b="0" i="0" u="none" strike="noStrike" kern="0" cap="none" spc="0" baseline="0">
                <a:solidFill>
                  <a:srgbClr val="000000"/>
                </a:solidFill>
                <a:uFillTx/>
              </a:defRPr>
            </a:pPr>
            <a:r>
              <a:rPr lang="en-US" sz="2400" b="1" kern="0" spc="-50" dirty="0">
                <a:solidFill>
                  <a:srgbClr val="000000"/>
                </a:solidFill>
                <a:latin typeface="+mj-lt"/>
                <a:ea typeface="+mj-ea"/>
                <a:cs typeface="+mj-cs"/>
              </a:rPr>
              <a:t>STREAM 4B |  FOCUS ON CSS INTEGRATIONS</a:t>
            </a:r>
          </a:p>
        </p:txBody>
      </p:sp>
      <p:cxnSp>
        <p:nvCxnSpPr>
          <p:cNvPr id="333" name="Straight Connector 332">
            <a:extLst>
              <a:ext uri="{FF2B5EF4-FFF2-40B4-BE49-F238E27FC236}">
                <a16:creationId xmlns:a16="http://schemas.microsoft.com/office/drawing/2014/main" id="{A329243A-545C-A42F-7A71-C3F8B8A12497}"/>
              </a:ext>
            </a:extLst>
          </p:cNvPr>
          <p:cNvCxnSpPr>
            <a:cxnSpLocks/>
          </p:cNvCxnSpPr>
          <p:nvPr/>
        </p:nvCxnSpPr>
        <p:spPr>
          <a:xfrm>
            <a:off x="494679" y="1714357"/>
            <a:ext cx="11110042" cy="0"/>
          </a:xfrm>
          <a:prstGeom prst="line">
            <a:avLst/>
          </a:prstGeom>
          <a:noFill/>
          <a:ln w="19050" cap="flat" cmpd="sng" algn="ctr">
            <a:solidFill>
              <a:srgbClr val="272936">
                <a:lumMod val="10000"/>
                <a:lumOff val="90000"/>
              </a:srgbClr>
            </a:solidFill>
            <a:prstDash val="solid"/>
            <a:miter lim="800000"/>
            <a:tailEnd type="none"/>
          </a:ln>
          <a:effectLst/>
        </p:spPr>
      </p:cxnSp>
      <p:sp>
        <p:nvSpPr>
          <p:cNvPr id="334" name="TextBox 333">
            <a:extLst>
              <a:ext uri="{FF2B5EF4-FFF2-40B4-BE49-F238E27FC236}">
                <a16:creationId xmlns:a16="http://schemas.microsoft.com/office/drawing/2014/main" id="{7099DC93-37E6-6E30-1330-2C27FA909468}"/>
              </a:ext>
            </a:extLst>
          </p:cNvPr>
          <p:cNvSpPr txBox="1"/>
          <p:nvPr/>
        </p:nvSpPr>
        <p:spPr>
          <a:xfrm>
            <a:off x="545936" y="1536071"/>
            <a:ext cx="1663284"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Clr>
                <a:srgbClr val="000000"/>
              </a:buClr>
              <a:defRPr/>
            </a:pPr>
            <a:r>
              <a:rPr lang="it-IT" sz="900" b="1" kern="0">
                <a:solidFill>
                  <a:prstClr val="black">
                    <a:lumMod val="75000"/>
                    <a:lumOff val="25000"/>
                  </a:prstClr>
                </a:solidFill>
                <a:latin typeface="Ubuntu" panose="020B0504030602030204" pitchFamily="34" charset="0"/>
              </a:rPr>
              <a:t>D</a:t>
            </a:r>
            <a:r>
              <a:rPr sz="900" b="1" kern="0">
                <a:solidFill>
                  <a:prstClr val="black">
                    <a:lumMod val="75000"/>
                    <a:lumOff val="25000"/>
                  </a:prstClr>
                </a:solidFill>
                <a:latin typeface="Ubuntu" panose="020B0504030602030204" pitchFamily="34" charset="0"/>
              </a:rPr>
              <a:t>IVESTURE APPROACH</a:t>
            </a:r>
          </a:p>
        </p:txBody>
      </p:sp>
      <p:cxnSp>
        <p:nvCxnSpPr>
          <p:cNvPr id="335" name="Straight Connector 334">
            <a:extLst>
              <a:ext uri="{FF2B5EF4-FFF2-40B4-BE49-F238E27FC236}">
                <a16:creationId xmlns:a16="http://schemas.microsoft.com/office/drawing/2014/main" id="{7B4128B8-8853-2F37-F4E9-0022739DE4E1}"/>
              </a:ext>
            </a:extLst>
          </p:cNvPr>
          <p:cNvCxnSpPr>
            <a:cxnSpLocks/>
          </p:cNvCxnSpPr>
          <p:nvPr/>
        </p:nvCxnSpPr>
        <p:spPr>
          <a:xfrm>
            <a:off x="494679" y="3345932"/>
            <a:ext cx="11110042" cy="0"/>
          </a:xfrm>
          <a:prstGeom prst="line">
            <a:avLst/>
          </a:prstGeom>
          <a:noFill/>
          <a:ln w="19050" cap="flat" cmpd="sng" algn="ctr">
            <a:solidFill>
              <a:srgbClr val="272936">
                <a:lumMod val="10000"/>
                <a:lumOff val="90000"/>
              </a:srgbClr>
            </a:solidFill>
            <a:prstDash val="solid"/>
            <a:miter lim="800000"/>
            <a:tailEnd type="none"/>
          </a:ln>
          <a:effectLst/>
        </p:spPr>
      </p:cxnSp>
      <p:cxnSp>
        <p:nvCxnSpPr>
          <p:cNvPr id="336" name="Straight Connector 335">
            <a:extLst>
              <a:ext uri="{FF2B5EF4-FFF2-40B4-BE49-F238E27FC236}">
                <a16:creationId xmlns:a16="http://schemas.microsoft.com/office/drawing/2014/main" id="{24233DED-D264-531C-EEAF-1D58DEB33B47}"/>
              </a:ext>
            </a:extLst>
          </p:cNvPr>
          <p:cNvCxnSpPr>
            <a:cxnSpLocks/>
          </p:cNvCxnSpPr>
          <p:nvPr/>
        </p:nvCxnSpPr>
        <p:spPr>
          <a:xfrm>
            <a:off x="494679" y="4977507"/>
            <a:ext cx="11110042" cy="0"/>
          </a:xfrm>
          <a:prstGeom prst="line">
            <a:avLst/>
          </a:prstGeom>
          <a:noFill/>
          <a:ln w="19050" cap="flat" cmpd="sng" algn="ctr">
            <a:solidFill>
              <a:srgbClr val="272936">
                <a:lumMod val="10000"/>
                <a:lumOff val="90000"/>
              </a:srgbClr>
            </a:solidFill>
            <a:prstDash val="solid"/>
            <a:miter lim="800000"/>
            <a:tailEnd type="none"/>
          </a:ln>
          <a:effectLst/>
        </p:spPr>
      </p:cxnSp>
      <p:sp>
        <p:nvSpPr>
          <p:cNvPr id="338" name="TextBox 337">
            <a:extLst>
              <a:ext uri="{FF2B5EF4-FFF2-40B4-BE49-F238E27FC236}">
                <a16:creationId xmlns:a16="http://schemas.microsoft.com/office/drawing/2014/main" id="{52A16516-CF83-ED6A-F00C-979A2389DEFD}"/>
              </a:ext>
            </a:extLst>
          </p:cNvPr>
          <p:cNvSpPr txBox="1">
            <a:spLocks/>
          </p:cNvSpPr>
          <p:nvPr/>
        </p:nvSpPr>
        <p:spPr>
          <a:xfrm>
            <a:off x="423257" y="2443788"/>
            <a:ext cx="3427115" cy="923330"/>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1" indent="0" algn="just" defTabSz="914400" eaLnBrk="1" fontAlgn="auto" latinLnBrk="0" hangingPunct="1">
              <a:lnSpc>
                <a:spcPct val="100000"/>
              </a:lnSpc>
              <a:spcBef>
                <a:spcPts val="0"/>
              </a:spcBef>
              <a:spcAft>
                <a:spcPts val="300"/>
              </a:spcAft>
              <a:buClr>
                <a:srgbClr val="0070AD"/>
              </a:buClr>
              <a:buSzPct val="110000"/>
              <a:buFont typeface="Wingdings" panose="05000000000000000000" pitchFamily="2" charset="2"/>
              <a:buNone/>
              <a:tabLst/>
              <a:defRPr/>
            </a:pPr>
            <a:r>
              <a:rPr kumimoji="0" lang="en-US" sz="1000" b="0"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It is the process of </a:t>
            </a:r>
            <a:r>
              <a:rPr kumimoji="0" lang="en-US" sz="1000" b="1"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redesigning and implementing </a:t>
            </a:r>
            <a:r>
              <a:rPr kumimoji="0" lang="en-US" sz="1000" b="0"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new business processes on </a:t>
            </a:r>
            <a:r>
              <a:rPr kumimoji="0" lang="en-US" sz="1000" b="0" i="0" u="none" strike="noStrike" kern="0" cap="none" spc="0" normalizeH="0" baseline="0" noProof="0" dirty="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a </a:t>
            </a:r>
            <a:r>
              <a:rPr kumimoji="0" lang="en-US" sz="1000" b="0"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new</a:t>
            </a:r>
            <a:r>
              <a:rPr kumimoji="0" lang="en-US" sz="1000" b="0" i="0" u="none" strike="noStrike" kern="0" cap="none" spc="0" normalizeH="0" baseline="0" noProof="0" dirty="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 and common</a:t>
            </a:r>
            <a:r>
              <a:rPr kumimoji="0" lang="en-US" sz="1000" b="0"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 landscape and infrastructure, allowing the incorporation of best practices and specific needs of both the former companies (</a:t>
            </a:r>
            <a:r>
              <a:rPr kumimoji="0" lang="en-US" sz="1000" b="0" i="0" u="none" strike="noStrike" kern="0" cap="none" spc="0" normalizeH="0" baseline="0" noProof="0" err="1">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xFastweb</a:t>
            </a:r>
            <a:r>
              <a:rPr kumimoji="0" lang="en-US" sz="1000" b="0"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 and </a:t>
            </a:r>
            <a:r>
              <a:rPr kumimoji="0" lang="en-US" sz="1000" b="0" i="0" u="none" strike="noStrike" kern="0" cap="none" spc="0" normalizeH="0" baseline="0" noProof="0" err="1">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xVodafone</a:t>
            </a:r>
            <a:r>
              <a:rPr kumimoji="0" lang="en-US" sz="1000" b="0"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a:t>
            </a:r>
          </a:p>
        </p:txBody>
      </p:sp>
      <p:sp>
        <p:nvSpPr>
          <p:cNvPr id="344" name="TextBox 343">
            <a:extLst>
              <a:ext uri="{FF2B5EF4-FFF2-40B4-BE49-F238E27FC236}">
                <a16:creationId xmlns:a16="http://schemas.microsoft.com/office/drawing/2014/main" id="{FA1836EA-0844-C7A8-A602-059958B1196E}"/>
              </a:ext>
            </a:extLst>
          </p:cNvPr>
          <p:cNvSpPr txBox="1">
            <a:spLocks/>
          </p:cNvSpPr>
          <p:nvPr/>
        </p:nvSpPr>
        <p:spPr>
          <a:xfrm>
            <a:off x="930182" y="3412277"/>
            <a:ext cx="2452696" cy="615553"/>
          </a:xfrm>
          <a:prstGeom prst="rect">
            <a:avLst/>
          </a:prstGeom>
        </p:spPr>
        <p:txBody>
          <a:bodyPr vert="horz" wrap="square" lIns="0" tIns="0" rIns="0" bIns="0" rtlCol="0">
            <a:spAutoFit/>
          </a:bodyPr>
          <a:lstStyle>
            <a:lvl1pPr marL="0" lvl="0" indent="0" defTabSz="1193860" eaLnBrk="1" latinLnBrk="0" hangingPunct="1">
              <a:buClr>
                <a:schemeClr val="tx2"/>
              </a:buClr>
              <a:buSzPct val="100000"/>
              <a:defRPr lang="x-none" baseline="0">
                <a:latin typeface="+mn-lt"/>
              </a:defRPr>
            </a:lvl1pPr>
            <a:lvl2pPr marL="194400" lvl="1" indent="-190800" defTabSz="1193860" eaLnBrk="1" latinLnBrk="0" hangingPunct="1">
              <a:buClr>
                <a:schemeClr val="tx2"/>
              </a:buClr>
              <a:buSzPct val="125000"/>
              <a:buFont typeface="Arial" charset="0"/>
              <a:buChar char="▪"/>
              <a:defRPr lang="x-none" baseline="0">
                <a:latin typeface="+mn-lt"/>
              </a:defRPr>
            </a:lvl2pPr>
            <a:lvl3pPr marL="609630" lvl="2" indent="-349268" defTabSz="1193860" eaLnBrk="1" latinLnBrk="0" hangingPunct="1">
              <a:buClr>
                <a:schemeClr val="tx2"/>
              </a:buClr>
              <a:buSzPct val="120000"/>
              <a:buFont typeface="Arial" charset="0"/>
              <a:buChar char="–"/>
              <a:defRPr lang="x-none" baseline="0">
                <a:latin typeface="+mn-lt"/>
              </a:defRPr>
            </a:lvl3pPr>
            <a:lvl4pPr marL="819192" lvl="3" indent="-207444" defTabSz="1193860" eaLnBrk="1" latinLnBrk="0" hangingPunct="1">
              <a:buClr>
                <a:schemeClr val="tx2"/>
              </a:buClr>
              <a:buSzPct val="120000"/>
              <a:buFont typeface="Arial" charset="0"/>
              <a:buChar char="▫"/>
              <a:defRPr lang="x-none" baseline="0">
                <a:latin typeface="+mn-lt"/>
              </a:defRPr>
            </a:lvl4pPr>
            <a:lvl5pPr marL="999794" lvl="4" indent="-173575" defTabSz="1193860" eaLnBrk="1" latinLnBrk="0" hangingPunct="1">
              <a:buClr>
                <a:schemeClr val="tx2"/>
              </a:buClr>
              <a:buSzPct val="89000"/>
              <a:buFont typeface="Arial" charset="0"/>
              <a:buChar char="-"/>
              <a:defRPr lang="x-none" baseline="0">
                <a:latin typeface="+mn-lt"/>
              </a:defRPr>
            </a:lvl5pPr>
            <a:lvl6pPr marL="999794" indent="-173575" defTabSz="1193860" fontAlgn="base">
              <a:spcBef>
                <a:spcPct val="0"/>
              </a:spcBef>
              <a:spcAft>
                <a:spcPct val="0"/>
              </a:spcAft>
              <a:buClr>
                <a:schemeClr val="tx2"/>
              </a:buClr>
              <a:buSzPct val="89000"/>
              <a:buFont typeface="Arial" charset="0"/>
              <a:buChar char="-"/>
              <a:defRPr lang="x-none" sz="2133" baseline="0">
                <a:latin typeface="+mn-lt"/>
              </a:defRPr>
            </a:lvl6pPr>
            <a:lvl7pPr marL="999794" indent="-173575" defTabSz="1193860" fontAlgn="base">
              <a:spcBef>
                <a:spcPct val="0"/>
              </a:spcBef>
              <a:spcAft>
                <a:spcPct val="0"/>
              </a:spcAft>
              <a:buClr>
                <a:schemeClr val="tx2"/>
              </a:buClr>
              <a:buSzPct val="89000"/>
              <a:buFont typeface="Arial" charset="0"/>
              <a:buChar char="-"/>
              <a:defRPr lang="x-none" sz="2133" baseline="0">
                <a:latin typeface="+mn-lt"/>
              </a:defRPr>
            </a:lvl7pPr>
            <a:lvl8pPr marL="999794" indent="-173575" defTabSz="1193860" fontAlgn="base">
              <a:spcBef>
                <a:spcPct val="0"/>
              </a:spcBef>
              <a:spcAft>
                <a:spcPct val="0"/>
              </a:spcAft>
              <a:buClr>
                <a:schemeClr val="tx2"/>
              </a:buClr>
              <a:buSzPct val="89000"/>
              <a:buFont typeface="Arial" charset="0"/>
              <a:buChar char="-"/>
              <a:defRPr lang="x-none" sz="2133" baseline="0">
                <a:latin typeface="+mn-lt"/>
              </a:defRPr>
            </a:lvl8pPr>
            <a:lvl9pPr marL="999794" indent="-173575" defTabSz="1193860" fontAlgn="base">
              <a:spcBef>
                <a:spcPct val="0"/>
              </a:spcBef>
              <a:spcAft>
                <a:spcPct val="0"/>
              </a:spcAft>
              <a:buClr>
                <a:schemeClr val="tx2"/>
              </a:buClr>
              <a:buSzPct val="89000"/>
              <a:buFont typeface="Arial" charset="0"/>
              <a:buChar char="-"/>
              <a:defRPr lang="x-none" sz="2133" baseline="0">
                <a:latin typeface="+mn-lt"/>
              </a:defRPr>
            </a:lvl9pPr>
          </a:lstStyle>
          <a:p>
            <a:pPr>
              <a:spcBef>
                <a:spcPts val="300"/>
              </a:spcBef>
              <a:spcAft>
                <a:spcPts val="300"/>
              </a:spcAft>
              <a:buClr>
                <a:srgbClr val="FFFFFF"/>
              </a:buClr>
              <a:defRPr/>
            </a:pPr>
            <a:r>
              <a:rPr lang="en-US" sz="2000" b="1">
                <a:solidFill>
                  <a:srgbClr val="0070AD"/>
                </a:solidFill>
                <a:latin typeface="Ubuntu" panose="020B0504030602030204" pitchFamily="34" charset="0"/>
                <a:cs typeface="Arial" panose="020B0604020202020204" pitchFamily="34" charset="0"/>
              </a:rPr>
              <a:t>AGGREGATION LAYER</a:t>
            </a:r>
            <a:endParaRPr lang="en-US" sz="2000">
              <a:solidFill>
                <a:srgbClr val="0070AD"/>
              </a:solidFill>
              <a:latin typeface="Ubuntu" panose="020B0504030602030204" pitchFamily="34" charset="0"/>
            </a:endParaRPr>
          </a:p>
        </p:txBody>
      </p:sp>
      <p:sp>
        <p:nvSpPr>
          <p:cNvPr id="345" name="Rectangle 344">
            <a:extLst>
              <a:ext uri="{FF2B5EF4-FFF2-40B4-BE49-F238E27FC236}">
                <a16:creationId xmlns:a16="http://schemas.microsoft.com/office/drawing/2014/main" id="{60AE5D71-ECCD-983A-4EF1-04477AAED8D0}"/>
              </a:ext>
            </a:extLst>
          </p:cNvPr>
          <p:cNvSpPr/>
          <p:nvPr/>
        </p:nvSpPr>
        <p:spPr>
          <a:xfrm>
            <a:off x="295965" y="3353653"/>
            <a:ext cx="505267" cy="769441"/>
          </a:xfrm>
          <a:prstGeom prst="rect">
            <a:avLst/>
          </a:prstGeom>
          <a:noFill/>
          <a:ln>
            <a:noFill/>
          </a:ln>
        </p:spPr>
        <p:txBody>
          <a:bodyPr wrap="none" lIns="91440" tIns="45720" rIns="91440" bIns="45720">
            <a:spAutoFit/>
          </a:bodyPr>
          <a:lstStyle/>
          <a:p>
            <a:pPr algn="ctr">
              <a:defRPr/>
            </a:pPr>
            <a:r>
              <a:rPr lang="it-IT" sz="4400" b="1">
                <a:ln w="28575">
                  <a:noFill/>
                  <a:prstDash val="solid"/>
                </a:ln>
                <a:solidFill>
                  <a:srgbClr val="FFFFFF"/>
                </a:solidFill>
                <a:effectLst>
                  <a:outerShdw blurRad="38100" dist="22860" dir="5400000" algn="tl" rotWithShape="0">
                    <a:srgbClr val="000000">
                      <a:alpha val="30000"/>
                    </a:srgbClr>
                  </a:outerShdw>
                </a:effectLst>
                <a:latin typeface="Ubuntu"/>
              </a:rPr>
              <a:t>2</a:t>
            </a:r>
            <a:endParaRPr lang="en-US" sz="4400" b="1">
              <a:ln w="28575">
                <a:noFill/>
                <a:prstDash val="solid"/>
              </a:ln>
              <a:solidFill>
                <a:srgbClr val="FFFFFF"/>
              </a:solidFill>
              <a:effectLst>
                <a:outerShdw blurRad="38100" dist="22860" dir="5400000" algn="tl" rotWithShape="0">
                  <a:srgbClr val="000000">
                    <a:alpha val="30000"/>
                  </a:srgbClr>
                </a:outerShdw>
              </a:effectLst>
              <a:latin typeface="Ubuntu"/>
            </a:endParaRPr>
          </a:p>
        </p:txBody>
      </p:sp>
      <p:sp>
        <p:nvSpPr>
          <p:cNvPr id="346" name="Rectangle 345">
            <a:extLst>
              <a:ext uri="{FF2B5EF4-FFF2-40B4-BE49-F238E27FC236}">
                <a16:creationId xmlns:a16="http://schemas.microsoft.com/office/drawing/2014/main" id="{E0C9A749-EF2A-78A1-2298-361170513599}"/>
              </a:ext>
            </a:extLst>
          </p:cNvPr>
          <p:cNvSpPr/>
          <p:nvPr/>
        </p:nvSpPr>
        <p:spPr>
          <a:xfrm>
            <a:off x="339842" y="3345554"/>
            <a:ext cx="505267" cy="769441"/>
          </a:xfrm>
          <a:prstGeom prst="rect">
            <a:avLst/>
          </a:prstGeom>
          <a:noFill/>
          <a:ln>
            <a:noFill/>
          </a:ln>
        </p:spPr>
        <p:txBody>
          <a:bodyPr wrap="none" lIns="91440" tIns="45720" rIns="91440" bIns="45720">
            <a:spAutoFit/>
          </a:bodyPr>
          <a:lstStyle/>
          <a:p>
            <a:pPr algn="ctr">
              <a:defRPr/>
            </a:pPr>
            <a:r>
              <a:rPr lang="it-IT" sz="4400" b="1">
                <a:ln w="28575">
                  <a:noFill/>
                  <a:prstDash val="solid"/>
                </a:ln>
                <a:solidFill>
                  <a:srgbClr val="0070AD"/>
                </a:solidFill>
                <a:effectLst>
                  <a:outerShdw blurRad="38100" dist="22860" dir="5400000" algn="tl" rotWithShape="0">
                    <a:srgbClr val="000000">
                      <a:alpha val="30000"/>
                    </a:srgbClr>
                  </a:outerShdw>
                </a:effectLst>
                <a:latin typeface="Ubuntu"/>
              </a:rPr>
              <a:t>2</a:t>
            </a:r>
            <a:endParaRPr lang="en-US" sz="4400" b="1">
              <a:ln w="28575">
                <a:noFill/>
                <a:prstDash val="solid"/>
              </a:ln>
              <a:solidFill>
                <a:srgbClr val="0070AD"/>
              </a:solidFill>
              <a:effectLst>
                <a:outerShdw blurRad="38100" dist="22860" dir="5400000" algn="tl" rotWithShape="0">
                  <a:srgbClr val="000000">
                    <a:alpha val="30000"/>
                  </a:srgbClr>
                </a:outerShdw>
              </a:effectLst>
              <a:latin typeface="Ubuntu"/>
            </a:endParaRPr>
          </a:p>
        </p:txBody>
      </p:sp>
      <p:sp>
        <p:nvSpPr>
          <p:cNvPr id="347" name="TextBox 346">
            <a:extLst>
              <a:ext uri="{FF2B5EF4-FFF2-40B4-BE49-F238E27FC236}">
                <a16:creationId xmlns:a16="http://schemas.microsoft.com/office/drawing/2014/main" id="{03129444-861C-9E44-D47D-078ABBD8CB2F}"/>
              </a:ext>
            </a:extLst>
          </p:cNvPr>
          <p:cNvSpPr txBox="1">
            <a:spLocks/>
          </p:cNvSpPr>
          <p:nvPr/>
        </p:nvSpPr>
        <p:spPr>
          <a:xfrm>
            <a:off x="930182" y="5139287"/>
            <a:ext cx="2146475" cy="307777"/>
          </a:xfrm>
          <a:prstGeom prst="rect">
            <a:avLst/>
          </a:prstGeom>
          <a:noFill/>
          <a:ln w="19050" cap="flat" cmpd="sng" algn="ctr">
            <a:noFill/>
            <a:prstDash val="solid"/>
            <a:miter lim="800000"/>
            <a:tailEnd type="none"/>
          </a:ln>
          <a:effectLst/>
        </p:spPr>
        <p:txBody>
          <a:bodyPr vert="horz" wrap="square" lIns="0" tIns="0" rIns="0" bIns="0" rtlCol="0">
            <a:spAutoFit/>
          </a:bodyPr>
          <a:lstStyle>
            <a:lvl1pPr marL="0" lvl="0" indent="0" defTabSz="1193860" eaLnBrk="1" latinLnBrk="0" hangingPunct="1">
              <a:buClr>
                <a:schemeClr val="tx2"/>
              </a:buClr>
              <a:buSzPct val="100000"/>
              <a:defRPr lang="x-none" baseline="0">
                <a:latin typeface="+mn-lt"/>
              </a:defRPr>
            </a:lvl1pPr>
            <a:lvl2pPr marL="194400" lvl="1" indent="-190800" defTabSz="1193860" eaLnBrk="1" latinLnBrk="0" hangingPunct="1">
              <a:buClr>
                <a:schemeClr val="tx2"/>
              </a:buClr>
              <a:buSzPct val="125000"/>
              <a:buFont typeface="Arial" charset="0"/>
              <a:buChar char="▪"/>
              <a:defRPr lang="x-none" baseline="0">
                <a:latin typeface="+mn-lt"/>
              </a:defRPr>
            </a:lvl2pPr>
            <a:lvl3pPr marL="609630" lvl="2" indent="-349268" defTabSz="1193860" eaLnBrk="1" latinLnBrk="0" hangingPunct="1">
              <a:buClr>
                <a:schemeClr val="tx2"/>
              </a:buClr>
              <a:buSzPct val="120000"/>
              <a:buFont typeface="Arial" charset="0"/>
              <a:buChar char="–"/>
              <a:defRPr lang="x-none" baseline="0">
                <a:latin typeface="+mn-lt"/>
              </a:defRPr>
            </a:lvl3pPr>
            <a:lvl4pPr marL="819192" lvl="3" indent="-207444" defTabSz="1193860" eaLnBrk="1" latinLnBrk="0" hangingPunct="1">
              <a:buClr>
                <a:schemeClr val="tx2"/>
              </a:buClr>
              <a:buSzPct val="120000"/>
              <a:buFont typeface="Arial" charset="0"/>
              <a:buChar char="▫"/>
              <a:defRPr lang="x-none" baseline="0">
                <a:latin typeface="+mn-lt"/>
              </a:defRPr>
            </a:lvl4pPr>
            <a:lvl5pPr marL="999794" lvl="4" indent="-173575" defTabSz="1193860" eaLnBrk="1" latinLnBrk="0" hangingPunct="1">
              <a:buClr>
                <a:schemeClr val="tx2"/>
              </a:buClr>
              <a:buSzPct val="89000"/>
              <a:buFont typeface="Arial" charset="0"/>
              <a:buChar char="-"/>
              <a:defRPr lang="x-none" baseline="0">
                <a:latin typeface="+mn-lt"/>
              </a:defRPr>
            </a:lvl5pPr>
            <a:lvl6pPr marL="999794" indent="-173575" defTabSz="1193860" fontAlgn="base">
              <a:spcBef>
                <a:spcPct val="0"/>
              </a:spcBef>
              <a:spcAft>
                <a:spcPct val="0"/>
              </a:spcAft>
              <a:buClr>
                <a:schemeClr val="tx2"/>
              </a:buClr>
              <a:buSzPct val="89000"/>
              <a:buFont typeface="Arial" charset="0"/>
              <a:buChar char="-"/>
              <a:defRPr lang="x-none" sz="2133" baseline="0">
                <a:latin typeface="+mn-lt"/>
              </a:defRPr>
            </a:lvl6pPr>
            <a:lvl7pPr marL="999794" indent="-173575" defTabSz="1193860" fontAlgn="base">
              <a:spcBef>
                <a:spcPct val="0"/>
              </a:spcBef>
              <a:spcAft>
                <a:spcPct val="0"/>
              </a:spcAft>
              <a:buClr>
                <a:schemeClr val="tx2"/>
              </a:buClr>
              <a:buSzPct val="89000"/>
              <a:buFont typeface="Arial" charset="0"/>
              <a:buChar char="-"/>
              <a:defRPr lang="x-none" sz="2133" baseline="0">
                <a:latin typeface="+mn-lt"/>
              </a:defRPr>
            </a:lvl7pPr>
            <a:lvl8pPr marL="999794" indent="-173575" defTabSz="1193860" fontAlgn="base">
              <a:spcBef>
                <a:spcPct val="0"/>
              </a:spcBef>
              <a:spcAft>
                <a:spcPct val="0"/>
              </a:spcAft>
              <a:buClr>
                <a:schemeClr val="tx2"/>
              </a:buClr>
              <a:buSzPct val="89000"/>
              <a:buFont typeface="Arial" charset="0"/>
              <a:buChar char="-"/>
              <a:defRPr lang="x-none" sz="2133" baseline="0">
                <a:latin typeface="+mn-lt"/>
              </a:defRPr>
            </a:lvl8pPr>
            <a:lvl9pPr marL="999794" indent="-173575" defTabSz="1193860" fontAlgn="base">
              <a:spcBef>
                <a:spcPct val="0"/>
              </a:spcBef>
              <a:spcAft>
                <a:spcPct val="0"/>
              </a:spcAft>
              <a:buClr>
                <a:schemeClr val="tx2"/>
              </a:buClr>
              <a:buSzPct val="89000"/>
              <a:buFont typeface="Arial" charset="0"/>
              <a:buChar char="-"/>
              <a:defRPr lang="x-none" sz="2133" baseline="0">
                <a:latin typeface="+mn-lt"/>
              </a:defRPr>
            </a:lvl9pPr>
          </a:lstStyle>
          <a:p>
            <a:pPr>
              <a:spcBef>
                <a:spcPts val="300"/>
              </a:spcBef>
              <a:spcAft>
                <a:spcPts val="300"/>
              </a:spcAft>
              <a:buClr>
                <a:srgbClr val="FFFFFF"/>
              </a:buClr>
              <a:defRPr/>
            </a:pPr>
            <a:r>
              <a:rPr lang="en-US" sz="2000" b="1">
                <a:solidFill>
                  <a:srgbClr val="0070AD"/>
                </a:solidFill>
                <a:latin typeface="Ubuntu" panose="020B0504030602030204" pitchFamily="34" charset="0"/>
                <a:cs typeface="Arial" panose="020B0604020202020204" pitchFamily="34" charset="0"/>
              </a:rPr>
              <a:t>MIGRATION</a:t>
            </a:r>
            <a:endParaRPr lang="en-US" sz="2000">
              <a:solidFill>
                <a:srgbClr val="0070AD"/>
              </a:solidFill>
              <a:latin typeface="Ubuntu" panose="020B0504030602030204" pitchFamily="34" charset="0"/>
            </a:endParaRPr>
          </a:p>
        </p:txBody>
      </p:sp>
      <p:sp>
        <p:nvSpPr>
          <p:cNvPr id="348" name="Legend4">
            <a:extLst>
              <a:ext uri="{FF2B5EF4-FFF2-40B4-BE49-F238E27FC236}">
                <a16:creationId xmlns:a16="http://schemas.microsoft.com/office/drawing/2014/main" id="{B113F086-D710-1634-B5E5-C3C6CD5BF0C1}"/>
              </a:ext>
            </a:extLst>
          </p:cNvPr>
          <p:cNvSpPr txBox="1"/>
          <p:nvPr/>
        </p:nvSpPr>
        <p:spPr>
          <a:xfrm>
            <a:off x="2337321" y="5596105"/>
            <a:ext cx="65" cy="138499"/>
          </a:xfrm>
          <a:prstGeom prst="rect">
            <a:avLst/>
          </a:prstGeom>
          <a:noFill/>
          <a:ln>
            <a:noFill/>
            <a:miter lim="800000"/>
          </a:ln>
        </p:spPr>
        <p:txBody>
          <a:bodyPr wrap="none" lIns="0" tIns="0" rIns="0" bIns="0" rtlCol="0" anchor="ctr" anchorCtr="0">
            <a:spAutoFit/>
          </a:bodyPr>
          <a:lstStyle/>
          <a:p>
            <a:pPr>
              <a:spcAft>
                <a:spcPts val="600"/>
              </a:spcAft>
              <a:defRPr/>
            </a:pPr>
            <a:endParaRPr lang="en-US" sz="900" b="1" kern="0">
              <a:solidFill>
                <a:srgbClr val="000000"/>
              </a:solidFill>
              <a:latin typeface="Verdana" panose="020B0604030504040204" pitchFamily="34" charset="0"/>
              <a:ea typeface="Verdana" panose="020B0604030504040204" pitchFamily="34" charset="0"/>
              <a:sym typeface="Verdana" panose="020B0604030504040204" pitchFamily="34" charset="0"/>
            </a:endParaRPr>
          </a:p>
        </p:txBody>
      </p:sp>
      <p:sp>
        <p:nvSpPr>
          <p:cNvPr id="349" name="Rectangle 348">
            <a:extLst>
              <a:ext uri="{FF2B5EF4-FFF2-40B4-BE49-F238E27FC236}">
                <a16:creationId xmlns:a16="http://schemas.microsoft.com/office/drawing/2014/main" id="{1FCF2CD2-F38D-747E-E6E4-A81123B46FB6}"/>
              </a:ext>
            </a:extLst>
          </p:cNvPr>
          <p:cNvSpPr/>
          <p:nvPr/>
        </p:nvSpPr>
        <p:spPr>
          <a:xfrm>
            <a:off x="295965" y="4927673"/>
            <a:ext cx="505267" cy="769441"/>
          </a:xfrm>
          <a:prstGeom prst="rect">
            <a:avLst/>
          </a:prstGeom>
          <a:noFill/>
          <a:ln>
            <a:noFill/>
          </a:ln>
        </p:spPr>
        <p:txBody>
          <a:bodyPr wrap="none" lIns="91440" tIns="45720" rIns="91440" bIns="45720">
            <a:spAutoFit/>
          </a:bodyPr>
          <a:lstStyle/>
          <a:p>
            <a:pPr algn="ctr">
              <a:defRPr/>
            </a:pPr>
            <a:r>
              <a:rPr lang="it-IT" sz="4400" b="1">
                <a:ln w="28575">
                  <a:noFill/>
                  <a:prstDash val="solid"/>
                </a:ln>
                <a:solidFill>
                  <a:srgbClr val="FFFFFF"/>
                </a:solidFill>
                <a:effectLst>
                  <a:outerShdw blurRad="38100" dist="22860" dir="5400000" algn="tl" rotWithShape="0">
                    <a:srgbClr val="000000">
                      <a:alpha val="30000"/>
                    </a:srgbClr>
                  </a:outerShdw>
                </a:effectLst>
                <a:latin typeface="Ubuntu"/>
              </a:rPr>
              <a:t>3</a:t>
            </a:r>
            <a:endParaRPr lang="en-US" sz="4400" b="1">
              <a:ln w="28575">
                <a:noFill/>
                <a:prstDash val="solid"/>
              </a:ln>
              <a:solidFill>
                <a:srgbClr val="FFFFFF"/>
              </a:solidFill>
              <a:effectLst>
                <a:outerShdw blurRad="38100" dist="22860" dir="5400000" algn="tl" rotWithShape="0">
                  <a:srgbClr val="000000">
                    <a:alpha val="30000"/>
                  </a:srgbClr>
                </a:outerShdw>
              </a:effectLst>
              <a:latin typeface="Ubuntu"/>
            </a:endParaRPr>
          </a:p>
        </p:txBody>
      </p:sp>
      <p:sp>
        <p:nvSpPr>
          <p:cNvPr id="350" name="Rectangle 349">
            <a:extLst>
              <a:ext uri="{FF2B5EF4-FFF2-40B4-BE49-F238E27FC236}">
                <a16:creationId xmlns:a16="http://schemas.microsoft.com/office/drawing/2014/main" id="{68F7B1A4-E356-627A-6389-9664F80214BB}"/>
              </a:ext>
            </a:extLst>
          </p:cNvPr>
          <p:cNvSpPr/>
          <p:nvPr/>
        </p:nvSpPr>
        <p:spPr>
          <a:xfrm>
            <a:off x="339842" y="4909742"/>
            <a:ext cx="505267" cy="769441"/>
          </a:xfrm>
          <a:prstGeom prst="rect">
            <a:avLst/>
          </a:prstGeom>
          <a:noFill/>
          <a:ln>
            <a:noFill/>
          </a:ln>
        </p:spPr>
        <p:txBody>
          <a:bodyPr wrap="none" lIns="91440" tIns="45720" rIns="91440" bIns="45720">
            <a:spAutoFit/>
          </a:bodyPr>
          <a:lstStyle/>
          <a:p>
            <a:pPr algn="ctr">
              <a:defRPr/>
            </a:pPr>
            <a:r>
              <a:rPr lang="it-IT" sz="4400" b="1">
                <a:ln w="28575">
                  <a:noFill/>
                  <a:prstDash val="solid"/>
                </a:ln>
                <a:solidFill>
                  <a:srgbClr val="0070AD"/>
                </a:solidFill>
                <a:effectLst>
                  <a:outerShdw blurRad="38100" dist="22860" dir="5400000" algn="tl" rotWithShape="0">
                    <a:srgbClr val="000000">
                      <a:alpha val="30000"/>
                    </a:srgbClr>
                  </a:outerShdw>
                </a:effectLst>
                <a:latin typeface="Ubuntu"/>
              </a:rPr>
              <a:t>3</a:t>
            </a:r>
            <a:endParaRPr lang="en-US" sz="4400" b="1">
              <a:ln w="28575">
                <a:noFill/>
                <a:prstDash val="solid"/>
              </a:ln>
              <a:solidFill>
                <a:srgbClr val="0070AD"/>
              </a:solidFill>
              <a:effectLst>
                <a:outerShdw blurRad="38100" dist="22860" dir="5400000" algn="tl" rotWithShape="0">
                  <a:srgbClr val="000000">
                    <a:alpha val="30000"/>
                  </a:srgbClr>
                </a:outerShdw>
              </a:effectLst>
              <a:latin typeface="Ubuntu"/>
            </a:endParaRPr>
          </a:p>
        </p:txBody>
      </p:sp>
      <p:sp>
        <p:nvSpPr>
          <p:cNvPr id="351" name="TextBox 350">
            <a:extLst>
              <a:ext uri="{FF2B5EF4-FFF2-40B4-BE49-F238E27FC236}">
                <a16:creationId xmlns:a16="http://schemas.microsoft.com/office/drawing/2014/main" id="{A4C4F21A-4E92-BA80-0010-E38BDAC3A7E3}"/>
              </a:ext>
            </a:extLst>
          </p:cNvPr>
          <p:cNvSpPr txBox="1">
            <a:spLocks/>
          </p:cNvSpPr>
          <p:nvPr/>
        </p:nvSpPr>
        <p:spPr>
          <a:xfrm>
            <a:off x="930182" y="1779109"/>
            <a:ext cx="3006466" cy="692497"/>
          </a:xfrm>
          <a:prstGeom prst="rect">
            <a:avLst/>
          </a:prstGeom>
        </p:spPr>
        <p:txBody>
          <a:bodyPr vert="horz" wrap="square" lIns="0" tIns="0" rIns="0" bIns="0" rtlCol="0">
            <a:spAutoFit/>
          </a:bodyPr>
          <a:lstStyle>
            <a:lvl1pPr marL="0" lvl="0" indent="0" defTabSz="1193860" eaLnBrk="1" latinLnBrk="0" hangingPunct="1">
              <a:buClr>
                <a:schemeClr val="tx2"/>
              </a:buClr>
              <a:buSzPct val="100000"/>
              <a:defRPr lang="x-none" baseline="0">
                <a:latin typeface="+mn-lt"/>
              </a:defRPr>
            </a:lvl1pPr>
            <a:lvl2pPr marL="194400" lvl="1" indent="-190800" defTabSz="1193860" eaLnBrk="1" latinLnBrk="0" hangingPunct="1">
              <a:buClr>
                <a:schemeClr val="tx2"/>
              </a:buClr>
              <a:buSzPct val="125000"/>
              <a:buFont typeface="Arial" charset="0"/>
              <a:buChar char="▪"/>
              <a:defRPr lang="x-none" baseline="0">
                <a:latin typeface="+mn-lt"/>
              </a:defRPr>
            </a:lvl2pPr>
            <a:lvl3pPr marL="609630" lvl="2" indent="-349268" defTabSz="1193860" eaLnBrk="1" latinLnBrk="0" hangingPunct="1">
              <a:buClr>
                <a:schemeClr val="tx2"/>
              </a:buClr>
              <a:buSzPct val="120000"/>
              <a:buFont typeface="Arial" charset="0"/>
              <a:buChar char="–"/>
              <a:defRPr lang="x-none" baseline="0">
                <a:latin typeface="+mn-lt"/>
              </a:defRPr>
            </a:lvl3pPr>
            <a:lvl4pPr marL="819192" lvl="3" indent="-207444" defTabSz="1193860" eaLnBrk="1" latinLnBrk="0" hangingPunct="1">
              <a:buClr>
                <a:schemeClr val="tx2"/>
              </a:buClr>
              <a:buSzPct val="120000"/>
              <a:buFont typeface="Arial" charset="0"/>
              <a:buChar char="▫"/>
              <a:defRPr lang="x-none" baseline="0">
                <a:latin typeface="+mn-lt"/>
              </a:defRPr>
            </a:lvl4pPr>
            <a:lvl5pPr marL="999794" lvl="4" indent="-173575" defTabSz="1193860" eaLnBrk="1" latinLnBrk="0" hangingPunct="1">
              <a:buClr>
                <a:schemeClr val="tx2"/>
              </a:buClr>
              <a:buSzPct val="89000"/>
              <a:buFont typeface="Arial" charset="0"/>
              <a:buChar char="-"/>
              <a:defRPr lang="x-none" baseline="0">
                <a:latin typeface="+mn-lt"/>
              </a:defRPr>
            </a:lvl5pPr>
            <a:lvl6pPr marL="999794" indent="-173575" defTabSz="1193860" fontAlgn="base">
              <a:spcBef>
                <a:spcPct val="0"/>
              </a:spcBef>
              <a:spcAft>
                <a:spcPct val="0"/>
              </a:spcAft>
              <a:buClr>
                <a:schemeClr val="tx2"/>
              </a:buClr>
              <a:buSzPct val="89000"/>
              <a:buFont typeface="Arial" charset="0"/>
              <a:buChar char="-"/>
              <a:defRPr lang="x-none" sz="2133" baseline="0">
                <a:latin typeface="+mn-lt"/>
              </a:defRPr>
            </a:lvl6pPr>
            <a:lvl7pPr marL="999794" indent="-173575" defTabSz="1193860" fontAlgn="base">
              <a:spcBef>
                <a:spcPct val="0"/>
              </a:spcBef>
              <a:spcAft>
                <a:spcPct val="0"/>
              </a:spcAft>
              <a:buClr>
                <a:schemeClr val="tx2"/>
              </a:buClr>
              <a:buSzPct val="89000"/>
              <a:buFont typeface="Arial" charset="0"/>
              <a:buChar char="-"/>
              <a:defRPr lang="x-none" sz="2133" baseline="0">
                <a:latin typeface="+mn-lt"/>
              </a:defRPr>
            </a:lvl7pPr>
            <a:lvl8pPr marL="999794" indent="-173575" defTabSz="1193860" fontAlgn="base">
              <a:spcBef>
                <a:spcPct val="0"/>
              </a:spcBef>
              <a:spcAft>
                <a:spcPct val="0"/>
              </a:spcAft>
              <a:buClr>
                <a:schemeClr val="tx2"/>
              </a:buClr>
              <a:buSzPct val="89000"/>
              <a:buFont typeface="Arial" charset="0"/>
              <a:buChar char="-"/>
              <a:defRPr lang="x-none" sz="2133" baseline="0">
                <a:latin typeface="+mn-lt"/>
              </a:defRPr>
            </a:lvl8pPr>
            <a:lvl9pPr marL="999794" indent="-173575" defTabSz="1193860" fontAlgn="base">
              <a:spcBef>
                <a:spcPct val="0"/>
              </a:spcBef>
              <a:spcAft>
                <a:spcPct val="0"/>
              </a:spcAft>
              <a:buClr>
                <a:schemeClr val="tx2"/>
              </a:buClr>
              <a:buSzPct val="89000"/>
              <a:buFont typeface="Arial" charset="0"/>
              <a:buChar char="-"/>
              <a:defRPr lang="x-none" sz="2133" baseline="0">
                <a:latin typeface="+mn-lt"/>
              </a:defRPr>
            </a:lvl9pPr>
          </a:lstStyle>
          <a:p>
            <a:pPr>
              <a:spcBef>
                <a:spcPts val="300"/>
              </a:spcBef>
              <a:spcAft>
                <a:spcPts val="300"/>
              </a:spcAft>
              <a:buClr>
                <a:srgbClr val="FFFFFF"/>
              </a:buClr>
              <a:defRPr/>
            </a:pPr>
            <a:r>
              <a:rPr lang="en-US" sz="2000" b="1">
                <a:solidFill>
                  <a:srgbClr val="0070AD"/>
                </a:solidFill>
                <a:latin typeface="Ubuntu" panose="020B0504030602030204" pitchFamily="34" charset="0"/>
                <a:cs typeface="Arial" panose="020B0604020202020204" pitchFamily="34" charset="0"/>
              </a:rPr>
              <a:t>NEW </a:t>
            </a:r>
          </a:p>
          <a:p>
            <a:pPr>
              <a:spcBef>
                <a:spcPts val="300"/>
              </a:spcBef>
              <a:spcAft>
                <a:spcPts val="300"/>
              </a:spcAft>
              <a:buClr>
                <a:srgbClr val="FFFFFF"/>
              </a:buClr>
              <a:defRPr/>
            </a:pPr>
            <a:r>
              <a:rPr lang="en-US" sz="2000" b="1">
                <a:solidFill>
                  <a:srgbClr val="0070AD"/>
                </a:solidFill>
                <a:latin typeface="Ubuntu" panose="020B0504030602030204" pitchFamily="34" charset="0"/>
                <a:cs typeface="Arial" panose="020B0604020202020204" pitchFamily="34" charset="0"/>
              </a:rPr>
              <a:t>IMPLEMENTATION</a:t>
            </a:r>
            <a:endParaRPr lang="en-US" sz="2000">
              <a:solidFill>
                <a:srgbClr val="0070AD"/>
              </a:solidFill>
              <a:latin typeface="Ubuntu" panose="020B0504030602030204" pitchFamily="34" charset="0"/>
            </a:endParaRPr>
          </a:p>
        </p:txBody>
      </p:sp>
      <p:sp>
        <p:nvSpPr>
          <p:cNvPr id="352" name="Rectangle 351">
            <a:extLst>
              <a:ext uri="{FF2B5EF4-FFF2-40B4-BE49-F238E27FC236}">
                <a16:creationId xmlns:a16="http://schemas.microsoft.com/office/drawing/2014/main" id="{75DD3D3A-5A65-BF73-9B81-E8F4ADB6EA96}"/>
              </a:ext>
            </a:extLst>
          </p:cNvPr>
          <p:cNvSpPr/>
          <p:nvPr/>
        </p:nvSpPr>
        <p:spPr>
          <a:xfrm>
            <a:off x="295965" y="1730841"/>
            <a:ext cx="505267" cy="769441"/>
          </a:xfrm>
          <a:prstGeom prst="rect">
            <a:avLst/>
          </a:prstGeom>
          <a:noFill/>
          <a:ln>
            <a:noFill/>
          </a:ln>
        </p:spPr>
        <p:txBody>
          <a:bodyPr wrap="none" lIns="91440" tIns="45720" rIns="91440" bIns="45720">
            <a:spAutoFit/>
          </a:bodyPr>
          <a:lstStyle/>
          <a:p>
            <a:pPr algn="ctr">
              <a:defRPr/>
            </a:pPr>
            <a:r>
              <a:rPr lang="it-IT" sz="4400" b="1">
                <a:ln w="28575">
                  <a:noFill/>
                  <a:prstDash val="solid"/>
                </a:ln>
                <a:solidFill>
                  <a:srgbClr val="FFFFFF"/>
                </a:solidFill>
                <a:effectLst>
                  <a:outerShdw blurRad="38100" dist="22860" dir="5400000" algn="tl" rotWithShape="0">
                    <a:srgbClr val="000000">
                      <a:alpha val="30000"/>
                    </a:srgbClr>
                  </a:outerShdw>
                </a:effectLst>
                <a:latin typeface="Ubuntu"/>
              </a:rPr>
              <a:t>1</a:t>
            </a:r>
            <a:endParaRPr lang="en-US" sz="4400" b="1">
              <a:ln w="28575">
                <a:noFill/>
                <a:prstDash val="solid"/>
              </a:ln>
              <a:solidFill>
                <a:srgbClr val="FFFFFF"/>
              </a:solidFill>
              <a:effectLst>
                <a:outerShdw blurRad="38100" dist="22860" dir="5400000" algn="tl" rotWithShape="0">
                  <a:srgbClr val="000000">
                    <a:alpha val="30000"/>
                  </a:srgbClr>
                </a:outerShdw>
              </a:effectLst>
              <a:latin typeface="Ubuntu"/>
            </a:endParaRPr>
          </a:p>
        </p:txBody>
      </p:sp>
      <p:sp>
        <p:nvSpPr>
          <p:cNvPr id="353" name="Rectangle 352">
            <a:extLst>
              <a:ext uri="{FF2B5EF4-FFF2-40B4-BE49-F238E27FC236}">
                <a16:creationId xmlns:a16="http://schemas.microsoft.com/office/drawing/2014/main" id="{110B719A-D7E2-5F14-F6E3-58C5644779B4}"/>
              </a:ext>
            </a:extLst>
          </p:cNvPr>
          <p:cNvSpPr/>
          <p:nvPr/>
        </p:nvSpPr>
        <p:spPr>
          <a:xfrm>
            <a:off x="339842" y="1712910"/>
            <a:ext cx="505267" cy="769441"/>
          </a:xfrm>
          <a:prstGeom prst="rect">
            <a:avLst/>
          </a:prstGeom>
          <a:noFill/>
          <a:ln>
            <a:noFill/>
          </a:ln>
        </p:spPr>
        <p:txBody>
          <a:bodyPr wrap="none" lIns="91440" tIns="45720" rIns="91440" bIns="45720">
            <a:spAutoFit/>
          </a:bodyPr>
          <a:lstStyle/>
          <a:p>
            <a:pPr algn="ctr">
              <a:defRPr/>
            </a:pPr>
            <a:r>
              <a:rPr lang="it-IT" sz="4400" b="1">
                <a:ln w="28575">
                  <a:noFill/>
                  <a:prstDash val="solid"/>
                </a:ln>
                <a:solidFill>
                  <a:srgbClr val="0070AD"/>
                </a:solidFill>
                <a:effectLst>
                  <a:outerShdw blurRad="38100" dist="22860" dir="5400000" algn="tl" rotWithShape="0">
                    <a:srgbClr val="000000">
                      <a:alpha val="30000"/>
                    </a:srgbClr>
                  </a:outerShdw>
                </a:effectLst>
                <a:latin typeface="Ubuntu"/>
              </a:rPr>
              <a:t>1</a:t>
            </a:r>
            <a:endParaRPr lang="en-US" sz="4400" b="1">
              <a:ln w="28575">
                <a:noFill/>
                <a:prstDash val="solid"/>
              </a:ln>
              <a:solidFill>
                <a:srgbClr val="0070AD"/>
              </a:solidFill>
              <a:effectLst>
                <a:outerShdw blurRad="38100" dist="22860" dir="5400000" algn="tl" rotWithShape="0">
                  <a:srgbClr val="000000">
                    <a:alpha val="30000"/>
                  </a:srgbClr>
                </a:outerShdw>
              </a:effectLst>
              <a:latin typeface="Ubuntu"/>
            </a:endParaRPr>
          </a:p>
        </p:txBody>
      </p:sp>
      <p:sp>
        <p:nvSpPr>
          <p:cNvPr id="354" name="TextBox 353">
            <a:extLst>
              <a:ext uri="{FF2B5EF4-FFF2-40B4-BE49-F238E27FC236}">
                <a16:creationId xmlns:a16="http://schemas.microsoft.com/office/drawing/2014/main" id="{EEDAA3F6-F7E3-2D89-261C-73EAA55727A7}"/>
              </a:ext>
            </a:extLst>
          </p:cNvPr>
          <p:cNvSpPr txBox="1">
            <a:spLocks/>
          </p:cNvSpPr>
          <p:nvPr/>
        </p:nvSpPr>
        <p:spPr>
          <a:xfrm>
            <a:off x="423257" y="4032575"/>
            <a:ext cx="3427115" cy="923330"/>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1" indent="0" algn="just" defTabSz="914400" eaLnBrk="1" fontAlgn="auto" latinLnBrk="0" hangingPunct="1">
              <a:lnSpc>
                <a:spcPct val="100000"/>
              </a:lnSpc>
              <a:spcBef>
                <a:spcPts val="0"/>
              </a:spcBef>
              <a:spcAft>
                <a:spcPts val="300"/>
              </a:spcAft>
              <a:buClr>
                <a:srgbClr val="0070AD"/>
              </a:buClr>
              <a:buSzPct val="110000"/>
              <a:buFont typeface="Wingdings" panose="05000000000000000000" pitchFamily="2" charset="2"/>
              <a:buNone/>
              <a:tabLst/>
              <a:defRPr/>
            </a:pPr>
            <a:r>
              <a:rPr kumimoji="0" lang="en-US" sz="1000" b="0"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It involves keeping current systems and processes as Users layers: Vodafone will start with a divesture project from current landscape, and both will feed a central (finance) system, offering a flexible </a:t>
            </a:r>
            <a:r>
              <a:rPr kumimoji="0" lang="en-US" sz="1000" b="1"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middle-ground approach </a:t>
            </a:r>
            <a:r>
              <a:rPr kumimoji="0" lang="en-US" sz="1000" b="0"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between new-implementation and migration</a:t>
            </a:r>
          </a:p>
        </p:txBody>
      </p:sp>
      <p:sp>
        <p:nvSpPr>
          <p:cNvPr id="355" name="TextBox 354">
            <a:extLst>
              <a:ext uri="{FF2B5EF4-FFF2-40B4-BE49-F238E27FC236}">
                <a16:creationId xmlns:a16="http://schemas.microsoft.com/office/drawing/2014/main" id="{C4FD9335-629A-3FFF-79CD-6C60374167AB}"/>
              </a:ext>
            </a:extLst>
          </p:cNvPr>
          <p:cNvSpPr txBox="1">
            <a:spLocks/>
          </p:cNvSpPr>
          <p:nvPr/>
        </p:nvSpPr>
        <p:spPr>
          <a:xfrm>
            <a:off x="423257" y="5667376"/>
            <a:ext cx="3427115" cy="769441"/>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1" indent="0" algn="just" defTabSz="914400" eaLnBrk="1" fontAlgn="auto" latinLnBrk="0" hangingPunct="1">
              <a:lnSpc>
                <a:spcPct val="100000"/>
              </a:lnSpc>
              <a:spcBef>
                <a:spcPts val="0"/>
              </a:spcBef>
              <a:spcAft>
                <a:spcPts val="300"/>
              </a:spcAft>
              <a:buClr>
                <a:srgbClr val="0070AD"/>
              </a:buClr>
              <a:buSzPct val="110000"/>
              <a:buFont typeface="Wingdings" panose="05000000000000000000" pitchFamily="2" charset="2"/>
              <a:buNone/>
              <a:tabLst/>
              <a:defRPr/>
            </a:pPr>
            <a:r>
              <a:rPr kumimoji="0" lang="en-US" sz="1000" b="0"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It is the </a:t>
            </a:r>
            <a:r>
              <a:rPr kumimoji="0" lang="en-US" sz="1000" b="1"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selective extraction </a:t>
            </a:r>
            <a:r>
              <a:rPr kumimoji="0" lang="en-US" sz="1000" b="0"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and transfer of relevant business data from the original landscape </a:t>
            </a:r>
            <a:r>
              <a:rPr kumimoji="0" lang="en-US" sz="1000" b="0" i="0" u="none" strike="noStrike" kern="0" cap="none" spc="0" normalizeH="0" baseline="0" noProof="0" dirty="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a:t>
            </a:r>
            <a:r>
              <a:rPr kumimoji="0" lang="en-US" sz="1000" b="0" i="0" u="none" strike="noStrike" kern="0" cap="none" spc="0" normalizeH="0" baseline="0" noProof="0" dirty="0" err="1">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exV</a:t>
            </a:r>
            <a:r>
              <a:rPr lang="en-US" sz="1000" kern="0" dirty="0">
                <a:solidFill>
                  <a:srgbClr val="404040"/>
                </a:solidFill>
              </a:rPr>
              <a:t>)</a:t>
            </a:r>
            <a:r>
              <a:rPr kumimoji="0" lang="en-US" sz="1000" b="0" i="0" u="none" strike="noStrike" kern="0" cap="none" spc="0" normalizeH="0" baseline="0" noProof="0" dirty="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 </a:t>
            </a:r>
            <a:r>
              <a:rPr kumimoji="0" lang="en-US" sz="1000" b="0"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to a </a:t>
            </a:r>
            <a:r>
              <a:rPr lang="en-US" sz="1000" kern="0" dirty="0">
                <a:solidFill>
                  <a:srgbClr val="404040"/>
                </a:solidFill>
              </a:rPr>
              <a:t>pre-existing</a:t>
            </a:r>
            <a:r>
              <a:rPr kumimoji="0" lang="en-US" sz="1000" b="0" i="0" u="none" strike="noStrike" kern="0" cap="none" spc="0" normalizeH="0" baseline="0" noProof="0" dirty="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 </a:t>
            </a:r>
            <a:r>
              <a:rPr kumimoji="0" lang="en-US" sz="1000" b="0"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one</a:t>
            </a:r>
            <a:r>
              <a:rPr kumimoji="0" lang="en-US" sz="1000" b="0" i="0" u="none" strike="noStrike" kern="0" cap="none" spc="0" normalizeH="0" baseline="0" noProof="0" dirty="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 (</a:t>
            </a:r>
            <a:r>
              <a:rPr kumimoji="0" lang="en-US" sz="1000" b="0" i="0" u="none" strike="noStrike" kern="0" cap="none" spc="0" normalizeH="0" baseline="0" noProof="0" dirty="0" err="1">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exF</a:t>
            </a:r>
            <a:r>
              <a:rPr kumimoji="0" lang="en-US" sz="1000" b="0" i="0" u="none" strike="noStrike" kern="0" cap="none" spc="0" normalizeH="0" baseline="0" noProof="0" dirty="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a:t>
            </a:r>
            <a:r>
              <a:rPr kumimoji="0" lang="en-US" sz="1000" b="0" i="0" u="none" strike="noStrike" kern="0" cap="none" spc="0" normalizeH="0" baseline="0" noProof="0">
                <a:ln>
                  <a:noFill/>
                </a:ln>
                <a:solidFill>
                  <a:srgbClr val="404040"/>
                </a:solidFill>
                <a:effectLst/>
                <a:uLnTx/>
                <a:uFillTx/>
                <a:latin typeface="Verdana" panose="020B0604030504040204" pitchFamily="34" charset="0"/>
                <a:ea typeface="Verdana" panose="020B0604030504040204" pitchFamily="34" charset="0"/>
                <a:sym typeface="Verdana" panose="020B0604030504040204" pitchFamily="34" charset="0"/>
              </a:rPr>
              <a:t> based on predefined and live business rules, to efficiently “extrapolate” the Divested Company</a:t>
            </a:r>
          </a:p>
        </p:txBody>
      </p:sp>
      <p:sp>
        <p:nvSpPr>
          <p:cNvPr id="337" name="TextBox 336">
            <a:extLst>
              <a:ext uri="{FF2B5EF4-FFF2-40B4-BE49-F238E27FC236}">
                <a16:creationId xmlns:a16="http://schemas.microsoft.com/office/drawing/2014/main" id="{EBDA0BF3-C80B-443E-A875-059699F565E1}"/>
              </a:ext>
            </a:extLst>
          </p:cNvPr>
          <p:cNvSpPr txBox="1">
            <a:spLocks/>
          </p:cNvSpPr>
          <p:nvPr/>
        </p:nvSpPr>
        <p:spPr>
          <a:xfrm>
            <a:off x="8432626" y="1536070"/>
            <a:ext cx="1663284"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Clr>
                <a:srgbClr val="000000"/>
              </a:buClr>
              <a:defRPr/>
            </a:pPr>
            <a:r>
              <a:rPr sz="900" b="1" kern="0">
                <a:solidFill>
                  <a:prstClr val="black">
                    <a:lumMod val="75000"/>
                    <a:lumOff val="25000"/>
                  </a:prstClr>
                </a:solidFill>
                <a:latin typeface="Ubuntu" panose="020B0504030602030204" pitchFamily="34" charset="0"/>
              </a:rPr>
              <a:t>KEY TAKEAWAYS</a:t>
            </a:r>
          </a:p>
        </p:txBody>
      </p:sp>
      <p:sp>
        <p:nvSpPr>
          <p:cNvPr id="339" name="TextBox 338">
            <a:extLst>
              <a:ext uri="{FF2B5EF4-FFF2-40B4-BE49-F238E27FC236}">
                <a16:creationId xmlns:a16="http://schemas.microsoft.com/office/drawing/2014/main" id="{09B3184A-ACCA-7076-A944-44B95B2A79DA}"/>
              </a:ext>
            </a:extLst>
          </p:cNvPr>
          <p:cNvSpPr txBox="1">
            <a:spLocks/>
          </p:cNvSpPr>
          <p:nvPr/>
        </p:nvSpPr>
        <p:spPr>
          <a:xfrm>
            <a:off x="8564135" y="1943683"/>
            <a:ext cx="3415161" cy="1172917"/>
          </a:xfrm>
          <a:prstGeom prst="rect">
            <a:avLst/>
          </a:prstGeom>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44000" marR="0" lvl="1" indent="-144000" algn="just"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Modernization </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of the Application Portfolio</a:t>
            </a:r>
          </a:p>
          <a:p>
            <a:pPr marL="144000" marR="0" lvl="1" indent="-144000"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Alignment </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to</a:t>
            </a:r>
            <a:r>
              <a:rPr kumimoji="0" lang="en-US" sz="900" b="1"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Industry and Product B</a:t>
            </a:r>
            <a:r>
              <a:rPr kumimoji="0" lang="en-US" sz="9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est</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Practices</a:t>
            </a:r>
          </a:p>
          <a:p>
            <a:pPr marL="144000" marR="0" lvl="1" indent="-144000"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Adaptation</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of Processes to the Organization</a:t>
            </a:r>
          </a:p>
          <a:p>
            <a:pPr marL="144000" marR="0" lvl="1" indent="-144000"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Effort </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of i</a:t>
            </a:r>
            <a:r>
              <a:rPr kumimoji="0" lang="en-US" sz="9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mplementation</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on </a:t>
            </a:r>
            <a:r>
              <a:rPr kumimoji="0" lang="en-US" sz="9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Busines</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s and IT</a:t>
            </a:r>
          </a:p>
          <a:p>
            <a:pPr marL="144000" marR="0" lvl="1" indent="-144000"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Delay</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on Operational Readiness</a:t>
            </a:r>
          </a:p>
          <a:p>
            <a:pPr marL="144000" marR="0" lvl="1" indent="-144000"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Challenge</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of redesigning P</a:t>
            </a:r>
            <a:r>
              <a:rPr kumimoji="0" lang="en-US" sz="9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rocesses</a:t>
            </a: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340" name="Oval 339">
            <a:extLst>
              <a:ext uri="{FF2B5EF4-FFF2-40B4-BE49-F238E27FC236}">
                <a16:creationId xmlns:a16="http://schemas.microsoft.com/office/drawing/2014/main" id="{838CB8FC-9604-7A4A-2113-872785248A48}"/>
              </a:ext>
            </a:extLst>
          </p:cNvPr>
          <p:cNvSpPr/>
          <p:nvPr/>
        </p:nvSpPr>
        <p:spPr>
          <a:xfrm>
            <a:off x="8468095" y="1843312"/>
            <a:ext cx="195652" cy="195652"/>
          </a:xfrm>
          <a:prstGeom prst="ellipse">
            <a:avLst/>
          </a:prstGeom>
          <a:solidFill>
            <a:srgbClr val="00BC55"/>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pic>
        <p:nvPicPr>
          <p:cNvPr id="341" name="Graphic 340">
            <a:extLst>
              <a:ext uri="{FF2B5EF4-FFF2-40B4-BE49-F238E27FC236}">
                <a16:creationId xmlns:a16="http://schemas.microsoft.com/office/drawing/2014/main" id="{5EE629B4-A2EC-6E94-0EE5-5E1A9D5C341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471855" y="1847072"/>
            <a:ext cx="188133" cy="188133"/>
          </a:xfrm>
          <a:prstGeom prst="rect">
            <a:avLst/>
          </a:prstGeom>
        </p:spPr>
      </p:pic>
      <p:sp>
        <p:nvSpPr>
          <p:cNvPr id="342" name="Oval 341">
            <a:extLst>
              <a:ext uri="{FF2B5EF4-FFF2-40B4-BE49-F238E27FC236}">
                <a16:creationId xmlns:a16="http://schemas.microsoft.com/office/drawing/2014/main" id="{BDD387C1-50CD-7239-B736-EA002A91EF00}"/>
              </a:ext>
            </a:extLst>
          </p:cNvPr>
          <p:cNvSpPr/>
          <p:nvPr/>
        </p:nvSpPr>
        <p:spPr>
          <a:xfrm>
            <a:off x="8468095" y="2568874"/>
            <a:ext cx="195652" cy="195652"/>
          </a:xfrm>
          <a:prstGeom prst="ellipse">
            <a:avLst/>
          </a:prstGeom>
          <a:solidFill>
            <a:srgbClr val="C00000"/>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sp>
        <p:nvSpPr>
          <p:cNvPr id="376" name="Oval 375">
            <a:extLst>
              <a:ext uri="{FF2B5EF4-FFF2-40B4-BE49-F238E27FC236}">
                <a16:creationId xmlns:a16="http://schemas.microsoft.com/office/drawing/2014/main" id="{BB1CA4DD-0879-333E-2570-303D45B1731F}"/>
              </a:ext>
            </a:extLst>
          </p:cNvPr>
          <p:cNvSpPr/>
          <p:nvPr/>
        </p:nvSpPr>
        <p:spPr>
          <a:xfrm>
            <a:off x="8468095" y="2085166"/>
            <a:ext cx="195652" cy="195652"/>
          </a:xfrm>
          <a:prstGeom prst="ellipse">
            <a:avLst/>
          </a:prstGeom>
          <a:solidFill>
            <a:srgbClr val="75FFB3"/>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sp>
        <p:nvSpPr>
          <p:cNvPr id="378" name="Oval 377">
            <a:extLst>
              <a:ext uri="{FF2B5EF4-FFF2-40B4-BE49-F238E27FC236}">
                <a16:creationId xmlns:a16="http://schemas.microsoft.com/office/drawing/2014/main" id="{C483AB57-7F3D-AB22-7FD0-C6A79FC69623}"/>
              </a:ext>
            </a:extLst>
          </p:cNvPr>
          <p:cNvSpPr/>
          <p:nvPr/>
        </p:nvSpPr>
        <p:spPr>
          <a:xfrm>
            <a:off x="8468095" y="2327020"/>
            <a:ext cx="195652" cy="195652"/>
          </a:xfrm>
          <a:prstGeom prst="ellipse">
            <a:avLst/>
          </a:prstGeom>
          <a:solidFill>
            <a:srgbClr val="75FFB3"/>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sp>
        <p:nvSpPr>
          <p:cNvPr id="380" name="Oval 379">
            <a:extLst>
              <a:ext uri="{FF2B5EF4-FFF2-40B4-BE49-F238E27FC236}">
                <a16:creationId xmlns:a16="http://schemas.microsoft.com/office/drawing/2014/main" id="{876C682F-B431-492E-401B-5696AFE125DD}"/>
              </a:ext>
            </a:extLst>
          </p:cNvPr>
          <p:cNvSpPr/>
          <p:nvPr/>
        </p:nvSpPr>
        <p:spPr>
          <a:xfrm>
            <a:off x="8468095" y="2810728"/>
            <a:ext cx="195652" cy="195652"/>
          </a:xfrm>
          <a:prstGeom prst="ellipse">
            <a:avLst/>
          </a:prstGeom>
          <a:solidFill>
            <a:srgbClr val="FF7575"/>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pic>
        <p:nvPicPr>
          <p:cNvPr id="381" name="Graphic 380">
            <a:extLst>
              <a:ext uri="{FF2B5EF4-FFF2-40B4-BE49-F238E27FC236}">
                <a16:creationId xmlns:a16="http://schemas.microsoft.com/office/drawing/2014/main" id="{9149A8AF-0B8F-FAAB-99C1-63A56E5DA964}"/>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471855" y="2814488"/>
            <a:ext cx="188133" cy="188133"/>
          </a:xfrm>
          <a:prstGeom prst="rect">
            <a:avLst/>
          </a:prstGeom>
        </p:spPr>
      </p:pic>
      <p:sp>
        <p:nvSpPr>
          <p:cNvPr id="382" name="Oval 381">
            <a:extLst>
              <a:ext uri="{FF2B5EF4-FFF2-40B4-BE49-F238E27FC236}">
                <a16:creationId xmlns:a16="http://schemas.microsoft.com/office/drawing/2014/main" id="{1A9EC015-3769-8243-E25C-CB878FC6EA38}"/>
              </a:ext>
            </a:extLst>
          </p:cNvPr>
          <p:cNvSpPr/>
          <p:nvPr/>
        </p:nvSpPr>
        <p:spPr>
          <a:xfrm>
            <a:off x="8468095" y="3052581"/>
            <a:ext cx="195652" cy="195652"/>
          </a:xfrm>
          <a:prstGeom prst="ellipse">
            <a:avLst/>
          </a:prstGeom>
          <a:solidFill>
            <a:srgbClr val="FF7575"/>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dirty="0">
              <a:solidFill>
                <a:srgbClr val="FFFFFF"/>
              </a:solidFill>
              <a:latin typeface="Verdana"/>
            </a:endParaRPr>
          </a:p>
        </p:txBody>
      </p:sp>
      <p:sp>
        <p:nvSpPr>
          <p:cNvPr id="384" name="TextBox 383">
            <a:extLst>
              <a:ext uri="{FF2B5EF4-FFF2-40B4-BE49-F238E27FC236}">
                <a16:creationId xmlns:a16="http://schemas.microsoft.com/office/drawing/2014/main" id="{0C378B30-D5FD-6BED-D783-26353661D422}"/>
              </a:ext>
            </a:extLst>
          </p:cNvPr>
          <p:cNvSpPr txBox="1">
            <a:spLocks/>
          </p:cNvSpPr>
          <p:nvPr/>
        </p:nvSpPr>
        <p:spPr>
          <a:xfrm>
            <a:off x="8573288" y="3579441"/>
            <a:ext cx="3415161" cy="1172917"/>
          </a:xfrm>
          <a:prstGeom prst="rect">
            <a:avLst/>
          </a:prstGeom>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44000" marR="0" lvl="1" indent="-144000" algn="just"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Reliability</a:t>
            </a:r>
            <a:r>
              <a:rPr kumimoji="0" lang="en-US" sz="9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on a Reference Model</a:t>
            </a:r>
          </a:p>
          <a:p>
            <a:pPr marL="144000" marR="0" lvl="1" indent="-144000" algn="just"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Continuity</a:t>
            </a:r>
            <a:r>
              <a:rPr kumimoji="0" lang="en-US" sz="9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with </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Finance </a:t>
            </a:r>
            <a:r>
              <a:rPr kumimoji="0" lang="en-US" sz="9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Modus Operandi</a:t>
            </a:r>
          </a:p>
          <a:p>
            <a:pPr marL="144000" marR="0" lvl="1" indent="-144000" algn="just"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Checkpoints</a:t>
            </a:r>
            <a:r>
              <a:rPr kumimoji="0" lang="en-US" sz="9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to validate the End-state</a:t>
            </a:r>
          </a:p>
          <a:p>
            <a:pPr marL="144000" marR="0" lvl="1" indent="-144000" algn="just"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Coordination</a:t>
            </a:r>
            <a:r>
              <a:rPr kumimoji="0" lang="en-US" sz="9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between Mapping logics</a:t>
            </a:r>
          </a:p>
          <a:p>
            <a:pPr marL="144000" marR="0" lvl="1" indent="-144000" algn="just"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Redundancy</a:t>
            </a:r>
            <a:r>
              <a:rPr kumimoji="0" lang="en-US" sz="9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or Lack of Companies’ Specific Logics</a:t>
            </a:r>
          </a:p>
          <a:p>
            <a:pPr marL="144000" marR="0" lvl="1" indent="-144000" algn="just"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Incompleteness</a:t>
            </a:r>
            <a:r>
              <a:rPr kumimoji="0" lang="en-US" sz="9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of </a:t>
            </a:r>
            <a:r>
              <a:rPr lang="en-US" sz="900" kern="0" dirty="0">
                <a:solidFill>
                  <a:srgbClr val="000000"/>
                </a:solidFill>
              </a:rPr>
              <a:t>Transformation steps</a:t>
            </a:r>
            <a:endParaRPr kumimoji="0" lang="en-US" sz="9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385" name="Oval 384">
            <a:extLst>
              <a:ext uri="{FF2B5EF4-FFF2-40B4-BE49-F238E27FC236}">
                <a16:creationId xmlns:a16="http://schemas.microsoft.com/office/drawing/2014/main" id="{62453827-65D4-39CB-13E0-0A19B7FFC319}"/>
              </a:ext>
            </a:extLst>
          </p:cNvPr>
          <p:cNvSpPr/>
          <p:nvPr/>
        </p:nvSpPr>
        <p:spPr>
          <a:xfrm>
            <a:off x="8477248" y="3479070"/>
            <a:ext cx="195652" cy="195652"/>
          </a:xfrm>
          <a:prstGeom prst="ellipse">
            <a:avLst/>
          </a:prstGeom>
          <a:solidFill>
            <a:srgbClr val="75FFB3"/>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sp>
        <p:nvSpPr>
          <p:cNvPr id="387" name="Oval 386">
            <a:extLst>
              <a:ext uri="{FF2B5EF4-FFF2-40B4-BE49-F238E27FC236}">
                <a16:creationId xmlns:a16="http://schemas.microsoft.com/office/drawing/2014/main" id="{D75F8570-3089-7C1C-BA4A-51A9DB2EF578}"/>
              </a:ext>
            </a:extLst>
          </p:cNvPr>
          <p:cNvSpPr/>
          <p:nvPr/>
        </p:nvSpPr>
        <p:spPr>
          <a:xfrm>
            <a:off x="8477248" y="4204632"/>
            <a:ext cx="195652" cy="195652"/>
          </a:xfrm>
          <a:prstGeom prst="ellipse">
            <a:avLst/>
          </a:prstGeom>
          <a:solidFill>
            <a:srgbClr val="FF7575"/>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pic>
        <p:nvPicPr>
          <p:cNvPr id="388" name="Graphic 387">
            <a:extLst>
              <a:ext uri="{FF2B5EF4-FFF2-40B4-BE49-F238E27FC236}">
                <a16:creationId xmlns:a16="http://schemas.microsoft.com/office/drawing/2014/main" id="{F2AACBEA-039D-1C8D-36E8-C68A14928CA0}"/>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481008" y="4208392"/>
            <a:ext cx="188133" cy="188133"/>
          </a:xfrm>
          <a:prstGeom prst="rect">
            <a:avLst/>
          </a:prstGeom>
        </p:spPr>
      </p:pic>
      <p:sp>
        <p:nvSpPr>
          <p:cNvPr id="389" name="Oval 388">
            <a:extLst>
              <a:ext uri="{FF2B5EF4-FFF2-40B4-BE49-F238E27FC236}">
                <a16:creationId xmlns:a16="http://schemas.microsoft.com/office/drawing/2014/main" id="{033F5FB8-149A-DA5E-7069-8172491E6381}"/>
              </a:ext>
            </a:extLst>
          </p:cNvPr>
          <p:cNvSpPr/>
          <p:nvPr/>
        </p:nvSpPr>
        <p:spPr>
          <a:xfrm>
            <a:off x="8477248" y="3720924"/>
            <a:ext cx="195652" cy="195652"/>
          </a:xfrm>
          <a:prstGeom prst="ellipse">
            <a:avLst/>
          </a:prstGeom>
          <a:solidFill>
            <a:srgbClr val="75FFB3"/>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sp>
        <p:nvSpPr>
          <p:cNvPr id="391" name="Oval 390">
            <a:extLst>
              <a:ext uri="{FF2B5EF4-FFF2-40B4-BE49-F238E27FC236}">
                <a16:creationId xmlns:a16="http://schemas.microsoft.com/office/drawing/2014/main" id="{65C0A2FA-45E1-311F-BDDD-DC99609726FF}"/>
              </a:ext>
            </a:extLst>
          </p:cNvPr>
          <p:cNvSpPr/>
          <p:nvPr/>
        </p:nvSpPr>
        <p:spPr>
          <a:xfrm>
            <a:off x="8477248" y="3962778"/>
            <a:ext cx="195652" cy="195652"/>
          </a:xfrm>
          <a:prstGeom prst="ellipse">
            <a:avLst/>
          </a:prstGeom>
          <a:solidFill>
            <a:srgbClr val="00BC55"/>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pic>
        <p:nvPicPr>
          <p:cNvPr id="392" name="Graphic 391">
            <a:extLst>
              <a:ext uri="{FF2B5EF4-FFF2-40B4-BE49-F238E27FC236}">
                <a16:creationId xmlns:a16="http://schemas.microsoft.com/office/drawing/2014/main" id="{FF62BCDC-73E5-5777-90D9-2697600570C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481008" y="3966538"/>
            <a:ext cx="188133" cy="188133"/>
          </a:xfrm>
          <a:prstGeom prst="rect">
            <a:avLst/>
          </a:prstGeom>
        </p:spPr>
      </p:pic>
      <p:sp>
        <p:nvSpPr>
          <p:cNvPr id="393" name="Oval 392">
            <a:extLst>
              <a:ext uri="{FF2B5EF4-FFF2-40B4-BE49-F238E27FC236}">
                <a16:creationId xmlns:a16="http://schemas.microsoft.com/office/drawing/2014/main" id="{ED33E8DF-D8AF-871C-D7A8-F3EC7FC73080}"/>
              </a:ext>
            </a:extLst>
          </p:cNvPr>
          <p:cNvSpPr/>
          <p:nvPr/>
        </p:nvSpPr>
        <p:spPr>
          <a:xfrm>
            <a:off x="8477248" y="4446486"/>
            <a:ext cx="195652" cy="195652"/>
          </a:xfrm>
          <a:prstGeom prst="ellipse">
            <a:avLst/>
          </a:prstGeom>
          <a:solidFill>
            <a:srgbClr val="FF7575"/>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pic>
        <p:nvPicPr>
          <p:cNvPr id="394" name="Graphic 393">
            <a:extLst>
              <a:ext uri="{FF2B5EF4-FFF2-40B4-BE49-F238E27FC236}">
                <a16:creationId xmlns:a16="http://schemas.microsoft.com/office/drawing/2014/main" id="{0D8950D4-3BEF-65AD-E87D-E1C31550C00F}"/>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481008" y="4450246"/>
            <a:ext cx="188133" cy="188133"/>
          </a:xfrm>
          <a:prstGeom prst="rect">
            <a:avLst/>
          </a:prstGeom>
        </p:spPr>
      </p:pic>
      <p:sp>
        <p:nvSpPr>
          <p:cNvPr id="395" name="Oval 394">
            <a:extLst>
              <a:ext uri="{FF2B5EF4-FFF2-40B4-BE49-F238E27FC236}">
                <a16:creationId xmlns:a16="http://schemas.microsoft.com/office/drawing/2014/main" id="{685EEA40-4A58-4035-0639-EDB67E5FFCE5}"/>
              </a:ext>
            </a:extLst>
          </p:cNvPr>
          <p:cNvSpPr/>
          <p:nvPr/>
        </p:nvSpPr>
        <p:spPr>
          <a:xfrm>
            <a:off x="8477248" y="4688339"/>
            <a:ext cx="195652" cy="195652"/>
          </a:xfrm>
          <a:prstGeom prst="ellipse">
            <a:avLst/>
          </a:prstGeom>
          <a:solidFill>
            <a:srgbClr val="C00000"/>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sp>
        <p:nvSpPr>
          <p:cNvPr id="397" name="TextBox 396">
            <a:extLst>
              <a:ext uri="{FF2B5EF4-FFF2-40B4-BE49-F238E27FC236}">
                <a16:creationId xmlns:a16="http://schemas.microsoft.com/office/drawing/2014/main" id="{521FF02B-1BA5-7B3E-D717-CAA090987DEC}"/>
              </a:ext>
            </a:extLst>
          </p:cNvPr>
          <p:cNvSpPr txBox="1">
            <a:spLocks/>
          </p:cNvSpPr>
          <p:nvPr/>
        </p:nvSpPr>
        <p:spPr>
          <a:xfrm>
            <a:off x="8573288" y="5209026"/>
            <a:ext cx="3415161" cy="1172917"/>
          </a:xfrm>
          <a:prstGeom prst="rect">
            <a:avLst/>
          </a:prstGeom>
        </p:spPr>
        <p:txBody>
          <a:bodyPr vert="horz" wrap="square" lIns="0" tIns="0" rIns="0" bIns="0" rtlCol="0" anchor="ctr">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44000" marR="0" lvl="1" indent="-144000" algn="just"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Cost-Efficiency</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on transferring Data</a:t>
            </a:r>
          </a:p>
          <a:p>
            <a:pPr marL="144000" marR="0" lvl="1" indent="-144000" algn="just"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Transition</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to a Target and Controlled Scenario</a:t>
            </a:r>
          </a:p>
          <a:p>
            <a:pPr marL="144000" marR="0" lvl="1" indent="-144000" algn="just"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Reduction</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from Business People Availability</a:t>
            </a:r>
            <a:r>
              <a:rPr kumimoji="0" lang="en-US" sz="900" b="0"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need</a:t>
            </a:r>
            <a:endPar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endParaRPr>
          </a:p>
          <a:p>
            <a:pPr marL="144000" marR="0" lvl="1" indent="-144000" algn="just"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Dependency </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on predefined Applications and Solutions</a:t>
            </a:r>
          </a:p>
          <a:p>
            <a:pPr marL="144000" marR="0" lvl="1" indent="-144000" algn="just"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Complexity</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on identifying and split out Data</a:t>
            </a:r>
          </a:p>
          <a:p>
            <a:pPr marL="144000" marR="0" lvl="1" indent="-144000" algn="just" defTabSz="914400" eaLnBrk="1" fontAlgn="auto" latinLnBrk="0" hangingPunct="1">
              <a:lnSpc>
                <a:spcPct val="150000"/>
              </a:lnSpc>
              <a:spcBef>
                <a:spcPts val="0"/>
              </a:spcBef>
              <a:spcAft>
                <a:spcPts val="300"/>
              </a:spcAft>
              <a:buClr>
                <a:srgbClr val="0070AD"/>
              </a:buClr>
              <a:buSzPct val="110000"/>
              <a:buFont typeface="Arial" panose="020B0604020202020204" pitchFamily="34" charset="0"/>
              <a:buChar char="•"/>
              <a:tabLst/>
              <a:defRPr/>
            </a:pPr>
            <a:r>
              <a:rPr kumimoji="0" lang="en-US" sz="900" b="1"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Adoption</a:t>
            </a:r>
            <a:r>
              <a:rPr kumimoji="0" lang="en-US" sz="900" b="0" i="0" u="none" strike="noStrike" kern="0" cap="none" spc="0" normalizeH="0" baseline="0" noProof="0">
                <a:ln>
                  <a:noFill/>
                </a:ln>
                <a:solidFill>
                  <a:srgbClr val="000000"/>
                </a:solidFill>
                <a:effectLst/>
                <a:uLnTx/>
                <a:uFillTx/>
                <a:latin typeface="Verdana" panose="020B0604030504040204" pitchFamily="34" charset="0"/>
                <a:ea typeface="Verdana" panose="020B0604030504040204" pitchFamily="34" charset="0"/>
                <a:sym typeface="Verdana" panose="020B0604030504040204" pitchFamily="34" charset="0"/>
              </a:rPr>
              <a:t> of unknown Objects and Processes</a:t>
            </a:r>
          </a:p>
        </p:txBody>
      </p:sp>
      <p:sp>
        <p:nvSpPr>
          <p:cNvPr id="398" name="Oval 397">
            <a:extLst>
              <a:ext uri="{FF2B5EF4-FFF2-40B4-BE49-F238E27FC236}">
                <a16:creationId xmlns:a16="http://schemas.microsoft.com/office/drawing/2014/main" id="{E9F00022-4D81-B46B-C2E0-519ED2709B00}"/>
              </a:ext>
            </a:extLst>
          </p:cNvPr>
          <p:cNvSpPr/>
          <p:nvPr/>
        </p:nvSpPr>
        <p:spPr>
          <a:xfrm>
            <a:off x="8477248" y="5108655"/>
            <a:ext cx="195652" cy="195652"/>
          </a:xfrm>
          <a:prstGeom prst="ellipse">
            <a:avLst/>
          </a:prstGeom>
          <a:solidFill>
            <a:srgbClr val="75FFB3"/>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sp>
        <p:nvSpPr>
          <p:cNvPr id="400" name="Oval 399">
            <a:extLst>
              <a:ext uri="{FF2B5EF4-FFF2-40B4-BE49-F238E27FC236}">
                <a16:creationId xmlns:a16="http://schemas.microsoft.com/office/drawing/2014/main" id="{F4C9D3F7-43FE-B14F-14A5-38C3E837138F}"/>
              </a:ext>
            </a:extLst>
          </p:cNvPr>
          <p:cNvSpPr/>
          <p:nvPr/>
        </p:nvSpPr>
        <p:spPr>
          <a:xfrm>
            <a:off x="8477248" y="5834217"/>
            <a:ext cx="195652" cy="195652"/>
          </a:xfrm>
          <a:prstGeom prst="ellipse">
            <a:avLst/>
          </a:prstGeom>
          <a:solidFill>
            <a:srgbClr val="FF7575"/>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pic>
        <p:nvPicPr>
          <p:cNvPr id="401" name="Graphic 400">
            <a:extLst>
              <a:ext uri="{FF2B5EF4-FFF2-40B4-BE49-F238E27FC236}">
                <a16:creationId xmlns:a16="http://schemas.microsoft.com/office/drawing/2014/main" id="{306FDB00-EDBF-B45B-6DB9-6AE6A7AE3CE0}"/>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481008" y="5837977"/>
            <a:ext cx="188133" cy="188133"/>
          </a:xfrm>
          <a:prstGeom prst="rect">
            <a:avLst/>
          </a:prstGeom>
        </p:spPr>
      </p:pic>
      <p:sp>
        <p:nvSpPr>
          <p:cNvPr id="402" name="Oval 401">
            <a:extLst>
              <a:ext uri="{FF2B5EF4-FFF2-40B4-BE49-F238E27FC236}">
                <a16:creationId xmlns:a16="http://schemas.microsoft.com/office/drawing/2014/main" id="{8E7A23D9-58EE-0C1C-1475-416DAA571063}"/>
              </a:ext>
            </a:extLst>
          </p:cNvPr>
          <p:cNvSpPr/>
          <p:nvPr/>
        </p:nvSpPr>
        <p:spPr>
          <a:xfrm>
            <a:off x="8477248" y="5350509"/>
            <a:ext cx="195652" cy="195652"/>
          </a:xfrm>
          <a:prstGeom prst="ellipse">
            <a:avLst/>
          </a:prstGeom>
          <a:solidFill>
            <a:srgbClr val="00BC55"/>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pic>
        <p:nvPicPr>
          <p:cNvPr id="403" name="Graphic 402">
            <a:extLst>
              <a:ext uri="{FF2B5EF4-FFF2-40B4-BE49-F238E27FC236}">
                <a16:creationId xmlns:a16="http://schemas.microsoft.com/office/drawing/2014/main" id="{830728C0-5617-D77D-D907-E12C4E41441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481008" y="5354269"/>
            <a:ext cx="188133" cy="188133"/>
          </a:xfrm>
          <a:prstGeom prst="rect">
            <a:avLst/>
          </a:prstGeom>
        </p:spPr>
      </p:pic>
      <p:sp>
        <p:nvSpPr>
          <p:cNvPr id="404" name="Oval 403">
            <a:extLst>
              <a:ext uri="{FF2B5EF4-FFF2-40B4-BE49-F238E27FC236}">
                <a16:creationId xmlns:a16="http://schemas.microsoft.com/office/drawing/2014/main" id="{A3A88619-A377-7998-2F5A-380BF8F757D8}"/>
              </a:ext>
            </a:extLst>
          </p:cNvPr>
          <p:cNvSpPr/>
          <p:nvPr/>
        </p:nvSpPr>
        <p:spPr>
          <a:xfrm>
            <a:off x="8477248" y="5592363"/>
            <a:ext cx="195652" cy="195652"/>
          </a:xfrm>
          <a:prstGeom prst="ellipse">
            <a:avLst/>
          </a:prstGeom>
          <a:solidFill>
            <a:srgbClr val="75FFB3"/>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sp>
        <p:nvSpPr>
          <p:cNvPr id="406" name="Oval 405">
            <a:extLst>
              <a:ext uri="{FF2B5EF4-FFF2-40B4-BE49-F238E27FC236}">
                <a16:creationId xmlns:a16="http://schemas.microsoft.com/office/drawing/2014/main" id="{D32D414A-545D-9A42-C484-1726948B7F1D}"/>
              </a:ext>
            </a:extLst>
          </p:cNvPr>
          <p:cNvSpPr/>
          <p:nvPr/>
        </p:nvSpPr>
        <p:spPr>
          <a:xfrm>
            <a:off x="8477248" y="6076071"/>
            <a:ext cx="195652" cy="195652"/>
          </a:xfrm>
          <a:prstGeom prst="ellipse">
            <a:avLst/>
          </a:prstGeom>
          <a:solidFill>
            <a:srgbClr val="FF7575"/>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pic>
        <p:nvPicPr>
          <p:cNvPr id="407" name="Graphic 406">
            <a:extLst>
              <a:ext uri="{FF2B5EF4-FFF2-40B4-BE49-F238E27FC236}">
                <a16:creationId xmlns:a16="http://schemas.microsoft.com/office/drawing/2014/main" id="{259153D3-B8D9-D931-53DD-E6093ECFC7B1}"/>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481008" y="6079831"/>
            <a:ext cx="188133" cy="188133"/>
          </a:xfrm>
          <a:prstGeom prst="rect">
            <a:avLst/>
          </a:prstGeom>
        </p:spPr>
      </p:pic>
      <p:sp>
        <p:nvSpPr>
          <p:cNvPr id="408" name="Oval 407">
            <a:extLst>
              <a:ext uri="{FF2B5EF4-FFF2-40B4-BE49-F238E27FC236}">
                <a16:creationId xmlns:a16="http://schemas.microsoft.com/office/drawing/2014/main" id="{519ABC59-C959-60FA-7CE6-57208F41CB52}"/>
              </a:ext>
            </a:extLst>
          </p:cNvPr>
          <p:cNvSpPr/>
          <p:nvPr/>
        </p:nvSpPr>
        <p:spPr>
          <a:xfrm>
            <a:off x="8477248" y="6317924"/>
            <a:ext cx="195652" cy="195652"/>
          </a:xfrm>
          <a:prstGeom prst="ellipse">
            <a:avLst/>
          </a:prstGeom>
          <a:solidFill>
            <a:srgbClr val="C00000"/>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defRPr/>
            </a:pPr>
            <a:endParaRPr lang="en-US" sz="1600" kern="0" err="1">
              <a:solidFill>
                <a:srgbClr val="FFFFFF"/>
              </a:solidFill>
              <a:latin typeface="Verdana"/>
            </a:endParaRPr>
          </a:p>
        </p:txBody>
      </p:sp>
      <p:sp>
        <p:nvSpPr>
          <p:cNvPr id="447" name="Rectangle 446">
            <a:extLst>
              <a:ext uri="{FF2B5EF4-FFF2-40B4-BE49-F238E27FC236}">
                <a16:creationId xmlns:a16="http://schemas.microsoft.com/office/drawing/2014/main" id="{46F71065-72B9-7774-E2FC-16381496FEA9}"/>
              </a:ext>
            </a:extLst>
          </p:cNvPr>
          <p:cNvSpPr/>
          <p:nvPr/>
        </p:nvSpPr>
        <p:spPr bwMode="gray">
          <a:xfrm>
            <a:off x="0" y="904004"/>
            <a:ext cx="12191999" cy="531032"/>
          </a:xfrm>
          <a:prstGeom prst="rect">
            <a:avLst/>
          </a:prstGeom>
          <a:solidFill>
            <a:srgbClr val="CCECFF"/>
          </a:solidFill>
          <a:ln w="6350" cap="flat" cmpd="sng" algn="ctr">
            <a:noFill/>
            <a:prstDash val="solid"/>
            <a:miter lim="800000"/>
          </a:ln>
          <a:effectLst/>
        </p:spPr>
        <p:txBody>
          <a:bodyPr lIns="180000" rtlCol="0" anchor="ctr"/>
          <a:lstStyle/>
          <a:p>
            <a:pPr>
              <a:lnSpc>
                <a:spcPct val="110000"/>
              </a:lnSpc>
            </a:pPr>
            <a:r>
              <a:rPr lang="en-US" sz="1600" i="1" kern="0" dirty="0">
                <a:latin typeface="+mj-lt"/>
              </a:rPr>
              <a:t>WE HAVE ANALIZED 3 M&amp;A APPROACHES, FINDING VALUE ACCORDING TO THE KEY TAKEAWAYS</a:t>
            </a:r>
          </a:p>
        </p:txBody>
      </p:sp>
      <p:grpSp>
        <p:nvGrpSpPr>
          <p:cNvPr id="5" name="Groupe 1">
            <a:extLst>
              <a:ext uri="{FF2B5EF4-FFF2-40B4-BE49-F238E27FC236}">
                <a16:creationId xmlns:a16="http://schemas.microsoft.com/office/drawing/2014/main" id="{8D229F66-56B5-EF19-B284-81ED38BD5941}"/>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6" name="Freeform 13">
              <a:extLst>
                <a:ext uri="{FF2B5EF4-FFF2-40B4-BE49-F238E27FC236}">
                  <a16:creationId xmlns:a16="http://schemas.microsoft.com/office/drawing/2014/main" id="{27EC98FE-3D67-F746-DBC5-22BA5A5789D9}"/>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7" name="Freeform 14">
              <a:extLst>
                <a:ext uri="{FF2B5EF4-FFF2-40B4-BE49-F238E27FC236}">
                  <a16:creationId xmlns:a16="http://schemas.microsoft.com/office/drawing/2014/main" id="{18977F63-2EE8-07D5-2185-40E8D691B3B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4" name="Foliennummernplatzhalter 5">
            <a:extLst>
              <a:ext uri="{FF2B5EF4-FFF2-40B4-BE49-F238E27FC236}">
                <a16:creationId xmlns:a16="http://schemas.microsoft.com/office/drawing/2014/main" id="{AC957663-5B36-3394-396C-B4932B87BADF}"/>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13</a:t>
            </a:fld>
            <a:endParaRPr lang="en-US"/>
          </a:p>
        </p:txBody>
      </p:sp>
      <p:sp>
        <p:nvSpPr>
          <p:cNvPr id="357" name="TextBox 356">
            <a:extLst>
              <a:ext uri="{FF2B5EF4-FFF2-40B4-BE49-F238E27FC236}">
                <a16:creationId xmlns:a16="http://schemas.microsoft.com/office/drawing/2014/main" id="{02742970-E6BC-7D45-1881-0171E0318A25}"/>
              </a:ext>
            </a:extLst>
          </p:cNvPr>
          <p:cNvSpPr txBox="1"/>
          <p:nvPr/>
        </p:nvSpPr>
        <p:spPr>
          <a:xfrm>
            <a:off x="4242775" y="1536071"/>
            <a:ext cx="1487062" cy="138499"/>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Clr>
                <a:srgbClr val="000000"/>
              </a:buClr>
              <a:defRPr/>
            </a:pPr>
            <a:r>
              <a:rPr sz="900" b="1" kern="0" dirty="0">
                <a:solidFill>
                  <a:prstClr val="black">
                    <a:lumMod val="75000"/>
                    <a:lumOff val="25000"/>
                  </a:prstClr>
                </a:solidFill>
                <a:latin typeface="Ubuntu" panose="020B0504030602030204" pitchFamily="34" charset="0"/>
              </a:rPr>
              <a:t>DEPLOYMENT PHASES</a:t>
            </a:r>
          </a:p>
        </p:txBody>
      </p:sp>
      <p:sp>
        <p:nvSpPr>
          <p:cNvPr id="325" name="Arrow: Striped Right 324">
            <a:extLst>
              <a:ext uri="{FF2B5EF4-FFF2-40B4-BE49-F238E27FC236}">
                <a16:creationId xmlns:a16="http://schemas.microsoft.com/office/drawing/2014/main" id="{EE6BEDE1-45F8-CB30-B805-98BC37790EC2}"/>
              </a:ext>
            </a:extLst>
          </p:cNvPr>
          <p:cNvSpPr/>
          <p:nvPr/>
        </p:nvSpPr>
        <p:spPr>
          <a:xfrm>
            <a:off x="4810825" y="4035330"/>
            <a:ext cx="2153924" cy="396188"/>
          </a:xfrm>
          <a:prstGeom prst="stripedRightArrow">
            <a:avLst>
              <a:gd name="adj1" fmla="val 50000"/>
              <a:gd name="adj2" fmla="val 39180"/>
            </a:avLst>
          </a:prstGeom>
          <a:solidFill>
            <a:srgbClr val="12ABDB">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Ubuntu"/>
              <a:ea typeface="+mn-ea"/>
              <a:cs typeface="+mn-cs"/>
            </a:endParaRPr>
          </a:p>
        </p:txBody>
      </p:sp>
      <p:sp>
        <p:nvSpPr>
          <p:cNvPr id="326" name="Rectangle 325">
            <a:extLst>
              <a:ext uri="{FF2B5EF4-FFF2-40B4-BE49-F238E27FC236}">
                <a16:creationId xmlns:a16="http://schemas.microsoft.com/office/drawing/2014/main" id="{264FEB45-ACCA-7CDD-2DD5-A8CCB0C3FCF4}"/>
              </a:ext>
            </a:extLst>
          </p:cNvPr>
          <p:cNvSpPr>
            <a:spLocks/>
          </p:cNvSpPr>
          <p:nvPr/>
        </p:nvSpPr>
        <p:spPr>
          <a:xfrm>
            <a:off x="4243995" y="4456664"/>
            <a:ext cx="1097072" cy="436539"/>
          </a:xfrm>
          <a:prstGeom prst="rect">
            <a:avLst/>
          </a:prstGeom>
          <a:solidFill>
            <a:srgbClr val="FFFFFF">
              <a:lumMod val="85000"/>
              <a:alpha val="54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Ubuntu"/>
              <a:ea typeface="+mn-ea"/>
              <a:cs typeface="+mn-cs"/>
            </a:endParaRPr>
          </a:p>
        </p:txBody>
      </p:sp>
      <p:sp>
        <p:nvSpPr>
          <p:cNvPr id="328" name="Rectangle: Top Corners Rounded 327">
            <a:extLst>
              <a:ext uri="{FF2B5EF4-FFF2-40B4-BE49-F238E27FC236}">
                <a16:creationId xmlns:a16="http://schemas.microsoft.com/office/drawing/2014/main" id="{380E335E-51AE-6DF1-BBDC-937E46685406}"/>
              </a:ext>
            </a:extLst>
          </p:cNvPr>
          <p:cNvSpPr>
            <a:spLocks/>
          </p:cNvSpPr>
          <p:nvPr/>
        </p:nvSpPr>
        <p:spPr>
          <a:xfrm>
            <a:off x="4243995" y="4209436"/>
            <a:ext cx="1097072" cy="249396"/>
          </a:xfrm>
          <a:prstGeom prst="round2SameRect">
            <a:avLst/>
          </a:prstGeom>
          <a:solidFill>
            <a:srgbClr val="0070AD"/>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FFFFFF"/>
                </a:solidFill>
                <a:effectLst/>
                <a:uLnTx/>
                <a:uFillTx/>
                <a:latin typeface="Ubuntu"/>
                <a:ea typeface="+mn-ea"/>
                <a:cs typeface="+mn-cs"/>
              </a:rPr>
              <a:t>FASTWEB</a:t>
            </a:r>
          </a:p>
        </p:txBody>
      </p:sp>
      <p:sp>
        <p:nvSpPr>
          <p:cNvPr id="329" name="Rectangle 328">
            <a:extLst>
              <a:ext uri="{FF2B5EF4-FFF2-40B4-BE49-F238E27FC236}">
                <a16:creationId xmlns:a16="http://schemas.microsoft.com/office/drawing/2014/main" id="{9C1BBFD4-F61F-5DD3-801F-2191CFB5C426}"/>
              </a:ext>
            </a:extLst>
          </p:cNvPr>
          <p:cNvSpPr>
            <a:spLocks/>
          </p:cNvSpPr>
          <p:nvPr/>
        </p:nvSpPr>
        <p:spPr>
          <a:xfrm>
            <a:off x="4243995" y="3719436"/>
            <a:ext cx="1097072" cy="436539"/>
          </a:xfrm>
          <a:prstGeom prst="rect">
            <a:avLst/>
          </a:prstGeom>
          <a:solidFill>
            <a:srgbClr val="FFFFFF">
              <a:lumMod val="85000"/>
              <a:alpha val="54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Ubuntu"/>
              <a:ea typeface="+mn-ea"/>
              <a:cs typeface="+mn-cs"/>
            </a:endParaRPr>
          </a:p>
        </p:txBody>
      </p:sp>
      <p:sp>
        <p:nvSpPr>
          <p:cNvPr id="330" name="Cylinder 329">
            <a:extLst>
              <a:ext uri="{FF2B5EF4-FFF2-40B4-BE49-F238E27FC236}">
                <a16:creationId xmlns:a16="http://schemas.microsoft.com/office/drawing/2014/main" id="{11F97E71-E261-04C2-E824-1B2EC92ECEB7}"/>
              </a:ext>
            </a:extLst>
          </p:cNvPr>
          <p:cNvSpPr/>
          <p:nvPr/>
        </p:nvSpPr>
        <p:spPr>
          <a:xfrm>
            <a:off x="4345576" y="3792960"/>
            <a:ext cx="893911" cy="295481"/>
          </a:xfrm>
          <a:prstGeom prst="can">
            <a:avLst/>
          </a:prstGeom>
          <a:solidFill>
            <a:srgbClr val="FFFFFF"/>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a:ln>
                  <a:noFill/>
                </a:ln>
                <a:solidFill>
                  <a:srgbClr val="0070AD"/>
                </a:solidFill>
                <a:effectLst/>
                <a:uLnTx/>
                <a:uFillTx/>
                <a:latin typeface="Ubuntu"/>
                <a:ea typeface="+mn-ea"/>
                <a:cs typeface="+mn-cs"/>
              </a:rPr>
              <a:t>FI – HR – SC</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331" name="Rectangle: Top Corners Rounded 330">
            <a:extLst>
              <a:ext uri="{FF2B5EF4-FFF2-40B4-BE49-F238E27FC236}">
                <a16:creationId xmlns:a16="http://schemas.microsoft.com/office/drawing/2014/main" id="{D9B8AFB6-5B23-4698-C876-E780FD04D299}"/>
              </a:ext>
            </a:extLst>
          </p:cNvPr>
          <p:cNvSpPr>
            <a:spLocks/>
          </p:cNvSpPr>
          <p:nvPr/>
        </p:nvSpPr>
        <p:spPr>
          <a:xfrm>
            <a:off x="4243995" y="3472209"/>
            <a:ext cx="1097072" cy="249396"/>
          </a:xfrm>
          <a:prstGeom prst="round2SameRect">
            <a:avLst/>
          </a:prstGeom>
          <a:solidFill>
            <a:srgbClr val="0070AD"/>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FFFFFF"/>
                </a:solidFill>
                <a:effectLst/>
                <a:uLnTx/>
                <a:uFillTx/>
                <a:latin typeface="Ubuntu"/>
                <a:ea typeface="+mn-ea"/>
                <a:cs typeface="+mn-cs"/>
              </a:rPr>
              <a:t>VODAFONE</a:t>
            </a:r>
          </a:p>
        </p:txBody>
      </p:sp>
      <p:sp>
        <p:nvSpPr>
          <p:cNvPr id="332" name="Arrow: Striped Right 331">
            <a:extLst>
              <a:ext uri="{FF2B5EF4-FFF2-40B4-BE49-F238E27FC236}">
                <a16:creationId xmlns:a16="http://schemas.microsoft.com/office/drawing/2014/main" id="{FA7901AD-64ED-4853-79AD-627786ABA074}"/>
              </a:ext>
            </a:extLst>
          </p:cNvPr>
          <p:cNvSpPr/>
          <p:nvPr/>
        </p:nvSpPr>
        <p:spPr>
          <a:xfrm>
            <a:off x="4810825" y="2347966"/>
            <a:ext cx="2153924" cy="396188"/>
          </a:xfrm>
          <a:prstGeom prst="stripedRightArrow">
            <a:avLst>
              <a:gd name="adj1" fmla="val 50000"/>
              <a:gd name="adj2" fmla="val 39180"/>
            </a:avLst>
          </a:prstGeom>
          <a:solidFill>
            <a:srgbClr val="12ABDB">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Ubuntu"/>
              <a:ea typeface="+mn-ea"/>
              <a:cs typeface="+mn-cs"/>
            </a:endParaRPr>
          </a:p>
        </p:txBody>
      </p:sp>
      <p:sp>
        <p:nvSpPr>
          <p:cNvPr id="356" name="Arrow: Striped Right 355">
            <a:extLst>
              <a:ext uri="{FF2B5EF4-FFF2-40B4-BE49-F238E27FC236}">
                <a16:creationId xmlns:a16="http://schemas.microsoft.com/office/drawing/2014/main" id="{4067C5AC-21E1-ADC8-A1E7-8D6FF02205F2}"/>
              </a:ext>
            </a:extLst>
          </p:cNvPr>
          <p:cNvSpPr/>
          <p:nvPr/>
        </p:nvSpPr>
        <p:spPr>
          <a:xfrm>
            <a:off x="4810825" y="5688510"/>
            <a:ext cx="2153924" cy="396188"/>
          </a:xfrm>
          <a:prstGeom prst="stripedRightArrow">
            <a:avLst>
              <a:gd name="adj1" fmla="val 50000"/>
              <a:gd name="adj2" fmla="val 37561"/>
            </a:avLst>
          </a:prstGeom>
          <a:solidFill>
            <a:srgbClr val="12ABDB">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Ubuntu"/>
              <a:ea typeface="+mn-ea"/>
              <a:cs typeface="+mn-cs"/>
            </a:endParaRPr>
          </a:p>
        </p:txBody>
      </p:sp>
      <p:sp>
        <p:nvSpPr>
          <p:cNvPr id="358" name="Rectangle 357">
            <a:extLst>
              <a:ext uri="{FF2B5EF4-FFF2-40B4-BE49-F238E27FC236}">
                <a16:creationId xmlns:a16="http://schemas.microsoft.com/office/drawing/2014/main" id="{CD4B7D12-0397-491B-5827-5D0FDF1FFC1C}"/>
              </a:ext>
            </a:extLst>
          </p:cNvPr>
          <p:cNvSpPr>
            <a:spLocks/>
          </p:cNvSpPr>
          <p:nvPr/>
        </p:nvSpPr>
        <p:spPr>
          <a:xfrm>
            <a:off x="6968991" y="5483460"/>
            <a:ext cx="1097072" cy="820004"/>
          </a:xfrm>
          <a:prstGeom prst="rect">
            <a:avLst/>
          </a:prstGeom>
          <a:solidFill>
            <a:srgbClr val="0070AD">
              <a:lumMod val="40000"/>
              <a:lumOff val="60000"/>
              <a:alpha val="54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Ubuntu"/>
              <a:ea typeface="+mn-ea"/>
              <a:cs typeface="+mn-cs"/>
            </a:endParaRPr>
          </a:p>
        </p:txBody>
      </p:sp>
      <p:sp>
        <p:nvSpPr>
          <p:cNvPr id="359" name="Rectangle: Top Corners Rounded 358">
            <a:extLst>
              <a:ext uri="{FF2B5EF4-FFF2-40B4-BE49-F238E27FC236}">
                <a16:creationId xmlns:a16="http://schemas.microsoft.com/office/drawing/2014/main" id="{8E5064BE-C6DC-6F04-5ABC-CD52345D80FE}"/>
              </a:ext>
            </a:extLst>
          </p:cNvPr>
          <p:cNvSpPr>
            <a:spLocks/>
          </p:cNvSpPr>
          <p:nvPr/>
        </p:nvSpPr>
        <p:spPr>
          <a:xfrm>
            <a:off x="6968991" y="5195949"/>
            <a:ext cx="1097072" cy="249396"/>
          </a:xfrm>
          <a:prstGeom prst="round2SameRect">
            <a:avLst/>
          </a:prstGeom>
          <a:solidFill>
            <a:srgbClr val="0070AD"/>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FFFFFF"/>
                </a:solidFill>
                <a:effectLst/>
                <a:uLnTx/>
                <a:uFillTx/>
                <a:latin typeface="Ubuntu"/>
                <a:ea typeface="+mn-ea"/>
                <a:cs typeface="+mn-cs"/>
              </a:rPr>
              <a:t>NEWCO</a:t>
            </a:r>
          </a:p>
        </p:txBody>
      </p:sp>
      <p:sp>
        <p:nvSpPr>
          <p:cNvPr id="361" name="Rectangle 360">
            <a:extLst>
              <a:ext uri="{FF2B5EF4-FFF2-40B4-BE49-F238E27FC236}">
                <a16:creationId xmlns:a16="http://schemas.microsoft.com/office/drawing/2014/main" id="{BCAD1042-B005-8816-77E4-684FD1582D6A}"/>
              </a:ext>
            </a:extLst>
          </p:cNvPr>
          <p:cNvSpPr>
            <a:spLocks/>
          </p:cNvSpPr>
          <p:nvPr/>
        </p:nvSpPr>
        <p:spPr>
          <a:xfrm>
            <a:off x="6968991" y="3830280"/>
            <a:ext cx="1097072" cy="403496"/>
          </a:xfrm>
          <a:prstGeom prst="rect">
            <a:avLst/>
          </a:prstGeom>
          <a:solidFill>
            <a:srgbClr val="0070AD">
              <a:lumMod val="40000"/>
              <a:lumOff val="60000"/>
              <a:alpha val="54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Ubuntu"/>
              <a:ea typeface="+mn-ea"/>
              <a:cs typeface="+mn-cs"/>
            </a:endParaRPr>
          </a:p>
        </p:txBody>
      </p:sp>
      <p:sp>
        <p:nvSpPr>
          <p:cNvPr id="362" name="Rectangle: Top Corners Rounded 361">
            <a:extLst>
              <a:ext uri="{FF2B5EF4-FFF2-40B4-BE49-F238E27FC236}">
                <a16:creationId xmlns:a16="http://schemas.microsoft.com/office/drawing/2014/main" id="{94B3478A-9967-18CD-140F-CA1E60DDB465}"/>
              </a:ext>
            </a:extLst>
          </p:cNvPr>
          <p:cNvSpPr>
            <a:spLocks/>
          </p:cNvSpPr>
          <p:nvPr/>
        </p:nvSpPr>
        <p:spPr>
          <a:xfrm>
            <a:off x="6968991" y="3542769"/>
            <a:ext cx="1097072" cy="249396"/>
          </a:xfrm>
          <a:prstGeom prst="round2SameRect">
            <a:avLst/>
          </a:prstGeom>
          <a:solidFill>
            <a:srgbClr val="0070AD"/>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FFFFFF"/>
                </a:solidFill>
                <a:effectLst/>
                <a:uLnTx/>
                <a:uFillTx/>
                <a:latin typeface="Ubuntu"/>
                <a:ea typeface="+mn-ea"/>
                <a:cs typeface="+mn-cs"/>
              </a:rPr>
              <a:t>NEWCO</a:t>
            </a:r>
          </a:p>
        </p:txBody>
      </p:sp>
      <p:sp>
        <p:nvSpPr>
          <p:cNvPr id="363" name="Cylinder 362">
            <a:extLst>
              <a:ext uri="{FF2B5EF4-FFF2-40B4-BE49-F238E27FC236}">
                <a16:creationId xmlns:a16="http://schemas.microsoft.com/office/drawing/2014/main" id="{C0CD074A-70C8-6926-9643-073710C74A31}"/>
              </a:ext>
            </a:extLst>
          </p:cNvPr>
          <p:cNvSpPr/>
          <p:nvPr/>
        </p:nvSpPr>
        <p:spPr>
          <a:xfrm>
            <a:off x="7004403" y="3881091"/>
            <a:ext cx="674788" cy="261997"/>
          </a:xfrm>
          <a:prstGeom prst="can">
            <a:avLst/>
          </a:prstGeom>
          <a:solidFill>
            <a:srgbClr val="FFFFFF"/>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FI</a:t>
            </a:r>
            <a:br>
              <a:rPr kumimoji="0" lang="it-IT" sz="800" b="0" i="0" u="none" strike="noStrike" kern="0" cap="none" spc="0" normalizeH="0" baseline="0" noProof="0" dirty="0">
                <a:ln>
                  <a:noFill/>
                </a:ln>
                <a:solidFill>
                  <a:srgbClr val="0070AD"/>
                </a:solidFill>
                <a:effectLst/>
                <a:uLnTx/>
                <a:uFillTx/>
                <a:latin typeface="Ubuntu"/>
                <a:ea typeface="+mn-ea"/>
                <a:cs typeface="+mn-cs"/>
              </a:rPr>
            </a:br>
            <a:r>
              <a:rPr kumimoji="0" lang="it-IT" sz="400" b="0" i="0" u="none" strike="noStrike" kern="0" cap="none" spc="0" normalizeH="0" baseline="0" noProof="0" dirty="0">
                <a:ln>
                  <a:noFill/>
                </a:ln>
                <a:solidFill>
                  <a:srgbClr val="0070AD"/>
                </a:solidFill>
                <a:effectLst/>
                <a:uLnTx/>
                <a:uFillTx/>
                <a:latin typeface="Ubuntu"/>
                <a:ea typeface="+mn-ea"/>
                <a:cs typeface="+mn-cs"/>
              </a:rPr>
              <a:t>AGGREGATION LAYER</a:t>
            </a:r>
            <a:endParaRPr kumimoji="0" lang="en-US" sz="500" b="0" i="0" u="none" strike="noStrike" kern="0" cap="none" spc="0" normalizeH="0" baseline="0" noProof="0" dirty="0">
              <a:ln>
                <a:noFill/>
              </a:ln>
              <a:solidFill>
                <a:srgbClr val="0070AD"/>
              </a:solidFill>
              <a:effectLst/>
              <a:uLnTx/>
              <a:uFillTx/>
              <a:latin typeface="Ubuntu"/>
              <a:ea typeface="+mn-ea"/>
              <a:cs typeface="+mn-cs"/>
            </a:endParaRPr>
          </a:p>
        </p:txBody>
      </p:sp>
      <p:sp>
        <p:nvSpPr>
          <p:cNvPr id="364" name="Rectangle 363">
            <a:extLst>
              <a:ext uri="{FF2B5EF4-FFF2-40B4-BE49-F238E27FC236}">
                <a16:creationId xmlns:a16="http://schemas.microsoft.com/office/drawing/2014/main" id="{381B0039-51AF-8370-77C5-B90DA9D00724}"/>
              </a:ext>
            </a:extLst>
          </p:cNvPr>
          <p:cNvSpPr>
            <a:spLocks/>
          </p:cNvSpPr>
          <p:nvPr/>
        </p:nvSpPr>
        <p:spPr>
          <a:xfrm>
            <a:off x="5601932" y="5483460"/>
            <a:ext cx="1097072" cy="820004"/>
          </a:xfrm>
          <a:prstGeom prst="rect">
            <a:avLst/>
          </a:prstGeom>
          <a:solidFill>
            <a:srgbClr val="FFFFFF">
              <a:lumMod val="85000"/>
              <a:alpha val="54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Ubuntu"/>
              <a:ea typeface="+mn-ea"/>
              <a:cs typeface="+mn-cs"/>
            </a:endParaRPr>
          </a:p>
        </p:txBody>
      </p:sp>
      <p:sp>
        <p:nvSpPr>
          <p:cNvPr id="365" name="Rectangle: Top Corners Rounded 364">
            <a:extLst>
              <a:ext uri="{FF2B5EF4-FFF2-40B4-BE49-F238E27FC236}">
                <a16:creationId xmlns:a16="http://schemas.microsoft.com/office/drawing/2014/main" id="{61A98F0A-B7AC-8A22-44B3-2307721C83DE}"/>
              </a:ext>
            </a:extLst>
          </p:cNvPr>
          <p:cNvSpPr>
            <a:spLocks/>
          </p:cNvSpPr>
          <p:nvPr/>
        </p:nvSpPr>
        <p:spPr>
          <a:xfrm>
            <a:off x="5601932" y="5195949"/>
            <a:ext cx="1097072" cy="249396"/>
          </a:xfrm>
          <a:prstGeom prst="round2SameRect">
            <a:avLst/>
          </a:prstGeom>
          <a:solidFill>
            <a:srgbClr val="F6F6F6">
              <a:lumMod val="50000"/>
            </a:srgbClr>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800" b="1" i="1" u="none" strike="noStrike" kern="0" cap="none" spc="0" normalizeH="0" baseline="0" noProof="0">
                <a:ln>
                  <a:noFill/>
                </a:ln>
                <a:solidFill>
                  <a:srgbClr val="FFFFFF"/>
                </a:solidFill>
                <a:effectLst/>
                <a:uLnTx/>
                <a:uFillTx/>
                <a:latin typeface="Ubuntu"/>
                <a:ea typeface="+mn-ea"/>
                <a:cs typeface="+mn-cs"/>
              </a:rPr>
              <a:t>interim</a:t>
            </a:r>
          </a:p>
        </p:txBody>
      </p:sp>
      <p:sp>
        <p:nvSpPr>
          <p:cNvPr id="366" name="Rectangle 365">
            <a:extLst>
              <a:ext uri="{FF2B5EF4-FFF2-40B4-BE49-F238E27FC236}">
                <a16:creationId xmlns:a16="http://schemas.microsoft.com/office/drawing/2014/main" id="{C80BD724-28C9-2F23-9ACA-28C9B0AD22E4}"/>
              </a:ext>
            </a:extLst>
          </p:cNvPr>
          <p:cNvSpPr>
            <a:spLocks/>
          </p:cNvSpPr>
          <p:nvPr/>
        </p:nvSpPr>
        <p:spPr>
          <a:xfrm>
            <a:off x="5601932" y="3830280"/>
            <a:ext cx="1097072" cy="820004"/>
          </a:xfrm>
          <a:prstGeom prst="rect">
            <a:avLst/>
          </a:prstGeom>
          <a:solidFill>
            <a:srgbClr val="FFFFFF">
              <a:lumMod val="85000"/>
              <a:alpha val="54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Ubuntu"/>
              <a:ea typeface="+mn-ea"/>
              <a:cs typeface="+mn-cs"/>
            </a:endParaRPr>
          </a:p>
        </p:txBody>
      </p:sp>
      <p:sp>
        <p:nvSpPr>
          <p:cNvPr id="367" name="Rectangle: Top Corners Rounded 366">
            <a:extLst>
              <a:ext uri="{FF2B5EF4-FFF2-40B4-BE49-F238E27FC236}">
                <a16:creationId xmlns:a16="http://schemas.microsoft.com/office/drawing/2014/main" id="{95445A7C-B8DE-A0D4-0856-024FDAB5A1AA}"/>
              </a:ext>
            </a:extLst>
          </p:cNvPr>
          <p:cNvSpPr>
            <a:spLocks/>
          </p:cNvSpPr>
          <p:nvPr/>
        </p:nvSpPr>
        <p:spPr>
          <a:xfrm>
            <a:off x="5601932" y="3542769"/>
            <a:ext cx="1097072" cy="249396"/>
          </a:xfrm>
          <a:prstGeom prst="round2SameRect">
            <a:avLst/>
          </a:prstGeom>
          <a:solidFill>
            <a:srgbClr val="F6F6F6">
              <a:lumMod val="50000"/>
            </a:srgbClr>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800" b="1" i="1" u="none" strike="noStrike" kern="0" cap="none" spc="0" normalizeH="0" baseline="0" noProof="0">
                <a:ln>
                  <a:noFill/>
                </a:ln>
                <a:solidFill>
                  <a:srgbClr val="FFFFFF"/>
                </a:solidFill>
                <a:effectLst/>
                <a:uLnTx/>
                <a:uFillTx/>
                <a:latin typeface="Ubuntu"/>
                <a:ea typeface="+mn-ea"/>
                <a:cs typeface="+mn-cs"/>
              </a:rPr>
              <a:t>interim</a:t>
            </a:r>
          </a:p>
        </p:txBody>
      </p:sp>
      <p:sp>
        <p:nvSpPr>
          <p:cNvPr id="368" name="Arrow: Curved Right 367">
            <a:extLst>
              <a:ext uri="{FF2B5EF4-FFF2-40B4-BE49-F238E27FC236}">
                <a16:creationId xmlns:a16="http://schemas.microsoft.com/office/drawing/2014/main" id="{696DC4C5-B393-E78F-78AE-35EE1637EA19}"/>
              </a:ext>
            </a:extLst>
          </p:cNvPr>
          <p:cNvSpPr/>
          <p:nvPr/>
        </p:nvSpPr>
        <p:spPr>
          <a:xfrm>
            <a:off x="5895431" y="4057668"/>
            <a:ext cx="190204" cy="294051"/>
          </a:xfrm>
          <a:prstGeom prst="curvedRightArrow">
            <a:avLst/>
          </a:prstGeom>
          <a:solidFill>
            <a:srgbClr val="0070AD"/>
          </a:solidFill>
          <a:ln w="9525" cap="flat" cmpd="sng" algn="ctr">
            <a:solidFill>
              <a:srgbClr val="0070A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Ubuntu"/>
              <a:ea typeface="+mn-ea"/>
              <a:cs typeface="+mn-cs"/>
            </a:endParaRPr>
          </a:p>
        </p:txBody>
      </p:sp>
      <p:sp>
        <p:nvSpPr>
          <p:cNvPr id="369" name="Arrow: Curved Left 76">
            <a:extLst>
              <a:ext uri="{FF2B5EF4-FFF2-40B4-BE49-F238E27FC236}">
                <a16:creationId xmlns:a16="http://schemas.microsoft.com/office/drawing/2014/main" id="{8164D6F6-8C28-BEAB-1597-6139885E6CD9}"/>
              </a:ext>
            </a:extLst>
          </p:cNvPr>
          <p:cNvSpPr/>
          <p:nvPr/>
        </p:nvSpPr>
        <p:spPr>
          <a:xfrm flipV="1">
            <a:off x="6085635" y="4138683"/>
            <a:ext cx="190204" cy="294051"/>
          </a:xfrm>
          <a:prstGeom prst="curvedLeftArrow">
            <a:avLst>
              <a:gd name="adj1" fmla="val 25000"/>
              <a:gd name="adj2" fmla="val 50000"/>
              <a:gd name="adj3" fmla="val 30652"/>
            </a:avLst>
          </a:prstGeom>
          <a:solidFill>
            <a:srgbClr val="0070AD"/>
          </a:solidFill>
          <a:ln w="9525" cap="flat" cmpd="sng" algn="ctr">
            <a:solidFill>
              <a:srgbClr val="0070A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Ubuntu"/>
              <a:ea typeface="+mn-ea"/>
              <a:cs typeface="+mn-cs"/>
            </a:endParaRPr>
          </a:p>
        </p:txBody>
      </p:sp>
      <p:sp>
        <p:nvSpPr>
          <p:cNvPr id="370" name="Rectangle: Rounded Corners 369">
            <a:extLst>
              <a:ext uri="{FF2B5EF4-FFF2-40B4-BE49-F238E27FC236}">
                <a16:creationId xmlns:a16="http://schemas.microsoft.com/office/drawing/2014/main" id="{BF8F788F-008B-E2A3-274C-CF6B01EAE105}"/>
              </a:ext>
            </a:extLst>
          </p:cNvPr>
          <p:cNvSpPr>
            <a:spLocks/>
          </p:cNvSpPr>
          <p:nvPr/>
        </p:nvSpPr>
        <p:spPr>
          <a:xfrm>
            <a:off x="5838072" y="4573250"/>
            <a:ext cx="638406" cy="130962"/>
          </a:xfrm>
          <a:prstGeom prst="roundRect">
            <a:avLst/>
          </a:prstGeom>
          <a:solidFill>
            <a:srgbClr val="0070AD">
              <a:lumMod val="50000"/>
            </a:srgbClr>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700" b="1" i="1" u="none" strike="noStrike" kern="0" cap="none" spc="0" normalizeH="0" baseline="0" noProof="0">
                <a:ln>
                  <a:noFill/>
                </a:ln>
                <a:solidFill>
                  <a:srgbClr val="FFFFFF"/>
                </a:solidFill>
                <a:effectLst/>
                <a:uLnTx/>
                <a:uFillTx/>
                <a:latin typeface="Ubuntu"/>
                <a:ea typeface="+mn-ea"/>
                <a:cs typeface="+mn-cs"/>
              </a:rPr>
              <a:t>Map</a:t>
            </a:r>
          </a:p>
        </p:txBody>
      </p:sp>
      <p:sp>
        <p:nvSpPr>
          <p:cNvPr id="371" name="Rectangle: Rounded Corners 370">
            <a:extLst>
              <a:ext uri="{FF2B5EF4-FFF2-40B4-BE49-F238E27FC236}">
                <a16:creationId xmlns:a16="http://schemas.microsoft.com/office/drawing/2014/main" id="{AAF541AC-4E4A-CFFB-72FE-DF285E31DC42}"/>
              </a:ext>
            </a:extLst>
          </p:cNvPr>
          <p:cNvSpPr>
            <a:spLocks/>
          </p:cNvSpPr>
          <p:nvPr/>
        </p:nvSpPr>
        <p:spPr>
          <a:xfrm>
            <a:off x="5839866" y="6227714"/>
            <a:ext cx="638406" cy="130962"/>
          </a:xfrm>
          <a:prstGeom prst="roundRect">
            <a:avLst/>
          </a:prstGeom>
          <a:solidFill>
            <a:srgbClr val="0070AD">
              <a:lumMod val="50000"/>
            </a:srgbClr>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700" b="1" i="1" u="none" strike="noStrike" kern="0" cap="none" spc="0" normalizeH="0" baseline="0" noProof="0">
                <a:ln>
                  <a:noFill/>
                </a:ln>
                <a:solidFill>
                  <a:srgbClr val="FFFFFF"/>
                </a:solidFill>
                <a:effectLst/>
                <a:uLnTx/>
                <a:uFillTx/>
                <a:latin typeface="Ubuntu"/>
                <a:ea typeface="+mn-ea"/>
                <a:cs typeface="+mn-cs"/>
              </a:rPr>
              <a:t>Migrate</a:t>
            </a:r>
          </a:p>
        </p:txBody>
      </p:sp>
      <p:sp>
        <p:nvSpPr>
          <p:cNvPr id="372" name="Rectangle 371">
            <a:extLst>
              <a:ext uri="{FF2B5EF4-FFF2-40B4-BE49-F238E27FC236}">
                <a16:creationId xmlns:a16="http://schemas.microsoft.com/office/drawing/2014/main" id="{BD796278-0358-FA04-E649-73DAE5E95C66}"/>
              </a:ext>
            </a:extLst>
          </p:cNvPr>
          <p:cNvSpPr>
            <a:spLocks/>
          </p:cNvSpPr>
          <p:nvPr/>
        </p:nvSpPr>
        <p:spPr>
          <a:xfrm>
            <a:off x="6968991" y="2167003"/>
            <a:ext cx="1097072" cy="820004"/>
          </a:xfrm>
          <a:prstGeom prst="rect">
            <a:avLst/>
          </a:prstGeom>
          <a:solidFill>
            <a:srgbClr val="0070AD">
              <a:lumMod val="40000"/>
              <a:lumOff val="60000"/>
              <a:alpha val="54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Ubuntu"/>
              <a:ea typeface="+mn-ea"/>
              <a:cs typeface="+mn-cs"/>
            </a:endParaRPr>
          </a:p>
        </p:txBody>
      </p:sp>
      <p:sp>
        <p:nvSpPr>
          <p:cNvPr id="373" name="Rectangle: Top Corners Rounded 372">
            <a:extLst>
              <a:ext uri="{FF2B5EF4-FFF2-40B4-BE49-F238E27FC236}">
                <a16:creationId xmlns:a16="http://schemas.microsoft.com/office/drawing/2014/main" id="{9BE51361-E509-162C-7DBC-4E66C7660549}"/>
              </a:ext>
            </a:extLst>
          </p:cNvPr>
          <p:cNvSpPr>
            <a:spLocks/>
          </p:cNvSpPr>
          <p:nvPr/>
        </p:nvSpPr>
        <p:spPr>
          <a:xfrm>
            <a:off x="6968991" y="1880530"/>
            <a:ext cx="1097072" cy="249396"/>
          </a:xfrm>
          <a:prstGeom prst="round2SameRect">
            <a:avLst/>
          </a:prstGeom>
          <a:solidFill>
            <a:srgbClr val="0070AD"/>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FFFFFF"/>
                </a:solidFill>
                <a:effectLst/>
                <a:uLnTx/>
                <a:uFillTx/>
                <a:latin typeface="Ubuntu"/>
                <a:ea typeface="+mn-ea"/>
                <a:cs typeface="+mn-cs"/>
              </a:rPr>
              <a:t>NEWCO</a:t>
            </a:r>
          </a:p>
        </p:txBody>
      </p:sp>
      <p:sp>
        <p:nvSpPr>
          <p:cNvPr id="374" name="Cylinder 373">
            <a:extLst>
              <a:ext uri="{FF2B5EF4-FFF2-40B4-BE49-F238E27FC236}">
                <a16:creationId xmlns:a16="http://schemas.microsoft.com/office/drawing/2014/main" id="{75AD674C-ACCA-DE70-2BCD-12FA0AA11507}"/>
              </a:ext>
            </a:extLst>
          </p:cNvPr>
          <p:cNvSpPr/>
          <p:nvPr/>
        </p:nvSpPr>
        <p:spPr>
          <a:xfrm>
            <a:off x="7070572" y="2433384"/>
            <a:ext cx="893911" cy="261997"/>
          </a:xfrm>
          <a:prstGeom prst="can">
            <a:avLst/>
          </a:prstGeom>
          <a:solidFill>
            <a:srgbClr val="FFFFFF"/>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FI – HR – SC</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375" name="Rectangle: Rounded Corners 374">
            <a:extLst>
              <a:ext uri="{FF2B5EF4-FFF2-40B4-BE49-F238E27FC236}">
                <a16:creationId xmlns:a16="http://schemas.microsoft.com/office/drawing/2014/main" id="{0A8F46BF-7BF5-8013-5C75-4DB8284B8C90}"/>
              </a:ext>
            </a:extLst>
          </p:cNvPr>
          <p:cNvSpPr>
            <a:spLocks/>
          </p:cNvSpPr>
          <p:nvPr/>
        </p:nvSpPr>
        <p:spPr>
          <a:xfrm>
            <a:off x="7198325" y="2920943"/>
            <a:ext cx="638406" cy="130962"/>
          </a:xfrm>
          <a:prstGeom prst="roundRect">
            <a:avLst/>
          </a:prstGeom>
          <a:solidFill>
            <a:srgbClr val="0070AD">
              <a:lumMod val="50000"/>
            </a:srgbClr>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700" b="1" i="1" u="none" strike="noStrike" kern="0" cap="none" spc="0" normalizeH="0" baseline="0" noProof="0">
                <a:ln>
                  <a:noFill/>
                </a:ln>
                <a:solidFill>
                  <a:srgbClr val="FFFFFF"/>
                </a:solidFill>
                <a:effectLst/>
                <a:uLnTx/>
                <a:uFillTx/>
                <a:latin typeface="Ubuntu"/>
                <a:ea typeface="+mn-ea"/>
                <a:cs typeface="+mn-cs"/>
              </a:rPr>
              <a:t>Adopt</a:t>
            </a:r>
          </a:p>
        </p:txBody>
      </p:sp>
      <p:sp>
        <p:nvSpPr>
          <p:cNvPr id="410" name="Rectangle 409">
            <a:extLst>
              <a:ext uri="{FF2B5EF4-FFF2-40B4-BE49-F238E27FC236}">
                <a16:creationId xmlns:a16="http://schemas.microsoft.com/office/drawing/2014/main" id="{E5F8165A-36D6-51D0-7317-DFFEA18553C1}"/>
              </a:ext>
            </a:extLst>
          </p:cNvPr>
          <p:cNvSpPr>
            <a:spLocks/>
          </p:cNvSpPr>
          <p:nvPr/>
        </p:nvSpPr>
        <p:spPr>
          <a:xfrm>
            <a:off x="4233273" y="2776765"/>
            <a:ext cx="1097072" cy="436539"/>
          </a:xfrm>
          <a:prstGeom prst="rect">
            <a:avLst/>
          </a:prstGeom>
          <a:solidFill>
            <a:srgbClr val="FFFFFF">
              <a:lumMod val="85000"/>
              <a:alpha val="54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Ubuntu"/>
              <a:ea typeface="+mn-ea"/>
              <a:cs typeface="+mn-cs"/>
            </a:endParaRPr>
          </a:p>
        </p:txBody>
      </p:sp>
      <p:sp>
        <p:nvSpPr>
          <p:cNvPr id="411" name="Cylinder 410">
            <a:extLst>
              <a:ext uri="{FF2B5EF4-FFF2-40B4-BE49-F238E27FC236}">
                <a16:creationId xmlns:a16="http://schemas.microsoft.com/office/drawing/2014/main" id="{94CDF927-A250-BFB4-077A-5E46F9B468EC}"/>
              </a:ext>
            </a:extLst>
          </p:cNvPr>
          <p:cNvSpPr/>
          <p:nvPr/>
        </p:nvSpPr>
        <p:spPr>
          <a:xfrm>
            <a:off x="4961806" y="2851549"/>
            <a:ext cx="266959" cy="282190"/>
          </a:xfrm>
          <a:prstGeom prst="can">
            <a:avLst/>
          </a:prstGeom>
          <a:solidFill>
            <a:srgbClr val="FFCCCC"/>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SC</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412" name="Rectangle: Top Corners Rounded 411">
            <a:extLst>
              <a:ext uri="{FF2B5EF4-FFF2-40B4-BE49-F238E27FC236}">
                <a16:creationId xmlns:a16="http://schemas.microsoft.com/office/drawing/2014/main" id="{26656FF9-98B0-BCD5-E4A7-4DB6CD70CA21}"/>
              </a:ext>
            </a:extLst>
          </p:cNvPr>
          <p:cNvSpPr>
            <a:spLocks/>
          </p:cNvSpPr>
          <p:nvPr/>
        </p:nvSpPr>
        <p:spPr>
          <a:xfrm>
            <a:off x="4233273" y="2529537"/>
            <a:ext cx="1097072" cy="249396"/>
          </a:xfrm>
          <a:prstGeom prst="round2SameRect">
            <a:avLst/>
          </a:prstGeom>
          <a:solidFill>
            <a:srgbClr val="0070AD"/>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FFFFFF"/>
                </a:solidFill>
                <a:effectLst/>
                <a:uLnTx/>
                <a:uFillTx/>
                <a:latin typeface="Ubuntu"/>
                <a:ea typeface="+mn-ea"/>
                <a:cs typeface="+mn-cs"/>
              </a:rPr>
              <a:t>FASTWEB</a:t>
            </a:r>
          </a:p>
        </p:txBody>
      </p:sp>
      <p:sp>
        <p:nvSpPr>
          <p:cNvPr id="413" name="Rectangle 412">
            <a:extLst>
              <a:ext uri="{FF2B5EF4-FFF2-40B4-BE49-F238E27FC236}">
                <a16:creationId xmlns:a16="http://schemas.microsoft.com/office/drawing/2014/main" id="{A8E47EB6-62EF-B17E-C39D-C08AA14BD59C}"/>
              </a:ext>
            </a:extLst>
          </p:cNvPr>
          <p:cNvSpPr>
            <a:spLocks/>
          </p:cNvSpPr>
          <p:nvPr/>
        </p:nvSpPr>
        <p:spPr>
          <a:xfrm>
            <a:off x="4233273" y="2039538"/>
            <a:ext cx="1097072" cy="436539"/>
          </a:xfrm>
          <a:prstGeom prst="rect">
            <a:avLst/>
          </a:prstGeom>
          <a:solidFill>
            <a:srgbClr val="FFFFFF">
              <a:lumMod val="85000"/>
              <a:alpha val="54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Ubuntu"/>
              <a:ea typeface="+mn-ea"/>
              <a:cs typeface="+mn-cs"/>
            </a:endParaRPr>
          </a:p>
        </p:txBody>
      </p:sp>
      <p:sp>
        <p:nvSpPr>
          <p:cNvPr id="414" name="Cylinder 413">
            <a:extLst>
              <a:ext uri="{FF2B5EF4-FFF2-40B4-BE49-F238E27FC236}">
                <a16:creationId xmlns:a16="http://schemas.microsoft.com/office/drawing/2014/main" id="{6BC0A691-4C9B-614D-5EFD-0DFA60B747CF}"/>
              </a:ext>
            </a:extLst>
          </p:cNvPr>
          <p:cNvSpPr/>
          <p:nvPr/>
        </p:nvSpPr>
        <p:spPr>
          <a:xfrm>
            <a:off x="4334854" y="2113061"/>
            <a:ext cx="893911" cy="295481"/>
          </a:xfrm>
          <a:prstGeom prst="can">
            <a:avLst/>
          </a:prstGeom>
          <a:solidFill>
            <a:srgbClr val="FFCCCC"/>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FI – HR – SC</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415" name="Rectangle: Top Corners Rounded 414">
            <a:extLst>
              <a:ext uri="{FF2B5EF4-FFF2-40B4-BE49-F238E27FC236}">
                <a16:creationId xmlns:a16="http://schemas.microsoft.com/office/drawing/2014/main" id="{E0C97FE3-9787-6408-D6A5-8E2E4F86B6CD}"/>
              </a:ext>
            </a:extLst>
          </p:cNvPr>
          <p:cNvSpPr>
            <a:spLocks/>
          </p:cNvSpPr>
          <p:nvPr/>
        </p:nvSpPr>
        <p:spPr>
          <a:xfrm>
            <a:off x="4233273" y="1792310"/>
            <a:ext cx="1097072" cy="249396"/>
          </a:xfrm>
          <a:prstGeom prst="round2SameRect">
            <a:avLst/>
          </a:prstGeom>
          <a:solidFill>
            <a:srgbClr val="0070AD"/>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FFFFFF"/>
                </a:solidFill>
                <a:effectLst/>
                <a:uLnTx/>
                <a:uFillTx/>
                <a:latin typeface="Ubuntu"/>
                <a:ea typeface="+mn-ea"/>
                <a:cs typeface="+mn-cs"/>
              </a:rPr>
              <a:t>VODAFONE</a:t>
            </a:r>
          </a:p>
        </p:txBody>
      </p:sp>
      <p:pic>
        <p:nvPicPr>
          <p:cNvPr id="416" name="Graphic 415" descr="Badge Cross with solid fill">
            <a:extLst>
              <a:ext uri="{FF2B5EF4-FFF2-40B4-BE49-F238E27FC236}">
                <a16:creationId xmlns:a16="http://schemas.microsoft.com/office/drawing/2014/main" id="{F1BE7C61-7B69-A6D3-3620-A9AA5F92655B}"/>
              </a:ext>
            </a:extLst>
          </p:cNvPr>
          <p:cNvPicPr>
            <a:picLocks/>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092980" y="2065178"/>
            <a:ext cx="180000" cy="180000"/>
          </a:xfrm>
          <a:prstGeom prst="rect">
            <a:avLst/>
          </a:prstGeom>
          <a:effectLst/>
        </p:spPr>
      </p:pic>
      <p:pic>
        <p:nvPicPr>
          <p:cNvPr id="417" name="Graphic 416" descr="Badge Cross with solid fill">
            <a:extLst>
              <a:ext uri="{FF2B5EF4-FFF2-40B4-BE49-F238E27FC236}">
                <a16:creationId xmlns:a16="http://schemas.microsoft.com/office/drawing/2014/main" id="{8E0727EB-B3D5-BC63-45B5-FA3190435663}"/>
              </a:ext>
            </a:extLst>
          </p:cNvPr>
          <p:cNvPicPr>
            <a:picLocks/>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092980" y="2799928"/>
            <a:ext cx="180000" cy="180000"/>
          </a:xfrm>
          <a:prstGeom prst="rect">
            <a:avLst/>
          </a:prstGeom>
          <a:effectLst/>
        </p:spPr>
      </p:pic>
      <p:sp>
        <p:nvSpPr>
          <p:cNvPr id="418" name="Rectangle 417">
            <a:extLst>
              <a:ext uri="{FF2B5EF4-FFF2-40B4-BE49-F238E27FC236}">
                <a16:creationId xmlns:a16="http://schemas.microsoft.com/office/drawing/2014/main" id="{F04B1845-1663-1BCA-88C0-DFD2F38B6933}"/>
              </a:ext>
            </a:extLst>
          </p:cNvPr>
          <p:cNvSpPr>
            <a:spLocks/>
          </p:cNvSpPr>
          <p:nvPr/>
        </p:nvSpPr>
        <p:spPr>
          <a:xfrm>
            <a:off x="4243995" y="6107771"/>
            <a:ext cx="1097072" cy="436539"/>
          </a:xfrm>
          <a:prstGeom prst="rect">
            <a:avLst/>
          </a:prstGeom>
          <a:solidFill>
            <a:srgbClr val="FFFFFF">
              <a:lumMod val="85000"/>
              <a:alpha val="54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Ubuntu"/>
              <a:ea typeface="+mn-ea"/>
              <a:cs typeface="+mn-cs"/>
            </a:endParaRPr>
          </a:p>
        </p:txBody>
      </p:sp>
      <p:sp>
        <p:nvSpPr>
          <p:cNvPr id="420" name="Rectangle: Top Corners Rounded 419">
            <a:extLst>
              <a:ext uri="{FF2B5EF4-FFF2-40B4-BE49-F238E27FC236}">
                <a16:creationId xmlns:a16="http://schemas.microsoft.com/office/drawing/2014/main" id="{47C489AC-9E64-516F-ED57-4A8FBD0A27C2}"/>
              </a:ext>
            </a:extLst>
          </p:cNvPr>
          <p:cNvSpPr>
            <a:spLocks/>
          </p:cNvSpPr>
          <p:nvPr/>
        </p:nvSpPr>
        <p:spPr>
          <a:xfrm>
            <a:off x="4243995" y="5860544"/>
            <a:ext cx="1097072" cy="249396"/>
          </a:xfrm>
          <a:prstGeom prst="round2SameRect">
            <a:avLst/>
          </a:prstGeom>
          <a:solidFill>
            <a:srgbClr val="0070AD"/>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FFFFFF"/>
                </a:solidFill>
                <a:effectLst/>
                <a:uLnTx/>
                <a:uFillTx/>
                <a:latin typeface="Ubuntu"/>
                <a:ea typeface="+mn-ea"/>
                <a:cs typeface="+mn-cs"/>
              </a:rPr>
              <a:t>FASTWEB</a:t>
            </a:r>
          </a:p>
        </p:txBody>
      </p:sp>
      <p:sp>
        <p:nvSpPr>
          <p:cNvPr id="421" name="Rectangle 420">
            <a:extLst>
              <a:ext uri="{FF2B5EF4-FFF2-40B4-BE49-F238E27FC236}">
                <a16:creationId xmlns:a16="http://schemas.microsoft.com/office/drawing/2014/main" id="{EEC7EE5D-6305-765E-EBA3-5BFBB74E2099}"/>
              </a:ext>
            </a:extLst>
          </p:cNvPr>
          <p:cNvSpPr>
            <a:spLocks/>
          </p:cNvSpPr>
          <p:nvPr/>
        </p:nvSpPr>
        <p:spPr>
          <a:xfrm>
            <a:off x="4243995" y="5370544"/>
            <a:ext cx="1097072" cy="436539"/>
          </a:xfrm>
          <a:prstGeom prst="rect">
            <a:avLst/>
          </a:prstGeom>
          <a:solidFill>
            <a:srgbClr val="FFFFFF">
              <a:lumMod val="85000"/>
              <a:alpha val="54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Ubuntu"/>
              <a:ea typeface="+mn-ea"/>
              <a:cs typeface="+mn-cs"/>
            </a:endParaRPr>
          </a:p>
        </p:txBody>
      </p:sp>
      <p:sp>
        <p:nvSpPr>
          <p:cNvPr id="422" name="Cylinder 421">
            <a:extLst>
              <a:ext uri="{FF2B5EF4-FFF2-40B4-BE49-F238E27FC236}">
                <a16:creationId xmlns:a16="http://schemas.microsoft.com/office/drawing/2014/main" id="{52820181-6103-C1E5-02A8-315926A2C30D}"/>
              </a:ext>
            </a:extLst>
          </p:cNvPr>
          <p:cNvSpPr/>
          <p:nvPr/>
        </p:nvSpPr>
        <p:spPr>
          <a:xfrm>
            <a:off x="4345576" y="5444067"/>
            <a:ext cx="893911" cy="295481"/>
          </a:xfrm>
          <a:prstGeom prst="can">
            <a:avLst/>
          </a:prstGeom>
          <a:solidFill>
            <a:srgbClr val="FFCCCC"/>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a:ln>
                  <a:noFill/>
                </a:ln>
                <a:solidFill>
                  <a:srgbClr val="0070AD"/>
                </a:solidFill>
                <a:effectLst/>
                <a:uLnTx/>
                <a:uFillTx/>
                <a:latin typeface="Ubuntu"/>
                <a:ea typeface="+mn-ea"/>
                <a:cs typeface="+mn-cs"/>
              </a:rPr>
              <a:t>FI – HR – SC</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423" name="Rectangle: Top Corners Rounded 422">
            <a:extLst>
              <a:ext uri="{FF2B5EF4-FFF2-40B4-BE49-F238E27FC236}">
                <a16:creationId xmlns:a16="http://schemas.microsoft.com/office/drawing/2014/main" id="{148BA707-1D92-518F-8A80-F29788EDDFAC}"/>
              </a:ext>
            </a:extLst>
          </p:cNvPr>
          <p:cNvSpPr>
            <a:spLocks/>
          </p:cNvSpPr>
          <p:nvPr/>
        </p:nvSpPr>
        <p:spPr>
          <a:xfrm>
            <a:off x="4243995" y="5123316"/>
            <a:ext cx="1097072" cy="249396"/>
          </a:xfrm>
          <a:prstGeom prst="round2SameRect">
            <a:avLst/>
          </a:prstGeom>
          <a:solidFill>
            <a:srgbClr val="0070AD"/>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800" b="1" i="0" u="none" strike="noStrike" kern="0" cap="none" spc="0" normalizeH="0" baseline="0" noProof="0" dirty="0">
                <a:ln>
                  <a:noFill/>
                </a:ln>
                <a:solidFill>
                  <a:srgbClr val="FFFFFF"/>
                </a:solidFill>
                <a:effectLst/>
                <a:uLnTx/>
                <a:uFillTx/>
                <a:latin typeface="Ubuntu"/>
                <a:ea typeface="+mn-ea"/>
                <a:cs typeface="+mn-cs"/>
              </a:rPr>
              <a:t>VODAFONE</a:t>
            </a:r>
          </a:p>
        </p:txBody>
      </p:sp>
      <p:pic>
        <p:nvPicPr>
          <p:cNvPr id="424" name="Graphic 423" descr="Badge Cross with solid fill">
            <a:extLst>
              <a:ext uri="{FF2B5EF4-FFF2-40B4-BE49-F238E27FC236}">
                <a16:creationId xmlns:a16="http://schemas.microsoft.com/office/drawing/2014/main" id="{385D2186-AE10-EFE2-29B7-99A255445AFB}"/>
              </a:ext>
            </a:extLst>
          </p:cNvPr>
          <p:cNvPicPr>
            <a:picLocks/>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5106807" y="5423764"/>
            <a:ext cx="180000" cy="180000"/>
          </a:xfrm>
          <a:prstGeom prst="rect">
            <a:avLst/>
          </a:prstGeom>
          <a:effectLst/>
        </p:spPr>
      </p:pic>
      <p:sp>
        <p:nvSpPr>
          <p:cNvPr id="425" name="Rectangle: Rounded Corners 424">
            <a:extLst>
              <a:ext uri="{FF2B5EF4-FFF2-40B4-BE49-F238E27FC236}">
                <a16:creationId xmlns:a16="http://schemas.microsoft.com/office/drawing/2014/main" id="{E2453EE7-2D29-DB60-6110-7ED38A80AB67}"/>
              </a:ext>
            </a:extLst>
          </p:cNvPr>
          <p:cNvSpPr>
            <a:spLocks/>
          </p:cNvSpPr>
          <p:nvPr/>
        </p:nvSpPr>
        <p:spPr>
          <a:xfrm>
            <a:off x="4476622" y="4056905"/>
            <a:ext cx="638406" cy="132573"/>
          </a:xfrm>
          <a:prstGeom prst="roundRect">
            <a:avLst/>
          </a:prstGeom>
          <a:solidFill>
            <a:srgbClr val="0070AD">
              <a:lumMod val="50000"/>
            </a:srgbClr>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700" b="1" i="1" u="none" strike="noStrike" kern="0" cap="none" spc="0" normalizeH="0" baseline="0" noProof="0">
                <a:ln>
                  <a:noFill/>
                </a:ln>
                <a:solidFill>
                  <a:srgbClr val="FFFFFF"/>
                </a:solidFill>
                <a:effectLst/>
                <a:uLnTx/>
                <a:uFillTx/>
                <a:latin typeface="Ubuntu"/>
                <a:ea typeface="+mn-ea"/>
                <a:cs typeface="+mn-cs"/>
              </a:rPr>
              <a:t>Copy</a:t>
            </a:r>
          </a:p>
        </p:txBody>
      </p:sp>
      <p:sp>
        <p:nvSpPr>
          <p:cNvPr id="426" name="Rectangle: Rounded Corners 425">
            <a:extLst>
              <a:ext uri="{FF2B5EF4-FFF2-40B4-BE49-F238E27FC236}">
                <a16:creationId xmlns:a16="http://schemas.microsoft.com/office/drawing/2014/main" id="{687CD83C-8689-31C7-94B5-3F2F4369F091}"/>
              </a:ext>
            </a:extLst>
          </p:cNvPr>
          <p:cNvSpPr>
            <a:spLocks/>
          </p:cNvSpPr>
          <p:nvPr/>
        </p:nvSpPr>
        <p:spPr>
          <a:xfrm>
            <a:off x="4476622" y="4831635"/>
            <a:ext cx="638406" cy="132573"/>
          </a:xfrm>
          <a:prstGeom prst="roundRect">
            <a:avLst/>
          </a:prstGeom>
          <a:solidFill>
            <a:srgbClr val="0070AD">
              <a:lumMod val="50000"/>
            </a:srgbClr>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700" b="1" i="1" u="none" strike="noStrike" kern="0" cap="none" spc="0" normalizeH="0" baseline="0" noProof="0">
                <a:ln>
                  <a:noFill/>
                </a:ln>
                <a:solidFill>
                  <a:srgbClr val="FFFFFF"/>
                </a:solidFill>
                <a:effectLst/>
                <a:uLnTx/>
                <a:uFillTx/>
                <a:latin typeface="Ubuntu"/>
                <a:ea typeface="+mn-ea"/>
                <a:cs typeface="+mn-cs"/>
              </a:rPr>
              <a:t>Keep</a:t>
            </a:r>
          </a:p>
        </p:txBody>
      </p:sp>
      <p:sp>
        <p:nvSpPr>
          <p:cNvPr id="427" name="Rectangle: Rounded Corners 426">
            <a:extLst>
              <a:ext uri="{FF2B5EF4-FFF2-40B4-BE49-F238E27FC236}">
                <a16:creationId xmlns:a16="http://schemas.microsoft.com/office/drawing/2014/main" id="{1EAA0343-E2B6-8455-6D26-531E8CECACC9}"/>
              </a:ext>
            </a:extLst>
          </p:cNvPr>
          <p:cNvSpPr>
            <a:spLocks/>
          </p:cNvSpPr>
          <p:nvPr/>
        </p:nvSpPr>
        <p:spPr>
          <a:xfrm>
            <a:off x="7209271" y="6227714"/>
            <a:ext cx="638406" cy="130962"/>
          </a:xfrm>
          <a:prstGeom prst="roundRect">
            <a:avLst/>
          </a:prstGeom>
          <a:solidFill>
            <a:srgbClr val="0070AD">
              <a:lumMod val="50000"/>
            </a:srgbClr>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700" b="1" i="1" u="none" strike="noStrike" kern="0" cap="none" spc="0" normalizeH="0" baseline="0" noProof="0">
                <a:ln>
                  <a:noFill/>
                </a:ln>
                <a:solidFill>
                  <a:srgbClr val="FFFFFF"/>
                </a:solidFill>
                <a:effectLst/>
                <a:uLnTx/>
                <a:uFillTx/>
                <a:latin typeface="Ubuntu"/>
                <a:ea typeface="+mn-ea"/>
                <a:cs typeface="+mn-cs"/>
              </a:rPr>
              <a:t>Adopt</a:t>
            </a:r>
          </a:p>
        </p:txBody>
      </p:sp>
      <p:sp>
        <p:nvSpPr>
          <p:cNvPr id="428" name="Rectangle 427">
            <a:extLst>
              <a:ext uri="{FF2B5EF4-FFF2-40B4-BE49-F238E27FC236}">
                <a16:creationId xmlns:a16="http://schemas.microsoft.com/office/drawing/2014/main" id="{F1DF4CE4-7A61-52D4-41F6-0C800D172E1A}"/>
              </a:ext>
            </a:extLst>
          </p:cNvPr>
          <p:cNvSpPr>
            <a:spLocks/>
          </p:cNvSpPr>
          <p:nvPr/>
        </p:nvSpPr>
        <p:spPr>
          <a:xfrm>
            <a:off x="5603571" y="2178696"/>
            <a:ext cx="1097072" cy="820004"/>
          </a:xfrm>
          <a:prstGeom prst="rect">
            <a:avLst/>
          </a:prstGeom>
          <a:solidFill>
            <a:srgbClr val="FFFFFF">
              <a:lumMod val="85000"/>
              <a:alpha val="54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FFFFFF"/>
              </a:solidFill>
              <a:effectLst/>
              <a:uLnTx/>
              <a:uFillTx/>
              <a:latin typeface="Ubuntu"/>
              <a:ea typeface="+mn-ea"/>
              <a:cs typeface="+mn-cs"/>
            </a:endParaRPr>
          </a:p>
        </p:txBody>
      </p:sp>
      <p:sp>
        <p:nvSpPr>
          <p:cNvPr id="429" name="Rectangle: Top Corners Rounded 428">
            <a:extLst>
              <a:ext uri="{FF2B5EF4-FFF2-40B4-BE49-F238E27FC236}">
                <a16:creationId xmlns:a16="http://schemas.microsoft.com/office/drawing/2014/main" id="{1AF9A0E0-4865-C74D-AD5A-96C6F98E8912}"/>
              </a:ext>
            </a:extLst>
          </p:cNvPr>
          <p:cNvSpPr>
            <a:spLocks/>
          </p:cNvSpPr>
          <p:nvPr/>
        </p:nvSpPr>
        <p:spPr>
          <a:xfrm>
            <a:off x="5603571" y="1891186"/>
            <a:ext cx="1097072" cy="249396"/>
          </a:xfrm>
          <a:prstGeom prst="round2SameRect">
            <a:avLst/>
          </a:prstGeom>
          <a:solidFill>
            <a:srgbClr val="F6F6F6">
              <a:lumMod val="50000"/>
            </a:srgbClr>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800" b="1" i="1" u="none" strike="noStrike" kern="0" cap="none" spc="0" normalizeH="0" baseline="0" noProof="0">
                <a:ln>
                  <a:noFill/>
                </a:ln>
                <a:solidFill>
                  <a:srgbClr val="FFFFFF"/>
                </a:solidFill>
                <a:effectLst/>
                <a:uLnTx/>
                <a:uFillTx/>
                <a:latin typeface="Ubuntu"/>
                <a:ea typeface="+mn-ea"/>
                <a:cs typeface="+mn-cs"/>
              </a:rPr>
              <a:t>interim</a:t>
            </a:r>
          </a:p>
        </p:txBody>
      </p:sp>
      <p:sp>
        <p:nvSpPr>
          <p:cNvPr id="430" name="Arrow: Curved Right 429">
            <a:extLst>
              <a:ext uri="{FF2B5EF4-FFF2-40B4-BE49-F238E27FC236}">
                <a16:creationId xmlns:a16="http://schemas.microsoft.com/office/drawing/2014/main" id="{83ED98FC-31BC-7CC0-0069-448D42325443}"/>
              </a:ext>
            </a:extLst>
          </p:cNvPr>
          <p:cNvSpPr/>
          <p:nvPr/>
        </p:nvSpPr>
        <p:spPr>
          <a:xfrm>
            <a:off x="5897070" y="2406085"/>
            <a:ext cx="190204" cy="294051"/>
          </a:xfrm>
          <a:prstGeom prst="curvedRightArrow">
            <a:avLst/>
          </a:prstGeom>
          <a:solidFill>
            <a:srgbClr val="0070AD"/>
          </a:solidFill>
          <a:ln w="9525" cap="flat" cmpd="sng" algn="ctr">
            <a:solidFill>
              <a:srgbClr val="0070A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Ubuntu"/>
              <a:ea typeface="+mn-ea"/>
              <a:cs typeface="+mn-cs"/>
            </a:endParaRPr>
          </a:p>
        </p:txBody>
      </p:sp>
      <p:sp>
        <p:nvSpPr>
          <p:cNvPr id="431" name="Arrow: Curved Left 76">
            <a:extLst>
              <a:ext uri="{FF2B5EF4-FFF2-40B4-BE49-F238E27FC236}">
                <a16:creationId xmlns:a16="http://schemas.microsoft.com/office/drawing/2014/main" id="{D7F6A544-D568-90C4-9CA2-6A1BD2A2E440}"/>
              </a:ext>
            </a:extLst>
          </p:cNvPr>
          <p:cNvSpPr/>
          <p:nvPr/>
        </p:nvSpPr>
        <p:spPr>
          <a:xfrm flipV="1">
            <a:off x="6087274" y="2487100"/>
            <a:ext cx="190204" cy="294051"/>
          </a:xfrm>
          <a:prstGeom prst="curvedLeftArrow">
            <a:avLst>
              <a:gd name="adj1" fmla="val 25000"/>
              <a:gd name="adj2" fmla="val 50000"/>
              <a:gd name="adj3" fmla="val 30652"/>
            </a:avLst>
          </a:prstGeom>
          <a:solidFill>
            <a:srgbClr val="0070AD"/>
          </a:solidFill>
          <a:ln w="9525" cap="flat" cmpd="sng" algn="ctr">
            <a:solidFill>
              <a:srgbClr val="0070A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Ubuntu"/>
              <a:ea typeface="+mn-ea"/>
              <a:cs typeface="+mn-cs"/>
            </a:endParaRPr>
          </a:p>
        </p:txBody>
      </p:sp>
      <p:sp>
        <p:nvSpPr>
          <p:cNvPr id="432" name="Rectangle: Rounded Corners 431">
            <a:extLst>
              <a:ext uri="{FF2B5EF4-FFF2-40B4-BE49-F238E27FC236}">
                <a16:creationId xmlns:a16="http://schemas.microsoft.com/office/drawing/2014/main" id="{3BECA67A-0C5C-4FC7-2055-6E29821141DF}"/>
              </a:ext>
            </a:extLst>
          </p:cNvPr>
          <p:cNvSpPr>
            <a:spLocks/>
          </p:cNvSpPr>
          <p:nvPr/>
        </p:nvSpPr>
        <p:spPr>
          <a:xfrm>
            <a:off x="5839710" y="2921667"/>
            <a:ext cx="638406" cy="130962"/>
          </a:xfrm>
          <a:prstGeom prst="roundRect">
            <a:avLst/>
          </a:prstGeom>
          <a:solidFill>
            <a:srgbClr val="0070AD">
              <a:lumMod val="50000"/>
            </a:srgbClr>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700" b="1" i="1" u="none" strike="noStrike" kern="0" cap="none" spc="0" normalizeH="0" baseline="0" noProof="0">
                <a:ln>
                  <a:noFill/>
                </a:ln>
                <a:solidFill>
                  <a:srgbClr val="FFFFFF"/>
                </a:solidFill>
                <a:effectLst/>
                <a:uLnTx/>
                <a:uFillTx/>
                <a:latin typeface="Ubuntu"/>
                <a:ea typeface="+mn-ea"/>
                <a:cs typeface="+mn-cs"/>
              </a:rPr>
              <a:t>Design</a:t>
            </a:r>
          </a:p>
        </p:txBody>
      </p:sp>
      <p:sp>
        <p:nvSpPr>
          <p:cNvPr id="433" name="Rectangle 432">
            <a:extLst>
              <a:ext uri="{FF2B5EF4-FFF2-40B4-BE49-F238E27FC236}">
                <a16:creationId xmlns:a16="http://schemas.microsoft.com/office/drawing/2014/main" id="{6EE15D1A-A281-2047-BA5A-35CDCE0B31B8}"/>
              </a:ext>
            </a:extLst>
          </p:cNvPr>
          <p:cNvSpPr>
            <a:spLocks/>
          </p:cNvSpPr>
          <p:nvPr/>
        </p:nvSpPr>
        <p:spPr>
          <a:xfrm>
            <a:off x="6920449" y="4429355"/>
            <a:ext cx="577327" cy="306074"/>
          </a:xfrm>
          <a:prstGeom prst="rect">
            <a:avLst/>
          </a:prstGeom>
          <a:solidFill>
            <a:srgbClr val="FFFFFF">
              <a:lumMod val="85000"/>
              <a:alpha val="54000"/>
            </a:srgbClr>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Ubuntu"/>
              <a:ea typeface="+mn-ea"/>
              <a:cs typeface="+mn-cs"/>
            </a:endParaRPr>
          </a:p>
        </p:txBody>
      </p:sp>
      <p:sp>
        <p:nvSpPr>
          <p:cNvPr id="436" name="Rectangle 435">
            <a:extLst>
              <a:ext uri="{FF2B5EF4-FFF2-40B4-BE49-F238E27FC236}">
                <a16:creationId xmlns:a16="http://schemas.microsoft.com/office/drawing/2014/main" id="{BCC0440B-D602-0F92-4C77-6F7329AEC09F}"/>
              </a:ext>
            </a:extLst>
          </p:cNvPr>
          <p:cNvSpPr>
            <a:spLocks/>
          </p:cNvSpPr>
          <p:nvPr/>
        </p:nvSpPr>
        <p:spPr>
          <a:xfrm>
            <a:off x="7536993" y="4428646"/>
            <a:ext cx="577327" cy="306074"/>
          </a:xfrm>
          <a:prstGeom prst="rect">
            <a:avLst/>
          </a:prstGeom>
          <a:solidFill>
            <a:srgbClr val="FFFFFF">
              <a:lumMod val="85000"/>
              <a:alpha val="54000"/>
            </a:srgbClr>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Ubuntu"/>
              <a:ea typeface="+mn-ea"/>
              <a:cs typeface="+mn-cs"/>
            </a:endParaRPr>
          </a:p>
        </p:txBody>
      </p:sp>
      <p:sp>
        <p:nvSpPr>
          <p:cNvPr id="439" name="Rectangle: Rounded Corners 438">
            <a:extLst>
              <a:ext uri="{FF2B5EF4-FFF2-40B4-BE49-F238E27FC236}">
                <a16:creationId xmlns:a16="http://schemas.microsoft.com/office/drawing/2014/main" id="{EDAEEA40-0458-D900-B6CB-5D5454BF672A}"/>
              </a:ext>
            </a:extLst>
          </p:cNvPr>
          <p:cNvSpPr>
            <a:spLocks/>
          </p:cNvSpPr>
          <p:nvPr/>
        </p:nvSpPr>
        <p:spPr>
          <a:xfrm>
            <a:off x="7200960" y="4726845"/>
            <a:ext cx="638406" cy="130962"/>
          </a:xfrm>
          <a:prstGeom prst="roundRect">
            <a:avLst/>
          </a:prstGeom>
          <a:solidFill>
            <a:srgbClr val="0070AD">
              <a:lumMod val="50000"/>
            </a:srgbClr>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700" b="1" i="1" u="none" strike="noStrike" kern="0" cap="none" spc="0" normalizeH="0" baseline="0" noProof="0" dirty="0">
                <a:ln>
                  <a:noFill/>
                </a:ln>
                <a:solidFill>
                  <a:srgbClr val="FFFFFF"/>
                </a:solidFill>
                <a:effectLst/>
                <a:uLnTx/>
                <a:uFillTx/>
                <a:latin typeface="Ubuntu"/>
                <a:ea typeface="+mn-ea"/>
                <a:cs typeface="+mn-cs"/>
              </a:rPr>
              <a:t>Load</a:t>
            </a:r>
          </a:p>
        </p:txBody>
      </p:sp>
      <p:sp>
        <p:nvSpPr>
          <p:cNvPr id="440" name="Arrow: Up 439">
            <a:extLst>
              <a:ext uri="{FF2B5EF4-FFF2-40B4-BE49-F238E27FC236}">
                <a16:creationId xmlns:a16="http://schemas.microsoft.com/office/drawing/2014/main" id="{9753D625-753E-0B37-F5DF-BE552AC5C0DC}"/>
              </a:ext>
            </a:extLst>
          </p:cNvPr>
          <p:cNvSpPr/>
          <p:nvPr/>
        </p:nvSpPr>
        <p:spPr>
          <a:xfrm>
            <a:off x="7557746" y="4099944"/>
            <a:ext cx="149200" cy="423886"/>
          </a:xfrm>
          <a:prstGeom prst="upArrow">
            <a:avLst>
              <a:gd name="adj1" fmla="val 42346"/>
              <a:gd name="adj2" fmla="val 72962"/>
            </a:avLst>
          </a:prstGeom>
          <a:solidFill>
            <a:schemeClr val="bg1">
              <a:lumMod val="95000"/>
            </a:schemeClr>
          </a:solidFill>
          <a:ln w="3175" cap="flat" cmpd="sng" algn="ctr">
            <a:solidFill>
              <a:srgbClr val="0070AD"/>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err="1">
              <a:ln>
                <a:noFill/>
              </a:ln>
              <a:solidFill>
                <a:prstClr val="black"/>
              </a:solidFill>
              <a:effectLst/>
              <a:uLnTx/>
              <a:uFillTx/>
              <a:latin typeface="Ubuntu"/>
              <a:ea typeface="+mn-ea"/>
              <a:cs typeface="+mn-cs"/>
            </a:endParaRPr>
          </a:p>
        </p:txBody>
      </p:sp>
      <p:sp>
        <p:nvSpPr>
          <p:cNvPr id="441" name="Arrow: Up 440">
            <a:extLst>
              <a:ext uri="{FF2B5EF4-FFF2-40B4-BE49-F238E27FC236}">
                <a16:creationId xmlns:a16="http://schemas.microsoft.com/office/drawing/2014/main" id="{3622A33A-CFBF-1742-E814-8D42CB8CC854}"/>
              </a:ext>
            </a:extLst>
          </p:cNvPr>
          <p:cNvSpPr/>
          <p:nvPr/>
        </p:nvSpPr>
        <p:spPr>
          <a:xfrm>
            <a:off x="6997821" y="4099944"/>
            <a:ext cx="149200" cy="423886"/>
          </a:xfrm>
          <a:prstGeom prst="upArrow">
            <a:avLst>
              <a:gd name="adj1" fmla="val 42346"/>
              <a:gd name="adj2" fmla="val 72962"/>
            </a:avLst>
          </a:prstGeom>
          <a:solidFill>
            <a:schemeClr val="bg1">
              <a:lumMod val="95000"/>
            </a:schemeClr>
          </a:solidFill>
          <a:ln w="3175" cap="flat" cmpd="sng" algn="ctr">
            <a:solidFill>
              <a:srgbClr val="0070AD"/>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err="1">
              <a:ln>
                <a:noFill/>
              </a:ln>
              <a:solidFill>
                <a:prstClr val="black"/>
              </a:solidFill>
              <a:effectLst/>
              <a:uLnTx/>
              <a:uFillTx/>
              <a:latin typeface="Ubuntu"/>
              <a:ea typeface="+mn-ea"/>
              <a:cs typeface="+mn-cs"/>
            </a:endParaRPr>
          </a:p>
        </p:txBody>
      </p:sp>
      <p:grpSp>
        <p:nvGrpSpPr>
          <p:cNvPr id="444" name="Group 443">
            <a:extLst>
              <a:ext uri="{FF2B5EF4-FFF2-40B4-BE49-F238E27FC236}">
                <a16:creationId xmlns:a16="http://schemas.microsoft.com/office/drawing/2014/main" id="{66FDD023-4FC4-C0E6-D51F-BB0B6B14CDF6}"/>
              </a:ext>
            </a:extLst>
          </p:cNvPr>
          <p:cNvGrpSpPr/>
          <p:nvPr/>
        </p:nvGrpSpPr>
        <p:grpSpPr>
          <a:xfrm>
            <a:off x="5960282" y="5699324"/>
            <a:ext cx="380410" cy="375068"/>
            <a:chOff x="6011740" y="5432474"/>
            <a:chExt cx="337040" cy="371167"/>
          </a:xfrm>
        </p:grpSpPr>
        <p:sp>
          <p:nvSpPr>
            <p:cNvPr id="445" name="Arrow: Curved Right 444">
              <a:extLst>
                <a:ext uri="{FF2B5EF4-FFF2-40B4-BE49-F238E27FC236}">
                  <a16:creationId xmlns:a16="http://schemas.microsoft.com/office/drawing/2014/main" id="{8BF488B8-B275-8468-B626-84731F3EB759}"/>
                </a:ext>
              </a:extLst>
            </p:cNvPr>
            <p:cNvSpPr/>
            <p:nvPr/>
          </p:nvSpPr>
          <p:spPr>
            <a:xfrm>
              <a:off x="6011740" y="5432474"/>
              <a:ext cx="168520" cy="290994"/>
            </a:xfrm>
            <a:prstGeom prst="curvedRightArrow">
              <a:avLst/>
            </a:prstGeom>
            <a:solidFill>
              <a:srgbClr val="0070AD"/>
            </a:solidFill>
            <a:ln w="9525" cap="flat" cmpd="sng" algn="ctr">
              <a:solidFill>
                <a:srgbClr val="0070A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Ubuntu"/>
                <a:ea typeface="+mn-ea"/>
                <a:cs typeface="+mn-cs"/>
              </a:endParaRPr>
            </a:p>
          </p:txBody>
        </p:sp>
        <p:sp>
          <p:nvSpPr>
            <p:cNvPr id="446" name="Arrow: Curved Left 76">
              <a:extLst>
                <a:ext uri="{FF2B5EF4-FFF2-40B4-BE49-F238E27FC236}">
                  <a16:creationId xmlns:a16="http://schemas.microsoft.com/office/drawing/2014/main" id="{5B83B1B1-D2BF-C847-5305-55113428F6EB}"/>
                </a:ext>
              </a:extLst>
            </p:cNvPr>
            <p:cNvSpPr/>
            <p:nvPr/>
          </p:nvSpPr>
          <p:spPr>
            <a:xfrm flipV="1">
              <a:off x="6180260" y="5512647"/>
              <a:ext cx="168520" cy="290994"/>
            </a:xfrm>
            <a:prstGeom prst="curvedLeftArrow">
              <a:avLst>
                <a:gd name="adj1" fmla="val 25000"/>
                <a:gd name="adj2" fmla="val 50000"/>
                <a:gd name="adj3" fmla="val 30652"/>
              </a:avLst>
            </a:prstGeom>
            <a:solidFill>
              <a:srgbClr val="0070AD"/>
            </a:solidFill>
            <a:ln w="9525" cap="flat" cmpd="sng" algn="ctr">
              <a:solidFill>
                <a:srgbClr val="0070A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Ubuntu"/>
                <a:ea typeface="+mn-ea"/>
                <a:cs typeface="+mn-cs"/>
              </a:endParaRPr>
            </a:p>
          </p:txBody>
        </p:sp>
      </p:grpSp>
      <p:sp>
        <p:nvSpPr>
          <p:cNvPr id="8" name="Cylinder 7">
            <a:extLst>
              <a:ext uri="{FF2B5EF4-FFF2-40B4-BE49-F238E27FC236}">
                <a16:creationId xmlns:a16="http://schemas.microsoft.com/office/drawing/2014/main" id="{5B672827-063D-97D7-07EA-24390E38284C}"/>
              </a:ext>
            </a:extLst>
          </p:cNvPr>
          <p:cNvSpPr/>
          <p:nvPr/>
        </p:nvSpPr>
        <p:spPr>
          <a:xfrm>
            <a:off x="4640751" y="2851549"/>
            <a:ext cx="266959" cy="282190"/>
          </a:xfrm>
          <a:prstGeom prst="can">
            <a:avLst/>
          </a:prstGeom>
          <a:solidFill>
            <a:srgbClr val="FFCCCC"/>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HR</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9" name="Cylinder 8">
            <a:extLst>
              <a:ext uri="{FF2B5EF4-FFF2-40B4-BE49-F238E27FC236}">
                <a16:creationId xmlns:a16="http://schemas.microsoft.com/office/drawing/2014/main" id="{173C3B40-7729-0C48-DF46-4C102EA18A58}"/>
              </a:ext>
            </a:extLst>
          </p:cNvPr>
          <p:cNvSpPr/>
          <p:nvPr/>
        </p:nvSpPr>
        <p:spPr>
          <a:xfrm>
            <a:off x="4319696" y="2851549"/>
            <a:ext cx="266959" cy="282190"/>
          </a:xfrm>
          <a:prstGeom prst="can">
            <a:avLst/>
          </a:prstGeom>
          <a:solidFill>
            <a:srgbClr val="FFCCCC"/>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FI</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pic>
        <p:nvPicPr>
          <p:cNvPr id="10" name="Graphic 9" descr="Badge Cross with solid fill">
            <a:extLst>
              <a:ext uri="{FF2B5EF4-FFF2-40B4-BE49-F238E27FC236}">
                <a16:creationId xmlns:a16="http://schemas.microsoft.com/office/drawing/2014/main" id="{A907DDEE-8061-6603-EA93-80DBE00CE12E}"/>
              </a:ext>
            </a:extLst>
          </p:cNvPr>
          <p:cNvPicPr>
            <a:picLocks/>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774045" y="2799928"/>
            <a:ext cx="180000" cy="180000"/>
          </a:xfrm>
          <a:prstGeom prst="rect">
            <a:avLst/>
          </a:prstGeom>
          <a:effectLst/>
        </p:spPr>
      </p:pic>
      <p:pic>
        <p:nvPicPr>
          <p:cNvPr id="11" name="Graphic 10" descr="Badge Cross with solid fill">
            <a:extLst>
              <a:ext uri="{FF2B5EF4-FFF2-40B4-BE49-F238E27FC236}">
                <a16:creationId xmlns:a16="http://schemas.microsoft.com/office/drawing/2014/main" id="{33747983-FB5E-BE0F-76E3-F59A6418440A}"/>
              </a:ext>
            </a:extLst>
          </p:cNvPr>
          <p:cNvPicPr>
            <a:picLocks/>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455110" y="2799928"/>
            <a:ext cx="180000" cy="180000"/>
          </a:xfrm>
          <a:prstGeom prst="rect">
            <a:avLst/>
          </a:prstGeom>
          <a:effectLst/>
        </p:spPr>
      </p:pic>
      <p:sp>
        <p:nvSpPr>
          <p:cNvPr id="12" name="Cylinder 11">
            <a:extLst>
              <a:ext uri="{FF2B5EF4-FFF2-40B4-BE49-F238E27FC236}">
                <a16:creationId xmlns:a16="http://schemas.microsoft.com/office/drawing/2014/main" id="{F3D40765-C312-EB9E-F2C4-C3208706204F}"/>
              </a:ext>
            </a:extLst>
          </p:cNvPr>
          <p:cNvSpPr/>
          <p:nvPr/>
        </p:nvSpPr>
        <p:spPr>
          <a:xfrm>
            <a:off x="4976964" y="4530634"/>
            <a:ext cx="266959" cy="282190"/>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SC</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13" name="Cylinder 12">
            <a:extLst>
              <a:ext uri="{FF2B5EF4-FFF2-40B4-BE49-F238E27FC236}">
                <a16:creationId xmlns:a16="http://schemas.microsoft.com/office/drawing/2014/main" id="{FD36B78B-F146-AEA1-4605-F85004841616}"/>
              </a:ext>
            </a:extLst>
          </p:cNvPr>
          <p:cNvSpPr/>
          <p:nvPr/>
        </p:nvSpPr>
        <p:spPr>
          <a:xfrm>
            <a:off x="4655909" y="4530634"/>
            <a:ext cx="266959" cy="282190"/>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HR</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14" name="Cylinder 13">
            <a:extLst>
              <a:ext uri="{FF2B5EF4-FFF2-40B4-BE49-F238E27FC236}">
                <a16:creationId xmlns:a16="http://schemas.microsoft.com/office/drawing/2014/main" id="{B4B6D1BA-33ED-B776-B7AC-72BCA51CDE50}"/>
              </a:ext>
            </a:extLst>
          </p:cNvPr>
          <p:cNvSpPr/>
          <p:nvPr/>
        </p:nvSpPr>
        <p:spPr>
          <a:xfrm>
            <a:off x="4334854" y="4530634"/>
            <a:ext cx="266959" cy="282190"/>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FI</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18" name="Cylinder 17">
            <a:extLst>
              <a:ext uri="{FF2B5EF4-FFF2-40B4-BE49-F238E27FC236}">
                <a16:creationId xmlns:a16="http://schemas.microsoft.com/office/drawing/2014/main" id="{EB3CB2D9-4CD6-EB89-FEE8-23E29FC40B24}"/>
              </a:ext>
            </a:extLst>
          </p:cNvPr>
          <p:cNvSpPr/>
          <p:nvPr/>
        </p:nvSpPr>
        <p:spPr>
          <a:xfrm>
            <a:off x="4970406" y="6179350"/>
            <a:ext cx="266959" cy="282190"/>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SC</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19" name="Cylinder 18">
            <a:extLst>
              <a:ext uri="{FF2B5EF4-FFF2-40B4-BE49-F238E27FC236}">
                <a16:creationId xmlns:a16="http://schemas.microsoft.com/office/drawing/2014/main" id="{9D6328B7-DB32-563A-FF28-4058DC0F3AE4}"/>
              </a:ext>
            </a:extLst>
          </p:cNvPr>
          <p:cNvSpPr/>
          <p:nvPr/>
        </p:nvSpPr>
        <p:spPr>
          <a:xfrm>
            <a:off x="4649351" y="6179350"/>
            <a:ext cx="266959" cy="282190"/>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HR</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20" name="Cylinder 19">
            <a:extLst>
              <a:ext uri="{FF2B5EF4-FFF2-40B4-BE49-F238E27FC236}">
                <a16:creationId xmlns:a16="http://schemas.microsoft.com/office/drawing/2014/main" id="{51F45BCC-9789-EFB9-9AAA-857E82621498}"/>
              </a:ext>
            </a:extLst>
          </p:cNvPr>
          <p:cNvSpPr/>
          <p:nvPr/>
        </p:nvSpPr>
        <p:spPr>
          <a:xfrm>
            <a:off x="4328296" y="6179350"/>
            <a:ext cx="266959" cy="282190"/>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FI</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21" name="Cylinder 20">
            <a:extLst>
              <a:ext uri="{FF2B5EF4-FFF2-40B4-BE49-F238E27FC236}">
                <a16:creationId xmlns:a16="http://schemas.microsoft.com/office/drawing/2014/main" id="{81CDAEBC-C4BD-3CF2-973B-DDC6E162E952}"/>
              </a:ext>
            </a:extLst>
          </p:cNvPr>
          <p:cNvSpPr/>
          <p:nvPr/>
        </p:nvSpPr>
        <p:spPr>
          <a:xfrm>
            <a:off x="7703251" y="5534132"/>
            <a:ext cx="266959" cy="282190"/>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SC</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22" name="Cylinder 21">
            <a:extLst>
              <a:ext uri="{FF2B5EF4-FFF2-40B4-BE49-F238E27FC236}">
                <a16:creationId xmlns:a16="http://schemas.microsoft.com/office/drawing/2014/main" id="{A6927E97-1CBB-F6C0-3E7B-C203344C03B2}"/>
              </a:ext>
            </a:extLst>
          </p:cNvPr>
          <p:cNvSpPr/>
          <p:nvPr/>
        </p:nvSpPr>
        <p:spPr>
          <a:xfrm>
            <a:off x="7382196" y="5534132"/>
            <a:ext cx="266959" cy="282190"/>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HR</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23" name="Cylinder 22">
            <a:extLst>
              <a:ext uri="{FF2B5EF4-FFF2-40B4-BE49-F238E27FC236}">
                <a16:creationId xmlns:a16="http://schemas.microsoft.com/office/drawing/2014/main" id="{3F179C18-5118-3680-9527-DFDB36906185}"/>
              </a:ext>
            </a:extLst>
          </p:cNvPr>
          <p:cNvSpPr/>
          <p:nvPr/>
        </p:nvSpPr>
        <p:spPr>
          <a:xfrm>
            <a:off x="7061141" y="5534132"/>
            <a:ext cx="266959" cy="282190"/>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FI</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24" name="Cylinder 23">
            <a:extLst>
              <a:ext uri="{FF2B5EF4-FFF2-40B4-BE49-F238E27FC236}">
                <a16:creationId xmlns:a16="http://schemas.microsoft.com/office/drawing/2014/main" id="{04B1A2C7-54C8-4D1F-C7B8-B19AD7CB8013}"/>
              </a:ext>
            </a:extLst>
          </p:cNvPr>
          <p:cNvSpPr/>
          <p:nvPr/>
        </p:nvSpPr>
        <p:spPr>
          <a:xfrm>
            <a:off x="7700693" y="5882993"/>
            <a:ext cx="266959" cy="282190"/>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SC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600" b="0" i="0" u="none" strike="noStrike" kern="0" cap="none" spc="0" normalizeH="0" baseline="0" noProof="0" dirty="0" err="1">
                <a:ln>
                  <a:noFill/>
                </a:ln>
                <a:solidFill>
                  <a:srgbClr val="0070AD"/>
                </a:solidFill>
                <a:effectLst/>
                <a:uLnTx/>
                <a:uFillTx/>
                <a:latin typeface="Ubuntu"/>
                <a:ea typeface="+mn-ea"/>
                <a:cs typeface="+mn-cs"/>
              </a:rPr>
              <a:t>exF</a:t>
            </a:r>
            <a:endParaRPr kumimoji="0" lang="en-US" sz="600" b="0" i="0" u="none" strike="noStrike" kern="0" cap="none" spc="0" normalizeH="0" baseline="0" noProof="0" dirty="0">
              <a:ln>
                <a:noFill/>
              </a:ln>
              <a:solidFill>
                <a:srgbClr val="0070AD"/>
              </a:solidFill>
              <a:effectLst/>
              <a:uLnTx/>
              <a:uFillTx/>
              <a:latin typeface="Ubuntu"/>
              <a:ea typeface="+mn-ea"/>
              <a:cs typeface="+mn-cs"/>
            </a:endParaRPr>
          </a:p>
        </p:txBody>
      </p:sp>
      <p:sp>
        <p:nvSpPr>
          <p:cNvPr id="25" name="Cylinder 24">
            <a:extLst>
              <a:ext uri="{FF2B5EF4-FFF2-40B4-BE49-F238E27FC236}">
                <a16:creationId xmlns:a16="http://schemas.microsoft.com/office/drawing/2014/main" id="{7548DB02-65C1-94DA-236C-30E12190996F}"/>
              </a:ext>
            </a:extLst>
          </p:cNvPr>
          <p:cNvSpPr/>
          <p:nvPr/>
        </p:nvSpPr>
        <p:spPr>
          <a:xfrm>
            <a:off x="7379638" y="5882993"/>
            <a:ext cx="266959" cy="282190"/>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HR</a:t>
            </a:r>
          </a:p>
          <a:p>
            <a:pPr marL="0" marR="0" lvl="0" indent="0" algn="ctr" defTabSz="914400" eaLnBrk="1" fontAlgn="auto" latinLnBrk="0" hangingPunct="1">
              <a:lnSpc>
                <a:spcPct val="100000"/>
              </a:lnSpc>
              <a:spcBef>
                <a:spcPts val="0"/>
              </a:spcBef>
              <a:spcAft>
                <a:spcPts val="0"/>
              </a:spcAft>
              <a:buClrTx/>
              <a:buSzTx/>
              <a:buFontTx/>
              <a:buNone/>
              <a:tabLst/>
              <a:defRPr/>
            </a:pPr>
            <a:r>
              <a:rPr lang="it-IT" sz="600" kern="0" dirty="0" err="1">
                <a:solidFill>
                  <a:srgbClr val="0070AD"/>
                </a:solidFill>
                <a:latin typeface="Ubuntu"/>
              </a:rPr>
              <a:t>exF</a:t>
            </a:r>
            <a:endParaRPr kumimoji="0" lang="en-US" sz="600" b="0" i="0" u="none" strike="noStrike" kern="0" cap="none" spc="0" normalizeH="0" baseline="0" noProof="0" dirty="0">
              <a:ln>
                <a:noFill/>
              </a:ln>
              <a:solidFill>
                <a:srgbClr val="0070AD"/>
              </a:solidFill>
              <a:effectLst/>
              <a:uLnTx/>
              <a:uFillTx/>
              <a:latin typeface="Ubuntu"/>
              <a:ea typeface="+mn-ea"/>
              <a:cs typeface="+mn-cs"/>
            </a:endParaRPr>
          </a:p>
        </p:txBody>
      </p:sp>
      <p:sp>
        <p:nvSpPr>
          <p:cNvPr id="26" name="Cylinder 25">
            <a:extLst>
              <a:ext uri="{FF2B5EF4-FFF2-40B4-BE49-F238E27FC236}">
                <a16:creationId xmlns:a16="http://schemas.microsoft.com/office/drawing/2014/main" id="{FE5604D8-4057-1395-8452-895EB981742C}"/>
              </a:ext>
            </a:extLst>
          </p:cNvPr>
          <p:cNvSpPr/>
          <p:nvPr/>
        </p:nvSpPr>
        <p:spPr>
          <a:xfrm>
            <a:off x="7058583" y="5882993"/>
            <a:ext cx="266959" cy="282190"/>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FI</a:t>
            </a:r>
          </a:p>
          <a:p>
            <a:pPr marL="0" marR="0" lvl="0" indent="0" algn="ctr" defTabSz="914400" eaLnBrk="1" fontAlgn="auto" latinLnBrk="0" hangingPunct="1">
              <a:lnSpc>
                <a:spcPct val="100000"/>
              </a:lnSpc>
              <a:spcBef>
                <a:spcPts val="0"/>
              </a:spcBef>
              <a:spcAft>
                <a:spcPts val="0"/>
              </a:spcAft>
              <a:buClrTx/>
              <a:buSzTx/>
              <a:buFontTx/>
              <a:buNone/>
              <a:tabLst/>
              <a:defRPr/>
            </a:pPr>
            <a:r>
              <a:rPr lang="it-IT" sz="600" kern="0" dirty="0" err="1">
                <a:solidFill>
                  <a:srgbClr val="0070AD"/>
                </a:solidFill>
                <a:latin typeface="Ubuntu"/>
              </a:rPr>
              <a:t>exF</a:t>
            </a:r>
            <a:endParaRPr kumimoji="0" lang="en-US" sz="600" b="0" i="0" u="none" strike="noStrike" kern="0" cap="none" spc="0" normalizeH="0" baseline="0" noProof="0" dirty="0">
              <a:ln>
                <a:noFill/>
              </a:ln>
              <a:solidFill>
                <a:srgbClr val="0070AD"/>
              </a:solidFill>
              <a:effectLst/>
              <a:uLnTx/>
              <a:uFillTx/>
              <a:latin typeface="Ubuntu"/>
              <a:ea typeface="+mn-ea"/>
              <a:cs typeface="+mn-cs"/>
            </a:endParaRPr>
          </a:p>
        </p:txBody>
      </p:sp>
      <p:grpSp>
        <p:nvGrpSpPr>
          <p:cNvPr id="30" name="Group 29">
            <a:extLst>
              <a:ext uri="{FF2B5EF4-FFF2-40B4-BE49-F238E27FC236}">
                <a16:creationId xmlns:a16="http://schemas.microsoft.com/office/drawing/2014/main" id="{732FA8CA-11F3-CEE6-0DC2-4EA5CC64AD2D}"/>
              </a:ext>
            </a:extLst>
          </p:cNvPr>
          <p:cNvGrpSpPr>
            <a:grpSpLocks noChangeAspect="1"/>
          </p:cNvGrpSpPr>
          <p:nvPr/>
        </p:nvGrpSpPr>
        <p:grpSpPr>
          <a:xfrm>
            <a:off x="7589991" y="4511336"/>
            <a:ext cx="471335" cy="146310"/>
            <a:chOff x="7173680" y="5852922"/>
            <a:chExt cx="805430" cy="279256"/>
          </a:xfrm>
        </p:grpSpPr>
        <p:sp>
          <p:nvSpPr>
            <p:cNvPr id="27" name="Cylinder 26">
              <a:extLst>
                <a:ext uri="{FF2B5EF4-FFF2-40B4-BE49-F238E27FC236}">
                  <a16:creationId xmlns:a16="http://schemas.microsoft.com/office/drawing/2014/main" id="{15D043CC-C1C1-17D0-BCE7-31555F1038E7}"/>
                </a:ext>
              </a:extLst>
            </p:cNvPr>
            <p:cNvSpPr/>
            <p:nvPr/>
          </p:nvSpPr>
          <p:spPr>
            <a:xfrm>
              <a:off x="7742586" y="5852922"/>
              <a:ext cx="236524" cy="279256"/>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550" b="0" i="0" u="none" strike="noStrike" kern="0" cap="none" spc="0" normalizeH="0" baseline="0" noProof="0" dirty="0">
                  <a:ln>
                    <a:noFill/>
                  </a:ln>
                  <a:solidFill>
                    <a:srgbClr val="0070AD"/>
                  </a:solidFill>
                  <a:effectLst/>
                  <a:uLnTx/>
                  <a:uFillTx/>
                  <a:latin typeface="Ubuntu"/>
                  <a:ea typeface="+mn-ea"/>
                  <a:cs typeface="+mn-cs"/>
                </a:rPr>
                <a:t>SC</a:t>
              </a:r>
              <a:endParaRPr kumimoji="0" lang="en-US" sz="550" b="0" i="0" u="none" strike="noStrike" kern="0" cap="none" spc="0" normalizeH="0" baseline="0" noProof="0" dirty="0">
                <a:ln>
                  <a:noFill/>
                </a:ln>
                <a:solidFill>
                  <a:srgbClr val="0070AD"/>
                </a:solidFill>
                <a:effectLst/>
                <a:uLnTx/>
                <a:uFillTx/>
                <a:latin typeface="Ubuntu"/>
                <a:ea typeface="+mn-ea"/>
                <a:cs typeface="+mn-cs"/>
              </a:endParaRPr>
            </a:p>
          </p:txBody>
        </p:sp>
        <p:sp>
          <p:nvSpPr>
            <p:cNvPr id="28" name="Cylinder 27">
              <a:extLst>
                <a:ext uri="{FF2B5EF4-FFF2-40B4-BE49-F238E27FC236}">
                  <a16:creationId xmlns:a16="http://schemas.microsoft.com/office/drawing/2014/main" id="{9DBF57E5-DD39-4508-6AC3-D2497641DF46}"/>
                </a:ext>
              </a:extLst>
            </p:cNvPr>
            <p:cNvSpPr/>
            <p:nvPr/>
          </p:nvSpPr>
          <p:spPr>
            <a:xfrm>
              <a:off x="7458133" y="5852922"/>
              <a:ext cx="236524" cy="279256"/>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550" b="0" i="0" u="none" strike="noStrike" kern="0" cap="none" spc="0" normalizeH="0" baseline="0" noProof="0" dirty="0">
                  <a:ln>
                    <a:noFill/>
                  </a:ln>
                  <a:solidFill>
                    <a:srgbClr val="0070AD"/>
                  </a:solidFill>
                  <a:effectLst/>
                  <a:uLnTx/>
                  <a:uFillTx/>
                  <a:latin typeface="Ubuntu"/>
                  <a:ea typeface="+mn-ea"/>
                  <a:cs typeface="+mn-cs"/>
                </a:rPr>
                <a:t>HR</a:t>
              </a:r>
              <a:endParaRPr kumimoji="0" lang="en-US" sz="550" b="0" i="0" u="none" strike="noStrike" kern="0" cap="none" spc="0" normalizeH="0" baseline="0" noProof="0" dirty="0">
                <a:ln>
                  <a:noFill/>
                </a:ln>
                <a:solidFill>
                  <a:srgbClr val="0070AD"/>
                </a:solidFill>
                <a:effectLst/>
                <a:uLnTx/>
                <a:uFillTx/>
                <a:latin typeface="Ubuntu"/>
                <a:ea typeface="+mn-ea"/>
                <a:cs typeface="+mn-cs"/>
              </a:endParaRPr>
            </a:p>
          </p:txBody>
        </p:sp>
        <p:sp>
          <p:nvSpPr>
            <p:cNvPr id="29" name="Cylinder 28">
              <a:extLst>
                <a:ext uri="{FF2B5EF4-FFF2-40B4-BE49-F238E27FC236}">
                  <a16:creationId xmlns:a16="http://schemas.microsoft.com/office/drawing/2014/main" id="{7FA2F7B1-4B93-5B51-3E35-3ED0159624E2}"/>
                </a:ext>
              </a:extLst>
            </p:cNvPr>
            <p:cNvSpPr/>
            <p:nvPr/>
          </p:nvSpPr>
          <p:spPr>
            <a:xfrm>
              <a:off x="7173680" y="5852922"/>
              <a:ext cx="236524" cy="279256"/>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550" b="0" i="0" u="none" strike="noStrike" kern="0" cap="none" spc="0" normalizeH="0" baseline="0" noProof="0" dirty="0">
                  <a:ln>
                    <a:noFill/>
                  </a:ln>
                  <a:solidFill>
                    <a:srgbClr val="0070AD"/>
                  </a:solidFill>
                  <a:effectLst/>
                  <a:uLnTx/>
                  <a:uFillTx/>
                  <a:latin typeface="Ubuntu"/>
                  <a:ea typeface="+mn-ea"/>
                  <a:cs typeface="+mn-cs"/>
                </a:rPr>
                <a:t>FI</a:t>
              </a:r>
              <a:endParaRPr kumimoji="0" lang="en-US" sz="550" b="0" i="0" u="none" strike="noStrike" kern="0" cap="none" spc="0" normalizeH="0" baseline="0" noProof="0" dirty="0">
                <a:ln>
                  <a:noFill/>
                </a:ln>
                <a:solidFill>
                  <a:srgbClr val="0070AD"/>
                </a:solidFill>
                <a:effectLst/>
                <a:uLnTx/>
                <a:uFillTx/>
                <a:latin typeface="Ubuntu"/>
                <a:ea typeface="+mn-ea"/>
                <a:cs typeface="+mn-cs"/>
              </a:endParaRPr>
            </a:p>
          </p:txBody>
        </p:sp>
      </p:grpSp>
      <p:sp>
        <p:nvSpPr>
          <p:cNvPr id="37" name="Cylinder 36">
            <a:extLst>
              <a:ext uri="{FF2B5EF4-FFF2-40B4-BE49-F238E27FC236}">
                <a16:creationId xmlns:a16="http://schemas.microsoft.com/office/drawing/2014/main" id="{3B138B38-69B7-AE88-6FEB-D06C19C35293}"/>
              </a:ext>
            </a:extLst>
          </p:cNvPr>
          <p:cNvSpPr/>
          <p:nvPr/>
        </p:nvSpPr>
        <p:spPr>
          <a:xfrm>
            <a:off x="7741527" y="4015797"/>
            <a:ext cx="266959" cy="184196"/>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SC</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38" name="Cylinder 37">
            <a:extLst>
              <a:ext uri="{FF2B5EF4-FFF2-40B4-BE49-F238E27FC236}">
                <a16:creationId xmlns:a16="http://schemas.microsoft.com/office/drawing/2014/main" id="{FACDEB25-2070-416C-187F-4D2035105300}"/>
              </a:ext>
            </a:extLst>
          </p:cNvPr>
          <p:cNvSpPr/>
          <p:nvPr/>
        </p:nvSpPr>
        <p:spPr>
          <a:xfrm>
            <a:off x="7743652" y="3846199"/>
            <a:ext cx="266959" cy="184196"/>
          </a:xfrm>
          <a:prstGeom prst="can">
            <a:avLst/>
          </a:prstGeom>
          <a:solidFill>
            <a:schemeClr val="bg1"/>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800" b="0" i="0" u="none" strike="noStrike" kern="0" cap="none" spc="0" normalizeH="0" baseline="0" noProof="0" dirty="0">
                <a:ln>
                  <a:noFill/>
                </a:ln>
                <a:solidFill>
                  <a:srgbClr val="0070AD"/>
                </a:solidFill>
                <a:effectLst/>
                <a:uLnTx/>
                <a:uFillTx/>
                <a:latin typeface="Ubuntu"/>
                <a:ea typeface="+mn-ea"/>
                <a:cs typeface="+mn-cs"/>
              </a:rPr>
              <a:t>HR</a:t>
            </a:r>
            <a:endParaRPr kumimoji="0" lang="en-US" sz="800" b="0" i="0" u="none" strike="noStrike" kern="0" cap="none" spc="0" normalizeH="0" baseline="0" noProof="0" dirty="0">
              <a:ln>
                <a:noFill/>
              </a:ln>
              <a:solidFill>
                <a:srgbClr val="0070AD"/>
              </a:solidFill>
              <a:effectLst/>
              <a:uLnTx/>
              <a:uFillTx/>
              <a:latin typeface="Ubuntu"/>
              <a:ea typeface="+mn-ea"/>
              <a:cs typeface="+mn-cs"/>
            </a:endParaRPr>
          </a:p>
        </p:txBody>
      </p:sp>
      <p:sp>
        <p:nvSpPr>
          <p:cNvPr id="435" name="Rectangle: Top Corners Rounded 434">
            <a:extLst>
              <a:ext uri="{FF2B5EF4-FFF2-40B4-BE49-F238E27FC236}">
                <a16:creationId xmlns:a16="http://schemas.microsoft.com/office/drawing/2014/main" id="{D44D3E9B-0F8D-C3CD-984C-E911269DBF67}"/>
              </a:ext>
            </a:extLst>
          </p:cNvPr>
          <p:cNvSpPr>
            <a:spLocks/>
          </p:cNvSpPr>
          <p:nvPr/>
        </p:nvSpPr>
        <p:spPr>
          <a:xfrm>
            <a:off x="6920449" y="4304530"/>
            <a:ext cx="577327" cy="126346"/>
          </a:xfrm>
          <a:prstGeom prst="round2SameRect">
            <a:avLst/>
          </a:prstGeom>
          <a:solidFill>
            <a:srgbClr val="0070AD"/>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500" b="1" i="0" u="none" strike="noStrike" kern="0" cap="none" spc="0" normalizeH="0" baseline="0" noProof="0" dirty="0">
                <a:ln>
                  <a:noFill/>
                </a:ln>
                <a:solidFill>
                  <a:srgbClr val="FFFFFF"/>
                </a:solidFill>
                <a:effectLst/>
                <a:uLnTx/>
                <a:uFillTx/>
                <a:latin typeface="Ubuntu"/>
                <a:ea typeface="+mn-ea"/>
                <a:cs typeface="+mn-cs"/>
              </a:rPr>
              <a:t>VODAFONE</a:t>
            </a:r>
          </a:p>
        </p:txBody>
      </p:sp>
      <p:sp>
        <p:nvSpPr>
          <p:cNvPr id="438" name="Rectangle: Top Corners Rounded 437">
            <a:extLst>
              <a:ext uri="{FF2B5EF4-FFF2-40B4-BE49-F238E27FC236}">
                <a16:creationId xmlns:a16="http://schemas.microsoft.com/office/drawing/2014/main" id="{D774120E-2393-B983-623D-ADB5564B5D5F}"/>
              </a:ext>
            </a:extLst>
          </p:cNvPr>
          <p:cNvSpPr>
            <a:spLocks/>
          </p:cNvSpPr>
          <p:nvPr/>
        </p:nvSpPr>
        <p:spPr>
          <a:xfrm>
            <a:off x="7536993" y="4303821"/>
            <a:ext cx="577327" cy="126346"/>
          </a:xfrm>
          <a:prstGeom prst="round2SameRect">
            <a:avLst/>
          </a:prstGeom>
          <a:solidFill>
            <a:srgbClr val="0070AD"/>
          </a:solidFill>
          <a:ln w="12700" cap="flat" cmpd="sng" algn="ctr">
            <a:noFill/>
            <a:prstDash val="solid"/>
            <a:miter lim="800000"/>
          </a:ln>
          <a:effectLst/>
        </p:spPr>
        <p:txBody>
          <a:bodyPr wrap="squar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500" b="1" i="0" u="none" strike="noStrike" kern="0" cap="none" spc="0" normalizeH="0" baseline="0" noProof="0" dirty="0">
                <a:ln>
                  <a:noFill/>
                </a:ln>
                <a:solidFill>
                  <a:srgbClr val="FFFFFF"/>
                </a:solidFill>
                <a:effectLst/>
                <a:uLnTx/>
                <a:uFillTx/>
                <a:latin typeface="Ubuntu"/>
                <a:ea typeface="+mn-ea"/>
                <a:cs typeface="+mn-cs"/>
              </a:rPr>
              <a:t>FASTWEB</a:t>
            </a:r>
          </a:p>
        </p:txBody>
      </p:sp>
      <p:sp>
        <p:nvSpPr>
          <p:cNvPr id="434" name="Cylinder 433">
            <a:extLst>
              <a:ext uri="{FF2B5EF4-FFF2-40B4-BE49-F238E27FC236}">
                <a16:creationId xmlns:a16="http://schemas.microsoft.com/office/drawing/2014/main" id="{7CB2B75C-6088-7502-71C8-8D28FDE292AF}"/>
              </a:ext>
            </a:extLst>
          </p:cNvPr>
          <p:cNvSpPr/>
          <p:nvPr/>
        </p:nvSpPr>
        <p:spPr>
          <a:xfrm>
            <a:off x="6986911" y="4480905"/>
            <a:ext cx="470415" cy="207173"/>
          </a:xfrm>
          <a:prstGeom prst="can">
            <a:avLst/>
          </a:prstGeom>
          <a:solidFill>
            <a:srgbClr val="FFFFFF"/>
          </a:solidFill>
          <a:ln w="3175" cap="flat" cmpd="sng" algn="ctr">
            <a:solidFill>
              <a:srgbClr val="FFFFFF">
                <a:lumMod val="85000"/>
              </a:srgbClr>
            </a:solidFill>
            <a:prstDash val="solid"/>
            <a:miter lim="800000"/>
          </a:ln>
          <a:effectLst>
            <a:outerShdw blurRad="63500" sx="102000" sy="102000" algn="ctr" rotWithShape="0">
              <a:prstClr val="black">
                <a:alpha val="40000"/>
              </a:prstClr>
            </a:outerShdw>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it-IT" sz="550" b="0" i="0" u="none" strike="noStrike" kern="0" cap="none" spc="0" normalizeH="0" baseline="0" noProof="0" dirty="0">
                <a:ln>
                  <a:noFill/>
                </a:ln>
                <a:solidFill>
                  <a:srgbClr val="0070AD"/>
                </a:solidFill>
                <a:effectLst/>
                <a:uLnTx/>
                <a:uFillTx/>
                <a:latin typeface="Ubuntu"/>
                <a:ea typeface="+mn-ea"/>
                <a:cs typeface="+mn-cs"/>
              </a:rPr>
              <a:t>FI – HR – SC</a:t>
            </a:r>
            <a:endParaRPr kumimoji="0" lang="en-US" sz="550" b="0" i="0" u="none" strike="noStrike" kern="0" cap="none" spc="0" normalizeH="0" baseline="0" noProof="0" dirty="0">
              <a:ln>
                <a:noFill/>
              </a:ln>
              <a:solidFill>
                <a:srgbClr val="0070AD"/>
              </a:solidFill>
              <a:effectLst/>
              <a:uLnTx/>
              <a:uFillTx/>
              <a:latin typeface="Ubuntu"/>
              <a:ea typeface="+mn-ea"/>
              <a:cs typeface="+mn-cs"/>
            </a:endParaRPr>
          </a:p>
        </p:txBody>
      </p:sp>
      <p:pic>
        <p:nvPicPr>
          <p:cNvPr id="48" name="Graphic 47">
            <a:extLst>
              <a:ext uri="{FF2B5EF4-FFF2-40B4-BE49-F238E27FC236}">
                <a16:creationId xmlns:a16="http://schemas.microsoft.com/office/drawing/2014/main" id="{DAB18973-7E1C-2D1C-5180-EDB0D7D9799B}"/>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481008" y="4692099"/>
            <a:ext cx="188133" cy="188133"/>
          </a:xfrm>
          <a:prstGeom prst="rect">
            <a:avLst/>
          </a:prstGeom>
        </p:spPr>
      </p:pic>
      <p:pic>
        <p:nvPicPr>
          <p:cNvPr id="49" name="Graphic 48">
            <a:extLst>
              <a:ext uri="{FF2B5EF4-FFF2-40B4-BE49-F238E27FC236}">
                <a16:creationId xmlns:a16="http://schemas.microsoft.com/office/drawing/2014/main" id="{634A6B69-AA9A-0BD6-41CF-9D17CD949663}"/>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471855" y="2572634"/>
            <a:ext cx="188133" cy="188133"/>
          </a:xfrm>
          <a:prstGeom prst="rect">
            <a:avLst/>
          </a:prstGeom>
        </p:spPr>
      </p:pic>
      <p:pic>
        <p:nvPicPr>
          <p:cNvPr id="50" name="Graphic 49">
            <a:extLst>
              <a:ext uri="{FF2B5EF4-FFF2-40B4-BE49-F238E27FC236}">
                <a16:creationId xmlns:a16="http://schemas.microsoft.com/office/drawing/2014/main" id="{00EE14E2-41B3-485F-730B-CD785B40CB9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471855" y="3056341"/>
            <a:ext cx="188133" cy="188133"/>
          </a:xfrm>
          <a:prstGeom prst="rect">
            <a:avLst/>
          </a:prstGeom>
        </p:spPr>
      </p:pic>
      <p:pic>
        <p:nvPicPr>
          <p:cNvPr id="51" name="Graphic 50">
            <a:extLst>
              <a:ext uri="{FF2B5EF4-FFF2-40B4-BE49-F238E27FC236}">
                <a16:creationId xmlns:a16="http://schemas.microsoft.com/office/drawing/2014/main" id="{8C52A673-39D6-CDA0-E6D1-A5CFF9BD77D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8481008" y="6321684"/>
            <a:ext cx="188133" cy="188133"/>
          </a:xfrm>
          <a:prstGeom prst="rect">
            <a:avLst/>
          </a:prstGeom>
        </p:spPr>
      </p:pic>
      <p:pic>
        <p:nvPicPr>
          <p:cNvPr id="58" name="Graphic 57">
            <a:extLst>
              <a:ext uri="{FF2B5EF4-FFF2-40B4-BE49-F238E27FC236}">
                <a16:creationId xmlns:a16="http://schemas.microsoft.com/office/drawing/2014/main" id="{5821734A-0D9C-1F00-FD11-F4BE4CB3C450}"/>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8471855" y="2088926"/>
            <a:ext cx="188133" cy="188133"/>
          </a:xfrm>
          <a:prstGeom prst="rect">
            <a:avLst/>
          </a:prstGeom>
        </p:spPr>
      </p:pic>
      <p:pic>
        <p:nvPicPr>
          <p:cNvPr id="59" name="Graphic 58">
            <a:extLst>
              <a:ext uri="{FF2B5EF4-FFF2-40B4-BE49-F238E27FC236}">
                <a16:creationId xmlns:a16="http://schemas.microsoft.com/office/drawing/2014/main" id="{1329AD79-4EC4-6DBD-03FB-13BE3411770E}"/>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471855" y="2330780"/>
            <a:ext cx="188133" cy="188133"/>
          </a:xfrm>
          <a:prstGeom prst="rect">
            <a:avLst/>
          </a:prstGeom>
        </p:spPr>
      </p:pic>
      <p:pic>
        <p:nvPicPr>
          <p:cNvPr id="60" name="Graphic 59">
            <a:extLst>
              <a:ext uri="{FF2B5EF4-FFF2-40B4-BE49-F238E27FC236}">
                <a16:creationId xmlns:a16="http://schemas.microsoft.com/office/drawing/2014/main" id="{AA02FB82-AAD3-60B8-DD78-308812E0FB6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481008" y="3482830"/>
            <a:ext cx="188133" cy="188133"/>
          </a:xfrm>
          <a:prstGeom prst="rect">
            <a:avLst/>
          </a:prstGeom>
        </p:spPr>
      </p:pic>
      <p:pic>
        <p:nvPicPr>
          <p:cNvPr id="61" name="Graphic 60">
            <a:extLst>
              <a:ext uri="{FF2B5EF4-FFF2-40B4-BE49-F238E27FC236}">
                <a16:creationId xmlns:a16="http://schemas.microsoft.com/office/drawing/2014/main" id="{5FF8C319-DED9-2C03-39D5-42400E77BABF}"/>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481008" y="3724684"/>
            <a:ext cx="188133" cy="188133"/>
          </a:xfrm>
          <a:prstGeom prst="rect">
            <a:avLst/>
          </a:prstGeom>
        </p:spPr>
      </p:pic>
      <p:pic>
        <p:nvPicPr>
          <p:cNvPr id="62" name="Graphic 61">
            <a:extLst>
              <a:ext uri="{FF2B5EF4-FFF2-40B4-BE49-F238E27FC236}">
                <a16:creationId xmlns:a16="http://schemas.microsoft.com/office/drawing/2014/main" id="{0024273A-8D9C-AF92-9C26-4B758808340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481008" y="5112415"/>
            <a:ext cx="188133" cy="188133"/>
          </a:xfrm>
          <a:prstGeom prst="rect">
            <a:avLst/>
          </a:prstGeom>
        </p:spPr>
      </p:pic>
      <p:pic>
        <p:nvPicPr>
          <p:cNvPr id="256" name="Graphic 255">
            <a:extLst>
              <a:ext uri="{FF2B5EF4-FFF2-40B4-BE49-F238E27FC236}">
                <a16:creationId xmlns:a16="http://schemas.microsoft.com/office/drawing/2014/main" id="{14372FB6-A73B-119A-167F-655DD85357CF}"/>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481008" y="5596123"/>
            <a:ext cx="188133" cy="188133"/>
          </a:xfrm>
          <a:prstGeom prst="rect">
            <a:avLst/>
          </a:prstGeom>
        </p:spPr>
      </p:pic>
      <p:sp>
        <p:nvSpPr>
          <p:cNvPr id="496" name="Rectangle 27">
            <a:extLst>
              <a:ext uri="{FF2B5EF4-FFF2-40B4-BE49-F238E27FC236}">
                <a16:creationId xmlns:a16="http://schemas.microsoft.com/office/drawing/2014/main" id="{739B36F7-79EF-0349-71E0-58F7D7FFA5CB}"/>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507" name="TextBox 506">
            <a:extLst>
              <a:ext uri="{FF2B5EF4-FFF2-40B4-BE49-F238E27FC236}">
                <a16:creationId xmlns:a16="http://schemas.microsoft.com/office/drawing/2014/main" id="{2F5ABA62-6377-C225-4ECD-A0DA5D243B1F}"/>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extLst>
      <p:ext uri="{BB962C8B-B14F-4D97-AF65-F5344CB8AC3E}">
        <p14:creationId xmlns:p14="http://schemas.microsoft.com/office/powerpoint/2010/main" val="2943849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 name="Object 62" hidden="1">
            <a:extLst>
              <a:ext uri="{FF2B5EF4-FFF2-40B4-BE49-F238E27FC236}">
                <a16:creationId xmlns:a16="http://schemas.microsoft.com/office/drawing/2014/main" id="{AB1347F7-7C24-431B-B516-465C0430D2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4" progId="TCLayout.ActiveDocument.1">
                  <p:embed/>
                </p:oleObj>
              </mc:Choice>
              <mc:Fallback>
                <p:oleObj name="think-cell Slide" r:id="rId13" imgW="395" imgH="394" progId="TCLayout.ActiveDocument.1">
                  <p:embed/>
                  <p:pic>
                    <p:nvPicPr>
                      <p:cNvPr id="63" name="Object 62" hidden="1">
                        <a:extLst>
                          <a:ext uri="{FF2B5EF4-FFF2-40B4-BE49-F238E27FC236}">
                            <a16:creationId xmlns:a16="http://schemas.microsoft.com/office/drawing/2014/main" id="{AB1347F7-7C24-431B-B516-465C0430D208}"/>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54" name="Rectangle 453">
            <a:extLst>
              <a:ext uri="{FF2B5EF4-FFF2-40B4-BE49-F238E27FC236}">
                <a16:creationId xmlns:a16="http://schemas.microsoft.com/office/drawing/2014/main" id="{FF387570-162B-D011-CA45-BFF88EAFCC08}"/>
              </a:ext>
            </a:extLst>
          </p:cNvPr>
          <p:cNvSpPr/>
          <p:nvPr/>
        </p:nvSpPr>
        <p:spPr>
          <a:xfrm>
            <a:off x="8723890" y="0"/>
            <a:ext cx="3468110" cy="6858000"/>
          </a:xfrm>
          <a:prstGeom prst="rect">
            <a:avLst/>
          </a:prstGeom>
          <a:solidFill>
            <a:srgbClr val="FFFFFF">
              <a:lumMod val="95000"/>
            </a:srgbClr>
          </a:soli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err="1">
              <a:ln>
                <a:noFill/>
              </a:ln>
              <a:solidFill>
                <a:prstClr val="black"/>
              </a:solidFill>
              <a:effectLst/>
              <a:uLnTx/>
              <a:uFillTx/>
              <a:latin typeface="Ubuntu"/>
              <a:ea typeface="+mn-ea"/>
              <a:cs typeface="+mn-cs"/>
            </a:endParaRPr>
          </a:p>
        </p:txBody>
      </p:sp>
      <p:sp>
        <p:nvSpPr>
          <p:cNvPr id="455" name="TextBox 454">
            <a:extLst>
              <a:ext uri="{FF2B5EF4-FFF2-40B4-BE49-F238E27FC236}">
                <a16:creationId xmlns:a16="http://schemas.microsoft.com/office/drawing/2014/main" id="{B50FA978-68DD-7F0B-A58E-3764D9D8B3C0}"/>
              </a:ext>
            </a:extLst>
          </p:cNvPr>
          <p:cNvSpPr txBox="1">
            <a:spLocks/>
          </p:cNvSpPr>
          <p:nvPr/>
        </p:nvSpPr>
        <p:spPr>
          <a:xfrm>
            <a:off x="920227" y="1539830"/>
            <a:ext cx="3202189" cy="30777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defRPr/>
            </a:pPr>
            <a:r>
              <a:rPr lang="en-US" sz="1400" b="1">
                <a:solidFill>
                  <a:srgbClr val="0070AD"/>
                </a:solidFill>
                <a:latin typeface="Verdana"/>
              </a:rPr>
              <a:t>Application Portfolio</a:t>
            </a:r>
          </a:p>
        </p:txBody>
      </p:sp>
      <p:sp>
        <p:nvSpPr>
          <p:cNvPr id="456" name="TextBox 455">
            <a:extLst>
              <a:ext uri="{FF2B5EF4-FFF2-40B4-BE49-F238E27FC236}">
                <a16:creationId xmlns:a16="http://schemas.microsoft.com/office/drawing/2014/main" id="{F411B961-9075-BFD9-03F9-967C1A0722C0}"/>
              </a:ext>
            </a:extLst>
          </p:cNvPr>
          <p:cNvSpPr txBox="1">
            <a:spLocks/>
          </p:cNvSpPr>
          <p:nvPr/>
        </p:nvSpPr>
        <p:spPr>
          <a:xfrm>
            <a:off x="4979663" y="1539830"/>
            <a:ext cx="2892552" cy="30777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defRPr/>
            </a:pPr>
            <a:r>
              <a:rPr lang="en-US" sz="1400" b="1">
                <a:solidFill>
                  <a:srgbClr val="0070AD"/>
                </a:solidFill>
                <a:latin typeface="Verdana"/>
              </a:rPr>
              <a:t>Business Involvement</a:t>
            </a:r>
            <a:endParaRPr lang="en-US" sz="1400">
              <a:solidFill>
                <a:srgbClr val="0070AD"/>
              </a:solidFill>
              <a:latin typeface="Verdana"/>
            </a:endParaRPr>
          </a:p>
        </p:txBody>
      </p:sp>
      <p:sp>
        <p:nvSpPr>
          <p:cNvPr id="457" name="TextBox 456">
            <a:extLst>
              <a:ext uri="{FF2B5EF4-FFF2-40B4-BE49-F238E27FC236}">
                <a16:creationId xmlns:a16="http://schemas.microsoft.com/office/drawing/2014/main" id="{4C9CB064-F84E-57C5-F3D1-0D0C3C8379EE}"/>
              </a:ext>
            </a:extLst>
          </p:cNvPr>
          <p:cNvSpPr txBox="1">
            <a:spLocks/>
          </p:cNvSpPr>
          <p:nvPr/>
        </p:nvSpPr>
        <p:spPr>
          <a:xfrm>
            <a:off x="541791" y="1880105"/>
            <a:ext cx="3820196" cy="91825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Font typeface="Wingdings" panose="05000000000000000000" pitchFamily="2" charset="2"/>
              <a:buChar char="§"/>
              <a:defRPr/>
            </a:pPr>
            <a:r>
              <a:rPr lang="en-US" sz="1200">
                <a:solidFill>
                  <a:srgbClr val="000000"/>
                </a:solidFill>
                <a:latin typeface="Verdana"/>
              </a:rPr>
              <a:t>Do applications and solutions represent a unique </a:t>
            </a:r>
            <a:r>
              <a:rPr lang="en-US" sz="1200" b="1">
                <a:solidFill>
                  <a:srgbClr val="000000"/>
                </a:solidFill>
                <a:latin typeface="Verdana"/>
              </a:rPr>
              <a:t>Template</a:t>
            </a:r>
            <a:r>
              <a:rPr lang="en-US" sz="1200">
                <a:solidFill>
                  <a:srgbClr val="000000"/>
                </a:solidFill>
                <a:latin typeface="Verdana"/>
              </a:rPr>
              <a:t> for Vodafone and </a:t>
            </a:r>
            <a:r>
              <a:rPr lang="en-US" sz="1200" err="1">
                <a:solidFill>
                  <a:srgbClr val="000000"/>
                </a:solidFill>
                <a:latin typeface="Verdana"/>
              </a:rPr>
              <a:t>Fastweb</a:t>
            </a:r>
            <a:r>
              <a:rPr lang="en-US" sz="1200">
                <a:solidFill>
                  <a:srgbClr val="000000"/>
                </a:solidFill>
                <a:latin typeface="Verdana"/>
              </a:rPr>
              <a:t>?</a:t>
            </a:r>
          </a:p>
          <a:p>
            <a:pPr lvl="1">
              <a:buFont typeface="Wingdings" panose="05000000000000000000" pitchFamily="2" charset="2"/>
              <a:buChar char="§"/>
              <a:defRPr/>
            </a:pPr>
            <a:r>
              <a:rPr lang="en-US" sz="1200">
                <a:solidFill>
                  <a:srgbClr val="000000"/>
                </a:solidFill>
                <a:latin typeface="Verdana"/>
              </a:rPr>
              <a:t>If not, what is the degree of </a:t>
            </a:r>
            <a:r>
              <a:rPr lang="en-US" sz="1200" b="1">
                <a:solidFill>
                  <a:srgbClr val="000000"/>
                </a:solidFill>
                <a:latin typeface="Verdana"/>
              </a:rPr>
              <a:t>Intersection</a:t>
            </a:r>
            <a:r>
              <a:rPr lang="en-US" sz="1200">
                <a:solidFill>
                  <a:srgbClr val="000000"/>
                </a:solidFill>
                <a:latin typeface="Verdana"/>
              </a:rPr>
              <a:t>  between them?</a:t>
            </a:r>
          </a:p>
        </p:txBody>
      </p:sp>
      <p:sp>
        <p:nvSpPr>
          <p:cNvPr id="458" name="TextBox 457">
            <a:extLst>
              <a:ext uri="{FF2B5EF4-FFF2-40B4-BE49-F238E27FC236}">
                <a16:creationId xmlns:a16="http://schemas.microsoft.com/office/drawing/2014/main" id="{2BAF5C1C-3F69-2DAD-0A3F-E3DB88482613}"/>
              </a:ext>
            </a:extLst>
          </p:cNvPr>
          <p:cNvSpPr txBox="1">
            <a:spLocks/>
          </p:cNvSpPr>
          <p:nvPr/>
        </p:nvSpPr>
        <p:spPr>
          <a:xfrm>
            <a:off x="4601226" y="1865792"/>
            <a:ext cx="3582000" cy="80161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buFont typeface="Wingdings" panose="05000000000000000000" pitchFamily="2" charset="2"/>
              <a:buChar char="§"/>
              <a:defRPr/>
            </a:pPr>
            <a:r>
              <a:rPr lang="en-US" sz="1200">
                <a:solidFill>
                  <a:srgbClr val="000000"/>
                </a:solidFill>
                <a:latin typeface="Verdana"/>
              </a:rPr>
              <a:t>What is the expected </a:t>
            </a:r>
            <a:r>
              <a:rPr lang="en-US" sz="1200" b="1">
                <a:solidFill>
                  <a:srgbClr val="000000"/>
                </a:solidFill>
                <a:latin typeface="Verdana"/>
              </a:rPr>
              <a:t>People Role </a:t>
            </a:r>
            <a:r>
              <a:rPr lang="en-US" sz="1200">
                <a:solidFill>
                  <a:srgbClr val="000000"/>
                </a:solidFill>
                <a:latin typeface="Verdana"/>
              </a:rPr>
              <a:t>and their availability?</a:t>
            </a:r>
          </a:p>
          <a:p>
            <a:pPr lvl="1">
              <a:buFont typeface="Wingdings" panose="05000000000000000000" pitchFamily="2" charset="2"/>
              <a:buChar char="§"/>
              <a:defRPr/>
            </a:pPr>
            <a:r>
              <a:rPr lang="en-US" sz="1200">
                <a:solidFill>
                  <a:srgbClr val="000000"/>
                </a:solidFill>
                <a:latin typeface="Verdana"/>
              </a:rPr>
              <a:t>Are you looking for a </a:t>
            </a:r>
            <a:r>
              <a:rPr lang="en-US" sz="1200" b="1">
                <a:solidFill>
                  <a:srgbClr val="000000"/>
                </a:solidFill>
                <a:latin typeface="Verdana"/>
              </a:rPr>
              <a:t>Technical Migration </a:t>
            </a:r>
            <a:r>
              <a:rPr lang="en-US" sz="1200">
                <a:solidFill>
                  <a:srgbClr val="000000"/>
                </a:solidFill>
                <a:latin typeface="Verdana"/>
              </a:rPr>
              <a:t>or willing a </a:t>
            </a:r>
            <a:r>
              <a:rPr lang="en-US" sz="1200" b="1">
                <a:solidFill>
                  <a:srgbClr val="000000"/>
                </a:solidFill>
                <a:latin typeface="Verdana"/>
              </a:rPr>
              <a:t>Business Transformation</a:t>
            </a:r>
            <a:r>
              <a:rPr lang="en-US" sz="1200">
                <a:solidFill>
                  <a:srgbClr val="000000"/>
                </a:solidFill>
                <a:latin typeface="Verdana"/>
              </a:rPr>
              <a:t>?</a:t>
            </a:r>
          </a:p>
        </p:txBody>
      </p:sp>
      <p:sp>
        <p:nvSpPr>
          <p:cNvPr id="459" name="TrackerAlphaBlue 4">
            <a:extLst>
              <a:ext uri="{FF2B5EF4-FFF2-40B4-BE49-F238E27FC236}">
                <a16:creationId xmlns:a16="http://schemas.microsoft.com/office/drawing/2014/main" id="{C0095AC1-E2D0-CE41-A6D8-600C01EAFCA2}"/>
              </a:ext>
            </a:extLst>
          </p:cNvPr>
          <p:cNvSpPr>
            <a:spLocks/>
          </p:cNvSpPr>
          <p:nvPr>
            <p:custDataLst>
              <p:tags r:id="rId2"/>
            </p:custDataLst>
          </p:nvPr>
        </p:nvSpPr>
        <p:spPr>
          <a:xfrm>
            <a:off x="469124" y="1549576"/>
            <a:ext cx="288285" cy="288285"/>
          </a:xfrm>
          <a:prstGeom prst="ellipse">
            <a:avLst/>
          </a:prstGeom>
          <a:solidFill>
            <a:srgbClr val="272936"/>
          </a:solidFill>
          <a:ln w="6350" cap="sq" cmpd="sng" algn="ctr">
            <a:no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FFFFFF"/>
                </a:solidFill>
                <a:effectLst/>
                <a:uLnTx/>
                <a:uFillTx/>
                <a:latin typeface="Arial"/>
                <a:ea typeface="+mn-ea"/>
                <a:cs typeface="+mn-cs"/>
              </a:rPr>
              <a:t>A</a:t>
            </a:r>
          </a:p>
        </p:txBody>
      </p:sp>
      <p:sp>
        <p:nvSpPr>
          <p:cNvPr id="460" name="TrackerAlphaBlue 4">
            <a:extLst>
              <a:ext uri="{FF2B5EF4-FFF2-40B4-BE49-F238E27FC236}">
                <a16:creationId xmlns:a16="http://schemas.microsoft.com/office/drawing/2014/main" id="{F2B30481-6A49-8C93-3AB8-13A685F89BB8}"/>
              </a:ext>
            </a:extLst>
          </p:cNvPr>
          <p:cNvSpPr>
            <a:spLocks/>
          </p:cNvSpPr>
          <p:nvPr>
            <p:custDataLst>
              <p:tags r:id="rId3"/>
            </p:custDataLst>
          </p:nvPr>
        </p:nvSpPr>
        <p:spPr>
          <a:xfrm>
            <a:off x="4528559" y="1549576"/>
            <a:ext cx="288285" cy="288285"/>
          </a:xfrm>
          <a:prstGeom prst="ellipse">
            <a:avLst/>
          </a:prstGeom>
          <a:solidFill>
            <a:srgbClr val="272936"/>
          </a:solidFill>
          <a:ln w="6350" cap="sq" cmpd="sng" algn="ctr">
            <a:no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US" sz="1400" b="1" i="0" u="none" strike="noStrike" kern="0" cap="none" spc="0" normalizeH="0" baseline="0" noProof="0">
                <a:ln>
                  <a:noFill/>
                </a:ln>
                <a:solidFill>
                  <a:srgbClr val="FFFFFF"/>
                </a:solidFill>
                <a:effectLst/>
                <a:uLnTx/>
                <a:uFillTx/>
                <a:latin typeface="Arial"/>
                <a:ea typeface="+mn-ea"/>
                <a:cs typeface="+mn-cs"/>
              </a:rPr>
              <a:t>B</a:t>
            </a:r>
          </a:p>
        </p:txBody>
      </p:sp>
      <p:sp>
        <p:nvSpPr>
          <p:cNvPr id="461" name="Title 4">
            <a:extLst>
              <a:ext uri="{FF2B5EF4-FFF2-40B4-BE49-F238E27FC236}">
                <a16:creationId xmlns:a16="http://schemas.microsoft.com/office/drawing/2014/main" id="{9B75591C-6585-AA08-B84C-A2CE7FE778C7}"/>
              </a:ext>
            </a:extLst>
          </p:cNvPr>
          <p:cNvSpPr txBox="1">
            <a:spLocks/>
          </p:cNvSpPr>
          <p:nvPr/>
        </p:nvSpPr>
        <p:spPr>
          <a:xfrm>
            <a:off x="9034901" y="1709619"/>
            <a:ext cx="2925957" cy="553999"/>
          </a:xfrm>
          <a:prstGeom prst="rect">
            <a:avLst/>
          </a:prstGeom>
        </p:spPr>
        <p:txBody>
          <a:bodyPr vert="horz" wrap="square" lIns="0" tIns="0" rIns="0" bIns="0" rtlCol="0" anchor="b" anchorCtr="0">
            <a:noAutofit/>
          </a:bodyPr>
          <a:lstStyle>
            <a:lvl1pPr algn="l" defTabSz="914400" rtl="0" eaLnBrk="1" latinLnBrk="0" hangingPunct="1">
              <a:lnSpc>
                <a:spcPct val="100000"/>
              </a:lnSpc>
              <a:spcBef>
                <a:spcPct val="0"/>
              </a:spcBef>
              <a:buNone/>
              <a:defRPr lang="en-US" sz="2500" b="0" kern="1200" spc="0" baseline="0" dirty="0">
                <a:ln w="6350" cap="flat">
                  <a:noFill/>
                  <a:miter lim="800000"/>
                </a:ln>
                <a:solidFill>
                  <a:schemeClr val="accent1"/>
                </a:solidFill>
                <a:latin typeface="Verdana" panose="020B0604030504040204" pitchFamily="34" charset="0"/>
                <a:ea typeface="Verdana" panose="020B0604030504040204" pitchFamily="34" charset="0"/>
                <a:cs typeface="+mj-cs"/>
                <a:sym typeface="Verdana" panose="020B0604030504040204" pitchFamily="34" charset="0"/>
              </a:defRPr>
            </a:lvl1pPr>
          </a:lstStyle>
          <a:p>
            <a:pPr>
              <a:defRPr/>
            </a:pPr>
            <a:r>
              <a:rPr lang="it-IT" sz="1400" b="1" dirty="0">
                <a:solidFill>
                  <a:prstClr val="black"/>
                </a:solidFill>
                <a:latin typeface="Ubuntu Medium"/>
              </a:rPr>
              <a:t>…</a:t>
            </a:r>
            <a:r>
              <a:rPr sz="1400" b="1" dirty="0">
                <a:solidFill>
                  <a:prstClr val="black"/>
                </a:solidFill>
                <a:latin typeface="Ubuntu Medium"/>
              </a:rPr>
              <a:t> AND COMBINE THEM WITH ADDITIONAL AND </a:t>
            </a:r>
            <a:r>
              <a:rPr sz="1400" b="1" dirty="0">
                <a:solidFill>
                  <a:srgbClr val="0070AD"/>
                </a:solidFill>
                <a:latin typeface="Ubuntu Medium"/>
              </a:rPr>
              <a:t>YOUR</a:t>
            </a:r>
            <a:r>
              <a:rPr sz="1400" b="1" dirty="0">
                <a:solidFill>
                  <a:prstClr val="black"/>
                </a:solidFill>
                <a:latin typeface="Ubuntu Medium"/>
              </a:rPr>
              <a:t> RELEVANT </a:t>
            </a:r>
          </a:p>
          <a:p>
            <a:pPr>
              <a:defRPr/>
            </a:pPr>
            <a:r>
              <a:rPr sz="1400" b="1" dirty="0">
                <a:solidFill>
                  <a:prstClr val="black"/>
                </a:solidFill>
                <a:latin typeface="Ubuntu Medium"/>
              </a:rPr>
              <a:t>SPECIFIC ONES</a:t>
            </a:r>
            <a:endParaRPr sz="1400" b="1" dirty="0">
              <a:solidFill>
                <a:srgbClr val="0070AD"/>
              </a:solidFill>
              <a:latin typeface="Ubuntu Medium"/>
            </a:endParaRPr>
          </a:p>
        </p:txBody>
      </p:sp>
      <p:cxnSp>
        <p:nvCxnSpPr>
          <p:cNvPr id="477" name="Straight Connector 476">
            <a:extLst>
              <a:ext uri="{FF2B5EF4-FFF2-40B4-BE49-F238E27FC236}">
                <a16:creationId xmlns:a16="http://schemas.microsoft.com/office/drawing/2014/main" id="{F416BB3D-40E9-9744-0288-E2773EE20CF2}"/>
              </a:ext>
            </a:extLst>
          </p:cNvPr>
          <p:cNvCxnSpPr/>
          <p:nvPr/>
        </p:nvCxnSpPr>
        <p:spPr>
          <a:xfrm>
            <a:off x="5308215" y="3122408"/>
            <a:ext cx="0" cy="2448315"/>
          </a:xfrm>
          <a:prstGeom prst="line">
            <a:avLst/>
          </a:prstGeom>
          <a:noFill/>
          <a:ln w="6350" cap="sq" cmpd="sng" algn="ctr">
            <a:solidFill>
              <a:srgbClr val="FFFFFF">
                <a:lumMod val="85000"/>
              </a:srgbClr>
            </a:solidFill>
            <a:prstDash val="solid"/>
            <a:miter lim="800000"/>
            <a:tailEnd type="none"/>
          </a:ln>
          <a:effectLst/>
        </p:spPr>
      </p:cxnSp>
      <p:cxnSp>
        <p:nvCxnSpPr>
          <p:cNvPr id="478" name="Straight Connector 477">
            <a:extLst>
              <a:ext uri="{FF2B5EF4-FFF2-40B4-BE49-F238E27FC236}">
                <a16:creationId xmlns:a16="http://schemas.microsoft.com/office/drawing/2014/main" id="{2CB0B17D-9994-7808-8F8B-4DE346F5F2AA}"/>
              </a:ext>
            </a:extLst>
          </p:cNvPr>
          <p:cNvCxnSpPr>
            <a:cxnSpLocks/>
          </p:cNvCxnSpPr>
          <p:nvPr/>
        </p:nvCxnSpPr>
        <p:spPr>
          <a:xfrm>
            <a:off x="3175317" y="4346565"/>
            <a:ext cx="4265796" cy="0"/>
          </a:xfrm>
          <a:prstGeom prst="line">
            <a:avLst/>
          </a:prstGeom>
          <a:noFill/>
          <a:ln w="6350" cap="sq" cmpd="sng" algn="ctr">
            <a:solidFill>
              <a:srgbClr val="FFFFFF">
                <a:lumMod val="85000"/>
              </a:srgbClr>
            </a:solidFill>
            <a:prstDash val="solid"/>
            <a:miter lim="800000"/>
            <a:tailEnd type="none"/>
          </a:ln>
          <a:effectLst/>
        </p:spPr>
      </p:cxnSp>
      <p:sp>
        <p:nvSpPr>
          <p:cNvPr id="479" name="Rectangle 478">
            <a:extLst>
              <a:ext uri="{FF2B5EF4-FFF2-40B4-BE49-F238E27FC236}">
                <a16:creationId xmlns:a16="http://schemas.microsoft.com/office/drawing/2014/main" id="{554B17DF-14A1-C62E-BD90-27FD229FB2BE}"/>
              </a:ext>
            </a:extLst>
          </p:cNvPr>
          <p:cNvSpPr>
            <a:spLocks/>
          </p:cNvSpPr>
          <p:nvPr/>
        </p:nvSpPr>
        <p:spPr>
          <a:xfrm>
            <a:off x="3087281" y="3013564"/>
            <a:ext cx="4441869" cy="2688678"/>
          </a:xfrm>
          <a:prstGeom prst="rect">
            <a:avLst/>
          </a:prstGeom>
          <a:noFill/>
          <a:ln w="6350" cap="sq" cmpd="sng" algn="ctr">
            <a:solidFill>
              <a:srgbClr val="FFFFFF">
                <a:lumMod val="85000"/>
              </a:srgbClr>
            </a:solidFill>
            <a:prstDash val="solid"/>
            <a:miter lim="800000"/>
          </a:ln>
          <a:effectLst/>
        </p:spPr>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100" b="1" i="0" u="none" strike="noStrike" kern="0" cap="none" spc="0" normalizeH="0" baseline="0" noProof="0">
              <a:ln>
                <a:noFill/>
              </a:ln>
              <a:solidFill>
                <a:srgbClr val="FFFFFF"/>
              </a:solidFill>
              <a:effectLst/>
              <a:uLnTx/>
              <a:uFillTx/>
              <a:latin typeface="Arial"/>
              <a:ea typeface="+mn-ea"/>
              <a:cs typeface="+mn-cs"/>
            </a:endParaRPr>
          </a:p>
        </p:txBody>
      </p:sp>
      <p:sp>
        <p:nvSpPr>
          <p:cNvPr id="480" name="TextBox 479">
            <a:extLst>
              <a:ext uri="{FF2B5EF4-FFF2-40B4-BE49-F238E27FC236}">
                <a16:creationId xmlns:a16="http://schemas.microsoft.com/office/drawing/2014/main" id="{79831E6C-0A86-A80C-6FDE-76AFE31AC4DD}"/>
              </a:ext>
            </a:extLst>
          </p:cNvPr>
          <p:cNvSpPr txBox="1"/>
          <p:nvPr/>
        </p:nvSpPr>
        <p:spPr>
          <a:xfrm>
            <a:off x="874487" y="4173237"/>
            <a:ext cx="952415"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indent="-228600">
              <a:lnSpc>
                <a:spcPct val="100000"/>
              </a:lnSpc>
              <a:spcBef>
                <a:spcPts val="0"/>
              </a:spcBef>
              <a:spcAft>
                <a:spcPts val="300"/>
              </a:spcAft>
              <a:buSzPct val="110000"/>
              <a:buFont typeface="Wingdings" panose="05000000000000000000" pitchFamily="2" charset="2"/>
              <a:buChar char=""/>
              <a:defRPr lang="en-US" sz="1600" dirty="0"/>
            </a:lvl2pPr>
            <a:lvl3pPr marL="438912" indent="-210312">
              <a:lnSpc>
                <a:spcPct val="100000"/>
              </a:lnSpc>
              <a:spcBef>
                <a:spcPts val="0"/>
              </a:spcBef>
              <a:spcAft>
                <a:spcPts val="300"/>
              </a:spcAft>
              <a:buSzPct val="110000"/>
              <a:buFont typeface="Arial" panose="020B0604020202020204" pitchFamily="34" charset="0"/>
              <a:buChar char="‒"/>
              <a:defRPr lang="en-US" sz="1600" dirty="0"/>
            </a:lvl3pPr>
            <a:lvl4pPr marL="594360" indent="-155448">
              <a:lnSpc>
                <a:spcPct val="100000"/>
              </a:lnSpc>
              <a:spcBef>
                <a:spcPts val="0"/>
              </a:spcBef>
              <a:spcAft>
                <a:spcPts val="300"/>
              </a:spcAft>
              <a:buSzPct val="100000"/>
              <a:buFont typeface="Arial" panose="020B0604020202020204" pitchFamily="34" charset="0"/>
              <a:buChar char="•"/>
              <a:defRPr lang="en-US" sz="1600" dirty="0"/>
            </a:lvl4pPr>
            <a:lvl5pPr marL="813816"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Clr>
                <a:srgbClr val="000000"/>
              </a:buClr>
              <a:defRPr/>
            </a:pPr>
            <a:r>
              <a:rPr sz="1200" b="1">
                <a:solidFill>
                  <a:srgbClr val="000000"/>
                </a:solidFill>
                <a:latin typeface="Ubuntu" panose="020B0504030602030204" pitchFamily="34" charset="0"/>
              </a:rPr>
              <a:t>Application Portfolio</a:t>
            </a:r>
          </a:p>
        </p:txBody>
      </p:sp>
      <p:sp>
        <p:nvSpPr>
          <p:cNvPr id="481" name="TrackerAlphaBlue 6">
            <a:extLst>
              <a:ext uri="{FF2B5EF4-FFF2-40B4-BE49-F238E27FC236}">
                <a16:creationId xmlns:a16="http://schemas.microsoft.com/office/drawing/2014/main" id="{C7FF93EA-4FB8-3022-0075-9A492419ED5F}"/>
              </a:ext>
            </a:extLst>
          </p:cNvPr>
          <p:cNvSpPr/>
          <p:nvPr>
            <p:custDataLst>
              <p:tags r:id="rId4"/>
            </p:custDataLst>
          </p:nvPr>
        </p:nvSpPr>
        <p:spPr>
          <a:xfrm>
            <a:off x="469124" y="4210631"/>
            <a:ext cx="294545" cy="294545"/>
          </a:xfrm>
          <a:prstGeom prst="ellipse">
            <a:avLst/>
          </a:prstGeom>
          <a:solidFill>
            <a:srgbClr val="272936"/>
          </a:solidFill>
          <a:ln w="6350" cap="sq" cmpd="sng" algn="ctr">
            <a:no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fr-FR" sz="1600" b="1" i="0" u="none" strike="noStrike" kern="0" cap="none" spc="0" normalizeH="0" baseline="0" noProof="0">
                <a:ln>
                  <a:noFill/>
                </a:ln>
                <a:solidFill>
                  <a:srgbClr val="FFFFFF"/>
                </a:solidFill>
                <a:effectLst/>
                <a:uLnTx/>
                <a:uFillTx/>
                <a:latin typeface="Arial"/>
                <a:ea typeface="+mn-ea"/>
                <a:cs typeface="+mn-cs"/>
              </a:rPr>
              <a:t>A</a:t>
            </a:r>
          </a:p>
        </p:txBody>
      </p:sp>
      <p:grpSp>
        <p:nvGrpSpPr>
          <p:cNvPr id="482" name="Group 481">
            <a:extLst>
              <a:ext uri="{FF2B5EF4-FFF2-40B4-BE49-F238E27FC236}">
                <a16:creationId xmlns:a16="http://schemas.microsoft.com/office/drawing/2014/main" id="{A745E065-6D92-2482-98EC-98F917173690}"/>
              </a:ext>
            </a:extLst>
          </p:cNvPr>
          <p:cNvGrpSpPr/>
          <p:nvPr/>
        </p:nvGrpSpPr>
        <p:grpSpPr>
          <a:xfrm>
            <a:off x="4667624" y="6398397"/>
            <a:ext cx="1373772" cy="369332"/>
            <a:chOff x="4737074" y="6391972"/>
            <a:chExt cx="1373772" cy="369332"/>
          </a:xfrm>
        </p:grpSpPr>
        <p:sp>
          <p:nvSpPr>
            <p:cNvPr id="483" name="TextBox 482">
              <a:extLst>
                <a:ext uri="{FF2B5EF4-FFF2-40B4-BE49-F238E27FC236}">
                  <a16:creationId xmlns:a16="http://schemas.microsoft.com/office/drawing/2014/main" id="{6EFF2014-2A5C-049B-2332-2A2BF006CA65}"/>
                </a:ext>
              </a:extLst>
            </p:cNvPr>
            <p:cNvSpPr txBox="1"/>
            <p:nvPr/>
          </p:nvSpPr>
          <p:spPr>
            <a:xfrm>
              <a:off x="5130209" y="6391972"/>
              <a:ext cx="980637"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indent="-228600">
                <a:lnSpc>
                  <a:spcPct val="100000"/>
                </a:lnSpc>
                <a:spcBef>
                  <a:spcPts val="0"/>
                </a:spcBef>
                <a:spcAft>
                  <a:spcPts val="300"/>
                </a:spcAft>
                <a:buSzPct val="110000"/>
                <a:buFont typeface="Wingdings" panose="05000000000000000000" pitchFamily="2" charset="2"/>
                <a:buChar char=""/>
                <a:defRPr lang="en-US" sz="1600" dirty="0"/>
              </a:lvl2pPr>
              <a:lvl3pPr marL="438912" indent="-210312">
                <a:lnSpc>
                  <a:spcPct val="100000"/>
                </a:lnSpc>
                <a:spcBef>
                  <a:spcPts val="0"/>
                </a:spcBef>
                <a:spcAft>
                  <a:spcPts val="300"/>
                </a:spcAft>
                <a:buSzPct val="110000"/>
                <a:buFont typeface="Arial" panose="020B0604020202020204" pitchFamily="34" charset="0"/>
                <a:buChar char="‒"/>
                <a:defRPr lang="en-US" sz="1600" dirty="0"/>
              </a:lvl3pPr>
              <a:lvl4pPr marL="594360" indent="-155448">
                <a:lnSpc>
                  <a:spcPct val="100000"/>
                </a:lnSpc>
                <a:spcBef>
                  <a:spcPts val="0"/>
                </a:spcBef>
                <a:spcAft>
                  <a:spcPts val="300"/>
                </a:spcAft>
                <a:buSzPct val="100000"/>
                <a:buFont typeface="Arial" panose="020B0604020202020204" pitchFamily="34" charset="0"/>
                <a:buChar char="•"/>
                <a:defRPr lang="en-US" sz="1600" dirty="0"/>
              </a:lvl4pPr>
              <a:lvl5pPr marL="813816"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eaLnBrk="1" fontAlgn="auto" latinLnBrk="0" hangingPunct="1">
                <a:lnSpc>
                  <a:spcPct val="100000"/>
                </a:lnSpc>
                <a:spcBef>
                  <a:spcPts val="300"/>
                </a:spcBef>
                <a:spcAft>
                  <a:spcPts val="300"/>
                </a:spcAft>
                <a:buClr>
                  <a:srgbClr val="000000"/>
                </a:buClr>
                <a:buSzTx/>
                <a:buFont typeface="Segoe UI" panose="020B0502040204020203" pitchFamily="34" charset="0"/>
                <a:buChar char="​"/>
                <a:tabLst/>
                <a:defRPr/>
              </a:pPr>
              <a:r>
                <a:rPr kumimoji="0" lang="en-US" sz="1200" b="1" i="0" u="none" strike="noStrike" kern="0" cap="none" spc="0" normalizeH="0" baseline="0" noProof="0">
                  <a:ln>
                    <a:noFill/>
                  </a:ln>
                  <a:solidFill>
                    <a:srgbClr val="000000"/>
                  </a:solidFill>
                  <a:effectLst/>
                  <a:uLnTx/>
                  <a:uFillTx/>
                  <a:latin typeface="Ubuntu" panose="020B0504030602030204" pitchFamily="34" charset="0"/>
                  <a:cs typeface="Arial" panose="020B0604020202020204" pitchFamily="34" charset="0"/>
                </a:rPr>
                <a:t>Business</a:t>
              </a:r>
              <a:br>
                <a:rPr kumimoji="0" lang="en-US" sz="1200" b="1" i="0" u="none" strike="noStrike" kern="0" cap="none" spc="0" normalizeH="0" baseline="0" noProof="0">
                  <a:ln>
                    <a:noFill/>
                  </a:ln>
                  <a:solidFill>
                    <a:srgbClr val="000000"/>
                  </a:solidFill>
                  <a:effectLst/>
                  <a:uLnTx/>
                  <a:uFillTx/>
                  <a:latin typeface="Ubuntu" panose="020B0504030602030204" pitchFamily="34" charset="0"/>
                  <a:cs typeface="Arial" panose="020B0604020202020204" pitchFamily="34" charset="0"/>
                </a:rPr>
              </a:br>
              <a:r>
                <a:rPr kumimoji="0" lang="en-US" sz="1200" b="1" i="0" u="none" strike="noStrike" kern="0" cap="none" spc="0" normalizeH="0" baseline="0" noProof="0">
                  <a:ln>
                    <a:noFill/>
                  </a:ln>
                  <a:solidFill>
                    <a:srgbClr val="000000"/>
                  </a:solidFill>
                  <a:effectLst/>
                  <a:uLnTx/>
                  <a:uFillTx/>
                  <a:latin typeface="Ubuntu" panose="020B0504030602030204" pitchFamily="34" charset="0"/>
                  <a:cs typeface="Arial" panose="020B0604020202020204" pitchFamily="34" charset="0"/>
                </a:rPr>
                <a:t>Involvement</a:t>
              </a:r>
            </a:p>
          </p:txBody>
        </p:sp>
        <p:sp>
          <p:nvSpPr>
            <p:cNvPr id="484" name="TrackerAlphaBlue 6">
              <a:extLst>
                <a:ext uri="{FF2B5EF4-FFF2-40B4-BE49-F238E27FC236}">
                  <a16:creationId xmlns:a16="http://schemas.microsoft.com/office/drawing/2014/main" id="{7B020F7B-83C4-4951-7D79-76A16B2193F9}"/>
                </a:ext>
              </a:extLst>
            </p:cNvPr>
            <p:cNvSpPr/>
            <p:nvPr>
              <p:custDataLst>
                <p:tags r:id="rId10"/>
              </p:custDataLst>
            </p:nvPr>
          </p:nvSpPr>
          <p:spPr>
            <a:xfrm>
              <a:off x="4737074" y="6427698"/>
              <a:ext cx="294545" cy="294545"/>
            </a:xfrm>
            <a:prstGeom prst="ellipse">
              <a:avLst/>
            </a:prstGeom>
            <a:solidFill>
              <a:srgbClr val="272936"/>
            </a:solidFill>
            <a:ln w="6350" cap="sq" cmpd="sng" algn="ctr">
              <a:noFill/>
              <a:prstDash val="solid"/>
              <a:miter lim="800000"/>
            </a:ln>
            <a:effectLst/>
          </p:spPr>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fr-FR" sz="1600" b="1" i="0" u="none" strike="noStrike" kern="0" cap="none" spc="0" normalizeH="0" baseline="0" noProof="0">
                  <a:ln>
                    <a:noFill/>
                  </a:ln>
                  <a:solidFill>
                    <a:srgbClr val="FFFFFF"/>
                  </a:solidFill>
                  <a:effectLst/>
                  <a:uLnTx/>
                  <a:uFillTx/>
                  <a:latin typeface="Arial"/>
                  <a:ea typeface="+mn-ea"/>
                  <a:cs typeface="+mn-cs"/>
                </a:rPr>
                <a:t>B</a:t>
              </a:r>
            </a:p>
          </p:txBody>
        </p:sp>
      </p:grpSp>
      <p:sp>
        <p:nvSpPr>
          <p:cNvPr id="485" name="TextBox 484">
            <a:extLst>
              <a:ext uri="{FF2B5EF4-FFF2-40B4-BE49-F238E27FC236}">
                <a16:creationId xmlns:a16="http://schemas.microsoft.com/office/drawing/2014/main" id="{1CF0D460-BF44-1501-7AAE-B8FDB173A223}"/>
              </a:ext>
            </a:extLst>
          </p:cNvPr>
          <p:cNvSpPr txBox="1"/>
          <p:nvPr/>
        </p:nvSpPr>
        <p:spPr>
          <a:xfrm>
            <a:off x="1974416" y="3293372"/>
            <a:ext cx="1044000" cy="1538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indent="-228600">
              <a:lnSpc>
                <a:spcPct val="100000"/>
              </a:lnSpc>
              <a:spcBef>
                <a:spcPts val="0"/>
              </a:spcBef>
              <a:spcAft>
                <a:spcPts val="300"/>
              </a:spcAft>
              <a:buSzPct val="110000"/>
              <a:buFont typeface="Wingdings" panose="05000000000000000000" pitchFamily="2" charset="2"/>
              <a:buChar char=""/>
              <a:defRPr lang="en-US" sz="1600" dirty="0"/>
            </a:lvl2pPr>
            <a:lvl3pPr marL="438912" indent="-210312">
              <a:lnSpc>
                <a:spcPct val="100000"/>
              </a:lnSpc>
              <a:spcBef>
                <a:spcPts val="0"/>
              </a:spcBef>
              <a:spcAft>
                <a:spcPts val="300"/>
              </a:spcAft>
              <a:buSzPct val="110000"/>
              <a:buFont typeface="Arial" panose="020B0604020202020204" pitchFamily="34" charset="0"/>
              <a:buChar char="‒"/>
              <a:defRPr lang="en-US" sz="1600" dirty="0"/>
            </a:lvl3pPr>
            <a:lvl4pPr marL="594360" indent="-155448">
              <a:lnSpc>
                <a:spcPct val="100000"/>
              </a:lnSpc>
              <a:spcBef>
                <a:spcPts val="0"/>
              </a:spcBef>
              <a:spcAft>
                <a:spcPts val="300"/>
              </a:spcAft>
              <a:buSzPct val="100000"/>
              <a:buFont typeface="Arial" panose="020B0604020202020204" pitchFamily="34" charset="0"/>
              <a:buChar char="•"/>
              <a:defRPr lang="en-US" sz="1600" dirty="0"/>
            </a:lvl4pPr>
            <a:lvl5pPr marL="813816"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r">
              <a:buClr>
                <a:srgbClr val="000000"/>
              </a:buClr>
              <a:buFont typeface="Segoe UI" panose="020B0502040204020203" pitchFamily="34" charset="0"/>
              <a:buNone/>
              <a:defRPr/>
            </a:pPr>
            <a:r>
              <a:rPr lang="it-IT" sz="1000" b="1">
                <a:solidFill>
                  <a:srgbClr val="0070AD">
                    <a:lumMod val="50000"/>
                  </a:srgbClr>
                </a:solidFill>
                <a:latin typeface="Ubuntu" panose="020B0504030602030204" pitchFamily="34" charset="0"/>
              </a:rPr>
              <a:t>COMPLETE FIT</a:t>
            </a:r>
            <a:endParaRPr sz="1000" b="1">
              <a:solidFill>
                <a:srgbClr val="0070AD">
                  <a:lumMod val="50000"/>
                </a:srgbClr>
              </a:solidFill>
              <a:latin typeface="Ubuntu" panose="020B0504030602030204" pitchFamily="34" charset="0"/>
            </a:endParaRPr>
          </a:p>
        </p:txBody>
      </p:sp>
      <p:sp>
        <p:nvSpPr>
          <p:cNvPr id="486" name="TextBox 485">
            <a:extLst>
              <a:ext uri="{FF2B5EF4-FFF2-40B4-BE49-F238E27FC236}">
                <a16:creationId xmlns:a16="http://schemas.microsoft.com/office/drawing/2014/main" id="{AE0ACC03-4367-EC71-F895-6A98C75FE014}"/>
              </a:ext>
            </a:extLst>
          </p:cNvPr>
          <p:cNvSpPr txBox="1"/>
          <p:nvPr/>
        </p:nvSpPr>
        <p:spPr>
          <a:xfrm>
            <a:off x="1804783" y="3521604"/>
            <a:ext cx="1213633" cy="49244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indent="-228600">
              <a:lnSpc>
                <a:spcPct val="100000"/>
              </a:lnSpc>
              <a:spcBef>
                <a:spcPts val="0"/>
              </a:spcBef>
              <a:spcAft>
                <a:spcPts val="300"/>
              </a:spcAft>
              <a:buSzPct val="110000"/>
              <a:buFont typeface="Wingdings" panose="05000000000000000000" pitchFamily="2" charset="2"/>
              <a:buChar char=""/>
              <a:defRPr lang="en-US" sz="1600" dirty="0"/>
            </a:lvl2pPr>
            <a:lvl3pPr marL="438912" indent="-210312">
              <a:lnSpc>
                <a:spcPct val="100000"/>
              </a:lnSpc>
              <a:spcBef>
                <a:spcPts val="0"/>
              </a:spcBef>
              <a:spcAft>
                <a:spcPts val="300"/>
              </a:spcAft>
              <a:buSzPct val="110000"/>
              <a:buFont typeface="Arial" panose="020B0604020202020204" pitchFamily="34" charset="0"/>
              <a:buChar char="‒"/>
              <a:defRPr lang="en-US" sz="1600" dirty="0"/>
            </a:lvl3pPr>
            <a:lvl4pPr marL="594360" indent="-155448">
              <a:lnSpc>
                <a:spcPct val="100000"/>
              </a:lnSpc>
              <a:spcBef>
                <a:spcPts val="0"/>
              </a:spcBef>
              <a:spcAft>
                <a:spcPts val="300"/>
              </a:spcAft>
              <a:buSzPct val="100000"/>
              <a:buFont typeface="Arial" panose="020B0604020202020204" pitchFamily="34" charset="0"/>
              <a:buChar char="•"/>
              <a:defRPr lang="en-US" sz="1600" dirty="0"/>
            </a:lvl4pPr>
            <a:lvl5pPr marL="813816"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r">
              <a:buClr>
                <a:srgbClr val="000000"/>
              </a:buClr>
              <a:defRPr/>
            </a:pPr>
            <a:r>
              <a:rPr sz="800">
                <a:solidFill>
                  <a:srgbClr val="000000"/>
                </a:solidFill>
                <a:latin typeface="Ubuntu" panose="020B0504030602030204" pitchFamily="34" charset="0"/>
              </a:rPr>
              <a:t>Vodafone and </a:t>
            </a:r>
            <a:r>
              <a:rPr sz="800" err="1">
                <a:solidFill>
                  <a:srgbClr val="000000"/>
                </a:solidFill>
                <a:latin typeface="Ubuntu" panose="020B0504030602030204" pitchFamily="34" charset="0"/>
              </a:rPr>
              <a:t>Fastweb</a:t>
            </a:r>
            <a:r>
              <a:rPr sz="800">
                <a:solidFill>
                  <a:srgbClr val="000000"/>
                </a:solidFill>
                <a:latin typeface="Ubuntu" panose="020B0504030602030204" pitchFamily="34" charset="0"/>
              </a:rPr>
              <a:t> App. and solutions are </a:t>
            </a:r>
            <a:r>
              <a:rPr sz="800" b="1">
                <a:solidFill>
                  <a:srgbClr val="000000"/>
                </a:solidFill>
                <a:latin typeface="Ubuntu" panose="020B0504030602030204" pitchFamily="34" charset="0"/>
              </a:rPr>
              <a:t>completely aligned </a:t>
            </a:r>
            <a:r>
              <a:rPr sz="800">
                <a:solidFill>
                  <a:srgbClr val="000000"/>
                </a:solidFill>
                <a:latin typeface="Ubuntu" panose="020B0504030602030204" pitchFamily="34" charset="0"/>
              </a:rPr>
              <a:t>in a Core Model Template</a:t>
            </a:r>
          </a:p>
        </p:txBody>
      </p:sp>
      <p:sp>
        <p:nvSpPr>
          <p:cNvPr id="487" name="TextBox 486">
            <a:extLst>
              <a:ext uri="{FF2B5EF4-FFF2-40B4-BE49-F238E27FC236}">
                <a16:creationId xmlns:a16="http://schemas.microsoft.com/office/drawing/2014/main" id="{D36733B8-A191-EC8A-EFE7-C7B450910FEA}"/>
              </a:ext>
            </a:extLst>
          </p:cNvPr>
          <p:cNvSpPr txBox="1"/>
          <p:nvPr/>
        </p:nvSpPr>
        <p:spPr>
          <a:xfrm>
            <a:off x="1974416" y="5277519"/>
            <a:ext cx="1044000" cy="1538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indent="-228600">
              <a:lnSpc>
                <a:spcPct val="100000"/>
              </a:lnSpc>
              <a:spcBef>
                <a:spcPts val="0"/>
              </a:spcBef>
              <a:spcAft>
                <a:spcPts val="300"/>
              </a:spcAft>
              <a:buSzPct val="110000"/>
              <a:buFont typeface="Wingdings" panose="05000000000000000000" pitchFamily="2" charset="2"/>
              <a:buChar char=""/>
              <a:defRPr lang="en-US" sz="1600" dirty="0"/>
            </a:lvl2pPr>
            <a:lvl3pPr marL="438912" indent="-210312">
              <a:lnSpc>
                <a:spcPct val="100000"/>
              </a:lnSpc>
              <a:spcBef>
                <a:spcPts val="0"/>
              </a:spcBef>
              <a:spcAft>
                <a:spcPts val="300"/>
              </a:spcAft>
              <a:buSzPct val="110000"/>
              <a:buFont typeface="Arial" panose="020B0604020202020204" pitchFamily="34" charset="0"/>
              <a:buChar char="‒"/>
              <a:defRPr lang="en-US" sz="1600" dirty="0"/>
            </a:lvl3pPr>
            <a:lvl4pPr marL="594360" indent="-155448">
              <a:lnSpc>
                <a:spcPct val="100000"/>
              </a:lnSpc>
              <a:spcBef>
                <a:spcPts val="0"/>
              </a:spcBef>
              <a:spcAft>
                <a:spcPts val="300"/>
              </a:spcAft>
              <a:buSzPct val="100000"/>
              <a:buFont typeface="Arial" panose="020B0604020202020204" pitchFamily="34" charset="0"/>
              <a:buChar char="•"/>
              <a:defRPr lang="en-US" sz="1600" dirty="0"/>
            </a:lvl4pPr>
            <a:lvl5pPr marL="813816"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r">
              <a:buClr>
                <a:srgbClr val="000000"/>
              </a:buClr>
              <a:defRPr/>
            </a:pPr>
            <a:r>
              <a:rPr sz="1000" b="1">
                <a:solidFill>
                  <a:srgbClr val="0070AD">
                    <a:lumMod val="50000"/>
                  </a:srgbClr>
                </a:solidFill>
                <a:latin typeface="Ubuntu" panose="020B0504030602030204" pitchFamily="34" charset="0"/>
              </a:rPr>
              <a:t>DIVERGENCY</a:t>
            </a:r>
          </a:p>
        </p:txBody>
      </p:sp>
      <p:sp>
        <p:nvSpPr>
          <p:cNvPr id="488" name="TextBox 487">
            <a:extLst>
              <a:ext uri="{FF2B5EF4-FFF2-40B4-BE49-F238E27FC236}">
                <a16:creationId xmlns:a16="http://schemas.microsoft.com/office/drawing/2014/main" id="{5495A1AF-DCC6-2F0E-07A5-7FBDE4FD2E5E}"/>
              </a:ext>
            </a:extLst>
          </p:cNvPr>
          <p:cNvSpPr txBox="1"/>
          <p:nvPr/>
        </p:nvSpPr>
        <p:spPr>
          <a:xfrm>
            <a:off x="1696289" y="4628642"/>
            <a:ext cx="1322126" cy="61555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indent="-228600">
              <a:lnSpc>
                <a:spcPct val="100000"/>
              </a:lnSpc>
              <a:spcBef>
                <a:spcPts val="0"/>
              </a:spcBef>
              <a:spcAft>
                <a:spcPts val="300"/>
              </a:spcAft>
              <a:buSzPct val="110000"/>
              <a:buFont typeface="Wingdings" panose="05000000000000000000" pitchFamily="2" charset="2"/>
              <a:buChar char=""/>
              <a:defRPr lang="en-US" sz="1600" dirty="0"/>
            </a:lvl2pPr>
            <a:lvl3pPr marL="438912" indent="-210312">
              <a:lnSpc>
                <a:spcPct val="100000"/>
              </a:lnSpc>
              <a:spcBef>
                <a:spcPts val="0"/>
              </a:spcBef>
              <a:spcAft>
                <a:spcPts val="300"/>
              </a:spcAft>
              <a:buSzPct val="110000"/>
              <a:buFont typeface="Arial" panose="020B0604020202020204" pitchFamily="34" charset="0"/>
              <a:buChar char="‒"/>
              <a:defRPr lang="en-US" sz="1600" dirty="0"/>
            </a:lvl3pPr>
            <a:lvl4pPr marL="594360" indent="-155448">
              <a:lnSpc>
                <a:spcPct val="100000"/>
              </a:lnSpc>
              <a:spcBef>
                <a:spcPts val="0"/>
              </a:spcBef>
              <a:spcAft>
                <a:spcPts val="300"/>
              </a:spcAft>
              <a:buSzPct val="100000"/>
              <a:buFont typeface="Arial" panose="020B0604020202020204" pitchFamily="34" charset="0"/>
              <a:buChar char="•"/>
              <a:defRPr lang="en-US" sz="1600" dirty="0"/>
            </a:lvl4pPr>
            <a:lvl5pPr marL="813816"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r">
              <a:buClr>
                <a:srgbClr val="000000"/>
              </a:buClr>
              <a:defRPr/>
            </a:pPr>
            <a:r>
              <a:rPr sz="800">
                <a:solidFill>
                  <a:srgbClr val="000000"/>
                </a:solidFill>
                <a:latin typeface="Ubuntu" panose="020B0504030602030204" pitchFamily="34" charset="0"/>
              </a:rPr>
              <a:t>Way of working </a:t>
            </a:r>
            <a:r>
              <a:rPr sz="800" b="1">
                <a:solidFill>
                  <a:srgbClr val="000000"/>
                </a:solidFill>
                <a:latin typeface="Ubuntu" panose="020B0504030602030204" pitchFamily="34" charset="0"/>
              </a:rPr>
              <a:t>misalignment</a:t>
            </a:r>
            <a:r>
              <a:rPr sz="800">
                <a:solidFill>
                  <a:srgbClr val="000000"/>
                </a:solidFill>
                <a:latin typeface="Ubuntu" panose="020B0504030602030204" pitchFamily="34" charset="0"/>
              </a:rPr>
              <a:t> due to different Businesses </a:t>
            </a:r>
            <a:br>
              <a:rPr sz="800">
                <a:solidFill>
                  <a:srgbClr val="000000"/>
                </a:solidFill>
                <a:latin typeface="Ubuntu" panose="020B0504030602030204" pitchFamily="34" charset="0"/>
              </a:rPr>
            </a:br>
            <a:r>
              <a:rPr sz="800">
                <a:solidFill>
                  <a:srgbClr val="000000"/>
                </a:solidFill>
                <a:latin typeface="Ubuntu" panose="020B0504030602030204" pitchFamily="34" charset="0"/>
              </a:rPr>
              <a:t>and / or Siloed Organizations</a:t>
            </a:r>
          </a:p>
        </p:txBody>
      </p:sp>
      <p:sp>
        <p:nvSpPr>
          <p:cNvPr id="489" name="TextBox 488">
            <a:extLst>
              <a:ext uri="{FF2B5EF4-FFF2-40B4-BE49-F238E27FC236}">
                <a16:creationId xmlns:a16="http://schemas.microsoft.com/office/drawing/2014/main" id="{B6ED7DB5-825C-42AD-0FED-2A332B9F25B0}"/>
              </a:ext>
            </a:extLst>
          </p:cNvPr>
          <p:cNvSpPr txBox="1"/>
          <p:nvPr/>
        </p:nvSpPr>
        <p:spPr>
          <a:xfrm>
            <a:off x="6210830" y="5755198"/>
            <a:ext cx="1044000" cy="1538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indent="-228600">
              <a:lnSpc>
                <a:spcPct val="100000"/>
              </a:lnSpc>
              <a:spcBef>
                <a:spcPts val="0"/>
              </a:spcBef>
              <a:spcAft>
                <a:spcPts val="300"/>
              </a:spcAft>
              <a:buSzPct val="110000"/>
              <a:buFont typeface="Wingdings" panose="05000000000000000000" pitchFamily="2" charset="2"/>
              <a:buChar char=""/>
              <a:defRPr lang="en-US" sz="1600" dirty="0"/>
            </a:lvl2pPr>
            <a:lvl3pPr marL="438912" indent="-210312">
              <a:lnSpc>
                <a:spcPct val="100000"/>
              </a:lnSpc>
              <a:spcBef>
                <a:spcPts val="0"/>
              </a:spcBef>
              <a:spcAft>
                <a:spcPts val="300"/>
              </a:spcAft>
              <a:buSzPct val="110000"/>
              <a:buFont typeface="Arial" panose="020B0604020202020204" pitchFamily="34" charset="0"/>
              <a:buChar char="‒"/>
              <a:defRPr lang="en-US" sz="1600" dirty="0"/>
            </a:lvl3pPr>
            <a:lvl4pPr marL="594360" indent="-155448">
              <a:lnSpc>
                <a:spcPct val="100000"/>
              </a:lnSpc>
              <a:spcBef>
                <a:spcPts val="0"/>
              </a:spcBef>
              <a:spcAft>
                <a:spcPts val="300"/>
              </a:spcAft>
              <a:buSzPct val="100000"/>
              <a:buFont typeface="Arial" panose="020B0604020202020204" pitchFamily="34" charset="0"/>
              <a:buChar char="•"/>
              <a:defRPr lang="en-US" sz="1600" dirty="0"/>
            </a:lvl4pPr>
            <a:lvl5pPr marL="813816"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r">
              <a:buClr>
                <a:srgbClr val="000000"/>
              </a:buClr>
              <a:buFont typeface="Segoe UI" panose="020B0502040204020203" pitchFamily="34" charset="0"/>
              <a:buNone/>
              <a:defRPr/>
            </a:pPr>
            <a:r>
              <a:rPr lang="it-IT" sz="1000" b="1">
                <a:solidFill>
                  <a:srgbClr val="0070AD">
                    <a:lumMod val="50000"/>
                  </a:srgbClr>
                </a:solidFill>
                <a:latin typeface="Ubuntu" panose="020B0504030602030204" pitchFamily="34" charset="0"/>
              </a:rPr>
              <a:t>CONSISTENT</a:t>
            </a:r>
            <a:endParaRPr sz="1000" b="1">
              <a:solidFill>
                <a:srgbClr val="0070AD">
                  <a:lumMod val="50000"/>
                </a:srgbClr>
              </a:solidFill>
              <a:latin typeface="Ubuntu" panose="020B0504030602030204" pitchFamily="34" charset="0"/>
            </a:endParaRPr>
          </a:p>
        </p:txBody>
      </p:sp>
      <p:sp>
        <p:nvSpPr>
          <p:cNvPr id="490" name="TextBox 489">
            <a:extLst>
              <a:ext uri="{FF2B5EF4-FFF2-40B4-BE49-F238E27FC236}">
                <a16:creationId xmlns:a16="http://schemas.microsoft.com/office/drawing/2014/main" id="{9E02F5C8-908A-8328-6937-383BEEC91DD8}"/>
              </a:ext>
            </a:extLst>
          </p:cNvPr>
          <p:cNvSpPr txBox="1"/>
          <p:nvPr/>
        </p:nvSpPr>
        <p:spPr>
          <a:xfrm>
            <a:off x="6210830" y="5983430"/>
            <a:ext cx="1044000"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indent="-228600">
              <a:lnSpc>
                <a:spcPct val="100000"/>
              </a:lnSpc>
              <a:spcBef>
                <a:spcPts val="0"/>
              </a:spcBef>
              <a:spcAft>
                <a:spcPts val="300"/>
              </a:spcAft>
              <a:buSzPct val="110000"/>
              <a:buFont typeface="Wingdings" panose="05000000000000000000" pitchFamily="2" charset="2"/>
              <a:buChar char=""/>
              <a:defRPr lang="en-US" sz="1600" dirty="0"/>
            </a:lvl2pPr>
            <a:lvl3pPr marL="438912" indent="-210312">
              <a:lnSpc>
                <a:spcPct val="100000"/>
              </a:lnSpc>
              <a:spcBef>
                <a:spcPts val="0"/>
              </a:spcBef>
              <a:spcAft>
                <a:spcPts val="300"/>
              </a:spcAft>
              <a:buSzPct val="110000"/>
              <a:buFont typeface="Arial" panose="020B0604020202020204" pitchFamily="34" charset="0"/>
              <a:buChar char="‒"/>
              <a:defRPr lang="en-US" sz="1600" dirty="0"/>
            </a:lvl3pPr>
            <a:lvl4pPr marL="594360" indent="-155448">
              <a:lnSpc>
                <a:spcPct val="100000"/>
              </a:lnSpc>
              <a:spcBef>
                <a:spcPts val="0"/>
              </a:spcBef>
              <a:spcAft>
                <a:spcPts val="300"/>
              </a:spcAft>
              <a:buSzPct val="100000"/>
              <a:buFont typeface="Arial" panose="020B0604020202020204" pitchFamily="34" charset="0"/>
              <a:buChar char="•"/>
              <a:defRPr lang="en-US" sz="1600" dirty="0"/>
            </a:lvl4pPr>
            <a:lvl5pPr marL="813816"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r">
              <a:buClr>
                <a:srgbClr val="000000"/>
              </a:buClr>
              <a:buFont typeface="Segoe UI" panose="020B0502040204020203" pitchFamily="34" charset="0"/>
              <a:buNone/>
              <a:defRPr/>
            </a:pPr>
            <a:r>
              <a:rPr sz="800">
                <a:solidFill>
                  <a:srgbClr val="000000"/>
                </a:solidFill>
                <a:latin typeface="Ubuntu" panose="020B0504030602030204" pitchFamily="34" charset="0"/>
              </a:rPr>
              <a:t>They will actively join </a:t>
            </a:r>
            <a:r>
              <a:rPr sz="800" b="1">
                <a:solidFill>
                  <a:srgbClr val="000000"/>
                </a:solidFill>
                <a:latin typeface="Ubuntu" panose="020B0504030602030204" pitchFamily="34" charset="0"/>
              </a:rPr>
              <a:t>to define a new playing scheme</a:t>
            </a:r>
          </a:p>
        </p:txBody>
      </p:sp>
      <p:sp>
        <p:nvSpPr>
          <p:cNvPr id="491" name="TextBox 490">
            <a:extLst>
              <a:ext uri="{FF2B5EF4-FFF2-40B4-BE49-F238E27FC236}">
                <a16:creationId xmlns:a16="http://schemas.microsoft.com/office/drawing/2014/main" id="{2C84E223-BDB2-6B83-A206-447645367DD6}"/>
              </a:ext>
            </a:extLst>
          </p:cNvPr>
          <p:cNvSpPr txBox="1"/>
          <p:nvPr/>
        </p:nvSpPr>
        <p:spPr>
          <a:xfrm>
            <a:off x="3376493" y="5755198"/>
            <a:ext cx="1044000" cy="1538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indent="-228600">
              <a:lnSpc>
                <a:spcPct val="100000"/>
              </a:lnSpc>
              <a:spcBef>
                <a:spcPts val="0"/>
              </a:spcBef>
              <a:spcAft>
                <a:spcPts val="300"/>
              </a:spcAft>
              <a:buSzPct val="110000"/>
              <a:buFont typeface="Wingdings" panose="05000000000000000000" pitchFamily="2" charset="2"/>
              <a:buChar char=""/>
              <a:defRPr lang="en-US" sz="1600" dirty="0"/>
            </a:lvl2pPr>
            <a:lvl3pPr marL="438912" indent="-210312">
              <a:lnSpc>
                <a:spcPct val="100000"/>
              </a:lnSpc>
              <a:spcBef>
                <a:spcPts val="0"/>
              </a:spcBef>
              <a:spcAft>
                <a:spcPts val="300"/>
              </a:spcAft>
              <a:buSzPct val="110000"/>
              <a:buFont typeface="Arial" panose="020B0604020202020204" pitchFamily="34" charset="0"/>
              <a:buChar char="‒"/>
              <a:defRPr lang="en-US" sz="1600" dirty="0"/>
            </a:lvl3pPr>
            <a:lvl4pPr marL="594360" indent="-155448">
              <a:lnSpc>
                <a:spcPct val="100000"/>
              </a:lnSpc>
              <a:spcBef>
                <a:spcPts val="0"/>
              </a:spcBef>
              <a:spcAft>
                <a:spcPts val="300"/>
              </a:spcAft>
              <a:buSzPct val="100000"/>
              <a:buFont typeface="Arial" panose="020B0604020202020204" pitchFamily="34" charset="0"/>
              <a:buChar char="•"/>
              <a:defRPr lang="en-US" sz="1600" dirty="0"/>
            </a:lvl4pPr>
            <a:lvl5pPr marL="813816"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Clr>
                <a:srgbClr val="000000"/>
              </a:buClr>
              <a:buFont typeface="Segoe UI" panose="020B0502040204020203" pitchFamily="34" charset="0"/>
              <a:buNone/>
              <a:defRPr/>
            </a:pPr>
            <a:r>
              <a:rPr lang="it-IT" sz="1000" b="1">
                <a:solidFill>
                  <a:srgbClr val="0070AD">
                    <a:lumMod val="50000"/>
                  </a:srgbClr>
                </a:solidFill>
                <a:latin typeface="Ubuntu" panose="020B0504030602030204" pitchFamily="34" charset="0"/>
              </a:rPr>
              <a:t>LIMITED</a:t>
            </a:r>
            <a:endParaRPr sz="1000" b="1">
              <a:solidFill>
                <a:srgbClr val="0070AD">
                  <a:lumMod val="50000"/>
                </a:srgbClr>
              </a:solidFill>
              <a:latin typeface="Ubuntu" panose="020B0504030602030204" pitchFamily="34" charset="0"/>
            </a:endParaRPr>
          </a:p>
        </p:txBody>
      </p:sp>
      <p:sp>
        <p:nvSpPr>
          <p:cNvPr id="492" name="TextBox 491">
            <a:extLst>
              <a:ext uri="{FF2B5EF4-FFF2-40B4-BE49-F238E27FC236}">
                <a16:creationId xmlns:a16="http://schemas.microsoft.com/office/drawing/2014/main" id="{7EFD30A0-8EA2-F38C-6840-E937FF6B509A}"/>
              </a:ext>
            </a:extLst>
          </p:cNvPr>
          <p:cNvSpPr txBox="1"/>
          <p:nvPr/>
        </p:nvSpPr>
        <p:spPr>
          <a:xfrm>
            <a:off x="3376493" y="5983430"/>
            <a:ext cx="1291131" cy="3693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lang="en-US" sz="1600" dirty="0">
                <a:cs typeface="Arial" panose="020B0604020202020204" pitchFamily="34" charset="0"/>
              </a:defRPr>
            </a:lvl1pPr>
            <a:lvl2pPr marL="228600" indent="-228600">
              <a:lnSpc>
                <a:spcPct val="100000"/>
              </a:lnSpc>
              <a:spcBef>
                <a:spcPts val="0"/>
              </a:spcBef>
              <a:spcAft>
                <a:spcPts val="300"/>
              </a:spcAft>
              <a:buSzPct val="110000"/>
              <a:buFont typeface="Wingdings" panose="05000000000000000000" pitchFamily="2" charset="2"/>
              <a:buChar char=""/>
              <a:defRPr lang="en-US" sz="1600" dirty="0"/>
            </a:lvl2pPr>
            <a:lvl3pPr marL="438912" indent="-210312">
              <a:lnSpc>
                <a:spcPct val="100000"/>
              </a:lnSpc>
              <a:spcBef>
                <a:spcPts val="0"/>
              </a:spcBef>
              <a:spcAft>
                <a:spcPts val="300"/>
              </a:spcAft>
              <a:buSzPct val="110000"/>
              <a:buFont typeface="Arial" panose="020B0604020202020204" pitchFamily="34" charset="0"/>
              <a:buChar char="‒"/>
              <a:defRPr lang="en-US" sz="1600" dirty="0"/>
            </a:lvl3pPr>
            <a:lvl4pPr marL="594360" indent="-155448">
              <a:lnSpc>
                <a:spcPct val="100000"/>
              </a:lnSpc>
              <a:spcBef>
                <a:spcPts val="0"/>
              </a:spcBef>
              <a:spcAft>
                <a:spcPts val="300"/>
              </a:spcAft>
              <a:buSzPct val="100000"/>
              <a:buFont typeface="Arial" panose="020B0604020202020204" pitchFamily="34" charset="0"/>
              <a:buChar char="•"/>
              <a:defRPr lang="en-US" sz="1600" dirty="0"/>
            </a:lvl4pPr>
            <a:lvl5pPr marL="813816" indent="-146304">
              <a:lnSpc>
                <a:spcPct val="100000"/>
              </a:lnSpc>
              <a:spcBef>
                <a:spcPts val="0"/>
              </a:spcBef>
              <a:spcAft>
                <a:spcPts val="300"/>
              </a:spcAft>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Clr>
                <a:srgbClr val="000000"/>
              </a:buClr>
              <a:defRPr/>
            </a:pPr>
            <a:r>
              <a:rPr sz="800">
                <a:solidFill>
                  <a:srgbClr val="000000"/>
                </a:solidFill>
                <a:latin typeface="Ubuntu" panose="020B0504030602030204" pitchFamily="34" charset="0"/>
              </a:rPr>
              <a:t>Organizations People will be involved only </a:t>
            </a:r>
            <a:r>
              <a:rPr sz="800" b="1">
                <a:solidFill>
                  <a:srgbClr val="000000"/>
                </a:solidFill>
                <a:latin typeface="Ubuntu" panose="020B0504030602030204" pitchFamily="34" charset="0"/>
              </a:rPr>
              <a:t>to certify no-regressions </a:t>
            </a:r>
            <a:r>
              <a:rPr sz="800">
                <a:solidFill>
                  <a:srgbClr val="000000"/>
                </a:solidFill>
                <a:latin typeface="Ubuntu" panose="020B0504030602030204" pitchFamily="34" charset="0"/>
              </a:rPr>
              <a:t>occur</a:t>
            </a:r>
          </a:p>
        </p:txBody>
      </p:sp>
      <p:sp>
        <p:nvSpPr>
          <p:cNvPr id="499" name="Moon 498">
            <a:extLst>
              <a:ext uri="{FF2B5EF4-FFF2-40B4-BE49-F238E27FC236}">
                <a16:creationId xmlns:a16="http://schemas.microsoft.com/office/drawing/2014/main" id="{AFE416AB-3AB3-097B-5FD9-0B2600C19122}"/>
              </a:ext>
            </a:extLst>
          </p:cNvPr>
          <p:cNvSpPr>
            <a:spLocks noChangeAspect="1"/>
          </p:cNvSpPr>
          <p:nvPr/>
        </p:nvSpPr>
        <p:spPr>
          <a:xfrm rot="2851660">
            <a:off x="3479342" y="2584039"/>
            <a:ext cx="1095159" cy="2604924"/>
          </a:xfrm>
          <a:prstGeom prst="moon">
            <a:avLst>
              <a:gd name="adj" fmla="val 79157"/>
            </a:avLst>
          </a:prstGeom>
          <a:solidFill>
            <a:srgbClr val="0070AD">
              <a:alpha val="1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Ubuntu"/>
              <a:ea typeface="+mn-ea"/>
              <a:cs typeface="+mn-cs"/>
            </a:endParaRPr>
          </a:p>
        </p:txBody>
      </p:sp>
      <p:sp>
        <p:nvSpPr>
          <p:cNvPr id="500" name="Oval 499">
            <a:extLst>
              <a:ext uri="{FF2B5EF4-FFF2-40B4-BE49-F238E27FC236}">
                <a16:creationId xmlns:a16="http://schemas.microsoft.com/office/drawing/2014/main" id="{3E7A3A29-737B-8670-3FBD-D77A75B5D921}"/>
              </a:ext>
            </a:extLst>
          </p:cNvPr>
          <p:cNvSpPr/>
          <p:nvPr/>
        </p:nvSpPr>
        <p:spPr>
          <a:xfrm rot="19396122">
            <a:off x="3480249" y="3867872"/>
            <a:ext cx="3716395" cy="996018"/>
          </a:xfrm>
          <a:prstGeom prst="ellipse">
            <a:avLst/>
          </a:prstGeom>
          <a:solidFill>
            <a:srgbClr val="0070AD">
              <a:alpha val="1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1" i="0" u="none" strike="noStrike" kern="0" cap="none" spc="0" normalizeH="0" baseline="0" noProof="0" err="1">
              <a:ln>
                <a:noFill/>
              </a:ln>
              <a:solidFill>
                <a:srgbClr val="FFFFFF"/>
              </a:solidFill>
              <a:effectLst>
                <a:outerShdw blurRad="38100" dist="38100" dir="2700000" algn="tl">
                  <a:srgbClr val="000000">
                    <a:alpha val="43137"/>
                  </a:srgbClr>
                </a:outerShdw>
              </a:effectLst>
              <a:uLnTx/>
              <a:uFillTx/>
              <a:latin typeface="Ubuntu"/>
              <a:ea typeface="+mn-ea"/>
              <a:cs typeface="+mn-cs"/>
            </a:endParaRPr>
          </a:p>
        </p:txBody>
      </p:sp>
      <p:sp>
        <p:nvSpPr>
          <p:cNvPr id="501" name="Moon 500">
            <a:extLst>
              <a:ext uri="{FF2B5EF4-FFF2-40B4-BE49-F238E27FC236}">
                <a16:creationId xmlns:a16="http://schemas.microsoft.com/office/drawing/2014/main" id="{E69EE3D5-5AD3-9A9B-1D2B-1FAE8EE79E0D}"/>
              </a:ext>
            </a:extLst>
          </p:cNvPr>
          <p:cNvSpPr>
            <a:spLocks noChangeAspect="1"/>
          </p:cNvSpPr>
          <p:nvPr/>
        </p:nvSpPr>
        <p:spPr>
          <a:xfrm rot="2862566" flipH="1" flipV="1">
            <a:off x="6064435" y="3572506"/>
            <a:ext cx="1095159" cy="2604924"/>
          </a:xfrm>
          <a:prstGeom prst="moon">
            <a:avLst>
              <a:gd name="adj" fmla="val 75757"/>
            </a:avLst>
          </a:prstGeom>
          <a:solidFill>
            <a:srgbClr val="0070AD">
              <a:alpha val="19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70AD"/>
              </a:solidFill>
              <a:effectLst/>
              <a:uLnTx/>
              <a:uFillTx/>
              <a:latin typeface="Ubuntu"/>
              <a:ea typeface="+mn-ea"/>
              <a:cs typeface="+mn-cs"/>
            </a:endParaRPr>
          </a:p>
        </p:txBody>
      </p:sp>
      <p:sp>
        <p:nvSpPr>
          <p:cNvPr id="502" name="TextBox 501">
            <a:extLst>
              <a:ext uri="{FF2B5EF4-FFF2-40B4-BE49-F238E27FC236}">
                <a16:creationId xmlns:a16="http://schemas.microsoft.com/office/drawing/2014/main" id="{AB967473-E6B0-F6FA-E54F-6C4368E17C3B}"/>
              </a:ext>
            </a:extLst>
          </p:cNvPr>
          <p:cNvSpPr txBox="1">
            <a:spLocks/>
          </p:cNvSpPr>
          <p:nvPr/>
        </p:nvSpPr>
        <p:spPr>
          <a:xfrm>
            <a:off x="3978963" y="3296938"/>
            <a:ext cx="967160" cy="161583"/>
          </a:xfrm>
          <a:prstGeom prst="rect">
            <a:avLst/>
          </a:prstGeom>
          <a:noFill/>
          <a:ln w="19050" cap="flat" cmpd="sng" algn="ctr">
            <a:noFill/>
            <a:prstDash val="solid"/>
            <a:miter lim="800000"/>
            <a:tailEnd type="none"/>
          </a:ln>
          <a:effectLst/>
        </p:spPr>
        <p:txBody>
          <a:bodyPr vert="horz" wrap="square" lIns="0" tIns="0" rIns="0" bIns="0" rtlCol="0">
            <a:spAutoFit/>
          </a:bodyPr>
          <a:lstStyle>
            <a:lvl1pPr marL="0" lvl="0" indent="0" defTabSz="1193860" eaLnBrk="1" latinLnBrk="0" hangingPunct="1">
              <a:buClr>
                <a:schemeClr val="tx2"/>
              </a:buClr>
              <a:buSzPct val="100000"/>
              <a:defRPr lang="x-none" baseline="0">
                <a:latin typeface="+mn-lt"/>
              </a:defRPr>
            </a:lvl1pPr>
            <a:lvl2pPr marL="194400" lvl="1" indent="-190800" defTabSz="1193860" eaLnBrk="1" latinLnBrk="0" hangingPunct="1">
              <a:buClr>
                <a:schemeClr val="tx2"/>
              </a:buClr>
              <a:buSzPct val="125000"/>
              <a:buFont typeface="Arial" charset="0"/>
              <a:buChar char="▪"/>
              <a:defRPr lang="x-none" baseline="0">
                <a:latin typeface="+mn-lt"/>
              </a:defRPr>
            </a:lvl2pPr>
            <a:lvl3pPr marL="609630" lvl="2" indent="-349268" defTabSz="1193860" eaLnBrk="1" latinLnBrk="0" hangingPunct="1">
              <a:buClr>
                <a:schemeClr val="tx2"/>
              </a:buClr>
              <a:buSzPct val="120000"/>
              <a:buFont typeface="Arial" charset="0"/>
              <a:buChar char="–"/>
              <a:defRPr lang="x-none" baseline="0">
                <a:latin typeface="+mn-lt"/>
              </a:defRPr>
            </a:lvl3pPr>
            <a:lvl4pPr marL="819192" lvl="3" indent="-207444" defTabSz="1193860" eaLnBrk="1" latinLnBrk="0" hangingPunct="1">
              <a:buClr>
                <a:schemeClr val="tx2"/>
              </a:buClr>
              <a:buSzPct val="120000"/>
              <a:buFont typeface="Arial" charset="0"/>
              <a:buChar char="▫"/>
              <a:defRPr lang="x-none" baseline="0">
                <a:latin typeface="+mn-lt"/>
              </a:defRPr>
            </a:lvl4pPr>
            <a:lvl5pPr marL="999794" lvl="4" indent="-173575" defTabSz="1193860" eaLnBrk="1" latinLnBrk="0" hangingPunct="1">
              <a:buClr>
                <a:schemeClr val="tx2"/>
              </a:buClr>
              <a:buSzPct val="89000"/>
              <a:buFont typeface="Arial" charset="0"/>
              <a:buChar char="-"/>
              <a:defRPr lang="x-none" baseline="0">
                <a:latin typeface="+mn-lt"/>
              </a:defRPr>
            </a:lvl5pPr>
            <a:lvl6pPr marL="999794" indent="-173575" defTabSz="1193860" fontAlgn="base">
              <a:spcBef>
                <a:spcPct val="0"/>
              </a:spcBef>
              <a:spcAft>
                <a:spcPct val="0"/>
              </a:spcAft>
              <a:buClr>
                <a:schemeClr val="tx2"/>
              </a:buClr>
              <a:buSzPct val="89000"/>
              <a:buFont typeface="Arial" charset="0"/>
              <a:buChar char="-"/>
              <a:defRPr lang="x-none" sz="2133" baseline="0">
                <a:latin typeface="+mn-lt"/>
              </a:defRPr>
            </a:lvl6pPr>
            <a:lvl7pPr marL="999794" indent="-173575" defTabSz="1193860" fontAlgn="base">
              <a:spcBef>
                <a:spcPct val="0"/>
              </a:spcBef>
              <a:spcAft>
                <a:spcPct val="0"/>
              </a:spcAft>
              <a:buClr>
                <a:schemeClr val="tx2"/>
              </a:buClr>
              <a:buSzPct val="89000"/>
              <a:buFont typeface="Arial" charset="0"/>
              <a:buChar char="-"/>
              <a:defRPr lang="x-none" sz="2133" baseline="0">
                <a:latin typeface="+mn-lt"/>
              </a:defRPr>
            </a:lvl7pPr>
            <a:lvl8pPr marL="999794" indent="-173575" defTabSz="1193860" fontAlgn="base">
              <a:spcBef>
                <a:spcPct val="0"/>
              </a:spcBef>
              <a:spcAft>
                <a:spcPct val="0"/>
              </a:spcAft>
              <a:buClr>
                <a:schemeClr val="tx2"/>
              </a:buClr>
              <a:buSzPct val="89000"/>
              <a:buFont typeface="Arial" charset="0"/>
              <a:buChar char="-"/>
              <a:defRPr lang="x-none" sz="2133" baseline="0">
                <a:latin typeface="+mn-lt"/>
              </a:defRPr>
            </a:lvl8pPr>
            <a:lvl9pPr marL="999794" indent="-173575" defTabSz="1193860" fontAlgn="base">
              <a:spcBef>
                <a:spcPct val="0"/>
              </a:spcBef>
              <a:spcAft>
                <a:spcPct val="0"/>
              </a:spcAft>
              <a:buClr>
                <a:schemeClr val="tx2"/>
              </a:buClr>
              <a:buSzPct val="89000"/>
              <a:buFont typeface="Arial" charset="0"/>
              <a:buChar char="-"/>
              <a:defRPr lang="x-none" sz="2133" baseline="0">
                <a:latin typeface="+mn-lt"/>
              </a:defRPr>
            </a:lvl9pPr>
          </a:lstStyle>
          <a:p>
            <a:pPr algn="ctr">
              <a:spcBef>
                <a:spcPts val="300"/>
              </a:spcBef>
              <a:spcAft>
                <a:spcPts val="300"/>
              </a:spcAft>
              <a:buClr>
                <a:srgbClr val="FFFFFF"/>
              </a:buClr>
              <a:defRPr/>
            </a:pPr>
            <a:r>
              <a:rPr lang="en-US" sz="1050" b="1">
                <a:solidFill>
                  <a:srgbClr val="0070AD"/>
                </a:solidFill>
                <a:latin typeface="Ubuntu" panose="020B0504030602030204" pitchFamily="34" charset="0"/>
                <a:cs typeface="Arial" panose="020B0604020202020204" pitchFamily="34" charset="0"/>
              </a:rPr>
              <a:t>MIGRATION</a:t>
            </a:r>
            <a:endParaRPr lang="en-US" sz="1050" b="1">
              <a:solidFill>
                <a:srgbClr val="0070AD"/>
              </a:solidFill>
              <a:latin typeface="Ubuntu" panose="020B0504030602030204" pitchFamily="34" charset="0"/>
            </a:endParaRPr>
          </a:p>
        </p:txBody>
      </p:sp>
      <p:sp>
        <p:nvSpPr>
          <p:cNvPr id="503" name="TextBox 502">
            <a:extLst>
              <a:ext uri="{FF2B5EF4-FFF2-40B4-BE49-F238E27FC236}">
                <a16:creationId xmlns:a16="http://schemas.microsoft.com/office/drawing/2014/main" id="{BD331F95-230D-9242-7777-D97A039876C6}"/>
              </a:ext>
            </a:extLst>
          </p:cNvPr>
          <p:cNvSpPr txBox="1">
            <a:spLocks/>
          </p:cNvSpPr>
          <p:nvPr/>
        </p:nvSpPr>
        <p:spPr>
          <a:xfrm>
            <a:off x="4672986" y="4193921"/>
            <a:ext cx="1290282" cy="323165"/>
          </a:xfrm>
          <a:prstGeom prst="rect">
            <a:avLst/>
          </a:prstGeom>
          <a:noFill/>
          <a:ln w="19050" cap="flat" cmpd="sng" algn="ctr">
            <a:noFill/>
            <a:prstDash val="solid"/>
            <a:miter lim="800000"/>
            <a:tailEnd type="none"/>
          </a:ln>
          <a:effectLst/>
        </p:spPr>
        <p:txBody>
          <a:bodyPr vert="horz" wrap="square" lIns="0" tIns="0" rIns="0" bIns="0" rtlCol="0">
            <a:spAutoFit/>
          </a:bodyPr>
          <a:lstStyle>
            <a:lvl1pPr marL="0" lvl="0" indent="0" defTabSz="1193860" eaLnBrk="1" latinLnBrk="0" hangingPunct="1">
              <a:buClr>
                <a:schemeClr val="tx2"/>
              </a:buClr>
              <a:buSzPct val="100000"/>
              <a:defRPr lang="x-none" baseline="0">
                <a:latin typeface="+mn-lt"/>
              </a:defRPr>
            </a:lvl1pPr>
            <a:lvl2pPr marL="194400" lvl="1" indent="-190800" defTabSz="1193860" eaLnBrk="1" latinLnBrk="0" hangingPunct="1">
              <a:buClr>
                <a:schemeClr val="tx2"/>
              </a:buClr>
              <a:buSzPct val="125000"/>
              <a:buFont typeface="Arial" charset="0"/>
              <a:buChar char="▪"/>
              <a:defRPr lang="x-none" baseline="0">
                <a:latin typeface="+mn-lt"/>
              </a:defRPr>
            </a:lvl2pPr>
            <a:lvl3pPr marL="609630" lvl="2" indent="-349268" defTabSz="1193860" eaLnBrk="1" latinLnBrk="0" hangingPunct="1">
              <a:buClr>
                <a:schemeClr val="tx2"/>
              </a:buClr>
              <a:buSzPct val="120000"/>
              <a:buFont typeface="Arial" charset="0"/>
              <a:buChar char="–"/>
              <a:defRPr lang="x-none" baseline="0">
                <a:latin typeface="+mn-lt"/>
              </a:defRPr>
            </a:lvl3pPr>
            <a:lvl4pPr marL="819192" lvl="3" indent="-207444" defTabSz="1193860" eaLnBrk="1" latinLnBrk="0" hangingPunct="1">
              <a:buClr>
                <a:schemeClr val="tx2"/>
              </a:buClr>
              <a:buSzPct val="120000"/>
              <a:buFont typeface="Arial" charset="0"/>
              <a:buChar char="▫"/>
              <a:defRPr lang="x-none" baseline="0">
                <a:latin typeface="+mn-lt"/>
              </a:defRPr>
            </a:lvl4pPr>
            <a:lvl5pPr marL="999794" lvl="4" indent="-173575" defTabSz="1193860" eaLnBrk="1" latinLnBrk="0" hangingPunct="1">
              <a:buClr>
                <a:schemeClr val="tx2"/>
              </a:buClr>
              <a:buSzPct val="89000"/>
              <a:buFont typeface="Arial" charset="0"/>
              <a:buChar char="-"/>
              <a:defRPr lang="x-none" baseline="0">
                <a:latin typeface="+mn-lt"/>
              </a:defRPr>
            </a:lvl5pPr>
            <a:lvl6pPr marL="999794" indent="-173575" defTabSz="1193860" fontAlgn="base">
              <a:spcBef>
                <a:spcPct val="0"/>
              </a:spcBef>
              <a:spcAft>
                <a:spcPct val="0"/>
              </a:spcAft>
              <a:buClr>
                <a:schemeClr val="tx2"/>
              </a:buClr>
              <a:buSzPct val="89000"/>
              <a:buFont typeface="Arial" charset="0"/>
              <a:buChar char="-"/>
              <a:defRPr lang="x-none" sz="2133" baseline="0">
                <a:latin typeface="+mn-lt"/>
              </a:defRPr>
            </a:lvl6pPr>
            <a:lvl7pPr marL="999794" indent="-173575" defTabSz="1193860" fontAlgn="base">
              <a:spcBef>
                <a:spcPct val="0"/>
              </a:spcBef>
              <a:spcAft>
                <a:spcPct val="0"/>
              </a:spcAft>
              <a:buClr>
                <a:schemeClr val="tx2"/>
              </a:buClr>
              <a:buSzPct val="89000"/>
              <a:buFont typeface="Arial" charset="0"/>
              <a:buChar char="-"/>
              <a:defRPr lang="x-none" sz="2133" baseline="0">
                <a:latin typeface="+mn-lt"/>
              </a:defRPr>
            </a:lvl7pPr>
            <a:lvl8pPr marL="999794" indent="-173575" defTabSz="1193860" fontAlgn="base">
              <a:spcBef>
                <a:spcPct val="0"/>
              </a:spcBef>
              <a:spcAft>
                <a:spcPct val="0"/>
              </a:spcAft>
              <a:buClr>
                <a:schemeClr val="tx2"/>
              </a:buClr>
              <a:buSzPct val="89000"/>
              <a:buFont typeface="Arial" charset="0"/>
              <a:buChar char="-"/>
              <a:defRPr lang="x-none" sz="2133" baseline="0">
                <a:latin typeface="+mn-lt"/>
              </a:defRPr>
            </a:lvl8pPr>
            <a:lvl9pPr marL="999794" indent="-173575" defTabSz="1193860" fontAlgn="base">
              <a:spcBef>
                <a:spcPct val="0"/>
              </a:spcBef>
              <a:spcAft>
                <a:spcPct val="0"/>
              </a:spcAft>
              <a:buClr>
                <a:schemeClr val="tx2"/>
              </a:buClr>
              <a:buSzPct val="89000"/>
              <a:buFont typeface="Arial" charset="0"/>
              <a:buChar char="-"/>
              <a:defRPr lang="x-none" sz="2133" baseline="0">
                <a:latin typeface="+mn-lt"/>
              </a:defRPr>
            </a:lvl9pPr>
          </a:lstStyle>
          <a:p>
            <a:pPr algn="ctr">
              <a:spcBef>
                <a:spcPts val="300"/>
              </a:spcBef>
              <a:spcAft>
                <a:spcPts val="300"/>
              </a:spcAft>
              <a:buClr>
                <a:srgbClr val="FFFFFF"/>
              </a:buClr>
              <a:defRPr/>
            </a:pPr>
            <a:r>
              <a:rPr lang="en-US" sz="1050" b="1">
                <a:solidFill>
                  <a:srgbClr val="0070AD"/>
                </a:solidFill>
                <a:latin typeface="Ubuntu" panose="020B0504030602030204" pitchFamily="34" charset="0"/>
                <a:cs typeface="Arial" panose="020B0604020202020204" pitchFamily="34" charset="0"/>
              </a:rPr>
              <a:t>AGGREGATION</a:t>
            </a:r>
            <a:br>
              <a:rPr lang="en-US" sz="1050" b="1">
                <a:solidFill>
                  <a:srgbClr val="0070AD"/>
                </a:solidFill>
                <a:latin typeface="Ubuntu" panose="020B0504030602030204" pitchFamily="34" charset="0"/>
              </a:rPr>
            </a:br>
            <a:r>
              <a:rPr lang="en-US" sz="1050" b="1">
                <a:solidFill>
                  <a:srgbClr val="0070AD"/>
                </a:solidFill>
                <a:latin typeface="Ubuntu" panose="020B0504030602030204" pitchFamily="34" charset="0"/>
              </a:rPr>
              <a:t>LAYER</a:t>
            </a:r>
            <a:endParaRPr lang="en-US" sz="1050" b="1">
              <a:solidFill>
                <a:srgbClr val="0070AD"/>
              </a:solidFill>
              <a:latin typeface="Ubuntu" panose="020B0504030602030204" pitchFamily="34" charset="0"/>
              <a:cs typeface="Arial" panose="020B0604020202020204" pitchFamily="34" charset="0"/>
            </a:endParaRPr>
          </a:p>
        </p:txBody>
      </p:sp>
      <p:sp>
        <p:nvSpPr>
          <p:cNvPr id="504" name="TextBox 503">
            <a:extLst>
              <a:ext uri="{FF2B5EF4-FFF2-40B4-BE49-F238E27FC236}">
                <a16:creationId xmlns:a16="http://schemas.microsoft.com/office/drawing/2014/main" id="{F3ABADE6-9357-C10E-5362-88A5A98B2D0F}"/>
              </a:ext>
            </a:extLst>
          </p:cNvPr>
          <p:cNvSpPr txBox="1">
            <a:spLocks/>
          </p:cNvSpPr>
          <p:nvPr/>
        </p:nvSpPr>
        <p:spPr>
          <a:xfrm>
            <a:off x="5494503" y="5092266"/>
            <a:ext cx="1290282" cy="323165"/>
          </a:xfrm>
          <a:prstGeom prst="rect">
            <a:avLst/>
          </a:prstGeom>
          <a:noFill/>
          <a:ln w="19050" cap="flat" cmpd="sng" algn="ctr">
            <a:noFill/>
            <a:prstDash val="solid"/>
            <a:miter lim="800000"/>
            <a:tailEnd type="none"/>
          </a:ln>
          <a:effectLst/>
        </p:spPr>
        <p:txBody>
          <a:bodyPr vert="horz" wrap="square" lIns="0" tIns="0" rIns="0" bIns="0" rtlCol="0">
            <a:spAutoFit/>
          </a:bodyPr>
          <a:lstStyle>
            <a:lvl1pPr marL="0" lvl="0" indent="0" defTabSz="1193860" eaLnBrk="1" latinLnBrk="0" hangingPunct="1">
              <a:buClr>
                <a:schemeClr val="tx2"/>
              </a:buClr>
              <a:buSzPct val="100000"/>
              <a:defRPr lang="x-none" baseline="0">
                <a:latin typeface="+mn-lt"/>
              </a:defRPr>
            </a:lvl1pPr>
            <a:lvl2pPr marL="194400" lvl="1" indent="-190800" defTabSz="1193860" eaLnBrk="1" latinLnBrk="0" hangingPunct="1">
              <a:buClr>
                <a:schemeClr val="tx2"/>
              </a:buClr>
              <a:buSzPct val="125000"/>
              <a:buFont typeface="Arial" charset="0"/>
              <a:buChar char="▪"/>
              <a:defRPr lang="x-none" baseline="0">
                <a:latin typeface="+mn-lt"/>
              </a:defRPr>
            </a:lvl2pPr>
            <a:lvl3pPr marL="609630" lvl="2" indent="-349268" defTabSz="1193860" eaLnBrk="1" latinLnBrk="0" hangingPunct="1">
              <a:buClr>
                <a:schemeClr val="tx2"/>
              </a:buClr>
              <a:buSzPct val="120000"/>
              <a:buFont typeface="Arial" charset="0"/>
              <a:buChar char="–"/>
              <a:defRPr lang="x-none" baseline="0">
                <a:latin typeface="+mn-lt"/>
              </a:defRPr>
            </a:lvl3pPr>
            <a:lvl4pPr marL="819192" lvl="3" indent="-207444" defTabSz="1193860" eaLnBrk="1" latinLnBrk="0" hangingPunct="1">
              <a:buClr>
                <a:schemeClr val="tx2"/>
              </a:buClr>
              <a:buSzPct val="120000"/>
              <a:buFont typeface="Arial" charset="0"/>
              <a:buChar char="▫"/>
              <a:defRPr lang="x-none" baseline="0">
                <a:latin typeface="+mn-lt"/>
              </a:defRPr>
            </a:lvl4pPr>
            <a:lvl5pPr marL="999794" lvl="4" indent="-173575" defTabSz="1193860" eaLnBrk="1" latinLnBrk="0" hangingPunct="1">
              <a:buClr>
                <a:schemeClr val="tx2"/>
              </a:buClr>
              <a:buSzPct val="89000"/>
              <a:buFont typeface="Arial" charset="0"/>
              <a:buChar char="-"/>
              <a:defRPr lang="x-none" baseline="0">
                <a:latin typeface="+mn-lt"/>
              </a:defRPr>
            </a:lvl5pPr>
            <a:lvl6pPr marL="999794" indent="-173575" defTabSz="1193860" fontAlgn="base">
              <a:spcBef>
                <a:spcPct val="0"/>
              </a:spcBef>
              <a:spcAft>
                <a:spcPct val="0"/>
              </a:spcAft>
              <a:buClr>
                <a:schemeClr val="tx2"/>
              </a:buClr>
              <a:buSzPct val="89000"/>
              <a:buFont typeface="Arial" charset="0"/>
              <a:buChar char="-"/>
              <a:defRPr lang="x-none" sz="2133" baseline="0">
                <a:latin typeface="+mn-lt"/>
              </a:defRPr>
            </a:lvl6pPr>
            <a:lvl7pPr marL="999794" indent="-173575" defTabSz="1193860" fontAlgn="base">
              <a:spcBef>
                <a:spcPct val="0"/>
              </a:spcBef>
              <a:spcAft>
                <a:spcPct val="0"/>
              </a:spcAft>
              <a:buClr>
                <a:schemeClr val="tx2"/>
              </a:buClr>
              <a:buSzPct val="89000"/>
              <a:buFont typeface="Arial" charset="0"/>
              <a:buChar char="-"/>
              <a:defRPr lang="x-none" sz="2133" baseline="0">
                <a:latin typeface="+mn-lt"/>
              </a:defRPr>
            </a:lvl7pPr>
            <a:lvl8pPr marL="999794" indent="-173575" defTabSz="1193860" fontAlgn="base">
              <a:spcBef>
                <a:spcPct val="0"/>
              </a:spcBef>
              <a:spcAft>
                <a:spcPct val="0"/>
              </a:spcAft>
              <a:buClr>
                <a:schemeClr val="tx2"/>
              </a:buClr>
              <a:buSzPct val="89000"/>
              <a:buFont typeface="Arial" charset="0"/>
              <a:buChar char="-"/>
              <a:defRPr lang="x-none" sz="2133" baseline="0">
                <a:latin typeface="+mn-lt"/>
              </a:defRPr>
            </a:lvl8pPr>
            <a:lvl9pPr marL="999794" indent="-173575" defTabSz="1193860" fontAlgn="base">
              <a:spcBef>
                <a:spcPct val="0"/>
              </a:spcBef>
              <a:spcAft>
                <a:spcPct val="0"/>
              </a:spcAft>
              <a:buClr>
                <a:schemeClr val="tx2"/>
              </a:buClr>
              <a:buSzPct val="89000"/>
              <a:buFont typeface="Arial" charset="0"/>
              <a:buChar char="-"/>
              <a:defRPr lang="x-none" sz="2133" baseline="0">
                <a:latin typeface="+mn-lt"/>
              </a:defRPr>
            </a:lvl9pPr>
          </a:lstStyle>
          <a:p>
            <a:pPr algn="ctr">
              <a:spcBef>
                <a:spcPts val="300"/>
              </a:spcBef>
              <a:spcAft>
                <a:spcPts val="300"/>
              </a:spcAft>
              <a:buClr>
                <a:srgbClr val="FFFFFF"/>
              </a:buClr>
              <a:defRPr/>
            </a:pPr>
            <a:r>
              <a:rPr lang="en-US" sz="1050" b="1">
                <a:solidFill>
                  <a:srgbClr val="0070AD"/>
                </a:solidFill>
                <a:latin typeface="Ubuntu" panose="020B0504030602030204" pitchFamily="34" charset="0"/>
                <a:cs typeface="Arial" panose="020B0604020202020204" pitchFamily="34" charset="0"/>
              </a:rPr>
              <a:t>NEW</a:t>
            </a:r>
            <a:br>
              <a:rPr lang="en-US" sz="1050" b="1">
                <a:solidFill>
                  <a:srgbClr val="0070AD"/>
                </a:solidFill>
                <a:latin typeface="Ubuntu" panose="020B0504030602030204" pitchFamily="34" charset="0"/>
                <a:cs typeface="Arial" panose="020B0604020202020204" pitchFamily="34" charset="0"/>
              </a:rPr>
            </a:br>
            <a:r>
              <a:rPr lang="en-US" sz="1050" b="1">
                <a:solidFill>
                  <a:srgbClr val="0070AD"/>
                </a:solidFill>
                <a:latin typeface="Ubuntu" panose="020B0504030602030204" pitchFamily="34" charset="0"/>
                <a:cs typeface="Arial" panose="020B0604020202020204" pitchFamily="34" charset="0"/>
              </a:rPr>
              <a:t>IMPLEMENTATION</a:t>
            </a:r>
            <a:endParaRPr lang="en-US" sz="1050" b="1">
              <a:solidFill>
                <a:srgbClr val="0070AD"/>
              </a:solidFill>
              <a:latin typeface="Ubuntu" panose="020B0504030602030204" pitchFamily="34" charset="0"/>
            </a:endParaRPr>
          </a:p>
        </p:txBody>
      </p:sp>
      <p:pic>
        <p:nvPicPr>
          <p:cNvPr id="527" name="CustomIcon">
            <a:extLst>
              <a:ext uri="{FF2B5EF4-FFF2-40B4-BE49-F238E27FC236}">
                <a16:creationId xmlns:a16="http://schemas.microsoft.com/office/drawing/2014/main" id="{1594F452-1727-2539-C3DC-5CC74E3CF593}"/>
              </a:ext>
            </a:extLst>
          </p:cNvPr>
          <p:cNvPicPr>
            <a:picLocks/>
          </p:cNvPicPr>
          <p:nvPr>
            <p:custDataLst>
              <p:tags r:id="rId5"/>
            </p:custDataLst>
          </p:nvPr>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9191012" y="2448417"/>
            <a:ext cx="365760" cy="365760"/>
          </a:xfrm>
          <a:prstGeom prst="rect">
            <a:avLst/>
          </a:prstGeom>
        </p:spPr>
      </p:pic>
      <p:sp>
        <p:nvSpPr>
          <p:cNvPr id="528" name="TextBox 527">
            <a:extLst>
              <a:ext uri="{FF2B5EF4-FFF2-40B4-BE49-F238E27FC236}">
                <a16:creationId xmlns:a16="http://schemas.microsoft.com/office/drawing/2014/main" id="{986F9E5D-D6BA-83AD-47B5-1DA2A99C31E9}"/>
              </a:ext>
            </a:extLst>
          </p:cNvPr>
          <p:cNvSpPr txBox="1">
            <a:spLocks/>
          </p:cNvSpPr>
          <p:nvPr/>
        </p:nvSpPr>
        <p:spPr>
          <a:xfrm>
            <a:off x="9876296" y="2427395"/>
            <a:ext cx="1908000" cy="407804"/>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spcAft>
                <a:spcPts val="0"/>
              </a:spcAft>
              <a:buClr>
                <a:srgbClr val="000000"/>
              </a:buClr>
              <a:defRPr/>
            </a:pPr>
            <a:r>
              <a:rPr sz="1050" b="1">
                <a:solidFill>
                  <a:srgbClr val="000000"/>
                </a:solidFill>
                <a:latin typeface="Ubuntu"/>
              </a:rPr>
              <a:t>Organizations</a:t>
            </a:r>
          </a:p>
          <a:p>
            <a:pPr>
              <a:spcBef>
                <a:spcPts val="0"/>
              </a:spcBef>
              <a:spcAft>
                <a:spcPts val="0"/>
              </a:spcAft>
              <a:buClr>
                <a:srgbClr val="000000"/>
              </a:buClr>
              <a:defRPr/>
            </a:pPr>
            <a:r>
              <a:rPr sz="800">
                <a:solidFill>
                  <a:srgbClr val="000000"/>
                </a:solidFill>
                <a:latin typeface="Ubuntu"/>
              </a:rPr>
              <a:t>Number and skills of </a:t>
            </a:r>
          </a:p>
          <a:p>
            <a:pPr>
              <a:spcBef>
                <a:spcPts val="0"/>
              </a:spcBef>
              <a:spcAft>
                <a:spcPts val="0"/>
              </a:spcAft>
              <a:buClr>
                <a:srgbClr val="000000"/>
              </a:buClr>
              <a:defRPr/>
            </a:pPr>
            <a:r>
              <a:rPr sz="800">
                <a:solidFill>
                  <a:srgbClr val="000000"/>
                </a:solidFill>
                <a:latin typeface="Ubuntu"/>
              </a:rPr>
              <a:t>involved Departments</a:t>
            </a:r>
          </a:p>
        </p:txBody>
      </p:sp>
      <p:pic>
        <p:nvPicPr>
          <p:cNvPr id="530" name="CustomIcon">
            <a:extLst>
              <a:ext uri="{FF2B5EF4-FFF2-40B4-BE49-F238E27FC236}">
                <a16:creationId xmlns:a16="http://schemas.microsoft.com/office/drawing/2014/main" id="{58F049F6-EECB-ED87-3171-580F5E0A2043}"/>
              </a:ext>
            </a:extLst>
          </p:cNvPr>
          <p:cNvPicPr>
            <a:picLocks noChangeAspect="1"/>
          </p:cNvPicPr>
          <p:nvPr>
            <p:custDataLst>
              <p:tags r:id="rId6"/>
            </p:custDataLst>
          </p:nvPr>
        </p:nvPicPr>
        <p:blipFill>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9191012" y="3626585"/>
            <a:ext cx="365760" cy="365760"/>
          </a:xfrm>
          <a:prstGeom prst="rect">
            <a:avLst/>
          </a:prstGeom>
        </p:spPr>
      </p:pic>
      <p:sp>
        <p:nvSpPr>
          <p:cNvPr id="531" name="TextBox 530">
            <a:extLst>
              <a:ext uri="{FF2B5EF4-FFF2-40B4-BE49-F238E27FC236}">
                <a16:creationId xmlns:a16="http://schemas.microsoft.com/office/drawing/2014/main" id="{876116E4-B14A-E916-03A1-4FFA4C40D32F}"/>
              </a:ext>
            </a:extLst>
          </p:cNvPr>
          <p:cNvSpPr txBox="1">
            <a:spLocks/>
          </p:cNvSpPr>
          <p:nvPr/>
        </p:nvSpPr>
        <p:spPr>
          <a:xfrm>
            <a:off x="9876296" y="3605563"/>
            <a:ext cx="1908000" cy="407804"/>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spcAft>
                <a:spcPts val="0"/>
              </a:spcAft>
              <a:buClr>
                <a:srgbClr val="000000"/>
              </a:buClr>
              <a:defRPr/>
            </a:pPr>
            <a:r>
              <a:rPr sz="1050" b="1">
                <a:solidFill>
                  <a:srgbClr val="000000"/>
                </a:solidFill>
                <a:latin typeface="Ubuntu"/>
              </a:rPr>
              <a:t>Change</a:t>
            </a:r>
          </a:p>
          <a:p>
            <a:pPr>
              <a:spcBef>
                <a:spcPts val="0"/>
              </a:spcBef>
              <a:spcAft>
                <a:spcPts val="0"/>
              </a:spcAft>
              <a:buClr>
                <a:srgbClr val="000000"/>
              </a:buClr>
              <a:defRPr/>
            </a:pPr>
            <a:r>
              <a:rPr sz="800">
                <a:solidFill>
                  <a:srgbClr val="000000"/>
                </a:solidFill>
                <a:latin typeface="Ubuntu"/>
              </a:rPr>
              <a:t>Business (and IT) People readiness </a:t>
            </a:r>
          </a:p>
          <a:p>
            <a:pPr>
              <a:spcBef>
                <a:spcPts val="0"/>
              </a:spcBef>
              <a:spcAft>
                <a:spcPts val="0"/>
              </a:spcAft>
              <a:buClr>
                <a:srgbClr val="000000"/>
              </a:buClr>
              <a:defRPr/>
            </a:pPr>
            <a:r>
              <a:rPr sz="800">
                <a:solidFill>
                  <a:srgbClr val="000000"/>
                </a:solidFill>
                <a:latin typeface="Ubuntu"/>
              </a:rPr>
              <a:t>to a new working era</a:t>
            </a:r>
          </a:p>
        </p:txBody>
      </p:sp>
      <p:pic>
        <p:nvPicPr>
          <p:cNvPr id="533" name="CustomIcon">
            <a:extLst>
              <a:ext uri="{FF2B5EF4-FFF2-40B4-BE49-F238E27FC236}">
                <a16:creationId xmlns:a16="http://schemas.microsoft.com/office/drawing/2014/main" id="{546D66A5-2209-7AE6-1151-F661897D5E2E}"/>
              </a:ext>
            </a:extLst>
          </p:cNvPr>
          <p:cNvPicPr>
            <a:picLocks noChangeAspect="1"/>
          </p:cNvPicPr>
          <p:nvPr>
            <p:custDataLst>
              <p:tags r:id="rId7"/>
            </p:custDataLst>
          </p:nvPr>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191012" y="5455392"/>
            <a:ext cx="365760" cy="365760"/>
          </a:xfrm>
          <a:prstGeom prst="rect">
            <a:avLst/>
          </a:prstGeom>
        </p:spPr>
      </p:pic>
      <p:sp>
        <p:nvSpPr>
          <p:cNvPr id="534" name="TextBox 533">
            <a:extLst>
              <a:ext uri="{FF2B5EF4-FFF2-40B4-BE49-F238E27FC236}">
                <a16:creationId xmlns:a16="http://schemas.microsoft.com/office/drawing/2014/main" id="{92184F40-0E15-4E61-4734-2850100D655F}"/>
              </a:ext>
            </a:extLst>
          </p:cNvPr>
          <p:cNvSpPr txBox="1">
            <a:spLocks/>
          </p:cNvSpPr>
          <p:nvPr/>
        </p:nvSpPr>
        <p:spPr>
          <a:xfrm>
            <a:off x="9876296" y="5372815"/>
            <a:ext cx="2084562" cy="530915"/>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spcAft>
                <a:spcPts val="0"/>
              </a:spcAft>
              <a:buClr>
                <a:srgbClr val="000000"/>
              </a:buClr>
              <a:defRPr/>
            </a:pPr>
            <a:r>
              <a:rPr sz="1050" b="1">
                <a:solidFill>
                  <a:srgbClr val="000000"/>
                </a:solidFill>
                <a:latin typeface="Ubuntu"/>
              </a:rPr>
              <a:t>Systems</a:t>
            </a:r>
          </a:p>
          <a:p>
            <a:pPr>
              <a:spcBef>
                <a:spcPts val="0"/>
              </a:spcBef>
              <a:spcAft>
                <a:spcPts val="0"/>
              </a:spcAft>
              <a:buClr>
                <a:srgbClr val="000000"/>
              </a:buClr>
              <a:defRPr/>
            </a:pPr>
            <a:r>
              <a:rPr sz="800">
                <a:solidFill>
                  <a:srgbClr val="000000"/>
                </a:solidFill>
                <a:latin typeface="Ubuntu"/>
              </a:rPr>
              <a:t>Technical implications or limitations leading to prioritization (e.g., end of life, upgrades required</a:t>
            </a:r>
            <a:r>
              <a:rPr lang="en-GB" sz="800" dirty="0">
                <a:solidFill>
                  <a:srgbClr val="000000"/>
                </a:solidFill>
                <a:latin typeface="Ubuntu"/>
              </a:rPr>
              <a:t>, licensing</a:t>
            </a:r>
            <a:r>
              <a:rPr lang="en-GB" sz="800">
                <a:solidFill>
                  <a:srgbClr val="000000"/>
                </a:solidFill>
                <a:latin typeface="Ubuntu"/>
              </a:rPr>
              <a:t>, </a:t>
            </a:r>
            <a:r>
              <a:rPr lang="en-GB" sz="800" dirty="0">
                <a:solidFill>
                  <a:srgbClr val="000000"/>
                </a:solidFill>
                <a:latin typeface="Ubuntu"/>
              </a:rPr>
              <a:t>best-of-breed</a:t>
            </a:r>
            <a:r>
              <a:rPr sz="800">
                <a:solidFill>
                  <a:srgbClr val="000000"/>
                </a:solidFill>
                <a:latin typeface="Ubuntu"/>
              </a:rPr>
              <a:t>)</a:t>
            </a:r>
          </a:p>
        </p:txBody>
      </p:sp>
      <p:sp>
        <p:nvSpPr>
          <p:cNvPr id="536" name="TextBox 535">
            <a:extLst>
              <a:ext uri="{FF2B5EF4-FFF2-40B4-BE49-F238E27FC236}">
                <a16:creationId xmlns:a16="http://schemas.microsoft.com/office/drawing/2014/main" id="{E92258E8-B72F-31E1-334F-3D351AB8BA8A}"/>
              </a:ext>
            </a:extLst>
          </p:cNvPr>
          <p:cNvSpPr txBox="1">
            <a:spLocks/>
          </p:cNvSpPr>
          <p:nvPr/>
        </p:nvSpPr>
        <p:spPr>
          <a:xfrm>
            <a:off x="9876296" y="3016479"/>
            <a:ext cx="1908000" cy="407804"/>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spcAft>
                <a:spcPts val="0"/>
              </a:spcAft>
              <a:buClr>
                <a:srgbClr val="000000"/>
              </a:buClr>
              <a:defRPr/>
            </a:pPr>
            <a:r>
              <a:rPr sz="1050" b="1">
                <a:solidFill>
                  <a:srgbClr val="000000"/>
                </a:solidFill>
                <a:latin typeface="Ubuntu"/>
              </a:rPr>
              <a:t>Business</a:t>
            </a:r>
            <a:r>
              <a:rPr lang="en-GB" sz="1050" b="1">
                <a:solidFill>
                  <a:srgbClr val="000000"/>
                </a:solidFill>
                <a:latin typeface="Ubuntu"/>
              </a:rPr>
              <a:t> Continuity</a:t>
            </a:r>
            <a:endParaRPr sz="1050" b="1">
              <a:solidFill>
                <a:srgbClr val="000000"/>
              </a:solidFill>
              <a:latin typeface="Ubuntu"/>
            </a:endParaRPr>
          </a:p>
          <a:p>
            <a:pPr>
              <a:spcBef>
                <a:spcPts val="0"/>
              </a:spcBef>
              <a:spcAft>
                <a:spcPts val="0"/>
              </a:spcAft>
              <a:buClr>
                <a:srgbClr val="000000"/>
              </a:buClr>
              <a:defRPr/>
            </a:pPr>
            <a:r>
              <a:rPr sz="800">
                <a:solidFill>
                  <a:srgbClr val="000000"/>
                </a:solidFill>
                <a:latin typeface="Ubuntu"/>
              </a:rPr>
              <a:t>Business or activity disruption </a:t>
            </a:r>
          </a:p>
          <a:p>
            <a:pPr>
              <a:spcBef>
                <a:spcPts val="0"/>
              </a:spcBef>
              <a:spcAft>
                <a:spcPts val="0"/>
              </a:spcAft>
              <a:buClr>
                <a:srgbClr val="000000"/>
              </a:buClr>
              <a:defRPr/>
            </a:pPr>
            <a:r>
              <a:rPr sz="800">
                <a:solidFill>
                  <a:srgbClr val="000000"/>
                </a:solidFill>
                <a:latin typeface="Ubuntu"/>
              </a:rPr>
              <a:t>expected to impact the Program</a:t>
            </a:r>
            <a:endParaRPr sz="1050" b="1">
              <a:solidFill>
                <a:srgbClr val="000000"/>
              </a:solidFill>
              <a:latin typeface="Ubuntu"/>
            </a:endParaRPr>
          </a:p>
        </p:txBody>
      </p:sp>
      <p:pic>
        <p:nvPicPr>
          <p:cNvPr id="537" name="CustomIcon">
            <a:extLst>
              <a:ext uri="{FF2B5EF4-FFF2-40B4-BE49-F238E27FC236}">
                <a16:creationId xmlns:a16="http://schemas.microsoft.com/office/drawing/2014/main" id="{9D4B56E3-182C-328A-9C59-213DB8F609CC}"/>
              </a:ext>
            </a:extLst>
          </p:cNvPr>
          <p:cNvPicPr>
            <a:picLocks/>
          </p:cNvPicPr>
          <p:nvPr>
            <p:custDataLst>
              <p:tags r:id="rId8"/>
            </p:custDataLst>
          </p:nvPr>
        </p:nvPicPr>
        <p:blipFill>
          <a:blip r:embed="rId21" cstate="screen">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9191012" y="3037501"/>
            <a:ext cx="365760" cy="365760"/>
          </a:xfrm>
          <a:prstGeom prst="rect">
            <a:avLst/>
          </a:prstGeom>
        </p:spPr>
      </p:pic>
      <p:sp>
        <p:nvSpPr>
          <p:cNvPr id="539" name="TextBox 538">
            <a:extLst>
              <a:ext uri="{FF2B5EF4-FFF2-40B4-BE49-F238E27FC236}">
                <a16:creationId xmlns:a16="http://schemas.microsoft.com/office/drawing/2014/main" id="{C43ADAAE-801F-F6E0-7118-9567EC0FDC7A}"/>
              </a:ext>
            </a:extLst>
          </p:cNvPr>
          <p:cNvSpPr txBox="1">
            <a:spLocks/>
          </p:cNvSpPr>
          <p:nvPr/>
        </p:nvSpPr>
        <p:spPr>
          <a:xfrm>
            <a:off x="9876296" y="4783731"/>
            <a:ext cx="1908000" cy="407804"/>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spcAft>
                <a:spcPts val="0"/>
              </a:spcAft>
              <a:buClr>
                <a:srgbClr val="000000"/>
              </a:buClr>
              <a:defRPr/>
            </a:pPr>
            <a:r>
              <a:rPr sz="1050" b="1">
                <a:solidFill>
                  <a:srgbClr val="000000"/>
                </a:solidFill>
                <a:latin typeface="Ubuntu"/>
              </a:rPr>
              <a:t>Landscape</a:t>
            </a:r>
          </a:p>
          <a:p>
            <a:pPr>
              <a:spcBef>
                <a:spcPts val="0"/>
              </a:spcBef>
              <a:spcAft>
                <a:spcPts val="0"/>
              </a:spcAft>
              <a:buClr>
                <a:srgbClr val="000000"/>
              </a:buClr>
              <a:defRPr/>
            </a:pPr>
            <a:r>
              <a:rPr sz="800">
                <a:solidFill>
                  <a:srgbClr val="000000"/>
                </a:solidFill>
                <a:latin typeface="Ubuntu"/>
              </a:rPr>
              <a:t>Systems landscape complexity and dependencies</a:t>
            </a:r>
            <a:endParaRPr sz="1050" b="1">
              <a:solidFill>
                <a:srgbClr val="000000"/>
              </a:solidFill>
              <a:latin typeface="Ubuntu"/>
            </a:endParaRPr>
          </a:p>
        </p:txBody>
      </p:sp>
      <p:pic>
        <p:nvPicPr>
          <p:cNvPr id="540" name="CustomIcon">
            <a:extLst>
              <a:ext uri="{FF2B5EF4-FFF2-40B4-BE49-F238E27FC236}">
                <a16:creationId xmlns:a16="http://schemas.microsoft.com/office/drawing/2014/main" id="{6BD968DD-5006-00E7-7566-6CFA9AA2556E}"/>
              </a:ext>
            </a:extLst>
          </p:cNvPr>
          <p:cNvPicPr>
            <a:picLocks/>
          </p:cNvPicPr>
          <p:nvPr>
            <p:custDataLst>
              <p:tags r:id="rId9"/>
            </p:custDataLst>
          </p:nvPr>
        </p:nvPicPr>
        <p:blipFill>
          <a:blip r:embed="rId23" cstate="screen">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9191012" y="4804753"/>
            <a:ext cx="365760" cy="365760"/>
          </a:xfrm>
          <a:prstGeom prst="rect">
            <a:avLst/>
          </a:prstGeom>
        </p:spPr>
      </p:pic>
      <p:sp>
        <p:nvSpPr>
          <p:cNvPr id="542" name="TextBox 541">
            <a:extLst>
              <a:ext uri="{FF2B5EF4-FFF2-40B4-BE49-F238E27FC236}">
                <a16:creationId xmlns:a16="http://schemas.microsoft.com/office/drawing/2014/main" id="{26AB4508-B343-EBBC-085A-A378BF1D8617}"/>
              </a:ext>
            </a:extLst>
          </p:cNvPr>
          <p:cNvSpPr txBox="1">
            <a:spLocks/>
          </p:cNvSpPr>
          <p:nvPr/>
        </p:nvSpPr>
        <p:spPr>
          <a:xfrm>
            <a:off x="9876296" y="6085007"/>
            <a:ext cx="1908000" cy="407804"/>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spcAft>
                <a:spcPts val="0"/>
              </a:spcAft>
              <a:buClr>
                <a:srgbClr val="000000"/>
              </a:buClr>
              <a:defRPr/>
            </a:pPr>
            <a:r>
              <a:rPr sz="1050" b="1">
                <a:solidFill>
                  <a:srgbClr val="000000"/>
                </a:solidFill>
                <a:latin typeface="Ubuntu"/>
              </a:rPr>
              <a:t>Time</a:t>
            </a:r>
          </a:p>
          <a:p>
            <a:pPr>
              <a:spcBef>
                <a:spcPts val="0"/>
              </a:spcBef>
              <a:spcAft>
                <a:spcPts val="0"/>
              </a:spcAft>
              <a:buClr>
                <a:srgbClr val="000000"/>
              </a:buClr>
              <a:defRPr/>
            </a:pPr>
            <a:r>
              <a:rPr sz="800">
                <a:solidFill>
                  <a:srgbClr val="000000"/>
                </a:solidFill>
                <a:latin typeface="Ubuntu"/>
              </a:rPr>
              <a:t>Program given temporal window and time-dependent constraints</a:t>
            </a:r>
          </a:p>
        </p:txBody>
      </p:sp>
      <p:pic>
        <p:nvPicPr>
          <p:cNvPr id="543" name="Graphic 542" descr="Hourglass Finished outline">
            <a:extLst>
              <a:ext uri="{FF2B5EF4-FFF2-40B4-BE49-F238E27FC236}">
                <a16:creationId xmlns:a16="http://schemas.microsoft.com/office/drawing/2014/main" id="{2358DC20-1646-7CD9-D226-22F8C806F62E}"/>
              </a:ext>
            </a:extLst>
          </p:cNvPr>
          <p:cNvPicPr>
            <a:picLocks noChangeAspect="1"/>
          </p:cNvPicPr>
          <p:nvPr/>
        </p:nvPicPr>
        <p:blipFill>
          <a:blip r:embed="rId25" cstate="screen">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9193892" y="6108909"/>
            <a:ext cx="360000" cy="360000"/>
          </a:xfrm>
          <a:prstGeom prst="rect">
            <a:avLst/>
          </a:prstGeom>
        </p:spPr>
      </p:pic>
      <p:sp>
        <p:nvSpPr>
          <p:cNvPr id="545" name="TextBox 544">
            <a:extLst>
              <a:ext uri="{FF2B5EF4-FFF2-40B4-BE49-F238E27FC236}">
                <a16:creationId xmlns:a16="http://schemas.microsoft.com/office/drawing/2014/main" id="{963173FD-882E-361C-974E-B240E246C5B7}"/>
              </a:ext>
            </a:extLst>
          </p:cNvPr>
          <p:cNvSpPr txBox="1">
            <a:spLocks/>
          </p:cNvSpPr>
          <p:nvPr/>
        </p:nvSpPr>
        <p:spPr>
          <a:xfrm>
            <a:off x="9876296" y="4194647"/>
            <a:ext cx="1908000" cy="407804"/>
          </a:xfrm>
          <a:prstGeom prst="rect">
            <a:avLst/>
          </a:prstGeom>
        </p:spPr>
        <p:txBody>
          <a:bodyPr vert="horz" wrap="square" lIns="0" tIns="0" rIns="0" bIns="0" rtlCol="0" anchor="ctr">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latin typeface="Verdana" panose="020B0604030504040204" pitchFamily="34" charset="0"/>
                <a:ea typeface="Verdana" panose="020B0604030504040204" pitchFamily="34" charset="0"/>
                <a:cs typeface="Arial" panose="020B0604020202020204" pitchFamily="34" charset="0"/>
                <a:sym typeface="Verdana" panose="020B0604030504040204" pitchFamily="34" charset="0"/>
              </a:defRPr>
            </a:lvl1pPr>
            <a:lvl2pPr marL="228600" lvl="1" indent="-228600">
              <a:lnSpc>
                <a:spcPct val="100000"/>
              </a:lnSpc>
              <a:spcBef>
                <a:spcPts val="0"/>
              </a:spcBef>
              <a:spcAft>
                <a:spcPts val="300"/>
              </a:spcAft>
              <a:buClr>
                <a:schemeClr val="accent1"/>
              </a:buClr>
              <a:buSzPct val="110000"/>
              <a:buFont typeface="Wingdings" panose="05000000000000000000" pitchFamily="2" charset="2"/>
              <a:buChar char=""/>
              <a:defRPr lang="en-US" sz="1600" dirty="0">
                <a:latin typeface="Verdana" panose="020B0604030504040204" pitchFamily="34" charset="0"/>
                <a:ea typeface="Verdana" panose="020B0604030504040204" pitchFamily="34" charset="0"/>
                <a:sym typeface="Verdana" panose="020B0604030504040204" pitchFamily="34" charset="0"/>
              </a:defRPr>
            </a:lvl2pPr>
            <a:lvl3pPr marL="438912" lvl="2" indent="-210312">
              <a:lnSpc>
                <a:spcPct val="100000"/>
              </a:lnSpc>
              <a:spcBef>
                <a:spcPts val="0"/>
              </a:spcBef>
              <a:spcAft>
                <a:spcPts val="300"/>
              </a:spcAft>
              <a:buClr>
                <a:schemeClr val="accent1"/>
              </a:buClr>
              <a:buSzPct val="11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3pPr>
            <a:lvl4pPr marL="594360" lvl="3" indent="-155448">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4pPr>
            <a:lvl5pPr marL="813816" lvl="4" indent="-146304">
              <a:lnSpc>
                <a:spcPct val="100000"/>
              </a:lnSpc>
              <a:spcBef>
                <a:spcPts val="0"/>
              </a:spcBef>
              <a:spcAft>
                <a:spcPts val="300"/>
              </a:spcAft>
              <a:buClr>
                <a:schemeClr val="accent1"/>
              </a:buClr>
              <a:buSzPct val="100000"/>
              <a:buFont typeface="Arial" panose="020B0604020202020204" pitchFamily="34" charset="0"/>
              <a:buChar char="̶"/>
              <a:defRPr lang="en-US" sz="1600" dirty="0">
                <a:latin typeface="Verdana" panose="020B0604030504040204" pitchFamily="34" charset="0"/>
                <a:ea typeface="Verdana" panose="020B0604030504040204" pitchFamily="34" charset="0"/>
                <a:sym typeface="Verdana" panose="020B060403050404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0"/>
              </a:spcBef>
              <a:spcAft>
                <a:spcPts val="0"/>
              </a:spcAft>
              <a:buClr>
                <a:srgbClr val="000000"/>
              </a:buClr>
              <a:defRPr/>
            </a:pPr>
            <a:r>
              <a:rPr sz="1050" b="1">
                <a:solidFill>
                  <a:srgbClr val="000000"/>
                </a:solidFill>
                <a:latin typeface="Ubuntu"/>
              </a:rPr>
              <a:t>Knowledge</a:t>
            </a:r>
          </a:p>
          <a:p>
            <a:pPr>
              <a:spcBef>
                <a:spcPts val="0"/>
              </a:spcBef>
              <a:spcAft>
                <a:spcPts val="0"/>
              </a:spcAft>
              <a:buClr>
                <a:srgbClr val="000000"/>
              </a:buClr>
              <a:defRPr/>
            </a:pPr>
            <a:r>
              <a:rPr sz="800">
                <a:solidFill>
                  <a:srgbClr val="000000"/>
                </a:solidFill>
                <a:latin typeface="Ubuntu"/>
              </a:rPr>
              <a:t>Processes and Specifications Documents, and Reference People availability</a:t>
            </a:r>
            <a:endParaRPr sz="1050" b="1">
              <a:solidFill>
                <a:srgbClr val="000000"/>
              </a:solidFill>
              <a:latin typeface="Ubuntu"/>
            </a:endParaRPr>
          </a:p>
        </p:txBody>
      </p:sp>
      <p:pic>
        <p:nvPicPr>
          <p:cNvPr id="546" name="Graphic 545" descr="Books outline">
            <a:extLst>
              <a:ext uri="{FF2B5EF4-FFF2-40B4-BE49-F238E27FC236}">
                <a16:creationId xmlns:a16="http://schemas.microsoft.com/office/drawing/2014/main" id="{CE892CEF-161A-23BB-86A8-88B60D0473A8}"/>
              </a:ext>
            </a:extLst>
          </p:cNvPr>
          <p:cNvPicPr>
            <a:picLocks noChangeAspect="1"/>
          </p:cNvPicPr>
          <p:nvPr/>
        </p:nvPicPr>
        <p:blipFill>
          <a:blip r:embed="rId27" cstate="screen">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9193892" y="4218549"/>
            <a:ext cx="360000" cy="360000"/>
          </a:xfrm>
          <a:prstGeom prst="rect">
            <a:avLst/>
          </a:prstGeom>
        </p:spPr>
      </p:pic>
      <p:sp>
        <p:nvSpPr>
          <p:cNvPr id="275" name="Text Placeholder 1">
            <a:extLst>
              <a:ext uri="{FF2B5EF4-FFF2-40B4-BE49-F238E27FC236}">
                <a16:creationId xmlns:a16="http://schemas.microsoft.com/office/drawing/2014/main" id="{62402C06-1596-45A9-9428-9E090193330C}"/>
              </a:ext>
            </a:extLst>
          </p:cNvPr>
          <p:cNvSpPr txBox="1"/>
          <p:nvPr/>
        </p:nvSpPr>
        <p:spPr>
          <a:xfrm>
            <a:off x="1297476" y="317312"/>
            <a:ext cx="10676777" cy="457684"/>
          </a:xfrm>
          <a:prstGeom prst="rect">
            <a:avLst/>
          </a:prstGeom>
          <a:noFill/>
          <a:ln>
            <a:noFill/>
          </a:ln>
        </p:spPr>
        <p:txBody>
          <a:bodyPr vert="horz" wrap="square" lIns="91440" tIns="45720" rIns="91440" bIns="45720" anchor="t" anchorCtr="0" compatLnSpc="1">
            <a:noAutofit/>
          </a:bodyPr>
          <a:lstStyle/>
          <a:p>
            <a:pPr>
              <a:spcBef>
                <a:spcPct val="0"/>
              </a:spcBef>
              <a:spcAft>
                <a:spcPts val="600"/>
              </a:spcAft>
              <a:tabLst>
                <a:tab pos="1881185" algn="l"/>
              </a:tabLst>
              <a:defRPr sz="1800" b="0" i="0" u="none" strike="noStrike" kern="0" cap="none" spc="0" baseline="0">
                <a:solidFill>
                  <a:srgbClr val="000000"/>
                </a:solidFill>
                <a:uFillTx/>
              </a:defRPr>
            </a:pPr>
            <a:r>
              <a:rPr lang="en-US" sz="2400" b="1" kern="0" spc="-50" dirty="0">
                <a:solidFill>
                  <a:srgbClr val="000000"/>
                </a:solidFill>
                <a:latin typeface="+mj-lt"/>
                <a:ea typeface="+mj-ea"/>
                <a:cs typeface="+mj-cs"/>
              </a:rPr>
              <a:t>STREAM 4B | FOCUS ON </a:t>
            </a:r>
            <a:r>
              <a:rPr lang="en-US" sz="2400" b="1" kern="0" spc="-50">
                <a:solidFill>
                  <a:srgbClr val="000000"/>
                </a:solidFill>
                <a:latin typeface="+mj-lt"/>
                <a:ea typeface="+mj-ea"/>
                <a:cs typeface="+mj-cs"/>
              </a:rPr>
              <a:t>CSS</a:t>
            </a:r>
            <a:r>
              <a:rPr lang="en-US" sz="2400" b="1" kern="0" spc="-50" dirty="0">
                <a:solidFill>
                  <a:srgbClr val="000000"/>
                </a:solidFill>
                <a:latin typeface="+mj-lt"/>
                <a:ea typeface="+mj-ea"/>
                <a:cs typeface="+mj-cs"/>
              </a:rPr>
              <a:t> INTEGRATIONS</a:t>
            </a:r>
          </a:p>
        </p:txBody>
      </p:sp>
      <p:grpSp>
        <p:nvGrpSpPr>
          <p:cNvPr id="5" name="Groupe 1">
            <a:extLst>
              <a:ext uri="{FF2B5EF4-FFF2-40B4-BE49-F238E27FC236}">
                <a16:creationId xmlns:a16="http://schemas.microsoft.com/office/drawing/2014/main" id="{6D35BF7C-2E78-EDA5-69D5-A1743093D1D5}"/>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6" name="Freeform 13">
              <a:extLst>
                <a:ext uri="{FF2B5EF4-FFF2-40B4-BE49-F238E27FC236}">
                  <a16:creationId xmlns:a16="http://schemas.microsoft.com/office/drawing/2014/main" id="{227670B5-E7FA-5A9E-9F61-A7B56FD5CF7D}"/>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7" name="Freeform 14">
              <a:extLst>
                <a:ext uri="{FF2B5EF4-FFF2-40B4-BE49-F238E27FC236}">
                  <a16:creationId xmlns:a16="http://schemas.microsoft.com/office/drawing/2014/main" id="{F765FF5A-2BC4-2748-C34D-BFB096E99C2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4" name="Rectangle 3">
            <a:extLst>
              <a:ext uri="{FF2B5EF4-FFF2-40B4-BE49-F238E27FC236}">
                <a16:creationId xmlns:a16="http://schemas.microsoft.com/office/drawing/2014/main" id="{B3923BFA-5F71-A534-9D32-CC3A625D9918}"/>
              </a:ext>
            </a:extLst>
          </p:cNvPr>
          <p:cNvSpPr/>
          <p:nvPr/>
        </p:nvSpPr>
        <p:spPr bwMode="gray">
          <a:xfrm>
            <a:off x="0" y="904004"/>
            <a:ext cx="12191999" cy="531032"/>
          </a:xfrm>
          <a:prstGeom prst="rect">
            <a:avLst/>
          </a:prstGeom>
          <a:solidFill>
            <a:srgbClr val="CCECFF"/>
          </a:solidFill>
          <a:ln w="6350" cap="flat" cmpd="sng" algn="ctr">
            <a:noFill/>
            <a:prstDash val="solid"/>
            <a:miter lim="800000"/>
          </a:ln>
          <a:effectLst/>
        </p:spPr>
        <p:txBody>
          <a:bodyPr lIns="180000" rtlCol="0" anchor="ctr"/>
          <a:lstStyle/>
          <a:p>
            <a:pPr>
              <a:spcBef>
                <a:spcPct val="0"/>
              </a:spcBef>
              <a:spcAft>
                <a:spcPts val="600"/>
              </a:spcAft>
              <a:tabLst>
                <a:tab pos="1881185" algn="l"/>
              </a:tabLst>
              <a:defRPr sz="1800" b="0" i="0" u="none" strike="noStrike" kern="0" cap="none" spc="0" baseline="0">
                <a:solidFill>
                  <a:srgbClr val="000000"/>
                </a:solidFill>
                <a:uFillTx/>
              </a:defRPr>
            </a:pPr>
            <a:r>
              <a:rPr lang="en-US" sz="1600" i="1" kern="0" spc="-50" dirty="0">
                <a:solidFill>
                  <a:srgbClr val="000000"/>
                </a:solidFill>
                <a:latin typeface="+mj-lt"/>
                <a:ea typeface="+mj-ea"/>
                <a:cs typeface="+mj-cs"/>
              </a:rPr>
              <a:t>TO DEFINE THE MOST SUITABLE M&amp;A APPROACH, WE HAVE TO HOLISTICALLY CONSIDER THE MAJOR DIMENSIONS… </a:t>
            </a:r>
          </a:p>
        </p:txBody>
      </p:sp>
      <p:sp>
        <p:nvSpPr>
          <p:cNvPr id="8" name="Foliennummernplatzhalter 5">
            <a:extLst>
              <a:ext uri="{FF2B5EF4-FFF2-40B4-BE49-F238E27FC236}">
                <a16:creationId xmlns:a16="http://schemas.microsoft.com/office/drawing/2014/main" id="{B38F0919-A40D-004D-225F-73916E8747C7}"/>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14</a:t>
            </a:fld>
            <a:endParaRPr lang="en-US"/>
          </a:p>
        </p:txBody>
      </p:sp>
      <p:sp>
        <p:nvSpPr>
          <p:cNvPr id="9" name="Rectangle 27">
            <a:extLst>
              <a:ext uri="{FF2B5EF4-FFF2-40B4-BE49-F238E27FC236}">
                <a16:creationId xmlns:a16="http://schemas.microsoft.com/office/drawing/2014/main" id="{D8A8EE5A-513A-1ADB-4B64-4674EB3D0C4F}"/>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10" name="TextBox 9">
            <a:extLst>
              <a:ext uri="{FF2B5EF4-FFF2-40B4-BE49-F238E27FC236}">
                <a16:creationId xmlns:a16="http://schemas.microsoft.com/office/drawing/2014/main" id="{E1E5D0D4-4559-673E-F740-D986EA965482}"/>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extLst>
      <p:ext uri="{BB962C8B-B14F-4D97-AF65-F5344CB8AC3E}">
        <p14:creationId xmlns:p14="http://schemas.microsoft.com/office/powerpoint/2010/main" val="4114456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F563232-ED20-83BB-4E2D-45C61E1A6371}"/>
              </a:ext>
            </a:extLst>
          </p:cNvPr>
          <p:cNvSpPr>
            <a:spLocks noGrp="1"/>
          </p:cNvSpPr>
          <p:nvPr>
            <p:ph type="title"/>
          </p:nvPr>
        </p:nvSpPr>
        <p:spPr>
          <a:xfrm>
            <a:off x="1379538" y="363813"/>
            <a:ext cx="10812462" cy="768878"/>
          </a:xfrm>
        </p:spPr>
        <p:txBody>
          <a:bodyPr vert="horz" lIns="0" tIns="0" rIns="0" bIns="0" rtlCol="0" anchor="t">
            <a:noAutofit/>
          </a:bodyPr>
          <a:lstStyle/>
          <a:p>
            <a:r>
              <a:rPr lang="en-US" sz="2400" b="1" kern="0" spc="-50" dirty="0">
                <a:solidFill>
                  <a:srgbClr val="000000"/>
                </a:solidFill>
                <a:latin typeface="+mj-lt"/>
                <a:ea typeface="+mj-ea"/>
                <a:cs typeface="+mj-cs"/>
              </a:rPr>
              <a:t>STREAM 4C | FOCUS ON BSS</a:t>
            </a:r>
            <a:br>
              <a:rPr lang="en-US" sz="2400" b="1" kern="0" spc="-50" dirty="0">
                <a:solidFill>
                  <a:srgbClr val="000000"/>
                </a:solidFill>
                <a:latin typeface="+mj-lt"/>
                <a:ea typeface="+mj-ea"/>
                <a:cs typeface="+mj-cs"/>
              </a:rPr>
            </a:br>
            <a:r>
              <a:rPr lang="en-US" sz="1800" b="0" i="1" dirty="0"/>
              <a:t>LEVERAGING OUR AWARD-WINNING TELCO BSS FRAMEWORK FOR DEFINING A TARGET STATE ARCHITECTURE</a:t>
            </a:r>
          </a:p>
        </p:txBody>
      </p:sp>
      <p:sp>
        <p:nvSpPr>
          <p:cNvPr id="6" name="Rectangle 5">
            <a:extLst>
              <a:ext uri="{FF2B5EF4-FFF2-40B4-BE49-F238E27FC236}">
                <a16:creationId xmlns:a16="http://schemas.microsoft.com/office/drawing/2014/main" id="{37A9F28B-4611-BDD5-7D3E-FE5838355F33}"/>
              </a:ext>
            </a:extLst>
          </p:cNvPr>
          <p:cNvSpPr/>
          <p:nvPr/>
        </p:nvSpPr>
        <p:spPr>
          <a:xfrm>
            <a:off x="7983866" y="1188910"/>
            <a:ext cx="3683759" cy="1748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endParaRPr lang="en-IN" sz="1400" b="1">
              <a:solidFill>
                <a:schemeClr val="accent2"/>
              </a:solidFill>
              <a:latin typeface="+mj-lt"/>
            </a:endParaRPr>
          </a:p>
        </p:txBody>
      </p:sp>
      <p:sp>
        <p:nvSpPr>
          <p:cNvPr id="2" name="TextBox 1">
            <a:extLst>
              <a:ext uri="{FF2B5EF4-FFF2-40B4-BE49-F238E27FC236}">
                <a16:creationId xmlns:a16="http://schemas.microsoft.com/office/drawing/2014/main" id="{5876CE12-6B41-CF72-319D-BDC93AC07198}"/>
              </a:ext>
            </a:extLst>
          </p:cNvPr>
          <p:cNvSpPr txBox="1"/>
          <p:nvPr/>
        </p:nvSpPr>
        <p:spPr>
          <a:xfrm>
            <a:off x="152075" y="1112909"/>
            <a:ext cx="7341710" cy="523220"/>
          </a:xfrm>
          <a:prstGeom prst="rect">
            <a:avLst/>
          </a:prstGeom>
          <a:solidFill>
            <a:schemeClr val="accent1"/>
          </a:solidFill>
          <a:ln>
            <a:solidFill>
              <a:schemeClr val="accent1"/>
            </a:solidFill>
          </a:ln>
        </p:spPr>
        <p:txBody>
          <a:bodyPr wrap="square" lIns="91440" tIns="45720" rIns="91440" bIns="45720" anchor="t">
            <a:spAutoFit/>
          </a:bodyPr>
          <a:lstStyle>
            <a:defPPr>
              <a:defRPr lang="de-DE"/>
            </a:defPPr>
            <a:lvl1pPr algn="ctr" defTabSz="957756">
              <a:buClr>
                <a:srgbClr val="0070AD"/>
              </a:buClr>
              <a:defRPr sz="1400">
                <a:solidFill>
                  <a:schemeClr val="accent2">
                    <a:lumMod val="50000"/>
                  </a:schemeClr>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dirty="0"/>
              <a:t>Merger of </a:t>
            </a:r>
            <a:r>
              <a:rPr lang="en-IN" dirty="0" err="1"/>
              <a:t>FastWeb</a:t>
            </a:r>
            <a:r>
              <a:rPr lang="en-IN" dirty="0"/>
              <a:t> and Vodafone provides an opportunity to radically simplify &amp; enhance customer experience  but also enable Business agility needed for future growth.</a:t>
            </a:r>
            <a:endParaRPr lang="en-US" dirty="0"/>
          </a:p>
        </p:txBody>
      </p:sp>
      <p:sp>
        <p:nvSpPr>
          <p:cNvPr id="3" name="TextBox 2">
            <a:extLst>
              <a:ext uri="{FF2B5EF4-FFF2-40B4-BE49-F238E27FC236}">
                <a16:creationId xmlns:a16="http://schemas.microsoft.com/office/drawing/2014/main" id="{37D76809-0963-6316-C269-E49A5C1841B5}"/>
              </a:ext>
            </a:extLst>
          </p:cNvPr>
          <p:cNvSpPr txBox="1"/>
          <p:nvPr/>
        </p:nvSpPr>
        <p:spPr>
          <a:xfrm>
            <a:off x="7749501" y="1076471"/>
            <a:ext cx="4207712" cy="5688737"/>
          </a:xfrm>
          <a:prstGeom prst="rect">
            <a:avLst/>
          </a:prstGeom>
          <a:noFill/>
        </p:spPr>
        <p:txBody>
          <a:bodyPr wrap="square" lIns="91440" tIns="45720" rIns="91440" bIns="45720" rtlCol="0" anchor="t">
            <a:spAutoFit/>
          </a:bodyPr>
          <a:lstStyle/>
          <a:p>
            <a:pPr algn="ctr"/>
            <a:r>
              <a:rPr lang="en-IN" sz="2400" b="1" dirty="0">
                <a:ea typeface="+mn-lt"/>
                <a:cs typeface="+mn-lt"/>
              </a:rPr>
              <a:t>Key BSS Decisions to be made</a:t>
            </a:r>
            <a:endParaRPr lang="en-US" sz="2400" dirty="0">
              <a:ea typeface="+mn-lt"/>
              <a:cs typeface="+mn-lt"/>
            </a:endParaRPr>
          </a:p>
          <a:p>
            <a:pPr marL="342900" indent="-342900">
              <a:buFont typeface="Wingdings" panose="05000000000000000000" pitchFamily="2" charset="2"/>
              <a:buChar char="ü"/>
            </a:pPr>
            <a:endParaRPr lang="en-US" sz="1100">
              <a:solidFill>
                <a:schemeClr val="accent1">
                  <a:lumMod val="50000"/>
                </a:schemeClr>
              </a:solidFill>
              <a:latin typeface="+mj-lt"/>
              <a:ea typeface="Calibri"/>
              <a:cs typeface="Times New Roman"/>
            </a:endParaRPr>
          </a:p>
          <a:p>
            <a:pPr marL="342900" indent="-342900">
              <a:spcAft>
                <a:spcPts val="200"/>
              </a:spcAft>
              <a:buFont typeface="Wingdings" panose="05000000000000000000" pitchFamily="2" charset="2"/>
              <a:buChar char="ü"/>
            </a:pPr>
            <a:r>
              <a:rPr lang="en-US" sz="1100">
                <a:solidFill>
                  <a:schemeClr val="accent1">
                    <a:lumMod val="50000"/>
                  </a:schemeClr>
                </a:solidFill>
                <a:effectLst/>
                <a:latin typeface="+mj-lt"/>
                <a:ea typeface="Calibri"/>
                <a:cs typeface="Times New Roman"/>
              </a:rPr>
              <a:t>How to approach customer migration?</a:t>
            </a:r>
            <a:r>
              <a:rPr lang="en-US" sz="1100">
                <a:solidFill>
                  <a:schemeClr val="accent1">
                    <a:lumMod val="50000"/>
                  </a:schemeClr>
                </a:solidFill>
                <a:latin typeface="+mj-lt"/>
                <a:ea typeface="Calibri"/>
                <a:cs typeface="Times New Roman"/>
              </a:rPr>
              <a:t> </a:t>
            </a:r>
            <a:endParaRPr lang="en-US" dirty="0">
              <a:solidFill>
                <a:schemeClr val="accent1">
                  <a:lumMod val="50000"/>
                </a:schemeClr>
              </a:solidFill>
              <a:latin typeface="+mj-lt"/>
            </a:endParaRPr>
          </a:p>
          <a:p>
            <a:pPr marL="800100" lvl="1" indent="-342900">
              <a:spcAft>
                <a:spcPts val="200"/>
              </a:spcAft>
              <a:buFont typeface="Wingdings" panose="05000000000000000000" pitchFamily="2" charset="2"/>
              <a:buChar char="ü"/>
            </a:pPr>
            <a:r>
              <a:rPr lang="en-US" sz="1100">
                <a:solidFill>
                  <a:schemeClr val="accent1">
                    <a:lumMod val="50000"/>
                  </a:schemeClr>
                </a:solidFill>
                <a:latin typeface="+mj-lt"/>
                <a:ea typeface="Calibri"/>
                <a:cs typeface="Times New Roman"/>
              </a:rPr>
              <a:t>Is it possible to migrate a customer transparently?</a:t>
            </a:r>
            <a:endParaRPr lang="en-US" sz="1100" dirty="0">
              <a:solidFill>
                <a:schemeClr val="accent1">
                  <a:lumMod val="50000"/>
                </a:schemeClr>
              </a:solidFill>
              <a:latin typeface="+mj-lt"/>
              <a:ea typeface="Calibri"/>
              <a:cs typeface="Times New Roman"/>
            </a:endParaRPr>
          </a:p>
          <a:p>
            <a:pPr marL="800100" lvl="1" indent="-342900">
              <a:spcAft>
                <a:spcPts val="200"/>
              </a:spcAft>
              <a:buFont typeface="Wingdings" panose="05000000000000000000" pitchFamily="2" charset="2"/>
              <a:buChar char="ü"/>
            </a:pPr>
            <a:r>
              <a:rPr lang="en-US" sz="1100">
                <a:solidFill>
                  <a:schemeClr val="accent1">
                    <a:lumMod val="50000"/>
                  </a:schemeClr>
                </a:solidFill>
                <a:latin typeface="+mj-lt"/>
                <a:ea typeface="Calibri"/>
                <a:cs typeface="Times New Roman"/>
              </a:rPr>
              <a:t>New customer</a:t>
            </a:r>
            <a:r>
              <a:rPr lang="en-US" sz="1100">
                <a:solidFill>
                  <a:schemeClr val="accent1">
                    <a:lumMod val="50000"/>
                  </a:schemeClr>
                </a:solidFill>
                <a:effectLst/>
                <a:latin typeface="+mj-lt"/>
                <a:ea typeface="Calibri"/>
                <a:cs typeface="Times New Roman"/>
              </a:rPr>
              <a:t> on new stack, with specific offer?</a:t>
            </a:r>
            <a:r>
              <a:rPr lang="en-US" sz="1100">
                <a:solidFill>
                  <a:schemeClr val="accent1">
                    <a:lumMod val="50000"/>
                  </a:schemeClr>
                </a:solidFill>
                <a:latin typeface="+mj-lt"/>
                <a:ea typeface="Calibri"/>
                <a:cs typeface="Times New Roman"/>
              </a:rPr>
              <a:t> </a:t>
            </a:r>
            <a:endParaRPr lang="en-US" sz="1100" dirty="0">
              <a:solidFill>
                <a:schemeClr val="accent1">
                  <a:lumMod val="50000"/>
                </a:schemeClr>
              </a:solidFill>
              <a:effectLst/>
              <a:latin typeface="+mj-lt"/>
              <a:ea typeface="Calibri" panose="020F0502020204030204" pitchFamily="34" charset="0"/>
              <a:cs typeface="Times New Roman" panose="02020603050405020304" pitchFamily="18" charset="0"/>
            </a:endParaRPr>
          </a:p>
          <a:p>
            <a:pPr marL="800100" lvl="1" indent="-342900">
              <a:spcAft>
                <a:spcPts val="200"/>
              </a:spcAft>
              <a:buFont typeface="Wingdings" panose="05000000000000000000" pitchFamily="2" charset="2"/>
              <a:buChar char="ü"/>
            </a:pPr>
            <a:r>
              <a:rPr lang="en-US" sz="1100">
                <a:solidFill>
                  <a:schemeClr val="accent1">
                    <a:lumMod val="50000"/>
                  </a:schemeClr>
                </a:solidFill>
                <a:latin typeface="+mj-lt"/>
                <a:ea typeface="Calibri"/>
                <a:cs typeface="Times New Roman"/>
              </a:rPr>
              <a:t>Customer</a:t>
            </a:r>
            <a:r>
              <a:rPr lang="en-US" sz="1100">
                <a:solidFill>
                  <a:schemeClr val="accent1">
                    <a:lumMod val="50000"/>
                  </a:schemeClr>
                </a:solidFill>
                <a:effectLst/>
                <a:latin typeface="+mj-lt"/>
                <a:ea typeface="Calibri"/>
                <a:cs typeface="Times New Roman"/>
              </a:rPr>
              <a:t> invited to migrate via change-order?</a:t>
            </a:r>
            <a:endParaRPr lang="en-US" sz="1100" dirty="0">
              <a:solidFill>
                <a:schemeClr val="accent1">
                  <a:lumMod val="50000"/>
                </a:schemeClr>
              </a:solidFill>
              <a:effectLst/>
              <a:latin typeface="+mj-lt"/>
              <a:ea typeface="Calibri"/>
              <a:cs typeface="Times New Roman"/>
            </a:endParaRPr>
          </a:p>
          <a:p>
            <a:pPr marL="800100" lvl="1" indent="-342900">
              <a:spcAft>
                <a:spcPts val="200"/>
              </a:spcAft>
              <a:buFont typeface="Wingdings" panose="05000000000000000000" pitchFamily="2" charset="2"/>
              <a:buChar char="ü"/>
            </a:pPr>
            <a:r>
              <a:rPr lang="en-US" sz="1100">
                <a:solidFill>
                  <a:schemeClr val="accent1">
                    <a:lumMod val="50000"/>
                  </a:schemeClr>
                </a:solidFill>
                <a:effectLst/>
                <a:latin typeface="+mj-lt"/>
                <a:ea typeface="Calibri"/>
                <a:cs typeface="Times New Roman"/>
              </a:rPr>
              <a:t>How long a grace period before </a:t>
            </a:r>
            <a:r>
              <a:rPr lang="en-US" sz="1100">
                <a:solidFill>
                  <a:schemeClr val="accent1">
                    <a:lumMod val="50000"/>
                  </a:schemeClr>
                </a:solidFill>
                <a:latin typeface="+mj-lt"/>
                <a:ea typeface="Calibri"/>
                <a:cs typeface="Times New Roman"/>
              </a:rPr>
              <a:t>forced </a:t>
            </a:r>
            <a:r>
              <a:rPr lang="en-US" sz="1100">
                <a:solidFill>
                  <a:schemeClr val="accent1">
                    <a:lumMod val="50000"/>
                  </a:schemeClr>
                </a:solidFill>
                <a:effectLst/>
                <a:latin typeface="+mj-lt"/>
                <a:ea typeface="Calibri"/>
                <a:cs typeface="Times New Roman"/>
              </a:rPr>
              <a:t>migration</a:t>
            </a:r>
            <a:r>
              <a:rPr lang="en-US" sz="1100">
                <a:solidFill>
                  <a:schemeClr val="accent1">
                    <a:lumMod val="50000"/>
                  </a:schemeClr>
                </a:solidFill>
                <a:latin typeface="+mj-lt"/>
                <a:ea typeface="Calibri"/>
                <a:cs typeface="Times New Roman"/>
              </a:rPr>
              <a:t>?</a:t>
            </a:r>
            <a:endParaRPr lang="en-US" sz="1100" dirty="0">
              <a:solidFill>
                <a:schemeClr val="accent1">
                  <a:lumMod val="50000"/>
                </a:schemeClr>
              </a:solidFill>
              <a:latin typeface="+mj-lt"/>
              <a:ea typeface="Calibri"/>
              <a:cs typeface="Times New Roman"/>
            </a:endParaRPr>
          </a:p>
          <a:p>
            <a:pPr marL="342900" indent="-342900">
              <a:spcAft>
                <a:spcPts val="200"/>
              </a:spcAft>
              <a:buFont typeface="Wingdings" panose="05000000000000000000" pitchFamily="2" charset="2"/>
              <a:buChar char="ü"/>
            </a:pPr>
            <a:r>
              <a:rPr lang="en-US" sz="1100">
                <a:solidFill>
                  <a:schemeClr val="accent1">
                    <a:lumMod val="50000"/>
                  </a:schemeClr>
                </a:solidFill>
                <a:latin typeface="+mj-lt"/>
                <a:ea typeface="Calibri"/>
                <a:cs typeface="Times New Roman"/>
              </a:rPr>
              <a:t>How s</a:t>
            </a:r>
            <a:r>
              <a:rPr lang="en-US" sz="1100" dirty="0">
                <a:solidFill>
                  <a:schemeClr val="accent1">
                    <a:lumMod val="50000"/>
                  </a:schemeClr>
                </a:solidFill>
                <a:latin typeface="+mj-lt"/>
                <a:ea typeface="+mn-lt"/>
                <a:cs typeface="+mn-lt"/>
              </a:rPr>
              <a:t>hould we rank merging of BSS for individual LOBs?</a:t>
            </a:r>
          </a:p>
          <a:p>
            <a:pPr marL="342900" indent="-342900">
              <a:spcAft>
                <a:spcPts val="200"/>
              </a:spcAft>
              <a:buFont typeface="Wingdings" panose="05000000000000000000" pitchFamily="2" charset="2"/>
              <a:buChar char="ü"/>
            </a:pPr>
            <a:r>
              <a:rPr lang="en-US" sz="1100">
                <a:solidFill>
                  <a:schemeClr val="accent1">
                    <a:lumMod val="50000"/>
                  </a:schemeClr>
                </a:solidFill>
                <a:latin typeface="+mj-lt"/>
                <a:ea typeface="Calibri"/>
                <a:cs typeface="Times New Roman"/>
              </a:rPr>
              <a:t>Should</a:t>
            </a:r>
            <a:r>
              <a:rPr lang="en-US" sz="1100">
                <a:solidFill>
                  <a:schemeClr val="accent1">
                    <a:lumMod val="50000"/>
                  </a:schemeClr>
                </a:solidFill>
                <a:effectLst/>
                <a:latin typeface="+mj-lt"/>
                <a:ea typeface="Calibri"/>
                <a:cs typeface="Times New Roman"/>
              </a:rPr>
              <a:t> individual LOB of </a:t>
            </a:r>
            <a:r>
              <a:rPr lang="en-US" sz="1100" err="1">
                <a:solidFill>
                  <a:schemeClr val="accent1">
                    <a:lumMod val="50000"/>
                  </a:schemeClr>
                </a:solidFill>
                <a:effectLst/>
                <a:latin typeface="+mj-lt"/>
                <a:ea typeface="Calibri"/>
                <a:cs typeface="Times New Roman"/>
              </a:rPr>
              <a:t>NewCo</a:t>
            </a:r>
            <a:r>
              <a:rPr lang="en-US" sz="1100">
                <a:solidFill>
                  <a:schemeClr val="accent1">
                    <a:lumMod val="50000"/>
                  </a:schemeClr>
                </a:solidFill>
                <a:effectLst/>
                <a:latin typeface="+mj-lt"/>
                <a:ea typeface="Calibri"/>
                <a:cs typeface="Times New Roman"/>
              </a:rPr>
              <a:t> have separate IT stack?</a:t>
            </a:r>
            <a:endParaRPr lang="en-US" dirty="0">
              <a:solidFill>
                <a:schemeClr val="accent1">
                  <a:lumMod val="50000"/>
                </a:schemeClr>
              </a:solidFill>
              <a:latin typeface="+mj-lt"/>
            </a:endParaRPr>
          </a:p>
          <a:p>
            <a:pPr marL="342900" lvl="0" indent="-342900">
              <a:spcAft>
                <a:spcPts val="200"/>
              </a:spcAft>
              <a:buFont typeface="Wingdings" panose="05000000000000000000" pitchFamily="2" charset="2"/>
              <a:buChar char="ü"/>
            </a:pPr>
            <a:r>
              <a:rPr lang="en-US" sz="1100">
                <a:solidFill>
                  <a:schemeClr val="accent1">
                    <a:lumMod val="50000"/>
                  </a:schemeClr>
                </a:solidFill>
                <a:effectLst/>
                <a:latin typeface="+mj-lt"/>
                <a:ea typeface="Calibri"/>
                <a:cs typeface="Times New Roman"/>
              </a:rPr>
              <a:t>Should we build completely new stack or leverage existing investments?</a:t>
            </a:r>
            <a:endParaRPr lang="en-US" sz="1100" dirty="0">
              <a:solidFill>
                <a:schemeClr val="accent1">
                  <a:lumMod val="50000"/>
                </a:schemeClr>
              </a:solidFill>
              <a:effectLst/>
              <a:latin typeface="+mj-lt"/>
              <a:ea typeface="Calibri"/>
              <a:cs typeface="Times New Roman"/>
            </a:endParaRPr>
          </a:p>
          <a:p>
            <a:pPr marL="342900" lvl="0" indent="-342900">
              <a:spcAft>
                <a:spcPts val="200"/>
              </a:spcAft>
              <a:buFont typeface="Wingdings" panose="05000000000000000000" pitchFamily="2" charset="2"/>
              <a:buChar char="ü"/>
            </a:pPr>
            <a:r>
              <a:rPr lang="en-US" sz="1100">
                <a:solidFill>
                  <a:schemeClr val="accent1">
                    <a:lumMod val="50000"/>
                  </a:schemeClr>
                </a:solidFill>
                <a:effectLst/>
                <a:latin typeface="+mj-lt"/>
                <a:ea typeface="Calibri"/>
                <a:cs typeface="Times New Roman"/>
              </a:rPr>
              <a:t>How do I prioritize / de-prioritize existing transformation programs?</a:t>
            </a:r>
            <a:endParaRPr lang="en-US" sz="1100" dirty="0">
              <a:solidFill>
                <a:schemeClr val="accent1">
                  <a:lumMod val="50000"/>
                </a:schemeClr>
              </a:solidFill>
              <a:effectLst/>
              <a:latin typeface="+mj-lt"/>
              <a:ea typeface="Calibri"/>
              <a:cs typeface="Times New Roman"/>
            </a:endParaRPr>
          </a:p>
          <a:p>
            <a:pPr marL="342900" lvl="0" indent="-342900">
              <a:spcAft>
                <a:spcPts val="200"/>
              </a:spcAft>
              <a:buFont typeface="Wingdings" panose="05000000000000000000" pitchFamily="2" charset="2"/>
              <a:buChar char="ü"/>
            </a:pPr>
            <a:r>
              <a:rPr lang="en-US" sz="1100">
                <a:solidFill>
                  <a:schemeClr val="accent1">
                    <a:lumMod val="50000"/>
                  </a:schemeClr>
                </a:solidFill>
                <a:effectLst/>
                <a:latin typeface="+mj-lt"/>
                <a:ea typeface="Calibri"/>
                <a:cs typeface="Times New Roman"/>
              </a:rPr>
              <a:t>How should we decide which applications (CRM, EPC, </a:t>
            </a:r>
            <a:r>
              <a:rPr lang="en-US" sz="1100">
                <a:solidFill>
                  <a:schemeClr val="accent1">
                    <a:lumMod val="50000"/>
                  </a:schemeClr>
                </a:solidFill>
                <a:latin typeface="+mj-lt"/>
                <a:ea typeface="Calibri"/>
                <a:cs typeface="Times New Roman"/>
              </a:rPr>
              <a:t>COM</a:t>
            </a:r>
            <a:r>
              <a:rPr lang="en-US" sz="1100">
                <a:solidFill>
                  <a:schemeClr val="accent1">
                    <a:lumMod val="50000"/>
                  </a:schemeClr>
                </a:solidFill>
                <a:effectLst/>
                <a:latin typeface="+mj-lt"/>
                <a:ea typeface="Calibri"/>
                <a:cs typeface="Times New Roman"/>
              </a:rPr>
              <a:t>) should we retain?</a:t>
            </a:r>
            <a:endParaRPr lang="en-US" sz="1100" dirty="0">
              <a:solidFill>
                <a:schemeClr val="accent1">
                  <a:lumMod val="50000"/>
                </a:schemeClr>
              </a:solidFill>
              <a:effectLst/>
              <a:latin typeface="+mj-lt"/>
              <a:ea typeface="Calibri"/>
              <a:cs typeface="Times New Roman"/>
            </a:endParaRPr>
          </a:p>
          <a:p>
            <a:pPr marL="342900" indent="-342900">
              <a:spcAft>
                <a:spcPts val="200"/>
              </a:spcAft>
              <a:buFont typeface="Wingdings" panose="05000000000000000000" pitchFamily="2" charset="2"/>
              <a:buChar char="ü"/>
            </a:pPr>
            <a:r>
              <a:rPr lang="en-US" sz="1100">
                <a:solidFill>
                  <a:schemeClr val="accent1">
                    <a:lumMod val="50000"/>
                  </a:schemeClr>
                </a:solidFill>
                <a:effectLst/>
                <a:latin typeface="+mj-lt"/>
                <a:ea typeface="Calibri"/>
                <a:cs typeface="Times New Roman"/>
              </a:rPr>
              <a:t>What should </a:t>
            </a:r>
            <a:r>
              <a:rPr lang="en-US" sz="1100">
                <a:solidFill>
                  <a:schemeClr val="accent1">
                    <a:lumMod val="50000"/>
                  </a:schemeClr>
                </a:solidFill>
                <a:latin typeface="+mj-lt"/>
                <a:ea typeface="Calibri"/>
                <a:cs typeface="Times New Roman"/>
              </a:rPr>
              <a:t>the engagement</a:t>
            </a:r>
            <a:r>
              <a:rPr lang="en-US" sz="1100">
                <a:solidFill>
                  <a:schemeClr val="accent1">
                    <a:lumMod val="50000"/>
                  </a:schemeClr>
                </a:solidFill>
                <a:effectLst/>
                <a:latin typeface="+mj-lt"/>
                <a:ea typeface="Calibri"/>
                <a:cs typeface="Times New Roman"/>
              </a:rPr>
              <a:t> </a:t>
            </a:r>
            <a:r>
              <a:rPr lang="en-US" sz="1100">
                <a:solidFill>
                  <a:schemeClr val="accent1">
                    <a:lumMod val="50000"/>
                  </a:schemeClr>
                </a:solidFill>
                <a:latin typeface="+mj-lt"/>
                <a:ea typeface="Calibri"/>
                <a:cs typeface="Times New Roman"/>
              </a:rPr>
              <a:t>layer</a:t>
            </a:r>
            <a:r>
              <a:rPr lang="en-US" sz="1100">
                <a:solidFill>
                  <a:schemeClr val="accent1">
                    <a:lumMod val="50000"/>
                  </a:schemeClr>
                </a:solidFill>
                <a:effectLst/>
                <a:latin typeface="+mj-lt"/>
                <a:ea typeface="Calibri"/>
                <a:cs typeface="Times New Roman"/>
              </a:rPr>
              <a:t> strategy</a:t>
            </a:r>
            <a:r>
              <a:rPr lang="en-US" sz="1100">
                <a:solidFill>
                  <a:schemeClr val="accent1">
                    <a:lumMod val="50000"/>
                  </a:schemeClr>
                </a:solidFill>
                <a:latin typeface="+mj-lt"/>
                <a:ea typeface="Calibri"/>
                <a:cs typeface="Times New Roman"/>
              </a:rPr>
              <a:t> be</a:t>
            </a:r>
            <a:r>
              <a:rPr lang="en-US" sz="1100">
                <a:solidFill>
                  <a:schemeClr val="accent1">
                    <a:lumMod val="50000"/>
                  </a:schemeClr>
                </a:solidFill>
                <a:effectLst/>
                <a:latin typeface="+mj-lt"/>
                <a:ea typeface="Calibri"/>
                <a:cs typeface="Times New Roman"/>
              </a:rPr>
              <a:t> for each </a:t>
            </a:r>
            <a:r>
              <a:rPr lang="en-US" sz="1100">
                <a:solidFill>
                  <a:schemeClr val="accent1">
                    <a:lumMod val="50000"/>
                  </a:schemeClr>
                </a:solidFill>
                <a:latin typeface="+mj-lt"/>
                <a:ea typeface="Calibri"/>
                <a:cs typeface="Times New Roman"/>
              </a:rPr>
              <a:t>LOB</a:t>
            </a:r>
            <a:endParaRPr lang="en-US" sz="1100" dirty="0">
              <a:solidFill>
                <a:schemeClr val="accent1">
                  <a:lumMod val="50000"/>
                </a:schemeClr>
              </a:solidFill>
              <a:latin typeface="+mj-lt"/>
              <a:ea typeface="Calibri"/>
              <a:cs typeface="Times New Roman"/>
            </a:endParaRPr>
          </a:p>
          <a:p>
            <a:pPr marL="342900" indent="-342900">
              <a:spcAft>
                <a:spcPts val="200"/>
              </a:spcAft>
              <a:buFont typeface="Wingdings" panose="05000000000000000000" pitchFamily="2" charset="2"/>
              <a:buChar char="ü"/>
            </a:pPr>
            <a:r>
              <a:rPr lang="en-US" sz="1100">
                <a:solidFill>
                  <a:schemeClr val="accent1">
                    <a:lumMod val="50000"/>
                  </a:schemeClr>
                </a:solidFill>
                <a:latin typeface="+mj-lt"/>
                <a:ea typeface="Calibri"/>
                <a:cs typeface="Times New Roman"/>
              </a:rPr>
              <a:t>Should</a:t>
            </a:r>
            <a:r>
              <a:rPr lang="en-US" sz="1100">
                <a:solidFill>
                  <a:schemeClr val="accent1">
                    <a:lumMod val="50000"/>
                  </a:schemeClr>
                </a:solidFill>
                <a:effectLst/>
                <a:latin typeface="+mj-lt"/>
                <a:ea typeface="Calibri"/>
                <a:cs typeface="Times New Roman"/>
              </a:rPr>
              <a:t> I build new or modify existing?</a:t>
            </a:r>
            <a:endParaRPr lang="en-US" dirty="0">
              <a:solidFill>
                <a:schemeClr val="accent1">
                  <a:lumMod val="50000"/>
                </a:schemeClr>
              </a:solidFill>
              <a:latin typeface="+mj-lt"/>
            </a:endParaRPr>
          </a:p>
          <a:p>
            <a:pPr marL="342900" lvl="0" indent="-342900">
              <a:spcAft>
                <a:spcPts val="200"/>
              </a:spcAft>
              <a:buFont typeface="Wingdings" panose="05000000000000000000" pitchFamily="2" charset="2"/>
              <a:buChar char="ü"/>
            </a:pPr>
            <a:r>
              <a:rPr lang="en-US" sz="1100">
                <a:solidFill>
                  <a:schemeClr val="accent1">
                    <a:lumMod val="50000"/>
                  </a:schemeClr>
                </a:solidFill>
                <a:effectLst/>
                <a:latin typeface="+mj-lt"/>
                <a:ea typeface="Calibri"/>
                <a:cs typeface="Times New Roman"/>
              </a:rPr>
              <a:t>There are multiple CRM applications </a:t>
            </a:r>
            <a:r>
              <a:rPr lang="en-US" sz="1100" err="1">
                <a:solidFill>
                  <a:schemeClr val="accent1">
                    <a:lumMod val="50000"/>
                  </a:schemeClr>
                </a:solidFill>
                <a:effectLst/>
                <a:latin typeface="+mj-lt"/>
                <a:ea typeface="Calibri"/>
                <a:cs typeface="Times New Roman"/>
              </a:rPr>
              <a:t>eg.</a:t>
            </a:r>
            <a:r>
              <a:rPr lang="en-US" sz="1100">
                <a:solidFill>
                  <a:schemeClr val="accent1">
                    <a:lumMod val="50000"/>
                  </a:schemeClr>
                </a:solidFill>
                <a:effectLst/>
                <a:latin typeface="+mj-lt"/>
                <a:ea typeface="Calibri"/>
                <a:cs typeface="Times New Roman"/>
              </a:rPr>
              <a:t> Legacy, Salesforce, Amdocs and Oracle. Which one should I retain?</a:t>
            </a:r>
            <a:endParaRPr lang="en-US" sz="1100" dirty="0">
              <a:solidFill>
                <a:schemeClr val="accent1">
                  <a:lumMod val="50000"/>
                </a:schemeClr>
              </a:solidFill>
              <a:effectLst/>
              <a:latin typeface="+mj-lt"/>
              <a:ea typeface="Calibri"/>
              <a:cs typeface="Times New Roman"/>
            </a:endParaRPr>
          </a:p>
          <a:p>
            <a:pPr marL="342900" lvl="0" indent="-342900">
              <a:spcAft>
                <a:spcPts val="200"/>
              </a:spcAft>
              <a:buFont typeface="Wingdings" panose="05000000000000000000" pitchFamily="2" charset="2"/>
              <a:buChar char="ü"/>
            </a:pPr>
            <a:r>
              <a:rPr lang="en-US" sz="1100">
                <a:solidFill>
                  <a:schemeClr val="accent1">
                    <a:lumMod val="50000"/>
                  </a:schemeClr>
                </a:solidFill>
                <a:effectLst/>
                <a:latin typeface="+mj-lt"/>
                <a:ea typeface="Calibri"/>
                <a:cs typeface="Times New Roman"/>
              </a:rPr>
              <a:t>Should I have separate CRM for individual LOB of merged entity?</a:t>
            </a:r>
            <a:endParaRPr lang="en-US" sz="1100" dirty="0">
              <a:solidFill>
                <a:schemeClr val="accent1">
                  <a:lumMod val="50000"/>
                </a:schemeClr>
              </a:solidFill>
              <a:effectLst/>
              <a:latin typeface="+mj-lt"/>
              <a:ea typeface="Calibri"/>
              <a:cs typeface="Times New Roman"/>
            </a:endParaRPr>
          </a:p>
          <a:p>
            <a:pPr marL="342900" lvl="0" indent="-342900">
              <a:spcAft>
                <a:spcPts val="200"/>
              </a:spcAft>
              <a:buFont typeface="Wingdings" panose="05000000000000000000" pitchFamily="2" charset="2"/>
              <a:buChar char="ü"/>
            </a:pPr>
            <a:r>
              <a:rPr lang="en-US" sz="1100">
                <a:solidFill>
                  <a:schemeClr val="accent1">
                    <a:lumMod val="50000"/>
                  </a:schemeClr>
                </a:solidFill>
                <a:effectLst/>
                <a:latin typeface="+mj-lt"/>
                <a:ea typeface="Calibri"/>
                <a:cs typeface="Times New Roman"/>
              </a:rPr>
              <a:t>Which product catalogue should I retain?</a:t>
            </a:r>
            <a:endParaRPr lang="en-US" sz="1100" dirty="0">
              <a:solidFill>
                <a:schemeClr val="accent1">
                  <a:lumMod val="50000"/>
                </a:schemeClr>
              </a:solidFill>
              <a:effectLst/>
              <a:latin typeface="+mj-lt"/>
              <a:ea typeface="Calibri"/>
              <a:cs typeface="Times New Roman"/>
            </a:endParaRPr>
          </a:p>
          <a:p>
            <a:pPr marL="342900" lvl="0" indent="-342900">
              <a:spcAft>
                <a:spcPts val="200"/>
              </a:spcAft>
              <a:buFont typeface="Wingdings" panose="05000000000000000000" pitchFamily="2" charset="2"/>
              <a:buChar char="ü"/>
            </a:pPr>
            <a:r>
              <a:rPr lang="en-US" sz="1100">
                <a:solidFill>
                  <a:schemeClr val="accent1">
                    <a:lumMod val="50000"/>
                  </a:schemeClr>
                </a:solidFill>
                <a:effectLst/>
                <a:latin typeface="+mj-lt"/>
                <a:ea typeface="Calibri"/>
                <a:cs typeface="Times New Roman"/>
              </a:rPr>
              <a:t>Should I have unified product catalog across the LOB of merged entity?</a:t>
            </a:r>
            <a:endParaRPr lang="en-US" sz="1100" dirty="0">
              <a:solidFill>
                <a:schemeClr val="accent1">
                  <a:lumMod val="50000"/>
                </a:schemeClr>
              </a:solidFill>
              <a:effectLst/>
              <a:latin typeface="+mj-lt"/>
              <a:ea typeface="Calibri"/>
              <a:cs typeface="Times New Roman"/>
            </a:endParaRPr>
          </a:p>
          <a:p>
            <a:pPr marL="342900" lvl="0" indent="-342900">
              <a:spcAft>
                <a:spcPts val="200"/>
              </a:spcAft>
              <a:buFont typeface="Wingdings" panose="05000000000000000000" pitchFamily="2" charset="2"/>
              <a:buChar char="ü"/>
            </a:pPr>
            <a:r>
              <a:rPr lang="en-US" sz="1100">
                <a:solidFill>
                  <a:schemeClr val="accent1">
                    <a:lumMod val="50000"/>
                  </a:schemeClr>
                </a:solidFill>
                <a:effectLst/>
                <a:latin typeface="+mj-lt"/>
                <a:ea typeface="Calibri"/>
                <a:cs typeface="Times New Roman"/>
              </a:rPr>
              <a:t>How should I define my CPQ strategy?</a:t>
            </a:r>
            <a:endParaRPr lang="en-US" sz="1100" dirty="0">
              <a:solidFill>
                <a:schemeClr val="accent1">
                  <a:lumMod val="50000"/>
                </a:schemeClr>
              </a:solidFill>
              <a:effectLst/>
              <a:latin typeface="+mj-lt"/>
              <a:ea typeface="Calibri"/>
              <a:cs typeface="Times New Roman"/>
            </a:endParaRPr>
          </a:p>
          <a:p>
            <a:pPr marL="342900" lvl="0" indent="-342900">
              <a:spcAft>
                <a:spcPts val="200"/>
              </a:spcAft>
              <a:buFont typeface="Wingdings" panose="05000000000000000000" pitchFamily="2" charset="2"/>
              <a:buChar char="ü"/>
            </a:pPr>
            <a:r>
              <a:rPr lang="en-US" sz="1100">
                <a:solidFill>
                  <a:schemeClr val="accent1">
                    <a:lumMod val="50000"/>
                  </a:schemeClr>
                </a:solidFill>
                <a:effectLst/>
                <a:latin typeface="+mj-lt"/>
                <a:ea typeface="Calibri"/>
                <a:cs typeface="Times New Roman"/>
              </a:rPr>
              <a:t>Which Billing applications should I retain from vendors such as Oracle, Huawei, </a:t>
            </a:r>
            <a:r>
              <a:rPr lang="en-US" sz="1100" err="1">
                <a:solidFill>
                  <a:schemeClr val="accent1">
                    <a:lumMod val="50000"/>
                  </a:schemeClr>
                </a:solidFill>
                <a:effectLst/>
                <a:latin typeface="+mj-lt"/>
                <a:ea typeface="Calibri"/>
                <a:cs typeface="Times New Roman"/>
              </a:rPr>
              <a:t>Netcracker</a:t>
            </a:r>
            <a:r>
              <a:rPr lang="en-US" sz="1100">
                <a:solidFill>
                  <a:schemeClr val="accent1">
                    <a:lumMod val="50000"/>
                  </a:schemeClr>
                </a:solidFill>
                <a:effectLst/>
                <a:latin typeface="+mj-lt"/>
                <a:ea typeface="Calibri"/>
                <a:cs typeface="Times New Roman"/>
              </a:rPr>
              <a:t>, Amdocs?</a:t>
            </a:r>
            <a:endParaRPr lang="en-US" sz="1100" dirty="0">
              <a:solidFill>
                <a:schemeClr val="accent1">
                  <a:lumMod val="50000"/>
                </a:schemeClr>
              </a:solidFill>
              <a:effectLst/>
              <a:latin typeface="+mj-lt"/>
              <a:ea typeface="Calibri"/>
              <a:cs typeface="Times New Roman"/>
            </a:endParaRPr>
          </a:p>
          <a:p>
            <a:pPr marL="342900" lvl="0" indent="-342900">
              <a:spcAft>
                <a:spcPts val="200"/>
              </a:spcAft>
              <a:buFont typeface="Wingdings" panose="05000000000000000000" pitchFamily="2" charset="2"/>
              <a:buChar char="ü"/>
            </a:pPr>
            <a:r>
              <a:rPr lang="en-US" sz="1100">
                <a:solidFill>
                  <a:schemeClr val="accent1">
                    <a:lumMod val="50000"/>
                  </a:schemeClr>
                </a:solidFill>
                <a:effectLst/>
                <a:latin typeface="+mj-lt"/>
                <a:ea typeface="Calibri"/>
                <a:cs typeface="Times New Roman"/>
              </a:rPr>
              <a:t>How do I decide which product catalogs should I retain?</a:t>
            </a:r>
            <a:endParaRPr lang="en-US" sz="1100" dirty="0">
              <a:solidFill>
                <a:schemeClr val="accent1">
                  <a:lumMod val="50000"/>
                </a:schemeClr>
              </a:solidFill>
              <a:effectLst/>
              <a:latin typeface="+mj-lt"/>
              <a:ea typeface="Calibri"/>
              <a:cs typeface="Times New Roman"/>
            </a:endParaRPr>
          </a:p>
          <a:p>
            <a:pPr marL="342900" lvl="0" indent="-342900">
              <a:spcAft>
                <a:spcPts val="200"/>
              </a:spcAft>
              <a:buFont typeface="Wingdings" panose="05000000000000000000" pitchFamily="2" charset="2"/>
              <a:buChar char="ü"/>
            </a:pPr>
            <a:r>
              <a:rPr lang="en-US" sz="1100">
                <a:solidFill>
                  <a:schemeClr val="accent1">
                    <a:lumMod val="50000"/>
                  </a:schemeClr>
                </a:solidFill>
                <a:effectLst/>
                <a:latin typeface="+mj-lt"/>
                <a:ea typeface="Calibri"/>
                <a:cs typeface="Times New Roman"/>
              </a:rPr>
              <a:t>How do I manage existing customers / services while transitioning to newco way of working?</a:t>
            </a:r>
            <a:endParaRPr lang="en-US" sz="1100" dirty="0">
              <a:solidFill>
                <a:schemeClr val="accent1">
                  <a:lumMod val="50000"/>
                </a:schemeClr>
              </a:solidFill>
              <a:latin typeface="+mj-lt"/>
              <a:ea typeface="Calibri"/>
              <a:cs typeface="Times New Roman"/>
            </a:endParaRPr>
          </a:p>
        </p:txBody>
      </p:sp>
      <p:pic>
        <p:nvPicPr>
          <p:cNvPr id="17" name="Picture 16">
            <a:extLst>
              <a:ext uri="{FF2B5EF4-FFF2-40B4-BE49-F238E27FC236}">
                <a16:creationId xmlns:a16="http://schemas.microsoft.com/office/drawing/2014/main" id="{0530822C-2573-B49F-BDCC-07E7AF7D37F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67416" y="1315553"/>
            <a:ext cx="7519124" cy="3817828"/>
          </a:xfrm>
          <a:prstGeom prst="rect">
            <a:avLst/>
          </a:prstGeom>
        </p:spPr>
      </p:pic>
      <p:sp>
        <p:nvSpPr>
          <p:cNvPr id="15" name="Rectangle 14">
            <a:extLst>
              <a:ext uri="{FF2B5EF4-FFF2-40B4-BE49-F238E27FC236}">
                <a16:creationId xmlns:a16="http://schemas.microsoft.com/office/drawing/2014/main" id="{080CC5C7-1968-0AE6-6C44-08CCAB996492}"/>
              </a:ext>
            </a:extLst>
          </p:cNvPr>
          <p:cNvSpPr/>
          <p:nvPr/>
        </p:nvSpPr>
        <p:spPr>
          <a:xfrm>
            <a:off x="138377" y="5115021"/>
            <a:ext cx="7196771" cy="633933"/>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500" b="1" i="0" u="none" strike="noStrike" kern="0" cap="none" spc="0" normalizeH="0" baseline="0" noProof="0" dirty="0">
                <a:ln>
                  <a:noFill/>
                </a:ln>
                <a:effectLst/>
                <a:uLnTx/>
                <a:uFillTx/>
                <a:latin typeface="Ubuntu"/>
                <a:ea typeface="+mn-ea"/>
                <a:cs typeface="+mn-cs"/>
              </a:rPr>
              <a:t>Sample Architecture Principles </a:t>
            </a:r>
            <a:r>
              <a:rPr kumimoji="0" lang="en-IN" sz="1500" i="0" u="none" strike="noStrike" kern="0" cap="none" spc="0" normalizeH="0" baseline="0" noProof="0" dirty="0">
                <a:ln>
                  <a:noFill/>
                </a:ln>
                <a:effectLst/>
                <a:uLnTx/>
                <a:uFillTx/>
                <a:latin typeface="Ubuntu"/>
                <a:ea typeface="+mn-ea"/>
                <a:cs typeface="+mn-cs"/>
              </a:rPr>
              <a:t>supporting decisions </a:t>
            </a:r>
            <a:r>
              <a:rPr kumimoji="0" lang="en-IN" sz="1200" i="0" u="none" strike="noStrike" kern="0" cap="none" spc="0" normalizeH="0" baseline="0" noProof="0" dirty="0">
                <a:ln>
                  <a:noFill/>
                </a:ln>
                <a:effectLst/>
                <a:uLnTx/>
                <a:uFillTx/>
                <a:latin typeface="Ubuntu"/>
                <a:ea typeface="+mn-ea"/>
                <a:cs typeface="+mn-cs"/>
              </a:rPr>
              <a:t>(simplified)</a:t>
            </a:r>
            <a:endParaRPr kumimoji="0" lang="en-US" sz="1500" i="0" u="none" strike="noStrike" kern="0" cap="none" spc="0" normalizeH="0" baseline="0" noProof="0" dirty="0" err="1">
              <a:ln>
                <a:noFill/>
              </a:ln>
              <a:effectLst/>
              <a:uLnTx/>
              <a:uFillTx/>
              <a:latin typeface="Ubuntu"/>
              <a:ea typeface="+mn-ea"/>
              <a:cs typeface="+mn-cs"/>
            </a:endParaRPr>
          </a:p>
        </p:txBody>
      </p:sp>
      <p:grpSp>
        <p:nvGrpSpPr>
          <p:cNvPr id="33" name="Group 32">
            <a:extLst>
              <a:ext uri="{FF2B5EF4-FFF2-40B4-BE49-F238E27FC236}">
                <a16:creationId xmlns:a16="http://schemas.microsoft.com/office/drawing/2014/main" id="{58AA4070-63E8-6C26-8648-DDD94DBB696C}"/>
              </a:ext>
            </a:extLst>
          </p:cNvPr>
          <p:cNvGrpSpPr/>
          <p:nvPr/>
        </p:nvGrpSpPr>
        <p:grpSpPr>
          <a:xfrm>
            <a:off x="234787" y="5616931"/>
            <a:ext cx="7258996" cy="1020916"/>
            <a:chOff x="234787" y="5684681"/>
            <a:chExt cx="7028361" cy="1241550"/>
          </a:xfrm>
          <a:solidFill>
            <a:srgbClr val="15ABDB"/>
          </a:solidFill>
        </p:grpSpPr>
        <p:sp>
          <p:nvSpPr>
            <p:cNvPr id="7" name="TextBox 6">
              <a:extLst>
                <a:ext uri="{FF2B5EF4-FFF2-40B4-BE49-F238E27FC236}">
                  <a16:creationId xmlns:a16="http://schemas.microsoft.com/office/drawing/2014/main" id="{94271665-2FE4-7747-69D7-77F30F9025FE}"/>
                </a:ext>
              </a:extLst>
            </p:cNvPr>
            <p:cNvSpPr txBox="1"/>
            <p:nvPr/>
          </p:nvSpPr>
          <p:spPr>
            <a:xfrm>
              <a:off x="234787" y="5684681"/>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36000" tIns="36000" rIns="3600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dirty="0">
                  <a:solidFill>
                    <a:schemeClr val="bg1"/>
                  </a:solidFill>
                </a:rPr>
                <a:t>ODA aligned</a:t>
              </a:r>
              <a:endParaRPr lang="en-US" sz="1100" dirty="0">
                <a:solidFill>
                  <a:schemeClr val="bg1"/>
                </a:solidFill>
              </a:endParaRPr>
            </a:p>
          </p:txBody>
        </p:sp>
        <p:sp>
          <p:nvSpPr>
            <p:cNvPr id="8" name="TextBox 7">
              <a:extLst>
                <a:ext uri="{FF2B5EF4-FFF2-40B4-BE49-F238E27FC236}">
                  <a16:creationId xmlns:a16="http://schemas.microsoft.com/office/drawing/2014/main" id="{A49691C9-DD81-A606-710E-69E6F3C536F8}"/>
                </a:ext>
              </a:extLst>
            </p:cNvPr>
            <p:cNvSpPr txBox="1"/>
            <p:nvPr/>
          </p:nvSpPr>
          <p:spPr>
            <a:xfrm>
              <a:off x="234787" y="6024226"/>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36000" tIns="36000" rIns="3600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dirty="0" err="1">
                  <a:solidFill>
                    <a:schemeClr val="bg1"/>
                  </a:solidFill>
                </a:rPr>
                <a:t>Catalog</a:t>
              </a:r>
              <a:r>
                <a:rPr lang="en-IN" sz="1100" dirty="0">
                  <a:solidFill>
                    <a:schemeClr val="bg1"/>
                  </a:solidFill>
                </a:rPr>
                <a:t> Driven</a:t>
              </a:r>
              <a:endParaRPr lang="en-US" sz="1100" dirty="0">
                <a:solidFill>
                  <a:schemeClr val="bg1"/>
                </a:solidFill>
              </a:endParaRPr>
            </a:p>
          </p:txBody>
        </p:sp>
        <p:sp>
          <p:nvSpPr>
            <p:cNvPr id="9" name="TextBox 8">
              <a:extLst>
                <a:ext uri="{FF2B5EF4-FFF2-40B4-BE49-F238E27FC236}">
                  <a16:creationId xmlns:a16="http://schemas.microsoft.com/office/drawing/2014/main" id="{835D6DB6-78B9-E947-5072-5711228AD511}"/>
                </a:ext>
              </a:extLst>
            </p:cNvPr>
            <p:cNvSpPr txBox="1"/>
            <p:nvPr/>
          </p:nvSpPr>
          <p:spPr>
            <a:xfrm>
              <a:off x="2037574" y="5684681"/>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36000" tIns="36000" rIns="3600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dirty="0">
                  <a:solidFill>
                    <a:schemeClr val="bg1"/>
                  </a:solidFill>
                </a:rPr>
                <a:t>Real Time Insight Driven</a:t>
              </a:r>
              <a:endParaRPr lang="en-US" sz="1100" dirty="0">
                <a:solidFill>
                  <a:schemeClr val="bg1"/>
                </a:solidFill>
              </a:endParaRPr>
            </a:p>
          </p:txBody>
        </p:sp>
        <p:sp>
          <p:nvSpPr>
            <p:cNvPr id="10" name="TextBox 9">
              <a:extLst>
                <a:ext uri="{FF2B5EF4-FFF2-40B4-BE49-F238E27FC236}">
                  <a16:creationId xmlns:a16="http://schemas.microsoft.com/office/drawing/2014/main" id="{355DC949-8AA0-8C3C-B96B-2A626BB4D6E4}"/>
                </a:ext>
              </a:extLst>
            </p:cNvPr>
            <p:cNvSpPr txBox="1"/>
            <p:nvPr/>
          </p:nvSpPr>
          <p:spPr>
            <a:xfrm>
              <a:off x="2011528" y="6024226"/>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36000" tIns="36000" rIns="3600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a:solidFill>
                    <a:schemeClr val="bg1"/>
                  </a:solidFill>
                </a:rPr>
                <a:t>Cloud Native</a:t>
              </a:r>
              <a:endParaRPr lang="en-US" sz="1100" dirty="0">
                <a:solidFill>
                  <a:schemeClr val="bg1"/>
                </a:solidFill>
              </a:endParaRPr>
            </a:p>
          </p:txBody>
        </p:sp>
        <p:sp>
          <p:nvSpPr>
            <p:cNvPr id="11" name="TextBox 10">
              <a:extLst>
                <a:ext uri="{FF2B5EF4-FFF2-40B4-BE49-F238E27FC236}">
                  <a16:creationId xmlns:a16="http://schemas.microsoft.com/office/drawing/2014/main" id="{2066B62A-C9A0-BD9F-5E14-A0A7731B44FC}"/>
                </a:ext>
              </a:extLst>
            </p:cNvPr>
            <p:cNvSpPr txBox="1"/>
            <p:nvPr/>
          </p:nvSpPr>
          <p:spPr>
            <a:xfrm>
              <a:off x="3840361" y="5684681"/>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36000" tIns="36000" rIns="3600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a:solidFill>
                    <a:schemeClr val="bg1"/>
                  </a:solidFill>
                </a:rPr>
                <a:t>Digital First</a:t>
              </a:r>
              <a:endParaRPr lang="en-US" sz="1100" dirty="0">
                <a:solidFill>
                  <a:schemeClr val="bg1"/>
                </a:solidFill>
              </a:endParaRPr>
            </a:p>
          </p:txBody>
        </p:sp>
        <p:sp>
          <p:nvSpPr>
            <p:cNvPr id="12" name="TextBox 11">
              <a:extLst>
                <a:ext uri="{FF2B5EF4-FFF2-40B4-BE49-F238E27FC236}">
                  <a16:creationId xmlns:a16="http://schemas.microsoft.com/office/drawing/2014/main" id="{0D02A939-7CAF-1657-7B4E-06B4BBC89A38}"/>
                </a:ext>
              </a:extLst>
            </p:cNvPr>
            <p:cNvSpPr txBox="1"/>
            <p:nvPr/>
          </p:nvSpPr>
          <p:spPr>
            <a:xfrm>
              <a:off x="3840560" y="6024226"/>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36000" tIns="36000" rIns="3600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a:solidFill>
                    <a:schemeClr val="bg1"/>
                  </a:solidFill>
                </a:rPr>
                <a:t>API Led</a:t>
              </a:r>
              <a:endParaRPr lang="en-US" sz="1100" dirty="0">
                <a:solidFill>
                  <a:schemeClr val="bg1"/>
                </a:solidFill>
              </a:endParaRPr>
            </a:p>
          </p:txBody>
        </p:sp>
        <p:sp>
          <p:nvSpPr>
            <p:cNvPr id="13" name="TextBox 12">
              <a:extLst>
                <a:ext uri="{FF2B5EF4-FFF2-40B4-BE49-F238E27FC236}">
                  <a16:creationId xmlns:a16="http://schemas.microsoft.com/office/drawing/2014/main" id="{AB907582-9F27-7A4F-990D-E348888FF29E}"/>
                </a:ext>
              </a:extLst>
            </p:cNvPr>
            <p:cNvSpPr txBox="1"/>
            <p:nvPr/>
          </p:nvSpPr>
          <p:spPr>
            <a:xfrm>
              <a:off x="5643148" y="5684681"/>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36000" tIns="36000" rIns="3600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a:solidFill>
                    <a:schemeClr val="bg1"/>
                  </a:solidFill>
                </a:rPr>
                <a:t>Gen-AI Powered</a:t>
              </a:r>
              <a:endParaRPr lang="en-US" sz="1100" dirty="0">
                <a:solidFill>
                  <a:schemeClr val="bg1"/>
                </a:solidFill>
              </a:endParaRPr>
            </a:p>
          </p:txBody>
        </p:sp>
        <p:sp>
          <p:nvSpPr>
            <p:cNvPr id="14" name="TextBox 13">
              <a:extLst>
                <a:ext uri="{FF2B5EF4-FFF2-40B4-BE49-F238E27FC236}">
                  <a16:creationId xmlns:a16="http://schemas.microsoft.com/office/drawing/2014/main" id="{75EB3FBF-DF44-8392-B58A-4FF0E52BAD2C}"/>
                </a:ext>
              </a:extLst>
            </p:cNvPr>
            <p:cNvSpPr txBox="1"/>
            <p:nvPr/>
          </p:nvSpPr>
          <p:spPr>
            <a:xfrm>
              <a:off x="5643148" y="6024226"/>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36000" tIns="36000" rIns="3600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dirty="0">
                  <a:solidFill>
                    <a:schemeClr val="bg1"/>
                  </a:solidFill>
                </a:rPr>
                <a:t>Truly Convergent</a:t>
              </a:r>
              <a:endParaRPr lang="en-US" sz="1100" dirty="0">
                <a:solidFill>
                  <a:schemeClr val="bg1"/>
                </a:solidFill>
              </a:endParaRPr>
            </a:p>
          </p:txBody>
        </p:sp>
        <p:sp>
          <p:nvSpPr>
            <p:cNvPr id="25" name="TextBox 24">
              <a:extLst>
                <a:ext uri="{FF2B5EF4-FFF2-40B4-BE49-F238E27FC236}">
                  <a16:creationId xmlns:a16="http://schemas.microsoft.com/office/drawing/2014/main" id="{CFBA1806-E520-459E-45B9-8D736973E0A2}"/>
                </a:ext>
              </a:extLst>
            </p:cNvPr>
            <p:cNvSpPr txBox="1"/>
            <p:nvPr/>
          </p:nvSpPr>
          <p:spPr>
            <a:xfrm>
              <a:off x="234787" y="6370686"/>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36000" tIns="36000" rIns="3600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dirty="0">
                  <a:solidFill>
                    <a:schemeClr val="bg1"/>
                  </a:solidFill>
                </a:rPr>
                <a:t>Modular Design</a:t>
              </a:r>
              <a:endParaRPr lang="en-US" sz="1100" dirty="0">
                <a:solidFill>
                  <a:schemeClr val="bg1"/>
                </a:solidFill>
              </a:endParaRPr>
            </a:p>
          </p:txBody>
        </p:sp>
        <p:sp>
          <p:nvSpPr>
            <p:cNvPr id="26" name="TextBox 25">
              <a:extLst>
                <a:ext uri="{FF2B5EF4-FFF2-40B4-BE49-F238E27FC236}">
                  <a16:creationId xmlns:a16="http://schemas.microsoft.com/office/drawing/2014/main" id="{8096E200-A18E-575E-44B2-0F985D0614FA}"/>
                </a:ext>
              </a:extLst>
            </p:cNvPr>
            <p:cNvSpPr txBox="1"/>
            <p:nvPr/>
          </p:nvSpPr>
          <p:spPr>
            <a:xfrm>
              <a:off x="234787" y="6710231"/>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36000" tIns="36000" rIns="3600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dirty="0">
                  <a:solidFill>
                    <a:schemeClr val="bg1"/>
                  </a:solidFill>
                </a:rPr>
                <a:t>Omni-channel</a:t>
              </a:r>
              <a:endParaRPr lang="en-US" sz="1100" dirty="0">
                <a:solidFill>
                  <a:schemeClr val="bg1"/>
                </a:solidFill>
              </a:endParaRPr>
            </a:p>
          </p:txBody>
        </p:sp>
        <p:sp>
          <p:nvSpPr>
            <p:cNvPr id="27" name="TextBox 26">
              <a:extLst>
                <a:ext uri="{FF2B5EF4-FFF2-40B4-BE49-F238E27FC236}">
                  <a16:creationId xmlns:a16="http://schemas.microsoft.com/office/drawing/2014/main" id="{72D8051F-5871-113B-2A2E-3F18994CE5F4}"/>
                </a:ext>
              </a:extLst>
            </p:cNvPr>
            <p:cNvSpPr txBox="1"/>
            <p:nvPr/>
          </p:nvSpPr>
          <p:spPr>
            <a:xfrm>
              <a:off x="2037574" y="6370686"/>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36000" tIns="36000" rIns="3600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dirty="0">
                  <a:solidFill>
                    <a:schemeClr val="bg1"/>
                  </a:solidFill>
                </a:rPr>
                <a:t>Common Information View</a:t>
              </a:r>
              <a:endParaRPr lang="en-US" sz="1100" dirty="0">
                <a:solidFill>
                  <a:schemeClr val="bg1"/>
                </a:solidFill>
              </a:endParaRPr>
            </a:p>
          </p:txBody>
        </p:sp>
        <p:sp>
          <p:nvSpPr>
            <p:cNvPr id="28" name="TextBox 27">
              <a:extLst>
                <a:ext uri="{FF2B5EF4-FFF2-40B4-BE49-F238E27FC236}">
                  <a16:creationId xmlns:a16="http://schemas.microsoft.com/office/drawing/2014/main" id="{57560CC8-6D67-4680-D154-A6D44DA088CE}"/>
                </a:ext>
              </a:extLst>
            </p:cNvPr>
            <p:cNvSpPr txBox="1"/>
            <p:nvPr/>
          </p:nvSpPr>
          <p:spPr>
            <a:xfrm>
              <a:off x="2011528" y="6710231"/>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36000" tIns="36000" rIns="3600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dirty="0">
                  <a:solidFill>
                    <a:schemeClr val="bg1"/>
                  </a:solidFill>
                </a:rPr>
                <a:t>Security &amp; Privacy by Design</a:t>
              </a:r>
              <a:endParaRPr lang="en-US" sz="1100" dirty="0">
                <a:solidFill>
                  <a:schemeClr val="bg1"/>
                </a:solidFill>
              </a:endParaRPr>
            </a:p>
          </p:txBody>
        </p:sp>
        <p:sp>
          <p:nvSpPr>
            <p:cNvPr id="29" name="TextBox 28">
              <a:extLst>
                <a:ext uri="{FF2B5EF4-FFF2-40B4-BE49-F238E27FC236}">
                  <a16:creationId xmlns:a16="http://schemas.microsoft.com/office/drawing/2014/main" id="{67FB0F97-8948-1667-4706-5A693D4179AB}"/>
                </a:ext>
              </a:extLst>
            </p:cNvPr>
            <p:cNvSpPr txBox="1"/>
            <p:nvPr/>
          </p:nvSpPr>
          <p:spPr>
            <a:xfrm>
              <a:off x="3840361" y="6370686"/>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0" tIns="36000" rIns="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050" dirty="0">
                  <a:solidFill>
                    <a:schemeClr val="bg1"/>
                  </a:solidFill>
                </a:rPr>
                <a:t>Multilayering High Decoupling</a:t>
              </a:r>
              <a:endParaRPr lang="en-US" sz="1050" dirty="0">
                <a:solidFill>
                  <a:schemeClr val="bg1"/>
                </a:solidFill>
              </a:endParaRPr>
            </a:p>
          </p:txBody>
        </p:sp>
        <p:sp>
          <p:nvSpPr>
            <p:cNvPr id="30" name="TextBox 29">
              <a:extLst>
                <a:ext uri="{FF2B5EF4-FFF2-40B4-BE49-F238E27FC236}">
                  <a16:creationId xmlns:a16="http://schemas.microsoft.com/office/drawing/2014/main" id="{3D7CDE70-F7B5-1959-A329-439A67EAC2CF}"/>
                </a:ext>
              </a:extLst>
            </p:cNvPr>
            <p:cNvSpPr txBox="1"/>
            <p:nvPr/>
          </p:nvSpPr>
          <p:spPr>
            <a:xfrm>
              <a:off x="3840560" y="6710231"/>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36000" tIns="36000" rIns="3600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dirty="0">
                  <a:solidFill>
                    <a:schemeClr val="bg1"/>
                  </a:solidFill>
                </a:rPr>
                <a:t>Industrialization</a:t>
              </a:r>
              <a:endParaRPr lang="en-US" sz="1100" dirty="0">
                <a:solidFill>
                  <a:schemeClr val="bg1"/>
                </a:solidFill>
              </a:endParaRPr>
            </a:p>
          </p:txBody>
        </p:sp>
        <p:sp>
          <p:nvSpPr>
            <p:cNvPr id="31" name="TextBox 30">
              <a:extLst>
                <a:ext uri="{FF2B5EF4-FFF2-40B4-BE49-F238E27FC236}">
                  <a16:creationId xmlns:a16="http://schemas.microsoft.com/office/drawing/2014/main" id="{76AAEBB9-FB80-EA92-7A17-AE2FC5C2F511}"/>
                </a:ext>
              </a:extLst>
            </p:cNvPr>
            <p:cNvSpPr txBox="1"/>
            <p:nvPr/>
          </p:nvSpPr>
          <p:spPr>
            <a:xfrm>
              <a:off x="5643148" y="6370686"/>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36000" tIns="36000" rIns="36000" bIns="3600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dirty="0" err="1">
                  <a:solidFill>
                    <a:schemeClr val="bg1"/>
                  </a:solidFill>
                </a:rPr>
                <a:t>Agile@scale</a:t>
              </a:r>
              <a:endParaRPr lang="en-US" sz="1100" dirty="0">
                <a:solidFill>
                  <a:schemeClr val="bg1"/>
                </a:solidFill>
              </a:endParaRPr>
            </a:p>
          </p:txBody>
        </p:sp>
        <p:sp>
          <p:nvSpPr>
            <p:cNvPr id="32" name="TextBox 31">
              <a:extLst>
                <a:ext uri="{FF2B5EF4-FFF2-40B4-BE49-F238E27FC236}">
                  <a16:creationId xmlns:a16="http://schemas.microsoft.com/office/drawing/2014/main" id="{459EC7B2-C23F-F4B5-F8D0-580B072F8141}"/>
                </a:ext>
              </a:extLst>
            </p:cNvPr>
            <p:cNvSpPr txBox="1"/>
            <p:nvPr/>
          </p:nvSpPr>
          <p:spPr>
            <a:xfrm>
              <a:off x="5643148" y="6710231"/>
              <a:ext cx="1620000" cy="216000"/>
            </a:xfrm>
            <a:prstGeom prst="rect">
              <a:avLst/>
            </a:prstGeom>
            <a:grpFill/>
            <a:ln w="12700" cap="flat" cmpd="sng" algn="ctr">
              <a:noFill/>
              <a:prstDash val="solid"/>
              <a:miter lim="800000"/>
            </a:ln>
            <a:effectLst>
              <a:outerShdw blurRad="50800" dist="38100" dir="5400000" algn="t" rotWithShape="0">
                <a:prstClr val="black">
                  <a:alpha val="40000"/>
                </a:prstClr>
              </a:outerShdw>
            </a:effectLst>
          </p:spPr>
          <p:txBody>
            <a:bodyPr lIns="0" tIns="0" rIns="0" bIns="0" rtlCol="0" anchor="ctr"/>
            <a:lstStyle>
              <a:defPPr>
                <a:defRPr lang="de-DE"/>
              </a:defPPr>
              <a:lvl1pPr algn="ctr" defTabSz="609585">
                <a:spcAft>
                  <a:spcPts val="1200"/>
                </a:spcAft>
                <a:buClr>
                  <a:srgbClr val="0070AD"/>
                </a:buClr>
                <a:defRPr sz="1400" kern="0">
                  <a:solidFill>
                    <a:srgbClr val="0F878A">
                      <a:lumMod val="60000"/>
                      <a:lumOff val="40000"/>
                    </a:srgbClr>
                  </a:solidFill>
                  <a:latin typeface="+mj-lt"/>
                </a:defRPr>
              </a:lvl1pPr>
            </a:lstStyle>
            <a:p>
              <a:r>
                <a:rPr lang="en-IN" sz="1100" dirty="0">
                  <a:solidFill>
                    <a:schemeClr val="bg1"/>
                  </a:solidFill>
                </a:rPr>
                <a:t>Dynamic Case Orchestration</a:t>
              </a:r>
              <a:endParaRPr lang="en-US" sz="1100" dirty="0">
                <a:solidFill>
                  <a:schemeClr val="bg1"/>
                </a:solidFill>
              </a:endParaRPr>
            </a:p>
          </p:txBody>
        </p:sp>
      </p:grpSp>
      <p:grpSp>
        <p:nvGrpSpPr>
          <p:cNvPr id="24" name="Groupe 1">
            <a:extLst>
              <a:ext uri="{FF2B5EF4-FFF2-40B4-BE49-F238E27FC236}">
                <a16:creationId xmlns:a16="http://schemas.microsoft.com/office/drawing/2014/main" id="{5F82B4BC-804B-967B-1989-9E25553E8E57}"/>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34" name="Freeform 13">
              <a:extLst>
                <a:ext uri="{FF2B5EF4-FFF2-40B4-BE49-F238E27FC236}">
                  <a16:creationId xmlns:a16="http://schemas.microsoft.com/office/drawing/2014/main" id="{ABFD54ED-01E4-C9C6-9A1C-8D3460208DFA}"/>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35" name="Freeform 14">
              <a:extLst>
                <a:ext uri="{FF2B5EF4-FFF2-40B4-BE49-F238E27FC236}">
                  <a16:creationId xmlns:a16="http://schemas.microsoft.com/office/drawing/2014/main" id="{4BEFBE8C-6E14-B97D-D93A-5C2728AEB801}"/>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18" name="Foliennummernplatzhalter 5">
            <a:extLst>
              <a:ext uri="{FF2B5EF4-FFF2-40B4-BE49-F238E27FC236}">
                <a16:creationId xmlns:a16="http://schemas.microsoft.com/office/drawing/2014/main" id="{26731D89-924F-C7FF-571F-A70EC6ECF7C2}"/>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15</a:t>
            </a:fld>
            <a:endParaRPr lang="en-US"/>
          </a:p>
        </p:txBody>
      </p:sp>
      <p:sp>
        <p:nvSpPr>
          <p:cNvPr id="19" name="Rectangle 27">
            <a:extLst>
              <a:ext uri="{FF2B5EF4-FFF2-40B4-BE49-F238E27FC236}">
                <a16:creationId xmlns:a16="http://schemas.microsoft.com/office/drawing/2014/main" id="{776852A5-17B3-337B-F47E-19DA85CF7BDF}"/>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20" name="TextBox 19">
            <a:extLst>
              <a:ext uri="{FF2B5EF4-FFF2-40B4-BE49-F238E27FC236}">
                <a16:creationId xmlns:a16="http://schemas.microsoft.com/office/drawing/2014/main" id="{20E949AB-2224-CC26-9803-0289808F81B5}"/>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extLst>
      <p:ext uri="{BB962C8B-B14F-4D97-AF65-F5344CB8AC3E}">
        <p14:creationId xmlns:p14="http://schemas.microsoft.com/office/powerpoint/2010/main" val="3252650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8BCD72-AA7C-A456-7C7A-143624AEB12E}"/>
              </a:ext>
            </a:extLst>
          </p:cNvPr>
          <p:cNvSpPr/>
          <p:nvPr/>
        </p:nvSpPr>
        <p:spPr>
          <a:xfrm>
            <a:off x="9107890" y="2192023"/>
            <a:ext cx="2460128" cy="4375557"/>
          </a:xfrm>
          <a:prstGeom prst="rect">
            <a:avLst/>
          </a:prstGeom>
          <a:solidFill>
            <a:schemeClr val="accent2">
              <a:lumMod val="20000"/>
              <a:lumOff val="80000"/>
            </a:schemeClr>
          </a:solidFill>
          <a:ln w="6350" cap="flat" cmpd="sng" algn="ctr">
            <a:noFill/>
            <a:prstDash val="solid"/>
            <a:miter lim="800000"/>
          </a:ln>
          <a:effectLst/>
        </p:spPr>
        <p:txBody>
          <a:bodyPr wrap="square" lIns="108000" tIns="1080000" rIns="108000" bIns="36000" rtlCol="0" anchor="t">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80975" marR="0" lvl="0" indent="-180975" algn="l" defTabSz="914400" rtl="0" eaLnBrk="1" fontAlgn="auto" latinLnBrk="0" hangingPunct="1">
              <a:lnSpc>
                <a:spcPct val="100000"/>
              </a:lnSpc>
              <a:spcBef>
                <a:spcPts val="0"/>
              </a:spcBef>
              <a:spcAft>
                <a:spcPts val="900"/>
              </a:spcAft>
              <a:buClr>
                <a:schemeClr val="accent1"/>
              </a:buClr>
              <a:buSzTx/>
              <a:buFont typeface="Wingdings" panose="05000000000000000000" pitchFamily="2" charset="2"/>
              <a:buChar char="§"/>
              <a:tabLst/>
              <a:defRPr/>
            </a:pPr>
            <a:endParaRPr kumimoji="0" lang="en-US" sz="1050" b="0" i="0" u="none" strike="noStrike" kern="1200" cap="none" spc="0" normalizeH="0" baseline="0" noProof="0" dirty="0">
              <a:ln>
                <a:noFill/>
              </a:ln>
              <a:solidFill>
                <a:sysClr val="windowText" lastClr="000000"/>
              </a:solidFill>
              <a:effectLst/>
              <a:uLnTx/>
              <a:uFillTx/>
              <a:latin typeface="Verdana"/>
              <a:ea typeface="+mn-ea"/>
              <a:cs typeface="+mn-cs"/>
            </a:endParaRPr>
          </a:p>
          <a:p>
            <a:pPr marL="180975" marR="0" lvl="0" indent="-180975" algn="l" defTabSz="914400" rtl="0" eaLnBrk="1" fontAlgn="auto" latinLnBrk="0" hangingPunct="1">
              <a:lnSpc>
                <a:spcPct val="100000"/>
              </a:lnSpc>
              <a:spcBef>
                <a:spcPts val="0"/>
              </a:spcBef>
              <a:spcAft>
                <a:spcPts val="900"/>
              </a:spcAft>
              <a:buClr>
                <a:schemeClr val="accent1"/>
              </a:buClr>
              <a:buSzTx/>
              <a:buFont typeface="Wingdings" panose="05000000000000000000" pitchFamily="2" charset="2"/>
              <a:buChar char="§"/>
              <a:tabLst/>
              <a:defRPr/>
            </a:pPr>
            <a:endParaRPr kumimoji="0" lang="en-US" sz="1050" b="0" i="0" u="none" strike="noStrike" kern="1200" cap="none" spc="0" normalizeH="0" baseline="0" noProof="0" dirty="0">
              <a:ln>
                <a:noFill/>
              </a:ln>
              <a:solidFill>
                <a:sysClr val="windowText" lastClr="000000"/>
              </a:solidFill>
              <a:effectLst/>
              <a:uLnTx/>
              <a:uFillTx/>
              <a:latin typeface="Verdana"/>
              <a:ea typeface="+mn-ea"/>
              <a:cs typeface="+mn-cs"/>
            </a:endParaRPr>
          </a:p>
        </p:txBody>
      </p:sp>
      <p:sp>
        <p:nvSpPr>
          <p:cNvPr id="18" name="Rectangle 17">
            <a:extLst>
              <a:ext uri="{FF2B5EF4-FFF2-40B4-BE49-F238E27FC236}">
                <a16:creationId xmlns:a16="http://schemas.microsoft.com/office/drawing/2014/main" id="{B7F314A7-C8B1-1C10-628C-7FD32FB4C497}"/>
              </a:ext>
            </a:extLst>
          </p:cNvPr>
          <p:cNvSpPr/>
          <p:nvPr/>
        </p:nvSpPr>
        <p:spPr>
          <a:xfrm>
            <a:off x="9107890" y="1062111"/>
            <a:ext cx="2460128" cy="929556"/>
          </a:xfrm>
          <a:prstGeom prst="rect">
            <a:avLst/>
          </a:prstGeom>
          <a:solidFill>
            <a:sysClr val="windowText" lastClr="000000"/>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09585">
              <a:spcAft>
                <a:spcPts val="1200"/>
              </a:spcAft>
              <a:buClr>
                <a:srgbClr val="0070AD"/>
              </a:buClr>
            </a:pPr>
            <a:r>
              <a:rPr lang="en-US" sz="1400" kern="0" dirty="0">
                <a:solidFill>
                  <a:schemeClr val="bg1"/>
                </a:solidFill>
                <a:latin typeface="+mj-lt"/>
              </a:rPr>
              <a:t>How to manage, federate or merge different network inventories</a:t>
            </a:r>
          </a:p>
        </p:txBody>
      </p:sp>
      <p:sp>
        <p:nvSpPr>
          <p:cNvPr id="19" name="Rectangle 18">
            <a:extLst>
              <a:ext uri="{FF2B5EF4-FFF2-40B4-BE49-F238E27FC236}">
                <a16:creationId xmlns:a16="http://schemas.microsoft.com/office/drawing/2014/main" id="{84CDE983-B12F-CA3E-B197-F24744129BA3}"/>
              </a:ext>
            </a:extLst>
          </p:cNvPr>
          <p:cNvSpPr/>
          <p:nvPr/>
        </p:nvSpPr>
        <p:spPr>
          <a:xfrm>
            <a:off x="9107890" y="1944090"/>
            <a:ext cx="2460128" cy="111697"/>
          </a:xfrm>
          <a:prstGeom prst="rect">
            <a:avLst/>
          </a:prstGeom>
          <a:solidFill>
            <a:schemeClr val="accent2"/>
          </a:solidFill>
          <a:ln w="9525" cap="flat" cmpd="sng" algn="ctr">
            <a:solidFill>
              <a:schemeClr val="accent2"/>
            </a:solidFill>
            <a:prstDash val="solid"/>
            <a:miter lim="800000"/>
          </a:ln>
          <a:effectLst/>
        </p:spPr>
        <p:txBody>
          <a:bodyPr wrap="square" lIns="144000" tIns="324000" rIns="144000" bIns="7200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ctr" defTabSz="914400" rtl="0" eaLnBrk="1" fontAlgn="auto" latinLnBrk="0" hangingPunct="1">
              <a:lnSpc>
                <a:spcPct val="100000"/>
              </a:lnSpc>
              <a:spcBef>
                <a:spcPts val="0"/>
              </a:spcBef>
              <a:spcAft>
                <a:spcPts val="900"/>
              </a:spcAft>
              <a:buClrTx/>
              <a:buSzTx/>
              <a:buFont typeface="Arial" charset="0"/>
              <a:buChar char="•"/>
              <a:tabLst/>
              <a:defRPr/>
            </a:pPr>
            <a:endParaRPr kumimoji="0" lang="en-US" sz="1100" b="0" i="0" u="none" strike="noStrike" kern="1200" cap="none" spc="0" normalizeH="0" baseline="0" noProof="0">
              <a:ln>
                <a:noFill/>
              </a:ln>
              <a:solidFill>
                <a:srgbClr val="990AE3"/>
              </a:solidFill>
              <a:effectLst/>
              <a:uLnTx/>
              <a:uFillTx/>
              <a:latin typeface="Verdana"/>
              <a:ea typeface="+mn-ea"/>
              <a:cs typeface="+mn-cs"/>
            </a:endParaRPr>
          </a:p>
        </p:txBody>
      </p:sp>
      <p:sp>
        <p:nvSpPr>
          <p:cNvPr id="20" name="Isosceles Triangle 19">
            <a:extLst>
              <a:ext uri="{FF2B5EF4-FFF2-40B4-BE49-F238E27FC236}">
                <a16:creationId xmlns:a16="http://schemas.microsoft.com/office/drawing/2014/main" id="{B9ECC151-70D6-D315-2B8E-965F23606980}"/>
              </a:ext>
            </a:extLst>
          </p:cNvPr>
          <p:cNvSpPr/>
          <p:nvPr/>
        </p:nvSpPr>
        <p:spPr>
          <a:xfrm rot="10800000">
            <a:off x="9949327" y="2067855"/>
            <a:ext cx="412153" cy="126156"/>
          </a:xfrm>
          <a:prstGeom prst="triangle">
            <a:avLst/>
          </a:prstGeom>
          <a:solidFill>
            <a:schemeClr val="accent2"/>
          </a:solidFill>
          <a:ln w="12700" cap="flat" cmpd="sng" algn="ctr">
            <a:noFill/>
            <a:prstDash val="solid"/>
            <a:miter lim="800000"/>
          </a:ln>
          <a:effectLst/>
        </p:spPr>
        <p:txBody>
          <a:bodyPr wrap="square" lIns="180000" tIns="180000" rIns="180000" bIns="18000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ysClr val="window" lastClr="FFFFFF"/>
              </a:solidFill>
              <a:effectLst/>
              <a:uLnTx/>
              <a:uFillTx/>
              <a:latin typeface="Verdana"/>
              <a:ea typeface="+mn-ea"/>
              <a:cs typeface="+mn-cs"/>
            </a:endParaRPr>
          </a:p>
        </p:txBody>
      </p:sp>
      <p:sp>
        <p:nvSpPr>
          <p:cNvPr id="31" name="Isosceles Triangle 30">
            <a:extLst>
              <a:ext uri="{FF2B5EF4-FFF2-40B4-BE49-F238E27FC236}">
                <a16:creationId xmlns:a16="http://schemas.microsoft.com/office/drawing/2014/main" id="{35EA9D39-6E20-33C3-DF31-78C83F0D3170}"/>
              </a:ext>
            </a:extLst>
          </p:cNvPr>
          <p:cNvSpPr/>
          <p:nvPr/>
        </p:nvSpPr>
        <p:spPr>
          <a:xfrm rot="10800000">
            <a:off x="9949328" y="2192024"/>
            <a:ext cx="412153" cy="146058"/>
          </a:xfrm>
          <a:prstGeom prst="triangle">
            <a:avLst/>
          </a:prstGeom>
          <a:solidFill>
            <a:sysClr val="window" lastClr="FFFFFF"/>
          </a:solidFill>
          <a:ln w="6350" cap="flat" cmpd="sng" algn="ctr">
            <a:solidFill>
              <a:sysClr val="window" lastClr="FFFFFF">
                <a:lumMod val="50000"/>
              </a:sysClr>
            </a:solidFill>
            <a:prstDash val="solid"/>
            <a:miter lim="800000"/>
          </a:ln>
          <a:effectLst/>
        </p:spPr>
        <p:txBody>
          <a:bodyPr wrap="square" lIns="144000" tIns="324000" rIns="144000" bIns="72000" rtlCol="0" anchor="t">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900"/>
              </a:spcAft>
              <a:buClrTx/>
              <a:buSzTx/>
              <a:buFont typeface="Arial" charset="0"/>
              <a:buChar char="•"/>
              <a:tabLst/>
              <a:defRPr/>
            </a:pPr>
            <a:endParaRPr kumimoji="0" lang="en-GB" sz="1100" b="0" i="0" u="none" strike="noStrike" kern="1200" cap="none" spc="0" normalizeH="0" baseline="0" noProof="0">
              <a:ln>
                <a:noFill/>
              </a:ln>
              <a:solidFill>
                <a:sysClr val="windowText" lastClr="000000"/>
              </a:solidFill>
              <a:effectLst/>
              <a:uLnTx/>
              <a:uFillTx/>
              <a:latin typeface="Verdana"/>
              <a:ea typeface="+mn-ea"/>
              <a:cs typeface="+mn-cs"/>
            </a:endParaRPr>
          </a:p>
        </p:txBody>
      </p:sp>
      <p:sp>
        <p:nvSpPr>
          <p:cNvPr id="32" name="Isosceles Triangle 31">
            <a:extLst>
              <a:ext uri="{FF2B5EF4-FFF2-40B4-BE49-F238E27FC236}">
                <a16:creationId xmlns:a16="http://schemas.microsoft.com/office/drawing/2014/main" id="{770CD775-C613-4188-831F-6B94830AD73B}"/>
              </a:ext>
            </a:extLst>
          </p:cNvPr>
          <p:cNvSpPr/>
          <p:nvPr/>
        </p:nvSpPr>
        <p:spPr>
          <a:xfrm rot="10800000">
            <a:off x="9949329" y="2188949"/>
            <a:ext cx="412153" cy="146058"/>
          </a:xfrm>
          <a:prstGeom prst="triangle">
            <a:avLst/>
          </a:prstGeom>
          <a:solidFill>
            <a:sysClr val="window" lastClr="FFFFFF"/>
          </a:solidFill>
          <a:ln w="6350" cap="flat" cmpd="sng" algn="ctr">
            <a:noFill/>
            <a:prstDash val="solid"/>
            <a:miter lim="800000"/>
          </a:ln>
          <a:effectLst/>
        </p:spPr>
        <p:txBody>
          <a:bodyPr wrap="square" lIns="144000" tIns="324000" rIns="144000" bIns="72000" rtlCol="0" anchor="t">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900"/>
              </a:spcAft>
              <a:buClrTx/>
              <a:buSzTx/>
              <a:buFont typeface="Arial" charset="0"/>
              <a:buChar char="•"/>
              <a:tabLst/>
              <a:defRPr/>
            </a:pPr>
            <a:endParaRPr kumimoji="0" lang="en-GB" sz="1100" b="0" i="0" u="none" strike="noStrike" kern="1200" cap="none" spc="0" normalizeH="0" baseline="0" noProof="0">
              <a:ln>
                <a:noFill/>
              </a:ln>
              <a:solidFill>
                <a:sysClr val="windowText" lastClr="000000"/>
              </a:solidFill>
              <a:effectLst/>
              <a:uLnTx/>
              <a:uFillTx/>
              <a:latin typeface="Verdana"/>
              <a:ea typeface="+mn-ea"/>
              <a:cs typeface="+mn-cs"/>
            </a:endParaRPr>
          </a:p>
        </p:txBody>
      </p:sp>
      <p:sp>
        <p:nvSpPr>
          <p:cNvPr id="6" name="Rectangle 5">
            <a:extLst>
              <a:ext uri="{FF2B5EF4-FFF2-40B4-BE49-F238E27FC236}">
                <a16:creationId xmlns:a16="http://schemas.microsoft.com/office/drawing/2014/main" id="{D52D2BD4-DA56-2017-D8AE-481FD228565C}"/>
              </a:ext>
            </a:extLst>
          </p:cNvPr>
          <p:cNvSpPr/>
          <p:nvPr/>
        </p:nvSpPr>
        <p:spPr>
          <a:xfrm>
            <a:off x="365380" y="2192023"/>
            <a:ext cx="2460128" cy="4375557"/>
          </a:xfrm>
          <a:prstGeom prst="rect">
            <a:avLst/>
          </a:prstGeom>
          <a:solidFill>
            <a:schemeClr val="accent2">
              <a:lumMod val="20000"/>
              <a:lumOff val="80000"/>
            </a:schemeClr>
          </a:solidFill>
          <a:ln w="6350" cap="flat" cmpd="sng" algn="ctr">
            <a:noFill/>
            <a:prstDash val="solid"/>
            <a:miter lim="800000"/>
          </a:ln>
          <a:effectLst/>
        </p:spPr>
        <p:txBody>
          <a:bodyPr wrap="square" lIns="108000" tIns="1080000" rIns="108000" bIns="36000" rtlCol="0" anchor="t">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80975" marR="0" lvl="0" indent="-180975" algn="l" defTabSz="914400" rtl="0" eaLnBrk="1" fontAlgn="auto" latinLnBrk="0" hangingPunct="1">
              <a:lnSpc>
                <a:spcPct val="100000"/>
              </a:lnSpc>
              <a:spcBef>
                <a:spcPts val="0"/>
              </a:spcBef>
              <a:spcAft>
                <a:spcPts val="900"/>
              </a:spcAft>
              <a:buClr>
                <a:schemeClr val="accent1"/>
              </a:buClr>
              <a:buSzTx/>
              <a:buFont typeface="Wingdings" panose="05000000000000000000" pitchFamily="2" charset="2"/>
              <a:buChar char="§"/>
              <a:tabLst/>
              <a:defRPr/>
            </a:pPr>
            <a:endParaRPr kumimoji="0" lang="en-US" sz="1050" b="0" i="0" u="none" strike="noStrike" kern="1200" cap="none" spc="0" normalizeH="0" baseline="0" noProof="0" dirty="0">
              <a:ln>
                <a:noFill/>
              </a:ln>
              <a:solidFill>
                <a:sysClr val="windowText" lastClr="000000"/>
              </a:solidFill>
              <a:effectLst/>
              <a:uLnTx/>
              <a:uFillTx/>
              <a:latin typeface="Verdana"/>
              <a:ea typeface="+mn-ea"/>
              <a:cs typeface="+mn-cs"/>
            </a:endParaRPr>
          </a:p>
        </p:txBody>
      </p:sp>
      <p:sp>
        <p:nvSpPr>
          <p:cNvPr id="7" name="Rectangle 6">
            <a:extLst>
              <a:ext uri="{FF2B5EF4-FFF2-40B4-BE49-F238E27FC236}">
                <a16:creationId xmlns:a16="http://schemas.microsoft.com/office/drawing/2014/main" id="{CBCEB583-318C-5DFB-19EC-13783EA5D17E}"/>
              </a:ext>
            </a:extLst>
          </p:cNvPr>
          <p:cNvSpPr/>
          <p:nvPr/>
        </p:nvSpPr>
        <p:spPr>
          <a:xfrm>
            <a:off x="365380" y="1062111"/>
            <a:ext cx="2460128" cy="929556"/>
          </a:xfrm>
          <a:prstGeom prst="rect">
            <a:avLst/>
          </a:prstGeom>
          <a:solidFill>
            <a:sysClr val="windowText" lastClr="000000"/>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09585">
              <a:spcAft>
                <a:spcPts val="1200"/>
              </a:spcAft>
              <a:buClr>
                <a:srgbClr val="0070AD"/>
              </a:buClr>
            </a:pPr>
            <a:r>
              <a:rPr lang="en-US" sz="1400" kern="0">
                <a:solidFill>
                  <a:schemeClr val="bg1"/>
                </a:solidFill>
                <a:latin typeface="+mj-lt"/>
              </a:rPr>
              <a:t>What</a:t>
            </a:r>
            <a:r>
              <a:rPr lang="en-US" sz="1400" kern="0" dirty="0">
                <a:solidFill>
                  <a:schemeClr val="bg1"/>
                </a:solidFill>
                <a:latin typeface="+mj-lt"/>
              </a:rPr>
              <a:t> is the best approach to deliver </a:t>
            </a:r>
            <a:r>
              <a:rPr lang="en-US" sz="1400" kern="0">
                <a:solidFill>
                  <a:schemeClr val="bg1"/>
                </a:solidFill>
                <a:latin typeface="+mj-lt"/>
              </a:rPr>
              <a:t>a</a:t>
            </a:r>
            <a:r>
              <a:rPr lang="en-US" sz="1400" kern="0" dirty="0">
                <a:solidFill>
                  <a:schemeClr val="bg1"/>
                </a:solidFill>
                <a:latin typeface="+mj-lt"/>
              </a:rPr>
              <a:t> future proof and reliable OSS architecture?</a:t>
            </a:r>
          </a:p>
        </p:txBody>
      </p:sp>
      <p:sp>
        <p:nvSpPr>
          <p:cNvPr id="8" name="Rectangle 7">
            <a:extLst>
              <a:ext uri="{FF2B5EF4-FFF2-40B4-BE49-F238E27FC236}">
                <a16:creationId xmlns:a16="http://schemas.microsoft.com/office/drawing/2014/main" id="{3E64F8B0-A8B3-9045-44AD-1342F40E4BE4}"/>
              </a:ext>
            </a:extLst>
          </p:cNvPr>
          <p:cNvSpPr/>
          <p:nvPr/>
        </p:nvSpPr>
        <p:spPr>
          <a:xfrm>
            <a:off x="365380" y="1944090"/>
            <a:ext cx="2460128" cy="111697"/>
          </a:xfrm>
          <a:prstGeom prst="rect">
            <a:avLst/>
          </a:prstGeom>
          <a:solidFill>
            <a:schemeClr val="accent2"/>
          </a:solidFill>
          <a:ln w="9525" cap="flat" cmpd="sng" algn="ctr">
            <a:solidFill>
              <a:schemeClr val="accent2"/>
            </a:solidFill>
            <a:prstDash val="solid"/>
            <a:miter lim="800000"/>
          </a:ln>
          <a:effectLst/>
        </p:spPr>
        <p:txBody>
          <a:bodyPr wrap="square" lIns="144000" tIns="324000" rIns="144000" bIns="7200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ctr" defTabSz="914400" rtl="0" eaLnBrk="1" fontAlgn="auto" latinLnBrk="0" hangingPunct="1">
              <a:lnSpc>
                <a:spcPct val="100000"/>
              </a:lnSpc>
              <a:spcBef>
                <a:spcPts val="0"/>
              </a:spcBef>
              <a:spcAft>
                <a:spcPts val="900"/>
              </a:spcAft>
              <a:buClrTx/>
              <a:buSzTx/>
              <a:buFont typeface="Arial" charset="0"/>
              <a:buChar char="•"/>
              <a:tabLst/>
              <a:defRPr/>
            </a:pPr>
            <a:endParaRPr kumimoji="0" lang="en-US" sz="1100" b="0" i="0" u="none" strike="noStrike" kern="1200" cap="none" spc="0" normalizeH="0" baseline="0" noProof="0">
              <a:ln>
                <a:noFill/>
              </a:ln>
              <a:solidFill>
                <a:srgbClr val="990AE3"/>
              </a:solidFill>
              <a:effectLst/>
              <a:uLnTx/>
              <a:uFillTx/>
              <a:latin typeface="Verdana"/>
              <a:ea typeface="+mn-ea"/>
              <a:cs typeface="+mn-cs"/>
            </a:endParaRPr>
          </a:p>
        </p:txBody>
      </p:sp>
      <p:sp>
        <p:nvSpPr>
          <p:cNvPr id="9" name="Isosceles Triangle 8">
            <a:extLst>
              <a:ext uri="{FF2B5EF4-FFF2-40B4-BE49-F238E27FC236}">
                <a16:creationId xmlns:a16="http://schemas.microsoft.com/office/drawing/2014/main" id="{1D4E74C5-7EB4-F596-2404-1532AF83DB62}"/>
              </a:ext>
            </a:extLst>
          </p:cNvPr>
          <p:cNvSpPr/>
          <p:nvPr/>
        </p:nvSpPr>
        <p:spPr>
          <a:xfrm rot="10800000">
            <a:off x="1206817" y="2067855"/>
            <a:ext cx="412153" cy="126156"/>
          </a:xfrm>
          <a:prstGeom prst="triangle">
            <a:avLst/>
          </a:prstGeom>
          <a:solidFill>
            <a:schemeClr val="accent2"/>
          </a:solidFill>
          <a:ln w="12700" cap="flat" cmpd="sng" algn="ctr">
            <a:noFill/>
            <a:prstDash val="solid"/>
            <a:miter lim="800000"/>
          </a:ln>
          <a:effectLst/>
        </p:spPr>
        <p:txBody>
          <a:bodyPr wrap="square" lIns="180000" tIns="180000" rIns="180000" bIns="18000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ysClr val="window" lastClr="FFFFFF"/>
              </a:solidFill>
              <a:effectLst/>
              <a:uLnTx/>
              <a:uFillTx/>
              <a:latin typeface="Verdana"/>
              <a:ea typeface="+mn-ea"/>
              <a:cs typeface="+mn-cs"/>
            </a:endParaRPr>
          </a:p>
        </p:txBody>
      </p:sp>
      <p:sp>
        <p:nvSpPr>
          <p:cNvPr id="25" name="Isosceles Triangle 24">
            <a:extLst>
              <a:ext uri="{FF2B5EF4-FFF2-40B4-BE49-F238E27FC236}">
                <a16:creationId xmlns:a16="http://schemas.microsoft.com/office/drawing/2014/main" id="{9B97505C-BDE9-8624-3FCB-399C7DF436EE}"/>
              </a:ext>
            </a:extLst>
          </p:cNvPr>
          <p:cNvSpPr/>
          <p:nvPr/>
        </p:nvSpPr>
        <p:spPr>
          <a:xfrm rot="10800000">
            <a:off x="1206818" y="2192024"/>
            <a:ext cx="412153" cy="146058"/>
          </a:xfrm>
          <a:prstGeom prst="triangle">
            <a:avLst/>
          </a:prstGeom>
          <a:solidFill>
            <a:sysClr val="window" lastClr="FFFFFF"/>
          </a:solidFill>
          <a:ln w="6350" cap="flat" cmpd="sng" algn="ctr">
            <a:solidFill>
              <a:sysClr val="window" lastClr="FFFFFF">
                <a:lumMod val="50000"/>
              </a:sysClr>
            </a:solidFill>
            <a:prstDash val="solid"/>
            <a:miter lim="800000"/>
          </a:ln>
          <a:effectLst/>
        </p:spPr>
        <p:txBody>
          <a:bodyPr wrap="square" lIns="144000" tIns="324000" rIns="144000" bIns="72000" rtlCol="0" anchor="t">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900"/>
              </a:spcAft>
              <a:buClrTx/>
              <a:buSzTx/>
              <a:buFont typeface="Arial" charset="0"/>
              <a:buChar char="•"/>
              <a:tabLst/>
              <a:defRPr/>
            </a:pPr>
            <a:endParaRPr kumimoji="0" lang="en-GB" sz="1100" b="0" i="0" u="none" strike="noStrike" kern="1200" cap="none" spc="0" normalizeH="0" baseline="0" noProof="0">
              <a:ln>
                <a:noFill/>
              </a:ln>
              <a:solidFill>
                <a:sysClr val="windowText" lastClr="000000"/>
              </a:solidFill>
              <a:effectLst/>
              <a:uLnTx/>
              <a:uFillTx/>
              <a:latin typeface="Verdana"/>
              <a:ea typeface="+mn-ea"/>
              <a:cs typeface="+mn-cs"/>
            </a:endParaRPr>
          </a:p>
        </p:txBody>
      </p:sp>
      <p:sp>
        <p:nvSpPr>
          <p:cNvPr id="26" name="Isosceles Triangle 25">
            <a:extLst>
              <a:ext uri="{FF2B5EF4-FFF2-40B4-BE49-F238E27FC236}">
                <a16:creationId xmlns:a16="http://schemas.microsoft.com/office/drawing/2014/main" id="{44D490E7-E575-02C0-08AD-1F08D0247B92}"/>
              </a:ext>
            </a:extLst>
          </p:cNvPr>
          <p:cNvSpPr/>
          <p:nvPr/>
        </p:nvSpPr>
        <p:spPr>
          <a:xfrm rot="10800000">
            <a:off x="1206819" y="2188949"/>
            <a:ext cx="412153" cy="146058"/>
          </a:xfrm>
          <a:prstGeom prst="triangle">
            <a:avLst/>
          </a:prstGeom>
          <a:solidFill>
            <a:sysClr val="window" lastClr="FFFFFF"/>
          </a:solidFill>
          <a:ln w="6350" cap="flat" cmpd="sng" algn="ctr">
            <a:noFill/>
            <a:prstDash val="solid"/>
            <a:miter lim="800000"/>
          </a:ln>
          <a:effectLst/>
        </p:spPr>
        <p:txBody>
          <a:bodyPr wrap="square" lIns="144000" tIns="324000" rIns="144000" bIns="72000" rtlCol="0" anchor="t">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900"/>
              </a:spcAft>
              <a:buClrTx/>
              <a:buSzTx/>
              <a:buFont typeface="Arial" charset="0"/>
              <a:buChar char="•"/>
              <a:tabLst/>
              <a:defRPr/>
            </a:pPr>
            <a:endParaRPr kumimoji="0" lang="en-GB" sz="1100" b="0" i="0" u="none" strike="noStrike" kern="1200" cap="none" spc="0" normalizeH="0" baseline="0" noProof="0">
              <a:ln>
                <a:noFill/>
              </a:ln>
              <a:solidFill>
                <a:sysClr val="windowText" lastClr="000000"/>
              </a:solidFill>
              <a:effectLst/>
              <a:uLnTx/>
              <a:uFillTx/>
              <a:latin typeface="Verdana"/>
              <a:ea typeface="+mn-ea"/>
              <a:cs typeface="+mn-cs"/>
            </a:endParaRPr>
          </a:p>
        </p:txBody>
      </p:sp>
      <p:sp>
        <p:nvSpPr>
          <p:cNvPr id="10" name="Rectangle 9">
            <a:extLst>
              <a:ext uri="{FF2B5EF4-FFF2-40B4-BE49-F238E27FC236}">
                <a16:creationId xmlns:a16="http://schemas.microsoft.com/office/drawing/2014/main" id="{C0388A3E-E5C9-B00C-0241-5F8B72FB3D2E}"/>
              </a:ext>
            </a:extLst>
          </p:cNvPr>
          <p:cNvSpPr/>
          <p:nvPr/>
        </p:nvSpPr>
        <p:spPr>
          <a:xfrm>
            <a:off x="3279550" y="2192023"/>
            <a:ext cx="2460128" cy="4375557"/>
          </a:xfrm>
          <a:prstGeom prst="rect">
            <a:avLst/>
          </a:prstGeom>
          <a:solidFill>
            <a:schemeClr val="accent2">
              <a:lumMod val="20000"/>
              <a:lumOff val="80000"/>
            </a:schemeClr>
          </a:solidFill>
          <a:ln w="6350" cap="flat" cmpd="sng" algn="ctr">
            <a:noFill/>
            <a:prstDash val="solid"/>
            <a:miter lim="800000"/>
          </a:ln>
          <a:effectLst/>
        </p:spPr>
        <p:txBody>
          <a:bodyPr wrap="square" lIns="108000" tIns="1080000" rIns="108000" bIns="36000" rtlCol="0" anchor="t">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80975" marR="0" lvl="0" indent="-180975" algn="l" defTabSz="914400" rtl="0" eaLnBrk="1" fontAlgn="auto" latinLnBrk="0" hangingPunct="1">
              <a:lnSpc>
                <a:spcPct val="100000"/>
              </a:lnSpc>
              <a:spcBef>
                <a:spcPts val="0"/>
              </a:spcBef>
              <a:spcAft>
                <a:spcPts val="900"/>
              </a:spcAft>
              <a:buClr>
                <a:schemeClr val="accent1"/>
              </a:buClr>
              <a:buSzTx/>
              <a:buFont typeface="Wingdings" panose="05000000000000000000" pitchFamily="2" charset="2"/>
              <a:buChar char="§"/>
              <a:tabLst/>
              <a:defRPr/>
            </a:pPr>
            <a:endParaRPr kumimoji="0" lang="en-US" sz="1050" b="0" i="0" u="none" strike="noStrike" kern="1200" cap="none" spc="0" normalizeH="0" baseline="0" noProof="0" dirty="0">
              <a:ln>
                <a:noFill/>
              </a:ln>
              <a:solidFill>
                <a:sysClr val="windowText" lastClr="000000"/>
              </a:solidFill>
              <a:effectLst/>
              <a:uLnTx/>
              <a:uFillTx/>
              <a:latin typeface="Verdana"/>
              <a:ea typeface="+mn-ea"/>
              <a:cs typeface="+mn-cs"/>
            </a:endParaRPr>
          </a:p>
        </p:txBody>
      </p:sp>
      <p:sp>
        <p:nvSpPr>
          <p:cNvPr id="11" name="Rectangle 10">
            <a:extLst>
              <a:ext uri="{FF2B5EF4-FFF2-40B4-BE49-F238E27FC236}">
                <a16:creationId xmlns:a16="http://schemas.microsoft.com/office/drawing/2014/main" id="{9B034DB9-48E4-5B25-C82F-0F461F4590B9}"/>
              </a:ext>
            </a:extLst>
          </p:cNvPr>
          <p:cNvSpPr/>
          <p:nvPr/>
        </p:nvSpPr>
        <p:spPr>
          <a:xfrm>
            <a:off x="3279550" y="1062111"/>
            <a:ext cx="2460128" cy="929556"/>
          </a:xfrm>
          <a:prstGeom prst="rect">
            <a:avLst/>
          </a:prstGeom>
          <a:solidFill>
            <a:sysClr val="windowText" lastClr="000000"/>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09585">
              <a:spcAft>
                <a:spcPts val="1200"/>
              </a:spcAft>
              <a:buClr>
                <a:srgbClr val="0070AD"/>
              </a:buClr>
            </a:pPr>
            <a:r>
              <a:rPr lang="en-US" sz="1400" kern="0" dirty="0">
                <a:solidFill>
                  <a:schemeClr val="bg1"/>
                </a:solidFill>
                <a:latin typeface="+mj-lt"/>
              </a:rPr>
              <a:t>How to integrate applications and </a:t>
            </a:r>
            <a:r>
              <a:rPr lang="en-US" sz="1400" kern="0">
                <a:solidFill>
                  <a:schemeClr val="bg1"/>
                </a:solidFill>
                <a:latin typeface="+mj-lt"/>
              </a:rPr>
              <a:t>services to enable </a:t>
            </a:r>
            <a:r>
              <a:rPr lang="en-US" sz="1400" kern="0" dirty="0">
                <a:solidFill>
                  <a:schemeClr val="bg1"/>
                </a:solidFill>
                <a:latin typeface="+mj-lt"/>
              </a:rPr>
              <a:t>a great experience?</a:t>
            </a:r>
          </a:p>
        </p:txBody>
      </p:sp>
      <p:sp>
        <p:nvSpPr>
          <p:cNvPr id="12" name="Rectangle 11">
            <a:extLst>
              <a:ext uri="{FF2B5EF4-FFF2-40B4-BE49-F238E27FC236}">
                <a16:creationId xmlns:a16="http://schemas.microsoft.com/office/drawing/2014/main" id="{3CD2730E-D391-DFD4-933F-77C84821F216}"/>
              </a:ext>
            </a:extLst>
          </p:cNvPr>
          <p:cNvSpPr/>
          <p:nvPr/>
        </p:nvSpPr>
        <p:spPr>
          <a:xfrm>
            <a:off x="3279550" y="1944090"/>
            <a:ext cx="2460128" cy="111697"/>
          </a:xfrm>
          <a:prstGeom prst="rect">
            <a:avLst/>
          </a:prstGeom>
          <a:solidFill>
            <a:schemeClr val="accent2"/>
          </a:solidFill>
          <a:ln w="9525" cap="flat" cmpd="sng" algn="ctr">
            <a:solidFill>
              <a:schemeClr val="accent2"/>
            </a:solidFill>
            <a:prstDash val="solid"/>
            <a:miter lim="800000"/>
          </a:ln>
          <a:effectLst/>
        </p:spPr>
        <p:txBody>
          <a:bodyPr wrap="square" lIns="144000" tIns="324000" rIns="144000" bIns="7200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ctr" defTabSz="914400" rtl="0" eaLnBrk="1" fontAlgn="auto" latinLnBrk="0" hangingPunct="1">
              <a:lnSpc>
                <a:spcPct val="100000"/>
              </a:lnSpc>
              <a:spcBef>
                <a:spcPts val="0"/>
              </a:spcBef>
              <a:spcAft>
                <a:spcPts val="900"/>
              </a:spcAft>
              <a:buClrTx/>
              <a:buSzTx/>
              <a:buFont typeface="Arial" charset="0"/>
              <a:buChar char="•"/>
              <a:tabLst/>
              <a:defRPr/>
            </a:pPr>
            <a:endParaRPr kumimoji="0" lang="en-US" sz="1100" b="0" i="0" u="none" strike="noStrike" kern="1200" cap="none" spc="0" normalizeH="0" baseline="0" noProof="0">
              <a:ln>
                <a:noFill/>
              </a:ln>
              <a:solidFill>
                <a:srgbClr val="990AE3"/>
              </a:solidFill>
              <a:effectLst/>
              <a:uLnTx/>
              <a:uFillTx/>
              <a:latin typeface="Verdana"/>
              <a:ea typeface="+mn-ea"/>
              <a:cs typeface="+mn-cs"/>
            </a:endParaRPr>
          </a:p>
        </p:txBody>
      </p:sp>
      <p:sp>
        <p:nvSpPr>
          <p:cNvPr id="13" name="Isosceles Triangle 12">
            <a:extLst>
              <a:ext uri="{FF2B5EF4-FFF2-40B4-BE49-F238E27FC236}">
                <a16:creationId xmlns:a16="http://schemas.microsoft.com/office/drawing/2014/main" id="{49344947-4569-854B-8AB2-8299DC1DC651}"/>
              </a:ext>
            </a:extLst>
          </p:cNvPr>
          <p:cNvSpPr/>
          <p:nvPr/>
        </p:nvSpPr>
        <p:spPr>
          <a:xfrm rot="10800000">
            <a:off x="4120987" y="2067855"/>
            <a:ext cx="412153" cy="126156"/>
          </a:xfrm>
          <a:prstGeom prst="triangle">
            <a:avLst/>
          </a:prstGeom>
          <a:solidFill>
            <a:schemeClr val="accent2"/>
          </a:solidFill>
          <a:ln w="12700" cap="flat" cmpd="sng" algn="ctr">
            <a:noFill/>
            <a:prstDash val="solid"/>
            <a:miter lim="800000"/>
          </a:ln>
          <a:effectLst/>
        </p:spPr>
        <p:txBody>
          <a:bodyPr wrap="square" lIns="180000" tIns="180000" rIns="180000" bIns="18000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ysClr val="window" lastClr="FFFFFF"/>
              </a:solidFill>
              <a:effectLst/>
              <a:uLnTx/>
              <a:uFillTx/>
              <a:latin typeface="Verdana"/>
              <a:ea typeface="+mn-ea"/>
              <a:cs typeface="+mn-cs"/>
            </a:endParaRPr>
          </a:p>
        </p:txBody>
      </p:sp>
      <p:sp>
        <p:nvSpPr>
          <p:cNvPr id="27" name="Isosceles Triangle 26">
            <a:extLst>
              <a:ext uri="{FF2B5EF4-FFF2-40B4-BE49-F238E27FC236}">
                <a16:creationId xmlns:a16="http://schemas.microsoft.com/office/drawing/2014/main" id="{8A99CDAF-B3D7-E53C-B258-BC37CAB91BE3}"/>
              </a:ext>
            </a:extLst>
          </p:cNvPr>
          <p:cNvSpPr/>
          <p:nvPr/>
        </p:nvSpPr>
        <p:spPr>
          <a:xfrm rot="10800000">
            <a:off x="4120988" y="2192024"/>
            <a:ext cx="412153" cy="146058"/>
          </a:xfrm>
          <a:prstGeom prst="triangle">
            <a:avLst/>
          </a:prstGeom>
          <a:solidFill>
            <a:sysClr val="window" lastClr="FFFFFF"/>
          </a:solidFill>
          <a:ln w="6350" cap="flat" cmpd="sng" algn="ctr">
            <a:solidFill>
              <a:sysClr val="window" lastClr="FFFFFF">
                <a:lumMod val="50000"/>
              </a:sysClr>
            </a:solidFill>
            <a:prstDash val="solid"/>
            <a:miter lim="800000"/>
          </a:ln>
          <a:effectLst/>
        </p:spPr>
        <p:txBody>
          <a:bodyPr wrap="square" lIns="144000" tIns="324000" rIns="144000" bIns="72000" rtlCol="0" anchor="t">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900"/>
              </a:spcAft>
              <a:buClrTx/>
              <a:buSzTx/>
              <a:buFont typeface="Arial" charset="0"/>
              <a:buChar char="•"/>
              <a:tabLst/>
              <a:defRPr/>
            </a:pPr>
            <a:endParaRPr kumimoji="0" lang="en-GB" sz="1100" b="0" i="0" u="none" strike="noStrike" kern="1200" cap="none" spc="0" normalizeH="0" baseline="0" noProof="0">
              <a:ln>
                <a:noFill/>
              </a:ln>
              <a:solidFill>
                <a:sysClr val="windowText" lastClr="000000"/>
              </a:solidFill>
              <a:effectLst/>
              <a:uLnTx/>
              <a:uFillTx/>
              <a:latin typeface="Verdana"/>
              <a:ea typeface="+mn-ea"/>
              <a:cs typeface="+mn-cs"/>
            </a:endParaRPr>
          </a:p>
        </p:txBody>
      </p:sp>
      <p:sp>
        <p:nvSpPr>
          <p:cNvPr id="28" name="Isosceles Triangle 27">
            <a:extLst>
              <a:ext uri="{FF2B5EF4-FFF2-40B4-BE49-F238E27FC236}">
                <a16:creationId xmlns:a16="http://schemas.microsoft.com/office/drawing/2014/main" id="{6AE54064-0C4C-6E8D-9D78-E8B3F39AF8DC}"/>
              </a:ext>
            </a:extLst>
          </p:cNvPr>
          <p:cNvSpPr/>
          <p:nvPr/>
        </p:nvSpPr>
        <p:spPr>
          <a:xfrm rot="10800000">
            <a:off x="4120989" y="2188949"/>
            <a:ext cx="412153" cy="146058"/>
          </a:xfrm>
          <a:prstGeom prst="triangle">
            <a:avLst/>
          </a:prstGeom>
          <a:solidFill>
            <a:sysClr val="window" lastClr="FFFFFF"/>
          </a:solidFill>
          <a:ln w="6350" cap="flat" cmpd="sng" algn="ctr">
            <a:noFill/>
            <a:prstDash val="solid"/>
            <a:miter lim="800000"/>
          </a:ln>
          <a:effectLst/>
        </p:spPr>
        <p:txBody>
          <a:bodyPr wrap="square" lIns="144000" tIns="324000" rIns="144000" bIns="72000" rtlCol="0" anchor="t">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900"/>
              </a:spcAft>
              <a:buClrTx/>
              <a:buSzTx/>
              <a:buFont typeface="Arial" charset="0"/>
              <a:buChar char="•"/>
              <a:tabLst/>
              <a:defRPr/>
            </a:pPr>
            <a:endParaRPr kumimoji="0" lang="en-GB" sz="1100" b="0" i="0" u="none" strike="noStrike" kern="1200" cap="none" spc="0" normalizeH="0" baseline="0" noProof="0">
              <a:ln>
                <a:noFill/>
              </a:ln>
              <a:solidFill>
                <a:sysClr val="windowText" lastClr="000000"/>
              </a:solidFill>
              <a:effectLst/>
              <a:uLnTx/>
              <a:uFillTx/>
              <a:latin typeface="Verdana"/>
              <a:ea typeface="+mn-ea"/>
              <a:cs typeface="+mn-cs"/>
            </a:endParaRPr>
          </a:p>
        </p:txBody>
      </p:sp>
      <p:sp>
        <p:nvSpPr>
          <p:cNvPr id="14" name="Rectangle 13">
            <a:extLst>
              <a:ext uri="{FF2B5EF4-FFF2-40B4-BE49-F238E27FC236}">
                <a16:creationId xmlns:a16="http://schemas.microsoft.com/office/drawing/2014/main" id="{B21ADDC0-18D2-FA6A-BC2A-A3D0BA9159CA}"/>
              </a:ext>
            </a:extLst>
          </p:cNvPr>
          <p:cNvSpPr/>
          <p:nvPr/>
        </p:nvSpPr>
        <p:spPr>
          <a:xfrm>
            <a:off x="6193720" y="2192023"/>
            <a:ext cx="2460128" cy="4375557"/>
          </a:xfrm>
          <a:prstGeom prst="rect">
            <a:avLst/>
          </a:prstGeom>
          <a:solidFill>
            <a:schemeClr val="accent2">
              <a:lumMod val="20000"/>
              <a:lumOff val="80000"/>
            </a:schemeClr>
          </a:solidFill>
          <a:ln w="6350" cap="flat" cmpd="sng" algn="ctr">
            <a:noFill/>
            <a:prstDash val="solid"/>
            <a:miter lim="800000"/>
          </a:ln>
          <a:effectLst/>
        </p:spPr>
        <p:txBody>
          <a:bodyPr wrap="square" lIns="108000" tIns="1080000" rIns="108000" bIns="36000" rtlCol="0" anchor="t">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80975" marR="0" lvl="0" indent="-180975" algn="l" defTabSz="914400" rtl="0" eaLnBrk="1" fontAlgn="auto" latinLnBrk="0" hangingPunct="1">
              <a:lnSpc>
                <a:spcPct val="100000"/>
              </a:lnSpc>
              <a:spcBef>
                <a:spcPts val="0"/>
              </a:spcBef>
              <a:spcAft>
                <a:spcPts val="900"/>
              </a:spcAft>
              <a:buClr>
                <a:schemeClr val="accent1"/>
              </a:buClr>
              <a:buSzTx/>
              <a:buFont typeface="Wingdings" panose="05000000000000000000" pitchFamily="2" charset="2"/>
              <a:buChar char="§"/>
              <a:tabLst/>
              <a:defRPr/>
            </a:pPr>
            <a:endParaRPr kumimoji="0" lang="en-US" sz="1050" b="0" i="0" u="none" strike="noStrike" kern="1200" cap="none" spc="0" normalizeH="0" baseline="0" noProof="0" dirty="0">
              <a:ln>
                <a:noFill/>
              </a:ln>
              <a:solidFill>
                <a:sysClr val="windowText" lastClr="000000"/>
              </a:solidFill>
              <a:effectLst/>
              <a:uLnTx/>
              <a:uFillTx/>
              <a:latin typeface="Verdana"/>
              <a:ea typeface="+mn-ea"/>
              <a:cs typeface="+mn-cs"/>
            </a:endParaRPr>
          </a:p>
        </p:txBody>
      </p:sp>
      <p:sp>
        <p:nvSpPr>
          <p:cNvPr id="15" name="Rectangle 14">
            <a:extLst>
              <a:ext uri="{FF2B5EF4-FFF2-40B4-BE49-F238E27FC236}">
                <a16:creationId xmlns:a16="http://schemas.microsoft.com/office/drawing/2014/main" id="{85C55DAB-FF0A-456B-2109-8D7AB21146C7}"/>
              </a:ext>
            </a:extLst>
          </p:cNvPr>
          <p:cNvSpPr/>
          <p:nvPr/>
        </p:nvSpPr>
        <p:spPr>
          <a:xfrm>
            <a:off x="6193720" y="1062111"/>
            <a:ext cx="2460128" cy="929556"/>
          </a:xfrm>
          <a:prstGeom prst="rect">
            <a:avLst/>
          </a:prstGeom>
          <a:solidFill>
            <a:sysClr val="windowText" lastClr="000000"/>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09585">
              <a:spcAft>
                <a:spcPts val="1200"/>
              </a:spcAft>
              <a:buClr>
                <a:srgbClr val="0070AD"/>
              </a:buClr>
            </a:pPr>
            <a:r>
              <a:rPr lang="en-US" sz="1400" kern="0" dirty="0">
                <a:solidFill>
                  <a:schemeClr val="bg1"/>
                </a:solidFill>
                <a:latin typeface="+mj-lt"/>
              </a:rPr>
              <a:t>How </a:t>
            </a:r>
            <a:r>
              <a:rPr lang="en-US" sz="1400" kern="0">
                <a:solidFill>
                  <a:schemeClr val="bg1"/>
                </a:solidFill>
                <a:latin typeface="+mj-lt"/>
              </a:rPr>
              <a:t>to define a plan to deliver the integration and achieve synergy and ensure business continuity</a:t>
            </a:r>
            <a:r>
              <a:rPr lang="en-US" sz="1400" kern="0" dirty="0">
                <a:solidFill>
                  <a:schemeClr val="bg1"/>
                </a:solidFill>
                <a:latin typeface="+mj-lt"/>
              </a:rPr>
              <a:t>?</a:t>
            </a:r>
          </a:p>
        </p:txBody>
      </p:sp>
      <p:sp>
        <p:nvSpPr>
          <p:cNvPr id="16" name="Rectangle 15">
            <a:extLst>
              <a:ext uri="{FF2B5EF4-FFF2-40B4-BE49-F238E27FC236}">
                <a16:creationId xmlns:a16="http://schemas.microsoft.com/office/drawing/2014/main" id="{9AF1841A-E070-9721-7E7E-D01D24C9325E}"/>
              </a:ext>
            </a:extLst>
          </p:cNvPr>
          <p:cNvSpPr/>
          <p:nvPr/>
        </p:nvSpPr>
        <p:spPr>
          <a:xfrm>
            <a:off x="6193720" y="1944091"/>
            <a:ext cx="2460128" cy="111697"/>
          </a:xfrm>
          <a:prstGeom prst="rect">
            <a:avLst/>
          </a:prstGeom>
          <a:solidFill>
            <a:schemeClr val="accent2"/>
          </a:solidFill>
          <a:ln w="9525" cap="flat" cmpd="sng" algn="ctr">
            <a:solidFill>
              <a:schemeClr val="accent2"/>
            </a:solidFill>
            <a:prstDash val="solid"/>
            <a:miter lim="800000"/>
          </a:ln>
          <a:effectLst/>
        </p:spPr>
        <p:txBody>
          <a:bodyPr wrap="square" lIns="144000" tIns="324000" rIns="144000" bIns="7200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ctr" defTabSz="914400" rtl="0" eaLnBrk="1" fontAlgn="auto" latinLnBrk="0" hangingPunct="1">
              <a:lnSpc>
                <a:spcPct val="100000"/>
              </a:lnSpc>
              <a:spcBef>
                <a:spcPts val="0"/>
              </a:spcBef>
              <a:spcAft>
                <a:spcPts val="900"/>
              </a:spcAft>
              <a:buClrTx/>
              <a:buSzTx/>
              <a:buFont typeface="Arial" charset="0"/>
              <a:buChar char="•"/>
              <a:tabLst/>
              <a:defRPr/>
            </a:pPr>
            <a:endParaRPr kumimoji="0" lang="en-US" sz="1100" b="0" i="0" u="none" strike="noStrike" kern="1200" cap="none" spc="0" normalizeH="0" baseline="0" noProof="0">
              <a:ln>
                <a:noFill/>
              </a:ln>
              <a:solidFill>
                <a:srgbClr val="990AE3"/>
              </a:solidFill>
              <a:effectLst/>
              <a:uLnTx/>
              <a:uFillTx/>
              <a:latin typeface="Verdana"/>
              <a:ea typeface="+mn-ea"/>
              <a:cs typeface="+mn-cs"/>
            </a:endParaRPr>
          </a:p>
        </p:txBody>
      </p:sp>
      <p:sp>
        <p:nvSpPr>
          <p:cNvPr id="17" name="Isosceles Triangle 16">
            <a:extLst>
              <a:ext uri="{FF2B5EF4-FFF2-40B4-BE49-F238E27FC236}">
                <a16:creationId xmlns:a16="http://schemas.microsoft.com/office/drawing/2014/main" id="{F7C21847-D730-8419-B473-E06C50764DF8}"/>
              </a:ext>
            </a:extLst>
          </p:cNvPr>
          <p:cNvSpPr/>
          <p:nvPr/>
        </p:nvSpPr>
        <p:spPr>
          <a:xfrm rot="10800000">
            <a:off x="7035157" y="2067855"/>
            <a:ext cx="412153" cy="126156"/>
          </a:xfrm>
          <a:prstGeom prst="triangle">
            <a:avLst/>
          </a:prstGeom>
          <a:solidFill>
            <a:schemeClr val="accent2"/>
          </a:solidFill>
          <a:ln w="12700" cap="flat" cmpd="sng" algn="ctr">
            <a:noFill/>
            <a:prstDash val="solid"/>
            <a:miter lim="800000"/>
          </a:ln>
          <a:effectLst/>
        </p:spPr>
        <p:txBody>
          <a:bodyPr wrap="square" lIns="180000" tIns="180000" rIns="180000" bIns="18000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a:ln>
                <a:noFill/>
              </a:ln>
              <a:solidFill>
                <a:sysClr val="window" lastClr="FFFFFF"/>
              </a:solidFill>
              <a:effectLst/>
              <a:uLnTx/>
              <a:uFillTx/>
              <a:latin typeface="Verdana"/>
              <a:ea typeface="+mn-ea"/>
              <a:cs typeface="+mn-cs"/>
            </a:endParaRPr>
          </a:p>
        </p:txBody>
      </p:sp>
      <p:sp>
        <p:nvSpPr>
          <p:cNvPr id="29" name="Isosceles Triangle 28">
            <a:extLst>
              <a:ext uri="{FF2B5EF4-FFF2-40B4-BE49-F238E27FC236}">
                <a16:creationId xmlns:a16="http://schemas.microsoft.com/office/drawing/2014/main" id="{D8B22095-8BD6-B10D-805B-BE4B9E0E815D}"/>
              </a:ext>
            </a:extLst>
          </p:cNvPr>
          <p:cNvSpPr/>
          <p:nvPr/>
        </p:nvSpPr>
        <p:spPr>
          <a:xfrm rot="10800000">
            <a:off x="7035158" y="2192024"/>
            <a:ext cx="412153" cy="146058"/>
          </a:xfrm>
          <a:prstGeom prst="triangle">
            <a:avLst/>
          </a:prstGeom>
          <a:solidFill>
            <a:sysClr val="window" lastClr="FFFFFF"/>
          </a:solidFill>
          <a:ln w="6350" cap="flat" cmpd="sng" algn="ctr">
            <a:solidFill>
              <a:sysClr val="window" lastClr="FFFFFF">
                <a:lumMod val="50000"/>
              </a:sysClr>
            </a:solidFill>
            <a:prstDash val="solid"/>
            <a:miter lim="800000"/>
          </a:ln>
          <a:effectLst/>
        </p:spPr>
        <p:txBody>
          <a:bodyPr wrap="square" lIns="144000" tIns="324000" rIns="144000" bIns="72000" rtlCol="0" anchor="t">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900"/>
              </a:spcAft>
              <a:buClrTx/>
              <a:buSzTx/>
              <a:buFont typeface="Arial" charset="0"/>
              <a:buChar char="•"/>
              <a:tabLst/>
              <a:defRPr/>
            </a:pPr>
            <a:endParaRPr kumimoji="0" lang="en-GB" sz="1100" b="0" i="0" u="none" strike="noStrike" kern="1200" cap="none" spc="0" normalizeH="0" baseline="0" noProof="0">
              <a:ln>
                <a:noFill/>
              </a:ln>
              <a:solidFill>
                <a:sysClr val="windowText" lastClr="000000"/>
              </a:solidFill>
              <a:effectLst/>
              <a:uLnTx/>
              <a:uFillTx/>
              <a:latin typeface="Verdana"/>
              <a:ea typeface="+mn-ea"/>
              <a:cs typeface="+mn-cs"/>
            </a:endParaRPr>
          </a:p>
        </p:txBody>
      </p:sp>
      <p:sp>
        <p:nvSpPr>
          <p:cNvPr id="30" name="Isosceles Triangle 29">
            <a:extLst>
              <a:ext uri="{FF2B5EF4-FFF2-40B4-BE49-F238E27FC236}">
                <a16:creationId xmlns:a16="http://schemas.microsoft.com/office/drawing/2014/main" id="{8E86F38E-E2BB-696D-DC66-B2F9852E8DE4}"/>
              </a:ext>
            </a:extLst>
          </p:cNvPr>
          <p:cNvSpPr/>
          <p:nvPr/>
        </p:nvSpPr>
        <p:spPr>
          <a:xfrm rot="10800000">
            <a:off x="7035159" y="2188949"/>
            <a:ext cx="412153" cy="146058"/>
          </a:xfrm>
          <a:prstGeom prst="triangle">
            <a:avLst/>
          </a:prstGeom>
          <a:solidFill>
            <a:sysClr val="window" lastClr="FFFFFF"/>
          </a:solidFill>
          <a:ln w="6350" cap="flat" cmpd="sng" algn="ctr">
            <a:noFill/>
            <a:prstDash val="solid"/>
            <a:miter lim="800000"/>
          </a:ln>
          <a:effectLst/>
        </p:spPr>
        <p:txBody>
          <a:bodyPr wrap="square" lIns="144000" tIns="324000" rIns="144000" bIns="72000" rtlCol="0" anchor="t">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900"/>
              </a:spcAft>
              <a:buClrTx/>
              <a:buSzTx/>
              <a:buFont typeface="Arial" charset="0"/>
              <a:buChar char="•"/>
              <a:tabLst/>
              <a:defRPr/>
            </a:pPr>
            <a:endParaRPr kumimoji="0" lang="en-GB" sz="1100" b="0" i="0" u="none" strike="noStrike" kern="1200" cap="none" spc="0" normalizeH="0" baseline="0" noProof="0">
              <a:ln>
                <a:noFill/>
              </a:ln>
              <a:solidFill>
                <a:sysClr val="windowText" lastClr="000000"/>
              </a:solidFill>
              <a:effectLst/>
              <a:uLnTx/>
              <a:uFillTx/>
              <a:latin typeface="Verdana"/>
              <a:ea typeface="+mn-ea"/>
              <a:cs typeface="+mn-cs"/>
            </a:endParaRPr>
          </a:p>
        </p:txBody>
      </p:sp>
      <p:sp>
        <p:nvSpPr>
          <p:cNvPr id="84" name="Title 1">
            <a:extLst>
              <a:ext uri="{FF2B5EF4-FFF2-40B4-BE49-F238E27FC236}">
                <a16:creationId xmlns:a16="http://schemas.microsoft.com/office/drawing/2014/main" id="{4BB05CA7-C073-9F47-E9DB-C166A6097939}"/>
              </a:ext>
            </a:extLst>
          </p:cNvPr>
          <p:cNvSpPr>
            <a:spLocks noGrp="1"/>
          </p:cNvSpPr>
          <p:nvPr>
            <p:ph type="title"/>
          </p:nvPr>
        </p:nvSpPr>
        <p:spPr>
          <a:xfrm>
            <a:off x="1379538" y="365613"/>
            <a:ext cx="10421170" cy="730959"/>
          </a:xfrm>
        </p:spPr>
        <p:txBody>
          <a:bodyPr vert="horz" lIns="0" tIns="0" rIns="0" bIns="0" rtlCol="0" anchor="t">
            <a:noAutofit/>
          </a:bodyPr>
          <a:lstStyle/>
          <a:p>
            <a:r>
              <a:rPr lang="en-US" sz="2400" b="1" kern="0" spc="-50" dirty="0">
                <a:solidFill>
                  <a:srgbClr val="000000"/>
                </a:solidFill>
                <a:latin typeface="+mj-lt"/>
                <a:ea typeface="+mj-ea"/>
                <a:cs typeface="+mj-cs"/>
              </a:rPr>
              <a:t>STREAM 4D | </a:t>
            </a:r>
            <a:r>
              <a:rPr lang="en-US" sz="2400" dirty="0"/>
              <a:t>KEY QUESTIONS TO BE ADDRESSED FOR OSS APPLICATION AND DATA</a:t>
            </a:r>
          </a:p>
        </p:txBody>
      </p:sp>
      <p:sp>
        <p:nvSpPr>
          <p:cNvPr id="3" name="CasellaDiTesto 2">
            <a:extLst>
              <a:ext uri="{FF2B5EF4-FFF2-40B4-BE49-F238E27FC236}">
                <a16:creationId xmlns:a16="http://schemas.microsoft.com/office/drawing/2014/main" id="{AB488FBF-BFFF-7054-0717-94250EC00401}"/>
              </a:ext>
            </a:extLst>
          </p:cNvPr>
          <p:cNvSpPr txBox="1"/>
          <p:nvPr/>
        </p:nvSpPr>
        <p:spPr bwMode="gray">
          <a:xfrm>
            <a:off x="3145414" y="2338665"/>
            <a:ext cx="2460129" cy="4067780"/>
          </a:xfrm>
          <a:prstGeom prst="rect">
            <a:avLst/>
          </a:prstGeom>
          <a:noFill/>
        </p:spPr>
        <p:txBody>
          <a:bodyPr wrap="square" lIns="91440" tIns="45720" rIns="91440" bIns="45720" anchor="t">
            <a:spAutoFit/>
          </a:bodyPr>
          <a:lstStyle/>
          <a:p>
            <a:pPr marL="352425" lvl="1" indent="-171450" algn="just" defTabSz="800905">
              <a:spcAft>
                <a:spcPts val="200"/>
              </a:spcAft>
              <a:buClr>
                <a:srgbClr val="0EABA9"/>
              </a:buClr>
              <a:buSzPct val="100000"/>
              <a:buFont typeface="Wingdings" panose="05000000000000000000" pitchFamily="2" charset="2"/>
              <a:buChar char="§"/>
              <a:defRPr/>
            </a:pPr>
            <a:r>
              <a:rPr kumimoji="0" lang="en-US" sz="1000" b="0" i="0" u="none" strike="noStrike" kern="1200" cap="none" spc="0" normalizeH="0" baseline="0" noProof="0">
                <a:ln>
                  <a:noFill/>
                </a:ln>
                <a:effectLst/>
                <a:uLnTx/>
                <a:uFillTx/>
                <a:latin typeface="Calibri"/>
                <a:ea typeface="Calibri"/>
                <a:cs typeface="Calibri"/>
              </a:rPr>
              <a:t>Interoperability in the target BSS/OSS ecosystem should leverage on the </a:t>
            </a:r>
            <a:r>
              <a:rPr kumimoji="0" lang="en-US" sz="1000" b="1" i="0" u="none" strike="noStrike" kern="1200" cap="none" spc="0" normalizeH="0" baseline="0" noProof="0">
                <a:ln>
                  <a:noFill/>
                </a:ln>
                <a:effectLst/>
                <a:uLnTx/>
                <a:uFillTx/>
                <a:latin typeface="Calibri"/>
                <a:ea typeface="Calibri"/>
                <a:cs typeface="Calibri"/>
              </a:rPr>
              <a:t>standard ODA API framework</a:t>
            </a:r>
            <a:r>
              <a:rPr kumimoji="0" lang="en-US" sz="1000" b="0" i="0" u="none" strike="noStrike" kern="1200" cap="none" spc="0" normalizeH="0" baseline="0" noProof="0">
                <a:ln>
                  <a:noFill/>
                </a:ln>
                <a:effectLst/>
                <a:uLnTx/>
                <a:uFillTx/>
                <a:latin typeface="Calibri"/>
                <a:ea typeface="Calibri"/>
                <a:cs typeface="Calibri"/>
              </a:rPr>
              <a:t>.</a:t>
            </a:r>
            <a:r>
              <a:rPr lang="en-US" sz="1000">
                <a:latin typeface="Calibri"/>
                <a:ea typeface="Calibri"/>
                <a:cs typeface="Calibri"/>
              </a:rPr>
              <a:t> </a:t>
            </a:r>
            <a:endParaRPr kumimoji="0" lang="en-US" sz="1000" b="0"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352425" lvl="1" indent="-171450" algn="just" defTabSz="800905">
              <a:spcAft>
                <a:spcPts val="200"/>
              </a:spcAft>
              <a:buClr>
                <a:srgbClr val="0EABA9"/>
              </a:buClr>
              <a:buSzPct val="100000"/>
              <a:buFont typeface="Wingdings" panose="05000000000000000000" pitchFamily="2" charset="2"/>
              <a:buChar char="§"/>
              <a:defRPr/>
            </a:pPr>
            <a:r>
              <a:rPr lang="en-US" sz="1000">
                <a:latin typeface="Calibri"/>
                <a:ea typeface="Calibri"/>
                <a:cs typeface="Calibri"/>
              </a:rPr>
              <a:t>A catalogue (data) driven approach is essential to deliver agility and reduce TTM for new products and services</a:t>
            </a:r>
          </a:p>
          <a:p>
            <a:pPr marL="352425" lvl="1" indent="-171450" algn="just" defTabSz="800905">
              <a:spcAft>
                <a:spcPts val="200"/>
              </a:spcAft>
              <a:buClr>
                <a:srgbClr val="0EABA9"/>
              </a:buClr>
              <a:buSzPct val="100000"/>
              <a:buFont typeface="Wingdings" panose="05000000000000000000" pitchFamily="2" charset="2"/>
              <a:buChar char="§"/>
              <a:defRPr/>
            </a:pPr>
            <a:r>
              <a:rPr kumimoji="0" lang="en-US" sz="1000" b="0" i="0" u="none" strike="noStrike" kern="1200" cap="none" spc="0" normalizeH="0" baseline="0" noProof="0">
                <a:ln>
                  <a:noFill/>
                </a:ln>
                <a:effectLst/>
                <a:uLnTx/>
                <a:uFillTx/>
                <a:latin typeface="Calibri"/>
                <a:ea typeface="Calibri"/>
                <a:cs typeface="Calibri"/>
              </a:rPr>
              <a:t>A </a:t>
            </a:r>
            <a:r>
              <a:rPr kumimoji="0" lang="en-US" sz="1000" b="1" i="0" u="none" strike="noStrike" kern="1200" cap="none" spc="0" normalizeH="0" baseline="0" noProof="0">
                <a:ln>
                  <a:noFill/>
                </a:ln>
                <a:effectLst/>
                <a:uLnTx/>
                <a:uFillTx/>
                <a:latin typeface="Calibri"/>
                <a:ea typeface="Calibri"/>
                <a:cs typeface="Calibri"/>
              </a:rPr>
              <a:t>phased and business driven approach </a:t>
            </a:r>
            <a:r>
              <a:rPr kumimoji="0" lang="en-US" sz="1000" b="0" i="0" u="none" strike="noStrike" kern="1200" cap="none" spc="0" normalizeH="0" baseline="0" noProof="0">
                <a:ln>
                  <a:noFill/>
                </a:ln>
                <a:effectLst/>
                <a:uLnTx/>
                <a:uFillTx/>
                <a:latin typeface="Calibri"/>
                <a:ea typeface="Calibri"/>
                <a:cs typeface="Calibri"/>
              </a:rPr>
              <a:t>should be adopted to migrate towards open and standard TMF API.</a:t>
            </a:r>
            <a:r>
              <a:rPr lang="en-US" sz="1000">
                <a:latin typeface="Calibri"/>
                <a:ea typeface="Calibri"/>
                <a:cs typeface="Calibri"/>
              </a:rPr>
              <a:t> </a:t>
            </a:r>
            <a:endParaRPr lang="en-US"/>
          </a:p>
          <a:p>
            <a:pPr marL="352425" lvl="1" indent="-171450" algn="just" defTabSz="800905">
              <a:spcAft>
                <a:spcPts val="200"/>
              </a:spcAft>
              <a:buClr>
                <a:srgbClr val="0EABA9"/>
              </a:buClr>
              <a:buSzPct val="100000"/>
              <a:buFont typeface="Wingdings" panose="05000000000000000000" pitchFamily="2" charset="2"/>
              <a:buChar char="§"/>
              <a:defRPr/>
            </a:pPr>
            <a:r>
              <a:rPr kumimoji="0" lang="en-US" sz="1000" b="0" i="0" u="none" strike="noStrike" kern="1200" cap="none" spc="0" normalizeH="0" baseline="0" noProof="0">
                <a:ln>
                  <a:noFill/>
                </a:ln>
                <a:effectLst/>
                <a:uLnTx/>
                <a:uFillTx/>
                <a:latin typeface="Calibri"/>
                <a:ea typeface="Calibri"/>
                <a:cs typeface="Calibri"/>
              </a:rPr>
              <a:t>Transitional Architecture should </a:t>
            </a:r>
            <a:r>
              <a:rPr lang="en-US" sz="1000">
                <a:latin typeface="Calibri"/>
                <a:ea typeface="Calibri"/>
                <a:cs typeface="Calibri"/>
              </a:rPr>
              <a:t>en</a:t>
            </a:r>
            <a:r>
              <a:rPr lang="en-US" sz="1000" b="1">
                <a:latin typeface="Calibri"/>
                <a:ea typeface="Calibri"/>
                <a:cs typeface="Calibri"/>
              </a:rPr>
              <a:t>capsulate </a:t>
            </a:r>
            <a:r>
              <a:rPr kumimoji="0" lang="en-US" sz="1000" b="1" i="0" u="none" strike="noStrike" kern="1200" cap="none" spc="0" normalizeH="0" baseline="0" noProof="0">
                <a:ln>
                  <a:noFill/>
                </a:ln>
                <a:effectLst/>
                <a:uLnTx/>
                <a:uFillTx/>
                <a:latin typeface="Calibri"/>
                <a:ea typeface="Calibri"/>
                <a:cs typeface="Calibri"/>
              </a:rPr>
              <a:t>as-is integrations into a decoupling intermediation layer</a:t>
            </a:r>
            <a:r>
              <a:rPr kumimoji="0" lang="en-US" sz="1000" b="0" i="0" u="none" strike="noStrike" kern="1200" cap="none" spc="0" normalizeH="0" baseline="0" noProof="0">
                <a:ln>
                  <a:noFill/>
                </a:ln>
                <a:effectLst/>
                <a:uLnTx/>
                <a:uFillTx/>
                <a:latin typeface="Calibri"/>
                <a:ea typeface="Calibri"/>
                <a:cs typeface="Calibri"/>
              </a:rPr>
              <a:t>.</a:t>
            </a:r>
            <a:r>
              <a:rPr lang="en-US" sz="1000">
                <a:latin typeface="Calibri"/>
                <a:ea typeface="Calibri"/>
                <a:cs typeface="Calibri"/>
              </a:rPr>
              <a:t> </a:t>
            </a:r>
            <a:endParaRPr lang="en-US" sz="1000" b="0"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352425" marR="0" lvl="1" indent="-171450" algn="just" defTabSz="800905" rtl="0" eaLnBrk="1" fontAlgn="auto" latinLnBrk="0" hangingPunct="1">
              <a:lnSpc>
                <a:spcPct val="100000"/>
              </a:lnSpc>
              <a:spcBef>
                <a:spcPts val="0"/>
              </a:spcBef>
              <a:spcAft>
                <a:spcPts val="200"/>
              </a:spcAft>
              <a:buClr>
                <a:srgbClr val="0EABA9"/>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Calibri"/>
                <a:ea typeface="Calibri"/>
                <a:cs typeface="Calibri"/>
              </a:rPr>
              <a:t>The target architecture should take advantage of the benefits, in term of </a:t>
            </a:r>
            <a:r>
              <a:rPr kumimoji="0" lang="en-US" sz="1000" b="1" i="0" u="none" strike="noStrike" kern="1200" cap="none" spc="0" normalizeH="0" baseline="0" noProof="0">
                <a:ln>
                  <a:noFill/>
                </a:ln>
                <a:effectLst/>
                <a:uLnTx/>
                <a:uFillTx/>
                <a:latin typeface="Calibri"/>
                <a:ea typeface="Calibri"/>
                <a:cs typeface="Calibri"/>
              </a:rPr>
              <a:t>scalability, reliability and maintainability, </a:t>
            </a:r>
            <a:r>
              <a:rPr kumimoji="0" lang="en-US" sz="1000" i="0" u="none" strike="noStrike" kern="1200" cap="none" spc="0" normalizeH="0" baseline="0" noProof="0">
                <a:ln>
                  <a:noFill/>
                </a:ln>
                <a:effectLst/>
                <a:uLnTx/>
                <a:uFillTx/>
                <a:latin typeface="Calibri"/>
                <a:ea typeface="Calibri"/>
                <a:cs typeface="Calibri"/>
              </a:rPr>
              <a:t>coming from a </a:t>
            </a:r>
            <a:r>
              <a:rPr kumimoji="0" lang="en-US" sz="1000" b="1" i="0" u="none" strike="noStrike" kern="1200" cap="none" spc="0" normalizeH="0" baseline="0" noProof="0">
                <a:ln>
                  <a:noFill/>
                </a:ln>
                <a:effectLst/>
                <a:uLnTx/>
                <a:uFillTx/>
                <a:latin typeface="Calibri"/>
                <a:ea typeface="Calibri"/>
                <a:cs typeface="Calibri"/>
              </a:rPr>
              <a:t>hybrid-cloud and service-oriented Enterprise Architecture with clear function separation</a:t>
            </a:r>
            <a:r>
              <a:rPr kumimoji="0" lang="en-US" sz="1000" b="0" i="0" u="none" strike="noStrike" kern="1200" cap="none" spc="0" normalizeH="0" baseline="0" noProof="0">
                <a:ln>
                  <a:noFill/>
                </a:ln>
                <a:effectLst/>
                <a:uLnTx/>
                <a:uFillTx/>
                <a:latin typeface="Calibri"/>
                <a:ea typeface="Calibri"/>
                <a:cs typeface="Calibri"/>
              </a:rPr>
              <a:t> guided by TM Forum Open Digital Architecture principles.</a:t>
            </a:r>
            <a:endParaRPr lang="en-US" sz="1000" b="0" i="0" u="none" strike="noStrike" kern="1200" cap="none" spc="0" normalizeH="0" baseline="0" noProof="0">
              <a:ln>
                <a:noFill/>
              </a:ln>
              <a:effectLst/>
              <a:uLnTx/>
              <a:uFillTx/>
              <a:latin typeface="Calibri"/>
              <a:ea typeface="Calibri"/>
              <a:cs typeface="Calibri"/>
            </a:endParaRPr>
          </a:p>
          <a:p>
            <a:pPr marL="352425" marR="0" lvl="1" indent="-171450" algn="just" defTabSz="800905" rtl="0" eaLnBrk="1" fontAlgn="auto" latinLnBrk="0" hangingPunct="1">
              <a:lnSpc>
                <a:spcPct val="100000"/>
              </a:lnSpc>
              <a:spcBef>
                <a:spcPts val="0"/>
              </a:spcBef>
              <a:spcAft>
                <a:spcPts val="200"/>
              </a:spcAft>
              <a:buClr>
                <a:srgbClr val="0EABA9"/>
              </a:buClr>
              <a:buSzPct val="100000"/>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Calibri"/>
                <a:ea typeface="Calibri"/>
                <a:cs typeface="Calibri"/>
              </a:rPr>
              <a:t>Adoption of a TMF SID Compliant Data Architecture.</a:t>
            </a:r>
            <a:endParaRPr lang="en-US" sz="1000" b="0" i="0" u="none" strike="noStrike" kern="1200" cap="none" spc="0" normalizeH="0" baseline="0" noProof="0">
              <a:ln>
                <a:noFill/>
              </a:ln>
              <a:effectLst/>
              <a:uLnTx/>
              <a:uFillTx/>
              <a:latin typeface="Calibri"/>
              <a:ea typeface="Calibri"/>
              <a:cs typeface="Calibri"/>
            </a:endParaRPr>
          </a:p>
        </p:txBody>
      </p:sp>
      <p:sp>
        <p:nvSpPr>
          <p:cNvPr id="21" name="CasellaDiTesto 20">
            <a:extLst>
              <a:ext uri="{FF2B5EF4-FFF2-40B4-BE49-F238E27FC236}">
                <a16:creationId xmlns:a16="http://schemas.microsoft.com/office/drawing/2014/main" id="{7FA7D6BA-8457-F97B-2375-28D31872DF40}"/>
              </a:ext>
            </a:extLst>
          </p:cNvPr>
          <p:cNvSpPr txBox="1"/>
          <p:nvPr/>
        </p:nvSpPr>
        <p:spPr bwMode="gray">
          <a:xfrm>
            <a:off x="182828" y="2338665"/>
            <a:ext cx="2460129" cy="4375557"/>
          </a:xfrm>
          <a:prstGeom prst="rect">
            <a:avLst/>
          </a:prstGeom>
          <a:noFill/>
        </p:spPr>
        <p:txBody>
          <a:bodyPr wrap="square" lIns="91440" tIns="45720" rIns="91440" bIns="45720" anchor="t">
            <a:spAutoFit/>
          </a:bodyPr>
          <a:lstStyle/>
          <a:p>
            <a:pPr marL="352425" lvl="1" indent="-171450" algn="just" defTabSz="800905">
              <a:spcAft>
                <a:spcPts val="200"/>
              </a:spcAft>
              <a:buClr>
                <a:srgbClr val="0EABA9"/>
              </a:buClr>
              <a:buSzPct val="100000"/>
              <a:buFont typeface="Wingdings" panose="05000000000000000000" pitchFamily="2" charset="2"/>
              <a:buChar char="§"/>
              <a:defRPr/>
            </a:pPr>
            <a:r>
              <a:rPr lang="en-US" sz="1000">
                <a:latin typeface="Calibri"/>
                <a:ea typeface="Calibri"/>
                <a:cs typeface="Calibri"/>
              </a:rPr>
              <a:t>Data driven approach will enable automation that will drive efficiency  </a:t>
            </a:r>
          </a:p>
          <a:p>
            <a:pPr marL="352425" lvl="1" indent="-171450" algn="just" defTabSz="800905">
              <a:spcAft>
                <a:spcPts val="200"/>
              </a:spcAft>
              <a:buClr>
                <a:srgbClr val="0EABA9"/>
              </a:buClr>
              <a:buSzPct val="100000"/>
              <a:buFont typeface="Wingdings" panose="05000000000000000000" pitchFamily="2" charset="2"/>
              <a:buChar char="§"/>
              <a:defRPr/>
            </a:pPr>
            <a:r>
              <a:rPr kumimoji="0" lang="en-US" sz="1000" b="0" i="0" u="none" strike="noStrike" kern="1200" cap="none" spc="0" normalizeH="0" baseline="0" noProof="0">
                <a:ln>
                  <a:noFill/>
                </a:ln>
                <a:effectLst/>
                <a:uLnTx/>
                <a:uFillTx/>
                <a:latin typeface="Calibri"/>
                <a:ea typeface="Calibri"/>
                <a:cs typeface="Calibri"/>
              </a:rPr>
              <a:t>Service </a:t>
            </a:r>
            <a:r>
              <a:rPr lang="en-US" sz="1000">
                <a:latin typeface="Calibri"/>
                <a:ea typeface="Calibri"/>
                <a:cs typeface="Calibri"/>
              </a:rPr>
              <a:t>Catalogue and Inventory manages the relationships</a:t>
            </a:r>
            <a:r>
              <a:rPr kumimoji="0" lang="en-US" sz="1000" b="0" i="0" u="none" strike="noStrike" kern="1200" cap="none" spc="0" normalizeH="0" baseline="0" noProof="0">
                <a:ln>
                  <a:noFill/>
                </a:ln>
                <a:effectLst/>
                <a:uLnTx/>
                <a:uFillTx/>
                <a:latin typeface="Calibri"/>
                <a:ea typeface="Calibri"/>
                <a:cs typeface="Calibri"/>
              </a:rPr>
              <a:t> </a:t>
            </a:r>
            <a:r>
              <a:rPr kumimoji="0" lang="en-US" sz="1000" b="0" u="none" strike="noStrike" kern="1200" cap="none" spc="0" normalizeH="0" baseline="0" noProof="0">
                <a:ln>
                  <a:noFill/>
                </a:ln>
                <a:effectLst/>
                <a:uLnTx/>
                <a:uFillTx/>
                <a:latin typeface="Calibri"/>
                <a:ea typeface="Calibri"/>
                <a:cs typeface="Calibri"/>
              </a:rPr>
              <a:t>Customer Facing Service </a:t>
            </a:r>
            <a:r>
              <a:rPr kumimoji="0" lang="en-US" sz="1000" b="0" i="0" u="none" strike="noStrike" kern="1200" cap="none" spc="0" normalizeH="0" baseline="0" noProof="0">
                <a:ln>
                  <a:noFill/>
                </a:ln>
                <a:effectLst/>
                <a:uLnTx/>
                <a:uFillTx/>
                <a:latin typeface="Calibri"/>
                <a:ea typeface="Calibri"/>
                <a:cs typeface="Calibri"/>
              </a:rPr>
              <a:t>(CFS) and </a:t>
            </a:r>
            <a:r>
              <a:rPr kumimoji="0" lang="en-US" sz="1000" b="0" u="none" strike="noStrike" kern="1200" cap="none" spc="0" normalizeH="0" baseline="0" noProof="0">
                <a:ln>
                  <a:noFill/>
                </a:ln>
                <a:effectLst/>
                <a:uLnTx/>
                <a:uFillTx/>
                <a:latin typeface="Calibri"/>
                <a:ea typeface="Calibri"/>
                <a:cs typeface="Calibri"/>
              </a:rPr>
              <a:t>Resource Facing Service </a:t>
            </a:r>
            <a:r>
              <a:rPr kumimoji="0" lang="en-US" sz="1000" b="0" i="0" u="none" strike="noStrike" kern="1200" cap="none" spc="0" normalizeH="0" baseline="0" noProof="0">
                <a:ln>
                  <a:noFill/>
                </a:ln>
                <a:effectLst/>
                <a:uLnTx/>
                <a:uFillTx/>
                <a:latin typeface="Calibri"/>
                <a:ea typeface="Calibri"/>
                <a:cs typeface="Calibri"/>
              </a:rPr>
              <a:t>(RFS) </a:t>
            </a:r>
            <a:r>
              <a:rPr lang="en-US" sz="1000">
                <a:latin typeface="Calibri"/>
                <a:ea typeface="Calibri"/>
                <a:cs typeface="Calibri"/>
              </a:rPr>
              <a:t>and their relationships and is key to enabling Service Order Management and   </a:t>
            </a:r>
            <a:r>
              <a:rPr kumimoji="0" lang="en-US" sz="1000" b="0" i="0" u="none" strike="noStrike" kern="1200" cap="none" spc="0" normalizeH="0" baseline="0" noProof="0">
                <a:ln>
                  <a:noFill/>
                </a:ln>
                <a:effectLst/>
                <a:uLnTx/>
                <a:uFillTx/>
                <a:latin typeface="Calibri"/>
                <a:ea typeface="Calibri"/>
                <a:cs typeface="Calibri"/>
              </a:rPr>
              <a:t>“</a:t>
            </a:r>
            <a:r>
              <a:rPr lang="en-US" sz="1000">
                <a:latin typeface="Calibri"/>
                <a:ea typeface="Calibri"/>
                <a:cs typeface="Calibri"/>
              </a:rPr>
              <a:t>Automated </a:t>
            </a:r>
            <a:r>
              <a:rPr kumimoji="0" lang="en-US" sz="1000" b="1" i="0" u="none" strike="noStrike" kern="1200" cap="none" spc="0" normalizeH="0" baseline="0" noProof="0">
                <a:ln>
                  <a:noFill/>
                </a:ln>
                <a:effectLst/>
                <a:uLnTx/>
                <a:uFillTx/>
                <a:latin typeface="Calibri"/>
                <a:ea typeface="Calibri"/>
                <a:cs typeface="Calibri"/>
              </a:rPr>
              <a:t>Flow Through Provisioning</a:t>
            </a:r>
            <a:r>
              <a:rPr lang="en-US" sz="1000">
                <a:latin typeface="Calibri"/>
                <a:ea typeface="Calibri"/>
                <a:cs typeface="Calibri"/>
              </a:rPr>
              <a:t>” of  Services. </a:t>
            </a:r>
            <a:endParaRPr lang="en-US" sz="1000" b="0"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352425" lvl="1" indent="-171450" algn="just" defTabSz="800905">
              <a:spcAft>
                <a:spcPts val="200"/>
              </a:spcAft>
              <a:buClr>
                <a:srgbClr val="0EABA9"/>
              </a:buClr>
              <a:buSzPct val="100000"/>
              <a:buFont typeface="Wingdings" panose="05000000000000000000" pitchFamily="2" charset="2"/>
              <a:buChar char="§"/>
              <a:defRPr/>
            </a:pPr>
            <a:r>
              <a:rPr lang="en-US" sz="1000">
                <a:latin typeface="Calibri"/>
                <a:ea typeface="Calibri"/>
                <a:cs typeface="Calibri"/>
              </a:rPr>
              <a:t>A focus</a:t>
            </a:r>
            <a:r>
              <a:rPr kumimoji="0" lang="en-US" sz="1000" b="0" i="0" u="none" strike="noStrike" kern="1200" cap="none" spc="0" normalizeH="0" baseline="0" noProof="0">
                <a:ln>
                  <a:noFill/>
                </a:ln>
                <a:effectLst/>
                <a:uLnTx/>
                <a:uFillTx/>
                <a:latin typeface="Calibri"/>
                <a:ea typeface="Calibri"/>
                <a:cs typeface="Calibri"/>
              </a:rPr>
              <a:t>, during the discovery phase, should </a:t>
            </a:r>
            <a:r>
              <a:rPr lang="en-US" sz="1000">
                <a:latin typeface="Calibri"/>
                <a:ea typeface="Calibri"/>
                <a:cs typeface="Calibri"/>
              </a:rPr>
              <a:t>be on understanding the  catalogue and to what extend it drives automated provisioning.</a:t>
            </a:r>
          </a:p>
          <a:p>
            <a:pPr marL="352425" lvl="1" indent="-171450" algn="just" defTabSz="800905">
              <a:spcAft>
                <a:spcPts val="200"/>
              </a:spcAft>
              <a:buClr>
                <a:srgbClr val="0EABA9"/>
              </a:buClr>
              <a:buSzPct val="100000"/>
              <a:buFont typeface="Wingdings" panose="05000000000000000000" pitchFamily="2" charset="2"/>
              <a:buChar char="§"/>
              <a:defRPr/>
            </a:pPr>
            <a:r>
              <a:rPr lang="en-US" sz="1000">
                <a:latin typeface="Calibri"/>
                <a:ea typeface="Calibri"/>
                <a:cs typeface="Calibri"/>
              </a:rPr>
              <a:t>The</a:t>
            </a:r>
            <a:r>
              <a:rPr kumimoji="0" lang="en-US" sz="1000" b="0" i="0" u="none" strike="noStrike" kern="1200" cap="none" spc="0" normalizeH="0" baseline="0" noProof="0">
                <a:ln>
                  <a:noFill/>
                </a:ln>
                <a:effectLst/>
                <a:uLnTx/>
                <a:uFillTx/>
                <a:latin typeface="Calibri"/>
                <a:ea typeface="Calibri"/>
                <a:cs typeface="Calibri"/>
              </a:rPr>
              <a:t> southbound integration should support</a:t>
            </a:r>
            <a:r>
              <a:rPr lang="en-US" sz="1000">
                <a:latin typeface="Calibri"/>
                <a:ea typeface="Calibri"/>
                <a:cs typeface="Calibri"/>
              </a:rPr>
              <a:t> </a:t>
            </a:r>
            <a:r>
              <a:rPr lang="en-US" sz="1000" b="1">
                <a:latin typeface="Calibri"/>
                <a:ea typeface="Calibri"/>
                <a:cs typeface="Calibri"/>
              </a:rPr>
              <a:t>Resource</a:t>
            </a:r>
            <a:r>
              <a:rPr kumimoji="0" lang="en-US" sz="1000" b="1" i="0" u="none" strike="noStrike" kern="1200" cap="none" spc="0" normalizeH="0" baseline="0" noProof="0">
                <a:ln>
                  <a:noFill/>
                </a:ln>
                <a:effectLst/>
                <a:uLnTx/>
                <a:uFillTx/>
                <a:latin typeface="Calibri"/>
                <a:ea typeface="Calibri"/>
                <a:cs typeface="Calibri"/>
              </a:rPr>
              <a:t> inventory with Discovery &amp; Reconciliation</a:t>
            </a:r>
            <a:r>
              <a:rPr kumimoji="0" lang="en-US" sz="1000" b="0" i="0" u="none" strike="noStrike" kern="1200" cap="none" spc="0" normalizeH="0" baseline="0" noProof="0">
                <a:ln>
                  <a:noFill/>
                </a:ln>
                <a:effectLst/>
                <a:uLnTx/>
                <a:uFillTx/>
                <a:latin typeface="Calibri"/>
                <a:ea typeface="Calibri"/>
                <a:cs typeface="Calibri"/>
              </a:rPr>
              <a:t> capabilities.</a:t>
            </a:r>
            <a:endParaRPr lang="en-US" sz="1000" b="0" i="0" u="none" strike="noStrike" kern="1200" cap="none" spc="0" normalizeH="0" baseline="0" noProof="0">
              <a:ln>
                <a:noFill/>
              </a:ln>
              <a:effectLst/>
              <a:uLnTx/>
              <a:uFillTx/>
              <a:latin typeface="Calibri"/>
              <a:ea typeface="Calibri"/>
              <a:cs typeface="Calibri"/>
            </a:endParaRPr>
          </a:p>
          <a:p>
            <a:pPr marL="352425" lvl="1" indent="-171450" algn="just" defTabSz="800905">
              <a:spcAft>
                <a:spcPts val="200"/>
              </a:spcAft>
              <a:buClr>
                <a:srgbClr val="0EABA9"/>
              </a:buClr>
              <a:buSzPct val="100000"/>
              <a:buFont typeface="Wingdings" panose="05000000000000000000" pitchFamily="2" charset="2"/>
              <a:buChar char="§"/>
              <a:defRPr/>
            </a:pPr>
            <a:r>
              <a:rPr lang="en-US" sz="1000">
                <a:latin typeface="Calibri"/>
                <a:ea typeface="Calibri"/>
                <a:cs typeface="Calibri"/>
              </a:rPr>
              <a:t>Target inventory should s</a:t>
            </a:r>
            <a:r>
              <a:rPr kumimoji="0" lang="en-US" sz="1000" b="0" i="0" u="none" strike="noStrike" kern="1200" cap="none" spc="0" normalizeH="0" baseline="0" noProof="0">
                <a:ln>
                  <a:noFill/>
                </a:ln>
                <a:effectLst/>
                <a:uLnTx/>
                <a:uFillTx/>
                <a:latin typeface="Calibri"/>
                <a:ea typeface="Calibri"/>
                <a:cs typeface="Calibri"/>
              </a:rPr>
              <a:t>tore cross domain topology and dependencies, providing </a:t>
            </a:r>
            <a:r>
              <a:rPr kumimoji="0" lang="en-US" sz="1000" b="1" i="0" u="none" strike="noStrike" kern="1200" cap="none" spc="0" normalizeH="0" baseline="0" noProof="0">
                <a:ln>
                  <a:noFill/>
                </a:ln>
                <a:effectLst/>
                <a:uLnTx/>
                <a:uFillTx/>
                <a:latin typeface="Calibri"/>
                <a:ea typeface="Calibri"/>
                <a:cs typeface="Calibri"/>
              </a:rPr>
              <a:t>E2E visibility of the entire network to ease root cause analysis</a:t>
            </a:r>
            <a:r>
              <a:rPr lang="en-US" sz="1000" b="1">
                <a:latin typeface="Calibri"/>
                <a:ea typeface="Calibri"/>
                <a:cs typeface="Calibri"/>
              </a:rPr>
              <a:t> and service upgrade, a classic issue for many telcos</a:t>
            </a:r>
            <a:r>
              <a:rPr kumimoji="0" lang="en-US" sz="1000" b="0" i="0" u="none" strike="noStrike" kern="1200" cap="none" spc="0" normalizeH="0" baseline="0" noProof="0">
                <a:ln>
                  <a:noFill/>
                </a:ln>
                <a:effectLst/>
                <a:uLnTx/>
                <a:uFillTx/>
                <a:latin typeface="Calibri"/>
                <a:ea typeface="Calibri"/>
                <a:cs typeface="Calibri"/>
              </a:rPr>
              <a:t>.</a:t>
            </a:r>
            <a:endParaRPr lang="en-US" sz="1000" b="0" i="0" u="none" strike="noStrike" kern="1200" cap="none" spc="0" normalizeH="0" baseline="0" noProof="0">
              <a:ln>
                <a:noFill/>
              </a:ln>
              <a:effectLst/>
              <a:uLnTx/>
              <a:uFillTx/>
              <a:latin typeface="Calibri"/>
              <a:ea typeface="Calibri"/>
              <a:cs typeface="Calibri"/>
            </a:endParaRPr>
          </a:p>
          <a:p>
            <a:pPr marL="352425" lvl="1" indent="-171450" algn="just" defTabSz="800905">
              <a:spcAft>
                <a:spcPts val="200"/>
              </a:spcAft>
              <a:buClr>
                <a:srgbClr val="0EABA9"/>
              </a:buClr>
              <a:buSzPct val="100000"/>
              <a:buFont typeface="Wingdings" panose="05000000000000000000" pitchFamily="2" charset="2"/>
              <a:buChar char="§"/>
              <a:defRPr/>
            </a:pPr>
            <a:r>
              <a:rPr kumimoji="0" lang="en-US" sz="1000" b="0" i="0" u="none" strike="noStrike" kern="1200" cap="none" spc="0" normalizeH="0" baseline="0" noProof="0">
                <a:ln>
                  <a:noFill/>
                </a:ln>
                <a:effectLst/>
                <a:uLnTx/>
                <a:uFillTx/>
                <a:latin typeface="Calibri"/>
                <a:ea typeface="Calibri"/>
                <a:cs typeface="Calibri"/>
              </a:rPr>
              <a:t>The target solution should provide </a:t>
            </a:r>
            <a:r>
              <a:rPr lang="en-US" sz="1000" b="1">
                <a:latin typeface="Calibri"/>
                <a:ea typeface="Calibri"/>
                <a:cs typeface="Calibri"/>
              </a:rPr>
              <a:t>cross </a:t>
            </a:r>
            <a:r>
              <a:rPr kumimoji="0" lang="en-US" sz="1000" i="0" u="none" strike="noStrike" kern="1200" cap="none" spc="0" normalizeH="0" baseline="0" noProof="0">
                <a:ln>
                  <a:noFill/>
                </a:ln>
                <a:effectLst/>
                <a:uLnTx/>
                <a:uFillTx/>
                <a:latin typeface="Calibri"/>
                <a:ea typeface="Calibri"/>
                <a:cs typeface="Calibri"/>
              </a:rPr>
              <a:t>service views </a:t>
            </a:r>
            <a:r>
              <a:rPr lang="en-US" sz="1000">
                <a:latin typeface="Calibri"/>
                <a:ea typeface="Calibri"/>
                <a:cs typeface="Calibri"/>
              </a:rPr>
              <a:t>and </a:t>
            </a:r>
            <a:r>
              <a:rPr kumimoji="0" lang="en-US" sz="1000" b="0" i="0" u="none" strike="noStrike" kern="1200" cap="none" spc="0" normalizeH="0" baseline="0" noProof="0">
                <a:ln>
                  <a:noFill/>
                </a:ln>
                <a:effectLst/>
                <a:uLnTx/>
                <a:uFillTx/>
                <a:latin typeface="Calibri"/>
                <a:ea typeface="Calibri"/>
                <a:cs typeface="Calibri"/>
              </a:rPr>
              <a:t>correlation</a:t>
            </a:r>
            <a:r>
              <a:rPr lang="en-US" sz="1000">
                <a:latin typeface="Calibri"/>
                <a:ea typeface="Calibri"/>
                <a:cs typeface="Calibri"/>
              </a:rPr>
              <a:t>.</a:t>
            </a:r>
            <a:endParaRPr lang="en-US" sz="1000" b="0" i="0" u="none" strike="noStrike" kern="1200" cap="none" spc="0" normalizeH="0" baseline="0" noProof="0">
              <a:ln>
                <a:noFill/>
              </a:ln>
              <a:effectLst/>
              <a:uLnTx/>
              <a:uFillTx/>
              <a:latin typeface="Calibri"/>
              <a:ea typeface="Calibri"/>
              <a:cs typeface="Calibri"/>
            </a:endParaRPr>
          </a:p>
        </p:txBody>
      </p:sp>
      <p:sp>
        <p:nvSpPr>
          <p:cNvPr id="22" name="CasellaDiTesto 21">
            <a:extLst>
              <a:ext uri="{FF2B5EF4-FFF2-40B4-BE49-F238E27FC236}">
                <a16:creationId xmlns:a16="http://schemas.microsoft.com/office/drawing/2014/main" id="{C126B9BD-01B9-E5E7-1E89-E137C9816CB6}"/>
              </a:ext>
            </a:extLst>
          </p:cNvPr>
          <p:cNvSpPr txBox="1"/>
          <p:nvPr/>
        </p:nvSpPr>
        <p:spPr bwMode="gray">
          <a:xfrm>
            <a:off x="6096001" y="2338665"/>
            <a:ext cx="2460128" cy="1656864"/>
          </a:xfrm>
          <a:prstGeom prst="rect">
            <a:avLst/>
          </a:prstGeom>
          <a:noFill/>
        </p:spPr>
        <p:txBody>
          <a:bodyPr wrap="square" lIns="91440" tIns="45720" rIns="91440" bIns="45720" anchor="t">
            <a:spAutoFit/>
          </a:bodyPr>
          <a:lstStyle/>
          <a:p>
            <a:pPr marL="352425" lvl="1" indent="-171450" algn="just" defTabSz="800905">
              <a:spcAft>
                <a:spcPts val="200"/>
              </a:spcAft>
              <a:buClr>
                <a:srgbClr val="0EABA9"/>
              </a:buClr>
              <a:buSzPct val="100000"/>
              <a:buFont typeface="Wingdings" panose="05000000000000000000" pitchFamily="2" charset="2"/>
              <a:buChar char="§"/>
              <a:defRPr/>
            </a:pPr>
            <a:r>
              <a:rPr kumimoji="0" lang="en-US" sz="1000" b="0" i="0" u="none" strike="noStrike" kern="1200" cap="none" spc="0" normalizeH="0" baseline="0" noProof="0">
                <a:ln>
                  <a:noFill/>
                </a:ln>
                <a:effectLst/>
                <a:uLnTx/>
                <a:uFillTx/>
                <a:latin typeface="Calibri"/>
                <a:ea typeface="Calibri"/>
                <a:cs typeface="Calibri"/>
              </a:rPr>
              <a:t>A big bang approach should be avoided, </a:t>
            </a:r>
            <a:r>
              <a:rPr lang="en-US" sz="1000">
                <a:latin typeface="Calibri"/>
                <a:ea typeface="Calibri"/>
                <a:cs typeface="Calibri"/>
              </a:rPr>
              <a:t>we will adopt an evolutionary approach enabling it’s </a:t>
            </a:r>
            <a:r>
              <a:rPr kumimoji="0" lang="en-US" sz="1000" b="0" i="0" u="none" strike="noStrike" kern="1200" cap="none" spc="0" normalizeH="0" baseline="0" noProof="0">
                <a:ln>
                  <a:noFill/>
                </a:ln>
                <a:effectLst/>
                <a:uLnTx/>
                <a:uFillTx/>
                <a:latin typeface="Calibri"/>
                <a:ea typeface="Calibri"/>
                <a:cs typeface="Calibri"/>
              </a:rPr>
              <a:t>needed to adopt instead a </a:t>
            </a:r>
            <a:r>
              <a:rPr kumimoji="0" lang="en-US" sz="1000" b="1" i="0" u="none" strike="noStrike" kern="1200" cap="none" spc="0" normalizeH="0" baseline="0" noProof="0">
                <a:ln>
                  <a:noFill/>
                </a:ln>
                <a:effectLst/>
                <a:uLnTx/>
                <a:uFillTx/>
                <a:latin typeface="Calibri"/>
                <a:ea typeface="Calibri"/>
                <a:cs typeface="Calibri"/>
              </a:rPr>
              <a:t>phased plan with clear disentanglement between technologies and layers</a:t>
            </a:r>
            <a:r>
              <a:rPr kumimoji="0" lang="en-US" sz="1000" b="0" i="0" u="none" strike="noStrike" kern="1200" cap="none" spc="0" normalizeH="0" baseline="0" noProof="0">
                <a:ln>
                  <a:noFill/>
                </a:ln>
                <a:effectLst/>
                <a:uLnTx/>
                <a:uFillTx/>
                <a:latin typeface="Calibri"/>
                <a:ea typeface="Calibri"/>
                <a:cs typeface="Calibri"/>
              </a:rPr>
              <a:t>.</a:t>
            </a:r>
            <a:r>
              <a:rPr lang="en-US" sz="1000">
                <a:latin typeface="Calibri"/>
                <a:ea typeface="Calibri"/>
                <a:cs typeface="Calibri"/>
              </a:rPr>
              <a:t> </a:t>
            </a:r>
            <a:endParaRPr kumimoji="0" lang="en-US" sz="1000" b="0"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352425" marR="0" lvl="1" indent="-171450" algn="just" defTabSz="800905" rtl="0" eaLnBrk="1" fontAlgn="auto" latinLnBrk="0" hangingPunct="1">
              <a:lnSpc>
                <a:spcPct val="100000"/>
              </a:lnSpc>
              <a:spcBef>
                <a:spcPts val="0"/>
              </a:spcBef>
              <a:spcAft>
                <a:spcPts val="200"/>
              </a:spcAft>
              <a:buClr>
                <a:srgbClr val="0EABA9"/>
              </a:buClr>
              <a:buSzPct val="100000"/>
              <a:buFont typeface="Wingdings" panose="05000000000000000000" pitchFamily="2" charset="2"/>
              <a:buChar char="§"/>
              <a:tabLst/>
              <a:defRPr/>
            </a:pPr>
            <a:r>
              <a:rPr lang="en-US" sz="1000" dirty="0">
                <a:latin typeface="Calibri" panose="020F0502020204030204" pitchFamily="34" charset="0"/>
                <a:ea typeface="Calibri" panose="020F0502020204030204" pitchFamily="34" charset="0"/>
                <a:cs typeface="Calibri" panose="020F0502020204030204" pitchFamily="34" charset="0"/>
              </a:rPr>
              <a:t>S</a:t>
            </a:r>
            <a:r>
              <a:rPr kumimoji="0" lang="en-US" sz="1000" b="0" i="0" u="none" strike="noStrike" kern="1200" cap="none" spc="0" normalizeH="0" baseline="0" noProof="0" dirty="0" err="1">
                <a:ln>
                  <a:noFill/>
                </a:ln>
                <a:effectLst/>
                <a:uLnTx/>
                <a:uFillTx/>
                <a:latin typeface="Calibri" panose="020F0502020204030204" pitchFamily="34" charset="0"/>
                <a:ea typeface="Calibri" panose="020F0502020204030204" pitchFamily="34" charset="0"/>
                <a:cs typeface="Calibri" panose="020F0502020204030204" pitchFamily="34" charset="0"/>
              </a:rPr>
              <a:t>trong</a:t>
            </a:r>
            <a:r>
              <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focus on </a:t>
            </a:r>
            <a:r>
              <a:rPr kumimoji="0" lang="en-US" sz="1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decommissioning non-mission critical legacy systems </a:t>
            </a:r>
            <a:r>
              <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and analyze the </a:t>
            </a:r>
            <a:r>
              <a:rPr kumimoji="0" lang="en-US" sz="1000" b="0" i="0" u="none" strike="noStrike" kern="1200" cap="none" spc="0" normalizeH="0" baseline="0" noProof="0" dirty="0" err="1">
                <a:ln>
                  <a:noFill/>
                </a:ln>
                <a:effectLst/>
                <a:uLnTx/>
                <a:uFillTx/>
                <a:latin typeface="Calibri" panose="020F0502020204030204" pitchFamily="34" charset="0"/>
                <a:ea typeface="Calibri" panose="020F0502020204030204" pitchFamily="34" charset="0"/>
                <a:cs typeface="Calibri" panose="020F0502020204030204" pitchFamily="34" charset="0"/>
              </a:rPr>
              <a:t>NewCo</a:t>
            </a:r>
            <a:r>
              <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role of the main technologies </a:t>
            </a:r>
            <a:r>
              <a:rPr kumimoji="0" lang="en-US" sz="1000" b="0"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rPr>
              <a:t>such as.</a:t>
            </a:r>
            <a:endPar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4" name="CasellaDiTesto 23">
            <a:extLst>
              <a:ext uri="{FF2B5EF4-FFF2-40B4-BE49-F238E27FC236}">
                <a16:creationId xmlns:a16="http://schemas.microsoft.com/office/drawing/2014/main" id="{2A54EBC6-0D31-FBF3-9A46-86FC66EAAA3B}"/>
              </a:ext>
            </a:extLst>
          </p:cNvPr>
          <p:cNvSpPr txBox="1"/>
          <p:nvPr/>
        </p:nvSpPr>
        <p:spPr bwMode="gray">
          <a:xfrm>
            <a:off x="9010171" y="2338665"/>
            <a:ext cx="2460129" cy="2990562"/>
          </a:xfrm>
          <a:prstGeom prst="rect">
            <a:avLst/>
          </a:prstGeom>
          <a:noFill/>
        </p:spPr>
        <p:txBody>
          <a:bodyPr wrap="square">
            <a:spAutoFit/>
          </a:bodyPr>
          <a:lstStyle/>
          <a:p>
            <a:pPr marL="352425" marR="0" lvl="1" indent="-171450" algn="just" defTabSz="800905" rtl="0" eaLnBrk="1" fontAlgn="auto" latinLnBrk="0" hangingPunct="1">
              <a:lnSpc>
                <a:spcPct val="100000"/>
              </a:lnSpc>
              <a:spcBef>
                <a:spcPts val="0"/>
              </a:spcBef>
              <a:spcAft>
                <a:spcPts val="200"/>
              </a:spcAft>
              <a:buClr>
                <a:srgbClr val="0EABA9"/>
              </a:buClr>
              <a:buSzPct val="100000"/>
              <a:buFont typeface="Wingdings" panose="05000000000000000000" pitchFamily="2" charset="2"/>
              <a:buChar char="§"/>
              <a:tabLst/>
              <a:defRPr/>
            </a:pPr>
            <a:r>
              <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Design of a </a:t>
            </a:r>
            <a:r>
              <a:rPr kumimoji="0" lang="en-US" sz="1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Federated layer among the 2 N&amp;S Inventories </a:t>
            </a:r>
            <a:r>
              <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to uniform their data model </a:t>
            </a:r>
            <a:r>
              <a:rPr kumimoji="0" lang="en-US" sz="1000" b="0" i="0" u="none" strike="noStrike" kern="1200" cap="none" spc="0" normalizeH="0" baseline="0" noProof="0">
                <a:ln>
                  <a:noFill/>
                </a:ln>
                <a:effectLst/>
                <a:uLnTx/>
                <a:uFillTx/>
                <a:latin typeface="Calibri" panose="020F0502020204030204" pitchFamily="34" charset="0"/>
                <a:ea typeface="Calibri" panose="020F0502020204030204" pitchFamily="34" charset="0"/>
                <a:cs typeface="Calibri" panose="020F0502020204030204" pitchFamily="34" charset="0"/>
              </a:rPr>
              <a:t>during </a:t>
            </a:r>
            <a:r>
              <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transition phase.</a:t>
            </a:r>
          </a:p>
          <a:p>
            <a:pPr marL="352425" lvl="1" indent="-171450" algn="just" defTabSz="800905">
              <a:spcAft>
                <a:spcPts val="200"/>
              </a:spcAft>
              <a:buClr>
                <a:srgbClr val="0EABA9"/>
              </a:buClr>
              <a:buSzPct val="100000"/>
              <a:buFont typeface="Wingdings" panose="05000000000000000000" pitchFamily="2" charset="2"/>
              <a:buChar char="§"/>
              <a:defRPr/>
            </a:pPr>
            <a:r>
              <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Leverage Discovery &amp; Reconciliation </a:t>
            </a:r>
            <a:r>
              <a:rPr lang="en-US" sz="1000" dirty="0">
                <a:latin typeface="Calibri" panose="020F0502020204030204" pitchFamily="34" charset="0"/>
                <a:ea typeface="Calibri" panose="020F0502020204030204" pitchFamily="34" charset="0"/>
                <a:cs typeface="Calibri" panose="020F0502020204030204" pitchFamily="34" charset="0"/>
              </a:rPr>
              <a:t>features</a:t>
            </a:r>
            <a:r>
              <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to </a:t>
            </a:r>
            <a:r>
              <a:rPr kumimoji="0" lang="en-US" sz="1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improve data consistency and reliability </a:t>
            </a:r>
            <a:r>
              <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before and after the data migration.</a:t>
            </a:r>
          </a:p>
          <a:p>
            <a:pPr marL="352425" marR="0" lvl="1" indent="-171450" algn="just" defTabSz="800905" rtl="0" eaLnBrk="1" fontAlgn="auto" latinLnBrk="0" hangingPunct="1">
              <a:lnSpc>
                <a:spcPct val="100000"/>
              </a:lnSpc>
              <a:spcBef>
                <a:spcPts val="0"/>
              </a:spcBef>
              <a:spcAft>
                <a:spcPts val="200"/>
              </a:spcAft>
              <a:buClr>
                <a:srgbClr val="0EABA9"/>
              </a:buClr>
              <a:buSzPct val="100000"/>
              <a:buFont typeface="Wingdings" panose="05000000000000000000" pitchFamily="2" charset="2"/>
              <a:buChar char="§"/>
              <a:tabLst/>
              <a:defRPr/>
            </a:pPr>
            <a:r>
              <a:rPr kumimoji="0" lang="en-US" sz="1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Phased migration of Design processes </a:t>
            </a:r>
            <a:r>
              <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(with consequent data mastership shift).</a:t>
            </a:r>
          </a:p>
          <a:p>
            <a:pPr marL="352425" marR="0" lvl="1" indent="-171450" algn="just" defTabSz="800905" rtl="0" eaLnBrk="1" fontAlgn="auto" latinLnBrk="0" hangingPunct="1">
              <a:lnSpc>
                <a:spcPct val="100000"/>
              </a:lnSpc>
              <a:spcBef>
                <a:spcPts val="0"/>
              </a:spcBef>
              <a:spcAft>
                <a:spcPts val="200"/>
              </a:spcAft>
              <a:buClr>
                <a:srgbClr val="0EABA9"/>
              </a:buClr>
              <a:buSzPct val="100000"/>
              <a:buFont typeface="Wingdings" panose="05000000000000000000" pitchFamily="2" charset="2"/>
              <a:buChar char="§"/>
              <a:tabLst/>
              <a:defRPr/>
            </a:pPr>
            <a:r>
              <a:rPr kumimoji="0" lang="en-US" sz="10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Phased migration of Operations processes &amp; wizards </a:t>
            </a:r>
            <a:r>
              <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(e.g.: bulk Creation / </a:t>
            </a:r>
            <a:r>
              <a:rPr kumimoji="0" lang="en-US" sz="1000" b="0" i="0" u="none" strike="noStrike" kern="1200" cap="none" spc="0" normalizeH="0" baseline="0" noProof="0" dirty="0" err="1">
                <a:ln>
                  <a:noFill/>
                </a:ln>
                <a:effectLst/>
                <a:uLnTx/>
                <a:uFillTx/>
                <a:latin typeface="Calibri" panose="020F0502020204030204" pitchFamily="34" charset="0"/>
                <a:ea typeface="Calibri" panose="020F0502020204030204" pitchFamily="34" charset="0"/>
                <a:cs typeface="Calibri" panose="020F0502020204030204" pitchFamily="34" charset="0"/>
              </a:rPr>
              <a:t>Modif</a:t>
            </a:r>
            <a:r>
              <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 Decommissioning /Swap for the in-scope service types into CSI).</a:t>
            </a:r>
          </a:p>
          <a:p>
            <a:pPr marL="352425" marR="0" lvl="1" indent="-171450" algn="just" defTabSz="800905" rtl="0" eaLnBrk="1" fontAlgn="auto" latinLnBrk="0" hangingPunct="1">
              <a:lnSpc>
                <a:spcPct val="100000"/>
              </a:lnSpc>
              <a:spcBef>
                <a:spcPts val="0"/>
              </a:spcBef>
              <a:spcAft>
                <a:spcPts val="200"/>
              </a:spcAft>
              <a:buClr>
                <a:schemeClr val="bg1">
                  <a:lumMod val="75000"/>
                </a:schemeClr>
              </a:buClr>
              <a:buSzPct val="100000"/>
              <a:buFont typeface="Wingdings" panose="05000000000000000000" pitchFamily="2" charset="2"/>
              <a:buChar char="§"/>
              <a:tabLst/>
              <a:defRPr/>
            </a:pPr>
            <a:endPar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a:p>
            <a:pPr marL="352425" marR="0" lvl="1" indent="-171450" algn="just" defTabSz="800905" rtl="0" eaLnBrk="1" fontAlgn="auto" latinLnBrk="0" hangingPunct="1">
              <a:lnSpc>
                <a:spcPct val="100000"/>
              </a:lnSpc>
              <a:spcBef>
                <a:spcPts val="0"/>
              </a:spcBef>
              <a:spcAft>
                <a:spcPts val="200"/>
              </a:spcAft>
              <a:buClr>
                <a:schemeClr val="bg1">
                  <a:lumMod val="75000"/>
                </a:schemeClr>
              </a:buClr>
              <a:buSzPct val="100000"/>
              <a:buFont typeface="Wingdings" panose="05000000000000000000" pitchFamily="2" charset="2"/>
              <a:buChar char="§"/>
              <a:tabLst/>
              <a:defRPr/>
            </a:pPr>
            <a:endParaRPr kumimoji="0" lang="en-US" sz="10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23" name="Groupe 1">
            <a:extLst>
              <a:ext uri="{FF2B5EF4-FFF2-40B4-BE49-F238E27FC236}">
                <a16:creationId xmlns:a16="http://schemas.microsoft.com/office/drawing/2014/main" id="{25E5302B-6759-B414-7CA5-0CDAE8167EA8}"/>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33" name="Freeform 13">
              <a:extLst>
                <a:ext uri="{FF2B5EF4-FFF2-40B4-BE49-F238E27FC236}">
                  <a16:creationId xmlns:a16="http://schemas.microsoft.com/office/drawing/2014/main" id="{D3C27247-9779-06B8-67C1-C978609A39A9}"/>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34" name="Freeform 14">
              <a:extLst>
                <a:ext uri="{FF2B5EF4-FFF2-40B4-BE49-F238E27FC236}">
                  <a16:creationId xmlns:a16="http://schemas.microsoft.com/office/drawing/2014/main" id="{6D7B431D-140D-9EFD-F35F-C6855021EE60}"/>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35" name="Foliennummernplatzhalter 5">
            <a:extLst>
              <a:ext uri="{FF2B5EF4-FFF2-40B4-BE49-F238E27FC236}">
                <a16:creationId xmlns:a16="http://schemas.microsoft.com/office/drawing/2014/main" id="{806ABC64-A893-B347-4BBC-5EDE2D259C50}"/>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16</a:t>
            </a:fld>
            <a:endParaRPr lang="en-US"/>
          </a:p>
        </p:txBody>
      </p:sp>
      <p:sp>
        <p:nvSpPr>
          <p:cNvPr id="36" name="Rectangle 27">
            <a:extLst>
              <a:ext uri="{FF2B5EF4-FFF2-40B4-BE49-F238E27FC236}">
                <a16:creationId xmlns:a16="http://schemas.microsoft.com/office/drawing/2014/main" id="{037D8D88-F62D-1E98-1EBB-6E3DC8851B39}"/>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37" name="TextBox 36">
            <a:extLst>
              <a:ext uri="{FF2B5EF4-FFF2-40B4-BE49-F238E27FC236}">
                <a16:creationId xmlns:a16="http://schemas.microsoft.com/office/drawing/2014/main" id="{BF543659-3916-88F1-B6BF-E83F36ED5BDD}"/>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extLst>
      <p:ext uri="{BB962C8B-B14F-4D97-AF65-F5344CB8AC3E}">
        <p14:creationId xmlns:p14="http://schemas.microsoft.com/office/powerpoint/2010/main" val="1196611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D17BC-F4D9-3B33-FC3C-67CF8F9F6EF3}"/>
            </a:ext>
          </a:extLst>
        </p:cNvPr>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FB9B7799-E7AB-A34A-478F-C385A91B396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14" name="think-cell data - do not delete" hidden="1">
                        <a:extLst>
                          <a:ext uri="{FF2B5EF4-FFF2-40B4-BE49-F238E27FC236}">
                            <a16:creationId xmlns:a16="http://schemas.microsoft.com/office/drawing/2014/main" id="{FB9B7799-E7AB-A34A-478F-C385A91B3963}"/>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7D0CADD-0702-FF34-878F-6201CA0DEC58}"/>
              </a:ext>
            </a:extLst>
          </p:cNvPr>
          <p:cNvSpPr>
            <a:spLocks noGrp="1"/>
          </p:cNvSpPr>
          <p:nvPr>
            <p:ph type="title"/>
            <p:custDataLst>
              <p:tags r:id="rId3"/>
            </p:custDataLst>
          </p:nvPr>
        </p:nvSpPr>
        <p:spPr/>
        <p:txBody>
          <a:bodyPr vert="horz"/>
          <a:lstStyle/>
          <a:p>
            <a:r>
              <a:rPr lang="en-US" b="1" dirty="0">
                <a:solidFill>
                  <a:schemeClr val="tx1"/>
                </a:solidFill>
              </a:rPr>
              <a:t>Stream 5 | Data &amp; AI</a:t>
            </a:r>
            <a:br>
              <a:rPr lang="en-US" b="1" dirty="0">
                <a:solidFill>
                  <a:schemeClr val="tx1"/>
                </a:solidFill>
              </a:rPr>
            </a:br>
            <a:r>
              <a:rPr lang="en-US" sz="1800" b="0" i="1" dirty="0"/>
              <a:t>Supporting the transition through an «intelligent data Office» model enabling a «data driven» and «AI infused» IT landscape integration</a:t>
            </a:r>
          </a:p>
        </p:txBody>
      </p:sp>
      <p:grpSp>
        <p:nvGrpSpPr>
          <p:cNvPr id="19" name="Groupe 1">
            <a:extLst>
              <a:ext uri="{FF2B5EF4-FFF2-40B4-BE49-F238E27FC236}">
                <a16:creationId xmlns:a16="http://schemas.microsoft.com/office/drawing/2014/main" id="{3B647AE9-31FA-F119-68E0-1EC3AA41B413}"/>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20" name="Freeform 13">
              <a:extLst>
                <a:ext uri="{FF2B5EF4-FFF2-40B4-BE49-F238E27FC236}">
                  <a16:creationId xmlns:a16="http://schemas.microsoft.com/office/drawing/2014/main" id="{9CF00E48-1F46-93BE-872B-50BEA9B112AD}"/>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21" name="Freeform 14">
              <a:extLst>
                <a:ext uri="{FF2B5EF4-FFF2-40B4-BE49-F238E27FC236}">
                  <a16:creationId xmlns:a16="http://schemas.microsoft.com/office/drawing/2014/main" id="{2CFC766F-EAEB-10F6-6BA0-43C2B8624151}"/>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642" name="TextBox 641">
            <a:extLst>
              <a:ext uri="{FF2B5EF4-FFF2-40B4-BE49-F238E27FC236}">
                <a16:creationId xmlns:a16="http://schemas.microsoft.com/office/drawing/2014/main" id="{38389D90-0522-3463-CDE6-EEC8FC58BE5B}"/>
              </a:ext>
            </a:extLst>
          </p:cNvPr>
          <p:cNvSpPr txBox="1"/>
          <p:nvPr/>
        </p:nvSpPr>
        <p:spPr>
          <a:xfrm rot="21388559">
            <a:off x="5719720" y="2038249"/>
            <a:ext cx="5985752" cy="1559240"/>
          </a:xfrm>
          <a:prstGeom prst="roundRect">
            <a:avLst/>
          </a:prstGeom>
          <a:solidFill>
            <a:srgbClr val="15B9BD"/>
          </a:solidFill>
          <a:ln>
            <a:solidFill>
              <a:srgbClr val="FFFFFF"/>
            </a:solidFill>
          </a:ln>
        </p:spPr>
        <p:txBody>
          <a:bodyPr wrap="square">
            <a:noAutofit/>
          </a:bodyPr>
          <a:lstStyle>
            <a:defPPr>
              <a:defRPr lang="it-IT"/>
            </a:defPPr>
            <a:lvl2pPr marL="0" marR="0" lvl="1" indent="0" algn="ctr" fontAlgn="auto">
              <a:lnSpc>
                <a:spcPct val="100000"/>
              </a:lnSpc>
              <a:spcBef>
                <a:spcPts val="200"/>
              </a:spcBef>
              <a:spcAft>
                <a:spcPts val="600"/>
              </a:spcAft>
              <a:buClr>
                <a:srgbClr val="FFFFFF"/>
              </a:buClr>
              <a:buSzTx/>
              <a:buFontTx/>
              <a:buNone/>
              <a:tabLst/>
              <a:defRPr kumimoji="0" sz="1200" b="1" i="0" u="none" strike="noStrike" cap="none" spc="0" normalizeH="0" baseline="0">
                <a:ln>
                  <a:noFill/>
                </a:ln>
                <a:solidFill>
                  <a:srgbClr val="12ABDB">
                    <a:lumMod val="20000"/>
                    <a:lumOff val="80000"/>
                  </a:srgbClr>
                </a:solidFill>
                <a:effectLst/>
                <a:uLnTx/>
                <a:uFillTx/>
                <a:latin typeface="Ubuntu"/>
              </a:defRPr>
            </a:lvl2pPr>
          </a:lstStyle>
          <a:p>
            <a:pPr marL="171450" marR="0" lvl="1" indent="-171450" algn="l" defTabSz="914400" eaLnBrk="1" fontAlgn="auto" latinLnBrk="0" hangingPunct="1">
              <a:lnSpc>
                <a:spcPct val="100000"/>
              </a:lnSpc>
              <a:spcBef>
                <a:spcPts val="200"/>
              </a:spcBef>
              <a:spcAft>
                <a:spcPts val="600"/>
              </a:spcAft>
              <a:buClr>
                <a:srgbClr val="FFFFFF"/>
              </a:buClr>
              <a:buSzTx/>
              <a:buFont typeface="Arial" panose="020B0604020202020204" pitchFamily="34" charset="0"/>
              <a:buChar char="•"/>
              <a:tabLst/>
              <a:defRPr/>
            </a:pPr>
            <a:endParaRPr kumimoji="0" lang="en-US" sz="900" b="1" i="0" u="none" strike="noStrike" kern="0" cap="none" spc="0" normalizeH="0" baseline="0" noProof="0">
              <a:ln>
                <a:noFill/>
              </a:ln>
              <a:solidFill>
                <a:srgbClr val="12ABDB">
                  <a:lumMod val="20000"/>
                  <a:lumOff val="80000"/>
                </a:srgbClr>
              </a:solidFill>
              <a:effectLst/>
              <a:uLnTx/>
              <a:uFillTx/>
              <a:latin typeface="+mj-lt"/>
            </a:endParaRPr>
          </a:p>
        </p:txBody>
      </p:sp>
      <p:sp>
        <p:nvSpPr>
          <p:cNvPr id="643" name="Rounded Rectangle 206">
            <a:extLst>
              <a:ext uri="{FF2B5EF4-FFF2-40B4-BE49-F238E27FC236}">
                <a16:creationId xmlns:a16="http://schemas.microsoft.com/office/drawing/2014/main" id="{DE42048A-F14C-0A15-38B5-440AB5C168E1}"/>
              </a:ext>
            </a:extLst>
          </p:cNvPr>
          <p:cNvSpPr/>
          <p:nvPr/>
        </p:nvSpPr>
        <p:spPr>
          <a:xfrm>
            <a:off x="5705242" y="1314903"/>
            <a:ext cx="4193376" cy="342444"/>
          </a:xfrm>
          <a:prstGeom prst="rect">
            <a:avLst/>
          </a:prstGeom>
          <a:solidFill>
            <a:sysClr val="windowText" lastClr="000000"/>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algn="ctr" defTabSz="609585">
              <a:spcAft>
                <a:spcPts val="1200"/>
              </a:spcAft>
              <a:buClr>
                <a:srgbClr val="0070AD"/>
              </a:buClr>
            </a:pPr>
            <a:r>
              <a:rPr lang="en-US" sz="1400" b="1" kern="0">
                <a:solidFill>
                  <a:srgbClr val="0F878A">
                    <a:lumMod val="60000"/>
                    <a:lumOff val="40000"/>
                  </a:srgbClr>
                </a:solidFill>
                <a:latin typeface="+mj-lt"/>
              </a:rPr>
              <a:t>Capgemini assets for a Modern Data Office</a:t>
            </a:r>
          </a:p>
        </p:txBody>
      </p:sp>
      <p:sp>
        <p:nvSpPr>
          <p:cNvPr id="644" name="TextBox 643">
            <a:extLst>
              <a:ext uri="{FF2B5EF4-FFF2-40B4-BE49-F238E27FC236}">
                <a16:creationId xmlns:a16="http://schemas.microsoft.com/office/drawing/2014/main" id="{BAAACFA1-ED58-9884-B497-0D83F947F6F7}"/>
              </a:ext>
            </a:extLst>
          </p:cNvPr>
          <p:cNvSpPr txBox="1"/>
          <p:nvPr/>
        </p:nvSpPr>
        <p:spPr>
          <a:xfrm>
            <a:off x="8928422" y="3639461"/>
            <a:ext cx="2956830" cy="338554"/>
          </a:xfrm>
          <a:prstGeom prst="rect">
            <a:avLst/>
          </a:prstGeom>
          <a:noFill/>
        </p:spPr>
        <p:txBody>
          <a:bodyPr wrap="square" lIns="91440" tIns="45720" rIns="0" bIns="45720" rtlCol="0" anchor="t">
            <a:spAutoFit/>
          </a:bodyPr>
          <a:lstStyle/>
          <a:p>
            <a:pPr>
              <a:spcBef>
                <a:spcPts val="200"/>
              </a:spcBef>
              <a:spcAft>
                <a:spcPts val="200"/>
              </a:spcAft>
              <a:buClr>
                <a:srgbClr val="0075AC"/>
              </a:buClr>
              <a:defRPr/>
            </a:pPr>
            <a:r>
              <a:rPr lang="en-US" sz="800" b="1">
                <a:latin typeface="+mj-lt"/>
              </a:rPr>
              <a:t>WE HAVE A CONSOLIDATE PORTFOLIO OF READY TO GO ASSETS, BEST PRACTICES AND LESSONS LEARNED</a:t>
            </a:r>
          </a:p>
        </p:txBody>
      </p:sp>
      <p:sp>
        <p:nvSpPr>
          <p:cNvPr id="645" name="TextBox 644">
            <a:extLst>
              <a:ext uri="{FF2B5EF4-FFF2-40B4-BE49-F238E27FC236}">
                <a16:creationId xmlns:a16="http://schemas.microsoft.com/office/drawing/2014/main" id="{1A865F10-8180-588F-AA8C-BCA11D627272}"/>
              </a:ext>
            </a:extLst>
          </p:cNvPr>
          <p:cNvSpPr txBox="1"/>
          <p:nvPr/>
        </p:nvSpPr>
        <p:spPr>
          <a:xfrm>
            <a:off x="5623717" y="2016389"/>
            <a:ext cx="6135470" cy="1855827"/>
          </a:xfrm>
          <a:prstGeom prst="roundRect">
            <a:avLst/>
          </a:prstGeom>
          <a:solidFill>
            <a:sysClr val="windowText" lastClr="000000"/>
          </a:solidFill>
          <a:ln w="28575">
            <a:solidFill>
              <a:srgbClr val="15B9BD"/>
            </a:solidFill>
          </a:ln>
        </p:spPr>
        <p:txBody>
          <a:bodyPr wrap="square">
            <a:spAutoFit/>
          </a:bodyPr>
          <a:lstStyle>
            <a:defPPr>
              <a:defRPr lang="it-IT"/>
            </a:defPPr>
            <a:lvl2pPr marL="0" marR="0" lvl="1" indent="0" algn="ctr" fontAlgn="auto">
              <a:lnSpc>
                <a:spcPct val="100000"/>
              </a:lnSpc>
              <a:spcBef>
                <a:spcPts val="200"/>
              </a:spcBef>
              <a:spcAft>
                <a:spcPts val="600"/>
              </a:spcAft>
              <a:buClr>
                <a:srgbClr val="FFFFFF"/>
              </a:buClr>
              <a:buSzTx/>
              <a:buFontTx/>
              <a:buNone/>
              <a:tabLst/>
              <a:defRPr kumimoji="0" sz="1200" b="1" i="0" u="none" strike="noStrike" cap="none" spc="0" normalizeH="0" baseline="0">
                <a:ln>
                  <a:noFill/>
                </a:ln>
                <a:solidFill>
                  <a:srgbClr val="12ABDB">
                    <a:lumMod val="20000"/>
                    <a:lumOff val="80000"/>
                  </a:srgbClr>
                </a:solidFill>
                <a:effectLst/>
                <a:uLnTx/>
                <a:uFillTx/>
                <a:latin typeface="Ubuntu"/>
              </a:defRPr>
            </a:lvl2pPr>
          </a:lstStyle>
          <a:p>
            <a:pPr marL="171450" marR="0" lvl="1" indent="-171450" algn="l" defTabSz="914400" eaLnBrk="1" fontAlgn="auto" latinLnBrk="0" hangingPunct="1">
              <a:lnSpc>
                <a:spcPct val="100000"/>
              </a:lnSpc>
              <a:spcBef>
                <a:spcPts val="200"/>
              </a:spcBef>
              <a:spcAft>
                <a:spcPts val="600"/>
              </a:spcAft>
              <a:buClr>
                <a:srgbClr val="FFFFFF"/>
              </a:buClr>
              <a:buSzTx/>
              <a:buFont typeface="Arial" panose="020B0604020202020204" pitchFamily="34" charset="0"/>
              <a:buChar char="•"/>
              <a:tabLst/>
              <a:defRPr/>
            </a:pPr>
            <a:r>
              <a:rPr kumimoji="0" lang="en-US" sz="900" b="1" i="0" u="none" strike="noStrike" kern="0" cap="none" spc="0" normalizeH="0" baseline="0" noProof="0">
                <a:ln>
                  <a:noFill/>
                </a:ln>
                <a:solidFill>
                  <a:srgbClr val="12ABDB">
                    <a:lumMod val="20000"/>
                    <a:lumOff val="80000"/>
                  </a:srgbClr>
                </a:solidFill>
                <a:effectLst/>
                <a:uLnTx/>
                <a:uFillTx/>
                <a:latin typeface="+mj-lt"/>
              </a:rPr>
              <a:t>«AI Infused» &amp; «CLOUD enabled»  Modern Data Platform</a:t>
            </a:r>
          </a:p>
          <a:p>
            <a:pPr marL="171450" marR="0" lvl="1" indent="-171450" algn="l" defTabSz="914400" eaLnBrk="1" fontAlgn="auto" latinLnBrk="0" hangingPunct="1">
              <a:lnSpc>
                <a:spcPct val="100000"/>
              </a:lnSpc>
              <a:spcBef>
                <a:spcPts val="200"/>
              </a:spcBef>
              <a:spcAft>
                <a:spcPts val="600"/>
              </a:spcAft>
              <a:buClr>
                <a:srgbClr val="FFFFFF"/>
              </a:buClr>
              <a:buSzTx/>
              <a:buFont typeface="Arial" panose="020B0604020202020204" pitchFamily="34" charset="0"/>
              <a:buChar char="•"/>
              <a:tabLst/>
              <a:defRPr/>
            </a:pPr>
            <a:r>
              <a:rPr kumimoji="0" lang="en-US" sz="900" b="1" i="0" u="none" strike="noStrike" kern="0" cap="none" spc="0" normalizeH="0" baseline="0" noProof="0">
                <a:ln>
                  <a:noFill/>
                </a:ln>
                <a:solidFill>
                  <a:srgbClr val="12ABDB">
                    <a:lumMod val="20000"/>
                    <a:lumOff val="80000"/>
                  </a:srgbClr>
                </a:solidFill>
                <a:effectLst/>
                <a:uLnTx/>
                <a:uFillTx/>
                <a:latin typeface="+mj-lt"/>
              </a:rPr>
              <a:t>Smart &amp; Collaborative Data Governance &amp; Data Virtualization Frameworks</a:t>
            </a:r>
          </a:p>
          <a:p>
            <a:pPr marL="171450" marR="0" lvl="1" indent="-171450" algn="l" defTabSz="914400" eaLnBrk="1" fontAlgn="auto" latinLnBrk="0" hangingPunct="1">
              <a:lnSpc>
                <a:spcPct val="100000"/>
              </a:lnSpc>
              <a:spcBef>
                <a:spcPts val="200"/>
              </a:spcBef>
              <a:spcAft>
                <a:spcPts val="600"/>
              </a:spcAft>
              <a:buClr>
                <a:srgbClr val="FFFFFF"/>
              </a:buClr>
              <a:buSzTx/>
              <a:buFont typeface="Arial" panose="020B0604020202020204" pitchFamily="34" charset="0"/>
              <a:buChar char="•"/>
              <a:tabLst/>
              <a:defRPr/>
            </a:pPr>
            <a:r>
              <a:rPr kumimoji="0" lang="en-US" sz="900" b="1" i="0" u="none" strike="noStrike" kern="0" cap="none" spc="0" normalizeH="0" baseline="0" noProof="0">
                <a:ln>
                  <a:noFill/>
                </a:ln>
                <a:solidFill>
                  <a:srgbClr val="12ABDB">
                    <a:lumMod val="20000"/>
                    <a:lumOff val="80000"/>
                  </a:srgbClr>
                </a:solidFill>
                <a:effectLst/>
                <a:uLnTx/>
                <a:uFillTx/>
                <a:latin typeface="+mj-lt"/>
              </a:rPr>
              <a:t>Customer and Network Data Analytics « transition layer »  to enable cross-domain visibility under a </a:t>
            </a:r>
            <a:r>
              <a:rPr kumimoji="0" lang="en-US" sz="900" b="1" i="0" u="none" strike="noStrike" kern="0" cap="none" spc="0" normalizeH="0" baseline="0" noProof="0" err="1">
                <a:ln>
                  <a:noFill/>
                </a:ln>
                <a:solidFill>
                  <a:srgbClr val="12ABDB">
                    <a:lumMod val="20000"/>
                    <a:lumOff val="80000"/>
                  </a:srgbClr>
                </a:solidFill>
                <a:effectLst/>
                <a:uLnTx/>
                <a:uFillTx/>
                <a:latin typeface="+mj-lt"/>
              </a:rPr>
              <a:t>NewCo</a:t>
            </a:r>
            <a:r>
              <a:rPr kumimoji="0" lang="en-US" sz="900" b="1" i="0" u="none" strike="noStrike" kern="0" cap="none" spc="0" normalizeH="0" baseline="0" noProof="0">
                <a:ln>
                  <a:noFill/>
                </a:ln>
                <a:solidFill>
                  <a:srgbClr val="12ABDB">
                    <a:lumMod val="20000"/>
                    <a:lumOff val="80000"/>
                  </a:srgbClr>
                </a:solidFill>
                <a:effectLst/>
                <a:uLnTx/>
                <a:uFillTx/>
                <a:latin typeface="+mj-lt"/>
              </a:rPr>
              <a:t> approach</a:t>
            </a:r>
          </a:p>
          <a:p>
            <a:pPr marL="171450" marR="0" lvl="1" indent="-171450" algn="l" defTabSz="914400" eaLnBrk="1" fontAlgn="auto" latinLnBrk="0" hangingPunct="1">
              <a:lnSpc>
                <a:spcPct val="100000"/>
              </a:lnSpc>
              <a:spcBef>
                <a:spcPts val="200"/>
              </a:spcBef>
              <a:spcAft>
                <a:spcPts val="600"/>
              </a:spcAft>
              <a:buClr>
                <a:srgbClr val="FFFFFF"/>
              </a:buClr>
              <a:buSzTx/>
              <a:buFont typeface="Arial" panose="020B0604020202020204" pitchFamily="34" charset="0"/>
              <a:buChar char="•"/>
              <a:tabLst/>
              <a:defRPr/>
            </a:pPr>
            <a:r>
              <a:rPr kumimoji="0" lang="en-US" sz="900" b="1" i="0" u="none" strike="noStrike" kern="0" cap="none" spc="0" normalizeH="0" baseline="0" noProof="0">
                <a:ln>
                  <a:noFill/>
                </a:ln>
                <a:solidFill>
                  <a:srgbClr val="12ABDB">
                    <a:lumMod val="20000"/>
                    <a:lumOff val="80000"/>
                  </a:srgbClr>
                </a:solidFill>
                <a:effectLst/>
                <a:uLnTx/>
                <a:uFillTx/>
                <a:latin typeface="+mj-lt"/>
              </a:rPr>
              <a:t>Enterprise Data Hub to feed «RT mission critical business decisioning &amp; NBA central brain»</a:t>
            </a:r>
          </a:p>
          <a:p>
            <a:pPr marL="171450" marR="0" lvl="1" indent="-171450" algn="l" defTabSz="914400" eaLnBrk="1" fontAlgn="auto" latinLnBrk="0" hangingPunct="1">
              <a:lnSpc>
                <a:spcPct val="100000"/>
              </a:lnSpc>
              <a:spcBef>
                <a:spcPts val="200"/>
              </a:spcBef>
              <a:spcAft>
                <a:spcPts val="600"/>
              </a:spcAft>
              <a:buClr>
                <a:srgbClr val="FFFFFF"/>
              </a:buClr>
              <a:buSzTx/>
              <a:buFont typeface="Arial" panose="020B0604020202020204" pitchFamily="34" charset="0"/>
              <a:buChar char="•"/>
              <a:tabLst/>
              <a:defRPr/>
            </a:pPr>
            <a:r>
              <a:rPr kumimoji="0" lang="en-US" sz="900" b="1" i="0" u="none" strike="noStrike" kern="0" cap="none" spc="0" normalizeH="0" baseline="0" noProof="0">
                <a:ln>
                  <a:noFill/>
                </a:ln>
                <a:solidFill>
                  <a:srgbClr val="12ABDB">
                    <a:lumMod val="20000"/>
                    <a:lumOff val="80000"/>
                  </a:srgbClr>
                </a:solidFill>
                <a:effectLst/>
                <a:uLnTx/>
                <a:uFillTx/>
                <a:latin typeface="+mj-lt"/>
              </a:rPr>
              <a:t>IDEA: Our modular and KPI based acceleration framework</a:t>
            </a:r>
          </a:p>
          <a:p>
            <a:pPr marL="171450" marR="0" lvl="1" indent="-171450" algn="l" defTabSz="914400" eaLnBrk="1" fontAlgn="auto" latinLnBrk="0" hangingPunct="1">
              <a:lnSpc>
                <a:spcPct val="100000"/>
              </a:lnSpc>
              <a:spcBef>
                <a:spcPts val="200"/>
              </a:spcBef>
              <a:spcAft>
                <a:spcPts val="600"/>
              </a:spcAft>
              <a:buClr>
                <a:srgbClr val="FFFFFF"/>
              </a:buClr>
              <a:buSzTx/>
              <a:buFont typeface="Arial" panose="020B0604020202020204" pitchFamily="34" charset="0"/>
              <a:buChar char="•"/>
              <a:tabLst/>
              <a:defRPr/>
            </a:pPr>
            <a:r>
              <a:rPr kumimoji="0" lang="en-US" sz="900" b="1" i="0" u="none" strike="noStrike" kern="0" cap="none" spc="0" normalizeH="0" baseline="0" noProof="0">
                <a:ln>
                  <a:noFill/>
                </a:ln>
                <a:solidFill>
                  <a:srgbClr val="12ABDB">
                    <a:lumMod val="20000"/>
                    <a:lumOff val="80000"/>
                  </a:srgbClr>
                </a:solidFill>
                <a:effectLst/>
                <a:uLnTx/>
                <a:uFillTx/>
                <a:latin typeface="+mj-lt"/>
              </a:rPr>
              <a:t>Telco AI/</a:t>
            </a:r>
            <a:r>
              <a:rPr kumimoji="0" lang="en-US" sz="900" b="1" i="0" u="none" strike="noStrike" kern="0" cap="none" spc="0" normalizeH="0" baseline="0" noProof="0" err="1">
                <a:ln>
                  <a:noFill/>
                </a:ln>
                <a:solidFill>
                  <a:srgbClr val="12ABDB">
                    <a:lumMod val="20000"/>
                    <a:lumOff val="80000"/>
                  </a:srgbClr>
                </a:solidFill>
                <a:effectLst/>
                <a:uLnTx/>
                <a:uFillTx/>
                <a:latin typeface="+mj-lt"/>
              </a:rPr>
              <a:t>MLOps</a:t>
            </a:r>
            <a:r>
              <a:rPr kumimoji="0" lang="en-US" sz="900" b="1" i="0" u="none" strike="noStrike" kern="0" cap="none" spc="0" normalizeH="0" baseline="0" noProof="0">
                <a:ln>
                  <a:noFill/>
                </a:ln>
                <a:solidFill>
                  <a:srgbClr val="12ABDB">
                    <a:lumMod val="20000"/>
                    <a:lumOff val="80000"/>
                  </a:srgbClr>
                </a:solidFill>
                <a:effectLst/>
                <a:uLnTx/>
                <a:uFillTx/>
                <a:latin typeface="+mj-lt"/>
              </a:rPr>
              <a:t> Factory founded on Telco specific assets and skills of Capgemini Engineering</a:t>
            </a:r>
          </a:p>
          <a:p>
            <a:pPr marL="171450" marR="0" lvl="1" indent="-171450" algn="l" defTabSz="914400" eaLnBrk="1" fontAlgn="auto" latinLnBrk="0" hangingPunct="1">
              <a:lnSpc>
                <a:spcPct val="100000"/>
              </a:lnSpc>
              <a:spcBef>
                <a:spcPts val="200"/>
              </a:spcBef>
              <a:spcAft>
                <a:spcPts val="600"/>
              </a:spcAft>
              <a:buClr>
                <a:srgbClr val="FFFFFF"/>
              </a:buClr>
              <a:buSzTx/>
              <a:buFont typeface="Arial" panose="020B0604020202020204" pitchFamily="34" charset="0"/>
              <a:buChar char="•"/>
              <a:tabLst/>
              <a:defRPr/>
            </a:pPr>
            <a:r>
              <a:rPr kumimoji="0" lang="en-US" sz="900" b="1" i="0" u="none" strike="noStrike" kern="0" cap="none" spc="0" normalizeH="0" baseline="0" noProof="0" err="1">
                <a:ln>
                  <a:noFill/>
                </a:ln>
                <a:solidFill>
                  <a:srgbClr val="12ABDB">
                    <a:lumMod val="20000"/>
                    <a:lumOff val="80000"/>
                  </a:srgbClr>
                </a:solidFill>
                <a:effectLst/>
                <a:uLnTx/>
                <a:uFillTx/>
                <a:latin typeface="+mj-lt"/>
              </a:rPr>
              <a:t>GenAI</a:t>
            </a:r>
            <a:r>
              <a:rPr kumimoji="0" lang="en-US" sz="900" b="1" i="0" u="none" strike="noStrike" kern="0" cap="none" spc="0" normalizeH="0" baseline="0" noProof="0">
                <a:ln>
                  <a:noFill/>
                </a:ln>
                <a:solidFill>
                  <a:srgbClr val="12ABDB">
                    <a:lumMod val="20000"/>
                    <a:lumOff val="80000"/>
                  </a:srgbClr>
                </a:solidFill>
                <a:effectLst/>
                <a:uLnTx/>
                <a:uFillTx/>
                <a:latin typeface="+mj-lt"/>
              </a:rPr>
              <a:t> Use Cases @Catalog for Telcos </a:t>
            </a:r>
          </a:p>
        </p:txBody>
      </p:sp>
      <p:grpSp>
        <p:nvGrpSpPr>
          <p:cNvPr id="647" name="Group 646">
            <a:extLst>
              <a:ext uri="{FF2B5EF4-FFF2-40B4-BE49-F238E27FC236}">
                <a16:creationId xmlns:a16="http://schemas.microsoft.com/office/drawing/2014/main" id="{EC6226DC-9DF3-7972-BB6B-7E2E8E6B01B9}"/>
              </a:ext>
            </a:extLst>
          </p:cNvPr>
          <p:cNvGrpSpPr/>
          <p:nvPr/>
        </p:nvGrpSpPr>
        <p:grpSpPr>
          <a:xfrm>
            <a:off x="5226050" y="3999424"/>
            <a:ext cx="5681435" cy="2618421"/>
            <a:chOff x="1697118" y="2378637"/>
            <a:chExt cx="7161569" cy="3216048"/>
          </a:xfrm>
        </p:grpSpPr>
        <p:grpSp>
          <p:nvGrpSpPr>
            <p:cNvPr id="648" name="Group 647">
              <a:extLst>
                <a:ext uri="{FF2B5EF4-FFF2-40B4-BE49-F238E27FC236}">
                  <a16:creationId xmlns:a16="http://schemas.microsoft.com/office/drawing/2014/main" id="{D0ABF9A1-F2DE-0A23-4C4A-0EDB00017C90}"/>
                </a:ext>
              </a:extLst>
            </p:cNvPr>
            <p:cNvGrpSpPr/>
            <p:nvPr/>
          </p:nvGrpSpPr>
          <p:grpSpPr>
            <a:xfrm>
              <a:off x="5239296" y="2392740"/>
              <a:ext cx="3619391" cy="2664567"/>
              <a:chOff x="6350754" y="2897521"/>
              <a:chExt cx="3619391" cy="2664567"/>
            </a:xfrm>
          </p:grpSpPr>
          <p:grpSp>
            <p:nvGrpSpPr>
              <p:cNvPr id="712" name="Group 711">
                <a:extLst>
                  <a:ext uri="{FF2B5EF4-FFF2-40B4-BE49-F238E27FC236}">
                    <a16:creationId xmlns:a16="http://schemas.microsoft.com/office/drawing/2014/main" id="{6880FA99-14F0-B0D0-7867-5A5E8A2754B4}"/>
                  </a:ext>
                </a:extLst>
              </p:cNvPr>
              <p:cNvGrpSpPr/>
              <p:nvPr/>
            </p:nvGrpSpPr>
            <p:grpSpPr>
              <a:xfrm>
                <a:off x="6350754" y="2897521"/>
                <a:ext cx="3619391" cy="2592288"/>
                <a:chOff x="6231781" y="2276872"/>
                <a:chExt cx="3619391" cy="2592288"/>
              </a:xfrm>
            </p:grpSpPr>
            <p:cxnSp>
              <p:nvCxnSpPr>
                <p:cNvPr id="738" name="Connector: Elbow 737">
                  <a:extLst>
                    <a:ext uri="{FF2B5EF4-FFF2-40B4-BE49-F238E27FC236}">
                      <a16:creationId xmlns:a16="http://schemas.microsoft.com/office/drawing/2014/main" id="{27C806B4-FE69-782A-01D1-EC030EF82974}"/>
                    </a:ext>
                  </a:extLst>
                </p:cNvPr>
                <p:cNvCxnSpPr>
                  <a:cxnSpLocks/>
                </p:cNvCxnSpPr>
                <p:nvPr/>
              </p:nvCxnSpPr>
              <p:spPr>
                <a:xfrm rot="16200000" flipH="1">
                  <a:off x="6009270" y="3675908"/>
                  <a:ext cx="1640925" cy="365126"/>
                </a:xfrm>
                <a:prstGeom prst="bentConnector2">
                  <a:avLst/>
                </a:prstGeom>
                <a:noFill/>
                <a:ln w="6350" cap="flat" cmpd="sng" algn="ctr">
                  <a:solidFill>
                    <a:srgbClr val="2B0A3D"/>
                  </a:solidFill>
                  <a:prstDash val="solid"/>
                  <a:miter lim="800000"/>
                </a:ln>
                <a:effectLst/>
              </p:spPr>
            </p:cxnSp>
            <p:cxnSp>
              <p:nvCxnSpPr>
                <p:cNvPr id="739" name="Connector: Elbow 738">
                  <a:extLst>
                    <a:ext uri="{FF2B5EF4-FFF2-40B4-BE49-F238E27FC236}">
                      <a16:creationId xmlns:a16="http://schemas.microsoft.com/office/drawing/2014/main" id="{99959912-7AFB-0E03-F8D1-E77A878519D8}"/>
                    </a:ext>
                  </a:extLst>
                </p:cNvPr>
                <p:cNvCxnSpPr>
                  <a:cxnSpLocks/>
                </p:cNvCxnSpPr>
                <p:nvPr/>
              </p:nvCxnSpPr>
              <p:spPr>
                <a:xfrm rot="16200000" flipH="1">
                  <a:off x="5957789" y="3214070"/>
                  <a:ext cx="1486712" cy="107952"/>
                </a:xfrm>
                <a:prstGeom prst="bentConnector2">
                  <a:avLst/>
                </a:prstGeom>
                <a:noFill/>
                <a:ln w="6350" cap="flat" cmpd="sng" algn="ctr">
                  <a:solidFill>
                    <a:srgbClr val="2B0A3D"/>
                  </a:solidFill>
                  <a:prstDash val="solid"/>
                  <a:miter lim="800000"/>
                </a:ln>
                <a:effectLst/>
              </p:spPr>
            </p:cxnSp>
            <p:grpSp>
              <p:nvGrpSpPr>
                <p:cNvPr id="740" name="Group 739">
                  <a:extLst>
                    <a:ext uri="{FF2B5EF4-FFF2-40B4-BE49-F238E27FC236}">
                      <a16:creationId xmlns:a16="http://schemas.microsoft.com/office/drawing/2014/main" id="{B5DD4A4E-B77F-6FC0-3E49-C3B75C715898}"/>
                    </a:ext>
                  </a:extLst>
                </p:cNvPr>
                <p:cNvGrpSpPr/>
                <p:nvPr/>
              </p:nvGrpSpPr>
              <p:grpSpPr>
                <a:xfrm>
                  <a:off x="6755121" y="3222126"/>
                  <a:ext cx="2552555" cy="378583"/>
                  <a:chOff x="6755121" y="3290254"/>
                  <a:chExt cx="2552555" cy="378583"/>
                </a:xfrm>
              </p:grpSpPr>
              <p:sp>
                <p:nvSpPr>
                  <p:cNvPr id="751" name="Rectangle 750">
                    <a:extLst>
                      <a:ext uri="{FF2B5EF4-FFF2-40B4-BE49-F238E27FC236}">
                        <a16:creationId xmlns:a16="http://schemas.microsoft.com/office/drawing/2014/main" id="{5CBBAFB4-75E9-8ECC-AB61-F61C377CB5C7}"/>
                      </a:ext>
                    </a:extLst>
                  </p:cNvPr>
                  <p:cNvSpPr/>
                  <p:nvPr/>
                </p:nvSpPr>
                <p:spPr>
                  <a:xfrm>
                    <a:off x="7012295" y="3290254"/>
                    <a:ext cx="2295381" cy="378583"/>
                  </a:xfrm>
                  <a:prstGeom prst="rect">
                    <a:avLst/>
                  </a:prstGeom>
                  <a:solidFill>
                    <a:srgbClr val="ECECEC"/>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prstClr val="black"/>
                        </a:solidFill>
                        <a:effectLst/>
                        <a:uLnTx/>
                        <a:uFillTx/>
                        <a:latin typeface="+mj-lt"/>
                        <a:ea typeface="+mn-ea"/>
                        <a:cs typeface="+mn-cs"/>
                      </a:rPr>
                      <a:t>DATA GOVERNANCE FOUNDATION</a:t>
                    </a:r>
                  </a:p>
                </p:txBody>
              </p:sp>
              <p:sp>
                <p:nvSpPr>
                  <p:cNvPr id="752" name="Rectangle 751">
                    <a:extLst>
                      <a:ext uri="{FF2B5EF4-FFF2-40B4-BE49-F238E27FC236}">
                        <a16:creationId xmlns:a16="http://schemas.microsoft.com/office/drawing/2014/main" id="{B821CB2D-8690-6721-BD9A-4A5E56E9D9DC}"/>
                      </a:ext>
                    </a:extLst>
                  </p:cNvPr>
                  <p:cNvSpPr/>
                  <p:nvPr/>
                </p:nvSpPr>
                <p:spPr>
                  <a:xfrm>
                    <a:off x="6755121" y="3290254"/>
                    <a:ext cx="257174" cy="378582"/>
                  </a:xfrm>
                  <a:prstGeom prst="rect">
                    <a:avLst/>
                  </a:prstGeom>
                  <a:solidFill>
                    <a:srgbClr val="0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FFFFFF"/>
                        </a:solidFill>
                        <a:effectLst/>
                        <a:uLnTx/>
                        <a:uFillTx/>
                        <a:latin typeface="+mj-lt"/>
                        <a:ea typeface="+mn-ea"/>
                        <a:cs typeface="+mn-cs"/>
                      </a:rPr>
                      <a:t>A</a:t>
                    </a:r>
                  </a:p>
                </p:txBody>
              </p:sp>
            </p:grpSp>
            <p:grpSp>
              <p:nvGrpSpPr>
                <p:cNvPr id="741" name="Group 740">
                  <a:extLst>
                    <a:ext uri="{FF2B5EF4-FFF2-40B4-BE49-F238E27FC236}">
                      <a16:creationId xmlns:a16="http://schemas.microsoft.com/office/drawing/2014/main" id="{EBF96867-9894-08D6-D34C-4BDB4618D22D}"/>
                    </a:ext>
                  </a:extLst>
                </p:cNvPr>
                <p:cNvGrpSpPr/>
                <p:nvPr/>
              </p:nvGrpSpPr>
              <p:grpSpPr>
                <a:xfrm>
                  <a:off x="6755121" y="3855739"/>
                  <a:ext cx="2569509" cy="378873"/>
                  <a:chOff x="6755121" y="3889948"/>
                  <a:chExt cx="2569509" cy="378873"/>
                </a:xfrm>
              </p:grpSpPr>
              <p:sp>
                <p:nvSpPr>
                  <p:cNvPr id="749" name="Rectangle 748">
                    <a:extLst>
                      <a:ext uri="{FF2B5EF4-FFF2-40B4-BE49-F238E27FC236}">
                        <a16:creationId xmlns:a16="http://schemas.microsoft.com/office/drawing/2014/main" id="{8F8B1F83-E540-9B89-FA89-67E741D06443}"/>
                      </a:ext>
                    </a:extLst>
                  </p:cNvPr>
                  <p:cNvSpPr/>
                  <p:nvPr/>
                </p:nvSpPr>
                <p:spPr>
                  <a:xfrm>
                    <a:off x="7012296" y="3889948"/>
                    <a:ext cx="2312334" cy="378583"/>
                  </a:xfrm>
                  <a:prstGeom prst="rect">
                    <a:avLst/>
                  </a:prstGeom>
                  <a:solidFill>
                    <a:srgbClr val="ECECEC"/>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prstClr val="black"/>
                        </a:solidFill>
                        <a:effectLst/>
                        <a:uLnTx/>
                        <a:uFillTx/>
                        <a:latin typeface="+mj-lt"/>
                        <a:ea typeface="+mn-ea"/>
                        <a:cs typeface="+mn-cs"/>
                      </a:rPr>
                      <a:t>DATA GOVERNANCE TOOLS &amp; PROCESS DESIGN</a:t>
                    </a:r>
                  </a:p>
                </p:txBody>
              </p:sp>
              <p:sp>
                <p:nvSpPr>
                  <p:cNvPr id="750" name="Rectangle 749">
                    <a:extLst>
                      <a:ext uri="{FF2B5EF4-FFF2-40B4-BE49-F238E27FC236}">
                        <a16:creationId xmlns:a16="http://schemas.microsoft.com/office/drawing/2014/main" id="{1B7CFDAD-A373-DCE7-3B6A-C3BA9EFDFD04}"/>
                      </a:ext>
                    </a:extLst>
                  </p:cNvPr>
                  <p:cNvSpPr/>
                  <p:nvPr/>
                </p:nvSpPr>
                <p:spPr>
                  <a:xfrm>
                    <a:off x="6755121" y="3890239"/>
                    <a:ext cx="257174" cy="378582"/>
                  </a:xfrm>
                  <a:prstGeom prst="rect">
                    <a:avLst/>
                  </a:prstGeom>
                  <a:solidFill>
                    <a:srgbClr val="0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FFFFFF"/>
                        </a:solidFill>
                        <a:effectLst/>
                        <a:uLnTx/>
                        <a:uFillTx/>
                        <a:latin typeface="+mj-lt"/>
                        <a:ea typeface="+mn-ea"/>
                        <a:cs typeface="+mn-cs"/>
                      </a:rPr>
                      <a:t>B</a:t>
                    </a:r>
                  </a:p>
                </p:txBody>
              </p:sp>
            </p:grpSp>
            <p:grpSp>
              <p:nvGrpSpPr>
                <p:cNvPr id="742" name="Group 741">
                  <a:extLst>
                    <a:ext uri="{FF2B5EF4-FFF2-40B4-BE49-F238E27FC236}">
                      <a16:creationId xmlns:a16="http://schemas.microsoft.com/office/drawing/2014/main" id="{4D479601-C49D-AEA5-B2BF-A23A58DD51C7}"/>
                    </a:ext>
                  </a:extLst>
                </p:cNvPr>
                <p:cNvGrpSpPr/>
                <p:nvPr/>
              </p:nvGrpSpPr>
              <p:grpSpPr>
                <a:xfrm>
                  <a:off x="6755121" y="4489642"/>
                  <a:ext cx="2569507" cy="379518"/>
                  <a:chOff x="6755121" y="4489642"/>
                  <a:chExt cx="2569507" cy="379518"/>
                </a:xfrm>
              </p:grpSpPr>
              <p:sp>
                <p:nvSpPr>
                  <p:cNvPr id="747" name="Rectangle 746">
                    <a:extLst>
                      <a:ext uri="{FF2B5EF4-FFF2-40B4-BE49-F238E27FC236}">
                        <a16:creationId xmlns:a16="http://schemas.microsoft.com/office/drawing/2014/main" id="{10D79222-F4FA-0555-5E98-4DBBE6F62A72}"/>
                      </a:ext>
                    </a:extLst>
                  </p:cNvPr>
                  <p:cNvSpPr/>
                  <p:nvPr/>
                </p:nvSpPr>
                <p:spPr>
                  <a:xfrm>
                    <a:off x="7012295" y="4489642"/>
                    <a:ext cx="2312333" cy="378583"/>
                  </a:xfrm>
                  <a:prstGeom prst="rect">
                    <a:avLst/>
                  </a:prstGeom>
                  <a:solidFill>
                    <a:srgbClr val="ECECEC"/>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prstClr val="black"/>
                        </a:solidFill>
                        <a:effectLst/>
                        <a:uLnTx/>
                        <a:uFillTx/>
                        <a:latin typeface="+mj-lt"/>
                        <a:ea typeface="+mn-ea"/>
                        <a:cs typeface="+mn-cs"/>
                      </a:rPr>
                      <a:t>DATA OFFICE ROADMAP</a:t>
                    </a:r>
                  </a:p>
                </p:txBody>
              </p:sp>
              <p:sp>
                <p:nvSpPr>
                  <p:cNvPr id="748" name="Rectangle 747">
                    <a:extLst>
                      <a:ext uri="{FF2B5EF4-FFF2-40B4-BE49-F238E27FC236}">
                        <a16:creationId xmlns:a16="http://schemas.microsoft.com/office/drawing/2014/main" id="{6EE82FC6-B614-637A-5AF1-D0626A6ABF8A}"/>
                      </a:ext>
                    </a:extLst>
                  </p:cNvPr>
                  <p:cNvSpPr/>
                  <p:nvPr/>
                </p:nvSpPr>
                <p:spPr>
                  <a:xfrm>
                    <a:off x="6755121" y="4490578"/>
                    <a:ext cx="257174" cy="378582"/>
                  </a:xfrm>
                  <a:prstGeom prst="rect">
                    <a:avLst/>
                  </a:prstGeom>
                  <a:solidFill>
                    <a:srgbClr val="00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FFFFFF"/>
                        </a:solidFill>
                        <a:effectLst/>
                        <a:uLnTx/>
                        <a:uFillTx/>
                        <a:latin typeface="+mj-lt"/>
                        <a:ea typeface="+mn-ea"/>
                        <a:cs typeface="+mn-cs"/>
                      </a:rPr>
                      <a:t>C</a:t>
                    </a:r>
                  </a:p>
                </p:txBody>
              </p:sp>
            </p:grpSp>
            <p:cxnSp>
              <p:nvCxnSpPr>
                <p:cNvPr id="743" name="Connector: Elbow 29">
                  <a:extLst>
                    <a:ext uri="{FF2B5EF4-FFF2-40B4-BE49-F238E27FC236}">
                      <a16:creationId xmlns:a16="http://schemas.microsoft.com/office/drawing/2014/main" id="{94740A34-1B49-A381-2FA9-78542CBA0E51}"/>
                    </a:ext>
                  </a:extLst>
                </p:cNvPr>
                <p:cNvCxnSpPr>
                  <a:cxnSpLocks/>
                  <a:endCxn id="752" idx="1"/>
                </p:cNvCxnSpPr>
                <p:nvPr/>
              </p:nvCxnSpPr>
              <p:spPr>
                <a:xfrm>
                  <a:off x="6647169" y="3411417"/>
                  <a:ext cx="107952" cy="0"/>
                </a:xfrm>
                <a:prstGeom prst="straightConnector1">
                  <a:avLst/>
                </a:prstGeom>
                <a:noFill/>
                <a:ln w="6350" cap="flat" cmpd="sng" algn="ctr">
                  <a:solidFill>
                    <a:srgbClr val="2B0A3D"/>
                  </a:solidFill>
                  <a:prstDash val="solid"/>
                  <a:miter lim="800000"/>
                </a:ln>
                <a:effectLst/>
              </p:spPr>
            </p:cxnSp>
            <p:grpSp>
              <p:nvGrpSpPr>
                <p:cNvPr id="744" name="Group 743">
                  <a:extLst>
                    <a:ext uri="{FF2B5EF4-FFF2-40B4-BE49-F238E27FC236}">
                      <a16:creationId xmlns:a16="http://schemas.microsoft.com/office/drawing/2014/main" id="{5C0A914C-E109-7A3D-96F3-1E89A00061B2}"/>
                    </a:ext>
                  </a:extLst>
                </p:cNvPr>
                <p:cNvGrpSpPr/>
                <p:nvPr/>
              </p:nvGrpSpPr>
              <p:grpSpPr>
                <a:xfrm>
                  <a:off x="6231781" y="2276872"/>
                  <a:ext cx="3619391" cy="703263"/>
                  <a:chOff x="4861183" y="1104900"/>
                  <a:chExt cx="3619391" cy="703263"/>
                </a:xfrm>
              </p:grpSpPr>
              <p:sp>
                <p:nvSpPr>
                  <p:cNvPr id="745" name="Rectangle: Rounded Corners 744">
                    <a:extLst>
                      <a:ext uri="{FF2B5EF4-FFF2-40B4-BE49-F238E27FC236}">
                        <a16:creationId xmlns:a16="http://schemas.microsoft.com/office/drawing/2014/main" id="{0EDF7624-4516-17CE-917C-08F36CF92306}"/>
                      </a:ext>
                    </a:extLst>
                  </p:cNvPr>
                  <p:cNvSpPr/>
                  <p:nvPr/>
                </p:nvSpPr>
                <p:spPr>
                  <a:xfrm>
                    <a:off x="5001041" y="1252922"/>
                    <a:ext cx="3479533" cy="555241"/>
                  </a:xfrm>
                  <a:prstGeom prst="roundRect">
                    <a:avLst/>
                  </a:prstGeom>
                  <a:solidFill>
                    <a:srgbClr val="000000"/>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FFFFFF"/>
                        </a:solidFill>
                        <a:effectLst/>
                        <a:uLnTx/>
                        <a:uFillTx/>
                        <a:latin typeface="+mj-lt"/>
                        <a:ea typeface="+mn-ea"/>
                        <a:cs typeface="+mn-cs"/>
                      </a:rPr>
                      <a:t>Data Office Enhancement</a:t>
                    </a:r>
                  </a:p>
                </p:txBody>
              </p:sp>
              <p:sp>
                <p:nvSpPr>
                  <p:cNvPr id="746" name="Oval 18">
                    <a:extLst>
                      <a:ext uri="{FF2B5EF4-FFF2-40B4-BE49-F238E27FC236}">
                        <a16:creationId xmlns:a16="http://schemas.microsoft.com/office/drawing/2014/main" id="{B94DAF11-A25A-1168-8F74-CBECA7B28E53}"/>
                      </a:ext>
                    </a:extLst>
                  </p:cNvPr>
                  <p:cNvSpPr/>
                  <p:nvPr/>
                </p:nvSpPr>
                <p:spPr>
                  <a:xfrm>
                    <a:off x="4861183" y="1104900"/>
                    <a:ext cx="288000" cy="288000"/>
                  </a:xfrm>
                  <a:prstGeom prst="ellipse">
                    <a:avLst/>
                  </a:prstGeom>
                  <a:solidFill>
                    <a:srgbClr val="0070AD">
                      <a:lumMod val="50000"/>
                    </a:srgbClr>
                  </a:solidFill>
                  <a:ln w="28575"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mj-lt"/>
                        <a:ea typeface="+mn-ea"/>
                        <a:cs typeface="+mn-cs"/>
                      </a:rPr>
                      <a:t>2</a:t>
                    </a:r>
                  </a:p>
                </p:txBody>
              </p:sp>
            </p:grpSp>
          </p:grpSp>
          <p:grpSp>
            <p:nvGrpSpPr>
              <p:cNvPr id="713" name="Group 712">
                <a:extLst>
                  <a:ext uri="{FF2B5EF4-FFF2-40B4-BE49-F238E27FC236}">
                    <a16:creationId xmlns:a16="http://schemas.microsoft.com/office/drawing/2014/main" id="{3DBF5475-3C5F-4618-D181-5A04CCD0C271}"/>
                  </a:ext>
                </a:extLst>
              </p:cNvPr>
              <p:cNvGrpSpPr/>
              <p:nvPr/>
            </p:nvGrpSpPr>
            <p:grpSpPr>
              <a:xfrm>
                <a:off x="9238336" y="3763494"/>
                <a:ext cx="543029" cy="548531"/>
                <a:chOff x="10320138" y="3147837"/>
                <a:chExt cx="1008000" cy="1008000"/>
              </a:xfrm>
            </p:grpSpPr>
            <p:sp>
              <p:nvSpPr>
                <p:cNvPr id="734" name="Oval 733">
                  <a:extLst>
                    <a:ext uri="{FF2B5EF4-FFF2-40B4-BE49-F238E27FC236}">
                      <a16:creationId xmlns:a16="http://schemas.microsoft.com/office/drawing/2014/main" id="{40229E55-78EE-CF6E-5104-A554AD15B4DA}"/>
                    </a:ext>
                  </a:extLst>
                </p:cNvPr>
                <p:cNvSpPr/>
                <p:nvPr/>
              </p:nvSpPr>
              <p:spPr>
                <a:xfrm>
                  <a:off x="10320138" y="3147837"/>
                  <a:ext cx="1008000" cy="1008000"/>
                </a:xfrm>
                <a:prstGeom prst="ellipse">
                  <a:avLst/>
                </a:prstGeom>
                <a:solidFill>
                  <a:srgbClr val="000000"/>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mj-lt"/>
                    <a:ea typeface="+mn-ea"/>
                    <a:cs typeface="+mn-cs"/>
                  </a:endParaRPr>
                </a:p>
              </p:txBody>
            </p:sp>
            <p:grpSp>
              <p:nvGrpSpPr>
                <p:cNvPr id="735" name="Groupe 26">
                  <a:extLst>
                    <a:ext uri="{FF2B5EF4-FFF2-40B4-BE49-F238E27FC236}">
                      <a16:creationId xmlns:a16="http://schemas.microsoft.com/office/drawing/2014/main" id="{68EF10D7-A202-166A-076B-BF67A43DD712}"/>
                    </a:ext>
                  </a:extLst>
                </p:cNvPr>
                <p:cNvGrpSpPr>
                  <a:grpSpLocks noChangeAspect="1"/>
                </p:cNvGrpSpPr>
                <p:nvPr/>
              </p:nvGrpSpPr>
              <p:grpSpPr>
                <a:xfrm>
                  <a:off x="10442511" y="3291837"/>
                  <a:ext cx="763255" cy="720000"/>
                  <a:chOff x="6159989" y="6458552"/>
                  <a:chExt cx="938994" cy="885779"/>
                </a:xfrm>
              </p:grpSpPr>
              <p:sp>
                <p:nvSpPr>
                  <p:cNvPr id="736" name="Freeform 116">
                    <a:extLst>
                      <a:ext uri="{FF2B5EF4-FFF2-40B4-BE49-F238E27FC236}">
                        <a16:creationId xmlns:a16="http://schemas.microsoft.com/office/drawing/2014/main" id="{17584A47-050D-6664-DF31-1ED7079F614A}"/>
                      </a:ext>
                    </a:extLst>
                  </p:cNvPr>
                  <p:cNvSpPr>
                    <a:spLocks/>
                  </p:cNvSpPr>
                  <p:nvPr/>
                </p:nvSpPr>
                <p:spPr bwMode="auto">
                  <a:xfrm>
                    <a:off x="6159989" y="6458552"/>
                    <a:ext cx="938994" cy="885779"/>
                  </a:xfrm>
                  <a:custGeom>
                    <a:avLst/>
                    <a:gdLst>
                      <a:gd name="T0" fmla="*/ 65 w 451"/>
                      <a:gd name="T1" fmla="*/ 330 h 422"/>
                      <a:gd name="T2" fmla="*/ 108 w 451"/>
                      <a:gd name="T3" fmla="*/ 63 h 422"/>
                      <a:gd name="T4" fmla="*/ 387 w 451"/>
                      <a:gd name="T5" fmla="*/ 102 h 422"/>
                      <a:gd name="T6" fmla="*/ 336 w 451"/>
                      <a:gd name="T7" fmla="*/ 359 h 422"/>
                      <a:gd name="T8" fmla="*/ 65 w 451"/>
                      <a:gd name="T9" fmla="*/ 330 h 422"/>
                    </a:gdLst>
                    <a:ahLst/>
                    <a:cxnLst>
                      <a:cxn ang="0">
                        <a:pos x="T0" y="T1"/>
                      </a:cxn>
                      <a:cxn ang="0">
                        <a:pos x="T2" y="T3"/>
                      </a:cxn>
                      <a:cxn ang="0">
                        <a:pos x="T4" y="T5"/>
                      </a:cxn>
                      <a:cxn ang="0">
                        <a:pos x="T6" y="T7"/>
                      </a:cxn>
                      <a:cxn ang="0">
                        <a:pos x="T8" y="T9"/>
                      </a:cxn>
                    </a:cxnLst>
                    <a:rect l="0" t="0" r="r" b="b"/>
                    <a:pathLst>
                      <a:path w="451" h="422">
                        <a:moveTo>
                          <a:pt x="65" y="330"/>
                        </a:moveTo>
                        <a:cubicBezTo>
                          <a:pt x="0" y="245"/>
                          <a:pt x="19" y="126"/>
                          <a:pt x="108" y="63"/>
                        </a:cubicBezTo>
                        <a:cubicBezTo>
                          <a:pt x="197" y="0"/>
                          <a:pt x="322" y="18"/>
                          <a:pt x="387" y="102"/>
                        </a:cubicBezTo>
                        <a:cubicBezTo>
                          <a:pt x="451" y="187"/>
                          <a:pt x="425" y="296"/>
                          <a:pt x="336" y="359"/>
                        </a:cubicBezTo>
                        <a:cubicBezTo>
                          <a:pt x="247" y="422"/>
                          <a:pt x="130" y="414"/>
                          <a:pt x="65" y="330"/>
                        </a:cubicBezTo>
                      </a:path>
                    </a:pathLst>
                  </a:custGeom>
                  <a:solidFill>
                    <a:srgbClr val="0070AD"/>
                  </a:solidFill>
                  <a:ln>
                    <a:noFill/>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ndParaRPr>
                  </a:p>
                </p:txBody>
              </p:sp>
              <p:sp>
                <p:nvSpPr>
                  <p:cNvPr id="737" name="Freeform 37">
                    <a:extLst>
                      <a:ext uri="{FF2B5EF4-FFF2-40B4-BE49-F238E27FC236}">
                        <a16:creationId xmlns:a16="http://schemas.microsoft.com/office/drawing/2014/main" id="{0120BA0C-7894-CD56-9BA6-324DCF149990}"/>
                      </a:ext>
                    </a:extLst>
                  </p:cNvPr>
                  <p:cNvSpPr>
                    <a:spLocks noEditPoints="1"/>
                  </p:cNvSpPr>
                  <p:nvPr/>
                </p:nvSpPr>
                <p:spPr bwMode="auto">
                  <a:xfrm>
                    <a:off x="6395667" y="6686697"/>
                    <a:ext cx="453909" cy="408343"/>
                  </a:xfrm>
                  <a:custGeom>
                    <a:avLst/>
                    <a:gdLst>
                      <a:gd name="T0" fmla="*/ 63 w 291"/>
                      <a:gd name="T1" fmla="*/ 268 h 269"/>
                      <a:gd name="T2" fmla="*/ 0 w 291"/>
                      <a:gd name="T3" fmla="*/ 252 h 269"/>
                      <a:gd name="T4" fmla="*/ 16 w 291"/>
                      <a:gd name="T5" fmla="*/ 6 h 269"/>
                      <a:gd name="T6" fmla="*/ 79 w 291"/>
                      <a:gd name="T7" fmla="*/ 21 h 269"/>
                      <a:gd name="T8" fmla="*/ 63 w 291"/>
                      <a:gd name="T9" fmla="*/ 184 h 269"/>
                      <a:gd name="T10" fmla="*/ 68 w 291"/>
                      <a:gd name="T11" fmla="*/ 21 h 269"/>
                      <a:gd name="T12" fmla="*/ 16 w 291"/>
                      <a:gd name="T13" fmla="*/ 16 h 269"/>
                      <a:gd name="T14" fmla="*/ 11 w 291"/>
                      <a:gd name="T15" fmla="*/ 179 h 269"/>
                      <a:gd name="T16" fmla="*/ 63 w 291"/>
                      <a:gd name="T17" fmla="*/ 184 h 269"/>
                      <a:gd name="T18" fmla="*/ 16 w 291"/>
                      <a:gd name="T19" fmla="*/ 220 h 269"/>
                      <a:gd name="T20" fmla="*/ 63 w 291"/>
                      <a:gd name="T21" fmla="*/ 220 h 269"/>
                      <a:gd name="T22" fmla="*/ 168 w 291"/>
                      <a:gd name="T23" fmla="*/ 252 h 269"/>
                      <a:gd name="T24" fmla="*/ 105 w 291"/>
                      <a:gd name="T25" fmla="*/ 268 h 269"/>
                      <a:gd name="T26" fmla="*/ 89 w 291"/>
                      <a:gd name="T27" fmla="*/ 21 h 269"/>
                      <a:gd name="T28" fmla="*/ 152 w 291"/>
                      <a:gd name="T29" fmla="*/ 6 h 269"/>
                      <a:gd name="T30" fmla="*/ 168 w 291"/>
                      <a:gd name="T31" fmla="*/ 252 h 269"/>
                      <a:gd name="T32" fmla="*/ 157 w 291"/>
                      <a:gd name="T33" fmla="*/ 179 h 269"/>
                      <a:gd name="T34" fmla="*/ 152 w 291"/>
                      <a:gd name="T35" fmla="*/ 16 h 269"/>
                      <a:gd name="T36" fmla="*/ 100 w 291"/>
                      <a:gd name="T37" fmla="*/ 21 h 269"/>
                      <a:gd name="T38" fmla="*/ 105 w 291"/>
                      <a:gd name="T39" fmla="*/ 184 h 269"/>
                      <a:gd name="T40" fmla="*/ 128 w 291"/>
                      <a:gd name="T41" fmla="*/ 197 h 269"/>
                      <a:gd name="T42" fmla="*/ 128 w 291"/>
                      <a:gd name="T43" fmla="*/ 244 h 269"/>
                      <a:gd name="T44" fmla="*/ 128 w 291"/>
                      <a:gd name="T45" fmla="*/ 197 h 269"/>
                      <a:gd name="T46" fmla="*/ 276 w 291"/>
                      <a:gd name="T47" fmla="*/ 260 h 269"/>
                      <a:gd name="T48" fmla="*/ 212 w 291"/>
                      <a:gd name="T49" fmla="*/ 255 h 269"/>
                      <a:gd name="T50" fmla="*/ 188 w 291"/>
                      <a:gd name="T51" fmla="*/ 9 h 269"/>
                      <a:gd name="T52" fmla="*/ 253 w 291"/>
                      <a:gd name="T53" fmla="*/ 14 h 269"/>
                      <a:gd name="T54" fmla="*/ 263 w 291"/>
                      <a:gd name="T55" fmla="*/ 177 h 269"/>
                      <a:gd name="T56" fmla="*/ 242 w 291"/>
                      <a:gd name="T57" fmla="*/ 16 h 269"/>
                      <a:gd name="T58" fmla="*/ 190 w 291"/>
                      <a:gd name="T59" fmla="*/ 19 h 269"/>
                      <a:gd name="T60" fmla="*/ 210 w 291"/>
                      <a:gd name="T61" fmla="*/ 181 h 269"/>
                      <a:gd name="T62" fmla="*/ 263 w 291"/>
                      <a:gd name="T63" fmla="*/ 177 h 269"/>
                      <a:gd name="T64" fmla="*/ 222 w 291"/>
                      <a:gd name="T65" fmla="*/ 221 h 269"/>
                      <a:gd name="T66" fmla="*/ 269 w 291"/>
                      <a:gd name="T67" fmla="*/ 213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91" h="269">
                        <a:moveTo>
                          <a:pt x="79" y="252"/>
                        </a:moveTo>
                        <a:cubicBezTo>
                          <a:pt x="79" y="261"/>
                          <a:pt x="72" y="268"/>
                          <a:pt x="63" y="268"/>
                        </a:cubicBezTo>
                        <a:cubicBezTo>
                          <a:pt x="16" y="268"/>
                          <a:pt x="16" y="268"/>
                          <a:pt x="16" y="268"/>
                        </a:cubicBezTo>
                        <a:cubicBezTo>
                          <a:pt x="7" y="268"/>
                          <a:pt x="0" y="261"/>
                          <a:pt x="0" y="252"/>
                        </a:cubicBezTo>
                        <a:cubicBezTo>
                          <a:pt x="0" y="21"/>
                          <a:pt x="0" y="21"/>
                          <a:pt x="0" y="21"/>
                        </a:cubicBezTo>
                        <a:cubicBezTo>
                          <a:pt x="0" y="13"/>
                          <a:pt x="7" y="6"/>
                          <a:pt x="16" y="6"/>
                        </a:cubicBezTo>
                        <a:cubicBezTo>
                          <a:pt x="63" y="6"/>
                          <a:pt x="63" y="6"/>
                          <a:pt x="63" y="6"/>
                        </a:cubicBezTo>
                        <a:cubicBezTo>
                          <a:pt x="72" y="6"/>
                          <a:pt x="79" y="13"/>
                          <a:pt x="79" y="21"/>
                        </a:cubicBezTo>
                        <a:lnTo>
                          <a:pt x="79" y="252"/>
                        </a:lnTo>
                        <a:close/>
                        <a:moveTo>
                          <a:pt x="63" y="184"/>
                        </a:moveTo>
                        <a:cubicBezTo>
                          <a:pt x="66" y="184"/>
                          <a:pt x="68" y="181"/>
                          <a:pt x="68" y="179"/>
                        </a:cubicBezTo>
                        <a:cubicBezTo>
                          <a:pt x="68" y="21"/>
                          <a:pt x="68" y="21"/>
                          <a:pt x="68" y="21"/>
                        </a:cubicBezTo>
                        <a:cubicBezTo>
                          <a:pt x="68" y="18"/>
                          <a:pt x="66" y="16"/>
                          <a:pt x="63" y="16"/>
                        </a:cubicBezTo>
                        <a:cubicBezTo>
                          <a:pt x="16" y="16"/>
                          <a:pt x="16" y="16"/>
                          <a:pt x="16" y="16"/>
                        </a:cubicBezTo>
                        <a:cubicBezTo>
                          <a:pt x="13" y="16"/>
                          <a:pt x="11" y="18"/>
                          <a:pt x="11" y="21"/>
                        </a:cubicBezTo>
                        <a:cubicBezTo>
                          <a:pt x="11" y="179"/>
                          <a:pt x="11" y="179"/>
                          <a:pt x="11" y="179"/>
                        </a:cubicBezTo>
                        <a:cubicBezTo>
                          <a:pt x="11" y="181"/>
                          <a:pt x="13" y="184"/>
                          <a:pt x="16" y="184"/>
                        </a:cubicBezTo>
                        <a:lnTo>
                          <a:pt x="63" y="184"/>
                        </a:lnTo>
                        <a:close/>
                        <a:moveTo>
                          <a:pt x="39" y="197"/>
                        </a:moveTo>
                        <a:cubicBezTo>
                          <a:pt x="26" y="197"/>
                          <a:pt x="16" y="207"/>
                          <a:pt x="16" y="220"/>
                        </a:cubicBezTo>
                        <a:cubicBezTo>
                          <a:pt x="16" y="233"/>
                          <a:pt x="26" y="244"/>
                          <a:pt x="39" y="244"/>
                        </a:cubicBezTo>
                        <a:cubicBezTo>
                          <a:pt x="52" y="244"/>
                          <a:pt x="63" y="233"/>
                          <a:pt x="63" y="220"/>
                        </a:cubicBezTo>
                        <a:cubicBezTo>
                          <a:pt x="63" y="207"/>
                          <a:pt x="52" y="197"/>
                          <a:pt x="39" y="197"/>
                        </a:cubicBezTo>
                        <a:close/>
                        <a:moveTo>
                          <a:pt x="168" y="252"/>
                        </a:moveTo>
                        <a:cubicBezTo>
                          <a:pt x="168" y="261"/>
                          <a:pt x="161" y="268"/>
                          <a:pt x="152" y="268"/>
                        </a:cubicBezTo>
                        <a:cubicBezTo>
                          <a:pt x="105" y="268"/>
                          <a:pt x="105" y="268"/>
                          <a:pt x="105" y="268"/>
                        </a:cubicBezTo>
                        <a:cubicBezTo>
                          <a:pt x="96" y="268"/>
                          <a:pt x="89" y="261"/>
                          <a:pt x="89" y="252"/>
                        </a:cubicBezTo>
                        <a:cubicBezTo>
                          <a:pt x="89" y="21"/>
                          <a:pt x="89" y="21"/>
                          <a:pt x="89" y="21"/>
                        </a:cubicBezTo>
                        <a:cubicBezTo>
                          <a:pt x="89" y="13"/>
                          <a:pt x="96" y="6"/>
                          <a:pt x="105" y="6"/>
                        </a:cubicBezTo>
                        <a:cubicBezTo>
                          <a:pt x="152" y="6"/>
                          <a:pt x="152" y="6"/>
                          <a:pt x="152" y="6"/>
                        </a:cubicBezTo>
                        <a:cubicBezTo>
                          <a:pt x="161" y="6"/>
                          <a:pt x="168" y="13"/>
                          <a:pt x="168" y="21"/>
                        </a:cubicBezTo>
                        <a:lnTo>
                          <a:pt x="168" y="252"/>
                        </a:lnTo>
                        <a:close/>
                        <a:moveTo>
                          <a:pt x="152" y="184"/>
                        </a:moveTo>
                        <a:cubicBezTo>
                          <a:pt x="155" y="184"/>
                          <a:pt x="157" y="181"/>
                          <a:pt x="157" y="179"/>
                        </a:cubicBezTo>
                        <a:cubicBezTo>
                          <a:pt x="157" y="21"/>
                          <a:pt x="157" y="21"/>
                          <a:pt x="157" y="21"/>
                        </a:cubicBezTo>
                        <a:cubicBezTo>
                          <a:pt x="157" y="18"/>
                          <a:pt x="155" y="16"/>
                          <a:pt x="152" y="16"/>
                        </a:cubicBezTo>
                        <a:cubicBezTo>
                          <a:pt x="105" y="16"/>
                          <a:pt x="105" y="16"/>
                          <a:pt x="105" y="16"/>
                        </a:cubicBezTo>
                        <a:cubicBezTo>
                          <a:pt x="102" y="16"/>
                          <a:pt x="100" y="18"/>
                          <a:pt x="100" y="21"/>
                        </a:cubicBezTo>
                        <a:cubicBezTo>
                          <a:pt x="100" y="179"/>
                          <a:pt x="100" y="179"/>
                          <a:pt x="100" y="179"/>
                        </a:cubicBezTo>
                        <a:cubicBezTo>
                          <a:pt x="100" y="181"/>
                          <a:pt x="102" y="184"/>
                          <a:pt x="105" y="184"/>
                        </a:cubicBezTo>
                        <a:lnTo>
                          <a:pt x="152" y="184"/>
                        </a:lnTo>
                        <a:close/>
                        <a:moveTo>
                          <a:pt x="128" y="197"/>
                        </a:moveTo>
                        <a:cubicBezTo>
                          <a:pt x="115" y="197"/>
                          <a:pt x="105" y="207"/>
                          <a:pt x="105" y="220"/>
                        </a:cubicBezTo>
                        <a:cubicBezTo>
                          <a:pt x="105" y="233"/>
                          <a:pt x="115" y="244"/>
                          <a:pt x="128" y="244"/>
                        </a:cubicBezTo>
                        <a:cubicBezTo>
                          <a:pt x="142" y="244"/>
                          <a:pt x="152" y="233"/>
                          <a:pt x="152" y="220"/>
                        </a:cubicBezTo>
                        <a:cubicBezTo>
                          <a:pt x="152" y="207"/>
                          <a:pt x="142" y="197"/>
                          <a:pt x="128" y="197"/>
                        </a:cubicBezTo>
                        <a:close/>
                        <a:moveTo>
                          <a:pt x="289" y="242"/>
                        </a:moveTo>
                        <a:cubicBezTo>
                          <a:pt x="291" y="251"/>
                          <a:pt x="285" y="259"/>
                          <a:pt x="276" y="260"/>
                        </a:cubicBezTo>
                        <a:cubicBezTo>
                          <a:pt x="230" y="268"/>
                          <a:pt x="230" y="268"/>
                          <a:pt x="230" y="268"/>
                        </a:cubicBezTo>
                        <a:cubicBezTo>
                          <a:pt x="221" y="269"/>
                          <a:pt x="213" y="263"/>
                          <a:pt x="212" y="255"/>
                        </a:cubicBezTo>
                        <a:cubicBezTo>
                          <a:pt x="175" y="27"/>
                          <a:pt x="175" y="27"/>
                          <a:pt x="175" y="27"/>
                        </a:cubicBezTo>
                        <a:cubicBezTo>
                          <a:pt x="174" y="18"/>
                          <a:pt x="180" y="10"/>
                          <a:pt x="188" y="9"/>
                        </a:cubicBezTo>
                        <a:cubicBezTo>
                          <a:pt x="235" y="1"/>
                          <a:pt x="235" y="1"/>
                          <a:pt x="235" y="1"/>
                        </a:cubicBezTo>
                        <a:cubicBezTo>
                          <a:pt x="243" y="0"/>
                          <a:pt x="251" y="6"/>
                          <a:pt x="253" y="14"/>
                        </a:cubicBezTo>
                        <a:lnTo>
                          <a:pt x="289" y="242"/>
                        </a:lnTo>
                        <a:close/>
                        <a:moveTo>
                          <a:pt x="263" y="177"/>
                        </a:moveTo>
                        <a:cubicBezTo>
                          <a:pt x="266" y="177"/>
                          <a:pt x="268" y="174"/>
                          <a:pt x="267" y="171"/>
                        </a:cubicBezTo>
                        <a:cubicBezTo>
                          <a:pt x="242" y="16"/>
                          <a:pt x="242" y="16"/>
                          <a:pt x="242" y="16"/>
                        </a:cubicBezTo>
                        <a:cubicBezTo>
                          <a:pt x="242" y="13"/>
                          <a:pt x="239" y="11"/>
                          <a:pt x="236" y="12"/>
                        </a:cubicBezTo>
                        <a:cubicBezTo>
                          <a:pt x="190" y="19"/>
                          <a:pt x="190" y="19"/>
                          <a:pt x="190" y="19"/>
                        </a:cubicBezTo>
                        <a:cubicBezTo>
                          <a:pt x="187" y="20"/>
                          <a:pt x="185" y="22"/>
                          <a:pt x="185" y="25"/>
                        </a:cubicBezTo>
                        <a:cubicBezTo>
                          <a:pt x="210" y="181"/>
                          <a:pt x="210" y="181"/>
                          <a:pt x="210" y="181"/>
                        </a:cubicBezTo>
                        <a:cubicBezTo>
                          <a:pt x="211" y="183"/>
                          <a:pt x="214" y="185"/>
                          <a:pt x="216" y="185"/>
                        </a:cubicBezTo>
                        <a:lnTo>
                          <a:pt x="263" y="177"/>
                        </a:lnTo>
                        <a:close/>
                        <a:moveTo>
                          <a:pt x="242" y="194"/>
                        </a:moveTo>
                        <a:cubicBezTo>
                          <a:pt x="229" y="196"/>
                          <a:pt x="220" y="208"/>
                          <a:pt x="222" y="221"/>
                        </a:cubicBezTo>
                        <a:cubicBezTo>
                          <a:pt x="224" y="234"/>
                          <a:pt x="236" y="242"/>
                          <a:pt x="249" y="240"/>
                        </a:cubicBezTo>
                        <a:cubicBezTo>
                          <a:pt x="262" y="238"/>
                          <a:pt x="271" y="226"/>
                          <a:pt x="269" y="213"/>
                        </a:cubicBezTo>
                        <a:cubicBezTo>
                          <a:pt x="267" y="200"/>
                          <a:pt x="255" y="192"/>
                          <a:pt x="242" y="194"/>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grpSp>
          </p:grpSp>
          <p:grpSp>
            <p:nvGrpSpPr>
              <p:cNvPr id="714" name="Group 713">
                <a:extLst>
                  <a:ext uri="{FF2B5EF4-FFF2-40B4-BE49-F238E27FC236}">
                    <a16:creationId xmlns:a16="http://schemas.microsoft.com/office/drawing/2014/main" id="{DF205FD9-54A8-7454-2786-60B221D372F2}"/>
                  </a:ext>
                </a:extLst>
              </p:cNvPr>
              <p:cNvGrpSpPr/>
              <p:nvPr/>
            </p:nvGrpSpPr>
            <p:grpSpPr>
              <a:xfrm>
                <a:off x="9240702" y="4390555"/>
                <a:ext cx="538296" cy="543750"/>
                <a:chOff x="10320138" y="3147837"/>
                <a:chExt cx="1008000" cy="1008000"/>
              </a:xfrm>
            </p:grpSpPr>
            <p:sp>
              <p:nvSpPr>
                <p:cNvPr id="732" name="Oval 731">
                  <a:extLst>
                    <a:ext uri="{FF2B5EF4-FFF2-40B4-BE49-F238E27FC236}">
                      <a16:creationId xmlns:a16="http://schemas.microsoft.com/office/drawing/2014/main" id="{92E9DDA2-91EA-7355-4BD1-020B421673F5}"/>
                    </a:ext>
                  </a:extLst>
                </p:cNvPr>
                <p:cNvSpPr/>
                <p:nvPr/>
              </p:nvSpPr>
              <p:spPr>
                <a:xfrm>
                  <a:off x="10320138" y="3147837"/>
                  <a:ext cx="1008000" cy="1008000"/>
                </a:xfrm>
                <a:prstGeom prst="ellipse">
                  <a:avLst/>
                </a:prstGeom>
                <a:solidFill>
                  <a:srgbClr val="000000"/>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mj-lt"/>
                    <a:ea typeface="+mn-ea"/>
                    <a:cs typeface="+mn-cs"/>
                  </a:endParaRPr>
                </a:p>
              </p:txBody>
            </p:sp>
            <p:sp>
              <p:nvSpPr>
                <p:cNvPr id="733" name="Freeform 116">
                  <a:extLst>
                    <a:ext uri="{FF2B5EF4-FFF2-40B4-BE49-F238E27FC236}">
                      <a16:creationId xmlns:a16="http://schemas.microsoft.com/office/drawing/2014/main" id="{B0A53E39-CFA9-B66D-B1D0-FB71B5D2B490}"/>
                    </a:ext>
                  </a:extLst>
                </p:cNvPr>
                <p:cNvSpPr>
                  <a:spLocks/>
                </p:cNvSpPr>
                <p:nvPr/>
              </p:nvSpPr>
              <p:spPr bwMode="auto">
                <a:xfrm>
                  <a:off x="10442512" y="3291837"/>
                  <a:ext cx="763254" cy="720001"/>
                </a:xfrm>
                <a:custGeom>
                  <a:avLst/>
                  <a:gdLst>
                    <a:gd name="T0" fmla="*/ 65 w 451"/>
                    <a:gd name="T1" fmla="*/ 330 h 422"/>
                    <a:gd name="T2" fmla="*/ 108 w 451"/>
                    <a:gd name="T3" fmla="*/ 63 h 422"/>
                    <a:gd name="T4" fmla="*/ 387 w 451"/>
                    <a:gd name="T5" fmla="*/ 102 h 422"/>
                    <a:gd name="T6" fmla="*/ 336 w 451"/>
                    <a:gd name="T7" fmla="*/ 359 h 422"/>
                    <a:gd name="T8" fmla="*/ 65 w 451"/>
                    <a:gd name="T9" fmla="*/ 330 h 422"/>
                  </a:gdLst>
                  <a:ahLst/>
                  <a:cxnLst>
                    <a:cxn ang="0">
                      <a:pos x="T0" y="T1"/>
                    </a:cxn>
                    <a:cxn ang="0">
                      <a:pos x="T2" y="T3"/>
                    </a:cxn>
                    <a:cxn ang="0">
                      <a:pos x="T4" y="T5"/>
                    </a:cxn>
                    <a:cxn ang="0">
                      <a:pos x="T6" y="T7"/>
                    </a:cxn>
                    <a:cxn ang="0">
                      <a:pos x="T8" y="T9"/>
                    </a:cxn>
                  </a:cxnLst>
                  <a:rect l="0" t="0" r="r" b="b"/>
                  <a:pathLst>
                    <a:path w="451" h="422">
                      <a:moveTo>
                        <a:pt x="65" y="330"/>
                      </a:moveTo>
                      <a:cubicBezTo>
                        <a:pt x="0" y="245"/>
                        <a:pt x="19" y="126"/>
                        <a:pt x="108" y="63"/>
                      </a:cubicBezTo>
                      <a:cubicBezTo>
                        <a:pt x="197" y="0"/>
                        <a:pt x="322" y="18"/>
                        <a:pt x="387" y="102"/>
                      </a:cubicBezTo>
                      <a:cubicBezTo>
                        <a:pt x="451" y="187"/>
                        <a:pt x="425" y="296"/>
                        <a:pt x="336" y="359"/>
                      </a:cubicBezTo>
                      <a:cubicBezTo>
                        <a:pt x="247" y="422"/>
                        <a:pt x="130" y="414"/>
                        <a:pt x="65" y="330"/>
                      </a:cubicBezTo>
                    </a:path>
                  </a:pathLst>
                </a:custGeom>
                <a:solidFill>
                  <a:srgbClr val="0070AD"/>
                </a:solidFill>
                <a:ln>
                  <a:noFill/>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ndParaRPr>
                </a:p>
              </p:txBody>
            </p:sp>
          </p:grpSp>
          <p:grpSp>
            <p:nvGrpSpPr>
              <p:cNvPr id="715" name="Group 714">
                <a:extLst>
                  <a:ext uri="{FF2B5EF4-FFF2-40B4-BE49-F238E27FC236}">
                    <a16:creationId xmlns:a16="http://schemas.microsoft.com/office/drawing/2014/main" id="{1CB94E48-7A44-2AEA-B93A-DA12AC68E202}"/>
                  </a:ext>
                </a:extLst>
              </p:cNvPr>
              <p:cNvGrpSpPr/>
              <p:nvPr/>
            </p:nvGrpSpPr>
            <p:grpSpPr>
              <a:xfrm>
                <a:off x="9240702" y="5018338"/>
                <a:ext cx="538296" cy="543750"/>
                <a:chOff x="10320138" y="3147837"/>
                <a:chExt cx="1008000" cy="1008000"/>
              </a:xfrm>
            </p:grpSpPr>
            <p:sp>
              <p:nvSpPr>
                <p:cNvPr id="730" name="Oval 729">
                  <a:extLst>
                    <a:ext uri="{FF2B5EF4-FFF2-40B4-BE49-F238E27FC236}">
                      <a16:creationId xmlns:a16="http://schemas.microsoft.com/office/drawing/2014/main" id="{EBB9516E-7B3C-0D8F-6569-6C12413C71BC}"/>
                    </a:ext>
                  </a:extLst>
                </p:cNvPr>
                <p:cNvSpPr/>
                <p:nvPr/>
              </p:nvSpPr>
              <p:spPr>
                <a:xfrm>
                  <a:off x="10320138" y="3147837"/>
                  <a:ext cx="1008000" cy="1008000"/>
                </a:xfrm>
                <a:prstGeom prst="ellipse">
                  <a:avLst/>
                </a:prstGeom>
                <a:solidFill>
                  <a:srgbClr val="000000"/>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mj-lt"/>
                    <a:ea typeface="+mn-ea"/>
                    <a:cs typeface="+mn-cs"/>
                  </a:endParaRPr>
                </a:p>
              </p:txBody>
            </p:sp>
            <p:sp>
              <p:nvSpPr>
                <p:cNvPr id="731" name="Freeform 116">
                  <a:extLst>
                    <a:ext uri="{FF2B5EF4-FFF2-40B4-BE49-F238E27FC236}">
                      <a16:creationId xmlns:a16="http://schemas.microsoft.com/office/drawing/2014/main" id="{59E4F65F-17A2-3BA1-234D-F22326B0E5B1}"/>
                    </a:ext>
                  </a:extLst>
                </p:cNvPr>
                <p:cNvSpPr>
                  <a:spLocks/>
                </p:cNvSpPr>
                <p:nvPr/>
              </p:nvSpPr>
              <p:spPr bwMode="auto">
                <a:xfrm>
                  <a:off x="10442512" y="3291837"/>
                  <a:ext cx="763254" cy="720001"/>
                </a:xfrm>
                <a:custGeom>
                  <a:avLst/>
                  <a:gdLst>
                    <a:gd name="T0" fmla="*/ 65 w 451"/>
                    <a:gd name="T1" fmla="*/ 330 h 422"/>
                    <a:gd name="T2" fmla="*/ 108 w 451"/>
                    <a:gd name="T3" fmla="*/ 63 h 422"/>
                    <a:gd name="T4" fmla="*/ 387 w 451"/>
                    <a:gd name="T5" fmla="*/ 102 h 422"/>
                    <a:gd name="T6" fmla="*/ 336 w 451"/>
                    <a:gd name="T7" fmla="*/ 359 h 422"/>
                    <a:gd name="T8" fmla="*/ 65 w 451"/>
                    <a:gd name="T9" fmla="*/ 330 h 422"/>
                  </a:gdLst>
                  <a:ahLst/>
                  <a:cxnLst>
                    <a:cxn ang="0">
                      <a:pos x="T0" y="T1"/>
                    </a:cxn>
                    <a:cxn ang="0">
                      <a:pos x="T2" y="T3"/>
                    </a:cxn>
                    <a:cxn ang="0">
                      <a:pos x="T4" y="T5"/>
                    </a:cxn>
                    <a:cxn ang="0">
                      <a:pos x="T6" y="T7"/>
                    </a:cxn>
                    <a:cxn ang="0">
                      <a:pos x="T8" y="T9"/>
                    </a:cxn>
                  </a:cxnLst>
                  <a:rect l="0" t="0" r="r" b="b"/>
                  <a:pathLst>
                    <a:path w="451" h="422">
                      <a:moveTo>
                        <a:pt x="65" y="330"/>
                      </a:moveTo>
                      <a:cubicBezTo>
                        <a:pt x="0" y="245"/>
                        <a:pt x="19" y="126"/>
                        <a:pt x="108" y="63"/>
                      </a:cubicBezTo>
                      <a:cubicBezTo>
                        <a:pt x="197" y="0"/>
                        <a:pt x="322" y="18"/>
                        <a:pt x="387" y="102"/>
                      </a:cubicBezTo>
                      <a:cubicBezTo>
                        <a:pt x="451" y="187"/>
                        <a:pt x="425" y="296"/>
                        <a:pt x="336" y="359"/>
                      </a:cubicBezTo>
                      <a:cubicBezTo>
                        <a:pt x="247" y="422"/>
                        <a:pt x="130" y="414"/>
                        <a:pt x="65" y="330"/>
                      </a:cubicBezTo>
                    </a:path>
                  </a:pathLst>
                </a:custGeom>
                <a:solidFill>
                  <a:srgbClr val="0070AD"/>
                </a:solidFill>
                <a:ln>
                  <a:noFill/>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ndParaRPr>
                </a:p>
              </p:txBody>
            </p:sp>
          </p:grpSp>
          <p:sp>
            <p:nvSpPr>
              <p:cNvPr id="716" name="Freeform 178">
                <a:extLst>
                  <a:ext uri="{FF2B5EF4-FFF2-40B4-BE49-F238E27FC236}">
                    <a16:creationId xmlns:a16="http://schemas.microsoft.com/office/drawing/2014/main" id="{5267E0AF-34BB-923C-1947-C2E91F2425AE}"/>
                  </a:ext>
                </a:extLst>
              </p:cNvPr>
              <p:cNvSpPr>
                <a:spLocks/>
              </p:cNvSpPr>
              <p:nvPr/>
            </p:nvSpPr>
            <p:spPr bwMode="auto">
              <a:xfrm>
                <a:off x="9474928" y="5300241"/>
                <a:ext cx="69844" cy="78798"/>
              </a:xfrm>
              <a:custGeom>
                <a:avLst/>
                <a:gdLst>
                  <a:gd name="T0" fmla="*/ 52 w 78"/>
                  <a:gd name="T1" fmla="*/ 43 h 88"/>
                  <a:gd name="T2" fmla="*/ 62 w 78"/>
                  <a:gd name="T3" fmla="*/ 52 h 88"/>
                  <a:gd name="T4" fmla="*/ 78 w 78"/>
                  <a:gd name="T5" fmla="*/ 0 h 88"/>
                  <a:gd name="T6" fmla="*/ 29 w 78"/>
                  <a:gd name="T7" fmla="*/ 17 h 88"/>
                  <a:gd name="T8" fmla="*/ 36 w 78"/>
                  <a:gd name="T9" fmla="*/ 29 h 88"/>
                  <a:gd name="T10" fmla="*/ 0 w 78"/>
                  <a:gd name="T11" fmla="*/ 59 h 88"/>
                  <a:gd name="T12" fmla="*/ 0 w 78"/>
                  <a:gd name="T13" fmla="*/ 88 h 88"/>
                  <a:gd name="T14" fmla="*/ 52 w 78"/>
                  <a:gd name="T15" fmla="*/ 43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88">
                    <a:moveTo>
                      <a:pt x="52" y="43"/>
                    </a:moveTo>
                    <a:lnTo>
                      <a:pt x="62" y="52"/>
                    </a:lnTo>
                    <a:lnTo>
                      <a:pt x="78" y="0"/>
                    </a:lnTo>
                    <a:lnTo>
                      <a:pt x="29" y="17"/>
                    </a:lnTo>
                    <a:lnTo>
                      <a:pt x="36" y="29"/>
                    </a:lnTo>
                    <a:lnTo>
                      <a:pt x="0" y="59"/>
                    </a:lnTo>
                    <a:lnTo>
                      <a:pt x="0" y="88"/>
                    </a:lnTo>
                    <a:lnTo>
                      <a:pt x="52" y="43"/>
                    </a:lnTo>
                    <a:close/>
                  </a:path>
                </a:pathLst>
              </a:custGeom>
              <a:solidFill>
                <a:srgbClr val="97BF0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sp>
            <p:nvSpPr>
              <p:cNvPr id="717" name="Freeform 179">
                <a:extLst>
                  <a:ext uri="{FF2B5EF4-FFF2-40B4-BE49-F238E27FC236}">
                    <a16:creationId xmlns:a16="http://schemas.microsoft.com/office/drawing/2014/main" id="{9A661277-0CF2-67C6-6723-4A8D3921DF31}"/>
                  </a:ext>
                </a:extLst>
              </p:cNvPr>
              <p:cNvSpPr>
                <a:spLocks/>
              </p:cNvSpPr>
              <p:nvPr/>
            </p:nvSpPr>
            <p:spPr bwMode="auto">
              <a:xfrm>
                <a:off x="9470451" y="5211594"/>
                <a:ext cx="78798" cy="237289"/>
              </a:xfrm>
              <a:custGeom>
                <a:avLst/>
                <a:gdLst>
                  <a:gd name="T0" fmla="*/ 14 w 37"/>
                  <a:gd name="T1" fmla="*/ 110 h 112"/>
                  <a:gd name="T2" fmla="*/ 14 w 37"/>
                  <a:gd name="T3" fmla="*/ 35 h 112"/>
                  <a:gd name="T4" fmla="*/ 0 w 37"/>
                  <a:gd name="T5" fmla="*/ 35 h 112"/>
                  <a:gd name="T6" fmla="*/ 17 w 37"/>
                  <a:gd name="T7" fmla="*/ 0 h 112"/>
                  <a:gd name="T8" fmla="*/ 37 w 37"/>
                  <a:gd name="T9" fmla="*/ 35 h 112"/>
                  <a:gd name="T10" fmla="*/ 24 w 37"/>
                  <a:gd name="T11" fmla="*/ 35 h 112"/>
                  <a:gd name="T12" fmla="*/ 24 w 37"/>
                  <a:gd name="T13" fmla="*/ 40 h 112"/>
                  <a:gd name="T14" fmla="*/ 24 w 37"/>
                  <a:gd name="T15" fmla="*/ 67 h 112"/>
                  <a:gd name="T16" fmla="*/ 24 w 37"/>
                  <a:gd name="T17" fmla="*/ 79 h 112"/>
                  <a:gd name="T18" fmla="*/ 24 w 37"/>
                  <a:gd name="T19" fmla="*/ 87 h 112"/>
                  <a:gd name="T20" fmla="*/ 24 w 37"/>
                  <a:gd name="T21" fmla="*/ 110 h 112"/>
                  <a:gd name="T22" fmla="*/ 22 w 37"/>
                  <a:gd name="T23" fmla="*/ 110 h 112"/>
                  <a:gd name="T24" fmla="*/ 16 w 37"/>
                  <a:gd name="T25" fmla="*/ 112 h 112"/>
                  <a:gd name="T26" fmla="*/ 14 w 37"/>
                  <a:gd name="T27" fmla="*/ 11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 h="112">
                    <a:moveTo>
                      <a:pt x="14" y="110"/>
                    </a:moveTo>
                    <a:cubicBezTo>
                      <a:pt x="14" y="35"/>
                      <a:pt x="14" y="35"/>
                      <a:pt x="14" y="35"/>
                    </a:cubicBezTo>
                    <a:cubicBezTo>
                      <a:pt x="0" y="35"/>
                      <a:pt x="0" y="35"/>
                      <a:pt x="0" y="35"/>
                    </a:cubicBezTo>
                    <a:cubicBezTo>
                      <a:pt x="17" y="0"/>
                      <a:pt x="17" y="0"/>
                      <a:pt x="17" y="0"/>
                    </a:cubicBezTo>
                    <a:cubicBezTo>
                      <a:pt x="37" y="35"/>
                      <a:pt x="37" y="35"/>
                      <a:pt x="37" y="35"/>
                    </a:cubicBezTo>
                    <a:cubicBezTo>
                      <a:pt x="24" y="35"/>
                      <a:pt x="24" y="35"/>
                      <a:pt x="24" y="35"/>
                    </a:cubicBezTo>
                    <a:cubicBezTo>
                      <a:pt x="24" y="40"/>
                      <a:pt x="24" y="40"/>
                      <a:pt x="24" y="40"/>
                    </a:cubicBezTo>
                    <a:cubicBezTo>
                      <a:pt x="24" y="67"/>
                      <a:pt x="24" y="67"/>
                      <a:pt x="24" y="67"/>
                    </a:cubicBezTo>
                    <a:cubicBezTo>
                      <a:pt x="24" y="79"/>
                      <a:pt x="24" y="79"/>
                      <a:pt x="24" y="79"/>
                    </a:cubicBezTo>
                    <a:cubicBezTo>
                      <a:pt x="24" y="87"/>
                      <a:pt x="24" y="87"/>
                      <a:pt x="24" y="87"/>
                    </a:cubicBezTo>
                    <a:cubicBezTo>
                      <a:pt x="24" y="110"/>
                      <a:pt x="24" y="110"/>
                      <a:pt x="24" y="110"/>
                    </a:cubicBezTo>
                    <a:cubicBezTo>
                      <a:pt x="23" y="109"/>
                      <a:pt x="22" y="109"/>
                      <a:pt x="22" y="110"/>
                    </a:cubicBezTo>
                    <a:cubicBezTo>
                      <a:pt x="20" y="110"/>
                      <a:pt x="18" y="112"/>
                      <a:pt x="16" y="112"/>
                    </a:cubicBezTo>
                    <a:cubicBezTo>
                      <a:pt x="14" y="112"/>
                      <a:pt x="14" y="110"/>
                      <a:pt x="14" y="11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grpSp>
            <p:nvGrpSpPr>
              <p:cNvPr id="718" name="Groupe 26">
                <a:extLst>
                  <a:ext uri="{FF2B5EF4-FFF2-40B4-BE49-F238E27FC236}">
                    <a16:creationId xmlns:a16="http://schemas.microsoft.com/office/drawing/2014/main" id="{187935CF-E12D-C0F2-CC03-DE89F5D1209F}"/>
                  </a:ext>
                </a:extLst>
              </p:cNvPr>
              <p:cNvGrpSpPr/>
              <p:nvPr/>
            </p:nvGrpSpPr>
            <p:grpSpPr>
              <a:xfrm>
                <a:off x="9409991" y="4561174"/>
                <a:ext cx="199718" cy="189174"/>
                <a:chOff x="4848559" y="5399234"/>
                <a:chExt cx="528240" cy="474487"/>
              </a:xfrm>
            </p:grpSpPr>
            <p:grpSp>
              <p:nvGrpSpPr>
                <p:cNvPr id="719" name="Group 43">
                  <a:extLst>
                    <a:ext uri="{FF2B5EF4-FFF2-40B4-BE49-F238E27FC236}">
                      <a16:creationId xmlns:a16="http://schemas.microsoft.com/office/drawing/2014/main" id="{8F0F905F-F022-1624-24C2-9548683FFFD7}"/>
                    </a:ext>
                  </a:extLst>
                </p:cNvPr>
                <p:cNvGrpSpPr/>
                <p:nvPr/>
              </p:nvGrpSpPr>
              <p:grpSpPr>
                <a:xfrm>
                  <a:off x="5025534" y="5399234"/>
                  <a:ext cx="161528" cy="209894"/>
                  <a:chOff x="663784" y="1229638"/>
                  <a:chExt cx="303843" cy="394826"/>
                </a:xfrm>
              </p:grpSpPr>
              <p:sp>
                <p:nvSpPr>
                  <p:cNvPr id="728" name="Freeform 32">
                    <a:extLst>
                      <a:ext uri="{FF2B5EF4-FFF2-40B4-BE49-F238E27FC236}">
                        <a16:creationId xmlns:a16="http://schemas.microsoft.com/office/drawing/2014/main" id="{90F044BD-D328-09B0-0B8A-C9975F9BD30B}"/>
                      </a:ext>
                    </a:extLst>
                  </p:cNvPr>
                  <p:cNvSpPr>
                    <a:spLocks/>
                  </p:cNvSpPr>
                  <p:nvPr/>
                </p:nvSpPr>
                <p:spPr bwMode="auto">
                  <a:xfrm>
                    <a:off x="735883" y="1229638"/>
                    <a:ext cx="161363" cy="173380"/>
                  </a:xfrm>
                  <a:custGeom>
                    <a:avLst/>
                    <a:gdLst>
                      <a:gd name="T0" fmla="*/ 42 w 79"/>
                      <a:gd name="T1" fmla="*/ 83 h 84"/>
                      <a:gd name="T2" fmla="*/ 78 w 79"/>
                      <a:gd name="T3" fmla="*/ 39 h 84"/>
                      <a:gd name="T4" fmla="*/ 39 w 79"/>
                      <a:gd name="T5" fmla="*/ 1 h 84"/>
                      <a:gd name="T6" fmla="*/ 1 w 79"/>
                      <a:gd name="T7" fmla="*/ 45 h 84"/>
                      <a:gd name="T8" fmla="*/ 42 w 79"/>
                      <a:gd name="T9" fmla="*/ 83 h 84"/>
                    </a:gdLst>
                    <a:ahLst/>
                    <a:cxnLst>
                      <a:cxn ang="0">
                        <a:pos x="T0" y="T1"/>
                      </a:cxn>
                      <a:cxn ang="0">
                        <a:pos x="T2" y="T3"/>
                      </a:cxn>
                      <a:cxn ang="0">
                        <a:pos x="T4" y="T5"/>
                      </a:cxn>
                      <a:cxn ang="0">
                        <a:pos x="T6" y="T7"/>
                      </a:cxn>
                      <a:cxn ang="0">
                        <a:pos x="T8" y="T9"/>
                      </a:cxn>
                    </a:cxnLst>
                    <a:rect l="0" t="0" r="r" b="b"/>
                    <a:pathLst>
                      <a:path w="79" h="84">
                        <a:moveTo>
                          <a:pt x="42" y="83"/>
                        </a:moveTo>
                        <a:cubicBezTo>
                          <a:pt x="64" y="81"/>
                          <a:pt x="79" y="62"/>
                          <a:pt x="78" y="39"/>
                        </a:cubicBezTo>
                        <a:cubicBezTo>
                          <a:pt x="77" y="17"/>
                          <a:pt x="61" y="0"/>
                          <a:pt x="39" y="1"/>
                        </a:cubicBezTo>
                        <a:cubicBezTo>
                          <a:pt x="17" y="3"/>
                          <a:pt x="0" y="22"/>
                          <a:pt x="1" y="45"/>
                        </a:cubicBezTo>
                        <a:cubicBezTo>
                          <a:pt x="1" y="67"/>
                          <a:pt x="20" y="84"/>
                          <a:pt x="42" y="83"/>
                        </a:cubicBezTo>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ndParaRPr>
                  </a:p>
                </p:txBody>
              </p:sp>
              <p:sp>
                <p:nvSpPr>
                  <p:cNvPr id="729" name="Freeform 33">
                    <a:extLst>
                      <a:ext uri="{FF2B5EF4-FFF2-40B4-BE49-F238E27FC236}">
                        <a16:creationId xmlns:a16="http://schemas.microsoft.com/office/drawing/2014/main" id="{6970A187-4EF9-90A5-7E73-FEE1F5183BBF}"/>
                      </a:ext>
                    </a:extLst>
                  </p:cNvPr>
                  <p:cNvSpPr>
                    <a:spLocks/>
                  </p:cNvSpPr>
                  <p:nvPr/>
                </p:nvSpPr>
                <p:spPr bwMode="auto">
                  <a:xfrm>
                    <a:off x="663784" y="1423618"/>
                    <a:ext cx="303843" cy="200846"/>
                  </a:xfrm>
                  <a:custGeom>
                    <a:avLst/>
                    <a:gdLst>
                      <a:gd name="T0" fmla="*/ 1 w 148"/>
                      <a:gd name="T1" fmla="*/ 83 h 97"/>
                      <a:gd name="T2" fmla="*/ 2 w 148"/>
                      <a:gd name="T3" fmla="*/ 65 h 97"/>
                      <a:gd name="T4" fmla="*/ 55 w 148"/>
                      <a:gd name="T5" fmla="*/ 11 h 97"/>
                      <a:gd name="T6" fmla="*/ 142 w 148"/>
                      <a:gd name="T7" fmla="*/ 53 h 97"/>
                      <a:gd name="T8" fmla="*/ 121 w 148"/>
                      <a:gd name="T9" fmla="*/ 87 h 97"/>
                      <a:gd name="T10" fmla="*/ 1 w 148"/>
                      <a:gd name="T11" fmla="*/ 83 h 97"/>
                    </a:gdLst>
                    <a:ahLst/>
                    <a:cxnLst>
                      <a:cxn ang="0">
                        <a:pos x="T0" y="T1"/>
                      </a:cxn>
                      <a:cxn ang="0">
                        <a:pos x="T2" y="T3"/>
                      </a:cxn>
                      <a:cxn ang="0">
                        <a:pos x="T4" y="T5"/>
                      </a:cxn>
                      <a:cxn ang="0">
                        <a:pos x="T6" y="T7"/>
                      </a:cxn>
                      <a:cxn ang="0">
                        <a:pos x="T8" y="T9"/>
                      </a:cxn>
                      <a:cxn ang="0">
                        <a:pos x="T10" y="T11"/>
                      </a:cxn>
                    </a:cxnLst>
                    <a:rect l="0" t="0" r="r" b="b"/>
                    <a:pathLst>
                      <a:path w="148" h="97">
                        <a:moveTo>
                          <a:pt x="1" y="83"/>
                        </a:moveTo>
                        <a:cubicBezTo>
                          <a:pt x="0" y="77"/>
                          <a:pt x="1" y="71"/>
                          <a:pt x="2" y="65"/>
                        </a:cubicBezTo>
                        <a:cubicBezTo>
                          <a:pt x="8" y="38"/>
                          <a:pt x="29" y="17"/>
                          <a:pt x="55" y="11"/>
                        </a:cubicBezTo>
                        <a:cubicBezTo>
                          <a:pt x="104" y="0"/>
                          <a:pt x="133" y="25"/>
                          <a:pt x="142" y="53"/>
                        </a:cubicBezTo>
                        <a:cubicBezTo>
                          <a:pt x="148" y="68"/>
                          <a:pt x="137" y="85"/>
                          <a:pt x="121" y="87"/>
                        </a:cubicBezTo>
                        <a:cubicBezTo>
                          <a:pt x="66" y="97"/>
                          <a:pt x="34" y="81"/>
                          <a:pt x="1" y="83"/>
                        </a:cubicBezTo>
                      </a:path>
                    </a:pathLst>
                  </a:custGeom>
                  <a:solidFill>
                    <a:srgbClr val="12ABDB"/>
                  </a:solidFill>
                  <a:ln>
                    <a:noFill/>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ndParaRPr>
                  </a:p>
                </p:txBody>
              </p:sp>
            </p:grpSp>
            <p:grpSp>
              <p:nvGrpSpPr>
                <p:cNvPr id="720" name="Group 613">
                  <a:extLst>
                    <a:ext uri="{FF2B5EF4-FFF2-40B4-BE49-F238E27FC236}">
                      <a16:creationId xmlns:a16="http://schemas.microsoft.com/office/drawing/2014/main" id="{C947A107-1919-3F20-B05C-3AE070589EA7}"/>
                    </a:ext>
                  </a:extLst>
                </p:cNvPr>
                <p:cNvGrpSpPr/>
                <p:nvPr/>
              </p:nvGrpSpPr>
              <p:grpSpPr>
                <a:xfrm>
                  <a:off x="4848559" y="5663827"/>
                  <a:ext cx="161528" cy="209894"/>
                  <a:chOff x="663784" y="1229638"/>
                  <a:chExt cx="303843" cy="394826"/>
                </a:xfrm>
              </p:grpSpPr>
              <p:sp>
                <p:nvSpPr>
                  <p:cNvPr id="726" name="Freeform 32">
                    <a:extLst>
                      <a:ext uri="{FF2B5EF4-FFF2-40B4-BE49-F238E27FC236}">
                        <a16:creationId xmlns:a16="http://schemas.microsoft.com/office/drawing/2014/main" id="{A7419DDB-D5CD-6847-D4AF-4FFC86A58B8B}"/>
                      </a:ext>
                    </a:extLst>
                  </p:cNvPr>
                  <p:cNvSpPr>
                    <a:spLocks/>
                  </p:cNvSpPr>
                  <p:nvPr/>
                </p:nvSpPr>
                <p:spPr bwMode="auto">
                  <a:xfrm>
                    <a:off x="735883" y="1229638"/>
                    <a:ext cx="161363" cy="173380"/>
                  </a:xfrm>
                  <a:custGeom>
                    <a:avLst/>
                    <a:gdLst>
                      <a:gd name="T0" fmla="*/ 42 w 79"/>
                      <a:gd name="T1" fmla="*/ 83 h 84"/>
                      <a:gd name="T2" fmla="*/ 78 w 79"/>
                      <a:gd name="T3" fmla="*/ 39 h 84"/>
                      <a:gd name="T4" fmla="*/ 39 w 79"/>
                      <a:gd name="T5" fmla="*/ 1 h 84"/>
                      <a:gd name="T6" fmla="*/ 1 w 79"/>
                      <a:gd name="T7" fmla="*/ 45 h 84"/>
                      <a:gd name="T8" fmla="*/ 42 w 79"/>
                      <a:gd name="T9" fmla="*/ 83 h 84"/>
                    </a:gdLst>
                    <a:ahLst/>
                    <a:cxnLst>
                      <a:cxn ang="0">
                        <a:pos x="T0" y="T1"/>
                      </a:cxn>
                      <a:cxn ang="0">
                        <a:pos x="T2" y="T3"/>
                      </a:cxn>
                      <a:cxn ang="0">
                        <a:pos x="T4" y="T5"/>
                      </a:cxn>
                      <a:cxn ang="0">
                        <a:pos x="T6" y="T7"/>
                      </a:cxn>
                      <a:cxn ang="0">
                        <a:pos x="T8" y="T9"/>
                      </a:cxn>
                    </a:cxnLst>
                    <a:rect l="0" t="0" r="r" b="b"/>
                    <a:pathLst>
                      <a:path w="79" h="84">
                        <a:moveTo>
                          <a:pt x="42" y="83"/>
                        </a:moveTo>
                        <a:cubicBezTo>
                          <a:pt x="64" y="81"/>
                          <a:pt x="79" y="62"/>
                          <a:pt x="78" y="39"/>
                        </a:cubicBezTo>
                        <a:cubicBezTo>
                          <a:pt x="77" y="17"/>
                          <a:pt x="61" y="0"/>
                          <a:pt x="39" y="1"/>
                        </a:cubicBezTo>
                        <a:cubicBezTo>
                          <a:pt x="17" y="3"/>
                          <a:pt x="0" y="22"/>
                          <a:pt x="1" y="45"/>
                        </a:cubicBezTo>
                        <a:cubicBezTo>
                          <a:pt x="1" y="67"/>
                          <a:pt x="20" y="84"/>
                          <a:pt x="42" y="83"/>
                        </a:cubicBezTo>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ndParaRPr>
                  </a:p>
                </p:txBody>
              </p:sp>
              <p:sp>
                <p:nvSpPr>
                  <p:cNvPr id="727" name="Freeform 33">
                    <a:extLst>
                      <a:ext uri="{FF2B5EF4-FFF2-40B4-BE49-F238E27FC236}">
                        <a16:creationId xmlns:a16="http://schemas.microsoft.com/office/drawing/2014/main" id="{AAE06F68-C239-0578-DA1D-8D6BE95772C4}"/>
                      </a:ext>
                    </a:extLst>
                  </p:cNvPr>
                  <p:cNvSpPr>
                    <a:spLocks/>
                  </p:cNvSpPr>
                  <p:nvPr/>
                </p:nvSpPr>
                <p:spPr bwMode="auto">
                  <a:xfrm>
                    <a:off x="663784" y="1423618"/>
                    <a:ext cx="303843" cy="200846"/>
                  </a:xfrm>
                  <a:custGeom>
                    <a:avLst/>
                    <a:gdLst>
                      <a:gd name="T0" fmla="*/ 1 w 148"/>
                      <a:gd name="T1" fmla="*/ 83 h 97"/>
                      <a:gd name="T2" fmla="*/ 2 w 148"/>
                      <a:gd name="T3" fmla="*/ 65 h 97"/>
                      <a:gd name="T4" fmla="*/ 55 w 148"/>
                      <a:gd name="T5" fmla="*/ 11 h 97"/>
                      <a:gd name="T6" fmla="*/ 142 w 148"/>
                      <a:gd name="T7" fmla="*/ 53 h 97"/>
                      <a:gd name="T8" fmla="*/ 121 w 148"/>
                      <a:gd name="T9" fmla="*/ 87 h 97"/>
                      <a:gd name="T10" fmla="*/ 1 w 148"/>
                      <a:gd name="T11" fmla="*/ 83 h 97"/>
                    </a:gdLst>
                    <a:ahLst/>
                    <a:cxnLst>
                      <a:cxn ang="0">
                        <a:pos x="T0" y="T1"/>
                      </a:cxn>
                      <a:cxn ang="0">
                        <a:pos x="T2" y="T3"/>
                      </a:cxn>
                      <a:cxn ang="0">
                        <a:pos x="T4" y="T5"/>
                      </a:cxn>
                      <a:cxn ang="0">
                        <a:pos x="T6" y="T7"/>
                      </a:cxn>
                      <a:cxn ang="0">
                        <a:pos x="T8" y="T9"/>
                      </a:cxn>
                      <a:cxn ang="0">
                        <a:pos x="T10" y="T11"/>
                      </a:cxn>
                    </a:cxnLst>
                    <a:rect l="0" t="0" r="r" b="b"/>
                    <a:pathLst>
                      <a:path w="148" h="97">
                        <a:moveTo>
                          <a:pt x="1" y="83"/>
                        </a:moveTo>
                        <a:cubicBezTo>
                          <a:pt x="0" y="77"/>
                          <a:pt x="1" y="71"/>
                          <a:pt x="2" y="65"/>
                        </a:cubicBezTo>
                        <a:cubicBezTo>
                          <a:pt x="8" y="38"/>
                          <a:pt x="29" y="17"/>
                          <a:pt x="55" y="11"/>
                        </a:cubicBezTo>
                        <a:cubicBezTo>
                          <a:pt x="104" y="0"/>
                          <a:pt x="133" y="25"/>
                          <a:pt x="142" y="53"/>
                        </a:cubicBezTo>
                        <a:cubicBezTo>
                          <a:pt x="148" y="68"/>
                          <a:pt x="137" y="85"/>
                          <a:pt x="121" y="87"/>
                        </a:cubicBezTo>
                        <a:cubicBezTo>
                          <a:pt x="66" y="97"/>
                          <a:pt x="34" y="81"/>
                          <a:pt x="1" y="83"/>
                        </a:cubicBezTo>
                      </a:path>
                    </a:pathLst>
                  </a:custGeom>
                  <a:solidFill>
                    <a:srgbClr val="12ABDB"/>
                  </a:solidFill>
                  <a:ln>
                    <a:noFill/>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ndParaRPr>
                  </a:p>
                </p:txBody>
              </p:sp>
            </p:grpSp>
            <p:grpSp>
              <p:nvGrpSpPr>
                <p:cNvPr id="721" name="Group 616">
                  <a:extLst>
                    <a:ext uri="{FF2B5EF4-FFF2-40B4-BE49-F238E27FC236}">
                      <a16:creationId xmlns:a16="http://schemas.microsoft.com/office/drawing/2014/main" id="{07C7F483-24D2-D014-1F58-A181AB61E5DF}"/>
                    </a:ext>
                  </a:extLst>
                </p:cNvPr>
                <p:cNvGrpSpPr/>
                <p:nvPr/>
              </p:nvGrpSpPr>
              <p:grpSpPr>
                <a:xfrm>
                  <a:off x="5215271" y="5663827"/>
                  <a:ext cx="161528" cy="209894"/>
                  <a:chOff x="663784" y="1229638"/>
                  <a:chExt cx="303843" cy="394826"/>
                </a:xfrm>
              </p:grpSpPr>
              <p:sp>
                <p:nvSpPr>
                  <p:cNvPr id="724" name="Freeform 32">
                    <a:extLst>
                      <a:ext uri="{FF2B5EF4-FFF2-40B4-BE49-F238E27FC236}">
                        <a16:creationId xmlns:a16="http://schemas.microsoft.com/office/drawing/2014/main" id="{6137CD5E-D5D5-1A22-15EB-5C16E9B0E0FF}"/>
                      </a:ext>
                    </a:extLst>
                  </p:cNvPr>
                  <p:cNvSpPr>
                    <a:spLocks/>
                  </p:cNvSpPr>
                  <p:nvPr/>
                </p:nvSpPr>
                <p:spPr bwMode="auto">
                  <a:xfrm>
                    <a:off x="735883" y="1229638"/>
                    <a:ext cx="161363" cy="173380"/>
                  </a:xfrm>
                  <a:custGeom>
                    <a:avLst/>
                    <a:gdLst>
                      <a:gd name="T0" fmla="*/ 42 w 79"/>
                      <a:gd name="T1" fmla="*/ 83 h 84"/>
                      <a:gd name="T2" fmla="*/ 78 w 79"/>
                      <a:gd name="T3" fmla="*/ 39 h 84"/>
                      <a:gd name="T4" fmla="*/ 39 w 79"/>
                      <a:gd name="T5" fmla="*/ 1 h 84"/>
                      <a:gd name="T6" fmla="*/ 1 w 79"/>
                      <a:gd name="T7" fmla="*/ 45 h 84"/>
                      <a:gd name="T8" fmla="*/ 42 w 79"/>
                      <a:gd name="T9" fmla="*/ 83 h 84"/>
                    </a:gdLst>
                    <a:ahLst/>
                    <a:cxnLst>
                      <a:cxn ang="0">
                        <a:pos x="T0" y="T1"/>
                      </a:cxn>
                      <a:cxn ang="0">
                        <a:pos x="T2" y="T3"/>
                      </a:cxn>
                      <a:cxn ang="0">
                        <a:pos x="T4" y="T5"/>
                      </a:cxn>
                      <a:cxn ang="0">
                        <a:pos x="T6" y="T7"/>
                      </a:cxn>
                      <a:cxn ang="0">
                        <a:pos x="T8" y="T9"/>
                      </a:cxn>
                    </a:cxnLst>
                    <a:rect l="0" t="0" r="r" b="b"/>
                    <a:pathLst>
                      <a:path w="79" h="84">
                        <a:moveTo>
                          <a:pt x="42" y="83"/>
                        </a:moveTo>
                        <a:cubicBezTo>
                          <a:pt x="64" y="81"/>
                          <a:pt x="79" y="62"/>
                          <a:pt x="78" y="39"/>
                        </a:cubicBezTo>
                        <a:cubicBezTo>
                          <a:pt x="77" y="17"/>
                          <a:pt x="61" y="0"/>
                          <a:pt x="39" y="1"/>
                        </a:cubicBezTo>
                        <a:cubicBezTo>
                          <a:pt x="17" y="3"/>
                          <a:pt x="0" y="22"/>
                          <a:pt x="1" y="45"/>
                        </a:cubicBezTo>
                        <a:cubicBezTo>
                          <a:pt x="1" y="67"/>
                          <a:pt x="20" y="84"/>
                          <a:pt x="42" y="83"/>
                        </a:cubicBezTo>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ndParaRPr>
                  </a:p>
                </p:txBody>
              </p:sp>
              <p:sp>
                <p:nvSpPr>
                  <p:cNvPr id="725" name="Freeform 33">
                    <a:extLst>
                      <a:ext uri="{FF2B5EF4-FFF2-40B4-BE49-F238E27FC236}">
                        <a16:creationId xmlns:a16="http://schemas.microsoft.com/office/drawing/2014/main" id="{D36297C6-6815-B073-7C2E-D9A9FD724A5F}"/>
                      </a:ext>
                    </a:extLst>
                  </p:cNvPr>
                  <p:cNvSpPr>
                    <a:spLocks/>
                  </p:cNvSpPr>
                  <p:nvPr/>
                </p:nvSpPr>
                <p:spPr bwMode="auto">
                  <a:xfrm>
                    <a:off x="663784" y="1423618"/>
                    <a:ext cx="303843" cy="200846"/>
                  </a:xfrm>
                  <a:custGeom>
                    <a:avLst/>
                    <a:gdLst>
                      <a:gd name="T0" fmla="*/ 1 w 148"/>
                      <a:gd name="T1" fmla="*/ 83 h 97"/>
                      <a:gd name="T2" fmla="*/ 2 w 148"/>
                      <a:gd name="T3" fmla="*/ 65 h 97"/>
                      <a:gd name="T4" fmla="*/ 55 w 148"/>
                      <a:gd name="T5" fmla="*/ 11 h 97"/>
                      <a:gd name="T6" fmla="*/ 142 w 148"/>
                      <a:gd name="T7" fmla="*/ 53 h 97"/>
                      <a:gd name="T8" fmla="*/ 121 w 148"/>
                      <a:gd name="T9" fmla="*/ 87 h 97"/>
                      <a:gd name="T10" fmla="*/ 1 w 148"/>
                      <a:gd name="T11" fmla="*/ 83 h 97"/>
                    </a:gdLst>
                    <a:ahLst/>
                    <a:cxnLst>
                      <a:cxn ang="0">
                        <a:pos x="T0" y="T1"/>
                      </a:cxn>
                      <a:cxn ang="0">
                        <a:pos x="T2" y="T3"/>
                      </a:cxn>
                      <a:cxn ang="0">
                        <a:pos x="T4" y="T5"/>
                      </a:cxn>
                      <a:cxn ang="0">
                        <a:pos x="T6" y="T7"/>
                      </a:cxn>
                      <a:cxn ang="0">
                        <a:pos x="T8" y="T9"/>
                      </a:cxn>
                      <a:cxn ang="0">
                        <a:pos x="T10" y="T11"/>
                      </a:cxn>
                    </a:cxnLst>
                    <a:rect l="0" t="0" r="r" b="b"/>
                    <a:pathLst>
                      <a:path w="148" h="97">
                        <a:moveTo>
                          <a:pt x="1" y="83"/>
                        </a:moveTo>
                        <a:cubicBezTo>
                          <a:pt x="0" y="77"/>
                          <a:pt x="1" y="71"/>
                          <a:pt x="2" y="65"/>
                        </a:cubicBezTo>
                        <a:cubicBezTo>
                          <a:pt x="8" y="38"/>
                          <a:pt x="29" y="17"/>
                          <a:pt x="55" y="11"/>
                        </a:cubicBezTo>
                        <a:cubicBezTo>
                          <a:pt x="104" y="0"/>
                          <a:pt x="133" y="25"/>
                          <a:pt x="142" y="53"/>
                        </a:cubicBezTo>
                        <a:cubicBezTo>
                          <a:pt x="148" y="68"/>
                          <a:pt x="137" y="85"/>
                          <a:pt x="121" y="87"/>
                        </a:cubicBezTo>
                        <a:cubicBezTo>
                          <a:pt x="66" y="97"/>
                          <a:pt x="34" y="81"/>
                          <a:pt x="1" y="83"/>
                        </a:cubicBezTo>
                      </a:path>
                    </a:pathLst>
                  </a:custGeom>
                  <a:solidFill>
                    <a:srgbClr val="12ABDB"/>
                  </a:solidFill>
                  <a:ln>
                    <a:noFill/>
                  </a:ln>
                </p:spPr>
                <p:txBody>
                  <a:bodyPr vert="horz" wrap="square" lIns="74295" tIns="37148" rIns="74295" bIns="37148" numCol="1" anchor="t" anchorCtr="0" compatLnSpc="1">
                    <a:prstTxWarp prst="textNoShape">
                      <a:avLst/>
                    </a:prstTxWarp>
                  </a:bodyPr>
                  <a:lstStyle/>
                  <a:p>
                    <a:pPr marL="0" marR="0" lvl="0" indent="0" defTabSz="74295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ndParaRPr>
                  </a:p>
                </p:txBody>
              </p:sp>
            </p:grpSp>
            <p:sp>
              <p:nvSpPr>
                <p:cNvPr id="722" name="Freeform: Shape 366">
                  <a:extLst>
                    <a:ext uri="{FF2B5EF4-FFF2-40B4-BE49-F238E27FC236}">
                      <a16:creationId xmlns:a16="http://schemas.microsoft.com/office/drawing/2014/main" id="{72E84546-4B51-709B-A2EE-E819150F2DDA}"/>
                    </a:ext>
                  </a:extLst>
                </p:cNvPr>
                <p:cNvSpPr/>
                <p:nvPr/>
              </p:nvSpPr>
              <p:spPr>
                <a:xfrm>
                  <a:off x="5022737" y="5620905"/>
                  <a:ext cx="87313" cy="178594"/>
                </a:xfrm>
                <a:custGeom>
                  <a:avLst/>
                  <a:gdLst>
                    <a:gd name="connsiteX0" fmla="*/ 76200 w 76200"/>
                    <a:gd name="connsiteY0" fmla="*/ 0 h 178594"/>
                    <a:gd name="connsiteX1" fmla="*/ 76200 w 76200"/>
                    <a:gd name="connsiteY1" fmla="*/ 102394 h 178594"/>
                    <a:gd name="connsiteX2" fmla="*/ 0 w 76200"/>
                    <a:gd name="connsiteY2" fmla="*/ 178594 h 178594"/>
                  </a:gdLst>
                  <a:ahLst/>
                  <a:cxnLst>
                    <a:cxn ang="0">
                      <a:pos x="connsiteX0" y="connsiteY0"/>
                    </a:cxn>
                    <a:cxn ang="0">
                      <a:pos x="connsiteX1" y="connsiteY1"/>
                    </a:cxn>
                    <a:cxn ang="0">
                      <a:pos x="connsiteX2" y="connsiteY2"/>
                    </a:cxn>
                  </a:cxnLst>
                  <a:rect l="l" t="t" r="r" b="b"/>
                  <a:pathLst>
                    <a:path w="76200" h="178594">
                      <a:moveTo>
                        <a:pt x="76200" y="0"/>
                      </a:moveTo>
                      <a:lnTo>
                        <a:pt x="76200" y="102394"/>
                      </a:lnTo>
                      <a:lnTo>
                        <a:pt x="0" y="178594"/>
                      </a:lnTo>
                    </a:path>
                  </a:pathLst>
                </a:custGeom>
                <a:noFill/>
                <a:ln w="12700" cap="rnd"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mj-lt"/>
                    <a:ea typeface="+mn-ea"/>
                    <a:cs typeface="+mn-cs"/>
                  </a:endParaRPr>
                </a:p>
              </p:txBody>
            </p:sp>
            <p:sp>
              <p:nvSpPr>
                <p:cNvPr id="723" name="Freeform: Shape 624">
                  <a:extLst>
                    <a:ext uri="{FF2B5EF4-FFF2-40B4-BE49-F238E27FC236}">
                      <a16:creationId xmlns:a16="http://schemas.microsoft.com/office/drawing/2014/main" id="{00486FC7-9421-1410-8979-B4D2CD2870C6}"/>
                    </a:ext>
                  </a:extLst>
                </p:cNvPr>
                <p:cNvSpPr/>
                <p:nvPr/>
              </p:nvSpPr>
              <p:spPr>
                <a:xfrm flipH="1">
                  <a:off x="5108462" y="5620905"/>
                  <a:ext cx="87313" cy="178594"/>
                </a:xfrm>
                <a:custGeom>
                  <a:avLst/>
                  <a:gdLst>
                    <a:gd name="connsiteX0" fmla="*/ 76200 w 76200"/>
                    <a:gd name="connsiteY0" fmla="*/ 0 h 178594"/>
                    <a:gd name="connsiteX1" fmla="*/ 76200 w 76200"/>
                    <a:gd name="connsiteY1" fmla="*/ 102394 h 178594"/>
                    <a:gd name="connsiteX2" fmla="*/ 0 w 76200"/>
                    <a:gd name="connsiteY2" fmla="*/ 178594 h 178594"/>
                  </a:gdLst>
                  <a:ahLst/>
                  <a:cxnLst>
                    <a:cxn ang="0">
                      <a:pos x="connsiteX0" y="connsiteY0"/>
                    </a:cxn>
                    <a:cxn ang="0">
                      <a:pos x="connsiteX1" y="connsiteY1"/>
                    </a:cxn>
                    <a:cxn ang="0">
                      <a:pos x="connsiteX2" y="connsiteY2"/>
                    </a:cxn>
                  </a:cxnLst>
                  <a:rect l="l" t="t" r="r" b="b"/>
                  <a:pathLst>
                    <a:path w="76200" h="178594">
                      <a:moveTo>
                        <a:pt x="76200" y="0"/>
                      </a:moveTo>
                      <a:lnTo>
                        <a:pt x="76200" y="102394"/>
                      </a:lnTo>
                      <a:lnTo>
                        <a:pt x="0" y="178594"/>
                      </a:lnTo>
                    </a:path>
                  </a:pathLst>
                </a:custGeom>
                <a:noFill/>
                <a:ln w="12700" cap="rnd" cmpd="sng" algn="ctr">
                  <a:solidFill>
                    <a:srgbClr val="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mj-lt"/>
                    <a:ea typeface="+mn-ea"/>
                    <a:cs typeface="+mn-cs"/>
                  </a:endParaRPr>
                </a:p>
              </p:txBody>
            </p:sp>
          </p:grpSp>
        </p:grpSp>
        <p:grpSp>
          <p:nvGrpSpPr>
            <p:cNvPr id="649" name="Group 648">
              <a:extLst>
                <a:ext uri="{FF2B5EF4-FFF2-40B4-BE49-F238E27FC236}">
                  <a16:creationId xmlns:a16="http://schemas.microsoft.com/office/drawing/2014/main" id="{C397E606-36AA-BF4B-EAA9-FA42A270ACFB}"/>
                </a:ext>
              </a:extLst>
            </p:cNvPr>
            <p:cNvGrpSpPr/>
            <p:nvPr/>
          </p:nvGrpSpPr>
          <p:grpSpPr>
            <a:xfrm>
              <a:off x="1697118" y="2378637"/>
              <a:ext cx="3388231" cy="3216048"/>
              <a:chOff x="505836" y="2659897"/>
              <a:chExt cx="3388231" cy="3216048"/>
            </a:xfrm>
          </p:grpSpPr>
          <p:grpSp>
            <p:nvGrpSpPr>
              <p:cNvPr id="650" name="Group 649">
                <a:extLst>
                  <a:ext uri="{FF2B5EF4-FFF2-40B4-BE49-F238E27FC236}">
                    <a16:creationId xmlns:a16="http://schemas.microsoft.com/office/drawing/2014/main" id="{E5173659-99B3-33F6-CEFA-30458582C001}"/>
                  </a:ext>
                </a:extLst>
              </p:cNvPr>
              <p:cNvGrpSpPr/>
              <p:nvPr/>
            </p:nvGrpSpPr>
            <p:grpSpPr>
              <a:xfrm>
                <a:off x="505836" y="2659897"/>
                <a:ext cx="3388231" cy="3122920"/>
                <a:chOff x="2874300" y="2526993"/>
                <a:chExt cx="3388231" cy="3122920"/>
              </a:xfrm>
            </p:grpSpPr>
            <p:grpSp>
              <p:nvGrpSpPr>
                <p:cNvPr id="693" name="Group 692">
                  <a:extLst>
                    <a:ext uri="{FF2B5EF4-FFF2-40B4-BE49-F238E27FC236}">
                      <a16:creationId xmlns:a16="http://schemas.microsoft.com/office/drawing/2014/main" id="{F0D0E638-A801-B77E-C841-A63C5B0B3CFE}"/>
                    </a:ext>
                  </a:extLst>
                </p:cNvPr>
                <p:cNvGrpSpPr/>
                <p:nvPr/>
              </p:nvGrpSpPr>
              <p:grpSpPr>
                <a:xfrm>
                  <a:off x="2874300" y="2526993"/>
                  <a:ext cx="3388231" cy="693819"/>
                  <a:chOff x="1051206" y="1110166"/>
                  <a:chExt cx="3388231" cy="693819"/>
                </a:xfrm>
              </p:grpSpPr>
              <p:sp>
                <p:nvSpPr>
                  <p:cNvPr id="710" name="Rectangle: Rounded Corners 709">
                    <a:extLst>
                      <a:ext uri="{FF2B5EF4-FFF2-40B4-BE49-F238E27FC236}">
                        <a16:creationId xmlns:a16="http://schemas.microsoft.com/office/drawing/2014/main" id="{A80B82B3-14B5-7805-6257-A1149078A0FE}"/>
                      </a:ext>
                    </a:extLst>
                  </p:cNvPr>
                  <p:cNvSpPr/>
                  <p:nvPr/>
                </p:nvSpPr>
                <p:spPr>
                  <a:xfrm>
                    <a:off x="1192668" y="1252922"/>
                    <a:ext cx="3246769" cy="551063"/>
                  </a:xfrm>
                  <a:prstGeom prst="roundRect">
                    <a:avLst/>
                  </a:prstGeom>
                  <a:solidFill>
                    <a:srgbClr val="0070AD"/>
                  </a:solidFill>
                  <a:ln>
                    <a:noFill/>
                  </a:ln>
                  <a:effectLst/>
                </p:spPr>
                <p:txBody>
                  <a:bodyPr rtlCol="0" anchor="ct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FFFFFF"/>
                        </a:solidFill>
                        <a:effectLst/>
                        <a:uLnTx/>
                        <a:uFillTx/>
                        <a:latin typeface="+mj-lt"/>
                        <a:ea typeface="+mn-ea"/>
                        <a:cs typeface="+mn-cs"/>
                      </a:rPr>
                      <a:t>Data Quality Stream</a:t>
                    </a:r>
                  </a:p>
                </p:txBody>
              </p:sp>
              <p:sp>
                <p:nvSpPr>
                  <p:cNvPr id="711" name="Oval 52">
                    <a:extLst>
                      <a:ext uri="{FF2B5EF4-FFF2-40B4-BE49-F238E27FC236}">
                        <a16:creationId xmlns:a16="http://schemas.microsoft.com/office/drawing/2014/main" id="{B39BD239-1E6C-0B97-C26D-521D66061E5E}"/>
                      </a:ext>
                    </a:extLst>
                  </p:cNvPr>
                  <p:cNvSpPr/>
                  <p:nvPr/>
                </p:nvSpPr>
                <p:spPr>
                  <a:xfrm>
                    <a:off x="1051206" y="1110166"/>
                    <a:ext cx="288000" cy="288000"/>
                  </a:xfrm>
                  <a:prstGeom prst="ellipse">
                    <a:avLst/>
                  </a:prstGeom>
                  <a:solidFill>
                    <a:srgbClr val="0070AD">
                      <a:lumMod val="50000"/>
                    </a:srgbClr>
                  </a:solidFill>
                  <a:ln w="28575" cap="flat" cmpd="sng" algn="ctr">
                    <a:solidFill>
                      <a:srgbClr val="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mj-lt"/>
                        <a:ea typeface="+mn-ea"/>
                        <a:cs typeface="+mn-cs"/>
                      </a:rPr>
                      <a:t>1</a:t>
                    </a:r>
                  </a:p>
                </p:txBody>
              </p:sp>
            </p:grpSp>
            <p:cxnSp>
              <p:nvCxnSpPr>
                <p:cNvPr id="694" name="Connector: Elbow 693">
                  <a:extLst>
                    <a:ext uri="{FF2B5EF4-FFF2-40B4-BE49-F238E27FC236}">
                      <a16:creationId xmlns:a16="http://schemas.microsoft.com/office/drawing/2014/main" id="{7064FEA8-C87E-5A8A-A358-B01D2023E801}"/>
                    </a:ext>
                  </a:extLst>
                </p:cNvPr>
                <p:cNvCxnSpPr>
                  <a:cxnSpLocks/>
                </p:cNvCxnSpPr>
                <p:nvPr/>
              </p:nvCxnSpPr>
              <p:spPr>
                <a:xfrm rot="16200000" flipH="1">
                  <a:off x="2775249" y="3637528"/>
                  <a:ext cx="1140040" cy="107950"/>
                </a:xfrm>
                <a:prstGeom prst="bentConnector2">
                  <a:avLst/>
                </a:prstGeom>
                <a:noFill/>
                <a:ln w="6350" cap="flat" cmpd="sng" algn="ctr">
                  <a:solidFill>
                    <a:srgbClr val="0070AD"/>
                  </a:solidFill>
                  <a:prstDash val="solid"/>
                  <a:miter lim="800000"/>
                </a:ln>
                <a:effectLst/>
              </p:spPr>
            </p:cxnSp>
            <p:cxnSp>
              <p:nvCxnSpPr>
                <p:cNvPr id="695" name="Connector: Elbow 694">
                  <a:extLst>
                    <a:ext uri="{FF2B5EF4-FFF2-40B4-BE49-F238E27FC236}">
                      <a16:creationId xmlns:a16="http://schemas.microsoft.com/office/drawing/2014/main" id="{15E897FF-ABC7-9503-71DF-7085F8E24058}"/>
                    </a:ext>
                  </a:extLst>
                </p:cNvPr>
                <p:cNvCxnSpPr>
                  <a:cxnSpLocks/>
                </p:cNvCxnSpPr>
                <p:nvPr/>
              </p:nvCxnSpPr>
              <p:spPr>
                <a:xfrm rot="16200000" flipH="1">
                  <a:off x="2496207" y="3958825"/>
                  <a:ext cx="1698124" cy="107950"/>
                </a:xfrm>
                <a:prstGeom prst="bentConnector2">
                  <a:avLst/>
                </a:prstGeom>
                <a:noFill/>
                <a:ln w="6350" cap="flat" cmpd="sng" algn="ctr">
                  <a:solidFill>
                    <a:srgbClr val="0070AD"/>
                  </a:solidFill>
                  <a:prstDash val="solid"/>
                  <a:miter lim="800000"/>
                </a:ln>
                <a:effectLst/>
              </p:spPr>
            </p:cxnSp>
            <p:cxnSp>
              <p:nvCxnSpPr>
                <p:cNvPr id="696" name="Connector: Elbow 695">
                  <a:extLst>
                    <a:ext uri="{FF2B5EF4-FFF2-40B4-BE49-F238E27FC236}">
                      <a16:creationId xmlns:a16="http://schemas.microsoft.com/office/drawing/2014/main" id="{29F4ACA6-1AF3-F2D8-5B40-AB5A739C5E1C}"/>
                    </a:ext>
                  </a:extLst>
                </p:cNvPr>
                <p:cNvCxnSpPr>
                  <a:cxnSpLocks/>
                </p:cNvCxnSpPr>
                <p:nvPr/>
              </p:nvCxnSpPr>
              <p:spPr>
                <a:xfrm rot="16200000" flipH="1">
                  <a:off x="2973796" y="3236090"/>
                  <a:ext cx="742090" cy="108806"/>
                </a:xfrm>
                <a:prstGeom prst="bentConnector2">
                  <a:avLst/>
                </a:prstGeom>
                <a:noFill/>
                <a:ln w="6350" cap="flat" cmpd="sng" algn="ctr">
                  <a:solidFill>
                    <a:srgbClr val="0070AD"/>
                  </a:solidFill>
                  <a:prstDash val="solid"/>
                  <a:miter lim="800000"/>
                </a:ln>
                <a:effectLst/>
              </p:spPr>
            </p:cxnSp>
            <p:cxnSp>
              <p:nvCxnSpPr>
                <p:cNvPr id="697" name="Connector: Elbow 696">
                  <a:extLst>
                    <a:ext uri="{FF2B5EF4-FFF2-40B4-BE49-F238E27FC236}">
                      <a16:creationId xmlns:a16="http://schemas.microsoft.com/office/drawing/2014/main" id="{F471A7B8-3891-6413-CDF2-FC885B27CA96}"/>
                    </a:ext>
                  </a:extLst>
                </p:cNvPr>
                <p:cNvCxnSpPr>
                  <a:cxnSpLocks/>
                </p:cNvCxnSpPr>
                <p:nvPr/>
              </p:nvCxnSpPr>
              <p:spPr>
                <a:xfrm rot="16200000" flipH="1">
                  <a:off x="2214087" y="4274529"/>
                  <a:ext cx="2259460" cy="110854"/>
                </a:xfrm>
                <a:prstGeom prst="bentConnector2">
                  <a:avLst/>
                </a:prstGeom>
                <a:noFill/>
                <a:ln w="6350" cap="flat" cmpd="sng" algn="ctr">
                  <a:solidFill>
                    <a:srgbClr val="0070AD"/>
                  </a:solidFill>
                  <a:prstDash val="solid"/>
                  <a:miter lim="800000"/>
                </a:ln>
                <a:effectLst/>
              </p:spPr>
            </p:cxnSp>
            <p:grpSp>
              <p:nvGrpSpPr>
                <p:cNvPr id="698" name="Group 697">
                  <a:extLst>
                    <a:ext uri="{FF2B5EF4-FFF2-40B4-BE49-F238E27FC236}">
                      <a16:creationId xmlns:a16="http://schemas.microsoft.com/office/drawing/2014/main" id="{6F99E8FF-AAE3-F4F7-A754-5D8FF3005329}"/>
                    </a:ext>
                  </a:extLst>
                </p:cNvPr>
                <p:cNvGrpSpPr/>
                <p:nvPr/>
              </p:nvGrpSpPr>
              <p:grpSpPr>
                <a:xfrm>
                  <a:off x="3399244" y="3472247"/>
                  <a:ext cx="2412815" cy="378583"/>
                  <a:chOff x="1499804" y="3222126"/>
                  <a:chExt cx="2412815" cy="378583"/>
                </a:xfrm>
              </p:grpSpPr>
              <p:sp>
                <p:nvSpPr>
                  <p:cNvPr id="708" name="Rectangle 707">
                    <a:extLst>
                      <a:ext uri="{FF2B5EF4-FFF2-40B4-BE49-F238E27FC236}">
                        <a16:creationId xmlns:a16="http://schemas.microsoft.com/office/drawing/2014/main" id="{748A24DD-0139-B597-C2CD-E686A0B3EF68}"/>
                      </a:ext>
                    </a:extLst>
                  </p:cNvPr>
                  <p:cNvSpPr/>
                  <p:nvPr/>
                </p:nvSpPr>
                <p:spPr>
                  <a:xfrm>
                    <a:off x="1756979" y="3222126"/>
                    <a:ext cx="2155640" cy="378583"/>
                  </a:xfrm>
                  <a:prstGeom prst="rect">
                    <a:avLst/>
                  </a:prstGeom>
                  <a:solidFill>
                    <a:srgbClr val="12ABDB"/>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mj-lt"/>
                        <a:ea typeface="+mn-ea"/>
                        <a:cs typeface="+mn-cs"/>
                      </a:rPr>
                      <a:t>DATA COMPLETENESS</a:t>
                    </a:r>
                  </a:p>
                </p:txBody>
              </p:sp>
              <p:sp>
                <p:nvSpPr>
                  <p:cNvPr id="709" name="Rectangle 708">
                    <a:extLst>
                      <a:ext uri="{FF2B5EF4-FFF2-40B4-BE49-F238E27FC236}">
                        <a16:creationId xmlns:a16="http://schemas.microsoft.com/office/drawing/2014/main" id="{C840B8A9-6160-4B9E-F062-AFF7A99918A1}"/>
                      </a:ext>
                    </a:extLst>
                  </p:cNvPr>
                  <p:cNvSpPr/>
                  <p:nvPr/>
                </p:nvSpPr>
                <p:spPr>
                  <a:xfrm>
                    <a:off x="1499804" y="3222126"/>
                    <a:ext cx="257174" cy="378582"/>
                  </a:xfrm>
                  <a:prstGeom prst="rect">
                    <a:avLst/>
                  </a:prstGeom>
                  <a:solidFill>
                    <a:srgbClr val="0070A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FFFFFF"/>
                        </a:solidFill>
                        <a:effectLst/>
                        <a:uLnTx/>
                        <a:uFillTx/>
                        <a:latin typeface="+mj-lt"/>
                        <a:ea typeface="+mn-ea"/>
                        <a:cs typeface="+mn-cs"/>
                      </a:rPr>
                      <a:t>A</a:t>
                    </a:r>
                  </a:p>
                </p:txBody>
              </p:sp>
            </p:grpSp>
            <p:grpSp>
              <p:nvGrpSpPr>
                <p:cNvPr id="699" name="Group 698">
                  <a:extLst>
                    <a:ext uri="{FF2B5EF4-FFF2-40B4-BE49-F238E27FC236}">
                      <a16:creationId xmlns:a16="http://schemas.microsoft.com/office/drawing/2014/main" id="{2A89BC47-5340-59BD-BE82-24C9D8E4AD99}"/>
                    </a:ext>
                  </a:extLst>
                </p:cNvPr>
                <p:cNvGrpSpPr/>
                <p:nvPr/>
              </p:nvGrpSpPr>
              <p:grpSpPr>
                <a:xfrm>
                  <a:off x="3399244" y="4071941"/>
                  <a:ext cx="2412815" cy="378873"/>
                  <a:chOff x="1499804" y="3821820"/>
                  <a:chExt cx="2412815" cy="378873"/>
                </a:xfrm>
              </p:grpSpPr>
              <p:sp>
                <p:nvSpPr>
                  <p:cNvPr id="706" name="Rectangle 705">
                    <a:extLst>
                      <a:ext uri="{FF2B5EF4-FFF2-40B4-BE49-F238E27FC236}">
                        <a16:creationId xmlns:a16="http://schemas.microsoft.com/office/drawing/2014/main" id="{54794708-D328-0D07-34CF-EF07C5FBDACC}"/>
                      </a:ext>
                    </a:extLst>
                  </p:cNvPr>
                  <p:cNvSpPr/>
                  <p:nvPr/>
                </p:nvSpPr>
                <p:spPr>
                  <a:xfrm>
                    <a:off x="1756979" y="3821820"/>
                    <a:ext cx="2155640" cy="378583"/>
                  </a:xfrm>
                  <a:prstGeom prst="rect">
                    <a:avLst/>
                  </a:prstGeom>
                  <a:solidFill>
                    <a:srgbClr val="12ABDB"/>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mj-lt"/>
                        <a:ea typeface="+mn-ea"/>
                        <a:cs typeface="+mn-cs"/>
                      </a:rPr>
                      <a:t>DATA VERACITY</a:t>
                    </a:r>
                  </a:p>
                </p:txBody>
              </p:sp>
              <p:sp>
                <p:nvSpPr>
                  <p:cNvPr id="707" name="Rectangle 706">
                    <a:extLst>
                      <a:ext uri="{FF2B5EF4-FFF2-40B4-BE49-F238E27FC236}">
                        <a16:creationId xmlns:a16="http://schemas.microsoft.com/office/drawing/2014/main" id="{D82FF9B9-3F03-1D05-7445-13563DCD0D58}"/>
                      </a:ext>
                    </a:extLst>
                  </p:cNvPr>
                  <p:cNvSpPr/>
                  <p:nvPr/>
                </p:nvSpPr>
                <p:spPr>
                  <a:xfrm>
                    <a:off x="1499804" y="3822111"/>
                    <a:ext cx="257174" cy="378582"/>
                  </a:xfrm>
                  <a:prstGeom prst="rect">
                    <a:avLst/>
                  </a:prstGeom>
                  <a:solidFill>
                    <a:srgbClr val="0070A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FFFFFF"/>
                        </a:solidFill>
                        <a:effectLst/>
                        <a:uLnTx/>
                        <a:uFillTx/>
                        <a:latin typeface="+mj-lt"/>
                        <a:ea typeface="+mn-ea"/>
                        <a:cs typeface="+mn-cs"/>
                      </a:rPr>
                      <a:t>B</a:t>
                    </a:r>
                  </a:p>
                </p:txBody>
              </p:sp>
            </p:grpSp>
            <p:grpSp>
              <p:nvGrpSpPr>
                <p:cNvPr id="700" name="Group 699">
                  <a:extLst>
                    <a:ext uri="{FF2B5EF4-FFF2-40B4-BE49-F238E27FC236}">
                      <a16:creationId xmlns:a16="http://schemas.microsoft.com/office/drawing/2014/main" id="{14D440A6-0BC1-EED2-F2D9-A1AD2DFD602E}"/>
                    </a:ext>
                  </a:extLst>
                </p:cNvPr>
                <p:cNvGrpSpPr/>
                <p:nvPr/>
              </p:nvGrpSpPr>
              <p:grpSpPr>
                <a:xfrm>
                  <a:off x="3399244" y="4671635"/>
                  <a:ext cx="2412815" cy="379518"/>
                  <a:chOff x="1499804" y="4421514"/>
                  <a:chExt cx="2412815" cy="379518"/>
                </a:xfrm>
              </p:grpSpPr>
              <p:sp>
                <p:nvSpPr>
                  <p:cNvPr id="704" name="Rectangle 703">
                    <a:extLst>
                      <a:ext uri="{FF2B5EF4-FFF2-40B4-BE49-F238E27FC236}">
                        <a16:creationId xmlns:a16="http://schemas.microsoft.com/office/drawing/2014/main" id="{652FB2EC-D59E-3666-C08D-35AB77F11E0B}"/>
                      </a:ext>
                    </a:extLst>
                  </p:cNvPr>
                  <p:cNvSpPr/>
                  <p:nvPr/>
                </p:nvSpPr>
                <p:spPr>
                  <a:xfrm>
                    <a:off x="1756979" y="4421514"/>
                    <a:ext cx="2155640" cy="378583"/>
                  </a:xfrm>
                  <a:prstGeom prst="rect">
                    <a:avLst/>
                  </a:prstGeom>
                  <a:solidFill>
                    <a:srgbClr val="12ABDB"/>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mj-lt"/>
                        <a:ea typeface="+mn-ea"/>
                        <a:cs typeface="+mn-cs"/>
                      </a:rPr>
                      <a:t>DATA DOCUMENTATION</a:t>
                    </a:r>
                  </a:p>
                </p:txBody>
              </p:sp>
              <p:sp>
                <p:nvSpPr>
                  <p:cNvPr id="705" name="Rectangle 704">
                    <a:extLst>
                      <a:ext uri="{FF2B5EF4-FFF2-40B4-BE49-F238E27FC236}">
                        <a16:creationId xmlns:a16="http://schemas.microsoft.com/office/drawing/2014/main" id="{8EE83260-ED36-7629-16CE-95FC1FF08484}"/>
                      </a:ext>
                    </a:extLst>
                  </p:cNvPr>
                  <p:cNvSpPr/>
                  <p:nvPr/>
                </p:nvSpPr>
                <p:spPr>
                  <a:xfrm>
                    <a:off x="1499804" y="4422450"/>
                    <a:ext cx="257174" cy="378582"/>
                  </a:xfrm>
                  <a:prstGeom prst="rect">
                    <a:avLst/>
                  </a:prstGeom>
                  <a:solidFill>
                    <a:srgbClr val="0070A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FFFFFF"/>
                        </a:solidFill>
                        <a:effectLst/>
                        <a:uLnTx/>
                        <a:uFillTx/>
                        <a:latin typeface="+mj-lt"/>
                        <a:ea typeface="+mn-ea"/>
                        <a:cs typeface="+mn-cs"/>
                      </a:rPr>
                      <a:t>C</a:t>
                    </a:r>
                  </a:p>
                </p:txBody>
              </p:sp>
            </p:grpSp>
            <p:grpSp>
              <p:nvGrpSpPr>
                <p:cNvPr id="701" name="Group 700">
                  <a:extLst>
                    <a:ext uri="{FF2B5EF4-FFF2-40B4-BE49-F238E27FC236}">
                      <a16:creationId xmlns:a16="http://schemas.microsoft.com/office/drawing/2014/main" id="{45B3794D-E15C-4FB4-C9C7-7ADBE1D82734}"/>
                    </a:ext>
                  </a:extLst>
                </p:cNvPr>
                <p:cNvGrpSpPr/>
                <p:nvPr/>
              </p:nvGrpSpPr>
              <p:grpSpPr>
                <a:xfrm>
                  <a:off x="3399244" y="5270395"/>
                  <a:ext cx="2578955" cy="379518"/>
                  <a:chOff x="1499804" y="5020274"/>
                  <a:chExt cx="2578955" cy="379518"/>
                </a:xfrm>
              </p:grpSpPr>
              <p:sp>
                <p:nvSpPr>
                  <p:cNvPr id="702" name="Rectangle 701">
                    <a:extLst>
                      <a:ext uri="{FF2B5EF4-FFF2-40B4-BE49-F238E27FC236}">
                        <a16:creationId xmlns:a16="http://schemas.microsoft.com/office/drawing/2014/main" id="{A8813026-67FC-DA99-7CEE-2595D8D7395C}"/>
                      </a:ext>
                    </a:extLst>
                  </p:cNvPr>
                  <p:cNvSpPr/>
                  <p:nvPr/>
                </p:nvSpPr>
                <p:spPr>
                  <a:xfrm>
                    <a:off x="1756978" y="5021209"/>
                    <a:ext cx="2321781" cy="378583"/>
                  </a:xfrm>
                  <a:prstGeom prst="rect">
                    <a:avLst/>
                  </a:prstGeom>
                  <a:solidFill>
                    <a:srgbClr val="12ABDB"/>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mj-lt"/>
                        <a:ea typeface="+mn-ea"/>
                        <a:cs typeface="+mn-cs"/>
                      </a:rPr>
                      <a:t>DATA QUALITY MONITORING</a:t>
                    </a:r>
                  </a:p>
                </p:txBody>
              </p:sp>
              <p:sp>
                <p:nvSpPr>
                  <p:cNvPr id="703" name="Rectangle 702">
                    <a:extLst>
                      <a:ext uri="{FF2B5EF4-FFF2-40B4-BE49-F238E27FC236}">
                        <a16:creationId xmlns:a16="http://schemas.microsoft.com/office/drawing/2014/main" id="{03A82513-14BC-1C7D-F0E9-4A4FDF3BC382}"/>
                      </a:ext>
                    </a:extLst>
                  </p:cNvPr>
                  <p:cNvSpPr/>
                  <p:nvPr/>
                </p:nvSpPr>
                <p:spPr>
                  <a:xfrm>
                    <a:off x="1499804" y="5020274"/>
                    <a:ext cx="257174" cy="378582"/>
                  </a:xfrm>
                  <a:prstGeom prst="rect">
                    <a:avLst/>
                  </a:prstGeom>
                  <a:solidFill>
                    <a:srgbClr val="0070AD"/>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FFFFFF"/>
                        </a:solidFill>
                        <a:effectLst/>
                        <a:uLnTx/>
                        <a:uFillTx/>
                        <a:latin typeface="+mj-lt"/>
                        <a:ea typeface="+mn-ea"/>
                        <a:cs typeface="+mn-cs"/>
                      </a:rPr>
                      <a:t>D</a:t>
                    </a:r>
                  </a:p>
                </p:txBody>
              </p:sp>
            </p:grpSp>
          </p:grpSp>
          <p:grpSp>
            <p:nvGrpSpPr>
              <p:cNvPr id="651" name="Group 650">
                <a:extLst>
                  <a:ext uri="{FF2B5EF4-FFF2-40B4-BE49-F238E27FC236}">
                    <a16:creationId xmlns:a16="http://schemas.microsoft.com/office/drawing/2014/main" id="{45457A1C-D58D-DC4F-7057-D7D27B9A5143}"/>
                  </a:ext>
                </a:extLst>
              </p:cNvPr>
              <p:cNvGrpSpPr/>
              <p:nvPr/>
            </p:nvGrpSpPr>
            <p:grpSpPr>
              <a:xfrm>
                <a:off x="3352336" y="3521562"/>
                <a:ext cx="537828" cy="543277"/>
                <a:chOff x="2841075" y="3921078"/>
                <a:chExt cx="1008000" cy="1008000"/>
              </a:xfrm>
            </p:grpSpPr>
            <p:sp>
              <p:nvSpPr>
                <p:cNvPr id="687" name="Oval 686">
                  <a:extLst>
                    <a:ext uri="{FF2B5EF4-FFF2-40B4-BE49-F238E27FC236}">
                      <a16:creationId xmlns:a16="http://schemas.microsoft.com/office/drawing/2014/main" id="{5A4D0B90-C480-FB5C-B825-B8BBC4E87503}"/>
                    </a:ext>
                  </a:extLst>
                </p:cNvPr>
                <p:cNvSpPr/>
                <p:nvPr/>
              </p:nvSpPr>
              <p:spPr>
                <a:xfrm>
                  <a:off x="2841075" y="3921078"/>
                  <a:ext cx="1008000" cy="1008000"/>
                </a:xfrm>
                <a:prstGeom prst="ellipse">
                  <a:avLst/>
                </a:prstGeom>
                <a:solidFill>
                  <a:srgbClr val="0070AD"/>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mj-lt"/>
                    <a:ea typeface="+mn-ea"/>
                    <a:cs typeface="+mn-cs"/>
                  </a:endParaRPr>
                </a:p>
              </p:txBody>
            </p:sp>
            <p:grpSp>
              <p:nvGrpSpPr>
                <p:cNvPr id="688" name="Groupe 427">
                  <a:extLst>
                    <a:ext uri="{FF2B5EF4-FFF2-40B4-BE49-F238E27FC236}">
                      <a16:creationId xmlns:a16="http://schemas.microsoft.com/office/drawing/2014/main" id="{DE8EA149-075A-67CD-CE43-BB9219DB5D29}"/>
                    </a:ext>
                  </a:extLst>
                </p:cNvPr>
                <p:cNvGrpSpPr>
                  <a:grpSpLocks noChangeAspect="1"/>
                </p:cNvGrpSpPr>
                <p:nvPr/>
              </p:nvGrpSpPr>
              <p:grpSpPr>
                <a:xfrm>
                  <a:off x="2959410" y="4065078"/>
                  <a:ext cx="771330" cy="720000"/>
                  <a:chOff x="2840281" y="-36418"/>
                  <a:chExt cx="1642577" cy="1533268"/>
                </a:xfrm>
              </p:grpSpPr>
              <p:sp>
                <p:nvSpPr>
                  <p:cNvPr id="689" name="Freeform 86">
                    <a:extLst>
                      <a:ext uri="{FF2B5EF4-FFF2-40B4-BE49-F238E27FC236}">
                        <a16:creationId xmlns:a16="http://schemas.microsoft.com/office/drawing/2014/main" id="{8E23F30B-A0F7-A0B3-3E89-41C4ACB5772C}"/>
                      </a:ext>
                    </a:extLst>
                  </p:cNvPr>
                  <p:cNvSpPr>
                    <a:spLocks/>
                  </p:cNvSpPr>
                  <p:nvPr/>
                </p:nvSpPr>
                <p:spPr bwMode="auto">
                  <a:xfrm>
                    <a:off x="2840281" y="-36418"/>
                    <a:ext cx="1642577" cy="1533268"/>
                  </a:xfrm>
                  <a:custGeom>
                    <a:avLst/>
                    <a:gdLst>
                      <a:gd name="T0" fmla="*/ 34 w 235"/>
                      <a:gd name="T1" fmla="*/ 172 h 219"/>
                      <a:gd name="T2" fmla="*/ 56 w 235"/>
                      <a:gd name="T3" fmla="*/ 33 h 219"/>
                      <a:gd name="T4" fmla="*/ 201 w 235"/>
                      <a:gd name="T5" fmla="*/ 53 h 219"/>
                      <a:gd name="T6" fmla="*/ 175 w 235"/>
                      <a:gd name="T7" fmla="*/ 187 h 219"/>
                      <a:gd name="T8" fmla="*/ 34 w 235"/>
                      <a:gd name="T9" fmla="*/ 172 h 219"/>
                    </a:gdLst>
                    <a:ahLst/>
                    <a:cxnLst>
                      <a:cxn ang="0">
                        <a:pos x="T0" y="T1"/>
                      </a:cxn>
                      <a:cxn ang="0">
                        <a:pos x="T2" y="T3"/>
                      </a:cxn>
                      <a:cxn ang="0">
                        <a:pos x="T4" y="T5"/>
                      </a:cxn>
                      <a:cxn ang="0">
                        <a:pos x="T6" y="T7"/>
                      </a:cxn>
                      <a:cxn ang="0">
                        <a:pos x="T8" y="T9"/>
                      </a:cxn>
                    </a:cxnLst>
                    <a:rect l="0" t="0" r="r" b="b"/>
                    <a:pathLst>
                      <a:path w="235" h="219">
                        <a:moveTo>
                          <a:pt x="34" y="172"/>
                        </a:moveTo>
                        <a:cubicBezTo>
                          <a:pt x="0" y="128"/>
                          <a:pt x="10" y="66"/>
                          <a:pt x="56" y="33"/>
                        </a:cubicBezTo>
                        <a:cubicBezTo>
                          <a:pt x="102" y="0"/>
                          <a:pt x="167" y="9"/>
                          <a:pt x="201" y="53"/>
                        </a:cubicBezTo>
                        <a:cubicBezTo>
                          <a:pt x="235" y="97"/>
                          <a:pt x="221" y="154"/>
                          <a:pt x="175" y="187"/>
                        </a:cubicBezTo>
                        <a:cubicBezTo>
                          <a:pt x="128" y="219"/>
                          <a:pt x="67" y="216"/>
                          <a:pt x="34" y="172"/>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prstClr val="black"/>
                      </a:solidFill>
                      <a:effectLst/>
                      <a:uLnTx/>
                      <a:uFillTx/>
                      <a:latin typeface="+mj-lt"/>
                    </a:endParaRPr>
                  </a:p>
                </p:txBody>
              </p:sp>
              <p:grpSp>
                <p:nvGrpSpPr>
                  <p:cNvPr id="690" name="Groupe 482">
                    <a:extLst>
                      <a:ext uri="{FF2B5EF4-FFF2-40B4-BE49-F238E27FC236}">
                        <a16:creationId xmlns:a16="http://schemas.microsoft.com/office/drawing/2014/main" id="{CFB0AF8A-37BE-935C-B9F5-72513DC5F2B8}"/>
                      </a:ext>
                    </a:extLst>
                  </p:cNvPr>
                  <p:cNvGrpSpPr>
                    <a:grpSpLocks noChangeAspect="1"/>
                  </p:cNvGrpSpPr>
                  <p:nvPr/>
                </p:nvGrpSpPr>
                <p:grpSpPr>
                  <a:xfrm rot="20004553">
                    <a:off x="3093902" y="508287"/>
                    <a:ext cx="1058075" cy="520061"/>
                    <a:chOff x="3361563" y="660166"/>
                    <a:chExt cx="471356" cy="231679"/>
                  </a:xfrm>
                </p:grpSpPr>
                <p:sp>
                  <p:nvSpPr>
                    <p:cNvPr id="691" name="Freeform 87">
                      <a:extLst>
                        <a:ext uri="{FF2B5EF4-FFF2-40B4-BE49-F238E27FC236}">
                          <a16:creationId xmlns:a16="http://schemas.microsoft.com/office/drawing/2014/main" id="{EE994AE6-1D88-EE48-08C9-72DEFA8F9C9D}"/>
                        </a:ext>
                      </a:extLst>
                    </p:cNvPr>
                    <p:cNvSpPr>
                      <a:spLocks/>
                    </p:cNvSpPr>
                    <p:nvPr/>
                  </p:nvSpPr>
                  <p:spPr bwMode="auto">
                    <a:xfrm>
                      <a:off x="3611347" y="660166"/>
                      <a:ext cx="221572" cy="224525"/>
                    </a:xfrm>
                    <a:custGeom>
                      <a:avLst/>
                      <a:gdLst>
                        <a:gd name="T0" fmla="*/ 27 w 32"/>
                        <a:gd name="T1" fmla="*/ 15 h 32"/>
                        <a:gd name="T2" fmla="*/ 29 w 32"/>
                        <a:gd name="T3" fmla="*/ 16 h 32"/>
                        <a:gd name="T4" fmla="*/ 31 w 32"/>
                        <a:gd name="T5" fmla="*/ 17 h 32"/>
                        <a:gd name="T6" fmla="*/ 32 w 32"/>
                        <a:gd name="T7" fmla="*/ 15 h 32"/>
                        <a:gd name="T8" fmla="*/ 32 w 32"/>
                        <a:gd name="T9" fmla="*/ 10 h 32"/>
                        <a:gd name="T10" fmla="*/ 30 w 32"/>
                        <a:gd name="T11" fmla="*/ 9 h 32"/>
                        <a:gd name="T12" fmla="*/ 24 w 32"/>
                        <a:gd name="T13" fmla="*/ 9 h 32"/>
                        <a:gd name="T14" fmla="*/ 22 w 32"/>
                        <a:gd name="T15" fmla="*/ 8 h 32"/>
                        <a:gd name="T16" fmla="*/ 23 w 32"/>
                        <a:gd name="T17" fmla="*/ 6 h 32"/>
                        <a:gd name="T18" fmla="*/ 24 w 32"/>
                        <a:gd name="T19" fmla="*/ 4 h 32"/>
                        <a:gd name="T20" fmla="*/ 20 w 32"/>
                        <a:gd name="T21" fmla="*/ 0 h 32"/>
                        <a:gd name="T22" fmla="*/ 20 w 32"/>
                        <a:gd name="T23" fmla="*/ 0 h 32"/>
                        <a:gd name="T24" fmla="*/ 17 w 32"/>
                        <a:gd name="T25" fmla="*/ 4 h 32"/>
                        <a:gd name="T26" fmla="*/ 17 w 32"/>
                        <a:gd name="T27" fmla="*/ 6 h 32"/>
                        <a:gd name="T28" fmla="*/ 19 w 32"/>
                        <a:gd name="T29" fmla="*/ 7 h 32"/>
                        <a:gd name="T30" fmla="*/ 17 w 32"/>
                        <a:gd name="T31" fmla="*/ 9 h 32"/>
                        <a:gd name="T32" fmla="*/ 10 w 32"/>
                        <a:gd name="T33" fmla="*/ 9 h 32"/>
                        <a:gd name="T34" fmla="*/ 9 w 32"/>
                        <a:gd name="T35" fmla="*/ 10 h 32"/>
                        <a:gd name="T36" fmla="*/ 9 w 32"/>
                        <a:gd name="T37" fmla="*/ 16 h 32"/>
                        <a:gd name="T38" fmla="*/ 8 w 32"/>
                        <a:gd name="T39" fmla="*/ 17 h 32"/>
                        <a:gd name="T40" fmla="*/ 6 w 32"/>
                        <a:gd name="T41" fmla="*/ 16 h 32"/>
                        <a:gd name="T42" fmla="*/ 4 w 32"/>
                        <a:gd name="T43" fmla="*/ 15 h 32"/>
                        <a:gd name="T44" fmla="*/ 0 w 32"/>
                        <a:gd name="T45" fmla="*/ 19 h 32"/>
                        <a:gd name="T46" fmla="*/ 4 w 32"/>
                        <a:gd name="T47" fmla="*/ 22 h 32"/>
                        <a:gd name="T48" fmla="*/ 6 w 32"/>
                        <a:gd name="T49" fmla="*/ 22 h 32"/>
                        <a:gd name="T50" fmla="*/ 8 w 32"/>
                        <a:gd name="T51" fmla="*/ 20 h 32"/>
                        <a:gd name="T52" fmla="*/ 9 w 32"/>
                        <a:gd name="T53" fmla="*/ 22 h 32"/>
                        <a:gd name="T54" fmla="*/ 9 w 32"/>
                        <a:gd name="T55" fmla="*/ 31 h 32"/>
                        <a:gd name="T56" fmla="*/ 10 w 32"/>
                        <a:gd name="T57" fmla="*/ 32 h 32"/>
                        <a:gd name="T58" fmla="*/ 17 w 32"/>
                        <a:gd name="T59" fmla="*/ 32 h 32"/>
                        <a:gd name="T60" fmla="*/ 19 w 32"/>
                        <a:gd name="T61" fmla="*/ 31 h 32"/>
                        <a:gd name="T62" fmla="*/ 17 w 32"/>
                        <a:gd name="T63" fmla="*/ 29 h 32"/>
                        <a:gd name="T64" fmla="*/ 17 w 32"/>
                        <a:gd name="T65" fmla="*/ 27 h 32"/>
                        <a:gd name="T66" fmla="*/ 20 w 32"/>
                        <a:gd name="T67" fmla="*/ 23 h 32"/>
                        <a:gd name="T68" fmla="*/ 20 w 32"/>
                        <a:gd name="T69" fmla="*/ 23 h 32"/>
                        <a:gd name="T70" fmla="*/ 24 w 32"/>
                        <a:gd name="T71" fmla="*/ 27 h 32"/>
                        <a:gd name="T72" fmla="*/ 23 w 32"/>
                        <a:gd name="T73" fmla="*/ 29 h 32"/>
                        <a:gd name="T74" fmla="*/ 22 w 32"/>
                        <a:gd name="T75" fmla="*/ 31 h 32"/>
                        <a:gd name="T76" fmla="*/ 24 w 32"/>
                        <a:gd name="T77" fmla="*/ 32 h 32"/>
                        <a:gd name="T78" fmla="*/ 30 w 32"/>
                        <a:gd name="T79" fmla="*/ 32 h 32"/>
                        <a:gd name="T80" fmla="*/ 32 w 32"/>
                        <a:gd name="T81" fmla="*/ 31 h 32"/>
                        <a:gd name="T82" fmla="*/ 32 w 32"/>
                        <a:gd name="T83" fmla="*/ 22 h 32"/>
                        <a:gd name="T84" fmla="*/ 31 w 32"/>
                        <a:gd name="T85" fmla="*/ 20 h 32"/>
                        <a:gd name="T86" fmla="*/ 29 w 32"/>
                        <a:gd name="T87" fmla="*/ 22 h 32"/>
                        <a:gd name="T88" fmla="*/ 27 w 32"/>
                        <a:gd name="T89" fmla="*/ 22 h 32"/>
                        <a:gd name="T90" fmla="*/ 23 w 32"/>
                        <a:gd name="T91" fmla="*/ 19 h 32"/>
                        <a:gd name="T92" fmla="*/ 27 w 32"/>
                        <a:gd name="T93"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32">
                          <a:moveTo>
                            <a:pt x="27" y="15"/>
                          </a:moveTo>
                          <a:cubicBezTo>
                            <a:pt x="28" y="15"/>
                            <a:pt x="29" y="16"/>
                            <a:pt x="29" y="16"/>
                          </a:cubicBezTo>
                          <a:cubicBezTo>
                            <a:pt x="29" y="16"/>
                            <a:pt x="30" y="17"/>
                            <a:pt x="31" y="17"/>
                          </a:cubicBezTo>
                          <a:cubicBezTo>
                            <a:pt x="31" y="17"/>
                            <a:pt x="32" y="16"/>
                            <a:pt x="32" y="15"/>
                          </a:cubicBezTo>
                          <a:cubicBezTo>
                            <a:pt x="32" y="10"/>
                            <a:pt x="32" y="10"/>
                            <a:pt x="32" y="10"/>
                          </a:cubicBezTo>
                          <a:cubicBezTo>
                            <a:pt x="32" y="9"/>
                            <a:pt x="31" y="9"/>
                            <a:pt x="30" y="9"/>
                          </a:cubicBezTo>
                          <a:cubicBezTo>
                            <a:pt x="24" y="9"/>
                            <a:pt x="24" y="9"/>
                            <a:pt x="24" y="9"/>
                          </a:cubicBezTo>
                          <a:cubicBezTo>
                            <a:pt x="23" y="9"/>
                            <a:pt x="22" y="8"/>
                            <a:pt x="22" y="8"/>
                          </a:cubicBezTo>
                          <a:cubicBezTo>
                            <a:pt x="22" y="8"/>
                            <a:pt x="23" y="6"/>
                            <a:pt x="23" y="6"/>
                          </a:cubicBezTo>
                          <a:cubicBezTo>
                            <a:pt x="23" y="6"/>
                            <a:pt x="24" y="5"/>
                            <a:pt x="24" y="4"/>
                          </a:cubicBezTo>
                          <a:cubicBezTo>
                            <a:pt x="24" y="1"/>
                            <a:pt x="22" y="0"/>
                            <a:pt x="20" y="0"/>
                          </a:cubicBezTo>
                          <a:cubicBezTo>
                            <a:pt x="20" y="0"/>
                            <a:pt x="20" y="0"/>
                            <a:pt x="20" y="0"/>
                          </a:cubicBezTo>
                          <a:cubicBezTo>
                            <a:pt x="18" y="0"/>
                            <a:pt x="17" y="2"/>
                            <a:pt x="17" y="4"/>
                          </a:cubicBezTo>
                          <a:cubicBezTo>
                            <a:pt x="17" y="5"/>
                            <a:pt x="17" y="6"/>
                            <a:pt x="17" y="6"/>
                          </a:cubicBezTo>
                          <a:cubicBezTo>
                            <a:pt x="18" y="6"/>
                            <a:pt x="18" y="7"/>
                            <a:pt x="19" y="7"/>
                          </a:cubicBezTo>
                          <a:cubicBezTo>
                            <a:pt x="19" y="8"/>
                            <a:pt x="18" y="9"/>
                            <a:pt x="17" y="9"/>
                          </a:cubicBezTo>
                          <a:cubicBezTo>
                            <a:pt x="10" y="9"/>
                            <a:pt x="10" y="9"/>
                            <a:pt x="10" y="9"/>
                          </a:cubicBezTo>
                          <a:cubicBezTo>
                            <a:pt x="9" y="9"/>
                            <a:pt x="9" y="9"/>
                            <a:pt x="9" y="10"/>
                          </a:cubicBezTo>
                          <a:cubicBezTo>
                            <a:pt x="9" y="16"/>
                            <a:pt x="9" y="16"/>
                            <a:pt x="9" y="16"/>
                          </a:cubicBezTo>
                          <a:cubicBezTo>
                            <a:pt x="9" y="16"/>
                            <a:pt x="8" y="17"/>
                            <a:pt x="8" y="17"/>
                          </a:cubicBezTo>
                          <a:cubicBezTo>
                            <a:pt x="8" y="17"/>
                            <a:pt x="7" y="16"/>
                            <a:pt x="6" y="16"/>
                          </a:cubicBezTo>
                          <a:cubicBezTo>
                            <a:pt x="6" y="16"/>
                            <a:pt x="5" y="15"/>
                            <a:pt x="4" y="15"/>
                          </a:cubicBezTo>
                          <a:cubicBezTo>
                            <a:pt x="2" y="15"/>
                            <a:pt x="0" y="17"/>
                            <a:pt x="0" y="19"/>
                          </a:cubicBezTo>
                          <a:cubicBezTo>
                            <a:pt x="0" y="21"/>
                            <a:pt x="2" y="22"/>
                            <a:pt x="4" y="22"/>
                          </a:cubicBezTo>
                          <a:cubicBezTo>
                            <a:pt x="5" y="22"/>
                            <a:pt x="6" y="22"/>
                            <a:pt x="6" y="22"/>
                          </a:cubicBezTo>
                          <a:cubicBezTo>
                            <a:pt x="7" y="21"/>
                            <a:pt x="7" y="21"/>
                            <a:pt x="8" y="20"/>
                          </a:cubicBezTo>
                          <a:cubicBezTo>
                            <a:pt x="8" y="20"/>
                            <a:pt x="9" y="21"/>
                            <a:pt x="9" y="22"/>
                          </a:cubicBezTo>
                          <a:cubicBezTo>
                            <a:pt x="9" y="31"/>
                            <a:pt x="9" y="31"/>
                            <a:pt x="9" y="31"/>
                          </a:cubicBezTo>
                          <a:cubicBezTo>
                            <a:pt x="9" y="31"/>
                            <a:pt x="9" y="32"/>
                            <a:pt x="10" y="32"/>
                          </a:cubicBezTo>
                          <a:cubicBezTo>
                            <a:pt x="17" y="32"/>
                            <a:pt x="17" y="32"/>
                            <a:pt x="17" y="32"/>
                          </a:cubicBezTo>
                          <a:cubicBezTo>
                            <a:pt x="18" y="32"/>
                            <a:pt x="18" y="32"/>
                            <a:pt x="19" y="31"/>
                          </a:cubicBezTo>
                          <a:cubicBezTo>
                            <a:pt x="19" y="31"/>
                            <a:pt x="18" y="30"/>
                            <a:pt x="17" y="29"/>
                          </a:cubicBezTo>
                          <a:cubicBezTo>
                            <a:pt x="17" y="29"/>
                            <a:pt x="17" y="28"/>
                            <a:pt x="17" y="27"/>
                          </a:cubicBezTo>
                          <a:cubicBezTo>
                            <a:pt x="17" y="25"/>
                            <a:pt x="18" y="23"/>
                            <a:pt x="20" y="23"/>
                          </a:cubicBezTo>
                          <a:cubicBezTo>
                            <a:pt x="20" y="23"/>
                            <a:pt x="20" y="23"/>
                            <a:pt x="20" y="23"/>
                          </a:cubicBezTo>
                          <a:cubicBezTo>
                            <a:pt x="22" y="23"/>
                            <a:pt x="24" y="25"/>
                            <a:pt x="24" y="27"/>
                          </a:cubicBezTo>
                          <a:cubicBezTo>
                            <a:pt x="24" y="28"/>
                            <a:pt x="23" y="29"/>
                            <a:pt x="23" y="29"/>
                          </a:cubicBezTo>
                          <a:cubicBezTo>
                            <a:pt x="23" y="30"/>
                            <a:pt x="22" y="30"/>
                            <a:pt x="22" y="31"/>
                          </a:cubicBezTo>
                          <a:cubicBezTo>
                            <a:pt x="22" y="31"/>
                            <a:pt x="23" y="32"/>
                            <a:pt x="24" y="32"/>
                          </a:cubicBezTo>
                          <a:cubicBezTo>
                            <a:pt x="30" y="32"/>
                            <a:pt x="30" y="32"/>
                            <a:pt x="30" y="32"/>
                          </a:cubicBezTo>
                          <a:cubicBezTo>
                            <a:pt x="31" y="32"/>
                            <a:pt x="32" y="31"/>
                            <a:pt x="32" y="31"/>
                          </a:cubicBezTo>
                          <a:cubicBezTo>
                            <a:pt x="32" y="22"/>
                            <a:pt x="32" y="22"/>
                            <a:pt x="32" y="22"/>
                          </a:cubicBezTo>
                          <a:cubicBezTo>
                            <a:pt x="32" y="21"/>
                            <a:pt x="32" y="21"/>
                            <a:pt x="31" y="20"/>
                          </a:cubicBezTo>
                          <a:cubicBezTo>
                            <a:pt x="31" y="20"/>
                            <a:pt x="29" y="21"/>
                            <a:pt x="29" y="22"/>
                          </a:cubicBezTo>
                          <a:cubicBezTo>
                            <a:pt x="29" y="22"/>
                            <a:pt x="28" y="22"/>
                            <a:pt x="27" y="22"/>
                          </a:cubicBezTo>
                          <a:cubicBezTo>
                            <a:pt x="25" y="22"/>
                            <a:pt x="23" y="21"/>
                            <a:pt x="23" y="19"/>
                          </a:cubicBezTo>
                          <a:cubicBezTo>
                            <a:pt x="23" y="17"/>
                            <a:pt x="25" y="15"/>
                            <a:pt x="27" y="15"/>
                          </a:cubicBez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prstClr val="black"/>
                        </a:solidFill>
                        <a:effectLst/>
                        <a:uLnTx/>
                        <a:uFillTx/>
                        <a:latin typeface="+mj-lt"/>
                      </a:endParaRPr>
                    </a:p>
                  </p:txBody>
                </p:sp>
                <p:sp>
                  <p:nvSpPr>
                    <p:cNvPr id="692" name="Freeform 91">
                      <a:extLst>
                        <a:ext uri="{FF2B5EF4-FFF2-40B4-BE49-F238E27FC236}">
                          <a16:creationId xmlns:a16="http://schemas.microsoft.com/office/drawing/2014/main" id="{8C680E7C-670B-9C42-EEB2-A96CA3CCD4B3}"/>
                        </a:ext>
                      </a:extLst>
                    </p:cNvPr>
                    <p:cNvSpPr>
                      <a:spLocks/>
                    </p:cNvSpPr>
                    <p:nvPr/>
                  </p:nvSpPr>
                  <p:spPr bwMode="auto">
                    <a:xfrm>
                      <a:off x="3361563" y="667320"/>
                      <a:ext cx="221572" cy="224525"/>
                    </a:xfrm>
                    <a:custGeom>
                      <a:avLst/>
                      <a:gdLst>
                        <a:gd name="T0" fmla="*/ 26 w 32"/>
                        <a:gd name="T1" fmla="*/ 15 h 32"/>
                        <a:gd name="T2" fmla="*/ 28 w 32"/>
                        <a:gd name="T3" fmla="*/ 16 h 32"/>
                        <a:gd name="T4" fmla="*/ 30 w 32"/>
                        <a:gd name="T5" fmla="*/ 17 h 32"/>
                        <a:gd name="T6" fmla="*/ 32 w 32"/>
                        <a:gd name="T7" fmla="*/ 15 h 32"/>
                        <a:gd name="T8" fmla="*/ 32 w 32"/>
                        <a:gd name="T9" fmla="*/ 10 h 32"/>
                        <a:gd name="T10" fmla="*/ 30 w 32"/>
                        <a:gd name="T11" fmla="*/ 9 h 32"/>
                        <a:gd name="T12" fmla="*/ 23 w 32"/>
                        <a:gd name="T13" fmla="*/ 9 h 32"/>
                        <a:gd name="T14" fmla="*/ 22 w 32"/>
                        <a:gd name="T15" fmla="*/ 8 h 32"/>
                        <a:gd name="T16" fmla="*/ 23 w 32"/>
                        <a:gd name="T17" fmla="*/ 6 h 32"/>
                        <a:gd name="T18" fmla="*/ 24 w 32"/>
                        <a:gd name="T19" fmla="*/ 4 h 32"/>
                        <a:gd name="T20" fmla="*/ 20 w 32"/>
                        <a:gd name="T21" fmla="*/ 0 h 32"/>
                        <a:gd name="T22" fmla="*/ 20 w 32"/>
                        <a:gd name="T23" fmla="*/ 0 h 32"/>
                        <a:gd name="T24" fmla="*/ 16 w 32"/>
                        <a:gd name="T25" fmla="*/ 4 h 32"/>
                        <a:gd name="T26" fmla="*/ 17 w 32"/>
                        <a:gd name="T27" fmla="*/ 6 h 32"/>
                        <a:gd name="T28" fmla="*/ 18 w 32"/>
                        <a:gd name="T29" fmla="*/ 7 h 32"/>
                        <a:gd name="T30" fmla="*/ 17 w 32"/>
                        <a:gd name="T31" fmla="*/ 9 h 32"/>
                        <a:gd name="T32" fmla="*/ 10 w 32"/>
                        <a:gd name="T33" fmla="*/ 9 h 32"/>
                        <a:gd name="T34" fmla="*/ 8 w 32"/>
                        <a:gd name="T35" fmla="*/ 10 h 32"/>
                        <a:gd name="T36" fmla="*/ 8 w 32"/>
                        <a:gd name="T37" fmla="*/ 16 h 32"/>
                        <a:gd name="T38" fmla="*/ 8 w 32"/>
                        <a:gd name="T39" fmla="*/ 17 h 32"/>
                        <a:gd name="T40" fmla="*/ 6 w 32"/>
                        <a:gd name="T41" fmla="*/ 16 h 32"/>
                        <a:gd name="T42" fmla="*/ 3 w 32"/>
                        <a:gd name="T43" fmla="*/ 15 h 32"/>
                        <a:gd name="T44" fmla="*/ 0 w 32"/>
                        <a:gd name="T45" fmla="*/ 19 h 32"/>
                        <a:gd name="T46" fmla="*/ 3 w 32"/>
                        <a:gd name="T47" fmla="*/ 22 h 32"/>
                        <a:gd name="T48" fmla="*/ 6 w 32"/>
                        <a:gd name="T49" fmla="*/ 22 h 32"/>
                        <a:gd name="T50" fmla="*/ 7 w 32"/>
                        <a:gd name="T51" fmla="*/ 20 h 32"/>
                        <a:gd name="T52" fmla="*/ 8 w 32"/>
                        <a:gd name="T53" fmla="*/ 22 h 32"/>
                        <a:gd name="T54" fmla="*/ 8 w 32"/>
                        <a:gd name="T55" fmla="*/ 31 h 32"/>
                        <a:gd name="T56" fmla="*/ 10 w 32"/>
                        <a:gd name="T57" fmla="*/ 32 h 32"/>
                        <a:gd name="T58" fmla="*/ 17 w 32"/>
                        <a:gd name="T59" fmla="*/ 32 h 32"/>
                        <a:gd name="T60" fmla="*/ 18 w 32"/>
                        <a:gd name="T61" fmla="*/ 31 h 32"/>
                        <a:gd name="T62" fmla="*/ 17 w 32"/>
                        <a:gd name="T63" fmla="*/ 29 h 32"/>
                        <a:gd name="T64" fmla="*/ 16 w 32"/>
                        <a:gd name="T65" fmla="*/ 27 h 32"/>
                        <a:gd name="T66" fmla="*/ 20 w 32"/>
                        <a:gd name="T67" fmla="*/ 23 h 32"/>
                        <a:gd name="T68" fmla="*/ 20 w 32"/>
                        <a:gd name="T69" fmla="*/ 23 h 32"/>
                        <a:gd name="T70" fmla="*/ 24 w 32"/>
                        <a:gd name="T71" fmla="*/ 27 h 32"/>
                        <a:gd name="T72" fmla="*/ 23 w 32"/>
                        <a:gd name="T73" fmla="*/ 29 h 32"/>
                        <a:gd name="T74" fmla="*/ 22 w 32"/>
                        <a:gd name="T75" fmla="*/ 31 h 32"/>
                        <a:gd name="T76" fmla="*/ 23 w 32"/>
                        <a:gd name="T77" fmla="*/ 32 h 32"/>
                        <a:gd name="T78" fmla="*/ 30 w 32"/>
                        <a:gd name="T79" fmla="*/ 32 h 32"/>
                        <a:gd name="T80" fmla="*/ 32 w 32"/>
                        <a:gd name="T81" fmla="*/ 31 h 32"/>
                        <a:gd name="T82" fmla="*/ 32 w 32"/>
                        <a:gd name="T83" fmla="*/ 22 h 32"/>
                        <a:gd name="T84" fmla="*/ 31 w 32"/>
                        <a:gd name="T85" fmla="*/ 20 h 32"/>
                        <a:gd name="T86" fmla="*/ 28 w 32"/>
                        <a:gd name="T87" fmla="*/ 22 h 32"/>
                        <a:gd name="T88" fmla="*/ 26 w 32"/>
                        <a:gd name="T89" fmla="*/ 22 h 32"/>
                        <a:gd name="T90" fmla="*/ 23 w 32"/>
                        <a:gd name="T91" fmla="*/ 19 h 32"/>
                        <a:gd name="T92" fmla="*/ 26 w 32"/>
                        <a:gd name="T93"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32">
                          <a:moveTo>
                            <a:pt x="26" y="15"/>
                          </a:moveTo>
                          <a:cubicBezTo>
                            <a:pt x="28" y="15"/>
                            <a:pt x="28" y="16"/>
                            <a:pt x="28" y="16"/>
                          </a:cubicBezTo>
                          <a:cubicBezTo>
                            <a:pt x="29" y="16"/>
                            <a:pt x="30" y="17"/>
                            <a:pt x="30" y="17"/>
                          </a:cubicBezTo>
                          <a:cubicBezTo>
                            <a:pt x="31" y="17"/>
                            <a:pt x="32" y="16"/>
                            <a:pt x="32" y="15"/>
                          </a:cubicBezTo>
                          <a:cubicBezTo>
                            <a:pt x="32" y="10"/>
                            <a:pt x="32" y="10"/>
                            <a:pt x="32" y="10"/>
                          </a:cubicBezTo>
                          <a:cubicBezTo>
                            <a:pt x="32" y="9"/>
                            <a:pt x="31" y="9"/>
                            <a:pt x="30" y="9"/>
                          </a:cubicBezTo>
                          <a:cubicBezTo>
                            <a:pt x="23" y="9"/>
                            <a:pt x="23" y="9"/>
                            <a:pt x="23" y="9"/>
                          </a:cubicBezTo>
                          <a:cubicBezTo>
                            <a:pt x="23" y="9"/>
                            <a:pt x="22" y="8"/>
                            <a:pt x="22" y="8"/>
                          </a:cubicBezTo>
                          <a:cubicBezTo>
                            <a:pt x="21" y="8"/>
                            <a:pt x="22" y="6"/>
                            <a:pt x="23" y="6"/>
                          </a:cubicBezTo>
                          <a:cubicBezTo>
                            <a:pt x="23" y="6"/>
                            <a:pt x="24" y="5"/>
                            <a:pt x="24" y="4"/>
                          </a:cubicBezTo>
                          <a:cubicBezTo>
                            <a:pt x="24" y="1"/>
                            <a:pt x="22" y="0"/>
                            <a:pt x="20" y="0"/>
                          </a:cubicBezTo>
                          <a:cubicBezTo>
                            <a:pt x="20" y="0"/>
                            <a:pt x="20" y="0"/>
                            <a:pt x="20" y="0"/>
                          </a:cubicBezTo>
                          <a:cubicBezTo>
                            <a:pt x="18" y="0"/>
                            <a:pt x="16" y="1"/>
                            <a:pt x="16" y="4"/>
                          </a:cubicBezTo>
                          <a:cubicBezTo>
                            <a:pt x="16" y="5"/>
                            <a:pt x="17" y="6"/>
                            <a:pt x="17" y="6"/>
                          </a:cubicBezTo>
                          <a:cubicBezTo>
                            <a:pt x="18" y="6"/>
                            <a:pt x="18" y="7"/>
                            <a:pt x="18" y="7"/>
                          </a:cubicBezTo>
                          <a:cubicBezTo>
                            <a:pt x="18" y="8"/>
                            <a:pt x="17" y="9"/>
                            <a:pt x="17" y="9"/>
                          </a:cubicBezTo>
                          <a:cubicBezTo>
                            <a:pt x="10" y="9"/>
                            <a:pt x="10" y="9"/>
                            <a:pt x="10" y="9"/>
                          </a:cubicBezTo>
                          <a:cubicBezTo>
                            <a:pt x="9" y="9"/>
                            <a:pt x="8" y="9"/>
                            <a:pt x="8" y="10"/>
                          </a:cubicBezTo>
                          <a:cubicBezTo>
                            <a:pt x="8" y="16"/>
                            <a:pt x="8" y="16"/>
                            <a:pt x="8" y="16"/>
                          </a:cubicBezTo>
                          <a:cubicBezTo>
                            <a:pt x="8" y="16"/>
                            <a:pt x="8" y="17"/>
                            <a:pt x="8" y="17"/>
                          </a:cubicBezTo>
                          <a:cubicBezTo>
                            <a:pt x="7" y="17"/>
                            <a:pt x="6" y="16"/>
                            <a:pt x="6" y="16"/>
                          </a:cubicBezTo>
                          <a:cubicBezTo>
                            <a:pt x="6" y="16"/>
                            <a:pt x="5" y="15"/>
                            <a:pt x="3" y="15"/>
                          </a:cubicBezTo>
                          <a:cubicBezTo>
                            <a:pt x="1" y="15"/>
                            <a:pt x="0" y="17"/>
                            <a:pt x="0" y="19"/>
                          </a:cubicBezTo>
                          <a:cubicBezTo>
                            <a:pt x="0" y="21"/>
                            <a:pt x="1" y="22"/>
                            <a:pt x="3" y="22"/>
                          </a:cubicBezTo>
                          <a:cubicBezTo>
                            <a:pt x="5" y="22"/>
                            <a:pt x="6" y="22"/>
                            <a:pt x="6" y="22"/>
                          </a:cubicBezTo>
                          <a:cubicBezTo>
                            <a:pt x="6" y="21"/>
                            <a:pt x="7" y="21"/>
                            <a:pt x="7" y="20"/>
                          </a:cubicBezTo>
                          <a:cubicBezTo>
                            <a:pt x="7" y="20"/>
                            <a:pt x="8" y="21"/>
                            <a:pt x="8" y="22"/>
                          </a:cubicBezTo>
                          <a:cubicBezTo>
                            <a:pt x="8" y="31"/>
                            <a:pt x="8" y="31"/>
                            <a:pt x="8" y="31"/>
                          </a:cubicBezTo>
                          <a:cubicBezTo>
                            <a:pt x="8" y="31"/>
                            <a:pt x="9" y="32"/>
                            <a:pt x="10" y="32"/>
                          </a:cubicBezTo>
                          <a:cubicBezTo>
                            <a:pt x="17" y="32"/>
                            <a:pt x="17" y="32"/>
                            <a:pt x="17" y="32"/>
                          </a:cubicBezTo>
                          <a:cubicBezTo>
                            <a:pt x="17" y="32"/>
                            <a:pt x="18" y="32"/>
                            <a:pt x="18" y="31"/>
                          </a:cubicBezTo>
                          <a:cubicBezTo>
                            <a:pt x="18" y="31"/>
                            <a:pt x="18" y="30"/>
                            <a:pt x="17" y="29"/>
                          </a:cubicBezTo>
                          <a:cubicBezTo>
                            <a:pt x="17" y="29"/>
                            <a:pt x="16" y="28"/>
                            <a:pt x="16" y="27"/>
                          </a:cubicBezTo>
                          <a:cubicBezTo>
                            <a:pt x="16" y="25"/>
                            <a:pt x="18" y="23"/>
                            <a:pt x="20" y="23"/>
                          </a:cubicBezTo>
                          <a:cubicBezTo>
                            <a:pt x="20" y="23"/>
                            <a:pt x="20" y="23"/>
                            <a:pt x="20" y="23"/>
                          </a:cubicBezTo>
                          <a:cubicBezTo>
                            <a:pt x="22" y="23"/>
                            <a:pt x="24" y="25"/>
                            <a:pt x="24" y="27"/>
                          </a:cubicBezTo>
                          <a:cubicBezTo>
                            <a:pt x="24" y="28"/>
                            <a:pt x="23" y="29"/>
                            <a:pt x="23" y="29"/>
                          </a:cubicBezTo>
                          <a:cubicBezTo>
                            <a:pt x="22" y="30"/>
                            <a:pt x="22" y="30"/>
                            <a:pt x="22" y="31"/>
                          </a:cubicBezTo>
                          <a:cubicBezTo>
                            <a:pt x="21" y="31"/>
                            <a:pt x="23" y="32"/>
                            <a:pt x="23" y="32"/>
                          </a:cubicBezTo>
                          <a:cubicBezTo>
                            <a:pt x="30" y="32"/>
                            <a:pt x="30" y="32"/>
                            <a:pt x="30" y="32"/>
                          </a:cubicBezTo>
                          <a:cubicBezTo>
                            <a:pt x="31" y="32"/>
                            <a:pt x="32" y="31"/>
                            <a:pt x="32" y="31"/>
                          </a:cubicBezTo>
                          <a:cubicBezTo>
                            <a:pt x="32" y="22"/>
                            <a:pt x="32" y="22"/>
                            <a:pt x="32" y="22"/>
                          </a:cubicBezTo>
                          <a:cubicBezTo>
                            <a:pt x="32" y="21"/>
                            <a:pt x="31" y="21"/>
                            <a:pt x="31" y="20"/>
                          </a:cubicBezTo>
                          <a:cubicBezTo>
                            <a:pt x="30" y="20"/>
                            <a:pt x="29" y="21"/>
                            <a:pt x="28" y="22"/>
                          </a:cubicBezTo>
                          <a:cubicBezTo>
                            <a:pt x="28" y="22"/>
                            <a:pt x="28" y="22"/>
                            <a:pt x="26" y="22"/>
                          </a:cubicBezTo>
                          <a:cubicBezTo>
                            <a:pt x="24" y="22"/>
                            <a:pt x="23" y="21"/>
                            <a:pt x="23" y="19"/>
                          </a:cubicBezTo>
                          <a:cubicBezTo>
                            <a:pt x="23" y="17"/>
                            <a:pt x="24" y="15"/>
                            <a:pt x="26" y="15"/>
                          </a:cubicBezTo>
                          <a:close/>
                        </a:path>
                      </a:pathLst>
                    </a:custGeom>
                    <a:solidFill>
                      <a:srgbClr val="EA65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prstClr val="black"/>
                        </a:solidFill>
                        <a:effectLst/>
                        <a:uLnTx/>
                        <a:uFillTx/>
                        <a:latin typeface="+mj-lt"/>
                      </a:endParaRPr>
                    </a:p>
                  </p:txBody>
                </p:sp>
              </p:grpSp>
            </p:grpSp>
          </p:grpSp>
          <p:grpSp>
            <p:nvGrpSpPr>
              <p:cNvPr id="652" name="Group 651">
                <a:extLst>
                  <a:ext uri="{FF2B5EF4-FFF2-40B4-BE49-F238E27FC236}">
                    <a16:creationId xmlns:a16="http://schemas.microsoft.com/office/drawing/2014/main" id="{D1DF6DCA-0034-B4E0-3DBB-8DF9C632FEF6}"/>
                  </a:ext>
                </a:extLst>
              </p:cNvPr>
              <p:cNvGrpSpPr/>
              <p:nvPr/>
            </p:nvGrpSpPr>
            <p:grpSpPr>
              <a:xfrm>
                <a:off x="3350786" y="5329536"/>
                <a:ext cx="540928" cy="546409"/>
                <a:chOff x="988086" y="3033686"/>
                <a:chExt cx="1008000" cy="1008000"/>
              </a:xfrm>
            </p:grpSpPr>
            <p:sp>
              <p:nvSpPr>
                <p:cNvPr id="678" name="Oval 677">
                  <a:extLst>
                    <a:ext uri="{FF2B5EF4-FFF2-40B4-BE49-F238E27FC236}">
                      <a16:creationId xmlns:a16="http://schemas.microsoft.com/office/drawing/2014/main" id="{BEEDDED9-4C9C-0E75-64B3-8CAABE1C2AF9}"/>
                    </a:ext>
                  </a:extLst>
                </p:cNvPr>
                <p:cNvSpPr/>
                <p:nvPr/>
              </p:nvSpPr>
              <p:spPr>
                <a:xfrm>
                  <a:off x="988086" y="3033686"/>
                  <a:ext cx="1008000" cy="1008000"/>
                </a:xfrm>
                <a:prstGeom prst="ellipse">
                  <a:avLst/>
                </a:prstGeom>
                <a:solidFill>
                  <a:srgbClr val="0070AD"/>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mj-lt"/>
                    <a:ea typeface="+mn-ea"/>
                    <a:cs typeface="+mn-cs"/>
                  </a:endParaRPr>
                </a:p>
              </p:txBody>
            </p:sp>
            <p:grpSp>
              <p:nvGrpSpPr>
                <p:cNvPr id="679" name="Groupe 898">
                  <a:extLst>
                    <a:ext uri="{FF2B5EF4-FFF2-40B4-BE49-F238E27FC236}">
                      <a16:creationId xmlns:a16="http://schemas.microsoft.com/office/drawing/2014/main" id="{3B0D0BF9-EE31-7895-9C10-6F03D483C75C}"/>
                    </a:ext>
                  </a:extLst>
                </p:cNvPr>
                <p:cNvGrpSpPr>
                  <a:grpSpLocks noChangeAspect="1"/>
                </p:cNvGrpSpPr>
                <p:nvPr/>
              </p:nvGrpSpPr>
              <p:grpSpPr>
                <a:xfrm>
                  <a:off x="1100180" y="3177686"/>
                  <a:ext cx="767626" cy="720000"/>
                  <a:chOff x="8035926" y="582613"/>
                  <a:chExt cx="869950" cy="815975"/>
                </a:xfrm>
              </p:grpSpPr>
              <p:sp>
                <p:nvSpPr>
                  <p:cNvPr id="680" name="Freeform 117">
                    <a:extLst>
                      <a:ext uri="{FF2B5EF4-FFF2-40B4-BE49-F238E27FC236}">
                        <a16:creationId xmlns:a16="http://schemas.microsoft.com/office/drawing/2014/main" id="{61ABD029-5104-F8EB-574A-D5FA9ECC44B9}"/>
                      </a:ext>
                    </a:extLst>
                  </p:cNvPr>
                  <p:cNvSpPr>
                    <a:spLocks/>
                  </p:cNvSpPr>
                  <p:nvPr/>
                </p:nvSpPr>
                <p:spPr bwMode="auto">
                  <a:xfrm>
                    <a:off x="8035926" y="582613"/>
                    <a:ext cx="869950" cy="815975"/>
                  </a:xfrm>
                  <a:custGeom>
                    <a:avLst/>
                    <a:gdLst>
                      <a:gd name="T0" fmla="*/ 34 w 232"/>
                      <a:gd name="T1" fmla="*/ 170 h 217"/>
                      <a:gd name="T2" fmla="*/ 56 w 232"/>
                      <a:gd name="T3" fmla="*/ 33 h 217"/>
                      <a:gd name="T4" fmla="*/ 199 w 232"/>
                      <a:gd name="T5" fmla="*/ 53 h 217"/>
                      <a:gd name="T6" fmla="*/ 173 w 232"/>
                      <a:gd name="T7" fmla="*/ 185 h 217"/>
                      <a:gd name="T8" fmla="*/ 34 w 232"/>
                      <a:gd name="T9" fmla="*/ 170 h 217"/>
                    </a:gdLst>
                    <a:ahLst/>
                    <a:cxnLst>
                      <a:cxn ang="0">
                        <a:pos x="T0" y="T1"/>
                      </a:cxn>
                      <a:cxn ang="0">
                        <a:pos x="T2" y="T3"/>
                      </a:cxn>
                      <a:cxn ang="0">
                        <a:pos x="T4" y="T5"/>
                      </a:cxn>
                      <a:cxn ang="0">
                        <a:pos x="T6" y="T7"/>
                      </a:cxn>
                      <a:cxn ang="0">
                        <a:pos x="T8" y="T9"/>
                      </a:cxn>
                    </a:cxnLst>
                    <a:rect l="0" t="0" r="r" b="b"/>
                    <a:pathLst>
                      <a:path w="232" h="217">
                        <a:moveTo>
                          <a:pt x="34" y="170"/>
                        </a:moveTo>
                        <a:cubicBezTo>
                          <a:pt x="0" y="126"/>
                          <a:pt x="10" y="65"/>
                          <a:pt x="56" y="33"/>
                        </a:cubicBezTo>
                        <a:cubicBezTo>
                          <a:pt x="102" y="0"/>
                          <a:pt x="166" y="9"/>
                          <a:pt x="199" y="53"/>
                        </a:cubicBezTo>
                        <a:cubicBezTo>
                          <a:pt x="232" y="96"/>
                          <a:pt x="219" y="152"/>
                          <a:pt x="173" y="185"/>
                        </a:cubicBezTo>
                        <a:cubicBezTo>
                          <a:pt x="127" y="217"/>
                          <a:pt x="67" y="213"/>
                          <a:pt x="34" y="170"/>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prstClr val="black"/>
                      </a:solidFill>
                      <a:effectLst/>
                      <a:uLnTx/>
                      <a:uFillTx/>
                      <a:latin typeface="+mj-lt"/>
                    </a:endParaRPr>
                  </a:p>
                </p:txBody>
              </p:sp>
              <p:grpSp>
                <p:nvGrpSpPr>
                  <p:cNvPr id="681" name="Groupe 900">
                    <a:extLst>
                      <a:ext uri="{FF2B5EF4-FFF2-40B4-BE49-F238E27FC236}">
                        <a16:creationId xmlns:a16="http://schemas.microsoft.com/office/drawing/2014/main" id="{3B3FDDCE-A956-390B-DC20-DCAA8B1C4506}"/>
                      </a:ext>
                    </a:extLst>
                  </p:cNvPr>
                  <p:cNvGrpSpPr/>
                  <p:nvPr/>
                </p:nvGrpSpPr>
                <p:grpSpPr>
                  <a:xfrm>
                    <a:off x="8237538" y="722313"/>
                    <a:ext cx="469900" cy="557212"/>
                    <a:chOff x="8237538" y="722313"/>
                    <a:chExt cx="469900" cy="557212"/>
                  </a:xfrm>
                </p:grpSpPr>
                <p:sp>
                  <p:nvSpPr>
                    <p:cNvPr id="682" name="Freeform 118">
                      <a:extLst>
                        <a:ext uri="{FF2B5EF4-FFF2-40B4-BE49-F238E27FC236}">
                          <a16:creationId xmlns:a16="http://schemas.microsoft.com/office/drawing/2014/main" id="{F0B4B8A8-51DE-4DB8-BCA4-E6E56B39A0AB}"/>
                        </a:ext>
                      </a:extLst>
                    </p:cNvPr>
                    <p:cNvSpPr>
                      <a:spLocks noEditPoints="1"/>
                    </p:cNvSpPr>
                    <p:nvPr/>
                  </p:nvSpPr>
                  <p:spPr bwMode="auto">
                    <a:xfrm>
                      <a:off x="8237538" y="1054100"/>
                      <a:ext cx="469900" cy="225425"/>
                    </a:xfrm>
                    <a:custGeom>
                      <a:avLst/>
                      <a:gdLst>
                        <a:gd name="T0" fmla="*/ 103 w 125"/>
                        <a:gd name="T1" fmla="*/ 4 h 60"/>
                        <a:gd name="T2" fmla="*/ 95 w 125"/>
                        <a:gd name="T3" fmla="*/ 3 h 60"/>
                        <a:gd name="T4" fmla="*/ 68 w 125"/>
                        <a:gd name="T5" fmla="*/ 16 h 60"/>
                        <a:gd name="T6" fmla="*/ 70 w 125"/>
                        <a:gd name="T7" fmla="*/ 23 h 60"/>
                        <a:gd name="T8" fmla="*/ 103 w 125"/>
                        <a:gd name="T9" fmla="*/ 4 h 60"/>
                        <a:gd name="T10" fmla="*/ 121 w 125"/>
                        <a:gd name="T11" fmla="*/ 5 h 60"/>
                        <a:gd name="T12" fmla="*/ 105 w 125"/>
                        <a:gd name="T13" fmla="*/ 6 h 60"/>
                        <a:gd name="T14" fmla="*/ 70 w 125"/>
                        <a:gd name="T15" fmla="*/ 26 h 60"/>
                        <a:gd name="T16" fmla="*/ 69 w 125"/>
                        <a:gd name="T17" fmla="*/ 28 h 60"/>
                        <a:gd name="T18" fmla="*/ 61 w 125"/>
                        <a:gd name="T19" fmla="*/ 35 h 60"/>
                        <a:gd name="T20" fmla="*/ 52 w 125"/>
                        <a:gd name="T21" fmla="*/ 34 h 60"/>
                        <a:gd name="T22" fmla="*/ 34 w 125"/>
                        <a:gd name="T23" fmla="*/ 25 h 60"/>
                        <a:gd name="T24" fmla="*/ 34 w 125"/>
                        <a:gd name="T25" fmla="*/ 22 h 60"/>
                        <a:gd name="T26" fmla="*/ 54 w 125"/>
                        <a:gd name="T27" fmla="*/ 32 h 60"/>
                        <a:gd name="T28" fmla="*/ 59 w 125"/>
                        <a:gd name="T29" fmla="*/ 32 h 60"/>
                        <a:gd name="T30" fmla="*/ 60 w 125"/>
                        <a:gd name="T31" fmla="*/ 32 h 60"/>
                        <a:gd name="T32" fmla="*/ 60 w 125"/>
                        <a:gd name="T33" fmla="*/ 32 h 60"/>
                        <a:gd name="T34" fmla="*/ 65 w 125"/>
                        <a:gd name="T35" fmla="*/ 29 h 60"/>
                        <a:gd name="T36" fmla="*/ 66 w 125"/>
                        <a:gd name="T37" fmla="*/ 27 h 60"/>
                        <a:gd name="T38" fmla="*/ 67 w 125"/>
                        <a:gd name="T39" fmla="*/ 24 h 60"/>
                        <a:gd name="T40" fmla="*/ 65 w 125"/>
                        <a:gd name="T41" fmla="*/ 17 h 60"/>
                        <a:gd name="T42" fmla="*/ 62 w 125"/>
                        <a:gd name="T43" fmla="*/ 14 h 60"/>
                        <a:gd name="T44" fmla="*/ 33 w 125"/>
                        <a:gd name="T45" fmla="*/ 1 h 60"/>
                        <a:gd name="T46" fmla="*/ 23 w 125"/>
                        <a:gd name="T47" fmla="*/ 1 h 60"/>
                        <a:gd name="T48" fmla="*/ 3 w 125"/>
                        <a:gd name="T49" fmla="*/ 5 h 60"/>
                        <a:gd name="T50" fmla="*/ 0 w 125"/>
                        <a:gd name="T51" fmla="*/ 39 h 60"/>
                        <a:gd name="T52" fmla="*/ 3 w 125"/>
                        <a:gd name="T53" fmla="*/ 44 h 60"/>
                        <a:gd name="T54" fmla="*/ 17 w 125"/>
                        <a:gd name="T55" fmla="*/ 44 h 60"/>
                        <a:gd name="T56" fmla="*/ 20 w 125"/>
                        <a:gd name="T57" fmla="*/ 44 h 60"/>
                        <a:gd name="T58" fmla="*/ 22 w 125"/>
                        <a:gd name="T59" fmla="*/ 45 h 60"/>
                        <a:gd name="T60" fmla="*/ 59 w 125"/>
                        <a:gd name="T61" fmla="*/ 59 h 60"/>
                        <a:gd name="T62" fmla="*/ 64 w 125"/>
                        <a:gd name="T63" fmla="*/ 59 h 60"/>
                        <a:gd name="T64" fmla="*/ 66 w 125"/>
                        <a:gd name="T65" fmla="*/ 58 h 60"/>
                        <a:gd name="T66" fmla="*/ 116 w 125"/>
                        <a:gd name="T67" fmla="*/ 21 h 60"/>
                        <a:gd name="T68" fmla="*/ 121 w 125"/>
                        <a:gd name="T69" fmla="*/ 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5" h="60">
                          <a:moveTo>
                            <a:pt x="103" y="4"/>
                          </a:moveTo>
                          <a:cubicBezTo>
                            <a:pt x="100" y="2"/>
                            <a:pt x="97" y="1"/>
                            <a:pt x="95" y="3"/>
                          </a:cubicBezTo>
                          <a:cubicBezTo>
                            <a:pt x="68" y="16"/>
                            <a:pt x="68" y="16"/>
                            <a:pt x="68" y="16"/>
                          </a:cubicBezTo>
                          <a:cubicBezTo>
                            <a:pt x="69" y="18"/>
                            <a:pt x="70" y="20"/>
                            <a:pt x="70" y="23"/>
                          </a:cubicBezTo>
                          <a:lnTo>
                            <a:pt x="103" y="4"/>
                          </a:lnTo>
                          <a:close/>
                          <a:moveTo>
                            <a:pt x="121" y="5"/>
                          </a:moveTo>
                          <a:cubicBezTo>
                            <a:pt x="118" y="1"/>
                            <a:pt x="111" y="2"/>
                            <a:pt x="105" y="6"/>
                          </a:cubicBezTo>
                          <a:cubicBezTo>
                            <a:pt x="94" y="12"/>
                            <a:pt x="70" y="26"/>
                            <a:pt x="70" y="26"/>
                          </a:cubicBezTo>
                          <a:cubicBezTo>
                            <a:pt x="69" y="27"/>
                            <a:pt x="69" y="28"/>
                            <a:pt x="69" y="28"/>
                          </a:cubicBezTo>
                          <a:cubicBezTo>
                            <a:pt x="67" y="32"/>
                            <a:pt x="64" y="34"/>
                            <a:pt x="61" y="35"/>
                          </a:cubicBezTo>
                          <a:cubicBezTo>
                            <a:pt x="58" y="36"/>
                            <a:pt x="55" y="36"/>
                            <a:pt x="52" y="34"/>
                          </a:cubicBezTo>
                          <a:cubicBezTo>
                            <a:pt x="34" y="25"/>
                            <a:pt x="34" y="25"/>
                            <a:pt x="34" y="25"/>
                          </a:cubicBezTo>
                          <a:cubicBezTo>
                            <a:pt x="34" y="22"/>
                            <a:pt x="34" y="22"/>
                            <a:pt x="34" y="22"/>
                          </a:cubicBezTo>
                          <a:cubicBezTo>
                            <a:pt x="54" y="32"/>
                            <a:pt x="54" y="32"/>
                            <a:pt x="54" y="32"/>
                          </a:cubicBezTo>
                          <a:cubicBezTo>
                            <a:pt x="55" y="32"/>
                            <a:pt x="57" y="33"/>
                            <a:pt x="59" y="32"/>
                          </a:cubicBezTo>
                          <a:cubicBezTo>
                            <a:pt x="59" y="32"/>
                            <a:pt x="59" y="32"/>
                            <a:pt x="60" y="32"/>
                          </a:cubicBezTo>
                          <a:cubicBezTo>
                            <a:pt x="60" y="32"/>
                            <a:pt x="60" y="32"/>
                            <a:pt x="60" y="32"/>
                          </a:cubicBezTo>
                          <a:cubicBezTo>
                            <a:pt x="62" y="32"/>
                            <a:pt x="63" y="31"/>
                            <a:pt x="65" y="29"/>
                          </a:cubicBezTo>
                          <a:cubicBezTo>
                            <a:pt x="65" y="29"/>
                            <a:pt x="66" y="28"/>
                            <a:pt x="66" y="27"/>
                          </a:cubicBezTo>
                          <a:cubicBezTo>
                            <a:pt x="67" y="26"/>
                            <a:pt x="67" y="25"/>
                            <a:pt x="67" y="24"/>
                          </a:cubicBezTo>
                          <a:cubicBezTo>
                            <a:pt x="67" y="22"/>
                            <a:pt x="67" y="19"/>
                            <a:pt x="65" y="17"/>
                          </a:cubicBezTo>
                          <a:cubicBezTo>
                            <a:pt x="64" y="16"/>
                            <a:pt x="63" y="15"/>
                            <a:pt x="62" y="14"/>
                          </a:cubicBezTo>
                          <a:cubicBezTo>
                            <a:pt x="62" y="14"/>
                            <a:pt x="40" y="4"/>
                            <a:pt x="33" y="1"/>
                          </a:cubicBezTo>
                          <a:cubicBezTo>
                            <a:pt x="30" y="0"/>
                            <a:pt x="27" y="1"/>
                            <a:pt x="23" y="1"/>
                          </a:cubicBezTo>
                          <a:cubicBezTo>
                            <a:pt x="19" y="2"/>
                            <a:pt x="3" y="5"/>
                            <a:pt x="3" y="5"/>
                          </a:cubicBezTo>
                          <a:cubicBezTo>
                            <a:pt x="8" y="10"/>
                            <a:pt x="2" y="28"/>
                            <a:pt x="0" y="39"/>
                          </a:cubicBezTo>
                          <a:cubicBezTo>
                            <a:pt x="0" y="43"/>
                            <a:pt x="1" y="44"/>
                            <a:pt x="3" y="44"/>
                          </a:cubicBezTo>
                          <a:cubicBezTo>
                            <a:pt x="17" y="44"/>
                            <a:pt x="17" y="44"/>
                            <a:pt x="17" y="44"/>
                          </a:cubicBezTo>
                          <a:cubicBezTo>
                            <a:pt x="17" y="44"/>
                            <a:pt x="19" y="44"/>
                            <a:pt x="20" y="44"/>
                          </a:cubicBezTo>
                          <a:cubicBezTo>
                            <a:pt x="21" y="44"/>
                            <a:pt x="22" y="45"/>
                            <a:pt x="22" y="45"/>
                          </a:cubicBezTo>
                          <a:cubicBezTo>
                            <a:pt x="59" y="59"/>
                            <a:pt x="59" y="59"/>
                            <a:pt x="59" y="59"/>
                          </a:cubicBezTo>
                          <a:cubicBezTo>
                            <a:pt x="60" y="60"/>
                            <a:pt x="62" y="60"/>
                            <a:pt x="64" y="59"/>
                          </a:cubicBezTo>
                          <a:cubicBezTo>
                            <a:pt x="64" y="59"/>
                            <a:pt x="65" y="59"/>
                            <a:pt x="66" y="58"/>
                          </a:cubicBezTo>
                          <a:cubicBezTo>
                            <a:pt x="77" y="51"/>
                            <a:pt x="112" y="24"/>
                            <a:pt x="116" y="21"/>
                          </a:cubicBezTo>
                          <a:cubicBezTo>
                            <a:pt x="125" y="14"/>
                            <a:pt x="124" y="9"/>
                            <a:pt x="121" y="5"/>
                          </a:cubicBez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prstClr val="black"/>
                        </a:solidFill>
                        <a:effectLst/>
                        <a:uLnTx/>
                        <a:uFillTx/>
                        <a:latin typeface="+mj-lt"/>
                      </a:endParaRPr>
                    </a:p>
                  </p:txBody>
                </p:sp>
                <p:sp>
                  <p:nvSpPr>
                    <p:cNvPr id="683" name="Freeform 119">
                      <a:extLst>
                        <a:ext uri="{FF2B5EF4-FFF2-40B4-BE49-F238E27FC236}">
                          <a16:creationId xmlns:a16="http://schemas.microsoft.com/office/drawing/2014/main" id="{DA082D21-2BF0-016B-8571-852AA0648787}"/>
                        </a:ext>
                      </a:extLst>
                    </p:cNvPr>
                    <p:cNvSpPr>
                      <a:spLocks/>
                    </p:cNvSpPr>
                    <p:nvPr/>
                  </p:nvSpPr>
                  <p:spPr bwMode="auto">
                    <a:xfrm>
                      <a:off x="8347076" y="722313"/>
                      <a:ext cx="250825" cy="247650"/>
                    </a:xfrm>
                    <a:custGeom>
                      <a:avLst/>
                      <a:gdLst>
                        <a:gd name="T0" fmla="*/ 66 w 67"/>
                        <a:gd name="T1" fmla="*/ 27 h 66"/>
                        <a:gd name="T2" fmla="*/ 65 w 67"/>
                        <a:gd name="T3" fmla="*/ 22 h 66"/>
                        <a:gd name="T4" fmla="*/ 61 w 67"/>
                        <a:gd name="T5" fmla="*/ 20 h 66"/>
                        <a:gd name="T6" fmla="*/ 61 w 67"/>
                        <a:gd name="T7" fmla="*/ 20 h 66"/>
                        <a:gd name="T8" fmla="*/ 57 w 67"/>
                        <a:gd name="T9" fmla="*/ 26 h 66"/>
                        <a:gd name="T10" fmla="*/ 58 w 67"/>
                        <a:gd name="T11" fmla="*/ 33 h 66"/>
                        <a:gd name="T12" fmla="*/ 33 w 67"/>
                        <a:gd name="T13" fmla="*/ 57 h 66"/>
                        <a:gd name="T14" fmla="*/ 9 w 67"/>
                        <a:gd name="T15" fmla="*/ 33 h 66"/>
                        <a:gd name="T16" fmla="*/ 33 w 67"/>
                        <a:gd name="T17" fmla="*/ 8 h 66"/>
                        <a:gd name="T18" fmla="*/ 47 w 67"/>
                        <a:gd name="T19" fmla="*/ 13 h 66"/>
                        <a:gd name="T20" fmla="*/ 51 w 67"/>
                        <a:gd name="T21" fmla="*/ 8 h 66"/>
                        <a:gd name="T22" fmla="*/ 46 w 67"/>
                        <a:gd name="T23" fmla="*/ 5 h 66"/>
                        <a:gd name="T24" fmla="*/ 44 w 67"/>
                        <a:gd name="T25" fmla="*/ 2 h 66"/>
                        <a:gd name="T26" fmla="*/ 40 w 67"/>
                        <a:gd name="T27" fmla="*/ 0 h 66"/>
                        <a:gd name="T28" fmla="*/ 36 w 67"/>
                        <a:gd name="T29" fmla="*/ 2 h 66"/>
                        <a:gd name="T30" fmla="*/ 30 w 67"/>
                        <a:gd name="T31" fmla="*/ 2 h 66"/>
                        <a:gd name="T32" fmla="*/ 27 w 67"/>
                        <a:gd name="T33" fmla="*/ 0 h 66"/>
                        <a:gd name="T34" fmla="*/ 23 w 67"/>
                        <a:gd name="T35" fmla="*/ 2 h 66"/>
                        <a:gd name="T36" fmla="*/ 20 w 67"/>
                        <a:gd name="T37" fmla="*/ 5 h 66"/>
                        <a:gd name="T38" fmla="*/ 16 w 67"/>
                        <a:gd name="T39" fmla="*/ 8 h 66"/>
                        <a:gd name="T40" fmla="*/ 12 w 67"/>
                        <a:gd name="T41" fmla="*/ 8 h 66"/>
                        <a:gd name="T42" fmla="*/ 8 w 67"/>
                        <a:gd name="T43" fmla="*/ 11 h 66"/>
                        <a:gd name="T44" fmla="*/ 8 w 67"/>
                        <a:gd name="T45" fmla="*/ 15 h 66"/>
                        <a:gd name="T46" fmla="*/ 5 w 67"/>
                        <a:gd name="T47" fmla="*/ 20 h 66"/>
                        <a:gd name="T48" fmla="*/ 2 w 67"/>
                        <a:gd name="T49" fmla="*/ 22 h 66"/>
                        <a:gd name="T50" fmla="*/ 1 w 67"/>
                        <a:gd name="T51" fmla="*/ 27 h 66"/>
                        <a:gd name="T52" fmla="*/ 3 w 67"/>
                        <a:gd name="T53" fmla="*/ 30 h 66"/>
                        <a:gd name="T54" fmla="*/ 3 w 67"/>
                        <a:gd name="T55" fmla="*/ 36 h 66"/>
                        <a:gd name="T56" fmla="*/ 1 w 67"/>
                        <a:gd name="T57" fmla="*/ 39 h 66"/>
                        <a:gd name="T58" fmla="*/ 2 w 67"/>
                        <a:gd name="T59" fmla="*/ 44 h 66"/>
                        <a:gd name="T60" fmla="*/ 5 w 67"/>
                        <a:gd name="T61" fmla="*/ 46 h 66"/>
                        <a:gd name="T62" fmla="*/ 8 w 67"/>
                        <a:gd name="T63" fmla="*/ 51 h 66"/>
                        <a:gd name="T64" fmla="*/ 8 w 67"/>
                        <a:gd name="T65" fmla="*/ 54 h 66"/>
                        <a:gd name="T66" fmla="*/ 12 w 67"/>
                        <a:gd name="T67" fmla="*/ 58 h 66"/>
                        <a:gd name="T68" fmla="*/ 16 w 67"/>
                        <a:gd name="T69" fmla="*/ 58 h 66"/>
                        <a:gd name="T70" fmla="*/ 20 w 67"/>
                        <a:gd name="T71" fmla="*/ 61 h 66"/>
                        <a:gd name="T72" fmla="*/ 23 w 67"/>
                        <a:gd name="T73" fmla="*/ 64 h 66"/>
                        <a:gd name="T74" fmla="*/ 27 w 67"/>
                        <a:gd name="T75" fmla="*/ 65 h 66"/>
                        <a:gd name="T76" fmla="*/ 30 w 67"/>
                        <a:gd name="T77" fmla="*/ 64 h 66"/>
                        <a:gd name="T78" fmla="*/ 36 w 67"/>
                        <a:gd name="T79" fmla="*/ 64 h 66"/>
                        <a:gd name="T80" fmla="*/ 40 w 67"/>
                        <a:gd name="T81" fmla="*/ 65 h 66"/>
                        <a:gd name="T82" fmla="*/ 44 w 67"/>
                        <a:gd name="T83" fmla="*/ 64 h 66"/>
                        <a:gd name="T84" fmla="*/ 46 w 67"/>
                        <a:gd name="T85" fmla="*/ 61 h 66"/>
                        <a:gd name="T86" fmla="*/ 51 w 67"/>
                        <a:gd name="T87" fmla="*/ 58 h 66"/>
                        <a:gd name="T88" fmla="*/ 55 w 67"/>
                        <a:gd name="T89" fmla="*/ 58 h 66"/>
                        <a:gd name="T90" fmla="*/ 58 w 67"/>
                        <a:gd name="T91" fmla="*/ 54 h 66"/>
                        <a:gd name="T92" fmla="*/ 59 w 67"/>
                        <a:gd name="T93" fmla="*/ 51 h 66"/>
                        <a:gd name="T94" fmla="*/ 61 w 67"/>
                        <a:gd name="T95" fmla="*/ 46 h 66"/>
                        <a:gd name="T96" fmla="*/ 65 w 67"/>
                        <a:gd name="T97" fmla="*/ 44 h 66"/>
                        <a:gd name="T98" fmla="*/ 66 w 67"/>
                        <a:gd name="T99" fmla="*/ 39 h 66"/>
                        <a:gd name="T100" fmla="*/ 64 w 67"/>
                        <a:gd name="T101" fmla="*/ 36 h 66"/>
                        <a:gd name="T102" fmla="*/ 64 w 67"/>
                        <a:gd name="T103" fmla="*/ 30 h 66"/>
                        <a:gd name="T104" fmla="*/ 66 w 67"/>
                        <a:gd name="T105" fmla="*/ 2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7" h="66">
                          <a:moveTo>
                            <a:pt x="66" y="27"/>
                          </a:moveTo>
                          <a:cubicBezTo>
                            <a:pt x="67" y="25"/>
                            <a:pt x="66" y="23"/>
                            <a:pt x="65" y="22"/>
                          </a:cubicBezTo>
                          <a:cubicBezTo>
                            <a:pt x="61" y="20"/>
                            <a:pt x="61" y="20"/>
                            <a:pt x="61" y="20"/>
                          </a:cubicBezTo>
                          <a:cubicBezTo>
                            <a:pt x="61" y="20"/>
                            <a:pt x="61" y="20"/>
                            <a:pt x="61" y="20"/>
                          </a:cubicBezTo>
                          <a:cubicBezTo>
                            <a:pt x="57" y="26"/>
                            <a:pt x="57" y="26"/>
                            <a:pt x="57" y="26"/>
                          </a:cubicBezTo>
                          <a:cubicBezTo>
                            <a:pt x="57" y="28"/>
                            <a:pt x="58" y="30"/>
                            <a:pt x="58" y="33"/>
                          </a:cubicBezTo>
                          <a:cubicBezTo>
                            <a:pt x="58" y="46"/>
                            <a:pt x="47" y="57"/>
                            <a:pt x="33" y="57"/>
                          </a:cubicBezTo>
                          <a:cubicBezTo>
                            <a:pt x="20" y="57"/>
                            <a:pt x="9" y="46"/>
                            <a:pt x="9" y="33"/>
                          </a:cubicBezTo>
                          <a:cubicBezTo>
                            <a:pt x="9" y="19"/>
                            <a:pt x="20" y="8"/>
                            <a:pt x="33" y="8"/>
                          </a:cubicBezTo>
                          <a:cubicBezTo>
                            <a:pt x="38" y="8"/>
                            <a:pt x="43" y="10"/>
                            <a:pt x="47" y="13"/>
                          </a:cubicBezTo>
                          <a:cubicBezTo>
                            <a:pt x="51" y="8"/>
                            <a:pt x="51" y="8"/>
                            <a:pt x="51" y="8"/>
                          </a:cubicBezTo>
                          <a:cubicBezTo>
                            <a:pt x="49" y="7"/>
                            <a:pt x="47" y="6"/>
                            <a:pt x="46" y="5"/>
                          </a:cubicBezTo>
                          <a:cubicBezTo>
                            <a:pt x="44" y="2"/>
                            <a:pt x="44" y="2"/>
                            <a:pt x="44" y="2"/>
                          </a:cubicBezTo>
                          <a:cubicBezTo>
                            <a:pt x="43" y="0"/>
                            <a:pt x="41" y="0"/>
                            <a:pt x="40" y="0"/>
                          </a:cubicBezTo>
                          <a:cubicBezTo>
                            <a:pt x="36" y="2"/>
                            <a:pt x="36" y="2"/>
                            <a:pt x="36" y="2"/>
                          </a:cubicBezTo>
                          <a:cubicBezTo>
                            <a:pt x="35" y="3"/>
                            <a:pt x="32" y="3"/>
                            <a:pt x="30" y="2"/>
                          </a:cubicBezTo>
                          <a:cubicBezTo>
                            <a:pt x="27" y="0"/>
                            <a:pt x="27" y="0"/>
                            <a:pt x="27" y="0"/>
                          </a:cubicBezTo>
                          <a:cubicBezTo>
                            <a:pt x="26" y="0"/>
                            <a:pt x="23" y="0"/>
                            <a:pt x="23" y="2"/>
                          </a:cubicBezTo>
                          <a:cubicBezTo>
                            <a:pt x="20" y="5"/>
                            <a:pt x="20" y="5"/>
                            <a:pt x="20" y="5"/>
                          </a:cubicBezTo>
                          <a:cubicBezTo>
                            <a:pt x="19" y="6"/>
                            <a:pt x="17" y="8"/>
                            <a:pt x="16" y="8"/>
                          </a:cubicBezTo>
                          <a:cubicBezTo>
                            <a:pt x="12" y="8"/>
                            <a:pt x="12" y="8"/>
                            <a:pt x="12" y="8"/>
                          </a:cubicBezTo>
                          <a:cubicBezTo>
                            <a:pt x="10" y="8"/>
                            <a:pt x="8" y="9"/>
                            <a:pt x="8" y="11"/>
                          </a:cubicBezTo>
                          <a:cubicBezTo>
                            <a:pt x="8" y="15"/>
                            <a:pt x="8" y="15"/>
                            <a:pt x="8" y="15"/>
                          </a:cubicBezTo>
                          <a:cubicBezTo>
                            <a:pt x="8" y="17"/>
                            <a:pt x="7" y="19"/>
                            <a:pt x="5" y="20"/>
                          </a:cubicBezTo>
                          <a:cubicBezTo>
                            <a:pt x="2" y="22"/>
                            <a:pt x="2" y="22"/>
                            <a:pt x="2" y="22"/>
                          </a:cubicBezTo>
                          <a:cubicBezTo>
                            <a:pt x="1" y="23"/>
                            <a:pt x="0" y="25"/>
                            <a:pt x="1" y="27"/>
                          </a:cubicBezTo>
                          <a:cubicBezTo>
                            <a:pt x="3" y="30"/>
                            <a:pt x="3" y="30"/>
                            <a:pt x="3" y="30"/>
                          </a:cubicBezTo>
                          <a:cubicBezTo>
                            <a:pt x="3" y="32"/>
                            <a:pt x="3" y="34"/>
                            <a:pt x="3" y="36"/>
                          </a:cubicBezTo>
                          <a:cubicBezTo>
                            <a:pt x="1" y="39"/>
                            <a:pt x="1" y="39"/>
                            <a:pt x="1" y="39"/>
                          </a:cubicBezTo>
                          <a:cubicBezTo>
                            <a:pt x="0" y="41"/>
                            <a:pt x="1" y="43"/>
                            <a:pt x="2" y="44"/>
                          </a:cubicBezTo>
                          <a:cubicBezTo>
                            <a:pt x="5" y="46"/>
                            <a:pt x="5" y="46"/>
                            <a:pt x="5" y="46"/>
                          </a:cubicBezTo>
                          <a:cubicBezTo>
                            <a:pt x="7" y="47"/>
                            <a:pt x="8" y="49"/>
                            <a:pt x="8" y="51"/>
                          </a:cubicBezTo>
                          <a:cubicBezTo>
                            <a:pt x="8" y="54"/>
                            <a:pt x="8" y="54"/>
                            <a:pt x="8" y="54"/>
                          </a:cubicBezTo>
                          <a:cubicBezTo>
                            <a:pt x="8" y="56"/>
                            <a:pt x="10" y="58"/>
                            <a:pt x="12" y="58"/>
                          </a:cubicBezTo>
                          <a:cubicBezTo>
                            <a:pt x="16" y="58"/>
                            <a:pt x="16" y="58"/>
                            <a:pt x="16" y="58"/>
                          </a:cubicBezTo>
                          <a:cubicBezTo>
                            <a:pt x="17" y="58"/>
                            <a:pt x="19" y="59"/>
                            <a:pt x="20" y="61"/>
                          </a:cubicBezTo>
                          <a:cubicBezTo>
                            <a:pt x="23" y="64"/>
                            <a:pt x="23" y="64"/>
                            <a:pt x="23" y="64"/>
                          </a:cubicBezTo>
                          <a:cubicBezTo>
                            <a:pt x="23" y="66"/>
                            <a:pt x="26" y="66"/>
                            <a:pt x="27" y="65"/>
                          </a:cubicBezTo>
                          <a:cubicBezTo>
                            <a:pt x="30" y="64"/>
                            <a:pt x="30" y="64"/>
                            <a:pt x="30" y="64"/>
                          </a:cubicBezTo>
                          <a:cubicBezTo>
                            <a:pt x="32" y="63"/>
                            <a:pt x="35" y="63"/>
                            <a:pt x="36" y="64"/>
                          </a:cubicBezTo>
                          <a:cubicBezTo>
                            <a:pt x="40" y="65"/>
                            <a:pt x="40" y="65"/>
                            <a:pt x="40" y="65"/>
                          </a:cubicBezTo>
                          <a:cubicBezTo>
                            <a:pt x="41" y="66"/>
                            <a:pt x="43" y="66"/>
                            <a:pt x="44" y="64"/>
                          </a:cubicBezTo>
                          <a:cubicBezTo>
                            <a:pt x="46" y="61"/>
                            <a:pt x="46" y="61"/>
                            <a:pt x="46" y="61"/>
                          </a:cubicBezTo>
                          <a:cubicBezTo>
                            <a:pt x="47" y="59"/>
                            <a:pt x="49" y="58"/>
                            <a:pt x="51" y="58"/>
                          </a:cubicBezTo>
                          <a:cubicBezTo>
                            <a:pt x="55" y="58"/>
                            <a:pt x="55" y="58"/>
                            <a:pt x="55" y="58"/>
                          </a:cubicBezTo>
                          <a:cubicBezTo>
                            <a:pt x="57" y="58"/>
                            <a:pt x="58" y="56"/>
                            <a:pt x="58" y="54"/>
                          </a:cubicBezTo>
                          <a:cubicBezTo>
                            <a:pt x="59" y="51"/>
                            <a:pt x="59" y="51"/>
                            <a:pt x="59" y="51"/>
                          </a:cubicBezTo>
                          <a:cubicBezTo>
                            <a:pt x="59" y="49"/>
                            <a:pt x="60" y="47"/>
                            <a:pt x="61" y="46"/>
                          </a:cubicBezTo>
                          <a:cubicBezTo>
                            <a:pt x="65" y="44"/>
                            <a:pt x="65" y="44"/>
                            <a:pt x="65" y="44"/>
                          </a:cubicBezTo>
                          <a:cubicBezTo>
                            <a:pt x="66" y="43"/>
                            <a:pt x="67" y="41"/>
                            <a:pt x="66" y="39"/>
                          </a:cubicBezTo>
                          <a:cubicBezTo>
                            <a:pt x="64" y="36"/>
                            <a:pt x="64" y="36"/>
                            <a:pt x="64" y="36"/>
                          </a:cubicBezTo>
                          <a:cubicBezTo>
                            <a:pt x="63" y="34"/>
                            <a:pt x="63" y="32"/>
                            <a:pt x="64" y="30"/>
                          </a:cubicBezTo>
                          <a:lnTo>
                            <a:pt x="66" y="27"/>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prstClr val="black"/>
                        </a:solidFill>
                        <a:effectLst/>
                        <a:uLnTx/>
                        <a:uFillTx/>
                        <a:latin typeface="+mj-lt"/>
                      </a:endParaRPr>
                    </a:p>
                  </p:txBody>
                </p:sp>
                <p:sp>
                  <p:nvSpPr>
                    <p:cNvPr id="684" name="Freeform 120">
                      <a:extLst>
                        <a:ext uri="{FF2B5EF4-FFF2-40B4-BE49-F238E27FC236}">
                          <a16:creationId xmlns:a16="http://schemas.microsoft.com/office/drawing/2014/main" id="{D313C250-8153-EF13-1472-38A7BA523A32}"/>
                        </a:ext>
                      </a:extLst>
                    </p:cNvPr>
                    <p:cNvSpPr>
                      <a:spLocks/>
                    </p:cNvSpPr>
                    <p:nvPr/>
                  </p:nvSpPr>
                  <p:spPr bwMode="auto">
                    <a:xfrm>
                      <a:off x="8366126" y="947738"/>
                      <a:ext cx="101600" cy="93662"/>
                    </a:xfrm>
                    <a:custGeom>
                      <a:avLst/>
                      <a:gdLst>
                        <a:gd name="T0" fmla="*/ 23 w 27"/>
                        <a:gd name="T1" fmla="*/ 7 h 25"/>
                        <a:gd name="T2" fmla="*/ 21 w 27"/>
                        <a:gd name="T3" fmla="*/ 7 h 25"/>
                        <a:gd name="T4" fmla="*/ 16 w 27"/>
                        <a:gd name="T5" fmla="*/ 5 h 25"/>
                        <a:gd name="T6" fmla="*/ 14 w 27"/>
                        <a:gd name="T7" fmla="*/ 1 h 25"/>
                        <a:gd name="T8" fmla="*/ 11 w 27"/>
                        <a:gd name="T9" fmla="*/ 0 h 25"/>
                        <a:gd name="T10" fmla="*/ 8 w 27"/>
                        <a:gd name="T11" fmla="*/ 0 h 25"/>
                        <a:gd name="T12" fmla="*/ 0 w 27"/>
                        <a:gd name="T13" fmla="*/ 18 h 25"/>
                        <a:gd name="T14" fmla="*/ 1 w 27"/>
                        <a:gd name="T15" fmla="*/ 18 h 25"/>
                        <a:gd name="T16" fmla="*/ 11 w 27"/>
                        <a:gd name="T17" fmla="*/ 18 h 25"/>
                        <a:gd name="T18" fmla="*/ 19 w 27"/>
                        <a:gd name="T19" fmla="*/ 25 h 25"/>
                        <a:gd name="T20" fmla="*/ 19 w 27"/>
                        <a:gd name="T21" fmla="*/ 25 h 25"/>
                        <a:gd name="T22" fmla="*/ 27 w 27"/>
                        <a:gd name="T23" fmla="*/ 5 h 25"/>
                        <a:gd name="T24" fmla="*/ 27 w 27"/>
                        <a:gd name="T25" fmla="*/ 5 h 25"/>
                        <a:gd name="T26" fmla="*/ 23 w 27"/>
                        <a:gd name="T27"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25">
                          <a:moveTo>
                            <a:pt x="23" y="7"/>
                          </a:moveTo>
                          <a:cubicBezTo>
                            <a:pt x="23" y="7"/>
                            <a:pt x="22" y="7"/>
                            <a:pt x="21" y="7"/>
                          </a:cubicBezTo>
                          <a:cubicBezTo>
                            <a:pt x="19" y="7"/>
                            <a:pt x="17" y="6"/>
                            <a:pt x="16" y="5"/>
                          </a:cubicBezTo>
                          <a:cubicBezTo>
                            <a:pt x="14" y="1"/>
                            <a:pt x="14" y="1"/>
                            <a:pt x="14" y="1"/>
                          </a:cubicBezTo>
                          <a:cubicBezTo>
                            <a:pt x="13" y="1"/>
                            <a:pt x="12" y="0"/>
                            <a:pt x="11" y="0"/>
                          </a:cubicBezTo>
                          <a:cubicBezTo>
                            <a:pt x="8" y="0"/>
                            <a:pt x="8" y="0"/>
                            <a:pt x="8" y="0"/>
                          </a:cubicBezTo>
                          <a:cubicBezTo>
                            <a:pt x="0" y="18"/>
                            <a:pt x="0" y="18"/>
                            <a:pt x="0" y="18"/>
                          </a:cubicBezTo>
                          <a:cubicBezTo>
                            <a:pt x="1" y="18"/>
                            <a:pt x="1" y="18"/>
                            <a:pt x="1" y="18"/>
                          </a:cubicBezTo>
                          <a:cubicBezTo>
                            <a:pt x="11" y="18"/>
                            <a:pt x="11" y="18"/>
                            <a:pt x="11" y="18"/>
                          </a:cubicBezTo>
                          <a:cubicBezTo>
                            <a:pt x="19" y="25"/>
                            <a:pt x="19" y="25"/>
                            <a:pt x="19" y="25"/>
                          </a:cubicBezTo>
                          <a:cubicBezTo>
                            <a:pt x="19" y="25"/>
                            <a:pt x="19" y="25"/>
                            <a:pt x="19" y="25"/>
                          </a:cubicBezTo>
                          <a:cubicBezTo>
                            <a:pt x="27" y="5"/>
                            <a:pt x="27" y="5"/>
                            <a:pt x="27" y="5"/>
                          </a:cubicBezTo>
                          <a:cubicBezTo>
                            <a:pt x="27" y="5"/>
                            <a:pt x="27" y="5"/>
                            <a:pt x="27" y="5"/>
                          </a:cubicBezTo>
                          <a:lnTo>
                            <a:pt x="23" y="7"/>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prstClr val="black"/>
                        </a:solidFill>
                        <a:effectLst/>
                        <a:uLnTx/>
                        <a:uFillTx/>
                        <a:latin typeface="+mj-lt"/>
                      </a:endParaRPr>
                    </a:p>
                  </p:txBody>
                </p:sp>
                <p:sp>
                  <p:nvSpPr>
                    <p:cNvPr id="685" name="Freeform 121">
                      <a:extLst>
                        <a:ext uri="{FF2B5EF4-FFF2-40B4-BE49-F238E27FC236}">
                          <a16:creationId xmlns:a16="http://schemas.microsoft.com/office/drawing/2014/main" id="{E1CF28F7-27C9-AF2D-88E7-2A6DE917FDF4}"/>
                        </a:ext>
                      </a:extLst>
                    </p:cNvPr>
                    <p:cNvSpPr>
                      <a:spLocks/>
                    </p:cNvSpPr>
                    <p:nvPr/>
                  </p:nvSpPr>
                  <p:spPr bwMode="auto">
                    <a:xfrm>
                      <a:off x="8474076" y="947738"/>
                      <a:ext cx="101600" cy="93662"/>
                    </a:xfrm>
                    <a:custGeom>
                      <a:avLst/>
                      <a:gdLst>
                        <a:gd name="T0" fmla="*/ 17 w 27"/>
                        <a:gd name="T1" fmla="*/ 0 h 25"/>
                        <a:gd name="T2" fmla="*/ 14 w 27"/>
                        <a:gd name="T3" fmla="*/ 1 h 25"/>
                        <a:gd name="T4" fmla="*/ 12 w 27"/>
                        <a:gd name="T5" fmla="*/ 5 h 25"/>
                        <a:gd name="T6" fmla="*/ 7 w 27"/>
                        <a:gd name="T7" fmla="*/ 7 h 25"/>
                        <a:gd name="T8" fmla="*/ 4 w 27"/>
                        <a:gd name="T9" fmla="*/ 7 h 25"/>
                        <a:gd name="T10" fmla="*/ 1 w 27"/>
                        <a:gd name="T11" fmla="*/ 5 h 25"/>
                        <a:gd name="T12" fmla="*/ 0 w 27"/>
                        <a:gd name="T13" fmla="*/ 5 h 25"/>
                        <a:gd name="T14" fmla="*/ 9 w 27"/>
                        <a:gd name="T15" fmla="*/ 25 h 25"/>
                        <a:gd name="T16" fmla="*/ 9 w 27"/>
                        <a:gd name="T17" fmla="*/ 25 h 25"/>
                        <a:gd name="T18" fmla="*/ 16 w 27"/>
                        <a:gd name="T19" fmla="*/ 18 h 25"/>
                        <a:gd name="T20" fmla="*/ 27 w 27"/>
                        <a:gd name="T21" fmla="*/ 18 h 25"/>
                        <a:gd name="T22" fmla="*/ 27 w 27"/>
                        <a:gd name="T23" fmla="*/ 18 h 25"/>
                        <a:gd name="T24" fmla="*/ 20 w 27"/>
                        <a:gd name="T25" fmla="*/ 0 h 25"/>
                        <a:gd name="T26" fmla="*/ 17 w 27"/>
                        <a:gd name="T2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25">
                          <a:moveTo>
                            <a:pt x="17" y="0"/>
                          </a:moveTo>
                          <a:cubicBezTo>
                            <a:pt x="16" y="0"/>
                            <a:pt x="15" y="1"/>
                            <a:pt x="14" y="1"/>
                          </a:cubicBezTo>
                          <a:cubicBezTo>
                            <a:pt x="12" y="5"/>
                            <a:pt x="12" y="5"/>
                            <a:pt x="12" y="5"/>
                          </a:cubicBezTo>
                          <a:cubicBezTo>
                            <a:pt x="11" y="6"/>
                            <a:pt x="9" y="7"/>
                            <a:pt x="7" y="7"/>
                          </a:cubicBezTo>
                          <a:cubicBezTo>
                            <a:pt x="6" y="7"/>
                            <a:pt x="5" y="7"/>
                            <a:pt x="4" y="7"/>
                          </a:cubicBezTo>
                          <a:cubicBezTo>
                            <a:pt x="1" y="5"/>
                            <a:pt x="1" y="5"/>
                            <a:pt x="1" y="5"/>
                          </a:cubicBezTo>
                          <a:cubicBezTo>
                            <a:pt x="1" y="5"/>
                            <a:pt x="1" y="5"/>
                            <a:pt x="0" y="5"/>
                          </a:cubicBezTo>
                          <a:cubicBezTo>
                            <a:pt x="9" y="25"/>
                            <a:pt x="9" y="25"/>
                            <a:pt x="9" y="25"/>
                          </a:cubicBezTo>
                          <a:cubicBezTo>
                            <a:pt x="9" y="25"/>
                            <a:pt x="9" y="25"/>
                            <a:pt x="9" y="25"/>
                          </a:cubicBezTo>
                          <a:cubicBezTo>
                            <a:pt x="16" y="18"/>
                            <a:pt x="16" y="18"/>
                            <a:pt x="16" y="18"/>
                          </a:cubicBezTo>
                          <a:cubicBezTo>
                            <a:pt x="27" y="18"/>
                            <a:pt x="27" y="18"/>
                            <a:pt x="27" y="18"/>
                          </a:cubicBezTo>
                          <a:cubicBezTo>
                            <a:pt x="27" y="18"/>
                            <a:pt x="27" y="18"/>
                            <a:pt x="27" y="18"/>
                          </a:cubicBezTo>
                          <a:cubicBezTo>
                            <a:pt x="20" y="0"/>
                            <a:pt x="20" y="0"/>
                            <a:pt x="20" y="0"/>
                          </a:cubicBezTo>
                          <a:lnTo>
                            <a:pt x="17" y="0"/>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prstClr val="black"/>
                        </a:solidFill>
                        <a:effectLst/>
                        <a:uLnTx/>
                        <a:uFillTx/>
                        <a:latin typeface="+mj-lt"/>
                      </a:endParaRPr>
                    </a:p>
                  </p:txBody>
                </p:sp>
                <p:sp>
                  <p:nvSpPr>
                    <p:cNvPr id="686" name="Freeform 122">
                      <a:extLst>
                        <a:ext uri="{FF2B5EF4-FFF2-40B4-BE49-F238E27FC236}">
                          <a16:creationId xmlns:a16="http://schemas.microsoft.com/office/drawing/2014/main" id="{B0E75429-26BF-1A0C-7DB4-3E466E91796F}"/>
                        </a:ext>
                      </a:extLst>
                    </p:cNvPr>
                    <p:cNvSpPr>
                      <a:spLocks/>
                    </p:cNvSpPr>
                    <p:nvPr/>
                  </p:nvSpPr>
                  <p:spPr bwMode="auto">
                    <a:xfrm>
                      <a:off x="8410576" y="749300"/>
                      <a:ext cx="169863" cy="153987"/>
                    </a:xfrm>
                    <a:custGeom>
                      <a:avLst/>
                      <a:gdLst>
                        <a:gd name="T0" fmla="*/ 16 w 45"/>
                        <a:gd name="T1" fmla="*/ 29 h 41"/>
                        <a:gd name="T2" fmla="*/ 9 w 45"/>
                        <a:gd name="T3" fmla="*/ 20 h 41"/>
                        <a:gd name="T4" fmla="*/ 3 w 45"/>
                        <a:gd name="T5" fmla="*/ 20 h 41"/>
                        <a:gd name="T6" fmla="*/ 2 w 45"/>
                        <a:gd name="T7" fmla="*/ 26 h 41"/>
                        <a:gd name="T8" fmla="*/ 13 w 45"/>
                        <a:gd name="T9" fmla="*/ 39 h 41"/>
                        <a:gd name="T10" fmla="*/ 16 w 45"/>
                        <a:gd name="T11" fmla="*/ 41 h 41"/>
                        <a:gd name="T12" fmla="*/ 16 w 45"/>
                        <a:gd name="T13" fmla="*/ 41 h 41"/>
                        <a:gd name="T14" fmla="*/ 20 w 45"/>
                        <a:gd name="T15" fmla="*/ 39 h 41"/>
                        <a:gd name="T16" fmla="*/ 36 w 45"/>
                        <a:gd name="T17" fmla="*/ 18 h 41"/>
                        <a:gd name="T18" fmla="*/ 38 w 45"/>
                        <a:gd name="T19" fmla="*/ 15 h 41"/>
                        <a:gd name="T20" fmla="*/ 40 w 45"/>
                        <a:gd name="T21" fmla="*/ 13 h 41"/>
                        <a:gd name="T22" fmla="*/ 42 w 45"/>
                        <a:gd name="T23" fmla="*/ 10 h 41"/>
                        <a:gd name="T24" fmla="*/ 44 w 45"/>
                        <a:gd name="T25" fmla="*/ 8 h 41"/>
                        <a:gd name="T26" fmla="*/ 43 w 45"/>
                        <a:gd name="T27" fmla="*/ 1 h 41"/>
                        <a:gd name="T28" fmla="*/ 38 w 45"/>
                        <a:gd name="T29" fmla="*/ 1 h 41"/>
                        <a:gd name="T30" fmla="*/ 36 w 45"/>
                        <a:gd name="T31" fmla="*/ 2 h 41"/>
                        <a:gd name="T32" fmla="*/ 34 w 45"/>
                        <a:gd name="T33" fmla="*/ 5 h 41"/>
                        <a:gd name="T34" fmla="*/ 32 w 45"/>
                        <a:gd name="T35" fmla="*/ 7 h 41"/>
                        <a:gd name="T36" fmla="*/ 30 w 45"/>
                        <a:gd name="T37" fmla="*/ 10 h 41"/>
                        <a:gd name="T38" fmla="*/ 16 w 45"/>
                        <a:gd name="T39" fmla="*/ 2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 h="41">
                          <a:moveTo>
                            <a:pt x="16" y="29"/>
                          </a:moveTo>
                          <a:cubicBezTo>
                            <a:pt x="9" y="20"/>
                            <a:pt x="9" y="20"/>
                            <a:pt x="9" y="20"/>
                          </a:cubicBezTo>
                          <a:cubicBezTo>
                            <a:pt x="8" y="18"/>
                            <a:pt x="5" y="18"/>
                            <a:pt x="3" y="20"/>
                          </a:cubicBezTo>
                          <a:cubicBezTo>
                            <a:pt x="1" y="21"/>
                            <a:pt x="0" y="24"/>
                            <a:pt x="2" y="26"/>
                          </a:cubicBezTo>
                          <a:cubicBezTo>
                            <a:pt x="13" y="39"/>
                            <a:pt x="13" y="39"/>
                            <a:pt x="13" y="39"/>
                          </a:cubicBezTo>
                          <a:cubicBezTo>
                            <a:pt x="14" y="40"/>
                            <a:pt x="15" y="41"/>
                            <a:pt x="16" y="41"/>
                          </a:cubicBezTo>
                          <a:cubicBezTo>
                            <a:pt x="16" y="41"/>
                            <a:pt x="16" y="41"/>
                            <a:pt x="16" y="41"/>
                          </a:cubicBezTo>
                          <a:cubicBezTo>
                            <a:pt x="18" y="41"/>
                            <a:pt x="19" y="40"/>
                            <a:pt x="20" y="39"/>
                          </a:cubicBezTo>
                          <a:cubicBezTo>
                            <a:pt x="36" y="18"/>
                            <a:pt x="36" y="18"/>
                            <a:pt x="36" y="18"/>
                          </a:cubicBezTo>
                          <a:cubicBezTo>
                            <a:pt x="38" y="15"/>
                            <a:pt x="38" y="15"/>
                            <a:pt x="38" y="15"/>
                          </a:cubicBezTo>
                          <a:cubicBezTo>
                            <a:pt x="40" y="13"/>
                            <a:pt x="40" y="13"/>
                            <a:pt x="40" y="13"/>
                          </a:cubicBezTo>
                          <a:cubicBezTo>
                            <a:pt x="42" y="10"/>
                            <a:pt x="42" y="10"/>
                            <a:pt x="42" y="10"/>
                          </a:cubicBezTo>
                          <a:cubicBezTo>
                            <a:pt x="44" y="8"/>
                            <a:pt x="44" y="8"/>
                            <a:pt x="44" y="8"/>
                          </a:cubicBezTo>
                          <a:cubicBezTo>
                            <a:pt x="45" y="6"/>
                            <a:pt x="45" y="3"/>
                            <a:pt x="43" y="1"/>
                          </a:cubicBezTo>
                          <a:cubicBezTo>
                            <a:pt x="42" y="0"/>
                            <a:pt x="40" y="0"/>
                            <a:pt x="38" y="1"/>
                          </a:cubicBezTo>
                          <a:cubicBezTo>
                            <a:pt x="38" y="1"/>
                            <a:pt x="37" y="2"/>
                            <a:pt x="36" y="2"/>
                          </a:cubicBezTo>
                          <a:cubicBezTo>
                            <a:pt x="34" y="5"/>
                            <a:pt x="34" y="5"/>
                            <a:pt x="34" y="5"/>
                          </a:cubicBezTo>
                          <a:cubicBezTo>
                            <a:pt x="32" y="7"/>
                            <a:pt x="32" y="7"/>
                            <a:pt x="32" y="7"/>
                          </a:cubicBezTo>
                          <a:cubicBezTo>
                            <a:pt x="30" y="10"/>
                            <a:pt x="30" y="10"/>
                            <a:pt x="30" y="10"/>
                          </a:cubicBezTo>
                          <a:lnTo>
                            <a:pt x="16" y="29"/>
                          </a:lnTo>
                          <a:close/>
                        </a:path>
                      </a:pathLst>
                    </a:custGeom>
                    <a:solidFill>
                      <a:srgbClr val="97BF0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prstClr val="black"/>
                        </a:solidFill>
                        <a:effectLst/>
                        <a:uLnTx/>
                        <a:uFillTx/>
                        <a:latin typeface="+mj-lt"/>
                      </a:endParaRPr>
                    </a:p>
                  </p:txBody>
                </p:sp>
              </p:grpSp>
            </p:grpSp>
          </p:grpSp>
          <p:grpSp>
            <p:nvGrpSpPr>
              <p:cNvPr id="653" name="Group 652">
                <a:extLst>
                  <a:ext uri="{FF2B5EF4-FFF2-40B4-BE49-F238E27FC236}">
                    <a16:creationId xmlns:a16="http://schemas.microsoft.com/office/drawing/2014/main" id="{30C8CC41-D0C6-4D55-3FAC-71F5643E07C8}"/>
                  </a:ext>
                </a:extLst>
              </p:cNvPr>
              <p:cNvGrpSpPr/>
              <p:nvPr/>
            </p:nvGrpSpPr>
            <p:grpSpPr>
              <a:xfrm>
                <a:off x="3348434" y="4738450"/>
                <a:ext cx="545633" cy="551161"/>
                <a:chOff x="4719770" y="3147837"/>
                <a:chExt cx="1008000" cy="1008000"/>
              </a:xfrm>
            </p:grpSpPr>
            <p:sp>
              <p:nvSpPr>
                <p:cNvPr id="661" name="Oval 660">
                  <a:extLst>
                    <a:ext uri="{FF2B5EF4-FFF2-40B4-BE49-F238E27FC236}">
                      <a16:creationId xmlns:a16="http://schemas.microsoft.com/office/drawing/2014/main" id="{CEB6ACB9-6074-4E38-E12F-1206F7A27FA0}"/>
                    </a:ext>
                  </a:extLst>
                </p:cNvPr>
                <p:cNvSpPr/>
                <p:nvPr/>
              </p:nvSpPr>
              <p:spPr>
                <a:xfrm>
                  <a:off x="4719770" y="3147837"/>
                  <a:ext cx="1008000" cy="1008000"/>
                </a:xfrm>
                <a:prstGeom prst="ellipse">
                  <a:avLst/>
                </a:prstGeom>
                <a:solidFill>
                  <a:srgbClr val="0070AD"/>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mj-lt"/>
                    <a:ea typeface="+mn-ea"/>
                    <a:cs typeface="+mn-cs"/>
                  </a:endParaRPr>
                </a:p>
              </p:txBody>
            </p:sp>
            <p:grpSp>
              <p:nvGrpSpPr>
                <p:cNvPr id="662" name="Groupe 566">
                  <a:extLst>
                    <a:ext uri="{FF2B5EF4-FFF2-40B4-BE49-F238E27FC236}">
                      <a16:creationId xmlns:a16="http://schemas.microsoft.com/office/drawing/2014/main" id="{C939A10B-EC10-C2A4-7705-CF6536A80733}"/>
                    </a:ext>
                  </a:extLst>
                </p:cNvPr>
                <p:cNvGrpSpPr>
                  <a:grpSpLocks noChangeAspect="1"/>
                </p:cNvGrpSpPr>
                <p:nvPr/>
              </p:nvGrpSpPr>
              <p:grpSpPr>
                <a:xfrm>
                  <a:off x="4840370" y="3291837"/>
                  <a:ext cx="766800" cy="720000"/>
                  <a:chOff x="6273800" y="1787525"/>
                  <a:chExt cx="1014413" cy="952500"/>
                </a:xfrm>
              </p:grpSpPr>
              <p:sp>
                <p:nvSpPr>
                  <p:cNvPr id="663" name="Freeform 93">
                    <a:extLst>
                      <a:ext uri="{FF2B5EF4-FFF2-40B4-BE49-F238E27FC236}">
                        <a16:creationId xmlns:a16="http://schemas.microsoft.com/office/drawing/2014/main" id="{130A45B6-F14D-D4F2-E98F-12383891A9AD}"/>
                      </a:ext>
                    </a:extLst>
                  </p:cNvPr>
                  <p:cNvSpPr>
                    <a:spLocks/>
                  </p:cNvSpPr>
                  <p:nvPr/>
                </p:nvSpPr>
                <p:spPr bwMode="auto">
                  <a:xfrm>
                    <a:off x="6273800" y="1787525"/>
                    <a:ext cx="1014413" cy="952500"/>
                  </a:xfrm>
                  <a:custGeom>
                    <a:avLst/>
                    <a:gdLst>
                      <a:gd name="T0" fmla="*/ 43 w 300"/>
                      <a:gd name="T1" fmla="*/ 219 h 281"/>
                      <a:gd name="T2" fmla="*/ 72 w 300"/>
                      <a:gd name="T3" fmla="*/ 42 h 281"/>
                      <a:gd name="T4" fmla="*/ 257 w 300"/>
                      <a:gd name="T5" fmla="*/ 68 h 281"/>
                      <a:gd name="T6" fmla="*/ 223 w 300"/>
                      <a:gd name="T7" fmla="*/ 239 h 281"/>
                      <a:gd name="T8" fmla="*/ 43 w 300"/>
                      <a:gd name="T9" fmla="*/ 219 h 281"/>
                    </a:gdLst>
                    <a:ahLst/>
                    <a:cxnLst>
                      <a:cxn ang="0">
                        <a:pos x="T0" y="T1"/>
                      </a:cxn>
                      <a:cxn ang="0">
                        <a:pos x="T2" y="T3"/>
                      </a:cxn>
                      <a:cxn ang="0">
                        <a:pos x="T4" y="T5"/>
                      </a:cxn>
                      <a:cxn ang="0">
                        <a:pos x="T6" y="T7"/>
                      </a:cxn>
                      <a:cxn ang="0">
                        <a:pos x="T8" y="T9"/>
                      </a:cxn>
                    </a:cxnLst>
                    <a:rect l="0" t="0" r="r" b="b"/>
                    <a:pathLst>
                      <a:path w="300" h="281">
                        <a:moveTo>
                          <a:pt x="43" y="219"/>
                        </a:moveTo>
                        <a:cubicBezTo>
                          <a:pt x="0" y="163"/>
                          <a:pt x="13" y="84"/>
                          <a:pt x="72" y="42"/>
                        </a:cubicBezTo>
                        <a:cubicBezTo>
                          <a:pt x="131" y="0"/>
                          <a:pt x="214" y="12"/>
                          <a:pt x="257" y="68"/>
                        </a:cubicBezTo>
                        <a:cubicBezTo>
                          <a:pt x="300" y="124"/>
                          <a:pt x="282" y="197"/>
                          <a:pt x="223" y="239"/>
                        </a:cubicBezTo>
                        <a:cubicBezTo>
                          <a:pt x="164" y="281"/>
                          <a:pt x="86" y="276"/>
                          <a:pt x="43" y="219"/>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grpSp>
                <p:nvGrpSpPr>
                  <p:cNvPr id="664" name="Groupe 568">
                    <a:extLst>
                      <a:ext uri="{FF2B5EF4-FFF2-40B4-BE49-F238E27FC236}">
                        <a16:creationId xmlns:a16="http://schemas.microsoft.com/office/drawing/2014/main" id="{90EE3D54-7934-EF88-A195-8DBB35BD3E04}"/>
                      </a:ext>
                    </a:extLst>
                  </p:cNvPr>
                  <p:cNvGrpSpPr/>
                  <p:nvPr/>
                </p:nvGrpSpPr>
                <p:grpSpPr>
                  <a:xfrm>
                    <a:off x="6557963" y="1939925"/>
                    <a:ext cx="544512" cy="644526"/>
                    <a:chOff x="6557963" y="1939925"/>
                    <a:chExt cx="544512" cy="644526"/>
                  </a:xfrm>
                </p:grpSpPr>
                <p:sp>
                  <p:nvSpPr>
                    <p:cNvPr id="665" name="Rectangle 94">
                      <a:extLst>
                        <a:ext uri="{FF2B5EF4-FFF2-40B4-BE49-F238E27FC236}">
                          <a16:creationId xmlns:a16="http://schemas.microsoft.com/office/drawing/2014/main" id="{9167A3E7-3A95-7AA0-4A52-4E5F625016E1}"/>
                        </a:ext>
                      </a:extLst>
                    </p:cNvPr>
                    <p:cNvSpPr>
                      <a:spLocks noChangeArrowheads="1"/>
                    </p:cNvSpPr>
                    <p:nvPr/>
                  </p:nvSpPr>
                  <p:spPr bwMode="auto">
                    <a:xfrm>
                      <a:off x="6557963" y="1976438"/>
                      <a:ext cx="412750" cy="566738"/>
                    </a:xfrm>
                    <a:prstGeom prst="rect">
                      <a:avLst/>
                    </a:prstGeom>
                    <a:solidFill>
                      <a:srgbClr val="E5335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sp>
                  <p:nvSpPr>
                    <p:cNvPr id="666" name="Freeform 95">
                      <a:extLst>
                        <a:ext uri="{FF2B5EF4-FFF2-40B4-BE49-F238E27FC236}">
                          <a16:creationId xmlns:a16="http://schemas.microsoft.com/office/drawing/2014/main" id="{582BA75B-18D5-BBA6-9840-F4026D901663}"/>
                        </a:ext>
                      </a:extLst>
                    </p:cNvPr>
                    <p:cNvSpPr>
                      <a:spLocks/>
                    </p:cNvSpPr>
                    <p:nvPr/>
                  </p:nvSpPr>
                  <p:spPr bwMode="auto">
                    <a:xfrm>
                      <a:off x="6584950" y="1997075"/>
                      <a:ext cx="355600" cy="525463"/>
                    </a:xfrm>
                    <a:custGeom>
                      <a:avLst/>
                      <a:gdLst>
                        <a:gd name="T0" fmla="*/ 105 w 105"/>
                        <a:gd name="T1" fmla="*/ 149 h 155"/>
                        <a:gd name="T2" fmla="*/ 0 w 105"/>
                        <a:gd name="T3" fmla="*/ 149 h 155"/>
                        <a:gd name="T4" fmla="*/ 0 w 105"/>
                        <a:gd name="T5" fmla="*/ 0 h 155"/>
                        <a:gd name="T6" fmla="*/ 105 w 105"/>
                        <a:gd name="T7" fmla="*/ 0 h 155"/>
                        <a:gd name="T8" fmla="*/ 105 w 105"/>
                        <a:gd name="T9" fmla="*/ 149 h 155"/>
                      </a:gdLst>
                      <a:ahLst/>
                      <a:cxnLst>
                        <a:cxn ang="0">
                          <a:pos x="T0" y="T1"/>
                        </a:cxn>
                        <a:cxn ang="0">
                          <a:pos x="T2" y="T3"/>
                        </a:cxn>
                        <a:cxn ang="0">
                          <a:pos x="T4" y="T5"/>
                        </a:cxn>
                        <a:cxn ang="0">
                          <a:pos x="T6" y="T7"/>
                        </a:cxn>
                        <a:cxn ang="0">
                          <a:pos x="T8" y="T9"/>
                        </a:cxn>
                      </a:cxnLst>
                      <a:rect l="0" t="0" r="r" b="b"/>
                      <a:pathLst>
                        <a:path w="105" h="155">
                          <a:moveTo>
                            <a:pt x="105" y="149"/>
                          </a:moveTo>
                          <a:cubicBezTo>
                            <a:pt x="101" y="155"/>
                            <a:pt x="7" y="146"/>
                            <a:pt x="0" y="149"/>
                          </a:cubicBezTo>
                          <a:cubicBezTo>
                            <a:pt x="0" y="125"/>
                            <a:pt x="0" y="0"/>
                            <a:pt x="0" y="0"/>
                          </a:cubicBezTo>
                          <a:cubicBezTo>
                            <a:pt x="105" y="0"/>
                            <a:pt x="105" y="0"/>
                            <a:pt x="105" y="0"/>
                          </a:cubicBezTo>
                          <a:cubicBezTo>
                            <a:pt x="105" y="0"/>
                            <a:pt x="105" y="122"/>
                            <a:pt x="105" y="14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sp>
                  <p:nvSpPr>
                    <p:cNvPr id="667" name="Rectangle 96">
                      <a:extLst>
                        <a:ext uri="{FF2B5EF4-FFF2-40B4-BE49-F238E27FC236}">
                          <a16:creationId xmlns:a16="http://schemas.microsoft.com/office/drawing/2014/main" id="{53515ACB-4EFA-86F6-F038-009A790E0DF7}"/>
                        </a:ext>
                      </a:extLst>
                    </p:cNvPr>
                    <p:cNvSpPr>
                      <a:spLocks noChangeArrowheads="1"/>
                    </p:cNvSpPr>
                    <p:nvPr/>
                  </p:nvSpPr>
                  <p:spPr bwMode="auto">
                    <a:xfrm>
                      <a:off x="6672263" y="1963738"/>
                      <a:ext cx="179388" cy="68263"/>
                    </a:xfrm>
                    <a:prstGeom prst="rect">
                      <a:avLst/>
                    </a:prstGeom>
                    <a:solidFill>
                      <a:srgbClr val="E5335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sp>
                  <p:nvSpPr>
                    <p:cNvPr id="668" name="Rectangle 97">
                      <a:extLst>
                        <a:ext uri="{FF2B5EF4-FFF2-40B4-BE49-F238E27FC236}">
                          <a16:creationId xmlns:a16="http://schemas.microsoft.com/office/drawing/2014/main" id="{3B69E5B3-4314-E57C-CB44-50B3DC995F48}"/>
                        </a:ext>
                      </a:extLst>
                    </p:cNvPr>
                    <p:cNvSpPr>
                      <a:spLocks noChangeArrowheads="1"/>
                    </p:cNvSpPr>
                    <p:nvPr/>
                  </p:nvSpPr>
                  <p:spPr bwMode="auto">
                    <a:xfrm>
                      <a:off x="6723063" y="1939925"/>
                      <a:ext cx="77788" cy="36513"/>
                    </a:xfrm>
                    <a:prstGeom prst="rect">
                      <a:avLst/>
                    </a:prstGeom>
                    <a:solidFill>
                      <a:srgbClr val="E5335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sp>
                  <p:nvSpPr>
                    <p:cNvPr id="669" name="Freeform 98">
                      <a:extLst>
                        <a:ext uri="{FF2B5EF4-FFF2-40B4-BE49-F238E27FC236}">
                          <a16:creationId xmlns:a16="http://schemas.microsoft.com/office/drawing/2014/main" id="{449B6F9E-0E1E-C7DC-8014-4079E2473E20}"/>
                        </a:ext>
                      </a:extLst>
                    </p:cNvPr>
                    <p:cNvSpPr>
                      <a:spLocks/>
                    </p:cNvSpPr>
                    <p:nvPr/>
                  </p:nvSpPr>
                  <p:spPr bwMode="auto">
                    <a:xfrm>
                      <a:off x="6734175" y="2309813"/>
                      <a:ext cx="368300" cy="274638"/>
                    </a:xfrm>
                    <a:custGeom>
                      <a:avLst/>
                      <a:gdLst>
                        <a:gd name="T0" fmla="*/ 39 w 109"/>
                        <a:gd name="T1" fmla="*/ 81 h 81"/>
                        <a:gd name="T2" fmla="*/ 34 w 109"/>
                        <a:gd name="T3" fmla="*/ 74 h 81"/>
                        <a:gd name="T4" fmla="*/ 3 w 109"/>
                        <a:gd name="T5" fmla="*/ 47 h 81"/>
                        <a:gd name="T6" fmla="*/ 2 w 109"/>
                        <a:gd name="T7" fmla="*/ 38 h 81"/>
                        <a:gd name="T8" fmla="*/ 11 w 109"/>
                        <a:gd name="T9" fmla="*/ 37 h 81"/>
                        <a:gd name="T10" fmla="*/ 38 w 109"/>
                        <a:gd name="T11" fmla="*/ 60 h 81"/>
                        <a:gd name="T12" fmla="*/ 99 w 109"/>
                        <a:gd name="T13" fmla="*/ 2 h 81"/>
                        <a:gd name="T14" fmla="*/ 108 w 109"/>
                        <a:gd name="T15" fmla="*/ 4 h 81"/>
                        <a:gd name="T16" fmla="*/ 105 w 109"/>
                        <a:gd name="T17" fmla="*/ 13 h 81"/>
                        <a:gd name="T18" fmla="*/ 44 w 109"/>
                        <a:gd name="T19" fmla="*/ 74 h 81"/>
                        <a:gd name="T20" fmla="*/ 39 w 109"/>
                        <a:gd name="T21"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81">
                          <a:moveTo>
                            <a:pt x="39" y="81"/>
                          </a:moveTo>
                          <a:cubicBezTo>
                            <a:pt x="34" y="74"/>
                            <a:pt x="34" y="74"/>
                            <a:pt x="34" y="74"/>
                          </a:cubicBezTo>
                          <a:cubicBezTo>
                            <a:pt x="26" y="65"/>
                            <a:pt x="4" y="47"/>
                            <a:pt x="3" y="47"/>
                          </a:cubicBezTo>
                          <a:cubicBezTo>
                            <a:pt x="1" y="45"/>
                            <a:pt x="0" y="41"/>
                            <a:pt x="2" y="38"/>
                          </a:cubicBezTo>
                          <a:cubicBezTo>
                            <a:pt x="4" y="35"/>
                            <a:pt x="9" y="35"/>
                            <a:pt x="11" y="37"/>
                          </a:cubicBezTo>
                          <a:cubicBezTo>
                            <a:pt x="12" y="38"/>
                            <a:pt x="28" y="50"/>
                            <a:pt x="38" y="60"/>
                          </a:cubicBezTo>
                          <a:cubicBezTo>
                            <a:pt x="50" y="43"/>
                            <a:pt x="72" y="17"/>
                            <a:pt x="99" y="2"/>
                          </a:cubicBezTo>
                          <a:cubicBezTo>
                            <a:pt x="102" y="0"/>
                            <a:pt x="106" y="1"/>
                            <a:pt x="108" y="4"/>
                          </a:cubicBezTo>
                          <a:cubicBezTo>
                            <a:pt x="109" y="7"/>
                            <a:pt x="108" y="11"/>
                            <a:pt x="105" y="13"/>
                          </a:cubicBezTo>
                          <a:cubicBezTo>
                            <a:pt x="77" y="29"/>
                            <a:pt x="55" y="58"/>
                            <a:pt x="44" y="74"/>
                          </a:cubicBezTo>
                          <a:lnTo>
                            <a:pt x="39" y="81"/>
                          </a:lnTo>
                          <a:close/>
                        </a:path>
                      </a:pathLst>
                    </a:custGeom>
                    <a:solidFill>
                      <a:srgbClr val="0F878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sp>
                  <p:nvSpPr>
                    <p:cNvPr id="670" name="Freeform 99">
                      <a:extLst>
                        <a:ext uri="{FF2B5EF4-FFF2-40B4-BE49-F238E27FC236}">
                          <a16:creationId xmlns:a16="http://schemas.microsoft.com/office/drawing/2014/main" id="{30025384-B144-9976-054D-7F9FEF70C0D7}"/>
                        </a:ext>
                      </a:extLst>
                    </p:cNvPr>
                    <p:cNvSpPr>
                      <a:spLocks/>
                    </p:cNvSpPr>
                    <p:nvPr/>
                  </p:nvSpPr>
                  <p:spPr bwMode="auto">
                    <a:xfrm>
                      <a:off x="6635750" y="2109788"/>
                      <a:ext cx="53975" cy="44450"/>
                    </a:xfrm>
                    <a:custGeom>
                      <a:avLst/>
                      <a:gdLst>
                        <a:gd name="T0" fmla="*/ 6 w 16"/>
                        <a:gd name="T1" fmla="*/ 13 h 13"/>
                        <a:gd name="T2" fmla="*/ 5 w 16"/>
                        <a:gd name="T3" fmla="*/ 12 h 13"/>
                        <a:gd name="T4" fmla="*/ 0 w 16"/>
                        <a:gd name="T5" fmla="*/ 8 h 13"/>
                        <a:gd name="T6" fmla="*/ 0 w 16"/>
                        <a:gd name="T7" fmla="*/ 6 h 13"/>
                        <a:gd name="T8" fmla="*/ 1 w 16"/>
                        <a:gd name="T9" fmla="*/ 6 h 13"/>
                        <a:gd name="T10" fmla="*/ 5 w 16"/>
                        <a:gd name="T11" fmla="*/ 9 h 13"/>
                        <a:gd name="T12" fmla="*/ 14 w 16"/>
                        <a:gd name="T13" fmla="*/ 0 h 13"/>
                        <a:gd name="T14" fmla="*/ 16 w 16"/>
                        <a:gd name="T15" fmla="*/ 0 h 13"/>
                        <a:gd name="T16" fmla="*/ 15 w 16"/>
                        <a:gd name="T17" fmla="*/ 2 h 13"/>
                        <a:gd name="T18" fmla="*/ 6 w 16"/>
                        <a:gd name="T19" fmla="*/ 11 h 13"/>
                        <a:gd name="T20" fmla="*/ 6 w 16"/>
                        <a:gd name="T21"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13">
                          <a:moveTo>
                            <a:pt x="6" y="13"/>
                          </a:moveTo>
                          <a:cubicBezTo>
                            <a:pt x="5" y="12"/>
                            <a:pt x="5" y="12"/>
                            <a:pt x="5" y="12"/>
                          </a:cubicBezTo>
                          <a:cubicBezTo>
                            <a:pt x="4" y="10"/>
                            <a:pt x="0" y="8"/>
                            <a:pt x="0" y="8"/>
                          </a:cubicBezTo>
                          <a:cubicBezTo>
                            <a:pt x="0" y="7"/>
                            <a:pt x="0" y="7"/>
                            <a:pt x="0" y="6"/>
                          </a:cubicBezTo>
                          <a:cubicBezTo>
                            <a:pt x="0" y="6"/>
                            <a:pt x="1" y="6"/>
                            <a:pt x="1" y="6"/>
                          </a:cubicBezTo>
                          <a:cubicBezTo>
                            <a:pt x="1" y="6"/>
                            <a:pt x="4" y="8"/>
                            <a:pt x="5" y="9"/>
                          </a:cubicBezTo>
                          <a:cubicBezTo>
                            <a:pt x="7" y="7"/>
                            <a:pt x="10" y="3"/>
                            <a:pt x="14" y="0"/>
                          </a:cubicBezTo>
                          <a:cubicBezTo>
                            <a:pt x="15" y="0"/>
                            <a:pt x="15" y="0"/>
                            <a:pt x="16" y="0"/>
                          </a:cubicBezTo>
                          <a:cubicBezTo>
                            <a:pt x="16" y="1"/>
                            <a:pt x="16" y="1"/>
                            <a:pt x="15" y="2"/>
                          </a:cubicBezTo>
                          <a:cubicBezTo>
                            <a:pt x="11" y="4"/>
                            <a:pt x="8" y="9"/>
                            <a:pt x="6" y="11"/>
                          </a:cubicBezTo>
                          <a:lnTo>
                            <a:pt x="6" y="13"/>
                          </a:ln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sp>
                  <p:nvSpPr>
                    <p:cNvPr id="671" name="Freeform 100">
                      <a:extLst>
                        <a:ext uri="{FF2B5EF4-FFF2-40B4-BE49-F238E27FC236}">
                          <a16:creationId xmlns:a16="http://schemas.microsoft.com/office/drawing/2014/main" id="{B057912B-23A1-547C-8299-0C32AB38E040}"/>
                        </a:ext>
                      </a:extLst>
                    </p:cNvPr>
                    <p:cNvSpPr>
                      <a:spLocks/>
                    </p:cNvSpPr>
                    <p:nvPr/>
                  </p:nvSpPr>
                  <p:spPr bwMode="auto">
                    <a:xfrm>
                      <a:off x="6692900" y="2133600"/>
                      <a:ext cx="161925" cy="6350"/>
                    </a:xfrm>
                    <a:custGeom>
                      <a:avLst/>
                      <a:gdLst>
                        <a:gd name="T0" fmla="*/ 48 w 48"/>
                        <a:gd name="T1" fmla="*/ 2 h 2"/>
                        <a:gd name="T2" fmla="*/ 1 w 48"/>
                        <a:gd name="T3" fmla="*/ 2 h 2"/>
                        <a:gd name="T4" fmla="*/ 0 w 48"/>
                        <a:gd name="T5" fmla="*/ 1 h 2"/>
                        <a:gd name="T6" fmla="*/ 1 w 48"/>
                        <a:gd name="T7" fmla="*/ 0 h 2"/>
                        <a:gd name="T8" fmla="*/ 48 w 48"/>
                        <a:gd name="T9" fmla="*/ 0 h 2"/>
                        <a:gd name="T10" fmla="*/ 48 w 48"/>
                        <a:gd name="T11" fmla="*/ 1 h 2"/>
                        <a:gd name="T12" fmla="*/ 48 w 48"/>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48" h="2">
                          <a:moveTo>
                            <a:pt x="48" y="2"/>
                          </a:moveTo>
                          <a:cubicBezTo>
                            <a:pt x="1" y="2"/>
                            <a:pt x="1" y="2"/>
                            <a:pt x="1" y="2"/>
                          </a:cubicBezTo>
                          <a:cubicBezTo>
                            <a:pt x="0" y="2"/>
                            <a:pt x="0" y="1"/>
                            <a:pt x="0" y="1"/>
                          </a:cubicBezTo>
                          <a:cubicBezTo>
                            <a:pt x="0" y="0"/>
                            <a:pt x="0" y="0"/>
                            <a:pt x="1" y="0"/>
                          </a:cubicBezTo>
                          <a:cubicBezTo>
                            <a:pt x="48" y="0"/>
                            <a:pt x="48" y="0"/>
                            <a:pt x="48" y="0"/>
                          </a:cubicBezTo>
                          <a:cubicBezTo>
                            <a:pt x="48" y="0"/>
                            <a:pt x="48" y="0"/>
                            <a:pt x="48" y="1"/>
                          </a:cubicBezTo>
                          <a:cubicBezTo>
                            <a:pt x="48" y="1"/>
                            <a:pt x="48" y="2"/>
                            <a:pt x="48" y="2"/>
                          </a:cubicBez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sp>
                  <p:nvSpPr>
                    <p:cNvPr id="672" name="Freeform 101">
                      <a:extLst>
                        <a:ext uri="{FF2B5EF4-FFF2-40B4-BE49-F238E27FC236}">
                          <a16:creationId xmlns:a16="http://schemas.microsoft.com/office/drawing/2014/main" id="{20A320CA-4C9C-BAF6-8BEB-CAF24090474A}"/>
                        </a:ext>
                      </a:extLst>
                    </p:cNvPr>
                    <p:cNvSpPr>
                      <a:spLocks/>
                    </p:cNvSpPr>
                    <p:nvPr/>
                  </p:nvSpPr>
                  <p:spPr bwMode="auto">
                    <a:xfrm>
                      <a:off x="6635750" y="2178050"/>
                      <a:ext cx="53975" cy="42863"/>
                    </a:xfrm>
                    <a:custGeom>
                      <a:avLst/>
                      <a:gdLst>
                        <a:gd name="T0" fmla="*/ 6 w 16"/>
                        <a:gd name="T1" fmla="*/ 13 h 13"/>
                        <a:gd name="T2" fmla="*/ 5 w 16"/>
                        <a:gd name="T3" fmla="*/ 12 h 13"/>
                        <a:gd name="T4" fmla="*/ 0 w 16"/>
                        <a:gd name="T5" fmla="*/ 8 h 13"/>
                        <a:gd name="T6" fmla="*/ 0 w 16"/>
                        <a:gd name="T7" fmla="*/ 7 h 13"/>
                        <a:gd name="T8" fmla="*/ 1 w 16"/>
                        <a:gd name="T9" fmla="*/ 6 h 13"/>
                        <a:gd name="T10" fmla="*/ 5 w 16"/>
                        <a:gd name="T11" fmla="*/ 10 h 13"/>
                        <a:gd name="T12" fmla="*/ 14 w 16"/>
                        <a:gd name="T13" fmla="*/ 0 h 13"/>
                        <a:gd name="T14" fmla="*/ 16 w 16"/>
                        <a:gd name="T15" fmla="*/ 1 h 13"/>
                        <a:gd name="T16" fmla="*/ 15 w 16"/>
                        <a:gd name="T17" fmla="*/ 2 h 13"/>
                        <a:gd name="T18" fmla="*/ 6 w 16"/>
                        <a:gd name="T19" fmla="*/ 12 h 13"/>
                        <a:gd name="T20" fmla="*/ 6 w 16"/>
                        <a:gd name="T21"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13">
                          <a:moveTo>
                            <a:pt x="6" y="13"/>
                          </a:moveTo>
                          <a:cubicBezTo>
                            <a:pt x="5" y="12"/>
                            <a:pt x="5" y="12"/>
                            <a:pt x="5" y="12"/>
                          </a:cubicBezTo>
                          <a:cubicBezTo>
                            <a:pt x="4" y="10"/>
                            <a:pt x="0" y="8"/>
                            <a:pt x="0" y="8"/>
                          </a:cubicBezTo>
                          <a:cubicBezTo>
                            <a:pt x="0" y="8"/>
                            <a:pt x="0" y="7"/>
                            <a:pt x="0" y="7"/>
                          </a:cubicBezTo>
                          <a:cubicBezTo>
                            <a:pt x="0" y="6"/>
                            <a:pt x="1" y="6"/>
                            <a:pt x="1" y="6"/>
                          </a:cubicBezTo>
                          <a:cubicBezTo>
                            <a:pt x="1" y="6"/>
                            <a:pt x="4" y="8"/>
                            <a:pt x="5" y="10"/>
                          </a:cubicBezTo>
                          <a:cubicBezTo>
                            <a:pt x="7" y="7"/>
                            <a:pt x="10" y="3"/>
                            <a:pt x="14" y="0"/>
                          </a:cubicBezTo>
                          <a:cubicBezTo>
                            <a:pt x="15" y="0"/>
                            <a:pt x="15" y="0"/>
                            <a:pt x="16" y="1"/>
                          </a:cubicBezTo>
                          <a:cubicBezTo>
                            <a:pt x="16" y="1"/>
                            <a:pt x="16" y="2"/>
                            <a:pt x="15" y="2"/>
                          </a:cubicBezTo>
                          <a:cubicBezTo>
                            <a:pt x="11" y="5"/>
                            <a:pt x="8" y="9"/>
                            <a:pt x="6" y="12"/>
                          </a:cubicBezTo>
                          <a:lnTo>
                            <a:pt x="6" y="13"/>
                          </a:ln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sp>
                  <p:nvSpPr>
                    <p:cNvPr id="673" name="Freeform 102">
                      <a:extLst>
                        <a:ext uri="{FF2B5EF4-FFF2-40B4-BE49-F238E27FC236}">
                          <a16:creationId xmlns:a16="http://schemas.microsoft.com/office/drawing/2014/main" id="{8C7AF93A-2065-607A-7846-EEA26D8CD8D1}"/>
                        </a:ext>
                      </a:extLst>
                    </p:cNvPr>
                    <p:cNvSpPr>
                      <a:spLocks/>
                    </p:cNvSpPr>
                    <p:nvPr/>
                  </p:nvSpPr>
                  <p:spPr bwMode="auto">
                    <a:xfrm>
                      <a:off x="6692900" y="2200275"/>
                      <a:ext cx="161925" cy="7938"/>
                    </a:xfrm>
                    <a:custGeom>
                      <a:avLst/>
                      <a:gdLst>
                        <a:gd name="T0" fmla="*/ 48 w 48"/>
                        <a:gd name="T1" fmla="*/ 2 h 2"/>
                        <a:gd name="T2" fmla="*/ 1 w 48"/>
                        <a:gd name="T3" fmla="*/ 2 h 2"/>
                        <a:gd name="T4" fmla="*/ 0 w 48"/>
                        <a:gd name="T5" fmla="*/ 1 h 2"/>
                        <a:gd name="T6" fmla="*/ 1 w 48"/>
                        <a:gd name="T7" fmla="*/ 0 h 2"/>
                        <a:gd name="T8" fmla="*/ 48 w 48"/>
                        <a:gd name="T9" fmla="*/ 0 h 2"/>
                        <a:gd name="T10" fmla="*/ 48 w 48"/>
                        <a:gd name="T11" fmla="*/ 1 h 2"/>
                        <a:gd name="T12" fmla="*/ 48 w 48"/>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48" h="2">
                          <a:moveTo>
                            <a:pt x="48" y="2"/>
                          </a:moveTo>
                          <a:cubicBezTo>
                            <a:pt x="1" y="2"/>
                            <a:pt x="1" y="2"/>
                            <a:pt x="1" y="2"/>
                          </a:cubicBezTo>
                          <a:cubicBezTo>
                            <a:pt x="0" y="2"/>
                            <a:pt x="0" y="2"/>
                            <a:pt x="0" y="1"/>
                          </a:cubicBezTo>
                          <a:cubicBezTo>
                            <a:pt x="0" y="1"/>
                            <a:pt x="0" y="0"/>
                            <a:pt x="1" y="0"/>
                          </a:cubicBezTo>
                          <a:cubicBezTo>
                            <a:pt x="48" y="0"/>
                            <a:pt x="48" y="0"/>
                            <a:pt x="48" y="0"/>
                          </a:cubicBezTo>
                          <a:cubicBezTo>
                            <a:pt x="48" y="0"/>
                            <a:pt x="48" y="1"/>
                            <a:pt x="48" y="1"/>
                          </a:cubicBezTo>
                          <a:cubicBezTo>
                            <a:pt x="48" y="2"/>
                            <a:pt x="48" y="2"/>
                            <a:pt x="48" y="2"/>
                          </a:cubicBez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sp>
                  <p:nvSpPr>
                    <p:cNvPr id="674" name="Freeform 103">
                      <a:extLst>
                        <a:ext uri="{FF2B5EF4-FFF2-40B4-BE49-F238E27FC236}">
                          <a16:creationId xmlns:a16="http://schemas.microsoft.com/office/drawing/2014/main" id="{743BC752-6398-6FC8-E33F-8976F86B7C22}"/>
                        </a:ext>
                      </a:extLst>
                    </p:cNvPr>
                    <p:cNvSpPr>
                      <a:spLocks/>
                    </p:cNvSpPr>
                    <p:nvPr/>
                  </p:nvSpPr>
                  <p:spPr bwMode="auto">
                    <a:xfrm>
                      <a:off x="6635750" y="2244725"/>
                      <a:ext cx="53975" cy="44450"/>
                    </a:xfrm>
                    <a:custGeom>
                      <a:avLst/>
                      <a:gdLst>
                        <a:gd name="T0" fmla="*/ 6 w 16"/>
                        <a:gd name="T1" fmla="*/ 13 h 13"/>
                        <a:gd name="T2" fmla="*/ 5 w 16"/>
                        <a:gd name="T3" fmla="*/ 12 h 13"/>
                        <a:gd name="T4" fmla="*/ 0 w 16"/>
                        <a:gd name="T5" fmla="*/ 8 h 13"/>
                        <a:gd name="T6" fmla="*/ 0 w 16"/>
                        <a:gd name="T7" fmla="*/ 7 h 13"/>
                        <a:gd name="T8" fmla="*/ 1 w 16"/>
                        <a:gd name="T9" fmla="*/ 7 h 13"/>
                        <a:gd name="T10" fmla="*/ 5 w 16"/>
                        <a:gd name="T11" fmla="*/ 10 h 13"/>
                        <a:gd name="T12" fmla="*/ 14 w 16"/>
                        <a:gd name="T13" fmla="*/ 1 h 13"/>
                        <a:gd name="T14" fmla="*/ 16 w 16"/>
                        <a:gd name="T15" fmla="*/ 1 h 13"/>
                        <a:gd name="T16" fmla="*/ 15 w 16"/>
                        <a:gd name="T17" fmla="*/ 2 h 13"/>
                        <a:gd name="T18" fmla="*/ 6 w 16"/>
                        <a:gd name="T19" fmla="*/ 12 h 13"/>
                        <a:gd name="T20" fmla="*/ 6 w 16"/>
                        <a:gd name="T21"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13">
                          <a:moveTo>
                            <a:pt x="6" y="13"/>
                          </a:moveTo>
                          <a:cubicBezTo>
                            <a:pt x="5" y="12"/>
                            <a:pt x="5" y="12"/>
                            <a:pt x="5" y="12"/>
                          </a:cubicBezTo>
                          <a:cubicBezTo>
                            <a:pt x="4" y="11"/>
                            <a:pt x="0" y="8"/>
                            <a:pt x="0" y="8"/>
                          </a:cubicBezTo>
                          <a:cubicBezTo>
                            <a:pt x="0" y="8"/>
                            <a:pt x="0" y="7"/>
                            <a:pt x="0" y="7"/>
                          </a:cubicBezTo>
                          <a:cubicBezTo>
                            <a:pt x="0" y="6"/>
                            <a:pt x="1" y="6"/>
                            <a:pt x="1" y="7"/>
                          </a:cubicBezTo>
                          <a:cubicBezTo>
                            <a:pt x="1" y="7"/>
                            <a:pt x="4" y="8"/>
                            <a:pt x="5" y="10"/>
                          </a:cubicBezTo>
                          <a:cubicBezTo>
                            <a:pt x="7" y="7"/>
                            <a:pt x="10" y="3"/>
                            <a:pt x="14" y="1"/>
                          </a:cubicBezTo>
                          <a:cubicBezTo>
                            <a:pt x="15" y="0"/>
                            <a:pt x="15" y="1"/>
                            <a:pt x="16" y="1"/>
                          </a:cubicBezTo>
                          <a:cubicBezTo>
                            <a:pt x="16" y="1"/>
                            <a:pt x="16" y="2"/>
                            <a:pt x="15" y="2"/>
                          </a:cubicBezTo>
                          <a:cubicBezTo>
                            <a:pt x="11" y="5"/>
                            <a:pt x="8" y="10"/>
                            <a:pt x="6" y="12"/>
                          </a:cubicBezTo>
                          <a:lnTo>
                            <a:pt x="6" y="13"/>
                          </a:ln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sp>
                  <p:nvSpPr>
                    <p:cNvPr id="675" name="Freeform 104">
                      <a:extLst>
                        <a:ext uri="{FF2B5EF4-FFF2-40B4-BE49-F238E27FC236}">
                          <a16:creationId xmlns:a16="http://schemas.microsoft.com/office/drawing/2014/main" id="{443E9B5F-70CA-DAB5-7519-ADBD121552AE}"/>
                        </a:ext>
                      </a:extLst>
                    </p:cNvPr>
                    <p:cNvSpPr>
                      <a:spLocks/>
                    </p:cNvSpPr>
                    <p:nvPr/>
                  </p:nvSpPr>
                  <p:spPr bwMode="auto">
                    <a:xfrm>
                      <a:off x="6692900" y="2271713"/>
                      <a:ext cx="161925" cy="7938"/>
                    </a:xfrm>
                    <a:custGeom>
                      <a:avLst/>
                      <a:gdLst>
                        <a:gd name="T0" fmla="*/ 48 w 48"/>
                        <a:gd name="T1" fmla="*/ 2 h 2"/>
                        <a:gd name="T2" fmla="*/ 1 w 48"/>
                        <a:gd name="T3" fmla="*/ 2 h 2"/>
                        <a:gd name="T4" fmla="*/ 0 w 48"/>
                        <a:gd name="T5" fmla="*/ 1 h 2"/>
                        <a:gd name="T6" fmla="*/ 1 w 48"/>
                        <a:gd name="T7" fmla="*/ 0 h 2"/>
                        <a:gd name="T8" fmla="*/ 48 w 48"/>
                        <a:gd name="T9" fmla="*/ 0 h 2"/>
                        <a:gd name="T10" fmla="*/ 48 w 48"/>
                        <a:gd name="T11" fmla="*/ 1 h 2"/>
                        <a:gd name="T12" fmla="*/ 48 w 48"/>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48" h="2">
                          <a:moveTo>
                            <a:pt x="48" y="2"/>
                          </a:moveTo>
                          <a:cubicBezTo>
                            <a:pt x="1" y="2"/>
                            <a:pt x="1" y="2"/>
                            <a:pt x="1" y="2"/>
                          </a:cubicBezTo>
                          <a:cubicBezTo>
                            <a:pt x="0" y="2"/>
                            <a:pt x="0" y="1"/>
                            <a:pt x="0" y="1"/>
                          </a:cubicBezTo>
                          <a:cubicBezTo>
                            <a:pt x="0" y="0"/>
                            <a:pt x="0" y="0"/>
                            <a:pt x="1" y="0"/>
                          </a:cubicBezTo>
                          <a:cubicBezTo>
                            <a:pt x="48" y="0"/>
                            <a:pt x="48" y="0"/>
                            <a:pt x="48" y="0"/>
                          </a:cubicBezTo>
                          <a:cubicBezTo>
                            <a:pt x="48" y="0"/>
                            <a:pt x="48" y="0"/>
                            <a:pt x="48" y="1"/>
                          </a:cubicBezTo>
                          <a:cubicBezTo>
                            <a:pt x="48" y="1"/>
                            <a:pt x="48" y="2"/>
                            <a:pt x="48" y="2"/>
                          </a:cubicBez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sp>
                  <p:nvSpPr>
                    <p:cNvPr id="676" name="Freeform 105">
                      <a:extLst>
                        <a:ext uri="{FF2B5EF4-FFF2-40B4-BE49-F238E27FC236}">
                          <a16:creationId xmlns:a16="http://schemas.microsoft.com/office/drawing/2014/main" id="{BED619F9-D0E0-40E5-90CD-47B4A76EB984}"/>
                        </a:ext>
                      </a:extLst>
                    </p:cNvPr>
                    <p:cNvSpPr>
                      <a:spLocks/>
                    </p:cNvSpPr>
                    <p:nvPr/>
                  </p:nvSpPr>
                  <p:spPr bwMode="auto">
                    <a:xfrm>
                      <a:off x="6635750" y="2316163"/>
                      <a:ext cx="53975" cy="41275"/>
                    </a:xfrm>
                    <a:custGeom>
                      <a:avLst/>
                      <a:gdLst>
                        <a:gd name="T0" fmla="*/ 6 w 16"/>
                        <a:gd name="T1" fmla="*/ 12 h 12"/>
                        <a:gd name="T2" fmla="*/ 5 w 16"/>
                        <a:gd name="T3" fmla="*/ 11 h 12"/>
                        <a:gd name="T4" fmla="*/ 0 w 16"/>
                        <a:gd name="T5" fmla="*/ 8 h 12"/>
                        <a:gd name="T6" fmla="*/ 0 w 16"/>
                        <a:gd name="T7" fmla="*/ 6 h 12"/>
                        <a:gd name="T8" fmla="*/ 1 w 16"/>
                        <a:gd name="T9" fmla="*/ 6 h 12"/>
                        <a:gd name="T10" fmla="*/ 5 w 16"/>
                        <a:gd name="T11" fmla="*/ 9 h 12"/>
                        <a:gd name="T12" fmla="*/ 14 w 16"/>
                        <a:gd name="T13" fmla="*/ 0 h 12"/>
                        <a:gd name="T14" fmla="*/ 16 w 16"/>
                        <a:gd name="T15" fmla="*/ 0 h 12"/>
                        <a:gd name="T16" fmla="*/ 15 w 16"/>
                        <a:gd name="T17" fmla="*/ 2 h 12"/>
                        <a:gd name="T18" fmla="*/ 6 w 16"/>
                        <a:gd name="T19" fmla="*/ 11 h 12"/>
                        <a:gd name="T20" fmla="*/ 6 w 16"/>
                        <a:gd name="T21"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12">
                          <a:moveTo>
                            <a:pt x="6" y="12"/>
                          </a:moveTo>
                          <a:cubicBezTo>
                            <a:pt x="5" y="11"/>
                            <a:pt x="5" y="11"/>
                            <a:pt x="5" y="11"/>
                          </a:cubicBezTo>
                          <a:cubicBezTo>
                            <a:pt x="4" y="10"/>
                            <a:pt x="0" y="8"/>
                            <a:pt x="0" y="8"/>
                          </a:cubicBezTo>
                          <a:cubicBezTo>
                            <a:pt x="0" y="7"/>
                            <a:pt x="0" y="7"/>
                            <a:pt x="0" y="6"/>
                          </a:cubicBezTo>
                          <a:cubicBezTo>
                            <a:pt x="0" y="6"/>
                            <a:pt x="1" y="6"/>
                            <a:pt x="1" y="6"/>
                          </a:cubicBezTo>
                          <a:cubicBezTo>
                            <a:pt x="1" y="6"/>
                            <a:pt x="4" y="8"/>
                            <a:pt x="5" y="9"/>
                          </a:cubicBezTo>
                          <a:cubicBezTo>
                            <a:pt x="7" y="7"/>
                            <a:pt x="10" y="3"/>
                            <a:pt x="14" y="0"/>
                          </a:cubicBezTo>
                          <a:cubicBezTo>
                            <a:pt x="15" y="0"/>
                            <a:pt x="15" y="0"/>
                            <a:pt x="16" y="0"/>
                          </a:cubicBezTo>
                          <a:cubicBezTo>
                            <a:pt x="16" y="1"/>
                            <a:pt x="16" y="1"/>
                            <a:pt x="15" y="2"/>
                          </a:cubicBezTo>
                          <a:cubicBezTo>
                            <a:pt x="11" y="4"/>
                            <a:pt x="8" y="9"/>
                            <a:pt x="6" y="11"/>
                          </a:cubicBezTo>
                          <a:lnTo>
                            <a:pt x="6" y="12"/>
                          </a:ln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sp>
                  <p:nvSpPr>
                    <p:cNvPr id="677" name="Freeform 106">
                      <a:extLst>
                        <a:ext uri="{FF2B5EF4-FFF2-40B4-BE49-F238E27FC236}">
                          <a16:creationId xmlns:a16="http://schemas.microsoft.com/office/drawing/2014/main" id="{0A200A8C-DFBC-369F-CD2E-2598CAD162ED}"/>
                        </a:ext>
                      </a:extLst>
                    </p:cNvPr>
                    <p:cNvSpPr>
                      <a:spLocks/>
                    </p:cNvSpPr>
                    <p:nvPr/>
                  </p:nvSpPr>
                  <p:spPr bwMode="auto">
                    <a:xfrm>
                      <a:off x="6692900" y="2339975"/>
                      <a:ext cx="161925" cy="6350"/>
                    </a:xfrm>
                    <a:custGeom>
                      <a:avLst/>
                      <a:gdLst>
                        <a:gd name="T0" fmla="*/ 48 w 48"/>
                        <a:gd name="T1" fmla="*/ 2 h 2"/>
                        <a:gd name="T2" fmla="*/ 1 w 48"/>
                        <a:gd name="T3" fmla="*/ 2 h 2"/>
                        <a:gd name="T4" fmla="*/ 0 w 48"/>
                        <a:gd name="T5" fmla="*/ 1 h 2"/>
                        <a:gd name="T6" fmla="*/ 1 w 48"/>
                        <a:gd name="T7" fmla="*/ 0 h 2"/>
                        <a:gd name="T8" fmla="*/ 48 w 48"/>
                        <a:gd name="T9" fmla="*/ 0 h 2"/>
                        <a:gd name="T10" fmla="*/ 48 w 48"/>
                        <a:gd name="T11" fmla="*/ 1 h 2"/>
                        <a:gd name="T12" fmla="*/ 48 w 48"/>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48" h="2">
                          <a:moveTo>
                            <a:pt x="48" y="2"/>
                          </a:moveTo>
                          <a:cubicBezTo>
                            <a:pt x="1" y="2"/>
                            <a:pt x="1" y="2"/>
                            <a:pt x="1" y="2"/>
                          </a:cubicBezTo>
                          <a:cubicBezTo>
                            <a:pt x="0" y="2"/>
                            <a:pt x="0" y="1"/>
                            <a:pt x="0" y="1"/>
                          </a:cubicBezTo>
                          <a:cubicBezTo>
                            <a:pt x="0" y="0"/>
                            <a:pt x="0" y="0"/>
                            <a:pt x="1" y="0"/>
                          </a:cubicBezTo>
                          <a:cubicBezTo>
                            <a:pt x="48" y="0"/>
                            <a:pt x="48" y="0"/>
                            <a:pt x="48" y="0"/>
                          </a:cubicBezTo>
                          <a:cubicBezTo>
                            <a:pt x="48" y="0"/>
                            <a:pt x="48" y="0"/>
                            <a:pt x="48" y="1"/>
                          </a:cubicBezTo>
                          <a:cubicBezTo>
                            <a:pt x="48" y="1"/>
                            <a:pt x="48" y="2"/>
                            <a:pt x="48" y="2"/>
                          </a:cubicBez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grpSp>
            </p:grpSp>
          </p:grpSp>
          <p:grpSp>
            <p:nvGrpSpPr>
              <p:cNvPr id="654" name="Group 653">
                <a:extLst>
                  <a:ext uri="{FF2B5EF4-FFF2-40B4-BE49-F238E27FC236}">
                    <a16:creationId xmlns:a16="http://schemas.microsoft.com/office/drawing/2014/main" id="{94523DAD-F0F8-9F4F-A4DC-899E8FDD9A98}"/>
                  </a:ext>
                </a:extLst>
              </p:cNvPr>
              <p:cNvGrpSpPr/>
              <p:nvPr/>
            </p:nvGrpSpPr>
            <p:grpSpPr>
              <a:xfrm>
                <a:off x="3355435" y="4125493"/>
                <a:ext cx="531631" cy="537017"/>
                <a:chOff x="8461262" y="3656218"/>
                <a:chExt cx="1008000" cy="1008000"/>
              </a:xfrm>
            </p:grpSpPr>
            <p:sp>
              <p:nvSpPr>
                <p:cNvPr id="655" name="Oval 654">
                  <a:extLst>
                    <a:ext uri="{FF2B5EF4-FFF2-40B4-BE49-F238E27FC236}">
                      <a16:creationId xmlns:a16="http://schemas.microsoft.com/office/drawing/2014/main" id="{34527A8B-74AF-416F-E7EE-AAD4358BFBAB}"/>
                    </a:ext>
                  </a:extLst>
                </p:cNvPr>
                <p:cNvSpPr/>
                <p:nvPr/>
              </p:nvSpPr>
              <p:spPr>
                <a:xfrm>
                  <a:off x="8461262" y="3656218"/>
                  <a:ext cx="1008000" cy="1008000"/>
                </a:xfrm>
                <a:prstGeom prst="ellipse">
                  <a:avLst/>
                </a:prstGeom>
                <a:solidFill>
                  <a:srgbClr val="0070AD"/>
                </a:solidFill>
                <a:ln w="63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mj-lt"/>
                    <a:ea typeface="+mn-ea"/>
                    <a:cs typeface="+mn-cs"/>
                  </a:endParaRPr>
                </a:p>
              </p:txBody>
            </p:sp>
            <p:grpSp>
              <p:nvGrpSpPr>
                <p:cNvPr id="656" name="Groupe 744">
                  <a:extLst>
                    <a:ext uri="{FF2B5EF4-FFF2-40B4-BE49-F238E27FC236}">
                      <a16:creationId xmlns:a16="http://schemas.microsoft.com/office/drawing/2014/main" id="{9AE89E94-3996-1E50-3528-B944819CA800}"/>
                    </a:ext>
                  </a:extLst>
                </p:cNvPr>
                <p:cNvGrpSpPr>
                  <a:grpSpLocks noChangeAspect="1"/>
                </p:cNvGrpSpPr>
                <p:nvPr/>
              </p:nvGrpSpPr>
              <p:grpSpPr>
                <a:xfrm>
                  <a:off x="8576538" y="3795837"/>
                  <a:ext cx="769901" cy="720000"/>
                  <a:chOff x="3198813" y="241300"/>
                  <a:chExt cx="1028700" cy="962025"/>
                </a:xfrm>
              </p:grpSpPr>
              <p:sp>
                <p:nvSpPr>
                  <p:cNvPr id="657" name="Freeform 324">
                    <a:extLst>
                      <a:ext uri="{FF2B5EF4-FFF2-40B4-BE49-F238E27FC236}">
                        <a16:creationId xmlns:a16="http://schemas.microsoft.com/office/drawing/2014/main" id="{FAE8E59A-36D1-5CB0-08AC-240341786D70}"/>
                      </a:ext>
                    </a:extLst>
                  </p:cNvPr>
                  <p:cNvSpPr>
                    <a:spLocks/>
                  </p:cNvSpPr>
                  <p:nvPr/>
                </p:nvSpPr>
                <p:spPr bwMode="auto">
                  <a:xfrm>
                    <a:off x="3198813" y="241300"/>
                    <a:ext cx="1028700" cy="962025"/>
                  </a:xfrm>
                  <a:custGeom>
                    <a:avLst/>
                    <a:gdLst>
                      <a:gd name="T0" fmla="*/ 40 w 274"/>
                      <a:gd name="T1" fmla="*/ 201 h 256"/>
                      <a:gd name="T2" fmla="*/ 66 w 274"/>
                      <a:gd name="T3" fmla="*/ 38 h 256"/>
                      <a:gd name="T4" fmla="*/ 235 w 274"/>
                      <a:gd name="T5" fmla="*/ 62 h 256"/>
                      <a:gd name="T6" fmla="*/ 204 w 274"/>
                      <a:gd name="T7" fmla="*/ 218 h 256"/>
                      <a:gd name="T8" fmla="*/ 40 w 274"/>
                      <a:gd name="T9" fmla="*/ 201 h 256"/>
                    </a:gdLst>
                    <a:ahLst/>
                    <a:cxnLst>
                      <a:cxn ang="0">
                        <a:pos x="T0" y="T1"/>
                      </a:cxn>
                      <a:cxn ang="0">
                        <a:pos x="T2" y="T3"/>
                      </a:cxn>
                      <a:cxn ang="0">
                        <a:pos x="T4" y="T5"/>
                      </a:cxn>
                      <a:cxn ang="0">
                        <a:pos x="T6" y="T7"/>
                      </a:cxn>
                      <a:cxn ang="0">
                        <a:pos x="T8" y="T9"/>
                      </a:cxn>
                    </a:cxnLst>
                    <a:rect l="0" t="0" r="r" b="b"/>
                    <a:pathLst>
                      <a:path w="274" h="256">
                        <a:moveTo>
                          <a:pt x="40" y="201"/>
                        </a:moveTo>
                        <a:cubicBezTo>
                          <a:pt x="0" y="149"/>
                          <a:pt x="12" y="77"/>
                          <a:pt x="66" y="38"/>
                        </a:cubicBezTo>
                        <a:cubicBezTo>
                          <a:pt x="120" y="0"/>
                          <a:pt x="195" y="10"/>
                          <a:pt x="235" y="62"/>
                        </a:cubicBezTo>
                        <a:cubicBezTo>
                          <a:pt x="274" y="114"/>
                          <a:pt x="258" y="180"/>
                          <a:pt x="204" y="218"/>
                        </a:cubicBezTo>
                        <a:cubicBezTo>
                          <a:pt x="150" y="256"/>
                          <a:pt x="79" y="252"/>
                          <a:pt x="40" y="201"/>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grpSp>
                <p:nvGrpSpPr>
                  <p:cNvPr id="658" name="Groupe 746">
                    <a:extLst>
                      <a:ext uri="{FF2B5EF4-FFF2-40B4-BE49-F238E27FC236}">
                        <a16:creationId xmlns:a16="http://schemas.microsoft.com/office/drawing/2014/main" id="{0C139AE5-E5AC-A6DD-6A47-0D89BD1F05D3}"/>
                      </a:ext>
                    </a:extLst>
                  </p:cNvPr>
                  <p:cNvGrpSpPr/>
                  <p:nvPr/>
                </p:nvGrpSpPr>
                <p:grpSpPr>
                  <a:xfrm>
                    <a:off x="3484563" y="500062"/>
                    <a:ext cx="454025" cy="455613"/>
                    <a:chOff x="3484563" y="500062"/>
                    <a:chExt cx="454025" cy="455613"/>
                  </a:xfrm>
                </p:grpSpPr>
                <p:sp>
                  <p:nvSpPr>
                    <p:cNvPr id="659" name="Freeform 325">
                      <a:extLst>
                        <a:ext uri="{FF2B5EF4-FFF2-40B4-BE49-F238E27FC236}">
                          <a16:creationId xmlns:a16="http://schemas.microsoft.com/office/drawing/2014/main" id="{F09265A9-F0B9-A8FD-2ED9-C8297EB3919A}"/>
                        </a:ext>
                      </a:extLst>
                    </p:cNvPr>
                    <p:cNvSpPr>
                      <a:spLocks/>
                    </p:cNvSpPr>
                    <p:nvPr/>
                  </p:nvSpPr>
                  <p:spPr bwMode="auto">
                    <a:xfrm>
                      <a:off x="3592513" y="500062"/>
                      <a:ext cx="225425" cy="309563"/>
                    </a:xfrm>
                    <a:custGeom>
                      <a:avLst/>
                      <a:gdLst>
                        <a:gd name="T0" fmla="*/ 30 w 60"/>
                        <a:gd name="T1" fmla="*/ 82 h 82"/>
                        <a:gd name="T2" fmla="*/ 60 w 60"/>
                        <a:gd name="T3" fmla="*/ 47 h 82"/>
                        <a:gd name="T4" fmla="*/ 42 w 60"/>
                        <a:gd name="T5" fmla="*/ 47 h 82"/>
                        <a:gd name="T6" fmla="*/ 49 w 60"/>
                        <a:gd name="T7" fmla="*/ 0 h 82"/>
                        <a:gd name="T8" fmla="*/ 7 w 60"/>
                        <a:gd name="T9" fmla="*/ 0 h 82"/>
                        <a:gd name="T10" fmla="*/ 19 w 60"/>
                        <a:gd name="T11" fmla="*/ 46 h 82"/>
                        <a:gd name="T12" fmla="*/ 0 w 60"/>
                        <a:gd name="T13" fmla="*/ 46 h 82"/>
                        <a:gd name="T14" fmla="*/ 30 w 60"/>
                        <a:gd name="T15" fmla="*/ 82 h 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82">
                          <a:moveTo>
                            <a:pt x="30" y="82"/>
                          </a:moveTo>
                          <a:cubicBezTo>
                            <a:pt x="56" y="52"/>
                            <a:pt x="60" y="47"/>
                            <a:pt x="60" y="47"/>
                          </a:cubicBezTo>
                          <a:cubicBezTo>
                            <a:pt x="42" y="47"/>
                            <a:pt x="42" y="47"/>
                            <a:pt x="42" y="47"/>
                          </a:cubicBezTo>
                          <a:cubicBezTo>
                            <a:pt x="46" y="11"/>
                            <a:pt x="49" y="0"/>
                            <a:pt x="49" y="0"/>
                          </a:cubicBezTo>
                          <a:cubicBezTo>
                            <a:pt x="23" y="13"/>
                            <a:pt x="7" y="0"/>
                            <a:pt x="7" y="0"/>
                          </a:cubicBezTo>
                          <a:cubicBezTo>
                            <a:pt x="16" y="30"/>
                            <a:pt x="19" y="46"/>
                            <a:pt x="19" y="46"/>
                          </a:cubicBezTo>
                          <a:cubicBezTo>
                            <a:pt x="0" y="46"/>
                            <a:pt x="0" y="46"/>
                            <a:pt x="0" y="46"/>
                          </a:cubicBezTo>
                          <a:lnTo>
                            <a:pt x="30" y="82"/>
                          </a:lnTo>
                          <a:close/>
                        </a:path>
                      </a:pathLst>
                    </a:custGeom>
                    <a:solidFill>
                      <a:srgbClr val="A5C5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sp>
                  <p:nvSpPr>
                    <p:cNvPr id="660" name="Freeform 326">
                      <a:extLst>
                        <a:ext uri="{FF2B5EF4-FFF2-40B4-BE49-F238E27FC236}">
                          <a16:creationId xmlns:a16="http://schemas.microsoft.com/office/drawing/2014/main" id="{9022F89C-A29E-B92F-D7E4-43895451A915}"/>
                        </a:ext>
                      </a:extLst>
                    </p:cNvPr>
                    <p:cNvSpPr>
                      <a:spLocks/>
                    </p:cNvSpPr>
                    <p:nvPr/>
                  </p:nvSpPr>
                  <p:spPr bwMode="auto">
                    <a:xfrm>
                      <a:off x="3484563" y="801687"/>
                      <a:ext cx="454025" cy="153988"/>
                    </a:xfrm>
                    <a:custGeom>
                      <a:avLst/>
                      <a:gdLst>
                        <a:gd name="T0" fmla="*/ 115 w 121"/>
                        <a:gd name="T1" fmla="*/ 0 h 41"/>
                        <a:gd name="T2" fmla="*/ 100 w 121"/>
                        <a:gd name="T3" fmla="*/ 0 h 41"/>
                        <a:gd name="T4" fmla="*/ 100 w 121"/>
                        <a:gd name="T5" fmla="*/ 23 h 41"/>
                        <a:gd name="T6" fmla="*/ 20 w 121"/>
                        <a:gd name="T7" fmla="*/ 23 h 41"/>
                        <a:gd name="T8" fmla="*/ 20 w 121"/>
                        <a:gd name="T9" fmla="*/ 0 h 41"/>
                        <a:gd name="T10" fmla="*/ 6 w 121"/>
                        <a:gd name="T11" fmla="*/ 0 h 41"/>
                        <a:gd name="T12" fmla="*/ 0 w 121"/>
                        <a:gd name="T13" fmla="*/ 0 h 41"/>
                        <a:gd name="T14" fmla="*/ 0 w 121"/>
                        <a:gd name="T15" fmla="*/ 35 h 41"/>
                        <a:gd name="T16" fmla="*/ 6 w 121"/>
                        <a:gd name="T17" fmla="*/ 41 h 41"/>
                        <a:gd name="T18" fmla="*/ 115 w 121"/>
                        <a:gd name="T19" fmla="*/ 41 h 41"/>
                        <a:gd name="T20" fmla="*/ 121 w 121"/>
                        <a:gd name="T21" fmla="*/ 35 h 41"/>
                        <a:gd name="T22" fmla="*/ 121 w 121"/>
                        <a:gd name="T23" fmla="*/ 6 h 41"/>
                        <a:gd name="T24" fmla="*/ 115 w 121"/>
                        <a:gd name="T25"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1" h="41">
                          <a:moveTo>
                            <a:pt x="115" y="0"/>
                          </a:moveTo>
                          <a:cubicBezTo>
                            <a:pt x="100" y="0"/>
                            <a:pt x="100" y="0"/>
                            <a:pt x="100" y="0"/>
                          </a:cubicBezTo>
                          <a:cubicBezTo>
                            <a:pt x="100" y="23"/>
                            <a:pt x="100" y="23"/>
                            <a:pt x="100" y="23"/>
                          </a:cubicBezTo>
                          <a:cubicBezTo>
                            <a:pt x="20" y="23"/>
                            <a:pt x="20" y="23"/>
                            <a:pt x="20" y="23"/>
                          </a:cubicBezTo>
                          <a:cubicBezTo>
                            <a:pt x="20" y="0"/>
                            <a:pt x="20" y="0"/>
                            <a:pt x="20" y="0"/>
                          </a:cubicBezTo>
                          <a:cubicBezTo>
                            <a:pt x="6" y="0"/>
                            <a:pt x="6" y="0"/>
                            <a:pt x="6" y="0"/>
                          </a:cubicBezTo>
                          <a:cubicBezTo>
                            <a:pt x="0" y="0"/>
                            <a:pt x="0" y="0"/>
                            <a:pt x="0" y="0"/>
                          </a:cubicBezTo>
                          <a:cubicBezTo>
                            <a:pt x="0" y="35"/>
                            <a:pt x="0" y="35"/>
                            <a:pt x="0" y="35"/>
                          </a:cubicBezTo>
                          <a:cubicBezTo>
                            <a:pt x="0" y="38"/>
                            <a:pt x="2" y="41"/>
                            <a:pt x="6" y="41"/>
                          </a:cubicBezTo>
                          <a:cubicBezTo>
                            <a:pt x="115" y="41"/>
                            <a:pt x="115" y="41"/>
                            <a:pt x="115" y="41"/>
                          </a:cubicBezTo>
                          <a:cubicBezTo>
                            <a:pt x="118" y="41"/>
                            <a:pt x="121" y="38"/>
                            <a:pt x="121" y="35"/>
                          </a:cubicBezTo>
                          <a:cubicBezTo>
                            <a:pt x="121" y="6"/>
                            <a:pt x="121" y="6"/>
                            <a:pt x="121" y="6"/>
                          </a:cubicBezTo>
                          <a:cubicBezTo>
                            <a:pt x="121" y="3"/>
                            <a:pt x="118" y="0"/>
                            <a:pt x="115" y="0"/>
                          </a:cubicBezTo>
                          <a:close/>
                        </a:path>
                      </a:pathLst>
                    </a:custGeom>
                    <a:solidFill>
                      <a:srgbClr val="0584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black"/>
                        </a:solidFill>
                        <a:effectLst/>
                        <a:uLnTx/>
                        <a:uFillTx/>
                        <a:latin typeface="+mj-lt"/>
                      </a:endParaRPr>
                    </a:p>
                  </p:txBody>
                </p:sp>
              </p:grpSp>
            </p:grpSp>
          </p:grpSp>
        </p:grpSp>
      </p:grpSp>
      <p:sp>
        <p:nvSpPr>
          <p:cNvPr id="753" name="Rounded Rectangle 206">
            <a:extLst>
              <a:ext uri="{FF2B5EF4-FFF2-40B4-BE49-F238E27FC236}">
                <a16:creationId xmlns:a16="http://schemas.microsoft.com/office/drawing/2014/main" id="{E5E33B7A-E4A6-2396-850F-BCBAF1CFC33E}"/>
              </a:ext>
            </a:extLst>
          </p:cNvPr>
          <p:cNvSpPr/>
          <p:nvPr/>
        </p:nvSpPr>
        <p:spPr>
          <a:xfrm flipH="1">
            <a:off x="10729579" y="4216479"/>
            <a:ext cx="1448435" cy="1436285"/>
          </a:xfrm>
          <a:prstGeom prst="rightArrow">
            <a:avLst>
              <a:gd name="adj1" fmla="val 61865"/>
              <a:gd name="adj2" fmla="val 28802"/>
            </a:avLst>
          </a:prstGeom>
          <a:solidFill>
            <a:sysClr val="windowText" lastClr="000000"/>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algn="ctr" defTabSz="609585">
              <a:spcAft>
                <a:spcPts val="1200"/>
              </a:spcAft>
              <a:buClr>
                <a:srgbClr val="0070AD"/>
              </a:buClr>
            </a:pPr>
            <a:r>
              <a:rPr lang="en-US" sz="900" b="1" kern="0">
                <a:solidFill>
                  <a:srgbClr val="0F878A">
                    <a:lumMod val="60000"/>
                    <a:lumOff val="40000"/>
                  </a:srgbClr>
                </a:solidFill>
                <a:latin typeface="+mj-lt"/>
              </a:rPr>
              <a:t>A “Data Governance” strategy is the first step of the Data Integration journey</a:t>
            </a:r>
          </a:p>
        </p:txBody>
      </p:sp>
      <p:grpSp>
        <p:nvGrpSpPr>
          <p:cNvPr id="778" name="Group 777">
            <a:extLst>
              <a:ext uri="{FF2B5EF4-FFF2-40B4-BE49-F238E27FC236}">
                <a16:creationId xmlns:a16="http://schemas.microsoft.com/office/drawing/2014/main" id="{469D3BE8-2C63-445A-34AC-BA6B94B4AAEB}"/>
              </a:ext>
            </a:extLst>
          </p:cNvPr>
          <p:cNvGrpSpPr/>
          <p:nvPr/>
        </p:nvGrpSpPr>
        <p:grpSpPr>
          <a:xfrm>
            <a:off x="-141343" y="1329583"/>
            <a:ext cx="5236971" cy="5332932"/>
            <a:chOff x="306747" y="1353403"/>
            <a:chExt cx="3626248" cy="5332932"/>
          </a:xfrm>
        </p:grpSpPr>
        <p:sp>
          <p:nvSpPr>
            <p:cNvPr id="779" name="Content Placeholder 4">
              <a:extLst>
                <a:ext uri="{FF2B5EF4-FFF2-40B4-BE49-F238E27FC236}">
                  <a16:creationId xmlns:a16="http://schemas.microsoft.com/office/drawing/2014/main" id="{2CC458B3-8862-1AF8-4AE9-EAA8318C6D3C}"/>
                </a:ext>
              </a:extLst>
            </p:cNvPr>
            <p:cNvSpPr txBox="1">
              <a:spLocks/>
            </p:cNvSpPr>
            <p:nvPr/>
          </p:nvSpPr>
          <p:spPr>
            <a:xfrm>
              <a:off x="306747" y="1729367"/>
              <a:ext cx="3585029" cy="4802379"/>
            </a:xfrm>
            <a:prstGeom prst="rect">
              <a:avLst/>
            </a:prstGeom>
            <a:solidFill>
              <a:srgbClr val="FFFFFF">
                <a:alpha val="8000"/>
              </a:srgbClr>
            </a:solidFill>
          </p:spPr>
          <p:txBody>
            <a:bodyPr vert="horz" lIns="182880" tIns="108000" rIns="72000" bIns="182880" rtlCol="0" anchor="t"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accent2"/>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121917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mj-lt"/>
                <a:ea typeface="+mn-ea"/>
                <a:cs typeface="Arial" panose="020B0604020202020204" pitchFamily="34" charset="0"/>
              </a:endParaRPr>
            </a:p>
          </p:txBody>
        </p:sp>
        <p:sp>
          <p:nvSpPr>
            <p:cNvPr id="780" name="Rectangle 779">
              <a:extLst>
                <a:ext uri="{FF2B5EF4-FFF2-40B4-BE49-F238E27FC236}">
                  <a16:creationId xmlns:a16="http://schemas.microsoft.com/office/drawing/2014/main" id="{71351BA3-470B-3D53-C4E6-48414D26E1B1}"/>
                </a:ext>
              </a:extLst>
            </p:cNvPr>
            <p:cNvSpPr/>
            <p:nvPr/>
          </p:nvSpPr>
          <p:spPr>
            <a:xfrm>
              <a:off x="306748" y="1677433"/>
              <a:ext cx="3626247" cy="2057172"/>
            </a:xfrm>
            <a:prstGeom prst="rect">
              <a:avLst/>
            </a:prstGeom>
            <a:noFill/>
            <a:ln w="12700" cap="flat" cmpd="sng" algn="ctr">
              <a:noFill/>
              <a:prstDash val="solid"/>
              <a:miter lim="800000"/>
            </a:ln>
            <a:effectLst/>
          </p:spPr>
          <p:txBody>
            <a:bodyPr lIns="182880" tIns="72000" rtlCol="0" anchor="t" anchorCtr="0"/>
            <a:lstStyle/>
            <a:p>
              <a:pPr marL="342900" marR="0" lvl="0" indent="-342900" defTabSz="914400" eaLnBrk="1" fontAlgn="auto" latinLnBrk="0" hangingPunct="1">
                <a:lnSpc>
                  <a:spcPct val="100000"/>
                </a:lnSpc>
                <a:spcBef>
                  <a:spcPts val="0"/>
                </a:spcBef>
                <a:spcAft>
                  <a:spcPts val="600"/>
                </a:spcAft>
                <a:buClr>
                  <a:srgbClr val="15B9BD"/>
                </a:buClr>
                <a:buSzTx/>
                <a:buFont typeface="Arial" panose="020B0604020202020204" pitchFamily="34" charset="0"/>
                <a:buChar char="•"/>
                <a:tabLst/>
                <a:defRPr/>
              </a:pPr>
              <a:r>
                <a:rPr kumimoji="0" lang="en-US" sz="1200" b="0" i="0" u="none" strike="noStrike" kern="0" cap="none" spc="0" normalizeH="0" baseline="0" noProof="0" dirty="0">
                  <a:ln>
                    <a:noFill/>
                  </a:ln>
                  <a:effectLst/>
                  <a:uLnTx/>
                  <a:uFillTx/>
                  <a:latin typeface="+mj-lt"/>
                </a:rPr>
                <a:t>Putting appropriately valorized and certified "enterprise data" increasingly "at the center" of core processes, creating a transition information “glue” between the 2 IT </a:t>
              </a:r>
              <a:r>
                <a:rPr lang="en-US" sz="1200" kern="0" dirty="0">
                  <a:latin typeface="+mj-lt"/>
                </a:rPr>
                <a:t>stacks to grant business continuity while rationalizations and enhancement are happening and to valorize the heritage of the two companies.</a:t>
              </a:r>
              <a:endParaRPr kumimoji="0" lang="en-US" sz="1600" b="0" i="0" u="none" strike="noStrike" kern="0" cap="none" spc="0" normalizeH="0" baseline="0" noProof="0" dirty="0">
                <a:ln>
                  <a:noFill/>
                </a:ln>
                <a:effectLst/>
                <a:uLnTx/>
                <a:uFillTx/>
                <a:latin typeface="+mj-lt"/>
              </a:endParaRPr>
            </a:p>
          </p:txBody>
        </p:sp>
        <p:sp>
          <p:nvSpPr>
            <p:cNvPr id="781" name="Rectangle 780">
              <a:extLst>
                <a:ext uri="{FF2B5EF4-FFF2-40B4-BE49-F238E27FC236}">
                  <a16:creationId xmlns:a16="http://schemas.microsoft.com/office/drawing/2014/main" id="{9552A4DC-697A-ED5A-46BE-21617E65AEAA}"/>
                </a:ext>
              </a:extLst>
            </p:cNvPr>
            <p:cNvSpPr/>
            <p:nvPr/>
          </p:nvSpPr>
          <p:spPr>
            <a:xfrm>
              <a:off x="466658" y="1353403"/>
              <a:ext cx="3379300" cy="342445"/>
            </a:xfrm>
            <a:prstGeom prst="rect">
              <a:avLst/>
            </a:prstGeom>
            <a:solidFill>
              <a:sysClr val="windowText" lastClr="000000"/>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marL="0" marR="0" lvl="0" indent="0" algn="ctr" defTabSz="609585" eaLnBrk="1" fontAlgn="auto" latinLnBrk="0" hangingPunct="1">
                <a:lnSpc>
                  <a:spcPct val="100000"/>
                </a:lnSpc>
                <a:spcBef>
                  <a:spcPts val="0"/>
                </a:spcBef>
                <a:spcAft>
                  <a:spcPts val="1200"/>
                </a:spcAft>
                <a:buClr>
                  <a:srgbClr val="0070AD"/>
                </a:buClr>
                <a:buSzTx/>
                <a:buFontTx/>
                <a:buNone/>
                <a:tabLst/>
                <a:defRPr/>
              </a:pPr>
              <a:r>
                <a:rPr kumimoji="0" lang="en-US" sz="1400" b="1" i="0" u="none" strike="noStrike" kern="0" cap="none" spc="0" normalizeH="0" baseline="0">
                  <a:ln>
                    <a:noFill/>
                  </a:ln>
                  <a:solidFill>
                    <a:srgbClr val="0F878A">
                      <a:lumMod val="60000"/>
                      <a:lumOff val="40000"/>
                    </a:srgbClr>
                  </a:solidFill>
                  <a:effectLst/>
                  <a:uLnTx/>
                  <a:uFillTx/>
                  <a:latin typeface="+mj-lt"/>
                  <a:ea typeface="+mn-ea"/>
                  <a:cs typeface="+mn-cs"/>
                </a:rPr>
                <a:t>Immediate benefits starting the Transition</a:t>
              </a:r>
            </a:p>
          </p:txBody>
        </p:sp>
        <p:sp>
          <p:nvSpPr>
            <p:cNvPr id="782" name="Rectangle 781">
              <a:extLst>
                <a:ext uri="{FF2B5EF4-FFF2-40B4-BE49-F238E27FC236}">
                  <a16:creationId xmlns:a16="http://schemas.microsoft.com/office/drawing/2014/main" id="{7903A9ED-AE81-BB1E-766D-72884F7E527D}"/>
                </a:ext>
              </a:extLst>
            </p:cNvPr>
            <p:cNvSpPr/>
            <p:nvPr/>
          </p:nvSpPr>
          <p:spPr>
            <a:xfrm>
              <a:off x="466657" y="2735924"/>
              <a:ext cx="3379302" cy="342445"/>
            </a:xfrm>
            <a:prstGeom prst="rect">
              <a:avLst/>
            </a:prstGeom>
            <a:solidFill>
              <a:sysClr val="windowText" lastClr="000000"/>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marL="0" marR="0" lvl="0" indent="0" algn="ctr" defTabSz="609585" eaLnBrk="1" fontAlgn="auto" latinLnBrk="0" hangingPunct="1">
                <a:lnSpc>
                  <a:spcPct val="100000"/>
                </a:lnSpc>
                <a:spcBef>
                  <a:spcPts val="0"/>
                </a:spcBef>
                <a:spcAft>
                  <a:spcPts val="1200"/>
                </a:spcAft>
                <a:buClr>
                  <a:srgbClr val="0070AD"/>
                </a:buClr>
                <a:buSzTx/>
                <a:buFontTx/>
                <a:buNone/>
                <a:tabLst/>
                <a:defRPr/>
              </a:pPr>
              <a:r>
                <a:rPr kumimoji="0" lang="en-US" sz="1400" b="1" i="0" u="none" strike="noStrike" kern="0" cap="none" spc="0" normalizeH="0" baseline="0" noProof="0">
                  <a:ln>
                    <a:noFill/>
                  </a:ln>
                  <a:solidFill>
                    <a:srgbClr val="0F878A">
                      <a:lumMod val="60000"/>
                      <a:lumOff val="40000"/>
                    </a:srgbClr>
                  </a:solidFill>
                  <a:effectLst/>
                  <a:uLnTx/>
                  <a:uFillTx/>
                  <a:latin typeface="+mj-lt"/>
                  <a:ea typeface="+mn-ea"/>
                  <a:cs typeface="+mn-cs"/>
                </a:rPr>
                <a:t>How we can help</a:t>
              </a:r>
            </a:p>
          </p:txBody>
        </p:sp>
        <p:sp>
          <p:nvSpPr>
            <p:cNvPr id="783" name="Rectangle 782">
              <a:extLst>
                <a:ext uri="{FF2B5EF4-FFF2-40B4-BE49-F238E27FC236}">
                  <a16:creationId xmlns:a16="http://schemas.microsoft.com/office/drawing/2014/main" id="{C54E7B0B-216A-FA5C-D4FB-DC60C61CF7D1}"/>
                </a:ext>
              </a:extLst>
            </p:cNvPr>
            <p:cNvSpPr/>
            <p:nvPr/>
          </p:nvSpPr>
          <p:spPr>
            <a:xfrm>
              <a:off x="384366" y="3120505"/>
              <a:ext cx="3461594" cy="3565830"/>
            </a:xfrm>
            <a:prstGeom prst="rect">
              <a:avLst/>
            </a:prstGeom>
            <a:noFill/>
            <a:ln w="12700" cap="flat" cmpd="sng" algn="ctr">
              <a:noFill/>
              <a:prstDash val="solid"/>
              <a:miter lim="800000"/>
            </a:ln>
            <a:effectLst/>
          </p:spPr>
          <p:txBody>
            <a:bodyPr lIns="182880" tIns="72000" rtlCol="0" anchor="t" anchorCtr="0"/>
            <a:lstStyle/>
            <a:p>
              <a:pPr marL="342900" marR="0" lvl="0" indent="-168275" defTabSz="914400" eaLnBrk="1" fontAlgn="auto" latinLnBrk="0" hangingPunct="1">
                <a:lnSpc>
                  <a:spcPct val="100000"/>
                </a:lnSpc>
                <a:spcBef>
                  <a:spcPts val="0"/>
                </a:spcBef>
                <a:spcAft>
                  <a:spcPts val="400"/>
                </a:spcAft>
                <a:buClr>
                  <a:srgbClr val="15B9BD"/>
                </a:buClr>
                <a:buSzTx/>
                <a:buFont typeface="+mj-lt"/>
                <a:buAutoNum type="arabicPeriod"/>
                <a:tabLst/>
                <a:defRPr/>
              </a:pPr>
              <a:r>
                <a:rPr kumimoji="0" lang="en-US" sz="1200" b="0" i="0" u="none" strike="noStrike" kern="0" cap="none" spc="0" normalizeH="0" baseline="0" noProof="0" dirty="0">
                  <a:ln>
                    <a:noFill/>
                  </a:ln>
                  <a:effectLst/>
                  <a:uLnTx/>
                  <a:uFillTx/>
                  <a:latin typeface="+mj-lt"/>
                </a:rPr>
                <a:t>Analyze how to rationalize enterprise-wide data starting from the customer data </a:t>
              </a:r>
              <a:r>
                <a:rPr lang="en-US" sz="1200" kern="0" dirty="0">
                  <a:latin typeface="+mj-lt"/>
                </a:rPr>
                <a:t>and the financial data</a:t>
              </a:r>
            </a:p>
            <a:p>
              <a:pPr marL="342900" indent="-168275">
                <a:spcAft>
                  <a:spcPts val="400"/>
                </a:spcAft>
                <a:buClr>
                  <a:srgbClr val="15B9BD"/>
                </a:buClr>
                <a:buFont typeface="+mj-lt"/>
                <a:buAutoNum type="arabicPeriod"/>
                <a:defRPr/>
              </a:pPr>
              <a:r>
                <a:rPr kumimoji="0" lang="en-US" sz="1200" b="0" i="0" u="none" strike="noStrike" kern="0" cap="none" spc="0" normalizeH="0" baseline="0" noProof="0" dirty="0">
                  <a:ln>
                    <a:noFill/>
                  </a:ln>
                  <a:effectLst/>
                  <a:uLnTx/>
                  <a:uFillTx/>
                  <a:latin typeface="+mj-lt"/>
                </a:rPr>
                <a:t>Leverage Data Virtualization technologies (part of our Modern Data Platform portfolio) to </a:t>
              </a:r>
              <a:r>
                <a:rPr lang="en-US" sz="1200" kern="0" dirty="0">
                  <a:latin typeface="+mj-lt"/>
                </a:rPr>
                <a:t>decouple data fruition from current stacks organization </a:t>
              </a:r>
              <a:endParaRPr kumimoji="0" lang="en-US" sz="1200" b="0" i="0" u="none" strike="noStrike" kern="0" cap="none" spc="0" normalizeH="0" baseline="0" noProof="0" dirty="0">
                <a:ln>
                  <a:noFill/>
                </a:ln>
                <a:effectLst/>
                <a:uLnTx/>
                <a:uFillTx/>
                <a:latin typeface="+mj-lt"/>
              </a:endParaRPr>
            </a:p>
            <a:p>
              <a:pPr marL="342900" marR="0" lvl="0" indent="-168275" defTabSz="914400" eaLnBrk="1" fontAlgn="auto" latinLnBrk="0" hangingPunct="1">
                <a:lnSpc>
                  <a:spcPct val="100000"/>
                </a:lnSpc>
                <a:spcBef>
                  <a:spcPts val="0"/>
                </a:spcBef>
                <a:spcAft>
                  <a:spcPts val="400"/>
                </a:spcAft>
                <a:buClr>
                  <a:srgbClr val="15B9BD"/>
                </a:buClr>
                <a:buSzTx/>
                <a:buFont typeface="+mj-lt"/>
                <a:buAutoNum type="arabicPeriod"/>
                <a:tabLst/>
                <a:defRPr/>
              </a:pPr>
              <a:r>
                <a:rPr kumimoji="0" lang="en-US" sz="1200" b="0" i="0" u="none" strike="noStrike" kern="0" cap="none" spc="0" normalizeH="0" baseline="0" noProof="0" dirty="0">
                  <a:ln>
                    <a:noFill/>
                  </a:ln>
                  <a:effectLst/>
                  <a:uLnTx/>
                  <a:uFillTx/>
                  <a:latin typeface="+mj-lt"/>
                </a:rPr>
                <a:t>Modernize legacy DWHs towards "cloud native" and "actionable" Data Analytics Platforms enhancing data availability and quality</a:t>
              </a:r>
            </a:p>
            <a:p>
              <a:pPr marL="342900" marR="0" lvl="0" indent="-168275" defTabSz="914400" eaLnBrk="1" fontAlgn="auto" latinLnBrk="0" hangingPunct="1">
                <a:lnSpc>
                  <a:spcPct val="100000"/>
                </a:lnSpc>
                <a:spcBef>
                  <a:spcPts val="0"/>
                </a:spcBef>
                <a:spcAft>
                  <a:spcPts val="400"/>
                </a:spcAft>
                <a:buClr>
                  <a:srgbClr val="15B9BD"/>
                </a:buClr>
                <a:buSzTx/>
                <a:buFont typeface="+mj-lt"/>
                <a:buAutoNum type="arabicPeriod"/>
                <a:tabLst/>
                <a:defRPr/>
              </a:pPr>
              <a:r>
                <a:rPr kumimoji="0" lang="en-US" sz="1200" b="0" i="0" u="none" strike="noStrike" kern="0" cap="none" spc="0" normalizeH="0" baseline="0" noProof="0" dirty="0">
                  <a:ln>
                    <a:noFill/>
                  </a:ln>
                  <a:effectLst/>
                  <a:uLnTx/>
                  <a:uFillTx/>
                  <a:latin typeface="+mj-lt"/>
                </a:rPr>
                <a:t>Evolve a combined Data Platform + corporate Data Governance model in line with the Business needs and eventually changing organization model </a:t>
              </a:r>
            </a:p>
            <a:p>
              <a:pPr marL="342900" lvl="0" indent="-168275">
                <a:spcAft>
                  <a:spcPts val="400"/>
                </a:spcAft>
                <a:buClr>
                  <a:srgbClr val="15B9BD"/>
                </a:buClr>
                <a:buFont typeface="+mj-lt"/>
                <a:buAutoNum type="arabicPeriod"/>
                <a:defRPr/>
              </a:pPr>
              <a:r>
                <a:rPr lang="en-US" sz="1200" kern="0" dirty="0">
                  <a:latin typeface="+mj-lt"/>
                </a:rPr>
                <a:t>Push on AI/Gen AI adoption to move from “data” to “information” and to streamline operational processes</a:t>
              </a:r>
            </a:p>
            <a:p>
              <a:pPr marL="342900" lvl="0" indent="-168275">
                <a:spcAft>
                  <a:spcPts val="400"/>
                </a:spcAft>
                <a:buClr>
                  <a:srgbClr val="15B9BD"/>
                </a:buClr>
                <a:buFont typeface="+mj-lt"/>
                <a:buAutoNum type="arabicPeriod"/>
                <a:defRPr/>
              </a:pPr>
              <a:r>
                <a:rPr kumimoji="0" lang="en-US" sz="1200" b="0" i="0" u="none" strike="noStrike" kern="0" cap="none" spc="0" normalizeH="0" baseline="0" noProof="0" dirty="0">
                  <a:ln>
                    <a:noFill/>
                  </a:ln>
                  <a:effectLst/>
                  <a:uLnTx/>
                  <a:uFillTx/>
                  <a:latin typeface="+mj-lt"/>
                </a:rPr>
                <a:t>Organize a "Data Lab" model based on an integrated community of IT, Network and Business Engineering lines from both </a:t>
              </a:r>
              <a:r>
                <a:rPr kumimoji="0" lang="en-US" sz="1200" b="0" i="0" u="none" strike="noStrike" kern="0" cap="none" spc="0" normalizeH="0" baseline="0" noProof="0" dirty="0" err="1">
                  <a:ln>
                    <a:noFill/>
                  </a:ln>
                  <a:effectLst/>
                  <a:uLnTx/>
                  <a:uFillTx/>
                  <a:latin typeface="+mj-lt"/>
                </a:rPr>
                <a:t>Fastweb</a:t>
              </a:r>
              <a:r>
                <a:rPr kumimoji="0" lang="en-US" sz="1200" b="0" i="0" u="none" strike="noStrike" kern="0" cap="none" spc="0" normalizeH="0" baseline="0" noProof="0" dirty="0">
                  <a:ln>
                    <a:noFill/>
                  </a:ln>
                  <a:effectLst/>
                  <a:uLnTx/>
                  <a:uFillTx/>
                  <a:latin typeface="+mj-lt"/>
                </a:rPr>
                <a:t> and Vodafone </a:t>
              </a:r>
              <a:r>
                <a:rPr lang="en-US" sz="1200" kern="0" dirty="0">
                  <a:latin typeface="+mj-lt"/>
                </a:rPr>
                <a:t>teams</a:t>
              </a:r>
            </a:p>
          </p:txBody>
        </p:sp>
      </p:grpSp>
      <p:sp>
        <p:nvSpPr>
          <p:cNvPr id="3" name="TextBox 2">
            <a:extLst>
              <a:ext uri="{FF2B5EF4-FFF2-40B4-BE49-F238E27FC236}">
                <a16:creationId xmlns:a16="http://schemas.microsoft.com/office/drawing/2014/main" id="{E249B47C-B0D8-A690-C292-A47452E05BBA}"/>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custDataLst>
      <p:tags r:id="rId1"/>
    </p:custDataLst>
    <p:extLst>
      <p:ext uri="{BB962C8B-B14F-4D97-AF65-F5344CB8AC3E}">
        <p14:creationId xmlns:p14="http://schemas.microsoft.com/office/powerpoint/2010/main" val="229812783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D17BC-F4D9-3B33-FC3C-67CF8F9F6EF3}"/>
            </a:ext>
          </a:extLst>
        </p:cNvPr>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FB9B7799-E7AB-A34A-478F-C385A91B3963}"/>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606" imgH="608" progId="TCLayout.ActiveDocument.1">
                  <p:embed/>
                </p:oleObj>
              </mc:Choice>
              <mc:Fallback>
                <p:oleObj name="think-cell Slide" r:id="rId6" imgW="606" imgH="608" progId="TCLayout.ActiveDocument.1">
                  <p:embed/>
                  <p:pic>
                    <p:nvPicPr>
                      <p:cNvPr id="14" name="think-cell data - do not delete" hidden="1">
                        <a:extLst>
                          <a:ext uri="{FF2B5EF4-FFF2-40B4-BE49-F238E27FC236}">
                            <a16:creationId xmlns:a16="http://schemas.microsoft.com/office/drawing/2014/main" id="{FB9B7799-E7AB-A34A-478F-C385A91B3963}"/>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7D0CADD-0702-FF34-878F-6201CA0DEC58}"/>
              </a:ext>
            </a:extLst>
          </p:cNvPr>
          <p:cNvSpPr>
            <a:spLocks noGrp="1"/>
          </p:cNvSpPr>
          <p:nvPr>
            <p:ph type="title"/>
            <p:custDataLst>
              <p:tags r:id="rId3"/>
            </p:custDataLst>
          </p:nvPr>
        </p:nvSpPr>
        <p:spPr>
          <a:xfrm>
            <a:off x="1402665" y="332656"/>
            <a:ext cx="10172240" cy="720000"/>
          </a:xfrm>
        </p:spPr>
        <p:txBody>
          <a:bodyPr vert="horz"/>
          <a:lstStyle/>
          <a:p>
            <a:r>
              <a:rPr lang="en-GB" b="1" dirty="0">
                <a:solidFill>
                  <a:schemeClr val="tx1"/>
                </a:solidFill>
              </a:rPr>
              <a:t>STREAM 6A | CLOUD, INFRASTRUCTURE &amp; CYBER SECURITY</a:t>
            </a:r>
            <a:br>
              <a:rPr lang="en-GB" b="1" dirty="0">
                <a:solidFill>
                  <a:schemeClr val="tx1"/>
                </a:solidFill>
              </a:rPr>
            </a:br>
            <a:r>
              <a:rPr lang="en-US" sz="1800" b="0" i="1" dirty="0"/>
              <a:t>We will use our Cloud Strategy Framework to develop the Infrastructure Strategy and Migration Plan</a:t>
            </a:r>
          </a:p>
        </p:txBody>
      </p:sp>
      <p:grpSp>
        <p:nvGrpSpPr>
          <p:cNvPr id="19" name="Groupe 1">
            <a:extLst>
              <a:ext uri="{FF2B5EF4-FFF2-40B4-BE49-F238E27FC236}">
                <a16:creationId xmlns:a16="http://schemas.microsoft.com/office/drawing/2014/main" id="{3B647AE9-31FA-F119-68E0-1EC3AA41B413}"/>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20" name="Freeform 13">
              <a:extLst>
                <a:ext uri="{FF2B5EF4-FFF2-40B4-BE49-F238E27FC236}">
                  <a16:creationId xmlns:a16="http://schemas.microsoft.com/office/drawing/2014/main" id="{9CF00E48-1F46-93BE-872B-50BEA9B112AD}"/>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21" name="Freeform 14">
              <a:extLst>
                <a:ext uri="{FF2B5EF4-FFF2-40B4-BE49-F238E27FC236}">
                  <a16:creationId xmlns:a16="http://schemas.microsoft.com/office/drawing/2014/main" id="{2CFC766F-EAEB-10F6-6BA0-43C2B8624151}"/>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3" name="Foliennummernplatzhalter 5">
            <a:extLst>
              <a:ext uri="{FF2B5EF4-FFF2-40B4-BE49-F238E27FC236}">
                <a16:creationId xmlns:a16="http://schemas.microsoft.com/office/drawing/2014/main" id="{38AAD2C6-4941-BF5C-BDD1-03901E485C36}"/>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18</a:t>
            </a:fld>
            <a:endParaRPr lang="en-US"/>
          </a:p>
        </p:txBody>
      </p:sp>
      <p:sp>
        <p:nvSpPr>
          <p:cNvPr id="4" name="Rectangle 27">
            <a:extLst>
              <a:ext uri="{FF2B5EF4-FFF2-40B4-BE49-F238E27FC236}">
                <a16:creationId xmlns:a16="http://schemas.microsoft.com/office/drawing/2014/main" id="{E8630991-3A52-0378-B81B-4BBEEF2DC1D8}"/>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5" name="Pentagon 193">
            <a:extLst>
              <a:ext uri="{FF2B5EF4-FFF2-40B4-BE49-F238E27FC236}">
                <a16:creationId xmlns:a16="http://schemas.microsoft.com/office/drawing/2014/main" id="{6C5D0148-0AA1-5B3B-94A3-0FBF21A806D2}"/>
              </a:ext>
            </a:extLst>
          </p:cNvPr>
          <p:cNvSpPr/>
          <p:nvPr/>
        </p:nvSpPr>
        <p:spPr bwMode="auto">
          <a:xfrm>
            <a:off x="3541693" y="2031438"/>
            <a:ext cx="8025798" cy="3999735"/>
          </a:xfrm>
          <a:prstGeom prst="homePlate">
            <a:avLst>
              <a:gd name="adj" fmla="val 10048"/>
            </a:avLst>
          </a:prstGeom>
          <a:solidFill>
            <a:srgbClr val="2B143D">
              <a:alpha val="24000"/>
            </a:srgbClr>
          </a:solidFill>
          <a:ln w="9525" cap="flat" cmpd="sng" algn="ctr">
            <a:noFill/>
            <a:prstDash val="solid"/>
          </a:ln>
          <a:effectLst/>
        </p:spPr>
        <p:txBody>
          <a:bodyPr rtlCol="0" anchor="t" anchorCtr="0"/>
          <a:lstStyle/>
          <a:p>
            <a:pPr marL="0" marR="0" lvl="0" indent="0" algn="ctr" defTabSz="914400" rtl="0" eaLnBrk="1" fontAlgn="auto" latinLnBrk="0" hangingPunct="1">
              <a:lnSpc>
                <a:spcPct val="90000"/>
              </a:lnSpc>
              <a:spcBef>
                <a:spcPts val="400"/>
              </a:spcBef>
              <a:spcAft>
                <a:spcPts val="0"/>
              </a:spcAft>
              <a:buClrTx/>
              <a:buSzTx/>
              <a:buFontTx/>
              <a:buNone/>
              <a:tabLst/>
              <a:defRPr/>
            </a:pPr>
            <a:endParaRPr kumimoji="0" lang="en-US" sz="1050" b="0" i="0" u="none" strike="noStrike" kern="0" cap="none" spc="0" normalizeH="0" baseline="0" noProof="0">
              <a:ln>
                <a:noFill/>
              </a:ln>
              <a:solidFill>
                <a:srgbClr val="000000">
                  <a:lumMod val="85000"/>
                  <a:lumOff val="15000"/>
                </a:srgbClr>
              </a:solidFill>
              <a:effectLst/>
              <a:uLnTx/>
              <a:uFillTx/>
              <a:latin typeface="+mj-lt"/>
              <a:ea typeface="+mn-ea"/>
              <a:cs typeface="+mn-cs"/>
            </a:endParaRPr>
          </a:p>
        </p:txBody>
      </p:sp>
      <p:sp>
        <p:nvSpPr>
          <p:cNvPr id="6" name="Pentagon 5">
            <a:extLst>
              <a:ext uri="{FF2B5EF4-FFF2-40B4-BE49-F238E27FC236}">
                <a16:creationId xmlns:a16="http://schemas.microsoft.com/office/drawing/2014/main" id="{8DE8FDC2-696F-B784-C599-A3F9CE0D1A42}"/>
              </a:ext>
            </a:extLst>
          </p:cNvPr>
          <p:cNvSpPr/>
          <p:nvPr/>
        </p:nvSpPr>
        <p:spPr bwMode="auto">
          <a:xfrm>
            <a:off x="2921286" y="1849947"/>
            <a:ext cx="8105845" cy="4339125"/>
          </a:xfrm>
          <a:prstGeom prst="homePlate">
            <a:avLst>
              <a:gd name="adj" fmla="val 10048"/>
            </a:avLst>
          </a:prstGeom>
          <a:solidFill>
            <a:srgbClr val="F2F2F2"/>
          </a:solidFill>
          <a:ln w="9525" cap="flat" cmpd="sng" algn="ctr">
            <a:noFill/>
            <a:prstDash val="solid"/>
          </a:ln>
          <a:effectLst/>
        </p:spPr>
        <p:txBody>
          <a:bodyPr rtlCol="0" anchor="t" anchorCtr="0"/>
          <a:lstStyle/>
          <a:p>
            <a:pPr marL="0" marR="0" lvl="0" indent="0" algn="ctr" defTabSz="914400" rtl="0" eaLnBrk="1" fontAlgn="auto" latinLnBrk="0" hangingPunct="1">
              <a:lnSpc>
                <a:spcPct val="90000"/>
              </a:lnSpc>
              <a:spcBef>
                <a:spcPts val="400"/>
              </a:spcBef>
              <a:spcAft>
                <a:spcPts val="0"/>
              </a:spcAft>
              <a:buClrTx/>
              <a:buSzTx/>
              <a:buFontTx/>
              <a:buNone/>
              <a:tabLst/>
              <a:defRPr/>
            </a:pPr>
            <a:endParaRPr kumimoji="0" lang="en-US" sz="1050" b="0" i="0" u="none" strike="noStrike" kern="0" cap="none" spc="0" normalizeH="0" baseline="0" noProof="0">
              <a:ln>
                <a:noFill/>
              </a:ln>
              <a:solidFill>
                <a:srgbClr val="000000">
                  <a:lumMod val="85000"/>
                  <a:lumOff val="15000"/>
                </a:srgbClr>
              </a:solidFill>
              <a:effectLst/>
              <a:uLnTx/>
              <a:uFillTx/>
              <a:latin typeface="+mj-lt"/>
              <a:ea typeface="+mn-ea"/>
              <a:cs typeface="+mn-cs"/>
            </a:endParaRPr>
          </a:p>
        </p:txBody>
      </p:sp>
      <p:sp>
        <p:nvSpPr>
          <p:cNvPr id="7" name="Chevron 26">
            <a:extLst>
              <a:ext uri="{FF2B5EF4-FFF2-40B4-BE49-F238E27FC236}">
                <a16:creationId xmlns:a16="http://schemas.microsoft.com/office/drawing/2014/main" id="{16BCE698-050E-32FC-E519-BE56745FBFBF}"/>
              </a:ext>
            </a:extLst>
          </p:cNvPr>
          <p:cNvSpPr/>
          <p:nvPr/>
        </p:nvSpPr>
        <p:spPr>
          <a:xfrm>
            <a:off x="10526444" y="1628800"/>
            <a:ext cx="1041047" cy="360000"/>
          </a:xfrm>
          <a:prstGeom prst="chevron">
            <a:avLst>
              <a:gd name="adj" fmla="val 30031"/>
            </a:avLst>
          </a:prstGeom>
          <a:solidFill>
            <a:srgbClr val="2B143D">
              <a:alpha val="24000"/>
            </a:srgbClr>
          </a:solidFill>
          <a:ln w="3175" cap="flat" cmpd="sng" algn="ctr">
            <a:solidFill>
              <a:srgbClr val="FFFFFF">
                <a:lumMod val="50000"/>
              </a:srgbClr>
            </a:solidFill>
            <a:prstDash val="dash"/>
          </a:ln>
          <a:effectLst/>
        </p:spPr>
        <p:txBody>
          <a:bodyPr lIns="0" tIns="0" rIns="0" bIns="0" rtlCol="0" anchor="ct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700" b="1" i="0" u="none" strike="noStrike" kern="0" cap="none" spc="0" normalizeH="0" baseline="0" noProof="0">
                <a:ln>
                  <a:noFill/>
                </a:ln>
                <a:solidFill>
                  <a:srgbClr val="FFFFFF"/>
                </a:solidFill>
                <a:effectLst/>
                <a:uLnTx/>
                <a:uFillTx/>
                <a:latin typeface="+mj-lt"/>
                <a:ea typeface="+mn-ea"/>
                <a:cs typeface="Calibri" pitchFamily="34" charset="0"/>
              </a:rPr>
              <a:t>Cloud Migration</a:t>
            </a:r>
          </a:p>
        </p:txBody>
      </p:sp>
      <p:sp>
        <p:nvSpPr>
          <p:cNvPr id="8" name="Rectangle 7">
            <a:extLst>
              <a:ext uri="{FF2B5EF4-FFF2-40B4-BE49-F238E27FC236}">
                <a16:creationId xmlns:a16="http://schemas.microsoft.com/office/drawing/2014/main" id="{6AF41C23-91D6-596F-FDED-37F5356B3BF4}"/>
              </a:ext>
            </a:extLst>
          </p:cNvPr>
          <p:cNvSpPr/>
          <p:nvPr/>
        </p:nvSpPr>
        <p:spPr bwMode="auto">
          <a:xfrm rot="16200000">
            <a:off x="-374274" y="3655723"/>
            <a:ext cx="2003130" cy="439839"/>
          </a:xfrm>
          <a:prstGeom prst="rect">
            <a:avLst/>
          </a:prstGeom>
          <a:solidFill>
            <a:srgbClr val="0070AD"/>
          </a:solidFill>
          <a:ln w="3175" cap="flat" cmpd="sng" algn="ctr">
            <a:solidFill>
              <a:srgbClr val="85888B"/>
            </a:solidFill>
            <a:prstDash val="solid"/>
          </a:ln>
          <a:effectLst/>
        </p:spPr>
        <p:txBody>
          <a:bodyPr lIns="72000" tIns="36000" rIns="72000" bIns="36000" rtlCol="0" anchor="ctr" anchorCtr="0"/>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en-US" sz="700" b="1" i="1" u="none" strike="noStrike" kern="0" cap="none" spc="0" normalizeH="0" baseline="0" noProof="0">
                <a:ln>
                  <a:noFill/>
                </a:ln>
                <a:solidFill>
                  <a:srgbClr val="FFFFFF"/>
                </a:solidFill>
                <a:effectLst/>
                <a:uLnTx/>
                <a:uFillTx/>
                <a:latin typeface="+mj-lt"/>
                <a:ea typeface="+mn-ea"/>
                <a:cs typeface="+mn-cs"/>
              </a:rPr>
              <a:t>Activities</a:t>
            </a:r>
          </a:p>
        </p:txBody>
      </p:sp>
      <p:sp>
        <p:nvSpPr>
          <p:cNvPr id="9" name="Rectangle 8">
            <a:extLst>
              <a:ext uri="{FF2B5EF4-FFF2-40B4-BE49-F238E27FC236}">
                <a16:creationId xmlns:a16="http://schemas.microsoft.com/office/drawing/2014/main" id="{B77A16BE-2EB5-B97E-3270-4E309526421C}"/>
              </a:ext>
            </a:extLst>
          </p:cNvPr>
          <p:cNvSpPr/>
          <p:nvPr/>
        </p:nvSpPr>
        <p:spPr bwMode="auto">
          <a:xfrm rot="16200000">
            <a:off x="147278" y="5325919"/>
            <a:ext cx="960020" cy="439840"/>
          </a:xfrm>
          <a:prstGeom prst="rect">
            <a:avLst/>
          </a:prstGeom>
          <a:solidFill>
            <a:srgbClr val="2B143D"/>
          </a:solidFill>
          <a:ln w="3175" cap="flat" cmpd="sng" algn="ctr">
            <a:solidFill>
              <a:srgbClr val="85888B"/>
            </a:solidFill>
            <a:prstDash val="solid"/>
          </a:ln>
          <a:effectLst/>
        </p:spPr>
        <p:txBody>
          <a:bodyPr lIns="72000" tIns="36000" rIns="72000" bIns="36000" rtlCol="0" anchor="ctr" anchorCtr="0"/>
          <a:lstStyle/>
          <a:p>
            <a:pPr marL="0" marR="0" lvl="0" indent="0" algn="ctr" defTabSz="914400" rtl="0" eaLnBrk="1" fontAlgn="auto" latinLnBrk="0" hangingPunct="1">
              <a:lnSpc>
                <a:spcPct val="90000"/>
              </a:lnSpc>
              <a:spcBef>
                <a:spcPts val="400"/>
              </a:spcBef>
              <a:spcAft>
                <a:spcPts val="0"/>
              </a:spcAft>
              <a:buClrTx/>
              <a:buSzTx/>
              <a:buFontTx/>
              <a:buNone/>
              <a:tabLst/>
              <a:defRPr/>
            </a:pPr>
            <a:r>
              <a:rPr lang="en-US" sz="700" b="1" i="1" kern="0">
                <a:solidFill>
                  <a:srgbClr val="FFFFFF"/>
                </a:solidFill>
                <a:latin typeface="+mj-lt"/>
              </a:rPr>
              <a:t>Outputs</a:t>
            </a:r>
            <a:endParaRPr kumimoji="0" lang="en-US" sz="700" b="1" i="1" u="none" strike="noStrike" kern="0" cap="none" spc="0" normalizeH="0" baseline="0" noProof="0">
              <a:ln>
                <a:noFill/>
              </a:ln>
              <a:solidFill>
                <a:srgbClr val="FFFFFF"/>
              </a:solidFill>
              <a:effectLst/>
              <a:uLnTx/>
              <a:uFillTx/>
              <a:latin typeface="+mj-lt"/>
              <a:ea typeface="+mn-ea"/>
              <a:cs typeface="+mn-cs"/>
            </a:endParaRPr>
          </a:p>
        </p:txBody>
      </p:sp>
      <p:sp>
        <p:nvSpPr>
          <p:cNvPr id="10" name="Chevron 21">
            <a:extLst>
              <a:ext uri="{FF2B5EF4-FFF2-40B4-BE49-F238E27FC236}">
                <a16:creationId xmlns:a16="http://schemas.microsoft.com/office/drawing/2014/main" id="{EAA3D38D-2B49-F7E4-CD44-5B2E06CBF8CF}"/>
              </a:ext>
            </a:extLst>
          </p:cNvPr>
          <p:cNvSpPr/>
          <p:nvPr/>
        </p:nvSpPr>
        <p:spPr>
          <a:xfrm>
            <a:off x="967557" y="1624652"/>
            <a:ext cx="2283569" cy="360000"/>
          </a:xfrm>
          <a:prstGeom prst="chevron">
            <a:avLst>
              <a:gd name="adj" fmla="val 32694"/>
            </a:avLst>
          </a:prstGeom>
          <a:solidFill>
            <a:srgbClr val="2B143D"/>
          </a:solidFill>
          <a:ln w="3175" cap="flat" cmpd="sng" algn="ctr">
            <a:solidFill>
              <a:srgbClr val="6E0038"/>
            </a:solidFill>
            <a:prstDash val="solid"/>
          </a:ln>
          <a:effectLst/>
        </p:spPr>
        <p:txBody>
          <a:bodyPr lIns="36000" tIns="36000" rIns="36000" bIns="36000" rtlCol="0" anchor="ct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mj-lt"/>
                <a:ea typeface="+mn-ea"/>
                <a:cs typeface="Calibri" pitchFamily="34" charset="0"/>
              </a:rPr>
              <a:t>Transparency Assessment</a:t>
            </a:r>
          </a:p>
        </p:txBody>
      </p:sp>
      <p:sp>
        <p:nvSpPr>
          <p:cNvPr id="11" name="Rectangle 10">
            <a:extLst>
              <a:ext uri="{FF2B5EF4-FFF2-40B4-BE49-F238E27FC236}">
                <a16:creationId xmlns:a16="http://schemas.microsoft.com/office/drawing/2014/main" id="{FBEF1667-AB98-A284-163B-2764B0CD2B10}"/>
              </a:ext>
            </a:extLst>
          </p:cNvPr>
          <p:cNvSpPr/>
          <p:nvPr/>
        </p:nvSpPr>
        <p:spPr bwMode="auto">
          <a:xfrm>
            <a:off x="967557" y="5065830"/>
            <a:ext cx="2283569" cy="960019"/>
          </a:xfrm>
          <a:prstGeom prst="rect">
            <a:avLst/>
          </a:prstGeom>
          <a:solidFill>
            <a:srgbClr val="FFFFFF">
              <a:alpha val="89804"/>
            </a:srgbClr>
          </a:solidFill>
          <a:ln w="3175" cap="flat" cmpd="sng" algn="ctr">
            <a:solidFill>
              <a:srgbClr val="FFFFFF">
                <a:lumMod val="50000"/>
              </a:srgbClr>
            </a:solidFill>
            <a:prstDash val="solid"/>
          </a:ln>
          <a:effectLst/>
        </p:spPr>
        <p:txBody>
          <a:bodyPr lIns="36000" tIns="36000" rIns="36000" bIns="36000" rtlCol="0" anchor="t"/>
          <a:lstStyle/>
          <a:p>
            <a:pPr marL="177800" marR="0" lvl="0" indent="-177800" algn="l" defTabSz="914400" rtl="0" eaLnBrk="1" fontAlgn="base" latinLnBrk="0" hangingPunct="1">
              <a:lnSpc>
                <a:spcPct val="100000"/>
              </a:lnSpc>
              <a:spcBef>
                <a:spcPts val="200"/>
              </a:spcBef>
              <a:spcAft>
                <a:spcPts val="100"/>
              </a:spcAft>
              <a:buClr>
                <a:srgbClr val="2B143D"/>
              </a:buClr>
              <a:buSzPct val="85000"/>
              <a:buFont typeface="Wingdings" panose="05000000000000000000" pitchFamily="2" charset="2"/>
              <a:buChar char="ü"/>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Maturity assessment</a:t>
            </a:r>
          </a:p>
          <a:p>
            <a:pPr marL="177800" marR="0" lvl="0" indent="-177800" algn="l" defTabSz="914400" rtl="0" eaLnBrk="1" fontAlgn="base" latinLnBrk="0" hangingPunct="1">
              <a:lnSpc>
                <a:spcPct val="100000"/>
              </a:lnSpc>
              <a:spcBef>
                <a:spcPts val="200"/>
              </a:spcBef>
              <a:spcAft>
                <a:spcPts val="100"/>
              </a:spcAft>
              <a:buClr>
                <a:srgbClr val="2B143D"/>
              </a:buClr>
              <a:buSzPct val="85000"/>
              <a:buFont typeface="Wingdings" panose="05000000000000000000" pitchFamily="2" charset="2"/>
              <a:buChar char="ü"/>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Validated prerequisites for Cloud implementation</a:t>
            </a:r>
          </a:p>
          <a:p>
            <a:pPr marL="177800" marR="0" lvl="0" indent="-177800" algn="l" defTabSz="914400" rtl="0" eaLnBrk="1" fontAlgn="base" latinLnBrk="0" hangingPunct="1">
              <a:lnSpc>
                <a:spcPct val="100000"/>
              </a:lnSpc>
              <a:spcBef>
                <a:spcPts val="200"/>
              </a:spcBef>
              <a:spcAft>
                <a:spcPts val="100"/>
              </a:spcAft>
              <a:buClr>
                <a:srgbClr val="2B143D"/>
              </a:buClr>
              <a:buSzPct val="85000"/>
              <a:buFont typeface="Wingdings" panose="05000000000000000000" pitchFamily="2" charset="2"/>
              <a:buChar char="ü"/>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Transparency in all focus areas</a:t>
            </a:r>
          </a:p>
        </p:txBody>
      </p:sp>
      <p:sp>
        <p:nvSpPr>
          <p:cNvPr id="12" name="Rectangle 11">
            <a:extLst>
              <a:ext uri="{FF2B5EF4-FFF2-40B4-BE49-F238E27FC236}">
                <a16:creationId xmlns:a16="http://schemas.microsoft.com/office/drawing/2014/main" id="{F00D43EE-DA27-DD58-1EEA-6441A7BE4FDB}"/>
              </a:ext>
            </a:extLst>
          </p:cNvPr>
          <p:cNvSpPr/>
          <p:nvPr/>
        </p:nvSpPr>
        <p:spPr bwMode="auto">
          <a:xfrm>
            <a:off x="967557" y="2874079"/>
            <a:ext cx="2283569" cy="2003131"/>
          </a:xfrm>
          <a:prstGeom prst="rect">
            <a:avLst/>
          </a:prstGeom>
          <a:solidFill>
            <a:srgbClr val="FFFFFF">
              <a:alpha val="89804"/>
            </a:srgbClr>
          </a:solidFill>
          <a:ln w="3175" cap="flat" cmpd="sng" algn="ctr">
            <a:solidFill>
              <a:srgbClr val="FFFFFF">
                <a:lumMod val="50000"/>
              </a:srgbClr>
            </a:solidFill>
            <a:prstDash val="solid"/>
          </a:ln>
          <a:effectLst/>
        </p:spPr>
        <p:txBody>
          <a:bodyPr lIns="36000" tIns="36000" rIns="36000" bIns="36000" rtlCol="0" anchor="t"/>
          <a:lstStyle/>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Assessment of existing Cloud/ digital capabilities </a:t>
            </a:r>
          </a:p>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Prerequisites for Cloud implementation</a:t>
            </a:r>
          </a:p>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Setup of project structure and identification of stakeholders </a:t>
            </a:r>
          </a:p>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Definition of strategic guidelines</a:t>
            </a:r>
          </a:p>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Quick-Check based on existing information</a:t>
            </a:r>
          </a:p>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First alignment on target picture</a:t>
            </a:r>
          </a:p>
        </p:txBody>
      </p:sp>
      <p:sp>
        <p:nvSpPr>
          <p:cNvPr id="13" name="Chevron 12">
            <a:extLst>
              <a:ext uri="{FF2B5EF4-FFF2-40B4-BE49-F238E27FC236}">
                <a16:creationId xmlns:a16="http://schemas.microsoft.com/office/drawing/2014/main" id="{6DBB13E8-FC7D-12A4-8ED4-7234CB798A51}"/>
              </a:ext>
            </a:extLst>
          </p:cNvPr>
          <p:cNvSpPr/>
          <p:nvPr/>
        </p:nvSpPr>
        <p:spPr>
          <a:xfrm>
            <a:off x="3391826" y="1624652"/>
            <a:ext cx="2283569" cy="360000"/>
          </a:xfrm>
          <a:prstGeom prst="chevron">
            <a:avLst>
              <a:gd name="adj" fmla="val 32694"/>
            </a:avLst>
          </a:prstGeom>
          <a:solidFill>
            <a:srgbClr val="2B143D"/>
          </a:solidFill>
          <a:ln w="3175" cap="flat" cmpd="sng" algn="ctr">
            <a:solidFill>
              <a:srgbClr val="6E0038"/>
            </a:solidFill>
            <a:prstDash val="solid"/>
          </a:ln>
          <a:effectLst/>
        </p:spPr>
        <p:txBody>
          <a:bodyPr lIns="36000" tIns="36000" rIns="36000" bIns="36000" rtlCol="0" anchor="ct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mj-lt"/>
                <a:ea typeface="+mn-ea"/>
                <a:cs typeface="Calibri" pitchFamily="34" charset="0"/>
              </a:rPr>
              <a:t>High-level design</a:t>
            </a:r>
          </a:p>
        </p:txBody>
      </p:sp>
      <p:sp>
        <p:nvSpPr>
          <p:cNvPr id="15" name="Rectangle 14">
            <a:extLst>
              <a:ext uri="{FF2B5EF4-FFF2-40B4-BE49-F238E27FC236}">
                <a16:creationId xmlns:a16="http://schemas.microsoft.com/office/drawing/2014/main" id="{5EB95568-B11C-EAE6-AD19-7B605577CC64}"/>
              </a:ext>
            </a:extLst>
          </p:cNvPr>
          <p:cNvSpPr/>
          <p:nvPr/>
        </p:nvSpPr>
        <p:spPr bwMode="auto">
          <a:xfrm>
            <a:off x="3406631" y="5065830"/>
            <a:ext cx="2268764" cy="960019"/>
          </a:xfrm>
          <a:prstGeom prst="rect">
            <a:avLst/>
          </a:prstGeom>
          <a:solidFill>
            <a:srgbClr val="FFFFFF">
              <a:alpha val="89804"/>
            </a:srgbClr>
          </a:solidFill>
          <a:ln w="3175" cap="flat" cmpd="sng" algn="ctr">
            <a:solidFill>
              <a:srgbClr val="FFFFFF">
                <a:lumMod val="50000"/>
              </a:srgbClr>
            </a:solidFill>
            <a:prstDash val="solid"/>
          </a:ln>
          <a:effectLst/>
        </p:spPr>
        <p:txBody>
          <a:bodyPr lIns="36000" tIns="36000" rIns="36000" bIns="36000" rtlCol="0" anchor="t"/>
          <a:lstStyle/>
          <a:p>
            <a:pPr marL="177800" marR="0" lvl="0" indent="-177800" algn="l" defTabSz="914400" rtl="0" eaLnBrk="1" fontAlgn="base" latinLnBrk="0" hangingPunct="1">
              <a:lnSpc>
                <a:spcPct val="100000"/>
              </a:lnSpc>
              <a:spcBef>
                <a:spcPts val="0"/>
              </a:spcBef>
              <a:spcAft>
                <a:spcPts val="100"/>
              </a:spcAft>
              <a:buClr>
                <a:srgbClr val="2B143D"/>
              </a:buClr>
              <a:buSzPct val="85000"/>
              <a:buFont typeface="Wingdings" panose="05000000000000000000" pitchFamily="2" charset="2"/>
              <a:buChar char="ü"/>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Cloud platform high-level design / architecture</a:t>
            </a:r>
          </a:p>
          <a:p>
            <a:pPr marL="177800" marR="0" lvl="0" indent="-177800" algn="l" defTabSz="914400" rtl="0" eaLnBrk="1" fontAlgn="base" latinLnBrk="0" hangingPunct="1">
              <a:lnSpc>
                <a:spcPct val="100000"/>
              </a:lnSpc>
              <a:spcBef>
                <a:spcPts val="0"/>
              </a:spcBef>
              <a:spcAft>
                <a:spcPts val="100"/>
              </a:spcAft>
              <a:buClr>
                <a:srgbClr val="2B143D"/>
              </a:buClr>
              <a:buSzPct val="85000"/>
              <a:buFont typeface="Wingdings" panose="05000000000000000000" pitchFamily="2" charset="2"/>
              <a:buChar char="ü"/>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Aligned target picture</a:t>
            </a:r>
          </a:p>
          <a:p>
            <a:pPr marL="177800" marR="0" lvl="0" indent="-177800" algn="l" defTabSz="914400" rtl="0" eaLnBrk="1" fontAlgn="base" latinLnBrk="0" hangingPunct="1">
              <a:lnSpc>
                <a:spcPct val="100000"/>
              </a:lnSpc>
              <a:spcBef>
                <a:spcPts val="0"/>
              </a:spcBef>
              <a:spcAft>
                <a:spcPts val="100"/>
              </a:spcAft>
              <a:buClr>
                <a:srgbClr val="2B143D"/>
              </a:buClr>
              <a:buSzPct val="85000"/>
              <a:buFont typeface="Wingdings" panose="05000000000000000000" pitchFamily="2" charset="2"/>
              <a:buChar char="ü"/>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High-level financial and organizational implications</a:t>
            </a:r>
          </a:p>
        </p:txBody>
      </p:sp>
      <p:sp>
        <p:nvSpPr>
          <p:cNvPr id="16" name="Rectangle 15">
            <a:extLst>
              <a:ext uri="{FF2B5EF4-FFF2-40B4-BE49-F238E27FC236}">
                <a16:creationId xmlns:a16="http://schemas.microsoft.com/office/drawing/2014/main" id="{E3598761-559B-874A-A1B7-35DB94248F17}"/>
              </a:ext>
            </a:extLst>
          </p:cNvPr>
          <p:cNvSpPr/>
          <p:nvPr/>
        </p:nvSpPr>
        <p:spPr bwMode="auto">
          <a:xfrm>
            <a:off x="3391826" y="2874080"/>
            <a:ext cx="2268764" cy="2003129"/>
          </a:xfrm>
          <a:prstGeom prst="rect">
            <a:avLst/>
          </a:prstGeom>
          <a:solidFill>
            <a:srgbClr val="FFFFFF">
              <a:alpha val="89804"/>
            </a:srgbClr>
          </a:solidFill>
          <a:ln w="3175" cap="flat" cmpd="sng" algn="ctr">
            <a:solidFill>
              <a:srgbClr val="FFFFFF">
                <a:lumMod val="50000"/>
              </a:srgbClr>
            </a:solidFill>
            <a:prstDash val="solid"/>
          </a:ln>
          <a:effectLst/>
        </p:spPr>
        <p:txBody>
          <a:bodyPr lIns="36000" tIns="36000" rIns="36000" bIns="36000" rtlCol="0" anchor="t"/>
          <a:lstStyle/>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High-level evaluation of different design options</a:t>
            </a:r>
          </a:p>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Description of proposed Digital Platform</a:t>
            </a:r>
          </a:p>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Use of proven methodology / framework for Cloud strategy development (Capgemini Cloud Choice)</a:t>
            </a:r>
          </a:p>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Consideration of best practice insights and project examples from previous engagements</a:t>
            </a:r>
          </a:p>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endParaRPr kumimoji="0" lang="en-US" sz="1000" b="0" i="0" u="none" strike="noStrike" kern="0" cap="none" spc="0" normalizeH="0" baseline="0" noProof="0">
              <a:ln>
                <a:noFill/>
              </a:ln>
              <a:solidFill>
                <a:srgbClr val="000000"/>
              </a:solidFill>
              <a:effectLst/>
              <a:uLnTx/>
              <a:uFillTx/>
              <a:latin typeface="+mj-lt"/>
              <a:ea typeface="+mn-ea"/>
              <a:cs typeface="Calibri" pitchFamily="34" charset="0"/>
            </a:endParaRPr>
          </a:p>
        </p:txBody>
      </p:sp>
      <p:sp>
        <p:nvSpPr>
          <p:cNvPr id="17" name="Chevron 13">
            <a:extLst>
              <a:ext uri="{FF2B5EF4-FFF2-40B4-BE49-F238E27FC236}">
                <a16:creationId xmlns:a16="http://schemas.microsoft.com/office/drawing/2014/main" id="{5E70F937-BCC1-53AC-0050-AD82B090C323}"/>
              </a:ext>
            </a:extLst>
          </p:cNvPr>
          <p:cNvSpPr/>
          <p:nvPr/>
        </p:nvSpPr>
        <p:spPr>
          <a:xfrm>
            <a:off x="8240365" y="1624652"/>
            <a:ext cx="2283569" cy="360000"/>
          </a:xfrm>
          <a:prstGeom prst="chevron">
            <a:avLst>
              <a:gd name="adj" fmla="val 32694"/>
            </a:avLst>
          </a:prstGeom>
          <a:solidFill>
            <a:srgbClr val="2B143D"/>
          </a:solidFill>
          <a:ln w="3175" cap="flat" cmpd="sng" algn="ctr">
            <a:solidFill>
              <a:srgbClr val="6E0038"/>
            </a:solidFill>
            <a:prstDash val="solid"/>
          </a:ln>
          <a:effectLst/>
        </p:spPr>
        <p:txBody>
          <a:bodyPr lIns="36000" tIns="36000" rIns="36000" bIns="36000" rtlCol="0" anchor="ct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mj-lt"/>
                <a:ea typeface="+mn-ea"/>
                <a:cs typeface="Calibri" pitchFamily="34" charset="0"/>
              </a:rPr>
              <a:t>Transformation Roadmap</a:t>
            </a:r>
          </a:p>
        </p:txBody>
      </p:sp>
      <p:sp>
        <p:nvSpPr>
          <p:cNvPr id="18" name="Rectangle 17">
            <a:extLst>
              <a:ext uri="{FF2B5EF4-FFF2-40B4-BE49-F238E27FC236}">
                <a16:creationId xmlns:a16="http://schemas.microsoft.com/office/drawing/2014/main" id="{F88D8BC0-2F71-26BD-D9ED-A0E6920D7BFB}"/>
              </a:ext>
            </a:extLst>
          </p:cNvPr>
          <p:cNvSpPr/>
          <p:nvPr/>
        </p:nvSpPr>
        <p:spPr bwMode="auto">
          <a:xfrm>
            <a:off x="8242787" y="5065829"/>
            <a:ext cx="2281147" cy="960020"/>
          </a:xfrm>
          <a:prstGeom prst="rect">
            <a:avLst/>
          </a:prstGeom>
          <a:solidFill>
            <a:srgbClr val="FFFFFF">
              <a:alpha val="89804"/>
            </a:srgbClr>
          </a:solidFill>
          <a:ln w="3175" cap="flat" cmpd="sng" algn="ctr">
            <a:solidFill>
              <a:srgbClr val="FFFFFF">
                <a:lumMod val="50000"/>
              </a:srgbClr>
            </a:solidFill>
            <a:prstDash val="solid"/>
          </a:ln>
          <a:effectLst/>
        </p:spPr>
        <p:txBody>
          <a:bodyPr lIns="36000" tIns="36000" rIns="36000" bIns="36000" rtlCol="0" anchor="t"/>
          <a:lstStyle/>
          <a:p>
            <a:pPr marL="177800" marR="0" lvl="0" indent="-177800" algn="l" defTabSz="914400" rtl="0" eaLnBrk="1" fontAlgn="base" latinLnBrk="0" hangingPunct="1">
              <a:lnSpc>
                <a:spcPct val="100000"/>
              </a:lnSpc>
              <a:spcBef>
                <a:spcPts val="200"/>
              </a:spcBef>
              <a:spcAft>
                <a:spcPts val="100"/>
              </a:spcAft>
              <a:buClr>
                <a:srgbClr val="2B143D"/>
              </a:buClr>
              <a:buSzPct val="85000"/>
              <a:buFont typeface="Wingdings" panose="05000000000000000000" pitchFamily="2" charset="2"/>
              <a:buChar char="ü"/>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Implementation proposal</a:t>
            </a:r>
          </a:p>
          <a:p>
            <a:pPr marL="177800" marR="0" lvl="0" indent="-177800" algn="l" defTabSz="914400" rtl="0" eaLnBrk="1" fontAlgn="base" latinLnBrk="0" hangingPunct="1">
              <a:lnSpc>
                <a:spcPct val="100000"/>
              </a:lnSpc>
              <a:spcBef>
                <a:spcPts val="200"/>
              </a:spcBef>
              <a:spcAft>
                <a:spcPts val="100"/>
              </a:spcAft>
              <a:buClr>
                <a:srgbClr val="2B143D"/>
              </a:buClr>
              <a:buSzPct val="85000"/>
              <a:buFont typeface="Wingdings" panose="05000000000000000000" pitchFamily="2" charset="2"/>
              <a:buChar char="ü"/>
              <a:tabLst/>
              <a:defRPr/>
            </a:pPr>
            <a:r>
              <a:rPr kumimoji="0" lang="en-US" sz="1000" b="0" i="0" u="none" strike="noStrike" kern="0" cap="none" spc="0" normalizeH="0" baseline="0" noProof="0">
                <a:ln>
                  <a:noFill/>
                </a:ln>
                <a:solidFill>
                  <a:srgbClr val="000000"/>
                </a:solidFill>
                <a:effectLst/>
                <a:uLnTx/>
                <a:uFillTx/>
                <a:latin typeface="+mj-lt"/>
                <a:ea typeface="+mn-ea"/>
                <a:cs typeface="Calibri" pitchFamily="34" charset="0"/>
              </a:rPr>
              <a:t>Comprehensive roadmap for prioritized measures</a:t>
            </a:r>
          </a:p>
        </p:txBody>
      </p:sp>
      <p:sp>
        <p:nvSpPr>
          <p:cNvPr id="22" name="Rectangle 21">
            <a:extLst>
              <a:ext uri="{FF2B5EF4-FFF2-40B4-BE49-F238E27FC236}">
                <a16:creationId xmlns:a16="http://schemas.microsoft.com/office/drawing/2014/main" id="{C93CD175-4E57-3FE9-AB49-294A292C4C39}"/>
              </a:ext>
            </a:extLst>
          </p:cNvPr>
          <p:cNvSpPr/>
          <p:nvPr/>
        </p:nvSpPr>
        <p:spPr bwMode="auto">
          <a:xfrm>
            <a:off x="8240365" y="2874080"/>
            <a:ext cx="2281147" cy="2003130"/>
          </a:xfrm>
          <a:prstGeom prst="rect">
            <a:avLst/>
          </a:prstGeom>
          <a:solidFill>
            <a:srgbClr val="FFFFFF">
              <a:alpha val="89804"/>
            </a:srgbClr>
          </a:solidFill>
          <a:ln w="3175" cap="flat" cmpd="sng" algn="ctr">
            <a:solidFill>
              <a:srgbClr val="FFFFFF">
                <a:lumMod val="50000"/>
              </a:srgbClr>
            </a:solidFill>
            <a:prstDash val="solid"/>
          </a:ln>
          <a:effectLst/>
        </p:spPr>
        <p:txBody>
          <a:bodyPr lIns="36000" tIns="36000" rIns="36000" bIns="36000" rtlCol="0" anchor="t"/>
          <a:lstStyle/>
          <a:p>
            <a:pPr marL="88900" indent="-88900" fontAlgn="base">
              <a:spcBef>
                <a:spcPts val="200"/>
              </a:spcBef>
              <a:spcAft>
                <a:spcPts val="100"/>
              </a:spcAft>
              <a:buClr>
                <a:srgbClr val="2B143D"/>
              </a:buClr>
              <a:buFont typeface="Wingdings" pitchFamily="2" charset="2"/>
              <a:buChar char="§"/>
              <a:defRPr/>
            </a:pPr>
            <a:r>
              <a:rPr kumimoji="0" lang="en-US" sz="1000" b="0" i="0" u="none" strike="noStrike" kern="0" cap="none" spc="0" normalizeH="0" baseline="0" noProof="0">
                <a:ln>
                  <a:noFill/>
                </a:ln>
                <a:solidFill>
                  <a:srgbClr val="000000"/>
                </a:solidFill>
                <a:effectLst/>
                <a:uLnTx/>
                <a:uFillTx/>
                <a:latin typeface="+mj-lt"/>
                <a:ea typeface="+mn-ea"/>
                <a:cs typeface="Calibri"/>
              </a:rPr>
              <a:t>Creation of comprehensive Cloud transformation </a:t>
            </a:r>
            <a:r>
              <a:rPr lang="en-US" sz="1000" kern="0">
                <a:solidFill>
                  <a:srgbClr val="000000"/>
                </a:solidFill>
                <a:latin typeface="+mj-lt"/>
                <a:cs typeface="Calibri"/>
              </a:rPr>
              <a:t>&amp; Infrastructure roadmap </a:t>
            </a:r>
            <a:endParaRPr kumimoji="0" lang="en-US" sz="1000" b="0" i="0" u="none" strike="noStrike" kern="0" cap="none" spc="0" normalizeH="0" baseline="0" noProof="0">
              <a:ln>
                <a:noFill/>
              </a:ln>
              <a:solidFill>
                <a:srgbClr val="000000"/>
              </a:solidFill>
              <a:effectLst/>
              <a:uLnTx/>
              <a:uFillTx/>
              <a:latin typeface="+mj-lt"/>
              <a:ea typeface="+mn-ea"/>
              <a:cs typeface="Calibri" pitchFamily="34" charset="0"/>
            </a:endParaRPr>
          </a:p>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mj-lt"/>
                <a:ea typeface="+mn-ea"/>
                <a:cs typeface="Calibri"/>
              </a:rPr>
              <a:t>Description of required decisions and implementation actions</a:t>
            </a:r>
            <a:endParaRPr lang="en-US" sz="1000" b="0" i="0" u="none" strike="noStrike" kern="0" cap="none" spc="0" normalizeH="0" baseline="0" noProof="0">
              <a:ln>
                <a:noFill/>
              </a:ln>
              <a:solidFill>
                <a:srgbClr val="000000"/>
              </a:solidFill>
              <a:effectLst/>
              <a:uLnTx/>
              <a:uFillTx/>
              <a:latin typeface="+mj-lt"/>
              <a:cs typeface="Calibri"/>
            </a:endParaRPr>
          </a:p>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mj-lt"/>
                <a:ea typeface="+mn-ea"/>
                <a:cs typeface="Calibri"/>
              </a:rPr>
              <a:t>Fine-tuning of deliverables</a:t>
            </a:r>
            <a:endParaRPr lang="en-US" sz="1000" b="0" i="0" u="none" strike="noStrike" kern="0" cap="none" spc="0" normalizeH="0" baseline="0" noProof="0">
              <a:ln>
                <a:noFill/>
              </a:ln>
              <a:solidFill>
                <a:srgbClr val="000000"/>
              </a:solidFill>
              <a:effectLst/>
              <a:uLnTx/>
              <a:uFillTx/>
              <a:latin typeface="+mj-lt"/>
              <a:cs typeface="Calibri"/>
            </a:endParaRPr>
          </a:p>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mj-lt"/>
                <a:ea typeface="+mn-ea"/>
                <a:cs typeface="Calibri"/>
              </a:rPr>
              <a:t>Creation of Target Picture</a:t>
            </a:r>
            <a:endParaRPr lang="en-US" sz="1000" b="0" i="0" u="none" strike="noStrike" kern="0" cap="none" spc="0" normalizeH="0" baseline="0" noProof="0">
              <a:ln>
                <a:noFill/>
              </a:ln>
              <a:solidFill>
                <a:srgbClr val="000000"/>
              </a:solidFill>
              <a:effectLst/>
              <a:uLnTx/>
              <a:uFillTx/>
              <a:latin typeface="+mj-lt"/>
              <a:cs typeface="Calibri"/>
            </a:endParaRPr>
          </a:p>
          <a:p>
            <a:pPr marL="88900" marR="0" lvl="0" indent="-88900" algn="l" defTabSz="914400" rtl="0" eaLnBrk="1" fontAlgn="base" latinLnBrk="0" hangingPunct="1">
              <a:lnSpc>
                <a:spcPct val="100000"/>
              </a:lnSpc>
              <a:spcBef>
                <a:spcPts val="200"/>
              </a:spcBef>
              <a:spcAft>
                <a:spcPts val="100"/>
              </a:spcAft>
              <a:buClr>
                <a:srgbClr val="2B143D"/>
              </a:buClr>
              <a:buSzTx/>
              <a:buFont typeface="Wingdings" pitchFamily="2" charset="2"/>
              <a:buChar char="§"/>
              <a:tabLst/>
              <a:defRPr/>
            </a:pPr>
            <a:r>
              <a:rPr kumimoji="0" lang="en-US" sz="1000" b="0" i="0" u="none" strike="noStrike" kern="0" cap="none" spc="0" normalizeH="0" baseline="0" noProof="0">
                <a:ln>
                  <a:noFill/>
                </a:ln>
                <a:solidFill>
                  <a:srgbClr val="000000"/>
                </a:solidFill>
                <a:effectLst/>
                <a:uLnTx/>
                <a:uFillTx/>
                <a:latin typeface="+mj-lt"/>
                <a:ea typeface="+mn-ea"/>
                <a:cs typeface="Calibri"/>
              </a:rPr>
              <a:t>Finalization of executive presentation / decision document</a:t>
            </a:r>
            <a:endParaRPr lang="en-US" sz="1000" b="0" i="0" u="none" strike="noStrike" kern="0" cap="none" spc="0" normalizeH="0" baseline="0" noProof="0">
              <a:ln>
                <a:noFill/>
              </a:ln>
              <a:solidFill>
                <a:srgbClr val="000000"/>
              </a:solidFill>
              <a:effectLst/>
              <a:uLnTx/>
              <a:uFillTx/>
              <a:latin typeface="+mj-lt"/>
              <a:cs typeface="Calibri"/>
            </a:endParaRPr>
          </a:p>
          <a:p>
            <a:pPr marL="0" marR="0" lvl="0" indent="0" algn="l" defTabSz="914400" rtl="0" eaLnBrk="1" fontAlgn="base" latinLnBrk="0" hangingPunct="1">
              <a:lnSpc>
                <a:spcPct val="100000"/>
              </a:lnSpc>
              <a:spcBef>
                <a:spcPts val="200"/>
              </a:spcBef>
              <a:spcAft>
                <a:spcPts val="100"/>
              </a:spcAft>
              <a:buClr>
                <a:srgbClr val="A50532"/>
              </a:buClr>
              <a:buSzTx/>
              <a:buFontTx/>
              <a:buNone/>
              <a:tabLst/>
              <a:defRPr/>
            </a:pPr>
            <a:endParaRPr kumimoji="0" lang="en-US" sz="1000" b="0" i="0" u="none" strike="noStrike" kern="0" cap="none" spc="0" normalizeH="0" baseline="0" noProof="0">
              <a:ln>
                <a:noFill/>
              </a:ln>
              <a:solidFill>
                <a:srgbClr val="000000"/>
              </a:solidFill>
              <a:effectLst/>
              <a:uLnTx/>
              <a:uFillTx/>
              <a:latin typeface="+mj-lt"/>
              <a:ea typeface="+mn-ea"/>
              <a:cs typeface="Calibri" pitchFamily="34" charset="0"/>
            </a:endParaRPr>
          </a:p>
          <a:p>
            <a:pPr marL="88900" marR="0" lvl="0" indent="-88900" algn="l" defTabSz="914400" rtl="0" eaLnBrk="1" fontAlgn="base" latinLnBrk="0" hangingPunct="1">
              <a:lnSpc>
                <a:spcPct val="100000"/>
              </a:lnSpc>
              <a:spcBef>
                <a:spcPts val="200"/>
              </a:spcBef>
              <a:spcAft>
                <a:spcPts val="100"/>
              </a:spcAft>
              <a:buClr>
                <a:srgbClr val="A50532"/>
              </a:buClr>
              <a:buSzTx/>
              <a:buFont typeface="Wingdings" pitchFamily="2" charset="2"/>
              <a:buChar char="§"/>
              <a:tabLst/>
              <a:defRPr/>
            </a:pPr>
            <a:endParaRPr kumimoji="0" lang="en-US" sz="1000" b="0" i="0" u="none" strike="noStrike" kern="0" cap="none" spc="0" normalizeH="0" baseline="0" noProof="0">
              <a:ln>
                <a:noFill/>
              </a:ln>
              <a:solidFill>
                <a:srgbClr val="000000"/>
              </a:solidFill>
              <a:effectLst/>
              <a:uLnTx/>
              <a:uFillTx/>
              <a:latin typeface="+mj-lt"/>
              <a:ea typeface="+mn-ea"/>
              <a:cs typeface="Calibri" pitchFamily="34" charset="0"/>
            </a:endParaRPr>
          </a:p>
        </p:txBody>
      </p:sp>
      <p:sp>
        <p:nvSpPr>
          <p:cNvPr id="23" name="Chevron 58">
            <a:extLst>
              <a:ext uri="{FF2B5EF4-FFF2-40B4-BE49-F238E27FC236}">
                <a16:creationId xmlns:a16="http://schemas.microsoft.com/office/drawing/2014/main" id="{6B93AB2A-E1AF-8862-1DAB-A8AC60D843BF}"/>
              </a:ext>
            </a:extLst>
          </p:cNvPr>
          <p:cNvSpPr/>
          <p:nvPr/>
        </p:nvSpPr>
        <p:spPr>
          <a:xfrm>
            <a:off x="5816095" y="1624652"/>
            <a:ext cx="2283569" cy="360000"/>
          </a:xfrm>
          <a:prstGeom prst="chevron">
            <a:avLst>
              <a:gd name="adj" fmla="val 32694"/>
            </a:avLst>
          </a:prstGeom>
          <a:solidFill>
            <a:srgbClr val="2B143D"/>
          </a:solidFill>
          <a:ln w="3175" cap="flat" cmpd="sng" algn="ctr">
            <a:solidFill>
              <a:srgbClr val="6E0038"/>
            </a:solidFill>
            <a:prstDash val="solid"/>
          </a:ln>
          <a:effectLst/>
        </p:spPr>
        <p:txBody>
          <a:bodyPr lIns="36000" tIns="36000" rIns="36000" bIns="36000" rtlCol="0" anchor="ctr"/>
          <a:lstStyle/>
          <a:p>
            <a:pPr algn="ctr" fontAlgn="base">
              <a:lnSpc>
                <a:spcPct val="90000"/>
              </a:lnSpc>
              <a:spcBef>
                <a:spcPct val="0"/>
              </a:spcBef>
              <a:spcAft>
                <a:spcPct val="0"/>
              </a:spcAft>
            </a:pPr>
            <a:r>
              <a:rPr lang="en-US" sz="1000" b="1" kern="0">
                <a:solidFill>
                  <a:srgbClr val="FFFFFF"/>
                </a:solidFill>
                <a:latin typeface="+mj-lt"/>
                <a:cs typeface="Calibri" pitchFamily="34" charset="0"/>
              </a:rPr>
              <a:t>Medium-level design</a:t>
            </a:r>
            <a:endParaRPr lang="en-US" sz="1000" b="1" kern="0" dirty="0">
              <a:solidFill>
                <a:srgbClr val="FFFFFF"/>
              </a:solidFill>
              <a:latin typeface="+mj-lt"/>
              <a:cs typeface="Calibri" pitchFamily="34" charset="0"/>
            </a:endParaRPr>
          </a:p>
        </p:txBody>
      </p:sp>
      <p:sp>
        <p:nvSpPr>
          <p:cNvPr id="24" name="Rectangle 23">
            <a:extLst>
              <a:ext uri="{FF2B5EF4-FFF2-40B4-BE49-F238E27FC236}">
                <a16:creationId xmlns:a16="http://schemas.microsoft.com/office/drawing/2014/main" id="{C3E5833F-5231-822A-F6DD-B6D041D26942}"/>
              </a:ext>
            </a:extLst>
          </p:cNvPr>
          <p:cNvSpPr/>
          <p:nvPr/>
        </p:nvSpPr>
        <p:spPr bwMode="auto">
          <a:xfrm>
            <a:off x="5816095" y="5065829"/>
            <a:ext cx="2283569" cy="960020"/>
          </a:xfrm>
          <a:prstGeom prst="rect">
            <a:avLst/>
          </a:prstGeom>
          <a:solidFill>
            <a:srgbClr val="FFFFFF">
              <a:alpha val="89804"/>
            </a:srgbClr>
          </a:solidFill>
          <a:ln w="3175" cap="flat" cmpd="sng" algn="ctr">
            <a:solidFill>
              <a:srgbClr val="FFFFFF">
                <a:lumMod val="50000"/>
              </a:srgbClr>
            </a:solidFill>
            <a:prstDash val="solid"/>
          </a:ln>
          <a:effectLst/>
        </p:spPr>
        <p:txBody>
          <a:bodyPr lIns="36000" tIns="36000" rIns="36000" bIns="36000" rtlCol="0" anchor="t"/>
          <a:lstStyle/>
          <a:p>
            <a:pPr marL="177800" indent="-177800" fontAlgn="base">
              <a:spcAft>
                <a:spcPts val="100"/>
              </a:spcAft>
              <a:buClr>
                <a:srgbClr val="2B143D"/>
              </a:buClr>
              <a:buSzPct val="85000"/>
              <a:buFont typeface="Wingdings" panose="05000000000000000000" pitchFamily="2" charset="2"/>
              <a:buChar char="ü"/>
            </a:pPr>
            <a:r>
              <a:rPr lang="en-US" sz="1000" kern="0" dirty="0">
                <a:solidFill>
                  <a:srgbClr val="000000"/>
                </a:solidFill>
                <a:latin typeface="+mj-lt"/>
                <a:cs typeface="Calibri" pitchFamily="34" charset="0"/>
              </a:rPr>
              <a:t>Target Operating Model incl. skills and roles</a:t>
            </a:r>
          </a:p>
          <a:p>
            <a:pPr marL="177800" indent="-177800" fontAlgn="base">
              <a:spcAft>
                <a:spcPts val="100"/>
              </a:spcAft>
              <a:buClr>
                <a:srgbClr val="2B143D"/>
              </a:buClr>
              <a:buSzPct val="85000"/>
              <a:buFont typeface="Wingdings" panose="05000000000000000000" pitchFamily="2" charset="2"/>
              <a:buChar char="ü"/>
            </a:pPr>
            <a:r>
              <a:rPr lang="en-US" sz="1000" kern="0" dirty="0">
                <a:solidFill>
                  <a:srgbClr val="000000"/>
                </a:solidFill>
                <a:latin typeface="+mj-lt"/>
                <a:cs typeface="Calibri" pitchFamily="34" charset="0"/>
              </a:rPr>
              <a:t>Detailed financial implications</a:t>
            </a:r>
          </a:p>
          <a:p>
            <a:pPr marL="177800" indent="-177800" fontAlgn="base">
              <a:spcAft>
                <a:spcPts val="100"/>
              </a:spcAft>
              <a:buClr>
                <a:srgbClr val="2B143D"/>
              </a:buClr>
              <a:buSzPct val="85000"/>
              <a:buFont typeface="Wingdings" panose="05000000000000000000" pitchFamily="2" charset="2"/>
              <a:buChar char="ü"/>
            </a:pPr>
            <a:r>
              <a:rPr lang="en-US" sz="1000" kern="0" dirty="0">
                <a:solidFill>
                  <a:srgbClr val="000000"/>
                </a:solidFill>
                <a:latin typeface="+mj-lt"/>
                <a:cs typeface="Calibri" pitchFamily="34" charset="0"/>
              </a:rPr>
              <a:t>Cloud Security Strategy</a:t>
            </a:r>
          </a:p>
        </p:txBody>
      </p:sp>
      <p:sp>
        <p:nvSpPr>
          <p:cNvPr id="25" name="Rectangle 24">
            <a:extLst>
              <a:ext uri="{FF2B5EF4-FFF2-40B4-BE49-F238E27FC236}">
                <a16:creationId xmlns:a16="http://schemas.microsoft.com/office/drawing/2014/main" id="{805DB68B-C8F7-DE78-13FB-A8DAE52B83DF}"/>
              </a:ext>
            </a:extLst>
          </p:cNvPr>
          <p:cNvSpPr/>
          <p:nvPr/>
        </p:nvSpPr>
        <p:spPr bwMode="auto">
          <a:xfrm>
            <a:off x="5816095" y="2874080"/>
            <a:ext cx="2283569" cy="2003130"/>
          </a:xfrm>
          <a:prstGeom prst="rect">
            <a:avLst/>
          </a:prstGeom>
          <a:solidFill>
            <a:srgbClr val="FFFFFF">
              <a:alpha val="89804"/>
            </a:srgbClr>
          </a:solidFill>
          <a:ln w="3175" cap="flat" cmpd="sng" algn="ctr">
            <a:solidFill>
              <a:srgbClr val="FFFFFF">
                <a:lumMod val="50000"/>
              </a:srgbClr>
            </a:solidFill>
            <a:prstDash val="solid"/>
          </a:ln>
          <a:effectLst/>
        </p:spPr>
        <p:txBody>
          <a:bodyPr lIns="36000" tIns="36000" rIns="36000" bIns="36000" rtlCol="0" anchor="t"/>
          <a:lstStyle/>
          <a:p>
            <a:pPr marL="88900" indent="-88900" fontAlgn="base">
              <a:spcBef>
                <a:spcPts val="200"/>
              </a:spcBef>
              <a:spcAft>
                <a:spcPts val="100"/>
              </a:spcAft>
              <a:buClr>
                <a:srgbClr val="2B143D"/>
              </a:buClr>
              <a:buFont typeface="Wingdings" pitchFamily="2" charset="2"/>
              <a:buChar char="§"/>
            </a:pPr>
            <a:r>
              <a:rPr lang="en-US" sz="1000" kern="0" dirty="0">
                <a:solidFill>
                  <a:srgbClr val="000000"/>
                </a:solidFill>
                <a:latin typeface="+mj-lt"/>
                <a:cs typeface="Calibri" pitchFamily="34" charset="0"/>
              </a:rPr>
              <a:t>More detailed description of Digital Platform</a:t>
            </a:r>
          </a:p>
          <a:p>
            <a:pPr marL="88900" indent="-88900" fontAlgn="base">
              <a:spcBef>
                <a:spcPts val="200"/>
              </a:spcBef>
              <a:spcAft>
                <a:spcPts val="100"/>
              </a:spcAft>
              <a:buClr>
                <a:srgbClr val="2B143D"/>
              </a:buClr>
              <a:buFont typeface="Wingdings" pitchFamily="2" charset="2"/>
              <a:buChar char="§"/>
            </a:pPr>
            <a:r>
              <a:rPr lang="en-US" sz="1000" kern="0" dirty="0">
                <a:solidFill>
                  <a:srgbClr val="000000"/>
                </a:solidFill>
                <a:latin typeface="+mj-lt"/>
                <a:cs typeface="Calibri" pitchFamily="34" charset="0"/>
              </a:rPr>
              <a:t>Cloud service brokerage design</a:t>
            </a:r>
          </a:p>
          <a:p>
            <a:pPr marL="88900" indent="-88900" fontAlgn="base">
              <a:spcBef>
                <a:spcPts val="200"/>
              </a:spcBef>
              <a:spcAft>
                <a:spcPts val="100"/>
              </a:spcAft>
              <a:buClr>
                <a:srgbClr val="2B143D"/>
              </a:buClr>
              <a:buFont typeface="Wingdings" pitchFamily="2" charset="2"/>
              <a:buChar char="§"/>
            </a:pPr>
            <a:r>
              <a:rPr lang="en-US" sz="1000" kern="0" dirty="0">
                <a:solidFill>
                  <a:srgbClr val="000000"/>
                </a:solidFill>
                <a:latin typeface="+mj-lt"/>
                <a:cs typeface="Calibri" pitchFamily="34" charset="0"/>
              </a:rPr>
              <a:t>Analysis of business implications/benefits </a:t>
            </a:r>
          </a:p>
          <a:p>
            <a:pPr marL="88900" indent="-88900" fontAlgn="base">
              <a:spcBef>
                <a:spcPts val="200"/>
              </a:spcBef>
              <a:spcAft>
                <a:spcPts val="100"/>
              </a:spcAft>
              <a:buClr>
                <a:srgbClr val="2B143D"/>
              </a:buClr>
              <a:buFont typeface="Wingdings" pitchFamily="2" charset="2"/>
              <a:buChar char="§"/>
            </a:pPr>
            <a:r>
              <a:rPr lang="en-US" sz="1000" kern="0" dirty="0">
                <a:solidFill>
                  <a:srgbClr val="000000"/>
                </a:solidFill>
                <a:latin typeface="+mj-lt"/>
                <a:cs typeface="Calibri" pitchFamily="34" charset="0"/>
              </a:rPr>
              <a:t>Outlining of financial implications</a:t>
            </a:r>
          </a:p>
          <a:p>
            <a:pPr marL="88900" indent="-88900" fontAlgn="base">
              <a:spcBef>
                <a:spcPts val="200"/>
              </a:spcBef>
              <a:spcAft>
                <a:spcPts val="100"/>
              </a:spcAft>
              <a:buClr>
                <a:srgbClr val="2B143D"/>
              </a:buClr>
              <a:buFont typeface="Wingdings" pitchFamily="2" charset="2"/>
              <a:buChar char="§"/>
            </a:pPr>
            <a:r>
              <a:rPr lang="en-US" sz="1000" kern="0" dirty="0">
                <a:solidFill>
                  <a:srgbClr val="000000"/>
                </a:solidFill>
                <a:latin typeface="+mj-lt"/>
                <a:cs typeface="Calibri" pitchFamily="34" charset="0"/>
              </a:rPr>
              <a:t>Derivation of skill / capability requirements</a:t>
            </a:r>
          </a:p>
          <a:p>
            <a:pPr marL="88900" indent="-88900" fontAlgn="base">
              <a:spcBef>
                <a:spcPts val="200"/>
              </a:spcBef>
              <a:spcAft>
                <a:spcPts val="100"/>
              </a:spcAft>
              <a:buClr>
                <a:srgbClr val="2B143D"/>
              </a:buClr>
              <a:buFont typeface="Wingdings" pitchFamily="2" charset="2"/>
              <a:buChar char="§"/>
            </a:pPr>
            <a:r>
              <a:rPr lang="en-US" sz="1000" kern="0" dirty="0">
                <a:solidFill>
                  <a:srgbClr val="000000"/>
                </a:solidFill>
                <a:latin typeface="+mj-lt"/>
                <a:cs typeface="Calibri" pitchFamily="34" charset="0"/>
              </a:rPr>
              <a:t>Analysis of security implications</a:t>
            </a:r>
          </a:p>
          <a:p>
            <a:pPr marL="88900" indent="-88900" fontAlgn="base">
              <a:spcBef>
                <a:spcPts val="200"/>
              </a:spcBef>
              <a:spcAft>
                <a:spcPts val="100"/>
              </a:spcAft>
              <a:buClr>
                <a:srgbClr val="2B143D"/>
              </a:buClr>
              <a:buFont typeface="Wingdings" pitchFamily="2" charset="2"/>
              <a:buChar char="§"/>
            </a:pPr>
            <a:endParaRPr lang="en-US" sz="1000" kern="0" dirty="0">
              <a:solidFill>
                <a:srgbClr val="000000"/>
              </a:solidFill>
              <a:latin typeface="+mj-lt"/>
              <a:cs typeface="Calibri" pitchFamily="34" charset="0"/>
            </a:endParaRPr>
          </a:p>
        </p:txBody>
      </p:sp>
      <p:sp>
        <p:nvSpPr>
          <p:cNvPr id="26" name="Freeform 716">
            <a:extLst>
              <a:ext uri="{FF2B5EF4-FFF2-40B4-BE49-F238E27FC236}">
                <a16:creationId xmlns:a16="http://schemas.microsoft.com/office/drawing/2014/main" id="{89C41C24-1432-88F0-79CE-5E9FEDEFCF3A}"/>
              </a:ext>
            </a:extLst>
          </p:cNvPr>
          <p:cNvSpPr>
            <a:spLocks noChangeAspect="1"/>
          </p:cNvSpPr>
          <p:nvPr/>
        </p:nvSpPr>
        <p:spPr bwMode="auto">
          <a:xfrm>
            <a:off x="10955982" y="3816070"/>
            <a:ext cx="597464" cy="369595"/>
          </a:xfrm>
          <a:custGeom>
            <a:avLst/>
            <a:gdLst/>
            <a:ahLst/>
            <a:cxnLst>
              <a:cxn ang="0">
                <a:pos x="148" y="109"/>
              </a:cxn>
              <a:cxn ang="0">
                <a:pos x="176" y="80"/>
              </a:cxn>
              <a:cxn ang="0">
                <a:pos x="148" y="51"/>
              </a:cxn>
              <a:cxn ang="0">
                <a:pos x="147" y="51"/>
              </a:cxn>
              <a:cxn ang="0">
                <a:pos x="147" y="49"/>
              </a:cxn>
              <a:cxn ang="0">
                <a:pos x="98" y="0"/>
              </a:cxn>
              <a:cxn ang="0">
                <a:pos x="51" y="32"/>
              </a:cxn>
              <a:cxn ang="0">
                <a:pos x="39" y="30"/>
              </a:cxn>
              <a:cxn ang="0">
                <a:pos x="0" y="69"/>
              </a:cxn>
              <a:cxn ang="0">
                <a:pos x="39" y="109"/>
              </a:cxn>
              <a:cxn ang="0">
                <a:pos x="121" y="109"/>
              </a:cxn>
            </a:cxnLst>
            <a:rect l="0" t="0" r="r" b="b"/>
            <a:pathLst>
              <a:path w="176" h="109">
                <a:moveTo>
                  <a:pt x="148" y="109"/>
                </a:moveTo>
                <a:cubicBezTo>
                  <a:pt x="163" y="109"/>
                  <a:pt x="176" y="96"/>
                  <a:pt x="176" y="80"/>
                </a:cubicBezTo>
                <a:cubicBezTo>
                  <a:pt x="176" y="64"/>
                  <a:pt x="163" y="51"/>
                  <a:pt x="148" y="51"/>
                </a:cubicBezTo>
                <a:cubicBezTo>
                  <a:pt x="147" y="51"/>
                  <a:pt x="147" y="51"/>
                  <a:pt x="147" y="51"/>
                </a:cubicBezTo>
                <a:cubicBezTo>
                  <a:pt x="147" y="50"/>
                  <a:pt x="147" y="50"/>
                  <a:pt x="147" y="49"/>
                </a:cubicBezTo>
                <a:cubicBezTo>
                  <a:pt x="147" y="22"/>
                  <a:pt x="125" y="0"/>
                  <a:pt x="98" y="0"/>
                </a:cubicBezTo>
                <a:cubicBezTo>
                  <a:pt x="76" y="0"/>
                  <a:pt x="58" y="13"/>
                  <a:pt x="51" y="32"/>
                </a:cubicBezTo>
                <a:cubicBezTo>
                  <a:pt x="48" y="31"/>
                  <a:pt x="43" y="30"/>
                  <a:pt x="39" y="30"/>
                </a:cubicBezTo>
                <a:cubicBezTo>
                  <a:pt x="18" y="30"/>
                  <a:pt x="0" y="48"/>
                  <a:pt x="0" y="69"/>
                </a:cubicBezTo>
                <a:cubicBezTo>
                  <a:pt x="0" y="91"/>
                  <a:pt x="18" y="109"/>
                  <a:pt x="39" y="109"/>
                </a:cubicBezTo>
                <a:cubicBezTo>
                  <a:pt x="121" y="109"/>
                  <a:pt x="121" y="109"/>
                  <a:pt x="121" y="109"/>
                </a:cubicBezTo>
              </a:path>
            </a:pathLst>
          </a:custGeom>
          <a:solidFill>
            <a:srgbClr val="FFFFFF"/>
          </a:solidFill>
          <a:ln w="12700" cap="rnd">
            <a:solidFill>
              <a:srgbClr val="2B143D"/>
            </a:solidFill>
            <a:prstDash val="dash"/>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grpSp>
        <p:nvGrpSpPr>
          <p:cNvPr id="27" name="Groupe 277">
            <a:extLst>
              <a:ext uri="{FF2B5EF4-FFF2-40B4-BE49-F238E27FC236}">
                <a16:creationId xmlns:a16="http://schemas.microsoft.com/office/drawing/2014/main" id="{2A342401-8CE9-B57E-9B93-A5A3A21E1969}"/>
              </a:ext>
            </a:extLst>
          </p:cNvPr>
          <p:cNvGrpSpPr>
            <a:grpSpLocks noChangeAspect="1"/>
          </p:cNvGrpSpPr>
          <p:nvPr/>
        </p:nvGrpSpPr>
        <p:grpSpPr>
          <a:xfrm>
            <a:off x="11099998" y="3929967"/>
            <a:ext cx="247757" cy="201304"/>
            <a:chOff x="1671638" y="2689226"/>
            <a:chExt cx="584200" cy="474663"/>
          </a:xfrm>
        </p:grpSpPr>
        <p:sp>
          <p:nvSpPr>
            <p:cNvPr id="28" name="Freeform 763">
              <a:extLst>
                <a:ext uri="{FF2B5EF4-FFF2-40B4-BE49-F238E27FC236}">
                  <a16:creationId xmlns:a16="http://schemas.microsoft.com/office/drawing/2014/main" id="{98AB001C-03C3-B010-A583-6F876403B9E3}"/>
                </a:ext>
              </a:extLst>
            </p:cNvPr>
            <p:cNvSpPr>
              <a:spLocks/>
            </p:cNvSpPr>
            <p:nvPr/>
          </p:nvSpPr>
          <p:spPr bwMode="auto">
            <a:xfrm>
              <a:off x="1671638" y="2689226"/>
              <a:ext cx="584200" cy="474663"/>
            </a:xfrm>
            <a:custGeom>
              <a:avLst/>
              <a:gdLst/>
              <a:ahLst/>
              <a:cxnLst>
                <a:cxn ang="0">
                  <a:pos x="44" y="297"/>
                </a:cxn>
                <a:cxn ang="0">
                  <a:pos x="0" y="297"/>
                </a:cxn>
                <a:cxn ang="0">
                  <a:pos x="0" y="194"/>
                </a:cxn>
                <a:cxn ang="0">
                  <a:pos x="28" y="173"/>
                </a:cxn>
                <a:cxn ang="0">
                  <a:pos x="28" y="104"/>
                </a:cxn>
                <a:cxn ang="0">
                  <a:pos x="73" y="76"/>
                </a:cxn>
                <a:cxn ang="0">
                  <a:pos x="73" y="297"/>
                </a:cxn>
                <a:cxn ang="0">
                  <a:pos x="180" y="297"/>
                </a:cxn>
                <a:cxn ang="0">
                  <a:pos x="180" y="111"/>
                </a:cxn>
                <a:cxn ang="0">
                  <a:pos x="151" y="101"/>
                </a:cxn>
                <a:cxn ang="0">
                  <a:pos x="151" y="34"/>
                </a:cxn>
                <a:cxn ang="0">
                  <a:pos x="217" y="0"/>
                </a:cxn>
                <a:cxn ang="0">
                  <a:pos x="368" y="48"/>
                </a:cxn>
                <a:cxn ang="0">
                  <a:pos x="368" y="299"/>
                </a:cxn>
                <a:cxn ang="0">
                  <a:pos x="215" y="299"/>
                </a:cxn>
                <a:cxn ang="0">
                  <a:pos x="217" y="20"/>
                </a:cxn>
              </a:cxnLst>
              <a:rect l="0" t="0" r="r" b="b"/>
              <a:pathLst>
                <a:path w="368" h="299">
                  <a:moveTo>
                    <a:pt x="44" y="297"/>
                  </a:moveTo>
                  <a:lnTo>
                    <a:pt x="0" y="297"/>
                  </a:lnTo>
                  <a:lnTo>
                    <a:pt x="0" y="194"/>
                  </a:lnTo>
                  <a:lnTo>
                    <a:pt x="28" y="173"/>
                  </a:lnTo>
                  <a:lnTo>
                    <a:pt x="28" y="104"/>
                  </a:lnTo>
                  <a:lnTo>
                    <a:pt x="73" y="76"/>
                  </a:lnTo>
                  <a:lnTo>
                    <a:pt x="73" y="297"/>
                  </a:lnTo>
                  <a:lnTo>
                    <a:pt x="180" y="297"/>
                  </a:lnTo>
                  <a:lnTo>
                    <a:pt x="180" y="111"/>
                  </a:lnTo>
                  <a:lnTo>
                    <a:pt x="151" y="101"/>
                  </a:lnTo>
                  <a:lnTo>
                    <a:pt x="151" y="34"/>
                  </a:lnTo>
                  <a:lnTo>
                    <a:pt x="217" y="0"/>
                  </a:lnTo>
                  <a:lnTo>
                    <a:pt x="368" y="48"/>
                  </a:lnTo>
                  <a:lnTo>
                    <a:pt x="368" y="299"/>
                  </a:lnTo>
                  <a:lnTo>
                    <a:pt x="215" y="299"/>
                  </a:lnTo>
                  <a:lnTo>
                    <a:pt x="217" y="20"/>
                  </a:lnTo>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29" name="Line 764">
              <a:extLst>
                <a:ext uri="{FF2B5EF4-FFF2-40B4-BE49-F238E27FC236}">
                  <a16:creationId xmlns:a16="http://schemas.microsoft.com/office/drawing/2014/main" id="{44695B07-B41F-9D1A-CC4C-B3E6EF9ACDDF}"/>
                </a:ext>
              </a:extLst>
            </p:cNvPr>
            <p:cNvSpPr>
              <a:spLocks noChangeShapeType="1"/>
            </p:cNvSpPr>
            <p:nvPr/>
          </p:nvSpPr>
          <p:spPr bwMode="auto">
            <a:xfrm>
              <a:off x="1784350" y="2811463"/>
              <a:ext cx="93663" cy="30163"/>
            </a:xfrm>
            <a:prstGeom prst="line">
              <a:avLst/>
            </a:pr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30" name="Freeform 765">
              <a:extLst>
                <a:ext uri="{FF2B5EF4-FFF2-40B4-BE49-F238E27FC236}">
                  <a16:creationId xmlns:a16="http://schemas.microsoft.com/office/drawing/2014/main" id="{5A03D2B7-7CBD-0FAC-C7D6-5B8CD7C914A2}"/>
                </a:ext>
              </a:extLst>
            </p:cNvPr>
            <p:cNvSpPr>
              <a:spLocks/>
            </p:cNvSpPr>
            <p:nvPr/>
          </p:nvSpPr>
          <p:spPr bwMode="auto">
            <a:xfrm>
              <a:off x="1816100" y="2854326"/>
              <a:ext cx="31750" cy="50800"/>
            </a:xfrm>
            <a:custGeom>
              <a:avLst/>
              <a:gdLst/>
              <a:ahLst/>
              <a:cxnLst>
                <a:cxn ang="0">
                  <a:pos x="0" y="0"/>
                </a:cxn>
                <a:cxn ang="0">
                  <a:pos x="14" y="4"/>
                </a:cxn>
                <a:cxn ang="0">
                  <a:pos x="14" y="22"/>
                </a:cxn>
                <a:cxn ang="0">
                  <a:pos x="0" y="20"/>
                </a:cxn>
                <a:cxn ang="0">
                  <a:pos x="0" y="0"/>
                </a:cxn>
              </a:cxnLst>
              <a:rect l="0" t="0" r="r" b="b"/>
              <a:pathLst>
                <a:path w="14" h="22">
                  <a:moveTo>
                    <a:pt x="0" y="0"/>
                  </a:moveTo>
                  <a:cubicBezTo>
                    <a:pt x="14" y="4"/>
                    <a:pt x="14" y="4"/>
                    <a:pt x="14" y="4"/>
                  </a:cubicBezTo>
                  <a:cubicBezTo>
                    <a:pt x="14" y="22"/>
                    <a:pt x="14" y="22"/>
                    <a:pt x="14" y="22"/>
                  </a:cubicBezTo>
                  <a:cubicBezTo>
                    <a:pt x="0" y="20"/>
                    <a:pt x="0" y="20"/>
                    <a:pt x="0" y="20"/>
                  </a:cubicBezTo>
                  <a:cubicBezTo>
                    <a:pt x="0" y="13"/>
                    <a:pt x="0" y="7"/>
                    <a:pt x="0"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31" name="Freeform 766">
              <a:extLst>
                <a:ext uri="{FF2B5EF4-FFF2-40B4-BE49-F238E27FC236}">
                  <a16:creationId xmlns:a16="http://schemas.microsoft.com/office/drawing/2014/main" id="{F6E6C59F-029B-CCEC-85A8-1B66C541C6A1}"/>
                </a:ext>
              </a:extLst>
            </p:cNvPr>
            <p:cNvSpPr>
              <a:spLocks/>
            </p:cNvSpPr>
            <p:nvPr/>
          </p:nvSpPr>
          <p:spPr bwMode="auto">
            <a:xfrm>
              <a:off x="1870075" y="2870201"/>
              <a:ext cx="25400" cy="42863"/>
            </a:xfrm>
            <a:custGeom>
              <a:avLst/>
              <a:gdLst/>
              <a:ahLst/>
              <a:cxnLst>
                <a:cxn ang="0">
                  <a:pos x="1" y="0"/>
                </a:cxn>
                <a:cxn ang="0">
                  <a:pos x="11" y="3"/>
                </a:cxn>
                <a:cxn ang="0">
                  <a:pos x="11" y="19"/>
                </a:cxn>
                <a:cxn ang="0">
                  <a:pos x="1" y="17"/>
                </a:cxn>
                <a:cxn ang="0">
                  <a:pos x="1" y="0"/>
                </a:cxn>
              </a:cxnLst>
              <a:rect l="0" t="0" r="r" b="b"/>
              <a:pathLst>
                <a:path w="11" h="19">
                  <a:moveTo>
                    <a:pt x="1" y="0"/>
                  </a:moveTo>
                  <a:cubicBezTo>
                    <a:pt x="11" y="3"/>
                    <a:pt x="11" y="3"/>
                    <a:pt x="11" y="3"/>
                  </a:cubicBezTo>
                  <a:cubicBezTo>
                    <a:pt x="11" y="8"/>
                    <a:pt x="11" y="14"/>
                    <a:pt x="11" y="19"/>
                  </a:cubicBezTo>
                  <a:cubicBezTo>
                    <a:pt x="1" y="17"/>
                    <a:pt x="1" y="17"/>
                    <a:pt x="1" y="17"/>
                  </a:cubicBezTo>
                  <a:cubicBezTo>
                    <a:pt x="0" y="11"/>
                    <a:pt x="1" y="6"/>
                    <a:pt x="1"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54" name="Freeform 767">
              <a:extLst>
                <a:ext uri="{FF2B5EF4-FFF2-40B4-BE49-F238E27FC236}">
                  <a16:creationId xmlns:a16="http://schemas.microsoft.com/office/drawing/2014/main" id="{1D89F029-B5C3-8703-6E48-25BC32B05FA9}"/>
                </a:ext>
              </a:extLst>
            </p:cNvPr>
            <p:cNvSpPr>
              <a:spLocks/>
            </p:cNvSpPr>
            <p:nvPr/>
          </p:nvSpPr>
          <p:spPr bwMode="auto">
            <a:xfrm>
              <a:off x="1914525" y="2881313"/>
              <a:ext cx="23813" cy="41275"/>
            </a:xfrm>
            <a:custGeom>
              <a:avLst/>
              <a:gdLst/>
              <a:ahLst/>
              <a:cxnLst>
                <a:cxn ang="0">
                  <a:pos x="1" y="0"/>
                </a:cxn>
                <a:cxn ang="0">
                  <a:pos x="11" y="2"/>
                </a:cxn>
                <a:cxn ang="0">
                  <a:pos x="11" y="18"/>
                </a:cxn>
                <a:cxn ang="0">
                  <a:pos x="1" y="17"/>
                </a:cxn>
                <a:cxn ang="0">
                  <a:pos x="1" y="0"/>
                </a:cxn>
              </a:cxnLst>
              <a:rect l="0" t="0" r="r" b="b"/>
              <a:pathLst>
                <a:path w="11" h="18">
                  <a:moveTo>
                    <a:pt x="1" y="0"/>
                  </a:moveTo>
                  <a:cubicBezTo>
                    <a:pt x="11" y="2"/>
                    <a:pt x="11" y="2"/>
                    <a:pt x="11" y="2"/>
                  </a:cubicBezTo>
                  <a:cubicBezTo>
                    <a:pt x="11" y="8"/>
                    <a:pt x="11" y="13"/>
                    <a:pt x="11" y="18"/>
                  </a:cubicBezTo>
                  <a:cubicBezTo>
                    <a:pt x="1" y="17"/>
                    <a:pt x="1" y="17"/>
                    <a:pt x="1" y="17"/>
                  </a:cubicBezTo>
                  <a:cubicBezTo>
                    <a:pt x="0" y="10"/>
                    <a:pt x="1" y="7"/>
                    <a:pt x="1"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55" name="Freeform 768">
              <a:extLst>
                <a:ext uri="{FF2B5EF4-FFF2-40B4-BE49-F238E27FC236}">
                  <a16:creationId xmlns:a16="http://schemas.microsoft.com/office/drawing/2014/main" id="{19AD9945-E83D-FD0D-46D5-FAFF183692BA}"/>
                </a:ext>
              </a:extLst>
            </p:cNvPr>
            <p:cNvSpPr>
              <a:spLocks/>
            </p:cNvSpPr>
            <p:nvPr/>
          </p:nvSpPr>
          <p:spPr bwMode="auto">
            <a:xfrm>
              <a:off x="1816100" y="2922588"/>
              <a:ext cx="31750" cy="46038"/>
            </a:xfrm>
            <a:custGeom>
              <a:avLst/>
              <a:gdLst/>
              <a:ahLst/>
              <a:cxnLst>
                <a:cxn ang="0">
                  <a:pos x="0" y="0"/>
                </a:cxn>
                <a:cxn ang="0">
                  <a:pos x="14" y="2"/>
                </a:cxn>
                <a:cxn ang="0">
                  <a:pos x="14" y="20"/>
                </a:cxn>
                <a:cxn ang="0">
                  <a:pos x="0" y="19"/>
                </a:cxn>
                <a:cxn ang="0">
                  <a:pos x="0" y="0"/>
                </a:cxn>
              </a:cxnLst>
              <a:rect l="0" t="0" r="r" b="b"/>
              <a:pathLst>
                <a:path w="14" h="20">
                  <a:moveTo>
                    <a:pt x="0" y="0"/>
                  </a:moveTo>
                  <a:cubicBezTo>
                    <a:pt x="14" y="2"/>
                    <a:pt x="14" y="2"/>
                    <a:pt x="14" y="2"/>
                  </a:cubicBezTo>
                  <a:cubicBezTo>
                    <a:pt x="14" y="8"/>
                    <a:pt x="14" y="14"/>
                    <a:pt x="14" y="20"/>
                  </a:cubicBezTo>
                  <a:cubicBezTo>
                    <a:pt x="0" y="19"/>
                    <a:pt x="0" y="19"/>
                    <a:pt x="0" y="19"/>
                  </a:cubicBezTo>
                  <a:cubicBezTo>
                    <a:pt x="0" y="12"/>
                    <a:pt x="0" y="7"/>
                    <a:pt x="0"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56" name="Freeform 769">
              <a:extLst>
                <a:ext uri="{FF2B5EF4-FFF2-40B4-BE49-F238E27FC236}">
                  <a16:creationId xmlns:a16="http://schemas.microsoft.com/office/drawing/2014/main" id="{83C01CB6-BA4C-2ED9-C354-FE51520315C8}"/>
                </a:ext>
              </a:extLst>
            </p:cNvPr>
            <p:cNvSpPr>
              <a:spLocks/>
            </p:cNvSpPr>
            <p:nvPr/>
          </p:nvSpPr>
          <p:spPr bwMode="auto">
            <a:xfrm>
              <a:off x="1870075" y="2928938"/>
              <a:ext cx="25400" cy="41275"/>
            </a:xfrm>
            <a:custGeom>
              <a:avLst/>
              <a:gdLst/>
              <a:ahLst/>
              <a:cxnLst>
                <a:cxn ang="0">
                  <a:pos x="1" y="0"/>
                </a:cxn>
                <a:cxn ang="0">
                  <a:pos x="11" y="1"/>
                </a:cxn>
                <a:cxn ang="0">
                  <a:pos x="11" y="18"/>
                </a:cxn>
                <a:cxn ang="0">
                  <a:pos x="1" y="17"/>
                </a:cxn>
                <a:cxn ang="0">
                  <a:pos x="1" y="0"/>
                </a:cxn>
              </a:cxnLst>
              <a:rect l="0" t="0" r="r" b="b"/>
              <a:pathLst>
                <a:path w="11" h="18">
                  <a:moveTo>
                    <a:pt x="1" y="0"/>
                  </a:moveTo>
                  <a:cubicBezTo>
                    <a:pt x="11" y="1"/>
                    <a:pt x="11" y="1"/>
                    <a:pt x="11" y="1"/>
                  </a:cubicBezTo>
                  <a:cubicBezTo>
                    <a:pt x="11" y="18"/>
                    <a:pt x="11" y="18"/>
                    <a:pt x="11" y="18"/>
                  </a:cubicBezTo>
                  <a:cubicBezTo>
                    <a:pt x="1" y="17"/>
                    <a:pt x="1" y="17"/>
                    <a:pt x="1" y="17"/>
                  </a:cubicBezTo>
                  <a:cubicBezTo>
                    <a:pt x="0" y="11"/>
                    <a:pt x="1" y="6"/>
                    <a:pt x="1"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57" name="Freeform 770">
              <a:extLst>
                <a:ext uri="{FF2B5EF4-FFF2-40B4-BE49-F238E27FC236}">
                  <a16:creationId xmlns:a16="http://schemas.microsoft.com/office/drawing/2014/main" id="{46FB902E-0EEF-A269-3BA2-0239FDC6B8B9}"/>
                </a:ext>
              </a:extLst>
            </p:cNvPr>
            <p:cNvSpPr>
              <a:spLocks/>
            </p:cNvSpPr>
            <p:nvPr/>
          </p:nvSpPr>
          <p:spPr bwMode="auto">
            <a:xfrm>
              <a:off x="1914525" y="2936876"/>
              <a:ext cx="23813" cy="39688"/>
            </a:xfrm>
            <a:custGeom>
              <a:avLst/>
              <a:gdLst/>
              <a:ahLst/>
              <a:cxnLst>
                <a:cxn ang="0">
                  <a:pos x="1" y="0"/>
                </a:cxn>
                <a:cxn ang="0">
                  <a:pos x="11" y="1"/>
                </a:cxn>
                <a:cxn ang="0">
                  <a:pos x="11" y="18"/>
                </a:cxn>
                <a:cxn ang="0">
                  <a:pos x="1" y="17"/>
                </a:cxn>
                <a:cxn ang="0">
                  <a:pos x="1" y="0"/>
                </a:cxn>
              </a:cxnLst>
              <a:rect l="0" t="0" r="r" b="b"/>
              <a:pathLst>
                <a:path w="11" h="18">
                  <a:moveTo>
                    <a:pt x="1" y="0"/>
                  </a:moveTo>
                  <a:cubicBezTo>
                    <a:pt x="11" y="1"/>
                    <a:pt x="11" y="1"/>
                    <a:pt x="11" y="1"/>
                  </a:cubicBezTo>
                  <a:cubicBezTo>
                    <a:pt x="11" y="18"/>
                    <a:pt x="11" y="18"/>
                    <a:pt x="11" y="18"/>
                  </a:cubicBezTo>
                  <a:cubicBezTo>
                    <a:pt x="1" y="17"/>
                    <a:pt x="1" y="17"/>
                    <a:pt x="1" y="17"/>
                  </a:cubicBezTo>
                  <a:cubicBezTo>
                    <a:pt x="0" y="10"/>
                    <a:pt x="1" y="6"/>
                    <a:pt x="1"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58" name="Freeform 771">
              <a:extLst>
                <a:ext uri="{FF2B5EF4-FFF2-40B4-BE49-F238E27FC236}">
                  <a16:creationId xmlns:a16="http://schemas.microsoft.com/office/drawing/2014/main" id="{4894566B-BBC8-3F28-338A-01D26E5A2EFA}"/>
                </a:ext>
              </a:extLst>
            </p:cNvPr>
            <p:cNvSpPr>
              <a:spLocks/>
            </p:cNvSpPr>
            <p:nvPr/>
          </p:nvSpPr>
          <p:spPr bwMode="auto">
            <a:xfrm>
              <a:off x="1816100" y="2986088"/>
              <a:ext cx="31750" cy="42863"/>
            </a:xfrm>
            <a:custGeom>
              <a:avLst/>
              <a:gdLst/>
              <a:ahLst/>
              <a:cxnLst>
                <a:cxn ang="0">
                  <a:pos x="0" y="0"/>
                </a:cxn>
                <a:cxn ang="0">
                  <a:pos x="14" y="1"/>
                </a:cxn>
                <a:cxn ang="0">
                  <a:pos x="14" y="19"/>
                </a:cxn>
                <a:cxn ang="0">
                  <a:pos x="0" y="19"/>
                </a:cxn>
                <a:cxn ang="0">
                  <a:pos x="0" y="0"/>
                </a:cxn>
              </a:cxnLst>
              <a:rect l="0" t="0" r="r" b="b"/>
              <a:pathLst>
                <a:path w="14" h="19">
                  <a:moveTo>
                    <a:pt x="0" y="0"/>
                  </a:moveTo>
                  <a:cubicBezTo>
                    <a:pt x="14" y="1"/>
                    <a:pt x="14" y="1"/>
                    <a:pt x="14" y="1"/>
                  </a:cubicBezTo>
                  <a:cubicBezTo>
                    <a:pt x="14" y="7"/>
                    <a:pt x="14" y="13"/>
                    <a:pt x="14" y="19"/>
                  </a:cubicBezTo>
                  <a:cubicBezTo>
                    <a:pt x="0" y="19"/>
                    <a:pt x="0" y="19"/>
                    <a:pt x="0" y="19"/>
                  </a:cubicBezTo>
                  <a:cubicBezTo>
                    <a:pt x="0" y="12"/>
                    <a:pt x="0" y="6"/>
                    <a:pt x="0"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59" name="Freeform 772">
              <a:extLst>
                <a:ext uri="{FF2B5EF4-FFF2-40B4-BE49-F238E27FC236}">
                  <a16:creationId xmlns:a16="http://schemas.microsoft.com/office/drawing/2014/main" id="{8992F118-387B-2DC8-9177-1A05EF2D6CED}"/>
                </a:ext>
              </a:extLst>
            </p:cNvPr>
            <p:cNvSpPr>
              <a:spLocks/>
            </p:cNvSpPr>
            <p:nvPr/>
          </p:nvSpPr>
          <p:spPr bwMode="auto">
            <a:xfrm>
              <a:off x="1870075" y="2987676"/>
              <a:ext cx="25400" cy="41275"/>
            </a:xfrm>
            <a:custGeom>
              <a:avLst/>
              <a:gdLst/>
              <a:ahLst/>
              <a:cxnLst>
                <a:cxn ang="0">
                  <a:pos x="1" y="0"/>
                </a:cxn>
                <a:cxn ang="0">
                  <a:pos x="11" y="1"/>
                </a:cxn>
                <a:cxn ang="0">
                  <a:pos x="11" y="18"/>
                </a:cxn>
                <a:cxn ang="0">
                  <a:pos x="1" y="18"/>
                </a:cxn>
                <a:cxn ang="0">
                  <a:pos x="1" y="0"/>
                </a:cxn>
              </a:cxnLst>
              <a:rect l="0" t="0" r="r" b="b"/>
              <a:pathLst>
                <a:path w="11" h="18">
                  <a:moveTo>
                    <a:pt x="1" y="0"/>
                  </a:moveTo>
                  <a:cubicBezTo>
                    <a:pt x="11" y="1"/>
                    <a:pt x="11" y="1"/>
                    <a:pt x="11" y="1"/>
                  </a:cubicBezTo>
                  <a:cubicBezTo>
                    <a:pt x="11" y="7"/>
                    <a:pt x="11" y="12"/>
                    <a:pt x="11" y="18"/>
                  </a:cubicBezTo>
                  <a:cubicBezTo>
                    <a:pt x="1" y="18"/>
                    <a:pt x="1" y="18"/>
                    <a:pt x="1" y="18"/>
                  </a:cubicBezTo>
                  <a:cubicBezTo>
                    <a:pt x="0" y="11"/>
                    <a:pt x="1" y="7"/>
                    <a:pt x="1"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60" name="Freeform 773">
              <a:extLst>
                <a:ext uri="{FF2B5EF4-FFF2-40B4-BE49-F238E27FC236}">
                  <a16:creationId xmlns:a16="http://schemas.microsoft.com/office/drawing/2014/main" id="{AA0F04ED-FDDC-6FDF-57F6-66C2ABF428B7}"/>
                </a:ext>
              </a:extLst>
            </p:cNvPr>
            <p:cNvSpPr>
              <a:spLocks/>
            </p:cNvSpPr>
            <p:nvPr/>
          </p:nvSpPr>
          <p:spPr bwMode="auto">
            <a:xfrm>
              <a:off x="1914525" y="2990851"/>
              <a:ext cx="23813" cy="38100"/>
            </a:xfrm>
            <a:custGeom>
              <a:avLst/>
              <a:gdLst/>
              <a:ahLst/>
              <a:cxnLst>
                <a:cxn ang="0">
                  <a:pos x="1" y="0"/>
                </a:cxn>
                <a:cxn ang="0">
                  <a:pos x="11" y="1"/>
                </a:cxn>
                <a:cxn ang="0">
                  <a:pos x="11" y="17"/>
                </a:cxn>
                <a:cxn ang="0">
                  <a:pos x="1" y="17"/>
                </a:cxn>
                <a:cxn ang="0">
                  <a:pos x="1" y="0"/>
                </a:cxn>
              </a:cxnLst>
              <a:rect l="0" t="0" r="r" b="b"/>
              <a:pathLst>
                <a:path w="11" h="17">
                  <a:moveTo>
                    <a:pt x="1" y="0"/>
                  </a:moveTo>
                  <a:cubicBezTo>
                    <a:pt x="11" y="1"/>
                    <a:pt x="11" y="1"/>
                    <a:pt x="11" y="1"/>
                  </a:cubicBezTo>
                  <a:cubicBezTo>
                    <a:pt x="11" y="17"/>
                    <a:pt x="11" y="17"/>
                    <a:pt x="11" y="17"/>
                  </a:cubicBezTo>
                  <a:cubicBezTo>
                    <a:pt x="1" y="17"/>
                    <a:pt x="1" y="17"/>
                    <a:pt x="1" y="17"/>
                  </a:cubicBezTo>
                  <a:cubicBezTo>
                    <a:pt x="0" y="11"/>
                    <a:pt x="1" y="7"/>
                    <a:pt x="1"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61" name="Freeform 774">
              <a:extLst>
                <a:ext uri="{FF2B5EF4-FFF2-40B4-BE49-F238E27FC236}">
                  <a16:creationId xmlns:a16="http://schemas.microsoft.com/office/drawing/2014/main" id="{0305178A-5F13-CC69-561B-E32406044F28}"/>
                </a:ext>
              </a:extLst>
            </p:cNvPr>
            <p:cNvSpPr>
              <a:spLocks/>
            </p:cNvSpPr>
            <p:nvPr/>
          </p:nvSpPr>
          <p:spPr bwMode="auto">
            <a:xfrm>
              <a:off x="2049463" y="2744788"/>
              <a:ext cx="42863" cy="71438"/>
            </a:xfrm>
            <a:custGeom>
              <a:avLst/>
              <a:gdLst/>
              <a:ahLst/>
              <a:cxnLst>
                <a:cxn ang="0">
                  <a:pos x="0" y="0"/>
                </a:cxn>
                <a:cxn ang="0">
                  <a:pos x="19" y="5"/>
                </a:cxn>
                <a:cxn ang="0">
                  <a:pos x="19" y="31"/>
                </a:cxn>
                <a:cxn ang="0">
                  <a:pos x="0" y="27"/>
                </a:cxn>
                <a:cxn ang="0">
                  <a:pos x="0" y="0"/>
                </a:cxn>
              </a:cxnLst>
              <a:rect l="0" t="0" r="r" b="b"/>
              <a:pathLst>
                <a:path w="19" h="31">
                  <a:moveTo>
                    <a:pt x="0" y="0"/>
                  </a:moveTo>
                  <a:cubicBezTo>
                    <a:pt x="19" y="5"/>
                    <a:pt x="19" y="5"/>
                    <a:pt x="19" y="5"/>
                  </a:cubicBezTo>
                  <a:cubicBezTo>
                    <a:pt x="19" y="31"/>
                    <a:pt x="19" y="31"/>
                    <a:pt x="19" y="31"/>
                  </a:cubicBezTo>
                  <a:cubicBezTo>
                    <a:pt x="0" y="27"/>
                    <a:pt x="0" y="27"/>
                    <a:pt x="0" y="27"/>
                  </a:cubicBezTo>
                  <a:cubicBezTo>
                    <a:pt x="0" y="21"/>
                    <a:pt x="0" y="7"/>
                    <a:pt x="0"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62" name="Freeform 775">
              <a:extLst>
                <a:ext uri="{FF2B5EF4-FFF2-40B4-BE49-F238E27FC236}">
                  <a16:creationId xmlns:a16="http://schemas.microsoft.com/office/drawing/2014/main" id="{44BDFC41-6F63-D7E9-07AA-D1FFA5A54C59}"/>
                </a:ext>
              </a:extLst>
            </p:cNvPr>
            <p:cNvSpPr>
              <a:spLocks/>
            </p:cNvSpPr>
            <p:nvPr/>
          </p:nvSpPr>
          <p:spPr bwMode="auto">
            <a:xfrm>
              <a:off x="2124075" y="2765426"/>
              <a:ext cx="36513" cy="63500"/>
            </a:xfrm>
            <a:custGeom>
              <a:avLst/>
              <a:gdLst/>
              <a:ahLst/>
              <a:cxnLst>
                <a:cxn ang="0">
                  <a:pos x="0" y="0"/>
                </a:cxn>
                <a:cxn ang="0">
                  <a:pos x="16" y="4"/>
                </a:cxn>
                <a:cxn ang="0">
                  <a:pos x="16" y="28"/>
                </a:cxn>
                <a:cxn ang="0">
                  <a:pos x="0" y="24"/>
                </a:cxn>
                <a:cxn ang="0">
                  <a:pos x="0" y="0"/>
                </a:cxn>
              </a:cxnLst>
              <a:rect l="0" t="0" r="r" b="b"/>
              <a:pathLst>
                <a:path w="16" h="28">
                  <a:moveTo>
                    <a:pt x="0" y="0"/>
                  </a:moveTo>
                  <a:cubicBezTo>
                    <a:pt x="16" y="4"/>
                    <a:pt x="16" y="4"/>
                    <a:pt x="16" y="4"/>
                  </a:cubicBezTo>
                  <a:cubicBezTo>
                    <a:pt x="16" y="28"/>
                    <a:pt x="16" y="28"/>
                    <a:pt x="16" y="28"/>
                  </a:cubicBezTo>
                  <a:cubicBezTo>
                    <a:pt x="0" y="24"/>
                    <a:pt x="0" y="24"/>
                    <a:pt x="0" y="24"/>
                  </a:cubicBezTo>
                  <a:cubicBezTo>
                    <a:pt x="0" y="18"/>
                    <a:pt x="0" y="7"/>
                    <a:pt x="0"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63" name="Freeform 776">
              <a:extLst>
                <a:ext uri="{FF2B5EF4-FFF2-40B4-BE49-F238E27FC236}">
                  <a16:creationId xmlns:a16="http://schemas.microsoft.com/office/drawing/2014/main" id="{0501F404-75C7-8D54-AC2C-A1F85375CCA9}"/>
                </a:ext>
              </a:extLst>
            </p:cNvPr>
            <p:cNvSpPr>
              <a:spLocks/>
            </p:cNvSpPr>
            <p:nvPr/>
          </p:nvSpPr>
          <p:spPr bwMode="auto">
            <a:xfrm>
              <a:off x="2187575" y="2781301"/>
              <a:ext cx="31750" cy="60325"/>
            </a:xfrm>
            <a:custGeom>
              <a:avLst/>
              <a:gdLst/>
              <a:ahLst/>
              <a:cxnLst>
                <a:cxn ang="0">
                  <a:pos x="0" y="0"/>
                </a:cxn>
                <a:cxn ang="0">
                  <a:pos x="14" y="3"/>
                </a:cxn>
                <a:cxn ang="0">
                  <a:pos x="14" y="26"/>
                </a:cxn>
                <a:cxn ang="0">
                  <a:pos x="0" y="23"/>
                </a:cxn>
                <a:cxn ang="0">
                  <a:pos x="0" y="0"/>
                </a:cxn>
              </a:cxnLst>
              <a:rect l="0" t="0" r="r" b="b"/>
              <a:pathLst>
                <a:path w="14" h="26">
                  <a:moveTo>
                    <a:pt x="0" y="0"/>
                  </a:moveTo>
                  <a:cubicBezTo>
                    <a:pt x="14" y="3"/>
                    <a:pt x="14" y="3"/>
                    <a:pt x="14" y="3"/>
                  </a:cubicBezTo>
                  <a:cubicBezTo>
                    <a:pt x="14" y="26"/>
                    <a:pt x="14" y="26"/>
                    <a:pt x="14" y="26"/>
                  </a:cubicBezTo>
                  <a:cubicBezTo>
                    <a:pt x="0" y="23"/>
                    <a:pt x="0" y="23"/>
                    <a:pt x="0" y="23"/>
                  </a:cubicBezTo>
                  <a:cubicBezTo>
                    <a:pt x="0" y="16"/>
                    <a:pt x="0" y="6"/>
                    <a:pt x="0"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64" name="Freeform 777">
              <a:extLst>
                <a:ext uri="{FF2B5EF4-FFF2-40B4-BE49-F238E27FC236}">
                  <a16:creationId xmlns:a16="http://schemas.microsoft.com/office/drawing/2014/main" id="{2EC7EB0A-BB3B-990E-D2EA-17B9827DED68}"/>
                </a:ext>
              </a:extLst>
            </p:cNvPr>
            <p:cNvSpPr>
              <a:spLocks/>
            </p:cNvSpPr>
            <p:nvPr/>
          </p:nvSpPr>
          <p:spPr bwMode="auto">
            <a:xfrm>
              <a:off x="2049463" y="2833688"/>
              <a:ext cx="42863" cy="66675"/>
            </a:xfrm>
            <a:custGeom>
              <a:avLst/>
              <a:gdLst/>
              <a:ahLst/>
              <a:cxnLst>
                <a:cxn ang="0">
                  <a:pos x="0" y="0"/>
                </a:cxn>
                <a:cxn ang="0">
                  <a:pos x="19" y="3"/>
                </a:cxn>
                <a:cxn ang="0">
                  <a:pos x="19" y="29"/>
                </a:cxn>
                <a:cxn ang="0">
                  <a:pos x="0" y="27"/>
                </a:cxn>
                <a:cxn ang="0">
                  <a:pos x="0" y="0"/>
                </a:cxn>
              </a:cxnLst>
              <a:rect l="0" t="0" r="r" b="b"/>
              <a:pathLst>
                <a:path w="19" h="29">
                  <a:moveTo>
                    <a:pt x="0" y="0"/>
                  </a:moveTo>
                  <a:cubicBezTo>
                    <a:pt x="19" y="3"/>
                    <a:pt x="19" y="3"/>
                    <a:pt x="19" y="3"/>
                  </a:cubicBezTo>
                  <a:cubicBezTo>
                    <a:pt x="19" y="29"/>
                    <a:pt x="19" y="29"/>
                    <a:pt x="19" y="29"/>
                  </a:cubicBezTo>
                  <a:cubicBezTo>
                    <a:pt x="0" y="27"/>
                    <a:pt x="0" y="27"/>
                    <a:pt x="0" y="27"/>
                  </a:cubicBezTo>
                  <a:cubicBezTo>
                    <a:pt x="0" y="21"/>
                    <a:pt x="0" y="7"/>
                    <a:pt x="0"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65" name="Freeform 778">
              <a:extLst>
                <a:ext uri="{FF2B5EF4-FFF2-40B4-BE49-F238E27FC236}">
                  <a16:creationId xmlns:a16="http://schemas.microsoft.com/office/drawing/2014/main" id="{EF7F1AD5-209C-D1CB-561B-0D44EFF887FA}"/>
                </a:ext>
              </a:extLst>
            </p:cNvPr>
            <p:cNvSpPr>
              <a:spLocks/>
            </p:cNvSpPr>
            <p:nvPr/>
          </p:nvSpPr>
          <p:spPr bwMode="auto">
            <a:xfrm>
              <a:off x="2124075" y="2844801"/>
              <a:ext cx="36513" cy="60325"/>
            </a:xfrm>
            <a:custGeom>
              <a:avLst/>
              <a:gdLst/>
              <a:ahLst/>
              <a:cxnLst>
                <a:cxn ang="0">
                  <a:pos x="0" y="0"/>
                </a:cxn>
                <a:cxn ang="0">
                  <a:pos x="16" y="3"/>
                </a:cxn>
                <a:cxn ang="0">
                  <a:pos x="16" y="26"/>
                </a:cxn>
                <a:cxn ang="0">
                  <a:pos x="0" y="25"/>
                </a:cxn>
                <a:cxn ang="0">
                  <a:pos x="0" y="0"/>
                </a:cxn>
              </a:cxnLst>
              <a:rect l="0" t="0" r="r" b="b"/>
              <a:pathLst>
                <a:path w="16" h="26">
                  <a:moveTo>
                    <a:pt x="0" y="0"/>
                  </a:moveTo>
                  <a:cubicBezTo>
                    <a:pt x="16" y="3"/>
                    <a:pt x="16" y="3"/>
                    <a:pt x="16" y="3"/>
                  </a:cubicBezTo>
                  <a:cubicBezTo>
                    <a:pt x="16" y="26"/>
                    <a:pt x="16" y="26"/>
                    <a:pt x="16" y="26"/>
                  </a:cubicBezTo>
                  <a:cubicBezTo>
                    <a:pt x="0" y="25"/>
                    <a:pt x="0" y="25"/>
                    <a:pt x="0" y="25"/>
                  </a:cubicBezTo>
                  <a:cubicBezTo>
                    <a:pt x="0" y="19"/>
                    <a:pt x="0" y="7"/>
                    <a:pt x="0"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66" name="Freeform 779">
              <a:extLst>
                <a:ext uri="{FF2B5EF4-FFF2-40B4-BE49-F238E27FC236}">
                  <a16:creationId xmlns:a16="http://schemas.microsoft.com/office/drawing/2014/main" id="{E271EFE4-0DC7-88CB-0FE9-8FEF287B46A9}"/>
                </a:ext>
              </a:extLst>
            </p:cNvPr>
            <p:cNvSpPr>
              <a:spLocks/>
            </p:cNvSpPr>
            <p:nvPr/>
          </p:nvSpPr>
          <p:spPr bwMode="auto">
            <a:xfrm>
              <a:off x="2187575" y="2859088"/>
              <a:ext cx="31750" cy="52388"/>
            </a:xfrm>
            <a:custGeom>
              <a:avLst/>
              <a:gdLst/>
              <a:ahLst/>
              <a:cxnLst>
                <a:cxn ang="0">
                  <a:pos x="0" y="0"/>
                </a:cxn>
                <a:cxn ang="0">
                  <a:pos x="14" y="2"/>
                </a:cxn>
                <a:cxn ang="0">
                  <a:pos x="14" y="23"/>
                </a:cxn>
                <a:cxn ang="0">
                  <a:pos x="0" y="22"/>
                </a:cxn>
                <a:cxn ang="0">
                  <a:pos x="0" y="0"/>
                </a:cxn>
              </a:cxnLst>
              <a:rect l="0" t="0" r="r" b="b"/>
              <a:pathLst>
                <a:path w="14" h="23">
                  <a:moveTo>
                    <a:pt x="0" y="0"/>
                  </a:moveTo>
                  <a:cubicBezTo>
                    <a:pt x="14" y="2"/>
                    <a:pt x="14" y="2"/>
                    <a:pt x="14" y="2"/>
                  </a:cubicBezTo>
                  <a:cubicBezTo>
                    <a:pt x="14" y="23"/>
                    <a:pt x="14" y="23"/>
                    <a:pt x="14" y="23"/>
                  </a:cubicBezTo>
                  <a:cubicBezTo>
                    <a:pt x="0" y="22"/>
                    <a:pt x="0" y="22"/>
                    <a:pt x="0" y="22"/>
                  </a:cubicBezTo>
                  <a:cubicBezTo>
                    <a:pt x="0" y="16"/>
                    <a:pt x="0" y="6"/>
                    <a:pt x="0"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67" name="Freeform 780">
              <a:extLst>
                <a:ext uri="{FF2B5EF4-FFF2-40B4-BE49-F238E27FC236}">
                  <a16:creationId xmlns:a16="http://schemas.microsoft.com/office/drawing/2014/main" id="{41C531F3-5BDC-7F1A-F078-3BC6B01DE739}"/>
                </a:ext>
              </a:extLst>
            </p:cNvPr>
            <p:cNvSpPr>
              <a:spLocks/>
            </p:cNvSpPr>
            <p:nvPr/>
          </p:nvSpPr>
          <p:spPr bwMode="auto">
            <a:xfrm>
              <a:off x="2049463" y="2922588"/>
              <a:ext cx="42863" cy="63500"/>
            </a:xfrm>
            <a:custGeom>
              <a:avLst/>
              <a:gdLst/>
              <a:ahLst/>
              <a:cxnLst>
                <a:cxn ang="0">
                  <a:pos x="0" y="0"/>
                </a:cxn>
                <a:cxn ang="0">
                  <a:pos x="19" y="2"/>
                </a:cxn>
                <a:cxn ang="0">
                  <a:pos x="19" y="28"/>
                </a:cxn>
                <a:cxn ang="0">
                  <a:pos x="0" y="28"/>
                </a:cxn>
                <a:cxn ang="0">
                  <a:pos x="0" y="0"/>
                </a:cxn>
              </a:cxnLst>
              <a:rect l="0" t="0" r="r" b="b"/>
              <a:pathLst>
                <a:path w="19" h="28">
                  <a:moveTo>
                    <a:pt x="0" y="0"/>
                  </a:moveTo>
                  <a:cubicBezTo>
                    <a:pt x="19" y="2"/>
                    <a:pt x="19" y="2"/>
                    <a:pt x="19" y="2"/>
                  </a:cubicBezTo>
                  <a:cubicBezTo>
                    <a:pt x="19" y="28"/>
                    <a:pt x="19" y="28"/>
                    <a:pt x="19" y="28"/>
                  </a:cubicBezTo>
                  <a:cubicBezTo>
                    <a:pt x="0" y="28"/>
                    <a:pt x="0" y="28"/>
                    <a:pt x="0" y="28"/>
                  </a:cubicBezTo>
                  <a:cubicBezTo>
                    <a:pt x="0" y="21"/>
                    <a:pt x="0" y="7"/>
                    <a:pt x="0"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68" name="Freeform 781">
              <a:extLst>
                <a:ext uri="{FF2B5EF4-FFF2-40B4-BE49-F238E27FC236}">
                  <a16:creationId xmlns:a16="http://schemas.microsoft.com/office/drawing/2014/main" id="{B7752B3B-5330-A291-E57E-B4A1C2C82984}"/>
                </a:ext>
              </a:extLst>
            </p:cNvPr>
            <p:cNvSpPr>
              <a:spLocks/>
            </p:cNvSpPr>
            <p:nvPr/>
          </p:nvSpPr>
          <p:spPr bwMode="auto">
            <a:xfrm>
              <a:off x="2124075" y="2928938"/>
              <a:ext cx="36513" cy="57150"/>
            </a:xfrm>
            <a:custGeom>
              <a:avLst/>
              <a:gdLst/>
              <a:ahLst/>
              <a:cxnLst>
                <a:cxn ang="0">
                  <a:pos x="0" y="0"/>
                </a:cxn>
                <a:cxn ang="0">
                  <a:pos x="16" y="1"/>
                </a:cxn>
                <a:cxn ang="0">
                  <a:pos x="16" y="25"/>
                </a:cxn>
                <a:cxn ang="0">
                  <a:pos x="0" y="25"/>
                </a:cxn>
                <a:cxn ang="0">
                  <a:pos x="0" y="0"/>
                </a:cxn>
              </a:cxnLst>
              <a:rect l="0" t="0" r="r" b="b"/>
              <a:pathLst>
                <a:path w="16" h="25">
                  <a:moveTo>
                    <a:pt x="0" y="0"/>
                  </a:moveTo>
                  <a:cubicBezTo>
                    <a:pt x="16" y="1"/>
                    <a:pt x="16" y="1"/>
                    <a:pt x="16" y="1"/>
                  </a:cubicBezTo>
                  <a:cubicBezTo>
                    <a:pt x="16" y="25"/>
                    <a:pt x="16" y="25"/>
                    <a:pt x="16" y="25"/>
                  </a:cubicBezTo>
                  <a:cubicBezTo>
                    <a:pt x="0" y="25"/>
                    <a:pt x="0" y="25"/>
                    <a:pt x="0" y="25"/>
                  </a:cubicBezTo>
                  <a:cubicBezTo>
                    <a:pt x="0" y="18"/>
                    <a:pt x="0" y="6"/>
                    <a:pt x="0"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sp>
          <p:nvSpPr>
            <p:cNvPr id="769" name="Freeform 782">
              <a:extLst>
                <a:ext uri="{FF2B5EF4-FFF2-40B4-BE49-F238E27FC236}">
                  <a16:creationId xmlns:a16="http://schemas.microsoft.com/office/drawing/2014/main" id="{5F5B4077-E673-4990-BB3D-E978D20A93FB}"/>
                </a:ext>
              </a:extLst>
            </p:cNvPr>
            <p:cNvSpPr>
              <a:spLocks/>
            </p:cNvSpPr>
            <p:nvPr/>
          </p:nvSpPr>
          <p:spPr bwMode="auto">
            <a:xfrm>
              <a:off x="2187575" y="2932113"/>
              <a:ext cx="31750" cy="53975"/>
            </a:xfrm>
            <a:custGeom>
              <a:avLst/>
              <a:gdLst/>
              <a:ahLst/>
              <a:cxnLst>
                <a:cxn ang="0">
                  <a:pos x="0" y="0"/>
                </a:cxn>
                <a:cxn ang="0">
                  <a:pos x="14" y="1"/>
                </a:cxn>
                <a:cxn ang="0">
                  <a:pos x="14" y="24"/>
                </a:cxn>
                <a:cxn ang="0">
                  <a:pos x="0" y="24"/>
                </a:cxn>
                <a:cxn ang="0">
                  <a:pos x="0" y="0"/>
                </a:cxn>
              </a:cxnLst>
              <a:rect l="0" t="0" r="r" b="b"/>
              <a:pathLst>
                <a:path w="14" h="24">
                  <a:moveTo>
                    <a:pt x="0" y="0"/>
                  </a:moveTo>
                  <a:cubicBezTo>
                    <a:pt x="14" y="1"/>
                    <a:pt x="14" y="1"/>
                    <a:pt x="14" y="1"/>
                  </a:cubicBezTo>
                  <a:cubicBezTo>
                    <a:pt x="14" y="24"/>
                    <a:pt x="14" y="24"/>
                    <a:pt x="14" y="24"/>
                  </a:cubicBezTo>
                  <a:cubicBezTo>
                    <a:pt x="0" y="24"/>
                    <a:pt x="0" y="24"/>
                    <a:pt x="0" y="24"/>
                  </a:cubicBezTo>
                  <a:cubicBezTo>
                    <a:pt x="0" y="17"/>
                    <a:pt x="0" y="7"/>
                    <a:pt x="0" y="0"/>
                  </a:cubicBezTo>
                  <a:close/>
                </a:path>
              </a:pathLst>
            </a:custGeom>
            <a:noFill/>
            <a:ln w="12700" cap="rnd">
              <a:solidFill>
                <a:sysClr val="windowText" lastClr="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mj-lt"/>
                <a:ea typeface="+mn-ea"/>
                <a:cs typeface="Arial" pitchFamily="34" charset="0"/>
              </a:endParaRPr>
            </a:p>
          </p:txBody>
        </p:sp>
      </p:grpSp>
      <p:sp>
        <p:nvSpPr>
          <p:cNvPr id="770" name="Rectangle 769">
            <a:extLst>
              <a:ext uri="{FF2B5EF4-FFF2-40B4-BE49-F238E27FC236}">
                <a16:creationId xmlns:a16="http://schemas.microsoft.com/office/drawing/2014/main" id="{AA246053-56E8-13ED-135F-4F5EAF0180DC}"/>
              </a:ext>
            </a:extLst>
          </p:cNvPr>
          <p:cNvSpPr/>
          <p:nvPr/>
        </p:nvSpPr>
        <p:spPr>
          <a:xfrm>
            <a:off x="607557" y="2045377"/>
            <a:ext cx="720000" cy="404826"/>
          </a:xfrm>
          <a:prstGeom prst="rect">
            <a:avLst/>
          </a:prstGeom>
          <a:noFill/>
          <a:ln w="9525" cap="flat" cmpd="sng" algn="ctr">
            <a:noFill/>
            <a:prstDash val="solid"/>
          </a:ln>
          <a:effectLst/>
        </p:spPr>
        <p:txBody>
          <a:bodyPr lIns="0" rIns="0" rtlCol="0" anchor="ctr" anchorCtr="0"/>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0" lang="en-US" sz="1000" b="1" i="1" u="none" strike="noStrike" kern="0" cap="none" spc="0" normalizeH="0" baseline="0" noProof="0">
                <a:ln>
                  <a:noFill/>
                </a:ln>
                <a:solidFill>
                  <a:srgbClr val="000000"/>
                </a:solidFill>
                <a:effectLst/>
                <a:uLnTx/>
                <a:uFillTx/>
                <a:latin typeface="+mj-lt"/>
                <a:ea typeface="+mn-ea"/>
                <a:cs typeface="+mn-cs"/>
              </a:rPr>
              <a:t>Kick-off</a:t>
            </a:r>
          </a:p>
        </p:txBody>
      </p:sp>
      <p:pic>
        <p:nvPicPr>
          <p:cNvPr id="771" name="Picture 770">
            <a:extLst>
              <a:ext uri="{FF2B5EF4-FFF2-40B4-BE49-F238E27FC236}">
                <a16:creationId xmlns:a16="http://schemas.microsoft.com/office/drawing/2014/main" id="{5A8CA52D-FB75-74F5-8A20-3CBF10BEBBF9}"/>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361451" y="2125869"/>
            <a:ext cx="1313611" cy="648000"/>
          </a:xfrm>
          <a:prstGeom prst="rect">
            <a:avLst/>
          </a:prstGeom>
          <a:ln>
            <a:noFill/>
          </a:ln>
        </p:spPr>
      </p:pic>
      <p:pic>
        <p:nvPicPr>
          <p:cNvPr id="772" name="Picture 771">
            <a:extLst>
              <a:ext uri="{FF2B5EF4-FFF2-40B4-BE49-F238E27FC236}">
                <a16:creationId xmlns:a16="http://schemas.microsoft.com/office/drawing/2014/main" id="{72647B14-9B10-F6FD-F968-3EEBBCCD409A}"/>
              </a:ext>
            </a:extLst>
          </p:cNvPr>
          <p:cNvPicPr>
            <a:picLocks noChangeAspect="1"/>
          </p:cNvPicPr>
          <p:nvPr/>
        </p:nvPicPr>
        <p:blipFill>
          <a:blip r:embed="rId9"/>
          <a:stretch>
            <a:fillRect/>
          </a:stretch>
        </p:blipFill>
        <p:spPr>
          <a:xfrm>
            <a:off x="3810240" y="2125869"/>
            <a:ext cx="1310754" cy="664522"/>
          </a:xfrm>
          <a:prstGeom prst="rect">
            <a:avLst/>
          </a:prstGeom>
        </p:spPr>
      </p:pic>
      <p:pic>
        <p:nvPicPr>
          <p:cNvPr id="773" name="Picture 772">
            <a:extLst>
              <a:ext uri="{FF2B5EF4-FFF2-40B4-BE49-F238E27FC236}">
                <a16:creationId xmlns:a16="http://schemas.microsoft.com/office/drawing/2014/main" id="{05094899-F741-D42D-BD8F-11B83A7B6024}"/>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6354161" y="2125869"/>
            <a:ext cx="1073429" cy="653422"/>
          </a:xfrm>
          <a:prstGeom prst="rect">
            <a:avLst/>
          </a:prstGeom>
        </p:spPr>
      </p:pic>
      <p:pic>
        <p:nvPicPr>
          <p:cNvPr id="774" name="Picture 6">
            <a:extLst>
              <a:ext uri="{FF2B5EF4-FFF2-40B4-BE49-F238E27FC236}">
                <a16:creationId xmlns:a16="http://schemas.microsoft.com/office/drawing/2014/main" id="{8A6A197A-4516-7EC2-9F73-253711DA4709}"/>
              </a:ext>
            </a:extLst>
          </p:cNvPr>
          <p:cNvPicPr>
            <a:picLocks noChangeAspect="1" noChangeArrowheads="1"/>
          </p:cNvPicPr>
          <p:nvPr/>
        </p:nvPicPr>
        <p:blipFill>
          <a:blip r:embed="rId11" cstate="screen"/>
          <a:srcRect/>
          <a:stretch>
            <a:fillRect/>
          </a:stretch>
        </p:blipFill>
        <p:spPr bwMode="auto">
          <a:xfrm>
            <a:off x="8760272" y="2125869"/>
            <a:ext cx="1187598" cy="648000"/>
          </a:xfrm>
          <a:prstGeom prst="rect">
            <a:avLst/>
          </a:prstGeom>
          <a:noFill/>
          <a:ln w="9525">
            <a:solidFill>
              <a:srgbClr val="FFFFFF">
                <a:lumMod val="50000"/>
              </a:srgbClr>
            </a:solidFill>
            <a:miter lim="800000"/>
            <a:headEnd/>
            <a:tailEnd/>
          </a:ln>
          <a:effectLst/>
        </p:spPr>
      </p:pic>
      <p:sp>
        <p:nvSpPr>
          <p:cNvPr id="775" name="AutoShape 36">
            <a:extLst>
              <a:ext uri="{FF2B5EF4-FFF2-40B4-BE49-F238E27FC236}">
                <a16:creationId xmlns:a16="http://schemas.microsoft.com/office/drawing/2014/main" id="{5BE4118B-7218-A4D5-502D-1CF56F8B6357}"/>
              </a:ext>
            </a:extLst>
          </p:cNvPr>
          <p:cNvSpPr>
            <a:spLocks noChangeArrowheads="1"/>
          </p:cNvSpPr>
          <p:nvPr/>
        </p:nvSpPr>
        <p:spPr bwMode="auto">
          <a:xfrm>
            <a:off x="952522" y="1818311"/>
            <a:ext cx="252000" cy="252000"/>
          </a:xfrm>
          <a:prstGeom prst="diamond">
            <a:avLst/>
          </a:prstGeom>
          <a:solidFill>
            <a:srgbClr val="95E616"/>
          </a:solidFill>
          <a:ln w="9525" algn="ctr">
            <a:noFill/>
            <a:round/>
            <a:headEnd/>
            <a:tailEnd/>
          </a:ln>
          <a:effectLst/>
        </p:spPr>
        <p:txBody>
          <a:bodyPr lIns="90000" tIns="46800" rIns="90000" bIns="46800" anchor="ctr"/>
          <a:lstStyle/>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n-US" sz="700" b="0" i="0" u="none" strike="noStrike" kern="0" cap="none" spc="0" normalizeH="0" baseline="0" noProof="0">
              <a:ln>
                <a:noFill/>
              </a:ln>
              <a:solidFill>
                <a:srgbClr val="F2A300"/>
              </a:solidFill>
              <a:effectLst/>
              <a:uLnTx/>
              <a:uFillTx/>
              <a:latin typeface="+mj-lt"/>
              <a:ea typeface="+mn-ea"/>
              <a:cs typeface="Calibri"/>
            </a:endParaRPr>
          </a:p>
        </p:txBody>
      </p:sp>
      <p:sp>
        <p:nvSpPr>
          <p:cNvPr id="776" name="Rounded Rectangle 15">
            <a:extLst>
              <a:ext uri="{FF2B5EF4-FFF2-40B4-BE49-F238E27FC236}">
                <a16:creationId xmlns:a16="http://schemas.microsoft.com/office/drawing/2014/main" id="{D2B3A89B-4D16-5FC9-9EA2-E6BA168809C4}"/>
              </a:ext>
            </a:extLst>
          </p:cNvPr>
          <p:cNvSpPr/>
          <p:nvPr/>
        </p:nvSpPr>
        <p:spPr bwMode="auto">
          <a:xfrm>
            <a:off x="3431166" y="1592848"/>
            <a:ext cx="180000" cy="180000"/>
          </a:xfrm>
          <a:prstGeom prst="roundRect">
            <a:avLst/>
          </a:prstGeom>
          <a:solidFill>
            <a:srgbClr val="0070AD"/>
          </a:solidFill>
          <a:ln w="19050" cap="flat" cmpd="sng" algn="ctr">
            <a:solidFill>
              <a:srgbClr val="FFFFFF"/>
            </a:solidFill>
            <a:prstDash val="solid"/>
          </a:ln>
          <a:effectLst>
            <a:outerShdw blurRad="50800" dist="38099" dir="2700015" rotWithShape="0">
              <a:scrgbClr r="0" g="0" b="0">
                <a:alpha val="40000"/>
              </a:scrgbClr>
            </a:outerShdw>
          </a:effectLst>
        </p:spPr>
        <p:txBody>
          <a:bodyPr rtlCol="0" anchor="ctr" anchorCtr="0"/>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en-US" sz="700" b="1" i="0" u="none" strike="noStrike" kern="0" cap="none" spc="0" normalizeH="0" baseline="0" noProof="0">
                <a:ln>
                  <a:noFill/>
                </a:ln>
                <a:solidFill>
                  <a:srgbClr val="FFFFFF"/>
                </a:solidFill>
                <a:effectLst/>
                <a:uLnTx/>
                <a:uFillTx/>
                <a:latin typeface="+mj-lt"/>
                <a:ea typeface="+mn-ea"/>
                <a:cs typeface="+mn-cs"/>
              </a:rPr>
              <a:t>1</a:t>
            </a:r>
          </a:p>
        </p:txBody>
      </p:sp>
      <p:sp>
        <p:nvSpPr>
          <p:cNvPr id="777" name="Rounded Rectangle 52">
            <a:extLst>
              <a:ext uri="{FF2B5EF4-FFF2-40B4-BE49-F238E27FC236}">
                <a16:creationId xmlns:a16="http://schemas.microsoft.com/office/drawing/2014/main" id="{D4338365-553A-F6D2-9B6A-B804B89672EC}"/>
              </a:ext>
            </a:extLst>
          </p:cNvPr>
          <p:cNvSpPr/>
          <p:nvPr/>
        </p:nvSpPr>
        <p:spPr bwMode="auto">
          <a:xfrm>
            <a:off x="8255702" y="1573798"/>
            <a:ext cx="180000" cy="180000"/>
          </a:xfrm>
          <a:prstGeom prst="roundRect">
            <a:avLst/>
          </a:prstGeom>
          <a:solidFill>
            <a:srgbClr val="0070AD"/>
          </a:solidFill>
          <a:ln w="19050" cap="flat" cmpd="sng" algn="ctr">
            <a:solidFill>
              <a:srgbClr val="FFFFFF"/>
            </a:solidFill>
            <a:prstDash val="solid"/>
          </a:ln>
          <a:effectLst>
            <a:outerShdw blurRad="50800" dist="38099" dir="2700015" rotWithShape="0">
              <a:scrgbClr r="0" g="0" b="0">
                <a:alpha val="40000"/>
              </a:scrgbClr>
            </a:outerShdw>
          </a:effectLst>
        </p:spPr>
        <p:txBody>
          <a:bodyPr rtlCol="0" anchor="ctr" anchorCtr="0"/>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en-US" sz="700" b="1" i="0" u="none" strike="noStrike" kern="0" cap="none" spc="0" normalizeH="0" baseline="0" noProof="0">
                <a:ln>
                  <a:noFill/>
                </a:ln>
                <a:solidFill>
                  <a:srgbClr val="FFFFFF"/>
                </a:solidFill>
                <a:effectLst/>
                <a:uLnTx/>
                <a:uFillTx/>
                <a:latin typeface="+mj-lt"/>
                <a:ea typeface="+mn-ea"/>
                <a:cs typeface="+mn-cs"/>
              </a:rPr>
              <a:t>3</a:t>
            </a:r>
          </a:p>
        </p:txBody>
      </p:sp>
      <p:sp>
        <p:nvSpPr>
          <p:cNvPr id="784" name="Rounded Rectangle 16">
            <a:extLst>
              <a:ext uri="{FF2B5EF4-FFF2-40B4-BE49-F238E27FC236}">
                <a16:creationId xmlns:a16="http://schemas.microsoft.com/office/drawing/2014/main" id="{DB2E8AD1-1948-B671-68C8-0B8C9385911F}"/>
              </a:ext>
            </a:extLst>
          </p:cNvPr>
          <p:cNvSpPr/>
          <p:nvPr/>
        </p:nvSpPr>
        <p:spPr bwMode="auto">
          <a:xfrm>
            <a:off x="5807430" y="1582146"/>
            <a:ext cx="180000" cy="180000"/>
          </a:xfrm>
          <a:prstGeom prst="roundRect">
            <a:avLst/>
          </a:prstGeom>
          <a:solidFill>
            <a:srgbClr val="0070AD"/>
          </a:solidFill>
          <a:ln w="19050" cap="flat" cmpd="sng" algn="ctr">
            <a:solidFill>
              <a:srgbClr val="FFFFFF"/>
            </a:solidFill>
            <a:prstDash val="solid"/>
          </a:ln>
          <a:effectLst>
            <a:outerShdw blurRad="50800" dist="38099" dir="2700015" rotWithShape="0">
              <a:scrgbClr r="0" g="0" b="0">
                <a:alpha val="40000"/>
              </a:scrgbClr>
            </a:outerShdw>
          </a:effectLst>
        </p:spPr>
        <p:txBody>
          <a:bodyPr rtlCol="0" anchor="ctr" anchorCtr="0"/>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en-US" sz="700" b="1" i="0" u="none" strike="noStrike" kern="0" cap="none" spc="0" normalizeH="0" baseline="0" noProof="0">
                <a:ln>
                  <a:noFill/>
                </a:ln>
                <a:solidFill>
                  <a:srgbClr val="FFFFFF"/>
                </a:solidFill>
                <a:effectLst/>
                <a:uLnTx/>
                <a:uFillTx/>
                <a:latin typeface="+mj-lt"/>
                <a:ea typeface="+mn-ea"/>
                <a:cs typeface="+mn-cs"/>
              </a:rPr>
              <a:t>2</a:t>
            </a:r>
          </a:p>
        </p:txBody>
      </p:sp>
      <p:sp>
        <p:nvSpPr>
          <p:cNvPr id="785" name="Rounded Rectangle 22">
            <a:extLst>
              <a:ext uri="{FF2B5EF4-FFF2-40B4-BE49-F238E27FC236}">
                <a16:creationId xmlns:a16="http://schemas.microsoft.com/office/drawing/2014/main" id="{D9E65257-484F-4531-60CD-C94350159014}"/>
              </a:ext>
            </a:extLst>
          </p:cNvPr>
          <p:cNvSpPr/>
          <p:nvPr/>
        </p:nvSpPr>
        <p:spPr bwMode="auto">
          <a:xfrm>
            <a:off x="982894" y="1592848"/>
            <a:ext cx="180000" cy="180000"/>
          </a:xfrm>
          <a:prstGeom prst="roundRect">
            <a:avLst/>
          </a:prstGeom>
          <a:solidFill>
            <a:srgbClr val="0070AD"/>
          </a:solidFill>
          <a:ln w="19050" cap="flat" cmpd="sng" algn="ctr">
            <a:solidFill>
              <a:srgbClr val="FFFFFF"/>
            </a:solidFill>
            <a:prstDash val="solid"/>
          </a:ln>
          <a:effectLst>
            <a:outerShdw blurRad="50800" dist="38099" dir="2700015" rotWithShape="0">
              <a:scrgbClr r="0" g="0" b="0">
                <a:alpha val="40000"/>
              </a:scrgbClr>
            </a:outerShdw>
          </a:effectLst>
        </p:spPr>
        <p:txBody>
          <a:bodyPr rtlCol="0" anchor="ctr" anchorCtr="0"/>
          <a:lstStyle/>
          <a:p>
            <a:pPr marL="0" marR="0" lvl="0" indent="0" algn="ctr" defTabSz="914400" rtl="0" eaLnBrk="1" fontAlgn="auto" latinLnBrk="0" hangingPunct="1">
              <a:lnSpc>
                <a:spcPct val="90000"/>
              </a:lnSpc>
              <a:spcBef>
                <a:spcPts val="400"/>
              </a:spcBef>
              <a:spcAft>
                <a:spcPts val="0"/>
              </a:spcAft>
              <a:buClrTx/>
              <a:buSzTx/>
              <a:buFontTx/>
              <a:buNone/>
              <a:tabLst/>
              <a:defRPr/>
            </a:pPr>
            <a:r>
              <a:rPr kumimoji="0" lang="en-US" sz="700" b="1" i="0" u="none" strike="noStrike" kern="0" cap="none" spc="0" normalizeH="0" baseline="0" noProof="0">
                <a:ln>
                  <a:noFill/>
                </a:ln>
                <a:solidFill>
                  <a:srgbClr val="FFFFFF"/>
                </a:solidFill>
                <a:effectLst/>
                <a:uLnTx/>
                <a:uFillTx/>
                <a:latin typeface="+mj-lt"/>
                <a:ea typeface="+mn-ea"/>
                <a:cs typeface="+mn-cs"/>
              </a:rPr>
              <a:t>0</a:t>
            </a:r>
          </a:p>
        </p:txBody>
      </p:sp>
      <p:sp>
        <p:nvSpPr>
          <p:cNvPr id="34" name="TextBox 33">
            <a:extLst>
              <a:ext uri="{FF2B5EF4-FFF2-40B4-BE49-F238E27FC236}">
                <a16:creationId xmlns:a16="http://schemas.microsoft.com/office/drawing/2014/main" id="{B15C06DB-873E-7FB7-C91B-758B29D9337F}"/>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custDataLst>
      <p:tags r:id="rId1"/>
    </p:custDataLst>
    <p:extLst>
      <p:ext uri="{BB962C8B-B14F-4D97-AF65-F5344CB8AC3E}">
        <p14:creationId xmlns:p14="http://schemas.microsoft.com/office/powerpoint/2010/main" val="24547272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ct 22" hidden="1">
            <a:extLst>
              <a:ext uri="{FF2B5EF4-FFF2-40B4-BE49-F238E27FC236}">
                <a16:creationId xmlns:a16="http://schemas.microsoft.com/office/drawing/2014/main" id="{25A92186-3717-3190-B278-D622D8A1957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23" name="Object 22" hidden="1">
                        <a:extLst>
                          <a:ext uri="{FF2B5EF4-FFF2-40B4-BE49-F238E27FC236}">
                            <a16:creationId xmlns:a16="http://schemas.microsoft.com/office/drawing/2014/main" id="{25A92186-3717-3190-B278-D622D8A1957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348AD66-9053-4F20-8684-0E958FF719D7}"/>
              </a:ext>
            </a:extLst>
          </p:cNvPr>
          <p:cNvSpPr>
            <a:spLocks noGrp="1"/>
          </p:cNvSpPr>
          <p:nvPr>
            <p:ph type="title"/>
          </p:nvPr>
        </p:nvSpPr>
        <p:spPr>
          <a:xfrm>
            <a:off x="1379538" y="336277"/>
            <a:ext cx="10441058" cy="716711"/>
          </a:xfrm>
        </p:spPr>
        <p:txBody>
          <a:bodyPr vert="horz"/>
          <a:lstStyle/>
          <a:p>
            <a:r>
              <a:rPr kumimoji="0" lang="en-GB" sz="2400" b="1" i="0" u="none" strike="noStrike" kern="1200" cap="none" spc="-50" normalizeH="0" baseline="0" noProof="0" dirty="0">
                <a:ln>
                  <a:noFill/>
                </a:ln>
                <a:solidFill>
                  <a:prstClr val="black"/>
                </a:solidFill>
                <a:effectLst/>
                <a:uLnTx/>
                <a:uFillTx/>
                <a:latin typeface="TheSans Swisscom Light"/>
                <a:ea typeface="+mj-ea"/>
                <a:cs typeface="+mj-cs"/>
              </a:rPr>
              <a:t>STREAM 6B | CLOUD, INFRASTRUCTURE &amp; CYBER SECURITY</a:t>
            </a:r>
            <a:br>
              <a:rPr lang="en-GB" sz="2000" b="1" dirty="0">
                <a:solidFill>
                  <a:schemeClr val="tx1"/>
                </a:solidFill>
              </a:rPr>
            </a:br>
            <a:r>
              <a:rPr lang="en-US" sz="1800" b="0" i="1" dirty="0">
                <a:solidFill>
                  <a:schemeClr val="tx1"/>
                </a:solidFill>
              </a:rPr>
              <a:t>Cybersecurity is a major risk during the integration – A specific focus is recommended </a:t>
            </a:r>
            <a:r>
              <a:rPr lang="en-IN" sz="1800" b="0" i="1" dirty="0"/>
              <a:t>TO SECURE DAY 1 AND prepare integration execution is necessary</a:t>
            </a:r>
            <a:endParaRPr lang="en-US" sz="1800" b="0" i="1" dirty="0">
              <a:solidFill>
                <a:schemeClr val="tx1"/>
              </a:solidFill>
            </a:endParaRPr>
          </a:p>
        </p:txBody>
      </p:sp>
      <p:sp>
        <p:nvSpPr>
          <p:cNvPr id="10" name="Rectangle 9">
            <a:extLst>
              <a:ext uri="{FF2B5EF4-FFF2-40B4-BE49-F238E27FC236}">
                <a16:creationId xmlns:a16="http://schemas.microsoft.com/office/drawing/2014/main" id="{2B8E98B7-8597-0CBB-6B15-A2E962019493}"/>
              </a:ext>
            </a:extLst>
          </p:cNvPr>
          <p:cNvSpPr/>
          <p:nvPr/>
        </p:nvSpPr>
        <p:spPr>
          <a:xfrm>
            <a:off x="3753080" y="1476260"/>
            <a:ext cx="8438920" cy="1590544"/>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t"/>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mj-lt"/>
                <a:ea typeface="+mn-ea"/>
                <a:cs typeface="+mn-cs"/>
              </a:rPr>
              <a:t>Challenges</a:t>
            </a:r>
          </a:p>
        </p:txBody>
      </p:sp>
      <p:sp>
        <p:nvSpPr>
          <p:cNvPr id="11" name="Rectangle 10">
            <a:extLst>
              <a:ext uri="{FF2B5EF4-FFF2-40B4-BE49-F238E27FC236}">
                <a16:creationId xmlns:a16="http://schemas.microsoft.com/office/drawing/2014/main" id="{58B32426-6907-3CA1-7A15-3E10570C5554}"/>
              </a:ext>
            </a:extLst>
          </p:cNvPr>
          <p:cNvSpPr/>
          <p:nvPr/>
        </p:nvSpPr>
        <p:spPr>
          <a:xfrm>
            <a:off x="3753080" y="3066805"/>
            <a:ext cx="8438920" cy="34504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t"/>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chemeClr val="tx1"/>
                </a:solidFill>
                <a:effectLst/>
                <a:uLnTx/>
                <a:uFillTx/>
                <a:latin typeface="+mj-lt"/>
                <a:ea typeface="+mn-ea"/>
                <a:cs typeface="+mn-cs"/>
              </a:rPr>
              <a:t>Examples of our Cyber M&amp;A Assets</a:t>
            </a:r>
          </a:p>
        </p:txBody>
      </p:sp>
      <p:sp>
        <p:nvSpPr>
          <p:cNvPr id="12" name="Rectangle: Rounded Corners 11">
            <a:extLst>
              <a:ext uri="{FF2B5EF4-FFF2-40B4-BE49-F238E27FC236}">
                <a16:creationId xmlns:a16="http://schemas.microsoft.com/office/drawing/2014/main" id="{7B82EBEF-C103-F5D4-B564-13D396E3FCCE}"/>
              </a:ext>
            </a:extLst>
          </p:cNvPr>
          <p:cNvSpPr/>
          <p:nvPr/>
        </p:nvSpPr>
        <p:spPr>
          <a:xfrm>
            <a:off x="3882572" y="1910408"/>
            <a:ext cx="2663028" cy="984892"/>
          </a:xfrm>
          <a:prstGeom prst="roundRect">
            <a:avLst>
              <a:gd name="adj" fmla="val 8846"/>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50" b="1" i="0" u="none" strike="noStrike" kern="0" cap="none" spc="0" normalizeH="0" baseline="0" noProof="0">
                <a:ln>
                  <a:noFill/>
                </a:ln>
                <a:solidFill>
                  <a:srgbClr val="000000"/>
                </a:solidFill>
                <a:effectLst/>
                <a:uLnTx/>
                <a:uFillTx/>
                <a:latin typeface="+mj-lt"/>
                <a:ea typeface="+mn-ea"/>
                <a:cs typeface="+mn-cs"/>
                <a:sym typeface="Arial"/>
              </a:rPr>
              <a:t>Assess the Situation</a:t>
            </a:r>
          </a:p>
        </p:txBody>
      </p:sp>
      <p:sp>
        <p:nvSpPr>
          <p:cNvPr id="14" name="Rectangle: Rounded Corners 13">
            <a:extLst>
              <a:ext uri="{FF2B5EF4-FFF2-40B4-BE49-F238E27FC236}">
                <a16:creationId xmlns:a16="http://schemas.microsoft.com/office/drawing/2014/main" id="{DF45AC99-F6E4-66F6-4DAC-809D807E9982}"/>
              </a:ext>
            </a:extLst>
          </p:cNvPr>
          <p:cNvSpPr/>
          <p:nvPr/>
        </p:nvSpPr>
        <p:spPr>
          <a:xfrm>
            <a:off x="6651103" y="1910408"/>
            <a:ext cx="2663028" cy="984892"/>
          </a:xfrm>
          <a:prstGeom prst="roundRect">
            <a:avLst>
              <a:gd name="adj" fmla="val 8846"/>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50" b="1" i="0" u="none" strike="noStrike" kern="0" cap="none" spc="0" normalizeH="0" baseline="0" noProof="0">
                <a:ln>
                  <a:noFill/>
                </a:ln>
                <a:solidFill>
                  <a:srgbClr val="000000"/>
                </a:solidFill>
                <a:effectLst/>
                <a:uLnTx/>
                <a:uFillTx/>
                <a:latin typeface="+mj-lt"/>
                <a:ea typeface="+mn-ea"/>
                <a:cs typeface="+mn-cs"/>
                <a:sym typeface="Arial"/>
              </a:rPr>
              <a:t>Limit the risks</a:t>
            </a:r>
          </a:p>
        </p:txBody>
      </p:sp>
      <p:sp>
        <p:nvSpPr>
          <p:cNvPr id="96" name="Rectangle: Rounded Corners 95">
            <a:extLst>
              <a:ext uri="{FF2B5EF4-FFF2-40B4-BE49-F238E27FC236}">
                <a16:creationId xmlns:a16="http://schemas.microsoft.com/office/drawing/2014/main" id="{B68FAF54-CC13-C832-9C65-A129EA145FCC}"/>
              </a:ext>
            </a:extLst>
          </p:cNvPr>
          <p:cNvSpPr/>
          <p:nvPr/>
        </p:nvSpPr>
        <p:spPr>
          <a:xfrm>
            <a:off x="9419635" y="1910408"/>
            <a:ext cx="2663028" cy="984892"/>
          </a:xfrm>
          <a:prstGeom prst="roundRect">
            <a:avLst>
              <a:gd name="adj" fmla="val 8846"/>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kumimoji="0" lang="en-US" sz="1050" b="1" i="0" u="none" strike="noStrike" kern="0" cap="none" spc="0" normalizeH="0" baseline="0" noProof="0">
                <a:ln>
                  <a:noFill/>
                </a:ln>
                <a:solidFill>
                  <a:srgbClr val="000000"/>
                </a:solidFill>
                <a:effectLst/>
                <a:uLnTx/>
                <a:uFillTx/>
                <a:latin typeface="+mj-lt"/>
                <a:ea typeface="+mn-ea"/>
                <a:cs typeface="+mn-cs"/>
                <a:sym typeface="Arial"/>
              </a:rPr>
              <a:t>Building the future</a:t>
            </a:r>
          </a:p>
        </p:txBody>
      </p:sp>
      <p:sp>
        <p:nvSpPr>
          <p:cNvPr id="97" name="TextBox 96">
            <a:extLst>
              <a:ext uri="{FF2B5EF4-FFF2-40B4-BE49-F238E27FC236}">
                <a16:creationId xmlns:a16="http://schemas.microsoft.com/office/drawing/2014/main" id="{9D386992-57F4-B2EA-98AE-A4EC8DC1FA36}"/>
              </a:ext>
            </a:extLst>
          </p:cNvPr>
          <p:cNvSpPr txBox="1"/>
          <p:nvPr/>
        </p:nvSpPr>
        <p:spPr>
          <a:xfrm>
            <a:off x="3882572" y="2172025"/>
            <a:ext cx="2663028" cy="723275"/>
          </a:xfrm>
          <a:prstGeom prst="rect">
            <a:avLst/>
          </a:prstGeom>
          <a:noFill/>
        </p:spPr>
        <p:txBody>
          <a:bodyPr wrap="square">
            <a:spAutoFit/>
          </a:bodyPr>
          <a:lstStyle/>
          <a:p>
            <a:pPr marL="144000" marR="0" lvl="0" indent="-144000" algn="l" defTabSz="914400" rtl="0" eaLnBrk="1" fontAlgn="auto" latinLnBrk="0" hangingPunct="1">
              <a:lnSpc>
                <a:spcPct val="100000"/>
              </a:lnSpc>
              <a:spcBef>
                <a:spcPts val="0"/>
              </a:spcBef>
              <a:spcAft>
                <a:spcPts val="300"/>
              </a:spcAft>
              <a:buClr>
                <a:prstClr val="black"/>
              </a:buClr>
              <a:buSzTx/>
              <a:buFont typeface="Wingdings" panose="05000000000000000000" pitchFamily="2" charset="2"/>
              <a:buChar char="§"/>
              <a:tabLst/>
              <a:defRPr/>
            </a:pPr>
            <a:r>
              <a:rPr kumimoji="0" lang="en-US" sz="900" b="0" i="0" u="none" strike="noStrike" kern="0" cap="none" spc="0" normalizeH="0" baseline="0" noProof="0">
                <a:ln>
                  <a:noFill/>
                </a:ln>
                <a:solidFill>
                  <a:prstClr val="black"/>
                </a:solidFill>
                <a:effectLst/>
                <a:uLnTx/>
                <a:uFillTx/>
                <a:latin typeface="+mj-lt"/>
                <a:ea typeface="+mn-ea"/>
                <a:cs typeface="Arial"/>
                <a:sym typeface="Arial"/>
              </a:rPr>
              <a:t>Discover the functioning of the company to be integrated</a:t>
            </a:r>
          </a:p>
          <a:p>
            <a:pPr marL="144000" marR="0" lvl="0" indent="-144000" algn="l" defTabSz="914400" rtl="0" eaLnBrk="1" fontAlgn="auto" latinLnBrk="0" hangingPunct="1">
              <a:lnSpc>
                <a:spcPct val="100000"/>
              </a:lnSpc>
              <a:spcBef>
                <a:spcPts val="0"/>
              </a:spcBef>
              <a:spcAft>
                <a:spcPts val="300"/>
              </a:spcAft>
              <a:buClr>
                <a:prstClr val="black"/>
              </a:buClr>
              <a:buSzTx/>
              <a:buFont typeface="Wingdings" panose="05000000000000000000" pitchFamily="2" charset="2"/>
              <a:buChar char="§"/>
              <a:tabLst/>
              <a:defRPr/>
            </a:pPr>
            <a:r>
              <a:rPr kumimoji="0" lang="en-US" sz="900" b="0" i="0" u="none" strike="noStrike" kern="0" cap="none" spc="0" normalizeH="0" baseline="0" noProof="0">
                <a:ln>
                  <a:noFill/>
                </a:ln>
                <a:solidFill>
                  <a:prstClr val="black"/>
                </a:solidFill>
                <a:effectLst/>
                <a:uLnTx/>
                <a:uFillTx/>
                <a:latin typeface="+mj-lt"/>
                <a:ea typeface="+mn-ea"/>
                <a:cs typeface="Arial"/>
                <a:sym typeface="Arial"/>
              </a:rPr>
              <a:t>Identify risks and vulnerabilities</a:t>
            </a:r>
          </a:p>
          <a:p>
            <a:pPr marL="144000" marR="0" lvl="0" indent="-144000" algn="l" defTabSz="914400" rtl="0" eaLnBrk="1" fontAlgn="auto" latinLnBrk="0" hangingPunct="1">
              <a:lnSpc>
                <a:spcPct val="100000"/>
              </a:lnSpc>
              <a:spcBef>
                <a:spcPts val="0"/>
              </a:spcBef>
              <a:spcAft>
                <a:spcPts val="300"/>
              </a:spcAft>
              <a:buClr>
                <a:prstClr val="black"/>
              </a:buClr>
              <a:buSzTx/>
              <a:buFont typeface="Wingdings" panose="05000000000000000000" pitchFamily="2" charset="2"/>
              <a:buChar char="§"/>
              <a:tabLst/>
              <a:defRPr/>
            </a:pPr>
            <a:r>
              <a:rPr kumimoji="0" lang="en-US" sz="900" b="0" i="0" u="none" strike="noStrike" kern="0" cap="none" spc="0" normalizeH="0" baseline="0" noProof="0">
                <a:ln>
                  <a:noFill/>
                </a:ln>
                <a:solidFill>
                  <a:prstClr val="black"/>
                </a:solidFill>
                <a:effectLst/>
                <a:uLnTx/>
                <a:uFillTx/>
                <a:latin typeface="+mj-lt"/>
                <a:ea typeface="+mn-ea"/>
                <a:cs typeface="Arial"/>
                <a:sym typeface="Arial"/>
              </a:rPr>
              <a:t>Identify critical assets</a:t>
            </a:r>
          </a:p>
        </p:txBody>
      </p:sp>
      <p:sp>
        <p:nvSpPr>
          <p:cNvPr id="98" name="TextBox 97">
            <a:extLst>
              <a:ext uri="{FF2B5EF4-FFF2-40B4-BE49-F238E27FC236}">
                <a16:creationId xmlns:a16="http://schemas.microsoft.com/office/drawing/2014/main" id="{12C055A2-6889-7734-4836-15039FB0B00C}"/>
              </a:ext>
            </a:extLst>
          </p:cNvPr>
          <p:cNvSpPr txBox="1"/>
          <p:nvPr/>
        </p:nvSpPr>
        <p:spPr>
          <a:xfrm>
            <a:off x="6651103" y="2172025"/>
            <a:ext cx="2663028" cy="684803"/>
          </a:xfrm>
          <a:prstGeom prst="rect">
            <a:avLst/>
          </a:prstGeom>
          <a:noFill/>
        </p:spPr>
        <p:txBody>
          <a:bodyPr wrap="square">
            <a:spAutoFit/>
          </a:bodyPr>
          <a:lstStyle/>
          <a:p>
            <a:pPr marL="144000" marR="0" lvl="0" indent="-144000" algn="l" defTabSz="914400" rtl="0" eaLnBrk="1" fontAlgn="auto" latinLnBrk="0" hangingPunct="1">
              <a:lnSpc>
                <a:spcPct val="100000"/>
              </a:lnSpc>
              <a:spcBef>
                <a:spcPts val="0"/>
              </a:spcBef>
              <a:spcAft>
                <a:spcPts val="300"/>
              </a:spcAft>
              <a:buClr>
                <a:prstClr val="black"/>
              </a:buClr>
              <a:buSzTx/>
              <a:buFont typeface="Wingdings" panose="05000000000000000000" pitchFamily="2" charset="2"/>
              <a:buChar char="§"/>
              <a:tabLst/>
              <a:defRPr/>
            </a:pPr>
            <a:r>
              <a:rPr kumimoji="0" lang="en-IN" sz="900" b="0" i="0" u="none" strike="noStrike" kern="0" cap="none" spc="0" normalizeH="0" baseline="0" noProof="0">
                <a:ln>
                  <a:noFill/>
                </a:ln>
                <a:solidFill>
                  <a:prstClr val="black"/>
                </a:solidFill>
                <a:effectLst/>
                <a:uLnTx/>
                <a:uFillTx/>
                <a:latin typeface="+mj-lt"/>
                <a:ea typeface="+mn-ea"/>
                <a:cs typeface="Arial"/>
                <a:sym typeface="Arial"/>
              </a:rPr>
              <a:t>Define the cybersecurity levels to be reached before integration</a:t>
            </a:r>
          </a:p>
          <a:p>
            <a:pPr marL="144000" marR="0" lvl="0" indent="-144000" algn="l" defTabSz="914400" rtl="0" eaLnBrk="1" fontAlgn="auto" latinLnBrk="0" hangingPunct="1">
              <a:lnSpc>
                <a:spcPct val="100000"/>
              </a:lnSpc>
              <a:spcBef>
                <a:spcPts val="0"/>
              </a:spcBef>
              <a:spcAft>
                <a:spcPts val="300"/>
              </a:spcAft>
              <a:buClr>
                <a:prstClr val="black"/>
              </a:buClr>
              <a:buSzTx/>
              <a:buFont typeface="Wingdings" panose="05000000000000000000" pitchFamily="2" charset="2"/>
              <a:buChar char="§"/>
              <a:tabLst/>
              <a:defRPr/>
            </a:pPr>
            <a:r>
              <a:rPr kumimoji="0" lang="en-IN" sz="900" b="0" i="0" u="none" strike="noStrike" kern="0" cap="none" spc="0" normalizeH="0" baseline="0" noProof="0">
                <a:ln>
                  <a:noFill/>
                </a:ln>
                <a:solidFill>
                  <a:prstClr val="black"/>
                </a:solidFill>
                <a:effectLst/>
                <a:uLnTx/>
                <a:uFillTx/>
                <a:latin typeface="+mj-lt"/>
                <a:ea typeface="+mn-ea"/>
                <a:cs typeface="Arial"/>
                <a:sym typeface="Arial"/>
              </a:rPr>
              <a:t>Identify and secure critical actions before/after Day 1</a:t>
            </a:r>
          </a:p>
        </p:txBody>
      </p:sp>
      <p:sp>
        <p:nvSpPr>
          <p:cNvPr id="101" name="TextBox 100">
            <a:extLst>
              <a:ext uri="{FF2B5EF4-FFF2-40B4-BE49-F238E27FC236}">
                <a16:creationId xmlns:a16="http://schemas.microsoft.com/office/drawing/2014/main" id="{CE9AB05C-20B4-00E3-6D6F-7E01DE4FEF41}"/>
              </a:ext>
            </a:extLst>
          </p:cNvPr>
          <p:cNvSpPr txBox="1"/>
          <p:nvPr/>
        </p:nvSpPr>
        <p:spPr>
          <a:xfrm>
            <a:off x="9419635" y="2172025"/>
            <a:ext cx="2663028" cy="684803"/>
          </a:xfrm>
          <a:prstGeom prst="rect">
            <a:avLst/>
          </a:prstGeom>
          <a:noFill/>
        </p:spPr>
        <p:txBody>
          <a:bodyPr wrap="square">
            <a:spAutoFit/>
          </a:bodyPr>
          <a:lstStyle/>
          <a:p>
            <a:pPr marL="144000" marR="0" lvl="0" indent="-144000" algn="l" defTabSz="914400" rtl="0" eaLnBrk="1" fontAlgn="auto" latinLnBrk="0" hangingPunct="1">
              <a:lnSpc>
                <a:spcPct val="100000"/>
              </a:lnSpc>
              <a:spcBef>
                <a:spcPts val="0"/>
              </a:spcBef>
              <a:spcAft>
                <a:spcPts val="300"/>
              </a:spcAft>
              <a:buClr>
                <a:prstClr val="black"/>
              </a:buClr>
              <a:buSzTx/>
              <a:buFont typeface="Wingdings" panose="05000000000000000000" pitchFamily="2" charset="2"/>
              <a:buChar char="§"/>
              <a:tabLst/>
              <a:defRPr/>
            </a:pPr>
            <a:r>
              <a:rPr kumimoji="0" lang="en-IN" sz="900" b="0" i="0" u="none" strike="noStrike" kern="0" cap="none" spc="0" normalizeH="0" baseline="0" noProof="0">
                <a:ln>
                  <a:noFill/>
                </a:ln>
                <a:solidFill>
                  <a:prstClr val="black"/>
                </a:solidFill>
                <a:effectLst/>
                <a:uLnTx/>
                <a:uFillTx/>
                <a:latin typeface="+mj-lt"/>
                <a:ea typeface="+mn-ea"/>
                <a:cs typeface="Arial"/>
                <a:sym typeface="Arial"/>
              </a:rPr>
              <a:t>Define the target cyber security operating model principles for the integration</a:t>
            </a:r>
          </a:p>
          <a:p>
            <a:pPr marL="144000" marR="0" lvl="0" indent="-144000" algn="l" defTabSz="914400" rtl="0" eaLnBrk="1" fontAlgn="auto" latinLnBrk="0" hangingPunct="1">
              <a:lnSpc>
                <a:spcPct val="100000"/>
              </a:lnSpc>
              <a:spcBef>
                <a:spcPts val="0"/>
              </a:spcBef>
              <a:spcAft>
                <a:spcPts val="300"/>
              </a:spcAft>
              <a:buClr>
                <a:prstClr val="black"/>
              </a:buClr>
              <a:buSzTx/>
              <a:buFont typeface="Wingdings" panose="05000000000000000000" pitchFamily="2" charset="2"/>
              <a:buChar char="§"/>
              <a:tabLst/>
              <a:defRPr/>
            </a:pPr>
            <a:r>
              <a:rPr kumimoji="0" lang="en-IN" sz="900" b="0" i="0" u="none" strike="noStrike" kern="0" cap="none" spc="0" normalizeH="0" baseline="0" noProof="0">
                <a:ln>
                  <a:noFill/>
                </a:ln>
                <a:solidFill>
                  <a:prstClr val="black"/>
                </a:solidFill>
                <a:effectLst/>
                <a:uLnTx/>
                <a:uFillTx/>
                <a:latin typeface="+mj-lt"/>
                <a:ea typeface="+mn-ea"/>
                <a:cs typeface="Arial"/>
                <a:sym typeface="Arial"/>
              </a:rPr>
              <a:t>Unite the two companies, communicate effectively and manage change</a:t>
            </a:r>
          </a:p>
        </p:txBody>
      </p:sp>
      <p:grpSp>
        <p:nvGrpSpPr>
          <p:cNvPr id="21" name="Group 20">
            <a:extLst>
              <a:ext uri="{FF2B5EF4-FFF2-40B4-BE49-F238E27FC236}">
                <a16:creationId xmlns:a16="http://schemas.microsoft.com/office/drawing/2014/main" id="{581AD2F3-DA0F-711F-9F6C-27694445529D}"/>
              </a:ext>
            </a:extLst>
          </p:cNvPr>
          <p:cNvGrpSpPr/>
          <p:nvPr/>
        </p:nvGrpSpPr>
        <p:grpSpPr>
          <a:xfrm>
            <a:off x="0" y="1476261"/>
            <a:ext cx="3753080" cy="5040999"/>
            <a:chOff x="8438920" y="1084252"/>
            <a:chExt cx="3753080" cy="5433008"/>
          </a:xfrm>
        </p:grpSpPr>
        <p:sp>
          <p:nvSpPr>
            <p:cNvPr id="22" name="Rectangle 21">
              <a:extLst>
                <a:ext uri="{FF2B5EF4-FFF2-40B4-BE49-F238E27FC236}">
                  <a16:creationId xmlns:a16="http://schemas.microsoft.com/office/drawing/2014/main" id="{FDFFCDAD-129D-0775-F99A-E22D2998B874}"/>
                </a:ext>
              </a:extLst>
            </p:cNvPr>
            <p:cNvSpPr/>
            <p:nvPr/>
          </p:nvSpPr>
          <p:spPr>
            <a:xfrm>
              <a:off x="8438920" y="1084252"/>
              <a:ext cx="3753080" cy="5433008"/>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err="1">
                <a:ln>
                  <a:noFill/>
                </a:ln>
                <a:solidFill>
                  <a:srgbClr val="FFFFFF"/>
                </a:solidFill>
                <a:effectLst/>
                <a:uLnTx/>
                <a:uFillTx/>
                <a:latin typeface="+mj-lt"/>
                <a:ea typeface="+mn-ea"/>
                <a:cs typeface="+mn-cs"/>
              </a:endParaRPr>
            </a:p>
          </p:txBody>
        </p:sp>
        <p:sp>
          <p:nvSpPr>
            <p:cNvPr id="24" name="TextBox 11">
              <a:extLst>
                <a:ext uri="{FF2B5EF4-FFF2-40B4-BE49-F238E27FC236}">
                  <a16:creationId xmlns:a16="http://schemas.microsoft.com/office/drawing/2014/main" id="{BD495018-9135-12BC-8710-0BE1D6F8DABD}"/>
                </a:ext>
              </a:extLst>
            </p:cNvPr>
            <p:cNvSpPr txBox="1"/>
            <p:nvPr/>
          </p:nvSpPr>
          <p:spPr>
            <a:xfrm>
              <a:off x="8602769" y="1589349"/>
              <a:ext cx="3089437" cy="540000"/>
            </a:xfrm>
            <a:prstGeom prst="roundRect">
              <a:avLst>
                <a:gd name="adj" fmla="val 50000"/>
              </a:avLst>
            </a:prstGeom>
            <a:solidFill>
              <a:schemeClr val="bg1"/>
            </a:solidFill>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small" spc="100" normalizeH="0" baseline="0" noProof="0">
                  <a:ln>
                    <a:noFill/>
                  </a:ln>
                  <a:solidFill>
                    <a:srgbClr val="2B143D"/>
                  </a:solidFill>
                  <a:effectLst/>
                  <a:uLnTx/>
                  <a:uFillTx/>
                  <a:latin typeface="+mj-lt"/>
                  <a:ea typeface="+mn-ea"/>
                  <a:cs typeface="+mn-cs"/>
                </a:rPr>
                <a:t>Why Cybersecurity is Key in your context</a:t>
              </a:r>
            </a:p>
          </p:txBody>
        </p:sp>
        <p:sp>
          <p:nvSpPr>
            <p:cNvPr id="25" name="TextBox 12">
              <a:extLst>
                <a:ext uri="{FF2B5EF4-FFF2-40B4-BE49-F238E27FC236}">
                  <a16:creationId xmlns:a16="http://schemas.microsoft.com/office/drawing/2014/main" id="{F4EAB8A2-6D79-BA8D-BA47-09375424D8AB}"/>
                </a:ext>
              </a:extLst>
            </p:cNvPr>
            <p:cNvSpPr txBox="1"/>
            <p:nvPr/>
          </p:nvSpPr>
          <p:spPr>
            <a:xfrm>
              <a:off x="8602769" y="4015088"/>
              <a:ext cx="3089437" cy="540000"/>
            </a:xfrm>
            <a:prstGeom prst="roundRect">
              <a:avLst>
                <a:gd name="adj" fmla="val 50000"/>
              </a:avLst>
            </a:prstGeom>
            <a:solidFill>
              <a:schemeClr val="bg1"/>
            </a:solidFill>
          </p:spPr>
          <p:txBody>
            <a:bodyPr wrap="square"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small" spc="100" normalizeH="0" baseline="0" noProof="0">
                  <a:ln>
                    <a:noFill/>
                  </a:ln>
                  <a:solidFill>
                    <a:srgbClr val="2B143D"/>
                  </a:solidFill>
                  <a:effectLst/>
                  <a:uLnTx/>
                  <a:uFillTx/>
                  <a:latin typeface="+mj-lt"/>
                  <a:ea typeface="+mn-ea"/>
                  <a:cs typeface="+mn-cs"/>
                </a:rPr>
                <a:t>What needs to be done before Day-1</a:t>
              </a:r>
            </a:p>
          </p:txBody>
        </p:sp>
        <p:sp>
          <p:nvSpPr>
            <p:cNvPr id="26" name="TextBox 13">
              <a:extLst>
                <a:ext uri="{FF2B5EF4-FFF2-40B4-BE49-F238E27FC236}">
                  <a16:creationId xmlns:a16="http://schemas.microsoft.com/office/drawing/2014/main" id="{6D7A1675-E2E0-74C6-C293-35F2F5048ADA}"/>
                </a:ext>
              </a:extLst>
            </p:cNvPr>
            <p:cNvSpPr txBox="1"/>
            <p:nvPr/>
          </p:nvSpPr>
          <p:spPr>
            <a:xfrm>
              <a:off x="8602769" y="2213279"/>
              <a:ext cx="3089438" cy="1473901"/>
            </a:xfrm>
            <a:prstGeom prst="rect">
              <a:avLst/>
            </a:prstGeom>
            <a:noFill/>
          </p:spPr>
          <p:txBody>
            <a:bodyPr wrap="square" lIns="91440" tIns="45720" rIns="91440" bIns="45720" anchor="t">
              <a:spAutoFit/>
            </a:bodyPr>
            <a:lstStyle/>
            <a:p>
              <a:pPr marL="216000" marR="0" lvl="0" indent="-216000" algn="l" defTabSz="914400" rtl="0" eaLnBrk="1" fontAlgn="auto" latinLnBrk="0" hangingPunct="1">
                <a:lnSpc>
                  <a:spcPct val="120000"/>
                </a:lnSpc>
                <a:spcBef>
                  <a:spcPts val="0"/>
                </a:spcBef>
                <a:spcAft>
                  <a:spcPts val="700"/>
                </a:spcAft>
                <a:buClrTx/>
                <a:buSzTx/>
                <a:buFont typeface="Wingdings" panose="05000000000000000000" pitchFamily="2" charset="2"/>
                <a:buChar char="§"/>
                <a:tabLst/>
                <a:defRPr/>
              </a:pPr>
              <a:r>
                <a:rPr kumimoji="0" lang="en-US" sz="1000" b="1" i="0" u="none" strike="noStrike" kern="1200" cap="none" spc="0" normalizeH="0" baseline="0" noProof="0" dirty="0">
                  <a:ln>
                    <a:noFill/>
                  </a:ln>
                  <a:solidFill>
                    <a:srgbClr val="FFFFFF"/>
                  </a:solidFill>
                  <a:effectLst/>
                  <a:uLnTx/>
                  <a:uFillTx/>
                  <a:latin typeface="+mj-lt"/>
                  <a:ea typeface="Verdana" panose="020B0604030504040204" pitchFamily="34" charset="0"/>
                  <a:cs typeface="+mn-cs"/>
                </a:rPr>
                <a:t>Cybersecurity threats are increasing in M&amp;A Contexts (public exposure)</a:t>
              </a:r>
            </a:p>
            <a:p>
              <a:pPr marL="216000" marR="0" lvl="0" indent="-216000" algn="l" defTabSz="914400" rtl="0" eaLnBrk="1" fontAlgn="auto" latinLnBrk="0" hangingPunct="1">
                <a:lnSpc>
                  <a:spcPct val="120000"/>
                </a:lnSpc>
                <a:spcBef>
                  <a:spcPts val="0"/>
                </a:spcBef>
                <a:spcAft>
                  <a:spcPts val="700"/>
                </a:spcAft>
                <a:buClrTx/>
                <a:buSzTx/>
                <a:buFont typeface="Wingdings" panose="05000000000000000000" pitchFamily="2" charset="2"/>
                <a:buChar char="§"/>
                <a:tabLst/>
                <a:defRPr/>
              </a:pPr>
              <a:r>
                <a:rPr kumimoji="0" lang="en-GB" sz="1000" b="1" i="0" u="none" strike="noStrike" kern="1200" cap="none" spc="0" normalizeH="0" baseline="0" noProof="0" dirty="0">
                  <a:ln>
                    <a:noFill/>
                  </a:ln>
                  <a:solidFill>
                    <a:srgbClr val="FFFFFF"/>
                  </a:solidFill>
                  <a:effectLst/>
                  <a:uLnTx/>
                  <a:uFillTx/>
                  <a:latin typeface="+mj-lt"/>
                  <a:ea typeface="Verdana" panose="020B0604030504040204" pitchFamily="34" charset="0"/>
                  <a:cs typeface="+mn-cs"/>
                </a:rPr>
                <a:t>Cross-companies collaboration is increasing the attack surface</a:t>
              </a:r>
            </a:p>
            <a:p>
              <a:pPr marL="216000" marR="0" lvl="0" indent="-216000" algn="l" defTabSz="914400" rtl="0" eaLnBrk="1" fontAlgn="auto" latinLnBrk="0" hangingPunct="1">
                <a:lnSpc>
                  <a:spcPct val="120000"/>
                </a:lnSpc>
                <a:spcBef>
                  <a:spcPts val="0"/>
                </a:spcBef>
                <a:spcAft>
                  <a:spcPts val="700"/>
                </a:spcAft>
                <a:buClrTx/>
                <a:buSzTx/>
                <a:buFont typeface="Wingdings" panose="05000000000000000000" pitchFamily="2" charset="2"/>
                <a:buChar char="§"/>
                <a:tabLst/>
                <a:defRPr/>
              </a:pPr>
              <a:r>
                <a:rPr kumimoji="0" lang="en-GB" sz="1000" b="1" i="0" u="none" strike="noStrike" kern="1200" cap="none" spc="0" normalizeH="0" baseline="0" noProof="0" dirty="0">
                  <a:ln>
                    <a:noFill/>
                  </a:ln>
                  <a:solidFill>
                    <a:srgbClr val="FFFFFF"/>
                  </a:solidFill>
                  <a:effectLst/>
                  <a:uLnTx/>
                  <a:uFillTx/>
                  <a:latin typeface="+mj-lt"/>
                  <a:ea typeface="Verdana" panose="020B0604030504040204" pitchFamily="34" charset="0"/>
                  <a:cs typeface="+mn-cs"/>
                </a:rPr>
                <a:t>Authorities recently raised Cybersecurity threat threshold</a:t>
              </a:r>
              <a:endParaRPr kumimoji="0" lang="en-GB" sz="1000" b="0" i="0" u="none" strike="noStrike" kern="1200" cap="none" spc="0" normalizeH="0" baseline="0" noProof="0" dirty="0">
                <a:ln>
                  <a:noFill/>
                </a:ln>
                <a:solidFill>
                  <a:srgbClr val="FFFFFF"/>
                </a:solidFill>
                <a:effectLst/>
                <a:uLnTx/>
                <a:uFillTx/>
                <a:latin typeface="+mj-lt"/>
                <a:ea typeface="Verdana" panose="020B0604030504040204" pitchFamily="34" charset="0"/>
                <a:cs typeface="+mn-cs"/>
              </a:endParaRPr>
            </a:p>
          </p:txBody>
        </p:sp>
        <p:sp>
          <p:nvSpPr>
            <p:cNvPr id="27" name="TextBox 14">
              <a:extLst>
                <a:ext uri="{FF2B5EF4-FFF2-40B4-BE49-F238E27FC236}">
                  <a16:creationId xmlns:a16="http://schemas.microsoft.com/office/drawing/2014/main" id="{CC1F696B-CB29-0646-B2DB-B0DAACC0570A}"/>
                </a:ext>
              </a:extLst>
            </p:cNvPr>
            <p:cNvSpPr txBox="1"/>
            <p:nvPr/>
          </p:nvSpPr>
          <p:spPr>
            <a:xfrm>
              <a:off x="8602769" y="4599093"/>
              <a:ext cx="3089438" cy="1664428"/>
            </a:xfrm>
            <a:prstGeom prst="rect">
              <a:avLst/>
            </a:prstGeom>
            <a:noFill/>
          </p:spPr>
          <p:txBody>
            <a:bodyPr wrap="square" lIns="91440" tIns="45720" rIns="91440" bIns="45720" anchor="t">
              <a:spAutoFit/>
            </a:bodyPr>
            <a:lstStyle>
              <a:defPPr>
                <a:defRPr lang="pt-PT"/>
              </a:defPPr>
              <a:lvl1pPr marL="216000" marR="0" lvl="0" indent="-216000" fontAlgn="auto">
                <a:lnSpc>
                  <a:spcPct val="120000"/>
                </a:lnSpc>
                <a:spcBef>
                  <a:spcPts val="0"/>
                </a:spcBef>
                <a:spcAft>
                  <a:spcPts val="700"/>
                </a:spcAft>
                <a:buClrTx/>
                <a:buSzTx/>
                <a:buFont typeface="Wingdings" panose="05000000000000000000" pitchFamily="2" charset="2"/>
                <a:buChar char="§"/>
                <a:tabLst/>
                <a:defRPr kumimoji="0" sz="1200" b="1" i="0" u="none" strike="noStrike" cap="none" spc="0" normalizeH="0" baseline="0">
                  <a:ln>
                    <a:noFill/>
                  </a:ln>
                  <a:solidFill>
                    <a:schemeClr val="bg1"/>
                  </a:solidFill>
                  <a:effectLst/>
                  <a:uLnTx/>
                  <a:uFillTx/>
                  <a:latin typeface="Verdana" panose="020B0604030504040204" pitchFamily="34" charset="0"/>
                  <a:ea typeface="Verdana" panose="020B0604030504040204" pitchFamily="34" charset="0"/>
                </a:defRPr>
              </a:lvl1pPr>
            </a:lstStyle>
            <a:p>
              <a:pPr marL="216000" marR="0" lvl="0" indent="-216000" algn="l" defTabSz="914400" rtl="0" eaLnBrk="1" fontAlgn="auto" latinLnBrk="0" hangingPunct="1">
                <a:lnSpc>
                  <a:spcPct val="120000"/>
                </a:lnSpc>
                <a:spcBef>
                  <a:spcPts val="0"/>
                </a:spcBef>
                <a:spcAft>
                  <a:spcPts val="700"/>
                </a:spcAft>
                <a:buClrTx/>
                <a:buSzTx/>
                <a:buFont typeface="Wingdings" panose="05000000000000000000" pitchFamily="2" charset="2"/>
                <a:buChar char="§"/>
                <a:tabLst/>
                <a:defRPr/>
              </a:pPr>
              <a:r>
                <a:rPr kumimoji="0" lang="en-GB" sz="1000" b="1" i="0" u="none" strike="noStrike" kern="1200" cap="none" spc="0" normalizeH="0" baseline="0" noProof="0" dirty="0">
                  <a:ln>
                    <a:noFill/>
                  </a:ln>
                  <a:solidFill>
                    <a:srgbClr val="FFFFFF"/>
                  </a:solidFill>
                  <a:effectLst/>
                  <a:uLnTx/>
                  <a:uFillTx/>
                  <a:latin typeface="+mj-lt"/>
                  <a:ea typeface="Verdana" panose="020B0604030504040204" pitchFamily="34" charset="0"/>
                  <a:cs typeface="+mn-cs"/>
                </a:rPr>
                <a:t>Assess Cybersecurity posture and risks separately for </a:t>
              </a:r>
              <a:r>
                <a:rPr kumimoji="0" lang="en-GB" sz="1000" b="1" i="0" u="none" strike="noStrike" kern="1200" cap="none" spc="0" normalizeH="0" baseline="0" noProof="0" dirty="0" err="1">
                  <a:ln>
                    <a:noFill/>
                  </a:ln>
                  <a:solidFill>
                    <a:srgbClr val="FFFFFF"/>
                  </a:solidFill>
                  <a:effectLst/>
                  <a:uLnTx/>
                  <a:uFillTx/>
                  <a:latin typeface="+mj-lt"/>
                  <a:ea typeface="Verdana" panose="020B0604030504040204" pitchFamily="34" charset="0"/>
                  <a:cs typeface="+mn-cs"/>
                </a:rPr>
                <a:t>Fastweb</a:t>
              </a:r>
              <a:r>
                <a:rPr kumimoji="0" lang="en-GB" sz="1000" b="1" i="0" u="none" strike="noStrike" kern="1200" cap="none" spc="0" normalizeH="0" baseline="0" noProof="0" dirty="0">
                  <a:ln>
                    <a:noFill/>
                  </a:ln>
                  <a:solidFill>
                    <a:srgbClr val="FFFFFF"/>
                  </a:solidFill>
                  <a:effectLst/>
                  <a:uLnTx/>
                  <a:uFillTx/>
                  <a:latin typeface="+mj-lt"/>
                  <a:ea typeface="Verdana" panose="020B0604030504040204" pitchFamily="34" charset="0"/>
                  <a:cs typeface="+mn-cs"/>
                </a:rPr>
                <a:t> and Vodafone Italy</a:t>
              </a:r>
            </a:p>
            <a:p>
              <a:pPr marL="216000" marR="0" lvl="0" indent="-216000" algn="l" defTabSz="914400" rtl="0" eaLnBrk="1" fontAlgn="auto" latinLnBrk="0" hangingPunct="1">
                <a:lnSpc>
                  <a:spcPct val="120000"/>
                </a:lnSpc>
                <a:spcBef>
                  <a:spcPts val="0"/>
                </a:spcBef>
                <a:spcAft>
                  <a:spcPts val="700"/>
                </a:spcAft>
                <a:buClrTx/>
                <a:buSzTx/>
                <a:buFont typeface="Wingdings" panose="05000000000000000000" pitchFamily="2" charset="2"/>
                <a:buChar char="§"/>
                <a:tabLst/>
                <a:defRPr/>
              </a:pPr>
              <a:r>
                <a:rPr kumimoji="0" lang="en-GB" sz="1000" b="1" i="0" u="none" strike="noStrike" kern="1200" cap="none" spc="0" normalizeH="0" baseline="0" noProof="0" dirty="0">
                  <a:ln>
                    <a:noFill/>
                  </a:ln>
                  <a:solidFill>
                    <a:srgbClr val="FFFFFF"/>
                  </a:solidFill>
                  <a:effectLst/>
                  <a:uLnTx/>
                  <a:uFillTx/>
                  <a:latin typeface="+mj-lt"/>
                  <a:ea typeface="Verdana" panose="020B0604030504040204" pitchFamily="34" charset="0"/>
                  <a:cs typeface="+mn-cs"/>
                </a:rPr>
                <a:t>Strengthen Cybersecurity protection and detection capabilities for both</a:t>
              </a:r>
            </a:p>
            <a:p>
              <a:pPr marL="216000" marR="0" lvl="0" indent="-216000" algn="l" defTabSz="914400" rtl="0" eaLnBrk="1" fontAlgn="auto" latinLnBrk="0" hangingPunct="1">
                <a:lnSpc>
                  <a:spcPct val="120000"/>
                </a:lnSpc>
                <a:spcBef>
                  <a:spcPts val="0"/>
                </a:spcBef>
                <a:spcAft>
                  <a:spcPts val="700"/>
                </a:spcAft>
                <a:buClrTx/>
                <a:buSzTx/>
                <a:buFont typeface="Wingdings" panose="05000000000000000000" pitchFamily="2" charset="2"/>
                <a:buChar char="§"/>
                <a:tabLst/>
                <a:defRPr/>
              </a:pPr>
              <a:r>
                <a:rPr kumimoji="0" lang="en-GB" sz="1000" b="1" i="0" u="none" strike="noStrike" kern="1200" cap="none" spc="0" normalizeH="0" baseline="0" noProof="0" dirty="0">
                  <a:ln>
                    <a:noFill/>
                  </a:ln>
                  <a:solidFill>
                    <a:srgbClr val="FFFFFF"/>
                  </a:solidFill>
                  <a:effectLst/>
                  <a:uLnTx/>
                  <a:uFillTx/>
                  <a:latin typeface="+mj-lt"/>
                  <a:ea typeface="Verdana" panose="020B0604030504040204" pitchFamily="34" charset="0"/>
                  <a:cs typeface="+mn-cs"/>
                </a:rPr>
                <a:t>Define joint intermediate procedures to exchange information, respond and recover in case of Cyber attack</a:t>
              </a:r>
            </a:p>
          </p:txBody>
        </p:sp>
      </p:grpSp>
      <p:sp>
        <p:nvSpPr>
          <p:cNvPr id="117" name="Rectangle 116">
            <a:extLst>
              <a:ext uri="{FF2B5EF4-FFF2-40B4-BE49-F238E27FC236}">
                <a16:creationId xmlns:a16="http://schemas.microsoft.com/office/drawing/2014/main" id="{48AD8682-9C53-71CF-6F10-EA087D67F500}"/>
              </a:ext>
            </a:extLst>
          </p:cNvPr>
          <p:cNvSpPr/>
          <p:nvPr/>
        </p:nvSpPr>
        <p:spPr>
          <a:xfrm>
            <a:off x="4218369" y="3459682"/>
            <a:ext cx="3703940" cy="1440000"/>
          </a:xfrm>
          <a:prstGeom prst="rect">
            <a:avLst/>
          </a:prstGeom>
          <a:solidFill>
            <a:srgbClr val="9A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FFFFFF"/>
              </a:solidFill>
              <a:effectLst/>
              <a:uLnTx/>
              <a:uFillTx/>
              <a:latin typeface="+mj-lt"/>
              <a:ea typeface="+mn-ea"/>
              <a:cs typeface="+mn-cs"/>
            </a:endParaRPr>
          </a:p>
        </p:txBody>
      </p:sp>
      <p:sp>
        <p:nvSpPr>
          <p:cNvPr id="118" name="Rectangle 117">
            <a:extLst>
              <a:ext uri="{FF2B5EF4-FFF2-40B4-BE49-F238E27FC236}">
                <a16:creationId xmlns:a16="http://schemas.microsoft.com/office/drawing/2014/main" id="{8AC7253D-AC07-122D-803F-66A5B27223CB}"/>
              </a:ext>
            </a:extLst>
          </p:cNvPr>
          <p:cNvSpPr/>
          <p:nvPr/>
        </p:nvSpPr>
        <p:spPr>
          <a:xfrm>
            <a:off x="8037805" y="3459682"/>
            <a:ext cx="3703940" cy="1440000"/>
          </a:xfrm>
          <a:prstGeom prst="rect">
            <a:avLst/>
          </a:prstGeom>
          <a:solidFill>
            <a:srgbClr val="9A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FFFFFF"/>
              </a:solidFill>
              <a:effectLst/>
              <a:uLnTx/>
              <a:uFillTx/>
              <a:latin typeface="+mj-lt"/>
              <a:ea typeface="+mn-ea"/>
              <a:cs typeface="+mn-cs"/>
            </a:endParaRPr>
          </a:p>
        </p:txBody>
      </p:sp>
      <p:sp>
        <p:nvSpPr>
          <p:cNvPr id="119" name="Rectangle 118">
            <a:extLst>
              <a:ext uri="{FF2B5EF4-FFF2-40B4-BE49-F238E27FC236}">
                <a16:creationId xmlns:a16="http://schemas.microsoft.com/office/drawing/2014/main" id="{6A3A707C-54FB-69B2-BE98-AE95283EA40F}"/>
              </a:ext>
            </a:extLst>
          </p:cNvPr>
          <p:cNvSpPr/>
          <p:nvPr/>
        </p:nvSpPr>
        <p:spPr>
          <a:xfrm>
            <a:off x="8037805" y="5017280"/>
            <a:ext cx="3703940" cy="1440000"/>
          </a:xfrm>
          <a:prstGeom prst="rect">
            <a:avLst/>
          </a:prstGeom>
          <a:solidFill>
            <a:srgbClr val="9A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FFFFFF"/>
              </a:solidFill>
              <a:effectLst/>
              <a:uLnTx/>
              <a:uFillTx/>
              <a:latin typeface="+mj-lt"/>
              <a:ea typeface="+mn-ea"/>
              <a:cs typeface="+mn-cs"/>
            </a:endParaRPr>
          </a:p>
        </p:txBody>
      </p:sp>
      <p:sp>
        <p:nvSpPr>
          <p:cNvPr id="120" name="Rectangle 119">
            <a:extLst>
              <a:ext uri="{FF2B5EF4-FFF2-40B4-BE49-F238E27FC236}">
                <a16:creationId xmlns:a16="http://schemas.microsoft.com/office/drawing/2014/main" id="{9371B27A-8BBF-8C88-122A-367588BBD709}"/>
              </a:ext>
            </a:extLst>
          </p:cNvPr>
          <p:cNvSpPr/>
          <p:nvPr/>
        </p:nvSpPr>
        <p:spPr>
          <a:xfrm>
            <a:off x="4218369" y="5017280"/>
            <a:ext cx="3703940" cy="1440000"/>
          </a:xfrm>
          <a:prstGeom prst="rect">
            <a:avLst/>
          </a:prstGeom>
          <a:solidFill>
            <a:srgbClr val="9AE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FFFFFF"/>
              </a:solidFill>
              <a:effectLst/>
              <a:uLnTx/>
              <a:uFillTx/>
              <a:latin typeface="+mj-lt"/>
              <a:ea typeface="+mn-ea"/>
              <a:cs typeface="+mn-cs"/>
            </a:endParaRPr>
          </a:p>
        </p:txBody>
      </p:sp>
      <p:pic>
        <p:nvPicPr>
          <p:cNvPr id="121" name="Picture 107">
            <a:extLst>
              <a:ext uri="{FF2B5EF4-FFF2-40B4-BE49-F238E27FC236}">
                <a16:creationId xmlns:a16="http://schemas.microsoft.com/office/drawing/2014/main" id="{D54AAAAE-93FC-2684-7384-B96C9DDCCDD9}"/>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736459" y="3687720"/>
            <a:ext cx="713477" cy="502449"/>
          </a:xfrm>
          <a:prstGeom prst="rect">
            <a:avLst/>
          </a:prstGeom>
        </p:spPr>
      </p:pic>
      <p:pic>
        <p:nvPicPr>
          <p:cNvPr id="122" name="Picture 108">
            <a:extLst>
              <a:ext uri="{FF2B5EF4-FFF2-40B4-BE49-F238E27FC236}">
                <a16:creationId xmlns:a16="http://schemas.microsoft.com/office/drawing/2014/main" id="{467D14AD-F0B6-ADCD-C676-B5912E26361D}"/>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974924" y="4495308"/>
            <a:ext cx="950023" cy="316674"/>
          </a:xfrm>
          <a:prstGeom prst="rect">
            <a:avLst/>
          </a:prstGeom>
        </p:spPr>
      </p:pic>
      <p:grpSp>
        <p:nvGrpSpPr>
          <p:cNvPr id="123" name="Group 118">
            <a:extLst>
              <a:ext uri="{FF2B5EF4-FFF2-40B4-BE49-F238E27FC236}">
                <a16:creationId xmlns:a16="http://schemas.microsoft.com/office/drawing/2014/main" id="{3DAE85A5-EC9D-FCF9-AF60-18B3450E90D6}"/>
              </a:ext>
            </a:extLst>
          </p:cNvPr>
          <p:cNvGrpSpPr/>
          <p:nvPr/>
        </p:nvGrpSpPr>
        <p:grpSpPr>
          <a:xfrm>
            <a:off x="6214504" y="3545415"/>
            <a:ext cx="1611866" cy="989343"/>
            <a:chOff x="4778617" y="1555060"/>
            <a:chExt cx="1221965" cy="750029"/>
          </a:xfrm>
        </p:grpSpPr>
        <p:pic>
          <p:nvPicPr>
            <p:cNvPr id="124" name="Picture 119">
              <a:extLst>
                <a:ext uri="{FF2B5EF4-FFF2-40B4-BE49-F238E27FC236}">
                  <a16:creationId xmlns:a16="http://schemas.microsoft.com/office/drawing/2014/main" id="{F1DA519D-4DFB-585D-3F4C-C58AE84F8700}"/>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4977986" y="1555060"/>
              <a:ext cx="1022596" cy="555521"/>
            </a:xfrm>
            <a:prstGeom prst="rect">
              <a:avLst/>
            </a:prstGeom>
          </p:spPr>
        </p:pic>
        <p:pic>
          <p:nvPicPr>
            <p:cNvPr id="125" name="Picture 120">
              <a:extLst>
                <a:ext uri="{FF2B5EF4-FFF2-40B4-BE49-F238E27FC236}">
                  <a16:creationId xmlns:a16="http://schemas.microsoft.com/office/drawing/2014/main" id="{12C34C64-98E2-2969-4E91-2EEFFE85F494}"/>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4778617" y="1990301"/>
              <a:ext cx="1033037" cy="314788"/>
            </a:xfrm>
            <a:prstGeom prst="rect">
              <a:avLst/>
            </a:prstGeom>
          </p:spPr>
        </p:pic>
      </p:grpSp>
      <p:grpSp>
        <p:nvGrpSpPr>
          <p:cNvPr id="126" name="Group 125">
            <a:extLst>
              <a:ext uri="{FF2B5EF4-FFF2-40B4-BE49-F238E27FC236}">
                <a16:creationId xmlns:a16="http://schemas.microsoft.com/office/drawing/2014/main" id="{C3859F32-366C-49D6-ADCD-52D70C68785C}"/>
              </a:ext>
            </a:extLst>
          </p:cNvPr>
          <p:cNvGrpSpPr>
            <a:grpSpLocks noChangeAspect="1"/>
          </p:cNvGrpSpPr>
          <p:nvPr/>
        </p:nvGrpSpPr>
        <p:grpSpPr>
          <a:xfrm>
            <a:off x="9743019" y="3643095"/>
            <a:ext cx="1768370" cy="1094400"/>
            <a:chOff x="10553234" y="1656015"/>
            <a:chExt cx="1048795" cy="649073"/>
          </a:xfrm>
        </p:grpSpPr>
        <p:pic>
          <p:nvPicPr>
            <p:cNvPr id="127" name="Picture 126">
              <a:extLst>
                <a:ext uri="{FF2B5EF4-FFF2-40B4-BE49-F238E27FC236}">
                  <a16:creationId xmlns:a16="http://schemas.microsoft.com/office/drawing/2014/main" id="{9C4A94B4-57E0-E4ED-71F1-5BE5E9916084}"/>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0553234" y="1656015"/>
              <a:ext cx="806785" cy="454565"/>
            </a:xfrm>
            <a:prstGeom prst="rect">
              <a:avLst/>
            </a:prstGeom>
          </p:spPr>
        </p:pic>
        <p:pic>
          <p:nvPicPr>
            <p:cNvPr id="128" name="Picture 127">
              <a:extLst>
                <a:ext uri="{FF2B5EF4-FFF2-40B4-BE49-F238E27FC236}">
                  <a16:creationId xmlns:a16="http://schemas.microsoft.com/office/drawing/2014/main" id="{64733F21-C5DC-D1B7-95F2-09C266E90180}"/>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10741758" y="1818786"/>
              <a:ext cx="860271" cy="486302"/>
            </a:xfrm>
            <a:prstGeom prst="rect">
              <a:avLst/>
            </a:prstGeom>
          </p:spPr>
        </p:pic>
      </p:grpSp>
      <p:grpSp>
        <p:nvGrpSpPr>
          <p:cNvPr id="129" name="Group 122">
            <a:extLst>
              <a:ext uri="{FF2B5EF4-FFF2-40B4-BE49-F238E27FC236}">
                <a16:creationId xmlns:a16="http://schemas.microsoft.com/office/drawing/2014/main" id="{34889906-EC2D-2459-26D5-918BFC0BDA77}"/>
              </a:ext>
            </a:extLst>
          </p:cNvPr>
          <p:cNvGrpSpPr/>
          <p:nvPr/>
        </p:nvGrpSpPr>
        <p:grpSpPr>
          <a:xfrm>
            <a:off x="5573234" y="5116802"/>
            <a:ext cx="2228436" cy="1292791"/>
            <a:chOff x="7598711" y="1560257"/>
            <a:chExt cx="1131997" cy="694515"/>
          </a:xfrm>
        </p:grpSpPr>
        <p:pic>
          <p:nvPicPr>
            <p:cNvPr id="130" name="Picture 123">
              <a:extLst>
                <a:ext uri="{FF2B5EF4-FFF2-40B4-BE49-F238E27FC236}">
                  <a16:creationId xmlns:a16="http://schemas.microsoft.com/office/drawing/2014/main" id="{4AC2FA2F-C84E-F4DA-16EB-85581B1D8FE5}"/>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7598711" y="1560257"/>
              <a:ext cx="829031" cy="467708"/>
            </a:xfrm>
            <a:prstGeom prst="rect">
              <a:avLst/>
            </a:prstGeom>
          </p:spPr>
        </p:pic>
        <p:pic>
          <p:nvPicPr>
            <p:cNvPr id="131" name="Picture 124">
              <a:extLst>
                <a:ext uri="{FF2B5EF4-FFF2-40B4-BE49-F238E27FC236}">
                  <a16:creationId xmlns:a16="http://schemas.microsoft.com/office/drawing/2014/main" id="{A19F697E-A6A5-E726-AD0C-549AFFF33763}"/>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7823574" y="1741233"/>
              <a:ext cx="907134" cy="513539"/>
            </a:xfrm>
            <a:prstGeom prst="rect">
              <a:avLst/>
            </a:prstGeom>
          </p:spPr>
        </p:pic>
      </p:grpSp>
      <p:pic>
        <p:nvPicPr>
          <p:cNvPr id="132" name="Picture 114">
            <a:extLst>
              <a:ext uri="{FF2B5EF4-FFF2-40B4-BE49-F238E27FC236}">
                <a16:creationId xmlns:a16="http://schemas.microsoft.com/office/drawing/2014/main" id="{BA95C823-4268-3C82-8000-30BCFCD5B16C}"/>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9489131" y="5206119"/>
            <a:ext cx="2028445" cy="1065575"/>
          </a:xfrm>
          <a:prstGeom prst="rect">
            <a:avLst/>
          </a:prstGeom>
        </p:spPr>
      </p:pic>
      <p:sp>
        <p:nvSpPr>
          <p:cNvPr id="133" name="TextBox 91">
            <a:extLst>
              <a:ext uri="{FF2B5EF4-FFF2-40B4-BE49-F238E27FC236}">
                <a16:creationId xmlns:a16="http://schemas.microsoft.com/office/drawing/2014/main" id="{B3DBC430-2E1F-939D-F09F-9395032D7A2C}"/>
              </a:ext>
            </a:extLst>
          </p:cNvPr>
          <p:cNvSpPr txBox="1"/>
          <p:nvPr/>
        </p:nvSpPr>
        <p:spPr>
          <a:xfrm>
            <a:off x="4268307" y="3520647"/>
            <a:ext cx="161227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mj-lt"/>
                <a:ea typeface="+mn-ea"/>
                <a:cs typeface="+mn-cs"/>
              </a:rPr>
              <a:t>Cybersecurity Flash Assessment</a:t>
            </a:r>
          </a:p>
        </p:txBody>
      </p:sp>
      <p:sp>
        <p:nvSpPr>
          <p:cNvPr id="134" name="TextBox 94">
            <a:extLst>
              <a:ext uri="{FF2B5EF4-FFF2-40B4-BE49-F238E27FC236}">
                <a16:creationId xmlns:a16="http://schemas.microsoft.com/office/drawing/2014/main" id="{DFDC48CC-2D5F-BAE4-80DD-C5D3E24BA4DB}"/>
              </a:ext>
            </a:extLst>
          </p:cNvPr>
          <p:cNvSpPr txBox="1"/>
          <p:nvPr/>
        </p:nvSpPr>
        <p:spPr>
          <a:xfrm>
            <a:off x="8129263" y="3589516"/>
            <a:ext cx="161375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mj-lt"/>
                <a:ea typeface="+mn-ea"/>
                <a:cs typeface="+mn-cs"/>
              </a:rPr>
              <a:t>Sensibilization Day-1 </a:t>
            </a:r>
          </a:p>
        </p:txBody>
      </p:sp>
      <p:sp>
        <p:nvSpPr>
          <p:cNvPr id="135" name="TextBox 96">
            <a:extLst>
              <a:ext uri="{FF2B5EF4-FFF2-40B4-BE49-F238E27FC236}">
                <a16:creationId xmlns:a16="http://schemas.microsoft.com/office/drawing/2014/main" id="{DB57D2E7-F598-9672-0AF8-E4F98FEA223A}"/>
              </a:ext>
            </a:extLst>
          </p:cNvPr>
          <p:cNvSpPr txBox="1"/>
          <p:nvPr/>
        </p:nvSpPr>
        <p:spPr>
          <a:xfrm>
            <a:off x="8070709" y="5086142"/>
            <a:ext cx="120646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mj-lt"/>
                <a:ea typeface="+mn-ea"/>
                <a:cs typeface="+mn-cs"/>
              </a:rPr>
              <a:t>Operating Models</a:t>
            </a:r>
          </a:p>
        </p:txBody>
      </p:sp>
      <p:sp>
        <p:nvSpPr>
          <p:cNvPr id="136" name="TextBox 93">
            <a:extLst>
              <a:ext uri="{FF2B5EF4-FFF2-40B4-BE49-F238E27FC236}">
                <a16:creationId xmlns:a16="http://schemas.microsoft.com/office/drawing/2014/main" id="{2DBE6E87-4FE0-1D00-2093-BEF43092EC90}"/>
              </a:ext>
            </a:extLst>
          </p:cNvPr>
          <p:cNvSpPr txBox="1"/>
          <p:nvPr/>
        </p:nvSpPr>
        <p:spPr>
          <a:xfrm>
            <a:off x="4228222" y="5072062"/>
            <a:ext cx="156634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mj-lt"/>
                <a:ea typeface="+mn-ea"/>
                <a:cs typeface="+mn-cs"/>
              </a:rPr>
              <a:t>Cyber Crisis Preparation</a:t>
            </a:r>
          </a:p>
        </p:txBody>
      </p:sp>
      <p:sp>
        <p:nvSpPr>
          <p:cNvPr id="3" name="Slide Number Placeholder 2">
            <a:extLst>
              <a:ext uri="{FF2B5EF4-FFF2-40B4-BE49-F238E27FC236}">
                <a16:creationId xmlns:a16="http://schemas.microsoft.com/office/drawing/2014/main" id="{590CE8BD-662A-73C8-4D25-00156C166E7A}"/>
              </a:ext>
            </a:extLst>
          </p:cNvPr>
          <p:cNvSpPr>
            <a:spLocks noGrp="1"/>
          </p:cNvSpPr>
          <p:nvPr>
            <p:ph type="sldNum" sz="quarter" idx="12"/>
          </p:nvPr>
        </p:nvSpPr>
        <p:spPr/>
        <p:txBody>
          <a:bodyPr/>
          <a:lstStyle/>
          <a:p>
            <a:fld id="{8FF9B0DE-3FEB-4AA0-B465-B80EF7C1333D}" type="slidenum">
              <a:rPr lang="en-AU" smtClean="0"/>
              <a:pPr/>
              <a:t>19</a:t>
            </a:fld>
            <a:endParaRPr lang="en-AU"/>
          </a:p>
        </p:txBody>
      </p:sp>
      <p:sp>
        <p:nvSpPr>
          <p:cNvPr id="4" name="Rectangle 27">
            <a:extLst>
              <a:ext uri="{FF2B5EF4-FFF2-40B4-BE49-F238E27FC236}">
                <a16:creationId xmlns:a16="http://schemas.microsoft.com/office/drawing/2014/main" id="{A35FAE63-1323-216A-1641-B5747B007EBE}"/>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7" name="TextBox 6">
            <a:extLst>
              <a:ext uri="{FF2B5EF4-FFF2-40B4-BE49-F238E27FC236}">
                <a16:creationId xmlns:a16="http://schemas.microsoft.com/office/drawing/2014/main" id="{E874FD04-477C-77A0-083B-115880C870E3}"/>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grpSp>
        <p:nvGrpSpPr>
          <p:cNvPr id="5" name="Groupe 1">
            <a:extLst>
              <a:ext uri="{FF2B5EF4-FFF2-40B4-BE49-F238E27FC236}">
                <a16:creationId xmlns:a16="http://schemas.microsoft.com/office/drawing/2014/main" id="{71D14520-E297-8202-365C-727179A4D6DF}"/>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6" name="Freeform 13">
              <a:extLst>
                <a:ext uri="{FF2B5EF4-FFF2-40B4-BE49-F238E27FC236}">
                  <a16:creationId xmlns:a16="http://schemas.microsoft.com/office/drawing/2014/main" id="{487F9678-BB69-19D9-604B-8255AA8B9BFE}"/>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8" name="Freeform 14">
              <a:extLst>
                <a:ext uri="{FF2B5EF4-FFF2-40B4-BE49-F238E27FC236}">
                  <a16:creationId xmlns:a16="http://schemas.microsoft.com/office/drawing/2014/main" id="{262EE65C-F5CC-AB9F-E42A-B39911131C7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Tree>
    <p:extLst>
      <p:ext uri="{BB962C8B-B14F-4D97-AF65-F5344CB8AC3E}">
        <p14:creationId xmlns:p14="http://schemas.microsoft.com/office/powerpoint/2010/main" val="2397661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45" hidden="1">
            <a:extLst>
              <a:ext uri="{FF2B5EF4-FFF2-40B4-BE49-F238E27FC236}">
                <a16:creationId xmlns:a16="http://schemas.microsoft.com/office/drawing/2014/main" id="{A96A292F-FF6A-41FF-B443-B0BE13D1F5A5}"/>
              </a:ext>
            </a:extLst>
          </p:cNvPr>
          <p:cNvGraphicFramePr/>
          <p:nvPr/>
        </p:nvGraphicFramePr>
        <p:xfrm>
          <a:off x="1591" y="1591"/>
          <a:ext cx="1591" cy="1591"/>
        </p:xfrm>
        <a:graphic>
          <a:graphicData uri="http://schemas.openxmlformats.org/presentationml/2006/ole">
            <mc:AlternateContent xmlns:mc="http://schemas.openxmlformats.org/markup-compatibility/2006">
              <mc:Choice xmlns:v="urn:schemas-microsoft-com:vml" Requires="v">
                <p:oleObj name="think-cell Slide" r:id="rId3" imgW="5787" imgH="5787" progId="TCLayout.ActiveDocument.1">
                  <p:embed/>
                </p:oleObj>
              </mc:Choice>
              <mc:Fallback>
                <p:oleObj name="think-cell Slide" r:id="rId3" imgW="5787" imgH="5787" progId="TCLayout.ActiveDocument.1">
                  <p:embed/>
                  <p:pic>
                    <p:nvPicPr>
                      <p:cNvPr id="3" name="Object 45" hidden="1">
                        <a:extLst>
                          <a:ext uri="{FF2B5EF4-FFF2-40B4-BE49-F238E27FC236}">
                            <a16:creationId xmlns:a16="http://schemas.microsoft.com/office/drawing/2014/main" id="{A96A292F-FF6A-41FF-B443-B0BE13D1F5A5}"/>
                          </a:ext>
                        </a:extLst>
                      </p:cNvPr>
                      <p:cNvPicPr/>
                      <p:nvPr/>
                    </p:nvPicPr>
                    <p:blipFill>
                      <a:blip r:embed="rId4"/>
                      <a:stretch>
                        <a:fillRect/>
                      </a:stretch>
                    </p:blipFill>
                    <p:spPr>
                      <a:xfrm>
                        <a:off x="1591" y="1591"/>
                        <a:ext cx="1591" cy="1591"/>
                      </a:xfrm>
                      <a:prstGeom prst="rect">
                        <a:avLst/>
                      </a:prstGeom>
                      <a:noFill/>
                      <a:ln>
                        <a:noFill/>
                      </a:ln>
                    </p:spPr>
                  </p:pic>
                </p:oleObj>
              </mc:Fallback>
            </mc:AlternateContent>
          </a:graphicData>
        </a:graphic>
      </p:graphicFrame>
      <p:sp>
        <p:nvSpPr>
          <p:cNvPr id="37" name="Text Placeholder 1">
            <a:extLst>
              <a:ext uri="{FF2B5EF4-FFF2-40B4-BE49-F238E27FC236}">
                <a16:creationId xmlns:a16="http://schemas.microsoft.com/office/drawing/2014/main" id="{B00D973B-D75C-4AA7-B58F-00311151B1F2}"/>
              </a:ext>
            </a:extLst>
          </p:cNvPr>
          <p:cNvSpPr txBox="1"/>
          <p:nvPr/>
        </p:nvSpPr>
        <p:spPr>
          <a:xfrm>
            <a:off x="1292073" y="322121"/>
            <a:ext cx="6913841" cy="457684"/>
          </a:xfrm>
          <a:prstGeom prst="rect">
            <a:avLst/>
          </a:prstGeom>
          <a:noFill/>
          <a:ln>
            <a:noFill/>
          </a:ln>
        </p:spPr>
        <p:txBody>
          <a:bodyPr vert="horz" wrap="square" lIns="91440" tIns="45720" rIns="91440" bIns="45720" anchor="t" anchorCtr="0" compatLnSpc="1">
            <a:noAutofit/>
          </a:bodyPr>
          <a:lstStyle/>
          <a:p>
            <a:pPr marR="0" lvl="0" indent="0" fontAlgn="auto">
              <a:lnSpc>
                <a:spcPct val="100000"/>
              </a:lnSpc>
              <a:spcBef>
                <a:spcPct val="0"/>
              </a:spcBef>
              <a:spcAft>
                <a:spcPts val="600"/>
              </a:spcAft>
              <a:buClrTx/>
              <a:buSzTx/>
              <a:buFontTx/>
              <a:buNone/>
              <a:tabLst>
                <a:tab pos="1881185" algn="l"/>
              </a:tabLst>
              <a:defRPr sz="1800" b="0" i="0" u="none" strike="noStrike" kern="0" cap="none" spc="0" baseline="0">
                <a:solidFill>
                  <a:srgbClr val="000000"/>
                </a:solidFill>
                <a:uFillTx/>
              </a:defRPr>
            </a:pPr>
            <a:r>
              <a:rPr lang="nl-BE" sz="2400" b="1" kern="0" spc="-50" dirty="0">
                <a:solidFill>
                  <a:srgbClr val="000000"/>
                </a:solidFill>
                <a:latin typeface="+mj-lt"/>
                <a:ea typeface="+mj-ea"/>
                <a:cs typeface="+mj-cs"/>
              </a:rPr>
              <a:t>STREAM 7 | SOURCING &amp; CONTRACT MANAGEMENT</a:t>
            </a:r>
          </a:p>
        </p:txBody>
      </p:sp>
      <p:sp>
        <p:nvSpPr>
          <p:cNvPr id="78" name="Rectangle: Rounded Corners 77">
            <a:extLst>
              <a:ext uri="{FF2B5EF4-FFF2-40B4-BE49-F238E27FC236}">
                <a16:creationId xmlns:a16="http://schemas.microsoft.com/office/drawing/2014/main" id="{B4D8BECE-71E9-EBB6-CA49-147C506CD04A}"/>
              </a:ext>
            </a:extLst>
          </p:cNvPr>
          <p:cNvSpPr/>
          <p:nvPr/>
        </p:nvSpPr>
        <p:spPr>
          <a:xfrm>
            <a:off x="349321" y="1643887"/>
            <a:ext cx="6493268" cy="4705544"/>
          </a:xfrm>
          <a:prstGeom prst="roundRect">
            <a:avLst>
              <a:gd name="adj" fmla="val 4686"/>
            </a:avLst>
          </a:prstGeom>
          <a:solidFill>
            <a:schemeClr val="bg1"/>
          </a:solidFill>
          <a:ln w="12700" cap="flat" cmpd="sng" algn="ctr">
            <a:solidFill>
              <a:srgbClr val="0070AD"/>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600" b="0" i="0" u="none" strike="noStrike" kern="0" cap="none" spc="0" normalizeH="0" baseline="0" noProof="0" err="1">
              <a:ln>
                <a:noFill/>
              </a:ln>
              <a:solidFill>
                <a:srgbClr val="FFFFFF"/>
              </a:solidFill>
              <a:effectLst/>
              <a:uLnTx/>
              <a:uFillTx/>
              <a:latin typeface="TheSans Swisscom Light (Headings)"/>
            </a:endParaRPr>
          </a:p>
        </p:txBody>
      </p:sp>
      <p:sp>
        <p:nvSpPr>
          <p:cNvPr id="79" name="Rectangle: Rounded Corners 78">
            <a:extLst>
              <a:ext uri="{FF2B5EF4-FFF2-40B4-BE49-F238E27FC236}">
                <a16:creationId xmlns:a16="http://schemas.microsoft.com/office/drawing/2014/main" id="{ACAC7A9F-2B0B-830C-7267-313AE246CB90}"/>
              </a:ext>
            </a:extLst>
          </p:cNvPr>
          <p:cNvSpPr/>
          <p:nvPr/>
        </p:nvSpPr>
        <p:spPr>
          <a:xfrm>
            <a:off x="1900382" y="1412369"/>
            <a:ext cx="3391146" cy="432000"/>
          </a:xfrm>
          <a:prstGeom prst="roundRect">
            <a:avLst/>
          </a:prstGeom>
          <a:solidFill>
            <a:srgbClr val="0070AD"/>
          </a:solidFill>
          <a:ln w="28575" cap="flat" cmpd="sng" algn="ctr">
            <a:solidFill>
              <a:schemeClr val="bg1"/>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 b="1" i="0" u="none" strike="noStrike" kern="0" cap="none" spc="0" normalizeH="0" baseline="0" noProof="0">
                <a:ln>
                  <a:noFill/>
                </a:ln>
                <a:solidFill>
                  <a:schemeClr val="bg1"/>
                </a:solidFill>
                <a:effectLst/>
                <a:uLnTx/>
                <a:uFillTx/>
                <a:latin typeface="TheSans Swisscom Light (Headings)"/>
              </a:rPr>
              <a:t>From two different models … </a:t>
            </a:r>
            <a:endParaRPr kumimoji="0" lang="en" sz="2000" b="0" i="0" u="none" strike="noStrike" kern="0" cap="none" spc="0" normalizeH="0" baseline="0" noProof="0">
              <a:ln>
                <a:noFill/>
              </a:ln>
              <a:solidFill>
                <a:schemeClr val="bg1"/>
              </a:solidFill>
              <a:effectLst/>
              <a:uLnTx/>
              <a:uFillTx/>
              <a:latin typeface="TheSans Swisscom Light (Headings)"/>
            </a:endParaRPr>
          </a:p>
        </p:txBody>
      </p:sp>
      <p:sp>
        <p:nvSpPr>
          <p:cNvPr id="88" name="Arrow: Chevron 87">
            <a:extLst>
              <a:ext uri="{FF2B5EF4-FFF2-40B4-BE49-F238E27FC236}">
                <a16:creationId xmlns:a16="http://schemas.microsoft.com/office/drawing/2014/main" id="{E149BF6A-2CE9-C4F4-5BC6-D794E4F878D3}"/>
              </a:ext>
            </a:extLst>
          </p:cNvPr>
          <p:cNvSpPr/>
          <p:nvPr/>
        </p:nvSpPr>
        <p:spPr>
          <a:xfrm>
            <a:off x="7062595" y="3256250"/>
            <a:ext cx="297583" cy="1480819"/>
          </a:xfrm>
          <a:prstGeom prst="chevron">
            <a:avLst/>
          </a:prstGeom>
          <a:solidFill>
            <a:srgbClr val="FFC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600" b="0" i="0" u="none" strike="noStrike" kern="0" cap="none" spc="0" normalizeH="0" baseline="0" noProof="0" err="1">
              <a:ln>
                <a:noFill/>
              </a:ln>
              <a:solidFill>
                <a:srgbClr val="FFFFFF"/>
              </a:solidFill>
              <a:effectLst/>
              <a:uLnTx/>
              <a:uFillTx/>
              <a:latin typeface="TheSans Swisscom Light (Headings)"/>
            </a:endParaRPr>
          </a:p>
        </p:txBody>
      </p:sp>
      <p:sp>
        <p:nvSpPr>
          <p:cNvPr id="89" name="Rectangle: Rounded Corners 88">
            <a:extLst>
              <a:ext uri="{FF2B5EF4-FFF2-40B4-BE49-F238E27FC236}">
                <a16:creationId xmlns:a16="http://schemas.microsoft.com/office/drawing/2014/main" id="{AA71536C-FFE0-515F-8B2B-013390BEB9F8}"/>
              </a:ext>
            </a:extLst>
          </p:cNvPr>
          <p:cNvSpPr/>
          <p:nvPr/>
        </p:nvSpPr>
        <p:spPr>
          <a:xfrm>
            <a:off x="7603502" y="1643887"/>
            <a:ext cx="4139231" cy="4715817"/>
          </a:xfrm>
          <a:prstGeom prst="roundRect">
            <a:avLst>
              <a:gd name="adj" fmla="val 3197"/>
            </a:avLst>
          </a:prstGeom>
          <a:solidFill>
            <a:schemeClr val="bg1"/>
          </a:solidFill>
          <a:ln w="12700" cap="flat" cmpd="sng" algn="ctr">
            <a:solidFill>
              <a:srgbClr val="0070AD"/>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600" b="0" i="0" u="none" strike="noStrike" kern="0" cap="none" spc="0" normalizeH="0" baseline="0" noProof="0" err="1">
              <a:ln>
                <a:noFill/>
              </a:ln>
              <a:solidFill>
                <a:srgbClr val="FFFFFF"/>
              </a:solidFill>
              <a:effectLst/>
              <a:uLnTx/>
              <a:uFillTx/>
              <a:latin typeface="TheSans Swisscom Light (Headings)"/>
            </a:endParaRPr>
          </a:p>
        </p:txBody>
      </p:sp>
      <p:sp>
        <p:nvSpPr>
          <p:cNvPr id="93" name="TextBox 7">
            <a:extLst>
              <a:ext uri="{FF2B5EF4-FFF2-40B4-BE49-F238E27FC236}">
                <a16:creationId xmlns:a16="http://schemas.microsoft.com/office/drawing/2014/main" id="{63389981-A87A-6B68-9CD6-B393F0E87FFD}"/>
              </a:ext>
            </a:extLst>
          </p:cNvPr>
          <p:cNvSpPr txBox="1"/>
          <p:nvPr/>
        </p:nvSpPr>
        <p:spPr>
          <a:xfrm>
            <a:off x="642905" y="2072867"/>
            <a:ext cx="2518566" cy="288147"/>
          </a:xfrm>
          <a:prstGeom prst="rect">
            <a:avLst/>
          </a:prstGeom>
          <a:noFill/>
        </p:spPr>
        <p:txBody>
          <a:bodyPr wrap="none" lIns="36000" tIns="36000" rIns="36000" bIns="36000" rtlCol="0">
            <a:spAutoFit/>
          </a:bodyPr>
          <a:lstStyle/>
          <a:p>
            <a:pPr algn="l"/>
            <a:r>
              <a:rPr lang="en" sz="1400" b="1" i="1" dirty="0">
                <a:solidFill>
                  <a:srgbClr val="1781E3"/>
                </a:solidFill>
                <a:latin typeface="TheSans Swisscom Light (Headings)"/>
              </a:rPr>
              <a:t>Contracts and Term &amp; Conditions</a:t>
            </a:r>
          </a:p>
        </p:txBody>
      </p:sp>
      <p:sp>
        <p:nvSpPr>
          <p:cNvPr id="95" name="Text Box 21">
            <a:extLst>
              <a:ext uri="{FF2B5EF4-FFF2-40B4-BE49-F238E27FC236}">
                <a16:creationId xmlns:a16="http://schemas.microsoft.com/office/drawing/2014/main" id="{77F113F9-B61E-C39A-9909-DCE3D78D0E08}"/>
              </a:ext>
            </a:extLst>
          </p:cNvPr>
          <p:cNvSpPr txBox="1">
            <a:spLocks noChangeArrowheads="1"/>
          </p:cNvSpPr>
          <p:nvPr/>
        </p:nvSpPr>
        <p:spPr bwMode="auto">
          <a:xfrm>
            <a:off x="599612" y="4174904"/>
            <a:ext cx="828000" cy="276999"/>
          </a:xfrm>
          <a:prstGeom prst="rect">
            <a:avLst/>
          </a:prstGeom>
          <a:noFill/>
          <a:ln w="1588" cap="rnd">
            <a:solidFill>
              <a:schemeClr val="tx1"/>
            </a:solidFill>
            <a:miter lim="800000"/>
            <a:headEnd/>
            <a:tailEnd/>
          </a:ln>
        </p:spPr>
        <p:txBody>
          <a:bodyPr wrap="square" lIns="0" tIns="0" rIns="0" bIns="0">
            <a:spAutoFit/>
          </a:bodyPr>
          <a:lstStyle/>
          <a:p>
            <a:pPr algn="ctr"/>
            <a:r>
              <a:rPr lang="en" sz="900">
                <a:latin typeface="TheSans Swisscom Light (Headings)"/>
              </a:rPr>
              <a:t>Suppliers dependant</a:t>
            </a:r>
          </a:p>
        </p:txBody>
      </p:sp>
      <p:sp>
        <p:nvSpPr>
          <p:cNvPr id="96" name="Text Box 21">
            <a:extLst>
              <a:ext uri="{FF2B5EF4-FFF2-40B4-BE49-F238E27FC236}">
                <a16:creationId xmlns:a16="http://schemas.microsoft.com/office/drawing/2014/main" id="{A548F70A-CD4F-5BC1-7178-45141D0A2A14}"/>
              </a:ext>
            </a:extLst>
          </p:cNvPr>
          <p:cNvSpPr txBox="1">
            <a:spLocks noChangeArrowheads="1"/>
          </p:cNvSpPr>
          <p:nvPr/>
        </p:nvSpPr>
        <p:spPr bwMode="auto">
          <a:xfrm>
            <a:off x="2293079" y="4174904"/>
            <a:ext cx="828000" cy="276999"/>
          </a:xfrm>
          <a:prstGeom prst="rect">
            <a:avLst/>
          </a:prstGeom>
          <a:noFill/>
          <a:ln w="1588" cap="rnd">
            <a:solidFill>
              <a:schemeClr val="tx1"/>
            </a:solidFill>
            <a:miter lim="800000"/>
            <a:headEnd/>
            <a:tailEnd/>
          </a:ln>
        </p:spPr>
        <p:txBody>
          <a:bodyPr wrap="square" lIns="0" tIns="0" rIns="0" bIns="0">
            <a:spAutoFit/>
          </a:bodyPr>
          <a:lstStyle/>
          <a:p>
            <a:pPr algn="ctr"/>
            <a:r>
              <a:rPr lang="en" sz="900">
                <a:latin typeface="TheSans Swisscom Light (Headings)"/>
              </a:rPr>
              <a:t>Suppliers indipendent</a:t>
            </a:r>
          </a:p>
        </p:txBody>
      </p:sp>
      <p:sp>
        <p:nvSpPr>
          <p:cNvPr id="97" name="TextBox 96">
            <a:extLst>
              <a:ext uri="{FF2B5EF4-FFF2-40B4-BE49-F238E27FC236}">
                <a16:creationId xmlns:a16="http://schemas.microsoft.com/office/drawing/2014/main" id="{4AB1374F-8271-F104-1F6D-162CAA24376E}"/>
              </a:ext>
            </a:extLst>
          </p:cNvPr>
          <p:cNvSpPr txBox="1"/>
          <p:nvPr/>
        </p:nvSpPr>
        <p:spPr>
          <a:xfrm>
            <a:off x="739535" y="3457917"/>
            <a:ext cx="2325307" cy="288147"/>
          </a:xfrm>
          <a:prstGeom prst="rect">
            <a:avLst/>
          </a:prstGeom>
          <a:noFill/>
        </p:spPr>
        <p:txBody>
          <a:bodyPr wrap="none" lIns="36000" tIns="36000" rIns="36000" bIns="36000" rtlCol="0">
            <a:spAutoFit/>
          </a:bodyPr>
          <a:lstStyle/>
          <a:p>
            <a:r>
              <a:rPr lang="en" sz="1400" b="1" i="1" dirty="0">
                <a:solidFill>
                  <a:srgbClr val="1781E3"/>
                </a:solidFill>
                <a:latin typeface="TheSans Swisscom Light (Headings)"/>
              </a:rPr>
              <a:t>IT Suppliers and Competencies</a:t>
            </a:r>
          </a:p>
        </p:txBody>
      </p:sp>
      <p:pic>
        <p:nvPicPr>
          <p:cNvPr id="100" name="Picture 430">
            <a:extLst>
              <a:ext uri="{FF2B5EF4-FFF2-40B4-BE49-F238E27FC236}">
                <a16:creationId xmlns:a16="http://schemas.microsoft.com/office/drawing/2014/main" id="{8CAB27FE-4759-2F4C-F28A-A6EC4B68383D}"/>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99880" y="5141860"/>
            <a:ext cx="2428798" cy="936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1" name="TextBox 100">
            <a:extLst>
              <a:ext uri="{FF2B5EF4-FFF2-40B4-BE49-F238E27FC236}">
                <a16:creationId xmlns:a16="http://schemas.microsoft.com/office/drawing/2014/main" id="{EF21301C-4352-A769-B42F-C1FF268B30C4}"/>
              </a:ext>
            </a:extLst>
          </p:cNvPr>
          <p:cNvSpPr txBox="1"/>
          <p:nvPr/>
        </p:nvSpPr>
        <p:spPr>
          <a:xfrm>
            <a:off x="501905" y="4716527"/>
            <a:ext cx="2800566" cy="288147"/>
          </a:xfrm>
          <a:prstGeom prst="rect">
            <a:avLst/>
          </a:prstGeom>
          <a:noFill/>
        </p:spPr>
        <p:txBody>
          <a:bodyPr wrap="none" lIns="36000" tIns="36000" rIns="36000" bIns="36000" rtlCol="0">
            <a:spAutoFit/>
          </a:bodyPr>
          <a:lstStyle/>
          <a:p>
            <a:r>
              <a:rPr lang="en" sz="1400" b="1" i="1" dirty="0">
                <a:solidFill>
                  <a:srgbClr val="1781E3"/>
                </a:solidFill>
                <a:latin typeface="TheSans Swisscom Light (Headings)"/>
              </a:rPr>
              <a:t>Balance internal / external resources</a:t>
            </a:r>
          </a:p>
        </p:txBody>
      </p:sp>
      <p:sp>
        <p:nvSpPr>
          <p:cNvPr id="102" name="Arrow: Left-Right 101">
            <a:extLst>
              <a:ext uri="{FF2B5EF4-FFF2-40B4-BE49-F238E27FC236}">
                <a16:creationId xmlns:a16="http://schemas.microsoft.com/office/drawing/2014/main" id="{FC2D27B9-6F97-177C-71D9-FE8D9124410D}"/>
              </a:ext>
            </a:extLst>
          </p:cNvPr>
          <p:cNvSpPr/>
          <p:nvPr/>
        </p:nvSpPr>
        <p:spPr bwMode="gray">
          <a:xfrm>
            <a:off x="1500345" y="3987493"/>
            <a:ext cx="720000" cy="308858"/>
          </a:xfrm>
          <a:prstGeom prst="leftRightArrow">
            <a:avLst/>
          </a:prstGeom>
          <a:solidFill>
            <a:srgbClr val="0096D3">
              <a:alpha val="50000"/>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it-IT" sz="1600">
              <a:solidFill>
                <a:schemeClr val="tx1"/>
              </a:solidFill>
              <a:latin typeface="TheSans Swisscom Light (Headings)"/>
            </a:endParaRPr>
          </a:p>
        </p:txBody>
      </p:sp>
      <p:sp>
        <p:nvSpPr>
          <p:cNvPr id="103" name="Text Box 21">
            <a:extLst>
              <a:ext uri="{FF2B5EF4-FFF2-40B4-BE49-F238E27FC236}">
                <a16:creationId xmlns:a16="http://schemas.microsoft.com/office/drawing/2014/main" id="{6DB6BB1A-E02B-CA44-2F44-5F5A10BB6F04}"/>
              </a:ext>
            </a:extLst>
          </p:cNvPr>
          <p:cNvSpPr txBox="1">
            <a:spLocks noChangeArrowheads="1"/>
          </p:cNvSpPr>
          <p:nvPr/>
        </p:nvSpPr>
        <p:spPr bwMode="auto">
          <a:xfrm>
            <a:off x="2293079" y="3791797"/>
            <a:ext cx="828000" cy="276999"/>
          </a:xfrm>
          <a:prstGeom prst="rect">
            <a:avLst/>
          </a:prstGeom>
          <a:noFill/>
          <a:ln w="1588" cap="rnd">
            <a:solidFill>
              <a:schemeClr val="tx1"/>
            </a:solidFill>
            <a:miter lim="800000"/>
            <a:headEnd/>
            <a:tailEnd/>
          </a:ln>
        </p:spPr>
        <p:txBody>
          <a:bodyPr wrap="square" lIns="0" tIns="0" rIns="0" bIns="0">
            <a:spAutoFit/>
          </a:bodyPr>
          <a:lstStyle/>
          <a:p>
            <a:pPr algn="ctr"/>
            <a:r>
              <a:rPr lang="en" sz="900">
                <a:latin typeface="TheSans Swisscom Light (Headings)"/>
              </a:rPr>
              <a:t>Strong internal competencies</a:t>
            </a:r>
          </a:p>
        </p:txBody>
      </p:sp>
      <p:sp>
        <p:nvSpPr>
          <p:cNvPr id="104" name="Text Box 21">
            <a:extLst>
              <a:ext uri="{FF2B5EF4-FFF2-40B4-BE49-F238E27FC236}">
                <a16:creationId xmlns:a16="http://schemas.microsoft.com/office/drawing/2014/main" id="{03D51800-BEFF-B658-B838-0945D22725FD}"/>
              </a:ext>
            </a:extLst>
          </p:cNvPr>
          <p:cNvSpPr txBox="1">
            <a:spLocks noChangeArrowheads="1"/>
          </p:cNvSpPr>
          <p:nvPr/>
        </p:nvSpPr>
        <p:spPr bwMode="auto">
          <a:xfrm>
            <a:off x="599612" y="3791797"/>
            <a:ext cx="828000" cy="276999"/>
          </a:xfrm>
          <a:prstGeom prst="rect">
            <a:avLst/>
          </a:prstGeom>
          <a:noFill/>
          <a:ln w="1588" cap="rnd">
            <a:solidFill>
              <a:schemeClr val="tx1"/>
            </a:solidFill>
            <a:miter lim="800000"/>
            <a:headEnd/>
            <a:tailEnd/>
          </a:ln>
        </p:spPr>
        <p:txBody>
          <a:bodyPr wrap="square" lIns="0" tIns="0" rIns="0" bIns="0">
            <a:spAutoFit/>
          </a:bodyPr>
          <a:lstStyle/>
          <a:p>
            <a:pPr algn="ctr"/>
            <a:r>
              <a:rPr lang="en" sz="900">
                <a:latin typeface="TheSans Swisscom Light (Headings)"/>
              </a:rPr>
              <a:t>Weak internal competencies</a:t>
            </a:r>
          </a:p>
        </p:txBody>
      </p:sp>
      <p:sp>
        <p:nvSpPr>
          <p:cNvPr id="106" name="Rectangle: Rounded Corners 105">
            <a:extLst>
              <a:ext uri="{FF2B5EF4-FFF2-40B4-BE49-F238E27FC236}">
                <a16:creationId xmlns:a16="http://schemas.microsoft.com/office/drawing/2014/main" id="{3BC85A3D-7805-2D95-2045-6522AD7C67FE}"/>
              </a:ext>
            </a:extLst>
          </p:cNvPr>
          <p:cNvSpPr/>
          <p:nvPr/>
        </p:nvSpPr>
        <p:spPr>
          <a:xfrm>
            <a:off x="7819073" y="1463740"/>
            <a:ext cx="3708088" cy="432000"/>
          </a:xfrm>
          <a:prstGeom prst="roundRect">
            <a:avLst/>
          </a:prstGeom>
          <a:solidFill>
            <a:srgbClr val="0070AD"/>
          </a:solidFill>
          <a:ln w="28575" cap="flat" cmpd="sng" algn="ctr">
            <a:solidFill>
              <a:schemeClr val="bg1"/>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 b="1" kern="0">
                <a:solidFill>
                  <a:schemeClr val="bg1"/>
                </a:solidFill>
                <a:latin typeface="TheSans Swisscom Light (Headings)"/>
              </a:rPr>
              <a:t>…</a:t>
            </a:r>
            <a:r>
              <a:rPr kumimoji="0" lang="en" b="1" i="0" u="none" strike="noStrike" kern="0" cap="none" spc="0" normalizeH="0" baseline="0" noProof="0">
                <a:ln>
                  <a:noFill/>
                </a:ln>
                <a:solidFill>
                  <a:schemeClr val="bg1"/>
                </a:solidFill>
                <a:effectLst/>
                <a:uLnTx/>
                <a:uFillTx/>
                <a:latin typeface="TheSans Swisscom Light (Headings)"/>
              </a:rPr>
              <a:t> </a:t>
            </a:r>
            <a:r>
              <a:rPr lang="en" b="1" kern="0">
                <a:solidFill>
                  <a:schemeClr val="bg1"/>
                </a:solidFill>
                <a:latin typeface="TheSans Swisscom Light (Headings)"/>
              </a:rPr>
              <a:t>t</a:t>
            </a:r>
            <a:r>
              <a:rPr kumimoji="0" lang="en" b="1" i="0" u="none" strike="noStrike" kern="0" cap="none" spc="0" normalizeH="0" baseline="0" noProof="0">
                <a:ln>
                  <a:noFill/>
                </a:ln>
                <a:solidFill>
                  <a:schemeClr val="bg1"/>
                </a:solidFill>
                <a:effectLst/>
                <a:uLnTx/>
                <a:uFillTx/>
                <a:latin typeface="TheSans Swisscom Light (Headings)"/>
              </a:rPr>
              <a:t>owards a unified model with</a:t>
            </a:r>
            <a:r>
              <a:rPr kumimoji="0" lang="en" b="1" i="0" u="none" strike="noStrike" kern="0" cap="none" spc="0" normalizeH="0" baseline="0" noProof="0" dirty="0">
                <a:ln>
                  <a:noFill/>
                </a:ln>
                <a:solidFill>
                  <a:schemeClr val="bg1"/>
                </a:solidFill>
                <a:effectLst/>
                <a:uLnTx/>
                <a:uFillTx/>
                <a:latin typeface="TheSans Swisscom Light (Headings)"/>
              </a:rPr>
              <a:t>:</a:t>
            </a:r>
            <a:endParaRPr kumimoji="0" lang="en" sz="2000" b="0" i="0" u="none" strike="noStrike" kern="0" cap="none" spc="0" normalizeH="0" baseline="0" noProof="0">
              <a:ln>
                <a:noFill/>
              </a:ln>
              <a:solidFill>
                <a:schemeClr val="bg1"/>
              </a:solidFill>
              <a:effectLst/>
              <a:uLnTx/>
              <a:uFillTx/>
              <a:latin typeface="TheSans Swisscom Light (Headings)"/>
            </a:endParaRPr>
          </a:p>
        </p:txBody>
      </p:sp>
      <p:pic>
        <p:nvPicPr>
          <p:cNvPr id="109" name="Graphic 108" descr="Contract outline">
            <a:extLst>
              <a:ext uri="{FF2B5EF4-FFF2-40B4-BE49-F238E27FC236}">
                <a16:creationId xmlns:a16="http://schemas.microsoft.com/office/drawing/2014/main" id="{A8428E37-C28B-E7B7-3E05-1FA3A00F6DA8}"/>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2192" y="2391027"/>
            <a:ext cx="640234" cy="640234"/>
          </a:xfrm>
          <a:prstGeom prst="rect">
            <a:avLst/>
          </a:prstGeom>
        </p:spPr>
      </p:pic>
      <p:pic>
        <p:nvPicPr>
          <p:cNvPr id="111" name="Graphic 110" descr="Contract outline">
            <a:extLst>
              <a:ext uri="{FF2B5EF4-FFF2-40B4-BE49-F238E27FC236}">
                <a16:creationId xmlns:a16="http://schemas.microsoft.com/office/drawing/2014/main" id="{37AF9410-B0DB-6E07-EF38-AE3AE0E312BC}"/>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34516" y="2393742"/>
            <a:ext cx="640234" cy="640234"/>
          </a:xfrm>
          <a:prstGeom prst="rect">
            <a:avLst/>
          </a:prstGeom>
        </p:spPr>
      </p:pic>
      <p:sp>
        <p:nvSpPr>
          <p:cNvPr id="114" name="Rectangle 113">
            <a:extLst>
              <a:ext uri="{FF2B5EF4-FFF2-40B4-BE49-F238E27FC236}">
                <a16:creationId xmlns:a16="http://schemas.microsoft.com/office/drawing/2014/main" id="{1DEB7224-4C67-AFBB-6F19-316E4606EE94}"/>
              </a:ext>
            </a:extLst>
          </p:cNvPr>
          <p:cNvSpPr/>
          <p:nvPr/>
        </p:nvSpPr>
        <p:spPr>
          <a:xfrm>
            <a:off x="3482543" y="1975165"/>
            <a:ext cx="3342094" cy="1461939"/>
          </a:xfrm>
          <a:prstGeom prst="rect">
            <a:avLst/>
          </a:prstGeom>
        </p:spPr>
        <p:txBody>
          <a:bodyPr wrap="square">
            <a:spAutoFit/>
          </a:bodyPr>
          <a:lstStyle/>
          <a:p>
            <a:pPr>
              <a:spcBef>
                <a:spcPts val="0"/>
              </a:spcBef>
              <a:spcAft>
                <a:spcPts val="244"/>
              </a:spcAft>
            </a:pPr>
            <a:r>
              <a:rPr lang="en" sz="1200" kern="0" dirty="0">
                <a:latin typeface="TheSans Swisscom Light (Headings)"/>
                <a:cs typeface="Arial" pitchFamily="34" charset="0"/>
              </a:rPr>
              <a:t>The analysis will allow to evaluate:</a:t>
            </a:r>
          </a:p>
          <a:p>
            <a:pPr marL="171450" indent="-171450">
              <a:spcBef>
                <a:spcPts val="0"/>
              </a:spcBef>
              <a:spcAft>
                <a:spcPts val="244"/>
              </a:spcAft>
              <a:buFont typeface="Arial" panose="020B0604020202020204" pitchFamily="34" charset="0"/>
              <a:buChar char="•"/>
            </a:pPr>
            <a:r>
              <a:rPr lang="en" sz="1200" b="1" kern="0" dirty="0">
                <a:latin typeface="TheSans Swisscom Light (Headings)"/>
                <a:cs typeface="Arial" pitchFamily="34" charset="0"/>
              </a:rPr>
              <a:t>savings</a:t>
            </a:r>
            <a:r>
              <a:rPr lang="en" sz="1200" kern="0" dirty="0">
                <a:latin typeface="TheSans Swisscom Light (Headings)"/>
                <a:cs typeface="Arial" pitchFamily="34" charset="0"/>
              </a:rPr>
              <a:t> from negoziation where economy of scale are present</a:t>
            </a:r>
          </a:p>
          <a:p>
            <a:pPr marL="171450" indent="-171450">
              <a:spcBef>
                <a:spcPts val="0"/>
              </a:spcBef>
              <a:spcAft>
                <a:spcPts val="244"/>
              </a:spcAft>
              <a:buFont typeface="Arial" panose="020B0604020202020204" pitchFamily="34" charset="0"/>
              <a:buChar char="•"/>
            </a:pPr>
            <a:r>
              <a:rPr lang="it-IT" sz="1200" kern="0" dirty="0">
                <a:latin typeface="TheSans Swisscom Light (Headings)"/>
                <a:cs typeface="Arial" pitchFamily="34" charset="0"/>
              </a:rPr>
              <a:t>i</a:t>
            </a:r>
            <a:r>
              <a:rPr lang="en" sz="1200" b="1" kern="0" dirty="0">
                <a:latin typeface="TheSans Swisscom Light (Headings)"/>
                <a:cs typeface="Arial" pitchFamily="34" charset="0"/>
              </a:rPr>
              <a:t>mprovement</a:t>
            </a:r>
            <a:r>
              <a:rPr lang="en" sz="1200" kern="0" dirty="0">
                <a:latin typeface="TheSans Swisscom Light (Headings)"/>
                <a:cs typeface="Arial" pitchFamily="34" charset="0"/>
              </a:rPr>
              <a:t> on T&amp;C where the same vendor offer the same services on both companies</a:t>
            </a:r>
          </a:p>
          <a:p>
            <a:pPr marL="171450" indent="-171450">
              <a:spcBef>
                <a:spcPts val="0"/>
              </a:spcBef>
              <a:spcAft>
                <a:spcPts val="244"/>
              </a:spcAft>
              <a:buFont typeface="Arial" panose="020B0604020202020204" pitchFamily="34" charset="0"/>
              <a:buChar char="•"/>
            </a:pPr>
            <a:r>
              <a:rPr lang="it-IT" sz="1200" b="1" kern="0" dirty="0">
                <a:latin typeface="TheSans Swisscom Light (Headings)"/>
                <a:cs typeface="Arial" pitchFamily="34" charset="0"/>
              </a:rPr>
              <a:t>best</a:t>
            </a:r>
            <a:r>
              <a:rPr lang="en" sz="1200" b="1" kern="0" dirty="0">
                <a:latin typeface="TheSans Swisscom Light (Headings)"/>
                <a:cs typeface="Arial" pitchFamily="34" charset="0"/>
              </a:rPr>
              <a:t> rates </a:t>
            </a:r>
            <a:r>
              <a:rPr lang="en" sz="1200" kern="0" dirty="0">
                <a:latin typeface="TheSans Swisscom Light (Headings)"/>
                <a:cs typeface="Arial" pitchFamily="34" charset="0"/>
              </a:rPr>
              <a:t>where the same vendor offer the same services on both companies</a:t>
            </a:r>
          </a:p>
        </p:txBody>
      </p:sp>
      <p:sp>
        <p:nvSpPr>
          <p:cNvPr id="115" name="Rectangle 114">
            <a:extLst>
              <a:ext uri="{FF2B5EF4-FFF2-40B4-BE49-F238E27FC236}">
                <a16:creationId xmlns:a16="http://schemas.microsoft.com/office/drawing/2014/main" id="{E750615F-A4FF-13ED-6FAC-2ADDAE1735FD}"/>
              </a:ext>
            </a:extLst>
          </p:cNvPr>
          <p:cNvSpPr/>
          <p:nvPr/>
        </p:nvSpPr>
        <p:spPr>
          <a:xfrm>
            <a:off x="3559029" y="3510741"/>
            <a:ext cx="3283560" cy="1277273"/>
          </a:xfrm>
          <a:prstGeom prst="rect">
            <a:avLst/>
          </a:prstGeom>
        </p:spPr>
        <p:txBody>
          <a:bodyPr wrap="square">
            <a:spAutoFit/>
          </a:bodyPr>
          <a:lstStyle/>
          <a:p>
            <a:pPr>
              <a:spcBef>
                <a:spcPts val="0"/>
              </a:spcBef>
              <a:spcAft>
                <a:spcPts val="244"/>
              </a:spcAft>
            </a:pPr>
            <a:r>
              <a:rPr lang="en" sz="1200" kern="0">
                <a:latin typeface="TheSans Swisscom Light (Headings)"/>
                <a:cs typeface="Arial" pitchFamily="34" charset="0"/>
              </a:rPr>
              <a:t>The analisys will allow to evaluate:</a:t>
            </a:r>
          </a:p>
          <a:p>
            <a:pPr marL="171450" indent="-171450">
              <a:spcBef>
                <a:spcPts val="0"/>
              </a:spcBef>
              <a:spcAft>
                <a:spcPts val="244"/>
              </a:spcAft>
              <a:buFont typeface="Arial" panose="020B0604020202020204" pitchFamily="34" charset="0"/>
              <a:buChar char="•"/>
            </a:pPr>
            <a:r>
              <a:rPr lang="en" sz="1200" b="1" kern="0" dirty="0">
                <a:latin typeface="TheSans Swisscom Light (Headings)"/>
                <a:cs typeface="Arial" pitchFamily="34" charset="0"/>
              </a:rPr>
              <a:t>rate of fragmentation </a:t>
            </a:r>
            <a:r>
              <a:rPr lang="en" sz="1200" kern="0">
                <a:latin typeface="TheSans Swisscom Light (Headings)"/>
                <a:cs typeface="Arial" pitchFamily="34" charset="0"/>
              </a:rPr>
              <a:t>of supplier</a:t>
            </a:r>
          </a:p>
          <a:p>
            <a:pPr marL="171450" indent="-171450">
              <a:spcBef>
                <a:spcPts val="0"/>
              </a:spcBef>
              <a:spcAft>
                <a:spcPts val="244"/>
              </a:spcAft>
              <a:buFont typeface="Arial" panose="020B0604020202020204" pitchFamily="34" charset="0"/>
              <a:buChar char="•"/>
            </a:pPr>
            <a:r>
              <a:rPr lang="en" sz="1200" b="1" kern="0" dirty="0">
                <a:latin typeface="TheSans Swisscom Light (Headings)"/>
                <a:cs typeface="Arial" pitchFamily="34" charset="0"/>
              </a:rPr>
              <a:t>risk</a:t>
            </a:r>
            <a:r>
              <a:rPr lang="en" sz="1200" kern="0">
                <a:latin typeface="TheSans Swisscom Light (Headings)"/>
                <a:cs typeface="Arial" pitchFamily="34" charset="0"/>
              </a:rPr>
              <a:t> toward vendors / counterpart</a:t>
            </a:r>
          </a:p>
          <a:p>
            <a:pPr marL="171450" indent="-171450">
              <a:spcBef>
                <a:spcPts val="0"/>
              </a:spcBef>
              <a:spcAft>
                <a:spcPts val="244"/>
              </a:spcAft>
              <a:buFont typeface="Arial" panose="020B0604020202020204" pitchFamily="34" charset="0"/>
              <a:buChar char="•"/>
            </a:pPr>
            <a:r>
              <a:rPr lang="en" sz="1200" kern="0">
                <a:latin typeface="TheSans Swisscom Light (Headings)"/>
                <a:cs typeface="Arial" pitchFamily="34" charset="0"/>
              </a:rPr>
              <a:t>level of </a:t>
            </a:r>
            <a:r>
              <a:rPr lang="en" sz="1200" b="1" kern="0" dirty="0">
                <a:latin typeface="TheSans Swisscom Light (Headings)"/>
                <a:cs typeface="Arial" pitchFamily="34" charset="0"/>
              </a:rPr>
              <a:t>dependencies</a:t>
            </a:r>
            <a:r>
              <a:rPr lang="en" sz="1200" kern="0">
                <a:latin typeface="TheSans Swisscom Light (Headings)"/>
                <a:cs typeface="Arial" pitchFamily="34" charset="0"/>
              </a:rPr>
              <a:t> towards a supplier and the balance between internal and external competencies</a:t>
            </a:r>
          </a:p>
        </p:txBody>
      </p:sp>
      <p:sp>
        <p:nvSpPr>
          <p:cNvPr id="116" name="Rectangle 115">
            <a:extLst>
              <a:ext uri="{FF2B5EF4-FFF2-40B4-BE49-F238E27FC236}">
                <a16:creationId xmlns:a16="http://schemas.microsoft.com/office/drawing/2014/main" id="{49053042-9821-A800-0941-E71D21093295}"/>
              </a:ext>
            </a:extLst>
          </p:cNvPr>
          <p:cNvSpPr/>
          <p:nvPr/>
        </p:nvSpPr>
        <p:spPr>
          <a:xfrm>
            <a:off x="3544188" y="4945445"/>
            <a:ext cx="3123740" cy="1251625"/>
          </a:xfrm>
          <a:prstGeom prst="rect">
            <a:avLst/>
          </a:prstGeom>
        </p:spPr>
        <p:txBody>
          <a:bodyPr wrap="square">
            <a:spAutoFit/>
          </a:bodyPr>
          <a:lstStyle/>
          <a:p>
            <a:pPr>
              <a:spcBef>
                <a:spcPts val="0"/>
              </a:spcBef>
              <a:spcAft>
                <a:spcPts val="244"/>
              </a:spcAft>
            </a:pPr>
            <a:r>
              <a:rPr lang="en" sz="1200" kern="0">
                <a:latin typeface="TheSans Swisscom Light (Headings)"/>
                <a:cs typeface="Arial" pitchFamily="34" charset="0"/>
              </a:rPr>
              <a:t>The analisys will allow to evaluate:</a:t>
            </a:r>
          </a:p>
          <a:p>
            <a:pPr marL="171450" indent="-171450">
              <a:spcBef>
                <a:spcPts val="0"/>
              </a:spcBef>
              <a:spcAft>
                <a:spcPts val="244"/>
              </a:spcAft>
              <a:buFont typeface="Arial" panose="020B0604020202020204" pitchFamily="34" charset="0"/>
              <a:buChar char="•"/>
            </a:pPr>
            <a:r>
              <a:rPr lang="en" sz="1200" kern="0">
                <a:latin typeface="TheSans Swisscom Light (Headings)"/>
                <a:cs typeface="Arial" pitchFamily="34" charset="0"/>
              </a:rPr>
              <a:t>the ratio between internal and external resources for each </a:t>
            </a:r>
            <a:r>
              <a:rPr lang="en" sz="1200" b="1" kern="0" dirty="0">
                <a:latin typeface="TheSans Swisscom Light (Headings)"/>
                <a:cs typeface="Arial" pitchFamily="34" charset="0"/>
              </a:rPr>
              <a:t>domain</a:t>
            </a:r>
          </a:p>
          <a:p>
            <a:pPr marL="171450" indent="-171450">
              <a:spcBef>
                <a:spcPts val="0"/>
              </a:spcBef>
              <a:spcAft>
                <a:spcPts val="244"/>
              </a:spcAft>
              <a:buFont typeface="Arial" panose="020B0604020202020204" pitchFamily="34" charset="0"/>
              <a:buChar char="•"/>
            </a:pPr>
            <a:r>
              <a:rPr lang="en" sz="1200" kern="0">
                <a:latin typeface="TheSans Swisscom Light (Headings)"/>
                <a:cs typeface="Arial" pitchFamily="34" charset="0"/>
              </a:rPr>
              <a:t>the ratio between internal and external resources for each </a:t>
            </a:r>
            <a:r>
              <a:rPr lang="en" sz="1200" b="1" kern="0" dirty="0">
                <a:latin typeface="TheSans Swisscom Light (Headings)"/>
                <a:cs typeface="Arial" pitchFamily="34" charset="0"/>
              </a:rPr>
              <a:t>type of work </a:t>
            </a:r>
            <a:r>
              <a:rPr lang="en" sz="1200" kern="0">
                <a:latin typeface="TheSans Swisscom Light (Headings)"/>
                <a:cs typeface="Arial" pitchFamily="34" charset="0"/>
              </a:rPr>
              <a:t>(project manager, developers, …)</a:t>
            </a:r>
          </a:p>
        </p:txBody>
      </p:sp>
      <p:sp>
        <p:nvSpPr>
          <p:cNvPr id="117" name="Rectangle 116">
            <a:extLst>
              <a:ext uri="{FF2B5EF4-FFF2-40B4-BE49-F238E27FC236}">
                <a16:creationId xmlns:a16="http://schemas.microsoft.com/office/drawing/2014/main" id="{66C14C33-6EDA-2804-CDB2-7D076A561E67}"/>
              </a:ext>
            </a:extLst>
          </p:cNvPr>
          <p:cNvSpPr/>
          <p:nvPr/>
        </p:nvSpPr>
        <p:spPr>
          <a:xfrm>
            <a:off x="7675420" y="2044759"/>
            <a:ext cx="4032000" cy="1220847"/>
          </a:xfrm>
          <a:prstGeom prst="rect">
            <a:avLst/>
          </a:prstGeom>
        </p:spPr>
        <p:txBody>
          <a:bodyPr wrap="square">
            <a:spAutoFit/>
          </a:bodyPr>
          <a:lstStyle/>
          <a:p>
            <a:pPr marL="171450" indent="-171450">
              <a:spcBef>
                <a:spcPts val="0"/>
              </a:spcBef>
              <a:spcAft>
                <a:spcPts val="244"/>
              </a:spcAft>
              <a:buFont typeface="Arial" panose="020B0604020202020204" pitchFamily="34" charset="0"/>
              <a:buChar char="•"/>
            </a:pPr>
            <a:r>
              <a:rPr lang="en" sz="1400" b="1" kern="0" dirty="0">
                <a:solidFill>
                  <a:srgbClr val="1781E3"/>
                </a:solidFill>
                <a:latin typeface="TheSans Swisscom Light (Headings)"/>
                <a:cs typeface="Arial" pitchFamily="34" charset="0"/>
              </a:rPr>
              <a:t>Expected savings </a:t>
            </a:r>
            <a:r>
              <a:rPr lang="en" sz="1400" kern="0" dirty="0">
                <a:latin typeface="TheSans Swisscom Light (Headings)"/>
                <a:cs typeface="Arial" pitchFamily="34" charset="0"/>
              </a:rPr>
              <a:t>due to economies of scale</a:t>
            </a:r>
          </a:p>
          <a:p>
            <a:pPr marL="171450" indent="-171450">
              <a:spcBef>
                <a:spcPts val="0"/>
              </a:spcBef>
              <a:spcAft>
                <a:spcPts val="244"/>
              </a:spcAft>
              <a:buFont typeface="Arial" panose="020B0604020202020204" pitchFamily="34" charset="0"/>
              <a:buChar char="•"/>
            </a:pPr>
            <a:r>
              <a:rPr lang="en" sz="1400" b="1" kern="0" dirty="0">
                <a:solidFill>
                  <a:srgbClr val="1781E3"/>
                </a:solidFill>
                <a:latin typeface="TheSans Swisscom Light (Headings)"/>
                <a:cs typeface="Arial" pitchFamily="34" charset="0"/>
              </a:rPr>
              <a:t>Best Rates and Term &amp; Conditions </a:t>
            </a:r>
            <a:r>
              <a:rPr lang="en" sz="1400" kern="0" dirty="0">
                <a:latin typeface="TheSans Swisscom Light (Headings)"/>
                <a:cs typeface="Arial" pitchFamily="34" charset="0"/>
              </a:rPr>
              <a:t>where the same vendor offer the same services on both companies </a:t>
            </a:r>
          </a:p>
          <a:p>
            <a:pPr marL="171450" indent="-171450">
              <a:spcBef>
                <a:spcPts val="0"/>
              </a:spcBef>
              <a:spcAft>
                <a:spcPts val="244"/>
              </a:spcAft>
              <a:buFont typeface="Arial" panose="020B0604020202020204" pitchFamily="34" charset="0"/>
              <a:buChar char="•"/>
            </a:pPr>
            <a:r>
              <a:rPr lang="en" sz="1400" kern="0" dirty="0">
                <a:latin typeface="TheSans Swisscom Light (Headings)"/>
                <a:cs typeface="Arial" pitchFamily="34" charset="0"/>
              </a:rPr>
              <a:t>Alignement on </a:t>
            </a:r>
            <a:r>
              <a:rPr lang="en" sz="1400" b="1" kern="0" dirty="0">
                <a:solidFill>
                  <a:srgbClr val="1781E3"/>
                </a:solidFill>
                <a:latin typeface="TheSans Swisscom Light (Headings)"/>
                <a:cs typeface="Arial" pitchFamily="34" charset="0"/>
              </a:rPr>
              <a:t>KPIs</a:t>
            </a:r>
            <a:r>
              <a:rPr lang="en" sz="1400" kern="0" dirty="0">
                <a:latin typeface="TheSans Swisscom Light (Headings)"/>
                <a:cs typeface="Arial" pitchFamily="34" charset="0"/>
              </a:rPr>
              <a:t> and </a:t>
            </a:r>
            <a:r>
              <a:rPr lang="en" sz="1400" b="1" kern="0" dirty="0">
                <a:solidFill>
                  <a:srgbClr val="1781E3"/>
                </a:solidFill>
                <a:latin typeface="TheSans Swisscom Light (Headings)"/>
                <a:cs typeface="Arial" pitchFamily="34" charset="0"/>
              </a:rPr>
              <a:t>SLAs</a:t>
            </a:r>
          </a:p>
        </p:txBody>
      </p:sp>
      <p:sp>
        <p:nvSpPr>
          <p:cNvPr id="118" name="Rectangle 117">
            <a:extLst>
              <a:ext uri="{FF2B5EF4-FFF2-40B4-BE49-F238E27FC236}">
                <a16:creationId xmlns:a16="http://schemas.microsoft.com/office/drawing/2014/main" id="{C5433A70-658D-D74F-6C3A-A852C305A26E}"/>
              </a:ext>
            </a:extLst>
          </p:cNvPr>
          <p:cNvSpPr/>
          <p:nvPr/>
        </p:nvSpPr>
        <p:spPr>
          <a:xfrm>
            <a:off x="7675420" y="3601457"/>
            <a:ext cx="4032000" cy="979755"/>
          </a:xfrm>
          <a:prstGeom prst="rect">
            <a:avLst/>
          </a:prstGeom>
        </p:spPr>
        <p:txBody>
          <a:bodyPr wrap="square">
            <a:spAutoFit/>
          </a:bodyPr>
          <a:lstStyle/>
          <a:p>
            <a:pPr marL="171450" indent="-171450">
              <a:spcBef>
                <a:spcPts val="0"/>
              </a:spcBef>
              <a:spcAft>
                <a:spcPts val="244"/>
              </a:spcAft>
              <a:buFont typeface="Arial" panose="020B0604020202020204" pitchFamily="34" charset="0"/>
              <a:buChar char="•"/>
            </a:pPr>
            <a:r>
              <a:rPr lang="en" sz="1400" kern="0" dirty="0">
                <a:latin typeface="TheSans Swisscom Light (Headings)"/>
                <a:cs typeface="Arial" pitchFamily="34" charset="0"/>
              </a:rPr>
              <a:t>A </a:t>
            </a:r>
            <a:r>
              <a:rPr lang="en" sz="1400" b="1" kern="0" dirty="0">
                <a:solidFill>
                  <a:srgbClr val="1781E3"/>
                </a:solidFill>
                <a:latin typeface="TheSans Swisscom Light (Headings)"/>
                <a:cs typeface="Arial" pitchFamily="34" charset="0"/>
              </a:rPr>
              <a:t>vendor consolidation</a:t>
            </a:r>
            <a:r>
              <a:rPr lang="en" sz="1400" kern="0" dirty="0">
                <a:latin typeface="TheSans Swisscom Light (Headings)"/>
                <a:cs typeface="Arial" pitchFamily="34" charset="0"/>
              </a:rPr>
              <a:t> plan that guarantee the expected savings</a:t>
            </a:r>
          </a:p>
          <a:p>
            <a:pPr marL="171450" indent="-171450">
              <a:spcBef>
                <a:spcPts val="0"/>
              </a:spcBef>
              <a:spcAft>
                <a:spcPts val="244"/>
              </a:spcAft>
              <a:buFont typeface="Arial" panose="020B0604020202020204" pitchFamily="34" charset="0"/>
              <a:buChar char="•"/>
            </a:pPr>
            <a:r>
              <a:rPr lang="en" sz="1400" kern="0" dirty="0">
                <a:latin typeface="TheSans Swisscom Light (Headings)"/>
                <a:cs typeface="Arial" pitchFamily="34" charset="0"/>
              </a:rPr>
              <a:t>The </a:t>
            </a:r>
            <a:r>
              <a:rPr lang="en" sz="1400" b="1" kern="0" dirty="0">
                <a:solidFill>
                  <a:srgbClr val="1781E3"/>
                </a:solidFill>
                <a:latin typeface="TheSans Swisscom Light (Headings)"/>
                <a:cs typeface="Arial" pitchFamily="34" charset="0"/>
              </a:rPr>
              <a:t>right balance</a:t>
            </a:r>
            <a:r>
              <a:rPr lang="en" sz="1400" kern="0" dirty="0">
                <a:latin typeface="TheSans Swisscom Light (Headings)"/>
                <a:cs typeface="Arial" pitchFamily="34" charset="0"/>
              </a:rPr>
              <a:t>/mix between risks, competencies and independency from supplier</a:t>
            </a:r>
          </a:p>
        </p:txBody>
      </p:sp>
      <p:sp>
        <p:nvSpPr>
          <p:cNvPr id="119" name="Rectangle 118">
            <a:extLst>
              <a:ext uri="{FF2B5EF4-FFF2-40B4-BE49-F238E27FC236}">
                <a16:creationId xmlns:a16="http://schemas.microsoft.com/office/drawing/2014/main" id="{6DB44BB9-CAD1-B0B0-4FF5-F9A93A7AF5B8}"/>
              </a:ext>
            </a:extLst>
          </p:cNvPr>
          <p:cNvSpPr/>
          <p:nvPr/>
        </p:nvSpPr>
        <p:spPr>
          <a:xfrm>
            <a:off x="7675420" y="5078637"/>
            <a:ext cx="4032000" cy="738664"/>
          </a:xfrm>
          <a:prstGeom prst="rect">
            <a:avLst/>
          </a:prstGeom>
        </p:spPr>
        <p:txBody>
          <a:bodyPr wrap="square">
            <a:spAutoFit/>
          </a:bodyPr>
          <a:lstStyle/>
          <a:p>
            <a:pPr marL="171450" indent="-171450">
              <a:spcBef>
                <a:spcPts val="0"/>
              </a:spcBef>
              <a:spcAft>
                <a:spcPts val="244"/>
              </a:spcAft>
              <a:buFont typeface="Arial" panose="020B0604020202020204" pitchFamily="34" charset="0"/>
              <a:buChar char="•"/>
            </a:pPr>
            <a:r>
              <a:rPr lang="en" sz="1400" kern="0" dirty="0">
                <a:latin typeface="TheSans Swisscom Light (Headings)"/>
                <a:cs typeface="Arial" pitchFamily="34" charset="0"/>
              </a:rPr>
              <a:t>The </a:t>
            </a:r>
            <a:r>
              <a:rPr lang="en" sz="1400" b="1" kern="0" dirty="0">
                <a:solidFill>
                  <a:srgbClr val="1781E3"/>
                </a:solidFill>
                <a:latin typeface="TheSans Swisscom Light (Headings)"/>
                <a:cs typeface="Arial" pitchFamily="34" charset="0"/>
              </a:rPr>
              <a:t>right ratio between internal and external resources </a:t>
            </a:r>
            <a:r>
              <a:rPr lang="en" sz="1400" kern="0" dirty="0">
                <a:latin typeface="TheSans Swisscom Light (Headings)"/>
                <a:cs typeface="Arial" pitchFamily="34" charset="0"/>
              </a:rPr>
              <a:t>aligned with the overall strategy of the company</a:t>
            </a:r>
          </a:p>
        </p:txBody>
      </p:sp>
      <p:grpSp>
        <p:nvGrpSpPr>
          <p:cNvPr id="2" name="Groupe 1">
            <a:extLst>
              <a:ext uri="{FF2B5EF4-FFF2-40B4-BE49-F238E27FC236}">
                <a16:creationId xmlns:a16="http://schemas.microsoft.com/office/drawing/2014/main" id="{AFBA8754-9F6A-CA2E-0B2B-7C9B4425BF72}"/>
              </a:ext>
              <a:ext uri="{C183D7F6-B498-43B3-948B-1728B52AA6E4}">
                <adec:decorative xmlns:adec="http://schemas.microsoft.com/office/drawing/2017/decorative" val="1"/>
              </a:ext>
            </a:extLst>
          </p:cNvPr>
          <p:cNvGrpSpPr>
            <a:grpSpLocks noChangeAspect="1"/>
          </p:cNvGrpSpPr>
          <p:nvPr/>
        </p:nvGrpSpPr>
        <p:grpSpPr>
          <a:xfrm>
            <a:off x="11526166" y="352323"/>
            <a:ext cx="502701" cy="466209"/>
            <a:chOff x="11501102" y="171573"/>
            <a:chExt cx="419436" cy="388988"/>
          </a:xfrm>
        </p:grpSpPr>
        <p:sp>
          <p:nvSpPr>
            <p:cNvPr id="4" name="Freeform 13">
              <a:extLst>
                <a:ext uri="{FF2B5EF4-FFF2-40B4-BE49-F238E27FC236}">
                  <a16:creationId xmlns:a16="http://schemas.microsoft.com/office/drawing/2014/main" id="{CE158548-545E-6CD9-F827-52B1D940825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sp>
          <p:nvSpPr>
            <p:cNvPr id="5" name="Freeform 14">
              <a:extLst>
                <a:ext uri="{FF2B5EF4-FFF2-40B4-BE49-F238E27FC236}">
                  <a16:creationId xmlns:a16="http://schemas.microsoft.com/office/drawing/2014/main" id="{13ADB621-7034-859B-A96C-A165851799CC}"/>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latin typeface="+mj-lt"/>
              </a:endParaRPr>
            </a:p>
          </p:txBody>
        </p:sp>
      </p:grpSp>
      <p:sp>
        <p:nvSpPr>
          <p:cNvPr id="8" name="Foliennummernplatzhalter 5">
            <a:extLst>
              <a:ext uri="{FF2B5EF4-FFF2-40B4-BE49-F238E27FC236}">
                <a16:creationId xmlns:a16="http://schemas.microsoft.com/office/drawing/2014/main" id="{8BD415DD-1139-6BEC-A1F6-2D64FFEBF25C}"/>
              </a:ext>
            </a:extLst>
          </p:cNvPr>
          <p:cNvSpPr txBox="1">
            <a:spLocks/>
          </p:cNvSpPr>
          <p:nvPr/>
        </p:nvSpPr>
        <p:spPr bwMode="black">
          <a:xfrm flipH="1">
            <a:off x="11780940" y="6483167"/>
            <a:ext cx="360000" cy="288000"/>
          </a:xfrm>
          <a:prstGeom prst="rect">
            <a:avLst/>
          </a:prstGeom>
        </p:spPr>
        <p:txBody>
          <a:bodyPr vert="horz" lIns="0" tIns="0" rIns="0" bIns="14400" rtlCol="0" anchor="b">
            <a:noAutofit/>
          </a:bodyPr>
          <a:lstStyle>
            <a:defPPr>
              <a:defRPr lang="de-DE"/>
            </a:defPPr>
            <a:lvl1pPr marL="0" algn="ctr"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FF9B0DE-3FEB-4AA0-B465-B80EF7C1333D}" type="slidenum">
              <a:rPr lang="en-US" smtClean="0"/>
              <a:pPr/>
              <a:t>20</a:t>
            </a:fld>
            <a:endParaRPr lang="en-US"/>
          </a:p>
        </p:txBody>
      </p:sp>
      <p:sp>
        <p:nvSpPr>
          <p:cNvPr id="9" name="Rectangle 27">
            <a:extLst>
              <a:ext uri="{FF2B5EF4-FFF2-40B4-BE49-F238E27FC236}">
                <a16:creationId xmlns:a16="http://schemas.microsoft.com/office/drawing/2014/main" id="{4524AA14-4BE0-AEBC-660C-BE6C79E7868C}"/>
              </a:ext>
            </a:extLst>
          </p:cNvPr>
          <p:cNvSpPr/>
          <p:nvPr/>
        </p:nvSpPr>
        <p:spPr>
          <a:xfrm>
            <a:off x="7322182" y="6560094"/>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latin typeface="Ubuntu" panose="020B0504030602030204" pitchFamily="34" charset="0"/>
                <a:cs typeface="Arial" panose="020B0604020202020204" pitchFamily="34" charset="0"/>
              </a:rPr>
              <a:t> Capgemini 2024. All rights reserved  |</a:t>
            </a:r>
          </a:p>
        </p:txBody>
      </p:sp>
      <p:sp>
        <p:nvSpPr>
          <p:cNvPr id="10" name="TextBox 9">
            <a:extLst>
              <a:ext uri="{FF2B5EF4-FFF2-40B4-BE49-F238E27FC236}">
                <a16:creationId xmlns:a16="http://schemas.microsoft.com/office/drawing/2014/main" id="{C89425D5-C2CC-81CD-C8DB-7443DA1651DC}"/>
              </a:ext>
            </a:extLst>
          </p:cNvPr>
          <p:cNvSpPr txBox="1"/>
          <p:nvPr/>
        </p:nvSpPr>
        <p:spPr bwMode="gray">
          <a:xfrm>
            <a:off x="265" y="20397"/>
            <a:ext cx="7348330" cy="246221"/>
          </a:xfrm>
          <a:prstGeom prst="rect">
            <a:avLst/>
          </a:prstGeom>
          <a:noFill/>
        </p:spPr>
        <p:txBody>
          <a:bodyPr wrap="square">
            <a:spAutoFit/>
          </a:bodyPr>
          <a:lstStyle/>
          <a:p>
            <a:r>
              <a:rPr lang="en-GB" sz="1000" dirty="0">
                <a:solidFill>
                  <a:srgbClr val="12ABDB"/>
                </a:solidFill>
                <a:latin typeface="Ubuntu"/>
              </a:rPr>
              <a:t>SOLUTION PRESENTATION</a:t>
            </a:r>
            <a:endParaRPr lang="en-BE" sz="1000" dirty="0"/>
          </a:p>
        </p:txBody>
      </p:sp>
    </p:spTree>
    <p:extLst>
      <p:ext uri="{BB962C8B-B14F-4D97-AF65-F5344CB8AC3E}">
        <p14:creationId xmlns:p14="http://schemas.microsoft.com/office/powerpoint/2010/main" val="14858166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TFPCOLUMNGUIDE" val="Client"/>
  <p:tag name="THINKCELLPRESENTATIONDONOTDELETE" val="&lt;?xml version=&quot;1.0&quot; encoding=&quot;UTF-16&quot; standalone=&quot;yes&quot;?&gt;&lt;root reqver=&quot;30783&quot;&gt;&lt;version val=&quot;3651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m.&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2.70999999999999996447E+00&quot;&gt;&lt;m_msothmcolidx val=&quot;0&quot;/&gt;&lt;m_rgb r=&quot;FC&quot; g=&quot;CF&quot; b=&quot;00&quot;/&gt;&lt;/elem&gt;&lt;/m_vecMRU&gt;&lt;/m_mruColor&gt;&lt;m_eweekdayFirstOfWeek val=&quot;2&quot;/&gt;&lt;m_eweekdayFirstOfWorkweek val=&quot;2&quot;/&gt;&lt;m_eweekdayFirstOfWeekend val=&quot;7&quot;/&gt;&lt;/CPresentation&gt;&lt;/root&gt;"/>
  <p:tag name="SLIDO_APP_VERSION" val="1.9.1.5104"/>
  <p:tag name="SLIDO_PRESENTATION_ID" val="00000000-0000-0000-0000-000000000000"/>
  <p:tag name="SLIDO_EVENT_UUID" val="7a075c48-844b-4c6a-8aa3-f09b24c5888a"/>
  <p:tag name="SLIDO_EVENT_SECTION_UUID" val="2a291ec2-8a37-4bd0-83d9-8465ec6b5138"/>
  <p:tag name="MEKKOFORMATS" val="&lt;MekkoFormats&gt;&lt;NumberFormat DecimalSeparator=&quot;,&quot; ThousandSeparator=&quot;.&quot; NegativeNumberFormat=&quot;1&quot; /&gt;&lt;DateFormat CultureID=&quot;1033&quot; FormatString=&quot;M/d/yyyy&quot; /&gt;&lt;Font&gt;&lt;Output_Font_Name Default=&quot;Arial&quot; UsePPTTheme=&quot;True&quot; /&gt;&lt;/Font&gt;&lt;/MekkoFormats&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AS_UNIQUEID" val="36428"/>
</p:tagLst>
</file>

<file path=ppt/tags/tag6.xml><?xml version="1.0" encoding="utf-8"?>
<p:tagLst xmlns:a="http://schemas.openxmlformats.org/drawingml/2006/main" xmlns:r="http://schemas.openxmlformats.org/officeDocument/2006/relationships" xmlns:p="http://schemas.openxmlformats.org/presentationml/2006/main">
  <p:tag name="AS_UNIQUEID" val="36429"/>
</p:tagLst>
</file>

<file path=ppt/tags/tag7.xml><?xml version="1.0" encoding="utf-8"?>
<p:tagLst xmlns:a="http://schemas.openxmlformats.org/drawingml/2006/main" xmlns:r="http://schemas.openxmlformats.org/officeDocument/2006/relationships" xmlns:p="http://schemas.openxmlformats.org/presentationml/2006/main">
  <p:tag name="AS_UNIQUEID" val="36428"/>
</p:tagLst>
</file>

<file path=ppt/tags/tag8.xml><?xml version="1.0" encoding="utf-8"?>
<p:tagLst xmlns:a="http://schemas.openxmlformats.org/drawingml/2006/main" xmlns:r="http://schemas.openxmlformats.org/officeDocument/2006/relationships" xmlns:p="http://schemas.openxmlformats.org/presentationml/2006/main">
  <p:tag name="AS_UNIQUEID" val="36429"/>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K16NUROdEE.h_YavxXewu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ZsaAMGXjkaktAYAFX.3U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J8mVW2C.3UOR4t2yLPQNL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60Ed7knDPEKIYQvgH.HA1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nZsaAMGXjkaktAYAFX.3U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nZsaAMGXjkaktAYAFX.3UQ"/>
</p:tagLst>
</file>

<file path=ppt/tags/tag16.xml><?xml version="1.0" encoding="utf-8"?>
<p:tagLst xmlns:a="http://schemas.openxmlformats.org/drawingml/2006/main" xmlns:r="http://schemas.openxmlformats.org/officeDocument/2006/relationships" xmlns:p="http://schemas.openxmlformats.org/presentationml/2006/main">
  <p:tag name="BTFPLAYOUTCOLUMNS" val="1"/>
  <p:tag name="BTFPLAYOUTENABLED" val="0"/>
</p:tagLst>
</file>

<file path=ppt/tags/tag17.xml><?xml version="1.0" encoding="utf-8"?>
<p:tagLst xmlns:a="http://schemas.openxmlformats.org/drawingml/2006/main" xmlns:r="http://schemas.openxmlformats.org/officeDocument/2006/relationships" xmlns:p="http://schemas.openxmlformats.org/presentationml/2006/main">
  <p:tag name="AS_UNIQUEID" val="41577"/>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AS_UNIQUEID" val="41588"/>
</p:tagLst>
</file>

<file path=ppt/tags/tag19.xml><?xml version="1.0" encoding="utf-8"?>
<p:tagLst xmlns:a="http://schemas.openxmlformats.org/drawingml/2006/main" xmlns:r="http://schemas.openxmlformats.org/officeDocument/2006/relationships" xmlns:p="http://schemas.openxmlformats.org/presentationml/2006/main">
  <p:tag name="AS_UNIQUEID" val="41573"/>
</p:tagLst>
</file>

<file path=ppt/tags/tag20.xml><?xml version="1.0" encoding="utf-8"?>
<p:tagLst xmlns:a="http://schemas.openxmlformats.org/drawingml/2006/main" xmlns:r="http://schemas.openxmlformats.org/officeDocument/2006/relationships" xmlns:p="http://schemas.openxmlformats.org/presentationml/2006/main">
  <p:tag name="AS_UNIQUEID" val="41574"/>
</p:tagLst>
</file>

<file path=ppt/tags/tag21.xml><?xml version="1.0" encoding="utf-8"?>
<p:tagLst xmlns:a="http://schemas.openxmlformats.org/drawingml/2006/main" xmlns:r="http://schemas.openxmlformats.org/officeDocument/2006/relationships" xmlns:p="http://schemas.openxmlformats.org/presentationml/2006/main">
  <p:tag name="AS_UNIQUEID" val="41575"/>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6.xml><?xml version="1.0" encoding="utf-8"?>
<p:tagLst xmlns:a="http://schemas.openxmlformats.org/drawingml/2006/main" xmlns:r="http://schemas.openxmlformats.org/officeDocument/2006/relationships" xmlns:p="http://schemas.openxmlformats.org/presentationml/2006/main">
  <p:tag name="BTFPLAYOUTCOLUMNS" val="1"/>
  <p:tag name="BTFPLAYOUTENABLED" val="0"/>
</p:tagLst>
</file>

<file path=ppt/tags/tag27.xml><?xml version="1.0" encoding="utf-8"?>
<p:tagLst xmlns:a="http://schemas.openxmlformats.org/drawingml/2006/main" xmlns:r="http://schemas.openxmlformats.org/officeDocument/2006/relationships" xmlns:p="http://schemas.openxmlformats.org/presentationml/2006/main">
  <p:tag name="AS_UNIQUEID" val="41577"/>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AS_UNIQUEID" val="41588"/>
</p:tagLst>
</file>

<file path=ppt/tags/tag29.xml><?xml version="1.0" encoding="utf-8"?>
<p:tagLst xmlns:a="http://schemas.openxmlformats.org/drawingml/2006/main" xmlns:r="http://schemas.openxmlformats.org/officeDocument/2006/relationships" xmlns:p="http://schemas.openxmlformats.org/presentationml/2006/main">
  <p:tag name="AS_UNIQUEID" val="41573"/>
</p:tagLst>
</file>

<file path=ppt/tags/tag30.xml><?xml version="1.0" encoding="utf-8"?>
<p:tagLst xmlns:a="http://schemas.openxmlformats.org/drawingml/2006/main" xmlns:r="http://schemas.openxmlformats.org/officeDocument/2006/relationships" xmlns:p="http://schemas.openxmlformats.org/presentationml/2006/main">
  <p:tag name="AS_UNIQUEID" val="41574"/>
</p:tagLst>
</file>

<file path=ppt/tags/tag31.xml><?xml version="1.0" encoding="utf-8"?>
<p:tagLst xmlns:a="http://schemas.openxmlformats.org/drawingml/2006/main" xmlns:r="http://schemas.openxmlformats.org/officeDocument/2006/relationships" xmlns:p="http://schemas.openxmlformats.org/presentationml/2006/main">
  <p:tag name="AS_UNIQUEID" val="41575"/>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NAME" val="TrackerAlphaBlue"/>
</p:tagLst>
</file>

<file path=ppt/tags/tag35.xml><?xml version="1.0" encoding="utf-8"?>
<p:tagLst xmlns:a="http://schemas.openxmlformats.org/drawingml/2006/main" xmlns:r="http://schemas.openxmlformats.org/officeDocument/2006/relationships" xmlns:p="http://schemas.openxmlformats.org/presentationml/2006/main">
  <p:tag name="NAME" val="TrackerAlphaBlue"/>
</p:tagLst>
</file>

<file path=ppt/tags/tag36.xml><?xml version="1.0" encoding="utf-8"?>
<p:tagLst xmlns:a="http://schemas.openxmlformats.org/drawingml/2006/main" xmlns:r="http://schemas.openxmlformats.org/officeDocument/2006/relationships" xmlns:p="http://schemas.openxmlformats.org/presentationml/2006/main">
  <p:tag name="NAME" val="TrackerAlphaBlue"/>
</p:tagLst>
</file>

<file path=ppt/tags/tag37.xml><?xml version="1.0" encoding="utf-8"?>
<p:tagLst xmlns:a="http://schemas.openxmlformats.org/drawingml/2006/main" xmlns:r="http://schemas.openxmlformats.org/officeDocument/2006/relationships" xmlns:p="http://schemas.openxmlformats.org/presentationml/2006/main">
  <p:tag name="NAME" val="CustomIcon"/>
</p:tagLst>
</file>

<file path=ppt/tags/tag38.xml><?xml version="1.0" encoding="utf-8"?>
<p:tagLst xmlns:a="http://schemas.openxmlformats.org/drawingml/2006/main" xmlns:r="http://schemas.openxmlformats.org/officeDocument/2006/relationships" xmlns:p="http://schemas.openxmlformats.org/presentationml/2006/main">
  <p:tag name="NAME" val="CustomIcon"/>
</p:tagLst>
</file>

<file path=ppt/tags/tag39.xml><?xml version="1.0" encoding="utf-8"?>
<p:tagLst xmlns:a="http://schemas.openxmlformats.org/drawingml/2006/main" xmlns:r="http://schemas.openxmlformats.org/officeDocument/2006/relationships" xmlns:p="http://schemas.openxmlformats.org/presentationml/2006/main">
  <p:tag name="NAME" val="CustomIcon"/>
</p:tagLst>
</file>

<file path=ppt/tags/tag40.xml><?xml version="1.0" encoding="utf-8"?>
<p:tagLst xmlns:a="http://schemas.openxmlformats.org/drawingml/2006/main" xmlns:r="http://schemas.openxmlformats.org/officeDocument/2006/relationships" xmlns:p="http://schemas.openxmlformats.org/presentationml/2006/main">
  <p:tag name="NAME" val="CustomIcon"/>
</p:tagLst>
</file>

<file path=ppt/tags/tag41.xml><?xml version="1.0" encoding="utf-8"?>
<p:tagLst xmlns:a="http://schemas.openxmlformats.org/drawingml/2006/main" xmlns:r="http://schemas.openxmlformats.org/officeDocument/2006/relationships" xmlns:p="http://schemas.openxmlformats.org/presentationml/2006/main">
  <p:tag name="NAME" val="CustomIcon"/>
</p:tagLst>
</file>

<file path=ppt/tags/tag42.xml><?xml version="1.0" encoding="utf-8"?>
<p:tagLst xmlns:a="http://schemas.openxmlformats.org/drawingml/2006/main" xmlns:r="http://schemas.openxmlformats.org/officeDocument/2006/relationships" xmlns:p="http://schemas.openxmlformats.org/presentationml/2006/main">
  <p:tag name="NAME" val="TrackerAlphaBlue"/>
</p:tagLst>
</file>

<file path=ppt/tags/tag43.xml><?xml version="1.0" encoding="utf-8"?>
<p:tagLst xmlns:a="http://schemas.openxmlformats.org/drawingml/2006/main" xmlns:r="http://schemas.openxmlformats.org/officeDocument/2006/relationships" xmlns:p="http://schemas.openxmlformats.org/presentationml/2006/main">
  <p:tag name="BTFPLAYOUTCOLUMNS" val="1"/>
  <p:tag name="BTFPLAYOUTENABLED" val="0"/>
</p:tagLst>
</file>

<file path=ppt/tags/tag44.xml><?xml version="1.0" encoding="utf-8"?>
<p:tagLst xmlns:a="http://schemas.openxmlformats.org/drawingml/2006/main" xmlns:r="http://schemas.openxmlformats.org/officeDocument/2006/relationships" xmlns:p="http://schemas.openxmlformats.org/presentationml/2006/main">
  <p:tag name="AS_UNIQUEID" val="41577"/>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AS_UNIQUEID" val="41588"/>
</p:tagLst>
</file>

<file path=ppt/tags/tag46.xml><?xml version="1.0" encoding="utf-8"?>
<p:tagLst xmlns:a="http://schemas.openxmlformats.org/drawingml/2006/main" xmlns:r="http://schemas.openxmlformats.org/officeDocument/2006/relationships" xmlns:p="http://schemas.openxmlformats.org/presentationml/2006/main">
  <p:tag name="AS_UNIQUEID" val="41573"/>
</p:tagLst>
</file>

<file path=ppt/tags/tag47.xml><?xml version="1.0" encoding="utf-8"?>
<p:tagLst xmlns:a="http://schemas.openxmlformats.org/drawingml/2006/main" xmlns:r="http://schemas.openxmlformats.org/officeDocument/2006/relationships" xmlns:p="http://schemas.openxmlformats.org/presentationml/2006/main">
  <p:tag name="AS_UNIQUEID" val="41574"/>
</p:tagLst>
</file>

<file path=ppt/tags/tag48.xml><?xml version="1.0" encoding="utf-8"?>
<p:tagLst xmlns:a="http://schemas.openxmlformats.org/drawingml/2006/main" xmlns:r="http://schemas.openxmlformats.org/officeDocument/2006/relationships" xmlns:p="http://schemas.openxmlformats.org/presentationml/2006/main">
  <p:tag name="AS_UNIQUEID" val="41575"/>
</p:tagLst>
</file>

<file path=ppt/tags/tag49.xml><?xml version="1.0" encoding="utf-8"?>
<p:tagLst xmlns:a="http://schemas.openxmlformats.org/drawingml/2006/main" xmlns:r="http://schemas.openxmlformats.org/officeDocument/2006/relationships" xmlns:p="http://schemas.openxmlformats.org/presentationml/2006/main">
  <p:tag name="BTFPLAYOUTCOLUMNS" val="1"/>
  <p:tag name="BTFPLAYOUTENABLED" val="0"/>
</p:tagLst>
</file>

<file path=ppt/tags/tag50.xml><?xml version="1.0" encoding="utf-8"?>
<p:tagLst xmlns:a="http://schemas.openxmlformats.org/drawingml/2006/main" xmlns:r="http://schemas.openxmlformats.org/officeDocument/2006/relationships" xmlns:p="http://schemas.openxmlformats.org/presentationml/2006/main">
  <p:tag name="AS_UNIQUEID" val="41577"/>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AS_UNIQUEID" val="41588"/>
</p:tagLst>
</file>

<file path=ppt/tags/tag52.xml><?xml version="1.0" encoding="utf-8"?>
<p:tagLst xmlns:a="http://schemas.openxmlformats.org/drawingml/2006/main" xmlns:r="http://schemas.openxmlformats.org/officeDocument/2006/relationships" xmlns:p="http://schemas.openxmlformats.org/presentationml/2006/main">
  <p:tag name="AS_UNIQUEID" val="41573"/>
</p:tagLst>
</file>

<file path=ppt/tags/tag53.xml><?xml version="1.0" encoding="utf-8"?>
<p:tagLst xmlns:a="http://schemas.openxmlformats.org/drawingml/2006/main" xmlns:r="http://schemas.openxmlformats.org/officeDocument/2006/relationships" xmlns:p="http://schemas.openxmlformats.org/presentationml/2006/main">
  <p:tag name="AS_UNIQUEID" val="41574"/>
</p:tagLst>
</file>

<file path=ppt/tags/tag54.xml><?xml version="1.0" encoding="utf-8"?>
<p:tagLst xmlns:a="http://schemas.openxmlformats.org/drawingml/2006/main" xmlns:r="http://schemas.openxmlformats.org/officeDocument/2006/relationships" xmlns:p="http://schemas.openxmlformats.org/presentationml/2006/main">
  <p:tag name="AS_UNIQUEID" val="41575"/>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Swisscom Master 16:9">
  <a:themeElements>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Benutzerdefiniert 5">
      <a:majorFont>
        <a:latin typeface="TheSans Swisscom Light"/>
        <a:ea typeface=""/>
        <a:cs typeface=""/>
      </a:majorFont>
      <a:minorFont>
        <a:latin typeface="TheSans Swisscom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1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bodyPr vert="horz" wrap="none" lIns="0" tIns="0" rIns="0" bIns="0" rtlCol="0">
        <a:noAutofit/>
      </a:bodyPr>
      <a:lstStyle>
        <a:defPPr marL="180000" indent="-180000" algn="l">
          <a:lnSpc>
            <a:spcPct val="110000"/>
          </a:lnSpc>
          <a:buFont typeface="Arial" panose="020B0604020202020204" pitchFamily="34" charset="0"/>
          <a:buChar char="•"/>
          <a:defRPr sz="1600" dirty="0"/>
        </a:defPPr>
      </a:lstStyle>
    </a:txDef>
  </a:objectDefaults>
  <a:extraClrSchemeLst/>
  <a:custClrLst>
    <a:custClr name="Pink">
      <a:srgbClr val="E61E64"/>
    </a:custClr>
    <a:custClr name="Orchid">
      <a:srgbClr val="A63297"/>
    </a:custClr>
    <a:custClr name="Iris">
      <a:srgbClr val="5944C6"/>
    </a:custClr>
    <a:custClr name="Dark Blue">
      <a:srgbClr val="1781E3"/>
    </a:custClr>
    <a:custClr name="Turquoise">
      <a:srgbClr val="0EABA9"/>
    </a:custClr>
    <a:custClr name="Aluminium">
      <a:srgbClr val="DDE3E7"/>
    </a:custClr>
    <a:custClr name="Horizon">
      <a:srgbClr val="EEF3F6"/>
    </a:custClr>
  </a:custClrLst>
  <a:extLst>
    <a:ext uri="{05A4C25C-085E-4340-85A3-A5531E510DB2}">
      <thm15:themeFamily xmlns:thm15="http://schemas.microsoft.com/office/thememl/2012/main" name="Präsentation3" id="{DC4E5BD8-527A-475F-8999-E756DDF78AFC}" vid="{75CDF7D8-087D-4059-B864-7F492EDC2AA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17de28ac-b190-4cd4-a606-47e679de9d2c">
      <UserInfo>
        <DisplayName>QUATTROPANI, Luca</DisplayName>
        <AccountId>18</AccountId>
        <AccountType/>
      </UserInfo>
      <UserInfo>
        <DisplayName>Voskanyan, Tigran</DisplayName>
        <AccountId>19</AccountId>
        <AccountType/>
      </UserInfo>
      <UserInfo>
        <DisplayName>Vander Sande, Frederic</DisplayName>
        <AccountId>20</AccountId>
        <AccountType/>
      </UserInfo>
      <UserInfo>
        <DisplayName>Puglia, Alessandro</DisplayName>
        <AccountId>13</AccountId>
        <AccountType/>
      </UserInfo>
      <UserInfo>
        <DisplayName>Lupi, Flavio</DisplayName>
        <AccountId>16</AccountId>
        <AccountType/>
      </UserInfo>
      <UserInfo>
        <DisplayName>Mutarelli, Gabriele</DisplayName>
        <AccountId>21</AccountId>
        <AccountType/>
      </UserInfo>
      <UserInfo>
        <DisplayName>Di Capua, Giorgio</DisplayName>
        <AccountId>12</AccountId>
        <AccountType/>
      </UserInfo>
      <UserInfo>
        <DisplayName>Mondani, Marina</DisplayName>
        <AccountId>17</AccountId>
        <AccountType/>
      </UserInfo>
      <UserInfo>
        <DisplayName>PANERO JOLLIVET, Julien</DisplayName>
        <AccountId>22</AccountId>
        <AccountType/>
      </UserInfo>
      <UserInfo>
        <DisplayName>Valente, Angelo Alfonso</DisplayName>
        <AccountId>27</AccountId>
        <AccountType/>
      </UserInfo>
      <UserInfo>
        <DisplayName>SBAI TANJI, Youssef</DisplayName>
        <AccountId>36</AccountId>
        <AccountType/>
      </UserInfo>
      <UserInfo>
        <DisplayName>Boukhari, Yasmina</DisplayName>
        <AccountId>37</AccountId>
        <AccountType/>
      </UserInfo>
      <UserInfo>
        <DisplayName>Aasheim, Johannes</DisplayName>
        <AccountId>38</AccountId>
        <AccountType/>
      </UserInfo>
      <UserInfo>
        <DisplayName>Middleton, Ian</DisplayName>
        <AccountId>39</AccountId>
        <AccountType/>
      </UserInfo>
      <UserInfo>
        <DisplayName>Di Molfetta, Sergio</DisplayName>
        <AccountId>44</AccountId>
        <AccountType/>
      </UserInfo>
      <UserInfo>
        <DisplayName>Chiocca, Stefano</DisplayName>
        <AccountId>30</AccountId>
        <AccountType/>
      </UserInfo>
      <UserInfo>
        <DisplayName>Bacigalupi, Daniele</DisplayName>
        <AccountId>82</AccountId>
        <AccountType/>
      </UserInfo>
      <UserInfo>
        <DisplayName>Fratoni, Roberto</DisplayName>
        <AccountId>84</AccountId>
        <AccountType/>
      </UserInfo>
    </SharedWithUsers>
    <lcf76f155ced4ddcb4097134ff3c332f xmlns="6a00c37a-6f72-4698-9b02-81ff9fa7b20d">
      <Terms xmlns="http://schemas.microsoft.com/office/infopath/2007/PartnerControls"/>
    </lcf76f155ced4ddcb4097134ff3c332f>
    <ReuseCount xmlns="6a00c37a-6f72-4698-9b02-81ff9fa7b20d">0</ReuseCount>
    <FolderDescription xmlns="6a00c37a-6f72-4698-9b02-81ff9fa7b20d" xsi:nil="true"/>
    <TaxCatchAll xmlns="17de28ac-b190-4cd4-a606-47e679de9d2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0" ma:contentTypeDescription="Create a new document." ma:contentTypeScope="" ma:versionID="8eeb1f6fe5ef97e1055d5887c79916c8">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c636eaa07e9deb6e2eb9de282b363b46"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E31C710-CFA7-4D31-9A1C-FE0A2E210E97}">
  <ds:schemaRefs>
    <ds:schemaRef ds:uri="http://purl.org/dc/dcmitype/"/>
    <ds:schemaRef ds:uri="http://www.w3.org/XML/1998/namespace"/>
    <ds:schemaRef ds:uri="17de28ac-b190-4cd4-a606-47e679de9d2c"/>
    <ds:schemaRef ds:uri="http://schemas.microsoft.com/office/2006/metadata/properties"/>
    <ds:schemaRef ds:uri="http://schemas.microsoft.com/office/2006/documentManagement/types"/>
    <ds:schemaRef ds:uri="http://purl.org/dc/elements/1.1/"/>
    <ds:schemaRef ds:uri="6a00c37a-6f72-4698-9b02-81ff9fa7b20d"/>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FC72A271-28AE-441F-90F0-3C06F8624B03}">
  <ds:schemaRefs>
    <ds:schemaRef ds:uri="http://schemas.microsoft.com/sharepoint/v3/contenttype/forms"/>
  </ds:schemaRefs>
</ds:datastoreItem>
</file>

<file path=customXml/itemProps3.xml><?xml version="1.0" encoding="utf-8"?>
<ds:datastoreItem xmlns:ds="http://schemas.openxmlformats.org/officeDocument/2006/customXml" ds:itemID="{73DDDAB7-2156-4731-8470-85CB7CDB62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00c37a-6f72-4698-9b02-81ff9fa7b20d"/>
    <ds:schemaRef ds:uri="17de28ac-b190-4cd4-a606-47e679de9d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ffa499d-8334-4b45-bbba-5ec17299202b}" enabled="1" method="Privileged" siteId="{76a2ae5a-9f00-4f6b-95ed-5d33d77c4d61}" contentBits="0" removed="0"/>
  <clbl:label id="{2e1fccfb-80ca-4fe1-a574-1516544edb53}" enabled="1" method="Standard" siteId="{364e5b87-c1c7-420d-9bee-c35d19b557a1}" removed="0"/>
</clbl:labelList>
</file>

<file path=docProps/app.xml><?xml version="1.0" encoding="utf-8"?>
<Properties xmlns="http://schemas.openxmlformats.org/officeDocument/2006/extended-properties" xmlns:vt="http://schemas.openxmlformats.org/officeDocument/2006/docPropsVTypes">
  <TotalTime>1</TotalTime>
  <Words>6408</Words>
  <Application>Microsoft Office PowerPoint</Application>
  <PresentationFormat>Widescreen</PresentationFormat>
  <Paragraphs>836</Paragraphs>
  <Slides>20</Slides>
  <Notes>18</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34" baseType="lpstr">
      <vt:lpstr>Arial</vt:lpstr>
      <vt:lpstr>Calibri</vt:lpstr>
      <vt:lpstr>Helvetica</vt:lpstr>
      <vt:lpstr>Helvetica 75</vt:lpstr>
      <vt:lpstr>Segoe UI</vt:lpstr>
      <vt:lpstr>TheSans Swisscom Light</vt:lpstr>
      <vt:lpstr>TheSans Swisscom Light (Headings)</vt:lpstr>
      <vt:lpstr>Ubuntu</vt:lpstr>
      <vt:lpstr>Ubuntu Light</vt:lpstr>
      <vt:lpstr>Ubuntu Medium</vt:lpstr>
      <vt:lpstr>Verdana</vt:lpstr>
      <vt:lpstr>Wingdings</vt:lpstr>
      <vt:lpstr>1_Swisscom Master 16:9</vt:lpstr>
      <vt:lpstr>think-cell Slide</vt:lpstr>
      <vt:lpstr>Pre-PMI IT Work Stream Capgemini‘s RFS Response</vt:lpstr>
      <vt:lpstr>OUR FOCUS IS ON DAY 1 PREPARATION, SECURING BUSINESS CONTINUITY, PLANNING SYNERGY TARGETS AND DETAILLING FIRST “100 DAYS” </vt:lpstr>
      <vt:lpstr>OVERALL SCOPE &amp; APPROACH - PROJECT'S STREAMS</vt:lpstr>
      <vt:lpstr>HIGH-LEVEL PROJECT PLAN</vt:lpstr>
      <vt:lpstr>STREAM 1 | INTERLOCKING IT GOVERNANCE &amp; STREAMS WITH TRANSVERSAL IMO</vt:lpstr>
      <vt:lpstr>PowerPoint Presentation</vt:lpstr>
      <vt:lpstr>PowerPoint Presentation</vt:lpstr>
      <vt:lpstr>PowerPoint Presentation</vt:lpstr>
      <vt:lpstr>STREAM 3 | IT OPERATING MODEL: ORGANIZATIONAL AGILITY JOURNEY</vt:lpstr>
      <vt:lpstr>STREAM 4 | APPLICATION DOMAIN | OVERALL APPROACH</vt:lpstr>
      <vt:lpstr>STREAM 4A | INTEGRATE ENTERPRISE ARCHITECTURE APPROACH</vt:lpstr>
      <vt:lpstr>STREAM 4A | INTEGRATED ENTERPRISE ARCHITECTURE APPROACH Key topics to be addressed in this context to ensure a successful IT Architecture and transition </vt:lpstr>
      <vt:lpstr>PowerPoint Presentation</vt:lpstr>
      <vt:lpstr>PowerPoint Presentation</vt:lpstr>
      <vt:lpstr>STREAM 4C | FOCUS ON BSS LEVERAGING OUR AWARD-WINNING TELCO BSS FRAMEWORK FOR DEFINING A TARGET STATE ARCHITECTURE</vt:lpstr>
      <vt:lpstr>STREAM 4D | KEY QUESTIONS TO BE ADDRESSED FOR OSS APPLICATION AND DATA</vt:lpstr>
      <vt:lpstr>Stream 5 | Data &amp; AI Supporting the transition through an «intelligent data Office» model enabling a «data driven» and «AI infused» IT landscape integration</vt:lpstr>
      <vt:lpstr>STREAM 6A | CLOUD, INFRASTRUCTURE &amp; CYBER SECURITY We will use our Cloud Strategy Framework to develop the Infrastructure Strategy and Migration Plan</vt:lpstr>
      <vt:lpstr>STREAM 6B | CLOUD, INFRASTRUCTURE &amp; CYBER SECURITY Cybersecurity is a major risk during the integration – A specific focus is recommended TO SECURE DAY 1 AND prepare integration execution is necessary</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
  <cp:lastModifiedBy>Gaimukhe, Riya</cp:lastModifiedBy>
  <cp:revision>19</cp:revision>
  <cp:lastPrinted>2023-10-23T21:54:36Z</cp:lastPrinted>
  <dcterms:created xsi:type="dcterms:W3CDTF">2023-10-23T21:54:36Z</dcterms:created>
  <dcterms:modified xsi:type="dcterms:W3CDTF">2026-02-18T10:30:51Z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0x01010032993BBBD560C845A787DDE997A41243</vt:lpwstr>
  </property>
  <property fmtid="{D5CDD505-2E9C-101B-9397-08002B2CF9AE}" pid="3" name="MediaServiceImageTags">
    <vt:lpwstr/>
  </property>
  <property fmtid="{D5CDD505-2E9C-101B-9397-08002B2CF9AE}" pid="4" name="SlidoAppVersion">
    <vt:lpwstr>1.9.1.5104</vt:lpwstr>
  </property>
</Properties>
</file>