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1.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3.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1.xml" ContentType="application/vnd.openxmlformats-officedocument.presentationml.notesSlide+xml"/>
  <Override PartName="/ppt/tags/tag68.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0" r:id="rId4"/>
    <p:sldMasterId id="2147484304" r:id="rId5"/>
  </p:sldMasterIdLst>
  <p:notesMasterIdLst>
    <p:notesMasterId r:id="rId39"/>
  </p:notesMasterIdLst>
  <p:sldIdLst>
    <p:sldId id="362" r:id="rId6"/>
    <p:sldId id="260" r:id="rId7"/>
    <p:sldId id="264" r:id="rId8"/>
    <p:sldId id="256" r:id="rId9"/>
    <p:sldId id="262" r:id="rId10"/>
    <p:sldId id="266" r:id="rId11"/>
    <p:sldId id="263" r:id="rId12"/>
    <p:sldId id="273" r:id="rId13"/>
    <p:sldId id="375" r:id="rId14"/>
    <p:sldId id="359" r:id="rId15"/>
    <p:sldId id="265" r:id="rId16"/>
    <p:sldId id="2147483228" r:id="rId17"/>
    <p:sldId id="2147483227" r:id="rId18"/>
    <p:sldId id="272" r:id="rId19"/>
    <p:sldId id="2147481445" r:id="rId20"/>
    <p:sldId id="261" r:id="rId21"/>
    <p:sldId id="267" r:id="rId22"/>
    <p:sldId id="2147483642" r:id="rId23"/>
    <p:sldId id="274" r:id="rId24"/>
    <p:sldId id="275" r:id="rId25"/>
    <p:sldId id="269" r:id="rId26"/>
    <p:sldId id="376" r:id="rId27"/>
    <p:sldId id="2147483226" r:id="rId28"/>
    <p:sldId id="268" r:id="rId29"/>
    <p:sldId id="270" r:id="rId30"/>
    <p:sldId id="271" r:id="rId31"/>
    <p:sldId id="2147483644" r:id="rId32"/>
    <p:sldId id="280" r:id="rId33"/>
    <p:sldId id="2147483647" r:id="rId34"/>
    <p:sldId id="277" r:id="rId35"/>
    <p:sldId id="258" r:id="rId36"/>
    <p:sldId id="2147483643" r:id="rId37"/>
    <p:sldId id="276" r:id="rId38"/>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8C7AF4F-E6EA-9440-9A8B-4F6F0EA9237D}">
          <p14:sldIdLst>
            <p14:sldId id="362"/>
            <p14:sldId id="260"/>
            <p14:sldId id="264"/>
            <p14:sldId id="256"/>
            <p14:sldId id="262"/>
            <p14:sldId id="266"/>
            <p14:sldId id="263"/>
            <p14:sldId id="273"/>
            <p14:sldId id="375"/>
            <p14:sldId id="359"/>
            <p14:sldId id="265"/>
            <p14:sldId id="2147483228"/>
            <p14:sldId id="2147483227"/>
            <p14:sldId id="272"/>
            <p14:sldId id="2147481445"/>
            <p14:sldId id="261"/>
            <p14:sldId id="267"/>
            <p14:sldId id="2147483642"/>
            <p14:sldId id="274"/>
            <p14:sldId id="275"/>
            <p14:sldId id="269"/>
            <p14:sldId id="376"/>
            <p14:sldId id="2147483226"/>
            <p14:sldId id="268"/>
            <p14:sldId id="270"/>
            <p14:sldId id="271"/>
            <p14:sldId id="2147483644"/>
            <p14:sldId id="280"/>
            <p14:sldId id="2147483647"/>
            <p14:sldId id="277"/>
            <p14:sldId id="258"/>
            <p14:sldId id="2147483643"/>
            <p14:sldId id="27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EFA707-541B-B42F-C5EB-31D7EDB9C7D6}" name="Masters, Tristan" initials="MT" userId="S::tristan.masters@capgemini.com::6aa3c7c5-f4cb-40bc-ab8f-ab10d1dfd889" providerId="AD"/>
  <p188:author id="{EACA4530-8447-1822-1A3B-EBE1BD26B4A2}" name="James, Andrew" initials="AJ" userId="S::andrew.james@capgemini.com::3f3179e3-3e83-477d-b8d4-439fcac64796" providerId="AD"/>
  <p188:author id="{1503E338-2BB6-8DD9-A5C9-8699746E05D0}" name="Ellis, Alon" initials="AE" userId="S::alon.ellis@capgemini.com::a62eed51-92cd-4509-97e8-045d20239b14" providerId="AD"/>
  <p188:author id="{553DBA41-B8DC-7A96-8222-27E1EED20FFD}" name="Ahmed, Naim" initials="NA" userId="S::naim.ahmed@capgemini.com::91c225be-2b85-44f6-8f92-0a0f51e47602" providerId="AD"/>
  <p188:author id="{4C32994B-1696-3486-E215-832A5B4F8751}" name="Duffy, Hugh" initials="HD" userId="S::hugh.duffy@capgemini.com::3876943d-8d2e-4969-b384-ae70ce3f8177" providerId="AD"/>
  <p188:author id="{0D4FB963-DCF8-83F1-65BE-30AE4B3BBD64}" name="Legg, Trevor" initials="" userId="S::trevor.legg@capgemini.com::93cc7edf-f2d4-4316-ba83-ea916a5c908d" providerId="AD"/>
  <p188:author id="{E23DF869-070A-479B-F82B-7CD0284FF569}" name="Kambhampti, Karthik" initials="" userId="S::karthik.kambhampti@capgemini.com::251476d5-cc78-426c-956b-e47e79e49472" providerId="AD"/>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 id="{8D07F58B-5B68-4D10-1B33-0737D38E10BA}" name="Morina, Eneida" initials="EM" userId="S::eneida.morina@capgemini.com::c17d6ffe-fdbe-4a9e-a98b-d1d17ec5093d" providerId="AD"/>
  <p188:author id="{ED632D9E-79A1-7FB0-12FA-AA561E5FE32A}" name="Pereira, Laynie" initials="LP" userId="S::laynie.pereira@capgemini.com::d3794fc6-6650-4e19-9d02-7b01ab19e880" providerId="AD"/>
  <p188:author id="{C5CDDBA8-06ED-1206-F125-0B90B158718C}" name="Welch, Mike" initials="MW" userId="S::mike.welch@capgemini.com::3e24b62b-bdfd-4870-9166-1277d7d07b2a" providerId="AD"/>
  <p188:author id="{B46F3AAA-D5EB-EC1D-7C77-0AB6A535F154}" name="Mackay, Alex" initials="" userId="S::alex.mackay@capgemini.com::2a42f5b1-6c32-404c-a0ad-d95127c15c30" providerId="AD"/>
  <p188:author id="{204ED8B5-B654-BCBB-3D21-D81B1BED59EA}" name="Sullivan, Pauline" initials="PS" userId="S::pauline.sullivan@capgemini.com::e1f146a9-36b0-42b3-a0ec-9ac4bdd2c57a" providerId="AD"/>
  <p188:author id="{EB92D8BE-739D-2546-56D5-3D7DA7B0F87C}" name="Salamat, Arjang" initials="" userId="S::arjang.salamat@capgemini.com::82e054c4-5db8-4bc4-a5c7-d5141647e63b" providerId="AD"/>
  <p188:author id="{3D440CC1-D293-ED6F-AB15-532F812D6407}" name="Jalloh, Mohammed" initials="MJ" userId="S::mohammed.jalloh@capgemini.com::f83d1d79-cab0-472c-af7a-041981351d50" providerId="AD"/>
  <p188:author id="{2CA244C1-A52F-6D3A-A807-07B2F29C1BC8}" name="Dodds, Ashleigh" initials="AD" userId="S::ashleigh.dodds@capgemini.com::b69ecb72-4ad1-43c3-92ac-6ae44a86fe49" providerId="AD"/>
  <p188:author id="{E47B5AC6-2A96-A4A2-C8D1-85E24CF9A5DD}" name="Ravulapalli, Sree" initials="" userId="S::sree.ravulapalli@capgemini.com::ae4cc997-990f-4533-89f1-4733533e564b" providerId="AD"/>
  <p188:author id="{BFB4FACD-D0B1-2B9F-EB59-FBB96BC98975}" name="Fisken, Alexander" initials="AF" userId="S::alexander.fisken@capgemini.com::c7801770-54aa-4a23-b310-79239289d39d" providerId="AD"/>
  <p188:author id="{585078FB-95F7-A689-D058-4D40078AE9D0}" name="Gokhale, Abhishek" initials="GA" userId="S::abhishek.gokhale@capgemini.com::27bd91ce-c301-4cd1-a216-8a496578370d" providerId="AD"/>
  <p188:author id="{238708FD-C1F1-9139-6E31-43C15AA5BC5B}" name="del Rio, Nicholas" initials="Nd" userId="S::nicholas.del-rio@capgemini.com::7da4f1eb-992a-417c-82b0-9402b6e13d13" providerId="AD"/>
  <p188:author id="{6531BCFE-603F-D966-0281-0708A64A271B}" name="Ooi, Shan" initials="SO" userId="S::shan.ooi@capgemini.com::23590eeb-6f20-4fae-8dae-e9d4b700be9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C89AD"/>
    <a:srgbClr val="000F1D"/>
    <a:srgbClr val="1DB6F3"/>
    <a:srgbClr val="004180"/>
    <a:srgbClr val="000A14"/>
    <a:srgbClr val="0057AB"/>
    <a:srgbClr val="3A4A6A"/>
    <a:srgbClr val="002C56"/>
    <a:srgbClr val="50556C"/>
    <a:srgbClr val="2930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2061E1-F5DB-0CB3-AAB5-C66BC93487BE}" v="51" dt="2026-05-11T10:08:57.255"/>
    <p1510:client id="{1E253D72-5468-4074-84D2-3C7532DF64EA}" v="678" dt="2026-05-11T16:56:58.914"/>
    <p1510:client id="{2274E90D-BDC1-42FC-AB31-199B6BC167A4}" v="30" dt="2026-05-11T10:17:30.962"/>
    <p1510:client id="{4654C398-DA38-404E-8B85-F26E404138F2}" v="1170" dt="2026-05-11T16:14:37.970"/>
    <p1510:client id="{56440BC9-5353-4FB4-B031-73C0EFC1CB1D}" v="6112" dt="2026-05-11T16:52:30.134"/>
    <p1510:client id="{565FB13F-9F22-4AB5-8A65-D1A6FC99B06F}" v="6" dt="2026-05-11T06:22:04.033"/>
    <p1510:client id="{6FA6C22D-7E6F-4D5D-B20F-7EEAF76F21EE}" v="11" dt="2026-05-12T06:00:25.747"/>
    <p1510:client id="{908C42CF-5ECB-4EAE-A69E-F3D3E5D91DDA}" v="594" dt="2026-05-11T16:44:44.488"/>
    <p1510:client id="{A6389EEA-23FA-4A10-B895-5C50A3183A0C}" v="854" dt="2026-05-11T16:44:06.786"/>
    <p1510:client id="{F49E59E8-DDDA-A641-5707-7CBDABC52834}" v="114" dt="2026-05-11T16:00:15.417"/>
    <p1510:client id="{FF7BBBB1-2F30-4BE7-819E-6B8431173559}" v="718" vWet="918" dt="2026-05-11T15:35:58.176"/>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microsoft.com/office/2018/10/relationships/authors" Target="authors.xml"/><Relationship Id="rId20" Type="http://schemas.openxmlformats.org/officeDocument/2006/relationships/slide" Target="slides/slide15.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el, Nitisha" userId="4395513f-e4c9-46ba-8aef-69ae78eb2ec5" providerId="ADAL" clId="{497F9ADA-A5EE-4451-8B7A-DFD79F9FBF0D}"/>
    <pc:docChg chg="modSld modMainMaster">
      <pc:chgData name="Patel, Nitisha" userId="4395513f-e4c9-46ba-8aef-69ae78eb2ec5" providerId="ADAL" clId="{497F9ADA-A5EE-4451-8B7A-DFD79F9FBF0D}" dt="2026-05-12T06:00:25.747" v="28" actId="20577"/>
      <pc:docMkLst>
        <pc:docMk/>
      </pc:docMkLst>
      <pc:sldChg chg="modSp mod">
        <pc:chgData name="Patel, Nitisha" userId="4395513f-e4c9-46ba-8aef-69ae78eb2ec5" providerId="ADAL" clId="{497F9ADA-A5EE-4451-8B7A-DFD79F9FBF0D}" dt="2026-05-12T05:58:59.145" v="26" actId="14100"/>
        <pc:sldMkLst>
          <pc:docMk/>
          <pc:sldMk cId="2954187807" sldId="271"/>
        </pc:sldMkLst>
        <pc:spChg chg="mod">
          <ac:chgData name="Patel, Nitisha" userId="4395513f-e4c9-46ba-8aef-69ae78eb2ec5" providerId="ADAL" clId="{497F9ADA-A5EE-4451-8B7A-DFD79F9FBF0D}" dt="2026-05-12T05:58:50.799" v="22" actId="1036"/>
          <ac:spMkLst>
            <pc:docMk/>
            <pc:sldMk cId="2954187807" sldId="271"/>
            <ac:spMk id="5" creationId="{9DBE332A-F2C0-65C0-56BA-B8AFD6CD6593}"/>
          </ac:spMkLst>
        </pc:spChg>
        <pc:spChg chg="mod">
          <ac:chgData name="Patel, Nitisha" userId="4395513f-e4c9-46ba-8aef-69ae78eb2ec5" providerId="ADAL" clId="{497F9ADA-A5EE-4451-8B7A-DFD79F9FBF0D}" dt="2026-05-12T05:58:59.145" v="26" actId="14100"/>
          <ac:spMkLst>
            <pc:docMk/>
            <pc:sldMk cId="2954187807" sldId="271"/>
            <ac:spMk id="8" creationId="{65D0714B-121A-8647-AF19-65650F6299F0}"/>
          </ac:spMkLst>
        </pc:spChg>
      </pc:sldChg>
      <pc:sldChg chg="modSp mod">
        <pc:chgData name="Patel, Nitisha" userId="4395513f-e4c9-46ba-8aef-69ae78eb2ec5" providerId="ADAL" clId="{497F9ADA-A5EE-4451-8B7A-DFD79F9FBF0D}" dt="2026-05-12T05:56:00.634" v="17" actId="207"/>
        <pc:sldMkLst>
          <pc:docMk/>
          <pc:sldMk cId="2869296494" sldId="274"/>
        </pc:sldMkLst>
        <pc:spChg chg="mod">
          <ac:chgData name="Patel, Nitisha" userId="4395513f-e4c9-46ba-8aef-69ae78eb2ec5" providerId="ADAL" clId="{497F9ADA-A5EE-4451-8B7A-DFD79F9FBF0D}" dt="2026-05-12T05:55:06.879" v="14" actId="1037"/>
          <ac:spMkLst>
            <pc:docMk/>
            <pc:sldMk cId="2869296494" sldId="274"/>
            <ac:spMk id="3" creationId="{A7AB7DA4-C01A-34F6-012A-D200DCA03D99}"/>
          </ac:spMkLst>
        </pc:spChg>
        <pc:spChg chg="mod">
          <ac:chgData name="Patel, Nitisha" userId="4395513f-e4c9-46ba-8aef-69ae78eb2ec5" providerId="ADAL" clId="{497F9ADA-A5EE-4451-8B7A-DFD79F9FBF0D}" dt="2026-05-12T05:55:20.562" v="16" actId="1035"/>
          <ac:spMkLst>
            <pc:docMk/>
            <pc:sldMk cId="2869296494" sldId="274"/>
            <ac:spMk id="38" creationId="{06F6FC37-50BD-4BCC-B4CA-842F6596509D}"/>
          </ac:spMkLst>
        </pc:spChg>
        <pc:spChg chg="mod">
          <ac:chgData name="Patel, Nitisha" userId="4395513f-e4c9-46ba-8aef-69ae78eb2ec5" providerId="ADAL" clId="{497F9ADA-A5EE-4451-8B7A-DFD79F9FBF0D}" dt="2026-05-12T05:55:20.562" v="16" actId="1035"/>
          <ac:spMkLst>
            <pc:docMk/>
            <pc:sldMk cId="2869296494" sldId="274"/>
            <ac:spMk id="39" creationId="{4CC9A0BC-AD8C-2527-D5EB-AB66163E4185}"/>
          </ac:spMkLst>
        </pc:spChg>
        <pc:spChg chg="mod">
          <ac:chgData name="Patel, Nitisha" userId="4395513f-e4c9-46ba-8aef-69ae78eb2ec5" providerId="ADAL" clId="{497F9ADA-A5EE-4451-8B7A-DFD79F9FBF0D}" dt="2026-05-12T05:55:20.562" v="16" actId="1035"/>
          <ac:spMkLst>
            <pc:docMk/>
            <pc:sldMk cId="2869296494" sldId="274"/>
            <ac:spMk id="40" creationId="{35EA087F-7B8D-1719-C768-6376C4D72119}"/>
          </ac:spMkLst>
        </pc:spChg>
        <pc:spChg chg="mod">
          <ac:chgData name="Patel, Nitisha" userId="4395513f-e4c9-46ba-8aef-69ae78eb2ec5" providerId="ADAL" clId="{497F9ADA-A5EE-4451-8B7A-DFD79F9FBF0D}" dt="2026-05-12T05:56:00.634" v="17" actId="207"/>
          <ac:spMkLst>
            <pc:docMk/>
            <pc:sldMk cId="2869296494" sldId="274"/>
            <ac:spMk id="50" creationId="{1A22840C-B33E-FC0C-0B4A-F03AF4485A67}"/>
          </ac:spMkLst>
        </pc:spChg>
        <pc:picChg chg="mod">
          <ac:chgData name="Patel, Nitisha" userId="4395513f-e4c9-46ba-8aef-69ae78eb2ec5" providerId="ADAL" clId="{497F9ADA-A5EE-4451-8B7A-DFD79F9FBF0D}" dt="2026-05-12T05:54:59.695" v="5" actId="1037"/>
          <ac:picMkLst>
            <pc:docMk/>
            <pc:sldMk cId="2869296494" sldId="274"/>
            <ac:picMk id="44" creationId="{A970E4CD-9382-0BF4-089A-D55689FAEE26}"/>
          </ac:picMkLst>
        </pc:picChg>
      </pc:sldChg>
      <pc:sldMasterChg chg="modSldLayout">
        <pc:chgData name="Patel, Nitisha" userId="4395513f-e4c9-46ba-8aef-69ae78eb2ec5" providerId="ADAL" clId="{497F9ADA-A5EE-4451-8B7A-DFD79F9FBF0D}" dt="2026-05-12T06:00:25.747" v="28" actId="20577"/>
        <pc:sldMasterMkLst>
          <pc:docMk/>
          <pc:sldMasterMk cId="3503803738" sldId="2147483860"/>
        </pc:sldMasterMkLst>
        <pc:sldLayoutChg chg="modSp mod">
          <pc:chgData name="Patel, Nitisha" userId="4395513f-e4c9-46ba-8aef-69ae78eb2ec5" providerId="ADAL" clId="{497F9ADA-A5EE-4451-8B7A-DFD79F9FBF0D}" dt="2026-05-12T06:00:25.747" v="28" actId="20577"/>
          <pc:sldLayoutMkLst>
            <pc:docMk/>
            <pc:sldMasterMk cId="3503803738" sldId="2147483860"/>
            <pc:sldLayoutMk cId="2788758131" sldId="2147483909"/>
          </pc:sldLayoutMkLst>
          <pc:spChg chg="mod">
            <ac:chgData name="Patel, Nitisha" userId="4395513f-e4c9-46ba-8aef-69ae78eb2ec5" providerId="ADAL" clId="{497F9ADA-A5EE-4451-8B7A-DFD79F9FBF0D}" dt="2026-05-12T06:00:25.747" v="28" actId="20577"/>
            <ac:spMkLst>
              <pc:docMk/>
              <pc:sldMasterMk cId="3503803738" sldId="2147483860"/>
              <pc:sldLayoutMk cId="2788758131" sldId="2147483909"/>
              <ac:spMk id="19" creationId="{C5330C35-E29D-8A90-AAB9-11AFDCEFCEAC}"/>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05/11/2026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13</a:t>
            </a:fld>
            <a:endParaRPr lang="en-PL"/>
          </a:p>
        </p:txBody>
      </p:sp>
    </p:spTree>
    <p:extLst>
      <p:ext uri="{BB962C8B-B14F-4D97-AF65-F5344CB8AC3E}">
        <p14:creationId xmlns:p14="http://schemas.microsoft.com/office/powerpoint/2010/main" val="4189048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660833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188CB7-A482-43F5-AE20-F951227708B4}"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1587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611FF-68C9-3D06-9DD4-08184F45EC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226630-A4ED-7215-E86C-8D3EEB58BE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DD619-9AF0-C696-CCF2-809EF5C3A9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147298A-A7FA-17AA-CB25-884C345A4A5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3378233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7A2D5-3E01-432C-471D-176AC1DA35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A90EFF-A8C3-3256-0431-86835E012B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E5197C-3D19-2647-E820-1485429E285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D29195-9F97-1C6C-E82E-5FBECE8286E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29818902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8.png"/><Relationship Id="rId7" Type="http://schemas.microsoft.com/office/2007/relationships/hdphoto" Target="../media/hdphoto2.wdp"/><Relationship Id="rId12" Type="http://schemas.openxmlformats.org/officeDocument/2006/relationships/image" Target="../media/image11.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microsoft.com/office/2007/relationships/hdphoto" Target="../media/hdphoto5.wdp"/><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0.png"/><Relationship Id="rId14" Type="http://schemas.openxmlformats.org/officeDocument/2006/relationships/image" Target="../media/image1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4.png"/><Relationship Id="rId3" Type="http://schemas.openxmlformats.org/officeDocument/2006/relationships/tags" Target="../tags/tag5.xml"/><Relationship Id="rId7" Type="http://schemas.openxmlformats.org/officeDocument/2006/relationships/image" Target="../media/image21.png"/><Relationship Id="rId12" Type="http://schemas.openxmlformats.org/officeDocument/2006/relationships/hyperlink" Target="http://www.linkedin.com/company/capgemini" TargetMode="External"/><Relationship Id="rId2" Type="http://schemas.openxmlformats.org/officeDocument/2006/relationships/tags" Target="../tags/tag4.xml"/><Relationship Id="rId16" Type="http://schemas.openxmlformats.org/officeDocument/2006/relationships/image" Target="../media/image26.svg"/><Relationship Id="rId1" Type="http://schemas.openxmlformats.org/officeDocument/2006/relationships/tags" Target="../tags/tag3.xml"/><Relationship Id="rId6" Type="http://schemas.openxmlformats.org/officeDocument/2006/relationships/hyperlink" Target="https://www.glassdoor.com/Overview/Working-at-Capgemini-EI_IE3803.11,20.htm" TargetMode="External"/><Relationship Id="rId11" Type="http://schemas.openxmlformats.org/officeDocument/2006/relationships/image" Target="../media/image23.png"/><Relationship Id="rId5" Type="http://schemas.openxmlformats.org/officeDocument/2006/relationships/slideMaster" Target="../slideMasters/slideMaster2.xml"/><Relationship Id="rId15" Type="http://schemas.openxmlformats.org/officeDocument/2006/relationships/image" Target="../media/image25.png"/><Relationship Id="rId10" Type="http://schemas.openxmlformats.org/officeDocument/2006/relationships/hyperlink" Target="http://www.facebook.com/capgemini" TargetMode="External"/><Relationship Id="rId4" Type="http://schemas.openxmlformats.org/officeDocument/2006/relationships/tags" Target="../tags/tag6.xml"/><Relationship Id="rId9" Type="http://schemas.openxmlformats.org/officeDocument/2006/relationships/image" Target="../media/image22.png"/><Relationship Id="rId14" Type="http://schemas.openxmlformats.org/officeDocument/2006/relationships/hyperlink" Target="https://www.instagram.com/capgemini/" TargetMode="External"/></Relationships>
</file>

<file path=ppt/slideLayouts/_rels/slideLayout65.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21.png"/><Relationship Id="rId7" Type="http://schemas.openxmlformats.org/officeDocument/2006/relationships/image" Target="../media/image23.png"/><Relationship Id="rId12" Type="http://schemas.openxmlformats.org/officeDocument/2006/relationships/image" Target="../media/image26.sv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2.xml"/><Relationship Id="rId6" Type="http://schemas.openxmlformats.org/officeDocument/2006/relationships/hyperlink" Target="http://www.facebook.com/capgemini" TargetMode="External"/><Relationship Id="rId11" Type="http://schemas.openxmlformats.org/officeDocument/2006/relationships/image" Target="../media/image25.png"/><Relationship Id="rId5" Type="http://schemas.openxmlformats.org/officeDocument/2006/relationships/image" Target="../media/image22.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24.png"/></Relationships>
</file>

<file path=ppt/slideLayouts/_rels/slideLayout66.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3" Type="http://schemas.openxmlformats.org/officeDocument/2006/relationships/image" Target="../media/image8.png"/><Relationship Id="rId7" Type="http://schemas.microsoft.com/office/2007/relationships/hdphoto" Target="../media/hdphoto7.wdp"/><Relationship Id="rId12" Type="http://schemas.openxmlformats.org/officeDocument/2006/relationships/image" Target="../media/image11.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2.xml"/><Relationship Id="rId6" Type="http://schemas.openxmlformats.org/officeDocument/2006/relationships/image" Target="../media/image9.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2.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10.png"/><Relationship Id="rId14" Type="http://schemas.openxmlformats.org/officeDocument/2006/relationships/hyperlink" Target="https://www.instagram.com/capgemini/" TargetMode="Externa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27.emf"/></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FBC239C9-85C8-4E39-3AC3-9FD8A132B1C9}"/>
              </a:ext>
            </a:extLst>
          </p:cNvPr>
          <p:cNvSpPr>
            <a:spLocks noGrp="1"/>
          </p:cNvSpPr>
          <p:nvPr>
            <p:ph type="title"/>
          </p:nvPr>
        </p:nvSpPr>
        <p:spPr>
          <a:xfrm>
            <a:off x="447822" y="3495919"/>
            <a:ext cx="6479535" cy="1677552"/>
          </a:xfrm>
        </p:spPr>
        <p:txBody>
          <a:bodyPr anchor="b"/>
          <a:lstStyle>
            <a:lvl1pPr>
              <a:defRPr kumimoji="0" lang="en-PL" sz="4000" b="0" i="0" u="none" strike="noStrike" kern="1200" cap="none" spc="0" normalizeH="0" baseline="0" noProof="0" dirty="0">
                <a:ln>
                  <a:noFill/>
                </a:ln>
                <a:solidFill>
                  <a:schemeClr val="bg2"/>
                </a:solidFill>
                <a:effectLst/>
                <a:uLnTx/>
                <a:uFillTx/>
                <a:latin typeface="+mn-lt"/>
                <a:ea typeface="+mj-ea"/>
                <a:cs typeface="+mj-cs"/>
              </a:defRPr>
            </a:lvl1pPr>
          </a:lstStyle>
          <a:p>
            <a:r>
              <a:rPr lang="en-GB"/>
              <a:t>Click to edit Master title style</a:t>
            </a:r>
            <a:endParaRPr lang="en-PL"/>
          </a:p>
        </p:txBody>
      </p:sp>
      <p:sp>
        <p:nvSpPr>
          <p:cNvPr id="17" name="Text Placeholder 3">
            <a:extLst>
              <a:ext uri="{FF2B5EF4-FFF2-40B4-BE49-F238E27FC236}">
                <a16:creationId xmlns:a16="http://schemas.microsoft.com/office/drawing/2014/main" id="{00278C63-E076-1A92-DE66-31FEDDDDA54C}"/>
              </a:ext>
            </a:extLst>
          </p:cNvPr>
          <p:cNvSpPr>
            <a:spLocks noGrp="1"/>
          </p:cNvSpPr>
          <p:nvPr>
            <p:ph type="body" sz="quarter" idx="10" hasCustomPrompt="1"/>
          </p:nvPr>
        </p:nvSpPr>
        <p:spPr>
          <a:xfrm>
            <a:off x="445713" y="5173471"/>
            <a:ext cx="6479535" cy="215444"/>
          </a:xfrm>
          <a:prstGeom prst="rect">
            <a:avLst/>
          </a:prstGeom>
        </p:spPr>
        <p:txBody>
          <a:bodyPr/>
          <a:lstStyle>
            <a:lvl1pPr>
              <a:defRPr lang="en-GB" sz="1400" kern="1200" dirty="0" smtClean="0">
                <a:solidFill>
                  <a:schemeClr val="bg2"/>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4" name="Text Placeholder 3">
            <a:extLst>
              <a:ext uri="{FF2B5EF4-FFF2-40B4-BE49-F238E27FC236}">
                <a16:creationId xmlns:a16="http://schemas.microsoft.com/office/drawing/2014/main" id="{426575D8-1E46-7572-7181-BFF7EAEE699E}"/>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pic>
        <p:nvPicPr>
          <p:cNvPr id="2" name="Picture 1" descr="A blue circle with white text&#10;&#10;AI-generated content may be incorrect.">
            <a:extLst>
              <a:ext uri="{FF2B5EF4-FFF2-40B4-BE49-F238E27FC236}">
                <a16:creationId xmlns:a16="http://schemas.microsoft.com/office/drawing/2014/main" id="{33BC2D30-34DA-E58A-62F5-C660AE718102}"/>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a:off x="11640477" y="6313714"/>
            <a:ext cx="406401" cy="406400"/>
          </a:xfrm>
          <a:prstGeom prst="rect">
            <a:avLst/>
          </a:prstGeom>
        </p:spPr>
      </p:pic>
      <p:pic>
        <p:nvPicPr>
          <p:cNvPr id="5" name="Picture 4">
            <a:extLst>
              <a:ext uri="{FF2B5EF4-FFF2-40B4-BE49-F238E27FC236}">
                <a16:creationId xmlns:a16="http://schemas.microsoft.com/office/drawing/2014/main" id="{9EB36DB4-7434-4BDB-6F37-2871122F0839}"/>
              </a:ext>
            </a:extLst>
          </p:cNvPr>
          <p:cNvPicPr>
            <a:picLocks noChangeAspect="1"/>
          </p:cNvPicPr>
          <p:nvPr userDrawn="1"/>
        </p:nvPicPr>
        <p:blipFill>
          <a:blip r:embed="rId3"/>
          <a:srcRect l="34734" r="22754"/>
          <a:stretch>
            <a:fillRect/>
          </a:stretch>
        </p:blipFill>
        <p:spPr>
          <a:xfrm>
            <a:off x="7821038" y="0"/>
            <a:ext cx="4370962" cy="6858000"/>
          </a:xfrm>
          <a:prstGeom prst="rect">
            <a:avLst/>
          </a:prstGeom>
        </p:spPr>
      </p:pic>
      <p:sp>
        <p:nvSpPr>
          <p:cNvPr id="19" name="Rectangle 18">
            <a:extLst>
              <a:ext uri="{FF2B5EF4-FFF2-40B4-BE49-F238E27FC236}">
                <a16:creationId xmlns:a16="http://schemas.microsoft.com/office/drawing/2014/main" id="{11FCF754-FFFB-8EC0-8A1D-7A609C37CDE0}"/>
              </a:ext>
            </a:extLst>
          </p:cNvPr>
          <p:cNvSpPr/>
          <p:nvPr userDrawn="1"/>
        </p:nvSpPr>
        <p:spPr>
          <a:xfrm rot="16200000">
            <a:off x="430839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38" name="Group 37">
            <a:extLst>
              <a:ext uri="{FF2B5EF4-FFF2-40B4-BE49-F238E27FC236}">
                <a16:creationId xmlns:a16="http://schemas.microsoft.com/office/drawing/2014/main" id="{FB8854F7-8951-B96C-4BE3-409E2576D6A5}"/>
              </a:ext>
            </a:extLst>
          </p:cNvPr>
          <p:cNvGrpSpPr>
            <a:grpSpLocks noChangeAspect="1"/>
          </p:cNvGrpSpPr>
          <p:nvPr userDrawn="1"/>
        </p:nvGrpSpPr>
        <p:grpSpPr>
          <a:xfrm>
            <a:off x="530322" y="318916"/>
            <a:ext cx="1879473" cy="422550"/>
            <a:chOff x="5094083" y="5360390"/>
            <a:chExt cx="3039349" cy="683316"/>
          </a:xfrm>
          <a:solidFill>
            <a:schemeClr val="tx2"/>
          </a:solidFill>
        </p:grpSpPr>
        <p:sp>
          <p:nvSpPr>
            <p:cNvPr id="39" name="Freeform: Shape 4">
              <a:extLst>
                <a:ext uri="{FF2B5EF4-FFF2-40B4-BE49-F238E27FC236}">
                  <a16:creationId xmlns:a16="http://schemas.microsoft.com/office/drawing/2014/main" id="{E2724131-6627-99C5-50A4-074DCF89DCBB}"/>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40" name="Freeform: Shape 5">
              <a:extLst>
                <a:ext uri="{FF2B5EF4-FFF2-40B4-BE49-F238E27FC236}">
                  <a16:creationId xmlns:a16="http://schemas.microsoft.com/office/drawing/2014/main" id="{698EFEFC-B47B-971F-88B7-4BA4E13423A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41" name="Freeform: Shape 6">
              <a:extLst>
                <a:ext uri="{FF2B5EF4-FFF2-40B4-BE49-F238E27FC236}">
                  <a16:creationId xmlns:a16="http://schemas.microsoft.com/office/drawing/2014/main" id="{6B752AB8-5914-B3E0-C3D4-3E2478328FB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42" name="Freeform: Shape 7">
              <a:extLst>
                <a:ext uri="{FF2B5EF4-FFF2-40B4-BE49-F238E27FC236}">
                  <a16:creationId xmlns:a16="http://schemas.microsoft.com/office/drawing/2014/main" id="{7215AABC-343B-C884-3372-F32CD0B3C24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43" name="Freeform: Shape 8">
              <a:extLst>
                <a:ext uri="{FF2B5EF4-FFF2-40B4-BE49-F238E27FC236}">
                  <a16:creationId xmlns:a16="http://schemas.microsoft.com/office/drawing/2014/main" id="{871435FF-BB4F-F89A-DD99-1DCE14D7155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Tree>
    <p:extLst>
      <p:ext uri="{BB962C8B-B14F-4D97-AF65-F5344CB8AC3E}">
        <p14:creationId xmlns:p14="http://schemas.microsoft.com/office/powerpoint/2010/main" val="1913045457"/>
      </p:ext>
    </p:extLst>
  </p:cSld>
  <p:clrMapOvr>
    <a:masterClrMapping/>
  </p:clrMapOvr>
  <p:extLst>
    <p:ext uri="{DCECCB84-F9BA-43D5-87BE-67443E8EF086}">
      <p15:sldGuideLst xmlns:p15="http://schemas.microsoft.com/office/powerpoint/2012/main">
        <p15:guide id="2" pos="740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17A833-CC99-289F-A02D-009ABD0F5C8B}"/>
              </a:ext>
            </a:extLst>
          </p:cNvPr>
          <p:cNvPicPr>
            <a:picLocks noChangeAspect="1"/>
          </p:cNvPicPr>
          <p:nvPr userDrawn="1"/>
        </p:nvPicPr>
        <p:blipFill>
          <a:blip r:embed="rId2"/>
          <a:srcRect l="21072" t="8857" r="21072" b="10537"/>
          <a:stretch>
            <a:fillRect/>
          </a:stretch>
        </p:blipFill>
        <p:spPr>
          <a:xfrm>
            <a:off x="0" y="-145915"/>
            <a:ext cx="12192000" cy="7003915"/>
          </a:xfrm>
          <a:prstGeom prst="rect">
            <a:avLst/>
          </a:prstGeom>
        </p:spPr>
      </p:pic>
      <p:sp>
        <p:nvSpPr>
          <p:cNvPr id="9" name="Title 2">
            <a:extLst>
              <a:ext uri="{FF2B5EF4-FFF2-40B4-BE49-F238E27FC236}">
                <a16:creationId xmlns:a16="http://schemas.microsoft.com/office/drawing/2014/main" id="{1F467B2C-6979-AAE5-5986-F0CB277B2006}"/>
              </a:ext>
            </a:extLst>
          </p:cNvPr>
          <p:cNvSpPr txBox="1">
            <a:spLocks/>
          </p:cNvSpPr>
          <p:nvPr userDrawn="1"/>
        </p:nvSpPr>
        <p:spPr>
          <a:xfrm>
            <a:off x="2855912" y="789781"/>
            <a:ext cx="6480175" cy="1677988"/>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200" b="0" i="0" u="none" strike="noStrike" kern="1200" cap="none" spc="0" normalizeH="0" baseline="0" noProof="0" dirty="0">
                <a:ln>
                  <a:noFill/>
                </a:ln>
                <a:solidFill>
                  <a:schemeClr val="bg1"/>
                </a:solidFill>
                <a:effectLst/>
                <a:uLnTx/>
                <a:uFillTx/>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8000" b="1" i="0" u="none" strike="noStrike" kern="1200" cap="none" spc="0" normalizeH="0" baseline="0" noProof="0">
                <a:ln>
                  <a:noFill/>
                </a:ln>
                <a:solidFill>
                  <a:schemeClr val="bg1"/>
                </a:solidFill>
                <a:effectLst/>
                <a:uLnTx/>
                <a:uFillTx/>
                <a:latin typeface="Ubuntu Light" panose="020B0304030602030204" pitchFamily="34" charset="0"/>
                <a:ea typeface="+mj-ea"/>
                <a:cs typeface="+mj-cs"/>
              </a:rPr>
              <a:t>Thank you.</a:t>
            </a:r>
          </a:p>
        </p:txBody>
      </p:sp>
      <p:grpSp>
        <p:nvGrpSpPr>
          <p:cNvPr id="12" name="Group 2">
            <a:extLst>
              <a:ext uri="{FF2B5EF4-FFF2-40B4-BE49-F238E27FC236}">
                <a16:creationId xmlns:a16="http://schemas.microsoft.com/office/drawing/2014/main" id="{821CB0E4-D96F-6AC5-DBCA-C1225179C8EF}"/>
              </a:ext>
            </a:extLst>
          </p:cNvPr>
          <p:cNvGrpSpPr>
            <a:grpSpLocks noChangeAspect="1"/>
          </p:cNvGrpSpPr>
          <p:nvPr/>
        </p:nvGrpSpPr>
        <p:grpSpPr>
          <a:xfrm>
            <a:off x="9645314" y="6016443"/>
            <a:ext cx="1872000" cy="420870"/>
            <a:chOff x="5094083" y="5360390"/>
            <a:chExt cx="3039349" cy="683316"/>
          </a:xfrm>
          <a:solidFill>
            <a:schemeClr val="bg2"/>
          </a:solidFill>
        </p:grpSpPr>
        <p:sp>
          <p:nvSpPr>
            <p:cNvPr id="14" name="Freeform: Shape 4">
              <a:extLst>
                <a:ext uri="{FF2B5EF4-FFF2-40B4-BE49-F238E27FC236}">
                  <a16:creationId xmlns:a16="http://schemas.microsoft.com/office/drawing/2014/main" id="{6CD177AC-8ADE-92D1-2151-B14372C0632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Ubuntu"/>
                <a:ea typeface="+mn-ea"/>
                <a:cs typeface="+mn-cs"/>
              </a:endParaRPr>
            </a:p>
          </p:txBody>
        </p:sp>
        <p:sp>
          <p:nvSpPr>
            <p:cNvPr id="15" name="Freeform: Shape 5">
              <a:extLst>
                <a:ext uri="{FF2B5EF4-FFF2-40B4-BE49-F238E27FC236}">
                  <a16:creationId xmlns:a16="http://schemas.microsoft.com/office/drawing/2014/main" id="{424C5C57-86D6-9731-DA7F-42CFF4F2BDD5}"/>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Ubuntu"/>
                <a:ea typeface="+mn-ea"/>
                <a:cs typeface="+mn-cs"/>
              </a:endParaRPr>
            </a:p>
          </p:txBody>
        </p:sp>
        <p:sp>
          <p:nvSpPr>
            <p:cNvPr id="17" name="Freeform: Shape 6">
              <a:extLst>
                <a:ext uri="{FF2B5EF4-FFF2-40B4-BE49-F238E27FC236}">
                  <a16:creationId xmlns:a16="http://schemas.microsoft.com/office/drawing/2014/main" id="{79557EAC-5259-1080-B058-C6BEA5A8532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Ubuntu"/>
                <a:ea typeface="+mn-ea"/>
                <a:cs typeface="+mn-cs"/>
              </a:endParaRPr>
            </a:p>
          </p:txBody>
        </p:sp>
        <p:sp>
          <p:nvSpPr>
            <p:cNvPr id="18" name="Freeform: Shape 7">
              <a:extLst>
                <a:ext uri="{FF2B5EF4-FFF2-40B4-BE49-F238E27FC236}">
                  <a16:creationId xmlns:a16="http://schemas.microsoft.com/office/drawing/2014/main" id="{9A5CC49A-FDA6-4C29-FBA6-85AC2FE8B6DD}"/>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Ubuntu"/>
                <a:ea typeface="+mn-ea"/>
                <a:cs typeface="+mn-cs"/>
              </a:endParaRPr>
            </a:p>
          </p:txBody>
        </p:sp>
        <p:sp>
          <p:nvSpPr>
            <p:cNvPr id="19" name="Freeform: Shape 8">
              <a:extLst>
                <a:ext uri="{FF2B5EF4-FFF2-40B4-BE49-F238E27FC236}">
                  <a16:creationId xmlns:a16="http://schemas.microsoft.com/office/drawing/2014/main" id="{475991F7-BBCB-0A10-7322-CA7CC913CA5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3" name="Rectangle 12">
            <a:extLst>
              <a:ext uri="{FF2B5EF4-FFF2-40B4-BE49-F238E27FC236}">
                <a16:creationId xmlns:a16="http://schemas.microsoft.com/office/drawing/2014/main" id="{8696F53F-56B7-B1D3-DC9F-B4C59D3088AF}"/>
              </a:ext>
            </a:extLst>
          </p:cNvPr>
          <p:cNvSpPr/>
          <p:nvPr/>
        </p:nvSpPr>
        <p:spPr>
          <a:xfrm>
            <a:off x="0" y="1125538"/>
            <a:ext cx="2959100" cy="257736"/>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2527807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ntent Title Only">
    <p:spTree>
      <p:nvGrpSpPr>
        <p:cNvPr id="1" name=""/>
        <p:cNvGrpSpPr/>
        <p:nvPr/>
      </p:nvGrpSpPr>
      <p:grpSpPr>
        <a:xfrm>
          <a:off x="0" y="0"/>
          <a:ext cx="0" cy="0"/>
          <a:chOff x="0" y="0"/>
          <a:chExt cx="0" cy="0"/>
        </a:xfrm>
      </p:grpSpPr>
      <p:sp>
        <p:nvSpPr>
          <p:cNvPr id="5" name="Title Placeholder 4">
            <a:extLst>
              <a:ext uri="{FF2B5EF4-FFF2-40B4-BE49-F238E27FC236}">
                <a16:creationId xmlns:a16="http://schemas.microsoft.com/office/drawing/2014/main" id="{BE487657-0883-7612-E021-FE58E865E605}"/>
              </a:ext>
            </a:extLst>
          </p:cNvPr>
          <p:cNvSpPr>
            <a:spLocks noGrp="1"/>
          </p:cNvSpPr>
          <p:nvPr>
            <p:ph type="title" hasCustomPrompt="1"/>
          </p:nvPr>
        </p:nvSpPr>
        <p:spPr>
          <a:xfrm>
            <a:off x="551384" y="549274"/>
            <a:ext cx="11089754" cy="1079526"/>
          </a:xfrm>
          <a:prstGeom prst="rect">
            <a:avLst/>
          </a:prstGeom>
        </p:spPr>
        <p:txBody>
          <a:bodyPr vert="horz" lIns="0" tIns="0" rIns="0" bIns="180000" rtlCol="0" anchor="t" anchorCtr="0">
            <a:noAutofit/>
          </a:bodyPr>
          <a:lstStyle>
            <a:lvl1pPr>
              <a:defRPr sz="2400"/>
            </a:lvl1pPr>
          </a:lstStyle>
          <a:p>
            <a:r>
              <a:rPr lang="en-US"/>
              <a:t>Click to edit </a:t>
            </a:r>
            <a:br>
              <a:rPr lang="en-US"/>
            </a:br>
            <a:r>
              <a:rPr lang="en-US"/>
              <a:t>Master title style</a:t>
            </a:r>
            <a:endParaRPr lang="de-DE"/>
          </a:p>
        </p:txBody>
      </p:sp>
      <p:sp>
        <p:nvSpPr>
          <p:cNvPr id="7" name="TextBox 6">
            <a:extLst>
              <a:ext uri="{FF2B5EF4-FFF2-40B4-BE49-F238E27FC236}">
                <a16:creationId xmlns:a16="http://schemas.microsoft.com/office/drawing/2014/main" id="{CA26F6FB-7CB9-8F0F-B69C-BB083EAB8CD7}"/>
              </a:ext>
            </a:extLst>
          </p:cNvPr>
          <p:cNvSpPr txBox="1"/>
          <p:nvPr userDrawn="1"/>
        </p:nvSpPr>
        <p:spPr>
          <a:xfrm>
            <a:off x="7280475" y="6453188"/>
            <a:ext cx="4086673" cy="263791"/>
          </a:xfrm>
          <a:prstGeom prst="rect">
            <a:avLst/>
          </a:prstGeom>
          <a:noFill/>
        </p:spPr>
        <p:txBody>
          <a:bodyPr vert="horz" wrap="none" lIns="90000" tIns="46800" rIns="90000" bIns="4680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1100">
                <a:solidFill>
                  <a:schemeClr val="bg1">
                    <a:lumMod val="65000"/>
                  </a:schemeClr>
                </a:solidFill>
              </a:rPr>
              <a:t>Company Confidential © Capgemini 2026. All rights reserved.</a:t>
            </a:r>
          </a:p>
        </p:txBody>
      </p:sp>
    </p:spTree>
    <p:extLst>
      <p:ext uri="{BB962C8B-B14F-4D97-AF65-F5344CB8AC3E}">
        <p14:creationId xmlns:p14="http://schemas.microsoft.com/office/powerpoint/2010/main" val="1252646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2" name="Rectangle 1">
            <a:extLst>
              <a:ext uri="{FF2B5EF4-FFF2-40B4-BE49-F238E27FC236}">
                <a16:creationId xmlns:a16="http://schemas.microsoft.com/office/drawing/2014/main" id="{46B5460D-8910-C4B3-2156-DE8786A97F71}"/>
              </a:ext>
            </a:extLst>
          </p:cNvPr>
          <p:cNvSpPr/>
          <p:nvPr userDrawn="1"/>
        </p:nvSpPr>
        <p:spPr>
          <a:xfrm>
            <a:off x="550864" y="1384201"/>
            <a:ext cx="4248471"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1"/>
                </a:solidFill>
                <a:effectLst/>
                <a:uLnTx/>
                <a:uFillTx/>
                <a:latin typeface="Ubuntu" panose="020B0504030602030204" pitchFamily="34" charset="0"/>
                <a:ea typeface="+mn-ea"/>
                <a:cs typeface="+mn-cs"/>
              </a:rPr>
              <a:t>About Capgemini</a:t>
            </a:r>
          </a:p>
          <a:p>
            <a:pPr marL="0" marR="0" indent="0" algn="just" defTabSz="914400" rtl="0" eaLnBrk="1" fontAlgn="auto" latinLnBrk="0" hangingPunct="1">
              <a:lnSpc>
                <a:spcPct val="100000"/>
              </a:lnSpc>
              <a:spcBef>
                <a:spcPts val="0"/>
              </a:spcBef>
              <a:spcAft>
                <a:spcPts val="0"/>
              </a:spcAft>
              <a:buClrTx/>
              <a:buSzTx/>
              <a:buFontTx/>
              <a:buNone/>
              <a:tabLst/>
              <a:defRPr/>
            </a:pPr>
            <a:r>
              <a:rPr lang="en-US" sz="900" b="0" i="0">
                <a:solidFill>
                  <a:schemeClr val="bg1"/>
                </a:solidFill>
                <a:effectLst/>
                <a:latin typeface="Ubuntu" panose="020B0504030602030204" pitchFamily="34" charset="0"/>
              </a:rPr>
              <a:t>Capgemini is a global business and technology transformation partner, helping organizations to accelerate their dual transition to a digital and sustainable world, while creating tangible impact for enterprises and society. It is a responsible and diverse group of 340,000 team members in more than 50 countries. With its strong over 55-year heritage, Capgemini is trusted by its clients to unlock the value of technology to address the entire breadth of their business needs. It delivers end-to-end services and solutions leveraging strengths from strategy and design to engineering, all fueled by its market leading capabilities in AI, generative AI, cloud and data, combined with its deep industry expertise and partner ecosystem. The Group reported 2024 global revenues of €22.1 billion.</a:t>
            </a:r>
            <a:endParaRPr lang="en-US" sz="900" b="0" i="0">
              <a:solidFill>
                <a:schemeClr val="bg1"/>
              </a:solidFill>
              <a:effectLst/>
              <a:ea typeface="Calibri" panose="020F0502020204030204" pitchFamily="34" charset="0"/>
            </a:endParaRPr>
          </a:p>
        </p:txBody>
      </p:sp>
      <p:sp>
        <p:nvSpPr>
          <p:cNvPr id="3" name="Rectangle 2">
            <a:extLst>
              <a:ext uri="{FF2B5EF4-FFF2-40B4-BE49-F238E27FC236}">
                <a16:creationId xmlns:a16="http://schemas.microsoft.com/office/drawing/2014/main" id="{5E8FFDA5-F1AA-4529-1F3E-DDA11E9F5833}"/>
              </a:ext>
            </a:extLst>
          </p:cNvPr>
          <p:cNvSpPr/>
          <p:nvPr userDrawn="1"/>
        </p:nvSpPr>
        <p:spPr>
          <a:xfrm>
            <a:off x="550863" y="3325369"/>
            <a:ext cx="4345176" cy="810260"/>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0" i="0" u="none" strike="noStrike" kern="0" cap="none" spc="0" normalizeH="0" baseline="0" noProof="0">
                <a:ln>
                  <a:noFill/>
                </a:ln>
                <a:solidFill>
                  <a:schemeClr val="bg2"/>
                </a:solidFill>
                <a:effectLst/>
                <a:uLnTx/>
                <a:uFillTx/>
                <a:latin typeface="Ubuntu"/>
                <a:ea typeface="+mn-ea"/>
                <a:cs typeface="+mn-cs"/>
              </a:rPr>
              <a:t>Make it </a:t>
            </a:r>
            <a:r>
              <a:rPr kumimoji="0" lang="en-US" sz="1100" b="0" i="1" u="none" strike="noStrike" kern="0" cap="none" spc="0" normalizeH="0" baseline="0" noProof="0">
                <a:ln>
                  <a:noFill/>
                </a:ln>
                <a:solidFill>
                  <a:schemeClr val="accent1"/>
                </a:solidFill>
                <a:effectLst/>
                <a:uLnTx/>
                <a:uFillTx/>
                <a:latin typeface="Ubuntu"/>
                <a:ea typeface="+mn-ea"/>
                <a:cs typeface="+mn-cs"/>
              </a:rPr>
              <a:t>real</a:t>
            </a:r>
            <a:r>
              <a:rPr kumimoji="0" lang="en-US" sz="1100" b="0" i="0" u="none" strike="noStrike" kern="0" cap="none" spc="0" normalizeH="0" baseline="0" noProof="0">
                <a:ln>
                  <a:noFill/>
                </a:ln>
                <a:solidFill>
                  <a:schemeClr val="bg2"/>
                </a:solidFill>
                <a:effectLst/>
                <a:uLnTx/>
                <a:uFillTx/>
                <a:latin typeface="Ubuntu"/>
                <a:ea typeface="+mn-ea"/>
                <a:cs typeface="+mn-cs"/>
              </a:rPr>
              <a:t>.</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chemeClr val="bg2"/>
                </a:solidFill>
                <a:effectLst/>
                <a:uLnTx/>
                <a:uFillTx/>
                <a:latin typeface="Ubuntu"/>
                <a:ea typeface="+mn-ea"/>
                <a:cs typeface="+mn-cs"/>
              </a:rPr>
              <a:t>www.capgemini.com</a:t>
            </a:r>
          </a:p>
        </p:txBody>
      </p:sp>
      <p:sp>
        <p:nvSpPr>
          <p:cNvPr id="19" name="Rectangle 18">
            <a:extLst>
              <a:ext uri="{FF2B5EF4-FFF2-40B4-BE49-F238E27FC236}">
                <a16:creationId xmlns:a16="http://schemas.microsoft.com/office/drawing/2014/main" id="{C5330C35-E29D-8A90-AAB9-11AFDCEFCEAC}"/>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grpSp>
        <p:nvGrpSpPr>
          <p:cNvPr id="20" name="Group 19">
            <a:extLst>
              <a:ext uri="{FF2B5EF4-FFF2-40B4-BE49-F238E27FC236}">
                <a16:creationId xmlns:a16="http://schemas.microsoft.com/office/drawing/2014/main" id="{F27446DA-18CA-CEAF-20A9-164D7A251930}"/>
              </a:ext>
            </a:extLst>
          </p:cNvPr>
          <p:cNvGrpSpPr/>
          <p:nvPr userDrawn="1"/>
        </p:nvGrpSpPr>
        <p:grpSpPr>
          <a:xfrm>
            <a:off x="8904288" y="5569004"/>
            <a:ext cx="1951070" cy="335280"/>
            <a:chOff x="8904288" y="5569004"/>
            <a:chExt cx="1951070" cy="335280"/>
          </a:xfrm>
        </p:grpSpPr>
        <p:pic>
          <p:nvPicPr>
            <p:cNvPr id="21" name="Picture 20">
              <a:hlinkClick r:id="rId2"/>
              <a:extLst>
                <a:ext uri="{FF2B5EF4-FFF2-40B4-BE49-F238E27FC236}">
                  <a16:creationId xmlns:a16="http://schemas.microsoft.com/office/drawing/2014/main" id="{DB0B4B0F-31E2-3876-1BCD-C09BF438CCE0}"/>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5"/>
              <a:extLst>
                <a:ext uri="{FF2B5EF4-FFF2-40B4-BE49-F238E27FC236}">
                  <a16:creationId xmlns:a16="http://schemas.microsoft.com/office/drawing/2014/main" id="{9C096ADC-15A1-ED15-A4CF-A0BE778D3551}"/>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8"/>
              <a:extLst>
                <a:ext uri="{FF2B5EF4-FFF2-40B4-BE49-F238E27FC236}">
                  <a16:creationId xmlns:a16="http://schemas.microsoft.com/office/drawing/2014/main" id="{C64EBB1F-79F8-232F-A58B-20776C3D15AA}"/>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1"/>
              <a:extLst>
                <a:ext uri="{FF2B5EF4-FFF2-40B4-BE49-F238E27FC236}">
                  <a16:creationId xmlns:a16="http://schemas.microsoft.com/office/drawing/2014/main" id="{BA652FA2-F209-50F0-FABF-A83A52A795D0}"/>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6" name="Picture 25">
              <a:extLst>
                <a:ext uri="{FF2B5EF4-FFF2-40B4-BE49-F238E27FC236}">
                  <a16:creationId xmlns:a16="http://schemas.microsoft.com/office/drawing/2014/main" id="{E5BD50CE-7444-30DB-C87F-A7EA4BDDE462}"/>
                </a:ext>
              </a:extLst>
            </p:cNvPr>
            <p:cNvPicPr>
              <a:picLocks noChangeAspect="1"/>
            </p:cNvPicPr>
            <p:nvPr userDrawn="1"/>
          </p:nvPicPr>
          <p:blipFill rotWithShape="1">
            <a:blip r:embed="rId14" cstate="screen">
              <a:lum bright="70000" contrast="-70000"/>
              <a:extLst>
                <a:ext uri="{BEBA8EAE-BF5A-486C-A8C5-ECC9F3942E4B}">
                  <a14:imgProps xmlns:a14="http://schemas.microsoft.com/office/drawing/2010/main">
                    <a14:imgLayer r:embed="rId15">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4" name="Rectangle 3">
            <a:extLst>
              <a:ext uri="{FF2B5EF4-FFF2-40B4-BE49-F238E27FC236}">
                <a16:creationId xmlns:a16="http://schemas.microsoft.com/office/drawing/2014/main" id="{4A156AC9-F32B-55A8-6BFE-EEB622895484}"/>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Tree>
    <p:extLst>
      <p:ext uri="{BB962C8B-B14F-4D97-AF65-F5344CB8AC3E}">
        <p14:creationId xmlns:p14="http://schemas.microsoft.com/office/powerpoint/2010/main" val="2788758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E252B2-3439-4AF5-6254-1D7C603C2DAE}"/>
              </a:ext>
            </a:extLst>
          </p:cNvPr>
          <p:cNvPicPr>
            <a:picLocks noChangeAspect="1"/>
          </p:cNvPicPr>
          <p:nvPr userDrawn="1"/>
        </p:nvPicPr>
        <p:blipFill>
          <a:blip r:embed="rId2"/>
          <a:stretch>
            <a:fillRect/>
          </a:stretch>
        </p:blipFill>
        <p:spPr>
          <a:xfrm>
            <a:off x="381" y="0"/>
            <a:ext cx="12191238" cy="6858000"/>
          </a:xfrm>
          <a:prstGeom prst="rect">
            <a:avLst/>
          </a:prstGeom>
        </p:spPr>
      </p:pic>
      <p:sp>
        <p:nvSpPr>
          <p:cNvPr id="5" name="Title Placeholder 4">
            <a:extLst>
              <a:ext uri="{FF2B5EF4-FFF2-40B4-BE49-F238E27FC236}">
                <a16:creationId xmlns:a16="http://schemas.microsoft.com/office/drawing/2014/main" id="{BE487657-0883-7612-E021-FE58E865E605}"/>
              </a:ext>
            </a:extLst>
          </p:cNvPr>
          <p:cNvSpPr>
            <a:spLocks noGrp="1"/>
          </p:cNvSpPr>
          <p:nvPr>
            <p:ph type="title" hasCustomPrompt="1"/>
          </p:nvPr>
        </p:nvSpPr>
        <p:spPr>
          <a:xfrm>
            <a:off x="550863" y="549274"/>
            <a:ext cx="11090275" cy="1079526"/>
          </a:xfrm>
          <a:prstGeom prst="rect">
            <a:avLst/>
          </a:prstGeom>
        </p:spPr>
        <p:txBody>
          <a:bodyPr vert="horz" lIns="0" tIns="0" rIns="0" bIns="180000" rtlCol="0" anchor="t" anchorCtr="0">
            <a:noAutofit/>
          </a:bodyPr>
          <a:lstStyle>
            <a:lvl1pPr>
              <a:defRPr sz="2400"/>
            </a:lvl1pPr>
          </a:lstStyle>
          <a:p>
            <a:r>
              <a:rPr lang="en-US"/>
              <a:t>Click to edit </a:t>
            </a:r>
            <a:br>
              <a:rPr lang="en-US"/>
            </a:br>
            <a:r>
              <a:rPr lang="en-US"/>
              <a:t>Master title style</a:t>
            </a:r>
            <a:endParaRPr lang="de-DE"/>
          </a:p>
        </p:txBody>
      </p:sp>
      <p:sp>
        <p:nvSpPr>
          <p:cNvPr id="4" name="Rectangle 3">
            <a:extLst>
              <a:ext uri="{FF2B5EF4-FFF2-40B4-BE49-F238E27FC236}">
                <a16:creationId xmlns:a16="http://schemas.microsoft.com/office/drawing/2014/main" id="{F796251E-DCB1-75DC-3808-82F68365B241}"/>
              </a:ext>
            </a:extLst>
          </p:cNvPr>
          <p:cNvSpPr/>
          <p:nvPr userDrawn="1"/>
        </p:nvSpPr>
        <p:spPr>
          <a:xfrm>
            <a:off x="-381" y="0"/>
            <a:ext cx="12192000" cy="6858000"/>
          </a:xfrm>
          <a:prstGeom prst="rect">
            <a:avLst/>
          </a:prstGeom>
          <a:gradFill>
            <a:gsLst>
              <a:gs pos="50000">
                <a:schemeClr val="tx2">
                  <a:lumMod val="50000"/>
                </a:schemeClr>
              </a:gs>
              <a:gs pos="0">
                <a:schemeClr val="tx2">
                  <a:lumMod val="50000"/>
                </a:schemeClr>
              </a:gs>
              <a:gs pos="0">
                <a:schemeClr val="tx1"/>
              </a:gs>
              <a:gs pos="100000">
                <a:schemeClr val="tx2">
                  <a:alpha val="0"/>
                </a:schemeClr>
              </a:gs>
            </a:gsLst>
            <a:lin ang="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pic>
        <p:nvPicPr>
          <p:cNvPr id="2" name="Picture 1">
            <a:extLst>
              <a:ext uri="{FF2B5EF4-FFF2-40B4-BE49-F238E27FC236}">
                <a16:creationId xmlns:a16="http://schemas.microsoft.com/office/drawing/2014/main" id="{31AFB8CB-BC41-9E24-9B99-DE76C736317F}"/>
              </a:ext>
            </a:extLst>
          </p:cNvPr>
          <p:cNvPicPr>
            <a:picLocks noChangeAspect="1"/>
          </p:cNvPicPr>
          <p:nvPr userDrawn="1"/>
        </p:nvPicPr>
        <p:blipFill>
          <a:blip r:embed="rId3"/>
          <a:stretch>
            <a:fillRect/>
          </a:stretch>
        </p:blipFill>
        <p:spPr>
          <a:xfrm>
            <a:off x="10595509" y="0"/>
            <a:ext cx="1237002" cy="696510"/>
          </a:xfrm>
          <a:prstGeom prst="rect">
            <a:avLst/>
          </a:prstGeom>
        </p:spPr>
      </p:pic>
    </p:spTree>
    <p:extLst>
      <p:ext uri="{BB962C8B-B14F-4D97-AF65-F5344CB8AC3E}">
        <p14:creationId xmlns:p14="http://schemas.microsoft.com/office/powerpoint/2010/main" val="1404086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1" y="0"/>
            <a:ext cx="789620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6874423"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GB"/>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7" name="Rectangle 6">
            <a:extLst>
              <a:ext uri="{FF2B5EF4-FFF2-40B4-BE49-F238E27FC236}">
                <a16:creationId xmlns:a16="http://schemas.microsoft.com/office/drawing/2014/main" id="{E44665D8-48B7-693E-C78C-5702804A03ED}"/>
              </a:ext>
            </a:extLst>
          </p:cNvPr>
          <p:cNvSpPr/>
          <p:nvPr userDrawn="1"/>
        </p:nvSpPr>
        <p:spPr>
          <a:xfrm rot="16200000">
            <a:off x="443403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a:solidFill>
                <a:schemeClr val="tx1"/>
              </a:solidFill>
            </a:endParaRPr>
          </a:p>
        </p:txBody>
      </p:sp>
      <p:grpSp>
        <p:nvGrpSpPr>
          <p:cNvPr id="3" name="Group 2">
            <a:extLst>
              <a:ext uri="{FF2B5EF4-FFF2-40B4-BE49-F238E27FC236}">
                <a16:creationId xmlns:a16="http://schemas.microsoft.com/office/drawing/2014/main" id="{F611C1BD-1A88-199C-70C4-E45D7FF7C455}"/>
              </a:ext>
            </a:extLst>
          </p:cNvPr>
          <p:cNvGrpSpPr>
            <a:grpSpLocks noChangeAspect="1"/>
          </p:cNvGrpSpPr>
          <p:nvPr userDrawn="1"/>
        </p:nvGrpSpPr>
        <p:grpSpPr>
          <a:xfrm>
            <a:off x="9912013" y="409248"/>
            <a:ext cx="1872000" cy="420870"/>
            <a:chOff x="5094083" y="5360390"/>
            <a:chExt cx="3039349" cy="683316"/>
          </a:xfrm>
          <a:solidFill>
            <a:schemeClr val="tx2"/>
          </a:solidFill>
        </p:grpSpPr>
        <p:sp>
          <p:nvSpPr>
            <p:cNvPr id="8" name="Freeform: Shape 4">
              <a:extLst>
                <a:ext uri="{FF2B5EF4-FFF2-40B4-BE49-F238E27FC236}">
                  <a16:creationId xmlns:a16="http://schemas.microsoft.com/office/drawing/2014/main" id="{801A824C-23FB-C5D9-84A3-4DC6E81A488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9" name="Freeform: Shape 5">
              <a:extLst>
                <a:ext uri="{FF2B5EF4-FFF2-40B4-BE49-F238E27FC236}">
                  <a16:creationId xmlns:a16="http://schemas.microsoft.com/office/drawing/2014/main" id="{4C85889A-E567-2657-C4FB-AB5CDDC99E95}"/>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1" name="Freeform: Shape 6">
              <a:extLst>
                <a:ext uri="{FF2B5EF4-FFF2-40B4-BE49-F238E27FC236}">
                  <a16:creationId xmlns:a16="http://schemas.microsoft.com/office/drawing/2014/main" id="{BA3A694E-ED19-979F-FDB1-B63784E1E868}"/>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12" name="Freeform: Shape 7">
              <a:extLst>
                <a:ext uri="{FF2B5EF4-FFF2-40B4-BE49-F238E27FC236}">
                  <a16:creationId xmlns:a16="http://schemas.microsoft.com/office/drawing/2014/main" id="{985097BC-9B93-C94F-CF7A-462B09C7F88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13" name="Freeform: Shape 8">
              <a:extLst>
                <a:ext uri="{FF2B5EF4-FFF2-40B4-BE49-F238E27FC236}">
                  <a16:creationId xmlns:a16="http://schemas.microsoft.com/office/drawing/2014/main" id="{3CEF84EF-1B03-4F83-C23B-A16DF3E525C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Tree>
    <p:extLst>
      <p:ext uri="{BB962C8B-B14F-4D97-AF65-F5344CB8AC3E}">
        <p14:creationId xmlns:p14="http://schemas.microsoft.com/office/powerpoint/2010/main" val="354062556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Only Dark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496738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4387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05512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1" y="0"/>
            <a:ext cx="789620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6874423"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GB"/>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7" name="Rectangle 6">
            <a:extLst>
              <a:ext uri="{FF2B5EF4-FFF2-40B4-BE49-F238E27FC236}">
                <a16:creationId xmlns:a16="http://schemas.microsoft.com/office/drawing/2014/main" id="{E44665D8-48B7-693E-C78C-5702804A03ED}"/>
              </a:ext>
            </a:extLst>
          </p:cNvPr>
          <p:cNvSpPr/>
          <p:nvPr userDrawn="1"/>
        </p:nvSpPr>
        <p:spPr>
          <a:xfrm rot="16200000">
            <a:off x="443403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a:solidFill>
                <a:schemeClr val="tx1"/>
              </a:solidFill>
            </a:endParaRPr>
          </a:p>
        </p:txBody>
      </p:sp>
      <p:grpSp>
        <p:nvGrpSpPr>
          <p:cNvPr id="3" name="Group 2">
            <a:extLst>
              <a:ext uri="{FF2B5EF4-FFF2-40B4-BE49-F238E27FC236}">
                <a16:creationId xmlns:a16="http://schemas.microsoft.com/office/drawing/2014/main" id="{F611C1BD-1A88-199C-70C4-E45D7FF7C455}"/>
              </a:ext>
            </a:extLst>
          </p:cNvPr>
          <p:cNvGrpSpPr>
            <a:grpSpLocks noChangeAspect="1"/>
          </p:cNvGrpSpPr>
          <p:nvPr userDrawn="1"/>
        </p:nvGrpSpPr>
        <p:grpSpPr>
          <a:xfrm>
            <a:off x="9912013" y="409248"/>
            <a:ext cx="1872000" cy="420870"/>
            <a:chOff x="5094083" y="5360390"/>
            <a:chExt cx="3039349" cy="683316"/>
          </a:xfrm>
          <a:solidFill>
            <a:schemeClr val="tx2"/>
          </a:solidFill>
        </p:grpSpPr>
        <p:sp>
          <p:nvSpPr>
            <p:cNvPr id="8" name="Freeform: Shape 4">
              <a:extLst>
                <a:ext uri="{FF2B5EF4-FFF2-40B4-BE49-F238E27FC236}">
                  <a16:creationId xmlns:a16="http://schemas.microsoft.com/office/drawing/2014/main" id="{801A824C-23FB-C5D9-84A3-4DC6E81A488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9" name="Freeform: Shape 5">
              <a:extLst>
                <a:ext uri="{FF2B5EF4-FFF2-40B4-BE49-F238E27FC236}">
                  <a16:creationId xmlns:a16="http://schemas.microsoft.com/office/drawing/2014/main" id="{4C85889A-E567-2657-C4FB-AB5CDDC99E95}"/>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1" name="Freeform: Shape 6">
              <a:extLst>
                <a:ext uri="{FF2B5EF4-FFF2-40B4-BE49-F238E27FC236}">
                  <a16:creationId xmlns:a16="http://schemas.microsoft.com/office/drawing/2014/main" id="{BA3A694E-ED19-979F-FDB1-B63784E1E868}"/>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12" name="Freeform: Shape 7">
              <a:extLst>
                <a:ext uri="{FF2B5EF4-FFF2-40B4-BE49-F238E27FC236}">
                  <a16:creationId xmlns:a16="http://schemas.microsoft.com/office/drawing/2014/main" id="{985097BC-9B93-C94F-CF7A-462B09C7F88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13" name="Freeform: Shape 8">
              <a:extLst>
                <a:ext uri="{FF2B5EF4-FFF2-40B4-BE49-F238E27FC236}">
                  <a16:creationId xmlns:a16="http://schemas.microsoft.com/office/drawing/2014/main" id="{3CEF84EF-1B03-4F83-C23B-A16DF3E525C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Tree>
    <p:extLst>
      <p:ext uri="{BB962C8B-B14F-4D97-AF65-F5344CB8AC3E}">
        <p14:creationId xmlns:p14="http://schemas.microsoft.com/office/powerpoint/2010/main" val="352483036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GB"/>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3" name="Graphic 2">
            <a:extLst>
              <a:ext uri="{FF2B5EF4-FFF2-40B4-BE49-F238E27FC236}">
                <a16:creationId xmlns:a16="http://schemas.microsoft.com/office/drawing/2014/main" id="{2A19DA16-6CC4-776D-55C6-2FAED9D5F05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73038649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pic>
        <p:nvPicPr>
          <p:cNvPr id="3" name="Graphic 2">
            <a:extLst>
              <a:ext uri="{FF2B5EF4-FFF2-40B4-BE49-F238E27FC236}">
                <a16:creationId xmlns:a16="http://schemas.microsoft.com/office/drawing/2014/main" id="{CBFC7316-9C67-E64B-8604-FDD4A41548A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30663" y="6167120"/>
            <a:ext cx="2789865" cy="435260"/>
          </a:xfrm>
          <a:prstGeom prst="rect">
            <a:avLst/>
          </a:prstGeom>
        </p:spPr>
      </p:pic>
    </p:spTree>
    <p:extLst>
      <p:ext uri="{BB962C8B-B14F-4D97-AF65-F5344CB8AC3E}">
        <p14:creationId xmlns:p14="http://schemas.microsoft.com/office/powerpoint/2010/main" val="398918437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GB"/>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GB"/>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GB"/>
              <a:t>Click to edit Master text styles</a:t>
            </a:r>
          </a:p>
        </p:txBody>
      </p:sp>
      <p:grpSp>
        <p:nvGrpSpPr>
          <p:cNvPr id="2" name="Group 2">
            <a:extLst>
              <a:ext uri="{FF2B5EF4-FFF2-40B4-BE49-F238E27FC236}">
                <a16:creationId xmlns:a16="http://schemas.microsoft.com/office/drawing/2014/main" id="{C2937AD9-01C8-F539-23C7-B686B43A442E}"/>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6" name="Freeform: Shape 4">
              <a:extLst>
                <a:ext uri="{FF2B5EF4-FFF2-40B4-BE49-F238E27FC236}">
                  <a16:creationId xmlns:a16="http://schemas.microsoft.com/office/drawing/2014/main" id="{6486325D-63B7-A48D-58A8-9A681B5A825C}"/>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7" name="Freeform: Shape 5">
              <a:extLst>
                <a:ext uri="{FF2B5EF4-FFF2-40B4-BE49-F238E27FC236}">
                  <a16:creationId xmlns:a16="http://schemas.microsoft.com/office/drawing/2014/main" id="{A476956E-A95E-18D5-7E82-60175CA96A95}"/>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8" name="Freeform: Shape 6">
              <a:extLst>
                <a:ext uri="{FF2B5EF4-FFF2-40B4-BE49-F238E27FC236}">
                  <a16:creationId xmlns:a16="http://schemas.microsoft.com/office/drawing/2014/main" id="{55C8F271-0453-5F43-98A5-2FE10BAE0975}"/>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9" name="Freeform: Shape 7">
              <a:extLst>
                <a:ext uri="{FF2B5EF4-FFF2-40B4-BE49-F238E27FC236}">
                  <a16:creationId xmlns:a16="http://schemas.microsoft.com/office/drawing/2014/main" id="{CE357841-1789-0C54-626A-E3EF091B3A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10" name="Freeform: Shape 8">
              <a:extLst>
                <a:ext uri="{FF2B5EF4-FFF2-40B4-BE49-F238E27FC236}">
                  <a16:creationId xmlns:a16="http://schemas.microsoft.com/office/drawing/2014/main" id="{60D17A46-3E4F-D98A-980C-020E82F8C39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Tree>
    <p:extLst>
      <p:ext uri="{BB962C8B-B14F-4D97-AF65-F5344CB8AC3E}">
        <p14:creationId xmlns:p14="http://schemas.microsoft.com/office/powerpoint/2010/main" val="359807633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GB"/>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GB"/>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GB"/>
              <a:t>Click to edit Master text styles</a:t>
            </a:r>
          </a:p>
        </p:txBody>
      </p:sp>
      <p:grpSp>
        <p:nvGrpSpPr>
          <p:cNvPr id="2" name="Group 2">
            <a:extLst>
              <a:ext uri="{FF2B5EF4-FFF2-40B4-BE49-F238E27FC236}">
                <a16:creationId xmlns:a16="http://schemas.microsoft.com/office/drawing/2014/main" id="{3BF306C7-E365-9CFD-C7BE-F07C4E2B070B}"/>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6" name="Freeform: Shape 4">
              <a:extLst>
                <a:ext uri="{FF2B5EF4-FFF2-40B4-BE49-F238E27FC236}">
                  <a16:creationId xmlns:a16="http://schemas.microsoft.com/office/drawing/2014/main" id="{A7637D83-EFC6-2AAB-F20D-B43F733AC84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7" name="Freeform: Shape 5">
              <a:extLst>
                <a:ext uri="{FF2B5EF4-FFF2-40B4-BE49-F238E27FC236}">
                  <a16:creationId xmlns:a16="http://schemas.microsoft.com/office/drawing/2014/main" id="{A3BA8CEA-D3E5-5F0C-B4D0-0B5B3DF49EF8}"/>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8" name="Freeform: Shape 6">
              <a:extLst>
                <a:ext uri="{FF2B5EF4-FFF2-40B4-BE49-F238E27FC236}">
                  <a16:creationId xmlns:a16="http://schemas.microsoft.com/office/drawing/2014/main" id="{7CEB6406-D6AC-06B4-AE66-00BE3D46CDC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9" name="Freeform: Shape 7">
              <a:extLst>
                <a:ext uri="{FF2B5EF4-FFF2-40B4-BE49-F238E27FC236}">
                  <a16:creationId xmlns:a16="http://schemas.microsoft.com/office/drawing/2014/main" id="{612590A5-1B1E-AF82-44B5-6F9225DD9B7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10" name="Freeform: Shape 8">
              <a:extLst>
                <a:ext uri="{FF2B5EF4-FFF2-40B4-BE49-F238E27FC236}">
                  <a16:creationId xmlns:a16="http://schemas.microsoft.com/office/drawing/2014/main" id="{AA638D2F-8B49-2784-DA73-2FD42B0D923D}"/>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Tree>
    <p:extLst>
      <p:ext uri="{BB962C8B-B14F-4D97-AF65-F5344CB8AC3E}">
        <p14:creationId xmlns:p14="http://schemas.microsoft.com/office/powerpoint/2010/main" val="323759494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1"/>
            <a:ext cx="412590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GB"/>
              <a:t>Click icon to add picture</a:t>
            </a:r>
            <a:endParaRPr lang="en-US"/>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GB"/>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8271616" y="3893182"/>
            <a:ext cx="3512397" cy="1123397"/>
          </a:xfrm>
          <a:prstGeom prst="rect">
            <a:avLst/>
          </a:prstGeom>
        </p:spPr>
        <p:txBody>
          <a:bodyPr anchor="b">
            <a:noAutofit/>
          </a:bodyPr>
          <a:lstStyle>
            <a:lvl1pPr>
              <a:defRPr sz="2000"/>
            </a:lvl1pPr>
          </a:lstStyle>
          <a:p>
            <a:pPr lvl="0"/>
            <a:r>
              <a:rPr lang="en-GB"/>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GB"/>
              <a:t>Click to edit Master text styles</a:t>
            </a:r>
          </a:p>
        </p:txBody>
      </p:sp>
      <p:sp>
        <p:nvSpPr>
          <p:cNvPr id="5" name="Rectangle 4">
            <a:extLst>
              <a:ext uri="{FF2B5EF4-FFF2-40B4-BE49-F238E27FC236}">
                <a16:creationId xmlns:a16="http://schemas.microsoft.com/office/drawing/2014/main" id="{5DA516AE-C35C-E1A0-6817-5E991F2C93DE}"/>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061C10B8-6F7C-1D1C-6F50-116289C9A24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8094017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0"/>
            <a:ext cx="4125900"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GB"/>
              <a:t>Click icon to add picture</a:t>
            </a:r>
            <a:endParaRPr lang="en-US"/>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3575720" y="549275"/>
            <a:ext cx="4036154" cy="3815829"/>
          </a:xfrm>
        </p:spPr>
        <p:txBody>
          <a:bodyPr anchor="b"/>
          <a:lstStyle>
            <a:lvl1pPr>
              <a:defRPr sz="6600">
                <a:solidFill>
                  <a:schemeClr val="bg1"/>
                </a:solidFill>
                <a:latin typeface="Ubuntu Light" panose="020B0304030602030204" pitchFamily="34" charset="0"/>
              </a:defRPr>
            </a:lvl1pPr>
          </a:lstStyle>
          <a:p>
            <a:r>
              <a:rPr lang="en-GB"/>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3647730" y="4725144"/>
            <a:ext cx="3964144" cy="316404"/>
          </a:xfrm>
          <a:prstGeom prst="rect">
            <a:avLst/>
          </a:prstGeom>
        </p:spPr>
        <p:txBody>
          <a:bodyPr anchor="b">
            <a:noAutofit/>
          </a:bodyPr>
          <a:lstStyle>
            <a:lvl1pPr>
              <a:defRPr sz="2000">
                <a:solidFill>
                  <a:schemeClr val="bg1"/>
                </a:solidFill>
              </a:defRPr>
            </a:lvl1pPr>
          </a:lstStyle>
          <a:p>
            <a:pPr lvl="0"/>
            <a:r>
              <a:rPr lang="en-GB"/>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GB"/>
              <a:t>Click to edit Master text styles</a:t>
            </a:r>
          </a:p>
        </p:txBody>
      </p:sp>
      <p:sp>
        <p:nvSpPr>
          <p:cNvPr id="2" name="Rectangle 1">
            <a:extLst>
              <a:ext uri="{FF2B5EF4-FFF2-40B4-BE49-F238E27FC236}">
                <a16:creationId xmlns:a16="http://schemas.microsoft.com/office/drawing/2014/main" id="{EF17987A-6621-70A2-A0CC-1368AC5F1C09}"/>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FA4BD79C-85AB-5D0B-4666-3571D3EA9AD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35518429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415815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GB"/>
              <a:t>Click icon to add picture</a:t>
            </a:r>
            <a:endParaRPr lang="en-US"/>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4338151" y="0"/>
            <a:ext cx="785384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4603354" y="1628775"/>
            <a:ext cx="7037784" cy="3589714"/>
          </a:xfrm>
        </p:spPr>
        <p:txBody>
          <a:bodyPr anchor="b"/>
          <a:lstStyle>
            <a:lvl1pPr>
              <a:defRPr sz="5400">
                <a:solidFill>
                  <a:schemeClr val="bg1"/>
                </a:solidFill>
              </a:defRPr>
            </a:lvl1pPr>
          </a:lstStyle>
          <a:p>
            <a:r>
              <a:rPr lang="en-GB"/>
              <a:t>Click to edit Master title style</a:t>
            </a:r>
            <a:endParaRPr lang="en-PL"/>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4" y="3893182"/>
            <a:ext cx="3531763" cy="1123397"/>
          </a:xfrm>
          <a:prstGeom prst="rect">
            <a:avLst/>
          </a:prstGeom>
        </p:spPr>
        <p:txBody>
          <a:bodyPr anchor="b">
            <a:noAutofit/>
          </a:bodyPr>
          <a:lstStyle>
            <a:lvl1pPr>
              <a:defRPr sz="2000"/>
            </a:lvl1pPr>
          </a:lstStyle>
          <a:p>
            <a:pPr lvl="0"/>
            <a:r>
              <a:rPr lang="en-GB"/>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4" y="5264061"/>
            <a:ext cx="3531763" cy="522985"/>
          </a:xfrm>
          <a:prstGeom prst="rect">
            <a:avLst/>
          </a:prstGeom>
        </p:spPr>
        <p:txBody>
          <a:bodyPr/>
          <a:lstStyle/>
          <a:p>
            <a:pPr lvl="0"/>
            <a:r>
              <a:rPr lang="en-GB"/>
              <a:t>Click to edit Master text styles</a:t>
            </a:r>
          </a:p>
        </p:txBody>
      </p:sp>
      <p:sp>
        <p:nvSpPr>
          <p:cNvPr id="2" name="Rectangle 1">
            <a:extLst>
              <a:ext uri="{FF2B5EF4-FFF2-40B4-BE49-F238E27FC236}">
                <a16:creationId xmlns:a16="http://schemas.microsoft.com/office/drawing/2014/main" id="{A50E877E-EEBB-7273-78E2-F54447F1CE42}"/>
              </a:ext>
            </a:extLst>
          </p:cNvPr>
          <p:cNvSpPr/>
          <p:nvPr userDrawn="1"/>
        </p:nvSpPr>
        <p:spPr>
          <a:xfrm rot="16200000">
            <a:off x="81915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6" name="Graphic 5">
            <a:extLst>
              <a:ext uri="{FF2B5EF4-FFF2-40B4-BE49-F238E27FC236}">
                <a16:creationId xmlns:a16="http://schemas.microsoft.com/office/drawing/2014/main" id="{0D28A092-7476-7801-2685-4A1D303398C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30663" y="6167120"/>
            <a:ext cx="2789865" cy="435260"/>
          </a:xfrm>
          <a:prstGeom prst="rect">
            <a:avLst/>
          </a:prstGeom>
        </p:spPr>
      </p:pic>
    </p:spTree>
    <p:extLst>
      <p:ext uri="{BB962C8B-B14F-4D97-AF65-F5344CB8AC3E}">
        <p14:creationId xmlns:p14="http://schemas.microsoft.com/office/powerpoint/2010/main" val="90344170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endParaRPr lang="en-US"/>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Tree>
    <p:extLst>
      <p:ext uri="{BB962C8B-B14F-4D97-AF65-F5344CB8AC3E}">
        <p14:creationId xmlns:p14="http://schemas.microsoft.com/office/powerpoint/2010/main" val="14976890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endParaRPr lang="en-US"/>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37085031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endParaRPr lang="en-US"/>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41378123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endParaRPr lang="en-US"/>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5" name="Logo Placeholder 7">
            <a:extLst>
              <a:ext uri="{FF2B5EF4-FFF2-40B4-BE49-F238E27FC236}">
                <a16:creationId xmlns:a16="http://schemas.microsoft.com/office/drawing/2014/main" id="{FE252D64-6A62-1A21-7C09-64E8E7FB22EC}"/>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40419192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endParaRPr lang="en-US"/>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39414731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endParaRPr lang="en-US"/>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solidFill>
                  <a:schemeClr val="tx1"/>
                </a:solidFill>
              </a:defRPr>
            </a:lvl1pPr>
          </a:lstStyle>
          <a:p>
            <a:pPr lvl="0">
              <a:spcBef>
                <a:spcPts val="0"/>
              </a:spcBef>
            </a:pPr>
            <a:r>
              <a:rPr lang="en-US"/>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0850" y="3339001"/>
            <a:ext cx="6857998"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8725238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endParaRPr lang="en-US"/>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8741268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GB"/>
              <a:t>Click to edit Master title style</a:t>
            </a:r>
            <a:endParaRPr lang="en-US"/>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endParaRPr lang="en-US"/>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7118377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endParaRPr lang="en-US"/>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Chapter Placeholder 2">
            <a:extLst>
              <a:ext uri="{FF2B5EF4-FFF2-40B4-BE49-F238E27FC236}">
                <a16:creationId xmlns:a16="http://schemas.microsoft.com/office/drawing/2014/main" id="{23CF6BB0-AE4E-8C5D-62B2-A2216E42A57E}"/>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 name="Title Placeholder 4">
            <a:extLst>
              <a:ext uri="{FF2B5EF4-FFF2-40B4-BE49-F238E27FC236}">
                <a16:creationId xmlns:a16="http://schemas.microsoft.com/office/drawing/2014/main" id="{8616DD99-E5DF-50D2-33AF-495DCBE920C3}"/>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Tree>
    <p:extLst>
      <p:ext uri="{BB962C8B-B14F-4D97-AF65-F5344CB8AC3E}">
        <p14:creationId xmlns:p14="http://schemas.microsoft.com/office/powerpoint/2010/main" val="22162019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GB"/>
              <a:t>Click to edit Master title style</a:t>
            </a:r>
            <a:endParaRPr lang="en-US"/>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9659172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54880E18-9261-E63B-CB03-844BADE7AE64}"/>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8" name="Title 4">
            <a:extLst>
              <a:ext uri="{FF2B5EF4-FFF2-40B4-BE49-F238E27FC236}">
                <a16:creationId xmlns:a16="http://schemas.microsoft.com/office/drawing/2014/main" id="{019E92FE-5A18-711B-5160-9AA65A58DEE3}"/>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29DC02C4-69E4-1466-4B58-A9AE3DE4EE00}"/>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Chapter Placeholder 2">
            <a:extLst>
              <a:ext uri="{FF2B5EF4-FFF2-40B4-BE49-F238E27FC236}">
                <a16:creationId xmlns:a16="http://schemas.microsoft.com/office/drawing/2014/main" id="{87F47C03-95E0-E83E-1625-0EE59F600C9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4822064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endParaRPr lang="en-US"/>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GB"/>
              <a:t>Click to edit Master title style</a:t>
            </a:r>
            <a:endParaRPr lang="en-US"/>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GB"/>
              <a:t>Click to edit Master text styles</a:t>
            </a:r>
          </a:p>
        </p:txBody>
      </p:sp>
    </p:spTree>
    <p:extLst>
      <p:ext uri="{BB962C8B-B14F-4D97-AF65-F5344CB8AC3E}">
        <p14:creationId xmlns:p14="http://schemas.microsoft.com/office/powerpoint/2010/main" val="13230879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5A263D2-B0DE-B389-B995-EAF85F8F77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8" name="Title 4">
            <a:extLst>
              <a:ext uri="{FF2B5EF4-FFF2-40B4-BE49-F238E27FC236}">
                <a16:creationId xmlns:a16="http://schemas.microsoft.com/office/drawing/2014/main" id="{E424A66F-C6AA-DB93-F283-9B8E0095FE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hapter Placeholder 2">
            <a:extLst>
              <a:ext uri="{FF2B5EF4-FFF2-40B4-BE49-F238E27FC236}">
                <a16:creationId xmlns:a16="http://schemas.microsoft.com/office/drawing/2014/main" id="{4B67ACC0-0B24-726E-19DC-02446FF83EB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694036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4423672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22891060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GB"/>
              <a:t>Click to edit Master title style</a:t>
            </a:r>
            <a:endParaRPr lang="en-US"/>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37495553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32428859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1492077244"/>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1889395581"/>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2217136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23833345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GB"/>
              <a:t>Click to edit Master title style</a:t>
            </a:r>
            <a:endParaRPr lang="en-US"/>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6173853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62412714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GB"/>
              <a:t>Click to edit Master title style</a:t>
            </a:r>
            <a:endParaRPr lang="en-US"/>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34357464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13794170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GB"/>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GB"/>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GB"/>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200320694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5074508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GB"/>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GB"/>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703495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GB"/>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53761214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442829218"/>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786164636"/>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Logo Placeholder 7">
            <a:extLst>
              <a:ext uri="{FF2B5EF4-FFF2-40B4-BE49-F238E27FC236}">
                <a16:creationId xmlns:a16="http://schemas.microsoft.com/office/drawing/2014/main" id="{1BF34CC2-BA8F-56D1-B8FC-DA2C82ED6951}"/>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7259670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447881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GB"/>
              <a:t>Click to edit Master title style</a:t>
            </a:r>
            <a:endParaRPr lang="en-US"/>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95546111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9488101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GB"/>
              <a:t>Click to edit Master title style</a:t>
            </a:r>
            <a:endParaRPr lang="en-US"/>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4209932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425355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GB"/>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GB"/>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endParaRPr lang="en-US"/>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37191491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GB"/>
              <a:t>Click to edit Master title style</a:t>
            </a:r>
            <a:endParaRPr lang="en-US"/>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GB"/>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endParaRPr lang="en-US"/>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46880845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solidFill>
                  <a:schemeClr val="bg1"/>
                </a:solidFill>
                <a:effectLst>
                  <a:outerShdw blurRad="1016000" dir="5400000" algn="ctr" rotWithShape="0">
                    <a:schemeClr val="tx1">
                      <a:alpha val="49641"/>
                    </a:schemeClr>
                  </a:outerShdw>
                </a:effectLst>
              </a:defRPr>
            </a:lvl1pPr>
          </a:lstStyle>
          <a:p>
            <a:r>
              <a:rPr lang="en-GB"/>
              <a:t>Click to edit Master title style</a:t>
            </a:r>
            <a:endParaRPr lang="en-US"/>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solidFill>
                  <a:schemeClr val="bg1"/>
                </a:solidFill>
              </a:defRPr>
            </a:lvl1pPr>
            <a:lvl2pPr>
              <a:defRPr sz="2000"/>
            </a:lvl2pPr>
            <a:lvl3pPr>
              <a:defRPr sz="2000"/>
            </a:lvl3pPr>
            <a:lvl4pPr>
              <a:defRPr sz="2000"/>
            </a:lvl4pPr>
            <a:lvl5pPr>
              <a:defRPr sz="2000"/>
            </a:lvl5pPr>
          </a:lstStyle>
          <a:p>
            <a:pPr lvl="0"/>
            <a:r>
              <a:rPr lang="en-GB"/>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endParaRPr lang="en-US"/>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A4DB5804-8112-A3BF-840A-7050226F2A5C}"/>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45721508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p:spPr>
        <p:txBody>
          <a:bodyPr anchor="t">
            <a:noAutofit/>
          </a:bodyPr>
          <a:lstStyle>
            <a:lvl1pPr>
              <a:defRPr sz="4800"/>
            </a:lvl1pPr>
          </a:lstStyle>
          <a:p>
            <a:r>
              <a:rPr lang="en-GB"/>
              <a:t>Click to edit Master title style</a:t>
            </a:r>
            <a:endParaRPr lang="en-US"/>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endParaRPr lang="en-US"/>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74868890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p:spPr>
        <p:txBody>
          <a:bodyPr anchor="t">
            <a:noAutofit/>
          </a:bodyPr>
          <a:lstStyle>
            <a:lvl1pPr>
              <a:defRPr sz="4800"/>
            </a:lvl1pPr>
          </a:lstStyle>
          <a:p>
            <a:r>
              <a:rPr lang="en-GB"/>
              <a:t>Click to edit Master title style</a:t>
            </a:r>
            <a:endParaRPr lang="en-US"/>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endParaRPr lang="en-US"/>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5459D9FD-10B1-F1DE-30EA-A0D3AFDA68E8}"/>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56206015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lvl1pPr>
          </a:lstStyle>
          <a:p>
            <a:r>
              <a:rPr lang="en-GB"/>
              <a:t>Click to edit Master title style</a:t>
            </a:r>
            <a:endParaRPr lang="en-US"/>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GB"/>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endParaRPr lang="en-US"/>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60048034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solidFill>
                  <a:schemeClr val="bg1"/>
                </a:solidFill>
              </a:defRPr>
            </a:lvl1pPr>
          </a:lstStyle>
          <a:p>
            <a:r>
              <a:rPr lang="en-GB"/>
              <a:t>Click to edit Master title style</a:t>
            </a:r>
            <a:endParaRPr lang="en-US"/>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solidFill>
                  <a:schemeClr val="bg1"/>
                </a:solidFill>
              </a:defRPr>
            </a:lvl1pPr>
            <a:lvl2pPr>
              <a:defRPr sz="3200"/>
            </a:lvl2pPr>
            <a:lvl3pPr>
              <a:defRPr sz="3200"/>
            </a:lvl3pPr>
            <a:lvl4pPr>
              <a:defRPr sz="3200"/>
            </a:lvl4pPr>
            <a:lvl5pPr>
              <a:defRPr sz="3200"/>
            </a:lvl5pPr>
          </a:lstStyle>
          <a:p>
            <a:pPr lvl="0"/>
            <a:r>
              <a:rPr lang="en-GB"/>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endParaRPr lang="en-US"/>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ED7570D-FB24-0E99-F979-503094A97154}"/>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16732803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p:spPr>
        <p:txBody>
          <a:bodyPr anchor="b">
            <a:noAutofit/>
          </a:bodyPr>
          <a:lstStyle>
            <a:lvl1pPr algn="r">
              <a:defRPr sz="4800"/>
            </a:lvl1pPr>
          </a:lstStyle>
          <a:p>
            <a:r>
              <a:rPr lang="en-GB"/>
              <a:t>Click to edit Master title style</a:t>
            </a:r>
            <a:endParaRPr lang="en-US"/>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endParaRPr lang="en-US"/>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9100931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p:spPr>
        <p:txBody>
          <a:bodyPr anchor="b">
            <a:noAutofit/>
          </a:bodyPr>
          <a:lstStyle>
            <a:lvl1pPr algn="r">
              <a:defRPr sz="4800">
                <a:solidFill>
                  <a:schemeClr val="bg1"/>
                </a:solidFill>
              </a:defRPr>
            </a:lvl1pPr>
          </a:lstStyle>
          <a:p>
            <a:r>
              <a:rPr lang="en-GB"/>
              <a:t>Click to edit Master title style</a:t>
            </a:r>
            <a:endParaRPr lang="en-US"/>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endParaRPr lang="en-US"/>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84DB15FA-DBE5-94F0-C763-DAB527467EF9}"/>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86236586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tx2"/>
              </a:solidFill>
              <a:latin typeface="Ubuntu" panose="020B0504030602030204" pitchFamily="34" charset="0"/>
            </a:endParaRPr>
          </a:p>
        </p:txBody>
      </p:sp>
      <p:grpSp>
        <p:nvGrpSpPr>
          <p:cNvPr id="3" name="Group 2">
            <a:extLst>
              <a:ext uri="{FF2B5EF4-FFF2-40B4-BE49-F238E27FC236}">
                <a16:creationId xmlns:a16="http://schemas.microsoft.com/office/drawing/2014/main" id="{032EA5D1-01BC-8547-E583-F4461E337B07}"/>
              </a:ext>
            </a:extLst>
          </p:cNvPr>
          <p:cNvGrpSpPr/>
          <p:nvPr userDrawn="1"/>
        </p:nvGrpSpPr>
        <p:grpSpPr>
          <a:xfrm>
            <a:off x="8904288" y="5569004"/>
            <a:ext cx="1951070" cy="335280"/>
            <a:chOff x="8904288" y="5569004"/>
            <a:chExt cx="1951070" cy="335280"/>
          </a:xfrm>
        </p:grpSpPr>
        <p:pic>
          <p:nvPicPr>
            <p:cNvPr id="4" name="Picture 3">
              <a:hlinkClick r:id="rId6"/>
              <a:extLst>
                <a:ext uri="{FF2B5EF4-FFF2-40B4-BE49-F238E27FC236}">
                  <a16:creationId xmlns:a16="http://schemas.microsoft.com/office/drawing/2014/main" id="{C1B41439-3F63-921A-4BD5-954D4B0AE65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5" name="Picture 4">
              <a:hlinkClick r:id="rId8"/>
              <a:extLst>
                <a:ext uri="{FF2B5EF4-FFF2-40B4-BE49-F238E27FC236}">
                  <a16:creationId xmlns:a16="http://schemas.microsoft.com/office/drawing/2014/main" id="{37B0DA3B-A3DD-C023-D858-9A326B5F72BD}"/>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6" name="Picture 5">
              <a:hlinkClick r:id="rId10"/>
              <a:extLst>
                <a:ext uri="{FF2B5EF4-FFF2-40B4-BE49-F238E27FC236}">
                  <a16:creationId xmlns:a16="http://schemas.microsoft.com/office/drawing/2014/main" id="{3394EDB2-3A11-9E1B-C773-9456BC7E3880}"/>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11" name="Picture 10">
              <a:hlinkClick r:id="rId12"/>
              <a:extLst>
                <a:ext uri="{FF2B5EF4-FFF2-40B4-BE49-F238E27FC236}">
                  <a16:creationId xmlns:a16="http://schemas.microsoft.com/office/drawing/2014/main" id="{3C9E59E1-109A-2B7A-17AB-C8C07EDBA3F4}"/>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21" name="Picture 20">
              <a:hlinkClick r:id="rId14"/>
              <a:extLst>
                <a:ext uri="{FF2B5EF4-FFF2-40B4-BE49-F238E27FC236}">
                  <a16:creationId xmlns:a16="http://schemas.microsoft.com/office/drawing/2014/main" id="{9C4FF414-462F-3E96-E9B0-58F7C38DE8F7}"/>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9" name="Rectangle 18">
            <a:extLst>
              <a:ext uri="{FF2B5EF4-FFF2-40B4-BE49-F238E27FC236}">
                <a16:creationId xmlns:a16="http://schemas.microsoft.com/office/drawing/2014/main" id="{AB8926FF-D001-F0F8-2F91-96975E5F641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
        <p:nvSpPr>
          <p:cNvPr id="13" name="Rectangle 12">
            <a:extLst>
              <a:ext uri="{FF2B5EF4-FFF2-40B4-BE49-F238E27FC236}">
                <a16:creationId xmlns:a16="http://schemas.microsoft.com/office/drawing/2014/main" id="{E5BDE45B-51C9-F8A8-E3C2-BF55D97EF7B1}"/>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 Invent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As the digital innovation, design and transformation brand of the Capgemini Group, at Capgemini Invent we enable </a:t>
            </a:r>
            <a:r>
              <a:rPr lang="en-US" sz="900" err="1">
                <a:solidFill>
                  <a:schemeClr val="tx1"/>
                </a:solidFill>
              </a:rPr>
              <a:t>CxOs</a:t>
            </a:r>
            <a:r>
              <a:rPr lang="en-US" sz="900">
                <a:solidFill>
                  <a:schemeClr val="tx1"/>
                </a:solidFill>
              </a:rPr>
              <a:t> to envision and shape what’s next for businesses. Located in over 40 studios and more than 70 offices around the world, we are a 13,500 strong team of strategists, data scientists, product and experience designers, brand experts and technologists who develop new digital services, products, experiences and business models for sustainable growth.</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14" name="Rectangle 13">
            <a:extLst>
              <a:ext uri="{FF2B5EF4-FFF2-40B4-BE49-F238E27FC236}">
                <a16:creationId xmlns:a16="http://schemas.microsoft.com/office/drawing/2014/main" id="{21056E12-2576-A1B8-2397-0CDA09A3BC45}"/>
              </a:ext>
            </a:extLst>
          </p:cNvPr>
          <p:cNvSpPr/>
          <p:nvPr userDrawn="1"/>
        </p:nvSpPr>
        <p:spPr>
          <a:xfrm>
            <a:off x="550863" y="494116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pic>
        <p:nvPicPr>
          <p:cNvPr id="15" name="Graphic 14">
            <a:extLst>
              <a:ext uri="{FF2B5EF4-FFF2-40B4-BE49-F238E27FC236}">
                <a16:creationId xmlns:a16="http://schemas.microsoft.com/office/drawing/2014/main" id="{9C61669C-54D8-9376-2A98-AE877CE28BE0}"/>
              </a:ext>
            </a:extLst>
          </p:cNvPr>
          <p:cNvPicPr>
            <a:picLocks noChangeAspect="1"/>
          </p:cNvPicPr>
          <p:nvPr userDrawn="1"/>
        </p:nvPicPr>
        <p:blipFill>
          <a:blip>
            <a:extLst>
              <a:ext uri="{96DAC541-7B7A-43D3-8B79-37D633B846F1}">
                <asvg:svgBlip xmlns:asvg="http://schemas.microsoft.com/office/drawing/2016/SVG/main" r:embed="rId16"/>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401436730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1" name="Rectangle 10">
            <a:extLst>
              <a:ext uri="{FF2B5EF4-FFF2-40B4-BE49-F238E27FC236}">
                <a16:creationId xmlns:a16="http://schemas.microsoft.com/office/drawing/2014/main" id="{AC362FC9-56A2-7230-5ECD-9177CC4AC5E6}"/>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 Invent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As the digital innovation, design and transformation brand of the Capgemini Group, at Capgemini Invent we enable </a:t>
            </a:r>
            <a:r>
              <a:rPr lang="en-US" sz="900" err="1">
                <a:solidFill>
                  <a:schemeClr val="tx1"/>
                </a:solidFill>
              </a:rPr>
              <a:t>CxOs</a:t>
            </a:r>
            <a:r>
              <a:rPr lang="en-US" sz="900">
                <a:solidFill>
                  <a:schemeClr val="tx1"/>
                </a:solidFill>
              </a:rPr>
              <a:t> to envision and shape what’s next for businesses. Located in over 40 studios and more than 70 offices around the world, we are a 13,500 strong team of strategists, data scientists, product and experience designers, brand experts and technologists who develop new digital services, products, experiences and business models for sustainable growth.</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12" name="Rectangle 11">
            <a:extLst>
              <a:ext uri="{FF2B5EF4-FFF2-40B4-BE49-F238E27FC236}">
                <a16:creationId xmlns:a16="http://schemas.microsoft.com/office/drawing/2014/main" id="{36AB272F-3696-58D8-7F41-09DF5AFFA81F}"/>
              </a:ext>
            </a:extLst>
          </p:cNvPr>
          <p:cNvSpPr/>
          <p:nvPr userDrawn="1"/>
        </p:nvSpPr>
        <p:spPr>
          <a:xfrm>
            <a:off x="550863" y="494116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pic>
        <p:nvPicPr>
          <p:cNvPr id="13" name="Graphic 12">
            <a:extLst>
              <a:ext uri="{FF2B5EF4-FFF2-40B4-BE49-F238E27FC236}">
                <a16:creationId xmlns:a16="http://schemas.microsoft.com/office/drawing/2014/main" id="{9A5221BE-51D9-3D0A-5299-7AA00CCCDC40}"/>
              </a:ext>
            </a:extLst>
          </p:cNvPr>
          <p:cNvPicPr>
            <a:picLocks noChangeAspect="1"/>
          </p:cNvPicPr>
          <p:nvPr userDrawn="1"/>
        </p:nvPicPr>
        <p:blipFill>
          <a:blip>
            <a:extLst>
              <a:ext uri="{96DAC541-7B7A-43D3-8B79-37D633B846F1}">
                <asvg:svgBlip xmlns:asvg="http://schemas.microsoft.com/office/drawing/2016/SVG/main" r:embed="rId12"/>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344557761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Rectangle 1">
            <a:extLst>
              <a:ext uri="{FF2B5EF4-FFF2-40B4-BE49-F238E27FC236}">
                <a16:creationId xmlns:a16="http://schemas.microsoft.com/office/drawing/2014/main" id="{BFA81E17-F832-B5EB-3D5D-25AE712EB4A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grpSp>
        <p:nvGrpSpPr>
          <p:cNvPr id="3" name="Group 2">
            <a:extLst>
              <a:ext uri="{FF2B5EF4-FFF2-40B4-BE49-F238E27FC236}">
                <a16:creationId xmlns:a16="http://schemas.microsoft.com/office/drawing/2014/main" id="{669505EE-EE9D-4D5D-EA5E-0A59B1BB4644}"/>
              </a:ext>
            </a:extLst>
          </p:cNvPr>
          <p:cNvGrpSpPr>
            <a:grpSpLocks noChangeAspect="1"/>
          </p:cNvGrpSpPr>
          <p:nvPr userDrawn="1"/>
        </p:nvGrpSpPr>
        <p:grpSpPr>
          <a:xfrm>
            <a:off x="479376" y="6083147"/>
            <a:ext cx="1872000" cy="420870"/>
            <a:chOff x="5094083" y="5360390"/>
            <a:chExt cx="3039349" cy="683316"/>
          </a:xfrm>
          <a:solidFill>
            <a:schemeClr val="tx2"/>
          </a:solidFill>
        </p:grpSpPr>
        <p:sp>
          <p:nvSpPr>
            <p:cNvPr id="5" name="Freeform: Shape 4">
              <a:extLst>
                <a:ext uri="{FF2B5EF4-FFF2-40B4-BE49-F238E27FC236}">
                  <a16:creationId xmlns:a16="http://schemas.microsoft.com/office/drawing/2014/main" id="{3A732FFA-13CD-1E00-0441-113BF1F329B6}"/>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6" name="Freeform: Shape 5">
              <a:extLst>
                <a:ext uri="{FF2B5EF4-FFF2-40B4-BE49-F238E27FC236}">
                  <a16:creationId xmlns:a16="http://schemas.microsoft.com/office/drawing/2014/main" id="{B5AF827D-9200-7787-EE6C-6043C8E5D160}"/>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9" name="Freeform: Shape 6">
              <a:extLst>
                <a:ext uri="{FF2B5EF4-FFF2-40B4-BE49-F238E27FC236}">
                  <a16:creationId xmlns:a16="http://schemas.microsoft.com/office/drawing/2014/main" id="{4F6E0CDB-0C15-5CFA-ABB7-04422F631885}"/>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10" name="Freeform: Shape 7">
              <a:extLst>
                <a:ext uri="{FF2B5EF4-FFF2-40B4-BE49-F238E27FC236}">
                  <a16:creationId xmlns:a16="http://schemas.microsoft.com/office/drawing/2014/main" id="{6EDACFAC-5A1B-7AE4-B54F-430181B4CD8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19" name="Freeform: Shape 8">
              <a:extLst>
                <a:ext uri="{FF2B5EF4-FFF2-40B4-BE49-F238E27FC236}">
                  <a16:creationId xmlns:a16="http://schemas.microsoft.com/office/drawing/2014/main" id="{D01F2F00-A0DD-2F3E-2053-D0DC33A2E2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6" name="Rectangle 25">
            <a:extLst>
              <a:ext uri="{FF2B5EF4-FFF2-40B4-BE49-F238E27FC236}">
                <a16:creationId xmlns:a16="http://schemas.microsoft.com/office/drawing/2014/main" id="{76CC2719-C760-64D7-D362-96B29B016806}"/>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27" name="Rectangle 26">
            <a:extLst>
              <a:ext uri="{FF2B5EF4-FFF2-40B4-BE49-F238E27FC236}">
                <a16:creationId xmlns:a16="http://schemas.microsoft.com/office/drawing/2014/main" id="{94F564BC-7B11-59C0-E63A-8EA1427E09EC}"/>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r>
              <a:rPr lang="en-US" sz="900">
                <a:solidFill>
                  <a:schemeClr val="bg1"/>
                </a:solidFill>
              </a:rPr>
              <a:t>.</a:t>
            </a:r>
          </a:p>
        </p:txBody>
      </p:sp>
      <p:sp>
        <p:nvSpPr>
          <p:cNvPr id="30" name="TextBox 29">
            <a:extLst>
              <a:ext uri="{FF2B5EF4-FFF2-40B4-BE49-F238E27FC236}">
                <a16:creationId xmlns:a16="http://schemas.microsoft.com/office/drawing/2014/main" id="{ABF84183-A385-D678-A412-02BD3E9F1A1E}"/>
              </a:ext>
            </a:extLst>
          </p:cNvPr>
          <p:cNvSpPr txBox="1"/>
          <p:nvPr userDrawn="1"/>
        </p:nvSpPr>
        <p:spPr>
          <a:xfrm>
            <a:off x="479376" y="3521293"/>
            <a:ext cx="6097136" cy="254429"/>
          </a:xfrm>
          <a:prstGeom prst="rect">
            <a:avLst/>
          </a:prstGeom>
          <a:noFill/>
        </p:spPr>
        <p:txBody>
          <a:bodyPr wrap="square">
            <a:spAutoFit/>
          </a:bodyPr>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spTree>
    <p:extLst>
      <p:ext uri="{BB962C8B-B14F-4D97-AF65-F5344CB8AC3E}">
        <p14:creationId xmlns:p14="http://schemas.microsoft.com/office/powerpoint/2010/main" val="247770169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Title and Subtitl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wrap="square">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DA3D6CCA-5023-D91C-5084-3ED466DC800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6270577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Agenda">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860710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Title Only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85359238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userDrawn="1">
  <p:cSld name="12_Title Subtitle">
    <p:bg>
      <p:bgPr>
        <a:solidFill>
          <a:srgbClr val="16161E"/>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BDB6DE3-65A6-49CF-814E-0A2A50814634}"/>
              </a:ext>
            </a:extLst>
          </p:cNvPr>
          <p:cNvSpPr>
            <a:spLocks noGrp="1"/>
          </p:cNvSpPr>
          <p:nvPr>
            <p:ph type="sldNum" sz="quarter" idx="14"/>
          </p:nvPr>
        </p:nvSpPr>
        <p:spPr/>
        <p:txBody>
          <a:bodyPr/>
          <a:lstStyle>
            <a:lvl1pPr algn="r">
              <a:defRPr/>
            </a:lvl1pPr>
          </a:lstStyle>
          <a:p>
            <a:fld id="{5D9A5160-6218-4E5A-B9E6-B93E3DAE377C}" type="slidenum">
              <a:rPr lang="en-US" smtClean="0"/>
              <a:pPr/>
              <a:t>‹#›</a:t>
            </a:fld>
            <a:endParaRPr lang="en-US"/>
          </a:p>
        </p:txBody>
      </p:sp>
      <p:sp>
        <p:nvSpPr>
          <p:cNvPr id="5" name="Title 4">
            <a:extLst>
              <a:ext uri="{FF2B5EF4-FFF2-40B4-BE49-F238E27FC236}">
                <a16:creationId xmlns:a16="http://schemas.microsoft.com/office/drawing/2014/main" id="{0BA091BB-1771-4A6F-B93C-43E4798B4251}"/>
              </a:ext>
            </a:extLst>
          </p:cNvPr>
          <p:cNvSpPr>
            <a:spLocks noGrp="1"/>
          </p:cNvSpPr>
          <p:nvPr>
            <p:ph type="title"/>
          </p:nvPr>
        </p:nvSpPr>
        <p:spPr/>
        <p:txBody>
          <a:bodyPr/>
          <a:lstStyle>
            <a:lvl1pPr>
              <a:defRPr sz="2400">
                <a:solidFill>
                  <a:schemeClr val="bg1"/>
                </a:solidFill>
              </a:defRPr>
            </a:lvl1pPr>
          </a:lstStyle>
          <a:p>
            <a:r>
              <a:rPr lang="en-US"/>
              <a:t>Click to edit Master title style</a:t>
            </a:r>
            <a:endParaRPr lang="de-DE"/>
          </a:p>
        </p:txBody>
      </p:sp>
      <p:grpSp>
        <p:nvGrpSpPr>
          <p:cNvPr id="2" name="Group 37">
            <a:extLst>
              <a:ext uri="{FF2B5EF4-FFF2-40B4-BE49-F238E27FC236}">
                <a16:creationId xmlns:a16="http://schemas.microsoft.com/office/drawing/2014/main" id="{7C393CD2-A4FF-1BA2-D541-A1DBE18AC924}"/>
              </a:ext>
            </a:extLst>
          </p:cNvPr>
          <p:cNvGrpSpPr/>
          <p:nvPr userDrawn="1"/>
        </p:nvGrpSpPr>
        <p:grpSpPr>
          <a:xfrm>
            <a:off x="11501102" y="171573"/>
            <a:ext cx="419436" cy="388087"/>
            <a:chOff x="5481638" y="2859088"/>
            <a:chExt cx="1231900" cy="1139825"/>
          </a:xfrm>
          <a:solidFill>
            <a:schemeClr val="bg1"/>
          </a:solidFill>
        </p:grpSpPr>
        <p:sp>
          <p:nvSpPr>
            <p:cNvPr id="7" name="Freeform 320">
              <a:extLst>
                <a:ext uri="{FF2B5EF4-FFF2-40B4-BE49-F238E27FC236}">
                  <a16:creationId xmlns:a16="http://schemas.microsoft.com/office/drawing/2014/main" id="{9AA73C2D-CA9E-593D-99DE-BDFCEBFFCEF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321">
              <a:extLst>
                <a:ext uri="{FF2B5EF4-FFF2-40B4-BE49-F238E27FC236}">
                  <a16:creationId xmlns:a16="http://schemas.microsoft.com/office/drawing/2014/main" id="{80F1B4B6-D69D-F2A8-FBF8-AA814056720D}"/>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8" name="Textfeld 7">
            <a:extLst>
              <a:ext uri="{FF2B5EF4-FFF2-40B4-BE49-F238E27FC236}">
                <a16:creationId xmlns:a16="http://schemas.microsoft.com/office/drawing/2014/main" id="{252B5258-240D-5554-D71C-99444208B89A}"/>
              </a:ext>
            </a:extLst>
          </p:cNvPr>
          <p:cNvSpPr txBox="1"/>
          <p:nvPr userDrawn="1"/>
        </p:nvSpPr>
        <p:spPr>
          <a:xfrm>
            <a:off x="12443593" y="3589153"/>
            <a:ext cx="859452" cy="791118"/>
          </a:xfrm>
          <a:prstGeom prst="rect">
            <a:avLst/>
          </a:prstGeom>
          <a:solidFill>
            <a:schemeClr val="accent2"/>
          </a:solidFill>
        </p:spPr>
        <p:txBody>
          <a:bodyPr vert="horz" wrap="square" lIns="90000" tIns="46800" rIns="90000" bIns="46800" rtlCol="0" anchor="ctr">
            <a:spAutoFit/>
          </a:bodyPr>
          <a:lstStyle/>
          <a:p>
            <a:pPr algn="l">
              <a:spcBef>
                <a:spcPct val="0"/>
              </a:spcBef>
            </a:pPr>
            <a:endParaRPr lang="en-US" sz="1400"/>
          </a:p>
        </p:txBody>
      </p:sp>
      <p:sp>
        <p:nvSpPr>
          <p:cNvPr id="9" name="Textfeld 8">
            <a:extLst>
              <a:ext uri="{FF2B5EF4-FFF2-40B4-BE49-F238E27FC236}">
                <a16:creationId xmlns:a16="http://schemas.microsoft.com/office/drawing/2014/main" id="{7B460DB4-8770-AC0E-2BA7-041CD8B8A321}"/>
              </a:ext>
            </a:extLst>
          </p:cNvPr>
          <p:cNvSpPr txBox="1"/>
          <p:nvPr userDrawn="1"/>
        </p:nvSpPr>
        <p:spPr>
          <a:xfrm>
            <a:off x="12443593" y="4537966"/>
            <a:ext cx="859452" cy="791118"/>
          </a:xfrm>
          <a:prstGeom prst="rect">
            <a:avLst/>
          </a:prstGeom>
          <a:solidFill>
            <a:srgbClr val="C2FE06"/>
          </a:solidFill>
        </p:spPr>
        <p:txBody>
          <a:bodyPr vert="horz" wrap="square" lIns="90000" tIns="46800" rIns="90000" bIns="46800" rtlCol="0" anchor="ctr">
            <a:spAutoFit/>
          </a:bodyPr>
          <a:lstStyle/>
          <a:p>
            <a:pPr algn="l">
              <a:spcBef>
                <a:spcPct val="0"/>
              </a:spcBef>
            </a:pPr>
            <a:endParaRPr lang="en-US" sz="1400"/>
          </a:p>
        </p:txBody>
      </p:sp>
      <p:sp>
        <p:nvSpPr>
          <p:cNvPr id="10" name="Textfeld 9">
            <a:extLst>
              <a:ext uri="{FF2B5EF4-FFF2-40B4-BE49-F238E27FC236}">
                <a16:creationId xmlns:a16="http://schemas.microsoft.com/office/drawing/2014/main" id="{7FCA6421-1FFE-AADF-7D86-92FDB08BB547}"/>
              </a:ext>
            </a:extLst>
          </p:cNvPr>
          <p:cNvSpPr txBox="1"/>
          <p:nvPr userDrawn="1"/>
        </p:nvSpPr>
        <p:spPr>
          <a:xfrm>
            <a:off x="13564470" y="4537966"/>
            <a:ext cx="859452" cy="791118"/>
          </a:xfrm>
          <a:prstGeom prst="rect">
            <a:avLst/>
          </a:prstGeom>
          <a:solidFill>
            <a:srgbClr val="00806E"/>
          </a:solidFill>
        </p:spPr>
        <p:txBody>
          <a:bodyPr vert="horz" wrap="square" lIns="90000" tIns="46800" rIns="90000" bIns="46800" rtlCol="0" anchor="ctr">
            <a:spAutoFit/>
          </a:bodyPr>
          <a:lstStyle/>
          <a:p>
            <a:pPr algn="l">
              <a:spcBef>
                <a:spcPct val="0"/>
              </a:spcBef>
            </a:pPr>
            <a:endParaRPr lang="en-US" sz="1400"/>
          </a:p>
        </p:txBody>
      </p:sp>
      <p:sp>
        <p:nvSpPr>
          <p:cNvPr id="13" name="Datumsplatzhalter 265">
            <a:extLst>
              <a:ext uri="{FF2B5EF4-FFF2-40B4-BE49-F238E27FC236}">
                <a16:creationId xmlns:a16="http://schemas.microsoft.com/office/drawing/2014/main" id="{A36586D6-9B07-33BB-2B11-6573B21D5E8D}"/>
              </a:ext>
            </a:extLst>
          </p:cNvPr>
          <p:cNvSpPr txBox="1">
            <a:spLocks/>
          </p:cNvSpPr>
          <p:nvPr userDrawn="1"/>
        </p:nvSpPr>
        <p:spPr>
          <a:xfrm>
            <a:off x="9192343" y="6650661"/>
            <a:ext cx="2119242" cy="123111"/>
          </a:xfrm>
          <a:prstGeom prst="rect">
            <a:avLst/>
          </a:prstGeom>
        </p:spPr>
        <p:txBody>
          <a:bodyPr wrap="none" lIns="0" tIns="0" rIns="0" bIns="0" anchor="ctr" anchorCtr="0">
            <a:noAutofit/>
          </a:bodyPr>
          <a:lstStyle>
            <a:defPPr>
              <a:defRPr lang="pt-PT"/>
            </a:defPPr>
            <a:lvl1pPr marL="0" algn="l" defTabSz="914400" rtl="0" eaLnBrk="1" latinLnBrk="0" hangingPunct="1">
              <a:defRPr lang="de-DE" sz="800" kern="1200" smtClean="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ts val="1000"/>
              </a:spcBef>
              <a:buFont typeface="Arial" panose="020B0604020202020204" pitchFamily="34" charset="0"/>
              <a:buNone/>
            </a:pPr>
            <a:r>
              <a:rPr lang="en-US"/>
              <a:t>© Capgemini Invent 2025. Company restricted. All rights reserved.</a:t>
            </a:r>
            <a:endParaRPr lang="de-DE"/>
          </a:p>
        </p:txBody>
      </p:sp>
      <p:sp>
        <p:nvSpPr>
          <p:cNvPr id="3" name="Text Placeholder 9">
            <a:extLst>
              <a:ext uri="{FF2B5EF4-FFF2-40B4-BE49-F238E27FC236}">
                <a16:creationId xmlns:a16="http://schemas.microsoft.com/office/drawing/2014/main" id="{47103E47-6BA2-FBC7-4A1B-13A272D15B1C}"/>
              </a:ext>
            </a:extLst>
          </p:cNvPr>
          <p:cNvSpPr>
            <a:spLocks noGrp="1"/>
          </p:cNvSpPr>
          <p:nvPr>
            <p:ph type="body" sz="quarter" idx="15" hasCustomPrompt="1"/>
          </p:nvPr>
        </p:nvSpPr>
        <p:spPr>
          <a:xfrm>
            <a:off x="550200" y="1125538"/>
            <a:ext cx="11090938" cy="246221"/>
          </a:xfrm>
          <a:prstGeom prst="rect">
            <a:avLst/>
          </a:prstGeom>
        </p:spPr>
        <p:txBody>
          <a:bodyPr lIns="0">
            <a:spAutoFit/>
          </a:bodyPr>
          <a:lstStyle>
            <a:lvl1pPr>
              <a:defRPr sz="1600" b="1">
                <a:solidFill>
                  <a:srgbClr val="C2FE06"/>
                </a:solidFill>
                <a:latin typeface="+mn-lt"/>
              </a:defRPr>
            </a:lvl1pPr>
          </a:lstStyle>
          <a:p>
            <a:pPr lvl="0"/>
            <a:r>
              <a:rPr lang="en-US"/>
              <a:t>Click to edit Master text styles</a:t>
            </a:r>
          </a:p>
        </p:txBody>
      </p:sp>
      <p:sp>
        <p:nvSpPr>
          <p:cNvPr id="4" name="Footer Placeholder 9">
            <a:extLst>
              <a:ext uri="{FF2B5EF4-FFF2-40B4-BE49-F238E27FC236}">
                <a16:creationId xmlns:a16="http://schemas.microsoft.com/office/drawing/2014/main" id="{A04FE8D3-E625-3230-0790-597E516DD935}"/>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endParaRPr lang="en-US"/>
          </a:p>
        </p:txBody>
      </p:sp>
    </p:spTree>
    <p:extLst>
      <p:ext uri="{BB962C8B-B14F-4D97-AF65-F5344CB8AC3E}">
        <p14:creationId xmlns:p14="http://schemas.microsoft.com/office/powerpoint/2010/main" val="118574191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Content and picture 3">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8C20F-AA44-45A0-8BD7-3F72A12E08AD}"/>
              </a:ext>
            </a:extLst>
          </p:cNvPr>
          <p:cNvSpPr/>
          <p:nvPr userDrawn="1"/>
        </p:nvSpPr>
        <p:spPr>
          <a:xfrm>
            <a:off x="0" y="0"/>
            <a:ext cx="40736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9">
            <a:extLst>
              <a:ext uri="{FF2B5EF4-FFF2-40B4-BE49-F238E27FC236}">
                <a16:creationId xmlns:a16="http://schemas.microsoft.com/office/drawing/2014/main" id="{8003CB7C-5AB2-4487-B779-DFE57F79C583}"/>
              </a:ext>
            </a:extLst>
          </p:cNvPr>
          <p:cNvSpPr>
            <a:spLocks noGrp="1"/>
          </p:cNvSpPr>
          <p:nvPr>
            <p:ph type="body" sz="quarter" idx="16" hasCustomPrompt="1"/>
          </p:nvPr>
        </p:nvSpPr>
        <p:spPr>
          <a:xfrm>
            <a:off x="4444744" y="1125538"/>
            <a:ext cx="69840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6">
            <a:extLst>
              <a:ext uri="{FF2B5EF4-FFF2-40B4-BE49-F238E27FC236}">
                <a16:creationId xmlns:a16="http://schemas.microsoft.com/office/drawing/2014/main" id="{9219CA61-951E-46A4-A7C6-8A4C09FDC629}"/>
              </a:ext>
            </a:extLst>
          </p:cNvPr>
          <p:cNvSpPr>
            <a:spLocks noGrp="1"/>
          </p:cNvSpPr>
          <p:nvPr>
            <p:ph type="body" sz="quarter" idx="18"/>
          </p:nvPr>
        </p:nvSpPr>
        <p:spPr>
          <a:xfrm>
            <a:off x="4445407" y="1628774"/>
            <a:ext cx="6962544" cy="4824413"/>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0" y="0"/>
            <a:ext cx="4223792"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A0A52824-0DEF-7B5E-1D4F-BCBC062D66ED}"/>
              </a:ext>
            </a:extLst>
          </p:cNvPr>
          <p:cNvSpPr>
            <a:spLocks noGrp="1"/>
          </p:cNvSpPr>
          <p:nvPr>
            <p:ph type="title"/>
          </p:nvPr>
        </p:nvSpPr>
        <p:spPr>
          <a:xfrm>
            <a:off x="4439384" y="260350"/>
            <a:ext cx="6984000" cy="792163"/>
          </a:xfrm>
        </p:spPr>
        <p:txBody>
          <a:bodyPr/>
          <a:lstStyle/>
          <a:p>
            <a:r>
              <a:rPr lang="fr-FR"/>
              <a:t>Modifiez le style du titre</a:t>
            </a:r>
            <a:endParaRPr lang="en-US"/>
          </a:p>
        </p:txBody>
      </p:sp>
    </p:spTree>
    <p:extLst>
      <p:ext uri="{BB962C8B-B14F-4D97-AF65-F5344CB8AC3E}">
        <p14:creationId xmlns:p14="http://schemas.microsoft.com/office/powerpoint/2010/main" val="49631921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Title, subtitle and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lvl1pPr>
              <a:defRPr sz="2400"/>
            </a:lvl1pPr>
          </a:lstStyle>
          <a:p>
            <a:r>
              <a:rPr lang="en-US"/>
              <a:t>Click to edit Master title style</a:t>
            </a:r>
            <a:endParaRPr lang="de-DE"/>
          </a:p>
        </p:txBody>
      </p:sp>
      <p:sp>
        <p:nvSpPr>
          <p:cNvPr id="3" name="Slide Number Placeholder 7">
            <a:extLst>
              <a:ext uri="{FF2B5EF4-FFF2-40B4-BE49-F238E27FC236}">
                <a16:creationId xmlns:a16="http://schemas.microsoft.com/office/drawing/2014/main" id="{5EDD0A76-648E-421C-6EE8-F180F6E686F6}"/>
              </a:ext>
            </a:extLst>
          </p:cNvPr>
          <p:cNvSpPr>
            <a:spLocks noGrp="1"/>
          </p:cNvSpPr>
          <p:nvPr>
            <p:ph type="sldNum" sz="quarter" idx="12"/>
          </p:nvPr>
        </p:nvSpPr>
        <p:spPr>
          <a:xfrm>
            <a:off x="11572861" y="6424102"/>
            <a:ext cx="551213" cy="318519"/>
          </a:xfrm>
        </p:spPr>
        <p:txBody>
          <a:bodyPr/>
          <a:lstStyle/>
          <a:p>
            <a:fld id="{72A83A2B-3358-44F8-83A0-4598795D8FB5}" type="slidenum">
              <a:rPr lang="en-GB" smtClean="0"/>
              <a:pPr/>
              <a:t>‹#›</a:t>
            </a:fld>
            <a:endParaRPr lang="en-GB"/>
          </a:p>
        </p:txBody>
      </p:sp>
    </p:spTree>
    <p:extLst>
      <p:ext uri="{BB962C8B-B14F-4D97-AF65-F5344CB8AC3E}">
        <p14:creationId xmlns:p14="http://schemas.microsoft.com/office/powerpoint/2010/main" val="99458605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4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91"/>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91"/>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Placeholder 3">
            <a:extLst>
              <a:ext uri="{FF2B5EF4-FFF2-40B4-BE49-F238E27FC236}">
                <a16:creationId xmlns:a16="http://schemas.microsoft.com/office/drawing/2014/main" id="{E2F6C5FE-CB91-FB18-660D-E633E0388671}"/>
              </a:ext>
            </a:extLst>
          </p:cNvPr>
          <p:cNvSpPr>
            <a:spLocks noGrp="1"/>
          </p:cNvSpPr>
          <p:nvPr>
            <p:ph type="body" sz="quarter" idx="10"/>
          </p:nvPr>
        </p:nvSpPr>
        <p:spPr>
          <a:xfrm>
            <a:off x="4278311" y="317503"/>
            <a:ext cx="7187470" cy="914400"/>
          </a:xfrm>
          <a:prstGeom prst="rect">
            <a:avLst/>
          </a:prstGeom>
        </p:spPr>
        <p:txBody>
          <a:bodyPr/>
          <a:lstStyle>
            <a:lvl1pPr>
              <a:defRPr lang="en-US" sz="2400" kern="1200" dirty="0" smtClean="0">
                <a:solidFill>
                  <a:srgbClr val="FFFFFF"/>
                </a:solidFill>
                <a:latin typeface="Ubuntu Light" panose="020B0604030602030204" pitchFamily="34" charset="0"/>
                <a:ea typeface="+mn-ea"/>
                <a:cs typeface="+mn-cs"/>
              </a:defRPr>
            </a:lvl1pPr>
          </a:lstStyle>
          <a:p>
            <a:pPr lvl="0"/>
            <a:r>
              <a:rPr lang="en-US"/>
              <a:t>Click to edit Master text styles</a:t>
            </a:r>
          </a:p>
        </p:txBody>
      </p:sp>
    </p:spTree>
    <p:extLst>
      <p:ext uri="{BB962C8B-B14F-4D97-AF65-F5344CB8AC3E}">
        <p14:creationId xmlns:p14="http://schemas.microsoft.com/office/powerpoint/2010/main" val="410743972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515542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Content Title Only">
    <p:spTree>
      <p:nvGrpSpPr>
        <p:cNvPr id="1" name=""/>
        <p:cNvGrpSpPr/>
        <p:nvPr/>
      </p:nvGrpSpPr>
      <p:grpSpPr>
        <a:xfrm>
          <a:off x="0" y="0"/>
          <a:ext cx="0" cy="0"/>
          <a:chOff x="0" y="0"/>
          <a:chExt cx="0" cy="0"/>
        </a:xfrm>
      </p:grpSpPr>
      <p:sp>
        <p:nvSpPr>
          <p:cNvPr id="2" name="Title Placeholder 4">
            <a:extLst>
              <a:ext uri="{FF2B5EF4-FFF2-40B4-BE49-F238E27FC236}">
                <a16:creationId xmlns:a16="http://schemas.microsoft.com/office/drawing/2014/main" id="{A97125DB-2C1B-43F8-E2EE-3BDC4FA54541}"/>
              </a:ext>
            </a:extLst>
          </p:cNvPr>
          <p:cNvSpPr>
            <a:spLocks noGrp="1"/>
          </p:cNvSpPr>
          <p:nvPr>
            <p:ph type="title"/>
          </p:nvPr>
        </p:nvSpPr>
        <p:spPr>
          <a:xfrm>
            <a:off x="419100" y="271363"/>
            <a:ext cx="11222038" cy="846555"/>
          </a:xfrm>
          <a:prstGeom prst="rect">
            <a:avLst/>
          </a:prstGeom>
        </p:spPr>
        <p:txBody>
          <a:bodyPr vert="horz" wrap="square" lIns="0" tIns="0" rIns="0" bIns="180000" rtlCol="0" anchor="t" anchorCtr="0">
            <a:spAutoFit/>
          </a:bodyPr>
          <a:lstStyle/>
          <a:p>
            <a:r>
              <a:rPr lang="en-US"/>
              <a:t>Click to edit </a:t>
            </a:r>
            <a:br>
              <a:rPr lang="en-US"/>
            </a:br>
            <a:r>
              <a:rPr lang="en-US"/>
              <a:t>Master title style</a:t>
            </a:r>
            <a:endParaRPr lang="de-DE"/>
          </a:p>
        </p:txBody>
      </p:sp>
    </p:spTree>
    <p:extLst>
      <p:ext uri="{BB962C8B-B14F-4D97-AF65-F5344CB8AC3E}">
        <p14:creationId xmlns:p14="http://schemas.microsoft.com/office/powerpoint/2010/main" val="199830035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198880"/>
            <a:ext cx="11379201" cy="5270933"/>
          </a:xfrm>
        </p:spPr>
        <p:txBody>
          <a:bodyPr/>
          <a:lstStyle>
            <a:lvl1pPr>
              <a:defRPr>
                <a:solidFill>
                  <a:srgbClr val="0070AD"/>
                </a:solidFill>
              </a:defRPr>
            </a:lvl1pPr>
            <a:lvl2pPr>
              <a:defRPr>
                <a:solidFill>
                  <a:srgbClr val="0070AD"/>
                </a:solidFill>
              </a:defRPr>
            </a:lvl2pPr>
            <a:lvl3pPr>
              <a:defRPr>
                <a:solidFill>
                  <a:srgbClr val="0070AD"/>
                </a:solidFill>
              </a:defRPr>
            </a:lvl3pPr>
            <a:lvl4pPr>
              <a:defRPr>
                <a:solidFill>
                  <a:srgbClr val="0070AD"/>
                </a:solidFill>
              </a:defRPr>
            </a:lvl4pPr>
            <a:lvl5pPr>
              <a:defRPr>
                <a:solidFill>
                  <a:srgbClr val="0070AD"/>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hasCustomPrompt="1"/>
          </p:nvPr>
        </p:nvSpPr>
        <p:spPr/>
        <p:txBody>
          <a:bodyPr/>
          <a:lstStyle>
            <a:lvl1pPr>
              <a:defRPr cap="none"/>
            </a:lvl1pPr>
          </a:lstStyle>
          <a:p>
            <a:r>
              <a:rPr lang="en-US"/>
              <a:t>Click to edit master title style</a:t>
            </a:r>
            <a:endParaRPr lang="en-GB"/>
          </a:p>
        </p:txBody>
      </p:sp>
    </p:spTree>
    <p:extLst>
      <p:ext uri="{BB962C8B-B14F-4D97-AF65-F5344CB8AC3E}">
        <p14:creationId xmlns:p14="http://schemas.microsoft.com/office/powerpoint/2010/main" val="247989051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userDrawn="1">
  <p:cSld name="Section break Full Picture">
    <p:bg>
      <p:bgPr>
        <a:solidFill>
          <a:schemeClr val="bg2"/>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9515EF69-611F-4B2F-BC64-DD310E600154}"/>
              </a:ext>
            </a:extLst>
          </p:cNvPr>
          <p:cNvSpPr>
            <a:spLocks noGrp="1"/>
          </p:cNvSpPr>
          <p:nvPr>
            <p:ph type="pic" sz="quarter" idx="10" hasCustomPrompt="1"/>
          </p:nvPr>
        </p:nvSpPr>
        <p:spPr>
          <a:xfrm>
            <a:off x="0" y="0"/>
            <a:ext cx="12192000" cy="6858000"/>
          </a:xfrm>
          <a:custGeom>
            <a:avLst/>
            <a:gdLst>
              <a:gd name="connsiteX0" fmla="*/ 11911680 w 12192000"/>
              <a:gd name="connsiteY0" fmla="*/ 373627 h 6858000"/>
              <a:gd name="connsiteX1" fmla="*/ 11857975 w 12192000"/>
              <a:gd name="connsiteY1" fmla="*/ 408564 h 6858000"/>
              <a:gd name="connsiteX2" fmla="*/ 11820236 w 12192000"/>
              <a:gd name="connsiteY2" fmla="*/ 476983 h 6858000"/>
              <a:gd name="connsiteX3" fmla="*/ 11778143 w 12192000"/>
              <a:gd name="connsiteY3" fmla="*/ 538124 h 6858000"/>
              <a:gd name="connsiteX4" fmla="*/ 11708472 w 12192000"/>
              <a:gd name="connsiteY4" fmla="*/ 581796 h 6858000"/>
              <a:gd name="connsiteX5" fmla="*/ 11753468 w 12192000"/>
              <a:gd name="connsiteY5" fmla="*/ 593441 h 6858000"/>
              <a:gd name="connsiteX6" fmla="*/ 11802818 w 12192000"/>
              <a:gd name="connsiteY6" fmla="*/ 589074 h 6858000"/>
              <a:gd name="connsiteX7" fmla="*/ 11887005 w 12192000"/>
              <a:gd name="connsiteY7" fmla="*/ 552681 h 6858000"/>
              <a:gd name="connsiteX8" fmla="*/ 11823139 w 12192000"/>
              <a:gd name="connsiteY8" fmla="*/ 494452 h 6858000"/>
              <a:gd name="connsiteX9" fmla="*/ 11911680 w 12192000"/>
              <a:gd name="connsiteY9" fmla="*/ 522111 h 6858000"/>
              <a:gd name="connsiteX10" fmla="*/ 11974094 w 12192000"/>
              <a:gd name="connsiteY10" fmla="*/ 460970 h 6858000"/>
              <a:gd name="connsiteX11" fmla="*/ 11972642 w 12192000"/>
              <a:gd name="connsiteY11" fmla="*/ 404197 h 6858000"/>
              <a:gd name="connsiteX12" fmla="*/ 11911680 w 12192000"/>
              <a:gd name="connsiteY12" fmla="*/ 373627 h 6858000"/>
              <a:gd name="connsiteX13" fmla="*/ 11785438 w 12192000"/>
              <a:gd name="connsiteY13" fmla="*/ 207688 h 6858000"/>
              <a:gd name="connsiteX14" fmla="*/ 11562864 w 12192000"/>
              <a:gd name="connsiteY14" fmla="*/ 439169 h 6858000"/>
              <a:gd name="connsiteX15" fmla="*/ 11639965 w 12192000"/>
              <a:gd name="connsiteY15" fmla="*/ 551270 h 6858000"/>
              <a:gd name="connsiteX16" fmla="*/ 11725794 w 12192000"/>
              <a:gd name="connsiteY16" fmla="*/ 546903 h 6858000"/>
              <a:gd name="connsiteX17" fmla="*/ 11786893 w 12192000"/>
              <a:gd name="connsiteY17" fmla="*/ 490124 h 6858000"/>
              <a:gd name="connsiteX18" fmla="*/ 11833444 w 12192000"/>
              <a:gd name="connsiteY18" fmla="*/ 412964 h 6858000"/>
              <a:gd name="connsiteX19" fmla="*/ 11895998 w 12192000"/>
              <a:gd name="connsiteY19" fmla="*/ 360553 h 6858000"/>
              <a:gd name="connsiteX20" fmla="*/ 11971644 w 12192000"/>
              <a:gd name="connsiteY20" fmla="*/ 379479 h 6858000"/>
              <a:gd name="connsiteX21" fmla="*/ 11907636 w 12192000"/>
              <a:gd name="connsiteY21" fmla="*/ 281937 h 6858000"/>
              <a:gd name="connsiteX22" fmla="*/ 11795621 w 12192000"/>
              <a:gd name="connsiteY22" fmla="*/ 212056 h 6858000"/>
              <a:gd name="connsiteX23" fmla="*/ 11785438 w 12192000"/>
              <a:gd name="connsiteY23" fmla="*/ 20768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11680" y="373627"/>
                </a:moveTo>
                <a:cubicBezTo>
                  <a:pt x="11888456" y="375083"/>
                  <a:pt x="11871038" y="389640"/>
                  <a:pt x="11857975" y="408564"/>
                </a:cubicBezTo>
                <a:cubicBezTo>
                  <a:pt x="11842009" y="428944"/>
                  <a:pt x="11831848" y="453692"/>
                  <a:pt x="11820236" y="476983"/>
                </a:cubicBezTo>
                <a:cubicBezTo>
                  <a:pt x="11808624" y="498819"/>
                  <a:pt x="11795561" y="519199"/>
                  <a:pt x="11778143" y="538124"/>
                </a:cubicBezTo>
                <a:cubicBezTo>
                  <a:pt x="11759274" y="558504"/>
                  <a:pt x="11736050" y="574517"/>
                  <a:pt x="11708472" y="581796"/>
                </a:cubicBezTo>
                <a:cubicBezTo>
                  <a:pt x="11721535" y="590530"/>
                  <a:pt x="11738953" y="593441"/>
                  <a:pt x="11753468" y="593441"/>
                </a:cubicBezTo>
                <a:cubicBezTo>
                  <a:pt x="11769434" y="594897"/>
                  <a:pt x="11786852" y="591986"/>
                  <a:pt x="11802818" y="589074"/>
                </a:cubicBezTo>
                <a:cubicBezTo>
                  <a:pt x="11833300" y="584707"/>
                  <a:pt x="11865232" y="574517"/>
                  <a:pt x="11887005" y="552681"/>
                </a:cubicBezTo>
                <a:cubicBezTo>
                  <a:pt x="11852169" y="552681"/>
                  <a:pt x="11824591" y="529389"/>
                  <a:pt x="11823139" y="494452"/>
                </a:cubicBezTo>
                <a:cubicBezTo>
                  <a:pt x="11844912" y="520655"/>
                  <a:pt x="11878296" y="530845"/>
                  <a:pt x="11911680" y="522111"/>
                </a:cubicBezTo>
                <a:cubicBezTo>
                  <a:pt x="11940709" y="513376"/>
                  <a:pt x="11965385" y="490085"/>
                  <a:pt x="11974094" y="460970"/>
                </a:cubicBezTo>
                <a:cubicBezTo>
                  <a:pt x="11979900" y="442046"/>
                  <a:pt x="11981351" y="423121"/>
                  <a:pt x="11972642" y="404197"/>
                </a:cubicBezTo>
                <a:cubicBezTo>
                  <a:pt x="11961030" y="382361"/>
                  <a:pt x="11936355" y="372171"/>
                  <a:pt x="11911680" y="373627"/>
                </a:cubicBezTo>
                <a:close/>
                <a:moveTo>
                  <a:pt x="11785438" y="207688"/>
                </a:moveTo>
                <a:cubicBezTo>
                  <a:pt x="11735977" y="268834"/>
                  <a:pt x="11562864" y="312510"/>
                  <a:pt x="11562864" y="439169"/>
                </a:cubicBezTo>
                <a:cubicBezTo>
                  <a:pt x="11562864" y="487212"/>
                  <a:pt x="11593413" y="533800"/>
                  <a:pt x="11639965" y="551270"/>
                </a:cubicBezTo>
                <a:cubicBezTo>
                  <a:pt x="11667605" y="561461"/>
                  <a:pt x="11698154" y="560005"/>
                  <a:pt x="11725794" y="546903"/>
                </a:cubicBezTo>
                <a:cubicBezTo>
                  <a:pt x="11751979" y="535256"/>
                  <a:pt x="11770891" y="514874"/>
                  <a:pt x="11786893" y="490124"/>
                </a:cubicBezTo>
                <a:cubicBezTo>
                  <a:pt x="11804350" y="465375"/>
                  <a:pt x="11817442" y="439169"/>
                  <a:pt x="11833444" y="412964"/>
                </a:cubicBezTo>
                <a:cubicBezTo>
                  <a:pt x="11847992" y="389670"/>
                  <a:pt x="11868358" y="366376"/>
                  <a:pt x="11895998" y="360553"/>
                </a:cubicBezTo>
                <a:cubicBezTo>
                  <a:pt x="11922183" y="353274"/>
                  <a:pt x="11952732" y="360553"/>
                  <a:pt x="11971644" y="379479"/>
                </a:cubicBezTo>
                <a:cubicBezTo>
                  <a:pt x="11960006" y="341627"/>
                  <a:pt x="11938185" y="309598"/>
                  <a:pt x="11907636" y="281937"/>
                </a:cubicBezTo>
                <a:cubicBezTo>
                  <a:pt x="11874177" y="251364"/>
                  <a:pt x="11836354" y="229526"/>
                  <a:pt x="11795621" y="212056"/>
                </a:cubicBezTo>
                <a:cubicBezTo>
                  <a:pt x="11792712" y="210600"/>
                  <a:pt x="11788348" y="209144"/>
                  <a:pt x="11785438" y="20768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50000"/>
                  </a:schemeClr>
                </a:solidFill>
              </a:defRPr>
            </a:lvl1pPr>
          </a:lstStyle>
          <a:p>
            <a:r>
              <a:rPr lang="en-US"/>
              <a:t>Click icon to add picture and send picture to back</a:t>
            </a:r>
          </a:p>
        </p:txBody>
      </p:sp>
      <p:grpSp>
        <p:nvGrpSpPr>
          <p:cNvPr id="12" name="Group 37">
            <a:extLst>
              <a:ext uri="{FF2B5EF4-FFF2-40B4-BE49-F238E27FC236}">
                <a16:creationId xmlns:a16="http://schemas.microsoft.com/office/drawing/2014/main" id="{410EED03-E568-4797-9F93-83A0DEAA8E73}"/>
              </a:ext>
            </a:extLst>
          </p:cNvPr>
          <p:cNvGrpSpPr/>
          <p:nvPr userDrawn="1"/>
        </p:nvGrpSpPr>
        <p:grpSpPr>
          <a:xfrm>
            <a:off x="11562864" y="207688"/>
            <a:ext cx="418487" cy="387209"/>
            <a:chOff x="5481638" y="2859088"/>
            <a:chExt cx="1231900" cy="1139825"/>
          </a:xfrm>
          <a:solidFill>
            <a:schemeClr val="bg1"/>
          </a:solidFill>
        </p:grpSpPr>
        <p:sp>
          <p:nvSpPr>
            <p:cNvPr id="13" name="Freeform 320">
              <a:extLst>
                <a:ext uri="{FF2B5EF4-FFF2-40B4-BE49-F238E27FC236}">
                  <a16:creationId xmlns:a16="http://schemas.microsoft.com/office/drawing/2014/main" id="{B7BDD3A5-74DC-407F-917E-4CAA2D7F6478}"/>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321">
              <a:extLst>
                <a:ext uri="{FF2B5EF4-FFF2-40B4-BE49-F238E27FC236}">
                  <a16:creationId xmlns:a16="http://schemas.microsoft.com/office/drawing/2014/main" id="{AFD49D75-8E14-497D-BFBC-1AB7413E4B59}"/>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a:extLst>
              <a:ext uri="{FF2B5EF4-FFF2-40B4-BE49-F238E27FC236}">
                <a16:creationId xmlns:a16="http://schemas.microsoft.com/office/drawing/2014/main" id="{F7412FBE-22A2-10A4-80F8-94BD980CE061}"/>
              </a:ext>
            </a:extLst>
          </p:cNvPr>
          <p:cNvSpPr>
            <a:spLocks noGrp="1"/>
          </p:cNvSpPr>
          <p:nvPr>
            <p:ph type="ctrTitle"/>
          </p:nvPr>
        </p:nvSpPr>
        <p:spPr>
          <a:xfrm>
            <a:off x="1" y="2708920"/>
            <a:ext cx="7968207" cy="2949857"/>
          </a:xfrm>
          <a:solidFill>
            <a:schemeClr val="bg2"/>
          </a:solidFill>
        </p:spPr>
        <p:txBody>
          <a:bodyPr wrap="square" lIns="396000" tIns="360000" rIns="504000" bIns="1080000" anchor="t" anchorCtr="0">
            <a:sp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B3FCD38E-1F71-EA8E-7048-F655798886D1}"/>
              </a:ext>
            </a:extLst>
          </p:cNvPr>
          <p:cNvSpPr>
            <a:spLocks noGrp="1"/>
          </p:cNvSpPr>
          <p:nvPr>
            <p:ph type="subTitle" idx="1" hasCustomPrompt="1"/>
          </p:nvPr>
        </p:nvSpPr>
        <p:spPr>
          <a:xfrm>
            <a:off x="407368" y="4725144"/>
            <a:ext cx="7273330" cy="276999"/>
          </a:xfrm>
          <a:prstGeom prst="rect">
            <a:avLst/>
          </a:prstGeom>
        </p:spPr>
        <p:txBody>
          <a:bodyPr wrap="square" lIns="18000" tIns="0" rIns="0" anchor="t" anchorCtr="0">
            <a:spAutoFit/>
          </a:bodyPr>
          <a:lstStyle>
            <a:lvl1pPr marL="0" indent="0" algn="l">
              <a:buNone/>
              <a:defRPr sz="18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text style</a:t>
            </a:r>
            <a:endParaRPr lang="en-GB"/>
          </a:p>
        </p:txBody>
      </p:sp>
    </p:spTree>
    <p:extLst>
      <p:ext uri="{BB962C8B-B14F-4D97-AF65-F5344CB8AC3E}">
        <p14:creationId xmlns:p14="http://schemas.microsoft.com/office/powerpoint/2010/main" val="3373742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5.xml"/><Relationship Id="rId21" Type="http://schemas.openxmlformats.org/officeDocument/2006/relationships/slideLayout" Target="../slideLayouts/slideLayout30.xml"/><Relationship Id="rId42" Type="http://schemas.openxmlformats.org/officeDocument/2006/relationships/slideLayout" Target="../slideLayouts/slideLayout51.xml"/><Relationship Id="rId47" Type="http://schemas.openxmlformats.org/officeDocument/2006/relationships/slideLayout" Target="../slideLayouts/slideLayout56.xml"/><Relationship Id="rId63" Type="http://schemas.openxmlformats.org/officeDocument/2006/relationships/slideLayout" Target="../slideLayouts/slideLayout72.xml"/><Relationship Id="rId68" Type="http://schemas.openxmlformats.org/officeDocument/2006/relationships/slideLayout" Target="../slideLayouts/slideLayout77.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9" Type="http://schemas.openxmlformats.org/officeDocument/2006/relationships/slideLayout" Target="../slideLayouts/slideLayout38.xml"/><Relationship Id="rId11" Type="http://schemas.openxmlformats.org/officeDocument/2006/relationships/slideLayout" Target="../slideLayouts/slideLayout20.xml"/><Relationship Id="rId24" Type="http://schemas.openxmlformats.org/officeDocument/2006/relationships/slideLayout" Target="../slideLayouts/slideLayout33.xml"/><Relationship Id="rId32" Type="http://schemas.openxmlformats.org/officeDocument/2006/relationships/slideLayout" Target="../slideLayouts/slideLayout41.xml"/><Relationship Id="rId37" Type="http://schemas.openxmlformats.org/officeDocument/2006/relationships/slideLayout" Target="../slideLayouts/slideLayout46.xml"/><Relationship Id="rId40" Type="http://schemas.openxmlformats.org/officeDocument/2006/relationships/slideLayout" Target="../slideLayouts/slideLayout49.xml"/><Relationship Id="rId45" Type="http://schemas.openxmlformats.org/officeDocument/2006/relationships/slideLayout" Target="../slideLayouts/slideLayout54.xml"/><Relationship Id="rId53" Type="http://schemas.openxmlformats.org/officeDocument/2006/relationships/slideLayout" Target="../slideLayouts/slideLayout62.xml"/><Relationship Id="rId58" Type="http://schemas.openxmlformats.org/officeDocument/2006/relationships/slideLayout" Target="../slideLayouts/slideLayout67.xml"/><Relationship Id="rId66" Type="http://schemas.openxmlformats.org/officeDocument/2006/relationships/slideLayout" Target="../slideLayouts/slideLayout75.xml"/><Relationship Id="rId74" Type="http://schemas.openxmlformats.org/officeDocument/2006/relationships/image" Target="../media/image3.png"/><Relationship Id="rId5" Type="http://schemas.openxmlformats.org/officeDocument/2006/relationships/slideLayout" Target="../slideLayouts/slideLayout14.xml"/><Relationship Id="rId61" Type="http://schemas.openxmlformats.org/officeDocument/2006/relationships/slideLayout" Target="../slideLayouts/slideLayout70.xml"/><Relationship Id="rId19" Type="http://schemas.openxmlformats.org/officeDocument/2006/relationships/slideLayout" Target="../slideLayouts/slideLayout28.xml"/><Relationship Id="rId14" Type="http://schemas.openxmlformats.org/officeDocument/2006/relationships/slideLayout" Target="../slideLayouts/slideLayout23.xml"/><Relationship Id="rId22" Type="http://schemas.openxmlformats.org/officeDocument/2006/relationships/slideLayout" Target="../slideLayouts/slideLayout31.xml"/><Relationship Id="rId27" Type="http://schemas.openxmlformats.org/officeDocument/2006/relationships/slideLayout" Target="../slideLayouts/slideLayout36.xml"/><Relationship Id="rId30" Type="http://schemas.openxmlformats.org/officeDocument/2006/relationships/slideLayout" Target="../slideLayouts/slideLayout39.xml"/><Relationship Id="rId35" Type="http://schemas.openxmlformats.org/officeDocument/2006/relationships/slideLayout" Target="../slideLayouts/slideLayout44.xml"/><Relationship Id="rId43" Type="http://schemas.openxmlformats.org/officeDocument/2006/relationships/slideLayout" Target="../slideLayouts/slideLayout52.xml"/><Relationship Id="rId48" Type="http://schemas.openxmlformats.org/officeDocument/2006/relationships/slideLayout" Target="../slideLayouts/slideLayout57.xml"/><Relationship Id="rId56" Type="http://schemas.openxmlformats.org/officeDocument/2006/relationships/slideLayout" Target="../slideLayouts/slideLayout65.xml"/><Relationship Id="rId64" Type="http://schemas.openxmlformats.org/officeDocument/2006/relationships/slideLayout" Target="../slideLayouts/slideLayout73.xml"/><Relationship Id="rId69" Type="http://schemas.openxmlformats.org/officeDocument/2006/relationships/theme" Target="../theme/theme2.xml"/><Relationship Id="rId8" Type="http://schemas.openxmlformats.org/officeDocument/2006/relationships/slideLayout" Target="../slideLayouts/slideLayout17.xml"/><Relationship Id="rId51" Type="http://schemas.openxmlformats.org/officeDocument/2006/relationships/slideLayout" Target="../slideLayouts/slideLayout60.xml"/><Relationship Id="rId72" Type="http://schemas.openxmlformats.org/officeDocument/2006/relationships/image" Target="../media/image13.emf"/><Relationship Id="rId3" Type="http://schemas.openxmlformats.org/officeDocument/2006/relationships/slideLayout" Target="../slideLayouts/slideLayout12.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5" Type="http://schemas.openxmlformats.org/officeDocument/2006/relationships/slideLayout" Target="../slideLayouts/slideLayout34.xml"/><Relationship Id="rId33" Type="http://schemas.openxmlformats.org/officeDocument/2006/relationships/slideLayout" Target="../slideLayouts/slideLayout42.xml"/><Relationship Id="rId38" Type="http://schemas.openxmlformats.org/officeDocument/2006/relationships/slideLayout" Target="../slideLayouts/slideLayout47.xml"/><Relationship Id="rId46" Type="http://schemas.openxmlformats.org/officeDocument/2006/relationships/slideLayout" Target="../slideLayouts/slideLayout55.xml"/><Relationship Id="rId59" Type="http://schemas.openxmlformats.org/officeDocument/2006/relationships/slideLayout" Target="../slideLayouts/slideLayout68.xml"/><Relationship Id="rId67" Type="http://schemas.openxmlformats.org/officeDocument/2006/relationships/slideLayout" Target="../slideLayouts/slideLayout76.xml"/><Relationship Id="rId20" Type="http://schemas.openxmlformats.org/officeDocument/2006/relationships/slideLayout" Target="../slideLayouts/slideLayout29.xml"/><Relationship Id="rId41" Type="http://schemas.openxmlformats.org/officeDocument/2006/relationships/slideLayout" Target="../slideLayouts/slideLayout50.xml"/><Relationship Id="rId54" Type="http://schemas.openxmlformats.org/officeDocument/2006/relationships/slideLayout" Target="../slideLayouts/slideLayout63.xml"/><Relationship Id="rId62" Type="http://schemas.openxmlformats.org/officeDocument/2006/relationships/slideLayout" Target="../slideLayouts/slideLayout71.xml"/><Relationship Id="rId70" Type="http://schemas.openxmlformats.org/officeDocument/2006/relationships/tags" Target="../tags/tag2.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5" Type="http://schemas.openxmlformats.org/officeDocument/2006/relationships/slideLayout" Target="../slideLayouts/slideLayout24.xml"/><Relationship Id="rId23" Type="http://schemas.openxmlformats.org/officeDocument/2006/relationships/slideLayout" Target="../slideLayouts/slideLayout32.xml"/><Relationship Id="rId28" Type="http://schemas.openxmlformats.org/officeDocument/2006/relationships/slideLayout" Target="../slideLayouts/slideLayout37.xml"/><Relationship Id="rId36" Type="http://schemas.openxmlformats.org/officeDocument/2006/relationships/slideLayout" Target="../slideLayouts/slideLayout45.xml"/><Relationship Id="rId49" Type="http://schemas.openxmlformats.org/officeDocument/2006/relationships/slideLayout" Target="../slideLayouts/slideLayout58.xml"/><Relationship Id="rId57" Type="http://schemas.openxmlformats.org/officeDocument/2006/relationships/slideLayout" Target="../slideLayouts/slideLayout66.xml"/><Relationship Id="rId10" Type="http://schemas.openxmlformats.org/officeDocument/2006/relationships/slideLayout" Target="../slideLayouts/slideLayout19.xml"/><Relationship Id="rId31" Type="http://schemas.openxmlformats.org/officeDocument/2006/relationships/slideLayout" Target="../slideLayouts/slideLayout40.xml"/><Relationship Id="rId44" Type="http://schemas.openxmlformats.org/officeDocument/2006/relationships/slideLayout" Target="../slideLayouts/slideLayout53.xml"/><Relationship Id="rId52" Type="http://schemas.openxmlformats.org/officeDocument/2006/relationships/slideLayout" Target="../slideLayouts/slideLayout61.xml"/><Relationship Id="rId60" Type="http://schemas.openxmlformats.org/officeDocument/2006/relationships/slideLayout" Target="../slideLayouts/slideLayout69.xml"/><Relationship Id="rId65" Type="http://schemas.openxmlformats.org/officeDocument/2006/relationships/slideLayout" Target="../slideLayouts/slideLayout74.xml"/><Relationship Id="rId73" Type="http://schemas.openxmlformats.org/officeDocument/2006/relationships/image" Target="../media/image14.png"/><Relationship Id="rId4" Type="http://schemas.openxmlformats.org/officeDocument/2006/relationships/slideLayout" Target="../slideLayouts/slideLayout13.xml"/><Relationship Id="rId9" Type="http://schemas.openxmlformats.org/officeDocument/2006/relationships/slideLayout" Target="../slideLayouts/slideLayout18.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9" Type="http://schemas.openxmlformats.org/officeDocument/2006/relationships/slideLayout" Target="../slideLayouts/slideLayout48.xml"/><Relationship Id="rId34" Type="http://schemas.openxmlformats.org/officeDocument/2006/relationships/slideLayout" Target="../slideLayouts/slideLayout43.xml"/><Relationship Id="rId50" Type="http://schemas.openxmlformats.org/officeDocument/2006/relationships/slideLayout" Target="../slideLayouts/slideLayout59.xml"/><Relationship Id="rId55" Type="http://schemas.openxmlformats.org/officeDocument/2006/relationships/slideLayout" Target="../slideLayouts/slideLayout64.xml"/><Relationship Id="rId7" Type="http://schemas.openxmlformats.org/officeDocument/2006/relationships/slideLayout" Target="../slideLayouts/slideLayout16.xml"/><Relationship Id="rId71" Type="http://schemas.openxmlformats.org/officeDocument/2006/relationships/oleObject" Target="../embeddings/oleObject2.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C59D199-2D1E-A00D-B150-3E8C1C4ACA9F}"/>
              </a:ext>
            </a:extLst>
          </p:cNvPr>
          <p:cNvGraphicFramePr>
            <a:graphicFrameLocks/>
          </p:cNvGraphicFramePr>
          <p:nvPr userDrawn="1">
            <p:custDataLst>
              <p:tags r:id="rId11"/>
            </p:custDataLst>
            <p:extLst>
              <p:ext uri="{D42A27DB-BD31-4B8C-83A1-F6EECF244321}">
                <p14:modId xmlns:p14="http://schemas.microsoft.com/office/powerpoint/2010/main" val="1432817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359" imgH="360" progId="TCLayout.ActiveDocument.1">
                  <p:embed/>
                </p:oleObj>
              </mc:Choice>
              <mc:Fallback>
                <p:oleObj name="think-cell Slide" r:id="rId12" imgW="359" imgH="360" progId="TCLayout.ActiveDocument.1">
                  <p:embed/>
                  <p:pic>
                    <p:nvPicPr>
                      <p:cNvPr id="3" name="think-cell data - do not delete" hidden="1">
                        <a:extLst>
                          <a:ext uri="{FF2B5EF4-FFF2-40B4-BE49-F238E27FC236}">
                            <a16:creationId xmlns:a16="http://schemas.microsoft.com/office/drawing/2014/main" id="{5C59D199-2D1E-A00D-B150-3E8C1C4ACA9F}"/>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pic>
        <p:nvPicPr>
          <p:cNvPr id="2" name="GRID" hidden="1">
            <a:extLst>
              <a:ext uri="{FF2B5EF4-FFF2-40B4-BE49-F238E27FC236}">
                <a16:creationId xmlns:a16="http://schemas.microsoft.com/office/drawing/2014/main" id="{A27D0679-8D96-1186-A961-BDC17B525A6F}"/>
              </a:ext>
            </a:extLst>
          </p:cNvPr>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8" name="Grid" hidden="1">
            <a:extLst>
              <a:ext uri="{FF2B5EF4-FFF2-40B4-BE49-F238E27FC236}">
                <a16:creationId xmlns:a16="http://schemas.microsoft.com/office/drawing/2014/main" id="{024FD6E4-FB58-8F2C-4970-BA22F72B1E3B}"/>
              </a:ext>
            </a:extLst>
          </p:cNvPr>
          <p:cNvGrpSpPr/>
          <p:nvPr userDrawn="1"/>
        </p:nvGrpSpPr>
        <p:grpSpPr>
          <a:xfrm>
            <a:off x="549678" y="549274"/>
            <a:ext cx="11089753" cy="5770739"/>
            <a:chOff x="550863" y="-3545094"/>
            <a:chExt cx="9958051" cy="6550747"/>
          </a:xfrm>
        </p:grpSpPr>
        <p:sp>
          <p:nvSpPr>
            <p:cNvPr id="9" name="Rectangle 8">
              <a:extLst>
                <a:ext uri="{FF2B5EF4-FFF2-40B4-BE49-F238E27FC236}">
                  <a16:creationId xmlns:a16="http://schemas.microsoft.com/office/drawing/2014/main" id="{550FDF70-DD32-1C30-8509-4B8416759995}"/>
                </a:ext>
              </a:extLst>
            </p:cNvPr>
            <p:cNvSpPr/>
            <p:nvPr userDrawn="1"/>
          </p:nvSpPr>
          <p:spPr>
            <a:xfrm>
              <a:off x="550863"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 name="Rectangle 9">
              <a:extLst>
                <a:ext uri="{FF2B5EF4-FFF2-40B4-BE49-F238E27FC236}">
                  <a16:creationId xmlns:a16="http://schemas.microsoft.com/office/drawing/2014/main" id="{95E3EC76-4D2A-6B22-2FC8-DEB33535899F}"/>
                </a:ext>
              </a:extLst>
            </p:cNvPr>
            <p:cNvSpPr/>
            <p:nvPr userDrawn="1"/>
          </p:nvSpPr>
          <p:spPr>
            <a:xfrm>
              <a:off x="1380744"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 name="Rectangle 10">
              <a:extLst>
                <a:ext uri="{FF2B5EF4-FFF2-40B4-BE49-F238E27FC236}">
                  <a16:creationId xmlns:a16="http://schemas.microsoft.com/office/drawing/2014/main" id="{D665C4FE-B8D2-47D7-732A-D32E72C4DC2F}"/>
                </a:ext>
              </a:extLst>
            </p:cNvPr>
            <p:cNvSpPr/>
            <p:nvPr userDrawn="1"/>
          </p:nvSpPr>
          <p:spPr>
            <a:xfrm>
              <a:off x="2210625"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 name="Rectangle 11">
              <a:extLst>
                <a:ext uri="{FF2B5EF4-FFF2-40B4-BE49-F238E27FC236}">
                  <a16:creationId xmlns:a16="http://schemas.microsoft.com/office/drawing/2014/main" id="{23ABFB77-D240-784B-E7C1-A94667A72F0F}"/>
                </a:ext>
              </a:extLst>
            </p:cNvPr>
            <p:cNvSpPr/>
            <p:nvPr userDrawn="1"/>
          </p:nvSpPr>
          <p:spPr>
            <a:xfrm>
              <a:off x="3040506"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 name="Rectangle 12">
              <a:extLst>
                <a:ext uri="{FF2B5EF4-FFF2-40B4-BE49-F238E27FC236}">
                  <a16:creationId xmlns:a16="http://schemas.microsoft.com/office/drawing/2014/main" id="{E12522DF-E08F-957C-8F43-714292E4AA64}"/>
                </a:ext>
              </a:extLst>
            </p:cNvPr>
            <p:cNvSpPr/>
            <p:nvPr userDrawn="1"/>
          </p:nvSpPr>
          <p:spPr>
            <a:xfrm>
              <a:off x="3870387"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 name="Rectangle 13">
              <a:extLst>
                <a:ext uri="{FF2B5EF4-FFF2-40B4-BE49-F238E27FC236}">
                  <a16:creationId xmlns:a16="http://schemas.microsoft.com/office/drawing/2014/main" id="{EA36BEEA-62B5-2C02-0517-050E15551A8C}"/>
                </a:ext>
              </a:extLst>
            </p:cNvPr>
            <p:cNvSpPr/>
            <p:nvPr userDrawn="1"/>
          </p:nvSpPr>
          <p:spPr>
            <a:xfrm>
              <a:off x="4700268"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 name="Rectangle 14">
              <a:extLst>
                <a:ext uri="{FF2B5EF4-FFF2-40B4-BE49-F238E27FC236}">
                  <a16:creationId xmlns:a16="http://schemas.microsoft.com/office/drawing/2014/main" id="{89F3BE4E-D290-6C1C-1631-98FE6534E64E}"/>
                </a:ext>
              </a:extLst>
            </p:cNvPr>
            <p:cNvSpPr/>
            <p:nvPr userDrawn="1"/>
          </p:nvSpPr>
          <p:spPr>
            <a:xfrm>
              <a:off x="5530149"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6" name="Rectangle 15">
              <a:extLst>
                <a:ext uri="{FF2B5EF4-FFF2-40B4-BE49-F238E27FC236}">
                  <a16:creationId xmlns:a16="http://schemas.microsoft.com/office/drawing/2014/main" id="{D57A5E90-7B26-0A9D-A9BE-F328C802CBB4}"/>
                </a:ext>
              </a:extLst>
            </p:cNvPr>
            <p:cNvSpPr/>
            <p:nvPr userDrawn="1"/>
          </p:nvSpPr>
          <p:spPr>
            <a:xfrm>
              <a:off x="6360030"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7" name="Rectangle 16">
              <a:extLst>
                <a:ext uri="{FF2B5EF4-FFF2-40B4-BE49-F238E27FC236}">
                  <a16:creationId xmlns:a16="http://schemas.microsoft.com/office/drawing/2014/main" id="{CFD194ED-3658-1487-7539-543325C92D81}"/>
                </a:ext>
              </a:extLst>
            </p:cNvPr>
            <p:cNvSpPr/>
            <p:nvPr userDrawn="1"/>
          </p:nvSpPr>
          <p:spPr>
            <a:xfrm>
              <a:off x="7189390"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8" name="Rectangle 17">
              <a:extLst>
                <a:ext uri="{FF2B5EF4-FFF2-40B4-BE49-F238E27FC236}">
                  <a16:creationId xmlns:a16="http://schemas.microsoft.com/office/drawing/2014/main" id="{60606FFE-CCC5-05EB-436F-A169395EA8BE}"/>
                </a:ext>
              </a:extLst>
            </p:cNvPr>
            <p:cNvSpPr/>
            <p:nvPr userDrawn="1"/>
          </p:nvSpPr>
          <p:spPr>
            <a:xfrm>
              <a:off x="8019271"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1" name="Rectangle 20">
              <a:extLst>
                <a:ext uri="{FF2B5EF4-FFF2-40B4-BE49-F238E27FC236}">
                  <a16:creationId xmlns:a16="http://schemas.microsoft.com/office/drawing/2014/main" id="{EC7881AE-ED36-4599-DA12-BF620AAD028E}"/>
                </a:ext>
              </a:extLst>
            </p:cNvPr>
            <p:cNvSpPr/>
            <p:nvPr userDrawn="1"/>
          </p:nvSpPr>
          <p:spPr>
            <a:xfrm>
              <a:off x="8849152"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3" name="Rectangle 22">
              <a:extLst>
                <a:ext uri="{FF2B5EF4-FFF2-40B4-BE49-F238E27FC236}">
                  <a16:creationId xmlns:a16="http://schemas.microsoft.com/office/drawing/2014/main" id="{72318C2D-D635-B205-B126-ECA9FA2FD297}"/>
                </a:ext>
              </a:extLst>
            </p:cNvPr>
            <p:cNvSpPr/>
            <p:nvPr userDrawn="1"/>
          </p:nvSpPr>
          <p:spPr>
            <a:xfrm>
              <a:off x="9679033"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 name="Rectangle 23">
              <a:extLst>
                <a:ext uri="{FF2B5EF4-FFF2-40B4-BE49-F238E27FC236}">
                  <a16:creationId xmlns:a16="http://schemas.microsoft.com/office/drawing/2014/main" id="{41F17CEE-5E02-A567-2574-160DEAAB4A9D}"/>
                </a:ext>
              </a:extLst>
            </p:cNvPr>
            <p:cNvSpPr/>
            <p:nvPr userDrawn="1"/>
          </p:nvSpPr>
          <p:spPr>
            <a:xfrm>
              <a:off x="550863"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5" name="Rectangle 24">
              <a:extLst>
                <a:ext uri="{FF2B5EF4-FFF2-40B4-BE49-F238E27FC236}">
                  <a16:creationId xmlns:a16="http://schemas.microsoft.com/office/drawing/2014/main" id="{561965AB-8922-F724-CCF2-1D9199CEC171}"/>
                </a:ext>
              </a:extLst>
            </p:cNvPr>
            <p:cNvSpPr/>
            <p:nvPr userDrawn="1"/>
          </p:nvSpPr>
          <p:spPr>
            <a:xfrm>
              <a:off x="1380744"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6" name="Rectangle 25">
              <a:extLst>
                <a:ext uri="{FF2B5EF4-FFF2-40B4-BE49-F238E27FC236}">
                  <a16:creationId xmlns:a16="http://schemas.microsoft.com/office/drawing/2014/main" id="{B1E0028D-5314-38A6-B7F3-5C74FEBAF807}"/>
                </a:ext>
              </a:extLst>
            </p:cNvPr>
            <p:cNvSpPr/>
            <p:nvPr userDrawn="1"/>
          </p:nvSpPr>
          <p:spPr>
            <a:xfrm>
              <a:off x="2210625"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7" name="Rectangle 26">
              <a:extLst>
                <a:ext uri="{FF2B5EF4-FFF2-40B4-BE49-F238E27FC236}">
                  <a16:creationId xmlns:a16="http://schemas.microsoft.com/office/drawing/2014/main" id="{45D3C2B3-227F-3ED7-6E5C-AC6723C203A7}"/>
                </a:ext>
              </a:extLst>
            </p:cNvPr>
            <p:cNvSpPr/>
            <p:nvPr userDrawn="1"/>
          </p:nvSpPr>
          <p:spPr>
            <a:xfrm>
              <a:off x="3040506"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8" name="Rectangle 27">
              <a:extLst>
                <a:ext uri="{FF2B5EF4-FFF2-40B4-BE49-F238E27FC236}">
                  <a16:creationId xmlns:a16="http://schemas.microsoft.com/office/drawing/2014/main" id="{5DC24B5D-44E8-B14B-2C37-34F86BF626FF}"/>
                </a:ext>
              </a:extLst>
            </p:cNvPr>
            <p:cNvSpPr/>
            <p:nvPr userDrawn="1"/>
          </p:nvSpPr>
          <p:spPr>
            <a:xfrm>
              <a:off x="3870387"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0" name="Rectangle 29">
              <a:extLst>
                <a:ext uri="{FF2B5EF4-FFF2-40B4-BE49-F238E27FC236}">
                  <a16:creationId xmlns:a16="http://schemas.microsoft.com/office/drawing/2014/main" id="{48F07DCC-1CBF-D9CF-9530-592D3D86CAAB}"/>
                </a:ext>
              </a:extLst>
            </p:cNvPr>
            <p:cNvSpPr/>
            <p:nvPr userDrawn="1"/>
          </p:nvSpPr>
          <p:spPr>
            <a:xfrm>
              <a:off x="4700268"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1" name="Rectangle 30">
              <a:extLst>
                <a:ext uri="{FF2B5EF4-FFF2-40B4-BE49-F238E27FC236}">
                  <a16:creationId xmlns:a16="http://schemas.microsoft.com/office/drawing/2014/main" id="{D4714D3A-FA9D-5DFC-6786-D17EE37F3DF8}"/>
                </a:ext>
              </a:extLst>
            </p:cNvPr>
            <p:cNvSpPr/>
            <p:nvPr userDrawn="1"/>
          </p:nvSpPr>
          <p:spPr>
            <a:xfrm>
              <a:off x="5530149"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2" name="Rectangle 31">
              <a:extLst>
                <a:ext uri="{FF2B5EF4-FFF2-40B4-BE49-F238E27FC236}">
                  <a16:creationId xmlns:a16="http://schemas.microsoft.com/office/drawing/2014/main" id="{F86FCB8E-B958-7334-45DA-59837F83ECEA}"/>
                </a:ext>
              </a:extLst>
            </p:cNvPr>
            <p:cNvSpPr/>
            <p:nvPr userDrawn="1"/>
          </p:nvSpPr>
          <p:spPr>
            <a:xfrm>
              <a:off x="6360030"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3" name="Rectangle 32">
              <a:extLst>
                <a:ext uri="{FF2B5EF4-FFF2-40B4-BE49-F238E27FC236}">
                  <a16:creationId xmlns:a16="http://schemas.microsoft.com/office/drawing/2014/main" id="{79A401A3-6A37-BB6D-34E5-18A3DBB55680}"/>
                </a:ext>
              </a:extLst>
            </p:cNvPr>
            <p:cNvSpPr/>
            <p:nvPr userDrawn="1"/>
          </p:nvSpPr>
          <p:spPr>
            <a:xfrm>
              <a:off x="7189390"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4" name="Rectangle 33">
              <a:extLst>
                <a:ext uri="{FF2B5EF4-FFF2-40B4-BE49-F238E27FC236}">
                  <a16:creationId xmlns:a16="http://schemas.microsoft.com/office/drawing/2014/main" id="{4142E4B1-7CB0-57FD-AFFD-18880A13C128}"/>
                </a:ext>
              </a:extLst>
            </p:cNvPr>
            <p:cNvSpPr/>
            <p:nvPr userDrawn="1"/>
          </p:nvSpPr>
          <p:spPr>
            <a:xfrm>
              <a:off x="8019271"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6" name="Rectangle 35">
              <a:extLst>
                <a:ext uri="{FF2B5EF4-FFF2-40B4-BE49-F238E27FC236}">
                  <a16:creationId xmlns:a16="http://schemas.microsoft.com/office/drawing/2014/main" id="{305B723B-3852-A882-30C8-D3FA5FC13728}"/>
                </a:ext>
              </a:extLst>
            </p:cNvPr>
            <p:cNvSpPr/>
            <p:nvPr userDrawn="1"/>
          </p:nvSpPr>
          <p:spPr>
            <a:xfrm>
              <a:off x="8849152"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7" name="Rectangle 36">
              <a:extLst>
                <a:ext uri="{FF2B5EF4-FFF2-40B4-BE49-F238E27FC236}">
                  <a16:creationId xmlns:a16="http://schemas.microsoft.com/office/drawing/2014/main" id="{8A1864D4-4E4B-4DF1-E954-7B4BE053ED44}"/>
                </a:ext>
              </a:extLst>
            </p:cNvPr>
            <p:cNvSpPr/>
            <p:nvPr userDrawn="1"/>
          </p:nvSpPr>
          <p:spPr>
            <a:xfrm>
              <a:off x="9679033"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9" name="Rectangle 38">
              <a:extLst>
                <a:ext uri="{FF2B5EF4-FFF2-40B4-BE49-F238E27FC236}">
                  <a16:creationId xmlns:a16="http://schemas.microsoft.com/office/drawing/2014/main" id="{35C1F88B-3DD3-A380-5D31-BF29753DE607}"/>
                </a:ext>
              </a:extLst>
            </p:cNvPr>
            <p:cNvSpPr/>
            <p:nvPr userDrawn="1"/>
          </p:nvSpPr>
          <p:spPr>
            <a:xfrm>
              <a:off x="550863"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0" name="Rectangle 39">
              <a:extLst>
                <a:ext uri="{FF2B5EF4-FFF2-40B4-BE49-F238E27FC236}">
                  <a16:creationId xmlns:a16="http://schemas.microsoft.com/office/drawing/2014/main" id="{D8B35E34-4124-B73E-4852-EEBA52A61591}"/>
                </a:ext>
              </a:extLst>
            </p:cNvPr>
            <p:cNvSpPr/>
            <p:nvPr userDrawn="1"/>
          </p:nvSpPr>
          <p:spPr>
            <a:xfrm>
              <a:off x="1380744"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1" name="Rectangle 40">
              <a:extLst>
                <a:ext uri="{FF2B5EF4-FFF2-40B4-BE49-F238E27FC236}">
                  <a16:creationId xmlns:a16="http://schemas.microsoft.com/office/drawing/2014/main" id="{9AA64E5C-9C2F-BD49-CCC5-94F4EAAD0569}"/>
                </a:ext>
              </a:extLst>
            </p:cNvPr>
            <p:cNvSpPr/>
            <p:nvPr userDrawn="1"/>
          </p:nvSpPr>
          <p:spPr>
            <a:xfrm>
              <a:off x="2210625"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2" name="Rectangle 41">
              <a:extLst>
                <a:ext uri="{FF2B5EF4-FFF2-40B4-BE49-F238E27FC236}">
                  <a16:creationId xmlns:a16="http://schemas.microsoft.com/office/drawing/2014/main" id="{5971C0DE-464E-7790-941A-618384325814}"/>
                </a:ext>
              </a:extLst>
            </p:cNvPr>
            <p:cNvSpPr/>
            <p:nvPr userDrawn="1"/>
          </p:nvSpPr>
          <p:spPr>
            <a:xfrm>
              <a:off x="3040506"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3" name="Rectangle 42">
              <a:extLst>
                <a:ext uri="{FF2B5EF4-FFF2-40B4-BE49-F238E27FC236}">
                  <a16:creationId xmlns:a16="http://schemas.microsoft.com/office/drawing/2014/main" id="{EA0B2EF0-47BF-2B3E-09A6-4E4DD93E4E41}"/>
                </a:ext>
              </a:extLst>
            </p:cNvPr>
            <p:cNvSpPr/>
            <p:nvPr userDrawn="1"/>
          </p:nvSpPr>
          <p:spPr>
            <a:xfrm>
              <a:off x="3870387"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4" name="Rectangle 43">
              <a:extLst>
                <a:ext uri="{FF2B5EF4-FFF2-40B4-BE49-F238E27FC236}">
                  <a16:creationId xmlns:a16="http://schemas.microsoft.com/office/drawing/2014/main" id="{60A69866-4C0E-06B3-8C40-581FEBF5AC4F}"/>
                </a:ext>
              </a:extLst>
            </p:cNvPr>
            <p:cNvSpPr/>
            <p:nvPr userDrawn="1"/>
          </p:nvSpPr>
          <p:spPr>
            <a:xfrm>
              <a:off x="4700268"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5" name="Rectangle 44">
              <a:extLst>
                <a:ext uri="{FF2B5EF4-FFF2-40B4-BE49-F238E27FC236}">
                  <a16:creationId xmlns:a16="http://schemas.microsoft.com/office/drawing/2014/main" id="{A0C3F9A6-B205-A790-0852-055A5AD2E318}"/>
                </a:ext>
              </a:extLst>
            </p:cNvPr>
            <p:cNvSpPr/>
            <p:nvPr userDrawn="1"/>
          </p:nvSpPr>
          <p:spPr>
            <a:xfrm>
              <a:off x="5530149"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6" name="Rectangle 45">
              <a:extLst>
                <a:ext uri="{FF2B5EF4-FFF2-40B4-BE49-F238E27FC236}">
                  <a16:creationId xmlns:a16="http://schemas.microsoft.com/office/drawing/2014/main" id="{C4872B39-84DF-1E34-27CB-26396231A330}"/>
                </a:ext>
              </a:extLst>
            </p:cNvPr>
            <p:cNvSpPr/>
            <p:nvPr userDrawn="1"/>
          </p:nvSpPr>
          <p:spPr>
            <a:xfrm>
              <a:off x="6360030"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7" name="Rectangle 46">
              <a:extLst>
                <a:ext uri="{FF2B5EF4-FFF2-40B4-BE49-F238E27FC236}">
                  <a16:creationId xmlns:a16="http://schemas.microsoft.com/office/drawing/2014/main" id="{B874C177-5208-34F6-95D7-B9401D640324}"/>
                </a:ext>
              </a:extLst>
            </p:cNvPr>
            <p:cNvSpPr/>
            <p:nvPr userDrawn="1"/>
          </p:nvSpPr>
          <p:spPr>
            <a:xfrm>
              <a:off x="7189390"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8" name="Rectangle 47">
              <a:extLst>
                <a:ext uri="{FF2B5EF4-FFF2-40B4-BE49-F238E27FC236}">
                  <a16:creationId xmlns:a16="http://schemas.microsoft.com/office/drawing/2014/main" id="{10D6009D-FDF5-0250-FF79-A5F6A74BEC1C}"/>
                </a:ext>
              </a:extLst>
            </p:cNvPr>
            <p:cNvSpPr/>
            <p:nvPr userDrawn="1"/>
          </p:nvSpPr>
          <p:spPr>
            <a:xfrm>
              <a:off x="8019271"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9" name="Rectangle 48">
              <a:extLst>
                <a:ext uri="{FF2B5EF4-FFF2-40B4-BE49-F238E27FC236}">
                  <a16:creationId xmlns:a16="http://schemas.microsoft.com/office/drawing/2014/main" id="{75DA65E6-FCCA-E5A7-67B7-943AF9E614A3}"/>
                </a:ext>
              </a:extLst>
            </p:cNvPr>
            <p:cNvSpPr/>
            <p:nvPr userDrawn="1"/>
          </p:nvSpPr>
          <p:spPr>
            <a:xfrm>
              <a:off x="8849152"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0" name="Rectangle 49">
              <a:extLst>
                <a:ext uri="{FF2B5EF4-FFF2-40B4-BE49-F238E27FC236}">
                  <a16:creationId xmlns:a16="http://schemas.microsoft.com/office/drawing/2014/main" id="{4C52CDEC-D9AD-3191-ED71-17B6197AC802}"/>
                </a:ext>
              </a:extLst>
            </p:cNvPr>
            <p:cNvSpPr/>
            <p:nvPr userDrawn="1"/>
          </p:nvSpPr>
          <p:spPr>
            <a:xfrm>
              <a:off x="9679033"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1" name="Rectangle 50">
              <a:extLst>
                <a:ext uri="{FF2B5EF4-FFF2-40B4-BE49-F238E27FC236}">
                  <a16:creationId xmlns:a16="http://schemas.microsoft.com/office/drawing/2014/main" id="{79B31F84-7B1D-1B38-3826-5273A6888B8A}"/>
                </a:ext>
              </a:extLst>
            </p:cNvPr>
            <p:cNvSpPr/>
            <p:nvPr userDrawn="1"/>
          </p:nvSpPr>
          <p:spPr>
            <a:xfrm>
              <a:off x="550863"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2" name="Rectangle 51">
              <a:extLst>
                <a:ext uri="{FF2B5EF4-FFF2-40B4-BE49-F238E27FC236}">
                  <a16:creationId xmlns:a16="http://schemas.microsoft.com/office/drawing/2014/main" id="{3914E35A-30F5-BA65-B0C3-8FC6DF59E368}"/>
                </a:ext>
              </a:extLst>
            </p:cNvPr>
            <p:cNvSpPr/>
            <p:nvPr userDrawn="1"/>
          </p:nvSpPr>
          <p:spPr>
            <a:xfrm>
              <a:off x="1380744"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3" name="Rectangle 52">
              <a:extLst>
                <a:ext uri="{FF2B5EF4-FFF2-40B4-BE49-F238E27FC236}">
                  <a16:creationId xmlns:a16="http://schemas.microsoft.com/office/drawing/2014/main" id="{9BBE4EE0-9D8F-E6A3-312D-7029DEBAF8D2}"/>
                </a:ext>
              </a:extLst>
            </p:cNvPr>
            <p:cNvSpPr/>
            <p:nvPr userDrawn="1"/>
          </p:nvSpPr>
          <p:spPr>
            <a:xfrm>
              <a:off x="2210625"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4" name="Rectangle 53">
              <a:extLst>
                <a:ext uri="{FF2B5EF4-FFF2-40B4-BE49-F238E27FC236}">
                  <a16:creationId xmlns:a16="http://schemas.microsoft.com/office/drawing/2014/main" id="{FA85BB7F-2D0D-2553-D681-668EF747B673}"/>
                </a:ext>
              </a:extLst>
            </p:cNvPr>
            <p:cNvSpPr/>
            <p:nvPr userDrawn="1"/>
          </p:nvSpPr>
          <p:spPr>
            <a:xfrm>
              <a:off x="3040506"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5" name="Rectangle 54">
              <a:extLst>
                <a:ext uri="{FF2B5EF4-FFF2-40B4-BE49-F238E27FC236}">
                  <a16:creationId xmlns:a16="http://schemas.microsoft.com/office/drawing/2014/main" id="{5AC7D236-8860-BF5A-E3BE-E93965CBADCA}"/>
                </a:ext>
              </a:extLst>
            </p:cNvPr>
            <p:cNvSpPr/>
            <p:nvPr userDrawn="1"/>
          </p:nvSpPr>
          <p:spPr>
            <a:xfrm>
              <a:off x="3870387"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6" name="Rectangle 55">
              <a:extLst>
                <a:ext uri="{FF2B5EF4-FFF2-40B4-BE49-F238E27FC236}">
                  <a16:creationId xmlns:a16="http://schemas.microsoft.com/office/drawing/2014/main" id="{F6FEDBA3-F3BE-4CBC-F956-31BE59E1B4E1}"/>
                </a:ext>
              </a:extLst>
            </p:cNvPr>
            <p:cNvSpPr/>
            <p:nvPr userDrawn="1"/>
          </p:nvSpPr>
          <p:spPr>
            <a:xfrm>
              <a:off x="4700268"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7" name="Rectangle 56">
              <a:extLst>
                <a:ext uri="{FF2B5EF4-FFF2-40B4-BE49-F238E27FC236}">
                  <a16:creationId xmlns:a16="http://schemas.microsoft.com/office/drawing/2014/main" id="{363930BE-564B-67EB-1A5E-3B29529EDA21}"/>
                </a:ext>
              </a:extLst>
            </p:cNvPr>
            <p:cNvSpPr/>
            <p:nvPr userDrawn="1"/>
          </p:nvSpPr>
          <p:spPr>
            <a:xfrm>
              <a:off x="5530149"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8" name="Rectangle 57">
              <a:extLst>
                <a:ext uri="{FF2B5EF4-FFF2-40B4-BE49-F238E27FC236}">
                  <a16:creationId xmlns:a16="http://schemas.microsoft.com/office/drawing/2014/main" id="{9BC98667-548C-C79D-A830-FB332BF732A4}"/>
                </a:ext>
              </a:extLst>
            </p:cNvPr>
            <p:cNvSpPr/>
            <p:nvPr userDrawn="1"/>
          </p:nvSpPr>
          <p:spPr>
            <a:xfrm>
              <a:off x="6360030"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9" name="Rectangle 58">
              <a:extLst>
                <a:ext uri="{FF2B5EF4-FFF2-40B4-BE49-F238E27FC236}">
                  <a16:creationId xmlns:a16="http://schemas.microsoft.com/office/drawing/2014/main" id="{9040335B-568F-A40A-5EC9-41DCBC2EAB73}"/>
                </a:ext>
              </a:extLst>
            </p:cNvPr>
            <p:cNvSpPr/>
            <p:nvPr userDrawn="1"/>
          </p:nvSpPr>
          <p:spPr>
            <a:xfrm>
              <a:off x="7189390"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0" name="Rectangle 59">
              <a:extLst>
                <a:ext uri="{FF2B5EF4-FFF2-40B4-BE49-F238E27FC236}">
                  <a16:creationId xmlns:a16="http://schemas.microsoft.com/office/drawing/2014/main" id="{70D0376A-2F17-FCF7-1B1A-8E81D43838BF}"/>
                </a:ext>
              </a:extLst>
            </p:cNvPr>
            <p:cNvSpPr/>
            <p:nvPr userDrawn="1"/>
          </p:nvSpPr>
          <p:spPr>
            <a:xfrm>
              <a:off x="8019271"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1" name="Rectangle 60">
              <a:extLst>
                <a:ext uri="{FF2B5EF4-FFF2-40B4-BE49-F238E27FC236}">
                  <a16:creationId xmlns:a16="http://schemas.microsoft.com/office/drawing/2014/main" id="{ECD1A92E-FDB6-51B9-B276-B561ADFB7B01}"/>
                </a:ext>
              </a:extLst>
            </p:cNvPr>
            <p:cNvSpPr/>
            <p:nvPr userDrawn="1"/>
          </p:nvSpPr>
          <p:spPr>
            <a:xfrm>
              <a:off x="8849152"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2" name="Rectangle 61">
              <a:extLst>
                <a:ext uri="{FF2B5EF4-FFF2-40B4-BE49-F238E27FC236}">
                  <a16:creationId xmlns:a16="http://schemas.microsoft.com/office/drawing/2014/main" id="{66EC5AEC-46DD-E480-93E7-AE5D4777CA5D}"/>
                </a:ext>
              </a:extLst>
            </p:cNvPr>
            <p:cNvSpPr/>
            <p:nvPr userDrawn="1"/>
          </p:nvSpPr>
          <p:spPr>
            <a:xfrm>
              <a:off x="9679033"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3" name="Rectangle 62">
              <a:extLst>
                <a:ext uri="{FF2B5EF4-FFF2-40B4-BE49-F238E27FC236}">
                  <a16:creationId xmlns:a16="http://schemas.microsoft.com/office/drawing/2014/main" id="{9685EB1F-230A-2414-A915-1C5EA19A5F75}"/>
                </a:ext>
              </a:extLst>
            </p:cNvPr>
            <p:cNvSpPr/>
            <p:nvPr userDrawn="1"/>
          </p:nvSpPr>
          <p:spPr>
            <a:xfrm>
              <a:off x="550863"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4" name="Rectangle 63">
              <a:extLst>
                <a:ext uri="{FF2B5EF4-FFF2-40B4-BE49-F238E27FC236}">
                  <a16:creationId xmlns:a16="http://schemas.microsoft.com/office/drawing/2014/main" id="{BD4EF0B5-F6B6-0992-79AD-02F3D5D6FAA5}"/>
                </a:ext>
              </a:extLst>
            </p:cNvPr>
            <p:cNvSpPr/>
            <p:nvPr userDrawn="1"/>
          </p:nvSpPr>
          <p:spPr>
            <a:xfrm>
              <a:off x="1380744"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5" name="Rectangle 64">
              <a:extLst>
                <a:ext uri="{FF2B5EF4-FFF2-40B4-BE49-F238E27FC236}">
                  <a16:creationId xmlns:a16="http://schemas.microsoft.com/office/drawing/2014/main" id="{0A881D11-34EF-C3D4-1389-BADBA81D23C2}"/>
                </a:ext>
              </a:extLst>
            </p:cNvPr>
            <p:cNvSpPr/>
            <p:nvPr userDrawn="1"/>
          </p:nvSpPr>
          <p:spPr>
            <a:xfrm>
              <a:off x="2210625"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6" name="Rectangle 65">
              <a:extLst>
                <a:ext uri="{FF2B5EF4-FFF2-40B4-BE49-F238E27FC236}">
                  <a16:creationId xmlns:a16="http://schemas.microsoft.com/office/drawing/2014/main" id="{4AE42EB4-11B1-BD69-93E9-CD0FBFC7DB31}"/>
                </a:ext>
              </a:extLst>
            </p:cNvPr>
            <p:cNvSpPr/>
            <p:nvPr userDrawn="1"/>
          </p:nvSpPr>
          <p:spPr>
            <a:xfrm>
              <a:off x="3040506"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7" name="Rectangle 66">
              <a:extLst>
                <a:ext uri="{FF2B5EF4-FFF2-40B4-BE49-F238E27FC236}">
                  <a16:creationId xmlns:a16="http://schemas.microsoft.com/office/drawing/2014/main" id="{F8460494-2109-1730-97F3-E66D0BCA6C02}"/>
                </a:ext>
              </a:extLst>
            </p:cNvPr>
            <p:cNvSpPr/>
            <p:nvPr userDrawn="1"/>
          </p:nvSpPr>
          <p:spPr>
            <a:xfrm>
              <a:off x="3870387"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8" name="Rectangle 67">
              <a:extLst>
                <a:ext uri="{FF2B5EF4-FFF2-40B4-BE49-F238E27FC236}">
                  <a16:creationId xmlns:a16="http://schemas.microsoft.com/office/drawing/2014/main" id="{D29E103D-9633-7849-52C1-ED462B84C6CB}"/>
                </a:ext>
              </a:extLst>
            </p:cNvPr>
            <p:cNvSpPr/>
            <p:nvPr userDrawn="1"/>
          </p:nvSpPr>
          <p:spPr>
            <a:xfrm>
              <a:off x="4700268"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9" name="Rectangle 68">
              <a:extLst>
                <a:ext uri="{FF2B5EF4-FFF2-40B4-BE49-F238E27FC236}">
                  <a16:creationId xmlns:a16="http://schemas.microsoft.com/office/drawing/2014/main" id="{C4DF1ADD-F113-757B-D4C8-DE6F552913C2}"/>
                </a:ext>
              </a:extLst>
            </p:cNvPr>
            <p:cNvSpPr/>
            <p:nvPr userDrawn="1"/>
          </p:nvSpPr>
          <p:spPr>
            <a:xfrm>
              <a:off x="5530149"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0" name="Rectangle 69">
              <a:extLst>
                <a:ext uri="{FF2B5EF4-FFF2-40B4-BE49-F238E27FC236}">
                  <a16:creationId xmlns:a16="http://schemas.microsoft.com/office/drawing/2014/main" id="{C02B09A4-6412-DEAE-95CF-0F1F00F9191C}"/>
                </a:ext>
              </a:extLst>
            </p:cNvPr>
            <p:cNvSpPr/>
            <p:nvPr userDrawn="1"/>
          </p:nvSpPr>
          <p:spPr>
            <a:xfrm>
              <a:off x="6360030"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1" name="Rectangle 70">
              <a:extLst>
                <a:ext uri="{FF2B5EF4-FFF2-40B4-BE49-F238E27FC236}">
                  <a16:creationId xmlns:a16="http://schemas.microsoft.com/office/drawing/2014/main" id="{F8F2C86A-4D47-E9DF-B891-F81B07032AAF}"/>
                </a:ext>
              </a:extLst>
            </p:cNvPr>
            <p:cNvSpPr/>
            <p:nvPr userDrawn="1"/>
          </p:nvSpPr>
          <p:spPr>
            <a:xfrm>
              <a:off x="7189390"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2" name="Rectangle 71">
              <a:extLst>
                <a:ext uri="{FF2B5EF4-FFF2-40B4-BE49-F238E27FC236}">
                  <a16:creationId xmlns:a16="http://schemas.microsoft.com/office/drawing/2014/main" id="{31E3B042-602F-649F-28FE-CC4549DCAB2B}"/>
                </a:ext>
              </a:extLst>
            </p:cNvPr>
            <p:cNvSpPr/>
            <p:nvPr userDrawn="1"/>
          </p:nvSpPr>
          <p:spPr>
            <a:xfrm>
              <a:off x="8019271"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3" name="Rectangle 72">
              <a:extLst>
                <a:ext uri="{FF2B5EF4-FFF2-40B4-BE49-F238E27FC236}">
                  <a16:creationId xmlns:a16="http://schemas.microsoft.com/office/drawing/2014/main" id="{F03B8344-FBE8-C515-96E7-17BD0BA878E5}"/>
                </a:ext>
              </a:extLst>
            </p:cNvPr>
            <p:cNvSpPr/>
            <p:nvPr userDrawn="1"/>
          </p:nvSpPr>
          <p:spPr>
            <a:xfrm>
              <a:off x="8849152"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4" name="Rectangle 73">
              <a:extLst>
                <a:ext uri="{FF2B5EF4-FFF2-40B4-BE49-F238E27FC236}">
                  <a16:creationId xmlns:a16="http://schemas.microsoft.com/office/drawing/2014/main" id="{F5DD76EA-A309-43B0-4583-323113F5D47E}"/>
                </a:ext>
              </a:extLst>
            </p:cNvPr>
            <p:cNvSpPr/>
            <p:nvPr userDrawn="1"/>
          </p:nvSpPr>
          <p:spPr>
            <a:xfrm>
              <a:off x="9679033"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5" name="Rectangle 74">
              <a:extLst>
                <a:ext uri="{FF2B5EF4-FFF2-40B4-BE49-F238E27FC236}">
                  <a16:creationId xmlns:a16="http://schemas.microsoft.com/office/drawing/2014/main" id="{F937B8FA-0BE9-4393-8775-5ADF8A8C6A67}"/>
                </a:ext>
              </a:extLst>
            </p:cNvPr>
            <p:cNvSpPr/>
            <p:nvPr userDrawn="1"/>
          </p:nvSpPr>
          <p:spPr>
            <a:xfrm>
              <a:off x="550863"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6" name="Rectangle 75">
              <a:extLst>
                <a:ext uri="{FF2B5EF4-FFF2-40B4-BE49-F238E27FC236}">
                  <a16:creationId xmlns:a16="http://schemas.microsoft.com/office/drawing/2014/main" id="{D43974A4-4A7E-0F9A-FFC3-C647B6216A4F}"/>
                </a:ext>
              </a:extLst>
            </p:cNvPr>
            <p:cNvSpPr/>
            <p:nvPr userDrawn="1"/>
          </p:nvSpPr>
          <p:spPr>
            <a:xfrm>
              <a:off x="1380744"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7" name="Rectangle 76">
              <a:extLst>
                <a:ext uri="{FF2B5EF4-FFF2-40B4-BE49-F238E27FC236}">
                  <a16:creationId xmlns:a16="http://schemas.microsoft.com/office/drawing/2014/main" id="{C24137E1-BCBB-B634-C04B-30D2DB6340AC}"/>
                </a:ext>
              </a:extLst>
            </p:cNvPr>
            <p:cNvSpPr/>
            <p:nvPr userDrawn="1"/>
          </p:nvSpPr>
          <p:spPr>
            <a:xfrm>
              <a:off x="2210625"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8" name="Rectangle 77">
              <a:extLst>
                <a:ext uri="{FF2B5EF4-FFF2-40B4-BE49-F238E27FC236}">
                  <a16:creationId xmlns:a16="http://schemas.microsoft.com/office/drawing/2014/main" id="{040D179E-DCFB-2B04-1816-A0DA58979AB7}"/>
                </a:ext>
              </a:extLst>
            </p:cNvPr>
            <p:cNvSpPr/>
            <p:nvPr userDrawn="1"/>
          </p:nvSpPr>
          <p:spPr>
            <a:xfrm>
              <a:off x="3040506"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9" name="Rectangle 78">
              <a:extLst>
                <a:ext uri="{FF2B5EF4-FFF2-40B4-BE49-F238E27FC236}">
                  <a16:creationId xmlns:a16="http://schemas.microsoft.com/office/drawing/2014/main" id="{F25A50D3-9254-6B06-E6E5-548D822F9E9D}"/>
                </a:ext>
              </a:extLst>
            </p:cNvPr>
            <p:cNvSpPr/>
            <p:nvPr userDrawn="1"/>
          </p:nvSpPr>
          <p:spPr>
            <a:xfrm>
              <a:off x="3870387"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0" name="Rectangle 79">
              <a:extLst>
                <a:ext uri="{FF2B5EF4-FFF2-40B4-BE49-F238E27FC236}">
                  <a16:creationId xmlns:a16="http://schemas.microsoft.com/office/drawing/2014/main" id="{4C05021C-D713-B633-F62D-333D95CF0061}"/>
                </a:ext>
              </a:extLst>
            </p:cNvPr>
            <p:cNvSpPr/>
            <p:nvPr userDrawn="1"/>
          </p:nvSpPr>
          <p:spPr>
            <a:xfrm>
              <a:off x="4700268"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1" name="Rectangle 80">
              <a:extLst>
                <a:ext uri="{FF2B5EF4-FFF2-40B4-BE49-F238E27FC236}">
                  <a16:creationId xmlns:a16="http://schemas.microsoft.com/office/drawing/2014/main" id="{538AE4D1-CAA6-347C-23A7-A8D687674A19}"/>
                </a:ext>
              </a:extLst>
            </p:cNvPr>
            <p:cNvSpPr/>
            <p:nvPr userDrawn="1"/>
          </p:nvSpPr>
          <p:spPr>
            <a:xfrm>
              <a:off x="5530149"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2" name="Rectangle 81">
              <a:extLst>
                <a:ext uri="{FF2B5EF4-FFF2-40B4-BE49-F238E27FC236}">
                  <a16:creationId xmlns:a16="http://schemas.microsoft.com/office/drawing/2014/main" id="{65BC94F4-E69E-5C2B-DB4B-BDE4B09DBABF}"/>
                </a:ext>
              </a:extLst>
            </p:cNvPr>
            <p:cNvSpPr/>
            <p:nvPr userDrawn="1"/>
          </p:nvSpPr>
          <p:spPr>
            <a:xfrm>
              <a:off x="6360030"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3" name="Rectangle 82">
              <a:extLst>
                <a:ext uri="{FF2B5EF4-FFF2-40B4-BE49-F238E27FC236}">
                  <a16:creationId xmlns:a16="http://schemas.microsoft.com/office/drawing/2014/main" id="{13C64B6D-D664-1C5E-CF4B-785885995AB7}"/>
                </a:ext>
              </a:extLst>
            </p:cNvPr>
            <p:cNvSpPr/>
            <p:nvPr userDrawn="1"/>
          </p:nvSpPr>
          <p:spPr>
            <a:xfrm>
              <a:off x="7189390"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4" name="Rectangle 83">
              <a:extLst>
                <a:ext uri="{FF2B5EF4-FFF2-40B4-BE49-F238E27FC236}">
                  <a16:creationId xmlns:a16="http://schemas.microsoft.com/office/drawing/2014/main" id="{2BA4D5DE-C552-59DC-4F49-A9920F46E592}"/>
                </a:ext>
              </a:extLst>
            </p:cNvPr>
            <p:cNvSpPr/>
            <p:nvPr userDrawn="1"/>
          </p:nvSpPr>
          <p:spPr>
            <a:xfrm>
              <a:off x="8019271"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5" name="Rectangle 84">
              <a:extLst>
                <a:ext uri="{FF2B5EF4-FFF2-40B4-BE49-F238E27FC236}">
                  <a16:creationId xmlns:a16="http://schemas.microsoft.com/office/drawing/2014/main" id="{34D3B8B2-3385-2BB7-2228-2FBD28F04E40}"/>
                </a:ext>
              </a:extLst>
            </p:cNvPr>
            <p:cNvSpPr/>
            <p:nvPr userDrawn="1"/>
          </p:nvSpPr>
          <p:spPr>
            <a:xfrm>
              <a:off x="8849152"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6" name="Rectangle 85">
              <a:extLst>
                <a:ext uri="{FF2B5EF4-FFF2-40B4-BE49-F238E27FC236}">
                  <a16:creationId xmlns:a16="http://schemas.microsoft.com/office/drawing/2014/main" id="{55823E0B-EA1F-A558-CB38-65AF8CF872C4}"/>
                </a:ext>
              </a:extLst>
            </p:cNvPr>
            <p:cNvSpPr/>
            <p:nvPr userDrawn="1"/>
          </p:nvSpPr>
          <p:spPr>
            <a:xfrm>
              <a:off x="9679033"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7" name="Rectangle 86">
              <a:extLst>
                <a:ext uri="{FF2B5EF4-FFF2-40B4-BE49-F238E27FC236}">
                  <a16:creationId xmlns:a16="http://schemas.microsoft.com/office/drawing/2014/main" id="{30803956-5660-0992-4D14-BE6FE9828F47}"/>
                </a:ext>
              </a:extLst>
            </p:cNvPr>
            <p:cNvSpPr/>
            <p:nvPr userDrawn="1"/>
          </p:nvSpPr>
          <p:spPr>
            <a:xfrm>
              <a:off x="550863"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8" name="Rectangle 87">
              <a:extLst>
                <a:ext uri="{FF2B5EF4-FFF2-40B4-BE49-F238E27FC236}">
                  <a16:creationId xmlns:a16="http://schemas.microsoft.com/office/drawing/2014/main" id="{4116F6EF-71AC-D394-CCE2-C84341C7B6AA}"/>
                </a:ext>
              </a:extLst>
            </p:cNvPr>
            <p:cNvSpPr/>
            <p:nvPr userDrawn="1"/>
          </p:nvSpPr>
          <p:spPr>
            <a:xfrm>
              <a:off x="1380744"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9" name="Rectangle 88">
              <a:extLst>
                <a:ext uri="{FF2B5EF4-FFF2-40B4-BE49-F238E27FC236}">
                  <a16:creationId xmlns:a16="http://schemas.microsoft.com/office/drawing/2014/main" id="{CDAD2361-B7DA-C5FB-AC7E-F8C9035B460C}"/>
                </a:ext>
              </a:extLst>
            </p:cNvPr>
            <p:cNvSpPr/>
            <p:nvPr userDrawn="1"/>
          </p:nvSpPr>
          <p:spPr>
            <a:xfrm>
              <a:off x="2210625"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0" name="Rectangle 89">
              <a:extLst>
                <a:ext uri="{FF2B5EF4-FFF2-40B4-BE49-F238E27FC236}">
                  <a16:creationId xmlns:a16="http://schemas.microsoft.com/office/drawing/2014/main" id="{D509E2B2-0C14-D4D7-8C75-848F52276A94}"/>
                </a:ext>
              </a:extLst>
            </p:cNvPr>
            <p:cNvSpPr/>
            <p:nvPr userDrawn="1"/>
          </p:nvSpPr>
          <p:spPr>
            <a:xfrm>
              <a:off x="3040506"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1" name="Rectangle 90">
              <a:extLst>
                <a:ext uri="{FF2B5EF4-FFF2-40B4-BE49-F238E27FC236}">
                  <a16:creationId xmlns:a16="http://schemas.microsoft.com/office/drawing/2014/main" id="{AF117176-97E0-3DE1-6B8D-53ED6570D628}"/>
                </a:ext>
              </a:extLst>
            </p:cNvPr>
            <p:cNvSpPr/>
            <p:nvPr userDrawn="1"/>
          </p:nvSpPr>
          <p:spPr>
            <a:xfrm>
              <a:off x="3870387"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2" name="Rectangle 91">
              <a:extLst>
                <a:ext uri="{FF2B5EF4-FFF2-40B4-BE49-F238E27FC236}">
                  <a16:creationId xmlns:a16="http://schemas.microsoft.com/office/drawing/2014/main" id="{E1C6EC84-A36B-0F0D-9314-57EFE6373608}"/>
                </a:ext>
              </a:extLst>
            </p:cNvPr>
            <p:cNvSpPr/>
            <p:nvPr userDrawn="1"/>
          </p:nvSpPr>
          <p:spPr>
            <a:xfrm>
              <a:off x="4700268"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3" name="Rectangle 92">
              <a:extLst>
                <a:ext uri="{FF2B5EF4-FFF2-40B4-BE49-F238E27FC236}">
                  <a16:creationId xmlns:a16="http://schemas.microsoft.com/office/drawing/2014/main" id="{4DB48AF2-4ACC-EF77-B3B6-9AC433B88C0F}"/>
                </a:ext>
              </a:extLst>
            </p:cNvPr>
            <p:cNvSpPr/>
            <p:nvPr userDrawn="1"/>
          </p:nvSpPr>
          <p:spPr>
            <a:xfrm>
              <a:off x="5530149"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4" name="Rectangle 93">
              <a:extLst>
                <a:ext uri="{FF2B5EF4-FFF2-40B4-BE49-F238E27FC236}">
                  <a16:creationId xmlns:a16="http://schemas.microsoft.com/office/drawing/2014/main" id="{107BBF5D-517C-2047-999B-7BCF6C4BF579}"/>
                </a:ext>
              </a:extLst>
            </p:cNvPr>
            <p:cNvSpPr/>
            <p:nvPr userDrawn="1"/>
          </p:nvSpPr>
          <p:spPr>
            <a:xfrm>
              <a:off x="6360030"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5" name="Rectangle 94">
              <a:extLst>
                <a:ext uri="{FF2B5EF4-FFF2-40B4-BE49-F238E27FC236}">
                  <a16:creationId xmlns:a16="http://schemas.microsoft.com/office/drawing/2014/main" id="{5ECB1738-AE0B-4A8C-EF62-312E912C4148}"/>
                </a:ext>
              </a:extLst>
            </p:cNvPr>
            <p:cNvSpPr/>
            <p:nvPr userDrawn="1"/>
          </p:nvSpPr>
          <p:spPr>
            <a:xfrm>
              <a:off x="7189390"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6" name="Rectangle 95">
              <a:extLst>
                <a:ext uri="{FF2B5EF4-FFF2-40B4-BE49-F238E27FC236}">
                  <a16:creationId xmlns:a16="http://schemas.microsoft.com/office/drawing/2014/main" id="{F7A7E216-0B18-C0A4-CF7A-95D9984272E3}"/>
                </a:ext>
              </a:extLst>
            </p:cNvPr>
            <p:cNvSpPr/>
            <p:nvPr userDrawn="1"/>
          </p:nvSpPr>
          <p:spPr>
            <a:xfrm>
              <a:off x="8019271"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7" name="Rectangle 96">
              <a:extLst>
                <a:ext uri="{FF2B5EF4-FFF2-40B4-BE49-F238E27FC236}">
                  <a16:creationId xmlns:a16="http://schemas.microsoft.com/office/drawing/2014/main" id="{C8DFCF12-EDB3-52CC-AFC4-B4E6E09913FA}"/>
                </a:ext>
              </a:extLst>
            </p:cNvPr>
            <p:cNvSpPr/>
            <p:nvPr userDrawn="1"/>
          </p:nvSpPr>
          <p:spPr>
            <a:xfrm>
              <a:off x="8849152"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8" name="Rectangle 97">
              <a:extLst>
                <a:ext uri="{FF2B5EF4-FFF2-40B4-BE49-F238E27FC236}">
                  <a16:creationId xmlns:a16="http://schemas.microsoft.com/office/drawing/2014/main" id="{3CF3B04D-837D-F9F4-61A2-BEB075F74A30}"/>
                </a:ext>
              </a:extLst>
            </p:cNvPr>
            <p:cNvSpPr/>
            <p:nvPr userDrawn="1"/>
          </p:nvSpPr>
          <p:spPr>
            <a:xfrm>
              <a:off x="9679033"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9" name="Rectangle 98">
              <a:extLst>
                <a:ext uri="{FF2B5EF4-FFF2-40B4-BE49-F238E27FC236}">
                  <a16:creationId xmlns:a16="http://schemas.microsoft.com/office/drawing/2014/main" id="{7C1A5E9C-A13B-B7DA-FD80-DBAB2096ABBD}"/>
                </a:ext>
              </a:extLst>
            </p:cNvPr>
            <p:cNvSpPr/>
            <p:nvPr userDrawn="1"/>
          </p:nvSpPr>
          <p:spPr>
            <a:xfrm>
              <a:off x="550863"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0" name="Rectangle 99">
              <a:extLst>
                <a:ext uri="{FF2B5EF4-FFF2-40B4-BE49-F238E27FC236}">
                  <a16:creationId xmlns:a16="http://schemas.microsoft.com/office/drawing/2014/main" id="{01F6E319-5213-302C-9F95-741AB6ABDC2E}"/>
                </a:ext>
              </a:extLst>
            </p:cNvPr>
            <p:cNvSpPr/>
            <p:nvPr userDrawn="1"/>
          </p:nvSpPr>
          <p:spPr>
            <a:xfrm>
              <a:off x="1380744"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1" name="Rectangle 100">
              <a:extLst>
                <a:ext uri="{FF2B5EF4-FFF2-40B4-BE49-F238E27FC236}">
                  <a16:creationId xmlns:a16="http://schemas.microsoft.com/office/drawing/2014/main" id="{3D2A336C-BE03-9509-DF11-BAC9902C7089}"/>
                </a:ext>
              </a:extLst>
            </p:cNvPr>
            <p:cNvSpPr/>
            <p:nvPr userDrawn="1"/>
          </p:nvSpPr>
          <p:spPr>
            <a:xfrm>
              <a:off x="2210625"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2" name="Rectangle 101">
              <a:extLst>
                <a:ext uri="{FF2B5EF4-FFF2-40B4-BE49-F238E27FC236}">
                  <a16:creationId xmlns:a16="http://schemas.microsoft.com/office/drawing/2014/main" id="{0047AC78-183E-FA01-5C36-C0FA9F7110AB}"/>
                </a:ext>
              </a:extLst>
            </p:cNvPr>
            <p:cNvSpPr/>
            <p:nvPr userDrawn="1"/>
          </p:nvSpPr>
          <p:spPr>
            <a:xfrm>
              <a:off x="3040506"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3" name="Rectangle 102">
              <a:extLst>
                <a:ext uri="{FF2B5EF4-FFF2-40B4-BE49-F238E27FC236}">
                  <a16:creationId xmlns:a16="http://schemas.microsoft.com/office/drawing/2014/main" id="{620D71B8-424C-C9B3-D209-20353B95E251}"/>
                </a:ext>
              </a:extLst>
            </p:cNvPr>
            <p:cNvSpPr/>
            <p:nvPr userDrawn="1"/>
          </p:nvSpPr>
          <p:spPr>
            <a:xfrm>
              <a:off x="3870387"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4" name="Rectangle 103">
              <a:extLst>
                <a:ext uri="{FF2B5EF4-FFF2-40B4-BE49-F238E27FC236}">
                  <a16:creationId xmlns:a16="http://schemas.microsoft.com/office/drawing/2014/main" id="{C64960E9-701D-9CD4-3E8E-A81F22A8D68B}"/>
                </a:ext>
              </a:extLst>
            </p:cNvPr>
            <p:cNvSpPr/>
            <p:nvPr userDrawn="1"/>
          </p:nvSpPr>
          <p:spPr>
            <a:xfrm>
              <a:off x="4700268"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5" name="Rectangle 104">
              <a:extLst>
                <a:ext uri="{FF2B5EF4-FFF2-40B4-BE49-F238E27FC236}">
                  <a16:creationId xmlns:a16="http://schemas.microsoft.com/office/drawing/2014/main" id="{71FD9FC2-D26D-35BB-9E1D-295DC5BAB1CD}"/>
                </a:ext>
              </a:extLst>
            </p:cNvPr>
            <p:cNvSpPr/>
            <p:nvPr userDrawn="1"/>
          </p:nvSpPr>
          <p:spPr>
            <a:xfrm>
              <a:off x="5530149"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6" name="Rectangle 105">
              <a:extLst>
                <a:ext uri="{FF2B5EF4-FFF2-40B4-BE49-F238E27FC236}">
                  <a16:creationId xmlns:a16="http://schemas.microsoft.com/office/drawing/2014/main" id="{2E8F9C9D-234A-1FE1-0550-7637634C31F2}"/>
                </a:ext>
              </a:extLst>
            </p:cNvPr>
            <p:cNvSpPr/>
            <p:nvPr userDrawn="1"/>
          </p:nvSpPr>
          <p:spPr>
            <a:xfrm>
              <a:off x="6360030"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7" name="Rectangle 106">
              <a:extLst>
                <a:ext uri="{FF2B5EF4-FFF2-40B4-BE49-F238E27FC236}">
                  <a16:creationId xmlns:a16="http://schemas.microsoft.com/office/drawing/2014/main" id="{70B021DA-E537-9B3E-C248-6BE624729222}"/>
                </a:ext>
              </a:extLst>
            </p:cNvPr>
            <p:cNvSpPr/>
            <p:nvPr userDrawn="1"/>
          </p:nvSpPr>
          <p:spPr>
            <a:xfrm>
              <a:off x="7189390"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8" name="Rectangle 107">
              <a:extLst>
                <a:ext uri="{FF2B5EF4-FFF2-40B4-BE49-F238E27FC236}">
                  <a16:creationId xmlns:a16="http://schemas.microsoft.com/office/drawing/2014/main" id="{310472D5-8CC2-2B37-04B4-38ABDF4DF73D}"/>
                </a:ext>
              </a:extLst>
            </p:cNvPr>
            <p:cNvSpPr/>
            <p:nvPr userDrawn="1"/>
          </p:nvSpPr>
          <p:spPr>
            <a:xfrm>
              <a:off x="8019271"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9" name="Rectangle 108">
              <a:extLst>
                <a:ext uri="{FF2B5EF4-FFF2-40B4-BE49-F238E27FC236}">
                  <a16:creationId xmlns:a16="http://schemas.microsoft.com/office/drawing/2014/main" id="{56AB6E63-0B57-5E2E-AFFB-72FFAC2FCB26}"/>
                </a:ext>
              </a:extLst>
            </p:cNvPr>
            <p:cNvSpPr/>
            <p:nvPr userDrawn="1"/>
          </p:nvSpPr>
          <p:spPr>
            <a:xfrm>
              <a:off x="8849152"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0" name="Rectangle 109">
              <a:extLst>
                <a:ext uri="{FF2B5EF4-FFF2-40B4-BE49-F238E27FC236}">
                  <a16:creationId xmlns:a16="http://schemas.microsoft.com/office/drawing/2014/main" id="{142EE9A1-0484-F1F3-B8C0-1B7DB70D6B41}"/>
                </a:ext>
              </a:extLst>
            </p:cNvPr>
            <p:cNvSpPr/>
            <p:nvPr userDrawn="1"/>
          </p:nvSpPr>
          <p:spPr>
            <a:xfrm>
              <a:off x="9679033"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1" name="Rectangle 110">
              <a:extLst>
                <a:ext uri="{FF2B5EF4-FFF2-40B4-BE49-F238E27FC236}">
                  <a16:creationId xmlns:a16="http://schemas.microsoft.com/office/drawing/2014/main" id="{88F3ED68-BAE0-5B85-11AE-B41278C49760}"/>
                </a:ext>
              </a:extLst>
            </p:cNvPr>
            <p:cNvSpPr/>
            <p:nvPr userDrawn="1"/>
          </p:nvSpPr>
          <p:spPr>
            <a:xfrm>
              <a:off x="550863"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2" name="Rectangle 111">
              <a:extLst>
                <a:ext uri="{FF2B5EF4-FFF2-40B4-BE49-F238E27FC236}">
                  <a16:creationId xmlns:a16="http://schemas.microsoft.com/office/drawing/2014/main" id="{F144D14E-9595-A602-7CD9-B927F83153ED}"/>
                </a:ext>
              </a:extLst>
            </p:cNvPr>
            <p:cNvSpPr/>
            <p:nvPr userDrawn="1"/>
          </p:nvSpPr>
          <p:spPr>
            <a:xfrm>
              <a:off x="1380744"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3" name="Rectangle 112">
              <a:extLst>
                <a:ext uri="{FF2B5EF4-FFF2-40B4-BE49-F238E27FC236}">
                  <a16:creationId xmlns:a16="http://schemas.microsoft.com/office/drawing/2014/main" id="{154212D0-B58B-DE17-F04C-2F97E6643B91}"/>
                </a:ext>
              </a:extLst>
            </p:cNvPr>
            <p:cNvSpPr/>
            <p:nvPr userDrawn="1"/>
          </p:nvSpPr>
          <p:spPr>
            <a:xfrm>
              <a:off x="2210625"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4" name="Rectangle 113">
              <a:extLst>
                <a:ext uri="{FF2B5EF4-FFF2-40B4-BE49-F238E27FC236}">
                  <a16:creationId xmlns:a16="http://schemas.microsoft.com/office/drawing/2014/main" id="{87E2CCF6-27A9-72D1-426B-D8106D1D3AF9}"/>
                </a:ext>
              </a:extLst>
            </p:cNvPr>
            <p:cNvSpPr/>
            <p:nvPr userDrawn="1"/>
          </p:nvSpPr>
          <p:spPr>
            <a:xfrm>
              <a:off x="3040506"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5" name="Rectangle 114">
              <a:extLst>
                <a:ext uri="{FF2B5EF4-FFF2-40B4-BE49-F238E27FC236}">
                  <a16:creationId xmlns:a16="http://schemas.microsoft.com/office/drawing/2014/main" id="{0E7AD08B-2423-2ED9-B5A6-E4AC6BF6C001}"/>
                </a:ext>
              </a:extLst>
            </p:cNvPr>
            <p:cNvSpPr/>
            <p:nvPr userDrawn="1"/>
          </p:nvSpPr>
          <p:spPr>
            <a:xfrm>
              <a:off x="3870387"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6" name="Rectangle 115">
              <a:extLst>
                <a:ext uri="{FF2B5EF4-FFF2-40B4-BE49-F238E27FC236}">
                  <a16:creationId xmlns:a16="http://schemas.microsoft.com/office/drawing/2014/main" id="{40E8A0EF-44C8-980F-AFFA-90EECB2CDEDD}"/>
                </a:ext>
              </a:extLst>
            </p:cNvPr>
            <p:cNvSpPr/>
            <p:nvPr userDrawn="1"/>
          </p:nvSpPr>
          <p:spPr>
            <a:xfrm>
              <a:off x="4700268"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7" name="Rectangle 116">
              <a:extLst>
                <a:ext uri="{FF2B5EF4-FFF2-40B4-BE49-F238E27FC236}">
                  <a16:creationId xmlns:a16="http://schemas.microsoft.com/office/drawing/2014/main" id="{37E19965-AB4F-378B-4F00-1E4D150A4EF1}"/>
                </a:ext>
              </a:extLst>
            </p:cNvPr>
            <p:cNvSpPr/>
            <p:nvPr userDrawn="1"/>
          </p:nvSpPr>
          <p:spPr>
            <a:xfrm>
              <a:off x="5530149"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8" name="Rectangle 117">
              <a:extLst>
                <a:ext uri="{FF2B5EF4-FFF2-40B4-BE49-F238E27FC236}">
                  <a16:creationId xmlns:a16="http://schemas.microsoft.com/office/drawing/2014/main" id="{6501AA77-791B-7EB8-DB59-85DA8531D2B5}"/>
                </a:ext>
              </a:extLst>
            </p:cNvPr>
            <p:cNvSpPr/>
            <p:nvPr userDrawn="1"/>
          </p:nvSpPr>
          <p:spPr>
            <a:xfrm>
              <a:off x="6360030"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9" name="Rectangle 118">
              <a:extLst>
                <a:ext uri="{FF2B5EF4-FFF2-40B4-BE49-F238E27FC236}">
                  <a16:creationId xmlns:a16="http://schemas.microsoft.com/office/drawing/2014/main" id="{B918BAC9-790A-51EA-ECDA-4EEDA512AB63}"/>
                </a:ext>
              </a:extLst>
            </p:cNvPr>
            <p:cNvSpPr/>
            <p:nvPr userDrawn="1"/>
          </p:nvSpPr>
          <p:spPr>
            <a:xfrm>
              <a:off x="7189390"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0" name="Rectangle 119">
              <a:extLst>
                <a:ext uri="{FF2B5EF4-FFF2-40B4-BE49-F238E27FC236}">
                  <a16:creationId xmlns:a16="http://schemas.microsoft.com/office/drawing/2014/main" id="{A5ED0249-E6B1-AABD-B17C-0C00A2F3DA57}"/>
                </a:ext>
              </a:extLst>
            </p:cNvPr>
            <p:cNvSpPr/>
            <p:nvPr userDrawn="1"/>
          </p:nvSpPr>
          <p:spPr>
            <a:xfrm>
              <a:off x="8019271"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1" name="Rectangle 120">
              <a:extLst>
                <a:ext uri="{FF2B5EF4-FFF2-40B4-BE49-F238E27FC236}">
                  <a16:creationId xmlns:a16="http://schemas.microsoft.com/office/drawing/2014/main" id="{1B1113B6-A649-C9ED-CA11-26988BCA92D2}"/>
                </a:ext>
              </a:extLst>
            </p:cNvPr>
            <p:cNvSpPr/>
            <p:nvPr userDrawn="1"/>
          </p:nvSpPr>
          <p:spPr>
            <a:xfrm>
              <a:off x="8849152"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2" name="Rectangle 121">
              <a:extLst>
                <a:ext uri="{FF2B5EF4-FFF2-40B4-BE49-F238E27FC236}">
                  <a16:creationId xmlns:a16="http://schemas.microsoft.com/office/drawing/2014/main" id="{3F0FFC97-2C6C-08CE-0047-B90DDE631ED9}"/>
                </a:ext>
              </a:extLst>
            </p:cNvPr>
            <p:cNvSpPr/>
            <p:nvPr userDrawn="1"/>
          </p:nvSpPr>
          <p:spPr>
            <a:xfrm>
              <a:off x="9679033"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3" name="Rectangle 122">
              <a:extLst>
                <a:ext uri="{FF2B5EF4-FFF2-40B4-BE49-F238E27FC236}">
                  <a16:creationId xmlns:a16="http://schemas.microsoft.com/office/drawing/2014/main" id="{714B7402-6A13-66E4-4C95-4435635350A4}"/>
                </a:ext>
              </a:extLst>
            </p:cNvPr>
            <p:cNvSpPr/>
            <p:nvPr userDrawn="1"/>
          </p:nvSpPr>
          <p:spPr>
            <a:xfrm>
              <a:off x="550863"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4" name="Rectangle 123">
              <a:extLst>
                <a:ext uri="{FF2B5EF4-FFF2-40B4-BE49-F238E27FC236}">
                  <a16:creationId xmlns:a16="http://schemas.microsoft.com/office/drawing/2014/main" id="{B4D160FA-D681-875B-0647-1349A68FD52F}"/>
                </a:ext>
              </a:extLst>
            </p:cNvPr>
            <p:cNvSpPr/>
            <p:nvPr userDrawn="1"/>
          </p:nvSpPr>
          <p:spPr>
            <a:xfrm>
              <a:off x="1380744"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5" name="Rectangle 124">
              <a:extLst>
                <a:ext uri="{FF2B5EF4-FFF2-40B4-BE49-F238E27FC236}">
                  <a16:creationId xmlns:a16="http://schemas.microsoft.com/office/drawing/2014/main" id="{B0D813A9-2468-3C92-7FE3-B436A4E351DE}"/>
                </a:ext>
              </a:extLst>
            </p:cNvPr>
            <p:cNvSpPr/>
            <p:nvPr userDrawn="1"/>
          </p:nvSpPr>
          <p:spPr>
            <a:xfrm>
              <a:off x="2210625"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6" name="Rectangle 125">
              <a:extLst>
                <a:ext uri="{FF2B5EF4-FFF2-40B4-BE49-F238E27FC236}">
                  <a16:creationId xmlns:a16="http://schemas.microsoft.com/office/drawing/2014/main" id="{14350AD2-4C65-FCBB-0AEC-04BC86999E92}"/>
                </a:ext>
              </a:extLst>
            </p:cNvPr>
            <p:cNvSpPr/>
            <p:nvPr userDrawn="1"/>
          </p:nvSpPr>
          <p:spPr>
            <a:xfrm>
              <a:off x="3040506"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7" name="Rectangle 126">
              <a:extLst>
                <a:ext uri="{FF2B5EF4-FFF2-40B4-BE49-F238E27FC236}">
                  <a16:creationId xmlns:a16="http://schemas.microsoft.com/office/drawing/2014/main" id="{3D86D544-D125-3A77-A250-2B45A7A4DC7D}"/>
                </a:ext>
              </a:extLst>
            </p:cNvPr>
            <p:cNvSpPr/>
            <p:nvPr userDrawn="1"/>
          </p:nvSpPr>
          <p:spPr>
            <a:xfrm>
              <a:off x="3870387"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8" name="Rectangle 127">
              <a:extLst>
                <a:ext uri="{FF2B5EF4-FFF2-40B4-BE49-F238E27FC236}">
                  <a16:creationId xmlns:a16="http://schemas.microsoft.com/office/drawing/2014/main" id="{1E06D5BD-DB7C-3058-327A-B15DE2FB232E}"/>
                </a:ext>
              </a:extLst>
            </p:cNvPr>
            <p:cNvSpPr/>
            <p:nvPr userDrawn="1"/>
          </p:nvSpPr>
          <p:spPr>
            <a:xfrm>
              <a:off x="4700268"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9" name="Rectangle 128">
              <a:extLst>
                <a:ext uri="{FF2B5EF4-FFF2-40B4-BE49-F238E27FC236}">
                  <a16:creationId xmlns:a16="http://schemas.microsoft.com/office/drawing/2014/main" id="{0172EEB7-7616-F505-B26E-8994DF0D2270}"/>
                </a:ext>
              </a:extLst>
            </p:cNvPr>
            <p:cNvSpPr/>
            <p:nvPr userDrawn="1"/>
          </p:nvSpPr>
          <p:spPr>
            <a:xfrm>
              <a:off x="5530149"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0" name="Rectangle 129">
              <a:extLst>
                <a:ext uri="{FF2B5EF4-FFF2-40B4-BE49-F238E27FC236}">
                  <a16:creationId xmlns:a16="http://schemas.microsoft.com/office/drawing/2014/main" id="{BF6F3D04-B563-09A9-C3D4-5E8EA005EBAC}"/>
                </a:ext>
              </a:extLst>
            </p:cNvPr>
            <p:cNvSpPr/>
            <p:nvPr userDrawn="1"/>
          </p:nvSpPr>
          <p:spPr>
            <a:xfrm>
              <a:off x="6360030"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1" name="Rectangle 130">
              <a:extLst>
                <a:ext uri="{FF2B5EF4-FFF2-40B4-BE49-F238E27FC236}">
                  <a16:creationId xmlns:a16="http://schemas.microsoft.com/office/drawing/2014/main" id="{621100FF-7F61-DF04-3496-CB6A1CA5989B}"/>
                </a:ext>
              </a:extLst>
            </p:cNvPr>
            <p:cNvSpPr/>
            <p:nvPr userDrawn="1"/>
          </p:nvSpPr>
          <p:spPr>
            <a:xfrm>
              <a:off x="7189390"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2" name="Rectangle 131">
              <a:extLst>
                <a:ext uri="{FF2B5EF4-FFF2-40B4-BE49-F238E27FC236}">
                  <a16:creationId xmlns:a16="http://schemas.microsoft.com/office/drawing/2014/main" id="{A5C4147F-AAC4-9F41-F7C2-7FA81790A15F}"/>
                </a:ext>
              </a:extLst>
            </p:cNvPr>
            <p:cNvSpPr/>
            <p:nvPr userDrawn="1"/>
          </p:nvSpPr>
          <p:spPr>
            <a:xfrm>
              <a:off x="8019271"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3" name="Rectangle 132">
              <a:extLst>
                <a:ext uri="{FF2B5EF4-FFF2-40B4-BE49-F238E27FC236}">
                  <a16:creationId xmlns:a16="http://schemas.microsoft.com/office/drawing/2014/main" id="{88EB2FD8-41B6-6C5B-60ED-F722AF98995C}"/>
                </a:ext>
              </a:extLst>
            </p:cNvPr>
            <p:cNvSpPr/>
            <p:nvPr userDrawn="1"/>
          </p:nvSpPr>
          <p:spPr>
            <a:xfrm>
              <a:off x="8849152"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4" name="Rectangle 133">
              <a:extLst>
                <a:ext uri="{FF2B5EF4-FFF2-40B4-BE49-F238E27FC236}">
                  <a16:creationId xmlns:a16="http://schemas.microsoft.com/office/drawing/2014/main" id="{3E625364-6A0F-30C1-BF5F-ADABDBFABB64}"/>
                </a:ext>
              </a:extLst>
            </p:cNvPr>
            <p:cNvSpPr/>
            <p:nvPr userDrawn="1"/>
          </p:nvSpPr>
          <p:spPr>
            <a:xfrm>
              <a:off x="9679033"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5" name="Rectangle 134">
              <a:extLst>
                <a:ext uri="{FF2B5EF4-FFF2-40B4-BE49-F238E27FC236}">
                  <a16:creationId xmlns:a16="http://schemas.microsoft.com/office/drawing/2014/main" id="{6FADE4F4-55CB-A468-331C-3C5A6430B0BD}"/>
                </a:ext>
              </a:extLst>
            </p:cNvPr>
            <p:cNvSpPr/>
            <p:nvPr userDrawn="1"/>
          </p:nvSpPr>
          <p:spPr>
            <a:xfrm>
              <a:off x="550863"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6" name="Rectangle 135">
              <a:extLst>
                <a:ext uri="{FF2B5EF4-FFF2-40B4-BE49-F238E27FC236}">
                  <a16:creationId xmlns:a16="http://schemas.microsoft.com/office/drawing/2014/main" id="{849722F6-B71C-101E-47E3-37D44615B436}"/>
                </a:ext>
              </a:extLst>
            </p:cNvPr>
            <p:cNvSpPr/>
            <p:nvPr userDrawn="1"/>
          </p:nvSpPr>
          <p:spPr>
            <a:xfrm>
              <a:off x="1380744"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7" name="Rectangle 136">
              <a:extLst>
                <a:ext uri="{FF2B5EF4-FFF2-40B4-BE49-F238E27FC236}">
                  <a16:creationId xmlns:a16="http://schemas.microsoft.com/office/drawing/2014/main" id="{A42AA786-B7D3-16F5-15C0-4A971A7277FC}"/>
                </a:ext>
              </a:extLst>
            </p:cNvPr>
            <p:cNvSpPr/>
            <p:nvPr userDrawn="1"/>
          </p:nvSpPr>
          <p:spPr>
            <a:xfrm>
              <a:off x="2210625"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8" name="Rectangle 137">
              <a:extLst>
                <a:ext uri="{FF2B5EF4-FFF2-40B4-BE49-F238E27FC236}">
                  <a16:creationId xmlns:a16="http://schemas.microsoft.com/office/drawing/2014/main" id="{42A2993A-4872-2EFD-8B0D-0A64F77A7C78}"/>
                </a:ext>
              </a:extLst>
            </p:cNvPr>
            <p:cNvSpPr/>
            <p:nvPr userDrawn="1"/>
          </p:nvSpPr>
          <p:spPr>
            <a:xfrm>
              <a:off x="3040506"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9" name="Rectangle 138">
              <a:extLst>
                <a:ext uri="{FF2B5EF4-FFF2-40B4-BE49-F238E27FC236}">
                  <a16:creationId xmlns:a16="http://schemas.microsoft.com/office/drawing/2014/main" id="{7E2999D3-93BA-AF0B-B6D0-9DE13C0E61BE}"/>
                </a:ext>
              </a:extLst>
            </p:cNvPr>
            <p:cNvSpPr/>
            <p:nvPr userDrawn="1"/>
          </p:nvSpPr>
          <p:spPr>
            <a:xfrm>
              <a:off x="3870387"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0" name="Rectangle 139">
              <a:extLst>
                <a:ext uri="{FF2B5EF4-FFF2-40B4-BE49-F238E27FC236}">
                  <a16:creationId xmlns:a16="http://schemas.microsoft.com/office/drawing/2014/main" id="{14F33A16-19E1-B521-1CC3-11419D8B15F6}"/>
                </a:ext>
              </a:extLst>
            </p:cNvPr>
            <p:cNvSpPr/>
            <p:nvPr userDrawn="1"/>
          </p:nvSpPr>
          <p:spPr>
            <a:xfrm>
              <a:off x="4700268"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1" name="Rectangle 140">
              <a:extLst>
                <a:ext uri="{FF2B5EF4-FFF2-40B4-BE49-F238E27FC236}">
                  <a16:creationId xmlns:a16="http://schemas.microsoft.com/office/drawing/2014/main" id="{A3E8DD1F-AF82-B507-1D69-570D04CD6F1B}"/>
                </a:ext>
              </a:extLst>
            </p:cNvPr>
            <p:cNvSpPr/>
            <p:nvPr userDrawn="1"/>
          </p:nvSpPr>
          <p:spPr>
            <a:xfrm>
              <a:off x="5530149"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2" name="Rectangle 141">
              <a:extLst>
                <a:ext uri="{FF2B5EF4-FFF2-40B4-BE49-F238E27FC236}">
                  <a16:creationId xmlns:a16="http://schemas.microsoft.com/office/drawing/2014/main" id="{30D0D3AE-E430-BBB3-E45C-EBBD6EAEDEB9}"/>
                </a:ext>
              </a:extLst>
            </p:cNvPr>
            <p:cNvSpPr/>
            <p:nvPr userDrawn="1"/>
          </p:nvSpPr>
          <p:spPr>
            <a:xfrm>
              <a:off x="6360030"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3" name="Rectangle 142">
              <a:extLst>
                <a:ext uri="{FF2B5EF4-FFF2-40B4-BE49-F238E27FC236}">
                  <a16:creationId xmlns:a16="http://schemas.microsoft.com/office/drawing/2014/main" id="{EB3343C8-CE06-3956-535E-EE4B9EBD4921}"/>
                </a:ext>
              </a:extLst>
            </p:cNvPr>
            <p:cNvSpPr/>
            <p:nvPr userDrawn="1"/>
          </p:nvSpPr>
          <p:spPr>
            <a:xfrm>
              <a:off x="7189390"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4" name="Rectangle 143">
              <a:extLst>
                <a:ext uri="{FF2B5EF4-FFF2-40B4-BE49-F238E27FC236}">
                  <a16:creationId xmlns:a16="http://schemas.microsoft.com/office/drawing/2014/main" id="{E8787676-1E35-62D5-7AD0-9A047A612A43}"/>
                </a:ext>
              </a:extLst>
            </p:cNvPr>
            <p:cNvSpPr/>
            <p:nvPr userDrawn="1"/>
          </p:nvSpPr>
          <p:spPr>
            <a:xfrm>
              <a:off x="8019271"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5" name="Rectangle 144">
              <a:extLst>
                <a:ext uri="{FF2B5EF4-FFF2-40B4-BE49-F238E27FC236}">
                  <a16:creationId xmlns:a16="http://schemas.microsoft.com/office/drawing/2014/main" id="{3DAAC763-62A9-A61A-D657-6D9D7B1835BF}"/>
                </a:ext>
              </a:extLst>
            </p:cNvPr>
            <p:cNvSpPr/>
            <p:nvPr userDrawn="1"/>
          </p:nvSpPr>
          <p:spPr>
            <a:xfrm>
              <a:off x="8849152"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6" name="Rectangle 145">
              <a:extLst>
                <a:ext uri="{FF2B5EF4-FFF2-40B4-BE49-F238E27FC236}">
                  <a16:creationId xmlns:a16="http://schemas.microsoft.com/office/drawing/2014/main" id="{017AE7F7-CF41-A69B-BDE5-3B433FC1AFDA}"/>
                </a:ext>
              </a:extLst>
            </p:cNvPr>
            <p:cNvSpPr/>
            <p:nvPr userDrawn="1"/>
          </p:nvSpPr>
          <p:spPr>
            <a:xfrm>
              <a:off x="9679033"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7" name="Rectangle 146">
              <a:extLst>
                <a:ext uri="{FF2B5EF4-FFF2-40B4-BE49-F238E27FC236}">
                  <a16:creationId xmlns:a16="http://schemas.microsoft.com/office/drawing/2014/main" id="{477C83AB-F882-E109-3F6C-5575CF3890B7}"/>
                </a:ext>
              </a:extLst>
            </p:cNvPr>
            <p:cNvSpPr/>
            <p:nvPr userDrawn="1"/>
          </p:nvSpPr>
          <p:spPr>
            <a:xfrm>
              <a:off x="550863"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8" name="Rectangle 147">
              <a:extLst>
                <a:ext uri="{FF2B5EF4-FFF2-40B4-BE49-F238E27FC236}">
                  <a16:creationId xmlns:a16="http://schemas.microsoft.com/office/drawing/2014/main" id="{3E0EB1E1-B44D-6C24-0109-5586410AEEDB}"/>
                </a:ext>
              </a:extLst>
            </p:cNvPr>
            <p:cNvSpPr/>
            <p:nvPr userDrawn="1"/>
          </p:nvSpPr>
          <p:spPr>
            <a:xfrm>
              <a:off x="1380744"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9" name="Rectangle 148">
              <a:extLst>
                <a:ext uri="{FF2B5EF4-FFF2-40B4-BE49-F238E27FC236}">
                  <a16:creationId xmlns:a16="http://schemas.microsoft.com/office/drawing/2014/main" id="{B075F409-05D3-C9F1-B100-FE91107EA0B1}"/>
                </a:ext>
              </a:extLst>
            </p:cNvPr>
            <p:cNvSpPr/>
            <p:nvPr userDrawn="1"/>
          </p:nvSpPr>
          <p:spPr>
            <a:xfrm>
              <a:off x="2210625"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0" name="Rectangle 149">
              <a:extLst>
                <a:ext uri="{FF2B5EF4-FFF2-40B4-BE49-F238E27FC236}">
                  <a16:creationId xmlns:a16="http://schemas.microsoft.com/office/drawing/2014/main" id="{B29A0B9D-4286-9793-0C15-584197D77C45}"/>
                </a:ext>
              </a:extLst>
            </p:cNvPr>
            <p:cNvSpPr/>
            <p:nvPr userDrawn="1"/>
          </p:nvSpPr>
          <p:spPr>
            <a:xfrm>
              <a:off x="3040506"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1" name="Rectangle 150">
              <a:extLst>
                <a:ext uri="{FF2B5EF4-FFF2-40B4-BE49-F238E27FC236}">
                  <a16:creationId xmlns:a16="http://schemas.microsoft.com/office/drawing/2014/main" id="{2B668398-CBBB-8CFE-627C-1B813FF47462}"/>
                </a:ext>
              </a:extLst>
            </p:cNvPr>
            <p:cNvSpPr/>
            <p:nvPr userDrawn="1"/>
          </p:nvSpPr>
          <p:spPr>
            <a:xfrm>
              <a:off x="3870387"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2" name="Rectangle 151">
              <a:extLst>
                <a:ext uri="{FF2B5EF4-FFF2-40B4-BE49-F238E27FC236}">
                  <a16:creationId xmlns:a16="http://schemas.microsoft.com/office/drawing/2014/main" id="{8255EF4C-6510-535E-A6C8-8390A9E6B742}"/>
                </a:ext>
              </a:extLst>
            </p:cNvPr>
            <p:cNvSpPr/>
            <p:nvPr userDrawn="1"/>
          </p:nvSpPr>
          <p:spPr>
            <a:xfrm>
              <a:off x="4700268"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3" name="Rectangle 152">
              <a:extLst>
                <a:ext uri="{FF2B5EF4-FFF2-40B4-BE49-F238E27FC236}">
                  <a16:creationId xmlns:a16="http://schemas.microsoft.com/office/drawing/2014/main" id="{B27C065F-1C23-41DB-75F3-C5F0B62577C4}"/>
                </a:ext>
              </a:extLst>
            </p:cNvPr>
            <p:cNvSpPr/>
            <p:nvPr userDrawn="1"/>
          </p:nvSpPr>
          <p:spPr>
            <a:xfrm>
              <a:off x="5530149"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4" name="Rectangle 153">
              <a:extLst>
                <a:ext uri="{FF2B5EF4-FFF2-40B4-BE49-F238E27FC236}">
                  <a16:creationId xmlns:a16="http://schemas.microsoft.com/office/drawing/2014/main" id="{298F13F1-5168-56A8-B601-83CBF38251B2}"/>
                </a:ext>
              </a:extLst>
            </p:cNvPr>
            <p:cNvSpPr/>
            <p:nvPr userDrawn="1"/>
          </p:nvSpPr>
          <p:spPr>
            <a:xfrm>
              <a:off x="6360030"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5" name="Rectangle 154">
              <a:extLst>
                <a:ext uri="{FF2B5EF4-FFF2-40B4-BE49-F238E27FC236}">
                  <a16:creationId xmlns:a16="http://schemas.microsoft.com/office/drawing/2014/main" id="{674B7525-BB73-DA06-7CBD-E53472B7E5B9}"/>
                </a:ext>
              </a:extLst>
            </p:cNvPr>
            <p:cNvSpPr/>
            <p:nvPr userDrawn="1"/>
          </p:nvSpPr>
          <p:spPr>
            <a:xfrm>
              <a:off x="7189390"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6" name="Rectangle 155">
              <a:extLst>
                <a:ext uri="{FF2B5EF4-FFF2-40B4-BE49-F238E27FC236}">
                  <a16:creationId xmlns:a16="http://schemas.microsoft.com/office/drawing/2014/main" id="{F5F4AE79-CED7-74A3-0900-58D671EF2504}"/>
                </a:ext>
              </a:extLst>
            </p:cNvPr>
            <p:cNvSpPr/>
            <p:nvPr userDrawn="1"/>
          </p:nvSpPr>
          <p:spPr>
            <a:xfrm>
              <a:off x="8019271"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7" name="Rectangle 156">
              <a:extLst>
                <a:ext uri="{FF2B5EF4-FFF2-40B4-BE49-F238E27FC236}">
                  <a16:creationId xmlns:a16="http://schemas.microsoft.com/office/drawing/2014/main" id="{CE2BE48C-CDDA-D60A-A3B7-51CA66C4E242}"/>
                </a:ext>
              </a:extLst>
            </p:cNvPr>
            <p:cNvSpPr/>
            <p:nvPr userDrawn="1"/>
          </p:nvSpPr>
          <p:spPr>
            <a:xfrm>
              <a:off x="8849152"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8" name="Rectangle 157">
              <a:extLst>
                <a:ext uri="{FF2B5EF4-FFF2-40B4-BE49-F238E27FC236}">
                  <a16:creationId xmlns:a16="http://schemas.microsoft.com/office/drawing/2014/main" id="{C56558FF-C14B-DE3F-D21E-8B4596C0B71C}"/>
                </a:ext>
              </a:extLst>
            </p:cNvPr>
            <p:cNvSpPr/>
            <p:nvPr userDrawn="1"/>
          </p:nvSpPr>
          <p:spPr>
            <a:xfrm>
              <a:off x="9679033"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sp>
        <p:nvSpPr>
          <p:cNvPr id="162" name="Title Placeholder 4">
            <a:extLst>
              <a:ext uri="{FF2B5EF4-FFF2-40B4-BE49-F238E27FC236}">
                <a16:creationId xmlns:a16="http://schemas.microsoft.com/office/drawing/2014/main" id="{38F91F77-6499-5A9A-B0F7-1CFEE7612153}"/>
              </a:ext>
            </a:extLst>
          </p:cNvPr>
          <p:cNvSpPr>
            <a:spLocks noGrp="1"/>
          </p:cNvSpPr>
          <p:nvPr>
            <p:ph type="title"/>
          </p:nvPr>
        </p:nvSpPr>
        <p:spPr>
          <a:xfrm>
            <a:off x="551384" y="549274"/>
            <a:ext cx="11089754" cy="1079526"/>
          </a:xfrm>
          <a:prstGeom prst="rect">
            <a:avLst/>
          </a:prstGeom>
        </p:spPr>
        <p:txBody>
          <a:bodyPr vert="horz" lIns="0" tIns="0" rIns="0" bIns="180000" rtlCol="0" anchor="t" anchorCtr="0">
            <a:noAutofit/>
          </a:bodyPr>
          <a:lstStyle/>
          <a:p>
            <a:r>
              <a:rPr lang="en-US"/>
              <a:t>Click to edit </a:t>
            </a:r>
            <a:br>
              <a:rPr lang="en-US"/>
            </a:br>
            <a:r>
              <a:rPr lang="en-US"/>
              <a:t>Master title style</a:t>
            </a:r>
            <a:endParaRPr lang="de-DE"/>
          </a:p>
        </p:txBody>
      </p:sp>
      <p:sp>
        <p:nvSpPr>
          <p:cNvPr id="19" name="Text Placeholder 18">
            <a:extLst>
              <a:ext uri="{FF2B5EF4-FFF2-40B4-BE49-F238E27FC236}">
                <a16:creationId xmlns:a16="http://schemas.microsoft.com/office/drawing/2014/main" id="{F173AB37-111F-156B-5C0E-5CD9274D579A}"/>
              </a:ext>
            </a:extLst>
          </p:cNvPr>
          <p:cNvSpPr>
            <a:spLocks noGrp="1"/>
          </p:cNvSpPr>
          <p:nvPr>
            <p:ph type="body" idx="1"/>
          </p:nvPr>
        </p:nvSpPr>
        <p:spPr>
          <a:xfrm>
            <a:off x="550339" y="1628800"/>
            <a:ext cx="11089752" cy="4679926"/>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pic>
        <p:nvPicPr>
          <p:cNvPr id="6" name="Picture 5">
            <a:extLst>
              <a:ext uri="{FF2B5EF4-FFF2-40B4-BE49-F238E27FC236}">
                <a16:creationId xmlns:a16="http://schemas.microsoft.com/office/drawing/2014/main" id="{D2EB619C-D9F7-D71B-56AB-29D3B42ADF87}"/>
              </a:ext>
            </a:extLst>
          </p:cNvPr>
          <p:cNvPicPr>
            <a:picLocks noChangeAspect="1"/>
          </p:cNvPicPr>
          <p:nvPr userDrawn="1"/>
        </p:nvPicPr>
        <p:blipFill>
          <a:blip r:embed="rId15"/>
          <a:stretch>
            <a:fillRect/>
          </a:stretch>
        </p:blipFill>
        <p:spPr>
          <a:xfrm>
            <a:off x="10595509" y="0"/>
            <a:ext cx="1237002" cy="696510"/>
          </a:xfrm>
          <a:prstGeom prst="rect">
            <a:avLst/>
          </a:prstGeom>
        </p:spPr>
      </p:pic>
      <p:pic>
        <p:nvPicPr>
          <p:cNvPr id="5" name="Picture 4">
            <a:extLst>
              <a:ext uri="{FF2B5EF4-FFF2-40B4-BE49-F238E27FC236}">
                <a16:creationId xmlns:a16="http://schemas.microsoft.com/office/drawing/2014/main" id="{89D81DAF-D759-99AF-2042-E07E7C8931C0}"/>
              </a:ext>
            </a:extLst>
          </p:cNvPr>
          <p:cNvPicPr>
            <a:picLocks noChangeAspect="1"/>
          </p:cNvPicPr>
          <p:nvPr userDrawn="1"/>
        </p:nvPicPr>
        <p:blipFill>
          <a:blip r:embed="rId16"/>
          <a:stretch>
            <a:fillRect/>
          </a:stretch>
        </p:blipFill>
        <p:spPr>
          <a:xfrm>
            <a:off x="381" y="0"/>
            <a:ext cx="12191238" cy="6858000"/>
          </a:xfrm>
          <a:prstGeom prst="rect">
            <a:avLst/>
          </a:prstGeom>
        </p:spPr>
      </p:pic>
      <p:sp>
        <p:nvSpPr>
          <p:cNvPr id="4" name="Rectangle 3">
            <a:extLst>
              <a:ext uri="{FF2B5EF4-FFF2-40B4-BE49-F238E27FC236}">
                <a16:creationId xmlns:a16="http://schemas.microsoft.com/office/drawing/2014/main" id="{8BD3539A-9FA1-F292-0E37-FC5B35D63BB3}"/>
              </a:ext>
            </a:extLst>
          </p:cNvPr>
          <p:cNvSpPr/>
          <p:nvPr userDrawn="1"/>
        </p:nvSpPr>
        <p:spPr>
          <a:xfrm>
            <a:off x="-785" y="0"/>
            <a:ext cx="12192000" cy="6858000"/>
          </a:xfrm>
          <a:prstGeom prst="rect">
            <a:avLst/>
          </a:prstGeom>
          <a:gradFill>
            <a:gsLst>
              <a:gs pos="50000">
                <a:schemeClr val="tx2">
                  <a:lumMod val="50000"/>
                </a:schemeClr>
              </a:gs>
              <a:gs pos="0">
                <a:schemeClr val="tx2">
                  <a:lumMod val="50000"/>
                </a:schemeClr>
              </a:gs>
              <a:gs pos="0">
                <a:schemeClr val="tx1"/>
              </a:gs>
              <a:gs pos="100000">
                <a:schemeClr val="tx2">
                  <a:alpha val="0"/>
                </a:schemeClr>
              </a:gs>
            </a:gsLst>
            <a:lin ang="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pic>
        <p:nvPicPr>
          <p:cNvPr id="7" name="Picture 6">
            <a:extLst>
              <a:ext uri="{FF2B5EF4-FFF2-40B4-BE49-F238E27FC236}">
                <a16:creationId xmlns:a16="http://schemas.microsoft.com/office/drawing/2014/main" id="{C726A5F0-5B86-0EAD-2DBA-AC28BEBE52F1}"/>
              </a:ext>
            </a:extLst>
          </p:cNvPr>
          <p:cNvPicPr>
            <a:picLocks noChangeAspect="1"/>
          </p:cNvPicPr>
          <p:nvPr userDrawn="1"/>
        </p:nvPicPr>
        <p:blipFill>
          <a:blip r:embed="rId15"/>
          <a:stretch>
            <a:fillRect/>
          </a:stretch>
        </p:blipFill>
        <p:spPr>
          <a:xfrm>
            <a:off x="10407223" y="1095"/>
            <a:ext cx="1237002" cy="696510"/>
          </a:xfrm>
          <a:prstGeom prst="rect">
            <a:avLst/>
          </a:prstGeom>
        </p:spPr>
      </p:pic>
    </p:spTree>
    <p:extLst>
      <p:ext uri="{BB962C8B-B14F-4D97-AF65-F5344CB8AC3E}">
        <p14:creationId xmlns:p14="http://schemas.microsoft.com/office/powerpoint/2010/main" val="3503803738"/>
      </p:ext>
    </p:extLst>
  </p:cSld>
  <p:clrMap bg1="lt1" tx1="dk1" bg2="lt2" tx2="dk2" accent1="accent1" accent2="accent2" accent3="accent3" accent4="accent4" accent5="accent5" accent6="accent6" hlink="hlink" folHlink="folHlink"/>
  <p:sldLayoutIdLst>
    <p:sldLayoutId id="2147483861" r:id="rId1"/>
    <p:sldLayoutId id="2147483871" r:id="rId2"/>
    <p:sldLayoutId id="2147483910" r:id="rId3"/>
    <p:sldLayoutId id="2147483909" r:id="rId4"/>
    <p:sldLayoutId id="2147483874" r:id="rId5"/>
    <p:sldLayoutId id="2147483982" r:id="rId6"/>
    <p:sldLayoutId id="2147484373" r:id="rId7"/>
    <p:sldLayoutId id="2147484462" r:id="rId8"/>
    <p:sldLayoutId id="2147484465" r:id="rId9"/>
  </p:sldLayoutIdLst>
  <p:hf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accent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1"/>
        </a:buClr>
        <a:buFont typeface="Arial" panose="020B0604020202020204" pitchFamily="34" charset="0"/>
        <a:buChar char="•"/>
        <a:tabLst/>
        <a:defRPr sz="14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guide id="26" orient="horz" pos="397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4E5EDF38-C884-A586-A590-F1CA76B25B68}"/>
              </a:ext>
            </a:extLst>
          </p:cNvPr>
          <p:cNvGraphicFramePr>
            <a:graphicFrameLocks noChangeAspect="1"/>
          </p:cNvGraphicFramePr>
          <p:nvPr userDrawn="1">
            <p:custDataLst>
              <p:tags r:id="rId70"/>
            </p:custDataLst>
            <p:extLst>
              <p:ext uri="{D42A27DB-BD31-4B8C-83A1-F6EECF244321}">
                <p14:modId xmlns:p14="http://schemas.microsoft.com/office/powerpoint/2010/main" val="1614904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1" imgW="395" imgH="394" progId="TCLayout.ActiveDocument.1">
                  <p:embed/>
                </p:oleObj>
              </mc:Choice>
              <mc:Fallback>
                <p:oleObj name="think-cell Slide" r:id="rId71" imgW="395" imgH="394" progId="TCLayout.ActiveDocument.1">
                  <p:embed/>
                  <p:pic>
                    <p:nvPicPr>
                      <p:cNvPr id="10" name="think-cell data - do not delete" hidden="1">
                        <a:extLst>
                          <a:ext uri="{FF2B5EF4-FFF2-40B4-BE49-F238E27FC236}">
                            <a16:creationId xmlns:a16="http://schemas.microsoft.com/office/drawing/2014/main" id="{4E5EDF38-C884-A586-A590-F1CA76B25B68}"/>
                          </a:ext>
                        </a:extLst>
                      </p:cNvPr>
                      <p:cNvPicPr/>
                      <p:nvPr/>
                    </p:nvPicPr>
                    <p:blipFill>
                      <a:blip r:embed="rId72"/>
                      <a:stretch>
                        <a:fillRect/>
                      </a:stretch>
                    </p:blipFill>
                    <p:spPr>
                      <a:xfrm>
                        <a:off x="1588" y="1588"/>
                        <a:ext cx="1588" cy="1588"/>
                      </a:xfrm>
                      <a:prstGeom prst="rect">
                        <a:avLst/>
                      </a:prstGeom>
                    </p:spPr>
                  </p:pic>
                </p:oleObj>
              </mc:Fallback>
            </mc:AlternateContent>
          </a:graphicData>
        </a:graphic>
      </p:graphicFrame>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73">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9" name="Footer Placeholder 2">
            <a:extLst>
              <a:ext uri="{FF2B5EF4-FFF2-40B4-BE49-F238E27FC236}">
                <a16:creationId xmlns:a16="http://schemas.microsoft.com/office/drawing/2014/main" id="{D14BC846-A194-F780-F0FE-8D57804D1C6D}"/>
              </a:ext>
            </a:extLst>
          </p:cNvPr>
          <p:cNvSpPr txBox="1">
            <a:spLocks/>
          </p:cNvSpPr>
          <p:nvPr userDrawn="1"/>
        </p:nvSpPr>
        <p:spPr>
          <a:xfrm>
            <a:off x="543777" y="6576446"/>
            <a:ext cx="4716524" cy="123111"/>
          </a:xfrm>
          <a:prstGeom prst="rect">
            <a:avLst/>
          </a:prstGeom>
        </p:spPr>
        <p:txBody>
          <a:bodyPr anchor="ctr"/>
          <a:ls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buFont typeface="Arial" panose="020B0604020202020204" pitchFamily="34" charset="0"/>
              <a:buNone/>
            </a:pPr>
            <a:r>
              <a:rPr lang="en-US" sz="800">
                <a:solidFill>
                  <a:schemeClr val="bg1">
                    <a:lumMod val="65000"/>
                  </a:schemeClr>
                </a:solidFill>
              </a:rPr>
              <a:t>Nbn - Digital and AI transformation | April 2026</a:t>
            </a:r>
          </a:p>
        </p:txBody>
      </p:sp>
      <p:pic>
        <p:nvPicPr>
          <p:cNvPr id="12" name="Picture 11">
            <a:extLst>
              <a:ext uri="{FF2B5EF4-FFF2-40B4-BE49-F238E27FC236}">
                <a16:creationId xmlns:a16="http://schemas.microsoft.com/office/drawing/2014/main" id="{F3AD01FA-6D6E-524E-8BB1-FB0F8E2546C0}"/>
              </a:ext>
            </a:extLst>
          </p:cNvPr>
          <p:cNvPicPr>
            <a:picLocks noChangeAspect="1"/>
          </p:cNvPicPr>
          <p:nvPr userDrawn="1"/>
        </p:nvPicPr>
        <p:blipFill>
          <a:blip r:embed="rId74"/>
          <a:stretch>
            <a:fillRect/>
          </a:stretch>
        </p:blipFill>
        <p:spPr>
          <a:xfrm>
            <a:off x="10595509" y="0"/>
            <a:ext cx="1237002" cy="696510"/>
          </a:xfrm>
          <a:prstGeom prst="rect">
            <a:avLst/>
          </a:prstGeom>
        </p:spPr>
      </p:pic>
    </p:spTree>
    <p:extLst>
      <p:ext uri="{BB962C8B-B14F-4D97-AF65-F5344CB8AC3E}">
        <p14:creationId xmlns:p14="http://schemas.microsoft.com/office/powerpoint/2010/main" val="1775168309"/>
      </p:ext>
    </p:extLst>
  </p:cSld>
  <p:clrMap bg1="lt1" tx1="dk1" bg2="lt2" tx2="dk2" accent1="accent1" accent2="accent2" accent3="accent3" accent4="accent4" accent5="accent5" accent6="accent6" hlink="hlink" folHlink="folHlink"/>
  <p:sldLayoutIdLst>
    <p:sldLayoutId id="2147484305" r:id="rId1"/>
    <p:sldLayoutId id="2147484306" r:id="rId2"/>
    <p:sldLayoutId id="2147484307" r:id="rId3"/>
    <p:sldLayoutId id="2147484308" r:id="rId4"/>
    <p:sldLayoutId id="2147484309" r:id="rId5"/>
    <p:sldLayoutId id="2147484310" r:id="rId6"/>
    <p:sldLayoutId id="2147484311" r:id="rId7"/>
    <p:sldLayoutId id="2147484312" r:id="rId8"/>
    <p:sldLayoutId id="2147484313" r:id="rId9"/>
    <p:sldLayoutId id="2147484314" r:id="rId10"/>
    <p:sldLayoutId id="2147484315" r:id="rId11"/>
    <p:sldLayoutId id="2147484316" r:id="rId12"/>
    <p:sldLayoutId id="2147484317" r:id="rId13"/>
    <p:sldLayoutId id="2147484318" r:id="rId14"/>
    <p:sldLayoutId id="2147484319" r:id="rId15"/>
    <p:sldLayoutId id="2147484320" r:id="rId16"/>
    <p:sldLayoutId id="2147484321" r:id="rId17"/>
    <p:sldLayoutId id="2147484322" r:id="rId18"/>
    <p:sldLayoutId id="2147484323" r:id="rId19"/>
    <p:sldLayoutId id="2147484324" r:id="rId20"/>
    <p:sldLayoutId id="2147484325" r:id="rId21"/>
    <p:sldLayoutId id="2147484326" r:id="rId22"/>
    <p:sldLayoutId id="2147484327" r:id="rId23"/>
    <p:sldLayoutId id="2147484328" r:id="rId24"/>
    <p:sldLayoutId id="2147484329" r:id="rId25"/>
    <p:sldLayoutId id="2147484330" r:id="rId26"/>
    <p:sldLayoutId id="2147484331" r:id="rId27"/>
    <p:sldLayoutId id="2147484332" r:id="rId28"/>
    <p:sldLayoutId id="2147484333" r:id="rId29"/>
    <p:sldLayoutId id="2147484334" r:id="rId30"/>
    <p:sldLayoutId id="2147484335" r:id="rId31"/>
    <p:sldLayoutId id="2147484336" r:id="rId32"/>
    <p:sldLayoutId id="2147484337" r:id="rId33"/>
    <p:sldLayoutId id="2147484338" r:id="rId34"/>
    <p:sldLayoutId id="2147484339" r:id="rId35"/>
    <p:sldLayoutId id="2147484340" r:id="rId36"/>
    <p:sldLayoutId id="2147484341" r:id="rId37"/>
    <p:sldLayoutId id="2147484342" r:id="rId38"/>
    <p:sldLayoutId id="2147484343" r:id="rId39"/>
    <p:sldLayoutId id="2147484344" r:id="rId40"/>
    <p:sldLayoutId id="2147484345" r:id="rId41"/>
    <p:sldLayoutId id="2147484346" r:id="rId42"/>
    <p:sldLayoutId id="2147484347" r:id="rId43"/>
    <p:sldLayoutId id="2147484348" r:id="rId44"/>
    <p:sldLayoutId id="2147484349" r:id="rId45"/>
    <p:sldLayoutId id="2147484350" r:id="rId46"/>
    <p:sldLayoutId id="2147484351" r:id="rId47"/>
    <p:sldLayoutId id="2147484352" r:id="rId48"/>
    <p:sldLayoutId id="2147484353" r:id="rId49"/>
    <p:sldLayoutId id="2147484354" r:id="rId50"/>
    <p:sldLayoutId id="2147484355" r:id="rId51"/>
    <p:sldLayoutId id="2147484356" r:id="rId52"/>
    <p:sldLayoutId id="2147484357" r:id="rId53"/>
    <p:sldLayoutId id="2147484358" r:id="rId54"/>
    <p:sldLayoutId id="2147484359" r:id="rId55"/>
    <p:sldLayoutId id="2147484360" r:id="rId56"/>
    <p:sldLayoutId id="2147484361" r:id="rId57"/>
    <p:sldLayoutId id="2147484362" r:id="rId58"/>
    <p:sldLayoutId id="2147484363" r:id="rId59"/>
    <p:sldLayoutId id="2147484364" r:id="rId60"/>
    <p:sldLayoutId id="2147484365" r:id="rId61"/>
    <p:sldLayoutId id="2147484366" r:id="rId62"/>
    <p:sldLayoutId id="2147484367" r:id="rId63"/>
    <p:sldLayoutId id="2147484368" r:id="rId64"/>
    <p:sldLayoutId id="2147484369" r:id="rId65"/>
    <p:sldLayoutId id="2147484370" r:id="rId66"/>
    <p:sldLayoutId id="2147484371" r:id="rId67"/>
    <p:sldLayoutId id="2147484372" r:id="rId68"/>
  </p:sldLayoutIdLst>
  <p:hf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1.png"/><Relationship Id="rId1" Type="http://schemas.openxmlformats.org/officeDocument/2006/relationships/slideLayout" Target="../slideLayouts/slideLayout5.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6" Type="http://schemas.openxmlformats.org/officeDocument/2006/relationships/tags" Target="../tags/tag33.xml"/><Relationship Id="rId21" Type="http://schemas.openxmlformats.org/officeDocument/2006/relationships/tags" Target="../tags/tag28.xml"/><Relationship Id="rId42" Type="http://schemas.openxmlformats.org/officeDocument/2006/relationships/tags" Target="../tags/tag49.xml"/><Relationship Id="rId47" Type="http://schemas.openxmlformats.org/officeDocument/2006/relationships/tags" Target="../tags/tag54.xml"/><Relationship Id="rId63" Type="http://schemas.openxmlformats.org/officeDocument/2006/relationships/image" Target="../media/image40.svg"/><Relationship Id="rId68" Type="http://schemas.openxmlformats.org/officeDocument/2006/relationships/image" Target="../media/image45.svg"/><Relationship Id="rId2" Type="http://schemas.openxmlformats.org/officeDocument/2006/relationships/tags" Target="../tags/tag9.xml"/><Relationship Id="rId16" Type="http://schemas.openxmlformats.org/officeDocument/2006/relationships/tags" Target="../tags/tag23.xml"/><Relationship Id="rId29" Type="http://schemas.openxmlformats.org/officeDocument/2006/relationships/tags" Target="../tags/tag36.xml"/><Relationship Id="rId11" Type="http://schemas.openxmlformats.org/officeDocument/2006/relationships/tags" Target="../tags/tag18.xml"/><Relationship Id="rId24" Type="http://schemas.openxmlformats.org/officeDocument/2006/relationships/tags" Target="../tags/tag31.xml"/><Relationship Id="rId32" Type="http://schemas.openxmlformats.org/officeDocument/2006/relationships/tags" Target="../tags/tag39.xml"/><Relationship Id="rId37" Type="http://schemas.openxmlformats.org/officeDocument/2006/relationships/tags" Target="../tags/tag44.xml"/><Relationship Id="rId40" Type="http://schemas.openxmlformats.org/officeDocument/2006/relationships/tags" Target="../tags/tag47.xml"/><Relationship Id="rId45" Type="http://schemas.openxmlformats.org/officeDocument/2006/relationships/tags" Target="../tags/tag52.xml"/><Relationship Id="rId53" Type="http://schemas.openxmlformats.org/officeDocument/2006/relationships/tags" Target="../tags/tag60.xml"/><Relationship Id="rId58" Type="http://schemas.openxmlformats.org/officeDocument/2006/relationships/tags" Target="../tags/tag65.xml"/><Relationship Id="rId66" Type="http://schemas.openxmlformats.org/officeDocument/2006/relationships/image" Target="../media/image43.svg"/><Relationship Id="rId74" Type="http://schemas.openxmlformats.org/officeDocument/2006/relationships/image" Target="../media/image51.svg"/><Relationship Id="rId5" Type="http://schemas.openxmlformats.org/officeDocument/2006/relationships/tags" Target="../tags/tag12.xml"/><Relationship Id="rId61" Type="http://schemas.openxmlformats.org/officeDocument/2006/relationships/slideLayout" Target="../slideLayouts/slideLayout5.xml"/><Relationship Id="rId19" Type="http://schemas.openxmlformats.org/officeDocument/2006/relationships/tags" Target="../tags/tag26.xml"/><Relationship Id="rId14" Type="http://schemas.openxmlformats.org/officeDocument/2006/relationships/tags" Target="../tags/tag21.xml"/><Relationship Id="rId22" Type="http://schemas.openxmlformats.org/officeDocument/2006/relationships/tags" Target="../tags/tag29.xml"/><Relationship Id="rId27" Type="http://schemas.openxmlformats.org/officeDocument/2006/relationships/tags" Target="../tags/tag34.xml"/><Relationship Id="rId30" Type="http://schemas.openxmlformats.org/officeDocument/2006/relationships/tags" Target="../tags/tag37.xml"/><Relationship Id="rId35" Type="http://schemas.openxmlformats.org/officeDocument/2006/relationships/tags" Target="../tags/tag42.xml"/><Relationship Id="rId43" Type="http://schemas.openxmlformats.org/officeDocument/2006/relationships/tags" Target="../tags/tag50.xml"/><Relationship Id="rId48" Type="http://schemas.openxmlformats.org/officeDocument/2006/relationships/tags" Target="../tags/tag55.xml"/><Relationship Id="rId56" Type="http://schemas.openxmlformats.org/officeDocument/2006/relationships/tags" Target="../tags/tag63.xml"/><Relationship Id="rId64" Type="http://schemas.openxmlformats.org/officeDocument/2006/relationships/image" Target="../media/image41.svg"/><Relationship Id="rId69" Type="http://schemas.openxmlformats.org/officeDocument/2006/relationships/image" Target="../media/image46.svg"/><Relationship Id="rId8" Type="http://schemas.openxmlformats.org/officeDocument/2006/relationships/tags" Target="../tags/tag15.xml"/><Relationship Id="rId51" Type="http://schemas.openxmlformats.org/officeDocument/2006/relationships/tags" Target="../tags/tag58.xml"/><Relationship Id="rId72" Type="http://schemas.openxmlformats.org/officeDocument/2006/relationships/image" Target="../media/image49.svg"/><Relationship Id="rId3" Type="http://schemas.openxmlformats.org/officeDocument/2006/relationships/tags" Target="../tags/tag10.xml"/><Relationship Id="rId12" Type="http://schemas.openxmlformats.org/officeDocument/2006/relationships/tags" Target="../tags/tag19.xml"/><Relationship Id="rId17" Type="http://schemas.openxmlformats.org/officeDocument/2006/relationships/tags" Target="../tags/tag24.xml"/><Relationship Id="rId25" Type="http://schemas.openxmlformats.org/officeDocument/2006/relationships/tags" Target="../tags/tag32.xml"/><Relationship Id="rId33" Type="http://schemas.openxmlformats.org/officeDocument/2006/relationships/tags" Target="../tags/tag40.xml"/><Relationship Id="rId38" Type="http://schemas.openxmlformats.org/officeDocument/2006/relationships/tags" Target="../tags/tag45.xml"/><Relationship Id="rId46" Type="http://schemas.openxmlformats.org/officeDocument/2006/relationships/tags" Target="../tags/tag53.xml"/><Relationship Id="rId59" Type="http://schemas.openxmlformats.org/officeDocument/2006/relationships/tags" Target="../tags/tag66.xml"/><Relationship Id="rId67" Type="http://schemas.openxmlformats.org/officeDocument/2006/relationships/image" Target="../media/image44.svg"/><Relationship Id="rId20" Type="http://schemas.openxmlformats.org/officeDocument/2006/relationships/tags" Target="../tags/tag27.xml"/><Relationship Id="rId41" Type="http://schemas.openxmlformats.org/officeDocument/2006/relationships/tags" Target="../tags/tag48.xml"/><Relationship Id="rId54" Type="http://schemas.openxmlformats.org/officeDocument/2006/relationships/tags" Target="../tags/tag61.xml"/><Relationship Id="rId62" Type="http://schemas.openxmlformats.org/officeDocument/2006/relationships/image" Target="../media/image39.svg"/><Relationship Id="rId70" Type="http://schemas.openxmlformats.org/officeDocument/2006/relationships/image" Target="../media/image47.svg"/><Relationship Id="rId75" Type="http://schemas.openxmlformats.org/officeDocument/2006/relationships/image" Target="../media/image3.png"/><Relationship Id="rId1" Type="http://schemas.openxmlformats.org/officeDocument/2006/relationships/tags" Target="../tags/tag8.xml"/><Relationship Id="rId6" Type="http://schemas.openxmlformats.org/officeDocument/2006/relationships/tags" Target="../tags/tag13.xml"/><Relationship Id="rId15" Type="http://schemas.openxmlformats.org/officeDocument/2006/relationships/tags" Target="../tags/tag22.xml"/><Relationship Id="rId23" Type="http://schemas.openxmlformats.org/officeDocument/2006/relationships/tags" Target="../tags/tag30.xml"/><Relationship Id="rId28" Type="http://schemas.openxmlformats.org/officeDocument/2006/relationships/tags" Target="../tags/tag35.xml"/><Relationship Id="rId36" Type="http://schemas.openxmlformats.org/officeDocument/2006/relationships/tags" Target="../tags/tag43.xml"/><Relationship Id="rId49" Type="http://schemas.openxmlformats.org/officeDocument/2006/relationships/tags" Target="../tags/tag56.xml"/><Relationship Id="rId57" Type="http://schemas.openxmlformats.org/officeDocument/2006/relationships/tags" Target="../tags/tag64.xml"/><Relationship Id="rId10" Type="http://schemas.openxmlformats.org/officeDocument/2006/relationships/tags" Target="../tags/tag17.xml"/><Relationship Id="rId31" Type="http://schemas.openxmlformats.org/officeDocument/2006/relationships/tags" Target="../tags/tag38.xml"/><Relationship Id="rId44" Type="http://schemas.openxmlformats.org/officeDocument/2006/relationships/tags" Target="../tags/tag51.xml"/><Relationship Id="rId52" Type="http://schemas.openxmlformats.org/officeDocument/2006/relationships/tags" Target="../tags/tag59.xml"/><Relationship Id="rId60" Type="http://schemas.openxmlformats.org/officeDocument/2006/relationships/tags" Target="../tags/tag67.xml"/><Relationship Id="rId65" Type="http://schemas.openxmlformats.org/officeDocument/2006/relationships/image" Target="../media/image42.svg"/><Relationship Id="rId73" Type="http://schemas.openxmlformats.org/officeDocument/2006/relationships/image" Target="../media/image50.svg"/><Relationship Id="rId4" Type="http://schemas.openxmlformats.org/officeDocument/2006/relationships/tags" Target="../tags/tag11.xml"/><Relationship Id="rId9" Type="http://schemas.openxmlformats.org/officeDocument/2006/relationships/tags" Target="../tags/tag16.xml"/><Relationship Id="rId13" Type="http://schemas.openxmlformats.org/officeDocument/2006/relationships/tags" Target="../tags/tag20.xml"/><Relationship Id="rId18" Type="http://schemas.openxmlformats.org/officeDocument/2006/relationships/tags" Target="../tags/tag25.xml"/><Relationship Id="rId39" Type="http://schemas.openxmlformats.org/officeDocument/2006/relationships/tags" Target="../tags/tag46.xml"/><Relationship Id="rId34" Type="http://schemas.openxmlformats.org/officeDocument/2006/relationships/tags" Target="../tags/tag41.xml"/><Relationship Id="rId50" Type="http://schemas.openxmlformats.org/officeDocument/2006/relationships/tags" Target="../tags/tag57.xml"/><Relationship Id="rId55" Type="http://schemas.openxmlformats.org/officeDocument/2006/relationships/tags" Target="../tags/tag62.xml"/><Relationship Id="rId7" Type="http://schemas.openxmlformats.org/officeDocument/2006/relationships/tags" Target="../tags/tag14.xml"/><Relationship Id="rId71" Type="http://schemas.openxmlformats.org/officeDocument/2006/relationships/image" Target="../media/image48.svg"/></Relationships>
</file>

<file path=ppt/slides/_rels/slide13.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53.svg"/></Relationships>
</file>

<file path=ppt/slides/_rels/slide14.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svg"/><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56.svg"/></Relationships>
</file>

<file path=ppt/slides/_rels/slide15.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notesSlide" Target="../notesSlides/notesSlide2.xml"/><Relationship Id="rId7" Type="http://schemas.microsoft.com/office/2007/relationships/hdphoto" Target="../media/hdphoto11.wdp"/><Relationship Id="rId2" Type="http://schemas.openxmlformats.org/officeDocument/2006/relationships/slideLayout" Target="../slideLayouts/slideLayout9.xml"/><Relationship Id="rId1" Type="http://schemas.openxmlformats.org/officeDocument/2006/relationships/tags" Target="../tags/tag68.xml"/><Relationship Id="rId6" Type="http://schemas.openxmlformats.org/officeDocument/2006/relationships/image" Target="../media/image57.png"/><Relationship Id="rId11" Type="http://schemas.openxmlformats.org/officeDocument/2006/relationships/image" Target="../media/image60.svg"/><Relationship Id="rId5" Type="http://schemas.openxmlformats.org/officeDocument/2006/relationships/image" Target="../media/image13.emf"/><Relationship Id="rId10" Type="http://schemas.openxmlformats.org/officeDocument/2006/relationships/image" Target="../media/image59.png"/><Relationship Id="rId4" Type="http://schemas.openxmlformats.org/officeDocument/2006/relationships/oleObject" Target="../embeddings/oleObject4.bin"/><Relationship Id="rId9" Type="http://schemas.microsoft.com/office/2007/relationships/hdphoto" Target="../media/hdphoto12.wdp"/></Relationships>
</file>

<file path=ppt/slides/_rels/slide16.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61.svg"/><Relationship Id="rId7" Type="http://schemas.openxmlformats.org/officeDocument/2006/relationships/image" Target="../media/image65.svg"/><Relationship Id="rId2" Type="http://schemas.openxmlformats.org/officeDocument/2006/relationships/image" Target="../media/image3.png"/><Relationship Id="rId1" Type="http://schemas.openxmlformats.org/officeDocument/2006/relationships/slideLayout" Target="../slideLayouts/slideLayout5.xml"/><Relationship Id="rId6" Type="http://schemas.openxmlformats.org/officeDocument/2006/relationships/image" Target="../media/image64.svg"/><Relationship Id="rId11" Type="http://schemas.openxmlformats.org/officeDocument/2006/relationships/image" Target="../media/image69.svg"/><Relationship Id="rId5" Type="http://schemas.openxmlformats.org/officeDocument/2006/relationships/image" Target="../media/image63.svg"/><Relationship Id="rId10" Type="http://schemas.openxmlformats.org/officeDocument/2006/relationships/image" Target="../media/image68.svg"/><Relationship Id="rId4" Type="http://schemas.openxmlformats.org/officeDocument/2006/relationships/image" Target="../media/image62.svg"/><Relationship Id="rId9" Type="http://schemas.openxmlformats.org/officeDocument/2006/relationships/image" Target="../media/image67.svg"/></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71.svg"/><Relationship Id="rId7" Type="http://schemas.openxmlformats.org/officeDocument/2006/relationships/image" Target="../media/image75.svg"/><Relationship Id="rId2" Type="http://schemas.openxmlformats.org/officeDocument/2006/relationships/image" Target="../media/image70.svg"/><Relationship Id="rId1" Type="http://schemas.openxmlformats.org/officeDocument/2006/relationships/slideLayout" Target="../slideLayouts/slideLayout5.xml"/><Relationship Id="rId6" Type="http://schemas.openxmlformats.org/officeDocument/2006/relationships/image" Target="../media/image74.svg"/><Relationship Id="rId5" Type="http://schemas.openxmlformats.org/officeDocument/2006/relationships/image" Target="../media/image73.svg"/><Relationship Id="rId4" Type="http://schemas.openxmlformats.org/officeDocument/2006/relationships/image" Target="../media/image72.svg"/></Relationships>
</file>

<file path=ppt/slides/_rels/slide19.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image" Target="../media/image71.svg"/><Relationship Id="rId7" Type="http://schemas.openxmlformats.org/officeDocument/2006/relationships/image" Target="../media/image80.svg"/><Relationship Id="rId2" Type="http://schemas.openxmlformats.org/officeDocument/2006/relationships/image" Target="../media/image76.svg"/><Relationship Id="rId1" Type="http://schemas.openxmlformats.org/officeDocument/2006/relationships/slideLayout" Target="../slideLayouts/slideLayout5.xml"/><Relationship Id="rId6" Type="http://schemas.openxmlformats.org/officeDocument/2006/relationships/image" Target="../media/image79.svg"/><Relationship Id="rId5" Type="http://schemas.openxmlformats.org/officeDocument/2006/relationships/image" Target="../media/image78.svg"/><Relationship Id="rId4" Type="http://schemas.openxmlformats.org/officeDocument/2006/relationships/image" Target="../media/image77.svg"/></Relationships>
</file>

<file path=ppt/slides/_rels/slide20.xml.rels><?xml version="1.0" encoding="UTF-8" standalone="yes"?>
<Relationships xmlns="http://schemas.openxmlformats.org/package/2006/relationships"><Relationship Id="rId8" Type="http://schemas.openxmlformats.org/officeDocument/2006/relationships/hyperlink" Target="https://www.forrester.com/fn/" TargetMode="External"/><Relationship Id="rId13" Type="http://schemas.openxmlformats.org/officeDocument/2006/relationships/image" Target="../media/image90.png"/><Relationship Id="rId3" Type="http://schemas.openxmlformats.org/officeDocument/2006/relationships/image" Target="../media/image83.png"/><Relationship Id="rId7" Type="http://schemas.openxmlformats.org/officeDocument/2006/relationships/image" Target="../media/image86.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image" Target="../media/image82.png"/><Relationship Id="rId16" Type="http://schemas.openxmlformats.org/officeDocument/2006/relationships/image" Target="../media/image93.png"/><Relationship Id="rId1" Type="http://schemas.openxmlformats.org/officeDocument/2006/relationships/slideLayout" Target="../slideLayouts/slideLayout5.xml"/><Relationship Id="rId6" Type="http://schemas.openxmlformats.org/officeDocument/2006/relationships/hyperlink" Target="https://www.globaldata.com/" TargetMode="External"/><Relationship Id="rId11" Type="http://schemas.openxmlformats.org/officeDocument/2006/relationships/image" Target="../media/image88.png"/><Relationship Id="rId5" Type="http://schemas.openxmlformats.org/officeDocument/2006/relationships/image" Target="../media/image85.png"/><Relationship Id="rId15" Type="http://schemas.openxmlformats.org/officeDocument/2006/relationships/image" Target="../media/image92.png"/><Relationship Id="rId10" Type="http://schemas.openxmlformats.org/officeDocument/2006/relationships/hyperlink" Target="https://www.thebusinessresearchcompany.com/" TargetMode="External"/><Relationship Id="rId4" Type="http://schemas.openxmlformats.org/officeDocument/2006/relationships/image" Target="../media/image84.png"/><Relationship Id="rId9" Type="http://schemas.openxmlformats.org/officeDocument/2006/relationships/image" Target="../media/image87.png"/><Relationship Id="rId14" Type="http://schemas.openxmlformats.org/officeDocument/2006/relationships/image" Target="../media/image91.png"/></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3" Type="http://schemas.openxmlformats.org/officeDocument/2006/relationships/image" Target="../media/image106.png"/><Relationship Id="rId18" Type="http://schemas.openxmlformats.org/officeDocument/2006/relationships/hyperlink" Target="https://www.globaldata.com/" TargetMode="External"/><Relationship Id="rId26" Type="http://schemas.openxmlformats.org/officeDocument/2006/relationships/hyperlink" Target="https://www.idc.com/tracker/showproductinfo.jsp?prod_id=2161" TargetMode="External"/><Relationship Id="rId3" Type="http://schemas.openxmlformats.org/officeDocument/2006/relationships/image" Target="../media/image96.png"/><Relationship Id="rId21" Type="http://schemas.openxmlformats.org/officeDocument/2006/relationships/image" Target="../media/image112.jpeg"/><Relationship Id="rId7" Type="http://schemas.openxmlformats.org/officeDocument/2006/relationships/image" Target="../media/image100.png"/><Relationship Id="rId12" Type="http://schemas.openxmlformats.org/officeDocument/2006/relationships/image" Target="../media/image105.png"/><Relationship Id="rId17" Type="http://schemas.openxmlformats.org/officeDocument/2006/relationships/image" Target="../media/image110.png"/><Relationship Id="rId25" Type="http://schemas.openxmlformats.org/officeDocument/2006/relationships/image" Target="../media/image116.png"/><Relationship Id="rId33" Type="http://schemas.openxmlformats.org/officeDocument/2006/relationships/image" Target="../media/image121.png"/><Relationship Id="rId2" Type="http://schemas.openxmlformats.org/officeDocument/2006/relationships/image" Target="../media/image95.png"/><Relationship Id="rId16" Type="http://schemas.openxmlformats.org/officeDocument/2006/relationships/image" Target="../media/image109.jpeg"/><Relationship Id="rId20" Type="http://schemas.openxmlformats.org/officeDocument/2006/relationships/hyperlink" Target="https://professional.dowjones.com/factiva/" TargetMode="External"/><Relationship Id="rId29" Type="http://schemas.openxmlformats.org/officeDocument/2006/relationships/image" Target="../media/image119.png"/><Relationship Id="rId1" Type="http://schemas.openxmlformats.org/officeDocument/2006/relationships/slideLayout" Target="../slideLayouts/slideLayout5.xml"/><Relationship Id="rId6" Type="http://schemas.openxmlformats.org/officeDocument/2006/relationships/image" Target="../media/image99.png"/><Relationship Id="rId11" Type="http://schemas.openxmlformats.org/officeDocument/2006/relationships/image" Target="../media/image104.png"/><Relationship Id="rId24" Type="http://schemas.openxmlformats.org/officeDocument/2006/relationships/image" Target="../media/image115.png"/><Relationship Id="rId32" Type="http://schemas.openxmlformats.org/officeDocument/2006/relationships/image" Target="../media/image3.png"/><Relationship Id="rId5" Type="http://schemas.openxmlformats.org/officeDocument/2006/relationships/image" Target="../media/image98.png"/><Relationship Id="rId15" Type="http://schemas.openxmlformats.org/officeDocument/2006/relationships/image" Target="../media/image108.png"/><Relationship Id="rId23" Type="http://schemas.openxmlformats.org/officeDocument/2006/relationships/image" Target="../media/image114.png"/><Relationship Id="rId28" Type="http://schemas.openxmlformats.org/officeDocument/2006/relationships/image" Target="../media/image118.png"/><Relationship Id="rId10" Type="http://schemas.openxmlformats.org/officeDocument/2006/relationships/image" Target="../media/image103.png"/><Relationship Id="rId19" Type="http://schemas.openxmlformats.org/officeDocument/2006/relationships/image" Target="../media/image111.png"/><Relationship Id="rId31" Type="http://schemas.openxmlformats.org/officeDocument/2006/relationships/image" Target="../media/image120.png"/><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image" Target="../media/image107.png"/><Relationship Id="rId22" Type="http://schemas.openxmlformats.org/officeDocument/2006/relationships/image" Target="../media/image113.png"/><Relationship Id="rId27" Type="http://schemas.openxmlformats.org/officeDocument/2006/relationships/image" Target="../media/image117.png"/><Relationship Id="rId30" Type="http://schemas.openxmlformats.org/officeDocument/2006/relationships/hyperlink" Target="https://www.forrester.com/fn/" TargetMode="External"/><Relationship Id="rId8" Type="http://schemas.openxmlformats.org/officeDocument/2006/relationships/image" Target="../media/image101.png"/></Relationships>
</file>

<file path=ppt/slides/_rels/slide23.xml.rels><?xml version="1.0" encoding="UTF-8" standalone="yes"?>
<Relationships xmlns="http://schemas.openxmlformats.org/package/2006/relationships"><Relationship Id="rId13" Type="http://schemas.microsoft.com/office/2007/relationships/hdphoto" Target="../media/hdphoto16.wdp"/><Relationship Id="rId18" Type="http://schemas.openxmlformats.org/officeDocument/2006/relationships/image" Target="../media/image131.png"/><Relationship Id="rId26" Type="http://schemas.openxmlformats.org/officeDocument/2006/relationships/image" Target="../media/image135.png"/><Relationship Id="rId39" Type="http://schemas.openxmlformats.org/officeDocument/2006/relationships/image" Target="../media/image143.png"/><Relationship Id="rId21" Type="http://schemas.microsoft.com/office/2007/relationships/hdphoto" Target="../media/hdphoto20.wdp"/><Relationship Id="rId34" Type="http://schemas.microsoft.com/office/2007/relationships/hdphoto" Target="../media/hdphoto26.wdp"/><Relationship Id="rId42" Type="http://schemas.microsoft.com/office/2007/relationships/hdphoto" Target="../media/hdphoto28.wdp"/><Relationship Id="rId7" Type="http://schemas.openxmlformats.org/officeDocument/2006/relationships/image" Target="../media/image124.jpeg"/><Relationship Id="rId2" Type="http://schemas.openxmlformats.org/officeDocument/2006/relationships/notesSlide" Target="../notesSlides/notesSlide3.xml"/><Relationship Id="rId16" Type="http://schemas.openxmlformats.org/officeDocument/2006/relationships/image" Target="../media/image130.png"/><Relationship Id="rId29" Type="http://schemas.microsoft.com/office/2007/relationships/hdphoto" Target="../media/hdphoto24.wdp"/><Relationship Id="rId1" Type="http://schemas.openxmlformats.org/officeDocument/2006/relationships/slideLayout" Target="../slideLayouts/slideLayout5.xml"/><Relationship Id="rId6" Type="http://schemas.microsoft.com/office/2007/relationships/hdphoto" Target="../media/hdphoto14.wdp"/><Relationship Id="rId11" Type="http://schemas.microsoft.com/office/2007/relationships/hdphoto" Target="../media/hdphoto15.wdp"/><Relationship Id="rId24" Type="http://schemas.openxmlformats.org/officeDocument/2006/relationships/image" Target="../media/image134.png"/><Relationship Id="rId32" Type="http://schemas.openxmlformats.org/officeDocument/2006/relationships/image" Target="../media/image138.png"/><Relationship Id="rId37" Type="http://schemas.openxmlformats.org/officeDocument/2006/relationships/image" Target="../media/image141.png"/><Relationship Id="rId40" Type="http://schemas.openxmlformats.org/officeDocument/2006/relationships/image" Target="../media/image3.png"/><Relationship Id="rId45" Type="http://schemas.openxmlformats.org/officeDocument/2006/relationships/image" Target="../media/image147.png"/><Relationship Id="rId5" Type="http://schemas.openxmlformats.org/officeDocument/2006/relationships/image" Target="../media/image123.png"/><Relationship Id="rId15" Type="http://schemas.microsoft.com/office/2007/relationships/hdphoto" Target="../media/hdphoto17.wdp"/><Relationship Id="rId23" Type="http://schemas.microsoft.com/office/2007/relationships/hdphoto" Target="../media/hdphoto21.wdp"/><Relationship Id="rId28" Type="http://schemas.openxmlformats.org/officeDocument/2006/relationships/image" Target="../media/image136.png"/><Relationship Id="rId36" Type="http://schemas.microsoft.com/office/2007/relationships/hdphoto" Target="../media/hdphoto27.wdp"/><Relationship Id="rId10" Type="http://schemas.openxmlformats.org/officeDocument/2006/relationships/image" Target="../media/image127.png"/><Relationship Id="rId19" Type="http://schemas.microsoft.com/office/2007/relationships/hdphoto" Target="../media/hdphoto19.wdp"/><Relationship Id="rId31" Type="http://schemas.microsoft.com/office/2007/relationships/hdphoto" Target="../media/hdphoto25.wdp"/><Relationship Id="rId44" Type="http://schemas.openxmlformats.org/officeDocument/2006/relationships/image" Target="../media/image146.png"/><Relationship Id="rId4" Type="http://schemas.microsoft.com/office/2007/relationships/hdphoto" Target="../media/hdphoto13.wdp"/><Relationship Id="rId9" Type="http://schemas.openxmlformats.org/officeDocument/2006/relationships/image" Target="../media/image126.png"/><Relationship Id="rId14" Type="http://schemas.openxmlformats.org/officeDocument/2006/relationships/image" Target="../media/image129.png"/><Relationship Id="rId22" Type="http://schemas.openxmlformats.org/officeDocument/2006/relationships/image" Target="../media/image133.png"/><Relationship Id="rId27" Type="http://schemas.microsoft.com/office/2007/relationships/hdphoto" Target="../media/hdphoto23.wdp"/><Relationship Id="rId30" Type="http://schemas.openxmlformats.org/officeDocument/2006/relationships/image" Target="../media/image137.png"/><Relationship Id="rId35" Type="http://schemas.openxmlformats.org/officeDocument/2006/relationships/image" Target="../media/image140.png"/><Relationship Id="rId43" Type="http://schemas.openxmlformats.org/officeDocument/2006/relationships/image" Target="../media/image145.png"/><Relationship Id="rId8" Type="http://schemas.openxmlformats.org/officeDocument/2006/relationships/image" Target="../media/image125.png"/><Relationship Id="rId3" Type="http://schemas.openxmlformats.org/officeDocument/2006/relationships/image" Target="../media/image122.png"/><Relationship Id="rId12" Type="http://schemas.openxmlformats.org/officeDocument/2006/relationships/image" Target="../media/image128.png"/><Relationship Id="rId17" Type="http://schemas.microsoft.com/office/2007/relationships/hdphoto" Target="../media/hdphoto18.wdp"/><Relationship Id="rId25" Type="http://schemas.microsoft.com/office/2007/relationships/hdphoto" Target="../media/hdphoto22.wdp"/><Relationship Id="rId33" Type="http://schemas.openxmlformats.org/officeDocument/2006/relationships/image" Target="../media/image139.png"/><Relationship Id="rId38" Type="http://schemas.openxmlformats.org/officeDocument/2006/relationships/image" Target="../media/image142.png"/><Relationship Id="rId20" Type="http://schemas.openxmlformats.org/officeDocument/2006/relationships/image" Target="../media/image132.png"/><Relationship Id="rId41" Type="http://schemas.openxmlformats.org/officeDocument/2006/relationships/image" Target="../media/image144.png"/></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hyperlink" Target="https://www.capgemini.com/insights/research-library/sustainability-trends-2025/" TargetMode="External"/><Relationship Id="rId7" Type="http://schemas.openxmlformats.org/officeDocument/2006/relationships/image" Target="../media/image15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hyperlink" Target="https://www.capgemini.com/insights/research-library/b2b-in-telco-2026/"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www.capgemini.com/insights/research-library/sustainability-trends-2025/" TargetMode="External"/><Relationship Id="rId7" Type="http://schemas.openxmlformats.org/officeDocument/2006/relationships/image" Target="../media/image153.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52.png"/><Relationship Id="rId5" Type="http://schemas.openxmlformats.org/officeDocument/2006/relationships/image" Target="../media/image151.png"/><Relationship Id="rId4" Type="http://schemas.openxmlformats.org/officeDocument/2006/relationships/hyperlink" Target="https://www.capgemini.com/insights/research-library/autonomous-networks/"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5.xml"/><Relationship Id="rId6" Type="http://schemas.openxmlformats.org/officeDocument/2006/relationships/image" Target="../media/image3.png"/><Relationship Id="rId5" Type="http://schemas.openxmlformats.org/officeDocument/2006/relationships/image" Target="../media/image157.png"/><Relationship Id="rId4" Type="http://schemas.openxmlformats.org/officeDocument/2006/relationships/image" Target="../media/image156.png"/></Relationships>
</file>

<file path=ppt/slides/_rels/slide28.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5.xml"/><Relationship Id="rId6" Type="http://schemas.openxmlformats.org/officeDocument/2006/relationships/image" Target="../media/image3.png"/><Relationship Id="rId5" Type="http://schemas.openxmlformats.org/officeDocument/2006/relationships/image" Target="../media/image157.png"/><Relationship Id="rId4" Type="http://schemas.openxmlformats.org/officeDocument/2006/relationships/image" Target="../media/image156.png"/></Relationships>
</file>

<file path=ppt/slides/_rels/slide29.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5.xml"/><Relationship Id="rId6" Type="http://schemas.openxmlformats.org/officeDocument/2006/relationships/image" Target="../media/image3.png"/><Relationship Id="rId5" Type="http://schemas.openxmlformats.org/officeDocument/2006/relationships/image" Target="../media/image157.png"/><Relationship Id="rId4" Type="http://schemas.openxmlformats.org/officeDocument/2006/relationships/image" Target="../media/image156.png"/></Relationships>
</file>

<file path=ppt/slides/_rels/slide30.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image" Target="../media/image3.png"/><Relationship Id="rId1" Type="http://schemas.openxmlformats.org/officeDocument/2006/relationships/slideLayout" Target="../slideLayouts/slideLayout5.xml"/><Relationship Id="rId4" Type="http://schemas.openxmlformats.org/officeDocument/2006/relationships/image" Target="../media/image159.svg"/></Relationships>
</file>

<file path=ppt/slides/_rels/slide31.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image" Target="../media/image3.png"/><Relationship Id="rId1" Type="http://schemas.openxmlformats.org/officeDocument/2006/relationships/slideLayout" Target="../slideLayouts/slideLayout5.xml"/><Relationship Id="rId5" Type="http://schemas.openxmlformats.org/officeDocument/2006/relationships/image" Target="../media/image160.svg"/><Relationship Id="rId4" Type="http://schemas.openxmlformats.org/officeDocument/2006/relationships/image" Target="../media/image159.svg"/></Relationships>
</file>

<file path=ppt/slides/_rels/slide32.xml.rels><?xml version="1.0" encoding="UTF-8" standalone="yes"?>
<Relationships xmlns="http://schemas.openxmlformats.org/package/2006/relationships"><Relationship Id="rId3" Type="http://schemas.openxmlformats.org/officeDocument/2006/relationships/image" Target="../media/image159.svg"/><Relationship Id="rId2" Type="http://schemas.openxmlformats.org/officeDocument/2006/relationships/image" Target="../media/image158.jpeg"/><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160.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C838C-B765-8C43-BAC3-B3155BC11383}"/>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5B0E99C8-FFE6-DCAB-866A-889E78FB7283}"/>
              </a:ext>
            </a:extLst>
          </p:cNvPr>
          <p:cNvSpPr>
            <a:spLocks noGrp="1"/>
          </p:cNvSpPr>
          <p:nvPr>
            <p:ph type="title"/>
          </p:nvPr>
        </p:nvSpPr>
        <p:spPr>
          <a:xfrm>
            <a:off x="151698" y="1802543"/>
            <a:ext cx="7604125" cy="2783979"/>
          </a:xfrm>
        </p:spPr>
        <p:txBody>
          <a:bodyPr/>
          <a:lstStyle/>
          <a:p>
            <a:r>
              <a:rPr lang="en-US" sz="3600"/>
              <a:t>Capgemini response to </a:t>
            </a:r>
            <a:br>
              <a:rPr lang="en-US" sz="3600"/>
            </a:br>
            <a:r>
              <a:rPr lang="en-US" sz="3600"/>
              <a:t>Maxis Wholesale </a:t>
            </a:r>
            <a:br>
              <a:rPr lang="en-US" sz="3600"/>
            </a:br>
            <a:r>
              <a:rPr lang="en-US" sz="3600"/>
              <a:t>Market Landscape Research Brief</a:t>
            </a:r>
            <a:br>
              <a:rPr lang="en-US" sz="3600"/>
            </a:br>
            <a:br>
              <a:rPr lang="en-US" sz="3600"/>
            </a:br>
            <a:r>
              <a:rPr lang="en-US" sz="1800"/>
              <a:t>Capturing the Next Growth Frontier: Repositioning Maxis Wholesale at the Center of ASEAN’s Digital Infrastructure Economy</a:t>
            </a:r>
            <a:endParaRPr lang="en-US" sz="3600"/>
          </a:p>
        </p:txBody>
      </p:sp>
      <p:sp>
        <p:nvSpPr>
          <p:cNvPr id="18" name="Text Placeholder 17">
            <a:extLst>
              <a:ext uri="{FF2B5EF4-FFF2-40B4-BE49-F238E27FC236}">
                <a16:creationId xmlns:a16="http://schemas.microsoft.com/office/drawing/2014/main" id="{77762C5B-AB76-6F1A-38AA-307C8F695D0D}"/>
              </a:ext>
            </a:extLst>
          </p:cNvPr>
          <p:cNvSpPr>
            <a:spLocks noGrp="1"/>
          </p:cNvSpPr>
          <p:nvPr>
            <p:ph type="body" sz="quarter" idx="10"/>
          </p:nvPr>
        </p:nvSpPr>
        <p:spPr>
          <a:xfrm>
            <a:off x="224040" y="5302780"/>
            <a:ext cx="6479535" cy="215444"/>
          </a:xfrm>
        </p:spPr>
        <p:txBody>
          <a:bodyPr>
            <a:normAutofit/>
          </a:bodyPr>
          <a:lstStyle/>
          <a:p>
            <a:r>
              <a:rPr lang="en-IN"/>
              <a:t>May 2026</a:t>
            </a:r>
          </a:p>
        </p:txBody>
      </p:sp>
    </p:spTree>
    <p:extLst>
      <p:ext uri="{BB962C8B-B14F-4D97-AF65-F5344CB8AC3E}">
        <p14:creationId xmlns:p14="http://schemas.microsoft.com/office/powerpoint/2010/main" val="1690003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FAF08C-03E0-C454-1CD7-CD7451C29AFD}"/>
              </a:ext>
            </a:extLst>
          </p:cNvPr>
          <p:cNvPicPr>
            <a:picLocks noChangeAspect="1"/>
          </p:cNvPicPr>
          <p:nvPr/>
        </p:nvPicPr>
        <p:blipFill>
          <a:blip r:embed="rId2"/>
          <a:stretch>
            <a:fillRect/>
          </a:stretch>
        </p:blipFill>
        <p:spPr>
          <a:xfrm>
            <a:off x="10595509" y="0"/>
            <a:ext cx="1237002" cy="696510"/>
          </a:xfrm>
          <a:prstGeom prst="rect">
            <a:avLst/>
          </a:prstGeom>
        </p:spPr>
      </p:pic>
      <p:grpSp>
        <p:nvGrpSpPr>
          <p:cNvPr id="6" name="Group 5">
            <a:extLst>
              <a:ext uri="{FF2B5EF4-FFF2-40B4-BE49-F238E27FC236}">
                <a16:creationId xmlns:a16="http://schemas.microsoft.com/office/drawing/2014/main" id="{0C3014B7-54F9-0019-62B3-E2DF19FD9B56}"/>
              </a:ext>
            </a:extLst>
          </p:cNvPr>
          <p:cNvGrpSpPr/>
          <p:nvPr/>
        </p:nvGrpSpPr>
        <p:grpSpPr>
          <a:xfrm rot="16200000">
            <a:off x="-1412829" y="3034341"/>
            <a:ext cx="4624086" cy="789306"/>
            <a:chOff x="7414704" y="2672736"/>
            <a:chExt cx="2900782" cy="495148"/>
          </a:xfrm>
          <a:solidFill>
            <a:schemeClr val="bg1"/>
          </a:solidFill>
        </p:grpSpPr>
        <p:sp>
          <p:nvSpPr>
            <p:cNvPr id="7" name="TextBox 6">
              <a:extLst>
                <a:ext uri="{FF2B5EF4-FFF2-40B4-BE49-F238E27FC236}">
                  <a16:creationId xmlns:a16="http://schemas.microsoft.com/office/drawing/2014/main" id="{0B934DBC-AAE7-8DAB-485B-8A8EDF6C2973}"/>
                </a:ext>
              </a:extLst>
            </p:cNvPr>
            <p:cNvSpPr txBox="1">
              <a:spLocks/>
            </p:cNvSpPr>
            <p:nvPr/>
          </p:nvSpPr>
          <p:spPr>
            <a:xfrm>
              <a:off x="7937436" y="2672736"/>
              <a:ext cx="402565" cy="495148"/>
            </a:xfrm>
            <a:custGeom>
              <a:avLst/>
              <a:gdLst/>
              <a:ahLst/>
              <a:cxnLst/>
              <a:rect l="l" t="t" r="r" b="b"/>
              <a:pathLst>
                <a:path w="402565" h="495148">
                  <a:moveTo>
                    <a:pt x="237973" y="0"/>
                  </a:moveTo>
                  <a:cubicBezTo>
                    <a:pt x="260376" y="0"/>
                    <a:pt x="280607" y="1486"/>
                    <a:pt x="298666" y="4458"/>
                  </a:cubicBezTo>
                  <a:cubicBezTo>
                    <a:pt x="316726" y="7429"/>
                    <a:pt x="332270" y="10858"/>
                    <a:pt x="345300" y="14745"/>
                  </a:cubicBezTo>
                  <a:cubicBezTo>
                    <a:pt x="358331" y="18631"/>
                    <a:pt x="369075" y="22631"/>
                    <a:pt x="377533" y="26746"/>
                  </a:cubicBezTo>
                  <a:cubicBezTo>
                    <a:pt x="385991" y="30861"/>
                    <a:pt x="392049" y="34061"/>
                    <a:pt x="395707" y="36347"/>
                  </a:cubicBezTo>
                  <a:lnTo>
                    <a:pt x="364846" y="122072"/>
                  </a:lnTo>
                  <a:cubicBezTo>
                    <a:pt x="350216" y="114300"/>
                    <a:pt x="333413" y="107556"/>
                    <a:pt x="314439" y="101841"/>
                  </a:cubicBezTo>
                  <a:cubicBezTo>
                    <a:pt x="295466" y="96126"/>
                    <a:pt x="274778" y="93269"/>
                    <a:pt x="252375" y="93269"/>
                  </a:cubicBezTo>
                  <a:cubicBezTo>
                    <a:pt x="202540" y="93269"/>
                    <a:pt x="166535" y="107099"/>
                    <a:pt x="144361" y="134760"/>
                  </a:cubicBezTo>
                  <a:cubicBezTo>
                    <a:pt x="122187" y="162420"/>
                    <a:pt x="111100" y="200254"/>
                    <a:pt x="111100" y="248260"/>
                  </a:cubicBezTo>
                  <a:cubicBezTo>
                    <a:pt x="111100" y="271577"/>
                    <a:pt x="113843" y="292722"/>
                    <a:pt x="119329" y="311696"/>
                  </a:cubicBezTo>
                  <a:cubicBezTo>
                    <a:pt x="124816" y="330670"/>
                    <a:pt x="133045" y="347015"/>
                    <a:pt x="144018" y="360731"/>
                  </a:cubicBezTo>
                  <a:cubicBezTo>
                    <a:pt x="154991" y="374447"/>
                    <a:pt x="168707" y="385077"/>
                    <a:pt x="185166" y="392620"/>
                  </a:cubicBezTo>
                  <a:cubicBezTo>
                    <a:pt x="201625" y="400164"/>
                    <a:pt x="220828" y="403936"/>
                    <a:pt x="242773" y="403936"/>
                  </a:cubicBezTo>
                  <a:cubicBezTo>
                    <a:pt x="254661" y="403936"/>
                    <a:pt x="264833" y="403708"/>
                    <a:pt x="273292" y="403250"/>
                  </a:cubicBezTo>
                  <a:cubicBezTo>
                    <a:pt x="281750" y="402793"/>
                    <a:pt x="289179" y="401879"/>
                    <a:pt x="295580" y="400507"/>
                  </a:cubicBezTo>
                  <a:lnTo>
                    <a:pt x="295580" y="235229"/>
                  </a:lnTo>
                  <a:lnTo>
                    <a:pt x="402565" y="235229"/>
                  </a:lnTo>
                  <a:lnTo>
                    <a:pt x="402565" y="470459"/>
                  </a:lnTo>
                  <a:cubicBezTo>
                    <a:pt x="389763" y="475488"/>
                    <a:pt x="369189" y="480860"/>
                    <a:pt x="340843" y="486575"/>
                  </a:cubicBezTo>
                  <a:cubicBezTo>
                    <a:pt x="312496" y="492290"/>
                    <a:pt x="277521" y="495148"/>
                    <a:pt x="235915" y="495148"/>
                  </a:cubicBezTo>
                  <a:cubicBezTo>
                    <a:pt x="200254" y="495148"/>
                    <a:pt x="167907" y="489661"/>
                    <a:pt x="138875" y="478688"/>
                  </a:cubicBezTo>
                  <a:cubicBezTo>
                    <a:pt x="109843" y="467716"/>
                    <a:pt x="85039" y="451714"/>
                    <a:pt x="64466" y="430682"/>
                  </a:cubicBezTo>
                  <a:cubicBezTo>
                    <a:pt x="43891" y="409651"/>
                    <a:pt x="28004" y="383819"/>
                    <a:pt x="16802" y="353187"/>
                  </a:cubicBezTo>
                  <a:cubicBezTo>
                    <a:pt x="5601" y="322555"/>
                    <a:pt x="0" y="287579"/>
                    <a:pt x="0" y="248260"/>
                  </a:cubicBezTo>
                  <a:cubicBezTo>
                    <a:pt x="0" y="208483"/>
                    <a:pt x="6172" y="173279"/>
                    <a:pt x="18517" y="142646"/>
                  </a:cubicBezTo>
                  <a:cubicBezTo>
                    <a:pt x="30861" y="112014"/>
                    <a:pt x="47778" y="86068"/>
                    <a:pt x="69266" y="64808"/>
                  </a:cubicBezTo>
                  <a:cubicBezTo>
                    <a:pt x="90754" y="43548"/>
                    <a:pt x="116015" y="27432"/>
                    <a:pt x="145047" y="16459"/>
                  </a:cubicBezTo>
                  <a:cubicBezTo>
                    <a:pt x="174079" y="5486"/>
                    <a:pt x="205054" y="0"/>
                    <a:pt x="237973"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5400" b="1" i="0" u="none" strike="noStrike" kern="1200" cap="all" spc="0" normalizeH="0" baseline="0" noProof="0">
                <a:ln>
                  <a:noFill/>
                </a:ln>
                <a:solidFill>
                  <a:srgbClr val="272936"/>
                </a:solidFill>
                <a:effectLst/>
                <a:uLnTx/>
                <a:uFillTx/>
                <a:latin typeface="Ubuntu"/>
                <a:ea typeface="+mj-ea"/>
                <a:cs typeface="+mj-cs"/>
              </a:endParaRPr>
            </a:p>
          </p:txBody>
        </p:sp>
        <p:sp>
          <p:nvSpPr>
            <p:cNvPr id="8" name="TextBox 7">
              <a:extLst>
                <a:ext uri="{FF2B5EF4-FFF2-40B4-BE49-F238E27FC236}">
                  <a16:creationId xmlns:a16="http://schemas.microsoft.com/office/drawing/2014/main" id="{ED769BFA-1B67-2902-345E-1CB64C512E76}"/>
                </a:ext>
              </a:extLst>
            </p:cNvPr>
            <p:cNvSpPr txBox="1">
              <a:spLocks/>
            </p:cNvSpPr>
            <p:nvPr/>
          </p:nvSpPr>
          <p:spPr>
            <a:xfrm>
              <a:off x="9377235" y="2678222"/>
              <a:ext cx="416281" cy="486918"/>
            </a:xfrm>
            <a:custGeom>
              <a:avLst/>
              <a:gdLst/>
              <a:ahLst/>
              <a:cxnLst/>
              <a:rect l="l" t="t" r="r" b="b"/>
              <a:pathLst>
                <a:path w="416281" h="486918">
                  <a:moveTo>
                    <a:pt x="146075" y="0"/>
                  </a:moveTo>
                  <a:cubicBezTo>
                    <a:pt x="186766" y="0"/>
                    <a:pt x="223685" y="4572"/>
                    <a:pt x="256832" y="13716"/>
                  </a:cubicBezTo>
                  <a:cubicBezTo>
                    <a:pt x="289979" y="22860"/>
                    <a:pt x="318440" y="37262"/>
                    <a:pt x="342214" y="56922"/>
                  </a:cubicBezTo>
                  <a:cubicBezTo>
                    <a:pt x="365989" y="76581"/>
                    <a:pt x="384277" y="101727"/>
                    <a:pt x="397078" y="132360"/>
                  </a:cubicBezTo>
                  <a:cubicBezTo>
                    <a:pt x="409880" y="162992"/>
                    <a:pt x="416281" y="199797"/>
                    <a:pt x="416281" y="242774"/>
                  </a:cubicBezTo>
                  <a:cubicBezTo>
                    <a:pt x="416281" y="283922"/>
                    <a:pt x="409880" y="319812"/>
                    <a:pt x="397078" y="350444"/>
                  </a:cubicBezTo>
                  <a:cubicBezTo>
                    <a:pt x="384277" y="381077"/>
                    <a:pt x="366103" y="406451"/>
                    <a:pt x="342557" y="426568"/>
                  </a:cubicBezTo>
                  <a:cubicBezTo>
                    <a:pt x="319011" y="446685"/>
                    <a:pt x="290322" y="461772"/>
                    <a:pt x="256489" y="471831"/>
                  </a:cubicBezTo>
                  <a:cubicBezTo>
                    <a:pt x="222657" y="481889"/>
                    <a:pt x="184709" y="486918"/>
                    <a:pt x="142647" y="486918"/>
                  </a:cubicBezTo>
                  <a:cubicBezTo>
                    <a:pt x="123444" y="486918"/>
                    <a:pt x="101041" y="486118"/>
                    <a:pt x="75438" y="484518"/>
                  </a:cubicBezTo>
                  <a:cubicBezTo>
                    <a:pt x="49835" y="482918"/>
                    <a:pt x="24689" y="479603"/>
                    <a:pt x="0" y="474574"/>
                  </a:cubicBezTo>
                  <a:lnTo>
                    <a:pt x="0" y="11659"/>
                  </a:lnTo>
                  <a:cubicBezTo>
                    <a:pt x="24689" y="7087"/>
                    <a:pt x="50407" y="4001"/>
                    <a:pt x="77153" y="2401"/>
                  </a:cubicBezTo>
                  <a:cubicBezTo>
                    <a:pt x="103899" y="800"/>
                    <a:pt x="126873" y="0"/>
                    <a:pt x="146075" y="0"/>
                  </a:cubicBezTo>
                  <a:close/>
                  <a:moveTo>
                    <a:pt x="151562" y="91212"/>
                  </a:moveTo>
                  <a:cubicBezTo>
                    <a:pt x="144247" y="91212"/>
                    <a:pt x="136703" y="91326"/>
                    <a:pt x="128931" y="91555"/>
                  </a:cubicBezTo>
                  <a:cubicBezTo>
                    <a:pt x="121158" y="91783"/>
                    <a:pt x="113843" y="92355"/>
                    <a:pt x="106985" y="93269"/>
                  </a:cubicBezTo>
                  <a:lnTo>
                    <a:pt x="106985" y="393650"/>
                  </a:lnTo>
                  <a:cubicBezTo>
                    <a:pt x="112014" y="394107"/>
                    <a:pt x="117843" y="394450"/>
                    <a:pt x="124473" y="394678"/>
                  </a:cubicBezTo>
                  <a:cubicBezTo>
                    <a:pt x="131102" y="394907"/>
                    <a:pt x="138989" y="395021"/>
                    <a:pt x="148133" y="395021"/>
                  </a:cubicBezTo>
                  <a:cubicBezTo>
                    <a:pt x="201625" y="395021"/>
                    <a:pt x="241287" y="381534"/>
                    <a:pt x="267119" y="354559"/>
                  </a:cubicBezTo>
                  <a:cubicBezTo>
                    <a:pt x="292951" y="327584"/>
                    <a:pt x="305867" y="290322"/>
                    <a:pt x="305867" y="242774"/>
                  </a:cubicBezTo>
                  <a:cubicBezTo>
                    <a:pt x="305867" y="192939"/>
                    <a:pt x="293523" y="155220"/>
                    <a:pt x="268834" y="129617"/>
                  </a:cubicBezTo>
                  <a:cubicBezTo>
                    <a:pt x="244145" y="104013"/>
                    <a:pt x="205054" y="91212"/>
                    <a:pt x="151562" y="91212"/>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5400" b="1" i="0" u="none" strike="noStrike" kern="1200" cap="all" spc="0" normalizeH="0" baseline="0" noProof="0">
                <a:ln>
                  <a:noFill/>
                </a:ln>
                <a:solidFill>
                  <a:srgbClr val="272936"/>
                </a:solidFill>
                <a:effectLst/>
                <a:uLnTx/>
                <a:uFillTx/>
                <a:latin typeface="Ubuntu"/>
                <a:ea typeface="+mj-ea"/>
                <a:cs typeface="+mj-cs"/>
              </a:endParaRPr>
            </a:p>
          </p:txBody>
        </p:sp>
        <p:sp>
          <p:nvSpPr>
            <p:cNvPr id="9" name="TextBox 8">
              <a:extLst>
                <a:ext uri="{FF2B5EF4-FFF2-40B4-BE49-F238E27FC236}">
                  <a16:creationId xmlns:a16="http://schemas.microsoft.com/office/drawing/2014/main" id="{71EE2A44-87A7-EC2D-9E7F-4732BCE19EF4}"/>
                </a:ext>
              </a:extLst>
            </p:cNvPr>
            <p:cNvSpPr txBox="1">
              <a:spLocks/>
            </p:cNvSpPr>
            <p:nvPr/>
          </p:nvSpPr>
          <p:spPr>
            <a:xfrm>
              <a:off x="7414704" y="2683709"/>
              <a:ext cx="481432" cy="475259"/>
            </a:xfrm>
            <a:custGeom>
              <a:avLst/>
              <a:gdLst/>
              <a:ahLst/>
              <a:cxnLst/>
              <a:rect l="l" t="t" r="r" b="b"/>
              <a:pathLst>
                <a:path w="481432" h="475259">
                  <a:moveTo>
                    <a:pt x="189860" y="0"/>
                  </a:moveTo>
                  <a:lnTo>
                    <a:pt x="291272" y="0"/>
                  </a:lnTo>
                  <a:cubicBezTo>
                    <a:pt x="306889" y="32918"/>
                    <a:pt x="322276" y="66637"/>
                    <a:pt x="337435" y="101155"/>
                  </a:cubicBezTo>
                  <a:cubicBezTo>
                    <a:pt x="352594" y="135674"/>
                    <a:pt x="367868" y="172136"/>
                    <a:pt x="383255" y="210540"/>
                  </a:cubicBezTo>
                  <a:cubicBezTo>
                    <a:pt x="398643" y="248945"/>
                    <a:pt x="414373" y="289865"/>
                    <a:pt x="430447" y="333299"/>
                  </a:cubicBezTo>
                  <a:cubicBezTo>
                    <a:pt x="446520" y="376733"/>
                    <a:pt x="463515" y="424053"/>
                    <a:pt x="481432" y="475259"/>
                  </a:cubicBezTo>
                  <a:lnTo>
                    <a:pt x="366850" y="475259"/>
                  </a:lnTo>
                  <a:cubicBezTo>
                    <a:pt x="361563" y="458743"/>
                    <a:pt x="355877" y="441782"/>
                    <a:pt x="349790" y="424376"/>
                  </a:cubicBezTo>
                  <a:cubicBezTo>
                    <a:pt x="343704" y="406970"/>
                    <a:pt x="337642" y="389641"/>
                    <a:pt x="331606" y="372389"/>
                  </a:cubicBezTo>
                  <a:lnTo>
                    <a:pt x="145990" y="372389"/>
                  </a:lnTo>
                  <a:cubicBezTo>
                    <a:pt x="139989" y="389720"/>
                    <a:pt x="133974" y="407097"/>
                    <a:pt x="127945" y="424521"/>
                  </a:cubicBezTo>
                  <a:cubicBezTo>
                    <a:pt x="121916" y="441944"/>
                    <a:pt x="116301" y="458857"/>
                    <a:pt x="111100" y="475259"/>
                  </a:cubicBezTo>
                  <a:lnTo>
                    <a:pt x="0" y="475259"/>
                  </a:lnTo>
                  <a:cubicBezTo>
                    <a:pt x="17888" y="424053"/>
                    <a:pt x="34856" y="376733"/>
                    <a:pt x="50905" y="333299"/>
                  </a:cubicBezTo>
                  <a:cubicBezTo>
                    <a:pt x="66953" y="289865"/>
                    <a:pt x="82659" y="248945"/>
                    <a:pt x="98021" y="210540"/>
                  </a:cubicBezTo>
                  <a:cubicBezTo>
                    <a:pt x="113384" y="172136"/>
                    <a:pt x="128518" y="135674"/>
                    <a:pt x="143424" y="101155"/>
                  </a:cubicBezTo>
                  <a:cubicBezTo>
                    <a:pt x="158329" y="66637"/>
                    <a:pt x="173808" y="32918"/>
                    <a:pt x="189860" y="0"/>
                  </a:cubicBezTo>
                  <a:close/>
                  <a:moveTo>
                    <a:pt x="238316" y="107670"/>
                  </a:moveTo>
                  <a:cubicBezTo>
                    <a:pt x="235930" y="114571"/>
                    <a:pt x="232438" y="123962"/>
                    <a:pt x="227841" y="135842"/>
                  </a:cubicBezTo>
                  <a:cubicBezTo>
                    <a:pt x="223244" y="147722"/>
                    <a:pt x="218010" y="161447"/>
                    <a:pt x="212138" y="177017"/>
                  </a:cubicBezTo>
                  <a:cubicBezTo>
                    <a:pt x="206265" y="192586"/>
                    <a:pt x="199702" y="209731"/>
                    <a:pt x="192448" y="228452"/>
                  </a:cubicBezTo>
                  <a:cubicBezTo>
                    <a:pt x="185193" y="247172"/>
                    <a:pt x="177819" y="266805"/>
                    <a:pt x="170325" y="287350"/>
                  </a:cubicBezTo>
                  <a:lnTo>
                    <a:pt x="306231" y="287350"/>
                  </a:lnTo>
                  <a:cubicBezTo>
                    <a:pt x="298959" y="266740"/>
                    <a:pt x="291915" y="247047"/>
                    <a:pt x="285100" y="228269"/>
                  </a:cubicBezTo>
                  <a:cubicBezTo>
                    <a:pt x="278285" y="209492"/>
                    <a:pt x="271809" y="192317"/>
                    <a:pt x="265673" y="176743"/>
                  </a:cubicBezTo>
                  <a:cubicBezTo>
                    <a:pt x="259536" y="161170"/>
                    <a:pt x="254153" y="147450"/>
                    <a:pt x="249524" y="135585"/>
                  </a:cubicBezTo>
                  <a:cubicBezTo>
                    <a:pt x="244895" y="123719"/>
                    <a:pt x="241159" y="114414"/>
                    <a:pt x="238316" y="10767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5400" b="1" i="0" u="none" strike="noStrike" kern="1200" cap="all" spc="0" normalizeH="0" baseline="0" noProof="0">
                <a:ln>
                  <a:noFill/>
                </a:ln>
                <a:solidFill>
                  <a:srgbClr val="272936"/>
                </a:solidFill>
                <a:effectLst/>
                <a:uLnTx/>
                <a:uFillTx/>
                <a:latin typeface="Ubuntu"/>
                <a:ea typeface="+mj-ea"/>
                <a:cs typeface="+mj-cs"/>
              </a:endParaRPr>
            </a:p>
          </p:txBody>
        </p:sp>
        <p:sp>
          <p:nvSpPr>
            <p:cNvPr id="10" name="TextBox 9">
              <a:extLst>
                <a:ext uri="{FF2B5EF4-FFF2-40B4-BE49-F238E27FC236}">
                  <a16:creationId xmlns:a16="http://schemas.microsoft.com/office/drawing/2014/main" id="{67C76129-4273-A05D-B0C2-85B3939D0BE0}"/>
                </a:ext>
              </a:extLst>
            </p:cNvPr>
            <p:cNvSpPr txBox="1">
              <a:spLocks/>
            </p:cNvSpPr>
            <p:nvPr/>
          </p:nvSpPr>
          <p:spPr>
            <a:xfrm>
              <a:off x="8443785" y="2683709"/>
              <a:ext cx="336728" cy="475259"/>
            </a:xfrm>
            <a:custGeom>
              <a:avLst/>
              <a:gdLst/>
              <a:ahLst/>
              <a:cxnLst/>
              <a:rect l="l" t="t" r="r" b="b"/>
              <a:pathLst>
                <a:path w="336728" h="475259">
                  <a:moveTo>
                    <a:pt x="0" y="0"/>
                  </a:moveTo>
                  <a:lnTo>
                    <a:pt x="320954" y="0"/>
                  </a:lnTo>
                  <a:lnTo>
                    <a:pt x="320954" y="89840"/>
                  </a:lnTo>
                  <a:lnTo>
                    <a:pt x="106985" y="89840"/>
                  </a:lnTo>
                  <a:lnTo>
                    <a:pt x="106985" y="183108"/>
                  </a:lnTo>
                  <a:lnTo>
                    <a:pt x="296951" y="183108"/>
                  </a:lnTo>
                  <a:lnTo>
                    <a:pt x="296951" y="270891"/>
                  </a:lnTo>
                  <a:lnTo>
                    <a:pt x="106985" y="270891"/>
                  </a:lnTo>
                  <a:lnTo>
                    <a:pt x="106985" y="385419"/>
                  </a:lnTo>
                  <a:lnTo>
                    <a:pt x="336728" y="385419"/>
                  </a:lnTo>
                  <a:lnTo>
                    <a:pt x="336728" y="475259"/>
                  </a:lnTo>
                  <a:lnTo>
                    <a:pt x="0" y="475259"/>
                  </a:lnTo>
                  <a:lnTo>
                    <a:pt x="0"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5400" b="1" i="0" u="none" strike="noStrike" kern="1200" cap="all" spc="0" normalizeH="0" baseline="0" noProof="0">
                <a:ln>
                  <a:noFill/>
                </a:ln>
                <a:solidFill>
                  <a:srgbClr val="272936"/>
                </a:solidFill>
                <a:effectLst/>
                <a:uLnTx/>
                <a:uFillTx/>
                <a:latin typeface="Ubuntu"/>
                <a:ea typeface="+mj-ea"/>
                <a:cs typeface="+mj-cs"/>
              </a:endParaRPr>
            </a:p>
          </p:txBody>
        </p:sp>
        <p:sp>
          <p:nvSpPr>
            <p:cNvPr id="11" name="TextBox 10">
              <a:extLst>
                <a:ext uri="{FF2B5EF4-FFF2-40B4-BE49-F238E27FC236}">
                  <a16:creationId xmlns:a16="http://schemas.microsoft.com/office/drawing/2014/main" id="{FC105437-9D25-503A-52F0-7CFC1EB1A40C}"/>
                </a:ext>
              </a:extLst>
            </p:cNvPr>
            <p:cNvSpPr txBox="1">
              <a:spLocks/>
            </p:cNvSpPr>
            <p:nvPr/>
          </p:nvSpPr>
          <p:spPr>
            <a:xfrm>
              <a:off x="8862885" y="2683709"/>
              <a:ext cx="408737" cy="475259"/>
            </a:xfrm>
            <a:custGeom>
              <a:avLst/>
              <a:gdLst/>
              <a:ahLst/>
              <a:cxnLst/>
              <a:rect l="l" t="t" r="r" b="b"/>
              <a:pathLst>
                <a:path w="408737" h="475259">
                  <a:moveTo>
                    <a:pt x="0" y="0"/>
                  </a:moveTo>
                  <a:lnTo>
                    <a:pt x="87097" y="0"/>
                  </a:lnTo>
                  <a:cubicBezTo>
                    <a:pt x="102184" y="15087"/>
                    <a:pt x="118872" y="33604"/>
                    <a:pt x="137160" y="55550"/>
                  </a:cubicBezTo>
                  <a:cubicBezTo>
                    <a:pt x="155448" y="77495"/>
                    <a:pt x="174079" y="100927"/>
                    <a:pt x="193053" y="125844"/>
                  </a:cubicBezTo>
                  <a:cubicBezTo>
                    <a:pt x="212027" y="150761"/>
                    <a:pt x="230886" y="176593"/>
                    <a:pt x="249631" y="203339"/>
                  </a:cubicBezTo>
                  <a:cubicBezTo>
                    <a:pt x="268377" y="230086"/>
                    <a:pt x="285979" y="255803"/>
                    <a:pt x="302438" y="280492"/>
                  </a:cubicBezTo>
                  <a:lnTo>
                    <a:pt x="302438" y="0"/>
                  </a:lnTo>
                  <a:lnTo>
                    <a:pt x="408737" y="0"/>
                  </a:lnTo>
                  <a:lnTo>
                    <a:pt x="408737" y="475259"/>
                  </a:lnTo>
                  <a:lnTo>
                    <a:pt x="318897" y="475259"/>
                  </a:lnTo>
                  <a:cubicBezTo>
                    <a:pt x="288265" y="420852"/>
                    <a:pt x="255118" y="367131"/>
                    <a:pt x="219456" y="314096"/>
                  </a:cubicBezTo>
                  <a:cubicBezTo>
                    <a:pt x="183795" y="261061"/>
                    <a:pt x="145847" y="210998"/>
                    <a:pt x="105613" y="163906"/>
                  </a:cubicBezTo>
                  <a:lnTo>
                    <a:pt x="105613" y="475259"/>
                  </a:lnTo>
                  <a:lnTo>
                    <a:pt x="0" y="475259"/>
                  </a:lnTo>
                  <a:lnTo>
                    <a:pt x="0"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5400" b="1" i="0" u="none" strike="noStrike" kern="1200" cap="all" spc="0" normalizeH="0" baseline="0" noProof="0">
                <a:ln>
                  <a:noFill/>
                </a:ln>
                <a:solidFill>
                  <a:srgbClr val="272936"/>
                </a:solidFill>
                <a:effectLst/>
                <a:uLnTx/>
                <a:uFillTx/>
                <a:latin typeface="Ubuntu"/>
                <a:ea typeface="+mj-ea"/>
                <a:cs typeface="+mj-cs"/>
              </a:endParaRPr>
            </a:p>
          </p:txBody>
        </p:sp>
        <p:sp>
          <p:nvSpPr>
            <p:cNvPr id="12" name="TextBox 11">
              <a:extLst>
                <a:ext uri="{FF2B5EF4-FFF2-40B4-BE49-F238E27FC236}">
                  <a16:creationId xmlns:a16="http://schemas.microsoft.com/office/drawing/2014/main" id="{600219A3-E657-2AB0-25CA-F4728CB4244A}"/>
                </a:ext>
              </a:extLst>
            </p:cNvPr>
            <p:cNvSpPr txBox="1">
              <a:spLocks/>
            </p:cNvSpPr>
            <p:nvPr/>
          </p:nvSpPr>
          <p:spPr>
            <a:xfrm>
              <a:off x="9834054" y="2683709"/>
              <a:ext cx="481432" cy="475259"/>
            </a:xfrm>
            <a:custGeom>
              <a:avLst/>
              <a:gdLst/>
              <a:ahLst/>
              <a:cxnLst/>
              <a:rect l="l" t="t" r="r" b="b"/>
              <a:pathLst>
                <a:path w="481432" h="475259">
                  <a:moveTo>
                    <a:pt x="189860" y="0"/>
                  </a:moveTo>
                  <a:lnTo>
                    <a:pt x="291272" y="0"/>
                  </a:lnTo>
                  <a:cubicBezTo>
                    <a:pt x="306888" y="32918"/>
                    <a:pt x="322276" y="66637"/>
                    <a:pt x="337435" y="101155"/>
                  </a:cubicBezTo>
                  <a:cubicBezTo>
                    <a:pt x="352594" y="135674"/>
                    <a:pt x="367868" y="172136"/>
                    <a:pt x="383255" y="210540"/>
                  </a:cubicBezTo>
                  <a:cubicBezTo>
                    <a:pt x="398643" y="248945"/>
                    <a:pt x="414373" y="289865"/>
                    <a:pt x="430447" y="333299"/>
                  </a:cubicBezTo>
                  <a:cubicBezTo>
                    <a:pt x="446520" y="376733"/>
                    <a:pt x="463515" y="424053"/>
                    <a:pt x="481432" y="475259"/>
                  </a:cubicBezTo>
                  <a:lnTo>
                    <a:pt x="366850" y="475259"/>
                  </a:lnTo>
                  <a:cubicBezTo>
                    <a:pt x="361563" y="458743"/>
                    <a:pt x="355876" y="441782"/>
                    <a:pt x="349790" y="424376"/>
                  </a:cubicBezTo>
                  <a:cubicBezTo>
                    <a:pt x="343704" y="406970"/>
                    <a:pt x="337642" y="389641"/>
                    <a:pt x="331606" y="372389"/>
                  </a:cubicBezTo>
                  <a:lnTo>
                    <a:pt x="145990" y="372389"/>
                  </a:lnTo>
                  <a:cubicBezTo>
                    <a:pt x="139989" y="389720"/>
                    <a:pt x="133974" y="407097"/>
                    <a:pt x="127944" y="424521"/>
                  </a:cubicBezTo>
                  <a:cubicBezTo>
                    <a:pt x="121915" y="441944"/>
                    <a:pt x="116300" y="458857"/>
                    <a:pt x="111100" y="475259"/>
                  </a:cubicBezTo>
                  <a:lnTo>
                    <a:pt x="0" y="475259"/>
                  </a:lnTo>
                  <a:cubicBezTo>
                    <a:pt x="17888" y="424053"/>
                    <a:pt x="34856" y="376733"/>
                    <a:pt x="50905" y="333299"/>
                  </a:cubicBezTo>
                  <a:cubicBezTo>
                    <a:pt x="66953" y="289865"/>
                    <a:pt x="82659" y="248945"/>
                    <a:pt x="98022" y="210540"/>
                  </a:cubicBezTo>
                  <a:cubicBezTo>
                    <a:pt x="113384" y="172136"/>
                    <a:pt x="128518" y="135674"/>
                    <a:pt x="143423" y="101155"/>
                  </a:cubicBezTo>
                  <a:cubicBezTo>
                    <a:pt x="158329" y="66637"/>
                    <a:pt x="173808" y="32918"/>
                    <a:pt x="189860" y="0"/>
                  </a:cubicBezTo>
                  <a:close/>
                  <a:moveTo>
                    <a:pt x="238316" y="107670"/>
                  </a:moveTo>
                  <a:cubicBezTo>
                    <a:pt x="235930" y="114571"/>
                    <a:pt x="232438" y="123962"/>
                    <a:pt x="227841" y="135842"/>
                  </a:cubicBezTo>
                  <a:cubicBezTo>
                    <a:pt x="223244" y="147722"/>
                    <a:pt x="218010" y="161447"/>
                    <a:pt x="212138" y="177017"/>
                  </a:cubicBezTo>
                  <a:cubicBezTo>
                    <a:pt x="206265" y="192586"/>
                    <a:pt x="199702" y="209731"/>
                    <a:pt x="192447" y="228452"/>
                  </a:cubicBezTo>
                  <a:cubicBezTo>
                    <a:pt x="185193" y="247172"/>
                    <a:pt x="177818" y="266805"/>
                    <a:pt x="170325" y="287350"/>
                  </a:cubicBezTo>
                  <a:lnTo>
                    <a:pt x="306231" y="287350"/>
                  </a:lnTo>
                  <a:cubicBezTo>
                    <a:pt x="298959" y="266740"/>
                    <a:pt x="291915" y="247047"/>
                    <a:pt x="285100" y="228269"/>
                  </a:cubicBezTo>
                  <a:cubicBezTo>
                    <a:pt x="278285" y="209492"/>
                    <a:pt x="271809" y="192317"/>
                    <a:pt x="265672" y="176743"/>
                  </a:cubicBezTo>
                  <a:cubicBezTo>
                    <a:pt x="259536" y="161170"/>
                    <a:pt x="254153" y="147450"/>
                    <a:pt x="249524" y="135585"/>
                  </a:cubicBezTo>
                  <a:cubicBezTo>
                    <a:pt x="244895" y="123719"/>
                    <a:pt x="241159" y="114414"/>
                    <a:pt x="238316" y="10767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5400" b="1" i="0" u="none" strike="noStrike" kern="1200" cap="all" spc="0" normalizeH="0" baseline="0" noProof="0">
                <a:ln>
                  <a:noFill/>
                </a:ln>
                <a:solidFill>
                  <a:srgbClr val="272936"/>
                </a:solidFill>
                <a:effectLst/>
                <a:uLnTx/>
                <a:uFillTx/>
                <a:latin typeface="Ubuntu"/>
                <a:ea typeface="+mj-ea"/>
                <a:cs typeface="+mj-cs"/>
              </a:endParaRPr>
            </a:p>
          </p:txBody>
        </p:sp>
      </p:grpSp>
      <p:cxnSp>
        <p:nvCxnSpPr>
          <p:cNvPr id="13" name="Straight Connector 12">
            <a:extLst>
              <a:ext uri="{FF2B5EF4-FFF2-40B4-BE49-F238E27FC236}">
                <a16:creationId xmlns:a16="http://schemas.microsoft.com/office/drawing/2014/main" id="{1B9028C0-1902-31C0-0F81-7F078E42AE28}"/>
              </a:ext>
            </a:extLst>
          </p:cNvPr>
          <p:cNvCxnSpPr/>
          <p:nvPr/>
        </p:nvCxnSpPr>
        <p:spPr>
          <a:xfrm>
            <a:off x="963127" y="668438"/>
            <a:ext cx="0" cy="451413"/>
          </a:xfrm>
          <a:prstGeom prst="line">
            <a:avLst/>
          </a:prstGeom>
          <a:ln w="12700">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60895F1-15EF-67ED-A9C7-1438D5E9C539}"/>
              </a:ext>
            </a:extLst>
          </p:cNvPr>
          <p:cNvCxnSpPr/>
          <p:nvPr/>
        </p:nvCxnSpPr>
        <p:spPr>
          <a:xfrm>
            <a:off x="963127" y="5738149"/>
            <a:ext cx="0" cy="451413"/>
          </a:xfrm>
          <a:prstGeom prst="line">
            <a:avLst/>
          </a:prstGeom>
          <a:ln w="12700">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F8FC134-EE45-E457-3C9F-58587039D3EA}"/>
              </a:ext>
            </a:extLst>
          </p:cNvPr>
          <p:cNvCxnSpPr>
            <a:cxnSpLocks/>
          </p:cNvCxnSpPr>
          <p:nvPr/>
        </p:nvCxnSpPr>
        <p:spPr>
          <a:xfrm flipH="1">
            <a:off x="963127" y="668439"/>
            <a:ext cx="1026062" cy="0"/>
          </a:xfrm>
          <a:prstGeom prst="line">
            <a:avLst/>
          </a:prstGeom>
          <a:ln w="12700">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B8633F7-152B-8695-6E35-0F16E8BF9280}"/>
              </a:ext>
            </a:extLst>
          </p:cNvPr>
          <p:cNvCxnSpPr>
            <a:cxnSpLocks/>
          </p:cNvCxnSpPr>
          <p:nvPr/>
        </p:nvCxnSpPr>
        <p:spPr>
          <a:xfrm flipH="1">
            <a:off x="963127" y="6189562"/>
            <a:ext cx="1026062" cy="0"/>
          </a:xfrm>
          <a:prstGeom prst="line">
            <a:avLst/>
          </a:prstGeom>
          <a:ln w="12700">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E97CF0E-DE27-13CD-E022-60D537719B72}"/>
              </a:ext>
            </a:extLst>
          </p:cNvPr>
          <p:cNvCxnSpPr>
            <a:cxnSpLocks/>
          </p:cNvCxnSpPr>
          <p:nvPr/>
        </p:nvCxnSpPr>
        <p:spPr>
          <a:xfrm>
            <a:off x="1989189" y="668438"/>
            <a:ext cx="0" cy="5521124"/>
          </a:xfrm>
          <a:prstGeom prst="line">
            <a:avLst/>
          </a:prstGeom>
          <a:ln w="12700">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6D9F1436-1CD2-8254-069B-6472A1EEB9D4}"/>
              </a:ext>
            </a:extLst>
          </p:cNvPr>
          <p:cNvGrpSpPr/>
          <p:nvPr/>
        </p:nvGrpSpPr>
        <p:grpSpPr>
          <a:xfrm>
            <a:off x="1433499" y="3754007"/>
            <a:ext cx="5995809" cy="534840"/>
            <a:chOff x="1166676" y="3486265"/>
            <a:chExt cx="4786159" cy="534840"/>
          </a:xfrm>
          <a:noFill/>
        </p:grpSpPr>
        <p:sp>
          <p:nvSpPr>
            <p:cNvPr id="19" name="Oval 20">
              <a:extLst>
                <a:ext uri="{FF2B5EF4-FFF2-40B4-BE49-F238E27FC236}">
                  <a16:creationId xmlns:a16="http://schemas.microsoft.com/office/drawing/2014/main" id="{F7D01753-CB4F-585F-45B2-E9CDC38E0ABE}"/>
                </a:ext>
              </a:extLst>
            </p:cNvPr>
            <p:cNvSpPr/>
            <p:nvPr/>
          </p:nvSpPr>
          <p:spPr>
            <a:xfrm>
              <a:off x="1166676" y="3486265"/>
              <a:ext cx="638852" cy="534840"/>
            </a:xfrm>
            <a:prstGeom prst="rect">
              <a:avLst/>
            </a:prstGeom>
            <a:solidFill>
              <a:srgbClr val="000F1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PT" sz="3200" b="1" i="1" u="none" strike="noStrike" kern="1200" cap="none" spc="0" normalizeH="0" baseline="0" noProof="0">
                  <a:ln>
                    <a:noFill/>
                  </a:ln>
                  <a:solidFill>
                    <a:srgbClr val="12ABDB"/>
                  </a:solidFill>
                  <a:effectLst/>
                  <a:uLnTx/>
                  <a:uFillTx/>
                  <a:latin typeface="Ubuntu Light" panose="020B0304030602030204" pitchFamily="34" charset="0"/>
                  <a:ea typeface="+mn-ea"/>
                  <a:cs typeface="+mn-cs"/>
                </a:rPr>
                <a:t>04</a:t>
              </a:r>
            </a:p>
          </p:txBody>
        </p:sp>
        <p:sp>
          <p:nvSpPr>
            <p:cNvPr id="20" name="Text Placeholder 11">
              <a:extLst>
                <a:ext uri="{FF2B5EF4-FFF2-40B4-BE49-F238E27FC236}">
                  <a16:creationId xmlns:a16="http://schemas.microsoft.com/office/drawing/2014/main" id="{B08A34A0-580B-E4E4-5D5C-FBBEE4493556}"/>
                </a:ext>
              </a:extLst>
            </p:cNvPr>
            <p:cNvSpPr txBox="1">
              <a:spLocks/>
            </p:cNvSpPr>
            <p:nvPr/>
          </p:nvSpPr>
          <p:spPr>
            <a:xfrm>
              <a:off x="1991543" y="3491159"/>
              <a:ext cx="3961292" cy="525052"/>
            </a:xfrm>
            <a:prstGeom prst="rect">
              <a:avLst/>
            </a:prstGeom>
            <a:grpFill/>
            <a:ln w="12700">
              <a:noFill/>
            </a:ln>
          </p:spPr>
          <p:txBody>
            <a:bodyPr vert="horz" lIns="0" tIns="0" rIns="0" bIns="0" rtlCol="0" anchor="ctr">
              <a:noAutofit/>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sz="1600" kern="1200">
                  <a:solidFill>
                    <a:schemeClr val="tx1"/>
                  </a:solidFill>
                  <a:latin typeface="+mn-lt"/>
                  <a:ea typeface="+mn-ea"/>
                  <a:cs typeface="+mn-cs"/>
                </a:defRPr>
              </a:lvl1pPr>
              <a:lvl2pPr marL="233363" indent="-228600" algn="l" defTabSz="914400" rtl="0" eaLnBrk="1" latinLnBrk="0" hangingPunct="1">
                <a:lnSpc>
                  <a:spcPct val="100000"/>
                </a:lnSpc>
                <a:spcBef>
                  <a:spcPts val="600"/>
                </a:spcBef>
                <a:spcAft>
                  <a:spcPts val="0"/>
                </a:spcAft>
                <a:buClr>
                  <a:schemeClr val="tx2"/>
                </a:buClr>
                <a:buFont typeface="Wingdings" panose="05000000000000000000" pitchFamily="2" charset="2"/>
                <a:buChar char="§"/>
                <a:defRPr sz="1400" kern="1200">
                  <a:solidFill>
                    <a:schemeClr val="tx1"/>
                  </a:solidFill>
                  <a:latin typeface="+mn-lt"/>
                  <a:ea typeface="+mn-ea"/>
                  <a:cs typeface="+mn-cs"/>
                </a:defRPr>
              </a:lvl2pPr>
              <a:lvl3pPr marL="457200" indent="-223838" algn="l" defTabSz="914400" rtl="0" eaLnBrk="1" latinLnBrk="0" hangingPunct="1">
                <a:lnSpc>
                  <a:spcPct val="100000"/>
                </a:lnSpc>
                <a:spcBef>
                  <a:spcPts val="600"/>
                </a:spcBef>
                <a:spcAft>
                  <a:spcPts val="0"/>
                </a:spcAft>
                <a:buClr>
                  <a:schemeClr val="tx2"/>
                </a:buClr>
                <a:buFont typeface="Arial" panose="020B0604020202020204" pitchFamily="34" charset="0"/>
                <a:buChar char="•"/>
                <a:defRPr sz="1400" kern="1200">
                  <a:solidFill>
                    <a:schemeClr val="tx1"/>
                  </a:solidFill>
                  <a:latin typeface="+mn-lt"/>
                  <a:ea typeface="+mn-ea"/>
                  <a:cs typeface="+mn-cs"/>
                </a:defRPr>
              </a:lvl3pPr>
              <a:lvl4pPr marL="690563" indent="-233363" algn="l" defTabSz="914400" rtl="0" eaLnBrk="1" latinLnBrk="0" hangingPunct="1">
                <a:lnSpc>
                  <a:spcPct val="100000"/>
                </a:lnSpc>
                <a:spcBef>
                  <a:spcPts val="600"/>
                </a:spcBef>
                <a:spcAft>
                  <a:spcPts val="0"/>
                </a:spcAft>
                <a:buClr>
                  <a:schemeClr val="tx2"/>
                </a:buClr>
                <a:buFont typeface="Arial" panose="020B0604020202020204" pitchFamily="34" charset="0"/>
                <a:buChar char="‒"/>
                <a:defRPr sz="1200" kern="1200" baseline="0">
                  <a:solidFill>
                    <a:schemeClr val="tx1"/>
                  </a:solidFill>
                  <a:latin typeface="+mn-lt"/>
                  <a:ea typeface="+mn-ea"/>
                  <a:cs typeface="+mn-cs"/>
                </a:defRPr>
              </a:lvl4pPr>
              <a:lvl5pPr marL="896938" indent="-179388" algn="l" defTabSz="914400" rtl="0" eaLnBrk="1" latinLnBrk="0" hangingPunct="1">
                <a:lnSpc>
                  <a:spcPct val="100000"/>
                </a:lnSpc>
                <a:spcBef>
                  <a:spcPts val="600"/>
                </a:spcBef>
                <a:buClr>
                  <a:schemeClr val="tx2"/>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b="1">
                  <a:solidFill>
                    <a:srgbClr val="1DB6F3"/>
                  </a:solidFill>
                  <a:latin typeface="Ubuntu Light" panose="020B0304030602030204" pitchFamily="34" charset="0"/>
                </a:rPr>
                <a:t>Strategy Frameworks</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400">
                  <a:solidFill>
                    <a:srgbClr val="FFFFFF"/>
                  </a:solidFill>
                  <a:latin typeface="Ubuntu Light" panose="020B0304030602030204" pitchFamily="34" charset="0"/>
                </a:rPr>
                <a:t>Applying structured frameworks to define where to play and how to win in wholesale.</a:t>
              </a:r>
            </a:p>
          </p:txBody>
        </p:sp>
      </p:grpSp>
      <p:grpSp>
        <p:nvGrpSpPr>
          <p:cNvPr id="21" name="Group 20">
            <a:extLst>
              <a:ext uri="{FF2B5EF4-FFF2-40B4-BE49-F238E27FC236}">
                <a16:creationId xmlns:a16="http://schemas.microsoft.com/office/drawing/2014/main" id="{835180AD-7F8D-0F7E-88A7-E7C7750E2062}"/>
              </a:ext>
            </a:extLst>
          </p:cNvPr>
          <p:cNvGrpSpPr/>
          <p:nvPr/>
        </p:nvGrpSpPr>
        <p:grpSpPr>
          <a:xfrm>
            <a:off x="1511548" y="1810836"/>
            <a:ext cx="5969019" cy="534840"/>
            <a:chOff x="1219315" y="1026396"/>
            <a:chExt cx="4946594" cy="534840"/>
          </a:xfrm>
          <a:noFill/>
        </p:grpSpPr>
        <p:sp>
          <p:nvSpPr>
            <p:cNvPr id="22" name="Oval 20">
              <a:extLst>
                <a:ext uri="{FF2B5EF4-FFF2-40B4-BE49-F238E27FC236}">
                  <a16:creationId xmlns:a16="http://schemas.microsoft.com/office/drawing/2014/main" id="{08C67D55-03EE-764C-874C-87AB25E62A4E}"/>
                </a:ext>
              </a:extLst>
            </p:cNvPr>
            <p:cNvSpPr/>
            <p:nvPr/>
          </p:nvSpPr>
          <p:spPr>
            <a:xfrm>
              <a:off x="1219315" y="1026396"/>
              <a:ext cx="638852" cy="534840"/>
            </a:xfrm>
            <a:prstGeom prst="rect">
              <a:avLst/>
            </a:prstGeom>
            <a:solidFill>
              <a:srgbClr val="000F1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PT" sz="3200" b="1" i="1" u="none" strike="noStrike" kern="1200" cap="none" spc="0" normalizeH="0" baseline="0" noProof="0">
                  <a:ln>
                    <a:noFill/>
                  </a:ln>
                  <a:solidFill>
                    <a:srgbClr val="12ABDB"/>
                  </a:solidFill>
                  <a:effectLst/>
                  <a:uLnTx/>
                  <a:uFillTx/>
                  <a:latin typeface="Ubuntu Light" panose="020B0304030602030204" pitchFamily="34" charset="0"/>
                  <a:ea typeface="+mn-ea"/>
                  <a:cs typeface="+mn-cs"/>
                </a:rPr>
                <a:t>02</a:t>
              </a:r>
            </a:p>
          </p:txBody>
        </p:sp>
        <p:sp>
          <p:nvSpPr>
            <p:cNvPr id="23" name="Text Placeholder 11">
              <a:extLst>
                <a:ext uri="{FF2B5EF4-FFF2-40B4-BE49-F238E27FC236}">
                  <a16:creationId xmlns:a16="http://schemas.microsoft.com/office/drawing/2014/main" id="{A6F4FDAF-B67C-5442-BC3D-CB39FF42C5CD}"/>
                </a:ext>
              </a:extLst>
            </p:cNvPr>
            <p:cNvSpPr txBox="1">
              <a:spLocks/>
            </p:cNvSpPr>
            <p:nvPr/>
          </p:nvSpPr>
          <p:spPr>
            <a:xfrm>
              <a:off x="2044182" y="1031290"/>
              <a:ext cx="4121727" cy="525052"/>
            </a:xfrm>
            <a:prstGeom prst="rect">
              <a:avLst/>
            </a:prstGeom>
            <a:grpFill/>
            <a:ln w="12700">
              <a:noFill/>
            </a:ln>
          </p:spPr>
          <p:txBody>
            <a:bodyPr vert="horz" lIns="0" tIns="0" rIns="0" bIns="0" rtlCol="0" anchor="ctr">
              <a:noAutofit/>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sz="1600" kern="1200">
                  <a:solidFill>
                    <a:schemeClr val="tx1"/>
                  </a:solidFill>
                  <a:latin typeface="+mn-lt"/>
                  <a:ea typeface="+mn-ea"/>
                  <a:cs typeface="+mn-cs"/>
                </a:defRPr>
              </a:lvl1pPr>
              <a:lvl2pPr marL="233363" indent="-228600" algn="l" defTabSz="914400" rtl="0" eaLnBrk="1" latinLnBrk="0" hangingPunct="1">
                <a:lnSpc>
                  <a:spcPct val="100000"/>
                </a:lnSpc>
                <a:spcBef>
                  <a:spcPts val="600"/>
                </a:spcBef>
                <a:spcAft>
                  <a:spcPts val="0"/>
                </a:spcAft>
                <a:buClr>
                  <a:schemeClr val="tx2"/>
                </a:buClr>
                <a:buFont typeface="Wingdings" panose="05000000000000000000" pitchFamily="2" charset="2"/>
                <a:buChar char="§"/>
                <a:defRPr sz="1400" kern="1200">
                  <a:solidFill>
                    <a:schemeClr val="tx1"/>
                  </a:solidFill>
                  <a:latin typeface="+mn-lt"/>
                  <a:ea typeface="+mn-ea"/>
                  <a:cs typeface="+mn-cs"/>
                </a:defRPr>
              </a:lvl2pPr>
              <a:lvl3pPr marL="457200" indent="-223838" algn="l" defTabSz="914400" rtl="0" eaLnBrk="1" latinLnBrk="0" hangingPunct="1">
                <a:lnSpc>
                  <a:spcPct val="100000"/>
                </a:lnSpc>
                <a:spcBef>
                  <a:spcPts val="600"/>
                </a:spcBef>
                <a:spcAft>
                  <a:spcPts val="0"/>
                </a:spcAft>
                <a:buClr>
                  <a:schemeClr val="tx2"/>
                </a:buClr>
                <a:buFont typeface="Arial" panose="020B0604020202020204" pitchFamily="34" charset="0"/>
                <a:buChar char="•"/>
                <a:defRPr sz="1400" kern="1200">
                  <a:solidFill>
                    <a:schemeClr val="tx1"/>
                  </a:solidFill>
                  <a:latin typeface="+mn-lt"/>
                  <a:ea typeface="+mn-ea"/>
                  <a:cs typeface="+mn-cs"/>
                </a:defRPr>
              </a:lvl3pPr>
              <a:lvl4pPr marL="690563" indent="-233363" algn="l" defTabSz="914400" rtl="0" eaLnBrk="1" latinLnBrk="0" hangingPunct="1">
                <a:lnSpc>
                  <a:spcPct val="100000"/>
                </a:lnSpc>
                <a:spcBef>
                  <a:spcPts val="600"/>
                </a:spcBef>
                <a:spcAft>
                  <a:spcPts val="0"/>
                </a:spcAft>
                <a:buClr>
                  <a:schemeClr val="tx2"/>
                </a:buClr>
                <a:buFont typeface="Arial" panose="020B0604020202020204" pitchFamily="34" charset="0"/>
                <a:buChar char="‒"/>
                <a:defRPr sz="1200" kern="1200" baseline="0">
                  <a:solidFill>
                    <a:schemeClr val="tx1"/>
                  </a:solidFill>
                  <a:latin typeface="+mn-lt"/>
                  <a:ea typeface="+mn-ea"/>
                  <a:cs typeface="+mn-cs"/>
                </a:defRPr>
              </a:lvl4pPr>
              <a:lvl5pPr marL="896938" indent="-179388" algn="l" defTabSz="914400" rtl="0" eaLnBrk="1" latinLnBrk="0" hangingPunct="1">
                <a:lnSpc>
                  <a:spcPct val="100000"/>
                </a:lnSpc>
                <a:spcBef>
                  <a:spcPts val="600"/>
                </a:spcBef>
                <a:buClr>
                  <a:schemeClr val="tx2"/>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fontAlgn="auto">
                <a:buClrTx/>
                <a:buSzTx/>
                <a:tabLst/>
                <a:defRPr/>
              </a:pPr>
              <a:r>
                <a:rPr lang="en-US" b="1">
                  <a:solidFill>
                    <a:srgbClr val="1DB6F3"/>
                  </a:solidFill>
                  <a:latin typeface="Ubuntu Light" panose="020B0304030602030204" pitchFamily="34" charset="0"/>
                </a:rPr>
                <a:t>Why Capgemini</a:t>
              </a:r>
            </a:p>
            <a:p>
              <a:pPr marR="0" lvl="0" fontAlgn="auto">
                <a:buClrTx/>
                <a:buSzTx/>
                <a:tabLst/>
                <a:defRPr/>
              </a:pPr>
              <a:r>
                <a:rPr lang="en-US" sz="1400">
                  <a:solidFill>
                    <a:srgbClr val="FFFFFF"/>
                  </a:solidFill>
                  <a:latin typeface="Ubuntu Light" panose="020B0304030602030204" pitchFamily="34" charset="0"/>
                </a:rPr>
                <a:t>Establishing strategic fit through relevant telecom expertise and transformation experience.</a:t>
              </a:r>
            </a:p>
          </p:txBody>
        </p:sp>
      </p:grpSp>
      <p:grpSp>
        <p:nvGrpSpPr>
          <p:cNvPr id="24" name="Group 23">
            <a:extLst>
              <a:ext uri="{FF2B5EF4-FFF2-40B4-BE49-F238E27FC236}">
                <a16:creationId xmlns:a16="http://schemas.microsoft.com/office/drawing/2014/main" id="{B37D0518-039C-5737-D6AF-B1BD7D5CAB67}"/>
              </a:ext>
            </a:extLst>
          </p:cNvPr>
          <p:cNvGrpSpPr/>
          <p:nvPr/>
        </p:nvGrpSpPr>
        <p:grpSpPr>
          <a:xfrm>
            <a:off x="1667689" y="2755082"/>
            <a:ext cx="5572922" cy="534840"/>
            <a:chOff x="1245882" y="1568322"/>
            <a:chExt cx="5572922" cy="534840"/>
          </a:xfrm>
          <a:noFill/>
        </p:grpSpPr>
        <p:sp>
          <p:nvSpPr>
            <p:cNvPr id="25" name="Oval 20">
              <a:extLst>
                <a:ext uri="{FF2B5EF4-FFF2-40B4-BE49-F238E27FC236}">
                  <a16:creationId xmlns:a16="http://schemas.microsoft.com/office/drawing/2014/main" id="{086CE551-B419-E331-A802-220D125EE4A8}"/>
                </a:ext>
              </a:extLst>
            </p:cNvPr>
            <p:cNvSpPr/>
            <p:nvPr/>
          </p:nvSpPr>
          <p:spPr>
            <a:xfrm>
              <a:off x="1245882" y="1568322"/>
              <a:ext cx="638852" cy="534840"/>
            </a:xfrm>
            <a:prstGeom prst="rect">
              <a:avLst/>
            </a:prstGeom>
            <a:solidFill>
              <a:srgbClr val="000F1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PT" sz="3200" b="1" i="1" u="none" strike="noStrike" kern="1200" cap="none" spc="0" normalizeH="0" baseline="0" noProof="0">
                  <a:ln>
                    <a:noFill/>
                  </a:ln>
                  <a:solidFill>
                    <a:srgbClr val="12ABDB"/>
                  </a:solidFill>
                  <a:effectLst/>
                  <a:uLnTx/>
                  <a:uFillTx/>
                  <a:latin typeface="Ubuntu Light" panose="020B0304030602030204" pitchFamily="34" charset="0"/>
                  <a:ea typeface="+mn-ea"/>
                  <a:cs typeface="+mn-cs"/>
                </a:rPr>
                <a:t>03</a:t>
              </a:r>
            </a:p>
          </p:txBody>
        </p:sp>
        <p:sp>
          <p:nvSpPr>
            <p:cNvPr id="26" name="Text Placeholder 11">
              <a:extLst>
                <a:ext uri="{FF2B5EF4-FFF2-40B4-BE49-F238E27FC236}">
                  <a16:creationId xmlns:a16="http://schemas.microsoft.com/office/drawing/2014/main" id="{68106470-A483-7AF6-EFE6-91C00561BCF8}"/>
                </a:ext>
              </a:extLst>
            </p:cNvPr>
            <p:cNvSpPr txBox="1">
              <a:spLocks/>
            </p:cNvSpPr>
            <p:nvPr/>
          </p:nvSpPr>
          <p:spPr>
            <a:xfrm>
              <a:off x="2096266" y="1568322"/>
              <a:ext cx="4722538" cy="525052"/>
            </a:xfrm>
            <a:prstGeom prst="rect">
              <a:avLst/>
            </a:prstGeom>
            <a:grpFill/>
            <a:ln w="12700">
              <a:noFill/>
            </a:ln>
          </p:spPr>
          <p:txBody>
            <a:bodyPr vert="horz" lIns="0" tIns="0" rIns="0" bIns="0" rtlCol="0" anchor="ctr">
              <a:noAutofit/>
            </a:bodyPr>
            <a:lstStyle>
              <a:defPPr>
                <a:defRPr lang="pt-PT"/>
              </a:defPPr>
              <a:lvl1pPr marR="0" lvl="0" indent="0" fontAlgn="auto">
                <a:lnSpc>
                  <a:spcPct val="100000"/>
                </a:lnSpc>
                <a:spcBef>
                  <a:spcPts val="600"/>
                </a:spcBef>
                <a:spcAft>
                  <a:spcPts val="0"/>
                </a:spcAft>
                <a:buClrTx/>
                <a:buSzTx/>
                <a:buFont typeface="Arial" panose="020B0604020202020204" pitchFamily="34" charset="0"/>
                <a:buNone/>
                <a:tabLst/>
                <a:defRPr kumimoji="0" sz="1600" b="0" i="0" u="none" strike="noStrike" cap="none" spc="0" normalizeH="0" baseline="0">
                  <a:ln>
                    <a:noFill/>
                  </a:ln>
                  <a:solidFill>
                    <a:srgbClr val="FFFFFF"/>
                  </a:solidFill>
                  <a:effectLst/>
                  <a:uLnTx/>
                  <a:uFillTx/>
                  <a:latin typeface="Ubuntu Light" panose="020B0304030602030204" pitchFamily="34" charset="0"/>
                </a:defRPr>
              </a:lvl1pPr>
              <a:lvl2pPr marL="233363" indent="-228600">
                <a:lnSpc>
                  <a:spcPct val="100000"/>
                </a:lnSpc>
                <a:spcBef>
                  <a:spcPts val="600"/>
                </a:spcBef>
                <a:spcAft>
                  <a:spcPts val="0"/>
                </a:spcAft>
                <a:buClr>
                  <a:schemeClr val="tx2"/>
                </a:buClr>
                <a:buFont typeface="Wingdings" panose="05000000000000000000" pitchFamily="2" charset="2"/>
                <a:buChar char="§"/>
                <a:defRPr sz="1400"/>
              </a:lvl2pPr>
              <a:lvl3pPr marL="457200" indent="-223838">
                <a:lnSpc>
                  <a:spcPct val="100000"/>
                </a:lnSpc>
                <a:spcBef>
                  <a:spcPts val="600"/>
                </a:spcBef>
                <a:spcAft>
                  <a:spcPts val="0"/>
                </a:spcAft>
                <a:buClr>
                  <a:schemeClr val="tx2"/>
                </a:buClr>
                <a:buFont typeface="Arial" panose="020B0604020202020204" pitchFamily="34" charset="0"/>
                <a:buChar char="•"/>
                <a:defRPr sz="1400"/>
              </a:lvl3pPr>
              <a:lvl4pPr marL="690563" indent="-233363">
                <a:lnSpc>
                  <a:spcPct val="100000"/>
                </a:lnSpc>
                <a:spcBef>
                  <a:spcPts val="600"/>
                </a:spcBef>
                <a:spcAft>
                  <a:spcPts val="0"/>
                </a:spcAft>
                <a:buClr>
                  <a:schemeClr val="tx2"/>
                </a:buClr>
                <a:buFont typeface="Arial" panose="020B0604020202020204" pitchFamily="34" charset="0"/>
                <a:buChar char="‒"/>
                <a:defRPr sz="1200" baseline="0"/>
              </a:lvl4pPr>
              <a:lvl5pPr marL="896938" indent="-179388">
                <a:lnSpc>
                  <a:spcPct val="100000"/>
                </a:lnSpc>
                <a:spcBef>
                  <a:spcPts val="600"/>
                </a:spcBef>
                <a:buClr>
                  <a:schemeClr val="tx2"/>
                </a:buClr>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defRPr/>
              </a:pPr>
              <a:r>
                <a:rPr lang="en-US" b="1">
                  <a:solidFill>
                    <a:srgbClr val="1DB6F3"/>
                  </a:solidFill>
                </a:rPr>
                <a:t>Market View</a:t>
              </a:r>
            </a:p>
            <a:p>
              <a:pPr lvl="0">
                <a:defRPr/>
              </a:pPr>
              <a:r>
                <a:rPr lang="en-US" sz="1400"/>
                <a:t>Assessing market dynamics, demand drivers, and value shifts shaping wholesale growth opportunities.</a:t>
              </a:r>
            </a:p>
          </p:txBody>
        </p:sp>
      </p:grpSp>
      <p:grpSp>
        <p:nvGrpSpPr>
          <p:cNvPr id="27" name="Group 26">
            <a:extLst>
              <a:ext uri="{FF2B5EF4-FFF2-40B4-BE49-F238E27FC236}">
                <a16:creationId xmlns:a16="http://schemas.microsoft.com/office/drawing/2014/main" id="{EF3AA2E8-FF41-2403-2B0A-8B1C18ACEE99}"/>
              </a:ext>
            </a:extLst>
          </p:cNvPr>
          <p:cNvGrpSpPr/>
          <p:nvPr/>
        </p:nvGrpSpPr>
        <p:grpSpPr>
          <a:xfrm>
            <a:off x="1588482" y="901012"/>
            <a:ext cx="5682555" cy="534840"/>
            <a:chOff x="1166676" y="903826"/>
            <a:chExt cx="5042380" cy="534840"/>
          </a:xfrm>
          <a:noFill/>
        </p:grpSpPr>
        <p:sp>
          <p:nvSpPr>
            <p:cNvPr id="28" name="Oval 20">
              <a:extLst>
                <a:ext uri="{FF2B5EF4-FFF2-40B4-BE49-F238E27FC236}">
                  <a16:creationId xmlns:a16="http://schemas.microsoft.com/office/drawing/2014/main" id="{D0B5546C-965A-31A6-B011-2B7175C3FFC4}"/>
                </a:ext>
              </a:extLst>
            </p:cNvPr>
            <p:cNvSpPr/>
            <p:nvPr/>
          </p:nvSpPr>
          <p:spPr>
            <a:xfrm>
              <a:off x="1166676" y="903826"/>
              <a:ext cx="638852" cy="534840"/>
            </a:xfrm>
            <a:prstGeom prst="rect">
              <a:avLst/>
            </a:prstGeom>
            <a:solidFill>
              <a:srgbClr val="000A1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PT" sz="3200" b="1" i="1" u="none" strike="noStrike" kern="1200" cap="none" spc="0" normalizeH="0" baseline="0" noProof="0">
                  <a:ln>
                    <a:noFill/>
                  </a:ln>
                  <a:solidFill>
                    <a:srgbClr val="12ABDB"/>
                  </a:solidFill>
                  <a:effectLst/>
                  <a:uLnTx/>
                  <a:uFillTx/>
                  <a:latin typeface="Ubuntu Light" panose="020B0304030602030204" pitchFamily="34" charset="0"/>
                  <a:ea typeface="+mn-ea"/>
                  <a:cs typeface="+mn-cs"/>
                </a:rPr>
                <a:t>01</a:t>
              </a:r>
            </a:p>
          </p:txBody>
        </p:sp>
        <p:sp>
          <p:nvSpPr>
            <p:cNvPr id="29" name="Text Placeholder 11">
              <a:extLst>
                <a:ext uri="{FF2B5EF4-FFF2-40B4-BE49-F238E27FC236}">
                  <a16:creationId xmlns:a16="http://schemas.microsoft.com/office/drawing/2014/main" id="{B16F8419-AAC5-74B3-9B56-FDC4B797D7A2}"/>
                </a:ext>
              </a:extLst>
            </p:cNvPr>
            <p:cNvSpPr txBox="1">
              <a:spLocks/>
            </p:cNvSpPr>
            <p:nvPr/>
          </p:nvSpPr>
          <p:spPr>
            <a:xfrm>
              <a:off x="1991543" y="908720"/>
              <a:ext cx="4217513" cy="525052"/>
            </a:xfrm>
            <a:prstGeom prst="rect">
              <a:avLst/>
            </a:prstGeom>
            <a:grpFill/>
            <a:ln w="12700">
              <a:noFill/>
            </a:ln>
          </p:spPr>
          <p:txBody>
            <a:bodyPr vert="horz" lIns="0" tIns="0" rIns="0" bIns="0" rtlCol="0" anchor="ctr">
              <a:noAutofit/>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sz="1600" kern="1200">
                  <a:solidFill>
                    <a:schemeClr val="tx1"/>
                  </a:solidFill>
                  <a:latin typeface="+mn-lt"/>
                  <a:ea typeface="+mn-ea"/>
                  <a:cs typeface="+mn-cs"/>
                </a:defRPr>
              </a:lvl1pPr>
              <a:lvl2pPr marL="233363" indent="-228600" algn="l" defTabSz="914400" rtl="0" eaLnBrk="1" latinLnBrk="0" hangingPunct="1">
                <a:lnSpc>
                  <a:spcPct val="100000"/>
                </a:lnSpc>
                <a:spcBef>
                  <a:spcPts val="600"/>
                </a:spcBef>
                <a:spcAft>
                  <a:spcPts val="0"/>
                </a:spcAft>
                <a:buClr>
                  <a:schemeClr val="tx2"/>
                </a:buClr>
                <a:buFont typeface="Wingdings" panose="05000000000000000000" pitchFamily="2" charset="2"/>
                <a:buChar char="§"/>
                <a:defRPr sz="1400" kern="1200">
                  <a:solidFill>
                    <a:schemeClr val="tx1"/>
                  </a:solidFill>
                  <a:latin typeface="+mn-lt"/>
                  <a:ea typeface="+mn-ea"/>
                  <a:cs typeface="+mn-cs"/>
                </a:defRPr>
              </a:lvl2pPr>
              <a:lvl3pPr marL="457200" indent="-223838" algn="l" defTabSz="914400" rtl="0" eaLnBrk="1" latinLnBrk="0" hangingPunct="1">
                <a:lnSpc>
                  <a:spcPct val="100000"/>
                </a:lnSpc>
                <a:spcBef>
                  <a:spcPts val="600"/>
                </a:spcBef>
                <a:spcAft>
                  <a:spcPts val="0"/>
                </a:spcAft>
                <a:buClr>
                  <a:schemeClr val="tx2"/>
                </a:buClr>
                <a:buFont typeface="Arial" panose="020B0604020202020204" pitchFamily="34" charset="0"/>
                <a:buChar char="•"/>
                <a:defRPr sz="1400" kern="1200">
                  <a:solidFill>
                    <a:schemeClr val="tx1"/>
                  </a:solidFill>
                  <a:latin typeface="+mn-lt"/>
                  <a:ea typeface="+mn-ea"/>
                  <a:cs typeface="+mn-cs"/>
                </a:defRPr>
              </a:lvl3pPr>
              <a:lvl4pPr marL="690563" indent="-233363" algn="l" defTabSz="914400" rtl="0" eaLnBrk="1" latinLnBrk="0" hangingPunct="1">
                <a:lnSpc>
                  <a:spcPct val="100000"/>
                </a:lnSpc>
                <a:spcBef>
                  <a:spcPts val="600"/>
                </a:spcBef>
                <a:spcAft>
                  <a:spcPts val="0"/>
                </a:spcAft>
                <a:buClr>
                  <a:schemeClr val="tx2"/>
                </a:buClr>
                <a:buFont typeface="Arial" panose="020B0604020202020204" pitchFamily="34" charset="0"/>
                <a:buChar char="‒"/>
                <a:defRPr sz="1200" kern="1200" baseline="0">
                  <a:solidFill>
                    <a:schemeClr val="tx1"/>
                  </a:solidFill>
                  <a:latin typeface="+mn-lt"/>
                  <a:ea typeface="+mn-ea"/>
                  <a:cs typeface="+mn-cs"/>
                </a:defRPr>
              </a:lvl4pPr>
              <a:lvl5pPr marL="896938" indent="-179388" algn="l" defTabSz="914400" rtl="0" eaLnBrk="1" latinLnBrk="0" hangingPunct="1">
                <a:lnSpc>
                  <a:spcPct val="100000"/>
                </a:lnSpc>
                <a:spcBef>
                  <a:spcPts val="600"/>
                </a:spcBef>
                <a:buClr>
                  <a:schemeClr val="tx2"/>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b="1">
                  <a:solidFill>
                    <a:srgbClr val="1DB6F3"/>
                  </a:solidFill>
                  <a:latin typeface="Ubuntu Light" panose="020B0304030602030204" pitchFamily="34" charset="0"/>
                </a:rPr>
                <a:t>Our Understanding of the RFI</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Aligning on Maxis Wholesale’s ambition, scope, and the key questions this study must answer</a:t>
              </a:r>
              <a:r>
                <a:rPr kumimoji="0" lang="en-US" sz="1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a:t>
              </a:r>
              <a:endParaRPr kumimoji="0" lang="en-US" b="0"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grpSp>
      <p:grpSp>
        <p:nvGrpSpPr>
          <p:cNvPr id="30" name="Group 29">
            <a:extLst>
              <a:ext uri="{FF2B5EF4-FFF2-40B4-BE49-F238E27FC236}">
                <a16:creationId xmlns:a16="http://schemas.microsoft.com/office/drawing/2014/main" id="{C54CC582-0C98-B52C-BA2F-9ACC16B8F738}"/>
              </a:ext>
            </a:extLst>
          </p:cNvPr>
          <p:cNvGrpSpPr/>
          <p:nvPr/>
        </p:nvGrpSpPr>
        <p:grpSpPr>
          <a:xfrm>
            <a:off x="1476158" y="4586898"/>
            <a:ext cx="5995809" cy="534840"/>
            <a:chOff x="1166676" y="3486265"/>
            <a:chExt cx="4786159" cy="534840"/>
          </a:xfrm>
          <a:noFill/>
        </p:grpSpPr>
        <p:sp>
          <p:nvSpPr>
            <p:cNvPr id="31" name="Oval 20">
              <a:extLst>
                <a:ext uri="{FF2B5EF4-FFF2-40B4-BE49-F238E27FC236}">
                  <a16:creationId xmlns:a16="http://schemas.microsoft.com/office/drawing/2014/main" id="{CD5A8F7F-3DE5-F6ED-F451-797F1BF66F2F}"/>
                </a:ext>
              </a:extLst>
            </p:cNvPr>
            <p:cNvSpPr/>
            <p:nvPr/>
          </p:nvSpPr>
          <p:spPr>
            <a:xfrm>
              <a:off x="1166676" y="3486265"/>
              <a:ext cx="638852" cy="534840"/>
            </a:xfrm>
            <a:prstGeom prst="rect">
              <a:avLst/>
            </a:prstGeom>
            <a:solidFill>
              <a:srgbClr val="000F1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PT" sz="3200" b="1" i="1" u="none" strike="noStrike" kern="1200" cap="none" spc="0" normalizeH="0" baseline="0" noProof="0">
                  <a:ln>
                    <a:noFill/>
                  </a:ln>
                  <a:solidFill>
                    <a:srgbClr val="12ABDB"/>
                  </a:solidFill>
                  <a:effectLst/>
                  <a:uLnTx/>
                  <a:uFillTx/>
                  <a:latin typeface="Ubuntu Light" panose="020B0304030602030204" pitchFamily="34" charset="0"/>
                  <a:ea typeface="+mn-ea"/>
                  <a:cs typeface="+mn-cs"/>
                </a:rPr>
                <a:t>05</a:t>
              </a:r>
            </a:p>
          </p:txBody>
        </p:sp>
        <p:sp>
          <p:nvSpPr>
            <p:cNvPr id="32" name="Text Placeholder 11">
              <a:extLst>
                <a:ext uri="{FF2B5EF4-FFF2-40B4-BE49-F238E27FC236}">
                  <a16:creationId xmlns:a16="http://schemas.microsoft.com/office/drawing/2014/main" id="{56D75F11-4C50-73FA-3343-D79445EEC619}"/>
                </a:ext>
              </a:extLst>
            </p:cNvPr>
            <p:cNvSpPr txBox="1">
              <a:spLocks/>
            </p:cNvSpPr>
            <p:nvPr/>
          </p:nvSpPr>
          <p:spPr>
            <a:xfrm>
              <a:off x="1991543" y="3491159"/>
              <a:ext cx="3961292" cy="525052"/>
            </a:xfrm>
            <a:prstGeom prst="rect">
              <a:avLst/>
            </a:prstGeom>
            <a:grpFill/>
            <a:ln w="12700">
              <a:noFill/>
            </a:ln>
          </p:spPr>
          <p:txBody>
            <a:bodyPr vert="horz" lIns="0" tIns="0" rIns="0" bIns="0" rtlCol="0" anchor="ctr">
              <a:noAutofit/>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sz="1600" kern="1200">
                  <a:solidFill>
                    <a:schemeClr val="tx1"/>
                  </a:solidFill>
                  <a:latin typeface="+mn-lt"/>
                  <a:ea typeface="+mn-ea"/>
                  <a:cs typeface="+mn-cs"/>
                </a:defRPr>
              </a:lvl1pPr>
              <a:lvl2pPr marL="233363" indent="-228600" algn="l" defTabSz="914400" rtl="0" eaLnBrk="1" latinLnBrk="0" hangingPunct="1">
                <a:lnSpc>
                  <a:spcPct val="100000"/>
                </a:lnSpc>
                <a:spcBef>
                  <a:spcPts val="600"/>
                </a:spcBef>
                <a:spcAft>
                  <a:spcPts val="0"/>
                </a:spcAft>
                <a:buClr>
                  <a:schemeClr val="tx2"/>
                </a:buClr>
                <a:buFont typeface="Wingdings" panose="05000000000000000000" pitchFamily="2" charset="2"/>
                <a:buChar char="§"/>
                <a:defRPr sz="1400" kern="1200">
                  <a:solidFill>
                    <a:schemeClr val="tx1"/>
                  </a:solidFill>
                  <a:latin typeface="+mn-lt"/>
                  <a:ea typeface="+mn-ea"/>
                  <a:cs typeface="+mn-cs"/>
                </a:defRPr>
              </a:lvl2pPr>
              <a:lvl3pPr marL="457200" indent="-223838" algn="l" defTabSz="914400" rtl="0" eaLnBrk="1" latinLnBrk="0" hangingPunct="1">
                <a:lnSpc>
                  <a:spcPct val="100000"/>
                </a:lnSpc>
                <a:spcBef>
                  <a:spcPts val="600"/>
                </a:spcBef>
                <a:spcAft>
                  <a:spcPts val="0"/>
                </a:spcAft>
                <a:buClr>
                  <a:schemeClr val="tx2"/>
                </a:buClr>
                <a:buFont typeface="Arial" panose="020B0604020202020204" pitchFamily="34" charset="0"/>
                <a:buChar char="•"/>
                <a:defRPr sz="1400" kern="1200">
                  <a:solidFill>
                    <a:schemeClr val="tx1"/>
                  </a:solidFill>
                  <a:latin typeface="+mn-lt"/>
                  <a:ea typeface="+mn-ea"/>
                  <a:cs typeface="+mn-cs"/>
                </a:defRPr>
              </a:lvl3pPr>
              <a:lvl4pPr marL="690563" indent="-233363" algn="l" defTabSz="914400" rtl="0" eaLnBrk="1" latinLnBrk="0" hangingPunct="1">
                <a:lnSpc>
                  <a:spcPct val="100000"/>
                </a:lnSpc>
                <a:spcBef>
                  <a:spcPts val="600"/>
                </a:spcBef>
                <a:spcAft>
                  <a:spcPts val="0"/>
                </a:spcAft>
                <a:buClr>
                  <a:schemeClr val="tx2"/>
                </a:buClr>
                <a:buFont typeface="Arial" panose="020B0604020202020204" pitchFamily="34" charset="0"/>
                <a:buChar char="‒"/>
                <a:defRPr sz="1200" kern="1200" baseline="0">
                  <a:solidFill>
                    <a:schemeClr val="tx1"/>
                  </a:solidFill>
                  <a:latin typeface="+mn-lt"/>
                  <a:ea typeface="+mn-ea"/>
                  <a:cs typeface="+mn-cs"/>
                </a:defRPr>
              </a:lvl4pPr>
              <a:lvl5pPr marL="896938" indent="-179388" algn="l" defTabSz="914400" rtl="0" eaLnBrk="1" latinLnBrk="0" hangingPunct="1">
                <a:lnSpc>
                  <a:spcPct val="100000"/>
                </a:lnSpc>
                <a:spcBef>
                  <a:spcPts val="600"/>
                </a:spcBef>
                <a:buClr>
                  <a:schemeClr val="tx2"/>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fontAlgn="auto">
                <a:buClrTx/>
                <a:buSzTx/>
                <a:tabLst/>
                <a:defRPr/>
              </a:pPr>
              <a:r>
                <a:rPr lang="en-US" b="1">
                  <a:solidFill>
                    <a:srgbClr val="1DB6F3"/>
                  </a:solidFill>
                  <a:latin typeface="Ubuntu Light" panose="020B0304030602030204" pitchFamily="34" charset="0"/>
                </a:rPr>
                <a:t>Capabilities</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400">
                  <a:solidFill>
                    <a:srgbClr val="FFFFFF"/>
                  </a:solidFill>
                  <a:latin typeface="Ubuntu Light" panose="020B0304030602030204" pitchFamily="34" charset="0"/>
                </a:rPr>
                <a:t>Bringing insight‑led strategy and execution capabilities to drive measurable impact.</a:t>
              </a:r>
            </a:p>
          </p:txBody>
        </p:sp>
      </p:grpSp>
      <p:grpSp>
        <p:nvGrpSpPr>
          <p:cNvPr id="33" name="Group 32">
            <a:extLst>
              <a:ext uri="{FF2B5EF4-FFF2-40B4-BE49-F238E27FC236}">
                <a16:creationId xmlns:a16="http://schemas.microsoft.com/office/drawing/2014/main" id="{1D8ED454-D7D2-5DE4-5EC3-18E4077FA157}"/>
              </a:ext>
            </a:extLst>
          </p:cNvPr>
          <p:cNvGrpSpPr/>
          <p:nvPr/>
        </p:nvGrpSpPr>
        <p:grpSpPr>
          <a:xfrm>
            <a:off x="1484758" y="5452719"/>
            <a:ext cx="5995809" cy="534840"/>
            <a:chOff x="1166676" y="3486265"/>
            <a:chExt cx="4786159" cy="534840"/>
          </a:xfrm>
          <a:noFill/>
        </p:grpSpPr>
        <p:sp>
          <p:nvSpPr>
            <p:cNvPr id="34" name="Oval 20">
              <a:extLst>
                <a:ext uri="{FF2B5EF4-FFF2-40B4-BE49-F238E27FC236}">
                  <a16:creationId xmlns:a16="http://schemas.microsoft.com/office/drawing/2014/main" id="{0411C041-CCA6-73D4-D8CD-CA71FD8C301D}"/>
                </a:ext>
              </a:extLst>
            </p:cNvPr>
            <p:cNvSpPr/>
            <p:nvPr/>
          </p:nvSpPr>
          <p:spPr>
            <a:xfrm>
              <a:off x="1166676" y="3486265"/>
              <a:ext cx="638852" cy="534840"/>
            </a:xfrm>
            <a:prstGeom prst="rect">
              <a:avLst/>
            </a:prstGeom>
            <a:solidFill>
              <a:srgbClr val="000F1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PT" sz="3200" b="1" i="1" u="none" strike="noStrike" kern="1200" cap="none" spc="0" normalizeH="0" baseline="0" noProof="0">
                  <a:ln>
                    <a:noFill/>
                  </a:ln>
                  <a:solidFill>
                    <a:srgbClr val="12ABDB"/>
                  </a:solidFill>
                  <a:effectLst/>
                  <a:uLnTx/>
                  <a:uFillTx/>
                  <a:latin typeface="Ubuntu Light" panose="020B0304030602030204" pitchFamily="34" charset="0"/>
                  <a:ea typeface="+mn-ea"/>
                  <a:cs typeface="+mn-cs"/>
                </a:rPr>
                <a:t>06</a:t>
              </a:r>
            </a:p>
          </p:txBody>
        </p:sp>
        <p:sp>
          <p:nvSpPr>
            <p:cNvPr id="35" name="Text Placeholder 11">
              <a:extLst>
                <a:ext uri="{FF2B5EF4-FFF2-40B4-BE49-F238E27FC236}">
                  <a16:creationId xmlns:a16="http://schemas.microsoft.com/office/drawing/2014/main" id="{07CA66D0-C43F-8170-3E5E-4C47AA7890E6}"/>
                </a:ext>
              </a:extLst>
            </p:cNvPr>
            <p:cNvSpPr txBox="1">
              <a:spLocks/>
            </p:cNvSpPr>
            <p:nvPr/>
          </p:nvSpPr>
          <p:spPr>
            <a:xfrm>
              <a:off x="1991543" y="3491159"/>
              <a:ext cx="3961292" cy="525052"/>
            </a:xfrm>
            <a:prstGeom prst="rect">
              <a:avLst/>
            </a:prstGeom>
            <a:grpFill/>
            <a:ln w="12700">
              <a:noFill/>
            </a:ln>
          </p:spPr>
          <p:txBody>
            <a:bodyPr vert="horz" lIns="0" tIns="0" rIns="0" bIns="0" rtlCol="0" anchor="ctr">
              <a:noAutofit/>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sz="1600" kern="1200">
                  <a:solidFill>
                    <a:schemeClr val="tx1"/>
                  </a:solidFill>
                  <a:latin typeface="+mn-lt"/>
                  <a:ea typeface="+mn-ea"/>
                  <a:cs typeface="+mn-cs"/>
                </a:defRPr>
              </a:lvl1pPr>
              <a:lvl2pPr marL="233363" indent="-228600" algn="l" defTabSz="914400" rtl="0" eaLnBrk="1" latinLnBrk="0" hangingPunct="1">
                <a:lnSpc>
                  <a:spcPct val="100000"/>
                </a:lnSpc>
                <a:spcBef>
                  <a:spcPts val="600"/>
                </a:spcBef>
                <a:spcAft>
                  <a:spcPts val="0"/>
                </a:spcAft>
                <a:buClr>
                  <a:schemeClr val="tx2"/>
                </a:buClr>
                <a:buFont typeface="Wingdings" panose="05000000000000000000" pitchFamily="2" charset="2"/>
                <a:buChar char="§"/>
                <a:defRPr sz="1400" kern="1200">
                  <a:solidFill>
                    <a:schemeClr val="tx1"/>
                  </a:solidFill>
                  <a:latin typeface="+mn-lt"/>
                  <a:ea typeface="+mn-ea"/>
                  <a:cs typeface="+mn-cs"/>
                </a:defRPr>
              </a:lvl2pPr>
              <a:lvl3pPr marL="457200" indent="-223838" algn="l" defTabSz="914400" rtl="0" eaLnBrk="1" latinLnBrk="0" hangingPunct="1">
                <a:lnSpc>
                  <a:spcPct val="100000"/>
                </a:lnSpc>
                <a:spcBef>
                  <a:spcPts val="600"/>
                </a:spcBef>
                <a:spcAft>
                  <a:spcPts val="0"/>
                </a:spcAft>
                <a:buClr>
                  <a:schemeClr val="tx2"/>
                </a:buClr>
                <a:buFont typeface="Arial" panose="020B0604020202020204" pitchFamily="34" charset="0"/>
                <a:buChar char="•"/>
                <a:defRPr sz="1400" kern="1200">
                  <a:solidFill>
                    <a:schemeClr val="tx1"/>
                  </a:solidFill>
                  <a:latin typeface="+mn-lt"/>
                  <a:ea typeface="+mn-ea"/>
                  <a:cs typeface="+mn-cs"/>
                </a:defRPr>
              </a:lvl3pPr>
              <a:lvl4pPr marL="690563" indent="-233363" algn="l" defTabSz="914400" rtl="0" eaLnBrk="1" latinLnBrk="0" hangingPunct="1">
                <a:lnSpc>
                  <a:spcPct val="100000"/>
                </a:lnSpc>
                <a:spcBef>
                  <a:spcPts val="600"/>
                </a:spcBef>
                <a:spcAft>
                  <a:spcPts val="0"/>
                </a:spcAft>
                <a:buClr>
                  <a:schemeClr val="tx2"/>
                </a:buClr>
                <a:buFont typeface="Arial" panose="020B0604020202020204" pitchFamily="34" charset="0"/>
                <a:buChar char="‒"/>
                <a:defRPr sz="1200" kern="1200" baseline="0">
                  <a:solidFill>
                    <a:schemeClr val="tx1"/>
                  </a:solidFill>
                  <a:latin typeface="+mn-lt"/>
                  <a:ea typeface="+mn-ea"/>
                  <a:cs typeface="+mn-cs"/>
                </a:defRPr>
              </a:lvl4pPr>
              <a:lvl5pPr marL="896938" indent="-179388" algn="l" defTabSz="914400" rtl="0" eaLnBrk="1" latinLnBrk="0" hangingPunct="1">
                <a:lnSpc>
                  <a:spcPct val="100000"/>
                </a:lnSpc>
                <a:spcBef>
                  <a:spcPts val="600"/>
                </a:spcBef>
                <a:buClr>
                  <a:schemeClr val="tx2"/>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b="1">
                  <a:solidFill>
                    <a:srgbClr val="1DB6F3"/>
                  </a:solidFill>
                  <a:latin typeface="Ubuntu Light" panose="020B0304030602030204" pitchFamily="34" charset="0"/>
                </a:rPr>
                <a:t>Credentials</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400">
                  <a:solidFill>
                    <a:srgbClr val="FFFFFF"/>
                  </a:solidFill>
                  <a:latin typeface="Ubuntu Light" panose="020B0304030602030204" pitchFamily="34" charset="0"/>
                </a:rPr>
                <a:t>Demonstrating proven delivery through relevant case experience and outcomes.</a:t>
              </a:r>
            </a:p>
          </p:txBody>
        </p:sp>
      </p:grpSp>
    </p:spTree>
    <p:extLst>
      <p:ext uri="{BB962C8B-B14F-4D97-AF65-F5344CB8AC3E}">
        <p14:creationId xmlns:p14="http://schemas.microsoft.com/office/powerpoint/2010/main" val="4047577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102BE-7C83-625A-6A16-53CD44A9C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D5BD96-F7C0-8136-E513-38ACEE1A914A}"/>
              </a:ext>
            </a:extLst>
          </p:cNvPr>
          <p:cNvSpPr>
            <a:spLocks noGrp="1"/>
          </p:cNvSpPr>
          <p:nvPr>
            <p:ph type="title"/>
          </p:nvPr>
        </p:nvSpPr>
        <p:spPr>
          <a:xfrm>
            <a:off x="550339" y="3063874"/>
            <a:ext cx="11090275" cy="1079526"/>
          </a:xfrm>
        </p:spPr>
        <p:txBody>
          <a:bodyPr/>
          <a:lstStyle/>
          <a:p>
            <a:pPr algn="ctr"/>
            <a:r>
              <a:rPr lang="en-US"/>
              <a:t>OUR UNDERSTANDING OF RFI</a:t>
            </a:r>
            <a:br>
              <a:rPr lang="en-US"/>
            </a:br>
            <a:r>
              <a:rPr lang="en-US" sz="1800"/>
              <a:t>Grounding the engagement in our understanding of Maxis’ wholesale ambition</a:t>
            </a:r>
            <a:endParaRPr lang="en-IN"/>
          </a:p>
        </p:txBody>
      </p:sp>
      <p:pic>
        <p:nvPicPr>
          <p:cNvPr id="5" name="Picture 4">
            <a:extLst>
              <a:ext uri="{FF2B5EF4-FFF2-40B4-BE49-F238E27FC236}">
                <a16:creationId xmlns:a16="http://schemas.microsoft.com/office/drawing/2014/main" id="{4341A878-1779-BFC4-5A57-DBF268BA2588}"/>
              </a:ext>
            </a:extLst>
          </p:cNvPr>
          <p:cNvPicPr>
            <a:picLocks noChangeAspect="1"/>
          </p:cNvPicPr>
          <p:nvPr/>
        </p:nvPicPr>
        <p:blipFill>
          <a:blip r:embed="rId2"/>
          <a:stretch>
            <a:fillRect/>
          </a:stretch>
        </p:blipFill>
        <p:spPr>
          <a:xfrm>
            <a:off x="10595509" y="0"/>
            <a:ext cx="1237002" cy="696510"/>
          </a:xfrm>
          <a:prstGeom prst="rect">
            <a:avLst/>
          </a:prstGeom>
        </p:spPr>
      </p:pic>
    </p:spTree>
    <p:extLst>
      <p:ext uri="{BB962C8B-B14F-4D97-AF65-F5344CB8AC3E}">
        <p14:creationId xmlns:p14="http://schemas.microsoft.com/office/powerpoint/2010/main" val="1626784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C8E6F-E705-1AF7-AF0F-74D1B52B19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858D4-BB1A-FF6B-11CA-7D4249817F21}"/>
              </a:ext>
            </a:extLst>
          </p:cNvPr>
          <p:cNvSpPr>
            <a:spLocks noGrp="1"/>
          </p:cNvSpPr>
          <p:nvPr>
            <p:ph type="title"/>
          </p:nvPr>
        </p:nvSpPr>
        <p:spPr>
          <a:xfrm>
            <a:off x="550863" y="271479"/>
            <a:ext cx="11090275" cy="576264"/>
          </a:xfrm>
        </p:spPr>
        <p:txBody>
          <a:bodyPr/>
          <a:lstStyle/>
          <a:p>
            <a:r>
              <a:rPr lang="en-US"/>
              <a:t>Our Understanding of the RFI</a:t>
            </a:r>
          </a:p>
        </p:txBody>
      </p:sp>
      <p:sp>
        <p:nvSpPr>
          <p:cNvPr id="61" name="TextBox 60">
            <a:extLst>
              <a:ext uri="{FF2B5EF4-FFF2-40B4-BE49-F238E27FC236}">
                <a16:creationId xmlns:a16="http://schemas.microsoft.com/office/drawing/2014/main" id="{333369B7-6755-5099-BC88-D015B6B93601}"/>
              </a:ext>
            </a:extLst>
          </p:cNvPr>
          <p:cNvSpPr txBox="1"/>
          <p:nvPr/>
        </p:nvSpPr>
        <p:spPr>
          <a:xfrm>
            <a:off x="550862" y="986052"/>
            <a:ext cx="8730573" cy="340735"/>
          </a:xfrm>
          <a:prstGeom prst="rect">
            <a:avLst/>
          </a:prstGeom>
          <a:noFill/>
        </p:spPr>
        <p:txBody>
          <a:bodyPr vert="horz" wrap="square" lIns="0" tIns="46800" rIns="90000" bIns="46800" rtlCol="0" anchor="ctr">
            <a:spAutoFit/>
          </a:bodyPr>
          <a:lstStyle/>
          <a:p>
            <a:pPr algn="l">
              <a:spcBef>
                <a:spcPct val="0"/>
              </a:spcBef>
            </a:pPr>
            <a:r>
              <a:rPr lang="en-US" sz="1600">
                <a:solidFill>
                  <a:schemeClr val="bg1"/>
                </a:solidFill>
              </a:rPr>
              <a:t>Clarifying the context, objectives, scope, and strategic questions shaping the engagement.</a:t>
            </a:r>
            <a:endParaRPr lang="en-IN" sz="1600">
              <a:solidFill>
                <a:schemeClr val="bg1"/>
              </a:solidFill>
            </a:endParaRPr>
          </a:p>
        </p:txBody>
      </p:sp>
      <p:grpSp>
        <p:nvGrpSpPr>
          <p:cNvPr id="137" name="Group 136">
            <a:extLst>
              <a:ext uri="{FF2B5EF4-FFF2-40B4-BE49-F238E27FC236}">
                <a16:creationId xmlns:a16="http://schemas.microsoft.com/office/drawing/2014/main" id="{C2115DCD-9738-D51F-A4B3-73D3135FA322}"/>
              </a:ext>
            </a:extLst>
          </p:cNvPr>
          <p:cNvGrpSpPr/>
          <p:nvPr/>
        </p:nvGrpSpPr>
        <p:grpSpPr>
          <a:xfrm>
            <a:off x="426720" y="1799977"/>
            <a:ext cx="3779520" cy="1647568"/>
            <a:chOff x="426720" y="1219200"/>
            <a:chExt cx="3779520" cy="1647568"/>
          </a:xfrm>
        </p:grpSpPr>
        <p:grpSp>
          <p:nvGrpSpPr>
            <p:cNvPr id="136" name="Group 135">
              <a:extLst>
                <a:ext uri="{FF2B5EF4-FFF2-40B4-BE49-F238E27FC236}">
                  <a16:creationId xmlns:a16="http://schemas.microsoft.com/office/drawing/2014/main" id="{53C63DC7-7ECD-1F71-1143-26AC8131EC82}"/>
                </a:ext>
              </a:extLst>
            </p:cNvPr>
            <p:cNvGrpSpPr/>
            <p:nvPr/>
          </p:nvGrpSpPr>
          <p:grpSpPr>
            <a:xfrm>
              <a:off x="426720" y="1219200"/>
              <a:ext cx="3779520" cy="1647568"/>
              <a:chOff x="426720" y="1219200"/>
              <a:chExt cx="3779520" cy="1647568"/>
            </a:xfrm>
          </p:grpSpPr>
          <p:sp>
            <p:nvSpPr>
              <p:cNvPr id="62" name="Shape 4">
                <a:extLst>
                  <a:ext uri="{FF2B5EF4-FFF2-40B4-BE49-F238E27FC236}">
                    <a16:creationId xmlns:a16="http://schemas.microsoft.com/office/drawing/2014/main" id="{81B9D46B-7BB6-3228-8B59-4C264C347AD6}"/>
                  </a:ext>
                </a:extLst>
              </p:cNvPr>
              <p:cNvSpPr/>
              <p:nvPr/>
            </p:nvSpPr>
            <p:spPr>
              <a:xfrm>
                <a:off x="426720" y="1219200"/>
                <a:ext cx="3779520" cy="1647568"/>
              </a:xfrm>
              <a:prstGeom prst="rect">
                <a:avLst/>
              </a:prstGeom>
              <a:solidFill>
                <a:schemeClr val="accent1">
                  <a:alpha val="20000"/>
                </a:schemeClr>
              </a:solidFill>
              <a:ln w="12700">
                <a:noFill/>
                <a:prstDash val="solid"/>
              </a:ln>
              <a:effectLst>
                <a:outerShdw blurRad="76200" dist="25400" dir="8100000" algn="bl" rotWithShape="0">
                  <a:srgbClr val="000000">
                    <a:alpha val="8000"/>
                  </a:srgbClr>
                </a:outerShdw>
              </a:effectLst>
            </p:spPr>
            <p:txBody>
              <a:bodyPr/>
              <a:lstStyle/>
              <a:p>
                <a:endParaRPr lang="en-IN" sz="2400"/>
              </a:p>
            </p:txBody>
          </p:sp>
          <p:sp>
            <p:nvSpPr>
              <p:cNvPr id="63" name="Shape 5">
                <a:extLst>
                  <a:ext uri="{FF2B5EF4-FFF2-40B4-BE49-F238E27FC236}">
                    <a16:creationId xmlns:a16="http://schemas.microsoft.com/office/drawing/2014/main" id="{65FAB3D5-C24E-1FB4-4F86-6BB222CA2DAC}"/>
                  </a:ext>
                </a:extLst>
              </p:cNvPr>
              <p:cNvSpPr/>
              <p:nvPr/>
            </p:nvSpPr>
            <p:spPr>
              <a:xfrm>
                <a:off x="426720" y="1219200"/>
                <a:ext cx="85344" cy="1647568"/>
              </a:xfrm>
              <a:prstGeom prst="rect">
                <a:avLst/>
              </a:prstGeom>
              <a:solidFill>
                <a:schemeClr val="accent2">
                  <a:alpha val="16000"/>
                </a:schemeClr>
              </a:solidFill>
              <a:ln w="12700">
                <a:noFill/>
                <a:prstDash val="solid"/>
              </a:ln>
            </p:spPr>
            <p:txBody>
              <a:bodyPr/>
              <a:lstStyle/>
              <a:p>
                <a:endParaRPr lang="en-IN" sz="2400"/>
              </a:p>
            </p:txBody>
          </p:sp>
        </p:grpSp>
        <p:sp>
          <p:nvSpPr>
            <p:cNvPr id="64" name="Text 6">
              <a:extLst>
                <a:ext uri="{FF2B5EF4-FFF2-40B4-BE49-F238E27FC236}">
                  <a16:creationId xmlns:a16="http://schemas.microsoft.com/office/drawing/2014/main" id="{211CBBBA-F0CA-4D3B-6714-AF431EC06D36}"/>
                </a:ext>
              </a:extLst>
            </p:cNvPr>
            <p:cNvSpPr/>
            <p:nvPr/>
          </p:nvSpPr>
          <p:spPr>
            <a:xfrm>
              <a:off x="646176" y="1280160"/>
              <a:ext cx="3511296" cy="268224"/>
            </a:xfrm>
            <a:prstGeom prst="rect">
              <a:avLst/>
            </a:prstGeom>
            <a:noFill/>
            <a:ln/>
          </p:spPr>
          <p:txBody>
            <a:bodyPr wrap="square" lIns="0" tIns="0" rIns="0" bIns="0" rtlCol="0" anchor="ctr"/>
            <a:lstStyle/>
            <a:p>
              <a:r>
                <a:rPr lang="en-US" sz="1067" b="1" kern="0" spc="267">
                  <a:solidFill>
                    <a:schemeClr val="accent1"/>
                  </a:solidFill>
                  <a:latin typeface="Calibri" pitchFamily="34" charset="0"/>
                  <a:ea typeface="Calibri" pitchFamily="34" charset="-122"/>
                  <a:cs typeface="Calibri" pitchFamily="34" charset="-120"/>
                </a:rPr>
                <a:t>CONTEXT</a:t>
              </a:r>
              <a:endParaRPr lang="en-US" sz="1067">
                <a:solidFill>
                  <a:schemeClr val="accent1"/>
                </a:solidFill>
              </a:endParaRPr>
            </a:p>
          </p:txBody>
        </p:sp>
        <p:sp>
          <p:nvSpPr>
            <p:cNvPr id="65" name="Text 7">
              <a:extLst>
                <a:ext uri="{FF2B5EF4-FFF2-40B4-BE49-F238E27FC236}">
                  <a16:creationId xmlns:a16="http://schemas.microsoft.com/office/drawing/2014/main" id="{5002CE7C-400D-8F86-CF3F-079DBB56E1D3}"/>
                </a:ext>
              </a:extLst>
            </p:cNvPr>
            <p:cNvSpPr/>
            <p:nvPr/>
          </p:nvSpPr>
          <p:spPr>
            <a:xfrm>
              <a:off x="646176" y="1584960"/>
              <a:ext cx="3474720" cy="1281808"/>
            </a:xfrm>
            <a:prstGeom prst="rect">
              <a:avLst/>
            </a:prstGeom>
            <a:noFill/>
            <a:ln/>
          </p:spPr>
          <p:txBody>
            <a:bodyPr wrap="square" lIns="0" tIns="0" rIns="0" bIns="0" rtlCol="0" anchor="t"/>
            <a:lstStyle/>
            <a:p>
              <a:r>
                <a:rPr lang="en-US" sz="1467">
                  <a:solidFill>
                    <a:schemeClr val="bg1"/>
                  </a:solidFill>
                  <a:latin typeface="Calibri" pitchFamily="34" charset="0"/>
                  <a:ea typeface="Calibri" pitchFamily="34" charset="-122"/>
                  <a:cs typeface="Calibri" pitchFamily="34" charset="-120"/>
                </a:rPr>
                <a:t>ICT value pools are shifting from </a:t>
              </a:r>
              <a:r>
                <a:rPr lang="en-US" sz="1467" b="1">
                  <a:solidFill>
                    <a:schemeClr val="bg1"/>
                  </a:solidFill>
                  <a:latin typeface="Calibri" pitchFamily="34" charset="0"/>
                  <a:ea typeface="Calibri" pitchFamily="34" charset="-122"/>
                  <a:cs typeface="Calibri" pitchFamily="34" charset="-120"/>
                </a:rPr>
                <a:t>retail connectivity → infrastructure &amp; wholesale</a:t>
              </a:r>
              <a:r>
                <a:rPr lang="en-US" sz="1467">
                  <a:solidFill>
                    <a:schemeClr val="bg1"/>
                  </a:solidFill>
                  <a:latin typeface="Calibri" pitchFamily="34" charset="0"/>
                  <a:ea typeface="Calibri" pitchFamily="34" charset="-122"/>
                  <a:cs typeface="Calibri" pitchFamily="34" charset="-120"/>
                </a:rPr>
                <a:t>, driven by data centre expansion, AI/cloud demand, and cross-border traffic growth across Malaysia &amp; ASEAN.</a:t>
              </a:r>
              <a:endParaRPr lang="en-US" sz="1467">
                <a:solidFill>
                  <a:schemeClr val="bg1"/>
                </a:solidFill>
              </a:endParaRPr>
            </a:p>
          </p:txBody>
        </p:sp>
      </p:grpSp>
      <p:grpSp>
        <p:nvGrpSpPr>
          <p:cNvPr id="148" name="Group 147">
            <a:extLst>
              <a:ext uri="{FF2B5EF4-FFF2-40B4-BE49-F238E27FC236}">
                <a16:creationId xmlns:a16="http://schemas.microsoft.com/office/drawing/2014/main" id="{764B7B96-99FA-DDC3-21B8-549EAEA6EB55}"/>
              </a:ext>
            </a:extLst>
          </p:cNvPr>
          <p:cNvGrpSpPr/>
          <p:nvPr/>
        </p:nvGrpSpPr>
        <p:grpSpPr>
          <a:xfrm>
            <a:off x="426720" y="3619628"/>
            <a:ext cx="3779520" cy="1597152"/>
            <a:chOff x="426720" y="3438144"/>
            <a:chExt cx="3779520" cy="1597152"/>
          </a:xfrm>
          <a:solidFill>
            <a:schemeClr val="tx2">
              <a:alpha val="19000"/>
            </a:schemeClr>
          </a:solidFill>
        </p:grpSpPr>
        <p:sp>
          <p:nvSpPr>
            <p:cNvPr id="66" name="Shape 8">
              <a:extLst>
                <a:ext uri="{FF2B5EF4-FFF2-40B4-BE49-F238E27FC236}">
                  <a16:creationId xmlns:a16="http://schemas.microsoft.com/office/drawing/2014/main" id="{C0270A6D-1947-3197-B7C8-B3F612AC3071}"/>
                </a:ext>
              </a:extLst>
            </p:cNvPr>
            <p:cNvSpPr/>
            <p:nvPr/>
          </p:nvSpPr>
          <p:spPr>
            <a:xfrm>
              <a:off x="426720" y="3438144"/>
              <a:ext cx="3779520" cy="1597152"/>
            </a:xfrm>
            <a:prstGeom prst="rect">
              <a:avLst/>
            </a:prstGeom>
            <a:grpFill/>
            <a:ln w="12700">
              <a:noFill/>
              <a:prstDash val="solid"/>
            </a:ln>
            <a:effectLst>
              <a:outerShdw blurRad="76200" dist="25400" dir="8100000" algn="bl" rotWithShape="0">
                <a:srgbClr val="000000">
                  <a:alpha val="12000"/>
                </a:srgbClr>
              </a:outerShdw>
            </a:effectLst>
          </p:spPr>
          <p:txBody>
            <a:bodyPr/>
            <a:lstStyle/>
            <a:p>
              <a:endParaRPr lang="en-IN" sz="2400"/>
            </a:p>
          </p:txBody>
        </p:sp>
        <p:sp>
          <p:nvSpPr>
            <p:cNvPr id="67" name="Text 9">
              <a:extLst>
                <a:ext uri="{FF2B5EF4-FFF2-40B4-BE49-F238E27FC236}">
                  <a16:creationId xmlns:a16="http://schemas.microsoft.com/office/drawing/2014/main" id="{3422E9BC-FA2B-7D17-1A92-BCB850190B03}"/>
                </a:ext>
              </a:extLst>
            </p:cNvPr>
            <p:cNvSpPr/>
            <p:nvPr/>
          </p:nvSpPr>
          <p:spPr>
            <a:xfrm>
              <a:off x="646176" y="3535680"/>
              <a:ext cx="3511296" cy="268224"/>
            </a:xfrm>
            <a:prstGeom prst="rect">
              <a:avLst/>
            </a:prstGeom>
            <a:noFill/>
            <a:ln>
              <a:noFill/>
            </a:ln>
          </p:spPr>
          <p:txBody>
            <a:bodyPr wrap="square" lIns="0" tIns="0" rIns="0" bIns="0" rtlCol="0" anchor="ctr"/>
            <a:lstStyle/>
            <a:p>
              <a:r>
                <a:rPr lang="en-US" sz="1067" b="1" kern="0" spc="267">
                  <a:solidFill>
                    <a:schemeClr val="accent1"/>
                  </a:solidFill>
                  <a:latin typeface="Calibri" pitchFamily="34" charset="0"/>
                  <a:ea typeface="Calibri" pitchFamily="34" charset="-122"/>
                  <a:cs typeface="Calibri" pitchFamily="34" charset="-120"/>
                </a:rPr>
                <a:t>PRIMARY OBJECTIVE</a:t>
              </a:r>
              <a:endParaRPr lang="en-US" sz="1067">
                <a:solidFill>
                  <a:schemeClr val="accent1"/>
                </a:solidFill>
              </a:endParaRPr>
            </a:p>
          </p:txBody>
        </p:sp>
        <p:sp>
          <p:nvSpPr>
            <p:cNvPr id="68" name="Text 10">
              <a:extLst>
                <a:ext uri="{FF2B5EF4-FFF2-40B4-BE49-F238E27FC236}">
                  <a16:creationId xmlns:a16="http://schemas.microsoft.com/office/drawing/2014/main" id="{88DCD107-F088-186A-CD8D-ECF3EAB4F71C}"/>
                </a:ext>
              </a:extLst>
            </p:cNvPr>
            <p:cNvSpPr/>
            <p:nvPr/>
          </p:nvSpPr>
          <p:spPr>
            <a:xfrm>
              <a:off x="646176" y="3852672"/>
              <a:ext cx="3413760" cy="1182624"/>
            </a:xfrm>
            <a:prstGeom prst="rect">
              <a:avLst/>
            </a:prstGeom>
            <a:noFill/>
            <a:ln>
              <a:noFill/>
            </a:ln>
          </p:spPr>
          <p:txBody>
            <a:bodyPr wrap="square" lIns="0" tIns="0" rIns="0" bIns="0" rtlCol="0" anchor="t"/>
            <a:lstStyle/>
            <a:p>
              <a:r>
                <a:rPr lang="en-US" sz="1467">
                  <a:solidFill>
                    <a:srgbClr val="FFFFFF"/>
                  </a:solidFill>
                  <a:latin typeface="Calibri" pitchFamily="34" charset="0"/>
                  <a:ea typeface="Calibri" pitchFamily="34" charset="-122"/>
                  <a:cs typeface="Calibri" pitchFamily="34" charset="-120"/>
                </a:rPr>
                <a:t>Develop a growth blueprint for Maxis Wholesale to achieve substantial revenue growth through a structured, fact-based market view.</a:t>
              </a:r>
              <a:endParaRPr lang="en-US" sz="1467"/>
            </a:p>
          </p:txBody>
        </p:sp>
      </p:grpSp>
      <p:grpSp>
        <p:nvGrpSpPr>
          <p:cNvPr id="149" name="Group 148">
            <a:extLst>
              <a:ext uri="{FF2B5EF4-FFF2-40B4-BE49-F238E27FC236}">
                <a16:creationId xmlns:a16="http://schemas.microsoft.com/office/drawing/2014/main" id="{DDA0ED4E-5122-A805-3C8D-8C45623DFDD8}"/>
              </a:ext>
            </a:extLst>
          </p:cNvPr>
          <p:cNvGrpSpPr/>
          <p:nvPr/>
        </p:nvGrpSpPr>
        <p:grpSpPr>
          <a:xfrm>
            <a:off x="426720" y="5388864"/>
            <a:ext cx="3779520" cy="1182624"/>
            <a:chOff x="426720" y="5388864"/>
            <a:chExt cx="3779520" cy="1182624"/>
          </a:xfrm>
        </p:grpSpPr>
        <p:sp>
          <p:nvSpPr>
            <p:cNvPr id="69" name="Shape 11">
              <a:extLst>
                <a:ext uri="{FF2B5EF4-FFF2-40B4-BE49-F238E27FC236}">
                  <a16:creationId xmlns:a16="http://schemas.microsoft.com/office/drawing/2014/main" id="{B26A8FD9-79B0-64D3-3DFA-D419CA264437}"/>
                </a:ext>
              </a:extLst>
            </p:cNvPr>
            <p:cNvSpPr/>
            <p:nvPr/>
          </p:nvSpPr>
          <p:spPr>
            <a:xfrm>
              <a:off x="426720" y="5388864"/>
              <a:ext cx="3779520" cy="1182624"/>
            </a:xfrm>
            <a:prstGeom prst="rect">
              <a:avLst/>
            </a:prstGeom>
            <a:solidFill>
              <a:schemeClr val="accent3">
                <a:lumMod val="40000"/>
                <a:lumOff val="60000"/>
                <a:alpha val="23000"/>
              </a:schemeClr>
            </a:solidFill>
            <a:ln w="12700">
              <a:noFill/>
              <a:prstDash val="solid"/>
            </a:ln>
            <a:effectLst>
              <a:outerShdw blurRad="50800" dist="25400" dir="8100000" algn="bl" rotWithShape="0">
                <a:srgbClr val="000000">
                  <a:alpha val="6000"/>
                </a:srgbClr>
              </a:outerShdw>
            </a:effectLst>
          </p:spPr>
          <p:txBody>
            <a:bodyPr/>
            <a:lstStyle/>
            <a:p>
              <a:endParaRPr lang="en-IN" sz="2400"/>
            </a:p>
          </p:txBody>
        </p:sp>
        <p:sp>
          <p:nvSpPr>
            <p:cNvPr id="70" name="Text 12">
              <a:extLst>
                <a:ext uri="{FF2B5EF4-FFF2-40B4-BE49-F238E27FC236}">
                  <a16:creationId xmlns:a16="http://schemas.microsoft.com/office/drawing/2014/main" id="{01943B23-A697-A264-241B-46DE7FE5B266}"/>
                </a:ext>
              </a:extLst>
            </p:cNvPr>
            <p:cNvSpPr/>
            <p:nvPr/>
          </p:nvSpPr>
          <p:spPr>
            <a:xfrm>
              <a:off x="609600" y="5462016"/>
              <a:ext cx="3560064" cy="243840"/>
            </a:xfrm>
            <a:prstGeom prst="rect">
              <a:avLst/>
            </a:prstGeom>
            <a:noFill/>
            <a:ln/>
          </p:spPr>
          <p:txBody>
            <a:bodyPr wrap="square" lIns="0" tIns="0" rIns="0" bIns="0" rtlCol="0" anchor="ctr"/>
            <a:lstStyle/>
            <a:p>
              <a:r>
                <a:rPr lang="en-US" sz="1067" b="1" kern="0" spc="267">
                  <a:solidFill>
                    <a:schemeClr val="accent1"/>
                  </a:solidFill>
                  <a:latin typeface="Calibri" pitchFamily="34" charset="0"/>
                  <a:ea typeface="Calibri" pitchFamily="34" charset="-122"/>
                  <a:cs typeface="Calibri" pitchFamily="34" charset="-120"/>
                </a:rPr>
                <a:t>KEY QUESTIONS TO ANSWER</a:t>
              </a:r>
              <a:endParaRPr lang="en-US" sz="1067">
                <a:solidFill>
                  <a:schemeClr val="accent1"/>
                </a:solidFill>
              </a:endParaRPr>
            </a:p>
          </p:txBody>
        </p:sp>
        <p:sp>
          <p:nvSpPr>
            <p:cNvPr id="71" name="Text 13">
              <a:extLst>
                <a:ext uri="{FF2B5EF4-FFF2-40B4-BE49-F238E27FC236}">
                  <a16:creationId xmlns:a16="http://schemas.microsoft.com/office/drawing/2014/main" id="{E45A48D3-34B2-AED9-CC5F-D11D612FC2BE}"/>
                </a:ext>
              </a:extLst>
            </p:cNvPr>
            <p:cNvSpPr/>
            <p:nvPr/>
          </p:nvSpPr>
          <p:spPr>
            <a:xfrm>
              <a:off x="609600" y="5730240"/>
              <a:ext cx="3535680" cy="792480"/>
            </a:xfrm>
            <a:prstGeom prst="rect">
              <a:avLst/>
            </a:prstGeom>
            <a:noFill/>
            <a:ln/>
          </p:spPr>
          <p:txBody>
            <a:bodyPr wrap="square" lIns="0" tIns="0" rIns="0" bIns="0" rtlCol="0" anchor="t"/>
            <a:lstStyle/>
            <a:p>
              <a:pPr marL="457189" indent="-457189">
                <a:buSzPct val="100000"/>
                <a:buChar char="•"/>
              </a:pPr>
              <a:r>
                <a:rPr lang="en-US" sz="1333">
                  <a:solidFill>
                    <a:schemeClr val="bg1"/>
                  </a:solidFill>
                  <a:latin typeface="Calibri" pitchFamily="34" charset="0"/>
                  <a:ea typeface="Calibri" pitchFamily="34" charset="-122"/>
                  <a:cs typeface="Calibri" pitchFamily="34" charset="-120"/>
                </a:rPr>
                <a:t>Where to play &amp; how to win?</a:t>
              </a:r>
              <a:endParaRPr lang="en-US" sz="1333">
                <a:solidFill>
                  <a:schemeClr val="bg1"/>
                </a:solidFill>
              </a:endParaRPr>
            </a:p>
            <a:p>
              <a:pPr marL="457189" indent="-457189">
                <a:buSzPct val="100000"/>
                <a:buChar char="•"/>
              </a:pPr>
              <a:r>
                <a:rPr lang="en-US" sz="1333">
                  <a:solidFill>
                    <a:schemeClr val="bg1"/>
                  </a:solidFill>
                  <a:latin typeface="Calibri" pitchFamily="34" charset="0"/>
                  <a:ea typeface="Calibri" pitchFamily="34" charset="-122"/>
                  <a:cs typeface="Calibri" pitchFamily="34" charset="-120"/>
                </a:rPr>
                <a:t>Largest &amp; fastest-growing opportunities?</a:t>
              </a:r>
              <a:endParaRPr lang="en-US" sz="1333">
                <a:solidFill>
                  <a:schemeClr val="bg1"/>
                </a:solidFill>
              </a:endParaRPr>
            </a:p>
            <a:p>
              <a:pPr marL="457189" indent="-457189">
                <a:buSzPct val="100000"/>
                <a:buChar char="•"/>
              </a:pPr>
              <a:r>
                <a:rPr lang="en-US" sz="1333">
                  <a:solidFill>
                    <a:schemeClr val="bg1"/>
                  </a:solidFill>
                  <a:latin typeface="Calibri" pitchFamily="34" charset="0"/>
                  <a:ea typeface="Calibri" pitchFamily="34" charset="-122"/>
                  <a:cs typeface="Calibri" pitchFamily="34" charset="-120"/>
                </a:rPr>
                <a:t>Right to play vs. right to win?</a:t>
              </a:r>
              <a:endParaRPr lang="en-US" sz="1333">
                <a:solidFill>
                  <a:schemeClr val="bg1"/>
                </a:solidFill>
              </a:endParaRPr>
            </a:p>
          </p:txBody>
        </p:sp>
      </p:grpSp>
      <p:sp>
        <p:nvSpPr>
          <p:cNvPr id="72" name="Text 14">
            <a:extLst>
              <a:ext uri="{FF2B5EF4-FFF2-40B4-BE49-F238E27FC236}">
                <a16:creationId xmlns:a16="http://schemas.microsoft.com/office/drawing/2014/main" id="{B48CB1DD-F042-FE30-95D8-852A83B603E1}"/>
              </a:ext>
            </a:extLst>
          </p:cNvPr>
          <p:cNvSpPr/>
          <p:nvPr/>
        </p:nvSpPr>
        <p:spPr>
          <a:xfrm>
            <a:off x="4572000" y="1491379"/>
            <a:ext cx="3169920" cy="304800"/>
          </a:xfrm>
          <a:prstGeom prst="rect">
            <a:avLst/>
          </a:prstGeom>
          <a:noFill/>
          <a:ln/>
        </p:spPr>
        <p:txBody>
          <a:bodyPr wrap="square" lIns="0" tIns="0" rIns="0" bIns="0" rtlCol="0" anchor="ctr"/>
          <a:lstStyle/>
          <a:p>
            <a:r>
              <a:rPr lang="en-US" sz="1133" b="1" kern="0" spc="267">
                <a:solidFill>
                  <a:schemeClr val="bg1"/>
                </a:solidFill>
                <a:latin typeface="Calibri" pitchFamily="34" charset="0"/>
                <a:ea typeface="Calibri" pitchFamily="34" charset="-122"/>
                <a:cs typeface="Calibri" pitchFamily="34" charset="-120"/>
              </a:rPr>
              <a:t>SPECIFIC OBJECTIVES</a:t>
            </a:r>
            <a:endParaRPr lang="en-US" sz="1133">
              <a:solidFill>
                <a:schemeClr val="bg1"/>
              </a:solidFill>
            </a:endParaRPr>
          </a:p>
        </p:txBody>
      </p:sp>
      <p:sp>
        <p:nvSpPr>
          <p:cNvPr id="75" name="Text 17">
            <a:extLst>
              <a:ext uri="{FF2B5EF4-FFF2-40B4-BE49-F238E27FC236}">
                <a16:creationId xmlns:a16="http://schemas.microsoft.com/office/drawing/2014/main" id="{2DC4FCB7-C9AE-4F21-5FFF-90EF378FB779}"/>
              </a:ext>
            </a:extLst>
          </p:cNvPr>
          <p:cNvSpPr/>
          <p:nvPr/>
        </p:nvSpPr>
        <p:spPr>
          <a:xfrm>
            <a:off x="4693920" y="1755648"/>
            <a:ext cx="463296" cy="463296"/>
          </a:xfrm>
          <a:prstGeom prst="rect">
            <a:avLst/>
          </a:prstGeom>
          <a:noFill/>
          <a:ln/>
        </p:spPr>
        <p:txBody>
          <a:bodyPr wrap="square" lIns="0" tIns="0" rIns="0" bIns="0" rtlCol="0" anchor="ctr"/>
          <a:lstStyle/>
          <a:p>
            <a:pPr algn="ctr"/>
            <a:endParaRPr lang="en-US" sz="1600"/>
          </a:p>
        </p:txBody>
      </p:sp>
      <p:sp>
        <p:nvSpPr>
          <p:cNvPr id="79" name="Text 21">
            <a:extLst>
              <a:ext uri="{FF2B5EF4-FFF2-40B4-BE49-F238E27FC236}">
                <a16:creationId xmlns:a16="http://schemas.microsoft.com/office/drawing/2014/main" id="{F07B0254-D269-E28D-622D-FD41AC4E169F}"/>
              </a:ext>
            </a:extLst>
          </p:cNvPr>
          <p:cNvSpPr/>
          <p:nvPr/>
        </p:nvSpPr>
        <p:spPr>
          <a:xfrm>
            <a:off x="4693920" y="2784976"/>
            <a:ext cx="463296" cy="463296"/>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2</a:t>
            </a:r>
            <a:endParaRPr lang="en-US" sz="1600"/>
          </a:p>
        </p:txBody>
      </p:sp>
      <p:sp>
        <p:nvSpPr>
          <p:cNvPr id="83" name="Text 25">
            <a:extLst>
              <a:ext uri="{FF2B5EF4-FFF2-40B4-BE49-F238E27FC236}">
                <a16:creationId xmlns:a16="http://schemas.microsoft.com/office/drawing/2014/main" id="{28355DE7-8B36-0AFD-6D2F-0B2ADEA6B5CB}"/>
              </a:ext>
            </a:extLst>
          </p:cNvPr>
          <p:cNvSpPr/>
          <p:nvPr/>
        </p:nvSpPr>
        <p:spPr>
          <a:xfrm>
            <a:off x="4693920" y="3633216"/>
            <a:ext cx="463296" cy="463296"/>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3</a:t>
            </a:r>
            <a:endParaRPr lang="en-US" sz="1600"/>
          </a:p>
        </p:txBody>
      </p:sp>
      <p:sp>
        <p:nvSpPr>
          <p:cNvPr id="87" name="Text 29">
            <a:extLst>
              <a:ext uri="{FF2B5EF4-FFF2-40B4-BE49-F238E27FC236}">
                <a16:creationId xmlns:a16="http://schemas.microsoft.com/office/drawing/2014/main" id="{B9E86794-8B05-615C-163F-D16776950D80}"/>
              </a:ext>
            </a:extLst>
          </p:cNvPr>
          <p:cNvSpPr/>
          <p:nvPr/>
        </p:nvSpPr>
        <p:spPr>
          <a:xfrm>
            <a:off x="4693920" y="4572000"/>
            <a:ext cx="463296" cy="463296"/>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4</a:t>
            </a:r>
            <a:endParaRPr lang="en-US" sz="1600"/>
          </a:p>
        </p:txBody>
      </p:sp>
      <p:sp>
        <p:nvSpPr>
          <p:cNvPr id="91" name="Text 33">
            <a:extLst>
              <a:ext uri="{FF2B5EF4-FFF2-40B4-BE49-F238E27FC236}">
                <a16:creationId xmlns:a16="http://schemas.microsoft.com/office/drawing/2014/main" id="{488554CC-0A63-1282-E420-A59066C161E2}"/>
              </a:ext>
            </a:extLst>
          </p:cNvPr>
          <p:cNvSpPr/>
          <p:nvPr/>
        </p:nvSpPr>
        <p:spPr>
          <a:xfrm>
            <a:off x="4693920" y="5510784"/>
            <a:ext cx="463296" cy="463296"/>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5</a:t>
            </a:r>
            <a:endParaRPr lang="en-US" sz="1600"/>
          </a:p>
        </p:txBody>
      </p:sp>
      <p:sp>
        <p:nvSpPr>
          <p:cNvPr id="93" name="Text 35">
            <a:extLst>
              <a:ext uri="{FF2B5EF4-FFF2-40B4-BE49-F238E27FC236}">
                <a16:creationId xmlns:a16="http://schemas.microsoft.com/office/drawing/2014/main" id="{A6D354EB-B453-ED2A-90B3-5883E398F3B8}"/>
              </a:ext>
            </a:extLst>
          </p:cNvPr>
          <p:cNvSpPr/>
          <p:nvPr/>
        </p:nvSpPr>
        <p:spPr>
          <a:xfrm>
            <a:off x="8046720" y="1491379"/>
            <a:ext cx="3840480" cy="304800"/>
          </a:xfrm>
          <a:prstGeom prst="rect">
            <a:avLst/>
          </a:prstGeom>
          <a:noFill/>
          <a:ln/>
        </p:spPr>
        <p:txBody>
          <a:bodyPr wrap="square" lIns="0" tIns="0" rIns="0" bIns="0" rtlCol="0" anchor="ctr"/>
          <a:lstStyle/>
          <a:p>
            <a:r>
              <a:rPr lang="en-US" sz="1133" b="1" kern="0" spc="267">
                <a:solidFill>
                  <a:schemeClr val="bg1"/>
                </a:solidFill>
                <a:latin typeface="Calibri" pitchFamily="34" charset="0"/>
                <a:ea typeface="Calibri" pitchFamily="34" charset="-122"/>
                <a:cs typeface="Calibri" pitchFamily="34" charset="-120"/>
              </a:rPr>
              <a:t>WHOLESALE SCOPE AREAS</a:t>
            </a:r>
            <a:endParaRPr lang="en-US" sz="1133">
              <a:solidFill>
                <a:schemeClr val="bg1"/>
              </a:solidFill>
            </a:endParaRPr>
          </a:p>
        </p:txBody>
      </p:sp>
      <p:sp>
        <p:nvSpPr>
          <p:cNvPr id="94" name="Shape 36">
            <a:extLst>
              <a:ext uri="{FF2B5EF4-FFF2-40B4-BE49-F238E27FC236}">
                <a16:creationId xmlns:a16="http://schemas.microsoft.com/office/drawing/2014/main" id="{EF7DD0B4-1EBE-91F7-ED82-9342E9114E08}"/>
              </a:ext>
            </a:extLst>
          </p:cNvPr>
          <p:cNvSpPr/>
          <p:nvPr/>
        </p:nvSpPr>
        <p:spPr>
          <a:xfrm>
            <a:off x="8046720" y="1798320"/>
            <a:ext cx="1804416" cy="1072896"/>
          </a:xfrm>
          <a:prstGeom prst="rect">
            <a:avLst/>
          </a:prstGeom>
          <a:solidFill>
            <a:schemeClr val="tx2">
              <a:alpha val="25000"/>
            </a:schemeClr>
          </a:solidFill>
          <a:ln w="12700">
            <a:solidFill>
              <a:schemeClr val="accent2"/>
            </a:solidFill>
            <a:prstDash val="solid"/>
          </a:ln>
          <a:effectLst>
            <a:outerShdw blurRad="50800" dist="12700" dir="8100000" algn="bl" rotWithShape="0">
              <a:srgbClr val="000000">
                <a:alpha val="7000"/>
              </a:srgbClr>
            </a:outerShdw>
          </a:effectLst>
        </p:spPr>
        <p:txBody>
          <a:bodyPr/>
          <a:lstStyle/>
          <a:p>
            <a:endParaRPr lang="en-IN" sz="2400"/>
          </a:p>
        </p:txBody>
      </p:sp>
      <p:sp>
        <p:nvSpPr>
          <p:cNvPr id="95" name="Shape 37">
            <a:extLst>
              <a:ext uri="{FF2B5EF4-FFF2-40B4-BE49-F238E27FC236}">
                <a16:creationId xmlns:a16="http://schemas.microsoft.com/office/drawing/2014/main" id="{23A819F7-0292-8654-86FA-701D2D216FEC}"/>
              </a:ext>
            </a:extLst>
          </p:cNvPr>
          <p:cNvSpPr/>
          <p:nvPr/>
        </p:nvSpPr>
        <p:spPr>
          <a:xfrm>
            <a:off x="8046720" y="1798320"/>
            <a:ext cx="1804416" cy="243840"/>
          </a:xfrm>
          <a:prstGeom prst="rect">
            <a:avLst/>
          </a:prstGeom>
          <a:solidFill>
            <a:schemeClr val="tx2">
              <a:lumMod val="50000"/>
            </a:schemeClr>
          </a:solidFill>
          <a:ln w="12700">
            <a:solidFill>
              <a:schemeClr val="accent2"/>
            </a:solidFill>
            <a:prstDash val="solid"/>
          </a:ln>
        </p:spPr>
        <p:txBody>
          <a:bodyPr/>
          <a:lstStyle/>
          <a:p>
            <a:endParaRPr lang="en-IN" sz="2400"/>
          </a:p>
        </p:txBody>
      </p:sp>
      <p:sp>
        <p:nvSpPr>
          <p:cNvPr id="96" name="Text 38">
            <a:extLst>
              <a:ext uri="{FF2B5EF4-FFF2-40B4-BE49-F238E27FC236}">
                <a16:creationId xmlns:a16="http://schemas.microsoft.com/office/drawing/2014/main" id="{881D3F20-13AD-FC3C-CD9D-4AD80716E8A1}"/>
              </a:ext>
            </a:extLst>
          </p:cNvPr>
          <p:cNvSpPr/>
          <p:nvPr/>
        </p:nvSpPr>
        <p:spPr>
          <a:xfrm>
            <a:off x="8119872" y="1810512"/>
            <a:ext cx="219456" cy="219456"/>
          </a:xfrm>
          <a:prstGeom prst="rect">
            <a:avLst/>
          </a:prstGeom>
          <a:noFill/>
          <a:ln/>
        </p:spPr>
        <p:txBody>
          <a:bodyPr wrap="square" lIns="0" tIns="0" rIns="0" bIns="0" rtlCol="0" anchor="ctr"/>
          <a:lstStyle/>
          <a:p>
            <a:pPr algn="ctr"/>
            <a:r>
              <a:rPr lang="en-US" sz="1200" b="1">
                <a:solidFill>
                  <a:srgbClr val="FFFFFF"/>
                </a:solidFill>
                <a:latin typeface="Calibri" pitchFamily="34" charset="0"/>
                <a:ea typeface="Calibri" pitchFamily="34" charset="-122"/>
                <a:cs typeface="Calibri" pitchFamily="34" charset="-120"/>
              </a:rPr>
              <a:t>1</a:t>
            </a:r>
            <a:endParaRPr lang="en-US" sz="1200"/>
          </a:p>
        </p:txBody>
      </p:sp>
      <p:sp>
        <p:nvSpPr>
          <p:cNvPr id="97" name="Text 39">
            <a:extLst>
              <a:ext uri="{FF2B5EF4-FFF2-40B4-BE49-F238E27FC236}">
                <a16:creationId xmlns:a16="http://schemas.microsoft.com/office/drawing/2014/main" id="{26E349EA-F3C7-9721-26C5-ECD4A72A3A24}"/>
              </a:ext>
            </a:extLst>
          </p:cNvPr>
          <p:cNvSpPr/>
          <p:nvPr/>
        </p:nvSpPr>
        <p:spPr>
          <a:xfrm>
            <a:off x="8144256" y="2078736"/>
            <a:ext cx="1658112" cy="365760"/>
          </a:xfrm>
          <a:prstGeom prst="rect">
            <a:avLst/>
          </a:prstGeom>
          <a:noFill/>
          <a:ln/>
        </p:spPr>
        <p:txBody>
          <a:bodyPr wrap="square" lIns="0" tIns="0" rIns="0" bIns="0" rtlCol="0" anchor="t"/>
          <a:lstStyle/>
          <a:p>
            <a:r>
              <a:rPr lang="en-US" sz="1400" b="1">
                <a:solidFill>
                  <a:schemeClr val="bg1"/>
                </a:solidFill>
                <a:latin typeface="Calibri" pitchFamily="34" charset="0"/>
                <a:ea typeface="Calibri" pitchFamily="34" charset="-122"/>
                <a:cs typeface="Calibri" pitchFamily="34" charset="-120"/>
              </a:rPr>
              <a:t>Connectivity</a:t>
            </a:r>
            <a:endParaRPr lang="en-US" sz="1400">
              <a:solidFill>
                <a:schemeClr val="bg1"/>
              </a:solidFill>
            </a:endParaRPr>
          </a:p>
        </p:txBody>
      </p:sp>
      <p:sp>
        <p:nvSpPr>
          <p:cNvPr id="98" name="Text 40">
            <a:extLst>
              <a:ext uri="{FF2B5EF4-FFF2-40B4-BE49-F238E27FC236}">
                <a16:creationId xmlns:a16="http://schemas.microsoft.com/office/drawing/2014/main" id="{91519247-0E25-CC0D-B905-F7906BDAFFE8}"/>
              </a:ext>
            </a:extLst>
          </p:cNvPr>
          <p:cNvSpPr/>
          <p:nvPr/>
        </p:nvSpPr>
        <p:spPr>
          <a:xfrm>
            <a:off x="8144256" y="2432304"/>
            <a:ext cx="1658112" cy="390144"/>
          </a:xfrm>
          <a:prstGeom prst="rect">
            <a:avLst/>
          </a:prstGeom>
          <a:noFill/>
          <a:ln/>
        </p:spPr>
        <p:txBody>
          <a:bodyPr wrap="square" lIns="0" tIns="0" rIns="0" bIns="0" rtlCol="0" anchor="t"/>
          <a:lstStyle/>
          <a:p>
            <a:r>
              <a:rPr lang="en-US" sz="1133" i="1">
                <a:solidFill>
                  <a:schemeClr val="bg1">
                    <a:lumMod val="75000"/>
                  </a:schemeClr>
                </a:solidFill>
                <a:latin typeface="Calibri" pitchFamily="34" charset="0"/>
                <a:ea typeface="Calibri" pitchFamily="34" charset="-122"/>
                <a:cs typeface="Calibri" pitchFamily="34" charset="-120"/>
              </a:rPr>
              <a:t>Cross-border, DCI, Dark </a:t>
            </a:r>
            <a:r>
              <a:rPr lang="en-US" sz="1133" i="1" err="1">
                <a:solidFill>
                  <a:schemeClr val="bg1">
                    <a:lumMod val="75000"/>
                  </a:schemeClr>
                </a:solidFill>
                <a:latin typeface="Calibri" pitchFamily="34" charset="0"/>
                <a:ea typeface="Calibri" pitchFamily="34" charset="-122"/>
                <a:cs typeface="Calibri" pitchFamily="34" charset="-120"/>
              </a:rPr>
              <a:t>Fibre</a:t>
            </a:r>
            <a:endParaRPr lang="en-US" sz="1133">
              <a:solidFill>
                <a:schemeClr val="bg1">
                  <a:lumMod val="75000"/>
                </a:schemeClr>
              </a:solidFill>
            </a:endParaRPr>
          </a:p>
        </p:txBody>
      </p:sp>
      <p:sp>
        <p:nvSpPr>
          <p:cNvPr id="99" name="Shape 41">
            <a:extLst>
              <a:ext uri="{FF2B5EF4-FFF2-40B4-BE49-F238E27FC236}">
                <a16:creationId xmlns:a16="http://schemas.microsoft.com/office/drawing/2014/main" id="{5D8BF682-45D1-AF73-6DF4-9A7DCF821A7C}"/>
              </a:ext>
            </a:extLst>
          </p:cNvPr>
          <p:cNvSpPr/>
          <p:nvPr/>
        </p:nvSpPr>
        <p:spPr>
          <a:xfrm>
            <a:off x="9973056" y="1798320"/>
            <a:ext cx="1804416" cy="1072896"/>
          </a:xfrm>
          <a:prstGeom prst="rect">
            <a:avLst/>
          </a:prstGeom>
          <a:solidFill>
            <a:schemeClr val="tx2">
              <a:alpha val="25000"/>
            </a:schemeClr>
          </a:solidFill>
          <a:ln w="12700">
            <a:solidFill>
              <a:schemeClr val="accent2"/>
            </a:solidFill>
            <a:prstDash val="solid"/>
          </a:ln>
          <a:effectLst>
            <a:outerShdw blurRad="50800" dist="12700" dir="8100000" algn="bl" rotWithShape="0">
              <a:srgbClr val="000000">
                <a:alpha val="7000"/>
              </a:srgbClr>
            </a:outerShdw>
          </a:effectLst>
        </p:spPr>
        <p:txBody>
          <a:bodyPr/>
          <a:lstStyle/>
          <a:p>
            <a:endParaRPr lang="en-IN" sz="2400"/>
          </a:p>
        </p:txBody>
      </p:sp>
      <p:sp>
        <p:nvSpPr>
          <p:cNvPr id="100" name="Shape 42">
            <a:extLst>
              <a:ext uri="{FF2B5EF4-FFF2-40B4-BE49-F238E27FC236}">
                <a16:creationId xmlns:a16="http://schemas.microsoft.com/office/drawing/2014/main" id="{B57CD4E3-B867-93A5-5EC9-ECA00628FEC4}"/>
              </a:ext>
            </a:extLst>
          </p:cNvPr>
          <p:cNvSpPr/>
          <p:nvPr/>
        </p:nvSpPr>
        <p:spPr>
          <a:xfrm>
            <a:off x="9973056" y="1798320"/>
            <a:ext cx="1804416" cy="243840"/>
          </a:xfrm>
          <a:prstGeom prst="rect">
            <a:avLst/>
          </a:prstGeom>
          <a:solidFill>
            <a:schemeClr val="tx2">
              <a:lumMod val="50000"/>
            </a:schemeClr>
          </a:solidFill>
          <a:ln w="12700">
            <a:solidFill>
              <a:schemeClr val="accent2"/>
            </a:solidFill>
            <a:prstDash val="solid"/>
          </a:ln>
        </p:spPr>
        <p:txBody>
          <a:bodyPr/>
          <a:lstStyle/>
          <a:p>
            <a:endParaRPr lang="en-IN" sz="2400"/>
          </a:p>
        </p:txBody>
      </p:sp>
      <p:sp>
        <p:nvSpPr>
          <p:cNvPr id="101" name="Text 43">
            <a:extLst>
              <a:ext uri="{FF2B5EF4-FFF2-40B4-BE49-F238E27FC236}">
                <a16:creationId xmlns:a16="http://schemas.microsoft.com/office/drawing/2014/main" id="{C9941FBA-716B-B09A-E000-E7C348AD0F02}"/>
              </a:ext>
            </a:extLst>
          </p:cNvPr>
          <p:cNvSpPr/>
          <p:nvPr/>
        </p:nvSpPr>
        <p:spPr>
          <a:xfrm>
            <a:off x="10046208" y="1810512"/>
            <a:ext cx="219456" cy="219456"/>
          </a:xfrm>
          <a:prstGeom prst="rect">
            <a:avLst/>
          </a:prstGeom>
          <a:noFill/>
          <a:ln/>
        </p:spPr>
        <p:txBody>
          <a:bodyPr wrap="square" lIns="0" tIns="0" rIns="0" bIns="0" rtlCol="0" anchor="ctr"/>
          <a:lstStyle/>
          <a:p>
            <a:pPr algn="ctr"/>
            <a:r>
              <a:rPr lang="en-US" sz="1200" b="1">
                <a:solidFill>
                  <a:srgbClr val="FFFFFF"/>
                </a:solidFill>
                <a:latin typeface="Calibri" pitchFamily="34" charset="0"/>
                <a:ea typeface="Calibri" pitchFamily="34" charset="-122"/>
                <a:cs typeface="Calibri" pitchFamily="34" charset="-120"/>
              </a:rPr>
              <a:t>2</a:t>
            </a:r>
            <a:endParaRPr lang="en-US" sz="1200"/>
          </a:p>
        </p:txBody>
      </p:sp>
      <p:sp>
        <p:nvSpPr>
          <p:cNvPr id="102" name="Text 44">
            <a:extLst>
              <a:ext uri="{FF2B5EF4-FFF2-40B4-BE49-F238E27FC236}">
                <a16:creationId xmlns:a16="http://schemas.microsoft.com/office/drawing/2014/main" id="{9A48F958-56C0-F6D6-8826-01688BCA1FC8}"/>
              </a:ext>
            </a:extLst>
          </p:cNvPr>
          <p:cNvSpPr/>
          <p:nvPr/>
        </p:nvSpPr>
        <p:spPr>
          <a:xfrm>
            <a:off x="10070592" y="2078736"/>
            <a:ext cx="1658112" cy="365760"/>
          </a:xfrm>
          <a:prstGeom prst="rect">
            <a:avLst/>
          </a:prstGeom>
          <a:noFill/>
          <a:ln/>
        </p:spPr>
        <p:txBody>
          <a:bodyPr wrap="square" lIns="0" tIns="0" rIns="0" bIns="0" rtlCol="0" anchor="t"/>
          <a:lstStyle/>
          <a:p>
            <a:r>
              <a:rPr lang="en-US" sz="1400" b="1">
                <a:solidFill>
                  <a:schemeClr val="bg1"/>
                </a:solidFill>
                <a:latin typeface="Calibri" pitchFamily="34" charset="0"/>
                <a:ea typeface="Calibri" pitchFamily="34" charset="-122"/>
                <a:cs typeface="Calibri" pitchFamily="34" charset="-120"/>
              </a:rPr>
              <a:t>IP Transit</a:t>
            </a:r>
            <a:endParaRPr lang="en-US" sz="1400">
              <a:solidFill>
                <a:schemeClr val="bg1"/>
              </a:solidFill>
            </a:endParaRPr>
          </a:p>
        </p:txBody>
      </p:sp>
      <p:sp>
        <p:nvSpPr>
          <p:cNvPr id="103" name="Text 45">
            <a:extLst>
              <a:ext uri="{FF2B5EF4-FFF2-40B4-BE49-F238E27FC236}">
                <a16:creationId xmlns:a16="http://schemas.microsoft.com/office/drawing/2014/main" id="{02B65810-2363-ADFD-EB32-408F7D43F22C}"/>
              </a:ext>
            </a:extLst>
          </p:cNvPr>
          <p:cNvSpPr/>
          <p:nvPr/>
        </p:nvSpPr>
        <p:spPr>
          <a:xfrm>
            <a:off x="10070592" y="2432304"/>
            <a:ext cx="1658112" cy="390144"/>
          </a:xfrm>
          <a:prstGeom prst="rect">
            <a:avLst/>
          </a:prstGeom>
          <a:noFill/>
          <a:ln/>
        </p:spPr>
        <p:txBody>
          <a:bodyPr wrap="square" lIns="0" tIns="0" rIns="0" bIns="0" rtlCol="0" anchor="t"/>
          <a:lstStyle/>
          <a:p>
            <a:r>
              <a:rPr lang="en-US" sz="1133" i="1">
                <a:solidFill>
                  <a:schemeClr val="bg1">
                    <a:lumMod val="75000"/>
                  </a:schemeClr>
                </a:solidFill>
                <a:latin typeface="Calibri" pitchFamily="34" charset="0"/>
                <a:ea typeface="Calibri" pitchFamily="34" charset="-122"/>
                <a:cs typeface="Calibri" pitchFamily="34" charset="-120"/>
              </a:rPr>
              <a:t>Market size, traffic, pricing</a:t>
            </a:r>
            <a:endParaRPr lang="en-US" sz="1133">
              <a:solidFill>
                <a:schemeClr val="bg1">
                  <a:lumMod val="75000"/>
                </a:schemeClr>
              </a:solidFill>
            </a:endParaRPr>
          </a:p>
        </p:txBody>
      </p:sp>
      <p:sp>
        <p:nvSpPr>
          <p:cNvPr id="104" name="Shape 46">
            <a:extLst>
              <a:ext uri="{FF2B5EF4-FFF2-40B4-BE49-F238E27FC236}">
                <a16:creationId xmlns:a16="http://schemas.microsoft.com/office/drawing/2014/main" id="{E6AF7FEE-A893-9E6C-E734-3F0F96423531}"/>
              </a:ext>
            </a:extLst>
          </p:cNvPr>
          <p:cNvSpPr/>
          <p:nvPr/>
        </p:nvSpPr>
        <p:spPr>
          <a:xfrm>
            <a:off x="8046720" y="3021753"/>
            <a:ext cx="1804416" cy="1072896"/>
          </a:xfrm>
          <a:prstGeom prst="rect">
            <a:avLst/>
          </a:prstGeom>
          <a:solidFill>
            <a:schemeClr val="tx2">
              <a:alpha val="25000"/>
            </a:schemeClr>
          </a:solidFill>
          <a:ln w="12700">
            <a:solidFill>
              <a:schemeClr val="accent2"/>
            </a:solidFill>
            <a:prstDash val="solid"/>
          </a:ln>
          <a:effectLst>
            <a:outerShdw blurRad="50800" dist="12700" dir="8100000" algn="bl" rotWithShape="0">
              <a:srgbClr val="000000">
                <a:alpha val="7000"/>
              </a:srgbClr>
            </a:outerShdw>
          </a:effectLst>
        </p:spPr>
        <p:txBody>
          <a:bodyPr/>
          <a:lstStyle/>
          <a:p>
            <a:endParaRPr lang="en-IN" sz="2400"/>
          </a:p>
        </p:txBody>
      </p:sp>
      <p:sp>
        <p:nvSpPr>
          <p:cNvPr id="105" name="Shape 47">
            <a:extLst>
              <a:ext uri="{FF2B5EF4-FFF2-40B4-BE49-F238E27FC236}">
                <a16:creationId xmlns:a16="http://schemas.microsoft.com/office/drawing/2014/main" id="{FA56E042-AF8B-8C73-3746-D3A5092A2C4F}"/>
              </a:ext>
            </a:extLst>
          </p:cNvPr>
          <p:cNvSpPr/>
          <p:nvPr/>
        </p:nvSpPr>
        <p:spPr>
          <a:xfrm>
            <a:off x="8046720" y="3021753"/>
            <a:ext cx="1804416" cy="243840"/>
          </a:xfrm>
          <a:prstGeom prst="rect">
            <a:avLst/>
          </a:prstGeom>
          <a:solidFill>
            <a:schemeClr val="tx2">
              <a:lumMod val="50000"/>
            </a:schemeClr>
          </a:solidFill>
          <a:ln w="12700">
            <a:solidFill>
              <a:schemeClr val="accent2"/>
            </a:solidFill>
            <a:prstDash val="solid"/>
          </a:ln>
        </p:spPr>
        <p:txBody>
          <a:bodyPr/>
          <a:lstStyle/>
          <a:p>
            <a:endParaRPr lang="en-IN" sz="2400"/>
          </a:p>
        </p:txBody>
      </p:sp>
      <p:sp>
        <p:nvSpPr>
          <p:cNvPr id="106" name="Text 48">
            <a:extLst>
              <a:ext uri="{FF2B5EF4-FFF2-40B4-BE49-F238E27FC236}">
                <a16:creationId xmlns:a16="http://schemas.microsoft.com/office/drawing/2014/main" id="{1968C704-39B4-C04E-6C8E-DFA7E35624D1}"/>
              </a:ext>
            </a:extLst>
          </p:cNvPr>
          <p:cNvSpPr/>
          <p:nvPr/>
        </p:nvSpPr>
        <p:spPr>
          <a:xfrm>
            <a:off x="8119872" y="3033945"/>
            <a:ext cx="219456" cy="219456"/>
          </a:xfrm>
          <a:prstGeom prst="rect">
            <a:avLst/>
          </a:prstGeom>
          <a:noFill/>
          <a:ln/>
        </p:spPr>
        <p:txBody>
          <a:bodyPr wrap="square" lIns="0" tIns="0" rIns="0" bIns="0" rtlCol="0" anchor="ctr"/>
          <a:lstStyle/>
          <a:p>
            <a:pPr algn="ctr"/>
            <a:r>
              <a:rPr lang="en-US" sz="1200" b="1">
                <a:solidFill>
                  <a:srgbClr val="FFFFFF"/>
                </a:solidFill>
                <a:latin typeface="Calibri" pitchFamily="34" charset="0"/>
                <a:ea typeface="Calibri" pitchFamily="34" charset="-122"/>
                <a:cs typeface="Calibri" pitchFamily="34" charset="-120"/>
              </a:rPr>
              <a:t>3</a:t>
            </a:r>
            <a:endParaRPr lang="en-US" sz="1200"/>
          </a:p>
        </p:txBody>
      </p:sp>
      <p:sp>
        <p:nvSpPr>
          <p:cNvPr id="107" name="Text 49">
            <a:extLst>
              <a:ext uri="{FF2B5EF4-FFF2-40B4-BE49-F238E27FC236}">
                <a16:creationId xmlns:a16="http://schemas.microsoft.com/office/drawing/2014/main" id="{E1250BC6-0774-FAC3-84A5-C2FAF00DEACF}"/>
              </a:ext>
            </a:extLst>
          </p:cNvPr>
          <p:cNvSpPr/>
          <p:nvPr/>
        </p:nvSpPr>
        <p:spPr>
          <a:xfrm>
            <a:off x="8144256" y="3302169"/>
            <a:ext cx="1658112" cy="365760"/>
          </a:xfrm>
          <a:prstGeom prst="rect">
            <a:avLst/>
          </a:prstGeom>
          <a:noFill/>
          <a:ln/>
        </p:spPr>
        <p:txBody>
          <a:bodyPr wrap="square" lIns="0" tIns="0" rIns="0" bIns="0" rtlCol="0" anchor="t"/>
          <a:lstStyle/>
          <a:p>
            <a:r>
              <a:rPr lang="en-US" sz="1400" b="1">
                <a:solidFill>
                  <a:schemeClr val="bg1"/>
                </a:solidFill>
                <a:latin typeface="Calibri" pitchFamily="34" charset="0"/>
                <a:ea typeface="Calibri" pitchFamily="34" charset="-122"/>
                <a:cs typeface="Calibri" pitchFamily="34" charset="-120"/>
              </a:rPr>
              <a:t>Data Center</a:t>
            </a:r>
            <a:endParaRPr lang="en-US" sz="1400">
              <a:solidFill>
                <a:schemeClr val="bg1"/>
              </a:solidFill>
            </a:endParaRPr>
          </a:p>
        </p:txBody>
      </p:sp>
      <p:sp>
        <p:nvSpPr>
          <p:cNvPr id="108" name="Text 50">
            <a:extLst>
              <a:ext uri="{FF2B5EF4-FFF2-40B4-BE49-F238E27FC236}">
                <a16:creationId xmlns:a16="http://schemas.microsoft.com/office/drawing/2014/main" id="{2954851D-6774-7079-1FC3-4F0833F6D3F9}"/>
              </a:ext>
            </a:extLst>
          </p:cNvPr>
          <p:cNvSpPr/>
          <p:nvPr/>
        </p:nvSpPr>
        <p:spPr>
          <a:xfrm>
            <a:off x="8144256" y="3655737"/>
            <a:ext cx="1658112" cy="390144"/>
          </a:xfrm>
          <a:prstGeom prst="rect">
            <a:avLst/>
          </a:prstGeom>
          <a:noFill/>
          <a:ln/>
        </p:spPr>
        <p:txBody>
          <a:bodyPr wrap="square" lIns="0" tIns="0" rIns="0" bIns="0" rtlCol="0" anchor="t"/>
          <a:lstStyle/>
          <a:p>
            <a:r>
              <a:rPr lang="en-US" sz="1133" i="1">
                <a:solidFill>
                  <a:schemeClr val="bg1">
                    <a:lumMod val="75000"/>
                  </a:schemeClr>
                </a:solidFill>
                <a:latin typeface="Calibri" pitchFamily="34" charset="0"/>
                <a:ea typeface="Calibri" pitchFamily="34" charset="-122"/>
                <a:cs typeface="Calibri" pitchFamily="34" charset="-120"/>
              </a:rPr>
              <a:t>Standard &amp; AI DC inventory</a:t>
            </a:r>
            <a:endParaRPr lang="en-US" sz="1133">
              <a:solidFill>
                <a:schemeClr val="bg1">
                  <a:lumMod val="75000"/>
                </a:schemeClr>
              </a:solidFill>
            </a:endParaRPr>
          </a:p>
        </p:txBody>
      </p:sp>
      <p:sp>
        <p:nvSpPr>
          <p:cNvPr id="109" name="Shape 51">
            <a:extLst>
              <a:ext uri="{FF2B5EF4-FFF2-40B4-BE49-F238E27FC236}">
                <a16:creationId xmlns:a16="http://schemas.microsoft.com/office/drawing/2014/main" id="{D6DD8346-1320-09EA-384F-492F163CBF5E}"/>
              </a:ext>
            </a:extLst>
          </p:cNvPr>
          <p:cNvSpPr/>
          <p:nvPr/>
        </p:nvSpPr>
        <p:spPr>
          <a:xfrm>
            <a:off x="9973056" y="3021753"/>
            <a:ext cx="1804416" cy="1072896"/>
          </a:xfrm>
          <a:prstGeom prst="rect">
            <a:avLst/>
          </a:prstGeom>
          <a:solidFill>
            <a:schemeClr val="tx2">
              <a:alpha val="25000"/>
            </a:schemeClr>
          </a:solidFill>
          <a:ln w="12700">
            <a:solidFill>
              <a:schemeClr val="accent2"/>
            </a:solidFill>
            <a:prstDash val="solid"/>
          </a:ln>
          <a:effectLst>
            <a:outerShdw blurRad="50800" dist="12700" dir="8100000" algn="bl" rotWithShape="0">
              <a:srgbClr val="000000">
                <a:alpha val="7000"/>
              </a:srgbClr>
            </a:outerShdw>
          </a:effectLst>
        </p:spPr>
        <p:txBody>
          <a:bodyPr/>
          <a:lstStyle/>
          <a:p>
            <a:endParaRPr lang="en-IN" sz="2400"/>
          </a:p>
        </p:txBody>
      </p:sp>
      <p:sp>
        <p:nvSpPr>
          <p:cNvPr id="110" name="Shape 52">
            <a:extLst>
              <a:ext uri="{FF2B5EF4-FFF2-40B4-BE49-F238E27FC236}">
                <a16:creationId xmlns:a16="http://schemas.microsoft.com/office/drawing/2014/main" id="{0291910B-82B9-1757-F6AD-ED084F45C954}"/>
              </a:ext>
            </a:extLst>
          </p:cNvPr>
          <p:cNvSpPr/>
          <p:nvPr/>
        </p:nvSpPr>
        <p:spPr>
          <a:xfrm>
            <a:off x="9973056" y="3021753"/>
            <a:ext cx="1804416" cy="243840"/>
          </a:xfrm>
          <a:prstGeom prst="rect">
            <a:avLst/>
          </a:prstGeom>
          <a:solidFill>
            <a:schemeClr val="tx2">
              <a:lumMod val="50000"/>
            </a:schemeClr>
          </a:solidFill>
          <a:ln w="12700">
            <a:solidFill>
              <a:schemeClr val="accent2"/>
            </a:solidFill>
            <a:prstDash val="solid"/>
          </a:ln>
        </p:spPr>
        <p:txBody>
          <a:bodyPr/>
          <a:lstStyle/>
          <a:p>
            <a:endParaRPr lang="en-IN" sz="2400"/>
          </a:p>
        </p:txBody>
      </p:sp>
      <p:sp>
        <p:nvSpPr>
          <p:cNvPr id="111" name="Text 53">
            <a:extLst>
              <a:ext uri="{FF2B5EF4-FFF2-40B4-BE49-F238E27FC236}">
                <a16:creationId xmlns:a16="http://schemas.microsoft.com/office/drawing/2014/main" id="{B2ABCF56-706F-C1CF-2C15-59B991E0335D}"/>
              </a:ext>
            </a:extLst>
          </p:cNvPr>
          <p:cNvSpPr/>
          <p:nvPr/>
        </p:nvSpPr>
        <p:spPr>
          <a:xfrm>
            <a:off x="10046208" y="3033945"/>
            <a:ext cx="219456" cy="219456"/>
          </a:xfrm>
          <a:prstGeom prst="rect">
            <a:avLst/>
          </a:prstGeom>
          <a:noFill/>
          <a:ln/>
        </p:spPr>
        <p:txBody>
          <a:bodyPr wrap="square" lIns="0" tIns="0" rIns="0" bIns="0" rtlCol="0" anchor="ctr"/>
          <a:lstStyle/>
          <a:p>
            <a:pPr algn="ctr"/>
            <a:r>
              <a:rPr lang="en-US" sz="1200" b="1">
                <a:solidFill>
                  <a:srgbClr val="FFFFFF"/>
                </a:solidFill>
                <a:latin typeface="Calibri" pitchFamily="34" charset="0"/>
                <a:ea typeface="Calibri" pitchFamily="34" charset="-122"/>
                <a:cs typeface="Calibri" pitchFamily="34" charset="-120"/>
              </a:rPr>
              <a:t>4</a:t>
            </a:r>
            <a:endParaRPr lang="en-US" sz="1200"/>
          </a:p>
        </p:txBody>
      </p:sp>
      <p:sp>
        <p:nvSpPr>
          <p:cNvPr id="112" name="Text 54">
            <a:extLst>
              <a:ext uri="{FF2B5EF4-FFF2-40B4-BE49-F238E27FC236}">
                <a16:creationId xmlns:a16="http://schemas.microsoft.com/office/drawing/2014/main" id="{0936BE33-D0EA-FF78-DE4C-5B96A93EA1A4}"/>
              </a:ext>
            </a:extLst>
          </p:cNvPr>
          <p:cNvSpPr/>
          <p:nvPr/>
        </p:nvSpPr>
        <p:spPr>
          <a:xfrm>
            <a:off x="10070592" y="3302169"/>
            <a:ext cx="1658112" cy="365760"/>
          </a:xfrm>
          <a:prstGeom prst="rect">
            <a:avLst/>
          </a:prstGeom>
          <a:noFill/>
          <a:ln/>
        </p:spPr>
        <p:txBody>
          <a:bodyPr wrap="square" lIns="0" tIns="0" rIns="0" bIns="0" rtlCol="0" anchor="t"/>
          <a:lstStyle/>
          <a:p>
            <a:r>
              <a:rPr lang="en-US" sz="1400" b="1">
                <a:solidFill>
                  <a:schemeClr val="bg1"/>
                </a:solidFill>
                <a:latin typeface="Calibri" pitchFamily="34" charset="0"/>
                <a:ea typeface="Calibri" pitchFamily="34" charset="-122"/>
                <a:cs typeface="Calibri" pitchFamily="34" charset="-120"/>
              </a:rPr>
              <a:t>Virtual Mobile (MVNOs)</a:t>
            </a:r>
            <a:endParaRPr lang="en-US" sz="1400">
              <a:solidFill>
                <a:schemeClr val="bg1"/>
              </a:solidFill>
            </a:endParaRPr>
          </a:p>
        </p:txBody>
      </p:sp>
      <p:sp>
        <p:nvSpPr>
          <p:cNvPr id="113" name="Text 55">
            <a:extLst>
              <a:ext uri="{FF2B5EF4-FFF2-40B4-BE49-F238E27FC236}">
                <a16:creationId xmlns:a16="http://schemas.microsoft.com/office/drawing/2014/main" id="{86C3DBA5-9F44-DC77-9477-2DBD807EBB8E}"/>
              </a:ext>
            </a:extLst>
          </p:cNvPr>
          <p:cNvSpPr/>
          <p:nvPr/>
        </p:nvSpPr>
        <p:spPr>
          <a:xfrm>
            <a:off x="10070592" y="3750491"/>
            <a:ext cx="1658112" cy="390144"/>
          </a:xfrm>
          <a:prstGeom prst="rect">
            <a:avLst/>
          </a:prstGeom>
          <a:noFill/>
          <a:ln/>
        </p:spPr>
        <p:txBody>
          <a:bodyPr wrap="square" lIns="0" tIns="0" rIns="0" bIns="0" rtlCol="0" anchor="t"/>
          <a:lstStyle/>
          <a:p>
            <a:r>
              <a:rPr lang="en-US" sz="1133" i="1">
                <a:solidFill>
                  <a:schemeClr val="bg1">
                    <a:lumMod val="75000"/>
                  </a:schemeClr>
                </a:solidFill>
                <a:latin typeface="Calibri" pitchFamily="34" charset="0"/>
                <a:ea typeface="Calibri" pitchFamily="34" charset="-122"/>
                <a:cs typeface="Calibri" pitchFamily="34" charset="-120"/>
              </a:rPr>
              <a:t>Active MVNOs, competitor landscape</a:t>
            </a:r>
            <a:endParaRPr lang="en-US" sz="1133">
              <a:solidFill>
                <a:schemeClr val="bg1">
                  <a:lumMod val="75000"/>
                </a:schemeClr>
              </a:solidFill>
            </a:endParaRPr>
          </a:p>
        </p:txBody>
      </p:sp>
      <p:sp>
        <p:nvSpPr>
          <p:cNvPr id="114" name="Shape 56">
            <a:extLst>
              <a:ext uri="{FF2B5EF4-FFF2-40B4-BE49-F238E27FC236}">
                <a16:creationId xmlns:a16="http://schemas.microsoft.com/office/drawing/2014/main" id="{A9FB8921-DE1A-513F-5844-F313EEC5313E}"/>
              </a:ext>
            </a:extLst>
          </p:cNvPr>
          <p:cNvSpPr/>
          <p:nvPr/>
        </p:nvSpPr>
        <p:spPr>
          <a:xfrm>
            <a:off x="8046720" y="4245186"/>
            <a:ext cx="1804416" cy="1072896"/>
          </a:xfrm>
          <a:prstGeom prst="rect">
            <a:avLst/>
          </a:prstGeom>
          <a:solidFill>
            <a:schemeClr val="tx2">
              <a:alpha val="25000"/>
            </a:schemeClr>
          </a:solidFill>
          <a:ln w="12700">
            <a:solidFill>
              <a:schemeClr val="accent2"/>
            </a:solidFill>
            <a:prstDash val="solid"/>
          </a:ln>
          <a:effectLst>
            <a:outerShdw blurRad="50800" dist="12700" dir="8100000" algn="bl" rotWithShape="0">
              <a:srgbClr val="000000">
                <a:alpha val="7000"/>
              </a:srgbClr>
            </a:outerShdw>
          </a:effectLst>
        </p:spPr>
        <p:txBody>
          <a:bodyPr/>
          <a:lstStyle/>
          <a:p>
            <a:endParaRPr lang="en-IN" sz="2400"/>
          </a:p>
        </p:txBody>
      </p:sp>
      <p:sp>
        <p:nvSpPr>
          <p:cNvPr id="115" name="Shape 57">
            <a:extLst>
              <a:ext uri="{FF2B5EF4-FFF2-40B4-BE49-F238E27FC236}">
                <a16:creationId xmlns:a16="http://schemas.microsoft.com/office/drawing/2014/main" id="{A1654845-5578-9D43-CE14-79E42F80724A}"/>
              </a:ext>
            </a:extLst>
          </p:cNvPr>
          <p:cNvSpPr/>
          <p:nvPr/>
        </p:nvSpPr>
        <p:spPr>
          <a:xfrm>
            <a:off x="8046720" y="4245186"/>
            <a:ext cx="1804416" cy="243840"/>
          </a:xfrm>
          <a:prstGeom prst="rect">
            <a:avLst/>
          </a:prstGeom>
          <a:solidFill>
            <a:schemeClr val="tx2">
              <a:lumMod val="50000"/>
            </a:schemeClr>
          </a:solidFill>
          <a:ln w="12700">
            <a:solidFill>
              <a:schemeClr val="accent2"/>
            </a:solidFill>
            <a:prstDash val="solid"/>
          </a:ln>
        </p:spPr>
        <p:txBody>
          <a:bodyPr/>
          <a:lstStyle/>
          <a:p>
            <a:endParaRPr lang="en-IN" sz="2400"/>
          </a:p>
        </p:txBody>
      </p:sp>
      <p:sp>
        <p:nvSpPr>
          <p:cNvPr id="116" name="Text 58">
            <a:extLst>
              <a:ext uri="{FF2B5EF4-FFF2-40B4-BE49-F238E27FC236}">
                <a16:creationId xmlns:a16="http://schemas.microsoft.com/office/drawing/2014/main" id="{1FDB0D04-8CD8-15FE-6F57-6DC25A2B6715}"/>
              </a:ext>
            </a:extLst>
          </p:cNvPr>
          <p:cNvSpPr/>
          <p:nvPr/>
        </p:nvSpPr>
        <p:spPr>
          <a:xfrm>
            <a:off x="8119872" y="4257378"/>
            <a:ext cx="219456" cy="219456"/>
          </a:xfrm>
          <a:prstGeom prst="rect">
            <a:avLst/>
          </a:prstGeom>
          <a:noFill/>
          <a:ln/>
        </p:spPr>
        <p:txBody>
          <a:bodyPr wrap="square" lIns="0" tIns="0" rIns="0" bIns="0" rtlCol="0" anchor="ctr"/>
          <a:lstStyle/>
          <a:p>
            <a:pPr algn="ctr"/>
            <a:r>
              <a:rPr lang="en-US" sz="1200" b="1">
                <a:solidFill>
                  <a:srgbClr val="FFFFFF"/>
                </a:solidFill>
                <a:latin typeface="Calibri" pitchFamily="34" charset="0"/>
                <a:ea typeface="Calibri" pitchFamily="34" charset="-122"/>
                <a:cs typeface="Calibri" pitchFamily="34" charset="-120"/>
              </a:rPr>
              <a:t>5</a:t>
            </a:r>
            <a:endParaRPr lang="en-US" sz="1200"/>
          </a:p>
        </p:txBody>
      </p:sp>
      <p:sp>
        <p:nvSpPr>
          <p:cNvPr id="117" name="Text 59">
            <a:extLst>
              <a:ext uri="{FF2B5EF4-FFF2-40B4-BE49-F238E27FC236}">
                <a16:creationId xmlns:a16="http://schemas.microsoft.com/office/drawing/2014/main" id="{EC3308DF-BF7C-FFA5-A7B7-8A41496FADDC}"/>
              </a:ext>
            </a:extLst>
          </p:cNvPr>
          <p:cNvSpPr/>
          <p:nvPr/>
        </p:nvSpPr>
        <p:spPr>
          <a:xfrm>
            <a:off x="8144256" y="4525602"/>
            <a:ext cx="1658112" cy="365760"/>
          </a:xfrm>
          <a:prstGeom prst="rect">
            <a:avLst/>
          </a:prstGeom>
          <a:noFill/>
          <a:ln/>
        </p:spPr>
        <p:txBody>
          <a:bodyPr wrap="square" lIns="0" tIns="0" rIns="0" bIns="0" rtlCol="0" anchor="t"/>
          <a:lstStyle/>
          <a:p>
            <a:r>
              <a:rPr lang="en-US" sz="1400" b="1">
                <a:solidFill>
                  <a:schemeClr val="bg1"/>
                </a:solidFill>
                <a:latin typeface="Calibri" pitchFamily="34" charset="0"/>
                <a:ea typeface="Calibri" pitchFamily="34" charset="-122"/>
                <a:cs typeface="Calibri" pitchFamily="34" charset="-120"/>
              </a:rPr>
              <a:t>Global Best Practice</a:t>
            </a:r>
            <a:endParaRPr lang="en-US" sz="1400">
              <a:solidFill>
                <a:schemeClr val="bg1"/>
              </a:solidFill>
            </a:endParaRPr>
          </a:p>
        </p:txBody>
      </p:sp>
      <p:sp>
        <p:nvSpPr>
          <p:cNvPr id="118" name="Text 60">
            <a:extLst>
              <a:ext uri="{FF2B5EF4-FFF2-40B4-BE49-F238E27FC236}">
                <a16:creationId xmlns:a16="http://schemas.microsoft.com/office/drawing/2014/main" id="{ADCFFAFC-EF49-58FF-A74F-8E8395A6E529}"/>
              </a:ext>
            </a:extLst>
          </p:cNvPr>
          <p:cNvSpPr/>
          <p:nvPr/>
        </p:nvSpPr>
        <p:spPr>
          <a:xfrm>
            <a:off x="8144256" y="4879170"/>
            <a:ext cx="1658112" cy="390144"/>
          </a:xfrm>
          <a:prstGeom prst="rect">
            <a:avLst/>
          </a:prstGeom>
          <a:noFill/>
          <a:ln/>
        </p:spPr>
        <p:txBody>
          <a:bodyPr wrap="square" lIns="0" tIns="0" rIns="0" bIns="0" rtlCol="0" anchor="t"/>
          <a:lstStyle/>
          <a:p>
            <a:r>
              <a:rPr lang="en-US" sz="1133" i="1">
                <a:solidFill>
                  <a:schemeClr val="bg1">
                    <a:lumMod val="75000"/>
                  </a:schemeClr>
                </a:solidFill>
                <a:latin typeface="Calibri" pitchFamily="34" charset="0"/>
                <a:ea typeface="Calibri" pitchFamily="34" charset="-122"/>
                <a:cs typeface="Calibri" pitchFamily="34" charset="-120"/>
              </a:rPr>
              <a:t>Telstra, Tata, Orange benchmarks</a:t>
            </a:r>
            <a:endParaRPr lang="en-US" sz="1133">
              <a:solidFill>
                <a:schemeClr val="bg1">
                  <a:lumMod val="75000"/>
                </a:schemeClr>
              </a:solidFill>
            </a:endParaRPr>
          </a:p>
        </p:txBody>
      </p:sp>
      <p:sp>
        <p:nvSpPr>
          <p:cNvPr id="119" name="Shape 61">
            <a:extLst>
              <a:ext uri="{FF2B5EF4-FFF2-40B4-BE49-F238E27FC236}">
                <a16:creationId xmlns:a16="http://schemas.microsoft.com/office/drawing/2014/main" id="{7790B7FF-319C-69E3-8CD0-9814BE5BA888}"/>
              </a:ext>
            </a:extLst>
          </p:cNvPr>
          <p:cNvSpPr/>
          <p:nvPr/>
        </p:nvSpPr>
        <p:spPr>
          <a:xfrm>
            <a:off x="9973056" y="4245186"/>
            <a:ext cx="1804416" cy="1072896"/>
          </a:xfrm>
          <a:prstGeom prst="rect">
            <a:avLst/>
          </a:prstGeom>
          <a:solidFill>
            <a:schemeClr val="tx2">
              <a:alpha val="25000"/>
            </a:schemeClr>
          </a:solidFill>
          <a:ln w="12700">
            <a:solidFill>
              <a:schemeClr val="accent2"/>
            </a:solidFill>
            <a:prstDash val="solid"/>
          </a:ln>
          <a:effectLst>
            <a:outerShdw blurRad="50800" dist="12700" dir="8100000" algn="bl" rotWithShape="0">
              <a:srgbClr val="000000">
                <a:alpha val="7000"/>
              </a:srgbClr>
            </a:outerShdw>
          </a:effectLst>
        </p:spPr>
        <p:txBody>
          <a:bodyPr/>
          <a:lstStyle/>
          <a:p>
            <a:endParaRPr lang="en-IN" sz="2400"/>
          </a:p>
        </p:txBody>
      </p:sp>
      <p:sp>
        <p:nvSpPr>
          <p:cNvPr id="120" name="Shape 62">
            <a:extLst>
              <a:ext uri="{FF2B5EF4-FFF2-40B4-BE49-F238E27FC236}">
                <a16:creationId xmlns:a16="http://schemas.microsoft.com/office/drawing/2014/main" id="{C4B7F0B2-F90B-7A10-F37D-D26B0C64FB9E}"/>
              </a:ext>
            </a:extLst>
          </p:cNvPr>
          <p:cNvSpPr/>
          <p:nvPr/>
        </p:nvSpPr>
        <p:spPr>
          <a:xfrm>
            <a:off x="9973056" y="4245186"/>
            <a:ext cx="1804416" cy="243840"/>
          </a:xfrm>
          <a:prstGeom prst="rect">
            <a:avLst/>
          </a:prstGeom>
          <a:solidFill>
            <a:schemeClr val="tx2">
              <a:lumMod val="50000"/>
            </a:schemeClr>
          </a:solidFill>
          <a:ln w="12700">
            <a:solidFill>
              <a:schemeClr val="accent2"/>
            </a:solidFill>
            <a:prstDash val="solid"/>
          </a:ln>
        </p:spPr>
        <p:txBody>
          <a:bodyPr/>
          <a:lstStyle/>
          <a:p>
            <a:endParaRPr lang="en-IN" sz="2400"/>
          </a:p>
        </p:txBody>
      </p:sp>
      <p:sp>
        <p:nvSpPr>
          <p:cNvPr id="121" name="Text 63">
            <a:extLst>
              <a:ext uri="{FF2B5EF4-FFF2-40B4-BE49-F238E27FC236}">
                <a16:creationId xmlns:a16="http://schemas.microsoft.com/office/drawing/2014/main" id="{88DCFBE7-0F5B-36C5-5F64-9249EA8EFAC5}"/>
              </a:ext>
            </a:extLst>
          </p:cNvPr>
          <p:cNvSpPr/>
          <p:nvPr/>
        </p:nvSpPr>
        <p:spPr>
          <a:xfrm>
            <a:off x="10046208" y="4257378"/>
            <a:ext cx="219456" cy="219456"/>
          </a:xfrm>
          <a:prstGeom prst="rect">
            <a:avLst/>
          </a:prstGeom>
          <a:noFill/>
          <a:ln/>
        </p:spPr>
        <p:txBody>
          <a:bodyPr wrap="square" lIns="0" tIns="0" rIns="0" bIns="0" rtlCol="0" anchor="ctr"/>
          <a:lstStyle/>
          <a:p>
            <a:pPr algn="ctr"/>
            <a:r>
              <a:rPr lang="en-US" sz="1200" b="1">
                <a:solidFill>
                  <a:srgbClr val="FFFFFF"/>
                </a:solidFill>
                <a:latin typeface="Calibri" pitchFamily="34" charset="0"/>
                <a:ea typeface="Calibri" pitchFamily="34" charset="-122"/>
                <a:cs typeface="Calibri" pitchFamily="34" charset="-120"/>
              </a:rPr>
              <a:t>6</a:t>
            </a:r>
            <a:endParaRPr lang="en-US" sz="1200"/>
          </a:p>
        </p:txBody>
      </p:sp>
      <p:sp>
        <p:nvSpPr>
          <p:cNvPr id="122" name="Text 64">
            <a:extLst>
              <a:ext uri="{FF2B5EF4-FFF2-40B4-BE49-F238E27FC236}">
                <a16:creationId xmlns:a16="http://schemas.microsoft.com/office/drawing/2014/main" id="{13FAA85C-31D7-7AA9-9DE2-C651E264789C}"/>
              </a:ext>
            </a:extLst>
          </p:cNvPr>
          <p:cNvSpPr/>
          <p:nvPr/>
        </p:nvSpPr>
        <p:spPr>
          <a:xfrm>
            <a:off x="10070592" y="4525602"/>
            <a:ext cx="1658112" cy="365760"/>
          </a:xfrm>
          <a:prstGeom prst="rect">
            <a:avLst/>
          </a:prstGeom>
          <a:noFill/>
          <a:ln/>
        </p:spPr>
        <p:txBody>
          <a:bodyPr wrap="square" lIns="0" tIns="0" rIns="0" bIns="0" rtlCol="0" anchor="t"/>
          <a:lstStyle/>
          <a:p>
            <a:r>
              <a:rPr lang="en-US" sz="1400" b="1">
                <a:solidFill>
                  <a:schemeClr val="bg1"/>
                </a:solidFill>
                <a:latin typeface="Calibri" pitchFamily="34" charset="0"/>
                <a:ea typeface="Calibri" pitchFamily="34" charset="-122"/>
                <a:cs typeface="Calibri" pitchFamily="34" charset="-120"/>
              </a:rPr>
              <a:t>Tower Infra &amp; IBC</a:t>
            </a:r>
            <a:endParaRPr lang="en-US" sz="1400">
              <a:solidFill>
                <a:schemeClr val="bg1"/>
              </a:solidFill>
            </a:endParaRPr>
          </a:p>
        </p:txBody>
      </p:sp>
      <p:sp>
        <p:nvSpPr>
          <p:cNvPr id="123" name="Text 65">
            <a:extLst>
              <a:ext uri="{FF2B5EF4-FFF2-40B4-BE49-F238E27FC236}">
                <a16:creationId xmlns:a16="http://schemas.microsoft.com/office/drawing/2014/main" id="{19D2C2E8-E695-36E7-459E-17611E440DEE}"/>
              </a:ext>
            </a:extLst>
          </p:cNvPr>
          <p:cNvSpPr/>
          <p:nvPr/>
        </p:nvSpPr>
        <p:spPr>
          <a:xfrm>
            <a:off x="10070592" y="4879170"/>
            <a:ext cx="1658112" cy="390144"/>
          </a:xfrm>
          <a:prstGeom prst="rect">
            <a:avLst/>
          </a:prstGeom>
          <a:noFill/>
          <a:ln/>
        </p:spPr>
        <p:txBody>
          <a:bodyPr wrap="square" lIns="0" tIns="0" rIns="0" bIns="0" rtlCol="0" anchor="t"/>
          <a:lstStyle/>
          <a:p>
            <a:r>
              <a:rPr lang="en-US" sz="1133" i="1">
                <a:solidFill>
                  <a:schemeClr val="bg1">
                    <a:lumMod val="75000"/>
                  </a:schemeClr>
                </a:solidFill>
                <a:latin typeface="Calibri" pitchFamily="34" charset="0"/>
                <a:ea typeface="Calibri" pitchFamily="34" charset="-122"/>
                <a:cs typeface="Calibri" pitchFamily="34" charset="-120"/>
              </a:rPr>
              <a:t>Infrastructure landscape</a:t>
            </a:r>
            <a:endParaRPr lang="en-US" sz="1133">
              <a:solidFill>
                <a:schemeClr val="bg1">
                  <a:lumMod val="75000"/>
                </a:schemeClr>
              </a:solidFill>
            </a:endParaRPr>
          </a:p>
        </p:txBody>
      </p:sp>
      <p:sp>
        <p:nvSpPr>
          <p:cNvPr id="124" name="Shape 66">
            <a:extLst>
              <a:ext uri="{FF2B5EF4-FFF2-40B4-BE49-F238E27FC236}">
                <a16:creationId xmlns:a16="http://schemas.microsoft.com/office/drawing/2014/main" id="{3E8BE890-16E3-B7CE-EDEC-3E87B4F21E1D}"/>
              </a:ext>
            </a:extLst>
          </p:cNvPr>
          <p:cNvSpPr/>
          <p:nvPr/>
        </p:nvSpPr>
        <p:spPr>
          <a:xfrm>
            <a:off x="8046720" y="5468620"/>
            <a:ext cx="1804416" cy="1072896"/>
          </a:xfrm>
          <a:prstGeom prst="rect">
            <a:avLst/>
          </a:prstGeom>
          <a:solidFill>
            <a:schemeClr val="tx2">
              <a:alpha val="25000"/>
            </a:schemeClr>
          </a:solidFill>
          <a:ln w="12700">
            <a:solidFill>
              <a:schemeClr val="accent2"/>
            </a:solidFill>
            <a:prstDash val="solid"/>
          </a:ln>
          <a:effectLst>
            <a:outerShdw blurRad="50800" dist="12700" dir="8100000" algn="bl" rotWithShape="0">
              <a:srgbClr val="000000">
                <a:alpha val="7000"/>
              </a:srgbClr>
            </a:outerShdw>
          </a:effectLst>
        </p:spPr>
        <p:txBody>
          <a:bodyPr/>
          <a:lstStyle/>
          <a:p>
            <a:endParaRPr lang="en-IN" sz="2400"/>
          </a:p>
        </p:txBody>
      </p:sp>
      <p:sp>
        <p:nvSpPr>
          <p:cNvPr id="125" name="Shape 67">
            <a:extLst>
              <a:ext uri="{FF2B5EF4-FFF2-40B4-BE49-F238E27FC236}">
                <a16:creationId xmlns:a16="http://schemas.microsoft.com/office/drawing/2014/main" id="{E6F732ED-1CE6-6BAA-1FF7-D06B8FADB3AF}"/>
              </a:ext>
            </a:extLst>
          </p:cNvPr>
          <p:cNvSpPr/>
          <p:nvPr/>
        </p:nvSpPr>
        <p:spPr>
          <a:xfrm>
            <a:off x="8046720" y="5468620"/>
            <a:ext cx="1804416" cy="243840"/>
          </a:xfrm>
          <a:prstGeom prst="rect">
            <a:avLst/>
          </a:prstGeom>
          <a:solidFill>
            <a:schemeClr val="tx2">
              <a:lumMod val="50000"/>
            </a:schemeClr>
          </a:solidFill>
          <a:ln w="12700">
            <a:solidFill>
              <a:schemeClr val="accent2"/>
            </a:solidFill>
            <a:prstDash val="solid"/>
          </a:ln>
        </p:spPr>
        <p:txBody>
          <a:bodyPr/>
          <a:lstStyle/>
          <a:p>
            <a:endParaRPr lang="en-IN" sz="2400"/>
          </a:p>
        </p:txBody>
      </p:sp>
      <p:sp>
        <p:nvSpPr>
          <p:cNvPr id="126" name="Text 68">
            <a:extLst>
              <a:ext uri="{FF2B5EF4-FFF2-40B4-BE49-F238E27FC236}">
                <a16:creationId xmlns:a16="http://schemas.microsoft.com/office/drawing/2014/main" id="{ADB16530-A640-AEEE-3BF1-947D79C1869A}"/>
              </a:ext>
            </a:extLst>
          </p:cNvPr>
          <p:cNvSpPr/>
          <p:nvPr/>
        </p:nvSpPr>
        <p:spPr>
          <a:xfrm>
            <a:off x="8119872" y="5480812"/>
            <a:ext cx="219456" cy="219456"/>
          </a:xfrm>
          <a:prstGeom prst="rect">
            <a:avLst/>
          </a:prstGeom>
          <a:noFill/>
          <a:ln/>
        </p:spPr>
        <p:txBody>
          <a:bodyPr wrap="square" lIns="0" tIns="0" rIns="0" bIns="0" rtlCol="0" anchor="ctr"/>
          <a:lstStyle/>
          <a:p>
            <a:pPr algn="ctr"/>
            <a:r>
              <a:rPr lang="en-US" sz="1200" b="1">
                <a:solidFill>
                  <a:srgbClr val="FFFFFF"/>
                </a:solidFill>
                <a:latin typeface="Calibri" pitchFamily="34" charset="0"/>
                <a:ea typeface="Calibri" pitchFamily="34" charset="-122"/>
                <a:cs typeface="Calibri" pitchFamily="34" charset="-120"/>
              </a:rPr>
              <a:t>7</a:t>
            </a:r>
            <a:endParaRPr lang="en-US" sz="1200"/>
          </a:p>
        </p:txBody>
      </p:sp>
      <p:sp>
        <p:nvSpPr>
          <p:cNvPr id="127" name="Text 69">
            <a:extLst>
              <a:ext uri="{FF2B5EF4-FFF2-40B4-BE49-F238E27FC236}">
                <a16:creationId xmlns:a16="http://schemas.microsoft.com/office/drawing/2014/main" id="{0F020E84-1B58-AD9E-2DF7-6D5A66D537D6}"/>
              </a:ext>
            </a:extLst>
          </p:cNvPr>
          <p:cNvSpPr/>
          <p:nvPr/>
        </p:nvSpPr>
        <p:spPr>
          <a:xfrm>
            <a:off x="8144256" y="5749036"/>
            <a:ext cx="1658112" cy="365760"/>
          </a:xfrm>
          <a:prstGeom prst="rect">
            <a:avLst/>
          </a:prstGeom>
          <a:noFill/>
          <a:ln/>
        </p:spPr>
        <p:txBody>
          <a:bodyPr wrap="square" lIns="0" tIns="0" rIns="0" bIns="0" rtlCol="0" anchor="t"/>
          <a:lstStyle/>
          <a:p>
            <a:r>
              <a:rPr lang="en-US" sz="1400" b="1">
                <a:solidFill>
                  <a:schemeClr val="bg1"/>
                </a:solidFill>
                <a:latin typeface="Calibri" pitchFamily="34" charset="0"/>
                <a:ea typeface="Calibri" pitchFamily="34" charset="-122"/>
                <a:cs typeface="Calibri" pitchFamily="34" charset="-120"/>
              </a:rPr>
              <a:t>Network API</a:t>
            </a:r>
            <a:endParaRPr lang="en-US" sz="1400">
              <a:solidFill>
                <a:schemeClr val="bg1"/>
              </a:solidFill>
            </a:endParaRPr>
          </a:p>
        </p:txBody>
      </p:sp>
      <p:sp>
        <p:nvSpPr>
          <p:cNvPr id="128" name="Text 70">
            <a:extLst>
              <a:ext uri="{FF2B5EF4-FFF2-40B4-BE49-F238E27FC236}">
                <a16:creationId xmlns:a16="http://schemas.microsoft.com/office/drawing/2014/main" id="{8CEF0D18-9135-246A-B494-379520EE5AEB}"/>
              </a:ext>
            </a:extLst>
          </p:cNvPr>
          <p:cNvSpPr/>
          <p:nvPr/>
        </p:nvSpPr>
        <p:spPr>
          <a:xfrm>
            <a:off x="8144256" y="6102604"/>
            <a:ext cx="1658112" cy="390144"/>
          </a:xfrm>
          <a:prstGeom prst="rect">
            <a:avLst/>
          </a:prstGeom>
          <a:noFill/>
          <a:ln/>
        </p:spPr>
        <p:txBody>
          <a:bodyPr wrap="square" lIns="0" tIns="0" rIns="0" bIns="0" rtlCol="0" anchor="t"/>
          <a:lstStyle/>
          <a:p>
            <a:r>
              <a:rPr lang="en-US" sz="1133" i="1">
                <a:solidFill>
                  <a:schemeClr val="bg1">
                    <a:lumMod val="75000"/>
                  </a:schemeClr>
                </a:solidFill>
                <a:latin typeface="Calibri" pitchFamily="34" charset="0"/>
                <a:ea typeface="Calibri" pitchFamily="34" charset="-122"/>
                <a:cs typeface="Calibri" pitchFamily="34" charset="-120"/>
              </a:rPr>
              <a:t>API monetization opportunities</a:t>
            </a:r>
            <a:endParaRPr lang="en-US" sz="1133">
              <a:solidFill>
                <a:schemeClr val="bg1">
                  <a:lumMod val="75000"/>
                </a:schemeClr>
              </a:solidFill>
            </a:endParaRPr>
          </a:p>
        </p:txBody>
      </p:sp>
      <p:sp>
        <p:nvSpPr>
          <p:cNvPr id="129" name="Shape 71">
            <a:extLst>
              <a:ext uri="{FF2B5EF4-FFF2-40B4-BE49-F238E27FC236}">
                <a16:creationId xmlns:a16="http://schemas.microsoft.com/office/drawing/2014/main" id="{E5379C73-A648-0C9A-3F6C-FEB52A51876C}"/>
              </a:ext>
            </a:extLst>
          </p:cNvPr>
          <p:cNvSpPr/>
          <p:nvPr/>
        </p:nvSpPr>
        <p:spPr>
          <a:xfrm>
            <a:off x="9973056" y="5468620"/>
            <a:ext cx="1804416" cy="1072896"/>
          </a:xfrm>
          <a:prstGeom prst="rect">
            <a:avLst/>
          </a:prstGeom>
          <a:solidFill>
            <a:schemeClr val="tx2">
              <a:alpha val="25000"/>
            </a:schemeClr>
          </a:solidFill>
          <a:ln w="12700">
            <a:solidFill>
              <a:schemeClr val="accent2"/>
            </a:solidFill>
            <a:prstDash val="solid"/>
          </a:ln>
          <a:effectLst>
            <a:outerShdw blurRad="50800" dist="12700" dir="8100000" algn="bl" rotWithShape="0">
              <a:srgbClr val="000000">
                <a:alpha val="7000"/>
              </a:srgbClr>
            </a:outerShdw>
          </a:effectLst>
        </p:spPr>
        <p:txBody>
          <a:bodyPr/>
          <a:lstStyle/>
          <a:p>
            <a:endParaRPr lang="en-IN" sz="2400"/>
          </a:p>
        </p:txBody>
      </p:sp>
      <p:sp>
        <p:nvSpPr>
          <p:cNvPr id="130" name="Shape 72">
            <a:extLst>
              <a:ext uri="{FF2B5EF4-FFF2-40B4-BE49-F238E27FC236}">
                <a16:creationId xmlns:a16="http://schemas.microsoft.com/office/drawing/2014/main" id="{EF1DFA0D-A71B-826C-27BA-AB52298A2B6B}"/>
              </a:ext>
            </a:extLst>
          </p:cNvPr>
          <p:cNvSpPr/>
          <p:nvPr/>
        </p:nvSpPr>
        <p:spPr>
          <a:xfrm>
            <a:off x="9973056" y="5468620"/>
            <a:ext cx="1804416" cy="243840"/>
          </a:xfrm>
          <a:prstGeom prst="rect">
            <a:avLst/>
          </a:prstGeom>
          <a:solidFill>
            <a:schemeClr val="tx2">
              <a:lumMod val="50000"/>
            </a:schemeClr>
          </a:solidFill>
          <a:ln w="12700">
            <a:solidFill>
              <a:schemeClr val="accent2"/>
            </a:solidFill>
            <a:prstDash val="solid"/>
          </a:ln>
        </p:spPr>
        <p:txBody>
          <a:bodyPr/>
          <a:lstStyle/>
          <a:p>
            <a:endParaRPr lang="en-IN" sz="2400"/>
          </a:p>
        </p:txBody>
      </p:sp>
      <p:sp>
        <p:nvSpPr>
          <p:cNvPr id="131" name="Text 73">
            <a:extLst>
              <a:ext uri="{FF2B5EF4-FFF2-40B4-BE49-F238E27FC236}">
                <a16:creationId xmlns:a16="http://schemas.microsoft.com/office/drawing/2014/main" id="{37490A92-5DF1-021B-BE81-324A407DBD8C}"/>
              </a:ext>
            </a:extLst>
          </p:cNvPr>
          <p:cNvSpPr/>
          <p:nvPr/>
        </p:nvSpPr>
        <p:spPr>
          <a:xfrm>
            <a:off x="10046208" y="5480812"/>
            <a:ext cx="219456" cy="219456"/>
          </a:xfrm>
          <a:prstGeom prst="rect">
            <a:avLst/>
          </a:prstGeom>
          <a:noFill/>
          <a:ln/>
        </p:spPr>
        <p:txBody>
          <a:bodyPr wrap="square" lIns="0" tIns="0" rIns="0" bIns="0" rtlCol="0" anchor="ctr"/>
          <a:lstStyle/>
          <a:p>
            <a:pPr algn="ctr"/>
            <a:r>
              <a:rPr lang="en-US" sz="1200" b="1">
                <a:solidFill>
                  <a:srgbClr val="FFFFFF"/>
                </a:solidFill>
                <a:latin typeface="Calibri" pitchFamily="34" charset="0"/>
                <a:ea typeface="Calibri" pitchFamily="34" charset="-122"/>
                <a:cs typeface="Calibri" pitchFamily="34" charset="-120"/>
              </a:rPr>
              <a:t>8</a:t>
            </a:r>
            <a:endParaRPr lang="en-US" sz="1200"/>
          </a:p>
        </p:txBody>
      </p:sp>
      <p:sp>
        <p:nvSpPr>
          <p:cNvPr id="132" name="Text 74">
            <a:extLst>
              <a:ext uri="{FF2B5EF4-FFF2-40B4-BE49-F238E27FC236}">
                <a16:creationId xmlns:a16="http://schemas.microsoft.com/office/drawing/2014/main" id="{7AF3E25E-98A9-A740-D6DD-D698161212E8}"/>
              </a:ext>
            </a:extLst>
          </p:cNvPr>
          <p:cNvSpPr/>
          <p:nvPr/>
        </p:nvSpPr>
        <p:spPr>
          <a:xfrm>
            <a:off x="10070592" y="5749036"/>
            <a:ext cx="1658112" cy="365760"/>
          </a:xfrm>
          <a:prstGeom prst="rect">
            <a:avLst/>
          </a:prstGeom>
          <a:noFill/>
          <a:ln/>
        </p:spPr>
        <p:txBody>
          <a:bodyPr wrap="square" lIns="0" tIns="0" rIns="0" bIns="0" rtlCol="0" anchor="t"/>
          <a:lstStyle/>
          <a:p>
            <a:r>
              <a:rPr lang="en-US" sz="1400" b="1">
                <a:solidFill>
                  <a:schemeClr val="bg1"/>
                </a:solidFill>
                <a:latin typeface="Calibri" pitchFamily="34" charset="0"/>
                <a:ea typeface="Calibri" pitchFamily="34" charset="-122"/>
                <a:cs typeface="Calibri" pitchFamily="34" charset="-120"/>
              </a:rPr>
              <a:t>Int'l Voice/Data</a:t>
            </a:r>
            <a:endParaRPr lang="en-US" sz="1400">
              <a:solidFill>
                <a:schemeClr val="bg1"/>
              </a:solidFill>
            </a:endParaRPr>
          </a:p>
        </p:txBody>
      </p:sp>
      <p:sp>
        <p:nvSpPr>
          <p:cNvPr id="133" name="Text 75">
            <a:extLst>
              <a:ext uri="{FF2B5EF4-FFF2-40B4-BE49-F238E27FC236}">
                <a16:creationId xmlns:a16="http://schemas.microsoft.com/office/drawing/2014/main" id="{0F98F633-F157-AFE5-F3A8-60C9C097CE4B}"/>
              </a:ext>
            </a:extLst>
          </p:cNvPr>
          <p:cNvSpPr/>
          <p:nvPr/>
        </p:nvSpPr>
        <p:spPr>
          <a:xfrm>
            <a:off x="10070592" y="6102604"/>
            <a:ext cx="1658112" cy="390144"/>
          </a:xfrm>
          <a:prstGeom prst="rect">
            <a:avLst/>
          </a:prstGeom>
          <a:noFill/>
          <a:ln/>
        </p:spPr>
        <p:txBody>
          <a:bodyPr wrap="square" lIns="0" tIns="0" rIns="0" bIns="0" rtlCol="0" anchor="t"/>
          <a:lstStyle/>
          <a:p>
            <a:r>
              <a:rPr lang="en-US" sz="1133" i="1">
                <a:solidFill>
                  <a:schemeClr val="bg1">
                    <a:lumMod val="75000"/>
                  </a:schemeClr>
                </a:solidFill>
                <a:latin typeface="Calibri" pitchFamily="34" charset="0"/>
                <a:ea typeface="Calibri" pitchFamily="34" charset="-122"/>
                <a:cs typeface="Calibri" pitchFamily="34" charset="-120"/>
              </a:rPr>
              <a:t>Inbound &amp; outbound wholesale</a:t>
            </a:r>
            <a:endParaRPr lang="en-US" sz="1133">
              <a:solidFill>
                <a:schemeClr val="bg1">
                  <a:lumMod val="75000"/>
                </a:schemeClr>
              </a:solidFill>
            </a:endParaRPr>
          </a:p>
        </p:txBody>
      </p:sp>
      <p:sp>
        <p:nvSpPr>
          <p:cNvPr id="134" name="Shape 78">
            <a:extLst>
              <a:ext uri="{FF2B5EF4-FFF2-40B4-BE49-F238E27FC236}">
                <a16:creationId xmlns:a16="http://schemas.microsoft.com/office/drawing/2014/main" id="{8D8A3780-E253-B24C-6B80-198618393FE8}"/>
              </a:ext>
            </a:extLst>
          </p:cNvPr>
          <p:cNvSpPr/>
          <p:nvPr/>
        </p:nvSpPr>
        <p:spPr>
          <a:xfrm>
            <a:off x="4572000" y="6193536"/>
            <a:ext cx="3169920" cy="377952"/>
          </a:xfrm>
          <a:prstGeom prst="rect">
            <a:avLst/>
          </a:prstGeom>
          <a:solidFill>
            <a:srgbClr val="D8F3DC">
              <a:alpha val="25000"/>
            </a:srgbClr>
          </a:solidFill>
          <a:ln w="12700">
            <a:noFill/>
            <a:prstDash val="solid"/>
          </a:ln>
        </p:spPr>
        <p:txBody>
          <a:bodyPr/>
          <a:lstStyle/>
          <a:p>
            <a:endParaRPr lang="en-IN" sz="2400">
              <a:solidFill>
                <a:schemeClr val="bg1"/>
              </a:solidFill>
            </a:endParaRPr>
          </a:p>
        </p:txBody>
      </p:sp>
      <p:sp>
        <p:nvSpPr>
          <p:cNvPr id="135" name="Text 79">
            <a:extLst>
              <a:ext uri="{FF2B5EF4-FFF2-40B4-BE49-F238E27FC236}">
                <a16:creationId xmlns:a16="http://schemas.microsoft.com/office/drawing/2014/main" id="{B81D32C9-16F9-CF2F-81EA-9B8B6B1683BD}"/>
              </a:ext>
            </a:extLst>
          </p:cNvPr>
          <p:cNvSpPr/>
          <p:nvPr/>
        </p:nvSpPr>
        <p:spPr>
          <a:xfrm>
            <a:off x="4669536" y="6193536"/>
            <a:ext cx="3048000" cy="377952"/>
          </a:xfrm>
          <a:prstGeom prst="rect">
            <a:avLst/>
          </a:prstGeom>
          <a:noFill/>
          <a:ln>
            <a:noFill/>
          </a:ln>
        </p:spPr>
        <p:txBody>
          <a:bodyPr wrap="square" lIns="0" tIns="0" rIns="0" bIns="0" rtlCol="0" anchor="ctr"/>
          <a:lstStyle/>
          <a:p>
            <a:r>
              <a:rPr lang="en-US" sz="1000" i="1">
                <a:solidFill>
                  <a:schemeClr val="bg1"/>
                </a:solidFill>
                <a:latin typeface="Calibri" pitchFamily="34" charset="0"/>
                <a:ea typeface="Calibri" pitchFamily="34" charset="-122"/>
                <a:cs typeface="Calibri" pitchFamily="34" charset="-120"/>
              </a:rPr>
              <a:t>Demand forecast: </a:t>
            </a:r>
            <a:r>
              <a:rPr lang="en-US" sz="1000" i="1" err="1">
                <a:solidFill>
                  <a:schemeClr val="bg1"/>
                </a:solidFill>
                <a:latin typeface="Calibri" pitchFamily="34" charset="0"/>
                <a:ea typeface="Calibri" pitchFamily="34" charset="-122"/>
                <a:cs typeface="Calibri" pitchFamily="34" charset="-120"/>
              </a:rPr>
              <a:t>Hyperscalers</a:t>
            </a:r>
            <a:r>
              <a:rPr lang="en-US" sz="1000" i="1">
                <a:solidFill>
                  <a:schemeClr val="bg1"/>
                </a:solidFill>
                <a:latin typeface="Calibri" pitchFamily="34" charset="0"/>
                <a:ea typeface="Calibri" pitchFamily="34" charset="-122"/>
                <a:cs typeface="Calibri" pitchFamily="34" charset="-120"/>
              </a:rPr>
              <a:t> · LEO Satellite · AI Providers · MVNOs</a:t>
            </a:r>
            <a:endParaRPr lang="en-US" sz="1000">
              <a:solidFill>
                <a:schemeClr val="bg1"/>
              </a:solidFill>
            </a:endParaRPr>
          </a:p>
        </p:txBody>
      </p:sp>
      <p:grpSp>
        <p:nvGrpSpPr>
          <p:cNvPr id="151" name="Group 150">
            <a:extLst>
              <a:ext uri="{FF2B5EF4-FFF2-40B4-BE49-F238E27FC236}">
                <a16:creationId xmlns:a16="http://schemas.microsoft.com/office/drawing/2014/main" id="{BC4804B9-DF59-E2B9-DCA6-07363858F8EF}"/>
              </a:ext>
            </a:extLst>
          </p:cNvPr>
          <p:cNvGrpSpPr/>
          <p:nvPr/>
        </p:nvGrpSpPr>
        <p:grpSpPr>
          <a:xfrm>
            <a:off x="4572000" y="1795029"/>
            <a:ext cx="3169920" cy="756000"/>
            <a:chOff x="4572000" y="1795029"/>
            <a:chExt cx="3169920" cy="756000"/>
          </a:xfrm>
        </p:grpSpPr>
        <p:sp>
          <p:nvSpPr>
            <p:cNvPr id="73" name="Shape 15">
              <a:extLst>
                <a:ext uri="{FF2B5EF4-FFF2-40B4-BE49-F238E27FC236}">
                  <a16:creationId xmlns:a16="http://schemas.microsoft.com/office/drawing/2014/main" id="{DD15A719-5D06-4EE9-9B40-29A3A85F01FC}"/>
                </a:ext>
              </a:extLst>
            </p:cNvPr>
            <p:cNvSpPr/>
            <p:nvPr/>
          </p:nvSpPr>
          <p:spPr>
            <a:xfrm>
              <a:off x="4572000" y="1795029"/>
              <a:ext cx="3169920" cy="756000"/>
            </a:xfrm>
            <a:prstGeom prst="rect">
              <a:avLst/>
            </a:prstGeom>
            <a:solidFill>
              <a:schemeClr val="bg1">
                <a:alpha val="25000"/>
              </a:schemeClr>
            </a:solidFill>
            <a:ln w="12700">
              <a:solidFill>
                <a:schemeClr val="tx2"/>
              </a:solidFill>
              <a:prstDash val="solid"/>
            </a:ln>
            <a:effectLst>
              <a:outerShdw blurRad="50800" dist="12700" dir="8100000" algn="bl" rotWithShape="0">
                <a:srgbClr val="000000">
                  <a:alpha val="6000"/>
                </a:srgbClr>
              </a:outerShdw>
            </a:effectLst>
          </p:spPr>
          <p:txBody>
            <a:bodyPr/>
            <a:lstStyle/>
            <a:p>
              <a:endParaRPr lang="en-IN" sz="2400">
                <a:solidFill>
                  <a:schemeClr val="bg1"/>
                </a:solidFill>
              </a:endParaRPr>
            </a:p>
          </p:txBody>
        </p:sp>
        <p:grpSp>
          <p:nvGrpSpPr>
            <p:cNvPr id="150" name="Group 149">
              <a:extLst>
                <a:ext uri="{FF2B5EF4-FFF2-40B4-BE49-F238E27FC236}">
                  <a16:creationId xmlns:a16="http://schemas.microsoft.com/office/drawing/2014/main" id="{616D82AE-4C38-1D42-226D-D587D158CE9A}"/>
                </a:ext>
              </a:extLst>
            </p:cNvPr>
            <p:cNvGrpSpPr/>
            <p:nvPr/>
          </p:nvGrpSpPr>
          <p:grpSpPr>
            <a:xfrm>
              <a:off x="4693920" y="1843845"/>
              <a:ext cx="2962656" cy="658368"/>
              <a:chOff x="4693920" y="1880373"/>
              <a:chExt cx="2962656" cy="658368"/>
            </a:xfrm>
          </p:grpSpPr>
          <p:sp>
            <p:nvSpPr>
              <p:cNvPr id="76" name="Text 18">
                <a:extLst>
                  <a:ext uri="{FF2B5EF4-FFF2-40B4-BE49-F238E27FC236}">
                    <a16:creationId xmlns:a16="http://schemas.microsoft.com/office/drawing/2014/main" id="{25DEC39C-7C58-B803-E9BB-FFE2C7009478}"/>
                  </a:ext>
                </a:extLst>
              </p:cNvPr>
              <p:cNvSpPr/>
              <p:nvPr/>
            </p:nvSpPr>
            <p:spPr>
              <a:xfrm>
                <a:off x="5279136" y="1880373"/>
                <a:ext cx="2377440" cy="658368"/>
              </a:xfrm>
              <a:prstGeom prst="rect">
                <a:avLst/>
              </a:prstGeom>
              <a:noFill/>
              <a:ln/>
            </p:spPr>
            <p:txBody>
              <a:bodyPr wrap="square" lIns="0" tIns="0" rIns="0" bIns="0" rtlCol="0" anchor="ctr"/>
              <a:lstStyle/>
              <a:p>
                <a:r>
                  <a:rPr lang="en-US" sz="1333">
                    <a:solidFill>
                      <a:schemeClr val="bg1"/>
                    </a:solidFill>
                    <a:latin typeface="Calibri" pitchFamily="34" charset="0"/>
                    <a:ea typeface="Calibri" pitchFamily="34" charset="-122"/>
                    <a:cs typeface="Calibri" pitchFamily="34" charset="-120"/>
                  </a:rPr>
                  <a:t>Quantify market size &amp; growth</a:t>
                </a:r>
                <a:endParaRPr lang="en-US" sz="1333">
                  <a:solidFill>
                    <a:schemeClr val="bg1"/>
                  </a:solidFill>
                </a:endParaRPr>
              </a:p>
              <a:p>
                <a:r>
                  <a:rPr lang="en-US" sz="1333">
                    <a:solidFill>
                      <a:schemeClr val="bg1"/>
                    </a:solidFill>
                    <a:latin typeface="Calibri" pitchFamily="34" charset="0"/>
                    <a:ea typeface="Calibri" pitchFamily="34" charset="-122"/>
                    <a:cs typeface="Calibri" pitchFamily="34" charset="-120"/>
                  </a:rPr>
                  <a:t>(5-year outlook)</a:t>
                </a:r>
                <a:endParaRPr lang="en-US" sz="1333">
                  <a:solidFill>
                    <a:schemeClr val="bg1"/>
                  </a:solidFill>
                </a:endParaRPr>
              </a:p>
            </p:txBody>
          </p:sp>
          <p:sp>
            <p:nvSpPr>
              <p:cNvPr id="74" name="Shape 16">
                <a:extLst>
                  <a:ext uri="{FF2B5EF4-FFF2-40B4-BE49-F238E27FC236}">
                    <a16:creationId xmlns:a16="http://schemas.microsoft.com/office/drawing/2014/main" id="{AC67C091-5B37-ABBE-FAE8-172B6E04D911}"/>
                  </a:ext>
                </a:extLst>
              </p:cNvPr>
              <p:cNvSpPr/>
              <p:nvPr/>
            </p:nvSpPr>
            <p:spPr>
              <a:xfrm>
                <a:off x="4693920" y="1977909"/>
                <a:ext cx="463296" cy="463296"/>
              </a:xfrm>
              <a:prstGeom prst="ellipse">
                <a:avLst/>
              </a:prstGeom>
              <a:solidFill>
                <a:schemeClr val="tx2">
                  <a:lumMod val="50000"/>
                </a:schemeClr>
              </a:solidFill>
              <a:ln w="12700">
                <a:solidFill>
                  <a:srgbClr val="1A4731"/>
                </a:solidFill>
                <a:prstDash val="solid"/>
              </a:ln>
            </p:spPr>
            <p:txBody>
              <a:bodyPr/>
              <a:lstStyle/>
              <a:p>
                <a:r>
                  <a:rPr lang="en-IN" sz="1600">
                    <a:solidFill>
                      <a:schemeClr val="bg1"/>
                    </a:solidFill>
                  </a:rPr>
                  <a:t>1</a:t>
                </a:r>
                <a:endParaRPr lang="en-IN" sz="2400">
                  <a:solidFill>
                    <a:schemeClr val="bg1"/>
                  </a:solidFill>
                </a:endParaRPr>
              </a:p>
            </p:txBody>
          </p:sp>
        </p:grpSp>
      </p:grpSp>
      <p:grpSp>
        <p:nvGrpSpPr>
          <p:cNvPr id="160" name="Group 159">
            <a:extLst>
              <a:ext uri="{FF2B5EF4-FFF2-40B4-BE49-F238E27FC236}">
                <a16:creationId xmlns:a16="http://schemas.microsoft.com/office/drawing/2014/main" id="{19D2A61F-14EB-D5E2-4251-D8EFF6A7A56C}"/>
              </a:ext>
            </a:extLst>
          </p:cNvPr>
          <p:cNvGrpSpPr/>
          <p:nvPr/>
        </p:nvGrpSpPr>
        <p:grpSpPr>
          <a:xfrm>
            <a:off x="4572000" y="2681296"/>
            <a:ext cx="3169920" cy="756000"/>
            <a:chOff x="4572000" y="2556776"/>
            <a:chExt cx="3169920" cy="756000"/>
          </a:xfrm>
        </p:grpSpPr>
        <p:sp>
          <p:nvSpPr>
            <p:cNvPr id="77" name="Shape 19">
              <a:extLst>
                <a:ext uri="{FF2B5EF4-FFF2-40B4-BE49-F238E27FC236}">
                  <a16:creationId xmlns:a16="http://schemas.microsoft.com/office/drawing/2014/main" id="{5E5D26DC-0931-4DA9-7EBC-8D3FDD26F0BA}"/>
                </a:ext>
              </a:extLst>
            </p:cNvPr>
            <p:cNvSpPr/>
            <p:nvPr/>
          </p:nvSpPr>
          <p:spPr>
            <a:xfrm>
              <a:off x="4572000" y="2556776"/>
              <a:ext cx="3169920" cy="756000"/>
            </a:xfrm>
            <a:prstGeom prst="rect">
              <a:avLst/>
            </a:prstGeom>
            <a:solidFill>
              <a:schemeClr val="bg1">
                <a:alpha val="25000"/>
              </a:schemeClr>
            </a:solidFill>
            <a:ln w="12700">
              <a:solidFill>
                <a:schemeClr val="tx2"/>
              </a:solidFill>
              <a:prstDash val="solid"/>
            </a:ln>
            <a:effectLst>
              <a:outerShdw blurRad="50800" dist="12700" dir="8100000" algn="bl" rotWithShape="0">
                <a:srgbClr val="000000">
                  <a:alpha val="6000"/>
                </a:srgbClr>
              </a:outerShdw>
            </a:effectLst>
          </p:spPr>
          <p:txBody>
            <a:bodyPr/>
            <a:lstStyle/>
            <a:p>
              <a:endParaRPr lang="en-IN" sz="2400"/>
            </a:p>
          </p:txBody>
        </p:sp>
        <p:sp>
          <p:nvSpPr>
            <p:cNvPr id="80" name="Text 22">
              <a:extLst>
                <a:ext uri="{FF2B5EF4-FFF2-40B4-BE49-F238E27FC236}">
                  <a16:creationId xmlns:a16="http://schemas.microsoft.com/office/drawing/2014/main" id="{D878329A-EBA8-7A30-E292-900432C2BE76}"/>
                </a:ext>
              </a:extLst>
            </p:cNvPr>
            <p:cNvSpPr/>
            <p:nvPr/>
          </p:nvSpPr>
          <p:spPr>
            <a:xfrm>
              <a:off x="5279136" y="2605592"/>
              <a:ext cx="2377440" cy="658368"/>
            </a:xfrm>
            <a:prstGeom prst="rect">
              <a:avLst/>
            </a:prstGeom>
            <a:noFill/>
            <a:ln/>
          </p:spPr>
          <p:txBody>
            <a:bodyPr wrap="square" lIns="0" tIns="0" rIns="0" bIns="0" rtlCol="0" anchor="ctr"/>
            <a:lstStyle/>
            <a:p>
              <a:r>
                <a:rPr lang="en-US" sz="1333">
                  <a:solidFill>
                    <a:schemeClr val="bg1"/>
                  </a:solidFill>
                  <a:latin typeface="Calibri" pitchFamily="34" charset="0"/>
                  <a:ea typeface="Calibri" pitchFamily="34" charset="-122"/>
                  <a:cs typeface="Calibri" pitchFamily="34" charset="-120"/>
                </a:rPr>
                <a:t>Identify key growth drivers &amp; demand trends — </a:t>
              </a:r>
              <a:r>
                <a:rPr lang="en-US" sz="1333" err="1">
                  <a:solidFill>
                    <a:schemeClr val="bg1"/>
                  </a:solidFill>
                  <a:latin typeface="Calibri" pitchFamily="34" charset="0"/>
                  <a:ea typeface="Calibri" pitchFamily="34" charset="-122"/>
                  <a:cs typeface="Calibri" pitchFamily="34" charset="-120"/>
                </a:rPr>
                <a:t>Hyperscalers</a:t>
              </a:r>
              <a:r>
                <a:rPr lang="en-US" sz="1333">
                  <a:solidFill>
                    <a:schemeClr val="bg1"/>
                  </a:solidFill>
                  <a:latin typeface="Calibri" pitchFamily="34" charset="0"/>
                  <a:ea typeface="Calibri" pitchFamily="34" charset="-122"/>
                  <a:cs typeface="Calibri" pitchFamily="34" charset="-120"/>
                </a:rPr>
                <a:t>, AI Providers, MVNOs, Satellite</a:t>
              </a:r>
              <a:endParaRPr lang="en-US" sz="1333">
                <a:solidFill>
                  <a:schemeClr val="bg1"/>
                </a:solidFill>
              </a:endParaRPr>
            </a:p>
          </p:txBody>
        </p:sp>
        <p:sp>
          <p:nvSpPr>
            <p:cNvPr id="78" name="Shape 20">
              <a:extLst>
                <a:ext uri="{FF2B5EF4-FFF2-40B4-BE49-F238E27FC236}">
                  <a16:creationId xmlns:a16="http://schemas.microsoft.com/office/drawing/2014/main" id="{FD4BC40B-B5B5-8C0A-973C-2910A20B5ECB}"/>
                </a:ext>
              </a:extLst>
            </p:cNvPr>
            <p:cNvSpPr/>
            <p:nvPr/>
          </p:nvSpPr>
          <p:spPr>
            <a:xfrm>
              <a:off x="4693920" y="2703128"/>
              <a:ext cx="463296" cy="463296"/>
            </a:xfrm>
            <a:prstGeom prst="ellipse">
              <a:avLst/>
            </a:prstGeom>
            <a:solidFill>
              <a:schemeClr val="tx2">
                <a:lumMod val="50000"/>
              </a:schemeClr>
            </a:solidFill>
            <a:ln w="12700">
              <a:solidFill>
                <a:srgbClr val="1A4731"/>
              </a:solidFill>
              <a:prstDash val="solid"/>
            </a:ln>
          </p:spPr>
          <p:txBody>
            <a:bodyPr/>
            <a:lstStyle/>
            <a:p>
              <a:r>
                <a:rPr lang="en-IN" sz="1600">
                  <a:solidFill>
                    <a:schemeClr val="bg1"/>
                  </a:solidFill>
                </a:rPr>
                <a:t>2</a:t>
              </a:r>
            </a:p>
          </p:txBody>
        </p:sp>
      </p:grpSp>
      <p:grpSp>
        <p:nvGrpSpPr>
          <p:cNvPr id="155" name="Group 154">
            <a:extLst>
              <a:ext uri="{FF2B5EF4-FFF2-40B4-BE49-F238E27FC236}">
                <a16:creationId xmlns:a16="http://schemas.microsoft.com/office/drawing/2014/main" id="{79754B46-8BAB-1FA5-0DBC-8425B737B1EE}"/>
              </a:ext>
            </a:extLst>
          </p:cNvPr>
          <p:cNvGrpSpPr/>
          <p:nvPr/>
        </p:nvGrpSpPr>
        <p:grpSpPr>
          <a:xfrm>
            <a:off x="4572000" y="3567563"/>
            <a:ext cx="3169920" cy="756000"/>
            <a:chOff x="4572000" y="3462528"/>
            <a:chExt cx="3169920" cy="756000"/>
          </a:xfrm>
        </p:grpSpPr>
        <p:sp>
          <p:nvSpPr>
            <p:cNvPr id="81" name="Shape 23">
              <a:extLst>
                <a:ext uri="{FF2B5EF4-FFF2-40B4-BE49-F238E27FC236}">
                  <a16:creationId xmlns:a16="http://schemas.microsoft.com/office/drawing/2014/main" id="{996B412C-F711-357D-0D10-C84F346F97CF}"/>
                </a:ext>
              </a:extLst>
            </p:cNvPr>
            <p:cNvSpPr/>
            <p:nvPr/>
          </p:nvSpPr>
          <p:spPr>
            <a:xfrm>
              <a:off x="4572000" y="3462528"/>
              <a:ext cx="3169920" cy="756000"/>
            </a:xfrm>
            <a:prstGeom prst="rect">
              <a:avLst/>
            </a:prstGeom>
            <a:solidFill>
              <a:schemeClr val="bg1">
                <a:alpha val="25000"/>
              </a:schemeClr>
            </a:solidFill>
            <a:ln w="12700">
              <a:solidFill>
                <a:schemeClr val="tx2"/>
              </a:solidFill>
              <a:prstDash val="solid"/>
            </a:ln>
            <a:effectLst>
              <a:outerShdw blurRad="50800" dist="12700" dir="8100000" algn="bl" rotWithShape="0">
                <a:srgbClr val="000000">
                  <a:alpha val="6000"/>
                </a:srgbClr>
              </a:outerShdw>
            </a:effectLst>
          </p:spPr>
          <p:txBody>
            <a:bodyPr/>
            <a:lstStyle/>
            <a:p>
              <a:endParaRPr lang="en-IN" sz="2400"/>
            </a:p>
          </p:txBody>
        </p:sp>
        <p:grpSp>
          <p:nvGrpSpPr>
            <p:cNvPr id="154" name="Group 153">
              <a:extLst>
                <a:ext uri="{FF2B5EF4-FFF2-40B4-BE49-F238E27FC236}">
                  <a16:creationId xmlns:a16="http://schemas.microsoft.com/office/drawing/2014/main" id="{2059D4FD-051D-A6F0-D8F4-B999C14642F7}"/>
                </a:ext>
              </a:extLst>
            </p:cNvPr>
            <p:cNvGrpSpPr/>
            <p:nvPr/>
          </p:nvGrpSpPr>
          <p:grpSpPr>
            <a:xfrm>
              <a:off x="4693920" y="3511344"/>
              <a:ext cx="2962656" cy="658368"/>
              <a:chOff x="4693920" y="3547872"/>
              <a:chExt cx="2962656" cy="658368"/>
            </a:xfrm>
          </p:grpSpPr>
          <p:sp>
            <p:nvSpPr>
              <p:cNvPr id="84" name="Text 26">
                <a:extLst>
                  <a:ext uri="{FF2B5EF4-FFF2-40B4-BE49-F238E27FC236}">
                    <a16:creationId xmlns:a16="http://schemas.microsoft.com/office/drawing/2014/main" id="{CAE03BA5-4652-1228-C0ED-C40E49E9A18D}"/>
                  </a:ext>
                </a:extLst>
              </p:cNvPr>
              <p:cNvSpPr/>
              <p:nvPr/>
            </p:nvSpPr>
            <p:spPr>
              <a:xfrm>
                <a:off x="5279136" y="3547872"/>
                <a:ext cx="2377440" cy="658368"/>
              </a:xfrm>
              <a:prstGeom prst="rect">
                <a:avLst/>
              </a:prstGeom>
              <a:noFill/>
              <a:ln/>
            </p:spPr>
            <p:txBody>
              <a:bodyPr wrap="square" lIns="0" tIns="0" rIns="0" bIns="0" rtlCol="0" anchor="ctr"/>
              <a:lstStyle/>
              <a:p>
                <a:r>
                  <a:rPr lang="en-US" sz="1333">
                    <a:solidFill>
                      <a:schemeClr val="bg1"/>
                    </a:solidFill>
                    <a:latin typeface="Calibri" pitchFamily="34" charset="0"/>
                    <a:ea typeface="Calibri" pitchFamily="34" charset="-122"/>
                    <a:cs typeface="Calibri" pitchFamily="34" charset="-120"/>
                  </a:rPr>
                  <a:t>Assess competitive positioning vs. regional players</a:t>
                </a:r>
                <a:endParaRPr lang="en-US" sz="1333">
                  <a:solidFill>
                    <a:schemeClr val="bg1"/>
                  </a:solidFill>
                </a:endParaRPr>
              </a:p>
            </p:txBody>
          </p:sp>
          <p:sp>
            <p:nvSpPr>
              <p:cNvPr id="82" name="Shape 24">
                <a:extLst>
                  <a:ext uri="{FF2B5EF4-FFF2-40B4-BE49-F238E27FC236}">
                    <a16:creationId xmlns:a16="http://schemas.microsoft.com/office/drawing/2014/main" id="{A51CAF86-B019-66C8-8E27-29512C4E34E3}"/>
                  </a:ext>
                </a:extLst>
              </p:cNvPr>
              <p:cNvSpPr/>
              <p:nvPr/>
            </p:nvSpPr>
            <p:spPr>
              <a:xfrm>
                <a:off x="4693920" y="3645408"/>
                <a:ext cx="463296" cy="463296"/>
              </a:xfrm>
              <a:prstGeom prst="ellipse">
                <a:avLst/>
              </a:prstGeom>
              <a:solidFill>
                <a:schemeClr val="tx2">
                  <a:lumMod val="50000"/>
                </a:schemeClr>
              </a:solidFill>
              <a:ln w="12700">
                <a:solidFill>
                  <a:srgbClr val="1A4731"/>
                </a:solidFill>
                <a:prstDash val="solid"/>
              </a:ln>
            </p:spPr>
            <p:txBody>
              <a:bodyPr/>
              <a:lstStyle/>
              <a:p>
                <a:r>
                  <a:rPr lang="en-IN" sz="1600">
                    <a:solidFill>
                      <a:schemeClr val="bg1"/>
                    </a:solidFill>
                  </a:rPr>
                  <a:t>3</a:t>
                </a:r>
              </a:p>
            </p:txBody>
          </p:sp>
        </p:grpSp>
      </p:grpSp>
      <p:grpSp>
        <p:nvGrpSpPr>
          <p:cNvPr id="157" name="Group 156">
            <a:extLst>
              <a:ext uri="{FF2B5EF4-FFF2-40B4-BE49-F238E27FC236}">
                <a16:creationId xmlns:a16="http://schemas.microsoft.com/office/drawing/2014/main" id="{7BB2B200-B881-1579-B47F-9C66B58A0C13}"/>
              </a:ext>
            </a:extLst>
          </p:cNvPr>
          <p:cNvGrpSpPr/>
          <p:nvPr/>
        </p:nvGrpSpPr>
        <p:grpSpPr>
          <a:xfrm>
            <a:off x="4572000" y="4453830"/>
            <a:ext cx="3169920" cy="756000"/>
            <a:chOff x="4572000" y="4401312"/>
            <a:chExt cx="3169920" cy="756000"/>
          </a:xfrm>
        </p:grpSpPr>
        <p:sp>
          <p:nvSpPr>
            <p:cNvPr id="85" name="Shape 27">
              <a:extLst>
                <a:ext uri="{FF2B5EF4-FFF2-40B4-BE49-F238E27FC236}">
                  <a16:creationId xmlns:a16="http://schemas.microsoft.com/office/drawing/2014/main" id="{C43CBD07-F02F-27CB-686F-79AE9738D02D}"/>
                </a:ext>
              </a:extLst>
            </p:cNvPr>
            <p:cNvSpPr/>
            <p:nvPr/>
          </p:nvSpPr>
          <p:spPr>
            <a:xfrm>
              <a:off x="4572000" y="4401312"/>
              <a:ext cx="3169920" cy="756000"/>
            </a:xfrm>
            <a:prstGeom prst="rect">
              <a:avLst/>
            </a:prstGeom>
            <a:solidFill>
              <a:schemeClr val="bg1">
                <a:alpha val="25000"/>
              </a:schemeClr>
            </a:solidFill>
            <a:ln w="12700">
              <a:solidFill>
                <a:schemeClr val="tx2"/>
              </a:solidFill>
              <a:prstDash val="solid"/>
            </a:ln>
            <a:effectLst>
              <a:outerShdw blurRad="50800" dist="12700" dir="8100000" algn="bl" rotWithShape="0">
                <a:srgbClr val="000000">
                  <a:alpha val="6000"/>
                </a:srgbClr>
              </a:outerShdw>
            </a:effectLst>
          </p:spPr>
          <p:txBody>
            <a:bodyPr/>
            <a:lstStyle/>
            <a:p>
              <a:endParaRPr lang="en-IN" sz="2400"/>
            </a:p>
          </p:txBody>
        </p:sp>
        <p:grpSp>
          <p:nvGrpSpPr>
            <p:cNvPr id="156" name="Group 155">
              <a:extLst>
                <a:ext uri="{FF2B5EF4-FFF2-40B4-BE49-F238E27FC236}">
                  <a16:creationId xmlns:a16="http://schemas.microsoft.com/office/drawing/2014/main" id="{624AB120-029C-280F-7050-D55BFE1C9BFB}"/>
                </a:ext>
              </a:extLst>
            </p:cNvPr>
            <p:cNvGrpSpPr/>
            <p:nvPr/>
          </p:nvGrpSpPr>
          <p:grpSpPr>
            <a:xfrm>
              <a:off x="4693920" y="4450128"/>
              <a:ext cx="2962656" cy="658368"/>
              <a:chOff x="4693920" y="4450128"/>
              <a:chExt cx="2962656" cy="658368"/>
            </a:xfrm>
          </p:grpSpPr>
          <p:sp>
            <p:nvSpPr>
              <p:cNvPr id="88" name="Text 30">
                <a:extLst>
                  <a:ext uri="{FF2B5EF4-FFF2-40B4-BE49-F238E27FC236}">
                    <a16:creationId xmlns:a16="http://schemas.microsoft.com/office/drawing/2014/main" id="{C20BBFD2-F82C-C02C-5709-019DE81EDA89}"/>
                  </a:ext>
                </a:extLst>
              </p:cNvPr>
              <p:cNvSpPr/>
              <p:nvPr/>
            </p:nvSpPr>
            <p:spPr>
              <a:xfrm>
                <a:off x="5279136" y="4450128"/>
                <a:ext cx="2377440" cy="658368"/>
              </a:xfrm>
              <a:prstGeom prst="rect">
                <a:avLst/>
              </a:prstGeom>
              <a:noFill/>
              <a:ln/>
            </p:spPr>
            <p:txBody>
              <a:bodyPr wrap="square" lIns="0" tIns="0" rIns="0" bIns="0" rtlCol="0" anchor="ctr"/>
              <a:lstStyle/>
              <a:p>
                <a:r>
                  <a:rPr lang="en-US" sz="1333">
                    <a:solidFill>
                      <a:schemeClr val="bg1"/>
                    </a:solidFill>
                    <a:latin typeface="Calibri" pitchFamily="34" charset="0"/>
                    <a:ea typeface="Calibri" pitchFamily="34" charset="-122"/>
                    <a:cs typeface="Calibri" pitchFamily="34" charset="-120"/>
                  </a:rPr>
                  <a:t>Define where Maxis should play and recommend optimal GTM model</a:t>
                </a:r>
                <a:endParaRPr lang="en-US" sz="1333">
                  <a:solidFill>
                    <a:schemeClr val="bg1"/>
                  </a:solidFill>
                </a:endParaRPr>
              </a:p>
            </p:txBody>
          </p:sp>
          <p:sp>
            <p:nvSpPr>
              <p:cNvPr id="86" name="Shape 28">
                <a:extLst>
                  <a:ext uri="{FF2B5EF4-FFF2-40B4-BE49-F238E27FC236}">
                    <a16:creationId xmlns:a16="http://schemas.microsoft.com/office/drawing/2014/main" id="{E3ABCC98-5775-E26D-FCEA-E3D990CA508D}"/>
                  </a:ext>
                </a:extLst>
              </p:cNvPr>
              <p:cNvSpPr/>
              <p:nvPr/>
            </p:nvSpPr>
            <p:spPr>
              <a:xfrm>
                <a:off x="4693920" y="4547664"/>
                <a:ext cx="463296" cy="463296"/>
              </a:xfrm>
              <a:prstGeom prst="ellipse">
                <a:avLst/>
              </a:prstGeom>
              <a:solidFill>
                <a:schemeClr val="tx2">
                  <a:lumMod val="50000"/>
                </a:schemeClr>
              </a:solidFill>
              <a:ln w="12700">
                <a:solidFill>
                  <a:srgbClr val="2D6A4F"/>
                </a:solidFill>
                <a:prstDash val="solid"/>
              </a:ln>
            </p:spPr>
            <p:txBody>
              <a:bodyPr/>
              <a:lstStyle/>
              <a:p>
                <a:r>
                  <a:rPr lang="en-IN" sz="1600">
                    <a:solidFill>
                      <a:schemeClr val="bg1"/>
                    </a:solidFill>
                  </a:rPr>
                  <a:t>4</a:t>
                </a:r>
              </a:p>
            </p:txBody>
          </p:sp>
        </p:grpSp>
      </p:grpSp>
      <p:grpSp>
        <p:nvGrpSpPr>
          <p:cNvPr id="159" name="Group 158">
            <a:extLst>
              <a:ext uri="{FF2B5EF4-FFF2-40B4-BE49-F238E27FC236}">
                <a16:creationId xmlns:a16="http://schemas.microsoft.com/office/drawing/2014/main" id="{4DB300E8-6588-087D-0D7E-E9AB9A1D8627}"/>
              </a:ext>
            </a:extLst>
          </p:cNvPr>
          <p:cNvGrpSpPr/>
          <p:nvPr/>
        </p:nvGrpSpPr>
        <p:grpSpPr>
          <a:xfrm>
            <a:off x="4572000" y="5340096"/>
            <a:ext cx="3169920" cy="756000"/>
            <a:chOff x="4572000" y="5340096"/>
            <a:chExt cx="3169920" cy="756000"/>
          </a:xfrm>
        </p:grpSpPr>
        <p:sp>
          <p:nvSpPr>
            <p:cNvPr id="89" name="Shape 31">
              <a:extLst>
                <a:ext uri="{FF2B5EF4-FFF2-40B4-BE49-F238E27FC236}">
                  <a16:creationId xmlns:a16="http://schemas.microsoft.com/office/drawing/2014/main" id="{0969B21B-33B0-B8F6-7E99-B455B1EBA81E}"/>
                </a:ext>
              </a:extLst>
            </p:cNvPr>
            <p:cNvSpPr/>
            <p:nvPr/>
          </p:nvSpPr>
          <p:spPr>
            <a:xfrm>
              <a:off x="4572000" y="5340096"/>
              <a:ext cx="3169920" cy="756000"/>
            </a:xfrm>
            <a:prstGeom prst="rect">
              <a:avLst/>
            </a:prstGeom>
            <a:solidFill>
              <a:srgbClr val="FFFFFF">
                <a:alpha val="25000"/>
              </a:srgbClr>
            </a:solidFill>
            <a:ln w="12700">
              <a:solidFill>
                <a:schemeClr val="tx2"/>
              </a:solidFill>
              <a:prstDash val="solid"/>
            </a:ln>
            <a:effectLst>
              <a:outerShdw blurRad="50800" dist="12700" dir="8100000" algn="bl" rotWithShape="0">
                <a:srgbClr val="000000">
                  <a:alpha val="6000"/>
                </a:srgbClr>
              </a:outerShdw>
            </a:effectLst>
          </p:spPr>
          <p:txBody>
            <a:bodyPr/>
            <a:lstStyle/>
            <a:p>
              <a:endParaRPr lang="en-IN" sz="2400"/>
            </a:p>
          </p:txBody>
        </p:sp>
        <p:grpSp>
          <p:nvGrpSpPr>
            <p:cNvPr id="158" name="Group 157">
              <a:extLst>
                <a:ext uri="{FF2B5EF4-FFF2-40B4-BE49-F238E27FC236}">
                  <a16:creationId xmlns:a16="http://schemas.microsoft.com/office/drawing/2014/main" id="{C905AE94-177B-0D12-9D71-4A313474DD6A}"/>
                </a:ext>
              </a:extLst>
            </p:cNvPr>
            <p:cNvGrpSpPr/>
            <p:nvPr/>
          </p:nvGrpSpPr>
          <p:grpSpPr>
            <a:xfrm>
              <a:off x="4693920" y="5388912"/>
              <a:ext cx="2962656" cy="658368"/>
              <a:chOff x="4693920" y="5388912"/>
              <a:chExt cx="2962656" cy="658368"/>
            </a:xfrm>
          </p:grpSpPr>
          <p:sp>
            <p:nvSpPr>
              <p:cNvPr id="92" name="Text 34">
                <a:extLst>
                  <a:ext uri="{FF2B5EF4-FFF2-40B4-BE49-F238E27FC236}">
                    <a16:creationId xmlns:a16="http://schemas.microsoft.com/office/drawing/2014/main" id="{06521933-C293-E081-F67F-CC95B7BE44A9}"/>
                  </a:ext>
                </a:extLst>
              </p:cNvPr>
              <p:cNvSpPr/>
              <p:nvPr/>
            </p:nvSpPr>
            <p:spPr>
              <a:xfrm>
                <a:off x="5279136" y="5388912"/>
                <a:ext cx="2377440" cy="658368"/>
              </a:xfrm>
              <a:prstGeom prst="rect">
                <a:avLst/>
              </a:prstGeom>
              <a:noFill/>
              <a:ln/>
            </p:spPr>
            <p:txBody>
              <a:bodyPr wrap="square" lIns="0" tIns="0" rIns="0" bIns="0" rtlCol="0" anchor="ctr"/>
              <a:lstStyle/>
              <a:p>
                <a:r>
                  <a:rPr lang="en-US" sz="1333">
                    <a:solidFill>
                      <a:schemeClr val="bg1"/>
                    </a:solidFill>
                    <a:latin typeface="Calibri" pitchFamily="34" charset="0"/>
                    <a:ea typeface="Calibri" pitchFamily="34" charset="-122"/>
                    <a:cs typeface="Calibri" pitchFamily="34" charset="-120"/>
                  </a:rPr>
                  <a:t>Provide clear, realistic &amp; actionable strategic recommendations</a:t>
                </a:r>
                <a:endParaRPr lang="en-US" sz="1333">
                  <a:solidFill>
                    <a:schemeClr val="bg1"/>
                  </a:solidFill>
                </a:endParaRPr>
              </a:p>
            </p:txBody>
          </p:sp>
          <p:sp>
            <p:nvSpPr>
              <p:cNvPr id="90" name="Shape 32">
                <a:extLst>
                  <a:ext uri="{FF2B5EF4-FFF2-40B4-BE49-F238E27FC236}">
                    <a16:creationId xmlns:a16="http://schemas.microsoft.com/office/drawing/2014/main" id="{39357EBC-827E-0F8A-39D1-8DDA03C372A7}"/>
                  </a:ext>
                </a:extLst>
              </p:cNvPr>
              <p:cNvSpPr/>
              <p:nvPr/>
            </p:nvSpPr>
            <p:spPr>
              <a:xfrm>
                <a:off x="4693920" y="5486448"/>
                <a:ext cx="463296" cy="463296"/>
              </a:xfrm>
              <a:prstGeom prst="ellipse">
                <a:avLst/>
              </a:prstGeom>
              <a:solidFill>
                <a:schemeClr val="tx2">
                  <a:lumMod val="50000"/>
                </a:schemeClr>
              </a:solidFill>
              <a:ln w="12700">
                <a:solidFill>
                  <a:srgbClr val="1A4731"/>
                </a:solidFill>
                <a:prstDash val="solid"/>
              </a:ln>
            </p:spPr>
            <p:txBody>
              <a:bodyPr/>
              <a:lstStyle/>
              <a:p>
                <a:r>
                  <a:rPr lang="en-IN" sz="1600">
                    <a:solidFill>
                      <a:schemeClr val="bg1"/>
                    </a:solidFill>
                  </a:rPr>
                  <a:t>5</a:t>
                </a:r>
              </a:p>
            </p:txBody>
          </p:sp>
        </p:grpSp>
      </p:grpSp>
      <p:pic>
        <p:nvPicPr>
          <p:cNvPr id="162" name="Picture 161">
            <a:extLst>
              <a:ext uri="{FF2B5EF4-FFF2-40B4-BE49-F238E27FC236}">
                <a16:creationId xmlns:a16="http://schemas.microsoft.com/office/drawing/2014/main" id="{15903F24-7512-9FA7-95DD-D7E1C7DF66F0}"/>
              </a:ext>
            </a:extLst>
          </p:cNvPr>
          <p:cNvPicPr>
            <a:picLocks noChangeAspect="1"/>
          </p:cNvPicPr>
          <p:nvPr/>
        </p:nvPicPr>
        <p:blipFill>
          <a:blip r:embed="rId2"/>
          <a:stretch>
            <a:fillRect/>
          </a:stretch>
        </p:blipFill>
        <p:spPr>
          <a:xfrm>
            <a:off x="10595509" y="0"/>
            <a:ext cx="1237002" cy="696510"/>
          </a:xfrm>
          <a:prstGeom prst="rect">
            <a:avLst/>
          </a:prstGeom>
        </p:spPr>
      </p:pic>
      <p:sp>
        <p:nvSpPr>
          <p:cNvPr id="3" name="TextBox 2">
            <a:extLst>
              <a:ext uri="{FF2B5EF4-FFF2-40B4-BE49-F238E27FC236}">
                <a16:creationId xmlns:a16="http://schemas.microsoft.com/office/drawing/2014/main" id="{AD9E9142-9E09-9DD0-460A-C49C5EC7946D}"/>
              </a:ext>
            </a:extLst>
          </p:cNvPr>
          <p:cNvSpPr txBox="1"/>
          <p:nvPr/>
        </p:nvSpPr>
        <p:spPr>
          <a:xfrm>
            <a:off x="550863" y="6576901"/>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4" name="Date Placeholder 5">
            <a:extLst>
              <a:ext uri="{FF2B5EF4-FFF2-40B4-BE49-F238E27FC236}">
                <a16:creationId xmlns:a16="http://schemas.microsoft.com/office/drawing/2014/main" id="{3263A1D9-8E78-1C9D-3C42-DC3935242DB0}"/>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5" name="Date Placeholder 5">
            <a:extLst>
              <a:ext uri="{FF2B5EF4-FFF2-40B4-BE49-F238E27FC236}">
                <a16:creationId xmlns:a16="http://schemas.microsoft.com/office/drawing/2014/main" id="{E088E4D6-6F5F-07D1-D20A-D26E68A9DC51}"/>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4</a:t>
            </a:r>
          </a:p>
        </p:txBody>
      </p:sp>
    </p:spTree>
    <p:extLst>
      <p:ext uri="{BB962C8B-B14F-4D97-AF65-F5344CB8AC3E}">
        <p14:creationId xmlns:p14="http://schemas.microsoft.com/office/powerpoint/2010/main" val="3098454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43C00-67F6-7027-080B-1F7DA9D22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5D4172-389A-9F36-9883-5E3BEA646DF9}"/>
              </a:ext>
            </a:extLst>
          </p:cNvPr>
          <p:cNvSpPr>
            <a:spLocks noGrp="1"/>
          </p:cNvSpPr>
          <p:nvPr>
            <p:ph type="title"/>
          </p:nvPr>
        </p:nvSpPr>
        <p:spPr>
          <a:xfrm>
            <a:off x="550339" y="3045586"/>
            <a:ext cx="11090275" cy="1079526"/>
          </a:xfrm>
        </p:spPr>
        <p:txBody>
          <a:bodyPr/>
          <a:lstStyle/>
          <a:p>
            <a:pPr algn="ctr"/>
            <a:r>
              <a:rPr lang="en-US"/>
              <a:t>WHY CAPGEMINI</a:t>
            </a:r>
            <a:br>
              <a:rPr lang="en-US"/>
            </a:br>
            <a:r>
              <a:rPr lang="en-US" sz="1800"/>
              <a:t>Positioning why Capgemini is the right partner for this transformation</a:t>
            </a:r>
            <a:endParaRPr lang="en-IN" sz="1800"/>
          </a:p>
        </p:txBody>
      </p:sp>
      <p:pic>
        <p:nvPicPr>
          <p:cNvPr id="6" name="Picture 5">
            <a:extLst>
              <a:ext uri="{FF2B5EF4-FFF2-40B4-BE49-F238E27FC236}">
                <a16:creationId xmlns:a16="http://schemas.microsoft.com/office/drawing/2014/main" id="{1E637AFC-A111-B56E-83E0-17351D9A45F0}"/>
              </a:ext>
            </a:extLst>
          </p:cNvPr>
          <p:cNvPicPr>
            <a:picLocks noChangeAspect="1"/>
          </p:cNvPicPr>
          <p:nvPr/>
        </p:nvPicPr>
        <p:blipFill>
          <a:blip r:embed="rId2"/>
          <a:stretch>
            <a:fillRect/>
          </a:stretch>
        </p:blipFill>
        <p:spPr>
          <a:xfrm>
            <a:off x="10595509" y="0"/>
            <a:ext cx="1237002" cy="696510"/>
          </a:xfrm>
          <a:prstGeom prst="rect">
            <a:avLst/>
          </a:prstGeom>
        </p:spPr>
      </p:pic>
    </p:spTree>
    <p:extLst>
      <p:ext uri="{BB962C8B-B14F-4D97-AF65-F5344CB8AC3E}">
        <p14:creationId xmlns:p14="http://schemas.microsoft.com/office/powerpoint/2010/main" val="178615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5">
            <a:extLst>
              <a:ext uri="{FF2B5EF4-FFF2-40B4-BE49-F238E27FC236}">
                <a16:creationId xmlns:a16="http://schemas.microsoft.com/office/drawing/2014/main" id="{DAC3C357-47E2-4566-C10D-E6916FD5722F}"/>
              </a:ext>
            </a:extLst>
          </p:cNvPr>
          <p:cNvSpPr/>
          <p:nvPr/>
        </p:nvSpPr>
        <p:spPr>
          <a:xfrm>
            <a:off x="269077" y="2097914"/>
            <a:ext cx="2132513" cy="3863946"/>
          </a:xfrm>
          <a:custGeom>
            <a:avLst/>
            <a:gdLst>
              <a:gd name="connsiteX0" fmla="*/ 0 w 2614020"/>
              <a:gd name="connsiteY0" fmla="*/ 0 h 4348303"/>
              <a:gd name="connsiteX1" fmla="*/ 1307011 w 2614020"/>
              <a:gd name="connsiteY1" fmla="*/ 290881 h 4348303"/>
              <a:gd name="connsiteX2" fmla="*/ 2614020 w 2614020"/>
              <a:gd name="connsiteY2" fmla="*/ 0 h 4348303"/>
              <a:gd name="connsiteX3" fmla="*/ 2614020 w 2614020"/>
              <a:gd name="connsiteY3" fmla="*/ 4348303 h 4348303"/>
              <a:gd name="connsiteX4" fmla="*/ 0 w 2614020"/>
              <a:gd name="connsiteY4" fmla="*/ 4348303 h 4348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4020" h="4348303">
                <a:moveTo>
                  <a:pt x="0" y="0"/>
                </a:moveTo>
                <a:lnTo>
                  <a:pt x="1307011" y="290881"/>
                </a:lnTo>
                <a:lnTo>
                  <a:pt x="2614020" y="0"/>
                </a:lnTo>
                <a:lnTo>
                  <a:pt x="2614020" y="4348303"/>
                </a:lnTo>
                <a:lnTo>
                  <a:pt x="0" y="4348303"/>
                </a:lnTo>
                <a:close/>
              </a:path>
            </a:pathLst>
          </a:custGeom>
          <a:solidFill>
            <a:srgbClr val="004180"/>
          </a:solidFill>
          <a:ln w="12700">
            <a:solidFill>
              <a:schemeClr val="accent2"/>
            </a:solidFill>
            <a:prstDash val="solid"/>
          </a:ln>
          <a:effectLst>
            <a:outerShdw blurRad="50800" dist="12700" dir="8100000" algn="bl" rotWithShape="0">
              <a:srgbClr val="000000">
                <a:alpha val="7000"/>
              </a:srgbClr>
            </a:outerShdw>
          </a:effectLst>
        </p:spPr>
        <p:txBody>
          <a:bodyPr/>
          <a:lstStyle/>
          <a:p>
            <a:endParaRPr lang="en-US" sz="2400">
              <a:solidFill>
                <a:schemeClr val="tx1"/>
              </a:solidFill>
            </a:endParaRPr>
          </a:p>
          <a:p>
            <a:endParaRPr lang="en-US" sz="2400">
              <a:solidFill>
                <a:schemeClr val="tx1"/>
              </a:solidFill>
            </a:endParaRPr>
          </a:p>
          <a:p>
            <a:endParaRPr lang="en-US" sz="2400">
              <a:solidFill>
                <a:schemeClr val="tx1"/>
              </a:solidFill>
            </a:endParaRPr>
          </a:p>
          <a:p>
            <a:pPr algn="ctr"/>
            <a:r>
              <a:rPr lang="en-US" sz="1200">
                <a:solidFill>
                  <a:schemeClr val="bg1"/>
                </a:solidFill>
              </a:rPr>
              <a:t>We will go beyond market assessment to deliver actionable outcomes—translating insights into GTM strategy, business model design, and operating model transformation.</a:t>
            </a:r>
          </a:p>
          <a:p>
            <a:pPr algn="ctr"/>
            <a:r>
              <a:rPr lang="en-US" sz="1200">
                <a:solidFill>
                  <a:schemeClr val="bg1"/>
                </a:solidFill>
              </a:rPr>
              <a:t>Our approach ensures Maxis moves from:-</a:t>
            </a:r>
          </a:p>
          <a:p>
            <a:pPr algn="ctr"/>
            <a:r>
              <a:rPr lang="en-US" sz="1200">
                <a:solidFill>
                  <a:schemeClr val="bg1"/>
                </a:solidFill>
              </a:rPr>
              <a:t>Where to play → How to win → How to execute at scale</a:t>
            </a:r>
          </a:p>
        </p:txBody>
      </p:sp>
      <p:sp>
        <p:nvSpPr>
          <p:cNvPr id="5" name="Nom2">
            <a:extLst>
              <a:ext uri="{FF2B5EF4-FFF2-40B4-BE49-F238E27FC236}">
                <a16:creationId xmlns:a16="http://schemas.microsoft.com/office/drawing/2014/main" id="{E286CE90-D341-79DF-358C-F666DD870DE8}"/>
              </a:ext>
            </a:extLst>
          </p:cNvPr>
          <p:cNvSpPr/>
          <p:nvPr/>
        </p:nvSpPr>
        <p:spPr>
          <a:xfrm rot="5400000">
            <a:off x="780996" y="1049028"/>
            <a:ext cx="1108675" cy="2134870"/>
          </a:xfrm>
          <a:prstGeom prst="homePlate">
            <a:avLst>
              <a:gd name="adj" fmla="val 46698"/>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schemeClr val="bg1"/>
              </a:solidFill>
              <a:effectLst/>
              <a:uLnTx/>
              <a:uFillTx/>
              <a:ea typeface="+mn-ea"/>
              <a:cs typeface="+mn-cs"/>
            </a:endParaRPr>
          </a:p>
        </p:txBody>
      </p:sp>
      <p:sp>
        <p:nvSpPr>
          <p:cNvPr id="6" name="Freeform 15 - 1">
            <a:extLst>
              <a:ext uri="{FF2B5EF4-FFF2-40B4-BE49-F238E27FC236}">
                <a16:creationId xmlns:a16="http://schemas.microsoft.com/office/drawing/2014/main" id="{9CA19D7E-E8AC-D309-4B00-5B6EEBF65374}"/>
              </a:ext>
            </a:extLst>
          </p:cNvPr>
          <p:cNvSpPr/>
          <p:nvPr/>
        </p:nvSpPr>
        <p:spPr>
          <a:xfrm>
            <a:off x="2708407" y="2089449"/>
            <a:ext cx="2132513" cy="3872411"/>
          </a:xfrm>
          <a:custGeom>
            <a:avLst/>
            <a:gdLst>
              <a:gd name="connsiteX0" fmla="*/ 0 w 2614020"/>
              <a:gd name="connsiteY0" fmla="*/ 0 h 4348303"/>
              <a:gd name="connsiteX1" fmla="*/ 1307011 w 2614020"/>
              <a:gd name="connsiteY1" fmla="*/ 290881 h 4348303"/>
              <a:gd name="connsiteX2" fmla="*/ 2614020 w 2614020"/>
              <a:gd name="connsiteY2" fmla="*/ 0 h 4348303"/>
              <a:gd name="connsiteX3" fmla="*/ 2614020 w 2614020"/>
              <a:gd name="connsiteY3" fmla="*/ 4348303 h 4348303"/>
              <a:gd name="connsiteX4" fmla="*/ 0 w 2614020"/>
              <a:gd name="connsiteY4" fmla="*/ 4348303 h 4348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4020" h="4348303">
                <a:moveTo>
                  <a:pt x="0" y="0"/>
                </a:moveTo>
                <a:lnTo>
                  <a:pt x="1307011" y="290881"/>
                </a:lnTo>
                <a:lnTo>
                  <a:pt x="2614020" y="0"/>
                </a:lnTo>
                <a:lnTo>
                  <a:pt x="2614020" y="4348303"/>
                </a:lnTo>
                <a:lnTo>
                  <a:pt x="0" y="4348303"/>
                </a:lnTo>
                <a:close/>
              </a:path>
            </a:pathLst>
          </a:custGeom>
          <a:solidFill>
            <a:srgbClr val="004180"/>
          </a:solidFill>
          <a:ln w="12700">
            <a:solidFill>
              <a:schemeClr val="accent2"/>
            </a:solidFill>
            <a:prstDash val="solid"/>
          </a:ln>
          <a:effectLst>
            <a:outerShdw blurRad="50800" dist="12700" dir="8100000" algn="bl" rotWithShape="0">
              <a:srgbClr val="000000">
                <a:alpha val="7000"/>
              </a:srgbClr>
            </a:outerShdw>
          </a:effectLst>
        </p:spPr>
        <p:txBody>
          <a:bodyPr/>
          <a:lstStyle/>
          <a:p>
            <a:endParaRPr lang="en-US" sz="2400"/>
          </a:p>
          <a:p>
            <a:endParaRPr lang="en-US" sz="2400"/>
          </a:p>
          <a:p>
            <a:endParaRPr lang="en-US" sz="2400"/>
          </a:p>
          <a:p>
            <a:pPr algn="ctr"/>
            <a:r>
              <a:rPr lang="en-US" sz="1200">
                <a:solidFill>
                  <a:schemeClr val="bg1"/>
                </a:solidFill>
              </a:rPr>
              <a:t>We will bring strong expertise in wholesale telecom and infrastructure-led business models, including Connectivity, IP transit, and DC interconnect, </a:t>
            </a:r>
            <a:r>
              <a:rPr lang="en-US" sz="1200" err="1">
                <a:solidFill>
                  <a:schemeClr val="bg1"/>
                </a:solidFill>
              </a:rPr>
              <a:t>Hyperscaler</a:t>
            </a:r>
            <a:r>
              <a:rPr lang="en-US" sz="1200">
                <a:solidFill>
                  <a:schemeClr val="bg1"/>
                </a:solidFill>
              </a:rPr>
              <a:t>, carrier, and ecosystem-driven demand, Commercial (pricing, margins) + operational (network, capacity) dynamics - to enable practical, segment-specific growth strategies</a:t>
            </a:r>
          </a:p>
        </p:txBody>
      </p:sp>
      <p:sp>
        <p:nvSpPr>
          <p:cNvPr id="7" name="Nom2">
            <a:extLst>
              <a:ext uri="{FF2B5EF4-FFF2-40B4-BE49-F238E27FC236}">
                <a16:creationId xmlns:a16="http://schemas.microsoft.com/office/drawing/2014/main" id="{7BED0398-606E-756D-D65A-41B3B785B194}"/>
              </a:ext>
            </a:extLst>
          </p:cNvPr>
          <p:cNvSpPr/>
          <p:nvPr/>
        </p:nvSpPr>
        <p:spPr>
          <a:xfrm rot="5400000">
            <a:off x="3220321" y="1041744"/>
            <a:ext cx="1108685" cy="2132519"/>
          </a:xfrm>
          <a:prstGeom prst="homePlate">
            <a:avLst>
              <a:gd name="adj" fmla="val 4669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spcBef>
                <a:spcPct val="0"/>
              </a:spcBef>
              <a:defRPr/>
            </a:pPr>
            <a:r>
              <a:rPr lang="en-US" sz="1400" b="1">
                <a:solidFill>
                  <a:schemeClr val="bg1"/>
                </a:solidFill>
              </a:rPr>
              <a:t>Deep Telecom &amp; Wholesale Domain Expertise</a:t>
            </a:r>
          </a:p>
        </p:txBody>
      </p:sp>
      <p:sp>
        <p:nvSpPr>
          <p:cNvPr id="8" name="Freeform 15 - 2">
            <a:extLst>
              <a:ext uri="{FF2B5EF4-FFF2-40B4-BE49-F238E27FC236}">
                <a16:creationId xmlns:a16="http://schemas.microsoft.com/office/drawing/2014/main" id="{8C70954B-3E2C-7A90-574E-CB2DB5F2C8C1}"/>
              </a:ext>
            </a:extLst>
          </p:cNvPr>
          <p:cNvSpPr/>
          <p:nvPr/>
        </p:nvSpPr>
        <p:spPr>
          <a:xfrm>
            <a:off x="5020349" y="2080981"/>
            <a:ext cx="2132513" cy="3872411"/>
          </a:xfrm>
          <a:custGeom>
            <a:avLst/>
            <a:gdLst>
              <a:gd name="connsiteX0" fmla="*/ 0 w 2614020"/>
              <a:gd name="connsiteY0" fmla="*/ 0 h 4348303"/>
              <a:gd name="connsiteX1" fmla="*/ 1307011 w 2614020"/>
              <a:gd name="connsiteY1" fmla="*/ 290881 h 4348303"/>
              <a:gd name="connsiteX2" fmla="*/ 2614020 w 2614020"/>
              <a:gd name="connsiteY2" fmla="*/ 0 h 4348303"/>
              <a:gd name="connsiteX3" fmla="*/ 2614020 w 2614020"/>
              <a:gd name="connsiteY3" fmla="*/ 4348303 h 4348303"/>
              <a:gd name="connsiteX4" fmla="*/ 0 w 2614020"/>
              <a:gd name="connsiteY4" fmla="*/ 4348303 h 4348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4020" h="4348303">
                <a:moveTo>
                  <a:pt x="0" y="0"/>
                </a:moveTo>
                <a:lnTo>
                  <a:pt x="1307011" y="290881"/>
                </a:lnTo>
                <a:lnTo>
                  <a:pt x="2614020" y="0"/>
                </a:lnTo>
                <a:lnTo>
                  <a:pt x="2614020" y="4348303"/>
                </a:lnTo>
                <a:lnTo>
                  <a:pt x="0" y="4348303"/>
                </a:lnTo>
                <a:close/>
              </a:path>
            </a:pathLst>
          </a:custGeom>
          <a:solidFill>
            <a:srgbClr val="004180"/>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wrap="square" lIns="88900" tIns="360000" rIns="88900" bIns="38100" rtlCol="0" anchor="t">
            <a:noAutofit/>
          </a:bodyPr>
          <a:lstStyle/>
          <a:p>
            <a:endParaRPr kumimoji="0" lang="en-US" sz="1200" i="0" u="none" strike="noStrike" kern="1200" spc="0" normalizeH="0" noProof="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endParaRPr>
          </a:p>
          <a:p>
            <a:endParaRPr lang="en-US" sz="120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kumimoji="0" lang="en-US" sz="1200" i="0" u="none" strike="noStrike" kern="1200" spc="0" normalizeH="0" noProof="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57263" rtl="0" eaLnBrk="1" fontAlgn="base" latinLnBrk="0" hangingPunct="1">
              <a:lnSpc>
                <a:spcPct val="100000"/>
              </a:lnSpc>
              <a:spcBef>
                <a:spcPts val="300"/>
              </a:spcBef>
              <a:spcAft>
                <a:spcPts val="300"/>
              </a:spcAft>
              <a:buClr>
                <a:srgbClr val="12ABDB"/>
              </a:buClr>
              <a:buSzPct val="100000"/>
              <a:buFontTx/>
              <a:buNone/>
              <a:tabLst/>
              <a:defRPr/>
            </a:pPr>
            <a:endParaRPr lang="en-US" sz="1200">
              <a:solidFill>
                <a:schemeClr val="bg1"/>
              </a:solidFill>
              <a:ea typeface="Calibri" panose="020F0502020204030204" pitchFamily="34" charset="0"/>
              <a:cs typeface="Calibri" panose="020F0502020204030204" pitchFamily="34" charset="0"/>
            </a:endParaRPr>
          </a:p>
          <a:p>
            <a:pPr marL="0" marR="0" lvl="0" indent="0" algn="ctr" defTabSz="957263" rtl="0" eaLnBrk="1" fontAlgn="base" latinLnBrk="0" hangingPunct="1">
              <a:lnSpc>
                <a:spcPct val="100000"/>
              </a:lnSpc>
              <a:spcBef>
                <a:spcPts val="300"/>
              </a:spcBef>
              <a:spcAft>
                <a:spcPts val="300"/>
              </a:spcAft>
              <a:buClr>
                <a:srgbClr val="12ABDB"/>
              </a:buClr>
              <a:buSzPct val="100000"/>
              <a:buFontTx/>
              <a:buNone/>
              <a:tabLst/>
              <a:defRPr/>
            </a:pPr>
            <a:r>
              <a:rPr lang="en-US" sz="1200">
                <a:solidFill>
                  <a:schemeClr val="bg1"/>
                </a:solidFill>
                <a:ea typeface="Calibri" panose="020F0502020204030204" pitchFamily="34" charset="0"/>
                <a:cs typeface="Calibri" panose="020F0502020204030204" pitchFamily="34" charset="0"/>
              </a:rPr>
              <a:t>We will combine Premium market intelligence, Primary/Secondary research and expert inputs, Infrastructure-level insights (routes, capacity, pricing) - to deliver a triangulated, defensible view of wholesale growth pools across Malaysia &amp; ASEAN, aligned to RFI expectations.</a:t>
            </a:r>
            <a:endParaRPr kumimoji="0" lang="en-US" sz="1200" b="1" i="1" u="none" strike="noStrike" kern="1200" spc="0" normalizeH="0" noProof="0">
              <a:ln>
                <a:noFill/>
              </a:ln>
              <a:solidFill>
                <a:schemeClr val="bg1"/>
              </a:solidFill>
              <a:effectLst/>
              <a:uLnTx/>
              <a:uFillTx/>
              <a:ea typeface="Calibri" panose="020F0502020204030204" pitchFamily="34" charset="0"/>
              <a:cs typeface="Calibri" panose="020F0502020204030204" pitchFamily="34" charset="0"/>
            </a:endParaRPr>
          </a:p>
        </p:txBody>
      </p:sp>
      <p:sp>
        <p:nvSpPr>
          <p:cNvPr id="9" name="Nom2">
            <a:extLst>
              <a:ext uri="{FF2B5EF4-FFF2-40B4-BE49-F238E27FC236}">
                <a16:creationId xmlns:a16="http://schemas.microsoft.com/office/drawing/2014/main" id="{79F22F05-D9DA-67FF-6968-61625EE2F3C7}"/>
              </a:ext>
            </a:extLst>
          </p:cNvPr>
          <p:cNvSpPr/>
          <p:nvPr/>
        </p:nvSpPr>
        <p:spPr>
          <a:xfrm rot="5400000">
            <a:off x="5532263" y="1033273"/>
            <a:ext cx="1108685" cy="2132513"/>
          </a:xfrm>
          <a:prstGeom prst="homePlate">
            <a:avLst>
              <a:gd name="adj" fmla="val 4669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1400" b="1">
                <a:solidFill>
                  <a:schemeClr val="bg1"/>
                </a:solidFill>
              </a:rPr>
              <a:t>Data‑Led, Fact-Based Market Intelligence</a:t>
            </a:r>
            <a:endParaRPr kumimoji="0" lang="en-US" sz="1400" b="1" i="0" u="none" strike="noStrike" kern="1200" cap="none" spc="0" normalizeH="0" baseline="0" noProof="0">
              <a:ln>
                <a:noFill/>
              </a:ln>
              <a:solidFill>
                <a:schemeClr val="bg1"/>
              </a:solidFill>
              <a:effectLst/>
              <a:uLnTx/>
              <a:uFillTx/>
              <a:ea typeface="+mn-ea"/>
              <a:cs typeface="+mn-cs"/>
            </a:endParaRPr>
          </a:p>
        </p:txBody>
      </p:sp>
      <p:sp>
        <p:nvSpPr>
          <p:cNvPr id="10" name="Freeform 15 - 3">
            <a:extLst>
              <a:ext uri="{FF2B5EF4-FFF2-40B4-BE49-F238E27FC236}">
                <a16:creationId xmlns:a16="http://schemas.microsoft.com/office/drawing/2014/main" id="{B40D598B-53A4-A2C2-3505-4E2F04247545}"/>
              </a:ext>
            </a:extLst>
          </p:cNvPr>
          <p:cNvSpPr/>
          <p:nvPr/>
        </p:nvSpPr>
        <p:spPr>
          <a:xfrm>
            <a:off x="7359259" y="2080980"/>
            <a:ext cx="2132513" cy="3872411"/>
          </a:xfrm>
          <a:custGeom>
            <a:avLst/>
            <a:gdLst>
              <a:gd name="connsiteX0" fmla="*/ 0 w 2614020"/>
              <a:gd name="connsiteY0" fmla="*/ 0 h 4348303"/>
              <a:gd name="connsiteX1" fmla="*/ 1307011 w 2614020"/>
              <a:gd name="connsiteY1" fmla="*/ 290881 h 4348303"/>
              <a:gd name="connsiteX2" fmla="*/ 2614020 w 2614020"/>
              <a:gd name="connsiteY2" fmla="*/ 0 h 4348303"/>
              <a:gd name="connsiteX3" fmla="*/ 2614020 w 2614020"/>
              <a:gd name="connsiteY3" fmla="*/ 4348303 h 4348303"/>
              <a:gd name="connsiteX4" fmla="*/ 0 w 2614020"/>
              <a:gd name="connsiteY4" fmla="*/ 4348303 h 4348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4020" h="4348303">
                <a:moveTo>
                  <a:pt x="0" y="0"/>
                </a:moveTo>
                <a:lnTo>
                  <a:pt x="1307011" y="290881"/>
                </a:lnTo>
                <a:lnTo>
                  <a:pt x="2614020" y="0"/>
                </a:lnTo>
                <a:lnTo>
                  <a:pt x="2614020" y="4348303"/>
                </a:lnTo>
                <a:lnTo>
                  <a:pt x="0" y="4348303"/>
                </a:lnTo>
                <a:close/>
              </a:path>
            </a:pathLst>
          </a:custGeom>
          <a:solidFill>
            <a:srgbClr val="004180"/>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wrap="square" lIns="88900" tIns="360000" rIns="88900" bIns="38100" rtlCol="0" anchor="t">
            <a:noAutofit/>
          </a:bodyPr>
          <a:lstStyle/>
          <a:p>
            <a:endParaRPr kumimoji="0" lang="en-US" sz="1200" i="0" u="none" strike="noStrike" kern="1200" spc="0" normalizeH="0" noProof="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endParaRPr>
          </a:p>
          <a:p>
            <a:endParaRPr lang="en-US" sz="120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kumimoji="0" lang="en-US" sz="1200" u="none" strike="noStrike" kern="1200" spc="0" normalizeH="0" noProof="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endParaRPr>
          </a:p>
          <a:p>
            <a:pPr lvl="0" algn="ctr" defTabSz="957263" fontAlgn="base">
              <a:spcBef>
                <a:spcPts val="300"/>
              </a:spcBef>
              <a:spcAft>
                <a:spcPts val="300"/>
              </a:spcAft>
              <a:buClr>
                <a:srgbClr val="12ABDB"/>
              </a:buClr>
              <a:buSzPct val="100000"/>
              <a:defRPr/>
            </a:pPr>
            <a:endParaRPr lang="en-US" sz="1200">
              <a:solidFill>
                <a:schemeClr val="bg1"/>
              </a:solidFill>
              <a:ea typeface="Calibri" panose="020F0502020204030204" pitchFamily="34" charset="0"/>
              <a:cs typeface="Calibri" panose="020F0502020204030204" pitchFamily="34" charset="0"/>
            </a:endParaRPr>
          </a:p>
          <a:p>
            <a:pPr lvl="0" algn="ctr" defTabSz="957263" fontAlgn="base">
              <a:spcBef>
                <a:spcPts val="300"/>
              </a:spcBef>
              <a:spcAft>
                <a:spcPts val="300"/>
              </a:spcAft>
              <a:buClr>
                <a:srgbClr val="12ABDB"/>
              </a:buClr>
              <a:buSzPct val="100000"/>
              <a:defRPr/>
            </a:pPr>
            <a:r>
              <a:rPr lang="en-US" sz="1200">
                <a:solidFill>
                  <a:schemeClr val="bg1"/>
                </a:solidFill>
                <a:ea typeface="Calibri" panose="020F0502020204030204" pitchFamily="34" charset="0"/>
                <a:cs typeface="Calibri" panose="020F0502020204030204" pitchFamily="34" charset="0"/>
              </a:rPr>
              <a:t>Unlike pure strategic research firms, we will provide - Strategy &amp; GTM design, Operating model transformation, Digital enablement (pricing, provisioning, analytics) - ensuring faster implementation and measurable business impact, not just recommendations</a:t>
            </a:r>
          </a:p>
        </p:txBody>
      </p:sp>
      <p:sp>
        <p:nvSpPr>
          <p:cNvPr id="11" name="Nom2">
            <a:extLst>
              <a:ext uri="{FF2B5EF4-FFF2-40B4-BE49-F238E27FC236}">
                <a16:creationId xmlns:a16="http://schemas.microsoft.com/office/drawing/2014/main" id="{C129219F-7C28-AC6C-0244-D24BE04A1638}"/>
              </a:ext>
            </a:extLst>
          </p:cNvPr>
          <p:cNvSpPr/>
          <p:nvPr/>
        </p:nvSpPr>
        <p:spPr>
          <a:xfrm rot="5400000">
            <a:off x="7871173" y="1033271"/>
            <a:ext cx="1108685" cy="2132513"/>
          </a:xfrm>
          <a:prstGeom prst="homePlate">
            <a:avLst>
              <a:gd name="adj" fmla="val 4669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lvl="0" algn="ctr">
              <a:spcBef>
                <a:spcPct val="0"/>
              </a:spcBef>
              <a:defRPr/>
            </a:pPr>
            <a:r>
              <a:rPr lang="en-US" sz="1400" b="1">
                <a:solidFill>
                  <a:schemeClr val="bg1"/>
                </a:solidFill>
              </a:rPr>
              <a:t>Strategy + Transformation + Execution in One Partner</a:t>
            </a:r>
          </a:p>
        </p:txBody>
      </p:sp>
      <p:sp>
        <p:nvSpPr>
          <p:cNvPr id="13" name="Oval 12">
            <a:extLst>
              <a:ext uri="{FF2B5EF4-FFF2-40B4-BE49-F238E27FC236}">
                <a16:creationId xmlns:a16="http://schemas.microsoft.com/office/drawing/2014/main" id="{B10C20CA-A88A-35CA-5346-75EA7C7FBFF5}"/>
              </a:ext>
            </a:extLst>
          </p:cNvPr>
          <p:cNvSpPr/>
          <p:nvPr/>
        </p:nvSpPr>
        <p:spPr>
          <a:xfrm>
            <a:off x="3584177" y="2480569"/>
            <a:ext cx="380972" cy="380972"/>
          </a:xfrm>
          <a:prstGeom prst="ellipse">
            <a:avLst/>
          </a:prstGeom>
          <a:solidFill>
            <a:schemeClr val="accent2"/>
          </a:solidFill>
          <a:ln w="666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cap="small">
                <a:solidFill>
                  <a:schemeClr val="bg1"/>
                </a:solidFill>
              </a:rPr>
              <a:t>2</a:t>
            </a:r>
          </a:p>
        </p:txBody>
      </p:sp>
      <p:sp>
        <p:nvSpPr>
          <p:cNvPr id="14" name="Oval 13">
            <a:extLst>
              <a:ext uri="{FF2B5EF4-FFF2-40B4-BE49-F238E27FC236}">
                <a16:creationId xmlns:a16="http://schemas.microsoft.com/office/drawing/2014/main" id="{C24DA728-7602-B976-6F84-5F3AD3A4ECD0}"/>
              </a:ext>
            </a:extLst>
          </p:cNvPr>
          <p:cNvSpPr/>
          <p:nvPr/>
        </p:nvSpPr>
        <p:spPr>
          <a:xfrm>
            <a:off x="5896119" y="2511815"/>
            <a:ext cx="380972" cy="380972"/>
          </a:xfrm>
          <a:prstGeom prst="ellipse">
            <a:avLst/>
          </a:prstGeom>
          <a:solidFill>
            <a:schemeClr val="accent2"/>
          </a:solidFill>
          <a:ln w="666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cap="small">
                <a:solidFill>
                  <a:schemeClr val="bg1"/>
                </a:solidFill>
              </a:rPr>
              <a:t>3</a:t>
            </a:r>
          </a:p>
        </p:txBody>
      </p:sp>
      <p:sp>
        <p:nvSpPr>
          <p:cNvPr id="15" name="Oval 14">
            <a:extLst>
              <a:ext uri="{FF2B5EF4-FFF2-40B4-BE49-F238E27FC236}">
                <a16:creationId xmlns:a16="http://schemas.microsoft.com/office/drawing/2014/main" id="{BD1E6447-4DCE-6501-300E-D7F7B70918FC}"/>
              </a:ext>
            </a:extLst>
          </p:cNvPr>
          <p:cNvSpPr/>
          <p:nvPr/>
        </p:nvSpPr>
        <p:spPr>
          <a:xfrm>
            <a:off x="8235029" y="2472101"/>
            <a:ext cx="380972" cy="380972"/>
          </a:xfrm>
          <a:prstGeom prst="ellipse">
            <a:avLst/>
          </a:prstGeom>
          <a:solidFill>
            <a:schemeClr val="accent2"/>
          </a:solidFill>
          <a:ln w="666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600" b="1" cap="small">
                <a:solidFill>
                  <a:schemeClr val="bg1"/>
                </a:solidFill>
              </a:rPr>
              <a:t>4</a:t>
            </a:r>
            <a:endParaRPr lang="en-US" sz="1600" b="1" cap="small">
              <a:solidFill>
                <a:schemeClr val="bg1"/>
              </a:solidFill>
            </a:endParaRPr>
          </a:p>
        </p:txBody>
      </p:sp>
      <p:sp>
        <p:nvSpPr>
          <p:cNvPr id="16" name="Freeform 15 - 4">
            <a:extLst>
              <a:ext uri="{FF2B5EF4-FFF2-40B4-BE49-F238E27FC236}">
                <a16:creationId xmlns:a16="http://schemas.microsoft.com/office/drawing/2014/main" id="{C3F33B8F-209C-E2AE-F22C-40FA40EE1EA7}"/>
              </a:ext>
            </a:extLst>
          </p:cNvPr>
          <p:cNvSpPr/>
          <p:nvPr/>
        </p:nvSpPr>
        <p:spPr>
          <a:xfrm>
            <a:off x="9707423" y="2089447"/>
            <a:ext cx="2132513" cy="3863944"/>
          </a:xfrm>
          <a:custGeom>
            <a:avLst/>
            <a:gdLst>
              <a:gd name="connsiteX0" fmla="*/ 0 w 2614020"/>
              <a:gd name="connsiteY0" fmla="*/ 0 h 4348303"/>
              <a:gd name="connsiteX1" fmla="*/ 1307011 w 2614020"/>
              <a:gd name="connsiteY1" fmla="*/ 290881 h 4348303"/>
              <a:gd name="connsiteX2" fmla="*/ 2614020 w 2614020"/>
              <a:gd name="connsiteY2" fmla="*/ 0 h 4348303"/>
              <a:gd name="connsiteX3" fmla="*/ 2614020 w 2614020"/>
              <a:gd name="connsiteY3" fmla="*/ 4348303 h 4348303"/>
              <a:gd name="connsiteX4" fmla="*/ 0 w 2614020"/>
              <a:gd name="connsiteY4" fmla="*/ 4348303 h 4348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4020" h="4348303">
                <a:moveTo>
                  <a:pt x="0" y="0"/>
                </a:moveTo>
                <a:lnTo>
                  <a:pt x="1307011" y="290881"/>
                </a:lnTo>
                <a:lnTo>
                  <a:pt x="2614020" y="0"/>
                </a:lnTo>
                <a:lnTo>
                  <a:pt x="2614020" y="4348303"/>
                </a:lnTo>
                <a:lnTo>
                  <a:pt x="0" y="4348303"/>
                </a:lnTo>
                <a:close/>
              </a:path>
            </a:pathLst>
          </a:custGeom>
          <a:solidFill>
            <a:srgbClr val="004180"/>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wrap="square" lIns="88900" tIns="360000" rIns="88900" bIns="38100" rtlCol="0" anchor="t">
            <a:noAutofit/>
          </a:bodyPr>
          <a:lstStyle/>
          <a:p>
            <a:pPr algn="ctr"/>
            <a:endParaRPr kumimoji="0" lang="en-US" sz="1200" i="0" u="none" strike="noStrike" kern="1200" spc="0" normalizeH="0" noProof="0">
              <a:ln>
                <a:noFill/>
              </a:ln>
              <a:solidFill>
                <a:schemeClr val="tx1"/>
              </a:solidFill>
              <a:effectLst/>
              <a:uLnTx/>
              <a:uFillTx/>
              <a:ea typeface="+mn-ea"/>
              <a:cs typeface="Arial" pitchFamily="34" charset="0"/>
            </a:endParaRPr>
          </a:p>
          <a:p>
            <a:pPr algn="ctr"/>
            <a:endParaRPr lang="en-US" sz="1200">
              <a:solidFill>
                <a:schemeClr val="tx1"/>
              </a:solidFill>
              <a:cs typeface="Arial" pitchFamily="34" charset="0"/>
            </a:endParaRPr>
          </a:p>
          <a:p>
            <a:pPr algn="ctr"/>
            <a:endParaRPr kumimoji="0" lang="en-US" sz="1200" i="0" u="none" strike="noStrike" kern="1200" spc="0" normalizeH="0" noProof="0">
              <a:ln>
                <a:noFill/>
              </a:ln>
              <a:solidFill>
                <a:schemeClr val="tx1"/>
              </a:solidFill>
              <a:effectLst/>
              <a:uLnTx/>
              <a:uFillTx/>
              <a:ea typeface="+mn-ea"/>
              <a:cs typeface="Arial" pitchFamily="34" charset="0"/>
            </a:endParaRPr>
          </a:p>
          <a:p>
            <a:pPr algn="ctr"/>
            <a:endParaRPr kumimoji="0" lang="en-US" sz="1200" i="0" u="none" strike="noStrike" kern="1200" spc="0" normalizeH="0" noProof="0">
              <a:ln>
                <a:noFill/>
              </a:ln>
              <a:solidFill>
                <a:schemeClr val="bg1"/>
              </a:solidFill>
              <a:effectLst/>
              <a:uLnTx/>
              <a:uFillTx/>
              <a:ea typeface="+mn-ea"/>
              <a:cs typeface="Arial" pitchFamily="34" charset="0"/>
            </a:endParaRPr>
          </a:p>
          <a:p>
            <a:pPr algn="ctr"/>
            <a:endParaRPr lang="en-US" sz="1200">
              <a:solidFill>
                <a:schemeClr val="bg1"/>
              </a:solidFill>
              <a:cs typeface="Arial" pitchFamily="34" charset="0"/>
            </a:endParaRPr>
          </a:p>
          <a:p>
            <a:pPr algn="ctr"/>
            <a:r>
              <a:rPr kumimoji="0" lang="en-US" sz="1200" i="0" u="none" strike="noStrike" kern="1200" spc="0" normalizeH="0" noProof="0">
                <a:ln>
                  <a:noFill/>
                </a:ln>
                <a:solidFill>
                  <a:schemeClr val="bg1"/>
                </a:solidFill>
                <a:effectLst/>
                <a:uLnTx/>
                <a:uFillTx/>
                <a:ea typeface="+mn-ea"/>
                <a:cs typeface="Arial" pitchFamily="34" charset="0"/>
              </a:rPr>
              <a:t>We will help Maxis unlock value through ecosystem partnerships, including-  Hyperscalers and cloud providers, Data center operators, Subsea and cross-border partners - enabling a shift from Capacity selling → Solution-led &amp; ecosystem-driven monetization</a:t>
            </a:r>
            <a:endParaRPr kumimoji="0" lang="en-US" sz="1200" u="none" strike="noStrike" kern="1200" spc="0" normalizeH="0" noProof="0">
              <a:ln>
                <a:noFill/>
              </a:ln>
              <a:solidFill>
                <a:schemeClr val="bg1"/>
              </a:solidFill>
              <a:effectLst/>
              <a:uLnTx/>
              <a:uFillTx/>
              <a:ea typeface="+mn-ea"/>
              <a:cs typeface="Arial" pitchFamily="34" charset="0"/>
            </a:endParaRPr>
          </a:p>
        </p:txBody>
      </p:sp>
      <p:sp>
        <p:nvSpPr>
          <p:cNvPr id="17" name="Nom2">
            <a:extLst>
              <a:ext uri="{FF2B5EF4-FFF2-40B4-BE49-F238E27FC236}">
                <a16:creationId xmlns:a16="http://schemas.microsoft.com/office/drawing/2014/main" id="{97EB5953-3CA2-B40B-A65A-AB870BBB6C46}"/>
              </a:ext>
            </a:extLst>
          </p:cNvPr>
          <p:cNvSpPr/>
          <p:nvPr/>
        </p:nvSpPr>
        <p:spPr>
          <a:xfrm rot="5400000">
            <a:off x="10219340" y="1041737"/>
            <a:ext cx="1108679" cy="2132513"/>
          </a:xfrm>
          <a:prstGeom prst="homePlate">
            <a:avLst>
              <a:gd name="adj" fmla="val 4669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BE" sz="1400" b="1" i="0" u="none" strike="noStrike" kern="1200" cap="none" spc="0" normalizeH="0" baseline="0" noProof="0">
                <a:ln>
                  <a:noFill/>
                </a:ln>
                <a:solidFill>
                  <a:schemeClr val="bg1"/>
                </a:solidFill>
                <a:effectLst/>
                <a:uLnTx/>
                <a:uFillTx/>
                <a:ea typeface="+mn-ea"/>
                <a:cs typeface="+mn-cs"/>
              </a:rPr>
              <a:t>Ecosystem-Led Growth Enablement</a:t>
            </a:r>
            <a:endParaRPr kumimoji="0" lang="en-US" sz="1400" b="1" i="0" u="none" strike="noStrike" kern="1200" cap="none" spc="0" normalizeH="0" baseline="0" noProof="0">
              <a:ln>
                <a:noFill/>
              </a:ln>
              <a:solidFill>
                <a:schemeClr val="bg1"/>
              </a:solidFill>
              <a:effectLst/>
              <a:uLnTx/>
              <a:uFillTx/>
              <a:ea typeface="+mn-ea"/>
              <a:cs typeface="+mn-cs"/>
            </a:endParaRPr>
          </a:p>
        </p:txBody>
      </p:sp>
      <p:sp>
        <p:nvSpPr>
          <p:cNvPr id="18" name="Oval 4106">
            <a:extLst>
              <a:ext uri="{FF2B5EF4-FFF2-40B4-BE49-F238E27FC236}">
                <a16:creationId xmlns:a16="http://schemas.microsoft.com/office/drawing/2014/main" id="{833DEC17-0CBB-A34C-AB15-05896387F81A}"/>
              </a:ext>
            </a:extLst>
          </p:cNvPr>
          <p:cNvSpPr/>
          <p:nvPr/>
        </p:nvSpPr>
        <p:spPr>
          <a:xfrm>
            <a:off x="10583193" y="2439236"/>
            <a:ext cx="380972" cy="380972"/>
          </a:xfrm>
          <a:prstGeom prst="ellipse">
            <a:avLst/>
          </a:prstGeom>
          <a:solidFill>
            <a:schemeClr val="accent2"/>
          </a:solidFill>
          <a:ln w="666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cap="small">
                <a:solidFill>
                  <a:schemeClr val="bg1"/>
                </a:solidFill>
              </a:rPr>
              <a:t>5</a:t>
            </a:r>
          </a:p>
        </p:txBody>
      </p:sp>
      <p:sp>
        <p:nvSpPr>
          <p:cNvPr id="19" name="Title 4">
            <a:extLst>
              <a:ext uri="{FF2B5EF4-FFF2-40B4-BE49-F238E27FC236}">
                <a16:creationId xmlns:a16="http://schemas.microsoft.com/office/drawing/2014/main" id="{CD3EDC58-583D-2714-52C3-AB49BD92716C}"/>
              </a:ext>
            </a:extLst>
          </p:cNvPr>
          <p:cNvSpPr>
            <a:spLocks noGrp="1"/>
          </p:cNvSpPr>
          <p:nvPr>
            <p:ph type="title"/>
          </p:nvPr>
        </p:nvSpPr>
        <p:spPr>
          <a:xfrm>
            <a:off x="570037" y="270190"/>
            <a:ext cx="10945812" cy="552360"/>
          </a:xfrm>
        </p:spPr>
        <p:txBody>
          <a:bodyPr vert="horz" rIns="0"/>
          <a:lstStyle/>
          <a:p>
            <a:r>
              <a:rPr lang="en-US" sz="2400">
                <a:solidFill>
                  <a:schemeClr val="bg1"/>
                </a:solidFill>
              </a:rPr>
              <a:t>Why Capgemini is the right partner for Maxis’ wholesale growth transformation</a:t>
            </a:r>
            <a:endParaRPr lang="en-US" sz="1300">
              <a:solidFill>
                <a:schemeClr val="bg1"/>
              </a:solidFill>
              <a:latin typeface="+mn-lt"/>
            </a:endParaRPr>
          </a:p>
        </p:txBody>
      </p:sp>
      <p:sp>
        <p:nvSpPr>
          <p:cNvPr id="20" name="TextBox 19">
            <a:extLst>
              <a:ext uri="{FF2B5EF4-FFF2-40B4-BE49-F238E27FC236}">
                <a16:creationId xmlns:a16="http://schemas.microsoft.com/office/drawing/2014/main" id="{EE75A7C3-50BB-42DE-A997-4A36C6B9BBC5}"/>
              </a:ext>
            </a:extLst>
          </p:cNvPr>
          <p:cNvSpPr txBox="1"/>
          <p:nvPr/>
        </p:nvSpPr>
        <p:spPr>
          <a:xfrm>
            <a:off x="476480" y="924098"/>
            <a:ext cx="10189029" cy="494624"/>
          </a:xfrm>
          <a:prstGeom prst="rect">
            <a:avLst/>
          </a:prstGeom>
          <a:noFill/>
        </p:spPr>
        <p:txBody>
          <a:bodyPr vert="horz" wrap="square" lIns="90000" tIns="46800" rIns="90000" bIns="46800" rtlCol="0" anchor="ctr">
            <a:spAutoFit/>
          </a:bodyPr>
          <a:lstStyle/>
          <a:p>
            <a:pPr>
              <a:spcBef>
                <a:spcPct val="0"/>
              </a:spcBef>
            </a:pPr>
            <a:r>
              <a:rPr lang="en-US" sz="1300">
                <a:solidFill>
                  <a:sysClr val="window" lastClr="FFFFFF"/>
                </a:solidFill>
              </a:rPr>
              <a:t>Capgemini combines market intelligence, telecom expertise, and execution capability to help Maxis capture and scale wholesale growth—not just identify it.</a:t>
            </a:r>
            <a:endParaRPr lang="en-IN" sz="1300"/>
          </a:p>
        </p:txBody>
      </p:sp>
      <p:pic>
        <p:nvPicPr>
          <p:cNvPr id="21" name="Picture 20">
            <a:extLst>
              <a:ext uri="{FF2B5EF4-FFF2-40B4-BE49-F238E27FC236}">
                <a16:creationId xmlns:a16="http://schemas.microsoft.com/office/drawing/2014/main" id="{FE610ADA-91D1-E0AC-313A-BD90EC2BAF86}"/>
              </a:ext>
            </a:extLst>
          </p:cNvPr>
          <p:cNvPicPr>
            <a:picLocks noChangeAspect="1"/>
          </p:cNvPicPr>
          <p:nvPr/>
        </p:nvPicPr>
        <p:blipFill>
          <a:blip r:embed="rId2"/>
          <a:stretch>
            <a:fillRect/>
          </a:stretch>
        </p:blipFill>
        <p:spPr>
          <a:xfrm>
            <a:off x="10595509" y="0"/>
            <a:ext cx="1237002" cy="696510"/>
          </a:xfrm>
          <a:prstGeom prst="rect">
            <a:avLst/>
          </a:prstGeom>
        </p:spPr>
      </p:pic>
      <p:sp>
        <p:nvSpPr>
          <p:cNvPr id="22" name="Nom2">
            <a:extLst>
              <a:ext uri="{FF2B5EF4-FFF2-40B4-BE49-F238E27FC236}">
                <a16:creationId xmlns:a16="http://schemas.microsoft.com/office/drawing/2014/main" id="{31D4F77B-2643-C1BD-C2B8-7E4EBD033913}"/>
              </a:ext>
            </a:extLst>
          </p:cNvPr>
          <p:cNvSpPr/>
          <p:nvPr/>
        </p:nvSpPr>
        <p:spPr>
          <a:xfrm rot="5400000">
            <a:off x="779812" y="1081699"/>
            <a:ext cx="1108685" cy="2132519"/>
          </a:xfrm>
          <a:prstGeom prst="homePlate">
            <a:avLst>
              <a:gd name="adj" fmla="val 4669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spcBef>
                <a:spcPct val="0"/>
              </a:spcBef>
              <a:defRPr/>
            </a:pPr>
            <a:r>
              <a:rPr lang="en-US" sz="1400" b="1">
                <a:solidFill>
                  <a:schemeClr val="bg1"/>
                </a:solidFill>
              </a:rPr>
              <a:t>End-to-End: From Insight to Execution</a:t>
            </a:r>
          </a:p>
        </p:txBody>
      </p:sp>
      <p:sp>
        <p:nvSpPr>
          <p:cNvPr id="12" name="Oval 11">
            <a:extLst>
              <a:ext uri="{FF2B5EF4-FFF2-40B4-BE49-F238E27FC236}">
                <a16:creationId xmlns:a16="http://schemas.microsoft.com/office/drawing/2014/main" id="{F73DD195-8972-5AC8-DBEE-5FC864FA7234}"/>
              </a:ext>
            </a:extLst>
          </p:cNvPr>
          <p:cNvSpPr/>
          <p:nvPr/>
        </p:nvSpPr>
        <p:spPr>
          <a:xfrm>
            <a:off x="1144847" y="2480067"/>
            <a:ext cx="380972" cy="380972"/>
          </a:xfrm>
          <a:prstGeom prst="ellipse">
            <a:avLst/>
          </a:prstGeom>
          <a:solidFill>
            <a:schemeClr val="accent2"/>
          </a:solidFill>
          <a:ln w="666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cap="small">
                <a:solidFill>
                  <a:schemeClr val="bg1"/>
                </a:solidFill>
              </a:rPr>
              <a:t>1</a:t>
            </a:r>
          </a:p>
        </p:txBody>
      </p:sp>
      <p:sp>
        <p:nvSpPr>
          <p:cNvPr id="3" name="TextBox 2">
            <a:extLst>
              <a:ext uri="{FF2B5EF4-FFF2-40B4-BE49-F238E27FC236}">
                <a16:creationId xmlns:a16="http://schemas.microsoft.com/office/drawing/2014/main" id="{390F8DF8-5E51-B79A-FF7B-C74FA6C8F5C0}"/>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4" name="Date Placeholder 5">
            <a:extLst>
              <a:ext uri="{FF2B5EF4-FFF2-40B4-BE49-F238E27FC236}">
                <a16:creationId xmlns:a16="http://schemas.microsoft.com/office/drawing/2014/main" id="{45012FF4-3F7A-677C-F046-B0B80CE503CA}"/>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23" name="Date Placeholder 5">
            <a:extLst>
              <a:ext uri="{FF2B5EF4-FFF2-40B4-BE49-F238E27FC236}">
                <a16:creationId xmlns:a16="http://schemas.microsoft.com/office/drawing/2014/main" id="{6F60FE0B-3215-B5CF-EF6F-AC5EA7851F41}"/>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6</a:t>
            </a:r>
          </a:p>
        </p:txBody>
      </p:sp>
    </p:spTree>
    <p:extLst>
      <p:ext uri="{BB962C8B-B14F-4D97-AF65-F5344CB8AC3E}">
        <p14:creationId xmlns:p14="http://schemas.microsoft.com/office/powerpoint/2010/main" val="497435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8C65D-1634-3E28-92E3-870178B7C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4F2A0D-2469-5B12-EA28-6DC813F1754A}"/>
              </a:ext>
            </a:extLst>
          </p:cNvPr>
          <p:cNvSpPr>
            <a:spLocks noGrp="1"/>
          </p:cNvSpPr>
          <p:nvPr>
            <p:ph type="title"/>
          </p:nvPr>
        </p:nvSpPr>
        <p:spPr>
          <a:xfrm>
            <a:off x="550339" y="3063874"/>
            <a:ext cx="11090275" cy="1079526"/>
          </a:xfrm>
        </p:spPr>
        <p:txBody>
          <a:bodyPr/>
          <a:lstStyle/>
          <a:p>
            <a:pPr algn="ctr"/>
            <a:r>
              <a:rPr lang="en-US"/>
              <a:t>MARKET VIEW</a:t>
            </a:r>
            <a:br>
              <a:rPr lang="en-US"/>
            </a:br>
            <a:r>
              <a:rPr lang="en-US" sz="1800"/>
              <a:t>Establishing the external and internal context shaping wholesale demand</a:t>
            </a:r>
            <a:endParaRPr lang="en-IN" sz="1800"/>
          </a:p>
        </p:txBody>
      </p:sp>
      <p:pic>
        <p:nvPicPr>
          <p:cNvPr id="5" name="Picture 4">
            <a:extLst>
              <a:ext uri="{FF2B5EF4-FFF2-40B4-BE49-F238E27FC236}">
                <a16:creationId xmlns:a16="http://schemas.microsoft.com/office/drawing/2014/main" id="{167A9B6F-2C6F-1ED3-CBFF-C1033CE1C93E}"/>
              </a:ext>
            </a:extLst>
          </p:cNvPr>
          <p:cNvPicPr>
            <a:picLocks noChangeAspect="1"/>
          </p:cNvPicPr>
          <p:nvPr/>
        </p:nvPicPr>
        <p:blipFill>
          <a:blip r:embed="rId2"/>
          <a:stretch>
            <a:fillRect/>
          </a:stretch>
        </p:blipFill>
        <p:spPr>
          <a:xfrm>
            <a:off x="10595509" y="0"/>
            <a:ext cx="1237002" cy="696510"/>
          </a:xfrm>
          <a:prstGeom prst="rect">
            <a:avLst/>
          </a:prstGeom>
        </p:spPr>
      </p:pic>
    </p:spTree>
    <p:extLst>
      <p:ext uri="{BB962C8B-B14F-4D97-AF65-F5344CB8AC3E}">
        <p14:creationId xmlns:p14="http://schemas.microsoft.com/office/powerpoint/2010/main" val="2323525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EE935822-BBCC-8F44-00F6-4B79C9C82AC4}"/>
              </a:ext>
            </a:extLst>
          </p:cNvPr>
          <p:cNvGrpSpPr/>
          <p:nvPr/>
        </p:nvGrpSpPr>
        <p:grpSpPr>
          <a:xfrm>
            <a:off x="6950075" y="1455738"/>
            <a:ext cx="4953000" cy="4997450"/>
            <a:chOff x="228600" y="1311288"/>
            <a:chExt cx="4953000" cy="4997450"/>
          </a:xfrm>
          <a:solidFill>
            <a:srgbClr val="0057AB"/>
          </a:solidFill>
        </p:grpSpPr>
        <p:sp>
          <p:nvSpPr>
            <p:cNvPr id="3" name="Hexagon 2">
              <a:extLst>
                <a:ext uri="{FF2B5EF4-FFF2-40B4-BE49-F238E27FC236}">
                  <a16:creationId xmlns:a16="http://schemas.microsoft.com/office/drawing/2014/main" id="{6414D55D-4C1C-757E-02F5-B5E311B32B3A}"/>
                </a:ext>
              </a:extLst>
            </p:cNvPr>
            <p:cNvSpPr/>
            <p:nvPr/>
          </p:nvSpPr>
          <p:spPr>
            <a:xfrm>
              <a:off x="1765300" y="3003563"/>
              <a:ext cx="1879600" cy="1612900"/>
            </a:xfrm>
            <a:prstGeom prst="hexagon">
              <a:avLst/>
            </a:prstGeom>
            <a:solidFill>
              <a:schemeClr val="accent2"/>
            </a:solidFill>
            <a:ln w="952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a:solidFill>
                    <a:schemeClr val="bg1"/>
                  </a:solidFill>
                </a:rPr>
                <a:t>Wholesale 2.0: Platform-Led Growth</a:t>
              </a:r>
            </a:p>
          </p:txBody>
        </p:sp>
        <p:sp>
          <p:nvSpPr>
            <p:cNvPr id="4" name="Hexagon 3">
              <a:extLst>
                <a:ext uri="{FF2B5EF4-FFF2-40B4-BE49-F238E27FC236}">
                  <a16:creationId xmlns:a16="http://schemas.microsoft.com/office/drawing/2014/main" id="{6070427F-E92A-D609-FA4D-317265D51982}"/>
                </a:ext>
              </a:extLst>
            </p:cNvPr>
            <p:cNvSpPr/>
            <p:nvPr/>
          </p:nvSpPr>
          <p:spPr>
            <a:xfrm>
              <a:off x="3302000" y="2149488"/>
              <a:ext cx="1879600" cy="1612900"/>
            </a:xfrm>
            <a:prstGeom prst="hexagon">
              <a:avLst/>
            </a:prstGeom>
            <a:solidFill>
              <a:schemeClr val="accent2"/>
            </a:solidFill>
            <a:ln w="952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a:solidFill>
                    <a:schemeClr val="bg1"/>
                  </a:solidFill>
                </a:rPr>
                <a:t>Scalability (Platform-driven)</a:t>
              </a:r>
            </a:p>
          </p:txBody>
        </p:sp>
        <p:sp>
          <p:nvSpPr>
            <p:cNvPr id="5" name="Hexagon 4">
              <a:extLst>
                <a:ext uri="{FF2B5EF4-FFF2-40B4-BE49-F238E27FC236}">
                  <a16:creationId xmlns:a16="http://schemas.microsoft.com/office/drawing/2014/main" id="{8539F956-F6B1-6BC9-F8D1-16658B47CC94}"/>
                </a:ext>
              </a:extLst>
            </p:cNvPr>
            <p:cNvSpPr/>
            <p:nvPr/>
          </p:nvSpPr>
          <p:spPr>
            <a:xfrm>
              <a:off x="3302000" y="3841763"/>
              <a:ext cx="1879600" cy="1612900"/>
            </a:xfrm>
            <a:prstGeom prst="hexagon">
              <a:avLst/>
            </a:prstGeom>
            <a:solidFill>
              <a:schemeClr val="accent2"/>
            </a:solidFill>
            <a:ln w="952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a:solidFill>
                    <a:schemeClr val="bg1"/>
                  </a:solidFill>
                </a:rPr>
                <a:t>API Economy</a:t>
              </a:r>
            </a:p>
            <a:p>
              <a:pPr algn="ctr"/>
              <a:endParaRPr lang="en-IN" sz="1400" err="1">
                <a:solidFill>
                  <a:schemeClr val="bg1"/>
                </a:solidFill>
              </a:endParaRPr>
            </a:p>
          </p:txBody>
        </p:sp>
        <p:sp>
          <p:nvSpPr>
            <p:cNvPr id="6" name="Hexagon 5">
              <a:extLst>
                <a:ext uri="{FF2B5EF4-FFF2-40B4-BE49-F238E27FC236}">
                  <a16:creationId xmlns:a16="http://schemas.microsoft.com/office/drawing/2014/main" id="{BD6D0329-6247-2F01-8BEB-0E40BC20C865}"/>
                </a:ext>
              </a:extLst>
            </p:cNvPr>
            <p:cNvSpPr/>
            <p:nvPr/>
          </p:nvSpPr>
          <p:spPr>
            <a:xfrm>
              <a:off x="1765300" y="4695838"/>
              <a:ext cx="1879600" cy="1612900"/>
            </a:xfrm>
            <a:prstGeom prst="hexagon">
              <a:avLst/>
            </a:prstGeom>
            <a:solidFill>
              <a:schemeClr val="accent2"/>
            </a:solidFill>
            <a:ln w="952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a:solidFill>
                    <a:schemeClr val="bg1"/>
                  </a:solidFill>
                </a:rPr>
                <a:t>Agility (On-demand services)</a:t>
              </a:r>
            </a:p>
            <a:p>
              <a:pPr algn="ctr"/>
              <a:endParaRPr lang="en-IN" sz="1400" err="1">
                <a:solidFill>
                  <a:schemeClr val="bg1"/>
                </a:solidFill>
              </a:endParaRPr>
            </a:p>
          </p:txBody>
        </p:sp>
        <p:sp>
          <p:nvSpPr>
            <p:cNvPr id="7" name="Hexagon 6">
              <a:extLst>
                <a:ext uri="{FF2B5EF4-FFF2-40B4-BE49-F238E27FC236}">
                  <a16:creationId xmlns:a16="http://schemas.microsoft.com/office/drawing/2014/main" id="{00B95892-6EA1-C0BA-6E84-92FA7FDA72A2}"/>
                </a:ext>
              </a:extLst>
            </p:cNvPr>
            <p:cNvSpPr/>
            <p:nvPr/>
          </p:nvSpPr>
          <p:spPr>
            <a:xfrm>
              <a:off x="228600" y="3829063"/>
              <a:ext cx="1879600" cy="1612900"/>
            </a:xfrm>
            <a:prstGeom prst="hexagon">
              <a:avLst/>
            </a:prstGeom>
            <a:solidFill>
              <a:schemeClr val="accent2"/>
            </a:solidFill>
            <a:ln w="952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a:solidFill>
                    <a:schemeClr val="bg1"/>
                  </a:solidFill>
                </a:rPr>
                <a:t>Data &amp; Intelligence Monetisation</a:t>
              </a:r>
            </a:p>
            <a:p>
              <a:pPr algn="ctr"/>
              <a:endParaRPr lang="en-IN" sz="1400" err="1">
                <a:solidFill>
                  <a:schemeClr val="bg1"/>
                </a:solidFill>
              </a:endParaRPr>
            </a:p>
          </p:txBody>
        </p:sp>
        <p:sp>
          <p:nvSpPr>
            <p:cNvPr id="8" name="Hexagon 7">
              <a:extLst>
                <a:ext uri="{FF2B5EF4-FFF2-40B4-BE49-F238E27FC236}">
                  <a16:creationId xmlns:a16="http://schemas.microsoft.com/office/drawing/2014/main" id="{90B5F884-0B08-8315-BCCF-5E94A529213A}"/>
                </a:ext>
              </a:extLst>
            </p:cNvPr>
            <p:cNvSpPr/>
            <p:nvPr/>
          </p:nvSpPr>
          <p:spPr>
            <a:xfrm>
              <a:off x="228600" y="2155838"/>
              <a:ext cx="1879600" cy="1612900"/>
            </a:xfrm>
            <a:prstGeom prst="hexagon">
              <a:avLst/>
            </a:prstGeom>
            <a:solidFill>
              <a:schemeClr val="accent2"/>
            </a:solidFill>
            <a:ln w="952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a:solidFill>
                    <a:schemeClr val="bg1"/>
                  </a:solidFill>
                </a:rPr>
                <a:t>Partner Network Effects</a:t>
              </a:r>
            </a:p>
          </p:txBody>
        </p:sp>
        <p:sp>
          <p:nvSpPr>
            <p:cNvPr id="9" name="Hexagon 8">
              <a:extLst>
                <a:ext uri="{FF2B5EF4-FFF2-40B4-BE49-F238E27FC236}">
                  <a16:creationId xmlns:a16="http://schemas.microsoft.com/office/drawing/2014/main" id="{F6C4CD2C-C177-20C7-5FA0-973C25CE623B}"/>
                </a:ext>
              </a:extLst>
            </p:cNvPr>
            <p:cNvSpPr/>
            <p:nvPr/>
          </p:nvSpPr>
          <p:spPr>
            <a:xfrm>
              <a:off x="1765300" y="1311288"/>
              <a:ext cx="1879600" cy="1612900"/>
            </a:xfrm>
            <a:prstGeom prst="hexagon">
              <a:avLst/>
            </a:prstGeom>
            <a:solidFill>
              <a:schemeClr val="accent2"/>
            </a:solidFill>
            <a:ln w="952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a:solidFill>
                    <a:schemeClr val="bg1"/>
                  </a:solidFill>
                </a:rPr>
                <a:t>Ecosystem Monetisation</a:t>
              </a:r>
            </a:p>
            <a:p>
              <a:pPr algn="ctr"/>
              <a:endParaRPr lang="en-IN" sz="1400" err="1">
                <a:solidFill>
                  <a:schemeClr val="bg1"/>
                </a:solidFill>
              </a:endParaRPr>
            </a:p>
          </p:txBody>
        </p:sp>
      </p:grpSp>
      <p:sp>
        <p:nvSpPr>
          <p:cNvPr id="11" name="Title 10">
            <a:extLst>
              <a:ext uri="{FF2B5EF4-FFF2-40B4-BE49-F238E27FC236}">
                <a16:creationId xmlns:a16="http://schemas.microsoft.com/office/drawing/2014/main" id="{AD2D9576-79EF-678D-5725-ED6F80D2D73D}"/>
              </a:ext>
            </a:extLst>
          </p:cNvPr>
          <p:cNvSpPr>
            <a:spLocks noGrp="1"/>
          </p:cNvSpPr>
          <p:nvPr>
            <p:ph type="title"/>
          </p:nvPr>
        </p:nvSpPr>
        <p:spPr>
          <a:xfrm>
            <a:off x="550863" y="265296"/>
            <a:ext cx="10450814" cy="1079526"/>
          </a:xfrm>
        </p:spPr>
        <p:txBody>
          <a:bodyPr/>
          <a:lstStyle/>
          <a:p>
            <a:r>
              <a:rPr lang="en-IN"/>
              <a:t>Wholesale providers are transitioning from infrastructure players to platform orchestrators, with ecosystem-led monetisation driving the next wave of growth</a:t>
            </a:r>
          </a:p>
        </p:txBody>
      </p:sp>
      <p:sp>
        <p:nvSpPr>
          <p:cNvPr id="15" name="TextBox 14">
            <a:extLst>
              <a:ext uri="{FF2B5EF4-FFF2-40B4-BE49-F238E27FC236}">
                <a16:creationId xmlns:a16="http://schemas.microsoft.com/office/drawing/2014/main" id="{DCF566CE-635D-E1DD-3D72-63EB945627A3}"/>
              </a:ext>
            </a:extLst>
          </p:cNvPr>
          <p:cNvSpPr txBox="1"/>
          <p:nvPr/>
        </p:nvSpPr>
        <p:spPr>
          <a:xfrm>
            <a:off x="698499" y="1815297"/>
            <a:ext cx="6454775" cy="4341831"/>
          </a:xfrm>
          <a:prstGeom prst="rect">
            <a:avLst/>
          </a:prstGeom>
          <a:noFill/>
        </p:spPr>
        <p:txBody>
          <a:bodyPr vert="horz" wrap="square" lIns="90000" tIns="46800" rIns="90000" bIns="46800" rtlCol="0" anchor="ctr">
            <a:spAutoFit/>
          </a:bodyPr>
          <a:lstStyle/>
          <a:p>
            <a:pPr>
              <a:spcBef>
                <a:spcPct val="0"/>
              </a:spcBef>
            </a:pPr>
            <a:r>
              <a:rPr lang="en-IN" sz="1200">
                <a:solidFill>
                  <a:schemeClr val="bg1"/>
                </a:solidFill>
                <a:latin typeface="Calibri" panose="020F0502020204030204" pitchFamily="34" charset="0"/>
                <a:ea typeface="Calibri" panose="020F0502020204030204" pitchFamily="34" charset="0"/>
                <a:cs typeface="Calibri" panose="020F0502020204030204" pitchFamily="34" charset="0"/>
              </a:rPr>
              <a:t>Wholesale providers are at a strategic inflection point. While demand for connectivity continues to grow, value is shifting away from pure capacity monetisation toward ecosystem-driven value creation.</a:t>
            </a:r>
          </a:p>
          <a:p>
            <a:pPr>
              <a:spcBef>
                <a:spcPct val="0"/>
              </a:spcBef>
            </a:pPr>
            <a:endParaRPr lang="en-IN" sz="1200">
              <a:solidFill>
                <a:schemeClr val="bg1"/>
              </a:solidFill>
              <a:latin typeface="Calibri" panose="020F0502020204030204" pitchFamily="34" charset="0"/>
              <a:ea typeface="Calibri" panose="020F0502020204030204" pitchFamily="34" charset="0"/>
              <a:cs typeface="Calibri" panose="020F0502020204030204" pitchFamily="34" charset="0"/>
            </a:endParaRPr>
          </a:p>
          <a:p>
            <a:pPr>
              <a:spcBef>
                <a:spcPct val="0"/>
              </a:spcBef>
            </a:pPr>
            <a:endParaRPr lang="en-IN" sz="1200">
              <a:solidFill>
                <a:schemeClr val="bg1"/>
              </a:solidFill>
              <a:latin typeface="Calibri" panose="020F0502020204030204" pitchFamily="34" charset="0"/>
              <a:ea typeface="Calibri" panose="020F0502020204030204" pitchFamily="34" charset="0"/>
              <a:cs typeface="Calibri" panose="020F0502020204030204" pitchFamily="34" charset="0"/>
            </a:endParaRPr>
          </a:p>
          <a:p>
            <a:pPr>
              <a:spcBef>
                <a:spcPct val="0"/>
              </a:spcBef>
            </a:pPr>
            <a:r>
              <a:rPr lang="en-IN" sz="1200">
                <a:solidFill>
                  <a:schemeClr val="bg1"/>
                </a:solidFill>
                <a:latin typeface="Calibri" panose="020F0502020204030204" pitchFamily="34" charset="0"/>
                <a:ea typeface="Calibri" panose="020F0502020204030204" pitchFamily="34" charset="0"/>
                <a:cs typeface="Calibri" panose="020F0502020204030204" pitchFamily="34" charset="0"/>
              </a:rPr>
              <a:t>To achieve scaled growth, providers must evolve from network owners into platform orchestrators, enabling real-time collaboration across partners, customers, and services.</a:t>
            </a:r>
          </a:p>
          <a:p>
            <a:pPr>
              <a:spcBef>
                <a:spcPct val="0"/>
              </a:spcBef>
            </a:pPr>
            <a:endParaRPr lang="en-IN" sz="1200">
              <a:solidFill>
                <a:schemeClr val="bg1"/>
              </a:solidFill>
              <a:latin typeface="Calibri" panose="020F0502020204030204" pitchFamily="34" charset="0"/>
              <a:ea typeface="Calibri" panose="020F0502020204030204" pitchFamily="34" charset="0"/>
              <a:cs typeface="Calibri" panose="020F0502020204030204" pitchFamily="34" charset="0"/>
            </a:endParaRPr>
          </a:p>
          <a:p>
            <a:pPr>
              <a:spcBef>
                <a:spcPct val="0"/>
              </a:spcBef>
            </a:pPr>
            <a:endParaRPr lang="en-IN" sz="1200">
              <a:latin typeface="Calibri" panose="020F0502020204030204" pitchFamily="34" charset="0"/>
              <a:ea typeface="Calibri" panose="020F0502020204030204" pitchFamily="34" charset="0"/>
              <a:cs typeface="Calibri" panose="020F0502020204030204" pitchFamily="34" charset="0"/>
            </a:endParaRPr>
          </a:p>
          <a:p>
            <a:pPr>
              <a:spcBef>
                <a:spcPct val="0"/>
              </a:spcBef>
            </a:pPr>
            <a:endParaRPr lang="en-IN" sz="1200">
              <a:solidFill>
                <a:schemeClr val="bg1"/>
              </a:solidFill>
              <a:latin typeface="Calibri" panose="020F0502020204030204" pitchFamily="34" charset="0"/>
              <a:ea typeface="Calibri" panose="020F0502020204030204" pitchFamily="34" charset="0"/>
              <a:cs typeface="Calibri" panose="020F0502020204030204" pitchFamily="34" charset="0"/>
            </a:endParaRPr>
          </a:p>
          <a:p>
            <a:pPr>
              <a:spcBef>
                <a:spcPct val="0"/>
              </a:spcBef>
            </a:pPr>
            <a:r>
              <a:rPr lang="en-IN" sz="1200">
                <a:solidFill>
                  <a:schemeClr val="bg1"/>
                </a:solidFill>
                <a:latin typeface="Calibri" panose="020F0502020204030204" pitchFamily="34" charset="0"/>
                <a:ea typeface="Calibri" panose="020F0502020204030204" pitchFamily="34" charset="0"/>
                <a:cs typeface="Calibri" panose="020F0502020204030204" pitchFamily="34" charset="0"/>
              </a:rPr>
              <a:t>This transformation requires:</a:t>
            </a:r>
          </a:p>
          <a:p>
            <a:pPr marL="285750" indent="-285750">
              <a:spcBef>
                <a:spcPct val="0"/>
              </a:spcBef>
              <a:buFont typeface="Arial" panose="020B0604020202020204" pitchFamily="34" charset="0"/>
              <a:buChar char="•"/>
            </a:pPr>
            <a:r>
              <a:rPr lang="en-IN" sz="1200">
                <a:solidFill>
                  <a:schemeClr val="bg1"/>
                </a:solidFill>
                <a:latin typeface="Calibri" panose="020F0502020204030204" pitchFamily="34" charset="0"/>
                <a:ea typeface="Calibri" panose="020F0502020204030204" pitchFamily="34" charset="0"/>
                <a:cs typeface="Calibri" panose="020F0502020204030204" pitchFamily="34" charset="0"/>
              </a:rPr>
              <a:t>Moving beyond connectivity monetisation → ecosystem monetisation</a:t>
            </a:r>
          </a:p>
          <a:p>
            <a:pPr marL="285750" indent="-285750">
              <a:spcBef>
                <a:spcPct val="0"/>
              </a:spcBef>
              <a:buFont typeface="Arial" panose="020B0604020202020204" pitchFamily="34" charset="0"/>
              <a:buChar char="•"/>
            </a:pPr>
            <a:r>
              <a:rPr lang="en-IN" sz="1200">
                <a:solidFill>
                  <a:schemeClr val="bg1"/>
                </a:solidFill>
                <a:latin typeface="Calibri" panose="020F0502020204030204" pitchFamily="34" charset="0"/>
                <a:ea typeface="Calibri" panose="020F0502020204030204" pitchFamily="34" charset="0"/>
                <a:cs typeface="Calibri" panose="020F0502020204030204" pitchFamily="34" charset="0"/>
              </a:rPr>
              <a:t>Shifting from volume-led growth → monetisation-led growth models</a:t>
            </a:r>
          </a:p>
          <a:p>
            <a:pPr marL="285750" indent="-285750">
              <a:spcBef>
                <a:spcPct val="0"/>
              </a:spcBef>
              <a:buFont typeface="Arial" panose="020B0604020202020204" pitchFamily="34" charset="0"/>
              <a:buChar char="•"/>
            </a:pPr>
            <a:r>
              <a:rPr lang="en-IN" sz="1200">
                <a:solidFill>
                  <a:schemeClr val="bg1"/>
                </a:solidFill>
                <a:latin typeface="Calibri" panose="020F0502020204030204" pitchFamily="34" charset="0"/>
                <a:ea typeface="Calibri" panose="020F0502020204030204" pitchFamily="34" charset="0"/>
                <a:cs typeface="Calibri" panose="020F0502020204030204" pitchFamily="34" charset="0"/>
              </a:rPr>
              <a:t>Building a marketplace / platform layer to aggregate, orchestrate, and scale services</a:t>
            </a:r>
          </a:p>
          <a:p>
            <a:pPr marL="285750" indent="-285750">
              <a:spcBef>
                <a:spcPct val="0"/>
              </a:spcBef>
              <a:buFont typeface="Arial" panose="020B0604020202020204" pitchFamily="34" charset="0"/>
              <a:buChar char="•"/>
            </a:pPr>
            <a:endParaRPr lang="en-IN" sz="120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spcBef>
                <a:spcPct val="0"/>
              </a:spcBef>
              <a:buFont typeface="Arial" panose="020B0604020202020204" pitchFamily="34" charset="0"/>
              <a:buChar char="•"/>
            </a:pPr>
            <a:endParaRPr lang="en-IN" sz="120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spcBef>
                <a:spcPct val="0"/>
              </a:spcBef>
              <a:buFont typeface="Arial" panose="020B0604020202020204" pitchFamily="34" charset="0"/>
              <a:buChar char="•"/>
            </a:pPr>
            <a:endParaRPr lang="en-IN" sz="1200">
              <a:solidFill>
                <a:schemeClr val="bg1"/>
              </a:solidFill>
              <a:latin typeface="Calibri" panose="020F0502020204030204" pitchFamily="34" charset="0"/>
              <a:ea typeface="Calibri" panose="020F0502020204030204" pitchFamily="34" charset="0"/>
              <a:cs typeface="Calibri" panose="020F0502020204030204" pitchFamily="34" charset="0"/>
            </a:endParaRPr>
          </a:p>
          <a:p>
            <a:pPr>
              <a:spcBef>
                <a:spcPct val="0"/>
              </a:spcBef>
            </a:pPr>
            <a:endParaRPr lang="en-IN" sz="1200">
              <a:solidFill>
                <a:schemeClr val="bg1"/>
              </a:solidFill>
              <a:latin typeface="Calibri" panose="020F0502020204030204" pitchFamily="34" charset="0"/>
              <a:ea typeface="Calibri" panose="020F0502020204030204" pitchFamily="34" charset="0"/>
              <a:cs typeface="Calibri" panose="020F0502020204030204" pitchFamily="34" charset="0"/>
            </a:endParaRPr>
          </a:p>
          <a:p>
            <a:pPr>
              <a:spcBef>
                <a:spcPct val="0"/>
              </a:spcBef>
            </a:pPr>
            <a:r>
              <a:rPr lang="en-IN" sz="1200">
                <a:solidFill>
                  <a:schemeClr val="bg1"/>
                </a:solidFill>
                <a:latin typeface="Calibri" panose="020F0502020204030204" pitchFamily="34" charset="0"/>
                <a:ea typeface="Calibri" panose="020F0502020204030204" pitchFamily="34" charset="0"/>
                <a:cs typeface="Calibri" panose="020F0502020204030204" pitchFamily="34" charset="0"/>
              </a:rPr>
              <a:t>Leading wholesale players are already unlocking four new revenue streams:</a:t>
            </a:r>
          </a:p>
          <a:p>
            <a:pPr marL="285750" indent="-285750">
              <a:spcBef>
                <a:spcPct val="0"/>
              </a:spcBef>
              <a:buFont typeface="Arial" panose="020B0604020202020204" pitchFamily="34" charset="0"/>
              <a:buChar char="•"/>
            </a:pPr>
            <a:r>
              <a:rPr lang="en-IN" sz="1200">
                <a:solidFill>
                  <a:schemeClr val="bg1"/>
                </a:solidFill>
                <a:latin typeface="Calibri" panose="020F0502020204030204" pitchFamily="34" charset="0"/>
                <a:ea typeface="Calibri" panose="020F0502020204030204" pitchFamily="34" charset="0"/>
                <a:cs typeface="Calibri" panose="020F0502020204030204" pitchFamily="34" charset="0"/>
              </a:rPr>
              <a:t>API Monetisation – exposing network capabilities as programmable services</a:t>
            </a:r>
          </a:p>
          <a:p>
            <a:pPr marL="285750" indent="-285750">
              <a:spcBef>
                <a:spcPct val="0"/>
              </a:spcBef>
              <a:buFont typeface="Arial" panose="020B0604020202020204" pitchFamily="34" charset="0"/>
              <a:buChar char="•"/>
            </a:pPr>
            <a:r>
              <a:rPr lang="en-IN" sz="1200">
                <a:solidFill>
                  <a:schemeClr val="bg1"/>
                </a:solidFill>
                <a:latin typeface="Calibri" panose="020F0502020204030204" pitchFamily="34" charset="0"/>
                <a:ea typeface="Calibri" panose="020F0502020204030204" pitchFamily="34" charset="0"/>
                <a:cs typeface="Calibri" panose="020F0502020204030204" pitchFamily="34" charset="0"/>
              </a:rPr>
              <a:t>Ecosystem Service Bundling – integrating connectivity with DC, cloud, and digital services</a:t>
            </a:r>
          </a:p>
          <a:p>
            <a:pPr marL="285750" indent="-285750">
              <a:spcBef>
                <a:spcPct val="0"/>
              </a:spcBef>
              <a:buFont typeface="Arial" panose="020B0604020202020204" pitchFamily="34" charset="0"/>
              <a:buChar char="•"/>
            </a:pPr>
            <a:r>
              <a:rPr lang="en-IN" sz="1200">
                <a:solidFill>
                  <a:schemeClr val="bg1"/>
                </a:solidFill>
                <a:latin typeface="Calibri" panose="020F0502020204030204" pitchFamily="34" charset="0"/>
                <a:ea typeface="Calibri" panose="020F0502020204030204" pitchFamily="34" charset="0"/>
                <a:cs typeface="Calibri" panose="020F0502020204030204" pitchFamily="34" charset="0"/>
              </a:rPr>
              <a:t>Partner-Led Growth Acceleration – scaling through faster onboarding and broader partner access</a:t>
            </a:r>
          </a:p>
          <a:p>
            <a:pPr marL="285750" indent="-285750">
              <a:spcBef>
                <a:spcPct val="0"/>
              </a:spcBef>
              <a:buFont typeface="Arial" panose="020B0604020202020204" pitchFamily="34" charset="0"/>
              <a:buChar char="•"/>
            </a:pPr>
            <a:r>
              <a:rPr lang="en-IN" sz="1200">
                <a:solidFill>
                  <a:schemeClr val="bg1"/>
                </a:solidFill>
                <a:latin typeface="Calibri" panose="020F0502020204030204" pitchFamily="34" charset="0"/>
                <a:ea typeface="Calibri" panose="020F0502020204030204" pitchFamily="34" charset="0"/>
                <a:cs typeface="Calibri" panose="020F0502020204030204" pitchFamily="34" charset="0"/>
              </a:rPr>
              <a:t>Data Monetisation – leveraging network insights, demand patterns, and analytics</a:t>
            </a:r>
          </a:p>
        </p:txBody>
      </p:sp>
      <p:pic>
        <p:nvPicPr>
          <p:cNvPr id="19" name="Picture 18">
            <a:extLst>
              <a:ext uri="{FF2B5EF4-FFF2-40B4-BE49-F238E27FC236}">
                <a16:creationId xmlns:a16="http://schemas.microsoft.com/office/drawing/2014/main" id="{A739C713-32EF-3978-F706-50CF066FE0CF}"/>
              </a:ext>
            </a:extLst>
          </p:cNvPr>
          <p:cNvPicPr>
            <a:picLocks noChangeAspect="1"/>
          </p:cNvPicPr>
          <p:nvPr/>
        </p:nvPicPr>
        <p:blipFill>
          <a:blip r:embed="rId2"/>
          <a:stretch>
            <a:fillRect/>
          </a:stretch>
        </p:blipFill>
        <p:spPr>
          <a:xfrm>
            <a:off x="10595509" y="0"/>
            <a:ext cx="1237002" cy="696510"/>
          </a:xfrm>
          <a:prstGeom prst="rect">
            <a:avLst/>
          </a:prstGeom>
        </p:spPr>
      </p:pic>
      <p:sp>
        <p:nvSpPr>
          <p:cNvPr id="20" name="TextBox 19">
            <a:extLst>
              <a:ext uri="{FF2B5EF4-FFF2-40B4-BE49-F238E27FC236}">
                <a16:creationId xmlns:a16="http://schemas.microsoft.com/office/drawing/2014/main" id="{4DBC7A2E-0EA1-B3B9-71AC-0DB9B4BC8130}"/>
              </a:ext>
            </a:extLst>
          </p:cNvPr>
          <p:cNvSpPr txBox="1"/>
          <p:nvPr/>
        </p:nvSpPr>
        <p:spPr>
          <a:xfrm>
            <a:off x="4943093" y="6194293"/>
            <a:ext cx="3689928" cy="256097"/>
          </a:xfrm>
          <a:prstGeom prst="rect">
            <a:avLst/>
          </a:prstGeom>
          <a:noFill/>
        </p:spPr>
        <p:txBody>
          <a:bodyPr vert="horz" wrap="square" lIns="90000" tIns="46800" rIns="90000" bIns="46800" rtlCol="0" anchor="ctr">
            <a:spAutoFit/>
          </a:bodyPr>
          <a:lstStyle/>
          <a:p>
            <a:pPr algn="l">
              <a:spcBef>
                <a:spcPct val="0"/>
              </a:spcBef>
            </a:pPr>
            <a:r>
              <a:rPr lang="en-US" sz="1050">
                <a:solidFill>
                  <a:schemeClr val="bg1"/>
                </a:solidFill>
              </a:rPr>
              <a:t>Source: </a:t>
            </a:r>
            <a:r>
              <a:rPr lang="en-US" sz="1050" err="1">
                <a:solidFill>
                  <a:schemeClr val="bg1"/>
                </a:solidFill>
              </a:rPr>
              <a:t>TMForum</a:t>
            </a:r>
            <a:r>
              <a:rPr lang="en-US" sz="1050">
                <a:solidFill>
                  <a:schemeClr val="bg1"/>
                </a:solidFill>
              </a:rPr>
              <a:t>, IDC, Capgemini  Strategic Research</a:t>
            </a:r>
            <a:endParaRPr lang="en-IN" sz="1050">
              <a:solidFill>
                <a:schemeClr val="bg1"/>
              </a:solidFill>
            </a:endParaRPr>
          </a:p>
        </p:txBody>
      </p:sp>
      <p:sp>
        <p:nvSpPr>
          <p:cNvPr id="2" name="TextBox 1">
            <a:extLst>
              <a:ext uri="{FF2B5EF4-FFF2-40B4-BE49-F238E27FC236}">
                <a16:creationId xmlns:a16="http://schemas.microsoft.com/office/drawing/2014/main" id="{E0F5846F-0733-23FC-1D95-17ADFBBDE216}"/>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10" name="Date Placeholder 5">
            <a:extLst>
              <a:ext uri="{FF2B5EF4-FFF2-40B4-BE49-F238E27FC236}">
                <a16:creationId xmlns:a16="http://schemas.microsoft.com/office/drawing/2014/main" id="{7D3F23C0-79CD-89D8-10DD-301FEA27DB43}"/>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13" name="Date Placeholder 5">
            <a:extLst>
              <a:ext uri="{FF2B5EF4-FFF2-40B4-BE49-F238E27FC236}">
                <a16:creationId xmlns:a16="http://schemas.microsoft.com/office/drawing/2014/main" id="{0B06BA07-B209-AF23-700B-4D851640CB5E}"/>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8</a:t>
            </a:r>
          </a:p>
        </p:txBody>
      </p:sp>
    </p:spTree>
    <p:extLst>
      <p:ext uri="{BB962C8B-B14F-4D97-AF65-F5344CB8AC3E}">
        <p14:creationId xmlns:p14="http://schemas.microsoft.com/office/powerpoint/2010/main" val="852767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 4">
            <a:extLst>
              <a:ext uri="{FF2B5EF4-FFF2-40B4-BE49-F238E27FC236}">
                <a16:creationId xmlns:a16="http://schemas.microsoft.com/office/drawing/2014/main" id="{E0DE9688-2ECC-A80D-7434-CD4301390779}"/>
              </a:ext>
            </a:extLst>
          </p:cNvPr>
          <p:cNvSpPr/>
          <p:nvPr/>
        </p:nvSpPr>
        <p:spPr>
          <a:xfrm>
            <a:off x="320040" y="1170432"/>
            <a:ext cx="7132320" cy="27432"/>
          </a:xfrm>
          <a:prstGeom prst="rect">
            <a:avLst/>
          </a:prstGeom>
          <a:solidFill>
            <a:srgbClr val="2A6DAA"/>
          </a:solidFill>
          <a:ln w="12700">
            <a:solidFill>
              <a:srgbClr val="2A6DA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Ubuntu"/>
              <a:ea typeface="+mn-ea"/>
              <a:cs typeface="+mn-cs"/>
            </a:endParaRPr>
          </a:p>
        </p:txBody>
      </p:sp>
      <p:grpSp>
        <p:nvGrpSpPr>
          <p:cNvPr id="2" name="Group 1">
            <a:extLst>
              <a:ext uri="{FF2B5EF4-FFF2-40B4-BE49-F238E27FC236}">
                <a16:creationId xmlns:a16="http://schemas.microsoft.com/office/drawing/2014/main" id="{99E60FF1-25B3-16AA-A143-305CD2406638}"/>
              </a:ext>
            </a:extLst>
          </p:cNvPr>
          <p:cNvGrpSpPr/>
          <p:nvPr/>
        </p:nvGrpSpPr>
        <p:grpSpPr>
          <a:xfrm>
            <a:off x="320040" y="1380744"/>
            <a:ext cx="6767300" cy="1540764"/>
            <a:chOff x="320040" y="1380744"/>
            <a:chExt cx="6767300" cy="1540764"/>
          </a:xfrm>
        </p:grpSpPr>
        <p:pic>
          <p:nvPicPr>
            <p:cNvPr id="13" name="Image 1" descr="preencoded.png">
              <a:extLst>
                <a:ext uri="{FF2B5EF4-FFF2-40B4-BE49-F238E27FC236}">
                  <a16:creationId xmlns:a16="http://schemas.microsoft.com/office/drawing/2014/main" id="{137E9621-78DB-BB10-4696-94DB2C42E60E}"/>
                </a:ext>
              </a:extLst>
            </p:cNvPr>
            <p:cNvPicPr>
              <a:picLocks noChangeAspect="1"/>
            </p:cNvPicPr>
            <p:nvPr/>
          </p:nvPicPr>
          <p:blipFill>
            <a:blip r:embed="rId2"/>
            <a:stretch>
              <a:fillRect/>
            </a:stretch>
          </p:blipFill>
          <p:spPr>
            <a:xfrm>
              <a:off x="320040" y="1380744"/>
              <a:ext cx="384048" cy="384048"/>
            </a:xfrm>
            <a:prstGeom prst="rect">
              <a:avLst/>
            </a:prstGeom>
          </p:spPr>
        </p:pic>
        <p:sp>
          <p:nvSpPr>
            <p:cNvPr id="14" name="Text 5">
              <a:extLst>
                <a:ext uri="{FF2B5EF4-FFF2-40B4-BE49-F238E27FC236}">
                  <a16:creationId xmlns:a16="http://schemas.microsoft.com/office/drawing/2014/main" id="{89225836-3DB1-AB88-D95F-7D3A498883CE}"/>
                </a:ext>
              </a:extLst>
            </p:cNvPr>
            <p:cNvSpPr/>
            <p:nvPr/>
          </p:nvSpPr>
          <p:spPr>
            <a:xfrm>
              <a:off x="804672" y="1380744"/>
              <a:ext cx="59436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Calibri" pitchFamily="34" charset="0"/>
                  <a:ea typeface="Calibri" pitchFamily="34" charset="-122"/>
                  <a:cs typeface="Calibri" pitchFamily="34" charset="-120"/>
                </a:rPr>
                <a:t>Global &amp; Regional Shift Toward Wholesale</a:t>
              </a:r>
              <a:endParaRPr kumimoji="0" lang="en-US" sz="1200" b="0" i="0" u="none" strike="noStrike" kern="1200" cap="none" spc="0" normalizeH="0" baseline="0" noProof="0">
                <a:ln>
                  <a:noFill/>
                </a:ln>
                <a:solidFill>
                  <a:schemeClr val="bg1"/>
                </a:solidFill>
                <a:effectLst/>
                <a:uLnTx/>
                <a:uFillTx/>
                <a:latin typeface="Ubuntu"/>
                <a:ea typeface="+mn-ea"/>
                <a:cs typeface="+mn-cs"/>
              </a:endParaRPr>
            </a:p>
          </p:txBody>
        </p:sp>
        <p:sp>
          <p:nvSpPr>
            <p:cNvPr id="15" name="Text 6">
              <a:extLst>
                <a:ext uri="{FF2B5EF4-FFF2-40B4-BE49-F238E27FC236}">
                  <a16:creationId xmlns:a16="http://schemas.microsoft.com/office/drawing/2014/main" id="{4C7909BE-E54B-EE97-8303-E19077840F22}"/>
                </a:ext>
              </a:extLst>
            </p:cNvPr>
            <p:cNvSpPr/>
            <p:nvPr/>
          </p:nvSpPr>
          <p:spPr>
            <a:xfrm>
              <a:off x="768096" y="1760220"/>
              <a:ext cx="6319244" cy="1161288"/>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300"/>
                </a:spcAft>
                <a:buClrTx/>
                <a:buSzPct val="100000"/>
                <a:buFontTx/>
                <a:buChar char="•"/>
                <a:tabLst/>
                <a:defRPr/>
              </a:pPr>
              <a:r>
                <a:rPr kumimoji="0" lang="en-US" sz="1100" b="0" i="0" u="none" strike="noStrike" kern="1200" cap="none" spc="0" normalizeH="0" baseline="0" noProof="0">
                  <a:ln>
                    <a:noFill/>
                  </a:ln>
                  <a:solidFill>
                    <a:schemeClr val="bg1"/>
                  </a:solidFill>
                  <a:effectLst/>
                  <a:uLnTx/>
                  <a:uFillTx/>
                  <a:latin typeface="Calibri" pitchFamily="34" charset="0"/>
                  <a:ea typeface="Calibri" pitchFamily="34" charset="-122"/>
                  <a:cs typeface="Calibri" pitchFamily="34" charset="-120"/>
                </a:rPr>
                <a:t>ICT value is migrating from retail consumer connectivity to back-end infrastructure &amp; wholesale provisioning</a:t>
              </a:r>
              <a:endParaRPr kumimoji="0" lang="en-US" sz="1100" b="0" i="0" u="none" strike="noStrike" kern="1200" cap="none" spc="0" normalizeH="0" baseline="0" noProof="0">
                <a:ln>
                  <a:noFill/>
                </a:ln>
                <a:solidFill>
                  <a:schemeClr val="bg1"/>
                </a:solidFill>
                <a:effectLst/>
                <a:uLnTx/>
                <a:uFillTx/>
                <a:latin typeface="Ubuntu"/>
                <a:ea typeface="+mn-ea"/>
                <a:cs typeface="+mn-cs"/>
              </a:endParaRPr>
            </a:p>
            <a:p>
              <a:pPr marL="342900" marR="0" lvl="0" indent="-342900" algn="l" defTabSz="914400" rtl="0" eaLnBrk="1" fontAlgn="auto" latinLnBrk="0" hangingPunct="1">
                <a:lnSpc>
                  <a:spcPct val="100000"/>
                </a:lnSpc>
                <a:spcBef>
                  <a:spcPts val="0"/>
                </a:spcBef>
                <a:spcAft>
                  <a:spcPts val="300"/>
                </a:spcAft>
                <a:buClrTx/>
                <a:buSzPct val="100000"/>
                <a:buFontTx/>
                <a:buChar char="•"/>
                <a:tabLst/>
                <a:defRPr/>
              </a:pPr>
              <a:r>
                <a:rPr kumimoji="0" lang="en-US" sz="1100" b="0" i="0" u="none" strike="noStrike" kern="1200" cap="none" spc="0" normalizeH="0" baseline="0" noProof="0">
                  <a:ln>
                    <a:noFill/>
                  </a:ln>
                  <a:solidFill>
                    <a:schemeClr val="bg1"/>
                  </a:solidFill>
                  <a:effectLst/>
                  <a:uLnTx/>
                  <a:uFillTx/>
                  <a:latin typeface="Calibri" pitchFamily="34" charset="0"/>
                  <a:ea typeface="Calibri" pitchFamily="34" charset="-122"/>
                  <a:cs typeface="Calibri" pitchFamily="34" charset="-120"/>
                </a:rPr>
                <a:t>Malaysian DC boom in Johor &amp; Cyberjaya driven by land, power economics &amp; government policy</a:t>
              </a:r>
              <a:endParaRPr kumimoji="0" lang="en-US" sz="1100" b="0" i="0" u="none" strike="noStrike" kern="1200" cap="none" spc="0" normalizeH="0" baseline="0" noProof="0">
                <a:ln>
                  <a:noFill/>
                </a:ln>
                <a:solidFill>
                  <a:schemeClr val="bg1"/>
                </a:solidFill>
                <a:effectLst/>
                <a:uLnTx/>
                <a:uFillTx/>
                <a:latin typeface="Ubuntu"/>
                <a:ea typeface="+mn-ea"/>
                <a:cs typeface="+mn-cs"/>
              </a:endParaRPr>
            </a:p>
            <a:p>
              <a:pPr marL="342900" marR="0" lvl="0" indent="-342900" algn="l" defTabSz="914400" rtl="0" eaLnBrk="1" fontAlgn="auto" latinLnBrk="0" hangingPunct="1">
                <a:lnSpc>
                  <a:spcPct val="100000"/>
                </a:lnSpc>
                <a:spcBef>
                  <a:spcPts val="0"/>
                </a:spcBef>
                <a:spcAft>
                  <a:spcPts val="300"/>
                </a:spcAft>
                <a:buClrTx/>
                <a:buSzPct val="100000"/>
                <a:buFontTx/>
                <a:buChar char="•"/>
                <a:tabLst/>
                <a:defRPr/>
              </a:pPr>
              <a:r>
                <a:rPr kumimoji="0" lang="en-US" sz="1100" b="0" i="0" u="none" strike="noStrike" kern="1200" cap="none" spc="0" normalizeH="0" baseline="0" noProof="0">
                  <a:ln>
                    <a:noFill/>
                  </a:ln>
                  <a:solidFill>
                    <a:schemeClr val="bg1"/>
                  </a:solidFill>
                  <a:effectLst/>
                  <a:uLnTx/>
                  <a:uFillTx/>
                  <a:latin typeface="Calibri" pitchFamily="34" charset="0"/>
                  <a:ea typeface="Calibri" pitchFamily="34" charset="-122"/>
                  <a:cs typeface="Calibri" pitchFamily="34" charset="-120"/>
                </a:rPr>
                <a:t>Retail ARPU compression from aggressive unlimited-data price wars (plans &lt;RM 50) vs. rising 5G CAPEX</a:t>
              </a:r>
              <a:endParaRPr kumimoji="0" lang="en-US" sz="1100" b="0" i="0" u="none" strike="noStrike" kern="1200" cap="none" spc="0" normalizeH="0" baseline="0" noProof="0">
                <a:ln>
                  <a:noFill/>
                </a:ln>
                <a:solidFill>
                  <a:schemeClr val="bg1"/>
                </a:solidFill>
                <a:effectLst/>
                <a:uLnTx/>
                <a:uFillTx/>
                <a:latin typeface="Ubuntu"/>
                <a:ea typeface="+mn-ea"/>
                <a:cs typeface="+mn-cs"/>
              </a:endParaRPr>
            </a:p>
          </p:txBody>
        </p:sp>
      </p:grpSp>
      <p:grpSp>
        <p:nvGrpSpPr>
          <p:cNvPr id="4" name="Group 3">
            <a:extLst>
              <a:ext uri="{FF2B5EF4-FFF2-40B4-BE49-F238E27FC236}">
                <a16:creationId xmlns:a16="http://schemas.microsoft.com/office/drawing/2014/main" id="{5B0DFE17-8BA0-957B-ECE5-99637A6DA957}"/>
              </a:ext>
            </a:extLst>
          </p:cNvPr>
          <p:cNvGrpSpPr/>
          <p:nvPr/>
        </p:nvGrpSpPr>
        <p:grpSpPr>
          <a:xfrm>
            <a:off x="320040" y="2732985"/>
            <a:ext cx="6767300" cy="2524666"/>
            <a:chOff x="320040" y="2843784"/>
            <a:chExt cx="6767300" cy="2524666"/>
          </a:xfrm>
        </p:grpSpPr>
        <p:pic>
          <p:nvPicPr>
            <p:cNvPr id="16" name="Image 2" descr="preencoded.png">
              <a:extLst>
                <a:ext uri="{FF2B5EF4-FFF2-40B4-BE49-F238E27FC236}">
                  <a16:creationId xmlns:a16="http://schemas.microsoft.com/office/drawing/2014/main" id="{028A0C62-8E3B-B17A-2DAD-CA47A4ED2357}"/>
                </a:ext>
              </a:extLst>
            </p:cNvPr>
            <p:cNvPicPr>
              <a:picLocks noChangeAspect="1"/>
            </p:cNvPicPr>
            <p:nvPr/>
          </p:nvPicPr>
          <p:blipFill>
            <a:blip r:embed="rId3"/>
            <a:stretch>
              <a:fillRect/>
            </a:stretch>
          </p:blipFill>
          <p:spPr>
            <a:xfrm>
              <a:off x="320040" y="2843784"/>
              <a:ext cx="384048" cy="384048"/>
            </a:xfrm>
            <a:prstGeom prst="rect">
              <a:avLst/>
            </a:prstGeom>
          </p:spPr>
        </p:pic>
        <p:sp>
          <p:nvSpPr>
            <p:cNvPr id="17" name="Text 7">
              <a:extLst>
                <a:ext uri="{FF2B5EF4-FFF2-40B4-BE49-F238E27FC236}">
                  <a16:creationId xmlns:a16="http://schemas.microsoft.com/office/drawing/2014/main" id="{C717D4AD-93AF-EC66-4460-378FB12879E5}"/>
                </a:ext>
              </a:extLst>
            </p:cNvPr>
            <p:cNvSpPr/>
            <p:nvPr/>
          </p:nvSpPr>
          <p:spPr>
            <a:xfrm>
              <a:off x="804672" y="2843784"/>
              <a:ext cx="59436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Calibri" pitchFamily="34" charset="0"/>
                  <a:ea typeface="Calibri" pitchFamily="34" charset="-122"/>
                  <a:cs typeface="Calibri" pitchFamily="34" charset="-120"/>
                </a:rPr>
                <a:t>Why Wholesale Demand is Accelerating</a:t>
              </a:r>
              <a:endParaRPr kumimoji="0" lang="en-US" sz="1200" b="0" i="0" u="none" strike="noStrike" kern="1200" cap="none" spc="0" normalizeH="0" baseline="0" noProof="0">
                <a:ln>
                  <a:noFill/>
                </a:ln>
                <a:solidFill>
                  <a:schemeClr val="bg1"/>
                </a:solidFill>
                <a:effectLst/>
                <a:uLnTx/>
                <a:uFillTx/>
                <a:latin typeface="Ubuntu"/>
                <a:ea typeface="+mn-ea"/>
                <a:cs typeface="+mn-cs"/>
              </a:endParaRPr>
            </a:p>
          </p:txBody>
        </p:sp>
        <p:sp>
          <p:nvSpPr>
            <p:cNvPr id="18" name="Text 8">
              <a:extLst>
                <a:ext uri="{FF2B5EF4-FFF2-40B4-BE49-F238E27FC236}">
                  <a16:creationId xmlns:a16="http://schemas.microsoft.com/office/drawing/2014/main" id="{21582290-5A81-EBD5-E3B6-C978B85DD578}"/>
                </a:ext>
              </a:extLst>
            </p:cNvPr>
            <p:cNvSpPr/>
            <p:nvPr/>
          </p:nvSpPr>
          <p:spPr>
            <a:xfrm>
              <a:off x="768096" y="3270338"/>
              <a:ext cx="6319244" cy="2098112"/>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300"/>
                </a:spcAft>
                <a:buClrTx/>
                <a:buSzPct val="100000"/>
                <a:buFontTx/>
                <a:buChar char="•"/>
                <a:tabLst/>
                <a:defRPr/>
              </a:pPr>
              <a:r>
                <a:rPr kumimoji="0" lang="en-US" sz="1100" b="0" i="0" u="none" strike="noStrike" kern="1200" cap="none" spc="0" normalizeH="0" baseline="0" noProof="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rPr>
                <a:t>AI, cloud &amp; hyperscalers (AWS, Azure, GCP) require dedicated dark fiber, wavelengths &amp; high-capacity IP VPN</a:t>
              </a:r>
            </a:p>
            <a:p>
              <a:pPr marL="342900" marR="0" lvl="0" indent="-342900" algn="l" defTabSz="914400" rtl="0" eaLnBrk="1" fontAlgn="auto" latinLnBrk="0" hangingPunct="1">
                <a:lnSpc>
                  <a:spcPct val="100000"/>
                </a:lnSpc>
                <a:spcBef>
                  <a:spcPts val="0"/>
                </a:spcBef>
                <a:spcAft>
                  <a:spcPts val="300"/>
                </a:spcAft>
                <a:buClrTx/>
                <a:buSzPct val="100000"/>
                <a:buFontTx/>
                <a:buChar char="•"/>
                <a:tabLst/>
                <a:defRPr/>
              </a:pPr>
              <a:r>
                <a:rPr kumimoji="0" lang="en-US" sz="1100" b="0" i="0" u="none" strike="noStrike" kern="1200" cap="none" spc="0" normalizeH="0" baseline="0" noProof="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rPr>
                <a:t>MVNOs &amp; LEO satellite operators (e.g. Starlink) create new wholesale demand for backhaul &amp; network access</a:t>
              </a:r>
            </a:p>
            <a:p>
              <a:pPr marL="342900" marR="0" lvl="0" indent="-342900" algn="l" defTabSz="914400" rtl="0" eaLnBrk="1" fontAlgn="auto" latinLnBrk="0" hangingPunct="1">
                <a:lnSpc>
                  <a:spcPct val="100000"/>
                </a:lnSpc>
                <a:spcBef>
                  <a:spcPts val="0"/>
                </a:spcBef>
                <a:spcAft>
                  <a:spcPts val="300"/>
                </a:spcAft>
                <a:buClrTx/>
                <a:buSzPct val="100000"/>
                <a:buFontTx/>
                <a:buChar char="•"/>
                <a:tabLst/>
                <a:defRPr/>
              </a:pPr>
              <a:r>
                <a:rPr kumimoji="0" lang="en-US" sz="1100" b="0" i="0" u="none" strike="noStrike" kern="1200" cap="none" spc="0" normalizeH="0" baseline="0" noProof="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rPr>
                <a:t>AI training clusters require 10–100x higher power density than traditional data centers, giving rise to megawatt‑scale AI data centers with extreme bandwidth and resilience needs.</a:t>
              </a:r>
            </a:p>
            <a:p>
              <a:pPr marL="342900" marR="0" lvl="0" indent="-342900" algn="l" defTabSz="914400" rtl="0" eaLnBrk="1" fontAlgn="auto" latinLnBrk="0" hangingPunct="1">
                <a:lnSpc>
                  <a:spcPct val="100000"/>
                </a:lnSpc>
                <a:spcBef>
                  <a:spcPts val="0"/>
                </a:spcBef>
                <a:spcAft>
                  <a:spcPts val="300"/>
                </a:spcAft>
                <a:buClrTx/>
                <a:buSzPct val="100000"/>
                <a:buFontTx/>
                <a:buChar char="•"/>
                <a:tabLst/>
                <a:defRPr/>
              </a:pPr>
              <a:r>
                <a:rPr kumimoji="0" lang="en-US" sz="1100" b="0" i="0" u="none" strike="noStrike" kern="1200" cap="none" spc="0" normalizeH="0" baseline="0" noProof="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rPr>
                <a:t>Large‑scale AI model training generates petabytes of data movement, creating sustained and predictable wholesale demand suited to long‑term dark fiber and capacity contracts.</a:t>
              </a:r>
            </a:p>
            <a:p>
              <a:pPr marL="342900" marR="0" lvl="0" indent="-342900" algn="l" defTabSz="914400" rtl="0" eaLnBrk="1" fontAlgn="auto" latinLnBrk="0" hangingPunct="1">
                <a:lnSpc>
                  <a:spcPct val="100000"/>
                </a:lnSpc>
                <a:spcBef>
                  <a:spcPts val="0"/>
                </a:spcBef>
                <a:spcAft>
                  <a:spcPts val="300"/>
                </a:spcAft>
                <a:buClrTx/>
                <a:buSzPct val="100000"/>
                <a:buFontTx/>
                <a:buChar char="•"/>
                <a:tabLst/>
                <a:defRPr/>
              </a:pPr>
              <a:r>
                <a:rPr kumimoji="0" lang="en-US" sz="1100" b="0" i="0" u="none" strike="noStrike" kern="1200" cap="none" spc="0" normalizeH="0" baseline="0" noProof="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rPr>
                <a:t>Hyperscalers are accelerating AI inference deployments closer to users, positioning Southeast Asia—and Malaysia in particular—as a strategic low‑latency hub between Singapore and ASEAN markets.</a:t>
              </a:r>
            </a:p>
          </p:txBody>
        </p:sp>
      </p:grpSp>
      <p:grpSp>
        <p:nvGrpSpPr>
          <p:cNvPr id="7" name="Group 6">
            <a:extLst>
              <a:ext uri="{FF2B5EF4-FFF2-40B4-BE49-F238E27FC236}">
                <a16:creationId xmlns:a16="http://schemas.microsoft.com/office/drawing/2014/main" id="{19DE2AE6-0731-0699-6D72-898C94E64B31}"/>
              </a:ext>
            </a:extLst>
          </p:cNvPr>
          <p:cNvGrpSpPr/>
          <p:nvPr/>
        </p:nvGrpSpPr>
        <p:grpSpPr>
          <a:xfrm>
            <a:off x="320040" y="5275602"/>
            <a:ext cx="6767300" cy="1705231"/>
            <a:chOff x="320040" y="4306824"/>
            <a:chExt cx="6767300" cy="1705231"/>
          </a:xfrm>
        </p:grpSpPr>
        <p:pic>
          <p:nvPicPr>
            <p:cNvPr id="19" name="Image 3" descr="preencoded.png">
              <a:extLst>
                <a:ext uri="{FF2B5EF4-FFF2-40B4-BE49-F238E27FC236}">
                  <a16:creationId xmlns:a16="http://schemas.microsoft.com/office/drawing/2014/main" id="{7277FC6D-645E-5DB0-EBA9-06280706170C}"/>
                </a:ext>
              </a:extLst>
            </p:cNvPr>
            <p:cNvPicPr>
              <a:picLocks noChangeAspect="1"/>
            </p:cNvPicPr>
            <p:nvPr/>
          </p:nvPicPr>
          <p:blipFill>
            <a:blip r:embed="rId4"/>
            <a:stretch>
              <a:fillRect/>
            </a:stretch>
          </p:blipFill>
          <p:spPr>
            <a:xfrm>
              <a:off x="320040" y="4306824"/>
              <a:ext cx="384048" cy="384048"/>
            </a:xfrm>
            <a:prstGeom prst="rect">
              <a:avLst/>
            </a:prstGeom>
          </p:spPr>
        </p:pic>
        <p:sp>
          <p:nvSpPr>
            <p:cNvPr id="20" name="Text 9">
              <a:extLst>
                <a:ext uri="{FF2B5EF4-FFF2-40B4-BE49-F238E27FC236}">
                  <a16:creationId xmlns:a16="http://schemas.microsoft.com/office/drawing/2014/main" id="{6908E740-62F0-639C-147F-AD52D93F50E1}"/>
                </a:ext>
              </a:extLst>
            </p:cNvPr>
            <p:cNvSpPr/>
            <p:nvPr/>
          </p:nvSpPr>
          <p:spPr>
            <a:xfrm>
              <a:off x="804672" y="4306824"/>
              <a:ext cx="59436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Calibri" pitchFamily="34" charset="0"/>
                  <a:ea typeface="Calibri" pitchFamily="34" charset="-122"/>
                  <a:cs typeface="Calibri" pitchFamily="34" charset="-120"/>
                </a:rPr>
                <a:t>Maxis Wholesale Growth Ambition</a:t>
              </a:r>
              <a:endParaRPr kumimoji="0" lang="en-US" sz="1200" b="0" i="0" u="none" strike="noStrike" kern="1200" cap="none" spc="0" normalizeH="0" baseline="0" noProof="0">
                <a:ln>
                  <a:noFill/>
                </a:ln>
                <a:solidFill>
                  <a:schemeClr val="bg1"/>
                </a:solidFill>
                <a:effectLst/>
                <a:uLnTx/>
                <a:uFillTx/>
                <a:latin typeface="Ubuntu"/>
                <a:ea typeface="+mn-ea"/>
                <a:cs typeface="+mn-cs"/>
              </a:endParaRPr>
            </a:p>
          </p:txBody>
        </p:sp>
        <p:sp>
          <p:nvSpPr>
            <p:cNvPr id="21" name="Text 10">
              <a:extLst>
                <a:ext uri="{FF2B5EF4-FFF2-40B4-BE49-F238E27FC236}">
                  <a16:creationId xmlns:a16="http://schemas.microsoft.com/office/drawing/2014/main" id="{8EE29598-0588-6A8D-5BEA-27C6FAE140D5}"/>
                </a:ext>
              </a:extLst>
            </p:cNvPr>
            <p:cNvSpPr/>
            <p:nvPr/>
          </p:nvSpPr>
          <p:spPr>
            <a:xfrm>
              <a:off x="768096" y="4686176"/>
              <a:ext cx="6319244" cy="1325879"/>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300"/>
                </a:spcAft>
                <a:buClrTx/>
                <a:buSzPct val="100000"/>
                <a:buFontTx/>
                <a:buChar char="•"/>
                <a:tabLst/>
                <a:defRPr/>
              </a:pPr>
              <a:r>
                <a:rPr kumimoji="0" lang="en-US" sz="1100" b="0" i="0" u="none" strike="noStrike" kern="1200" cap="none" spc="0" normalizeH="0" baseline="0" noProof="0">
                  <a:ln>
                    <a:noFill/>
                  </a:ln>
                  <a:solidFill>
                    <a:schemeClr val="bg1"/>
                  </a:solidFill>
                  <a:effectLst/>
                  <a:uLnTx/>
                  <a:uFillTx/>
                  <a:latin typeface="Calibri" pitchFamily="34" charset="0"/>
                  <a:ea typeface="Calibri" pitchFamily="34" charset="-122"/>
                  <a:cs typeface="Calibri" pitchFamily="34" charset="-120"/>
                </a:rPr>
                <a:t>Transition from organic growth to Scaled Growth via a structured, scientifically targeted market approach</a:t>
              </a:r>
              <a:endParaRPr kumimoji="0" lang="en-US" sz="1100" b="0" i="0" u="none" strike="noStrike" kern="1200" cap="none" spc="0" normalizeH="0" baseline="0" noProof="0">
                <a:ln>
                  <a:noFill/>
                </a:ln>
                <a:solidFill>
                  <a:schemeClr val="bg1"/>
                </a:solidFill>
                <a:effectLst/>
                <a:uLnTx/>
                <a:uFillTx/>
                <a:latin typeface="Ubuntu"/>
                <a:ea typeface="+mn-ea"/>
                <a:cs typeface="+mn-cs"/>
              </a:endParaRPr>
            </a:p>
            <a:p>
              <a:pPr marL="342900" marR="0" lvl="0" indent="-342900" algn="l" defTabSz="914400" rtl="0" eaLnBrk="1" fontAlgn="auto" latinLnBrk="0" hangingPunct="1">
                <a:lnSpc>
                  <a:spcPct val="100000"/>
                </a:lnSpc>
                <a:spcBef>
                  <a:spcPts val="0"/>
                </a:spcBef>
                <a:spcAft>
                  <a:spcPts val="300"/>
                </a:spcAft>
                <a:buClrTx/>
                <a:buSzPct val="100000"/>
                <a:buFontTx/>
                <a:buChar char="•"/>
                <a:tabLst/>
                <a:defRPr/>
              </a:pPr>
              <a:r>
                <a:rPr kumimoji="0" lang="en-US" sz="1100" b="0" i="0" u="none" strike="noStrike" kern="1200" cap="none" spc="0" normalizeH="0" baseline="0" noProof="0">
                  <a:ln>
                    <a:noFill/>
                  </a:ln>
                  <a:solidFill>
                    <a:schemeClr val="bg1"/>
                  </a:solidFill>
                  <a:effectLst/>
                  <a:uLnTx/>
                  <a:uFillTx/>
                  <a:latin typeface="Calibri" pitchFamily="34" charset="0"/>
                  <a:ea typeface="Calibri" pitchFamily="34" charset="-122"/>
                  <a:cs typeface="Calibri" pitchFamily="34" charset="-120"/>
                </a:rPr>
                <a:t>Quantify 5-year TAM across Malaysia &amp; ASEAN; benchmark against TM, </a:t>
              </a:r>
              <a:r>
                <a:rPr kumimoji="0" lang="en-US" sz="1100" b="0" i="0" u="none" strike="noStrike" kern="1200" cap="none" spc="0" normalizeH="0" baseline="0" noProof="0" err="1">
                  <a:ln>
                    <a:noFill/>
                  </a:ln>
                  <a:solidFill>
                    <a:schemeClr val="bg1"/>
                  </a:solidFill>
                  <a:effectLst/>
                  <a:uLnTx/>
                  <a:uFillTx/>
                  <a:latin typeface="Calibri" pitchFamily="34" charset="0"/>
                  <a:ea typeface="Calibri" pitchFamily="34" charset="-122"/>
                  <a:cs typeface="Calibri" pitchFamily="34" charset="-120"/>
                </a:rPr>
                <a:t>CelcomDigi</a:t>
              </a:r>
              <a:r>
                <a:rPr kumimoji="0" lang="en-US" sz="1100" b="0" i="0" u="none" strike="noStrike" kern="1200" cap="none" spc="0" normalizeH="0" baseline="0" noProof="0">
                  <a:ln>
                    <a:noFill/>
                  </a:ln>
                  <a:solidFill>
                    <a:schemeClr val="bg1"/>
                  </a:solidFill>
                  <a:effectLst/>
                  <a:uLnTx/>
                  <a:uFillTx/>
                  <a:latin typeface="Calibri" pitchFamily="34" charset="0"/>
                  <a:ea typeface="Calibri" pitchFamily="34" charset="-122"/>
                  <a:cs typeface="Calibri" pitchFamily="34" charset="-120"/>
                </a:rPr>
                <a:t>, Telstra, Tata, Orange</a:t>
              </a:r>
              <a:endParaRPr kumimoji="0" lang="en-US" sz="1100" b="0" i="0" u="none" strike="noStrike" kern="1200" cap="none" spc="0" normalizeH="0" baseline="0" noProof="0">
                <a:ln>
                  <a:noFill/>
                </a:ln>
                <a:solidFill>
                  <a:schemeClr val="bg1"/>
                </a:solidFill>
                <a:effectLst/>
                <a:uLnTx/>
                <a:uFillTx/>
                <a:latin typeface="Ubuntu"/>
                <a:ea typeface="+mn-ea"/>
                <a:cs typeface="+mn-cs"/>
              </a:endParaRPr>
            </a:p>
            <a:p>
              <a:pPr marL="342900" marR="0" lvl="0" indent="-342900" algn="l" defTabSz="914400" rtl="0" eaLnBrk="1" fontAlgn="auto" latinLnBrk="0" hangingPunct="1">
                <a:lnSpc>
                  <a:spcPct val="100000"/>
                </a:lnSpc>
                <a:spcBef>
                  <a:spcPts val="0"/>
                </a:spcBef>
                <a:spcAft>
                  <a:spcPts val="300"/>
                </a:spcAft>
                <a:buClrTx/>
                <a:buSzPct val="100000"/>
                <a:buFontTx/>
                <a:buChar char="•"/>
                <a:tabLst/>
                <a:defRPr/>
              </a:pPr>
              <a:r>
                <a:rPr kumimoji="0" lang="en-US" sz="1100" b="0" i="0" u="none" strike="noStrike" kern="1200" cap="none" spc="0" normalizeH="0" baseline="0" noProof="0">
                  <a:ln>
                    <a:noFill/>
                  </a:ln>
                  <a:solidFill>
                    <a:schemeClr val="bg1"/>
                  </a:solidFill>
                  <a:effectLst/>
                  <a:uLnTx/>
                  <a:uFillTx/>
                  <a:latin typeface="Calibri" pitchFamily="34" charset="0"/>
                  <a:ea typeface="Calibri" pitchFamily="34" charset="-122"/>
                  <a:cs typeface="Calibri" pitchFamily="34" charset="-120"/>
                </a:rPr>
                <a:t>Define right to play vs. right to win and recommend an optimal Go-To-Market operational model</a:t>
              </a:r>
              <a:endParaRPr kumimoji="0" lang="en-US" sz="1100" b="0" i="0" u="none" strike="noStrike" kern="1200" cap="none" spc="0" normalizeH="0" baseline="0" noProof="0">
                <a:ln>
                  <a:noFill/>
                </a:ln>
                <a:solidFill>
                  <a:schemeClr val="bg1"/>
                </a:solidFill>
                <a:effectLst/>
                <a:uLnTx/>
                <a:uFillTx/>
                <a:latin typeface="Ubuntu"/>
                <a:ea typeface="+mn-ea"/>
                <a:cs typeface="+mn-cs"/>
              </a:endParaRPr>
            </a:p>
          </p:txBody>
        </p:sp>
      </p:grpSp>
      <p:sp>
        <p:nvSpPr>
          <p:cNvPr id="22" name="Shape 11">
            <a:extLst>
              <a:ext uri="{FF2B5EF4-FFF2-40B4-BE49-F238E27FC236}">
                <a16:creationId xmlns:a16="http://schemas.microsoft.com/office/drawing/2014/main" id="{A30A16FF-8AC5-9A8A-2D8B-C705821E1C2B}"/>
              </a:ext>
            </a:extLst>
          </p:cNvPr>
          <p:cNvSpPr/>
          <p:nvPr/>
        </p:nvSpPr>
        <p:spPr>
          <a:xfrm>
            <a:off x="9189720" y="1234440"/>
            <a:ext cx="2651760" cy="1325880"/>
          </a:xfrm>
          <a:prstGeom prst="rect">
            <a:avLst/>
          </a:prstGeom>
          <a:solidFill>
            <a:srgbClr val="112240"/>
          </a:solidFill>
          <a:ln w="15240">
            <a:solidFill>
              <a:srgbClr val="2A6DA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Ubuntu"/>
              <a:ea typeface="+mn-ea"/>
              <a:cs typeface="+mn-cs"/>
            </a:endParaRPr>
          </a:p>
        </p:txBody>
      </p:sp>
      <p:sp>
        <p:nvSpPr>
          <p:cNvPr id="23" name="Shape 12">
            <a:extLst>
              <a:ext uri="{FF2B5EF4-FFF2-40B4-BE49-F238E27FC236}">
                <a16:creationId xmlns:a16="http://schemas.microsoft.com/office/drawing/2014/main" id="{5928CBE8-B36E-C6C7-AF93-EFC6D151E171}"/>
              </a:ext>
            </a:extLst>
          </p:cNvPr>
          <p:cNvSpPr/>
          <p:nvPr/>
        </p:nvSpPr>
        <p:spPr>
          <a:xfrm>
            <a:off x="9189720" y="1234440"/>
            <a:ext cx="54864" cy="1325880"/>
          </a:xfrm>
          <a:prstGeom prst="rect">
            <a:avLst/>
          </a:prstGeom>
          <a:solidFill>
            <a:srgbClr val="00C2CB"/>
          </a:solidFill>
          <a:ln w="12700">
            <a:solidFill>
              <a:srgbClr val="00C2C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Ubuntu"/>
              <a:ea typeface="+mn-ea"/>
              <a:cs typeface="+mn-cs"/>
            </a:endParaRPr>
          </a:p>
        </p:txBody>
      </p:sp>
      <p:pic>
        <p:nvPicPr>
          <p:cNvPr id="24" name="Image 4" descr="preencoded.png">
            <a:extLst>
              <a:ext uri="{FF2B5EF4-FFF2-40B4-BE49-F238E27FC236}">
                <a16:creationId xmlns:a16="http://schemas.microsoft.com/office/drawing/2014/main" id="{B10C53A2-A44E-CE06-4526-5CAE35A16CC4}"/>
              </a:ext>
            </a:extLst>
          </p:cNvPr>
          <p:cNvPicPr>
            <a:picLocks noChangeAspect="1"/>
          </p:cNvPicPr>
          <p:nvPr/>
        </p:nvPicPr>
        <p:blipFill>
          <a:blip r:embed="rId5"/>
          <a:stretch>
            <a:fillRect/>
          </a:stretch>
        </p:blipFill>
        <p:spPr>
          <a:xfrm>
            <a:off x="9308592" y="1344168"/>
            <a:ext cx="320040" cy="320040"/>
          </a:xfrm>
          <a:prstGeom prst="rect">
            <a:avLst/>
          </a:prstGeom>
        </p:spPr>
      </p:pic>
      <p:sp>
        <p:nvSpPr>
          <p:cNvPr id="25" name="Text 13">
            <a:extLst>
              <a:ext uri="{FF2B5EF4-FFF2-40B4-BE49-F238E27FC236}">
                <a16:creationId xmlns:a16="http://schemas.microsoft.com/office/drawing/2014/main" id="{5CC85902-FAA7-8341-21F2-898F1B412934}"/>
              </a:ext>
            </a:extLst>
          </p:cNvPr>
          <p:cNvSpPr/>
          <p:nvPr/>
        </p:nvSpPr>
        <p:spPr>
          <a:xfrm>
            <a:off x="9692640" y="1325880"/>
            <a:ext cx="20574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B0C4DE"/>
                </a:solidFill>
                <a:effectLst/>
                <a:uLnTx/>
                <a:uFillTx/>
                <a:latin typeface="Calibri" pitchFamily="34" charset="0"/>
                <a:ea typeface="Calibri" pitchFamily="34" charset="-122"/>
                <a:cs typeface="Calibri" pitchFamily="34" charset="-120"/>
              </a:rPr>
              <a:t>Projected Data Usage</a:t>
            </a:r>
            <a:endParaRPr kumimoji="0" lang="en-US" sz="900" b="0" i="0" u="none" strike="noStrike" kern="1200" cap="none" spc="0" normalizeH="0" baseline="0" noProof="0">
              <a:ln>
                <a:noFill/>
              </a:ln>
              <a:solidFill>
                <a:srgbClr val="000000"/>
              </a:solidFill>
              <a:effectLst/>
              <a:uLnTx/>
              <a:uFillTx/>
              <a:latin typeface="Ubuntu"/>
              <a:ea typeface="+mn-ea"/>
              <a:cs typeface="+mn-cs"/>
            </a:endParaRPr>
          </a:p>
        </p:txBody>
      </p:sp>
      <p:sp>
        <p:nvSpPr>
          <p:cNvPr id="26" name="Text 14">
            <a:extLst>
              <a:ext uri="{FF2B5EF4-FFF2-40B4-BE49-F238E27FC236}">
                <a16:creationId xmlns:a16="http://schemas.microsoft.com/office/drawing/2014/main" id="{644BB292-816D-05DA-A427-32EB3A524DDE}"/>
              </a:ext>
            </a:extLst>
          </p:cNvPr>
          <p:cNvSpPr/>
          <p:nvPr/>
        </p:nvSpPr>
        <p:spPr>
          <a:xfrm>
            <a:off x="9308592" y="1691640"/>
            <a:ext cx="246888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51.9 GB</a:t>
            </a:r>
            <a:endParaRPr kumimoji="0" lang="en-US" sz="2000" b="0" i="0" u="none" strike="noStrike" kern="1200" cap="none" spc="0" normalizeH="0" baseline="0" noProof="0">
              <a:ln>
                <a:noFill/>
              </a:ln>
              <a:solidFill>
                <a:srgbClr val="000000"/>
              </a:solidFill>
              <a:effectLst/>
              <a:uLnTx/>
              <a:uFillTx/>
              <a:latin typeface="Ubuntu"/>
              <a:ea typeface="+mn-ea"/>
              <a:cs typeface="+mn-cs"/>
            </a:endParaRPr>
          </a:p>
        </p:txBody>
      </p:sp>
      <p:sp>
        <p:nvSpPr>
          <p:cNvPr id="27" name="Text 15">
            <a:extLst>
              <a:ext uri="{FF2B5EF4-FFF2-40B4-BE49-F238E27FC236}">
                <a16:creationId xmlns:a16="http://schemas.microsoft.com/office/drawing/2014/main" id="{26349B85-9C89-741C-A7FC-3521C17CCA60}"/>
              </a:ext>
            </a:extLst>
          </p:cNvPr>
          <p:cNvSpPr/>
          <p:nvPr/>
        </p:nvSpPr>
        <p:spPr>
          <a:xfrm>
            <a:off x="9308592" y="2203704"/>
            <a:ext cx="2468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00C2CB"/>
                </a:solidFill>
                <a:effectLst/>
                <a:uLnTx/>
                <a:uFillTx/>
                <a:latin typeface="Calibri" pitchFamily="34" charset="0"/>
                <a:ea typeface="Calibri" pitchFamily="34" charset="-122"/>
                <a:cs typeface="Calibri" pitchFamily="34" charset="-120"/>
              </a:rPr>
              <a:t>per user/month by 2029</a:t>
            </a:r>
            <a:endParaRPr kumimoji="0" lang="en-US" sz="900" b="0" i="0" u="none" strike="noStrike" kern="1200" cap="none" spc="0" normalizeH="0" baseline="0" noProof="0">
              <a:ln>
                <a:noFill/>
              </a:ln>
              <a:solidFill>
                <a:srgbClr val="000000"/>
              </a:solidFill>
              <a:effectLst/>
              <a:uLnTx/>
              <a:uFillTx/>
              <a:latin typeface="Ubuntu"/>
              <a:ea typeface="+mn-ea"/>
              <a:cs typeface="+mn-cs"/>
            </a:endParaRPr>
          </a:p>
        </p:txBody>
      </p:sp>
      <p:sp>
        <p:nvSpPr>
          <p:cNvPr id="28" name="Shape 16">
            <a:extLst>
              <a:ext uri="{FF2B5EF4-FFF2-40B4-BE49-F238E27FC236}">
                <a16:creationId xmlns:a16="http://schemas.microsoft.com/office/drawing/2014/main" id="{602F29D8-1F2B-EA37-EDE6-1ED750BD92D1}"/>
              </a:ext>
            </a:extLst>
          </p:cNvPr>
          <p:cNvSpPr/>
          <p:nvPr/>
        </p:nvSpPr>
        <p:spPr>
          <a:xfrm>
            <a:off x="9189720" y="2834640"/>
            <a:ext cx="2651760" cy="1325880"/>
          </a:xfrm>
          <a:prstGeom prst="rect">
            <a:avLst/>
          </a:prstGeom>
          <a:solidFill>
            <a:srgbClr val="112240"/>
          </a:solidFill>
          <a:ln w="15240">
            <a:solidFill>
              <a:srgbClr val="2A6DA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Ubuntu"/>
              <a:ea typeface="+mn-ea"/>
              <a:cs typeface="+mn-cs"/>
            </a:endParaRPr>
          </a:p>
        </p:txBody>
      </p:sp>
      <p:sp>
        <p:nvSpPr>
          <p:cNvPr id="29" name="Shape 17">
            <a:extLst>
              <a:ext uri="{FF2B5EF4-FFF2-40B4-BE49-F238E27FC236}">
                <a16:creationId xmlns:a16="http://schemas.microsoft.com/office/drawing/2014/main" id="{8E2A202F-F8EA-3945-8DD9-AF78361CB96A}"/>
              </a:ext>
            </a:extLst>
          </p:cNvPr>
          <p:cNvSpPr/>
          <p:nvPr/>
        </p:nvSpPr>
        <p:spPr>
          <a:xfrm>
            <a:off x="9189720" y="2834640"/>
            <a:ext cx="54864" cy="1325880"/>
          </a:xfrm>
          <a:prstGeom prst="rect">
            <a:avLst/>
          </a:prstGeom>
          <a:solidFill>
            <a:srgbClr val="00C2CB"/>
          </a:solidFill>
          <a:ln w="12700">
            <a:solidFill>
              <a:srgbClr val="00C2C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Ubuntu"/>
              <a:ea typeface="+mn-ea"/>
              <a:cs typeface="+mn-cs"/>
            </a:endParaRPr>
          </a:p>
        </p:txBody>
      </p:sp>
      <p:pic>
        <p:nvPicPr>
          <p:cNvPr id="30" name="Image 5" descr="preencoded.png">
            <a:extLst>
              <a:ext uri="{FF2B5EF4-FFF2-40B4-BE49-F238E27FC236}">
                <a16:creationId xmlns:a16="http://schemas.microsoft.com/office/drawing/2014/main" id="{5562E2CA-6CDE-E2F6-BC26-87FB1DD42930}"/>
              </a:ext>
            </a:extLst>
          </p:cNvPr>
          <p:cNvPicPr>
            <a:picLocks noChangeAspect="1"/>
          </p:cNvPicPr>
          <p:nvPr/>
        </p:nvPicPr>
        <p:blipFill>
          <a:blip r:embed="rId6"/>
          <a:stretch>
            <a:fillRect/>
          </a:stretch>
        </p:blipFill>
        <p:spPr>
          <a:xfrm>
            <a:off x="9308592" y="2944368"/>
            <a:ext cx="320040" cy="320040"/>
          </a:xfrm>
          <a:prstGeom prst="rect">
            <a:avLst/>
          </a:prstGeom>
        </p:spPr>
      </p:pic>
      <p:sp>
        <p:nvSpPr>
          <p:cNvPr id="31" name="Text 18">
            <a:extLst>
              <a:ext uri="{FF2B5EF4-FFF2-40B4-BE49-F238E27FC236}">
                <a16:creationId xmlns:a16="http://schemas.microsoft.com/office/drawing/2014/main" id="{11CC52B0-A1E0-49E8-ADFC-7AEF0E12967E}"/>
              </a:ext>
            </a:extLst>
          </p:cNvPr>
          <p:cNvSpPr/>
          <p:nvPr/>
        </p:nvSpPr>
        <p:spPr>
          <a:xfrm>
            <a:off x="9692640" y="2926080"/>
            <a:ext cx="20574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B0C4DE"/>
                </a:solidFill>
                <a:effectLst/>
                <a:uLnTx/>
                <a:uFillTx/>
                <a:latin typeface="Calibri" pitchFamily="34" charset="0"/>
                <a:ea typeface="Calibri" pitchFamily="34" charset="-122"/>
                <a:cs typeface="Calibri" pitchFamily="34" charset="-120"/>
              </a:rPr>
              <a:t>DC Connections</a:t>
            </a:r>
            <a:endParaRPr kumimoji="0" lang="en-US" sz="900" b="0" i="0" u="none" strike="noStrike" kern="1200" cap="none" spc="0" normalizeH="0" baseline="0" noProof="0">
              <a:ln>
                <a:noFill/>
              </a:ln>
              <a:solidFill>
                <a:srgbClr val="000000"/>
              </a:solidFill>
              <a:effectLst/>
              <a:uLnTx/>
              <a:uFillTx/>
              <a:latin typeface="Ubuntu"/>
              <a:ea typeface="+mn-ea"/>
              <a:cs typeface="+mn-cs"/>
            </a:endParaRPr>
          </a:p>
        </p:txBody>
      </p:sp>
      <p:sp>
        <p:nvSpPr>
          <p:cNvPr id="32" name="Text 19">
            <a:extLst>
              <a:ext uri="{FF2B5EF4-FFF2-40B4-BE49-F238E27FC236}">
                <a16:creationId xmlns:a16="http://schemas.microsoft.com/office/drawing/2014/main" id="{B0556923-DD02-A3C8-26BE-DA413A10DD64}"/>
              </a:ext>
            </a:extLst>
          </p:cNvPr>
          <p:cNvSpPr/>
          <p:nvPr/>
        </p:nvSpPr>
        <p:spPr>
          <a:xfrm>
            <a:off x="9308592" y="3291840"/>
            <a:ext cx="246888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39+</a:t>
            </a:r>
            <a:endParaRPr kumimoji="0" lang="en-US" sz="2000" b="0" i="0" u="none" strike="noStrike" kern="1200" cap="none" spc="0" normalizeH="0" baseline="0" noProof="0">
              <a:ln>
                <a:noFill/>
              </a:ln>
              <a:solidFill>
                <a:srgbClr val="000000"/>
              </a:solidFill>
              <a:effectLst/>
              <a:uLnTx/>
              <a:uFillTx/>
              <a:latin typeface="Ubuntu"/>
              <a:ea typeface="+mn-ea"/>
              <a:cs typeface="+mn-cs"/>
            </a:endParaRPr>
          </a:p>
        </p:txBody>
      </p:sp>
      <p:sp>
        <p:nvSpPr>
          <p:cNvPr id="33" name="Text 20">
            <a:extLst>
              <a:ext uri="{FF2B5EF4-FFF2-40B4-BE49-F238E27FC236}">
                <a16:creationId xmlns:a16="http://schemas.microsoft.com/office/drawing/2014/main" id="{35556309-66ED-8B9E-8506-6A5ECE8219D8}"/>
              </a:ext>
            </a:extLst>
          </p:cNvPr>
          <p:cNvSpPr/>
          <p:nvPr/>
        </p:nvSpPr>
        <p:spPr>
          <a:xfrm>
            <a:off x="9308592" y="3803904"/>
            <a:ext cx="2468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00C2CB"/>
                </a:solidFill>
                <a:effectLst/>
                <a:uLnTx/>
                <a:uFillTx/>
                <a:latin typeface="Calibri" pitchFamily="34" charset="0"/>
                <a:ea typeface="Calibri" pitchFamily="34" charset="-122"/>
                <a:cs typeface="Calibri" pitchFamily="34" charset="-120"/>
              </a:rPr>
              <a:t>major DCs on Maxis network</a:t>
            </a:r>
            <a:endParaRPr kumimoji="0" lang="en-US" sz="900" b="0" i="0" u="none" strike="noStrike" kern="1200" cap="none" spc="0" normalizeH="0" baseline="0" noProof="0">
              <a:ln>
                <a:noFill/>
              </a:ln>
              <a:solidFill>
                <a:srgbClr val="000000"/>
              </a:solidFill>
              <a:effectLst/>
              <a:uLnTx/>
              <a:uFillTx/>
              <a:latin typeface="Ubuntu"/>
              <a:ea typeface="+mn-ea"/>
              <a:cs typeface="+mn-cs"/>
            </a:endParaRPr>
          </a:p>
        </p:txBody>
      </p:sp>
      <p:sp>
        <p:nvSpPr>
          <p:cNvPr id="34" name="Shape 21">
            <a:extLst>
              <a:ext uri="{FF2B5EF4-FFF2-40B4-BE49-F238E27FC236}">
                <a16:creationId xmlns:a16="http://schemas.microsoft.com/office/drawing/2014/main" id="{0E1974AA-3329-8381-0DCA-E59EF68C18E3}"/>
              </a:ext>
            </a:extLst>
          </p:cNvPr>
          <p:cNvSpPr/>
          <p:nvPr/>
        </p:nvSpPr>
        <p:spPr>
          <a:xfrm>
            <a:off x="9189720" y="4434840"/>
            <a:ext cx="2651760" cy="1325880"/>
          </a:xfrm>
          <a:prstGeom prst="rect">
            <a:avLst/>
          </a:prstGeom>
          <a:solidFill>
            <a:srgbClr val="112240"/>
          </a:solidFill>
          <a:ln w="15240">
            <a:solidFill>
              <a:srgbClr val="2A6DA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Ubuntu"/>
              <a:ea typeface="+mn-ea"/>
              <a:cs typeface="+mn-cs"/>
            </a:endParaRPr>
          </a:p>
        </p:txBody>
      </p:sp>
      <p:sp>
        <p:nvSpPr>
          <p:cNvPr id="35" name="Shape 22">
            <a:extLst>
              <a:ext uri="{FF2B5EF4-FFF2-40B4-BE49-F238E27FC236}">
                <a16:creationId xmlns:a16="http://schemas.microsoft.com/office/drawing/2014/main" id="{044E820A-241A-9AD1-B6B0-08F22A42D858}"/>
              </a:ext>
            </a:extLst>
          </p:cNvPr>
          <p:cNvSpPr/>
          <p:nvPr/>
        </p:nvSpPr>
        <p:spPr>
          <a:xfrm>
            <a:off x="9189720" y="4434840"/>
            <a:ext cx="54864" cy="1325880"/>
          </a:xfrm>
          <a:prstGeom prst="rect">
            <a:avLst/>
          </a:prstGeom>
          <a:solidFill>
            <a:srgbClr val="00C2CB"/>
          </a:solidFill>
          <a:ln w="12700">
            <a:solidFill>
              <a:srgbClr val="00C2C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Ubuntu"/>
              <a:ea typeface="+mn-ea"/>
              <a:cs typeface="+mn-cs"/>
            </a:endParaRPr>
          </a:p>
        </p:txBody>
      </p:sp>
      <p:pic>
        <p:nvPicPr>
          <p:cNvPr id="36" name="Image 6" descr="preencoded.png">
            <a:extLst>
              <a:ext uri="{FF2B5EF4-FFF2-40B4-BE49-F238E27FC236}">
                <a16:creationId xmlns:a16="http://schemas.microsoft.com/office/drawing/2014/main" id="{2BB1D189-147F-F85B-9EB0-D9985836FC31}"/>
              </a:ext>
            </a:extLst>
          </p:cNvPr>
          <p:cNvPicPr>
            <a:picLocks noChangeAspect="1"/>
          </p:cNvPicPr>
          <p:nvPr/>
        </p:nvPicPr>
        <p:blipFill>
          <a:blip r:embed="rId7"/>
          <a:stretch>
            <a:fillRect/>
          </a:stretch>
        </p:blipFill>
        <p:spPr>
          <a:xfrm>
            <a:off x="9308592" y="4544568"/>
            <a:ext cx="320040" cy="320040"/>
          </a:xfrm>
          <a:prstGeom prst="rect">
            <a:avLst/>
          </a:prstGeom>
        </p:spPr>
      </p:pic>
      <p:sp>
        <p:nvSpPr>
          <p:cNvPr id="37" name="Text 23">
            <a:extLst>
              <a:ext uri="{FF2B5EF4-FFF2-40B4-BE49-F238E27FC236}">
                <a16:creationId xmlns:a16="http://schemas.microsoft.com/office/drawing/2014/main" id="{D0F3D90B-B951-8FEB-13C9-FF58BBE35316}"/>
              </a:ext>
            </a:extLst>
          </p:cNvPr>
          <p:cNvSpPr/>
          <p:nvPr/>
        </p:nvSpPr>
        <p:spPr>
          <a:xfrm>
            <a:off x="9692640" y="4526280"/>
            <a:ext cx="20574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B0C4DE"/>
                </a:solidFill>
                <a:effectLst/>
                <a:uLnTx/>
                <a:uFillTx/>
                <a:latin typeface="Calibri" pitchFamily="34" charset="0"/>
                <a:ea typeface="Calibri" pitchFamily="34" charset="-122"/>
                <a:cs typeface="Calibri" pitchFamily="34" charset="-120"/>
              </a:rPr>
              <a:t>Enterprise Revenue</a:t>
            </a:r>
            <a:endParaRPr kumimoji="0" lang="en-US" sz="900" b="0" i="0" u="none" strike="noStrike" kern="1200" cap="none" spc="0" normalizeH="0" baseline="0" noProof="0">
              <a:ln>
                <a:noFill/>
              </a:ln>
              <a:solidFill>
                <a:srgbClr val="000000"/>
              </a:solidFill>
              <a:effectLst/>
              <a:uLnTx/>
              <a:uFillTx/>
              <a:latin typeface="Ubuntu"/>
              <a:ea typeface="+mn-ea"/>
              <a:cs typeface="+mn-cs"/>
            </a:endParaRPr>
          </a:p>
        </p:txBody>
      </p:sp>
      <p:sp>
        <p:nvSpPr>
          <p:cNvPr id="38" name="Text 24">
            <a:extLst>
              <a:ext uri="{FF2B5EF4-FFF2-40B4-BE49-F238E27FC236}">
                <a16:creationId xmlns:a16="http://schemas.microsoft.com/office/drawing/2014/main" id="{A2C77806-6EC4-2732-FD84-B0470C46315B}"/>
              </a:ext>
            </a:extLst>
          </p:cNvPr>
          <p:cNvSpPr/>
          <p:nvPr/>
        </p:nvSpPr>
        <p:spPr>
          <a:xfrm>
            <a:off x="9308592" y="4892040"/>
            <a:ext cx="246888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RM 1,665M</a:t>
            </a:r>
            <a:endParaRPr kumimoji="0" lang="en-US" sz="2000" b="0" i="0" u="none" strike="noStrike" kern="1200" cap="none" spc="0" normalizeH="0" baseline="0" noProof="0">
              <a:ln>
                <a:noFill/>
              </a:ln>
              <a:solidFill>
                <a:srgbClr val="000000"/>
              </a:solidFill>
              <a:effectLst/>
              <a:uLnTx/>
              <a:uFillTx/>
              <a:latin typeface="Ubuntu"/>
              <a:ea typeface="+mn-ea"/>
              <a:cs typeface="+mn-cs"/>
            </a:endParaRPr>
          </a:p>
        </p:txBody>
      </p:sp>
      <p:sp>
        <p:nvSpPr>
          <p:cNvPr id="39" name="Text 25">
            <a:extLst>
              <a:ext uri="{FF2B5EF4-FFF2-40B4-BE49-F238E27FC236}">
                <a16:creationId xmlns:a16="http://schemas.microsoft.com/office/drawing/2014/main" id="{5C5D93EA-AB66-B88C-84A7-E41C27A67044}"/>
              </a:ext>
            </a:extLst>
          </p:cNvPr>
          <p:cNvSpPr/>
          <p:nvPr/>
        </p:nvSpPr>
        <p:spPr>
          <a:xfrm>
            <a:off x="9308592" y="5404104"/>
            <a:ext cx="2468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00C2CB"/>
                </a:solidFill>
                <a:effectLst/>
                <a:uLnTx/>
                <a:uFillTx/>
                <a:latin typeface="Calibri" pitchFamily="34" charset="0"/>
                <a:ea typeface="Calibri" pitchFamily="34" charset="-122"/>
                <a:cs typeface="Calibri" pitchFamily="34" charset="-120"/>
              </a:rPr>
              <a:t>FY25 · +3.4% YoY</a:t>
            </a:r>
            <a:endParaRPr kumimoji="0" lang="en-US" sz="900" b="0" i="0" u="none" strike="noStrike" kern="1200" cap="none" spc="0" normalizeH="0" baseline="0" noProof="0">
              <a:ln>
                <a:noFill/>
              </a:ln>
              <a:solidFill>
                <a:srgbClr val="000000"/>
              </a:solidFill>
              <a:effectLst/>
              <a:uLnTx/>
              <a:uFillTx/>
              <a:latin typeface="Ubuntu"/>
              <a:ea typeface="+mn-ea"/>
              <a:cs typeface="+mn-cs"/>
            </a:endParaRPr>
          </a:p>
        </p:txBody>
      </p:sp>
      <p:sp>
        <p:nvSpPr>
          <p:cNvPr id="8" name="Text 2">
            <a:extLst>
              <a:ext uri="{FF2B5EF4-FFF2-40B4-BE49-F238E27FC236}">
                <a16:creationId xmlns:a16="http://schemas.microsoft.com/office/drawing/2014/main" id="{3F1E2A39-639F-C9F8-D9E0-0EE7AAB5E12D}"/>
              </a:ext>
            </a:extLst>
          </p:cNvPr>
          <p:cNvSpPr/>
          <p:nvPr/>
        </p:nvSpPr>
        <p:spPr>
          <a:xfrm>
            <a:off x="567839" y="267582"/>
            <a:ext cx="10335514"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mj-lt"/>
                <a:ea typeface="Calibri" pitchFamily="34" charset="-122"/>
                <a:cs typeface="Calibri" pitchFamily="34" charset="-120"/>
              </a:rPr>
              <a:t>Malaysian Market Shifts and Demand Dynamics Shaping Wholesale Growth</a:t>
            </a:r>
            <a:endParaRPr kumimoji="0" lang="en-US" sz="2400" b="0" i="0" u="none" strike="noStrike" kern="1200" cap="none" spc="0" normalizeH="0" baseline="0" noProof="0">
              <a:ln>
                <a:noFill/>
              </a:ln>
              <a:solidFill>
                <a:srgbClr val="FFFFFF"/>
              </a:solidFill>
              <a:effectLst/>
              <a:uLnTx/>
              <a:uFillTx/>
              <a:latin typeface="+mj-lt"/>
              <a:ea typeface="+mn-ea"/>
              <a:cs typeface="+mn-cs"/>
            </a:endParaRPr>
          </a:p>
        </p:txBody>
      </p:sp>
      <p:pic>
        <p:nvPicPr>
          <p:cNvPr id="6" name="Picture 5">
            <a:extLst>
              <a:ext uri="{FF2B5EF4-FFF2-40B4-BE49-F238E27FC236}">
                <a16:creationId xmlns:a16="http://schemas.microsoft.com/office/drawing/2014/main" id="{50987575-859A-2EF7-8A74-E39C92C75710}"/>
              </a:ext>
            </a:extLst>
          </p:cNvPr>
          <p:cNvPicPr>
            <a:picLocks noChangeAspect="1"/>
          </p:cNvPicPr>
          <p:nvPr/>
        </p:nvPicPr>
        <p:blipFill>
          <a:blip r:embed="rId8"/>
          <a:stretch>
            <a:fillRect/>
          </a:stretch>
        </p:blipFill>
        <p:spPr>
          <a:xfrm>
            <a:off x="10595509" y="0"/>
            <a:ext cx="1237002" cy="696510"/>
          </a:xfrm>
          <a:prstGeom prst="rect">
            <a:avLst/>
          </a:prstGeom>
        </p:spPr>
      </p:pic>
      <p:sp>
        <p:nvSpPr>
          <p:cNvPr id="3" name="TextBox 2">
            <a:extLst>
              <a:ext uri="{FF2B5EF4-FFF2-40B4-BE49-F238E27FC236}">
                <a16:creationId xmlns:a16="http://schemas.microsoft.com/office/drawing/2014/main" id="{AEB8D8BE-151D-13BB-1A4F-E8A6E49204FC}"/>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5" name="Date Placeholder 5">
            <a:extLst>
              <a:ext uri="{FF2B5EF4-FFF2-40B4-BE49-F238E27FC236}">
                <a16:creationId xmlns:a16="http://schemas.microsoft.com/office/drawing/2014/main" id="{49F27CE8-1B84-B8D9-6661-56785604FBA2}"/>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9" name="Date Placeholder 5">
            <a:extLst>
              <a:ext uri="{FF2B5EF4-FFF2-40B4-BE49-F238E27FC236}">
                <a16:creationId xmlns:a16="http://schemas.microsoft.com/office/drawing/2014/main" id="{E1475546-9F5C-975C-CBA6-D7B6F316E909}"/>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9</a:t>
            </a:r>
          </a:p>
        </p:txBody>
      </p:sp>
    </p:spTree>
    <p:extLst>
      <p:ext uri="{BB962C8B-B14F-4D97-AF65-F5344CB8AC3E}">
        <p14:creationId xmlns:p14="http://schemas.microsoft.com/office/powerpoint/2010/main" val="3643911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2">
            <a:extLst>
              <a:ext uri="{FF2B5EF4-FFF2-40B4-BE49-F238E27FC236}">
                <a16:creationId xmlns:a16="http://schemas.microsoft.com/office/drawing/2014/main" id="{C38DC312-BCB1-7EC2-6D45-EE7583D6886B}"/>
              </a:ext>
            </a:extLst>
          </p:cNvPr>
          <p:cNvSpPr/>
          <p:nvPr/>
        </p:nvSpPr>
        <p:spPr>
          <a:xfrm>
            <a:off x="563112" y="242316"/>
            <a:ext cx="10351815" cy="59436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Maxis Financial Performance, Strategic Signals &amp; Wholesale Growth Catalysts</a:t>
            </a:r>
            <a:endParaRPr lang="en-US" sz="2600">
              <a:solidFill>
                <a:schemeClr val="bg1"/>
              </a:solidFill>
            </a:endParaRPr>
          </a:p>
        </p:txBody>
      </p:sp>
      <p:sp>
        <p:nvSpPr>
          <p:cNvPr id="11" name="Text 3">
            <a:extLst>
              <a:ext uri="{FF2B5EF4-FFF2-40B4-BE49-F238E27FC236}">
                <a16:creationId xmlns:a16="http://schemas.microsoft.com/office/drawing/2014/main" id="{C3A19978-549B-F4A0-0298-D9F18F664A9B}"/>
              </a:ext>
            </a:extLst>
          </p:cNvPr>
          <p:cNvSpPr/>
          <p:nvPr/>
        </p:nvSpPr>
        <p:spPr>
          <a:xfrm>
            <a:off x="320040" y="987552"/>
            <a:ext cx="8229600" cy="320040"/>
          </a:xfrm>
          <a:prstGeom prst="rect">
            <a:avLst/>
          </a:prstGeom>
          <a:noFill/>
          <a:ln/>
        </p:spPr>
        <p:txBody>
          <a:bodyPr wrap="square" lIns="0" tIns="0" rIns="0" bIns="0" rtlCol="0" anchor="ctr"/>
          <a:lstStyle/>
          <a:p>
            <a:pPr marL="0" indent="0">
              <a:buNone/>
            </a:pPr>
            <a:r>
              <a:rPr lang="en-US" sz="1300" i="1">
                <a:solidFill>
                  <a:srgbClr val="00C2CB"/>
                </a:solidFill>
                <a:latin typeface="Calibri" pitchFamily="34" charset="0"/>
                <a:ea typeface="Calibri" pitchFamily="34" charset="-122"/>
                <a:cs typeface="Calibri" pitchFamily="34" charset="-120"/>
              </a:rPr>
              <a:t>Financial snapshots, leadership signals &amp; demand accelerators</a:t>
            </a:r>
            <a:endParaRPr lang="en-US" sz="1300"/>
          </a:p>
        </p:txBody>
      </p:sp>
      <p:sp>
        <p:nvSpPr>
          <p:cNvPr id="12" name="Shape 4">
            <a:extLst>
              <a:ext uri="{FF2B5EF4-FFF2-40B4-BE49-F238E27FC236}">
                <a16:creationId xmlns:a16="http://schemas.microsoft.com/office/drawing/2014/main" id="{7E9A0980-EA43-F8C1-41DF-72DF690B11C9}"/>
              </a:ext>
            </a:extLst>
          </p:cNvPr>
          <p:cNvSpPr/>
          <p:nvPr/>
        </p:nvSpPr>
        <p:spPr>
          <a:xfrm>
            <a:off x="320040" y="1335024"/>
            <a:ext cx="8686800" cy="27432"/>
          </a:xfrm>
          <a:prstGeom prst="rect">
            <a:avLst/>
          </a:prstGeom>
          <a:solidFill>
            <a:srgbClr val="2A6DAA"/>
          </a:solidFill>
          <a:ln w="12700">
            <a:solidFill>
              <a:srgbClr val="2A6DAA"/>
            </a:solidFill>
            <a:prstDash val="solid"/>
          </a:ln>
        </p:spPr>
        <p:txBody>
          <a:bodyPr/>
          <a:lstStyle/>
          <a:p>
            <a:endParaRPr lang="en-IN"/>
          </a:p>
        </p:txBody>
      </p:sp>
      <p:pic>
        <p:nvPicPr>
          <p:cNvPr id="13" name="Image 1" descr="preencoded.png">
            <a:extLst>
              <a:ext uri="{FF2B5EF4-FFF2-40B4-BE49-F238E27FC236}">
                <a16:creationId xmlns:a16="http://schemas.microsoft.com/office/drawing/2014/main" id="{0BED2716-27C7-20A8-3A5B-7C4F780B4860}"/>
              </a:ext>
            </a:extLst>
          </p:cNvPr>
          <p:cNvPicPr>
            <a:picLocks noChangeAspect="1"/>
          </p:cNvPicPr>
          <p:nvPr/>
        </p:nvPicPr>
        <p:blipFill>
          <a:blip r:embed="rId2"/>
          <a:stretch>
            <a:fillRect/>
          </a:stretch>
        </p:blipFill>
        <p:spPr>
          <a:xfrm>
            <a:off x="320040" y="1517904"/>
            <a:ext cx="347472" cy="347472"/>
          </a:xfrm>
          <a:prstGeom prst="rect">
            <a:avLst/>
          </a:prstGeom>
        </p:spPr>
      </p:pic>
      <p:sp>
        <p:nvSpPr>
          <p:cNvPr id="14" name="Text 5">
            <a:extLst>
              <a:ext uri="{FF2B5EF4-FFF2-40B4-BE49-F238E27FC236}">
                <a16:creationId xmlns:a16="http://schemas.microsoft.com/office/drawing/2014/main" id="{42FB4398-508F-2AC8-45AD-9CD119C79055}"/>
              </a:ext>
            </a:extLst>
          </p:cNvPr>
          <p:cNvSpPr/>
          <p:nvPr/>
        </p:nvSpPr>
        <p:spPr>
          <a:xfrm>
            <a:off x="768096" y="1499616"/>
            <a:ext cx="8229600" cy="347472"/>
          </a:xfrm>
          <a:prstGeom prst="rect">
            <a:avLst/>
          </a:prstGeom>
          <a:noFill/>
          <a:ln/>
        </p:spPr>
        <p:txBody>
          <a:bodyPr wrap="square" lIns="0" tIns="0" rIns="0" bIns="0" rtlCol="0" anchor="ctr"/>
          <a:lstStyle/>
          <a:p>
            <a:pPr marL="0" indent="0">
              <a:buNone/>
            </a:pPr>
            <a:r>
              <a:rPr lang="en-US" sz="1350" b="1">
                <a:solidFill>
                  <a:srgbClr val="FFFFFF"/>
                </a:solidFill>
                <a:latin typeface="Calibri" pitchFamily="34" charset="0"/>
                <a:ea typeface="Calibri" pitchFamily="34" charset="-122"/>
                <a:cs typeface="Calibri" pitchFamily="34" charset="-120"/>
              </a:rPr>
              <a:t>Business Snapshot  </a:t>
            </a:r>
            <a:endParaRPr lang="en-US" sz="1350"/>
          </a:p>
        </p:txBody>
      </p:sp>
      <p:sp>
        <p:nvSpPr>
          <p:cNvPr id="15" name="Shape 6">
            <a:extLst>
              <a:ext uri="{FF2B5EF4-FFF2-40B4-BE49-F238E27FC236}">
                <a16:creationId xmlns:a16="http://schemas.microsoft.com/office/drawing/2014/main" id="{A7E5EC41-739D-45B6-CB50-D051145F18E6}"/>
              </a:ext>
            </a:extLst>
          </p:cNvPr>
          <p:cNvSpPr/>
          <p:nvPr/>
        </p:nvSpPr>
        <p:spPr>
          <a:xfrm>
            <a:off x="320040" y="1901952"/>
            <a:ext cx="2103120" cy="841248"/>
          </a:xfrm>
          <a:prstGeom prst="rect">
            <a:avLst/>
          </a:prstGeom>
          <a:solidFill>
            <a:srgbClr val="112240"/>
          </a:solidFill>
          <a:ln w="12700">
            <a:solidFill>
              <a:srgbClr val="2A6DAA"/>
            </a:solidFill>
            <a:prstDash val="solid"/>
          </a:ln>
        </p:spPr>
        <p:txBody>
          <a:bodyPr/>
          <a:lstStyle/>
          <a:p>
            <a:endParaRPr lang="en-IN"/>
          </a:p>
        </p:txBody>
      </p:sp>
      <p:sp>
        <p:nvSpPr>
          <p:cNvPr id="16" name="Shape 7">
            <a:extLst>
              <a:ext uri="{FF2B5EF4-FFF2-40B4-BE49-F238E27FC236}">
                <a16:creationId xmlns:a16="http://schemas.microsoft.com/office/drawing/2014/main" id="{C7DC5459-F2C3-72AA-214B-2FFB7DB50D65}"/>
              </a:ext>
            </a:extLst>
          </p:cNvPr>
          <p:cNvSpPr/>
          <p:nvPr/>
        </p:nvSpPr>
        <p:spPr>
          <a:xfrm>
            <a:off x="320040" y="2688336"/>
            <a:ext cx="2103120" cy="54864"/>
          </a:xfrm>
          <a:prstGeom prst="rect">
            <a:avLst/>
          </a:prstGeom>
          <a:solidFill>
            <a:srgbClr val="00C2CB"/>
          </a:solidFill>
          <a:ln w="12700">
            <a:solidFill>
              <a:srgbClr val="00C2CB"/>
            </a:solidFill>
            <a:prstDash val="solid"/>
          </a:ln>
        </p:spPr>
        <p:txBody>
          <a:bodyPr/>
          <a:lstStyle/>
          <a:p>
            <a:endParaRPr lang="en-IN"/>
          </a:p>
        </p:txBody>
      </p:sp>
      <p:sp>
        <p:nvSpPr>
          <p:cNvPr id="17" name="Text 8">
            <a:extLst>
              <a:ext uri="{FF2B5EF4-FFF2-40B4-BE49-F238E27FC236}">
                <a16:creationId xmlns:a16="http://schemas.microsoft.com/office/drawing/2014/main" id="{360D0E06-CFB4-E4C5-0EA6-A14DA46883F1}"/>
              </a:ext>
            </a:extLst>
          </p:cNvPr>
          <p:cNvSpPr/>
          <p:nvPr/>
        </p:nvSpPr>
        <p:spPr>
          <a:xfrm>
            <a:off x="429768" y="1956816"/>
            <a:ext cx="1938528" cy="201168"/>
          </a:xfrm>
          <a:prstGeom prst="rect">
            <a:avLst/>
          </a:prstGeom>
          <a:noFill/>
          <a:ln/>
        </p:spPr>
        <p:txBody>
          <a:bodyPr wrap="square" lIns="0" tIns="0" rIns="0" bIns="0" rtlCol="0" anchor="ctr"/>
          <a:lstStyle/>
          <a:p>
            <a:pPr marL="0" indent="0">
              <a:buNone/>
            </a:pPr>
            <a:r>
              <a:rPr lang="en-US" sz="900">
                <a:solidFill>
                  <a:srgbClr val="B0C4DE"/>
                </a:solidFill>
                <a:latin typeface="Calibri" pitchFamily="34" charset="0"/>
                <a:ea typeface="Calibri" pitchFamily="34" charset="-122"/>
                <a:cs typeface="Calibri" pitchFamily="34" charset="-120"/>
              </a:rPr>
              <a:t>Subscribers</a:t>
            </a:r>
            <a:endParaRPr lang="en-US" sz="900"/>
          </a:p>
        </p:txBody>
      </p:sp>
      <p:sp>
        <p:nvSpPr>
          <p:cNvPr id="18" name="Text 9">
            <a:extLst>
              <a:ext uri="{FF2B5EF4-FFF2-40B4-BE49-F238E27FC236}">
                <a16:creationId xmlns:a16="http://schemas.microsoft.com/office/drawing/2014/main" id="{E6EF3927-6FAB-2B49-80E5-1834D1DC004F}"/>
              </a:ext>
            </a:extLst>
          </p:cNvPr>
          <p:cNvSpPr/>
          <p:nvPr/>
        </p:nvSpPr>
        <p:spPr>
          <a:xfrm>
            <a:off x="429768" y="2167128"/>
            <a:ext cx="1938528"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~9.98M</a:t>
            </a:r>
            <a:endParaRPr lang="en-US" sz="1400"/>
          </a:p>
        </p:txBody>
      </p:sp>
      <p:sp>
        <p:nvSpPr>
          <p:cNvPr id="19" name="Text 10">
            <a:extLst>
              <a:ext uri="{FF2B5EF4-FFF2-40B4-BE49-F238E27FC236}">
                <a16:creationId xmlns:a16="http://schemas.microsoft.com/office/drawing/2014/main" id="{24380674-EB50-6E21-BB35-9D15645D0911}"/>
              </a:ext>
            </a:extLst>
          </p:cNvPr>
          <p:cNvSpPr/>
          <p:nvPr/>
        </p:nvSpPr>
        <p:spPr>
          <a:xfrm>
            <a:off x="429768" y="2496312"/>
            <a:ext cx="1938528" cy="182880"/>
          </a:xfrm>
          <a:prstGeom prst="rect">
            <a:avLst/>
          </a:prstGeom>
          <a:noFill/>
          <a:ln/>
        </p:spPr>
        <p:txBody>
          <a:bodyPr wrap="square" lIns="0" tIns="0" rIns="0" bIns="0" rtlCol="0" anchor="ctr"/>
          <a:lstStyle/>
          <a:p>
            <a:pPr marL="0" indent="0">
              <a:buNone/>
            </a:pPr>
            <a:r>
              <a:rPr lang="en-US" sz="800" i="1">
                <a:solidFill>
                  <a:srgbClr val="00C2CB"/>
                </a:solidFill>
                <a:latin typeface="Calibri" pitchFamily="34" charset="0"/>
                <a:ea typeface="Calibri" pitchFamily="34" charset="-122"/>
                <a:cs typeface="Calibri" pitchFamily="34" charset="-120"/>
              </a:rPr>
              <a:t>FY24–FY25</a:t>
            </a:r>
            <a:endParaRPr lang="en-US" sz="800"/>
          </a:p>
        </p:txBody>
      </p:sp>
      <p:sp>
        <p:nvSpPr>
          <p:cNvPr id="20" name="Shape 11">
            <a:extLst>
              <a:ext uri="{FF2B5EF4-FFF2-40B4-BE49-F238E27FC236}">
                <a16:creationId xmlns:a16="http://schemas.microsoft.com/office/drawing/2014/main" id="{F90BB06B-5CCC-BB22-91F9-16B7562510B8}"/>
              </a:ext>
            </a:extLst>
          </p:cNvPr>
          <p:cNvSpPr/>
          <p:nvPr/>
        </p:nvSpPr>
        <p:spPr>
          <a:xfrm>
            <a:off x="2532888" y="1901952"/>
            <a:ext cx="2103120" cy="841248"/>
          </a:xfrm>
          <a:prstGeom prst="rect">
            <a:avLst/>
          </a:prstGeom>
          <a:solidFill>
            <a:srgbClr val="112240"/>
          </a:solidFill>
          <a:ln w="12700">
            <a:solidFill>
              <a:srgbClr val="2A6DAA"/>
            </a:solidFill>
            <a:prstDash val="solid"/>
          </a:ln>
        </p:spPr>
        <p:txBody>
          <a:bodyPr/>
          <a:lstStyle/>
          <a:p>
            <a:endParaRPr lang="en-IN"/>
          </a:p>
        </p:txBody>
      </p:sp>
      <p:sp>
        <p:nvSpPr>
          <p:cNvPr id="21" name="Shape 12">
            <a:extLst>
              <a:ext uri="{FF2B5EF4-FFF2-40B4-BE49-F238E27FC236}">
                <a16:creationId xmlns:a16="http://schemas.microsoft.com/office/drawing/2014/main" id="{10FE227A-87C0-2B7F-B81C-E378D8309D1C}"/>
              </a:ext>
            </a:extLst>
          </p:cNvPr>
          <p:cNvSpPr/>
          <p:nvPr/>
        </p:nvSpPr>
        <p:spPr>
          <a:xfrm>
            <a:off x="2532888" y="2688336"/>
            <a:ext cx="2103120" cy="54864"/>
          </a:xfrm>
          <a:prstGeom prst="rect">
            <a:avLst/>
          </a:prstGeom>
          <a:solidFill>
            <a:srgbClr val="00C2CB"/>
          </a:solidFill>
          <a:ln w="12700">
            <a:solidFill>
              <a:srgbClr val="00C2CB"/>
            </a:solidFill>
            <a:prstDash val="solid"/>
          </a:ln>
        </p:spPr>
        <p:txBody>
          <a:bodyPr/>
          <a:lstStyle/>
          <a:p>
            <a:endParaRPr lang="en-IN"/>
          </a:p>
        </p:txBody>
      </p:sp>
      <p:sp>
        <p:nvSpPr>
          <p:cNvPr id="22" name="Text 13">
            <a:extLst>
              <a:ext uri="{FF2B5EF4-FFF2-40B4-BE49-F238E27FC236}">
                <a16:creationId xmlns:a16="http://schemas.microsoft.com/office/drawing/2014/main" id="{D8C5D2E6-8451-6B36-1512-245550D80678}"/>
              </a:ext>
            </a:extLst>
          </p:cNvPr>
          <p:cNvSpPr/>
          <p:nvPr/>
        </p:nvSpPr>
        <p:spPr>
          <a:xfrm>
            <a:off x="2642616" y="1956816"/>
            <a:ext cx="1938528" cy="201168"/>
          </a:xfrm>
          <a:prstGeom prst="rect">
            <a:avLst/>
          </a:prstGeom>
          <a:noFill/>
          <a:ln/>
        </p:spPr>
        <p:txBody>
          <a:bodyPr wrap="square" lIns="0" tIns="0" rIns="0" bIns="0" rtlCol="0" anchor="ctr"/>
          <a:lstStyle/>
          <a:p>
            <a:pPr marL="0" indent="0">
              <a:buNone/>
            </a:pPr>
            <a:r>
              <a:rPr lang="en-US" sz="900">
                <a:solidFill>
                  <a:srgbClr val="B0C4DE"/>
                </a:solidFill>
                <a:latin typeface="Calibri" pitchFamily="34" charset="0"/>
                <a:ea typeface="Calibri" pitchFamily="34" charset="-122"/>
                <a:cs typeface="Calibri" pitchFamily="34" charset="-120"/>
              </a:rPr>
              <a:t>Service Revenue</a:t>
            </a:r>
            <a:endParaRPr lang="en-US" sz="900"/>
          </a:p>
        </p:txBody>
      </p:sp>
      <p:sp>
        <p:nvSpPr>
          <p:cNvPr id="23" name="Text 14">
            <a:extLst>
              <a:ext uri="{FF2B5EF4-FFF2-40B4-BE49-F238E27FC236}">
                <a16:creationId xmlns:a16="http://schemas.microsoft.com/office/drawing/2014/main" id="{3156FE12-5E25-C5A6-2FAA-BD57A42BE38E}"/>
              </a:ext>
            </a:extLst>
          </p:cNvPr>
          <p:cNvSpPr/>
          <p:nvPr/>
        </p:nvSpPr>
        <p:spPr>
          <a:xfrm>
            <a:off x="2642616" y="2167128"/>
            <a:ext cx="1938528"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RM 8,912M</a:t>
            </a:r>
            <a:endParaRPr lang="en-US" sz="1400"/>
          </a:p>
        </p:txBody>
      </p:sp>
      <p:sp>
        <p:nvSpPr>
          <p:cNvPr id="24" name="Text 15">
            <a:extLst>
              <a:ext uri="{FF2B5EF4-FFF2-40B4-BE49-F238E27FC236}">
                <a16:creationId xmlns:a16="http://schemas.microsoft.com/office/drawing/2014/main" id="{683F5644-3784-B0D6-471C-64E26200BEA2}"/>
              </a:ext>
            </a:extLst>
          </p:cNvPr>
          <p:cNvSpPr/>
          <p:nvPr/>
        </p:nvSpPr>
        <p:spPr>
          <a:xfrm>
            <a:off x="2642616" y="2496312"/>
            <a:ext cx="1938528" cy="182880"/>
          </a:xfrm>
          <a:prstGeom prst="rect">
            <a:avLst/>
          </a:prstGeom>
          <a:noFill/>
          <a:ln/>
        </p:spPr>
        <p:txBody>
          <a:bodyPr wrap="square" lIns="0" tIns="0" rIns="0" bIns="0" rtlCol="0" anchor="ctr"/>
          <a:lstStyle/>
          <a:p>
            <a:pPr marL="0" indent="0">
              <a:buNone/>
            </a:pPr>
            <a:r>
              <a:rPr lang="en-US" sz="800" i="1">
                <a:solidFill>
                  <a:srgbClr val="00C2CB"/>
                </a:solidFill>
                <a:latin typeface="Calibri" pitchFamily="34" charset="0"/>
                <a:ea typeface="Calibri" pitchFamily="34" charset="-122"/>
                <a:cs typeface="Calibri" pitchFamily="34" charset="-120"/>
              </a:rPr>
              <a:t>FY25 +0.5% YoY</a:t>
            </a:r>
            <a:endParaRPr lang="en-US" sz="800"/>
          </a:p>
        </p:txBody>
      </p:sp>
      <p:sp>
        <p:nvSpPr>
          <p:cNvPr id="25" name="Shape 16">
            <a:extLst>
              <a:ext uri="{FF2B5EF4-FFF2-40B4-BE49-F238E27FC236}">
                <a16:creationId xmlns:a16="http://schemas.microsoft.com/office/drawing/2014/main" id="{BF6D7419-5840-E7E0-1B39-95D8C651CA6E}"/>
              </a:ext>
            </a:extLst>
          </p:cNvPr>
          <p:cNvSpPr/>
          <p:nvPr/>
        </p:nvSpPr>
        <p:spPr>
          <a:xfrm>
            <a:off x="4745736" y="1901952"/>
            <a:ext cx="2103120" cy="841248"/>
          </a:xfrm>
          <a:prstGeom prst="rect">
            <a:avLst/>
          </a:prstGeom>
          <a:solidFill>
            <a:srgbClr val="112240"/>
          </a:solidFill>
          <a:ln w="12700">
            <a:solidFill>
              <a:srgbClr val="2A6DAA"/>
            </a:solidFill>
            <a:prstDash val="solid"/>
          </a:ln>
        </p:spPr>
        <p:txBody>
          <a:bodyPr/>
          <a:lstStyle/>
          <a:p>
            <a:endParaRPr lang="en-IN"/>
          </a:p>
        </p:txBody>
      </p:sp>
      <p:sp>
        <p:nvSpPr>
          <p:cNvPr id="26" name="Shape 17">
            <a:extLst>
              <a:ext uri="{FF2B5EF4-FFF2-40B4-BE49-F238E27FC236}">
                <a16:creationId xmlns:a16="http://schemas.microsoft.com/office/drawing/2014/main" id="{F9106A89-333B-4243-E4A7-E5F90C0BBCF5}"/>
              </a:ext>
            </a:extLst>
          </p:cNvPr>
          <p:cNvSpPr/>
          <p:nvPr/>
        </p:nvSpPr>
        <p:spPr>
          <a:xfrm>
            <a:off x="4745736" y="2688336"/>
            <a:ext cx="2103120" cy="54864"/>
          </a:xfrm>
          <a:prstGeom prst="rect">
            <a:avLst/>
          </a:prstGeom>
          <a:solidFill>
            <a:srgbClr val="00C2CB"/>
          </a:solidFill>
          <a:ln w="12700">
            <a:solidFill>
              <a:srgbClr val="00C2CB"/>
            </a:solidFill>
            <a:prstDash val="solid"/>
          </a:ln>
        </p:spPr>
        <p:txBody>
          <a:bodyPr/>
          <a:lstStyle/>
          <a:p>
            <a:endParaRPr lang="en-IN"/>
          </a:p>
        </p:txBody>
      </p:sp>
      <p:sp>
        <p:nvSpPr>
          <p:cNvPr id="27" name="Text 18">
            <a:extLst>
              <a:ext uri="{FF2B5EF4-FFF2-40B4-BE49-F238E27FC236}">
                <a16:creationId xmlns:a16="http://schemas.microsoft.com/office/drawing/2014/main" id="{EBAD226F-9FB0-EC7D-6BFD-3532CAD19208}"/>
              </a:ext>
            </a:extLst>
          </p:cNvPr>
          <p:cNvSpPr/>
          <p:nvPr/>
        </p:nvSpPr>
        <p:spPr>
          <a:xfrm>
            <a:off x="4855464" y="1956816"/>
            <a:ext cx="1938528" cy="201168"/>
          </a:xfrm>
          <a:prstGeom prst="rect">
            <a:avLst/>
          </a:prstGeom>
          <a:noFill/>
          <a:ln/>
        </p:spPr>
        <p:txBody>
          <a:bodyPr wrap="square" lIns="0" tIns="0" rIns="0" bIns="0" rtlCol="0" anchor="ctr"/>
          <a:lstStyle/>
          <a:p>
            <a:pPr marL="0" indent="0">
              <a:buNone/>
            </a:pPr>
            <a:r>
              <a:rPr lang="en-US" sz="900">
                <a:solidFill>
                  <a:srgbClr val="B0C4DE"/>
                </a:solidFill>
                <a:latin typeface="Calibri" pitchFamily="34" charset="0"/>
                <a:ea typeface="Calibri" pitchFamily="34" charset="-122"/>
                <a:cs typeface="Calibri" pitchFamily="34" charset="-120"/>
              </a:rPr>
              <a:t>Enterprise Rev.</a:t>
            </a:r>
            <a:endParaRPr lang="en-US" sz="900"/>
          </a:p>
        </p:txBody>
      </p:sp>
      <p:sp>
        <p:nvSpPr>
          <p:cNvPr id="28" name="Text 19">
            <a:extLst>
              <a:ext uri="{FF2B5EF4-FFF2-40B4-BE49-F238E27FC236}">
                <a16:creationId xmlns:a16="http://schemas.microsoft.com/office/drawing/2014/main" id="{0B3F287F-239E-4088-F812-D5E2A8788264}"/>
              </a:ext>
            </a:extLst>
          </p:cNvPr>
          <p:cNvSpPr/>
          <p:nvPr/>
        </p:nvSpPr>
        <p:spPr>
          <a:xfrm>
            <a:off x="4855464" y="2167128"/>
            <a:ext cx="1938528"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RM 1,665M</a:t>
            </a:r>
            <a:endParaRPr lang="en-US" sz="1400"/>
          </a:p>
        </p:txBody>
      </p:sp>
      <p:sp>
        <p:nvSpPr>
          <p:cNvPr id="29" name="Text 20">
            <a:extLst>
              <a:ext uri="{FF2B5EF4-FFF2-40B4-BE49-F238E27FC236}">
                <a16:creationId xmlns:a16="http://schemas.microsoft.com/office/drawing/2014/main" id="{C568B9FC-A02F-62C4-5D56-F2A53E2CB80C}"/>
              </a:ext>
            </a:extLst>
          </p:cNvPr>
          <p:cNvSpPr/>
          <p:nvPr/>
        </p:nvSpPr>
        <p:spPr>
          <a:xfrm>
            <a:off x="4855464" y="2496312"/>
            <a:ext cx="1938528" cy="182880"/>
          </a:xfrm>
          <a:prstGeom prst="rect">
            <a:avLst/>
          </a:prstGeom>
          <a:noFill/>
          <a:ln/>
        </p:spPr>
        <p:txBody>
          <a:bodyPr wrap="square" lIns="0" tIns="0" rIns="0" bIns="0" rtlCol="0" anchor="ctr"/>
          <a:lstStyle/>
          <a:p>
            <a:pPr marL="0" indent="0">
              <a:buNone/>
            </a:pPr>
            <a:r>
              <a:rPr lang="en-US" sz="800" i="1">
                <a:solidFill>
                  <a:srgbClr val="00C2CB"/>
                </a:solidFill>
                <a:latin typeface="Calibri" pitchFamily="34" charset="0"/>
                <a:ea typeface="Calibri" pitchFamily="34" charset="-122"/>
                <a:cs typeface="Calibri" pitchFamily="34" charset="-120"/>
              </a:rPr>
              <a:t>FY25 +3.4% YoY</a:t>
            </a:r>
            <a:endParaRPr lang="en-US" sz="800"/>
          </a:p>
        </p:txBody>
      </p:sp>
      <p:sp>
        <p:nvSpPr>
          <p:cNvPr id="30" name="Shape 21">
            <a:extLst>
              <a:ext uri="{FF2B5EF4-FFF2-40B4-BE49-F238E27FC236}">
                <a16:creationId xmlns:a16="http://schemas.microsoft.com/office/drawing/2014/main" id="{54513413-1E1C-2EAE-EB87-23417B663895}"/>
              </a:ext>
            </a:extLst>
          </p:cNvPr>
          <p:cNvSpPr/>
          <p:nvPr/>
        </p:nvSpPr>
        <p:spPr>
          <a:xfrm>
            <a:off x="6958584" y="1901952"/>
            <a:ext cx="2103120" cy="841248"/>
          </a:xfrm>
          <a:prstGeom prst="rect">
            <a:avLst/>
          </a:prstGeom>
          <a:solidFill>
            <a:srgbClr val="112240"/>
          </a:solidFill>
          <a:ln w="12700">
            <a:solidFill>
              <a:srgbClr val="2A6DAA"/>
            </a:solidFill>
            <a:prstDash val="solid"/>
          </a:ln>
        </p:spPr>
        <p:txBody>
          <a:bodyPr/>
          <a:lstStyle/>
          <a:p>
            <a:endParaRPr lang="en-IN"/>
          </a:p>
        </p:txBody>
      </p:sp>
      <p:sp>
        <p:nvSpPr>
          <p:cNvPr id="31" name="Shape 22">
            <a:extLst>
              <a:ext uri="{FF2B5EF4-FFF2-40B4-BE49-F238E27FC236}">
                <a16:creationId xmlns:a16="http://schemas.microsoft.com/office/drawing/2014/main" id="{52B290CE-A712-33A3-67E6-14A3D6962D9D}"/>
              </a:ext>
            </a:extLst>
          </p:cNvPr>
          <p:cNvSpPr/>
          <p:nvPr/>
        </p:nvSpPr>
        <p:spPr>
          <a:xfrm>
            <a:off x="6958584" y="2688336"/>
            <a:ext cx="2103120" cy="54864"/>
          </a:xfrm>
          <a:prstGeom prst="rect">
            <a:avLst/>
          </a:prstGeom>
          <a:solidFill>
            <a:srgbClr val="00C2CB"/>
          </a:solidFill>
          <a:ln w="12700">
            <a:solidFill>
              <a:srgbClr val="00C2CB"/>
            </a:solidFill>
            <a:prstDash val="solid"/>
          </a:ln>
        </p:spPr>
        <p:txBody>
          <a:bodyPr/>
          <a:lstStyle/>
          <a:p>
            <a:endParaRPr lang="en-IN"/>
          </a:p>
        </p:txBody>
      </p:sp>
      <p:sp>
        <p:nvSpPr>
          <p:cNvPr id="32" name="Text 23">
            <a:extLst>
              <a:ext uri="{FF2B5EF4-FFF2-40B4-BE49-F238E27FC236}">
                <a16:creationId xmlns:a16="http://schemas.microsoft.com/office/drawing/2014/main" id="{FE9E5E8F-F28E-1A5F-3FD4-ACF4F5373E2B}"/>
              </a:ext>
            </a:extLst>
          </p:cNvPr>
          <p:cNvSpPr/>
          <p:nvPr/>
        </p:nvSpPr>
        <p:spPr>
          <a:xfrm>
            <a:off x="7068312" y="1956816"/>
            <a:ext cx="1938528" cy="201168"/>
          </a:xfrm>
          <a:prstGeom prst="rect">
            <a:avLst/>
          </a:prstGeom>
          <a:noFill/>
          <a:ln/>
        </p:spPr>
        <p:txBody>
          <a:bodyPr wrap="square" lIns="0" tIns="0" rIns="0" bIns="0" rtlCol="0" anchor="ctr"/>
          <a:lstStyle/>
          <a:p>
            <a:pPr marL="0" indent="0">
              <a:buNone/>
            </a:pPr>
            <a:r>
              <a:rPr lang="en-US" sz="900">
                <a:solidFill>
                  <a:srgbClr val="B0C4DE"/>
                </a:solidFill>
                <a:latin typeface="Calibri" pitchFamily="34" charset="0"/>
                <a:ea typeface="Calibri" pitchFamily="34" charset="-122"/>
                <a:cs typeface="Calibri" pitchFamily="34" charset="-120"/>
              </a:rPr>
              <a:t>EBITDA</a:t>
            </a:r>
            <a:endParaRPr lang="en-US" sz="900"/>
          </a:p>
        </p:txBody>
      </p:sp>
      <p:sp>
        <p:nvSpPr>
          <p:cNvPr id="33" name="Text 24">
            <a:extLst>
              <a:ext uri="{FF2B5EF4-FFF2-40B4-BE49-F238E27FC236}">
                <a16:creationId xmlns:a16="http://schemas.microsoft.com/office/drawing/2014/main" id="{E013894F-6804-8092-21D4-16CEA2843EC9}"/>
              </a:ext>
            </a:extLst>
          </p:cNvPr>
          <p:cNvSpPr/>
          <p:nvPr/>
        </p:nvSpPr>
        <p:spPr>
          <a:xfrm>
            <a:off x="7068312" y="2167128"/>
            <a:ext cx="1938528"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~RM 4,300M+</a:t>
            </a:r>
            <a:endParaRPr lang="en-US" sz="1400"/>
          </a:p>
        </p:txBody>
      </p:sp>
      <p:sp>
        <p:nvSpPr>
          <p:cNvPr id="34" name="Text 25">
            <a:extLst>
              <a:ext uri="{FF2B5EF4-FFF2-40B4-BE49-F238E27FC236}">
                <a16:creationId xmlns:a16="http://schemas.microsoft.com/office/drawing/2014/main" id="{42DF36F0-CDF4-9A75-03F4-7FA6797DDC2D}"/>
              </a:ext>
            </a:extLst>
          </p:cNvPr>
          <p:cNvSpPr/>
          <p:nvPr/>
        </p:nvSpPr>
        <p:spPr>
          <a:xfrm>
            <a:off x="7068312" y="2496312"/>
            <a:ext cx="1938528" cy="182880"/>
          </a:xfrm>
          <a:prstGeom prst="rect">
            <a:avLst/>
          </a:prstGeom>
          <a:noFill/>
          <a:ln/>
        </p:spPr>
        <p:txBody>
          <a:bodyPr wrap="square" lIns="0" tIns="0" rIns="0" bIns="0" rtlCol="0" anchor="ctr"/>
          <a:lstStyle/>
          <a:p>
            <a:pPr marL="0" indent="0">
              <a:buNone/>
            </a:pPr>
            <a:r>
              <a:rPr lang="en-US" sz="800" i="1">
                <a:solidFill>
                  <a:srgbClr val="00C2CB"/>
                </a:solidFill>
                <a:latin typeface="Calibri" pitchFamily="34" charset="0"/>
                <a:ea typeface="Calibri" pitchFamily="34" charset="-122"/>
                <a:cs typeface="Calibri" pitchFamily="34" charset="-120"/>
              </a:rPr>
              <a:t>Record high FY25</a:t>
            </a:r>
            <a:endParaRPr lang="en-US" sz="800"/>
          </a:p>
        </p:txBody>
      </p:sp>
      <p:pic>
        <p:nvPicPr>
          <p:cNvPr id="35" name="Image 2" descr="preencoded.png">
            <a:extLst>
              <a:ext uri="{FF2B5EF4-FFF2-40B4-BE49-F238E27FC236}">
                <a16:creationId xmlns:a16="http://schemas.microsoft.com/office/drawing/2014/main" id="{F5A38353-70E6-D944-3615-6D4DAE1BD3EE}"/>
              </a:ext>
            </a:extLst>
          </p:cNvPr>
          <p:cNvPicPr>
            <a:picLocks noChangeAspect="1"/>
          </p:cNvPicPr>
          <p:nvPr/>
        </p:nvPicPr>
        <p:blipFill>
          <a:blip r:embed="rId3"/>
          <a:stretch>
            <a:fillRect/>
          </a:stretch>
        </p:blipFill>
        <p:spPr>
          <a:xfrm>
            <a:off x="320040" y="2926080"/>
            <a:ext cx="347472" cy="347472"/>
          </a:xfrm>
          <a:prstGeom prst="rect">
            <a:avLst/>
          </a:prstGeom>
        </p:spPr>
      </p:pic>
      <p:sp>
        <p:nvSpPr>
          <p:cNvPr id="36" name="Text 26">
            <a:extLst>
              <a:ext uri="{FF2B5EF4-FFF2-40B4-BE49-F238E27FC236}">
                <a16:creationId xmlns:a16="http://schemas.microsoft.com/office/drawing/2014/main" id="{CF7B8719-AA53-B45B-063B-0E7ED15C6D55}"/>
              </a:ext>
            </a:extLst>
          </p:cNvPr>
          <p:cNvSpPr/>
          <p:nvPr/>
        </p:nvSpPr>
        <p:spPr>
          <a:xfrm>
            <a:off x="768096" y="2907792"/>
            <a:ext cx="7315200" cy="347472"/>
          </a:xfrm>
          <a:prstGeom prst="rect">
            <a:avLst/>
          </a:prstGeom>
          <a:noFill/>
          <a:ln/>
        </p:spPr>
        <p:txBody>
          <a:bodyPr wrap="square" lIns="0" tIns="0" rIns="0" bIns="0" rtlCol="0" anchor="ctr"/>
          <a:lstStyle/>
          <a:p>
            <a:pPr marL="0" indent="0">
              <a:buNone/>
            </a:pPr>
            <a:r>
              <a:rPr lang="en-US" sz="1350" b="1">
                <a:solidFill>
                  <a:srgbClr val="FFFFFF"/>
                </a:solidFill>
                <a:latin typeface="Calibri" pitchFamily="34" charset="0"/>
                <a:ea typeface="Calibri" pitchFamily="34" charset="-122"/>
                <a:cs typeface="Calibri" pitchFamily="34" charset="-120"/>
              </a:rPr>
              <a:t>Strategic Direction  (CEO &amp; Leadership Signals)</a:t>
            </a:r>
            <a:endParaRPr lang="en-US" sz="1350"/>
          </a:p>
        </p:txBody>
      </p:sp>
      <p:sp>
        <p:nvSpPr>
          <p:cNvPr id="37" name="Text 27">
            <a:extLst>
              <a:ext uri="{FF2B5EF4-FFF2-40B4-BE49-F238E27FC236}">
                <a16:creationId xmlns:a16="http://schemas.microsoft.com/office/drawing/2014/main" id="{D5A2EFE2-BC0F-F535-2F1D-4536CF1F11F5}"/>
              </a:ext>
            </a:extLst>
          </p:cNvPr>
          <p:cNvSpPr/>
          <p:nvPr/>
        </p:nvSpPr>
        <p:spPr>
          <a:xfrm>
            <a:off x="768096" y="3291840"/>
            <a:ext cx="8229600" cy="347472"/>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CEO Goh Seow Eng: </a:t>
            </a:r>
            <a:r>
              <a:rPr lang="en-US" sz="1000" i="1">
                <a:solidFill>
                  <a:srgbClr val="B0C4DE"/>
                </a:solidFill>
                <a:latin typeface="Calibri" pitchFamily="34" charset="0"/>
                <a:ea typeface="Calibri" pitchFamily="34" charset="-122"/>
                <a:cs typeface="Calibri" pitchFamily="34" charset="-120"/>
              </a:rPr>
              <a:t>"Strengthen consumer segment and expand enterprise offerings beyond connectivity, including the growth of our wholesale business“  (</a:t>
            </a:r>
            <a:r>
              <a:rPr lang="en-US" sz="1000" i="1">
                <a:solidFill>
                  <a:schemeClr val="bg1"/>
                </a:solidFill>
                <a:latin typeface="Calibri" pitchFamily="34" charset="0"/>
                <a:ea typeface="Calibri" pitchFamily="34" charset="-122"/>
                <a:cs typeface="Calibri" pitchFamily="34" charset="-120"/>
              </a:rPr>
              <a:t>Official Maxis Press Release)</a:t>
            </a:r>
            <a:endParaRPr lang="en-US" sz="1000">
              <a:solidFill>
                <a:schemeClr val="bg1"/>
              </a:solidFill>
            </a:endParaRPr>
          </a:p>
        </p:txBody>
      </p:sp>
      <p:sp>
        <p:nvSpPr>
          <p:cNvPr id="38" name="Shape 28">
            <a:extLst>
              <a:ext uri="{FF2B5EF4-FFF2-40B4-BE49-F238E27FC236}">
                <a16:creationId xmlns:a16="http://schemas.microsoft.com/office/drawing/2014/main" id="{D6BC6625-5C31-99D7-1FAA-F63B5F28DAA6}"/>
              </a:ext>
            </a:extLst>
          </p:cNvPr>
          <p:cNvSpPr/>
          <p:nvPr/>
        </p:nvSpPr>
        <p:spPr>
          <a:xfrm>
            <a:off x="320040" y="3685032"/>
            <a:ext cx="2788920" cy="1170432"/>
          </a:xfrm>
          <a:prstGeom prst="rect">
            <a:avLst/>
          </a:prstGeom>
          <a:solidFill>
            <a:srgbClr val="112240"/>
          </a:solidFill>
          <a:ln w="12700">
            <a:solidFill>
              <a:srgbClr val="1A4C8A"/>
            </a:solidFill>
            <a:prstDash val="solid"/>
          </a:ln>
        </p:spPr>
        <p:txBody>
          <a:bodyPr/>
          <a:lstStyle/>
          <a:p>
            <a:endParaRPr lang="en-IN"/>
          </a:p>
        </p:txBody>
      </p:sp>
      <p:sp>
        <p:nvSpPr>
          <p:cNvPr id="39" name="Shape 29">
            <a:extLst>
              <a:ext uri="{FF2B5EF4-FFF2-40B4-BE49-F238E27FC236}">
                <a16:creationId xmlns:a16="http://schemas.microsoft.com/office/drawing/2014/main" id="{9958D250-1633-03CA-A448-E42F8D8154A3}"/>
              </a:ext>
            </a:extLst>
          </p:cNvPr>
          <p:cNvSpPr/>
          <p:nvPr/>
        </p:nvSpPr>
        <p:spPr>
          <a:xfrm>
            <a:off x="320040" y="3685032"/>
            <a:ext cx="2788920" cy="54864"/>
          </a:xfrm>
          <a:prstGeom prst="rect">
            <a:avLst/>
          </a:prstGeom>
          <a:solidFill>
            <a:srgbClr val="FFD700"/>
          </a:solidFill>
          <a:ln w="12700">
            <a:solidFill>
              <a:srgbClr val="FFD700"/>
            </a:solidFill>
            <a:prstDash val="solid"/>
          </a:ln>
        </p:spPr>
        <p:txBody>
          <a:bodyPr/>
          <a:lstStyle/>
          <a:p>
            <a:endParaRPr lang="en-IN"/>
          </a:p>
        </p:txBody>
      </p:sp>
      <p:pic>
        <p:nvPicPr>
          <p:cNvPr id="40" name="Image 3" descr="preencoded.png">
            <a:extLst>
              <a:ext uri="{FF2B5EF4-FFF2-40B4-BE49-F238E27FC236}">
                <a16:creationId xmlns:a16="http://schemas.microsoft.com/office/drawing/2014/main" id="{3FF5FCF7-B3C4-E118-D214-4B481F728A5C}"/>
              </a:ext>
            </a:extLst>
          </p:cNvPr>
          <p:cNvPicPr>
            <a:picLocks noChangeAspect="1"/>
          </p:cNvPicPr>
          <p:nvPr/>
        </p:nvPicPr>
        <p:blipFill>
          <a:blip r:embed="rId4"/>
          <a:stretch>
            <a:fillRect/>
          </a:stretch>
        </p:blipFill>
        <p:spPr>
          <a:xfrm>
            <a:off x="429768" y="3767328"/>
            <a:ext cx="274320" cy="274320"/>
          </a:xfrm>
          <a:prstGeom prst="rect">
            <a:avLst/>
          </a:prstGeom>
        </p:spPr>
      </p:pic>
      <p:sp>
        <p:nvSpPr>
          <p:cNvPr id="41" name="Text 30">
            <a:extLst>
              <a:ext uri="{FF2B5EF4-FFF2-40B4-BE49-F238E27FC236}">
                <a16:creationId xmlns:a16="http://schemas.microsoft.com/office/drawing/2014/main" id="{FEA10366-5F56-3321-3565-190FD02EDE7D}"/>
              </a:ext>
            </a:extLst>
          </p:cNvPr>
          <p:cNvSpPr/>
          <p:nvPr/>
        </p:nvSpPr>
        <p:spPr>
          <a:xfrm>
            <a:off x="777240" y="3767328"/>
            <a:ext cx="2212848" cy="274320"/>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Infrastructure &amp; Connectivity</a:t>
            </a:r>
            <a:endParaRPr lang="en-US" sz="1000"/>
          </a:p>
        </p:txBody>
      </p:sp>
      <p:sp>
        <p:nvSpPr>
          <p:cNvPr id="42" name="Text 31">
            <a:extLst>
              <a:ext uri="{FF2B5EF4-FFF2-40B4-BE49-F238E27FC236}">
                <a16:creationId xmlns:a16="http://schemas.microsoft.com/office/drawing/2014/main" id="{7C2AF8A8-42E8-638A-7BFB-00FBAA8837D2}"/>
              </a:ext>
            </a:extLst>
          </p:cNvPr>
          <p:cNvSpPr/>
          <p:nvPr/>
        </p:nvSpPr>
        <p:spPr>
          <a:xfrm>
            <a:off x="429768" y="4096512"/>
            <a:ext cx="2560320" cy="694944"/>
          </a:xfrm>
          <a:prstGeom prst="rect">
            <a:avLst/>
          </a:prstGeom>
          <a:noFill/>
          <a:ln/>
        </p:spPr>
        <p:txBody>
          <a:bodyPr wrap="square" lIns="0" tIns="0" rIns="0" bIns="0" rtlCol="0" anchor="ctr"/>
          <a:lstStyle/>
          <a:p>
            <a:pPr marL="0" indent="0">
              <a:buNone/>
            </a:pPr>
            <a:r>
              <a:rPr lang="en-US" sz="950">
                <a:solidFill>
                  <a:srgbClr val="B0C4DE"/>
                </a:solidFill>
                <a:latin typeface="Calibri" pitchFamily="34" charset="0"/>
                <a:ea typeface="Calibri" pitchFamily="34" charset="-122"/>
                <a:cs typeface="Calibri" pitchFamily="34" charset="-120"/>
              </a:rPr>
              <a:t>Proprietary fibre rollout (100K+ homes in Penang by 2027); 2 new cross-border fibre routes MY↔SIN &amp; MY↔THAI</a:t>
            </a:r>
            <a:endParaRPr lang="en-US" sz="950"/>
          </a:p>
        </p:txBody>
      </p:sp>
      <p:sp>
        <p:nvSpPr>
          <p:cNvPr id="43" name="Shape 32">
            <a:extLst>
              <a:ext uri="{FF2B5EF4-FFF2-40B4-BE49-F238E27FC236}">
                <a16:creationId xmlns:a16="http://schemas.microsoft.com/office/drawing/2014/main" id="{E78574F2-5657-7F4B-DEA6-947E191E2A66}"/>
              </a:ext>
            </a:extLst>
          </p:cNvPr>
          <p:cNvSpPr/>
          <p:nvPr/>
        </p:nvSpPr>
        <p:spPr>
          <a:xfrm>
            <a:off x="3264408" y="3685032"/>
            <a:ext cx="2788920" cy="1170432"/>
          </a:xfrm>
          <a:prstGeom prst="rect">
            <a:avLst/>
          </a:prstGeom>
          <a:solidFill>
            <a:srgbClr val="112240"/>
          </a:solidFill>
          <a:ln w="12700">
            <a:solidFill>
              <a:srgbClr val="1A4C8A"/>
            </a:solidFill>
            <a:prstDash val="solid"/>
          </a:ln>
        </p:spPr>
        <p:txBody>
          <a:bodyPr/>
          <a:lstStyle/>
          <a:p>
            <a:endParaRPr lang="en-IN"/>
          </a:p>
        </p:txBody>
      </p:sp>
      <p:sp>
        <p:nvSpPr>
          <p:cNvPr id="44" name="Shape 33">
            <a:extLst>
              <a:ext uri="{FF2B5EF4-FFF2-40B4-BE49-F238E27FC236}">
                <a16:creationId xmlns:a16="http://schemas.microsoft.com/office/drawing/2014/main" id="{99C2F2EB-C12A-3EEC-CBF2-DBB7FE6F3F7B}"/>
              </a:ext>
            </a:extLst>
          </p:cNvPr>
          <p:cNvSpPr/>
          <p:nvPr/>
        </p:nvSpPr>
        <p:spPr>
          <a:xfrm>
            <a:off x="3264408" y="3685032"/>
            <a:ext cx="2788920" cy="54864"/>
          </a:xfrm>
          <a:prstGeom prst="rect">
            <a:avLst/>
          </a:prstGeom>
          <a:solidFill>
            <a:srgbClr val="FFD700"/>
          </a:solidFill>
          <a:ln w="12700">
            <a:solidFill>
              <a:srgbClr val="FFD700"/>
            </a:solidFill>
            <a:prstDash val="solid"/>
          </a:ln>
        </p:spPr>
        <p:txBody>
          <a:bodyPr/>
          <a:lstStyle/>
          <a:p>
            <a:endParaRPr lang="en-IN"/>
          </a:p>
        </p:txBody>
      </p:sp>
      <p:pic>
        <p:nvPicPr>
          <p:cNvPr id="45" name="Image 4" descr="preencoded.png">
            <a:extLst>
              <a:ext uri="{FF2B5EF4-FFF2-40B4-BE49-F238E27FC236}">
                <a16:creationId xmlns:a16="http://schemas.microsoft.com/office/drawing/2014/main" id="{EF434F73-369C-347E-EAF1-4650BC26F98B}"/>
              </a:ext>
            </a:extLst>
          </p:cNvPr>
          <p:cNvPicPr>
            <a:picLocks noChangeAspect="1"/>
          </p:cNvPicPr>
          <p:nvPr/>
        </p:nvPicPr>
        <p:blipFill>
          <a:blip r:embed="rId5"/>
          <a:stretch>
            <a:fillRect/>
          </a:stretch>
        </p:blipFill>
        <p:spPr>
          <a:xfrm>
            <a:off x="3374136" y="3767328"/>
            <a:ext cx="274320" cy="274320"/>
          </a:xfrm>
          <a:prstGeom prst="rect">
            <a:avLst/>
          </a:prstGeom>
        </p:spPr>
      </p:pic>
      <p:sp>
        <p:nvSpPr>
          <p:cNvPr id="46" name="Text 34">
            <a:extLst>
              <a:ext uri="{FF2B5EF4-FFF2-40B4-BE49-F238E27FC236}">
                <a16:creationId xmlns:a16="http://schemas.microsoft.com/office/drawing/2014/main" id="{7C150307-6DC8-F67E-4312-32A0CAF5A140}"/>
              </a:ext>
            </a:extLst>
          </p:cNvPr>
          <p:cNvSpPr/>
          <p:nvPr/>
        </p:nvSpPr>
        <p:spPr>
          <a:xfrm>
            <a:off x="3721608" y="3767328"/>
            <a:ext cx="2212848" cy="274320"/>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Enterprise Ecosystem Expansion</a:t>
            </a:r>
            <a:endParaRPr lang="en-US" sz="1000"/>
          </a:p>
        </p:txBody>
      </p:sp>
      <p:sp>
        <p:nvSpPr>
          <p:cNvPr id="47" name="Text 35">
            <a:extLst>
              <a:ext uri="{FF2B5EF4-FFF2-40B4-BE49-F238E27FC236}">
                <a16:creationId xmlns:a16="http://schemas.microsoft.com/office/drawing/2014/main" id="{25CBC447-2B62-A87F-745D-820841E8CF0C}"/>
              </a:ext>
            </a:extLst>
          </p:cNvPr>
          <p:cNvSpPr/>
          <p:nvPr/>
        </p:nvSpPr>
        <p:spPr>
          <a:xfrm>
            <a:off x="3374136" y="4096512"/>
            <a:ext cx="2560320" cy="694944"/>
          </a:xfrm>
          <a:prstGeom prst="rect">
            <a:avLst/>
          </a:prstGeom>
          <a:noFill/>
          <a:ln/>
        </p:spPr>
        <p:txBody>
          <a:bodyPr wrap="square" lIns="0" tIns="0" rIns="0" bIns="0" rtlCol="0" anchor="ctr"/>
          <a:lstStyle/>
          <a:p>
            <a:pPr marL="0" indent="0">
              <a:buNone/>
            </a:pPr>
            <a:r>
              <a:rPr lang="en-US" sz="950">
                <a:solidFill>
                  <a:srgbClr val="B0C4DE"/>
                </a:solidFill>
                <a:latin typeface="Calibri" pitchFamily="34" charset="0"/>
                <a:ea typeface="Calibri" pitchFamily="34" charset="-122"/>
                <a:cs typeface="Calibri" pitchFamily="34" charset="-120"/>
              </a:rPr>
              <a:t>"Connectivity + 1" – cloud, managed IoT, cybersecurity &amp; Quantum Safe Networking</a:t>
            </a:r>
            <a:endParaRPr lang="en-US" sz="950"/>
          </a:p>
        </p:txBody>
      </p:sp>
      <p:sp>
        <p:nvSpPr>
          <p:cNvPr id="48" name="Shape 36">
            <a:extLst>
              <a:ext uri="{FF2B5EF4-FFF2-40B4-BE49-F238E27FC236}">
                <a16:creationId xmlns:a16="http://schemas.microsoft.com/office/drawing/2014/main" id="{EED094EA-D513-B483-5391-F77C581A0EA6}"/>
              </a:ext>
            </a:extLst>
          </p:cNvPr>
          <p:cNvSpPr/>
          <p:nvPr/>
        </p:nvSpPr>
        <p:spPr>
          <a:xfrm>
            <a:off x="6208776" y="3685032"/>
            <a:ext cx="2788920" cy="1170432"/>
          </a:xfrm>
          <a:prstGeom prst="rect">
            <a:avLst/>
          </a:prstGeom>
          <a:solidFill>
            <a:srgbClr val="112240"/>
          </a:solidFill>
          <a:ln w="12700">
            <a:solidFill>
              <a:srgbClr val="1A4C8A"/>
            </a:solidFill>
            <a:prstDash val="solid"/>
          </a:ln>
        </p:spPr>
        <p:txBody>
          <a:bodyPr/>
          <a:lstStyle/>
          <a:p>
            <a:endParaRPr lang="en-IN"/>
          </a:p>
        </p:txBody>
      </p:sp>
      <p:sp>
        <p:nvSpPr>
          <p:cNvPr id="49" name="Shape 37">
            <a:extLst>
              <a:ext uri="{FF2B5EF4-FFF2-40B4-BE49-F238E27FC236}">
                <a16:creationId xmlns:a16="http://schemas.microsoft.com/office/drawing/2014/main" id="{6A49F5B7-20DF-7D74-341B-FEA5F45B884D}"/>
              </a:ext>
            </a:extLst>
          </p:cNvPr>
          <p:cNvSpPr/>
          <p:nvPr/>
        </p:nvSpPr>
        <p:spPr>
          <a:xfrm>
            <a:off x="6208776" y="3685032"/>
            <a:ext cx="2788920" cy="54864"/>
          </a:xfrm>
          <a:prstGeom prst="rect">
            <a:avLst/>
          </a:prstGeom>
          <a:solidFill>
            <a:srgbClr val="FFD700"/>
          </a:solidFill>
          <a:ln w="12700">
            <a:solidFill>
              <a:srgbClr val="FFD700"/>
            </a:solidFill>
            <a:prstDash val="solid"/>
          </a:ln>
        </p:spPr>
        <p:txBody>
          <a:bodyPr/>
          <a:lstStyle/>
          <a:p>
            <a:endParaRPr lang="en-IN"/>
          </a:p>
        </p:txBody>
      </p:sp>
      <p:pic>
        <p:nvPicPr>
          <p:cNvPr id="50" name="Image 5" descr="preencoded.png">
            <a:extLst>
              <a:ext uri="{FF2B5EF4-FFF2-40B4-BE49-F238E27FC236}">
                <a16:creationId xmlns:a16="http://schemas.microsoft.com/office/drawing/2014/main" id="{41C15339-654B-5AB1-87ED-1149ACBFF234}"/>
              </a:ext>
            </a:extLst>
          </p:cNvPr>
          <p:cNvPicPr>
            <a:picLocks noChangeAspect="1"/>
          </p:cNvPicPr>
          <p:nvPr/>
        </p:nvPicPr>
        <p:blipFill>
          <a:blip r:embed="rId6"/>
          <a:stretch>
            <a:fillRect/>
          </a:stretch>
        </p:blipFill>
        <p:spPr>
          <a:xfrm>
            <a:off x="6318504" y="3767328"/>
            <a:ext cx="274320" cy="274320"/>
          </a:xfrm>
          <a:prstGeom prst="rect">
            <a:avLst/>
          </a:prstGeom>
        </p:spPr>
      </p:pic>
      <p:sp>
        <p:nvSpPr>
          <p:cNvPr id="51" name="Text 38">
            <a:extLst>
              <a:ext uri="{FF2B5EF4-FFF2-40B4-BE49-F238E27FC236}">
                <a16:creationId xmlns:a16="http://schemas.microsoft.com/office/drawing/2014/main" id="{2FB50E25-6CF6-941C-B7A8-68158D227A7F}"/>
              </a:ext>
            </a:extLst>
          </p:cNvPr>
          <p:cNvSpPr/>
          <p:nvPr/>
        </p:nvSpPr>
        <p:spPr>
          <a:xfrm>
            <a:off x="6665976" y="3767328"/>
            <a:ext cx="2212848" cy="274320"/>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Wholesale as Core Pillar</a:t>
            </a:r>
            <a:endParaRPr lang="en-US" sz="1000"/>
          </a:p>
        </p:txBody>
      </p:sp>
      <p:sp>
        <p:nvSpPr>
          <p:cNvPr id="52" name="Text 39">
            <a:extLst>
              <a:ext uri="{FF2B5EF4-FFF2-40B4-BE49-F238E27FC236}">
                <a16:creationId xmlns:a16="http://schemas.microsoft.com/office/drawing/2014/main" id="{FDCDFBBB-D206-1542-C88B-5C322CC1048D}"/>
              </a:ext>
            </a:extLst>
          </p:cNvPr>
          <p:cNvSpPr/>
          <p:nvPr/>
        </p:nvSpPr>
        <p:spPr>
          <a:xfrm>
            <a:off x="6318504" y="4096512"/>
            <a:ext cx="2560320" cy="694944"/>
          </a:xfrm>
          <a:prstGeom prst="rect">
            <a:avLst/>
          </a:prstGeom>
          <a:noFill/>
          <a:ln/>
        </p:spPr>
        <p:txBody>
          <a:bodyPr wrap="square" lIns="0" tIns="0" rIns="0" bIns="0" rtlCol="0" anchor="ctr"/>
          <a:lstStyle/>
          <a:p>
            <a:pPr marL="0" indent="0">
              <a:buNone/>
            </a:pPr>
            <a:r>
              <a:rPr lang="en-US" sz="950">
                <a:solidFill>
                  <a:srgbClr val="B0C4DE"/>
                </a:solidFill>
                <a:latin typeface="Calibri" pitchFamily="34" charset="0"/>
                <a:ea typeface="Calibri" pitchFamily="34" charset="-122"/>
                <a:cs typeface="Calibri" pitchFamily="34" charset="-120"/>
              </a:rPr>
              <a:t>Explicitly a strategic priority: transition from capacity lessee to primary lessor for DCs &amp; hyperscalers</a:t>
            </a:r>
            <a:endParaRPr lang="en-US" sz="950"/>
          </a:p>
        </p:txBody>
      </p:sp>
      <p:pic>
        <p:nvPicPr>
          <p:cNvPr id="53" name="Image 6" descr="preencoded.png">
            <a:extLst>
              <a:ext uri="{FF2B5EF4-FFF2-40B4-BE49-F238E27FC236}">
                <a16:creationId xmlns:a16="http://schemas.microsoft.com/office/drawing/2014/main" id="{3BEC7C6F-D133-42B1-2C6F-93537DF42E56}"/>
              </a:ext>
            </a:extLst>
          </p:cNvPr>
          <p:cNvPicPr>
            <a:picLocks noChangeAspect="1"/>
          </p:cNvPicPr>
          <p:nvPr/>
        </p:nvPicPr>
        <p:blipFill>
          <a:blip r:embed="rId7"/>
          <a:stretch>
            <a:fillRect/>
          </a:stretch>
        </p:blipFill>
        <p:spPr>
          <a:xfrm>
            <a:off x="320040" y="5029200"/>
            <a:ext cx="347472" cy="347472"/>
          </a:xfrm>
          <a:prstGeom prst="rect">
            <a:avLst/>
          </a:prstGeom>
        </p:spPr>
      </p:pic>
      <p:sp>
        <p:nvSpPr>
          <p:cNvPr id="54" name="Text 40">
            <a:extLst>
              <a:ext uri="{FF2B5EF4-FFF2-40B4-BE49-F238E27FC236}">
                <a16:creationId xmlns:a16="http://schemas.microsoft.com/office/drawing/2014/main" id="{6B0F079F-C7E4-796E-D553-D5CD02DEDE4D}"/>
              </a:ext>
            </a:extLst>
          </p:cNvPr>
          <p:cNvSpPr/>
          <p:nvPr/>
        </p:nvSpPr>
        <p:spPr>
          <a:xfrm>
            <a:off x="768096" y="5010912"/>
            <a:ext cx="7772400" cy="347472"/>
          </a:xfrm>
          <a:prstGeom prst="rect">
            <a:avLst/>
          </a:prstGeom>
          <a:noFill/>
          <a:ln/>
        </p:spPr>
        <p:txBody>
          <a:bodyPr wrap="square" lIns="0" tIns="0" rIns="0" bIns="0" rtlCol="0" anchor="ctr"/>
          <a:lstStyle/>
          <a:p>
            <a:pPr marL="0" indent="0">
              <a:buNone/>
            </a:pPr>
            <a:r>
              <a:rPr lang="en-US" sz="1350" b="1">
                <a:solidFill>
                  <a:srgbClr val="FFFFFF"/>
                </a:solidFill>
                <a:latin typeface="Calibri" pitchFamily="34" charset="0"/>
                <a:ea typeface="Calibri" pitchFamily="34" charset="-122"/>
                <a:cs typeface="Calibri" pitchFamily="34" charset="-120"/>
              </a:rPr>
              <a:t>Why Wholesale Matters Now  (Demand Accelerators)</a:t>
            </a:r>
            <a:endParaRPr lang="en-US" sz="1350"/>
          </a:p>
        </p:txBody>
      </p:sp>
      <p:pic>
        <p:nvPicPr>
          <p:cNvPr id="55" name="Image 7" descr="preencoded.png">
            <a:extLst>
              <a:ext uri="{FF2B5EF4-FFF2-40B4-BE49-F238E27FC236}">
                <a16:creationId xmlns:a16="http://schemas.microsoft.com/office/drawing/2014/main" id="{94233976-79E9-DFE5-8C9C-099BED12F35E}"/>
              </a:ext>
            </a:extLst>
          </p:cNvPr>
          <p:cNvPicPr>
            <a:picLocks noChangeAspect="1"/>
          </p:cNvPicPr>
          <p:nvPr/>
        </p:nvPicPr>
        <p:blipFill>
          <a:blip r:embed="rId8"/>
          <a:stretch>
            <a:fillRect/>
          </a:stretch>
        </p:blipFill>
        <p:spPr>
          <a:xfrm>
            <a:off x="320040" y="5458968"/>
            <a:ext cx="237744" cy="237744"/>
          </a:xfrm>
          <a:prstGeom prst="rect">
            <a:avLst/>
          </a:prstGeom>
        </p:spPr>
      </p:pic>
      <p:sp>
        <p:nvSpPr>
          <p:cNvPr id="56" name="Text 41">
            <a:extLst>
              <a:ext uri="{FF2B5EF4-FFF2-40B4-BE49-F238E27FC236}">
                <a16:creationId xmlns:a16="http://schemas.microsoft.com/office/drawing/2014/main" id="{5D93344C-1466-84E2-5A0F-14DFB26CB292}"/>
              </a:ext>
            </a:extLst>
          </p:cNvPr>
          <p:cNvSpPr/>
          <p:nvPr/>
        </p:nvSpPr>
        <p:spPr>
          <a:xfrm>
            <a:off x="658368" y="5422392"/>
            <a:ext cx="8321040" cy="347472"/>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AI, Cloud &amp; DC Growth: </a:t>
            </a:r>
            <a:r>
              <a:rPr lang="en-US" sz="1000">
                <a:solidFill>
                  <a:srgbClr val="B0C4DE"/>
                </a:solidFill>
                <a:latin typeface="Calibri" pitchFamily="34" charset="0"/>
                <a:ea typeface="Calibri" pitchFamily="34" charset="-122"/>
                <a:cs typeface="Calibri" pitchFamily="34" charset="-120"/>
              </a:rPr>
              <a:t>39 major DCs connected; Johor &amp; Cyberjaya expansion; hyperscalers requiring dark fibre &amp; managed wavelengths</a:t>
            </a:r>
            <a:endParaRPr lang="en-US" sz="1000"/>
          </a:p>
        </p:txBody>
      </p:sp>
      <p:pic>
        <p:nvPicPr>
          <p:cNvPr id="57" name="Image 8" descr="preencoded.png">
            <a:extLst>
              <a:ext uri="{FF2B5EF4-FFF2-40B4-BE49-F238E27FC236}">
                <a16:creationId xmlns:a16="http://schemas.microsoft.com/office/drawing/2014/main" id="{72A22210-3EAA-0637-4160-BD4BD209C4BF}"/>
              </a:ext>
            </a:extLst>
          </p:cNvPr>
          <p:cNvPicPr>
            <a:picLocks noChangeAspect="1"/>
          </p:cNvPicPr>
          <p:nvPr/>
        </p:nvPicPr>
        <p:blipFill>
          <a:blip r:embed="rId4"/>
          <a:stretch>
            <a:fillRect/>
          </a:stretch>
        </p:blipFill>
        <p:spPr>
          <a:xfrm>
            <a:off x="320040" y="5861304"/>
            <a:ext cx="237744" cy="237744"/>
          </a:xfrm>
          <a:prstGeom prst="rect">
            <a:avLst/>
          </a:prstGeom>
        </p:spPr>
      </p:pic>
      <p:sp>
        <p:nvSpPr>
          <p:cNvPr id="58" name="Text 42">
            <a:extLst>
              <a:ext uri="{FF2B5EF4-FFF2-40B4-BE49-F238E27FC236}">
                <a16:creationId xmlns:a16="http://schemas.microsoft.com/office/drawing/2014/main" id="{3EB5778F-E2B7-3122-FA7E-30E9B901A338}"/>
              </a:ext>
            </a:extLst>
          </p:cNvPr>
          <p:cNvSpPr/>
          <p:nvPr/>
        </p:nvSpPr>
        <p:spPr>
          <a:xfrm>
            <a:off x="658368" y="5824728"/>
            <a:ext cx="8321040" cy="347472"/>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Cross-Border Infra Demand: </a:t>
            </a:r>
            <a:r>
              <a:rPr lang="en-US" sz="1000">
                <a:solidFill>
                  <a:srgbClr val="B0C4DE"/>
                </a:solidFill>
                <a:latin typeface="Calibri" pitchFamily="34" charset="0"/>
                <a:ea typeface="Calibri" pitchFamily="34" charset="-122"/>
                <a:cs typeface="Calibri" pitchFamily="34" charset="-120"/>
              </a:rPr>
              <a:t>MY–SIN &amp; MY–THAI corridors; terrestrial land bridge for SEA data transit to global subsea cable hubs</a:t>
            </a:r>
            <a:endParaRPr lang="en-US" sz="1000"/>
          </a:p>
        </p:txBody>
      </p:sp>
      <p:pic>
        <p:nvPicPr>
          <p:cNvPr id="59" name="Image 9" descr="preencoded.png">
            <a:extLst>
              <a:ext uri="{FF2B5EF4-FFF2-40B4-BE49-F238E27FC236}">
                <a16:creationId xmlns:a16="http://schemas.microsoft.com/office/drawing/2014/main" id="{D6EA3BE9-24C4-A151-3D73-93D54D88519A}"/>
              </a:ext>
            </a:extLst>
          </p:cNvPr>
          <p:cNvPicPr>
            <a:picLocks noChangeAspect="1"/>
          </p:cNvPicPr>
          <p:nvPr/>
        </p:nvPicPr>
        <p:blipFill>
          <a:blip r:embed="rId7"/>
          <a:stretch>
            <a:fillRect/>
          </a:stretch>
        </p:blipFill>
        <p:spPr>
          <a:xfrm>
            <a:off x="320040" y="6263640"/>
            <a:ext cx="237744" cy="237744"/>
          </a:xfrm>
          <a:prstGeom prst="rect">
            <a:avLst/>
          </a:prstGeom>
        </p:spPr>
      </p:pic>
      <p:sp>
        <p:nvSpPr>
          <p:cNvPr id="60" name="Text 43">
            <a:extLst>
              <a:ext uri="{FF2B5EF4-FFF2-40B4-BE49-F238E27FC236}">
                <a16:creationId xmlns:a16="http://schemas.microsoft.com/office/drawing/2014/main" id="{A8A70702-D56A-EB30-DE8D-C440A4B7F42B}"/>
              </a:ext>
            </a:extLst>
          </p:cNvPr>
          <p:cNvSpPr/>
          <p:nvPr/>
        </p:nvSpPr>
        <p:spPr>
          <a:xfrm>
            <a:off x="658368" y="6227064"/>
            <a:ext cx="8321040" cy="347472"/>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MVNOs &amp; LEO Satellites: </a:t>
            </a:r>
            <a:r>
              <a:rPr lang="en-US" sz="1000">
                <a:solidFill>
                  <a:srgbClr val="B0C4DE"/>
                </a:solidFill>
                <a:latin typeface="Calibri" pitchFamily="34" charset="0"/>
                <a:ea typeface="Calibri" pitchFamily="34" charset="-122"/>
                <a:cs typeface="Calibri" pitchFamily="34" charset="-120"/>
              </a:rPr>
              <a:t>New wholesale client class – MVNO network hosting; LEO earth stations needing ultra-high-capacity fibre backhaul</a:t>
            </a:r>
            <a:endParaRPr lang="en-US" sz="1000"/>
          </a:p>
        </p:txBody>
      </p:sp>
      <p:pic>
        <p:nvPicPr>
          <p:cNvPr id="61" name="Picture 60">
            <a:extLst>
              <a:ext uri="{FF2B5EF4-FFF2-40B4-BE49-F238E27FC236}">
                <a16:creationId xmlns:a16="http://schemas.microsoft.com/office/drawing/2014/main" id="{3FD0EB63-8F47-46A1-32BB-0962AAF689E1}"/>
              </a:ext>
            </a:extLst>
          </p:cNvPr>
          <p:cNvPicPr>
            <a:picLocks noChangeAspect="1"/>
          </p:cNvPicPr>
          <p:nvPr/>
        </p:nvPicPr>
        <p:blipFill>
          <a:blip r:embed="rId9"/>
          <a:stretch>
            <a:fillRect/>
          </a:stretch>
        </p:blipFill>
        <p:spPr>
          <a:xfrm>
            <a:off x="10595509" y="0"/>
            <a:ext cx="1237002" cy="696510"/>
          </a:xfrm>
          <a:prstGeom prst="rect">
            <a:avLst/>
          </a:prstGeom>
        </p:spPr>
      </p:pic>
      <p:sp>
        <p:nvSpPr>
          <p:cNvPr id="2" name="TextBox 1">
            <a:extLst>
              <a:ext uri="{FF2B5EF4-FFF2-40B4-BE49-F238E27FC236}">
                <a16:creationId xmlns:a16="http://schemas.microsoft.com/office/drawing/2014/main" id="{DFA6461D-30FC-9E4D-1386-A291CFC17E9C}"/>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3" name="Date Placeholder 5">
            <a:extLst>
              <a:ext uri="{FF2B5EF4-FFF2-40B4-BE49-F238E27FC236}">
                <a16:creationId xmlns:a16="http://schemas.microsoft.com/office/drawing/2014/main" id="{D1DEFFDF-F609-18DD-A117-C8F454CC9B6C}"/>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4" name="Date Placeholder 5">
            <a:extLst>
              <a:ext uri="{FF2B5EF4-FFF2-40B4-BE49-F238E27FC236}">
                <a16:creationId xmlns:a16="http://schemas.microsoft.com/office/drawing/2014/main" id="{FB7B00F7-81F0-2646-0BB5-F3EC2EA7E6F8}"/>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10</a:t>
            </a:r>
          </a:p>
        </p:txBody>
      </p:sp>
    </p:spTree>
    <p:extLst>
      <p:ext uri="{BB962C8B-B14F-4D97-AF65-F5344CB8AC3E}">
        <p14:creationId xmlns:p14="http://schemas.microsoft.com/office/powerpoint/2010/main" val="1121101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4B78D-B024-32F5-8CA7-648DACD5CF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968F88-D817-2DB9-B2F2-073F8EE82EE9}"/>
              </a:ext>
            </a:extLst>
          </p:cNvPr>
          <p:cNvSpPr>
            <a:spLocks noGrp="1"/>
          </p:cNvSpPr>
          <p:nvPr>
            <p:ph type="title"/>
          </p:nvPr>
        </p:nvSpPr>
        <p:spPr>
          <a:xfrm>
            <a:off x="550339" y="3063874"/>
            <a:ext cx="11090275" cy="1079526"/>
          </a:xfrm>
        </p:spPr>
        <p:txBody>
          <a:bodyPr/>
          <a:lstStyle/>
          <a:p>
            <a:pPr algn="ctr"/>
            <a:r>
              <a:rPr lang="en-US"/>
              <a:t>STRATEGY FRAMEWORKS AND MODEL</a:t>
            </a:r>
            <a:br>
              <a:rPr lang="en-US"/>
            </a:br>
            <a:r>
              <a:rPr lang="en-US" sz="1800"/>
              <a:t>Introducing the strategy frameworks guiding our recommendations</a:t>
            </a:r>
            <a:endParaRPr lang="en-IN" sz="1800"/>
          </a:p>
        </p:txBody>
      </p:sp>
      <p:pic>
        <p:nvPicPr>
          <p:cNvPr id="5" name="Picture 4">
            <a:extLst>
              <a:ext uri="{FF2B5EF4-FFF2-40B4-BE49-F238E27FC236}">
                <a16:creationId xmlns:a16="http://schemas.microsoft.com/office/drawing/2014/main" id="{D8B799A6-DA00-2F78-6D72-A5B0C600E557}"/>
              </a:ext>
            </a:extLst>
          </p:cNvPr>
          <p:cNvPicPr>
            <a:picLocks noChangeAspect="1"/>
          </p:cNvPicPr>
          <p:nvPr/>
        </p:nvPicPr>
        <p:blipFill>
          <a:blip r:embed="rId2"/>
          <a:stretch>
            <a:fillRect/>
          </a:stretch>
        </p:blipFill>
        <p:spPr>
          <a:xfrm>
            <a:off x="10595509" y="0"/>
            <a:ext cx="1237002" cy="696510"/>
          </a:xfrm>
          <a:prstGeom prst="rect">
            <a:avLst/>
          </a:prstGeom>
        </p:spPr>
      </p:pic>
    </p:spTree>
    <p:extLst>
      <p:ext uri="{BB962C8B-B14F-4D97-AF65-F5344CB8AC3E}">
        <p14:creationId xmlns:p14="http://schemas.microsoft.com/office/powerpoint/2010/main" val="2771463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30C38-1635-A1DA-BFA7-DC8DA36629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A578CD-326D-66F0-5D59-60C0630D6A51}"/>
              </a:ext>
            </a:extLst>
          </p:cNvPr>
          <p:cNvSpPr>
            <a:spLocks noGrp="1"/>
          </p:cNvSpPr>
          <p:nvPr>
            <p:ph type="title"/>
          </p:nvPr>
        </p:nvSpPr>
        <p:spPr>
          <a:xfrm>
            <a:off x="564907" y="266262"/>
            <a:ext cx="10452368" cy="576264"/>
          </a:xfrm>
        </p:spPr>
        <p:txBody>
          <a:bodyPr/>
          <a:lstStyle/>
          <a:p>
            <a:r>
              <a:rPr lang="en-US"/>
              <a:t>Designing an integrated go‑to‑market and operating model to enable scaled wholesale growth.</a:t>
            </a:r>
            <a:endParaRPr lang="en-IN"/>
          </a:p>
        </p:txBody>
      </p:sp>
      <p:cxnSp>
        <p:nvCxnSpPr>
          <p:cNvPr id="7" name="Straight Connector 6">
            <a:extLst>
              <a:ext uri="{FF2B5EF4-FFF2-40B4-BE49-F238E27FC236}">
                <a16:creationId xmlns:a16="http://schemas.microsoft.com/office/drawing/2014/main" id="{5C738A89-0484-9142-3C6A-EA057BBC00BB}"/>
              </a:ext>
            </a:extLst>
          </p:cNvPr>
          <p:cNvCxnSpPr>
            <a:cxnSpLocks/>
          </p:cNvCxnSpPr>
          <p:nvPr/>
        </p:nvCxnSpPr>
        <p:spPr>
          <a:xfrm flipV="1">
            <a:off x="31665" y="3480576"/>
            <a:ext cx="12192000" cy="35957"/>
          </a:xfrm>
          <a:prstGeom prst="line">
            <a:avLst/>
          </a:prstGeom>
          <a:ln>
            <a:solidFill>
              <a:schemeClr val="tx1">
                <a:lumMod val="50000"/>
                <a:lumOff val="50000"/>
              </a:schemeClr>
            </a:solidFill>
            <a:prstDash val="dashDot"/>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87F8647-6114-02FF-A60C-9F68FF4C925C}"/>
              </a:ext>
            </a:extLst>
          </p:cNvPr>
          <p:cNvSpPr txBox="1"/>
          <p:nvPr/>
        </p:nvSpPr>
        <p:spPr>
          <a:xfrm rot="16200000">
            <a:off x="-721773" y="1956127"/>
            <a:ext cx="187858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panose="020B0504030602030204" pitchFamily="34" charset="0"/>
                <a:ea typeface="+mn-ea"/>
                <a:cs typeface="+mn-cs"/>
              </a:rPr>
              <a:t> STRATEGY</a:t>
            </a:r>
            <a:endParaRPr kumimoji="0" lang="en-IN" sz="1400" b="1"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5" name="TextBox 14">
            <a:extLst>
              <a:ext uri="{FF2B5EF4-FFF2-40B4-BE49-F238E27FC236}">
                <a16:creationId xmlns:a16="http://schemas.microsoft.com/office/drawing/2014/main" id="{D736027C-6E00-6C78-6E56-FBB71114FADC}"/>
              </a:ext>
            </a:extLst>
          </p:cNvPr>
          <p:cNvSpPr txBox="1"/>
          <p:nvPr/>
        </p:nvSpPr>
        <p:spPr>
          <a:xfrm rot="16200000">
            <a:off x="-763207" y="4547796"/>
            <a:ext cx="1982318"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panose="020B0504030602030204" pitchFamily="34" charset="0"/>
                <a:ea typeface="+mn-ea"/>
                <a:cs typeface="+mn-cs"/>
              </a:rPr>
              <a:t>OPERATIONS</a:t>
            </a:r>
            <a:endParaRPr kumimoji="0" lang="en-IN" sz="1400" b="1"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6" name="Rectangle 15">
            <a:extLst>
              <a:ext uri="{FF2B5EF4-FFF2-40B4-BE49-F238E27FC236}">
                <a16:creationId xmlns:a16="http://schemas.microsoft.com/office/drawing/2014/main" id="{9A4407BC-81B2-22CD-9005-D107A971AEA5}"/>
              </a:ext>
            </a:extLst>
          </p:cNvPr>
          <p:cNvSpPr/>
          <p:nvPr/>
        </p:nvSpPr>
        <p:spPr>
          <a:xfrm>
            <a:off x="885822" y="4385536"/>
            <a:ext cx="1640463" cy="5197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33" name="object 65">
            <a:extLst>
              <a:ext uri="{FF2B5EF4-FFF2-40B4-BE49-F238E27FC236}">
                <a16:creationId xmlns:a16="http://schemas.microsoft.com/office/drawing/2014/main" id="{0FC8100E-91E0-3DFB-9FF3-55F0E2E52254}"/>
              </a:ext>
            </a:extLst>
          </p:cNvPr>
          <p:cNvSpPr/>
          <p:nvPr>
            <p:custDataLst>
              <p:tags r:id="rId1"/>
            </p:custDataLst>
          </p:nvPr>
        </p:nvSpPr>
        <p:spPr>
          <a:xfrm rot="21415856">
            <a:off x="5199097" y="1497288"/>
            <a:ext cx="1092609" cy="206778"/>
          </a:xfrm>
          <a:custGeom>
            <a:avLst/>
            <a:gdLst/>
            <a:ahLst/>
            <a:cxnLst/>
            <a:rect l="l" t="t" r="r" b="b"/>
            <a:pathLst>
              <a:path w="1685289" h="352425">
                <a:moveTo>
                  <a:pt x="1621144" y="306764"/>
                </a:moveTo>
                <a:lnTo>
                  <a:pt x="1602486" y="327913"/>
                </a:lnTo>
                <a:lnTo>
                  <a:pt x="1684782" y="349758"/>
                </a:lnTo>
                <a:lnTo>
                  <a:pt x="1670790" y="315087"/>
                </a:lnTo>
                <a:lnTo>
                  <a:pt x="1631188" y="315087"/>
                </a:lnTo>
                <a:lnTo>
                  <a:pt x="1621144" y="306764"/>
                </a:lnTo>
                <a:close/>
              </a:path>
              <a:path w="1685289" h="352425">
                <a:moveTo>
                  <a:pt x="1633736" y="292491"/>
                </a:moveTo>
                <a:lnTo>
                  <a:pt x="1621144" y="306764"/>
                </a:lnTo>
                <a:lnTo>
                  <a:pt x="1631188" y="315087"/>
                </a:lnTo>
                <a:lnTo>
                  <a:pt x="1643380" y="300482"/>
                </a:lnTo>
                <a:lnTo>
                  <a:pt x="1633736" y="292491"/>
                </a:lnTo>
                <a:close/>
              </a:path>
              <a:path w="1685289" h="352425">
                <a:moveTo>
                  <a:pt x="1652905" y="270763"/>
                </a:moveTo>
                <a:lnTo>
                  <a:pt x="1633736" y="292491"/>
                </a:lnTo>
                <a:lnTo>
                  <a:pt x="1643380" y="300482"/>
                </a:lnTo>
                <a:lnTo>
                  <a:pt x="1631188" y="315087"/>
                </a:lnTo>
                <a:lnTo>
                  <a:pt x="1670790" y="315087"/>
                </a:lnTo>
                <a:lnTo>
                  <a:pt x="1652905" y="270763"/>
                </a:lnTo>
                <a:close/>
              </a:path>
              <a:path w="1685289" h="352425">
                <a:moveTo>
                  <a:pt x="1583689" y="252222"/>
                </a:moveTo>
                <a:lnTo>
                  <a:pt x="1572387" y="267588"/>
                </a:lnTo>
                <a:lnTo>
                  <a:pt x="1585976" y="277622"/>
                </a:lnTo>
                <a:lnTo>
                  <a:pt x="1621144" y="306764"/>
                </a:lnTo>
                <a:lnTo>
                  <a:pt x="1633736" y="292491"/>
                </a:lnTo>
                <a:lnTo>
                  <a:pt x="1598168" y="263017"/>
                </a:lnTo>
                <a:lnTo>
                  <a:pt x="1583689" y="252222"/>
                </a:lnTo>
                <a:close/>
              </a:path>
              <a:path w="1685289" h="352425">
                <a:moveTo>
                  <a:pt x="1472311" y="177292"/>
                </a:moveTo>
                <a:lnTo>
                  <a:pt x="1462532" y="193675"/>
                </a:lnTo>
                <a:lnTo>
                  <a:pt x="1488567" y="209296"/>
                </a:lnTo>
                <a:lnTo>
                  <a:pt x="1526286" y="234442"/>
                </a:lnTo>
                <a:lnTo>
                  <a:pt x="1536954" y="218694"/>
                </a:lnTo>
                <a:lnTo>
                  <a:pt x="1499108" y="193421"/>
                </a:lnTo>
                <a:lnTo>
                  <a:pt x="1472311" y="177292"/>
                </a:lnTo>
                <a:close/>
              </a:path>
              <a:path w="1685289" h="352425">
                <a:moveTo>
                  <a:pt x="1353693" y="114553"/>
                </a:moveTo>
                <a:lnTo>
                  <a:pt x="1345564" y="131825"/>
                </a:lnTo>
                <a:lnTo>
                  <a:pt x="1386586" y="151384"/>
                </a:lnTo>
                <a:lnTo>
                  <a:pt x="1413256" y="165608"/>
                </a:lnTo>
                <a:lnTo>
                  <a:pt x="1422273" y="148844"/>
                </a:lnTo>
                <a:lnTo>
                  <a:pt x="1395602" y="134493"/>
                </a:lnTo>
                <a:lnTo>
                  <a:pt x="1353693" y="114553"/>
                </a:lnTo>
                <a:close/>
              </a:path>
              <a:path w="1685289" h="352425">
                <a:moveTo>
                  <a:pt x="1228725" y="64770"/>
                </a:moveTo>
                <a:lnTo>
                  <a:pt x="1223010" y="82931"/>
                </a:lnTo>
                <a:lnTo>
                  <a:pt x="1226820" y="84200"/>
                </a:lnTo>
                <a:lnTo>
                  <a:pt x="1280922" y="103886"/>
                </a:lnTo>
                <a:lnTo>
                  <a:pt x="1293495" y="109220"/>
                </a:lnTo>
                <a:lnTo>
                  <a:pt x="1300861" y="91694"/>
                </a:lnTo>
                <a:lnTo>
                  <a:pt x="1288288" y="86360"/>
                </a:lnTo>
                <a:lnTo>
                  <a:pt x="1233424" y="66294"/>
                </a:lnTo>
                <a:lnTo>
                  <a:pt x="1228725" y="64770"/>
                </a:lnTo>
                <a:close/>
              </a:path>
              <a:path w="1685289" h="352425">
                <a:moveTo>
                  <a:pt x="1099312" y="29210"/>
                </a:moveTo>
                <a:lnTo>
                  <a:pt x="1095375" y="47751"/>
                </a:lnTo>
                <a:lnTo>
                  <a:pt x="1116965" y="52450"/>
                </a:lnTo>
                <a:lnTo>
                  <a:pt x="1168781" y="66039"/>
                </a:lnTo>
                <a:lnTo>
                  <a:pt x="1173734" y="47625"/>
                </a:lnTo>
                <a:lnTo>
                  <a:pt x="1121918" y="34036"/>
                </a:lnTo>
                <a:lnTo>
                  <a:pt x="1099312" y="29210"/>
                </a:lnTo>
                <a:close/>
              </a:path>
              <a:path w="1685289" h="352425">
                <a:moveTo>
                  <a:pt x="966978" y="7365"/>
                </a:moveTo>
                <a:lnTo>
                  <a:pt x="964692" y="26288"/>
                </a:lnTo>
                <a:lnTo>
                  <a:pt x="1005459" y="31114"/>
                </a:lnTo>
                <a:lnTo>
                  <a:pt x="1039749" y="36957"/>
                </a:lnTo>
                <a:lnTo>
                  <a:pt x="1042797" y="18161"/>
                </a:lnTo>
                <a:lnTo>
                  <a:pt x="1008634" y="12446"/>
                </a:lnTo>
                <a:lnTo>
                  <a:pt x="966978" y="7365"/>
                </a:lnTo>
                <a:close/>
              </a:path>
              <a:path w="1685289" h="352425">
                <a:moveTo>
                  <a:pt x="837057" y="0"/>
                </a:moveTo>
                <a:lnTo>
                  <a:pt x="832612" y="0"/>
                </a:lnTo>
                <a:lnTo>
                  <a:pt x="832993" y="19050"/>
                </a:lnTo>
                <a:lnTo>
                  <a:pt x="836549" y="19050"/>
                </a:lnTo>
                <a:lnTo>
                  <a:pt x="892937" y="20447"/>
                </a:lnTo>
                <a:lnTo>
                  <a:pt x="908177" y="21462"/>
                </a:lnTo>
                <a:lnTo>
                  <a:pt x="909574" y="2539"/>
                </a:lnTo>
                <a:lnTo>
                  <a:pt x="894334" y="1397"/>
                </a:lnTo>
                <a:lnTo>
                  <a:pt x="837057" y="0"/>
                </a:lnTo>
                <a:close/>
              </a:path>
              <a:path w="1685289" h="352425">
                <a:moveTo>
                  <a:pt x="774954" y="1397"/>
                </a:moveTo>
                <a:lnTo>
                  <a:pt x="722884" y="4952"/>
                </a:lnTo>
                <a:lnTo>
                  <a:pt x="698627" y="7747"/>
                </a:lnTo>
                <a:lnTo>
                  <a:pt x="700786" y="26670"/>
                </a:lnTo>
                <a:lnTo>
                  <a:pt x="724281" y="24002"/>
                </a:lnTo>
                <a:lnTo>
                  <a:pt x="776224" y="20447"/>
                </a:lnTo>
                <a:lnTo>
                  <a:pt x="774954" y="1397"/>
                </a:lnTo>
                <a:close/>
              </a:path>
              <a:path w="1685289" h="352425">
                <a:moveTo>
                  <a:pt x="641604" y="15494"/>
                </a:moveTo>
                <a:lnTo>
                  <a:pt x="609854" y="20574"/>
                </a:lnTo>
                <a:lnTo>
                  <a:pt x="566293" y="29845"/>
                </a:lnTo>
                <a:lnTo>
                  <a:pt x="570230" y="48513"/>
                </a:lnTo>
                <a:lnTo>
                  <a:pt x="612902" y="39370"/>
                </a:lnTo>
                <a:lnTo>
                  <a:pt x="644652" y="34289"/>
                </a:lnTo>
                <a:lnTo>
                  <a:pt x="641604" y="15494"/>
                </a:lnTo>
                <a:close/>
              </a:path>
              <a:path w="1685289" h="352425">
                <a:moveTo>
                  <a:pt x="510413" y="43814"/>
                </a:moveTo>
                <a:lnTo>
                  <a:pt x="498602" y="46989"/>
                </a:lnTo>
                <a:lnTo>
                  <a:pt x="443992" y="64135"/>
                </a:lnTo>
                <a:lnTo>
                  <a:pt x="436753" y="66801"/>
                </a:lnTo>
                <a:lnTo>
                  <a:pt x="443357" y="84709"/>
                </a:lnTo>
                <a:lnTo>
                  <a:pt x="449707" y="82296"/>
                </a:lnTo>
                <a:lnTo>
                  <a:pt x="503555" y="65405"/>
                </a:lnTo>
                <a:lnTo>
                  <a:pt x="515239" y="62357"/>
                </a:lnTo>
                <a:lnTo>
                  <a:pt x="510413" y="43814"/>
                </a:lnTo>
                <a:close/>
              </a:path>
              <a:path w="1685289" h="352425">
                <a:moveTo>
                  <a:pt x="382905" y="86995"/>
                </a:moveTo>
                <a:lnTo>
                  <a:pt x="337185" y="106425"/>
                </a:lnTo>
                <a:lnTo>
                  <a:pt x="312928" y="118237"/>
                </a:lnTo>
                <a:lnTo>
                  <a:pt x="321183" y="135382"/>
                </a:lnTo>
                <a:lnTo>
                  <a:pt x="344678" y="123951"/>
                </a:lnTo>
                <a:lnTo>
                  <a:pt x="390398" y="104521"/>
                </a:lnTo>
                <a:lnTo>
                  <a:pt x="382905" y="86995"/>
                </a:lnTo>
                <a:close/>
              </a:path>
              <a:path w="1685289" h="352425">
                <a:moveTo>
                  <a:pt x="261620" y="144525"/>
                </a:moveTo>
                <a:lnTo>
                  <a:pt x="234442" y="159385"/>
                </a:lnTo>
                <a:lnTo>
                  <a:pt x="195580" y="183387"/>
                </a:lnTo>
                <a:lnTo>
                  <a:pt x="205486" y="199517"/>
                </a:lnTo>
                <a:lnTo>
                  <a:pt x="243586" y="176149"/>
                </a:lnTo>
                <a:lnTo>
                  <a:pt x="270764" y="161289"/>
                </a:lnTo>
                <a:lnTo>
                  <a:pt x="261620" y="144525"/>
                </a:lnTo>
                <a:close/>
              </a:path>
              <a:path w="1685289" h="352425">
                <a:moveTo>
                  <a:pt x="147574" y="215392"/>
                </a:moveTo>
                <a:lnTo>
                  <a:pt x="136398" y="223138"/>
                </a:lnTo>
                <a:lnTo>
                  <a:pt x="89408" y="258952"/>
                </a:lnTo>
                <a:lnTo>
                  <a:pt x="85979" y="261747"/>
                </a:lnTo>
                <a:lnTo>
                  <a:pt x="98298" y="276225"/>
                </a:lnTo>
                <a:lnTo>
                  <a:pt x="100837" y="274065"/>
                </a:lnTo>
                <a:lnTo>
                  <a:pt x="147193" y="238760"/>
                </a:lnTo>
                <a:lnTo>
                  <a:pt x="158369" y="231139"/>
                </a:lnTo>
                <a:lnTo>
                  <a:pt x="147574" y="215392"/>
                </a:lnTo>
                <a:close/>
              </a:path>
              <a:path w="1685289" h="352425">
                <a:moveTo>
                  <a:pt x="42037" y="299085"/>
                </a:moveTo>
                <a:lnTo>
                  <a:pt x="0" y="338582"/>
                </a:lnTo>
                <a:lnTo>
                  <a:pt x="13081" y="352425"/>
                </a:lnTo>
                <a:lnTo>
                  <a:pt x="55118" y="313055"/>
                </a:lnTo>
                <a:lnTo>
                  <a:pt x="42037" y="299085"/>
                </a:lnTo>
                <a:close/>
              </a:path>
            </a:pathLst>
          </a:custGeom>
          <a:solidFill>
            <a:srgbClr val="A6A6A6"/>
          </a:solidFill>
          <a:ln w="9525" cap="flat" cmpd="sng" algn="ctr">
            <a:noFill/>
            <a:prstDash val="solid"/>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34" name="object 65">
            <a:extLst>
              <a:ext uri="{FF2B5EF4-FFF2-40B4-BE49-F238E27FC236}">
                <a16:creationId xmlns:a16="http://schemas.microsoft.com/office/drawing/2014/main" id="{A3E9AE9F-18AC-8D0C-08F7-C1E0F4896BB5}"/>
              </a:ext>
            </a:extLst>
          </p:cNvPr>
          <p:cNvSpPr>
            <a:spLocks/>
          </p:cNvSpPr>
          <p:nvPr>
            <p:custDataLst>
              <p:tags r:id="rId2"/>
            </p:custDataLst>
          </p:nvPr>
        </p:nvSpPr>
        <p:spPr bwMode="auto">
          <a:xfrm flipV="1">
            <a:off x="7080111" y="2163345"/>
            <a:ext cx="922591" cy="133023"/>
          </a:xfrm>
          <a:custGeom>
            <a:avLst/>
            <a:gdLst>
              <a:gd name="T0" fmla="*/ 1602486 w 1685289"/>
              <a:gd name="T1" fmla="*/ 327913 h 352425"/>
              <a:gd name="T2" fmla="*/ 1670790 w 1685289"/>
              <a:gd name="T3" fmla="*/ 315087 h 352425"/>
              <a:gd name="T4" fmla="*/ 1621144 w 1685289"/>
              <a:gd name="T5" fmla="*/ 306764 h 352425"/>
              <a:gd name="T6" fmla="*/ 1621144 w 1685289"/>
              <a:gd name="T7" fmla="*/ 306764 h 352425"/>
              <a:gd name="T8" fmla="*/ 1643380 w 1685289"/>
              <a:gd name="T9" fmla="*/ 300482 h 352425"/>
              <a:gd name="T10" fmla="*/ 1652905 w 1685289"/>
              <a:gd name="T11" fmla="*/ 270763 h 352425"/>
              <a:gd name="T12" fmla="*/ 1643380 w 1685289"/>
              <a:gd name="T13" fmla="*/ 300482 h 352425"/>
              <a:gd name="T14" fmla="*/ 1670790 w 1685289"/>
              <a:gd name="T15" fmla="*/ 315087 h 352425"/>
              <a:gd name="T16" fmla="*/ 1583689 w 1685289"/>
              <a:gd name="T17" fmla="*/ 252222 h 352425"/>
              <a:gd name="T18" fmla="*/ 1585976 w 1685289"/>
              <a:gd name="T19" fmla="*/ 277622 h 352425"/>
              <a:gd name="T20" fmla="*/ 1633736 w 1685289"/>
              <a:gd name="T21" fmla="*/ 292491 h 352425"/>
              <a:gd name="T22" fmla="*/ 1583689 w 1685289"/>
              <a:gd name="T23" fmla="*/ 252222 h 352425"/>
              <a:gd name="T24" fmla="*/ 1462532 w 1685289"/>
              <a:gd name="T25" fmla="*/ 193675 h 352425"/>
              <a:gd name="T26" fmla="*/ 1526286 w 1685289"/>
              <a:gd name="T27" fmla="*/ 234442 h 352425"/>
              <a:gd name="T28" fmla="*/ 1499108 w 1685289"/>
              <a:gd name="T29" fmla="*/ 193421 h 352425"/>
              <a:gd name="T30" fmla="*/ 1353693 w 1685289"/>
              <a:gd name="T31" fmla="*/ 114553 h 352425"/>
              <a:gd name="T32" fmla="*/ 1386586 w 1685289"/>
              <a:gd name="T33" fmla="*/ 151384 h 352425"/>
              <a:gd name="T34" fmla="*/ 1422273 w 1685289"/>
              <a:gd name="T35" fmla="*/ 148844 h 352425"/>
              <a:gd name="T36" fmla="*/ 1353693 w 1685289"/>
              <a:gd name="T37" fmla="*/ 114553 h 352425"/>
              <a:gd name="T38" fmla="*/ 1223010 w 1685289"/>
              <a:gd name="T39" fmla="*/ 82931 h 352425"/>
              <a:gd name="T40" fmla="*/ 1280922 w 1685289"/>
              <a:gd name="T41" fmla="*/ 103886 h 352425"/>
              <a:gd name="T42" fmla="*/ 1300861 w 1685289"/>
              <a:gd name="T43" fmla="*/ 91694 h 352425"/>
              <a:gd name="T44" fmla="*/ 1233424 w 1685289"/>
              <a:gd name="T45" fmla="*/ 66294 h 352425"/>
              <a:gd name="T46" fmla="*/ 1099312 w 1685289"/>
              <a:gd name="T47" fmla="*/ 29210 h 352425"/>
              <a:gd name="T48" fmla="*/ 1116965 w 1685289"/>
              <a:gd name="T49" fmla="*/ 52450 h 352425"/>
              <a:gd name="T50" fmla="*/ 1173734 w 1685289"/>
              <a:gd name="T51" fmla="*/ 47625 h 352425"/>
              <a:gd name="T52" fmla="*/ 1099312 w 1685289"/>
              <a:gd name="T53" fmla="*/ 29210 h 352425"/>
              <a:gd name="T54" fmla="*/ 964692 w 1685289"/>
              <a:gd name="T55" fmla="*/ 26288 h 352425"/>
              <a:gd name="T56" fmla="*/ 1039749 w 1685289"/>
              <a:gd name="T57" fmla="*/ 36957 h 352425"/>
              <a:gd name="T58" fmla="*/ 1008634 w 1685289"/>
              <a:gd name="T59" fmla="*/ 12446 h 352425"/>
              <a:gd name="T60" fmla="*/ 837057 w 1685289"/>
              <a:gd name="T61" fmla="*/ 0 h 352425"/>
              <a:gd name="T62" fmla="*/ 832993 w 1685289"/>
              <a:gd name="T63" fmla="*/ 19050 h 352425"/>
              <a:gd name="T64" fmla="*/ 892937 w 1685289"/>
              <a:gd name="T65" fmla="*/ 20447 h 352425"/>
              <a:gd name="T66" fmla="*/ 909574 w 1685289"/>
              <a:gd name="T67" fmla="*/ 2539 h 352425"/>
              <a:gd name="T68" fmla="*/ 837057 w 1685289"/>
              <a:gd name="T69" fmla="*/ 0 h 352425"/>
              <a:gd name="T70" fmla="*/ 722884 w 1685289"/>
              <a:gd name="T71" fmla="*/ 4952 h 352425"/>
              <a:gd name="T72" fmla="*/ 700786 w 1685289"/>
              <a:gd name="T73" fmla="*/ 26670 h 352425"/>
              <a:gd name="T74" fmla="*/ 776224 w 1685289"/>
              <a:gd name="T75" fmla="*/ 20447 h 352425"/>
              <a:gd name="T76" fmla="*/ 641604 w 1685289"/>
              <a:gd name="T77" fmla="*/ 15494 h 352425"/>
              <a:gd name="T78" fmla="*/ 566293 w 1685289"/>
              <a:gd name="T79" fmla="*/ 29845 h 352425"/>
              <a:gd name="T80" fmla="*/ 612902 w 1685289"/>
              <a:gd name="T81" fmla="*/ 39370 h 352425"/>
              <a:gd name="T82" fmla="*/ 641604 w 1685289"/>
              <a:gd name="T83" fmla="*/ 15494 h 352425"/>
              <a:gd name="T84" fmla="*/ 498602 w 1685289"/>
              <a:gd name="T85" fmla="*/ 46989 h 352425"/>
              <a:gd name="T86" fmla="*/ 436753 w 1685289"/>
              <a:gd name="T87" fmla="*/ 66801 h 352425"/>
              <a:gd name="T88" fmla="*/ 449707 w 1685289"/>
              <a:gd name="T89" fmla="*/ 82296 h 352425"/>
              <a:gd name="T90" fmla="*/ 515239 w 1685289"/>
              <a:gd name="T91" fmla="*/ 62357 h 352425"/>
              <a:gd name="T92" fmla="*/ 382905 w 1685289"/>
              <a:gd name="T93" fmla="*/ 86995 h 352425"/>
              <a:gd name="T94" fmla="*/ 312928 w 1685289"/>
              <a:gd name="T95" fmla="*/ 118237 h 352425"/>
              <a:gd name="T96" fmla="*/ 344678 w 1685289"/>
              <a:gd name="T97" fmla="*/ 123951 h 352425"/>
              <a:gd name="T98" fmla="*/ 382905 w 1685289"/>
              <a:gd name="T99" fmla="*/ 86995 h 352425"/>
              <a:gd name="T100" fmla="*/ 234442 w 1685289"/>
              <a:gd name="T101" fmla="*/ 159385 h 352425"/>
              <a:gd name="T102" fmla="*/ 205486 w 1685289"/>
              <a:gd name="T103" fmla="*/ 199517 h 352425"/>
              <a:gd name="T104" fmla="*/ 270764 w 1685289"/>
              <a:gd name="T105" fmla="*/ 161289 h 352425"/>
              <a:gd name="T106" fmla="*/ 147574 w 1685289"/>
              <a:gd name="T107" fmla="*/ 215392 h 352425"/>
              <a:gd name="T108" fmla="*/ 89408 w 1685289"/>
              <a:gd name="T109" fmla="*/ 258952 h 352425"/>
              <a:gd name="T110" fmla="*/ 98298 w 1685289"/>
              <a:gd name="T111" fmla="*/ 276225 h 352425"/>
              <a:gd name="T112" fmla="*/ 147193 w 1685289"/>
              <a:gd name="T113" fmla="*/ 238760 h 352425"/>
              <a:gd name="T114" fmla="*/ 147574 w 1685289"/>
              <a:gd name="T115" fmla="*/ 215392 h 352425"/>
              <a:gd name="T116" fmla="*/ 0 w 1685289"/>
              <a:gd name="T117" fmla="*/ 338582 h 352425"/>
              <a:gd name="T118" fmla="*/ 55118 w 1685289"/>
              <a:gd name="T119" fmla="*/ 313055 h 352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5289" h="352425">
                <a:moveTo>
                  <a:pt x="1621144" y="306764"/>
                </a:moveTo>
                <a:lnTo>
                  <a:pt x="1602486" y="327913"/>
                </a:lnTo>
                <a:lnTo>
                  <a:pt x="1684782" y="349758"/>
                </a:lnTo>
                <a:lnTo>
                  <a:pt x="1670790" y="315087"/>
                </a:lnTo>
                <a:lnTo>
                  <a:pt x="1631188" y="315087"/>
                </a:lnTo>
                <a:lnTo>
                  <a:pt x="1621144" y="306764"/>
                </a:lnTo>
                <a:close/>
              </a:path>
              <a:path w="1685289" h="352425">
                <a:moveTo>
                  <a:pt x="1633736" y="292491"/>
                </a:moveTo>
                <a:lnTo>
                  <a:pt x="1621144" y="306764"/>
                </a:lnTo>
                <a:lnTo>
                  <a:pt x="1631188" y="315087"/>
                </a:lnTo>
                <a:lnTo>
                  <a:pt x="1643380" y="300482"/>
                </a:lnTo>
                <a:lnTo>
                  <a:pt x="1633736" y="292491"/>
                </a:lnTo>
                <a:close/>
              </a:path>
              <a:path w="1685289" h="352425">
                <a:moveTo>
                  <a:pt x="1652905" y="270763"/>
                </a:moveTo>
                <a:lnTo>
                  <a:pt x="1633736" y="292491"/>
                </a:lnTo>
                <a:lnTo>
                  <a:pt x="1643380" y="300482"/>
                </a:lnTo>
                <a:lnTo>
                  <a:pt x="1631188" y="315087"/>
                </a:lnTo>
                <a:lnTo>
                  <a:pt x="1670790" y="315087"/>
                </a:lnTo>
                <a:lnTo>
                  <a:pt x="1652905" y="270763"/>
                </a:lnTo>
                <a:close/>
              </a:path>
              <a:path w="1685289" h="352425">
                <a:moveTo>
                  <a:pt x="1583689" y="252222"/>
                </a:moveTo>
                <a:lnTo>
                  <a:pt x="1572387" y="267588"/>
                </a:lnTo>
                <a:lnTo>
                  <a:pt x="1585976" y="277622"/>
                </a:lnTo>
                <a:lnTo>
                  <a:pt x="1621144" y="306764"/>
                </a:lnTo>
                <a:lnTo>
                  <a:pt x="1633736" y="292491"/>
                </a:lnTo>
                <a:lnTo>
                  <a:pt x="1598168" y="263017"/>
                </a:lnTo>
                <a:lnTo>
                  <a:pt x="1583689" y="252222"/>
                </a:lnTo>
                <a:close/>
              </a:path>
              <a:path w="1685289" h="352425">
                <a:moveTo>
                  <a:pt x="1472311" y="177292"/>
                </a:moveTo>
                <a:lnTo>
                  <a:pt x="1462532" y="193675"/>
                </a:lnTo>
                <a:lnTo>
                  <a:pt x="1488567" y="209296"/>
                </a:lnTo>
                <a:lnTo>
                  <a:pt x="1526286" y="234442"/>
                </a:lnTo>
                <a:lnTo>
                  <a:pt x="1536954" y="218694"/>
                </a:lnTo>
                <a:lnTo>
                  <a:pt x="1499108" y="193421"/>
                </a:lnTo>
                <a:lnTo>
                  <a:pt x="1472311" y="177292"/>
                </a:lnTo>
                <a:close/>
              </a:path>
              <a:path w="1685289" h="352425">
                <a:moveTo>
                  <a:pt x="1353693" y="114553"/>
                </a:moveTo>
                <a:lnTo>
                  <a:pt x="1345564" y="131825"/>
                </a:lnTo>
                <a:lnTo>
                  <a:pt x="1386586" y="151384"/>
                </a:lnTo>
                <a:lnTo>
                  <a:pt x="1413256" y="165608"/>
                </a:lnTo>
                <a:lnTo>
                  <a:pt x="1422273" y="148844"/>
                </a:lnTo>
                <a:lnTo>
                  <a:pt x="1395602" y="134493"/>
                </a:lnTo>
                <a:lnTo>
                  <a:pt x="1353693" y="114553"/>
                </a:lnTo>
                <a:close/>
              </a:path>
              <a:path w="1685289" h="352425">
                <a:moveTo>
                  <a:pt x="1228725" y="64770"/>
                </a:moveTo>
                <a:lnTo>
                  <a:pt x="1223010" y="82931"/>
                </a:lnTo>
                <a:lnTo>
                  <a:pt x="1226820" y="84200"/>
                </a:lnTo>
                <a:lnTo>
                  <a:pt x="1280922" y="103886"/>
                </a:lnTo>
                <a:lnTo>
                  <a:pt x="1293495" y="109220"/>
                </a:lnTo>
                <a:lnTo>
                  <a:pt x="1300861" y="91694"/>
                </a:lnTo>
                <a:lnTo>
                  <a:pt x="1288288" y="86360"/>
                </a:lnTo>
                <a:lnTo>
                  <a:pt x="1233424" y="66294"/>
                </a:lnTo>
                <a:lnTo>
                  <a:pt x="1228725" y="64770"/>
                </a:lnTo>
                <a:close/>
              </a:path>
              <a:path w="1685289" h="352425">
                <a:moveTo>
                  <a:pt x="1099312" y="29210"/>
                </a:moveTo>
                <a:lnTo>
                  <a:pt x="1095375" y="47751"/>
                </a:lnTo>
                <a:lnTo>
                  <a:pt x="1116965" y="52450"/>
                </a:lnTo>
                <a:lnTo>
                  <a:pt x="1168781" y="66039"/>
                </a:lnTo>
                <a:lnTo>
                  <a:pt x="1173734" y="47625"/>
                </a:lnTo>
                <a:lnTo>
                  <a:pt x="1121918" y="34036"/>
                </a:lnTo>
                <a:lnTo>
                  <a:pt x="1099312" y="29210"/>
                </a:lnTo>
                <a:close/>
              </a:path>
              <a:path w="1685289" h="352425">
                <a:moveTo>
                  <a:pt x="966978" y="7365"/>
                </a:moveTo>
                <a:lnTo>
                  <a:pt x="964692" y="26288"/>
                </a:lnTo>
                <a:lnTo>
                  <a:pt x="1005459" y="31114"/>
                </a:lnTo>
                <a:lnTo>
                  <a:pt x="1039749" y="36957"/>
                </a:lnTo>
                <a:lnTo>
                  <a:pt x="1042797" y="18161"/>
                </a:lnTo>
                <a:lnTo>
                  <a:pt x="1008634" y="12446"/>
                </a:lnTo>
                <a:lnTo>
                  <a:pt x="966978" y="7365"/>
                </a:lnTo>
                <a:close/>
              </a:path>
              <a:path w="1685289" h="352425">
                <a:moveTo>
                  <a:pt x="837057" y="0"/>
                </a:moveTo>
                <a:lnTo>
                  <a:pt x="832612" y="0"/>
                </a:lnTo>
                <a:lnTo>
                  <a:pt x="832993" y="19050"/>
                </a:lnTo>
                <a:lnTo>
                  <a:pt x="836549" y="19050"/>
                </a:lnTo>
                <a:lnTo>
                  <a:pt x="892937" y="20447"/>
                </a:lnTo>
                <a:lnTo>
                  <a:pt x="908177" y="21462"/>
                </a:lnTo>
                <a:lnTo>
                  <a:pt x="909574" y="2539"/>
                </a:lnTo>
                <a:lnTo>
                  <a:pt x="894334" y="1397"/>
                </a:lnTo>
                <a:lnTo>
                  <a:pt x="837057" y="0"/>
                </a:lnTo>
                <a:close/>
              </a:path>
              <a:path w="1685289" h="352425">
                <a:moveTo>
                  <a:pt x="774954" y="1397"/>
                </a:moveTo>
                <a:lnTo>
                  <a:pt x="722884" y="4952"/>
                </a:lnTo>
                <a:lnTo>
                  <a:pt x="698627" y="7747"/>
                </a:lnTo>
                <a:lnTo>
                  <a:pt x="700786" y="26670"/>
                </a:lnTo>
                <a:lnTo>
                  <a:pt x="724281" y="24002"/>
                </a:lnTo>
                <a:lnTo>
                  <a:pt x="776224" y="20447"/>
                </a:lnTo>
                <a:lnTo>
                  <a:pt x="774954" y="1397"/>
                </a:lnTo>
                <a:close/>
              </a:path>
              <a:path w="1685289" h="352425">
                <a:moveTo>
                  <a:pt x="641604" y="15494"/>
                </a:moveTo>
                <a:lnTo>
                  <a:pt x="609854" y="20574"/>
                </a:lnTo>
                <a:lnTo>
                  <a:pt x="566293" y="29845"/>
                </a:lnTo>
                <a:lnTo>
                  <a:pt x="570230" y="48513"/>
                </a:lnTo>
                <a:lnTo>
                  <a:pt x="612902" y="39370"/>
                </a:lnTo>
                <a:lnTo>
                  <a:pt x="644652" y="34289"/>
                </a:lnTo>
                <a:lnTo>
                  <a:pt x="641604" y="15494"/>
                </a:lnTo>
                <a:close/>
              </a:path>
              <a:path w="1685289" h="352425">
                <a:moveTo>
                  <a:pt x="510413" y="43814"/>
                </a:moveTo>
                <a:lnTo>
                  <a:pt x="498602" y="46989"/>
                </a:lnTo>
                <a:lnTo>
                  <a:pt x="443992" y="64135"/>
                </a:lnTo>
                <a:lnTo>
                  <a:pt x="436753" y="66801"/>
                </a:lnTo>
                <a:lnTo>
                  <a:pt x="443357" y="84709"/>
                </a:lnTo>
                <a:lnTo>
                  <a:pt x="449707" y="82296"/>
                </a:lnTo>
                <a:lnTo>
                  <a:pt x="503555" y="65405"/>
                </a:lnTo>
                <a:lnTo>
                  <a:pt x="515239" y="62357"/>
                </a:lnTo>
                <a:lnTo>
                  <a:pt x="510413" y="43814"/>
                </a:lnTo>
                <a:close/>
              </a:path>
              <a:path w="1685289" h="352425">
                <a:moveTo>
                  <a:pt x="382905" y="86995"/>
                </a:moveTo>
                <a:lnTo>
                  <a:pt x="337185" y="106425"/>
                </a:lnTo>
                <a:lnTo>
                  <a:pt x="312928" y="118237"/>
                </a:lnTo>
                <a:lnTo>
                  <a:pt x="321183" y="135382"/>
                </a:lnTo>
                <a:lnTo>
                  <a:pt x="344678" y="123951"/>
                </a:lnTo>
                <a:lnTo>
                  <a:pt x="390398" y="104521"/>
                </a:lnTo>
                <a:lnTo>
                  <a:pt x="382905" y="86995"/>
                </a:lnTo>
                <a:close/>
              </a:path>
              <a:path w="1685289" h="352425">
                <a:moveTo>
                  <a:pt x="261620" y="144525"/>
                </a:moveTo>
                <a:lnTo>
                  <a:pt x="234442" y="159385"/>
                </a:lnTo>
                <a:lnTo>
                  <a:pt x="195580" y="183387"/>
                </a:lnTo>
                <a:lnTo>
                  <a:pt x="205486" y="199517"/>
                </a:lnTo>
                <a:lnTo>
                  <a:pt x="243586" y="176149"/>
                </a:lnTo>
                <a:lnTo>
                  <a:pt x="270764" y="161289"/>
                </a:lnTo>
                <a:lnTo>
                  <a:pt x="261620" y="144525"/>
                </a:lnTo>
                <a:close/>
              </a:path>
              <a:path w="1685289" h="352425">
                <a:moveTo>
                  <a:pt x="147574" y="215392"/>
                </a:moveTo>
                <a:lnTo>
                  <a:pt x="136398" y="223138"/>
                </a:lnTo>
                <a:lnTo>
                  <a:pt x="89408" y="258952"/>
                </a:lnTo>
                <a:lnTo>
                  <a:pt x="85979" y="261747"/>
                </a:lnTo>
                <a:lnTo>
                  <a:pt x="98298" y="276225"/>
                </a:lnTo>
                <a:lnTo>
                  <a:pt x="100837" y="274065"/>
                </a:lnTo>
                <a:lnTo>
                  <a:pt x="147193" y="238760"/>
                </a:lnTo>
                <a:lnTo>
                  <a:pt x="158369" y="231139"/>
                </a:lnTo>
                <a:lnTo>
                  <a:pt x="147574" y="215392"/>
                </a:lnTo>
                <a:close/>
              </a:path>
              <a:path w="1685289" h="352425">
                <a:moveTo>
                  <a:pt x="42037" y="299085"/>
                </a:moveTo>
                <a:lnTo>
                  <a:pt x="0" y="338582"/>
                </a:lnTo>
                <a:lnTo>
                  <a:pt x="13081" y="352425"/>
                </a:lnTo>
                <a:lnTo>
                  <a:pt x="55118" y="313055"/>
                </a:lnTo>
                <a:lnTo>
                  <a:pt x="42037" y="299085"/>
                </a:lnTo>
                <a:close/>
              </a:path>
            </a:pathLst>
          </a:custGeom>
          <a:solidFill>
            <a:srgbClr val="A6A6A6"/>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47" name="object 65">
            <a:extLst>
              <a:ext uri="{FF2B5EF4-FFF2-40B4-BE49-F238E27FC236}">
                <a16:creationId xmlns:a16="http://schemas.microsoft.com/office/drawing/2014/main" id="{B9A02002-CD3E-6D6D-9EDB-48585E18EA9A}"/>
              </a:ext>
            </a:extLst>
          </p:cNvPr>
          <p:cNvSpPr>
            <a:spLocks/>
          </p:cNvSpPr>
          <p:nvPr>
            <p:custDataLst>
              <p:tags r:id="rId3"/>
            </p:custDataLst>
          </p:nvPr>
        </p:nvSpPr>
        <p:spPr bwMode="auto">
          <a:xfrm rot="602163" flipV="1">
            <a:off x="3511018" y="2164128"/>
            <a:ext cx="908816" cy="168533"/>
          </a:xfrm>
          <a:custGeom>
            <a:avLst/>
            <a:gdLst>
              <a:gd name="T0" fmla="*/ 1602486 w 1685289"/>
              <a:gd name="T1" fmla="*/ 327913 h 352425"/>
              <a:gd name="T2" fmla="*/ 1670790 w 1685289"/>
              <a:gd name="T3" fmla="*/ 315087 h 352425"/>
              <a:gd name="T4" fmla="*/ 1621144 w 1685289"/>
              <a:gd name="T5" fmla="*/ 306764 h 352425"/>
              <a:gd name="T6" fmla="*/ 1621144 w 1685289"/>
              <a:gd name="T7" fmla="*/ 306764 h 352425"/>
              <a:gd name="T8" fmla="*/ 1643380 w 1685289"/>
              <a:gd name="T9" fmla="*/ 300482 h 352425"/>
              <a:gd name="T10" fmla="*/ 1652905 w 1685289"/>
              <a:gd name="T11" fmla="*/ 270763 h 352425"/>
              <a:gd name="T12" fmla="*/ 1643380 w 1685289"/>
              <a:gd name="T13" fmla="*/ 300482 h 352425"/>
              <a:gd name="T14" fmla="*/ 1670790 w 1685289"/>
              <a:gd name="T15" fmla="*/ 315087 h 352425"/>
              <a:gd name="T16" fmla="*/ 1583689 w 1685289"/>
              <a:gd name="T17" fmla="*/ 252222 h 352425"/>
              <a:gd name="T18" fmla="*/ 1585976 w 1685289"/>
              <a:gd name="T19" fmla="*/ 277622 h 352425"/>
              <a:gd name="T20" fmla="*/ 1633736 w 1685289"/>
              <a:gd name="T21" fmla="*/ 292491 h 352425"/>
              <a:gd name="T22" fmla="*/ 1583689 w 1685289"/>
              <a:gd name="T23" fmla="*/ 252222 h 352425"/>
              <a:gd name="T24" fmla="*/ 1462532 w 1685289"/>
              <a:gd name="T25" fmla="*/ 193675 h 352425"/>
              <a:gd name="T26" fmla="*/ 1526286 w 1685289"/>
              <a:gd name="T27" fmla="*/ 234442 h 352425"/>
              <a:gd name="T28" fmla="*/ 1499108 w 1685289"/>
              <a:gd name="T29" fmla="*/ 193421 h 352425"/>
              <a:gd name="T30" fmla="*/ 1353693 w 1685289"/>
              <a:gd name="T31" fmla="*/ 114553 h 352425"/>
              <a:gd name="T32" fmla="*/ 1386586 w 1685289"/>
              <a:gd name="T33" fmla="*/ 151384 h 352425"/>
              <a:gd name="T34" fmla="*/ 1422273 w 1685289"/>
              <a:gd name="T35" fmla="*/ 148844 h 352425"/>
              <a:gd name="T36" fmla="*/ 1353693 w 1685289"/>
              <a:gd name="T37" fmla="*/ 114553 h 352425"/>
              <a:gd name="T38" fmla="*/ 1223010 w 1685289"/>
              <a:gd name="T39" fmla="*/ 82931 h 352425"/>
              <a:gd name="T40" fmla="*/ 1280922 w 1685289"/>
              <a:gd name="T41" fmla="*/ 103886 h 352425"/>
              <a:gd name="T42" fmla="*/ 1300861 w 1685289"/>
              <a:gd name="T43" fmla="*/ 91694 h 352425"/>
              <a:gd name="T44" fmla="*/ 1233424 w 1685289"/>
              <a:gd name="T45" fmla="*/ 66294 h 352425"/>
              <a:gd name="T46" fmla="*/ 1099312 w 1685289"/>
              <a:gd name="T47" fmla="*/ 29210 h 352425"/>
              <a:gd name="T48" fmla="*/ 1116965 w 1685289"/>
              <a:gd name="T49" fmla="*/ 52450 h 352425"/>
              <a:gd name="T50" fmla="*/ 1173734 w 1685289"/>
              <a:gd name="T51" fmla="*/ 47625 h 352425"/>
              <a:gd name="T52" fmla="*/ 1099312 w 1685289"/>
              <a:gd name="T53" fmla="*/ 29210 h 352425"/>
              <a:gd name="T54" fmla="*/ 964692 w 1685289"/>
              <a:gd name="T55" fmla="*/ 26288 h 352425"/>
              <a:gd name="T56" fmla="*/ 1039749 w 1685289"/>
              <a:gd name="T57" fmla="*/ 36957 h 352425"/>
              <a:gd name="T58" fmla="*/ 1008634 w 1685289"/>
              <a:gd name="T59" fmla="*/ 12446 h 352425"/>
              <a:gd name="T60" fmla="*/ 837057 w 1685289"/>
              <a:gd name="T61" fmla="*/ 0 h 352425"/>
              <a:gd name="T62" fmla="*/ 832993 w 1685289"/>
              <a:gd name="T63" fmla="*/ 19050 h 352425"/>
              <a:gd name="T64" fmla="*/ 892937 w 1685289"/>
              <a:gd name="T65" fmla="*/ 20447 h 352425"/>
              <a:gd name="T66" fmla="*/ 909574 w 1685289"/>
              <a:gd name="T67" fmla="*/ 2539 h 352425"/>
              <a:gd name="T68" fmla="*/ 837057 w 1685289"/>
              <a:gd name="T69" fmla="*/ 0 h 352425"/>
              <a:gd name="T70" fmla="*/ 722884 w 1685289"/>
              <a:gd name="T71" fmla="*/ 4952 h 352425"/>
              <a:gd name="T72" fmla="*/ 700786 w 1685289"/>
              <a:gd name="T73" fmla="*/ 26670 h 352425"/>
              <a:gd name="T74" fmla="*/ 776224 w 1685289"/>
              <a:gd name="T75" fmla="*/ 20447 h 352425"/>
              <a:gd name="T76" fmla="*/ 641604 w 1685289"/>
              <a:gd name="T77" fmla="*/ 15494 h 352425"/>
              <a:gd name="T78" fmla="*/ 566293 w 1685289"/>
              <a:gd name="T79" fmla="*/ 29845 h 352425"/>
              <a:gd name="T80" fmla="*/ 612902 w 1685289"/>
              <a:gd name="T81" fmla="*/ 39370 h 352425"/>
              <a:gd name="T82" fmla="*/ 641604 w 1685289"/>
              <a:gd name="T83" fmla="*/ 15494 h 352425"/>
              <a:gd name="T84" fmla="*/ 498602 w 1685289"/>
              <a:gd name="T85" fmla="*/ 46989 h 352425"/>
              <a:gd name="T86" fmla="*/ 436753 w 1685289"/>
              <a:gd name="T87" fmla="*/ 66801 h 352425"/>
              <a:gd name="T88" fmla="*/ 449707 w 1685289"/>
              <a:gd name="T89" fmla="*/ 82296 h 352425"/>
              <a:gd name="T90" fmla="*/ 515239 w 1685289"/>
              <a:gd name="T91" fmla="*/ 62357 h 352425"/>
              <a:gd name="T92" fmla="*/ 382905 w 1685289"/>
              <a:gd name="T93" fmla="*/ 86995 h 352425"/>
              <a:gd name="T94" fmla="*/ 312928 w 1685289"/>
              <a:gd name="T95" fmla="*/ 118237 h 352425"/>
              <a:gd name="T96" fmla="*/ 344678 w 1685289"/>
              <a:gd name="T97" fmla="*/ 123951 h 352425"/>
              <a:gd name="T98" fmla="*/ 382905 w 1685289"/>
              <a:gd name="T99" fmla="*/ 86995 h 352425"/>
              <a:gd name="T100" fmla="*/ 234442 w 1685289"/>
              <a:gd name="T101" fmla="*/ 159385 h 352425"/>
              <a:gd name="T102" fmla="*/ 205486 w 1685289"/>
              <a:gd name="T103" fmla="*/ 199517 h 352425"/>
              <a:gd name="T104" fmla="*/ 270764 w 1685289"/>
              <a:gd name="T105" fmla="*/ 161289 h 352425"/>
              <a:gd name="T106" fmla="*/ 147574 w 1685289"/>
              <a:gd name="T107" fmla="*/ 215392 h 352425"/>
              <a:gd name="T108" fmla="*/ 89408 w 1685289"/>
              <a:gd name="T109" fmla="*/ 258952 h 352425"/>
              <a:gd name="T110" fmla="*/ 98298 w 1685289"/>
              <a:gd name="T111" fmla="*/ 276225 h 352425"/>
              <a:gd name="T112" fmla="*/ 147193 w 1685289"/>
              <a:gd name="T113" fmla="*/ 238760 h 352425"/>
              <a:gd name="T114" fmla="*/ 147574 w 1685289"/>
              <a:gd name="T115" fmla="*/ 215392 h 352425"/>
              <a:gd name="T116" fmla="*/ 0 w 1685289"/>
              <a:gd name="T117" fmla="*/ 338582 h 352425"/>
              <a:gd name="T118" fmla="*/ 55118 w 1685289"/>
              <a:gd name="T119" fmla="*/ 313055 h 352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5289" h="352425">
                <a:moveTo>
                  <a:pt x="1621144" y="306764"/>
                </a:moveTo>
                <a:lnTo>
                  <a:pt x="1602486" y="327913"/>
                </a:lnTo>
                <a:lnTo>
                  <a:pt x="1684782" y="349758"/>
                </a:lnTo>
                <a:lnTo>
                  <a:pt x="1670790" y="315087"/>
                </a:lnTo>
                <a:lnTo>
                  <a:pt x="1631188" y="315087"/>
                </a:lnTo>
                <a:lnTo>
                  <a:pt x="1621144" y="306764"/>
                </a:lnTo>
                <a:close/>
              </a:path>
              <a:path w="1685289" h="352425">
                <a:moveTo>
                  <a:pt x="1633736" y="292491"/>
                </a:moveTo>
                <a:lnTo>
                  <a:pt x="1621144" y="306764"/>
                </a:lnTo>
                <a:lnTo>
                  <a:pt x="1631188" y="315087"/>
                </a:lnTo>
                <a:lnTo>
                  <a:pt x="1643380" y="300482"/>
                </a:lnTo>
                <a:lnTo>
                  <a:pt x="1633736" y="292491"/>
                </a:lnTo>
                <a:close/>
              </a:path>
              <a:path w="1685289" h="352425">
                <a:moveTo>
                  <a:pt x="1652905" y="270763"/>
                </a:moveTo>
                <a:lnTo>
                  <a:pt x="1633736" y="292491"/>
                </a:lnTo>
                <a:lnTo>
                  <a:pt x="1643380" y="300482"/>
                </a:lnTo>
                <a:lnTo>
                  <a:pt x="1631188" y="315087"/>
                </a:lnTo>
                <a:lnTo>
                  <a:pt x="1670790" y="315087"/>
                </a:lnTo>
                <a:lnTo>
                  <a:pt x="1652905" y="270763"/>
                </a:lnTo>
                <a:close/>
              </a:path>
              <a:path w="1685289" h="352425">
                <a:moveTo>
                  <a:pt x="1583689" y="252222"/>
                </a:moveTo>
                <a:lnTo>
                  <a:pt x="1572387" y="267588"/>
                </a:lnTo>
                <a:lnTo>
                  <a:pt x="1585976" y="277622"/>
                </a:lnTo>
                <a:lnTo>
                  <a:pt x="1621144" y="306764"/>
                </a:lnTo>
                <a:lnTo>
                  <a:pt x="1633736" y="292491"/>
                </a:lnTo>
                <a:lnTo>
                  <a:pt x="1598168" y="263017"/>
                </a:lnTo>
                <a:lnTo>
                  <a:pt x="1583689" y="252222"/>
                </a:lnTo>
                <a:close/>
              </a:path>
              <a:path w="1685289" h="352425">
                <a:moveTo>
                  <a:pt x="1472311" y="177292"/>
                </a:moveTo>
                <a:lnTo>
                  <a:pt x="1462532" y="193675"/>
                </a:lnTo>
                <a:lnTo>
                  <a:pt x="1488567" y="209296"/>
                </a:lnTo>
                <a:lnTo>
                  <a:pt x="1526286" y="234442"/>
                </a:lnTo>
                <a:lnTo>
                  <a:pt x="1536954" y="218694"/>
                </a:lnTo>
                <a:lnTo>
                  <a:pt x="1499108" y="193421"/>
                </a:lnTo>
                <a:lnTo>
                  <a:pt x="1472311" y="177292"/>
                </a:lnTo>
                <a:close/>
              </a:path>
              <a:path w="1685289" h="352425">
                <a:moveTo>
                  <a:pt x="1353693" y="114553"/>
                </a:moveTo>
                <a:lnTo>
                  <a:pt x="1345564" y="131825"/>
                </a:lnTo>
                <a:lnTo>
                  <a:pt x="1386586" y="151384"/>
                </a:lnTo>
                <a:lnTo>
                  <a:pt x="1413256" y="165608"/>
                </a:lnTo>
                <a:lnTo>
                  <a:pt x="1422273" y="148844"/>
                </a:lnTo>
                <a:lnTo>
                  <a:pt x="1395602" y="134493"/>
                </a:lnTo>
                <a:lnTo>
                  <a:pt x="1353693" y="114553"/>
                </a:lnTo>
                <a:close/>
              </a:path>
              <a:path w="1685289" h="352425">
                <a:moveTo>
                  <a:pt x="1228725" y="64770"/>
                </a:moveTo>
                <a:lnTo>
                  <a:pt x="1223010" y="82931"/>
                </a:lnTo>
                <a:lnTo>
                  <a:pt x="1226820" y="84200"/>
                </a:lnTo>
                <a:lnTo>
                  <a:pt x="1280922" y="103886"/>
                </a:lnTo>
                <a:lnTo>
                  <a:pt x="1293495" y="109220"/>
                </a:lnTo>
                <a:lnTo>
                  <a:pt x="1300861" y="91694"/>
                </a:lnTo>
                <a:lnTo>
                  <a:pt x="1288288" y="86360"/>
                </a:lnTo>
                <a:lnTo>
                  <a:pt x="1233424" y="66294"/>
                </a:lnTo>
                <a:lnTo>
                  <a:pt x="1228725" y="64770"/>
                </a:lnTo>
                <a:close/>
              </a:path>
              <a:path w="1685289" h="352425">
                <a:moveTo>
                  <a:pt x="1099312" y="29210"/>
                </a:moveTo>
                <a:lnTo>
                  <a:pt x="1095375" y="47751"/>
                </a:lnTo>
                <a:lnTo>
                  <a:pt x="1116965" y="52450"/>
                </a:lnTo>
                <a:lnTo>
                  <a:pt x="1168781" y="66039"/>
                </a:lnTo>
                <a:lnTo>
                  <a:pt x="1173734" y="47625"/>
                </a:lnTo>
                <a:lnTo>
                  <a:pt x="1121918" y="34036"/>
                </a:lnTo>
                <a:lnTo>
                  <a:pt x="1099312" y="29210"/>
                </a:lnTo>
                <a:close/>
              </a:path>
              <a:path w="1685289" h="352425">
                <a:moveTo>
                  <a:pt x="966978" y="7365"/>
                </a:moveTo>
                <a:lnTo>
                  <a:pt x="964692" y="26288"/>
                </a:lnTo>
                <a:lnTo>
                  <a:pt x="1005459" y="31114"/>
                </a:lnTo>
                <a:lnTo>
                  <a:pt x="1039749" y="36957"/>
                </a:lnTo>
                <a:lnTo>
                  <a:pt x="1042797" y="18161"/>
                </a:lnTo>
                <a:lnTo>
                  <a:pt x="1008634" y="12446"/>
                </a:lnTo>
                <a:lnTo>
                  <a:pt x="966978" y="7365"/>
                </a:lnTo>
                <a:close/>
              </a:path>
              <a:path w="1685289" h="352425">
                <a:moveTo>
                  <a:pt x="837057" y="0"/>
                </a:moveTo>
                <a:lnTo>
                  <a:pt x="832612" y="0"/>
                </a:lnTo>
                <a:lnTo>
                  <a:pt x="832993" y="19050"/>
                </a:lnTo>
                <a:lnTo>
                  <a:pt x="836549" y="19050"/>
                </a:lnTo>
                <a:lnTo>
                  <a:pt x="892937" y="20447"/>
                </a:lnTo>
                <a:lnTo>
                  <a:pt x="908177" y="21462"/>
                </a:lnTo>
                <a:lnTo>
                  <a:pt x="909574" y="2539"/>
                </a:lnTo>
                <a:lnTo>
                  <a:pt x="894334" y="1397"/>
                </a:lnTo>
                <a:lnTo>
                  <a:pt x="837057" y="0"/>
                </a:lnTo>
                <a:close/>
              </a:path>
              <a:path w="1685289" h="352425">
                <a:moveTo>
                  <a:pt x="774954" y="1397"/>
                </a:moveTo>
                <a:lnTo>
                  <a:pt x="722884" y="4952"/>
                </a:lnTo>
                <a:lnTo>
                  <a:pt x="698627" y="7747"/>
                </a:lnTo>
                <a:lnTo>
                  <a:pt x="700786" y="26670"/>
                </a:lnTo>
                <a:lnTo>
                  <a:pt x="724281" y="24002"/>
                </a:lnTo>
                <a:lnTo>
                  <a:pt x="776224" y="20447"/>
                </a:lnTo>
                <a:lnTo>
                  <a:pt x="774954" y="1397"/>
                </a:lnTo>
                <a:close/>
              </a:path>
              <a:path w="1685289" h="352425">
                <a:moveTo>
                  <a:pt x="641604" y="15494"/>
                </a:moveTo>
                <a:lnTo>
                  <a:pt x="609854" y="20574"/>
                </a:lnTo>
                <a:lnTo>
                  <a:pt x="566293" y="29845"/>
                </a:lnTo>
                <a:lnTo>
                  <a:pt x="570230" y="48513"/>
                </a:lnTo>
                <a:lnTo>
                  <a:pt x="612902" y="39370"/>
                </a:lnTo>
                <a:lnTo>
                  <a:pt x="644652" y="34289"/>
                </a:lnTo>
                <a:lnTo>
                  <a:pt x="641604" y="15494"/>
                </a:lnTo>
                <a:close/>
              </a:path>
              <a:path w="1685289" h="352425">
                <a:moveTo>
                  <a:pt x="510413" y="43814"/>
                </a:moveTo>
                <a:lnTo>
                  <a:pt x="498602" y="46989"/>
                </a:lnTo>
                <a:lnTo>
                  <a:pt x="443992" y="64135"/>
                </a:lnTo>
                <a:lnTo>
                  <a:pt x="436753" y="66801"/>
                </a:lnTo>
                <a:lnTo>
                  <a:pt x="443357" y="84709"/>
                </a:lnTo>
                <a:lnTo>
                  <a:pt x="449707" y="82296"/>
                </a:lnTo>
                <a:lnTo>
                  <a:pt x="503555" y="65405"/>
                </a:lnTo>
                <a:lnTo>
                  <a:pt x="515239" y="62357"/>
                </a:lnTo>
                <a:lnTo>
                  <a:pt x="510413" y="43814"/>
                </a:lnTo>
                <a:close/>
              </a:path>
              <a:path w="1685289" h="352425">
                <a:moveTo>
                  <a:pt x="382905" y="86995"/>
                </a:moveTo>
                <a:lnTo>
                  <a:pt x="337185" y="106425"/>
                </a:lnTo>
                <a:lnTo>
                  <a:pt x="312928" y="118237"/>
                </a:lnTo>
                <a:lnTo>
                  <a:pt x="321183" y="135382"/>
                </a:lnTo>
                <a:lnTo>
                  <a:pt x="344678" y="123951"/>
                </a:lnTo>
                <a:lnTo>
                  <a:pt x="390398" y="104521"/>
                </a:lnTo>
                <a:lnTo>
                  <a:pt x="382905" y="86995"/>
                </a:lnTo>
                <a:close/>
              </a:path>
              <a:path w="1685289" h="352425">
                <a:moveTo>
                  <a:pt x="261620" y="144525"/>
                </a:moveTo>
                <a:lnTo>
                  <a:pt x="234442" y="159385"/>
                </a:lnTo>
                <a:lnTo>
                  <a:pt x="195580" y="183387"/>
                </a:lnTo>
                <a:lnTo>
                  <a:pt x="205486" y="199517"/>
                </a:lnTo>
                <a:lnTo>
                  <a:pt x="243586" y="176149"/>
                </a:lnTo>
                <a:lnTo>
                  <a:pt x="270764" y="161289"/>
                </a:lnTo>
                <a:lnTo>
                  <a:pt x="261620" y="144525"/>
                </a:lnTo>
                <a:close/>
              </a:path>
              <a:path w="1685289" h="352425">
                <a:moveTo>
                  <a:pt x="147574" y="215392"/>
                </a:moveTo>
                <a:lnTo>
                  <a:pt x="136398" y="223138"/>
                </a:lnTo>
                <a:lnTo>
                  <a:pt x="89408" y="258952"/>
                </a:lnTo>
                <a:lnTo>
                  <a:pt x="85979" y="261747"/>
                </a:lnTo>
                <a:lnTo>
                  <a:pt x="98298" y="276225"/>
                </a:lnTo>
                <a:lnTo>
                  <a:pt x="100837" y="274065"/>
                </a:lnTo>
                <a:lnTo>
                  <a:pt x="147193" y="238760"/>
                </a:lnTo>
                <a:lnTo>
                  <a:pt x="158369" y="231139"/>
                </a:lnTo>
                <a:lnTo>
                  <a:pt x="147574" y="215392"/>
                </a:lnTo>
                <a:close/>
              </a:path>
              <a:path w="1685289" h="352425">
                <a:moveTo>
                  <a:pt x="42037" y="299085"/>
                </a:moveTo>
                <a:lnTo>
                  <a:pt x="0" y="338582"/>
                </a:lnTo>
                <a:lnTo>
                  <a:pt x="13081" y="352425"/>
                </a:lnTo>
                <a:lnTo>
                  <a:pt x="55118" y="313055"/>
                </a:lnTo>
                <a:lnTo>
                  <a:pt x="42037" y="299085"/>
                </a:lnTo>
                <a:close/>
              </a:path>
            </a:pathLst>
          </a:custGeom>
          <a:solidFill>
            <a:srgbClr val="A6A6A6"/>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54" name="object 65">
            <a:extLst>
              <a:ext uri="{FF2B5EF4-FFF2-40B4-BE49-F238E27FC236}">
                <a16:creationId xmlns:a16="http://schemas.microsoft.com/office/drawing/2014/main" id="{0C521E14-3BFE-F559-4AB3-D50CE881FACA}"/>
              </a:ext>
            </a:extLst>
          </p:cNvPr>
          <p:cNvSpPr/>
          <p:nvPr>
            <p:custDataLst>
              <p:tags r:id="rId4"/>
            </p:custDataLst>
          </p:nvPr>
        </p:nvSpPr>
        <p:spPr>
          <a:xfrm rot="21415856">
            <a:off x="8926317" y="1434640"/>
            <a:ext cx="1088448" cy="186661"/>
          </a:xfrm>
          <a:custGeom>
            <a:avLst/>
            <a:gdLst/>
            <a:ahLst/>
            <a:cxnLst/>
            <a:rect l="l" t="t" r="r" b="b"/>
            <a:pathLst>
              <a:path w="1685289" h="352425">
                <a:moveTo>
                  <a:pt x="1621144" y="306764"/>
                </a:moveTo>
                <a:lnTo>
                  <a:pt x="1602486" y="327913"/>
                </a:lnTo>
                <a:lnTo>
                  <a:pt x="1684782" y="349758"/>
                </a:lnTo>
                <a:lnTo>
                  <a:pt x="1670790" y="315087"/>
                </a:lnTo>
                <a:lnTo>
                  <a:pt x="1631188" y="315087"/>
                </a:lnTo>
                <a:lnTo>
                  <a:pt x="1621144" y="306764"/>
                </a:lnTo>
                <a:close/>
              </a:path>
              <a:path w="1685289" h="352425">
                <a:moveTo>
                  <a:pt x="1633736" y="292491"/>
                </a:moveTo>
                <a:lnTo>
                  <a:pt x="1621144" y="306764"/>
                </a:lnTo>
                <a:lnTo>
                  <a:pt x="1631188" y="315087"/>
                </a:lnTo>
                <a:lnTo>
                  <a:pt x="1643380" y="300482"/>
                </a:lnTo>
                <a:lnTo>
                  <a:pt x="1633736" y="292491"/>
                </a:lnTo>
                <a:close/>
              </a:path>
              <a:path w="1685289" h="352425">
                <a:moveTo>
                  <a:pt x="1652905" y="270763"/>
                </a:moveTo>
                <a:lnTo>
                  <a:pt x="1633736" y="292491"/>
                </a:lnTo>
                <a:lnTo>
                  <a:pt x="1643380" y="300482"/>
                </a:lnTo>
                <a:lnTo>
                  <a:pt x="1631188" y="315087"/>
                </a:lnTo>
                <a:lnTo>
                  <a:pt x="1670790" y="315087"/>
                </a:lnTo>
                <a:lnTo>
                  <a:pt x="1652905" y="270763"/>
                </a:lnTo>
                <a:close/>
              </a:path>
              <a:path w="1685289" h="352425">
                <a:moveTo>
                  <a:pt x="1583689" y="252222"/>
                </a:moveTo>
                <a:lnTo>
                  <a:pt x="1572387" y="267588"/>
                </a:lnTo>
                <a:lnTo>
                  <a:pt x="1585976" y="277622"/>
                </a:lnTo>
                <a:lnTo>
                  <a:pt x="1621144" y="306764"/>
                </a:lnTo>
                <a:lnTo>
                  <a:pt x="1633736" y="292491"/>
                </a:lnTo>
                <a:lnTo>
                  <a:pt x="1598168" y="263017"/>
                </a:lnTo>
                <a:lnTo>
                  <a:pt x="1583689" y="252222"/>
                </a:lnTo>
                <a:close/>
              </a:path>
              <a:path w="1685289" h="352425">
                <a:moveTo>
                  <a:pt x="1472311" y="177292"/>
                </a:moveTo>
                <a:lnTo>
                  <a:pt x="1462532" y="193675"/>
                </a:lnTo>
                <a:lnTo>
                  <a:pt x="1488567" y="209296"/>
                </a:lnTo>
                <a:lnTo>
                  <a:pt x="1526286" y="234442"/>
                </a:lnTo>
                <a:lnTo>
                  <a:pt x="1536954" y="218694"/>
                </a:lnTo>
                <a:lnTo>
                  <a:pt x="1499108" y="193421"/>
                </a:lnTo>
                <a:lnTo>
                  <a:pt x="1472311" y="177292"/>
                </a:lnTo>
                <a:close/>
              </a:path>
              <a:path w="1685289" h="352425">
                <a:moveTo>
                  <a:pt x="1353693" y="114553"/>
                </a:moveTo>
                <a:lnTo>
                  <a:pt x="1345564" y="131825"/>
                </a:lnTo>
                <a:lnTo>
                  <a:pt x="1386586" y="151384"/>
                </a:lnTo>
                <a:lnTo>
                  <a:pt x="1413256" y="165608"/>
                </a:lnTo>
                <a:lnTo>
                  <a:pt x="1422273" y="148844"/>
                </a:lnTo>
                <a:lnTo>
                  <a:pt x="1395602" y="134493"/>
                </a:lnTo>
                <a:lnTo>
                  <a:pt x="1353693" y="114553"/>
                </a:lnTo>
                <a:close/>
              </a:path>
              <a:path w="1685289" h="352425">
                <a:moveTo>
                  <a:pt x="1228725" y="64770"/>
                </a:moveTo>
                <a:lnTo>
                  <a:pt x="1223010" y="82931"/>
                </a:lnTo>
                <a:lnTo>
                  <a:pt x="1226820" y="84200"/>
                </a:lnTo>
                <a:lnTo>
                  <a:pt x="1280922" y="103886"/>
                </a:lnTo>
                <a:lnTo>
                  <a:pt x="1293495" y="109220"/>
                </a:lnTo>
                <a:lnTo>
                  <a:pt x="1300861" y="91694"/>
                </a:lnTo>
                <a:lnTo>
                  <a:pt x="1288288" y="86360"/>
                </a:lnTo>
                <a:lnTo>
                  <a:pt x="1233424" y="66294"/>
                </a:lnTo>
                <a:lnTo>
                  <a:pt x="1228725" y="64770"/>
                </a:lnTo>
                <a:close/>
              </a:path>
              <a:path w="1685289" h="352425">
                <a:moveTo>
                  <a:pt x="1099312" y="29210"/>
                </a:moveTo>
                <a:lnTo>
                  <a:pt x="1095375" y="47751"/>
                </a:lnTo>
                <a:lnTo>
                  <a:pt x="1116965" y="52450"/>
                </a:lnTo>
                <a:lnTo>
                  <a:pt x="1168781" y="66039"/>
                </a:lnTo>
                <a:lnTo>
                  <a:pt x="1173734" y="47625"/>
                </a:lnTo>
                <a:lnTo>
                  <a:pt x="1121918" y="34036"/>
                </a:lnTo>
                <a:lnTo>
                  <a:pt x="1099312" y="29210"/>
                </a:lnTo>
                <a:close/>
              </a:path>
              <a:path w="1685289" h="352425">
                <a:moveTo>
                  <a:pt x="966978" y="7365"/>
                </a:moveTo>
                <a:lnTo>
                  <a:pt x="964692" y="26288"/>
                </a:lnTo>
                <a:lnTo>
                  <a:pt x="1005459" y="31114"/>
                </a:lnTo>
                <a:lnTo>
                  <a:pt x="1039749" y="36957"/>
                </a:lnTo>
                <a:lnTo>
                  <a:pt x="1042797" y="18161"/>
                </a:lnTo>
                <a:lnTo>
                  <a:pt x="1008634" y="12446"/>
                </a:lnTo>
                <a:lnTo>
                  <a:pt x="966978" y="7365"/>
                </a:lnTo>
                <a:close/>
              </a:path>
              <a:path w="1685289" h="352425">
                <a:moveTo>
                  <a:pt x="837057" y="0"/>
                </a:moveTo>
                <a:lnTo>
                  <a:pt x="832612" y="0"/>
                </a:lnTo>
                <a:lnTo>
                  <a:pt x="832993" y="19050"/>
                </a:lnTo>
                <a:lnTo>
                  <a:pt x="836549" y="19050"/>
                </a:lnTo>
                <a:lnTo>
                  <a:pt x="892937" y="20447"/>
                </a:lnTo>
                <a:lnTo>
                  <a:pt x="908177" y="21462"/>
                </a:lnTo>
                <a:lnTo>
                  <a:pt x="909574" y="2539"/>
                </a:lnTo>
                <a:lnTo>
                  <a:pt x="894334" y="1397"/>
                </a:lnTo>
                <a:lnTo>
                  <a:pt x="837057" y="0"/>
                </a:lnTo>
                <a:close/>
              </a:path>
              <a:path w="1685289" h="352425">
                <a:moveTo>
                  <a:pt x="774954" y="1397"/>
                </a:moveTo>
                <a:lnTo>
                  <a:pt x="722884" y="4952"/>
                </a:lnTo>
                <a:lnTo>
                  <a:pt x="698627" y="7747"/>
                </a:lnTo>
                <a:lnTo>
                  <a:pt x="700786" y="26670"/>
                </a:lnTo>
                <a:lnTo>
                  <a:pt x="724281" y="24002"/>
                </a:lnTo>
                <a:lnTo>
                  <a:pt x="776224" y="20447"/>
                </a:lnTo>
                <a:lnTo>
                  <a:pt x="774954" y="1397"/>
                </a:lnTo>
                <a:close/>
              </a:path>
              <a:path w="1685289" h="352425">
                <a:moveTo>
                  <a:pt x="641604" y="15494"/>
                </a:moveTo>
                <a:lnTo>
                  <a:pt x="609854" y="20574"/>
                </a:lnTo>
                <a:lnTo>
                  <a:pt x="566293" y="29845"/>
                </a:lnTo>
                <a:lnTo>
                  <a:pt x="570230" y="48513"/>
                </a:lnTo>
                <a:lnTo>
                  <a:pt x="612902" y="39370"/>
                </a:lnTo>
                <a:lnTo>
                  <a:pt x="644652" y="34289"/>
                </a:lnTo>
                <a:lnTo>
                  <a:pt x="641604" y="15494"/>
                </a:lnTo>
                <a:close/>
              </a:path>
              <a:path w="1685289" h="352425">
                <a:moveTo>
                  <a:pt x="510413" y="43814"/>
                </a:moveTo>
                <a:lnTo>
                  <a:pt x="498602" y="46989"/>
                </a:lnTo>
                <a:lnTo>
                  <a:pt x="443992" y="64135"/>
                </a:lnTo>
                <a:lnTo>
                  <a:pt x="436753" y="66801"/>
                </a:lnTo>
                <a:lnTo>
                  <a:pt x="443357" y="84709"/>
                </a:lnTo>
                <a:lnTo>
                  <a:pt x="449707" y="82296"/>
                </a:lnTo>
                <a:lnTo>
                  <a:pt x="503555" y="65405"/>
                </a:lnTo>
                <a:lnTo>
                  <a:pt x="515239" y="62357"/>
                </a:lnTo>
                <a:lnTo>
                  <a:pt x="510413" y="43814"/>
                </a:lnTo>
                <a:close/>
              </a:path>
              <a:path w="1685289" h="352425">
                <a:moveTo>
                  <a:pt x="382905" y="86995"/>
                </a:moveTo>
                <a:lnTo>
                  <a:pt x="337185" y="106425"/>
                </a:lnTo>
                <a:lnTo>
                  <a:pt x="312928" y="118237"/>
                </a:lnTo>
                <a:lnTo>
                  <a:pt x="321183" y="135382"/>
                </a:lnTo>
                <a:lnTo>
                  <a:pt x="344678" y="123951"/>
                </a:lnTo>
                <a:lnTo>
                  <a:pt x="390398" y="104521"/>
                </a:lnTo>
                <a:lnTo>
                  <a:pt x="382905" y="86995"/>
                </a:lnTo>
                <a:close/>
              </a:path>
              <a:path w="1685289" h="352425">
                <a:moveTo>
                  <a:pt x="261620" y="144525"/>
                </a:moveTo>
                <a:lnTo>
                  <a:pt x="234442" y="159385"/>
                </a:lnTo>
                <a:lnTo>
                  <a:pt x="195580" y="183387"/>
                </a:lnTo>
                <a:lnTo>
                  <a:pt x="205486" y="199517"/>
                </a:lnTo>
                <a:lnTo>
                  <a:pt x="243586" y="176149"/>
                </a:lnTo>
                <a:lnTo>
                  <a:pt x="270764" y="161289"/>
                </a:lnTo>
                <a:lnTo>
                  <a:pt x="261620" y="144525"/>
                </a:lnTo>
                <a:close/>
              </a:path>
              <a:path w="1685289" h="352425">
                <a:moveTo>
                  <a:pt x="147574" y="215392"/>
                </a:moveTo>
                <a:lnTo>
                  <a:pt x="136398" y="223138"/>
                </a:lnTo>
                <a:lnTo>
                  <a:pt x="89408" y="258952"/>
                </a:lnTo>
                <a:lnTo>
                  <a:pt x="85979" y="261747"/>
                </a:lnTo>
                <a:lnTo>
                  <a:pt x="98298" y="276225"/>
                </a:lnTo>
                <a:lnTo>
                  <a:pt x="100837" y="274065"/>
                </a:lnTo>
                <a:lnTo>
                  <a:pt x="147193" y="238760"/>
                </a:lnTo>
                <a:lnTo>
                  <a:pt x="158369" y="231139"/>
                </a:lnTo>
                <a:lnTo>
                  <a:pt x="147574" y="215392"/>
                </a:lnTo>
                <a:close/>
              </a:path>
              <a:path w="1685289" h="352425">
                <a:moveTo>
                  <a:pt x="42037" y="299085"/>
                </a:moveTo>
                <a:lnTo>
                  <a:pt x="0" y="338582"/>
                </a:lnTo>
                <a:lnTo>
                  <a:pt x="13081" y="352425"/>
                </a:lnTo>
                <a:lnTo>
                  <a:pt x="55118" y="313055"/>
                </a:lnTo>
                <a:lnTo>
                  <a:pt x="42037" y="299085"/>
                </a:lnTo>
                <a:close/>
              </a:path>
            </a:pathLst>
          </a:custGeom>
          <a:solidFill>
            <a:srgbClr val="A6A6A6"/>
          </a:solidFill>
          <a:ln w="9525" cap="flat" cmpd="sng" algn="ctr">
            <a:noFill/>
            <a:prstDash val="solid"/>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grpSp>
        <p:nvGrpSpPr>
          <p:cNvPr id="172" name="Group 171">
            <a:extLst>
              <a:ext uri="{FF2B5EF4-FFF2-40B4-BE49-F238E27FC236}">
                <a16:creationId xmlns:a16="http://schemas.microsoft.com/office/drawing/2014/main" id="{30389DF8-CA48-6968-3F26-C5EA8BCDFFE7}"/>
              </a:ext>
            </a:extLst>
          </p:cNvPr>
          <p:cNvGrpSpPr/>
          <p:nvPr/>
        </p:nvGrpSpPr>
        <p:grpSpPr>
          <a:xfrm>
            <a:off x="314029" y="2404810"/>
            <a:ext cx="1800000" cy="1527477"/>
            <a:chOff x="487652" y="2404810"/>
            <a:chExt cx="1800000" cy="1527477"/>
          </a:xfrm>
        </p:grpSpPr>
        <p:sp>
          <p:nvSpPr>
            <p:cNvPr id="26" name="TextBox 25">
              <a:extLst>
                <a:ext uri="{FF2B5EF4-FFF2-40B4-BE49-F238E27FC236}">
                  <a16:creationId xmlns:a16="http://schemas.microsoft.com/office/drawing/2014/main" id="{398C2DF6-D89C-617E-C961-349536B7AC29}"/>
                </a:ext>
              </a:extLst>
            </p:cNvPr>
            <p:cNvSpPr txBox="1"/>
            <p:nvPr/>
          </p:nvSpPr>
          <p:spPr>
            <a:xfrm>
              <a:off x="667652" y="2404810"/>
              <a:ext cx="1440000"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Ubuntu" panose="020B0504030602030204" pitchFamily="34" charset="0"/>
                  <a:ea typeface="+mn-ea"/>
                  <a:cs typeface="+mn-cs"/>
                </a:rPr>
                <a:t>Market Analysis</a:t>
              </a:r>
              <a:endParaRPr kumimoji="0" lang="en-US" sz="10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60" name="TextBox 59">
              <a:extLst>
                <a:ext uri="{FF2B5EF4-FFF2-40B4-BE49-F238E27FC236}">
                  <a16:creationId xmlns:a16="http://schemas.microsoft.com/office/drawing/2014/main" id="{69522359-EB18-4BBC-6305-5E19D74AE79E}"/>
                </a:ext>
              </a:extLst>
            </p:cNvPr>
            <p:cNvSpPr txBox="1"/>
            <p:nvPr/>
          </p:nvSpPr>
          <p:spPr>
            <a:xfrm>
              <a:off x="487652" y="2731958"/>
              <a:ext cx="1800000" cy="1200329"/>
            </a:xfrm>
            <a:prstGeom prst="rect">
              <a:avLst/>
            </a:prstGeom>
            <a:noFill/>
          </p:spPr>
          <p:txBody>
            <a:bodyPr wrap="square">
              <a:spAutoFit/>
            </a:bodyPr>
            <a:lstStyle/>
            <a:p>
              <a:pPr lvl="0" algn="ctr">
                <a:defRPr/>
              </a:pPr>
              <a:r>
                <a:rPr lang="en-IN" sz="900">
                  <a:solidFill>
                    <a:schemeClr val="bg1"/>
                  </a:solidFill>
                  <a:latin typeface="Ubuntu" panose="020B0504030602030204" pitchFamily="34" charset="0"/>
                </a:rPr>
                <a:t>Quantify wholesale ICT opportunity (MY + ASEAN)</a:t>
              </a:r>
            </a:p>
            <a:p>
              <a:pPr lvl="0" algn="ctr">
                <a:defRPr/>
              </a:pPr>
              <a:r>
                <a:rPr lang="en-IN" sz="900">
                  <a:solidFill>
                    <a:schemeClr val="bg1"/>
                  </a:solidFill>
                  <a:latin typeface="Ubuntu" panose="020B0504030602030204" pitchFamily="34" charset="0"/>
                </a:rPr>
                <a:t>Identify growth pools: connectivity, IP transit, DC, MVNOs</a:t>
              </a:r>
            </a:p>
            <a:p>
              <a:pPr lvl="0" algn="ctr">
                <a:defRPr/>
              </a:pPr>
              <a:r>
                <a:rPr lang="en-IN" sz="900">
                  <a:solidFill>
                    <a:schemeClr val="bg1"/>
                  </a:solidFill>
                  <a:latin typeface="Ubuntu" panose="020B0504030602030204" pitchFamily="34" charset="0"/>
                </a:rPr>
                <a:t>Analyse demand drivers: AI, </a:t>
              </a:r>
              <a:r>
                <a:rPr lang="en-IN" sz="900" err="1">
                  <a:solidFill>
                    <a:schemeClr val="bg1"/>
                  </a:solidFill>
                  <a:latin typeface="Ubuntu" panose="020B0504030602030204" pitchFamily="34" charset="0"/>
                </a:rPr>
                <a:t>hyperscalers</a:t>
              </a:r>
              <a:r>
                <a:rPr lang="en-IN" sz="900">
                  <a:solidFill>
                    <a:schemeClr val="bg1"/>
                  </a:solidFill>
                  <a:latin typeface="Ubuntu" panose="020B0504030602030204" pitchFamily="34" charset="0"/>
                </a:rPr>
                <a:t>, cross-border traffic</a:t>
              </a:r>
              <a:endParaRPr kumimoji="0" lang="en-US" sz="900" b="0" i="0" u="none" strike="noStrike" kern="1200" cap="none" spc="0" normalizeH="0" baseline="0" noProof="0">
                <a:ln>
                  <a:noFill/>
                </a:ln>
                <a:solidFill>
                  <a:schemeClr val="bg1"/>
                </a:solidFill>
                <a:effectLst/>
                <a:uLnTx/>
                <a:uFillTx/>
                <a:latin typeface="Ubuntu" panose="020B0504030602030204" pitchFamily="34" charset="0"/>
              </a:endParaRPr>
            </a:p>
          </p:txBody>
        </p:sp>
      </p:grpSp>
      <p:grpSp>
        <p:nvGrpSpPr>
          <p:cNvPr id="173" name="Group 172">
            <a:extLst>
              <a:ext uri="{FF2B5EF4-FFF2-40B4-BE49-F238E27FC236}">
                <a16:creationId xmlns:a16="http://schemas.microsoft.com/office/drawing/2014/main" id="{AFA4B7F4-7AF6-F51A-FC56-B6C476D08934}"/>
              </a:ext>
            </a:extLst>
          </p:cNvPr>
          <p:cNvGrpSpPr/>
          <p:nvPr/>
        </p:nvGrpSpPr>
        <p:grpSpPr>
          <a:xfrm>
            <a:off x="2130331" y="2404810"/>
            <a:ext cx="1800000" cy="1250478"/>
            <a:chOff x="2107603" y="2404810"/>
            <a:chExt cx="1800000" cy="1250478"/>
          </a:xfrm>
        </p:grpSpPr>
        <p:sp>
          <p:nvSpPr>
            <p:cNvPr id="59" name="TextBox 58">
              <a:extLst>
                <a:ext uri="{FF2B5EF4-FFF2-40B4-BE49-F238E27FC236}">
                  <a16:creationId xmlns:a16="http://schemas.microsoft.com/office/drawing/2014/main" id="{FB1C9AB3-BC51-6FD9-BB72-8CEDA09B27D7}"/>
                </a:ext>
              </a:extLst>
            </p:cNvPr>
            <p:cNvSpPr txBox="1"/>
            <p:nvPr/>
          </p:nvSpPr>
          <p:spPr>
            <a:xfrm>
              <a:off x="2287603" y="2404810"/>
              <a:ext cx="144000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Ubuntu" panose="020B0504030602030204" pitchFamily="34" charset="0"/>
                  <a:ea typeface="+mn-ea"/>
                  <a:cs typeface="+mn-cs"/>
                </a:rPr>
                <a:t>Target Industries &amp; Enterprises </a:t>
              </a:r>
              <a:endParaRPr kumimoji="0" lang="en-US" sz="1000" b="1"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61" name="TextBox 60">
              <a:extLst>
                <a:ext uri="{FF2B5EF4-FFF2-40B4-BE49-F238E27FC236}">
                  <a16:creationId xmlns:a16="http://schemas.microsoft.com/office/drawing/2014/main" id="{350D5B6D-B571-1567-2C3C-11FB752F0517}"/>
                </a:ext>
              </a:extLst>
            </p:cNvPr>
            <p:cNvSpPr txBox="1"/>
            <p:nvPr/>
          </p:nvSpPr>
          <p:spPr>
            <a:xfrm>
              <a:off x="2107603" y="2731958"/>
              <a:ext cx="1800000" cy="923330"/>
            </a:xfrm>
            <a:prstGeom prst="rect">
              <a:avLst/>
            </a:prstGeom>
            <a:noFill/>
          </p:spPr>
          <p:txBody>
            <a:bodyPr wrap="square">
              <a:spAutoFit/>
            </a:bodyPr>
            <a:lstStyle/>
            <a:p>
              <a:pPr lvl="0" algn="ctr">
                <a:defRPr/>
              </a:pPr>
              <a:r>
                <a:rPr lang="en-IN" sz="900">
                  <a:solidFill>
                    <a:schemeClr val="bg1"/>
                  </a:solidFill>
                  <a:latin typeface="Ubuntu" panose="020B0504030602030204" pitchFamily="34" charset="0"/>
                </a:rPr>
                <a:t>Prioritise </a:t>
              </a:r>
              <a:r>
                <a:rPr lang="en-IN" sz="900" err="1">
                  <a:solidFill>
                    <a:schemeClr val="bg1"/>
                  </a:solidFill>
                  <a:latin typeface="Ubuntu" panose="020B0504030602030204" pitchFamily="34" charset="0"/>
                </a:rPr>
                <a:t>hyperscalers</a:t>
              </a:r>
              <a:r>
                <a:rPr lang="en-IN" sz="900">
                  <a:solidFill>
                    <a:schemeClr val="bg1"/>
                  </a:solidFill>
                  <a:latin typeface="Ubuntu" panose="020B0504030602030204" pitchFamily="34" charset="0"/>
                </a:rPr>
                <a:t>, carriers, OTTs, MVNOs</a:t>
              </a:r>
            </a:p>
            <a:p>
              <a:pPr lvl="0" algn="ctr">
                <a:defRPr/>
              </a:pPr>
              <a:r>
                <a:rPr lang="en-IN" sz="900">
                  <a:solidFill>
                    <a:schemeClr val="bg1"/>
                  </a:solidFill>
                  <a:latin typeface="Ubuntu" panose="020B0504030602030204" pitchFamily="34" charset="0"/>
                </a:rPr>
                <a:t>Identify high-value customers &amp; early adopters</a:t>
              </a:r>
            </a:p>
            <a:p>
              <a:pPr lvl="0" algn="ctr">
                <a:defRPr/>
              </a:pPr>
              <a:r>
                <a:rPr lang="en-IN" sz="900">
                  <a:solidFill>
                    <a:schemeClr val="bg1"/>
                  </a:solidFill>
                  <a:latin typeface="Ubuntu" panose="020B0504030602030204" pitchFamily="34" charset="0"/>
                </a:rPr>
                <a:t>Focus on traffic-intensive and cross-border demand segments</a:t>
              </a:r>
              <a:endParaRPr kumimoji="0" lang="en-US" sz="900" b="0" i="0" u="none" strike="noStrike" kern="1200" cap="none" spc="0" normalizeH="0" baseline="0" noProof="0">
                <a:ln>
                  <a:noFill/>
                </a:ln>
                <a:solidFill>
                  <a:schemeClr val="bg1"/>
                </a:solidFill>
                <a:effectLst/>
                <a:uLnTx/>
                <a:uFillTx/>
                <a:latin typeface="Ubuntu" panose="020B0504030602030204" pitchFamily="34" charset="0"/>
              </a:endParaRPr>
            </a:p>
          </p:txBody>
        </p:sp>
      </p:grpSp>
      <p:grpSp>
        <p:nvGrpSpPr>
          <p:cNvPr id="174" name="Group 173">
            <a:extLst>
              <a:ext uri="{FF2B5EF4-FFF2-40B4-BE49-F238E27FC236}">
                <a16:creationId xmlns:a16="http://schemas.microsoft.com/office/drawing/2014/main" id="{CEF8FD79-39FA-D997-2F49-D03213E224D6}"/>
              </a:ext>
            </a:extLst>
          </p:cNvPr>
          <p:cNvGrpSpPr/>
          <p:nvPr/>
        </p:nvGrpSpPr>
        <p:grpSpPr>
          <a:xfrm>
            <a:off x="3946633" y="2404810"/>
            <a:ext cx="1800000" cy="973479"/>
            <a:chOff x="3933773" y="2404810"/>
            <a:chExt cx="1800000" cy="973479"/>
          </a:xfrm>
        </p:grpSpPr>
        <p:sp>
          <p:nvSpPr>
            <p:cNvPr id="55" name="TextBox 54">
              <a:extLst>
                <a:ext uri="{FF2B5EF4-FFF2-40B4-BE49-F238E27FC236}">
                  <a16:creationId xmlns:a16="http://schemas.microsoft.com/office/drawing/2014/main" id="{3C8E13B7-5E73-0E3C-C0A2-9B7CD2D4F920}"/>
                </a:ext>
              </a:extLst>
            </p:cNvPr>
            <p:cNvSpPr txBox="1"/>
            <p:nvPr/>
          </p:nvSpPr>
          <p:spPr>
            <a:xfrm>
              <a:off x="4113773" y="2404810"/>
              <a:ext cx="144000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Ubuntu" panose="020B0504030602030204" pitchFamily="34" charset="0"/>
                  <a:ea typeface="+mn-ea"/>
                  <a:cs typeface="+mn-cs"/>
                </a:rPr>
                <a:t>Product/ Service Offering Design</a:t>
              </a:r>
              <a:endParaRPr kumimoji="0" lang="en-US" sz="10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62" name="TextBox 61">
              <a:extLst>
                <a:ext uri="{FF2B5EF4-FFF2-40B4-BE49-F238E27FC236}">
                  <a16:creationId xmlns:a16="http://schemas.microsoft.com/office/drawing/2014/main" id="{3D97C75D-B8B4-98EE-4D94-B84E369E4B72}"/>
                </a:ext>
              </a:extLst>
            </p:cNvPr>
            <p:cNvSpPr txBox="1"/>
            <p:nvPr/>
          </p:nvSpPr>
          <p:spPr>
            <a:xfrm>
              <a:off x="3933773" y="2731958"/>
              <a:ext cx="1800000" cy="646331"/>
            </a:xfrm>
            <a:prstGeom prst="rect">
              <a:avLst/>
            </a:prstGeom>
            <a:noFill/>
          </p:spPr>
          <p:txBody>
            <a:bodyPr wrap="square">
              <a:spAutoFit/>
            </a:bodyPr>
            <a:lstStyle/>
            <a:p>
              <a:pPr lvl="0" algn="ctr">
                <a:defRPr/>
              </a:pPr>
              <a:r>
                <a:rPr lang="en-IN" sz="900">
                  <a:solidFill>
                    <a:schemeClr val="bg1"/>
                  </a:solidFill>
                  <a:latin typeface="Ubuntu" panose="020B0504030602030204" pitchFamily="34" charset="0"/>
                </a:rPr>
                <a:t>Define differentiated wholesale portfolio:</a:t>
              </a:r>
            </a:p>
            <a:p>
              <a:pPr lvl="0" algn="ctr">
                <a:defRPr/>
              </a:pPr>
              <a:r>
                <a:rPr lang="en-IN" sz="900">
                  <a:solidFill>
                    <a:schemeClr val="bg1"/>
                  </a:solidFill>
                  <a:latin typeface="Ubuntu" panose="020B0504030602030204" pitchFamily="34" charset="0"/>
                </a:rPr>
                <a:t>Align offerings to AI / cloud-driven demand</a:t>
              </a:r>
              <a:endParaRPr kumimoji="0" lang="en-US" sz="900" b="1" i="0" u="none" strike="noStrike" kern="1200" cap="none" spc="0" normalizeH="0" baseline="0" noProof="0">
                <a:ln>
                  <a:noFill/>
                </a:ln>
                <a:solidFill>
                  <a:schemeClr val="bg1"/>
                </a:solidFill>
                <a:effectLst/>
                <a:uLnTx/>
                <a:uFillTx/>
                <a:latin typeface="Ubuntu" panose="020B0504030602030204" pitchFamily="34" charset="0"/>
              </a:endParaRPr>
            </a:p>
          </p:txBody>
        </p:sp>
      </p:grpSp>
      <p:grpSp>
        <p:nvGrpSpPr>
          <p:cNvPr id="175" name="Group 174">
            <a:extLst>
              <a:ext uri="{FF2B5EF4-FFF2-40B4-BE49-F238E27FC236}">
                <a16:creationId xmlns:a16="http://schemas.microsoft.com/office/drawing/2014/main" id="{E7F56F0C-EAD3-E028-4150-CEA8B7DEAA0D}"/>
              </a:ext>
            </a:extLst>
          </p:cNvPr>
          <p:cNvGrpSpPr/>
          <p:nvPr/>
        </p:nvGrpSpPr>
        <p:grpSpPr>
          <a:xfrm>
            <a:off x="5762935" y="2404810"/>
            <a:ext cx="1800000" cy="1111978"/>
            <a:chOff x="5579667" y="2404810"/>
            <a:chExt cx="1800000" cy="1111978"/>
          </a:xfrm>
        </p:grpSpPr>
        <p:sp>
          <p:nvSpPr>
            <p:cNvPr id="56" name="TextBox 55">
              <a:extLst>
                <a:ext uri="{FF2B5EF4-FFF2-40B4-BE49-F238E27FC236}">
                  <a16:creationId xmlns:a16="http://schemas.microsoft.com/office/drawing/2014/main" id="{40FA6CA0-71D4-79DC-A108-322BC39323F5}"/>
                </a:ext>
              </a:extLst>
            </p:cNvPr>
            <p:cNvSpPr txBox="1"/>
            <p:nvPr/>
          </p:nvSpPr>
          <p:spPr>
            <a:xfrm>
              <a:off x="5759667" y="2404810"/>
              <a:ext cx="144000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Ubuntu" panose="020B0504030602030204" pitchFamily="34" charset="0"/>
                  <a:ea typeface="+mn-ea"/>
                  <a:cs typeface="+mn-cs"/>
                </a:rPr>
                <a:t>Business Model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Ubuntu" panose="020B0504030602030204" pitchFamily="34" charset="0"/>
                  <a:ea typeface="+mn-ea"/>
                  <a:cs typeface="+mn-cs"/>
                </a:rPr>
                <a:t> Strategy</a:t>
              </a:r>
              <a:endParaRPr kumimoji="0" lang="en-US" sz="10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63" name="TextBox 62">
              <a:extLst>
                <a:ext uri="{FF2B5EF4-FFF2-40B4-BE49-F238E27FC236}">
                  <a16:creationId xmlns:a16="http://schemas.microsoft.com/office/drawing/2014/main" id="{D3FDBFC4-A5F6-C15F-E055-27A889A92F8C}"/>
                </a:ext>
              </a:extLst>
            </p:cNvPr>
            <p:cNvSpPr txBox="1"/>
            <p:nvPr/>
          </p:nvSpPr>
          <p:spPr>
            <a:xfrm>
              <a:off x="5579667" y="2731958"/>
              <a:ext cx="1800000" cy="784830"/>
            </a:xfrm>
            <a:prstGeom prst="rect">
              <a:avLst/>
            </a:prstGeom>
            <a:noFill/>
          </p:spPr>
          <p:txBody>
            <a:bodyPr wrap="square">
              <a:spAutoFit/>
            </a:bodyPr>
            <a:lstStyle/>
            <a:p>
              <a:pPr lvl="0" algn="ctr">
                <a:defRPr/>
              </a:pPr>
              <a:r>
                <a:rPr lang="en-IN" sz="900">
                  <a:solidFill>
                    <a:schemeClr val="bg1"/>
                  </a:solidFill>
                  <a:latin typeface="Ubuntu" panose="020B0504030602030204" pitchFamily="34" charset="0"/>
                </a:rPr>
                <a:t>Optimise monetisation:</a:t>
              </a:r>
            </a:p>
            <a:p>
              <a:pPr lvl="0" algn="ctr">
                <a:defRPr/>
              </a:pPr>
              <a:r>
                <a:rPr lang="en-IN" sz="900">
                  <a:solidFill>
                    <a:schemeClr val="bg1"/>
                  </a:solidFill>
                  <a:latin typeface="Ubuntu" panose="020B0504030602030204" pitchFamily="34" charset="0"/>
                </a:rPr>
                <a:t>Drive asset utilisation &amp; route-level value capture</a:t>
              </a:r>
            </a:p>
            <a:p>
              <a:pPr lvl="0" algn="ctr">
                <a:defRPr/>
              </a:pPr>
              <a:r>
                <a:rPr lang="en-IN" sz="900">
                  <a:solidFill>
                    <a:schemeClr val="bg1"/>
                  </a:solidFill>
                  <a:latin typeface="Ubuntu" panose="020B0504030602030204" pitchFamily="34" charset="0"/>
                </a:rPr>
                <a:t>Build bundled and ecosystem-led offerings</a:t>
              </a:r>
              <a:endParaRPr kumimoji="0" lang="en-IN" sz="900" b="0" i="0" u="none" strike="noStrike" kern="1200" cap="none" spc="0" normalizeH="0" baseline="0" noProof="0">
                <a:ln>
                  <a:noFill/>
                </a:ln>
                <a:solidFill>
                  <a:schemeClr val="bg1"/>
                </a:solidFill>
                <a:effectLst/>
                <a:uLnTx/>
                <a:uFillTx/>
                <a:latin typeface="Ubuntu" panose="020B0504030602030204" pitchFamily="34" charset="0"/>
              </a:endParaRPr>
            </a:p>
          </p:txBody>
        </p:sp>
      </p:grpSp>
      <p:grpSp>
        <p:nvGrpSpPr>
          <p:cNvPr id="176" name="Group 175">
            <a:extLst>
              <a:ext uri="{FF2B5EF4-FFF2-40B4-BE49-F238E27FC236}">
                <a16:creationId xmlns:a16="http://schemas.microsoft.com/office/drawing/2014/main" id="{E15CC165-58FB-79A6-F1FE-1F4984A20FA2}"/>
              </a:ext>
            </a:extLst>
          </p:cNvPr>
          <p:cNvGrpSpPr/>
          <p:nvPr/>
        </p:nvGrpSpPr>
        <p:grpSpPr>
          <a:xfrm>
            <a:off x="7579237" y="2404810"/>
            <a:ext cx="1800000" cy="1111978"/>
            <a:chOff x="7673924" y="2404810"/>
            <a:chExt cx="1800000" cy="1111978"/>
          </a:xfrm>
        </p:grpSpPr>
        <p:sp>
          <p:nvSpPr>
            <p:cNvPr id="57" name="TextBox 56">
              <a:extLst>
                <a:ext uri="{FF2B5EF4-FFF2-40B4-BE49-F238E27FC236}">
                  <a16:creationId xmlns:a16="http://schemas.microsoft.com/office/drawing/2014/main" id="{70235DA6-DB69-80BB-26E9-04C3128C854B}"/>
                </a:ext>
              </a:extLst>
            </p:cNvPr>
            <p:cNvSpPr txBox="1"/>
            <p:nvPr/>
          </p:nvSpPr>
          <p:spPr>
            <a:xfrm>
              <a:off x="7853924" y="2404810"/>
              <a:ext cx="1440000" cy="5539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Ubuntu" panose="020B0504030602030204" pitchFamily="34" charset="0"/>
                  <a:ea typeface="+mn-ea"/>
                  <a:cs typeface="+mn-cs"/>
                </a:rPr>
                <a:t>Strategic Partner Identification</a:t>
              </a:r>
              <a:endParaRPr kumimoji="0" lang="en-US" altLang="en-US" sz="10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64" name="TextBox 63">
              <a:extLst>
                <a:ext uri="{FF2B5EF4-FFF2-40B4-BE49-F238E27FC236}">
                  <a16:creationId xmlns:a16="http://schemas.microsoft.com/office/drawing/2014/main" id="{861C5A1F-4813-311C-9407-0B54504DE71A}"/>
                </a:ext>
              </a:extLst>
            </p:cNvPr>
            <p:cNvSpPr txBox="1"/>
            <p:nvPr/>
          </p:nvSpPr>
          <p:spPr>
            <a:xfrm>
              <a:off x="7673924" y="2731958"/>
              <a:ext cx="1800000" cy="784830"/>
            </a:xfrm>
            <a:prstGeom prst="rect">
              <a:avLst/>
            </a:prstGeom>
            <a:noFill/>
          </p:spPr>
          <p:txBody>
            <a:bodyPr wrap="square">
              <a:spAutoFit/>
            </a:bodyPr>
            <a:lstStyle/>
            <a:p>
              <a:pPr lvl="0" algn="ctr">
                <a:defRPr/>
              </a:pPr>
              <a:r>
                <a:rPr lang="en-IN" altLang="en-US" sz="900">
                  <a:solidFill>
                    <a:schemeClr val="bg1"/>
                  </a:solidFill>
                  <a:latin typeface="Ubuntu" panose="020B0504030602030204" pitchFamily="34" charset="0"/>
                </a:rPr>
                <a:t>Identify </a:t>
              </a:r>
              <a:r>
                <a:rPr lang="en-IN" altLang="en-US" sz="900" err="1">
                  <a:solidFill>
                    <a:schemeClr val="bg1"/>
                  </a:solidFill>
                  <a:latin typeface="Ubuntu" panose="020B0504030602030204" pitchFamily="34" charset="0"/>
                </a:rPr>
                <a:t>hyperscalers</a:t>
              </a:r>
              <a:r>
                <a:rPr lang="en-IN" altLang="en-US" sz="900">
                  <a:solidFill>
                    <a:schemeClr val="bg1"/>
                  </a:solidFill>
                  <a:latin typeface="Ubuntu" panose="020B0504030602030204" pitchFamily="34" charset="0"/>
                </a:rPr>
                <a:t>, DC operators, subsea </a:t>
              </a:r>
              <a:r>
                <a:rPr lang="en-IN" altLang="en-US" sz="900" err="1">
                  <a:solidFill>
                    <a:schemeClr val="bg1"/>
                  </a:solidFill>
                  <a:latin typeface="Ubuntu" panose="020B0504030602030204" pitchFamily="34" charset="0"/>
                </a:rPr>
                <a:t>consortia,Enable</a:t>
              </a:r>
              <a:r>
                <a:rPr lang="en-IN" altLang="en-US" sz="900">
                  <a:solidFill>
                    <a:schemeClr val="bg1"/>
                  </a:solidFill>
                  <a:latin typeface="Ubuntu" panose="020B0504030602030204" pitchFamily="34" charset="0"/>
                </a:rPr>
                <a:t> ecosystem-led growth vs standalone selling</a:t>
              </a:r>
              <a:endParaRPr kumimoji="0" lang="en-US" sz="900" b="0" i="0" u="none" strike="noStrike" kern="1200" cap="none" spc="0" normalizeH="0" baseline="0" noProof="0">
                <a:ln>
                  <a:noFill/>
                </a:ln>
                <a:solidFill>
                  <a:schemeClr val="bg1"/>
                </a:solidFill>
                <a:effectLst/>
                <a:uLnTx/>
                <a:uFillTx/>
                <a:latin typeface="Ubuntu" panose="020B0504030602030204" pitchFamily="34" charset="0"/>
              </a:endParaRPr>
            </a:p>
          </p:txBody>
        </p:sp>
      </p:grpSp>
      <p:grpSp>
        <p:nvGrpSpPr>
          <p:cNvPr id="177" name="Group 176">
            <a:extLst>
              <a:ext uri="{FF2B5EF4-FFF2-40B4-BE49-F238E27FC236}">
                <a16:creationId xmlns:a16="http://schemas.microsoft.com/office/drawing/2014/main" id="{76B014BC-89D0-C103-0412-7001CDE2C67C}"/>
              </a:ext>
            </a:extLst>
          </p:cNvPr>
          <p:cNvGrpSpPr/>
          <p:nvPr/>
        </p:nvGrpSpPr>
        <p:grpSpPr>
          <a:xfrm>
            <a:off x="9395540" y="2404810"/>
            <a:ext cx="1800000" cy="1250478"/>
            <a:chOff x="9395540" y="2404810"/>
            <a:chExt cx="1800000" cy="1250478"/>
          </a:xfrm>
        </p:grpSpPr>
        <p:sp>
          <p:nvSpPr>
            <p:cNvPr id="58" name="TextBox 57">
              <a:extLst>
                <a:ext uri="{FF2B5EF4-FFF2-40B4-BE49-F238E27FC236}">
                  <a16:creationId xmlns:a16="http://schemas.microsoft.com/office/drawing/2014/main" id="{05E6181D-DAC3-15BD-15B0-0D591939AF1B}"/>
                </a:ext>
              </a:extLst>
            </p:cNvPr>
            <p:cNvSpPr txBox="1"/>
            <p:nvPr/>
          </p:nvSpPr>
          <p:spPr>
            <a:xfrm>
              <a:off x="9575540" y="2404810"/>
              <a:ext cx="1440000"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Ubuntu" panose="020B0504030602030204" pitchFamily="34" charset="0"/>
                  <a:ea typeface="+mn-ea"/>
                  <a:cs typeface="+mn-cs"/>
                </a:rPr>
                <a:t>Marketing Strategy</a:t>
              </a:r>
              <a:endParaRPr kumimoji="0" lang="en-US" sz="1000" b="1"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65" name="TextBox 64">
              <a:extLst>
                <a:ext uri="{FF2B5EF4-FFF2-40B4-BE49-F238E27FC236}">
                  <a16:creationId xmlns:a16="http://schemas.microsoft.com/office/drawing/2014/main" id="{5A0E6CD7-7A3D-EFEE-53B8-E353480DA1EF}"/>
                </a:ext>
              </a:extLst>
            </p:cNvPr>
            <p:cNvSpPr txBox="1"/>
            <p:nvPr/>
          </p:nvSpPr>
          <p:spPr>
            <a:xfrm>
              <a:off x="9395540" y="2731958"/>
              <a:ext cx="1800000" cy="923330"/>
            </a:xfrm>
            <a:prstGeom prst="rect">
              <a:avLst/>
            </a:prstGeom>
            <a:noFill/>
          </p:spPr>
          <p:txBody>
            <a:bodyPr wrap="square">
              <a:spAutoFit/>
            </a:bodyPr>
            <a:lstStyle/>
            <a:p>
              <a:pPr lvl="0" algn="ctr">
                <a:defRPr/>
              </a:pPr>
              <a:r>
                <a:rPr lang="en-IN" sz="900">
                  <a:solidFill>
                    <a:schemeClr val="bg1"/>
                  </a:solidFill>
                  <a:latin typeface="Ubuntu" panose="020B0504030602030204" pitchFamily="34" charset="0"/>
                </a:rPr>
                <a:t>Sharpen wholesale positioning by segment, </a:t>
              </a:r>
            </a:p>
            <a:p>
              <a:pPr lvl="0" algn="ctr">
                <a:defRPr/>
              </a:pPr>
              <a:r>
                <a:rPr lang="en-IN" sz="900">
                  <a:solidFill>
                    <a:schemeClr val="bg1"/>
                  </a:solidFill>
                  <a:latin typeface="Ubuntu" panose="020B0504030602030204" pitchFamily="34" charset="0"/>
                </a:rPr>
                <a:t>Target priority routes (MY–SG, MY–TH, domestic corridors),Build visibility in AI, DC, connectivity ecosystems</a:t>
              </a:r>
              <a:endParaRPr kumimoji="0" lang="en-US" sz="900" b="0" i="0" u="none" strike="noStrike" kern="1200" cap="none" spc="0" normalizeH="0" baseline="0" noProof="0">
                <a:ln>
                  <a:noFill/>
                </a:ln>
                <a:solidFill>
                  <a:schemeClr val="bg1"/>
                </a:solidFill>
                <a:effectLst/>
                <a:uLnTx/>
                <a:uFillTx/>
                <a:latin typeface="Ubuntu" panose="020B0504030602030204" pitchFamily="34" charset="0"/>
              </a:endParaRPr>
            </a:p>
          </p:txBody>
        </p:sp>
      </p:grpSp>
      <p:sp>
        <p:nvSpPr>
          <p:cNvPr id="66" name="object 65">
            <a:extLst>
              <a:ext uri="{FF2B5EF4-FFF2-40B4-BE49-F238E27FC236}">
                <a16:creationId xmlns:a16="http://schemas.microsoft.com/office/drawing/2014/main" id="{4A141E34-0B6E-05DF-EF5D-0A857277833B}"/>
              </a:ext>
            </a:extLst>
          </p:cNvPr>
          <p:cNvSpPr/>
          <p:nvPr>
            <p:custDataLst>
              <p:tags r:id="rId5"/>
            </p:custDataLst>
          </p:nvPr>
        </p:nvSpPr>
        <p:spPr>
          <a:xfrm rot="497277">
            <a:off x="1578078" y="1500176"/>
            <a:ext cx="961476" cy="114427"/>
          </a:xfrm>
          <a:custGeom>
            <a:avLst/>
            <a:gdLst/>
            <a:ahLst/>
            <a:cxnLst/>
            <a:rect l="l" t="t" r="r" b="b"/>
            <a:pathLst>
              <a:path w="1685289" h="352425">
                <a:moveTo>
                  <a:pt x="1621144" y="306764"/>
                </a:moveTo>
                <a:lnTo>
                  <a:pt x="1602486" y="327913"/>
                </a:lnTo>
                <a:lnTo>
                  <a:pt x="1684782" y="349758"/>
                </a:lnTo>
                <a:lnTo>
                  <a:pt x="1670790" y="315087"/>
                </a:lnTo>
                <a:lnTo>
                  <a:pt x="1631188" y="315087"/>
                </a:lnTo>
                <a:lnTo>
                  <a:pt x="1621144" y="306764"/>
                </a:lnTo>
                <a:close/>
              </a:path>
              <a:path w="1685289" h="352425">
                <a:moveTo>
                  <a:pt x="1633736" y="292491"/>
                </a:moveTo>
                <a:lnTo>
                  <a:pt x="1621144" y="306764"/>
                </a:lnTo>
                <a:lnTo>
                  <a:pt x="1631188" y="315087"/>
                </a:lnTo>
                <a:lnTo>
                  <a:pt x="1643380" y="300482"/>
                </a:lnTo>
                <a:lnTo>
                  <a:pt x="1633736" y="292491"/>
                </a:lnTo>
                <a:close/>
              </a:path>
              <a:path w="1685289" h="352425">
                <a:moveTo>
                  <a:pt x="1652905" y="270763"/>
                </a:moveTo>
                <a:lnTo>
                  <a:pt x="1633736" y="292491"/>
                </a:lnTo>
                <a:lnTo>
                  <a:pt x="1643380" y="300482"/>
                </a:lnTo>
                <a:lnTo>
                  <a:pt x="1631188" y="315087"/>
                </a:lnTo>
                <a:lnTo>
                  <a:pt x="1670790" y="315087"/>
                </a:lnTo>
                <a:lnTo>
                  <a:pt x="1652905" y="270763"/>
                </a:lnTo>
                <a:close/>
              </a:path>
              <a:path w="1685289" h="352425">
                <a:moveTo>
                  <a:pt x="1583689" y="252222"/>
                </a:moveTo>
                <a:lnTo>
                  <a:pt x="1572387" y="267588"/>
                </a:lnTo>
                <a:lnTo>
                  <a:pt x="1585976" y="277622"/>
                </a:lnTo>
                <a:lnTo>
                  <a:pt x="1621144" y="306764"/>
                </a:lnTo>
                <a:lnTo>
                  <a:pt x="1633736" y="292491"/>
                </a:lnTo>
                <a:lnTo>
                  <a:pt x="1598168" y="263017"/>
                </a:lnTo>
                <a:lnTo>
                  <a:pt x="1583689" y="252222"/>
                </a:lnTo>
                <a:close/>
              </a:path>
              <a:path w="1685289" h="352425">
                <a:moveTo>
                  <a:pt x="1472311" y="177292"/>
                </a:moveTo>
                <a:lnTo>
                  <a:pt x="1462532" y="193675"/>
                </a:lnTo>
                <a:lnTo>
                  <a:pt x="1488567" y="209296"/>
                </a:lnTo>
                <a:lnTo>
                  <a:pt x="1526286" y="234442"/>
                </a:lnTo>
                <a:lnTo>
                  <a:pt x="1536954" y="218694"/>
                </a:lnTo>
                <a:lnTo>
                  <a:pt x="1499108" y="193421"/>
                </a:lnTo>
                <a:lnTo>
                  <a:pt x="1472311" y="177292"/>
                </a:lnTo>
                <a:close/>
              </a:path>
              <a:path w="1685289" h="352425">
                <a:moveTo>
                  <a:pt x="1353693" y="114553"/>
                </a:moveTo>
                <a:lnTo>
                  <a:pt x="1345564" y="131825"/>
                </a:lnTo>
                <a:lnTo>
                  <a:pt x="1386586" y="151384"/>
                </a:lnTo>
                <a:lnTo>
                  <a:pt x="1413256" y="165608"/>
                </a:lnTo>
                <a:lnTo>
                  <a:pt x="1422273" y="148844"/>
                </a:lnTo>
                <a:lnTo>
                  <a:pt x="1395602" y="134493"/>
                </a:lnTo>
                <a:lnTo>
                  <a:pt x="1353693" y="114553"/>
                </a:lnTo>
                <a:close/>
              </a:path>
              <a:path w="1685289" h="352425">
                <a:moveTo>
                  <a:pt x="1228725" y="64770"/>
                </a:moveTo>
                <a:lnTo>
                  <a:pt x="1223010" y="82931"/>
                </a:lnTo>
                <a:lnTo>
                  <a:pt x="1226820" y="84200"/>
                </a:lnTo>
                <a:lnTo>
                  <a:pt x="1280922" y="103886"/>
                </a:lnTo>
                <a:lnTo>
                  <a:pt x="1293495" y="109220"/>
                </a:lnTo>
                <a:lnTo>
                  <a:pt x="1300861" y="91694"/>
                </a:lnTo>
                <a:lnTo>
                  <a:pt x="1288288" y="86360"/>
                </a:lnTo>
                <a:lnTo>
                  <a:pt x="1233424" y="66294"/>
                </a:lnTo>
                <a:lnTo>
                  <a:pt x="1228725" y="64770"/>
                </a:lnTo>
                <a:close/>
              </a:path>
              <a:path w="1685289" h="352425">
                <a:moveTo>
                  <a:pt x="1099312" y="29210"/>
                </a:moveTo>
                <a:lnTo>
                  <a:pt x="1095375" y="47751"/>
                </a:lnTo>
                <a:lnTo>
                  <a:pt x="1116965" y="52450"/>
                </a:lnTo>
                <a:lnTo>
                  <a:pt x="1168781" y="66039"/>
                </a:lnTo>
                <a:lnTo>
                  <a:pt x="1173734" y="47625"/>
                </a:lnTo>
                <a:lnTo>
                  <a:pt x="1121918" y="34036"/>
                </a:lnTo>
                <a:lnTo>
                  <a:pt x="1099312" y="29210"/>
                </a:lnTo>
                <a:close/>
              </a:path>
              <a:path w="1685289" h="352425">
                <a:moveTo>
                  <a:pt x="966978" y="7365"/>
                </a:moveTo>
                <a:lnTo>
                  <a:pt x="964692" y="26288"/>
                </a:lnTo>
                <a:lnTo>
                  <a:pt x="1005459" y="31114"/>
                </a:lnTo>
                <a:lnTo>
                  <a:pt x="1039749" y="36957"/>
                </a:lnTo>
                <a:lnTo>
                  <a:pt x="1042797" y="18161"/>
                </a:lnTo>
                <a:lnTo>
                  <a:pt x="1008634" y="12446"/>
                </a:lnTo>
                <a:lnTo>
                  <a:pt x="966978" y="7365"/>
                </a:lnTo>
                <a:close/>
              </a:path>
              <a:path w="1685289" h="352425">
                <a:moveTo>
                  <a:pt x="837057" y="0"/>
                </a:moveTo>
                <a:lnTo>
                  <a:pt x="832612" y="0"/>
                </a:lnTo>
                <a:lnTo>
                  <a:pt x="832993" y="19050"/>
                </a:lnTo>
                <a:lnTo>
                  <a:pt x="836549" y="19050"/>
                </a:lnTo>
                <a:lnTo>
                  <a:pt x="892937" y="20447"/>
                </a:lnTo>
                <a:lnTo>
                  <a:pt x="908177" y="21462"/>
                </a:lnTo>
                <a:lnTo>
                  <a:pt x="909574" y="2539"/>
                </a:lnTo>
                <a:lnTo>
                  <a:pt x="894334" y="1397"/>
                </a:lnTo>
                <a:lnTo>
                  <a:pt x="837057" y="0"/>
                </a:lnTo>
                <a:close/>
              </a:path>
              <a:path w="1685289" h="352425">
                <a:moveTo>
                  <a:pt x="774954" y="1397"/>
                </a:moveTo>
                <a:lnTo>
                  <a:pt x="722884" y="4952"/>
                </a:lnTo>
                <a:lnTo>
                  <a:pt x="698627" y="7747"/>
                </a:lnTo>
                <a:lnTo>
                  <a:pt x="700786" y="26670"/>
                </a:lnTo>
                <a:lnTo>
                  <a:pt x="724281" y="24002"/>
                </a:lnTo>
                <a:lnTo>
                  <a:pt x="776224" y="20447"/>
                </a:lnTo>
                <a:lnTo>
                  <a:pt x="774954" y="1397"/>
                </a:lnTo>
                <a:close/>
              </a:path>
              <a:path w="1685289" h="352425">
                <a:moveTo>
                  <a:pt x="641604" y="15494"/>
                </a:moveTo>
                <a:lnTo>
                  <a:pt x="609854" y="20574"/>
                </a:lnTo>
                <a:lnTo>
                  <a:pt x="566293" y="29845"/>
                </a:lnTo>
                <a:lnTo>
                  <a:pt x="570230" y="48513"/>
                </a:lnTo>
                <a:lnTo>
                  <a:pt x="612902" y="39370"/>
                </a:lnTo>
                <a:lnTo>
                  <a:pt x="644652" y="34289"/>
                </a:lnTo>
                <a:lnTo>
                  <a:pt x="641604" y="15494"/>
                </a:lnTo>
                <a:close/>
              </a:path>
              <a:path w="1685289" h="352425">
                <a:moveTo>
                  <a:pt x="510413" y="43814"/>
                </a:moveTo>
                <a:lnTo>
                  <a:pt x="498602" y="46989"/>
                </a:lnTo>
                <a:lnTo>
                  <a:pt x="443992" y="64135"/>
                </a:lnTo>
                <a:lnTo>
                  <a:pt x="436753" y="66801"/>
                </a:lnTo>
                <a:lnTo>
                  <a:pt x="443357" y="84709"/>
                </a:lnTo>
                <a:lnTo>
                  <a:pt x="449707" y="82296"/>
                </a:lnTo>
                <a:lnTo>
                  <a:pt x="503555" y="65405"/>
                </a:lnTo>
                <a:lnTo>
                  <a:pt x="515239" y="62357"/>
                </a:lnTo>
                <a:lnTo>
                  <a:pt x="510413" y="43814"/>
                </a:lnTo>
                <a:close/>
              </a:path>
              <a:path w="1685289" h="352425">
                <a:moveTo>
                  <a:pt x="382905" y="86995"/>
                </a:moveTo>
                <a:lnTo>
                  <a:pt x="337185" y="106425"/>
                </a:lnTo>
                <a:lnTo>
                  <a:pt x="312928" y="118237"/>
                </a:lnTo>
                <a:lnTo>
                  <a:pt x="321183" y="135382"/>
                </a:lnTo>
                <a:lnTo>
                  <a:pt x="344678" y="123951"/>
                </a:lnTo>
                <a:lnTo>
                  <a:pt x="390398" y="104521"/>
                </a:lnTo>
                <a:lnTo>
                  <a:pt x="382905" y="86995"/>
                </a:lnTo>
                <a:close/>
              </a:path>
              <a:path w="1685289" h="352425">
                <a:moveTo>
                  <a:pt x="261620" y="144525"/>
                </a:moveTo>
                <a:lnTo>
                  <a:pt x="234442" y="159385"/>
                </a:lnTo>
                <a:lnTo>
                  <a:pt x="195580" y="183387"/>
                </a:lnTo>
                <a:lnTo>
                  <a:pt x="205486" y="199517"/>
                </a:lnTo>
                <a:lnTo>
                  <a:pt x="243586" y="176149"/>
                </a:lnTo>
                <a:lnTo>
                  <a:pt x="270764" y="161289"/>
                </a:lnTo>
                <a:lnTo>
                  <a:pt x="261620" y="144525"/>
                </a:lnTo>
                <a:close/>
              </a:path>
              <a:path w="1685289" h="352425">
                <a:moveTo>
                  <a:pt x="147574" y="215392"/>
                </a:moveTo>
                <a:lnTo>
                  <a:pt x="136398" y="223138"/>
                </a:lnTo>
                <a:lnTo>
                  <a:pt x="89408" y="258952"/>
                </a:lnTo>
                <a:lnTo>
                  <a:pt x="85979" y="261747"/>
                </a:lnTo>
                <a:lnTo>
                  <a:pt x="98298" y="276225"/>
                </a:lnTo>
                <a:lnTo>
                  <a:pt x="100837" y="274065"/>
                </a:lnTo>
                <a:lnTo>
                  <a:pt x="147193" y="238760"/>
                </a:lnTo>
                <a:lnTo>
                  <a:pt x="158369" y="231139"/>
                </a:lnTo>
                <a:lnTo>
                  <a:pt x="147574" y="215392"/>
                </a:lnTo>
                <a:close/>
              </a:path>
              <a:path w="1685289" h="352425">
                <a:moveTo>
                  <a:pt x="42037" y="299085"/>
                </a:moveTo>
                <a:lnTo>
                  <a:pt x="0" y="338582"/>
                </a:lnTo>
                <a:lnTo>
                  <a:pt x="13081" y="352425"/>
                </a:lnTo>
                <a:lnTo>
                  <a:pt x="55118" y="313055"/>
                </a:lnTo>
                <a:lnTo>
                  <a:pt x="42037" y="299085"/>
                </a:lnTo>
                <a:close/>
              </a:path>
            </a:pathLst>
          </a:custGeom>
          <a:solidFill>
            <a:srgbClr val="A6A6A6"/>
          </a:solidFill>
          <a:ln w="9525" cap="flat" cmpd="sng" algn="ctr">
            <a:noFill/>
            <a:prstDash val="solid"/>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67" name="Rectangle 66">
            <a:extLst>
              <a:ext uri="{FF2B5EF4-FFF2-40B4-BE49-F238E27FC236}">
                <a16:creationId xmlns:a16="http://schemas.microsoft.com/office/drawing/2014/main" id="{29B6C970-F187-3C6F-3108-BE4BE31045E7}"/>
              </a:ext>
            </a:extLst>
          </p:cNvPr>
          <p:cNvSpPr/>
          <p:nvPr/>
        </p:nvSpPr>
        <p:spPr>
          <a:xfrm>
            <a:off x="6149178" y="3524064"/>
            <a:ext cx="1777055" cy="42743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1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68" name="Rectangle 67">
            <a:extLst>
              <a:ext uri="{FF2B5EF4-FFF2-40B4-BE49-F238E27FC236}">
                <a16:creationId xmlns:a16="http://schemas.microsoft.com/office/drawing/2014/main" id="{CFA750FB-5EFA-DCA3-BE96-490407001048}"/>
              </a:ext>
            </a:extLst>
          </p:cNvPr>
          <p:cNvSpPr/>
          <p:nvPr/>
        </p:nvSpPr>
        <p:spPr>
          <a:xfrm>
            <a:off x="9739854" y="2585346"/>
            <a:ext cx="1596911" cy="4888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grpSp>
        <p:nvGrpSpPr>
          <p:cNvPr id="154" name="Group 153">
            <a:extLst>
              <a:ext uri="{FF2B5EF4-FFF2-40B4-BE49-F238E27FC236}">
                <a16:creationId xmlns:a16="http://schemas.microsoft.com/office/drawing/2014/main" id="{F06CB713-A8F5-1235-C417-1A13F6AAC29F}"/>
              </a:ext>
            </a:extLst>
          </p:cNvPr>
          <p:cNvGrpSpPr/>
          <p:nvPr/>
        </p:nvGrpSpPr>
        <p:grpSpPr>
          <a:xfrm>
            <a:off x="742697" y="1415308"/>
            <a:ext cx="942665" cy="951075"/>
            <a:chOff x="733404" y="1264833"/>
            <a:chExt cx="942665" cy="951075"/>
          </a:xfrm>
        </p:grpSpPr>
        <p:grpSp>
          <p:nvGrpSpPr>
            <p:cNvPr id="153" name="Group 152">
              <a:extLst>
                <a:ext uri="{FF2B5EF4-FFF2-40B4-BE49-F238E27FC236}">
                  <a16:creationId xmlns:a16="http://schemas.microsoft.com/office/drawing/2014/main" id="{974C85A1-6390-0C44-79B0-03EB3B2B8375}"/>
                </a:ext>
              </a:extLst>
            </p:cNvPr>
            <p:cNvGrpSpPr/>
            <p:nvPr/>
          </p:nvGrpSpPr>
          <p:grpSpPr>
            <a:xfrm>
              <a:off x="733404" y="1264833"/>
              <a:ext cx="942665" cy="951075"/>
              <a:chOff x="733404" y="1264833"/>
              <a:chExt cx="942665" cy="951075"/>
            </a:xfrm>
          </p:grpSpPr>
          <p:sp>
            <p:nvSpPr>
              <p:cNvPr id="22" name="object 17">
                <a:extLst>
                  <a:ext uri="{FF2B5EF4-FFF2-40B4-BE49-F238E27FC236}">
                    <a16:creationId xmlns:a16="http://schemas.microsoft.com/office/drawing/2014/main" id="{1F58A208-78F1-4459-BBF0-B90AB1BDD6B5}"/>
                  </a:ext>
                </a:extLst>
              </p:cNvPr>
              <p:cNvSpPr/>
              <p:nvPr>
                <p:custDataLst>
                  <p:tags r:id="rId57"/>
                </p:custDataLst>
              </p:nvPr>
            </p:nvSpPr>
            <p:spPr bwMode="auto">
              <a:xfrm>
                <a:off x="789036" y="1314104"/>
                <a:ext cx="837582" cy="901804"/>
              </a:xfrm>
              <a:custGeom>
                <a:avLst/>
                <a:gdLst/>
                <a:ahLst/>
                <a:cxnLst/>
                <a:rect l="l" t="t" r="r" b="b"/>
                <a:pathLst>
                  <a:path w="1259839" h="1405254">
                    <a:moveTo>
                      <a:pt x="556132" y="0"/>
                    </a:moveTo>
                    <a:lnTo>
                      <a:pt x="604293" y="1620"/>
                    </a:lnTo>
                    <a:lnTo>
                      <a:pt x="651582" y="6414"/>
                    </a:lnTo>
                    <a:lnTo>
                      <a:pt x="697894" y="14274"/>
                    </a:lnTo>
                    <a:lnTo>
                      <a:pt x="743124" y="25098"/>
                    </a:lnTo>
                    <a:lnTo>
                      <a:pt x="787169" y="38780"/>
                    </a:lnTo>
                    <a:lnTo>
                      <a:pt x="829923" y="55215"/>
                    </a:lnTo>
                    <a:lnTo>
                      <a:pt x="871281" y="74299"/>
                    </a:lnTo>
                    <a:lnTo>
                      <a:pt x="911140" y="95927"/>
                    </a:lnTo>
                    <a:lnTo>
                      <a:pt x="949394" y="119994"/>
                    </a:lnTo>
                    <a:lnTo>
                      <a:pt x="985938" y="146397"/>
                    </a:lnTo>
                    <a:lnTo>
                      <a:pt x="1020669" y="175029"/>
                    </a:lnTo>
                    <a:lnTo>
                      <a:pt x="1053480" y="205787"/>
                    </a:lnTo>
                    <a:lnTo>
                      <a:pt x="1084269" y="238566"/>
                    </a:lnTo>
                    <a:lnTo>
                      <a:pt x="1112929" y="273261"/>
                    </a:lnTo>
                    <a:lnTo>
                      <a:pt x="1139356" y="309767"/>
                    </a:lnTo>
                    <a:lnTo>
                      <a:pt x="1163447" y="347980"/>
                    </a:lnTo>
                    <a:lnTo>
                      <a:pt x="1185094" y="387794"/>
                    </a:lnTo>
                    <a:lnTo>
                      <a:pt x="1204196" y="429107"/>
                    </a:lnTo>
                    <a:lnTo>
                      <a:pt x="1220645" y="471812"/>
                    </a:lnTo>
                    <a:lnTo>
                      <a:pt x="1234339" y="515805"/>
                    </a:lnTo>
                    <a:lnTo>
                      <a:pt x="1245172" y="560981"/>
                    </a:lnTo>
                    <a:lnTo>
                      <a:pt x="1253039" y="607236"/>
                    </a:lnTo>
                    <a:lnTo>
                      <a:pt x="1257836" y="654465"/>
                    </a:lnTo>
                    <a:lnTo>
                      <a:pt x="1259459" y="702563"/>
                    </a:lnTo>
                    <a:lnTo>
                      <a:pt x="1257836" y="750662"/>
                    </a:lnTo>
                    <a:lnTo>
                      <a:pt x="1253039" y="797891"/>
                    </a:lnTo>
                    <a:lnTo>
                      <a:pt x="1245172" y="844146"/>
                    </a:lnTo>
                    <a:lnTo>
                      <a:pt x="1234339" y="889322"/>
                    </a:lnTo>
                    <a:lnTo>
                      <a:pt x="1220645" y="933315"/>
                    </a:lnTo>
                    <a:lnTo>
                      <a:pt x="1204196" y="976020"/>
                    </a:lnTo>
                    <a:lnTo>
                      <a:pt x="1185094" y="1017333"/>
                    </a:lnTo>
                    <a:lnTo>
                      <a:pt x="1163447" y="1057147"/>
                    </a:lnTo>
                    <a:lnTo>
                      <a:pt x="1139356" y="1095360"/>
                    </a:lnTo>
                    <a:lnTo>
                      <a:pt x="1112929" y="1131866"/>
                    </a:lnTo>
                    <a:lnTo>
                      <a:pt x="1084269" y="1166561"/>
                    </a:lnTo>
                    <a:lnTo>
                      <a:pt x="1053480" y="1199340"/>
                    </a:lnTo>
                    <a:lnTo>
                      <a:pt x="1020669" y="1230098"/>
                    </a:lnTo>
                    <a:lnTo>
                      <a:pt x="985938" y="1258730"/>
                    </a:lnTo>
                    <a:lnTo>
                      <a:pt x="949394" y="1285133"/>
                    </a:lnTo>
                    <a:lnTo>
                      <a:pt x="911140" y="1309200"/>
                    </a:lnTo>
                    <a:lnTo>
                      <a:pt x="871281" y="1330828"/>
                    </a:lnTo>
                    <a:lnTo>
                      <a:pt x="829923" y="1349912"/>
                    </a:lnTo>
                    <a:lnTo>
                      <a:pt x="787169" y="1366347"/>
                    </a:lnTo>
                    <a:lnTo>
                      <a:pt x="743124" y="1380029"/>
                    </a:lnTo>
                    <a:lnTo>
                      <a:pt x="697894" y="1390853"/>
                    </a:lnTo>
                    <a:lnTo>
                      <a:pt x="651582" y="1398713"/>
                    </a:lnTo>
                    <a:lnTo>
                      <a:pt x="604293" y="1403507"/>
                    </a:lnTo>
                    <a:lnTo>
                      <a:pt x="556132" y="1405128"/>
                    </a:lnTo>
                    <a:lnTo>
                      <a:pt x="506172" y="1403355"/>
                    </a:lnTo>
                    <a:lnTo>
                      <a:pt x="456808" y="1398092"/>
                    </a:lnTo>
                    <a:lnTo>
                      <a:pt x="408205" y="1389418"/>
                    </a:lnTo>
                    <a:lnTo>
                      <a:pt x="360525" y="1377414"/>
                    </a:lnTo>
                    <a:lnTo>
                      <a:pt x="313933" y="1362159"/>
                    </a:lnTo>
                    <a:lnTo>
                      <a:pt x="268593" y="1343733"/>
                    </a:lnTo>
                    <a:lnTo>
                      <a:pt x="224667" y="1322217"/>
                    </a:lnTo>
                    <a:lnTo>
                      <a:pt x="182321" y="1297691"/>
                    </a:lnTo>
                    <a:lnTo>
                      <a:pt x="141717" y="1270235"/>
                    </a:lnTo>
                    <a:lnTo>
                      <a:pt x="103019" y="1239929"/>
                    </a:lnTo>
                    <a:lnTo>
                      <a:pt x="66391" y="1206853"/>
                    </a:lnTo>
                    <a:lnTo>
                      <a:pt x="31997" y="1171088"/>
                    </a:lnTo>
                    <a:lnTo>
                      <a:pt x="0" y="1132713"/>
                    </a:lnTo>
                  </a:path>
                </a:pathLst>
              </a:custGeom>
              <a:noFill/>
              <a:ln w="15240">
                <a:solidFill>
                  <a:schemeClr val="bg2">
                    <a:lumMod val="75000"/>
                  </a:schemeClr>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23" name="object 18">
                <a:extLst>
                  <a:ext uri="{FF2B5EF4-FFF2-40B4-BE49-F238E27FC236}">
                    <a16:creationId xmlns:a16="http://schemas.microsoft.com/office/drawing/2014/main" id="{6A8E0E70-EEE9-33B4-C1CF-244206B45B08}"/>
                  </a:ext>
                </a:extLst>
              </p:cNvPr>
              <p:cNvSpPr/>
              <p:nvPr>
                <p:custDataLst>
                  <p:tags r:id="rId58"/>
                </p:custDataLst>
              </p:nvPr>
            </p:nvSpPr>
            <p:spPr bwMode="auto">
              <a:xfrm>
                <a:off x="733404" y="1354416"/>
                <a:ext cx="849945" cy="821179"/>
              </a:xfrm>
              <a:custGeom>
                <a:avLst/>
                <a:gdLst/>
                <a:ahLst/>
                <a:cxnLst/>
                <a:rect l="l" t="t" r="r" b="b"/>
                <a:pathLst>
                  <a:path w="1278889" h="1277620">
                    <a:moveTo>
                      <a:pt x="639317" y="0"/>
                    </a:moveTo>
                    <a:lnTo>
                      <a:pt x="687027" y="1751"/>
                    </a:lnTo>
                    <a:lnTo>
                      <a:pt x="733785" y="6923"/>
                    </a:lnTo>
                    <a:lnTo>
                      <a:pt x="779468" y="15392"/>
                    </a:lnTo>
                    <a:lnTo>
                      <a:pt x="823952" y="27034"/>
                    </a:lnTo>
                    <a:lnTo>
                      <a:pt x="867112" y="41727"/>
                    </a:lnTo>
                    <a:lnTo>
                      <a:pt x="908827" y="59346"/>
                    </a:lnTo>
                    <a:lnTo>
                      <a:pt x="948971" y="79769"/>
                    </a:lnTo>
                    <a:lnTo>
                      <a:pt x="987422" y="102871"/>
                    </a:lnTo>
                    <a:lnTo>
                      <a:pt x="1024055" y="128530"/>
                    </a:lnTo>
                    <a:lnTo>
                      <a:pt x="1058747" y="156622"/>
                    </a:lnTo>
                    <a:lnTo>
                      <a:pt x="1091374" y="187023"/>
                    </a:lnTo>
                    <a:lnTo>
                      <a:pt x="1121813" y="219610"/>
                    </a:lnTo>
                    <a:lnTo>
                      <a:pt x="1149940" y="254260"/>
                    </a:lnTo>
                    <a:lnTo>
                      <a:pt x="1175631" y="290849"/>
                    </a:lnTo>
                    <a:lnTo>
                      <a:pt x="1198763" y="329253"/>
                    </a:lnTo>
                    <a:lnTo>
                      <a:pt x="1219212" y="369350"/>
                    </a:lnTo>
                    <a:lnTo>
                      <a:pt x="1236854" y="411016"/>
                    </a:lnTo>
                    <a:lnTo>
                      <a:pt x="1251565" y="454127"/>
                    </a:lnTo>
                    <a:lnTo>
                      <a:pt x="1263223" y="498560"/>
                    </a:lnTo>
                    <a:lnTo>
                      <a:pt x="1271703" y="544191"/>
                    </a:lnTo>
                    <a:lnTo>
                      <a:pt x="1276882" y="590898"/>
                    </a:lnTo>
                    <a:lnTo>
                      <a:pt x="1278636" y="638555"/>
                    </a:lnTo>
                    <a:lnTo>
                      <a:pt x="1276882" y="686213"/>
                    </a:lnTo>
                    <a:lnTo>
                      <a:pt x="1271703" y="732920"/>
                    </a:lnTo>
                    <a:lnTo>
                      <a:pt x="1263223" y="778551"/>
                    </a:lnTo>
                    <a:lnTo>
                      <a:pt x="1251565" y="822984"/>
                    </a:lnTo>
                    <a:lnTo>
                      <a:pt x="1236854" y="866095"/>
                    </a:lnTo>
                    <a:lnTo>
                      <a:pt x="1219212" y="907761"/>
                    </a:lnTo>
                    <a:lnTo>
                      <a:pt x="1198763" y="947858"/>
                    </a:lnTo>
                    <a:lnTo>
                      <a:pt x="1175631" y="986262"/>
                    </a:lnTo>
                    <a:lnTo>
                      <a:pt x="1149940" y="1022851"/>
                    </a:lnTo>
                    <a:lnTo>
                      <a:pt x="1121813" y="1057501"/>
                    </a:lnTo>
                    <a:lnTo>
                      <a:pt x="1091374" y="1090088"/>
                    </a:lnTo>
                    <a:lnTo>
                      <a:pt x="1058747" y="1120489"/>
                    </a:lnTo>
                    <a:lnTo>
                      <a:pt x="1024055" y="1148581"/>
                    </a:lnTo>
                    <a:lnTo>
                      <a:pt x="987422" y="1174240"/>
                    </a:lnTo>
                    <a:lnTo>
                      <a:pt x="948971" y="1197342"/>
                    </a:lnTo>
                    <a:lnTo>
                      <a:pt x="908827" y="1217765"/>
                    </a:lnTo>
                    <a:lnTo>
                      <a:pt x="867112" y="1235384"/>
                    </a:lnTo>
                    <a:lnTo>
                      <a:pt x="823952" y="1250077"/>
                    </a:lnTo>
                    <a:lnTo>
                      <a:pt x="779468" y="1261719"/>
                    </a:lnTo>
                    <a:lnTo>
                      <a:pt x="733785" y="1270188"/>
                    </a:lnTo>
                    <a:lnTo>
                      <a:pt x="687027" y="1275360"/>
                    </a:lnTo>
                    <a:lnTo>
                      <a:pt x="639317" y="1277112"/>
                    </a:lnTo>
                    <a:lnTo>
                      <a:pt x="591608" y="1275360"/>
                    </a:lnTo>
                    <a:lnTo>
                      <a:pt x="544850" y="1270188"/>
                    </a:lnTo>
                    <a:lnTo>
                      <a:pt x="499167" y="1261719"/>
                    </a:lnTo>
                    <a:lnTo>
                      <a:pt x="454683" y="1250077"/>
                    </a:lnTo>
                    <a:lnTo>
                      <a:pt x="411523" y="1235384"/>
                    </a:lnTo>
                    <a:lnTo>
                      <a:pt x="369808" y="1217765"/>
                    </a:lnTo>
                    <a:lnTo>
                      <a:pt x="329664" y="1197342"/>
                    </a:lnTo>
                    <a:lnTo>
                      <a:pt x="291213" y="1174240"/>
                    </a:lnTo>
                    <a:lnTo>
                      <a:pt x="254580" y="1148581"/>
                    </a:lnTo>
                    <a:lnTo>
                      <a:pt x="219888" y="1120489"/>
                    </a:lnTo>
                    <a:lnTo>
                      <a:pt x="187261" y="1090088"/>
                    </a:lnTo>
                    <a:lnTo>
                      <a:pt x="156822" y="1057501"/>
                    </a:lnTo>
                    <a:lnTo>
                      <a:pt x="128695" y="1022851"/>
                    </a:lnTo>
                    <a:lnTo>
                      <a:pt x="103004" y="986262"/>
                    </a:lnTo>
                    <a:lnTo>
                      <a:pt x="79872" y="947858"/>
                    </a:lnTo>
                    <a:lnTo>
                      <a:pt x="59423" y="907761"/>
                    </a:lnTo>
                    <a:lnTo>
                      <a:pt x="41781" y="866095"/>
                    </a:lnTo>
                    <a:lnTo>
                      <a:pt x="27070" y="822984"/>
                    </a:lnTo>
                    <a:lnTo>
                      <a:pt x="15412" y="778551"/>
                    </a:lnTo>
                    <a:lnTo>
                      <a:pt x="6932" y="732920"/>
                    </a:lnTo>
                    <a:lnTo>
                      <a:pt x="1753" y="686213"/>
                    </a:lnTo>
                    <a:lnTo>
                      <a:pt x="0" y="638555"/>
                    </a:lnTo>
                    <a:lnTo>
                      <a:pt x="2217" y="585401"/>
                    </a:lnTo>
                    <a:lnTo>
                      <a:pt x="8812" y="532886"/>
                    </a:lnTo>
                    <a:lnTo>
                      <a:pt x="19696" y="481266"/>
                    </a:lnTo>
                    <a:lnTo>
                      <a:pt x="34782" y="430799"/>
                    </a:lnTo>
                    <a:lnTo>
                      <a:pt x="53981" y="381744"/>
                    </a:lnTo>
                    <a:lnTo>
                      <a:pt x="77206" y="334357"/>
                    </a:lnTo>
                    <a:lnTo>
                      <a:pt x="104368" y="288895"/>
                    </a:lnTo>
                    <a:lnTo>
                      <a:pt x="135382" y="245617"/>
                    </a:lnTo>
                  </a:path>
                </a:pathLst>
              </a:custGeom>
              <a:noFill/>
              <a:ln w="15240">
                <a:solidFill>
                  <a:schemeClr val="bg2">
                    <a:lumMod val="75000"/>
                  </a:schemeClr>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24" name="object 19">
                <a:extLst>
                  <a:ext uri="{FF2B5EF4-FFF2-40B4-BE49-F238E27FC236}">
                    <a16:creationId xmlns:a16="http://schemas.microsoft.com/office/drawing/2014/main" id="{2F85B449-65F5-3565-EDF2-446F62FFFE13}"/>
                  </a:ext>
                </a:extLst>
              </p:cNvPr>
              <p:cNvSpPr/>
              <p:nvPr>
                <p:custDataLst>
                  <p:tags r:id="rId59"/>
                </p:custDataLst>
              </p:nvPr>
            </p:nvSpPr>
            <p:spPr bwMode="auto">
              <a:xfrm>
                <a:off x="1161466" y="1264833"/>
                <a:ext cx="514603" cy="695762"/>
              </a:xfrm>
              <a:custGeom>
                <a:avLst/>
                <a:gdLst/>
                <a:ahLst/>
                <a:cxnLst/>
                <a:rect l="l" t="t" r="r" b="b"/>
                <a:pathLst>
                  <a:path w="772795" h="1082675">
                    <a:moveTo>
                      <a:pt x="0" y="0"/>
                    </a:moveTo>
                    <a:lnTo>
                      <a:pt x="48863" y="1521"/>
                    </a:lnTo>
                    <a:lnTo>
                      <a:pt x="96919" y="6026"/>
                    </a:lnTo>
                    <a:lnTo>
                      <a:pt x="144077" y="13424"/>
                    </a:lnTo>
                    <a:lnTo>
                      <a:pt x="190246" y="23624"/>
                    </a:lnTo>
                    <a:lnTo>
                      <a:pt x="235337" y="36535"/>
                    </a:lnTo>
                    <a:lnTo>
                      <a:pt x="279258" y="52067"/>
                    </a:lnTo>
                    <a:lnTo>
                      <a:pt x="321919" y="70128"/>
                    </a:lnTo>
                    <a:lnTo>
                      <a:pt x="363229" y="90629"/>
                    </a:lnTo>
                    <a:lnTo>
                      <a:pt x="403098" y="113479"/>
                    </a:lnTo>
                    <a:lnTo>
                      <a:pt x="441436" y="138587"/>
                    </a:lnTo>
                    <a:lnTo>
                      <a:pt x="478151" y="165862"/>
                    </a:lnTo>
                    <a:lnTo>
                      <a:pt x="513154" y="195214"/>
                    </a:lnTo>
                    <a:lnTo>
                      <a:pt x="546354" y="226552"/>
                    </a:lnTo>
                    <a:lnTo>
                      <a:pt x="577659" y="259785"/>
                    </a:lnTo>
                    <a:lnTo>
                      <a:pt x="606981" y="294823"/>
                    </a:lnTo>
                    <a:lnTo>
                      <a:pt x="634228" y="331575"/>
                    </a:lnTo>
                    <a:lnTo>
                      <a:pt x="659309" y="369951"/>
                    </a:lnTo>
                    <a:lnTo>
                      <a:pt x="682135" y="409859"/>
                    </a:lnTo>
                    <a:lnTo>
                      <a:pt x="702614" y="451210"/>
                    </a:lnTo>
                    <a:lnTo>
                      <a:pt x="720657" y="493912"/>
                    </a:lnTo>
                    <a:lnTo>
                      <a:pt x="736172" y="537875"/>
                    </a:lnTo>
                    <a:lnTo>
                      <a:pt x="749069" y="583008"/>
                    </a:lnTo>
                    <a:lnTo>
                      <a:pt x="759257" y="629221"/>
                    </a:lnTo>
                    <a:lnTo>
                      <a:pt x="766647" y="676422"/>
                    </a:lnTo>
                    <a:lnTo>
                      <a:pt x="771147" y="724522"/>
                    </a:lnTo>
                    <a:lnTo>
                      <a:pt x="772668" y="773430"/>
                    </a:lnTo>
                    <a:lnTo>
                      <a:pt x="770853" y="826453"/>
                    </a:lnTo>
                    <a:lnTo>
                      <a:pt x="765433" y="879103"/>
                    </a:lnTo>
                    <a:lnTo>
                      <a:pt x="756443" y="931195"/>
                    </a:lnTo>
                    <a:lnTo>
                      <a:pt x="743918" y="982547"/>
                    </a:lnTo>
                    <a:lnTo>
                      <a:pt x="727894" y="1032974"/>
                    </a:lnTo>
                    <a:lnTo>
                      <a:pt x="708406" y="1082294"/>
                    </a:lnTo>
                  </a:path>
                </a:pathLst>
              </a:custGeom>
              <a:noFill/>
              <a:ln w="15240">
                <a:solidFill>
                  <a:schemeClr val="bg2">
                    <a:lumMod val="75000"/>
                  </a:schemeClr>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25" name="object 41">
                <a:extLst>
                  <a:ext uri="{FF2B5EF4-FFF2-40B4-BE49-F238E27FC236}">
                    <a16:creationId xmlns:a16="http://schemas.microsoft.com/office/drawing/2014/main" id="{CE58F9A7-0A6B-57E0-A77D-D29B3B64A10E}"/>
                  </a:ext>
                </a:extLst>
              </p:cNvPr>
              <p:cNvSpPr/>
              <p:nvPr>
                <p:custDataLst>
                  <p:tags r:id="rId60"/>
                </p:custDataLst>
              </p:nvPr>
            </p:nvSpPr>
            <p:spPr bwMode="auto">
              <a:xfrm>
                <a:off x="785946" y="1399207"/>
                <a:ext cx="752587" cy="725623"/>
              </a:xfrm>
              <a:custGeom>
                <a:avLst/>
                <a:gdLst/>
                <a:ahLst/>
                <a:cxnLst/>
                <a:rect l="l" t="t" r="r" b="b"/>
                <a:pathLst>
                  <a:path w="1130935" h="1130935">
                    <a:moveTo>
                      <a:pt x="0" y="565404"/>
                    </a:moveTo>
                    <a:lnTo>
                      <a:pt x="2075" y="516614"/>
                    </a:lnTo>
                    <a:lnTo>
                      <a:pt x="8187" y="468978"/>
                    </a:lnTo>
                    <a:lnTo>
                      <a:pt x="18167" y="422665"/>
                    </a:lnTo>
                    <a:lnTo>
                      <a:pt x="31845" y="377844"/>
                    </a:lnTo>
                    <a:lnTo>
                      <a:pt x="49051" y="334686"/>
                    </a:lnTo>
                    <a:lnTo>
                      <a:pt x="69615" y="293360"/>
                    </a:lnTo>
                    <a:lnTo>
                      <a:pt x="93369" y="254034"/>
                    </a:lnTo>
                    <a:lnTo>
                      <a:pt x="120142" y="216881"/>
                    </a:lnTo>
                    <a:lnTo>
                      <a:pt x="149765" y="182067"/>
                    </a:lnTo>
                    <a:lnTo>
                      <a:pt x="182067" y="149765"/>
                    </a:lnTo>
                    <a:lnTo>
                      <a:pt x="216881" y="120142"/>
                    </a:lnTo>
                    <a:lnTo>
                      <a:pt x="254034" y="93369"/>
                    </a:lnTo>
                    <a:lnTo>
                      <a:pt x="293360" y="69615"/>
                    </a:lnTo>
                    <a:lnTo>
                      <a:pt x="334686" y="49051"/>
                    </a:lnTo>
                    <a:lnTo>
                      <a:pt x="377844" y="31845"/>
                    </a:lnTo>
                    <a:lnTo>
                      <a:pt x="422665" y="18167"/>
                    </a:lnTo>
                    <a:lnTo>
                      <a:pt x="468978" y="8187"/>
                    </a:lnTo>
                    <a:lnTo>
                      <a:pt x="516614" y="2075"/>
                    </a:lnTo>
                    <a:lnTo>
                      <a:pt x="565403" y="0"/>
                    </a:lnTo>
                    <a:lnTo>
                      <a:pt x="614193" y="2075"/>
                    </a:lnTo>
                    <a:lnTo>
                      <a:pt x="661829" y="8187"/>
                    </a:lnTo>
                    <a:lnTo>
                      <a:pt x="708142" y="18167"/>
                    </a:lnTo>
                    <a:lnTo>
                      <a:pt x="752963" y="31845"/>
                    </a:lnTo>
                    <a:lnTo>
                      <a:pt x="796121" y="49051"/>
                    </a:lnTo>
                    <a:lnTo>
                      <a:pt x="837447" y="69615"/>
                    </a:lnTo>
                    <a:lnTo>
                      <a:pt x="876773" y="93369"/>
                    </a:lnTo>
                    <a:lnTo>
                      <a:pt x="913926" y="120142"/>
                    </a:lnTo>
                    <a:lnTo>
                      <a:pt x="948740" y="149765"/>
                    </a:lnTo>
                    <a:lnTo>
                      <a:pt x="981042" y="182067"/>
                    </a:lnTo>
                    <a:lnTo>
                      <a:pt x="1010665" y="216881"/>
                    </a:lnTo>
                    <a:lnTo>
                      <a:pt x="1037438" y="254034"/>
                    </a:lnTo>
                    <a:lnTo>
                      <a:pt x="1061192" y="293360"/>
                    </a:lnTo>
                    <a:lnTo>
                      <a:pt x="1081756" y="334686"/>
                    </a:lnTo>
                    <a:lnTo>
                      <a:pt x="1098962" y="377844"/>
                    </a:lnTo>
                    <a:lnTo>
                      <a:pt x="1112640" y="422665"/>
                    </a:lnTo>
                    <a:lnTo>
                      <a:pt x="1122620" y="468978"/>
                    </a:lnTo>
                    <a:lnTo>
                      <a:pt x="1128732" y="516614"/>
                    </a:lnTo>
                    <a:lnTo>
                      <a:pt x="1130807" y="565404"/>
                    </a:lnTo>
                    <a:lnTo>
                      <a:pt x="1128732" y="614193"/>
                    </a:lnTo>
                    <a:lnTo>
                      <a:pt x="1122620" y="661829"/>
                    </a:lnTo>
                    <a:lnTo>
                      <a:pt x="1112640" y="708142"/>
                    </a:lnTo>
                    <a:lnTo>
                      <a:pt x="1098962" y="752963"/>
                    </a:lnTo>
                    <a:lnTo>
                      <a:pt x="1081756" y="796121"/>
                    </a:lnTo>
                    <a:lnTo>
                      <a:pt x="1061192" y="837447"/>
                    </a:lnTo>
                    <a:lnTo>
                      <a:pt x="1037438" y="876773"/>
                    </a:lnTo>
                    <a:lnTo>
                      <a:pt x="1010665" y="913926"/>
                    </a:lnTo>
                    <a:lnTo>
                      <a:pt x="981042" y="948740"/>
                    </a:lnTo>
                    <a:lnTo>
                      <a:pt x="948740" y="981042"/>
                    </a:lnTo>
                    <a:lnTo>
                      <a:pt x="913926" y="1010665"/>
                    </a:lnTo>
                    <a:lnTo>
                      <a:pt x="876773" y="1037438"/>
                    </a:lnTo>
                    <a:lnTo>
                      <a:pt x="837447" y="1061192"/>
                    </a:lnTo>
                    <a:lnTo>
                      <a:pt x="796121" y="1081756"/>
                    </a:lnTo>
                    <a:lnTo>
                      <a:pt x="752963" y="1098962"/>
                    </a:lnTo>
                    <a:lnTo>
                      <a:pt x="708142" y="1112640"/>
                    </a:lnTo>
                    <a:lnTo>
                      <a:pt x="661829" y="1122620"/>
                    </a:lnTo>
                    <a:lnTo>
                      <a:pt x="614193" y="1128732"/>
                    </a:lnTo>
                    <a:lnTo>
                      <a:pt x="565403" y="1130808"/>
                    </a:lnTo>
                    <a:lnTo>
                      <a:pt x="516614" y="1128732"/>
                    </a:lnTo>
                    <a:lnTo>
                      <a:pt x="468978" y="1122620"/>
                    </a:lnTo>
                    <a:lnTo>
                      <a:pt x="422665" y="1112640"/>
                    </a:lnTo>
                    <a:lnTo>
                      <a:pt x="377844" y="1098962"/>
                    </a:lnTo>
                    <a:lnTo>
                      <a:pt x="334686" y="1081756"/>
                    </a:lnTo>
                    <a:lnTo>
                      <a:pt x="293360" y="1061192"/>
                    </a:lnTo>
                    <a:lnTo>
                      <a:pt x="254034" y="1037438"/>
                    </a:lnTo>
                    <a:lnTo>
                      <a:pt x="216881" y="1010665"/>
                    </a:lnTo>
                    <a:lnTo>
                      <a:pt x="182067" y="981042"/>
                    </a:lnTo>
                    <a:lnTo>
                      <a:pt x="149765" y="948740"/>
                    </a:lnTo>
                    <a:lnTo>
                      <a:pt x="120142" y="913926"/>
                    </a:lnTo>
                    <a:lnTo>
                      <a:pt x="93369" y="876773"/>
                    </a:lnTo>
                    <a:lnTo>
                      <a:pt x="69615" y="837447"/>
                    </a:lnTo>
                    <a:lnTo>
                      <a:pt x="49051" y="796121"/>
                    </a:lnTo>
                    <a:lnTo>
                      <a:pt x="31845" y="752963"/>
                    </a:lnTo>
                    <a:lnTo>
                      <a:pt x="18167" y="708142"/>
                    </a:lnTo>
                    <a:lnTo>
                      <a:pt x="8187" y="661829"/>
                    </a:lnTo>
                    <a:lnTo>
                      <a:pt x="2075" y="614193"/>
                    </a:lnTo>
                    <a:lnTo>
                      <a:pt x="0" y="565404"/>
                    </a:lnTo>
                    <a:close/>
                  </a:path>
                </a:pathLst>
              </a:custGeom>
              <a:noFill/>
              <a:ln w="19812">
                <a:solidFill>
                  <a:schemeClr val="bg2">
                    <a:lumMod val="75000"/>
                  </a:schemeClr>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grpSp>
        <p:pic>
          <p:nvPicPr>
            <p:cNvPr id="69" name="Graphic 68" descr="Venn diagram with solid fill">
              <a:extLst>
                <a:ext uri="{FF2B5EF4-FFF2-40B4-BE49-F238E27FC236}">
                  <a16:creationId xmlns:a16="http://schemas.microsoft.com/office/drawing/2014/main" id="{6C5D5917-9FA7-19D5-134A-6B1A04E99EAB}"/>
                </a:ext>
              </a:extLst>
            </p:cNvPr>
            <p:cNvPicPr>
              <a:picLocks noChangeAspect="1"/>
            </p:cNvPicPr>
            <p:nvPr/>
          </p:nvPicPr>
          <p:blipFill>
            <a:blip>
              <a:extLst>
                <a:ext uri="{96DAC541-7B7A-43D3-8B79-37D633B846F1}">
                  <asvg:svgBlip xmlns:asvg="http://schemas.microsoft.com/office/drawing/2016/SVG/main" r:embed="rId62"/>
                </a:ext>
              </a:extLst>
            </a:blip>
            <a:srcRect/>
            <a:stretch/>
          </p:blipFill>
          <p:spPr>
            <a:xfrm>
              <a:off x="988736" y="1524370"/>
              <a:ext cx="432000" cy="432000"/>
            </a:xfrm>
            <a:prstGeom prst="rect">
              <a:avLst/>
            </a:prstGeom>
          </p:spPr>
        </p:pic>
      </p:grpSp>
      <p:grpSp>
        <p:nvGrpSpPr>
          <p:cNvPr id="168" name="Group 167">
            <a:extLst>
              <a:ext uri="{FF2B5EF4-FFF2-40B4-BE49-F238E27FC236}">
                <a16:creationId xmlns:a16="http://schemas.microsoft.com/office/drawing/2014/main" id="{7745A169-3DF9-52A8-5A1C-DA57A83A9F42}"/>
              </a:ext>
            </a:extLst>
          </p:cNvPr>
          <p:cNvGrpSpPr/>
          <p:nvPr/>
        </p:nvGrpSpPr>
        <p:grpSpPr>
          <a:xfrm>
            <a:off x="8007908" y="1415309"/>
            <a:ext cx="942662" cy="951074"/>
            <a:chOff x="8041087" y="1204118"/>
            <a:chExt cx="942662" cy="951074"/>
          </a:xfrm>
        </p:grpSpPr>
        <p:sp>
          <p:nvSpPr>
            <p:cNvPr id="42" name="object 17">
              <a:extLst>
                <a:ext uri="{FF2B5EF4-FFF2-40B4-BE49-F238E27FC236}">
                  <a16:creationId xmlns:a16="http://schemas.microsoft.com/office/drawing/2014/main" id="{1B42E6E7-D15B-95F9-0DEE-FD1B6C489AE4}"/>
                </a:ext>
              </a:extLst>
            </p:cNvPr>
            <p:cNvSpPr/>
            <p:nvPr>
              <p:custDataLst>
                <p:tags r:id="rId53"/>
              </p:custDataLst>
            </p:nvPr>
          </p:nvSpPr>
          <p:spPr bwMode="auto">
            <a:xfrm>
              <a:off x="8096719" y="1253388"/>
              <a:ext cx="837579" cy="901804"/>
            </a:xfrm>
            <a:custGeom>
              <a:avLst/>
              <a:gdLst/>
              <a:ahLst/>
              <a:cxnLst/>
              <a:rect l="l" t="t" r="r" b="b"/>
              <a:pathLst>
                <a:path w="1259839" h="1405254">
                  <a:moveTo>
                    <a:pt x="556132" y="0"/>
                  </a:moveTo>
                  <a:lnTo>
                    <a:pt x="604293" y="1620"/>
                  </a:lnTo>
                  <a:lnTo>
                    <a:pt x="651582" y="6414"/>
                  </a:lnTo>
                  <a:lnTo>
                    <a:pt x="697894" y="14274"/>
                  </a:lnTo>
                  <a:lnTo>
                    <a:pt x="743124" y="25098"/>
                  </a:lnTo>
                  <a:lnTo>
                    <a:pt x="787169" y="38780"/>
                  </a:lnTo>
                  <a:lnTo>
                    <a:pt x="829923" y="55215"/>
                  </a:lnTo>
                  <a:lnTo>
                    <a:pt x="871281" y="74299"/>
                  </a:lnTo>
                  <a:lnTo>
                    <a:pt x="911140" y="95927"/>
                  </a:lnTo>
                  <a:lnTo>
                    <a:pt x="949394" y="119994"/>
                  </a:lnTo>
                  <a:lnTo>
                    <a:pt x="985938" y="146397"/>
                  </a:lnTo>
                  <a:lnTo>
                    <a:pt x="1020669" y="175029"/>
                  </a:lnTo>
                  <a:lnTo>
                    <a:pt x="1053480" y="205787"/>
                  </a:lnTo>
                  <a:lnTo>
                    <a:pt x="1084269" y="238566"/>
                  </a:lnTo>
                  <a:lnTo>
                    <a:pt x="1112929" y="273261"/>
                  </a:lnTo>
                  <a:lnTo>
                    <a:pt x="1139356" y="309767"/>
                  </a:lnTo>
                  <a:lnTo>
                    <a:pt x="1163447" y="347980"/>
                  </a:lnTo>
                  <a:lnTo>
                    <a:pt x="1185094" y="387794"/>
                  </a:lnTo>
                  <a:lnTo>
                    <a:pt x="1204196" y="429107"/>
                  </a:lnTo>
                  <a:lnTo>
                    <a:pt x="1220645" y="471812"/>
                  </a:lnTo>
                  <a:lnTo>
                    <a:pt x="1234339" y="515805"/>
                  </a:lnTo>
                  <a:lnTo>
                    <a:pt x="1245172" y="560981"/>
                  </a:lnTo>
                  <a:lnTo>
                    <a:pt x="1253039" y="607236"/>
                  </a:lnTo>
                  <a:lnTo>
                    <a:pt x="1257836" y="654465"/>
                  </a:lnTo>
                  <a:lnTo>
                    <a:pt x="1259459" y="702563"/>
                  </a:lnTo>
                  <a:lnTo>
                    <a:pt x="1257836" y="750662"/>
                  </a:lnTo>
                  <a:lnTo>
                    <a:pt x="1253039" y="797891"/>
                  </a:lnTo>
                  <a:lnTo>
                    <a:pt x="1245172" y="844146"/>
                  </a:lnTo>
                  <a:lnTo>
                    <a:pt x="1234339" y="889322"/>
                  </a:lnTo>
                  <a:lnTo>
                    <a:pt x="1220645" y="933315"/>
                  </a:lnTo>
                  <a:lnTo>
                    <a:pt x="1204196" y="976020"/>
                  </a:lnTo>
                  <a:lnTo>
                    <a:pt x="1185094" y="1017333"/>
                  </a:lnTo>
                  <a:lnTo>
                    <a:pt x="1163447" y="1057147"/>
                  </a:lnTo>
                  <a:lnTo>
                    <a:pt x="1139356" y="1095360"/>
                  </a:lnTo>
                  <a:lnTo>
                    <a:pt x="1112929" y="1131866"/>
                  </a:lnTo>
                  <a:lnTo>
                    <a:pt x="1084269" y="1166561"/>
                  </a:lnTo>
                  <a:lnTo>
                    <a:pt x="1053480" y="1199340"/>
                  </a:lnTo>
                  <a:lnTo>
                    <a:pt x="1020669" y="1230098"/>
                  </a:lnTo>
                  <a:lnTo>
                    <a:pt x="985938" y="1258730"/>
                  </a:lnTo>
                  <a:lnTo>
                    <a:pt x="949394" y="1285133"/>
                  </a:lnTo>
                  <a:lnTo>
                    <a:pt x="911140" y="1309200"/>
                  </a:lnTo>
                  <a:lnTo>
                    <a:pt x="871281" y="1330828"/>
                  </a:lnTo>
                  <a:lnTo>
                    <a:pt x="829923" y="1349912"/>
                  </a:lnTo>
                  <a:lnTo>
                    <a:pt x="787169" y="1366347"/>
                  </a:lnTo>
                  <a:lnTo>
                    <a:pt x="743124" y="1380029"/>
                  </a:lnTo>
                  <a:lnTo>
                    <a:pt x="697894" y="1390853"/>
                  </a:lnTo>
                  <a:lnTo>
                    <a:pt x="651582" y="1398713"/>
                  </a:lnTo>
                  <a:lnTo>
                    <a:pt x="604293" y="1403507"/>
                  </a:lnTo>
                  <a:lnTo>
                    <a:pt x="556132" y="1405128"/>
                  </a:lnTo>
                  <a:lnTo>
                    <a:pt x="506172" y="1403355"/>
                  </a:lnTo>
                  <a:lnTo>
                    <a:pt x="456808" y="1398092"/>
                  </a:lnTo>
                  <a:lnTo>
                    <a:pt x="408205" y="1389418"/>
                  </a:lnTo>
                  <a:lnTo>
                    <a:pt x="360525" y="1377414"/>
                  </a:lnTo>
                  <a:lnTo>
                    <a:pt x="313933" y="1362159"/>
                  </a:lnTo>
                  <a:lnTo>
                    <a:pt x="268593" y="1343733"/>
                  </a:lnTo>
                  <a:lnTo>
                    <a:pt x="224667" y="1322217"/>
                  </a:lnTo>
                  <a:lnTo>
                    <a:pt x="182321" y="1297691"/>
                  </a:lnTo>
                  <a:lnTo>
                    <a:pt x="141717" y="1270235"/>
                  </a:lnTo>
                  <a:lnTo>
                    <a:pt x="103019" y="1239929"/>
                  </a:lnTo>
                  <a:lnTo>
                    <a:pt x="66391" y="1206853"/>
                  </a:lnTo>
                  <a:lnTo>
                    <a:pt x="31997" y="1171088"/>
                  </a:lnTo>
                  <a:lnTo>
                    <a:pt x="0" y="1132713"/>
                  </a:lnTo>
                </a:path>
              </a:pathLst>
            </a:custGeom>
            <a:noFill/>
            <a:ln w="15240">
              <a:solidFill>
                <a:srgbClr val="1CADE4"/>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43" name="object 18">
              <a:extLst>
                <a:ext uri="{FF2B5EF4-FFF2-40B4-BE49-F238E27FC236}">
                  <a16:creationId xmlns:a16="http://schemas.microsoft.com/office/drawing/2014/main" id="{C6FA3A03-3A70-8FFB-EB88-40B996072FD2}"/>
                </a:ext>
              </a:extLst>
            </p:cNvPr>
            <p:cNvSpPr/>
            <p:nvPr>
              <p:custDataLst>
                <p:tags r:id="rId54"/>
              </p:custDataLst>
            </p:nvPr>
          </p:nvSpPr>
          <p:spPr bwMode="auto">
            <a:xfrm>
              <a:off x="8041087" y="1293701"/>
              <a:ext cx="849941" cy="821179"/>
            </a:xfrm>
            <a:custGeom>
              <a:avLst/>
              <a:gdLst/>
              <a:ahLst/>
              <a:cxnLst/>
              <a:rect l="l" t="t" r="r" b="b"/>
              <a:pathLst>
                <a:path w="1278889" h="1277620">
                  <a:moveTo>
                    <a:pt x="639317" y="0"/>
                  </a:moveTo>
                  <a:lnTo>
                    <a:pt x="687027" y="1751"/>
                  </a:lnTo>
                  <a:lnTo>
                    <a:pt x="733785" y="6923"/>
                  </a:lnTo>
                  <a:lnTo>
                    <a:pt x="779468" y="15392"/>
                  </a:lnTo>
                  <a:lnTo>
                    <a:pt x="823952" y="27034"/>
                  </a:lnTo>
                  <a:lnTo>
                    <a:pt x="867112" y="41727"/>
                  </a:lnTo>
                  <a:lnTo>
                    <a:pt x="908827" y="59346"/>
                  </a:lnTo>
                  <a:lnTo>
                    <a:pt x="948971" y="79769"/>
                  </a:lnTo>
                  <a:lnTo>
                    <a:pt x="987422" y="102871"/>
                  </a:lnTo>
                  <a:lnTo>
                    <a:pt x="1024055" y="128530"/>
                  </a:lnTo>
                  <a:lnTo>
                    <a:pt x="1058747" y="156622"/>
                  </a:lnTo>
                  <a:lnTo>
                    <a:pt x="1091374" y="187023"/>
                  </a:lnTo>
                  <a:lnTo>
                    <a:pt x="1121813" y="219610"/>
                  </a:lnTo>
                  <a:lnTo>
                    <a:pt x="1149940" y="254260"/>
                  </a:lnTo>
                  <a:lnTo>
                    <a:pt x="1175631" y="290849"/>
                  </a:lnTo>
                  <a:lnTo>
                    <a:pt x="1198763" y="329253"/>
                  </a:lnTo>
                  <a:lnTo>
                    <a:pt x="1219212" y="369350"/>
                  </a:lnTo>
                  <a:lnTo>
                    <a:pt x="1236854" y="411016"/>
                  </a:lnTo>
                  <a:lnTo>
                    <a:pt x="1251565" y="454127"/>
                  </a:lnTo>
                  <a:lnTo>
                    <a:pt x="1263223" y="498560"/>
                  </a:lnTo>
                  <a:lnTo>
                    <a:pt x="1271703" y="544191"/>
                  </a:lnTo>
                  <a:lnTo>
                    <a:pt x="1276882" y="590898"/>
                  </a:lnTo>
                  <a:lnTo>
                    <a:pt x="1278636" y="638555"/>
                  </a:lnTo>
                  <a:lnTo>
                    <a:pt x="1276882" y="686213"/>
                  </a:lnTo>
                  <a:lnTo>
                    <a:pt x="1271703" y="732920"/>
                  </a:lnTo>
                  <a:lnTo>
                    <a:pt x="1263223" y="778551"/>
                  </a:lnTo>
                  <a:lnTo>
                    <a:pt x="1251565" y="822984"/>
                  </a:lnTo>
                  <a:lnTo>
                    <a:pt x="1236854" y="866095"/>
                  </a:lnTo>
                  <a:lnTo>
                    <a:pt x="1219212" y="907761"/>
                  </a:lnTo>
                  <a:lnTo>
                    <a:pt x="1198763" y="947858"/>
                  </a:lnTo>
                  <a:lnTo>
                    <a:pt x="1175631" y="986262"/>
                  </a:lnTo>
                  <a:lnTo>
                    <a:pt x="1149940" y="1022851"/>
                  </a:lnTo>
                  <a:lnTo>
                    <a:pt x="1121813" y="1057501"/>
                  </a:lnTo>
                  <a:lnTo>
                    <a:pt x="1091374" y="1090088"/>
                  </a:lnTo>
                  <a:lnTo>
                    <a:pt x="1058747" y="1120489"/>
                  </a:lnTo>
                  <a:lnTo>
                    <a:pt x="1024055" y="1148581"/>
                  </a:lnTo>
                  <a:lnTo>
                    <a:pt x="987422" y="1174240"/>
                  </a:lnTo>
                  <a:lnTo>
                    <a:pt x="948971" y="1197342"/>
                  </a:lnTo>
                  <a:lnTo>
                    <a:pt x="908827" y="1217765"/>
                  </a:lnTo>
                  <a:lnTo>
                    <a:pt x="867112" y="1235384"/>
                  </a:lnTo>
                  <a:lnTo>
                    <a:pt x="823952" y="1250077"/>
                  </a:lnTo>
                  <a:lnTo>
                    <a:pt x="779468" y="1261719"/>
                  </a:lnTo>
                  <a:lnTo>
                    <a:pt x="733785" y="1270188"/>
                  </a:lnTo>
                  <a:lnTo>
                    <a:pt x="687027" y="1275360"/>
                  </a:lnTo>
                  <a:lnTo>
                    <a:pt x="639317" y="1277112"/>
                  </a:lnTo>
                  <a:lnTo>
                    <a:pt x="591608" y="1275360"/>
                  </a:lnTo>
                  <a:lnTo>
                    <a:pt x="544850" y="1270188"/>
                  </a:lnTo>
                  <a:lnTo>
                    <a:pt x="499167" y="1261719"/>
                  </a:lnTo>
                  <a:lnTo>
                    <a:pt x="454683" y="1250077"/>
                  </a:lnTo>
                  <a:lnTo>
                    <a:pt x="411523" y="1235384"/>
                  </a:lnTo>
                  <a:lnTo>
                    <a:pt x="369808" y="1217765"/>
                  </a:lnTo>
                  <a:lnTo>
                    <a:pt x="329664" y="1197342"/>
                  </a:lnTo>
                  <a:lnTo>
                    <a:pt x="291213" y="1174240"/>
                  </a:lnTo>
                  <a:lnTo>
                    <a:pt x="254580" y="1148581"/>
                  </a:lnTo>
                  <a:lnTo>
                    <a:pt x="219888" y="1120489"/>
                  </a:lnTo>
                  <a:lnTo>
                    <a:pt x="187261" y="1090088"/>
                  </a:lnTo>
                  <a:lnTo>
                    <a:pt x="156822" y="1057501"/>
                  </a:lnTo>
                  <a:lnTo>
                    <a:pt x="128695" y="1022851"/>
                  </a:lnTo>
                  <a:lnTo>
                    <a:pt x="103004" y="986262"/>
                  </a:lnTo>
                  <a:lnTo>
                    <a:pt x="79872" y="947858"/>
                  </a:lnTo>
                  <a:lnTo>
                    <a:pt x="59423" y="907761"/>
                  </a:lnTo>
                  <a:lnTo>
                    <a:pt x="41781" y="866095"/>
                  </a:lnTo>
                  <a:lnTo>
                    <a:pt x="27070" y="822984"/>
                  </a:lnTo>
                  <a:lnTo>
                    <a:pt x="15412" y="778551"/>
                  </a:lnTo>
                  <a:lnTo>
                    <a:pt x="6932" y="732920"/>
                  </a:lnTo>
                  <a:lnTo>
                    <a:pt x="1753" y="686213"/>
                  </a:lnTo>
                  <a:lnTo>
                    <a:pt x="0" y="638555"/>
                  </a:lnTo>
                  <a:lnTo>
                    <a:pt x="2217" y="585401"/>
                  </a:lnTo>
                  <a:lnTo>
                    <a:pt x="8812" y="532886"/>
                  </a:lnTo>
                  <a:lnTo>
                    <a:pt x="19696" y="481266"/>
                  </a:lnTo>
                  <a:lnTo>
                    <a:pt x="34782" y="430799"/>
                  </a:lnTo>
                  <a:lnTo>
                    <a:pt x="53981" y="381744"/>
                  </a:lnTo>
                  <a:lnTo>
                    <a:pt x="77206" y="334357"/>
                  </a:lnTo>
                  <a:lnTo>
                    <a:pt x="104368" y="288895"/>
                  </a:lnTo>
                  <a:lnTo>
                    <a:pt x="135382" y="245617"/>
                  </a:lnTo>
                </a:path>
              </a:pathLst>
            </a:custGeom>
            <a:noFill/>
            <a:ln w="15240">
              <a:solidFill>
                <a:srgbClr val="1CADE4"/>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44" name="object 19">
              <a:extLst>
                <a:ext uri="{FF2B5EF4-FFF2-40B4-BE49-F238E27FC236}">
                  <a16:creationId xmlns:a16="http://schemas.microsoft.com/office/drawing/2014/main" id="{47D1A0FB-25AE-95B5-EF5D-9681CD30F023}"/>
                </a:ext>
              </a:extLst>
            </p:cNvPr>
            <p:cNvSpPr/>
            <p:nvPr>
              <p:custDataLst>
                <p:tags r:id="rId55"/>
              </p:custDataLst>
            </p:nvPr>
          </p:nvSpPr>
          <p:spPr bwMode="auto">
            <a:xfrm>
              <a:off x="8469148" y="1204118"/>
              <a:ext cx="514601" cy="695763"/>
            </a:xfrm>
            <a:custGeom>
              <a:avLst/>
              <a:gdLst/>
              <a:ahLst/>
              <a:cxnLst/>
              <a:rect l="l" t="t" r="r" b="b"/>
              <a:pathLst>
                <a:path w="772795" h="1082675">
                  <a:moveTo>
                    <a:pt x="0" y="0"/>
                  </a:moveTo>
                  <a:lnTo>
                    <a:pt x="48863" y="1521"/>
                  </a:lnTo>
                  <a:lnTo>
                    <a:pt x="96919" y="6026"/>
                  </a:lnTo>
                  <a:lnTo>
                    <a:pt x="144077" y="13424"/>
                  </a:lnTo>
                  <a:lnTo>
                    <a:pt x="190246" y="23624"/>
                  </a:lnTo>
                  <a:lnTo>
                    <a:pt x="235337" y="36535"/>
                  </a:lnTo>
                  <a:lnTo>
                    <a:pt x="279258" y="52067"/>
                  </a:lnTo>
                  <a:lnTo>
                    <a:pt x="321919" y="70128"/>
                  </a:lnTo>
                  <a:lnTo>
                    <a:pt x="363229" y="90629"/>
                  </a:lnTo>
                  <a:lnTo>
                    <a:pt x="403098" y="113479"/>
                  </a:lnTo>
                  <a:lnTo>
                    <a:pt x="441436" y="138587"/>
                  </a:lnTo>
                  <a:lnTo>
                    <a:pt x="478151" y="165862"/>
                  </a:lnTo>
                  <a:lnTo>
                    <a:pt x="513154" y="195214"/>
                  </a:lnTo>
                  <a:lnTo>
                    <a:pt x="546354" y="226552"/>
                  </a:lnTo>
                  <a:lnTo>
                    <a:pt x="577659" y="259785"/>
                  </a:lnTo>
                  <a:lnTo>
                    <a:pt x="606981" y="294823"/>
                  </a:lnTo>
                  <a:lnTo>
                    <a:pt x="634228" y="331575"/>
                  </a:lnTo>
                  <a:lnTo>
                    <a:pt x="659309" y="369951"/>
                  </a:lnTo>
                  <a:lnTo>
                    <a:pt x="682135" y="409859"/>
                  </a:lnTo>
                  <a:lnTo>
                    <a:pt x="702614" y="451210"/>
                  </a:lnTo>
                  <a:lnTo>
                    <a:pt x="720657" y="493912"/>
                  </a:lnTo>
                  <a:lnTo>
                    <a:pt x="736172" y="537875"/>
                  </a:lnTo>
                  <a:lnTo>
                    <a:pt x="749069" y="583008"/>
                  </a:lnTo>
                  <a:lnTo>
                    <a:pt x="759257" y="629221"/>
                  </a:lnTo>
                  <a:lnTo>
                    <a:pt x="766647" y="676422"/>
                  </a:lnTo>
                  <a:lnTo>
                    <a:pt x="771147" y="724522"/>
                  </a:lnTo>
                  <a:lnTo>
                    <a:pt x="772668" y="773430"/>
                  </a:lnTo>
                  <a:lnTo>
                    <a:pt x="770853" y="826453"/>
                  </a:lnTo>
                  <a:lnTo>
                    <a:pt x="765433" y="879103"/>
                  </a:lnTo>
                  <a:lnTo>
                    <a:pt x="756443" y="931195"/>
                  </a:lnTo>
                  <a:lnTo>
                    <a:pt x="743918" y="982547"/>
                  </a:lnTo>
                  <a:lnTo>
                    <a:pt x="727894" y="1032974"/>
                  </a:lnTo>
                  <a:lnTo>
                    <a:pt x="708406" y="1082294"/>
                  </a:lnTo>
                </a:path>
              </a:pathLst>
            </a:custGeom>
            <a:noFill/>
            <a:ln w="15240">
              <a:solidFill>
                <a:srgbClr val="1CADE4"/>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46" name="object 41">
              <a:extLst>
                <a:ext uri="{FF2B5EF4-FFF2-40B4-BE49-F238E27FC236}">
                  <a16:creationId xmlns:a16="http://schemas.microsoft.com/office/drawing/2014/main" id="{067EF53B-59B8-A924-8A98-C4A006D0539A}"/>
                </a:ext>
              </a:extLst>
            </p:cNvPr>
            <p:cNvSpPr/>
            <p:nvPr>
              <p:custDataLst>
                <p:tags r:id="rId56"/>
              </p:custDataLst>
            </p:nvPr>
          </p:nvSpPr>
          <p:spPr bwMode="auto">
            <a:xfrm>
              <a:off x="8093629" y="1338493"/>
              <a:ext cx="752584" cy="725624"/>
            </a:xfrm>
            <a:custGeom>
              <a:avLst/>
              <a:gdLst/>
              <a:ahLst/>
              <a:cxnLst/>
              <a:rect l="l" t="t" r="r" b="b"/>
              <a:pathLst>
                <a:path w="1130935" h="1130935">
                  <a:moveTo>
                    <a:pt x="0" y="565404"/>
                  </a:moveTo>
                  <a:lnTo>
                    <a:pt x="2075" y="516614"/>
                  </a:lnTo>
                  <a:lnTo>
                    <a:pt x="8187" y="468978"/>
                  </a:lnTo>
                  <a:lnTo>
                    <a:pt x="18167" y="422665"/>
                  </a:lnTo>
                  <a:lnTo>
                    <a:pt x="31845" y="377844"/>
                  </a:lnTo>
                  <a:lnTo>
                    <a:pt x="49051" y="334686"/>
                  </a:lnTo>
                  <a:lnTo>
                    <a:pt x="69615" y="293360"/>
                  </a:lnTo>
                  <a:lnTo>
                    <a:pt x="93369" y="254034"/>
                  </a:lnTo>
                  <a:lnTo>
                    <a:pt x="120142" y="216881"/>
                  </a:lnTo>
                  <a:lnTo>
                    <a:pt x="149765" y="182067"/>
                  </a:lnTo>
                  <a:lnTo>
                    <a:pt x="182067" y="149765"/>
                  </a:lnTo>
                  <a:lnTo>
                    <a:pt x="216881" y="120142"/>
                  </a:lnTo>
                  <a:lnTo>
                    <a:pt x="254034" y="93369"/>
                  </a:lnTo>
                  <a:lnTo>
                    <a:pt x="293360" y="69615"/>
                  </a:lnTo>
                  <a:lnTo>
                    <a:pt x="334686" y="49051"/>
                  </a:lnTo>
                  <a:lnTo>
                    <a:pt x="377844" y="31845"/>
                  </a:lnTo>
                  <a:lnTo>
                    <a:pt x="422665" y="18167"/>
                  </a:lnTo>
                  <a:lnTo>
                    <a:pt x="468978" y="8187"/>
                  </a:lnTo>
                  <a:lnTo>
                    <a:pt x="516614" y="2075"/>
                  </a:lnTo>
                  <a:lnTo>
                    <a:pt x="565403" y="0"/>
                  </a:lnTo>
                  <a:lnTo>
                    <a:pt x="614193" y="2075"/>
                  </a:lnTo>
                  <a:lnTo>
                    <a:pt x="661829" y="8187"/>
                  </a:lnTo>
                  <a:lnTo>
                    <a:pt x="708142" y="18167"/>
                  </a:lnTo>
                  <a:lnTo>
                    <a:pt x="752963" y="31845"/>
                  </a:lnTo>
                  <a:lnTo>
                    <a:pt x="796121" y="49051"/>
                  </a:lnTo>
                  <a:lnTo>
                    <a:pt x="837447" y="69615"/>
                  </a:lnTo>
                  <a:lnTo>
                    <a:pt x="876773" y="93369"/>
                  </a:lnTo>
                  <a:lnTo>
                    <a:pt x="913926" y="120142"/>
                  </a:lnTo>
                  <a:lnTo>
                    <a:pt x="948740" y="149765"/>
                  </a:lnTo>
                  <a:lnTo>
                    <a:pt x="981042" y="182067"/>
                  </a:lnTo>
                  <a:lnTo>
                    <a:pt x="1010665" y="216881"/>
                  </a:lnTo>
                  <a:lnTo>
                    <a:pt x="1037438" y="254034"/>
                  </a:lnTo>
                  <a:lnTo>
                    <a:pt x="1061192" y="293360"/>
                  </a:lnTo>
                  <a:lnTo>
                    <a:pt x="1081756" y="334686"/>
                  </a:lnTo>
                  <a:lnTo>
                    <a:pt x="1098962" y="377844"/>
                  </a:lnTo>
                  <a:lnTo>
                    <a:pt x="1112640" y="422665"/>
                  </a:lnTo>
                  <a:lnTo>
                    <a:pt x="1122620" y="468978"/>
                  </a:lnTo>
                  <a:lnTo>
                    <a:pt x="1128732" y="516614"/>
                  </a:lnTo>
                  <a:lnTo>
                    <a:pt x="1130807" y="565404"/>
                  </a:lnTo>
                  <a:lnTo>
                    <a:pt x="1128732" y="614193"/>
                  </a:lnTo>
                  <a:lnTo>
                    <a:pt x="1122620" y="661829"/>
                  </a:lnTo>
                  <a:lnTo>
                    <a:pt x="1112640" y="708142"/>
                  </a:lnTo>
                  <a:lnTo>
                    <a:pt x="1098962" y="752963"/>
                  </a:lnTo>
                  <a:lnTo>
                    <a:pt x="1081756" y="796121"/>
                  </a:lnTo>
                  <a:lnTo>
                    <a:pt x="1061192" y="837447"/>
                  </a:lnTo>
                  <a:lnTo>
                    <a:pt x="1037438" y="876773"/>
                  </a:lnTo>
                  <a:lnTo>
                    <a:pt x="1010665" y="913926"/>
                  </a:lnTo>
                  <a:lnTo>
                    <a:pt x="981042" y="948740"/>
                  </a:lnTo>
                  <a:lnTo>
                    <a:pt x="948740" y="981042"/>
                  </a:lnTo>
                  <a:lnTo>
                    <a:pt x="913926" y="1010665"/>
                  </a:lnTo>
                  <a:lnTo>
                    <a:pt x="876773" y="1037438"/>
                  </a:lnTo>
                  <a:lnTo>
                    <a:pt x="837447" y="1061192"/>
                  </a:lnTo>
                  <a:lnTo>
                    <a:pt x="796121" y="1081756"/>
                  </a:lnTo>
                  <a:lnTo>
                    <a:pt x="752963" y="1098962"/>
                  </a:lnTo>
                  <a:lnTo>
                    <a:pt x="708142" y="1112640"/>
                  </a:lnTo>
                  <a:lnTo>
                    <a:pt x="661829" y="1122620"/>
                  </a:lnTo>
                  <a:lnTo>
                    <a:pt x="614193" y="1128732"/>
                  </a:lnTo>
                  <a:lnTo>
                    <a:pt x="565403" y="1130808"/>
                  </a:lnTo>
                  <a:lnTo>
                    <a:pt x="516614" y="1128732"/>
                  </a:lnTo>
                  <a:lnTo>
                    <a:pt x="468978" y="1122620"/>
                  </a:lnTo>
                  <a:lnTo>
                    <a:pt x="422665" y="1112640"/>
                  </a:lnTo>
                  <a:lnTo>
                    <a:pt x="377844" y="1098962"/>
                  </a:lnTo>
                  <a:lnTo>
                    <a:pt x="334686" y="1081756"/>
                  </a:lnTo>
                  <a:lnTo>
                    <a:pt x="293360" y="1061192"/>
                  </a:lnTo>
                  <a:lnTo>
                    <a:pt x="254034" y="1037438"/>
                  </a:lnTo>
                  <a:lnTo>
                    <a:pt x="216881" y="1010665"/>
                  </a:lnTo>
                  <a:lnTo>
                    <a:pt x="182067" y="981042"/>
                  </a:lnTo>
                  <a:lnTo>
                    <a:pt x="149765" y="948740"/>
                  </a:lnTo>
                  <a:lnTo>
                    <a:pt x="120142" y="913926"/>
                  </a:lnTo>
                  <a:lnTo>
                    <a:pt x="93369" y="876773"/>
                  </a:lnTo>
                  <a:lnTo>
                    <a:pt x="69615" y="837447"/>
                  </a:lnTo>
                  <a:lnTo>
                    <a:pt x="49051" y="796121"/>
                  </a:lnTo>
                  <a:lnTo>
                    <a:pt x="31845" y="752963"/>
                  </a:lnTo>
                  <a:lnTo>
                    <a:pt x="18167" y="708142"/>
                  </a:lnTo>
                  <a:lnTo>
                    <a:pt x="8187" y="661829"/>
                  </a:lnTo>
                  <a:lnTo>
                    <a:pt x="2075" y="614193"/>
                  </a:lnTo>
                  <a:lnTo>
                    <a:pt x="0" y="565404"/>
                  </a:lnTo>
                  <a:close/>
                </a:path>
              </a:pathLst>
            </a:custGeom>
            <a:noFill/>
            <a:ln w="19812">
              <a:solidFill>
                <a:srgbClr val="1CADE4"/>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pic>
          <p:nvPicPr>
            <p:cNvPr id="70" name="Graphic 69" descr="Marketing with solid fill">
              <a:extLst>
                <a:ext uri="{FF2B5EF4-FFF2-40B4-BE49-F238E27FC236}">
                  <a16:creationId xmlns:a16="http://schemas.microsoft.com/office/drawing/2014/main" id="{D50E4C2B-16D8-737E-E596-4F81350F3EE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253921" y="1492616"/>
              <a:ext cx="432000" cy="417379"/>
            </a:xfrm>
            <a:prstGeom prst="rect">
              <a:avLst/>
            </a:prstGeom>
          </p:spPr>
        </p:pic>
      </p:grpSp>
      <p:grpSp>
        <p:nvGrpSpPr>
          <p:cNvPr id="169" name="Group 168">
            <a:extLst>
              <a:ext uri="{FF2B5EF4-FFF2-40B4-BE49-F238E27FC236}">
                <a16:creationId xmlns:a16="http://schemas.microsoft.com/office/drawing/2014/main" id="{A4657FCE-042B-9E42-3FC3-A5E498552051}"/>
              </a:ext>
            </a:extLst>
          </p:cNvPr>
          <p:cNvGrpSpPr/>
          <p:nvPr/>
        </p:nvGrpSpPr>
        <p:grpSpPr>
          <a:xfrm>
            <a:off x="9824209" y="1415309"/>
            <a:ext cx="942663" cy="951074"/>
            <a:chOff x="9852911" y="1193117"/>
            <a:chExt cx="942663" cy="951074"/>
          </a:xfrm>
        </p:grpSpPr>
        <p:sp>
          <p:nvSpPr>
            <p:cNvPr id="49" name="object 17">
              <a:extLst>
                <a:ext uri="{FF2B5EF4-FFF2-40B4-BE49-F238E27FC236}">
                  <a16:creationId xmlns:a16="http://schemas.microsoft.com/office/drawing/2014/main" id="{61EE691F-6C07-82DD-29E4-871187EBCEFF}"/>
                </a:ext>
              </a:extLst>
            </p:cNvPr>
            <p:cNvSpPr/>
            <p:nvPr>
              <p:custDataLst>
                <p:tags r:id="rId49"/>
              </p:custDataLst>
            </p:nvPr>
          </p:nvSpPr>
          <p:spPr bwMode="auto">
            <a:xfrm>
              <a:off x="9908543" y="1242387"/>
              <a:ext cx="837579" cy="901804"/>
            </a:xfrm>
            <a:custGeom>
              <a:avLst/>
              <a:gdLst/>
              <a:ahLst/>
              <a:cxnLst/>
              <a:rect l="l" t="t" r="r" b="b"/>
              <a:pathLst>
                <a:path w="1259839" h="1405254">
                  <a:moveTo>
                    <a:pt x="556132" y="0"/>
                  </a:moveTo>
                  <a:lnTo>
                    <a:pt x="604293" y="1620"/>
                  </a:lnTo>
                  <a:lnTo>
                    <a:pt x="651582" y="6414"/>
                  </a:lnTo>
                  <a:lnTo>
                    <a:pt x="697894" y="14274"/>
                  </a:lnTo>
                  <a:lnTo>
                    <a:pt x="743124" y="25098"/>
                  </a:lnTo>
                  <a:lnTo>
                    <a:pt x="787169" y="38780"/>
                  </a:lnTo>
                  <a:lnTo>
                    <a:pt x="829923" y="55215"/>
                  </a:lnTo>
                  <a:lnTo>
                    <a:pt x="871281" y="74299"/>
                  </a:lnTo>
                  <a:lnTo>
                    <a:pt x="911140" y="95927"/>
                  </a:lnTo>
                  <a:lnTo>
                    <a:pt x="949394" y="119994"/>
                  </a:lnTo>
                  <a:lnTo>
                    <a:pt x="985938" y="146397"/>
                  </a:lnTo>
                  <a:lnTo>
                    <a:pt x="1020669" y="175029"/>
                  </a:lnTo>
                  <a:lnTo>
                    <a:pt x="1053480" y="205787"/>
                  </a:lnTo>
                  <a:lnTo>
                    <a:pt x="1084269" y="238566"/>
                  </a:lnTo>
                  <a:lnTo>
                    <a:pt x="1112929" y="273261"/>
                  </a:lnTo>
                  <a:lnTo>
                    <a:pt x="1139356" y="309767"/>
                  </a:lnTo>
                  <a:lnTo>
                    <a:pt x="1163447" y="347980"/>
                  </a:lnTo>
                  <a:lnTo>
                    <a:pt x="1185094" y="387794"/>
                  </a:lnTo>
                  <a:lnTo>
                    <a:pt x="1204196" y="429107"/>
                  </a:lnTo>
                  <a:lnTo>
                    <a:pt x="1220645" y="471812"/>
                  </a:lnTo>
                  <a:lnTo>
                    <a:pt x="1234339" y="515805"/>
                  </a:lnTo>
                  <a:lnTo>
                    <a:pt x="1245172" y="560981"/>
                  </a:lnTo>
                  <a:lnTo>
                    <a:pt x="1253039" y="607236"/>
                  </a:lnTo>
                  <a:lnTo>
                    <a:pt x="1257836" y="654465"/>
                  </a:lnTo>
                  <a:lnTo>
                    <a:pt x="1259459" y="702563"/>
                  </a:lnTo>
                  <a:lnTo>
                    <a:pt x="1257836" y="750662"/>
                  </a:lnTo>
                  <a:lnTo>
                    <a:pt x="1253039" y="797891"/>
                  </a:lnTo>
                  <a:lnTo>
                    <a:pt x="1245172" y="844146"/>
                  </a:lnTo>
                  <a:lnTo>
                    <a:pt x="1234339" y="889322"/>
                  </a:lnTo>
                  <a:lnTo>
                    <a:pt x="1220645" y="933315"/>
                  </a:lnTo>
                  <a:lnTo>
                    <a:pt x="1204196" y="976020"/>
                  </a:lnTo>
                  <a:lnTo>
                    <a:pt x="1185094" y="1017333"/>
                  </a:lnTo>
                  <a:lnTo>
                    <a:pt x="1163447" y="1057147"/>
                  </a:lnTo>
                  <a:lnTo>
                    <a:pt x="1139356" y="1095360"/>
                  </a:lnTo>
                  <a:lnTo>
                    <a:pt x="1112929" y="1131866"/>
                  </a:lnTo>
                  <a:lnTo>
                    <a:pt x="1084269" y="1166561"/>
                  </a:lnTo>
                  <a:lnTo>
                    <a:pt x="1053480" y="1199340"/>
                  </a:lnTo>
                  <a:lnTo>
                    <a:pt x="1020669" y="1230098"/>
                  </a:lnTo>
                  <a:lnTo>
                    <a:pt x="985938" y="1258730"/>
                  </a:lnTo>
                  <a:lnTo>
                    <a:pt x="949394" y="1285133"/>
                  </a:lnTo>
                  <a:lnTo>
                    <a:pt x="911140" y="1309200"/>
                  </a:lnTo>
                  <a:lnTo>
                    <a:pt x="871281" y="1330828"/>
                  </a:lnTo>
                  <a:lnTo>
                    <a:pt x="829923" y="1349912"/>
                  </a:lnTo>
                  <a:lnTo>
                    <a:pt x="787169" y="1366347"/>
                  </a:lnTo>
                  <a:lnTo>
                    <a:pt x="743124" y="1380029"/>
                  </a:lnTo>
                  <a:lnTo>
                    <a:pt x="697894" y="1390853"/>
                  </a:lnTo>
                  <a:lnTo>
                    <a:pt x="651582" y="1398713"/>
                  </a:lnTo>
                  <a:lnTo>
                    <a:pt x="604293" y="1403507"/>
                  </a:lnTo>
                  <a:lnTo>
                    <a:pt x="556132" y="1405128"/>
                  </a:lnTo>
                  <a:lnTo>
                    <a:pt x="506172" y="1403355"/>
                  </a:lnTo>
                  <a:lnTo>
                    <a:pt x="456808" y="1398092"/>
                  </a:lnTo>
                  <a:lnTo>
                    <a:pt x="408205" y="1389418"/>
                  </a:lnTo>
                  <a:lnTo>
                    <a:pt x="360525" y="1377414"/>
                  </a:lnTo>
                  <a:lnTo>
                    <a:pt x="313933" y="1362159"/>
                  </a:lnTo>
                  <a:lnTo>
                    <a:pt x="268593" y="1343733"/>
                  </a:lnTo>
                  <a:lnTo>
                    <a:pt x="224667" y="1322217"/>
                  </a:lnTo>
                  <a:lnTo>
                    <a:pt x="182321" y="1297691"/>
                  </a:lnTo>
                  <a:lnTo>
                    <a:pt x="141717" y="1270235"/>
                  </a:lnTo>
                  <a:lnTo>
                    <a:pt x="103019" y="1239929"/>
                  </a:lnTo>
                  <a:lnTo>
                    <a:pt x="66391" y="1206853"/>
                  </a:lnTo>
                  <a:lnTo>
                    <a:pt x="31997" y="1171088"/>
                  </a:lnTo>
                  <a:lnTo>
                    <a:pt x="0" y="1132713"/>
                  </a:lnTo>
                </a:path>
              </a:pathLst>
            </a:custGeom>
            <a:noFill/>
            <a:ln w="15240">
              <a:solidFill>
                <a:srgbClr val="1CADE4"/>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50" name="object 18">
              <a:extLst>
                <a:ext uri="{FF2B5EF4-FFF2-40B4-BE49-F238E27FC236}">
                  <a16:creationId xmlns:a16="http://schemas.microsoft.com/office/drawing/2014/main" id="{7494FE45-7432-45F7-8E9E-A8A713669E31}"/>
                </a:ext>
              </a:extLst>
            </p:cNvPr>
            <p:cNvSpPr/>
            <p:nvPr>
              <p:custDataLst>
                <p:tags r:id="rId50"/>
              </p:custDataLst>
            </p:nvPr>
          </p:nvSpPr>
          <p:spPr bwMode="auto">
            <a:xfrm>
              <a:off x="9852911" y="1282700"/>
              <a:ext cx="849942" cy="821179"/>
            </a:xfrm>
            <a:custGeom>
              <a:avLst/>
              <a:gdLst/>
              <a:ahLst/>
              <a:cxnLst/>
              <a:rect l="l" t="t" r="r" b="b"/>
              <a:pathLst>
                <a:path w="1278889" h="1277620">
                  <a:moveTo>
                    <a:pt x="639317" y="0"/>
                  </a:moveTo>
                  <a:lnTo>
                    <a:pt x="687027" y="1751"/>
                  </a:lnTo>
                  <a:lnTo>
                    <a:pt x="733785" y="6923"/>
                  </a:lnTo>
                  <a:lnTo>
                    <a:pt x="779468" y="15392"/>
                  </a:lnTo>
                  <a:lnTo>
                    <a:pt x="823952" y="27034"/>
                  </a:lnTo>
                  <a:lnTo>
                    <a:pt x="867112" y="41727"/>
                  </a:lnTo>
                  <a:lnTo>
                    <a:pt x="908827" y="59346"/>
                  </a:lnTo>
                  <a:lnTo>
                    <a:pt x="948971" y="79769"/>
                  </a:lnTo>
                  <a:lnTo>
                    <a:pt x="987422" y="102871"/>
                  </a:lnTo>
                  <a:lnTo>
                    <a:pt x="1024055" y="128530"/>
                  </a:lnTo>
                  <a:lnTo>
                    <a:pt x="1058747" y="156622"/>
                  </a:lnTo>
                  <a:lnTo>
                    <a:pt x="1091374" y="187023"/>
                  </a:lnTo>
                  <a:lnTo>
                    <a:pt x="1121813" y="219610"/>
                  </a:lnTo>
                  <a:lnTo>
                    <a:pt x="1149940" y="254260"/>
                  </a:lnTo>
                  <a:lnTo>
                    <a:pt x="1175631" y="290849"/>
                  </a:lnTo>
                  <a:lnTo>
                    <a:pt x="1198763" y="329253"/>
                  </a:lnTo>
                  <a:lnTo>
                    <a:pt x="1219212" y="369350"/>
                  </a:lnTo>
                  <a:lnTo>
                    <a:pt x="1236854" y="411016"/>
                  </a:lnTo>
                  <a:lnTo>
                    <a:pt x="1251565" y="454127"/>
                  </a:lnTo>
                  <a:lnTo>
                    <a:pt x="1263223" y="498560"/>
                  </a:lnTo>
                  <a:lnTo>
                    <a:pt x="1271703" y="544191"/>
                  </a:lnTo>
                  <a:lnTo>
                    <a:pt x="1276882" y="590898"/>
                  </a:lnTo>
                  <a:lnTo>
                    <a:pt x="1278636" y="638555"/>
                  </a:lnTo>
                  <a:lnTo>
                    <a:pt x="1276882" y="686213"/>
                  </a:lnTo>
                  <a:lnTo>
                    <a:pt x="1271703" y="732920"/>
                  </a:lnTo>
                  <a:lnTo>
                    <a:pt x="1263223" y="778551"/>
                  </a:lnTo>
                  <a:lnTo>
                    <a:pt x="1251565" y="822984"/>
                  </a:lnTo>
                  <a:lnTo>
                    <a:pt x="1236854" y="866095"/>
                  </a:lnTo>
                  <a:lnTo>
                    <a:pt x="1219212" y="907761"/>
                  </a:lnTo>
                  <a:lnTo>
                    <a:pt x="1198763" y="947858"/>
                  </a:lnTo>
                  <a:lnTo>
                    <a:pt x="1175631" y="986262"/>
                  </a:lnTo>
                  <a:lnTo>
                    <a:pt x="1149940" y="1022851"/>
                  </a:lnTo>
                  <a:lnTo>
                    <a:pt x="1121813" y="1057501"/>
                  </a:lnTo>
                  <a:lnTo>
                    <a:pt x="1091374" y="1090088"/>
                  </a:lnTo>
                  <a:lnTo>
                    <a:pt x="1058747" y="1120489"/>
                  </a:lnTo>
                  <a:lnTo>
                    <a:pt x="1024055" y="1148581"/>
                  </a:lnTo>
                  <a:lnTo>
                    <a:pt x="987422" y="1174240"/>
                  </a:lnTo>
                  <a:lnTo>
                    <a:pt x="948971" y="1197342"/>
                  </a:lnTo>
                  <a:lnTo>
                    <a:pt x="908827" y="1217765"/>
                  </a:lnTo>
                  <a:lnTo>
                    <a:pt x="867112" y="1235384"/>
                  </a:lnTo>
                  <a:lnTo>
                    <a:pt x="823952" y="1250077"/>
                  </a:lnTo>
                  <a:lnTo>
                    <a:pt x="779468" y="1261719"/>
                  </a:lnTo>
                  <a:lnTo>
                    <a:pt x="733785" y="1270188"/>
                  </a:lnTo>
                  <a:lnTo>
                    <a:pt x="687027" y="1275360"/>
                  </a:lnTo>
                  <a:lnTo>
                    <a:pt x="639317" y="1277112"/>
                  </a:lnTo>
                  <a:lnTo>
                    <a:pt x="591608" y="1275360"/>
                  </a:lnTo>
                  <a:lnTo>
                    <a:pt x="544850" y="1270188"/>
                  </a:lnTo>
                  <a:lnTo>
                    <a:pt x="499167" y="1261719"/>
                  </a:lnTo>
                  <a:lnTo>
                    <a:pt x="454683" y="1250077"/>
                  </a:lnTo>
                  <a:lnTo>
                    <a:pt x="411523" y="1235384"/>
                  </a:lnTo>
                  <a:lnTo>
                    <a:pt x="369808" y="1217765"/>
                  </a:lnTo>
                  <a:lnTo>
                    <a:pt x="329664" y="1197342"/>
                  </a:lnTo>
                  <a:lnTo>
                    <a:pt x="291213" y="1174240"/>
                  </a:lnTo>
                  <a:lnTo>
                    <a:pt x="254580" y="1148581"/>
                  </a:lnTo>
                  <a:lnTo>
                    <a:pt x="219888" y="1120489"/>
                  </a:lnTo>
                  <a:lnTo>
                    <a:pt x="187261" y="1090088"/>
                  </a:lnTo>
                  <a:lnTo>
                    <a:pt x="156822" y="1057501"/>
                  </a:lnTo>
                  <a:lnTo>
                    <a:pt x="128695" y="1022851"/>
                  </a:lnTo>
                  <a:lnTo>
                    <a:pt x="103004" y="986262"/>
                  </a:lnTo>
                  <a:lnTo>
                    <a:pt x="79872" y="947858"/>
                  </a:lnTo>
                  <a:lnTo>
                    <a:pt x="59423" y="907761"/>
                  </a:lnTo>
                  <a:lnTo>
                    <a:pt x="41781" y="866095"/>
                  </a:lnTo>
                  <a:lnTo>
                    <a:pt x="27070" y="822984"/>
                  </a:lnTo>
                  <a:lnTo>
                    <a:pt x="15412" y="778551"/>
                  </a:lnTo>
                  <a:lnTo>
                    <a:pt x="6932" y="732920"/>
                  </a:lnTo>
                  <a:lnTo>
                    <a:pt x="1753" y="686213"/>
                  </a:lnTo>
                  <a:lnTo>
                    <a:pt x="0" y="638555"/>
                  </a:lnTo>
                  <a:lnTo>
                    <a:pt x="2217" y="585401"/>
                  </a:lnTo>
                  <a:lnTo>
                    <a:pt x="8812" y="532886"/>
                  </a:lnTo>
                  <a:lnTo>
                    <a:pt x="19696" y="481266"/>
                  </a:lnTo>
                  <a:lnTo>
                    <a:pt x="34782" y="430799"/>
                  </a:lnTo>
                  <a:lnTo>
                    <a:pt x="53981" y="381744"/>
                  </a:lnTo>
                  <a:lnTo>
                    <a:pt x="77206" y="334357"/>
                  </a:lnTo>
                  <a:lnTo>
                    <a:pt x="104368" y="288895"/>
                  </a:lnTo>
                  <a:lnTo>
                    <a:pt x="135382" y="245617"/>
                  </a:lnTo>
                </a:path>
              </a:pathLst>
            </a:custGeom>
            <a:noFill/>
            <a:ln w="15240">
              <a:solidFill>
                <a:srgbClr val="1CADE4"/>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51" name="object 19">
              <a:extLst>
                <a:ext uri="{FF2B5EF4-FFF2-40B4-BE49-F238E27FC236}">
                  <a16:creationId xmlns:a16="http://schemas.microsoft.com/office/drawing/2014/main" id="{97803DB6-4225-5A4A-17AC-D6C9D07289EB}"/>
                </a:ext>
              </a:extLst>
            </p:cNvPr>
            <p:cNvSpPr/>
            <p:nvPr>
              <p:custDataLst>
                <p:tags r:id="rId51"/>
              </p:custDataLst>
            </p:nvPr>
          </p:nvSpPr>
          <p:spPr bwMode="auto">
            <a:xfrm>
              <a:off x="10280972" y="1193117"/>
              <a:ext cx="514602" cy="695763"/>
            </a:xfrm>
            <a:custGeom>
              <a:avLst/>
              <a:gdLst/>
              <a:ahLst/>
              <a:cxnLst/>
              <a:rect l="l" t="t" r="r" b="b"/>
              <a:pathLst>
                <a:path w="772795" h="1082675">
                  <a:moveTo>
                    <a:pt x="0" y="0"/>
                  </a:moveTo>
                  <a:lnTo>
                    <a:pt x="48863" y="1521"/>
                  </a:lnTo>
                  <a:lnTo>
                    <a:pt x="96919" y="6026"/>
                  </a:lnTo>
                  <a:lnTo>
                    <a:pt x="144077" y="13424"/>
                  </a:lnTo>
                  <a:lnTo>
                    <a:pt x="190246" y="23624"/>
                  </a:lnTo>
                  <a:lnTo>
                    <a:pt x="235337" y="36535"/>
                  </a:lnTo>
                  <a:lnTo>
                    <a:pt x="279258" y="52067"/>
                  </a:lnTo>
                  <a:lnTo>
                    <a:pt x="321919" y="70128"/>
                  </a:lnTo>
                  <a:lnTo>
                    <a:pt x="363229" y="90629"/>
                  </a:lnTo>
                  <a:lnTo>
                    <a:pt x="403098" y="113479"/>
                  </a:lnTo>
                  <a:lnTo>
                    <a:pt x="441436" y="138587"/>
                  </a:lnTo>
                  <a:lnTo>
                    <a:pt x="478151" y="165862"/>
                  </a:lnTo>
                  <a:lnTo>
                    <a:pt x="513154" y="195214"/>
                  </a:lnTo>
                  <a:lnTo>
                    <a:pt x="546354" y="226552"/>
                  </a:lnTo>
                  <a:lnTo>
                    <a:pt x="577659" y="259785"/>
                  </a:lnTo>
                  <a:lnTo>
                    <a:pt x="606981" y="294823"/>
                  </a:lnTo>
                  <a:lnTo>
                    <a:pt x="634228" y="331575"/>
                  </a:lnTo>
                  <a:lnTo>
                    <a:pt x="659309" y="369951"/>
                  </a:lnTo>
                  <a:lnTo>
                    <a:pt x="682135" y="409859"/>
                  </a:lnTo>
                  <a:lnTo>
                    <a:pt x="702614" y="451210"/>
                  </a:lnTo>
                  <a:lnTo>
                    <a:pt x="720657" y="493912"/>
                  </a:lnTo>
                  <a:lnTo>
                    <a:pt x="736172" y="537875"/>
                  </a:lnTo>
                  <a:lnTo>
                    <a:pt x="749069" y="583008"/>
                  </a:lnTo>
                  <a:lnTo>
                    <a:pt x="759257" y="629221"/>
                  </a:lnTo>
                  <a:lnTo>
                    <a:pt x="766647" y="676422"/>
                  </a:lnTo>
                  <a:lnTo>
                    <a:pt x="771147" y="724522"/>
                  </a:lnTo>
                  <a:lnTo>
                    <a:pt x="772668" y="773430"/>
                  </a:lnTo>
                  <a:lnTo>
                    <a:pt x="770853" y="826453"/>
                  </a:lnTo>
                  <a:lnTo>
                    <a:pt x="765433" y="879103"/>
                  </a:lnTo>
                  <a:lnTo>
                    <a:pt x="756443" y="931195"/>
                  </a:lnTo>
                  <a:lnTo>
                    <a:pt x="743918" y="982547"/>
                  </a:lnTo>
                  <a:lnTo>
                    <a:pt x="727894" y="1032974"/>
                  </a:lnTo>
                  <a:lnTo>
                    <a:pt x="708406" y="1082294"/>
                  </a:lnTo>
                </a:path>
              </a:pathLst>
            </a:custGeom>
            <a:noFill/>
            <a:ln w="15240">
              <a:solidFill>
                <a:srgbClr val="1CADE4"/>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53" name="object 41">
              <a:extLst>
                <a:ext uri="{FF2B5EF4-FFF2-40B4-BE49-F238E27FC236}">
                  <a16:creationId xmlns:a16="http://schemas.microsoft.com/office/drawing/2014/main" id="{D62BDDF4-109C-F822-DEFE-D2FE67F02998}"/>
                </a:ext>
              </a:extLst>
            </p:cNvPr>
            <p:cNvSpPr/>
            <p:nvPr>
              <p:custDataLst>
                <p:tags r:id="rId52"/>
              </p:custDataLst>
            </p:nvPr>
          </p:nvSpPr>
          <p:spPr bwMode="auto">
            <a:xfrm>
              <a:off x="9905453" y="1327492"/>
              <a:ext cx="752584" cy="725624"/>
            </a:xfrm>
            <a:custGeom>
              <a:avLst/>
              <a:gdLst/>
              <a:ahLst/>
              <a:cxnLst/>
              <a:rect l="l" t="t" r="r" b="b"/>
              <a:pathLst>
                <a:path w="1130935" h="1130935">
                  <a:moveTo>
                    <a:pt x="0" y="565404"/>
                  </a:moveTo>
                  <a:lnTo>
                    <a:pt x="2075" y="516614"/>
                  </a:lnTo>
                  <a:lnTo>
                    <a:pt x="8187" y="468978"/>
                  </a:lnTo>
                  <a:lnTo>
                    <a:pt x="18167" y="422665"/>
                  </a:lnTo>
                  <a:lnTo>
                    <a:pt x="31845" y="377844"/>
                  </a:lnTo>
                  <a:lnTo>
                    <a:pt x="49051" y="334686"/>
                  </a:lnTo>
                  <a:lnTo>
                    <a:pt x="69615" y="293360"/>
                  </a:lnTo>
                  <a:lnTo>
                    <a:pt x="93369" y="254034"/>
                  </a:lnTo>
                  <a:lnTo>
                    <a:pt x="120142" y="216881"/>
                  </a:lnTo>
                  <a:lnTo>
                    <a:pt x="149765" y="182067"/>
                  </a:lnTo>
                  <a:lnTo>
                    <a:pt x="182067" y="149765"/>
                  </a:lnTo>
                  <a:lnTo>
                    <a:pt x="216881" y="120142"/>
                  </a:lnTo>
                  <a:lnTo>
                    <a:pt x="254034" y="93369"/>
                  </a:lnTo>
                  <a:lnTo>
                    <a:pt x="293360" y="69615"/>
                  </a:lnTo>
                  <a:lnTo>
                    <a:pt x="334686" y="49051"/>
                  </a:lnTo>
                  <a:lnTo>
                    <a:pt x="377844" y="31845"/>
                  </a:lnTo>
                  <a:lnTo>
                    <a:pt x="422665" y="18167"/>
                  </a:lnTo>
                  <a:lnTo>
                    <a:pt x="468978" y="8187"/>
                  </a:lnTo>
                  <a:lnTo>
                    <a:pt x="516614" y="2075"/>
                  </a:lnTo>
                  <a:lnTo>
                    <a:pt x="565403" y="0"/>
                  </a:lnTo>
                  <a:lnTo>
                    <a:pt x="614193" y="2075"/>
                  </a:lnTo>
                  <a:lnTo>
                    <a:pt x="661829" y="8187"/>
                  </a:lnTo>
                  <a:lnTo>
                    <a:pt x="708142" y="18167"/>
                  </a:lnTo>
                  <a:lnTo>
                    <a:pt x="752963" y="31845"/>
                  </a:lnTo>
                  <a:lnTo>
                    <a:pt x="796121" y="49051"/>
                  </a:lnTo>
                  <a:lnTo>
                    <a:pt x="837447" y="69615"/>
                  </a:lnTo>
                  <a:lnTo>
                    <a:pt x="876773" y="93369"/>
                  </a:lnTo>
                  <a:lnTo>
                    <a:pt x="913926" y="120142"/>
                  </a:lnTo>
                  <a:lnTo>
                    <a:pt x="948740" y="149765"/>
                  </a:lnTo>
                  <a:lnTo>
                    <a:pt x="981042" y="182067"/>
                  </a:lnTo>
                  <a:lnTo>
                    <a:pt x="1010665" y="216881"/>
                  </a:lnTo>
                  <a:lnTo>
                    <a:pt x="1037438" y="254034"/>
                  </a:lnTo>
                  <a:lnTo>
                    <a:pt x="1061192" y="293360"/>
                  </a:lnTo>
                  <a:lnTo>
                    <a:pt x="1081756" y="334686"/>
                  </a:lnTo>
                  <a:lnTo>
                    <a:pt x="1098962" y="377844"/>
                  </a:lnTo>
                  <a:lnTo>
                    <a:pt x="1112640" y="422665"/>
                  </a:lnTo>
                  <a:lnTo>
                    <a:pt x="1122620" y="468978"/>
                  </a:lnTo>
                  <a:lnTo>
                    <a:pt x="1128732" y="516614"/>
                  </a:lnTo>
                  <a:lnTo>
                    <a:pt x="1130807" y="565404"/>
                  </a:lnTo>
                  <a:lnTo>
                    <a:pt x="1128732" y="614193"/>
                  </a:lnTo>
                  <a:lnTo>
                    <a:pt x="1122620" y="661829"/>
                  </a:lnTo>
                  <a:lnTo>
                    <a:pt x="1112640" y="708142"/>
                  </a:lnTo>
                  <a:lnTo>
                    <a:pt x="1098962" y="752963"/>
                  </a:lnTo>
                  <a:lnTo>
                    <a:pt x="1081756" y="796121"/>
                  </a:lnTo>
                  <a:lnTo>
                    <a:pt x="1061192" y="837447"/>
                  </a:lnTo>
                  <a:lnTo>
                    <a:pt x="1037438" y="876773"/>
                  </a:lnTo>
                  <a:lnTo>
                    <a:pt x="1010665" y="913926"/>
                  </a:lnTo>
                  <a:lnTo>
                    <a:pt x="981042" y="948740"/>
                  </a:lnTo>
                  <a:lnTo>
                    <a:pt x="948740" y="981042"/>
                  </a:lnTo>
                  <a:lnTo>
                    <a:pt x="913926" y="1010665"/>
                  </a:lnTo>
                  <a:lnTo>
                    <a:pt x="876773" y="1037438"/>
                  </a:lnTo>
                  <a:lnTo>
                    <a:pt x="837447" y="1061192"/>
                  </a:lnTo>
                  <a:lnTo>
                    <a:pt x="796121" y="1081756"/>
                  </a:lnTo>
                  <a:lnTo>
                    <a:pt x="752963" y="1098962"/>
                  </a:lnTo>
                  <a:lnTo>
                    <a:pt x="708142" y="1112640"/>
                  </a:lnTo>
                  <a:lnTo>
                    <a:pt x="661829" y="1122620"/>
                  </a:lnTo>
                  <a:lnTo>
                    <a:pt x="614193" y="1128732"/>
                  </a:lnTo>
                  <a:lnTo>
                    <a:pt x="565403" y="1130808"/>
                  </a:lnTo>
                  <a:lnTo>
                    <a:pt x="516614" y="1128732"/>
                  </a:lnTo>
                  <a:lnTo>
                    <a:pt x="468978" y="1122620"/>
                  </a:lnTo>
                  <a:lnTo>
                    <a:pt x="422665" y="1112640"/>
                  </a:lnTo>
                  <a:lnTo>
                    <a:pt x="377844" y="1098962"/>
                  </a:lnTo>
                  <a:lnTo>
                    <a:pt x="334686" y="1081756"/>
                  </a:lnTo>
                  <a:lnTo>
                    <a:pt x="293360" y="1061192"/>
                  </a:lnTo>
                  <a:lnTo>
                    <a:pt x="254034" y="1037438"/>
                  </a:lnTo>
                  <a:lnTo>
                    <a:pt x="216881" y="1010665"/>
                  </a:lnTo>
                  <a:lnTo>
                    <a:pt x="182067" y="981042"/>
                  </a:lnTo>
                  <a:lnTo>
                    <a:pt x="149765" y="948740"/>
                  </a:lnTo>
                  <a:lnTo>
                    <a:pt x="120142" y="913926"/>
                  </a:lnTo>
                  <a:lnTo>
                    <a:pt x="93369" y="876773"/>
                  </a:lnTo>
                  <a:lnTo>
                    <a:pt x="69615" y="837447"/>
                  </a:lnTo>
                  <a:lnTo>
                    <a:pt x="49051" y="796121"/>
                  </a:lnTo>
                  <a:lnTo>
                    <a:pt x="31845" y="752963"/>
                  </a:lnTo>
                  <a:lnTo>
                    <a:pt x="18167" y="708142"/>
                  </a:lnTo>
                  <a:lnTo>
                    <a:pt x="8187" y="661829"/>
                  </a:lnTo>
                  <a:lnTo>
                    <a:pt x="2075" y="614193"/>
                  </a:lnTo>
                  <a:lnTo>
                    <a:pt x="0" y="565404"/>
                  </a:lnTo>
                  <a:close/>
                </a:path>
              </a:pathLst>
            </a:custGeom>
            <a:noFill/>
            <a:ln w="19812">
              <a:solidFill>
                <a:srgbClr val="1CADE4"/>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pic>
          <p:nvPicPr>
            <p:cNvPr id="71" name="Graphic 70" descr="Continuous Improvement with solid fill">
              <a:extLst>
                <a:ext uri="{FF2B5EF4-FFF2-40B4-BE49-F238E27FC236}">
                  <a16:creationId xmlns:a16="http://schemas.microsoft.com/office/drawing/2014/main" id="{5D24B593-F11A-86C5-41E3-AB62CC93C0B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10071480" y="1487155"/>
              <a:ext cx="420531" cy="406298"/>
            </a:xfrm>
            <a:prstGeom prst="rect">
              <a:avLst/>
            </a:prstGeom>
          </p:spPr>
        </p:pic>
      </p:grpSp>
      <p:grpSp>
        <p:nvGrpSpPr>
          <p:cNvPr id="166" name="Group 165">
            <a:extLst>
              <a:ext uri="{FF2B5EF4-FFF2-40B4-BE49-F238E27FC236}">
                <a16:creationId xmlns:a16="http://schemas.microsoft.com/office/drawing/2014/main" id="{CAFAD223-BBEF-2445-C691-71C7E7FD2002}"/>
              </a:ext>
            </a:extLst>
          </p:cNvPr>
          <p:cNvGrpSpPr/>
          <p:nvPr/>
        </p:nvGrpSpPr>
        <p:grpSpPr>
          <a:xfrm>
            <a:off x="4375304" y="1415308"/>
            <a:ext cx="942664" cy="951075"/>
            <a:chOff x="4305350" y="1182661"/>
            <a:chExt cx="942664" cy="951075"/>
          </a:xfrm>
        </p:grpSpPr>
        <p:sp>
          <p:nvSpPr>
            <p:cNvPr id="36" name="object 17">
              <a:extLst>
                <a:ext uri="{FF2B5EF4-FFF2-40B4-BE49-F238E27FC236}">
                  <a16:creationId xmlns:a16="http://schemas.microsoft.com/office/drawing/2014/main" id="{562319A6-E846-6D82-E919-DB0C18DAD447}"/>
                </a:ext>
              </a:extLst>
            </p:cNvPr>
            <p:cNvSpPr/>
            <p:nvPr>
              <p:custDataLst>
                <p:tags r:id="rId45"/>
              </p:custDataLst>
            </p:nvPr>
          </p:nvSpPr>
          <p:spPr bwMode="auto">
            <a:xfrm>
              <a:off x="4360983" y="1231932"/>
              <a:ext cx="837580" cy="901804"/>
            </a:xfrm>
            <a:custGeom>
              <a:avLst/>
              <a:gdLst/>
              <a:ahLst/>
              <a:cxnLst/>
              <a:rect l="l" t="t" r="r" b="b"/>
              <a:pathLst>
                <a:path w="1259839" h="1405254">
                  <a:moveTo>
                    <a:pt x="556132" y="0"/>
                  </a:moveTo>
                  <a:lnTo>
                    <a:pt x="604293" y="1620"/>
                  </a:lnTo>
                  <a:lnTo>
                    <a:pt x="651582" y="6414"/>
                  </a:lnTo>
                  <a:lnTo>
                    <a:pt x="697894" y="14274"/>
                  </a:lnTo>
                  <a:lnTo>
                    <a:pt x="743124" y="25098"/>
                  </a:lnTo>
                  <a:lnTo>
                    <a:pt x="787169" y="38780"/>
                  </a:lnTo>
                  <a:lnTo>
                    <a:pt x="829923" y="55215"/>
                  </a:lnTo>
                  <a:lnTo>
                    <a:pt x="871281" y="74299"/>
                  </a:lnTo>
                  <a:lnTo>
                    <a:pt x="911140" y="95927"/>
                  </a:lnTo>
                  <a:lnTo>
                    <a:pt x="949394" y="119994"/>
                  </a:lnTo>
                  <a:lnTo>
                    <a:pt x="985938" y="146397"/>
                  </a:lnTo>
                  <a:lnTo>
                    <a:pt x="1020669" y="175029"/>
                  </a:lnTo>
                  <a:lnTo>
                    <a:pt x="1053480" y="205787"/>
                  </a:lnTo>
                  <a:lnTo>
                    <a:pt x="1084269" y="238566"/>
                  </a:lnTo>
                  <a:lnTo>
                    <a:pt x="1112929" y="273261"/>
                  </a:lnTo>
                  <a:lnTo>
                    <a:pt x="1139356" y="309767"/>
                  </a:lnTo>
                  <a:lnTo>
                    <a:pt x="1163447" y="347980"/>
                  </a:lnTo>
                  <a:lnTo>
                    <a:pt x="1185094" y="387794"/>
                  </a:lnTo>
                  <a:lnTo>
                    <a:pt x="1204196" y="429107"/>
                  </a:lnTo>
                  <a:lnTo>
                    <a:pt x="1220645" y="471812"/>
                  </a:lnTo>
                  <a:lnTo>
                    <a:pt x="1234339" y="515805"/>
                  </a:lnTo>
                  <a:lnTo>
                    <a:pt x="1245172" y="560981"/>
                  </a:lnTo>
                  <a:lnTo>
                    <a:pt x="1253039" y="607236"/>
                  </a:lnTo>
                  <a:lnTo>
                    <a:pt x="1257836" y="654465"/>
                  </a:lnTo>
                  <a:lnTo>
                    <a:pt x="1259459" y="702563"/>
                  </a:lnTo>
                  <a:lnTo>
                    <a:pt x="1257836" y="750662"/>
                  </a:lnTo>
                  <a:lnTo>
                    <a:pt x="1253039" y="797891"/>
                  </a:lnTo>
                  <a:lnTo>
                    <a:pt x="1245172" y="844146"/>
                  </a:lnTo>
                  <a:lnTo>
                    <a:pt x="1234339" y="889322"/>
                  </a:lnTo>
                  <a:lnTo>
                    <a:pt x="1220645" y="933315"/>
                  </a:lnTo>
                  <a:lnTo>
                    <a:pt x="1204196" y="976020"/>
                  </a:lnTo>
                  <a:lnTo>
                    <a:pt x="1185094" y="1017333"/>
                  </a:lnTo>
                  <a:lnTo>
                    <a:pt x="1163447" y="1057147"/>
                  </a:lnTo>
                  <a:lnTo>
                    <a:pt x="1139356" y="1095360"/>
                  </a:lnTo>
                  <a:lnTo>
                    <a:pt x="1112929" y="1131866"/>
                  </a:lnTo>
                  <a:lnTo>
                    <a:pt x="1084269" y="1166561"/>
                  </a:lnTo>
                  <a:lnTo>
                    <a:pt x="1053480" y="1199340"/>
                  </a:lnTo>
                  <a:lnTo>
                    <a:pt x="1020669" y="1230098"/>
                  </a:lnTo>
                  <a:lnTo>
                    <a:pt x="985938" y="1258730"/>
                  </a:lnTo>
                  <a:lnTo>
                    <a:pt x="949394" y="1285133"/>
                  </a:lnTo>
                  <a:lnTo>
                    <a:pt x="911140" y="1309200"/>
                  </a:lnTo>
                  <a:lnTo>
                    <a:pt x="871281" y="1330828"/>
                  </a:lnTo>
                  <a:lnTo>
                    <a:pt x="829923" y="1349912"/>
                  </a:lnTo>
                  <a:lnTo>
                    <a:pt x="787169" y="1366347"/>
                  </a:lnTo>
                  <a:lnTo>
                    <a:pt x="743124" y="1380029"/>
                  </a:lnTo>
                  <a:lnTo>
                    <a:pt x="697894" y="1390853"/>
                  </a:lnTo>
                  <a:lnTo>
                    <a:pt x="651582" y="1398713"/>
                  </a:lnTo>
                  <a:lnTo>
                    <a:pt x="604293" y="1403507"/>
                  </a:lnTo>
                  <a:lnTo>
                    <a:pt x="556132" y="1405128"/>
                  </a:lnTo>
                  <a:lnTo>
                    <a:pt x="506172" y="1403355"/>
                  </a:lnTo>
                  <a:lnTo>
                    <a:pt x="456808" y="1398092"/>
                  </a:lnTo>
                  <a:lnTo>
                    <a:pt x="408205" y="1389418"/>
                  </a:lnTo>
                  <a:lnTo>
                    <a:pt x="360525" y="1377414"/>
                  </a:lnTo>
                  <a:lnTo>
                    <a:pt x="313933" y="1362159"/>
                  </a:lnTo>
                  <a:lnTo>
                    <a:pt x="268593" y="1343733"/>
                  </a:lnTo>
                  <a:lnTo>
                    <a:pt x="224667" y="1322217"/>
                  </a:lnTo>
                  <a:lnTo>
                    <a:pt x="182321" y="1297691"/>
                  </a:lnTo>
                  <a:lnTo>
                    <a:pt x="141717" y="1270235"/>
                  </a:lnTo>
                  <a:lnTo>
                    <a:pt x="103019" y="1239929"/>
                  </a:lnTo>
                  <a:lnTo>
                    <a:pt x="66391" y="1206853"/>
                  </a:lnTo>
                  <a:lnTo>
                    <a:pt x="31997" y="1171088"/>
                  </a:lnTo>
                  <a:lnTo>
                    <a:pt x="0" y="1132713"/>
                  </a:lnTo>
                </a:path>
              </a:pathLst>
            </a:custGeom>
            <a:noFill/>
            <a:ln w="15240">
              <a:solidFill>
                <a:schemeClr val="tx2">
                  <a:lumMod val="60000"/>
                  <a:lumOff val="40000"/>
                </a:schemeClr>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37" name="object 18">
              <a:extLst>
                <a:ext uri="{FF2B5EF4-FFF2-40B4-BE49-F238E27FC236}">
                  <a16:creationId xmlns:a16="http://schemas.microsoft.com/office/drawing/2014/main" id="{AA254DEC-D602-C78F-ADB4-533C9912D313}"/>
                </a:ext>
              </a:extLst>
            </p:cNvPr>
            <p:cNvSpPr/>
            <p:nvPr>
              <p:custDataLst>
                <p:tags r:id="rId46"/>
              </p:custDataLst>
            </p:nvPr>
          </p:nvSpPr>
          <p:spPr bwMode="auto">
            <a:xfrm>
              <a:off x="4305350" y="1272244"/>
              <a:ext cx="849943" cy="821179"/>
            </a:xfrm>
            <a:custGeom>
              <a:avLst/>
              <a:gdLst/>
              <a:ahLst/>
              <a:cxnLst/>
              <a:rect l="l" t="t" r="r" b="b"/>
              <a:pathLst>
                <a:path w="1278889" h="1277620">
                  <a:moveTo>
                    <a:pt x="639317" y="0"/>
                  </a:moveTo>
                  <a:lnTo>
                    <a:pt x="687027" y="1751"/>
                  </a:lnTo>
                  <a:lnTo>
                    <a:pt x="733785" y="6923"/>
                  </a:lnTo>
                  <a:lnTo>
                    <a:pt x="779468" y="15392"/>
                  </a:lnTo>
                  <a:lnTo>
                    <a:pt x="823952" y="27034"/>
                  </a:lnTo>
                  <a:lnTo>
                    <a:pt x="867112" y="41727"/>
                  </a:lnTo>
                  <a:lnTo>
                    <a:pt x="908827" y="59346"/>
                  </a:lnTo>
                  <a:lnTo>
                    <a:pt x="948971" y="79769"/>
                  </a:lnTo>
                  <a:lnTo>
                    <a:pt x="987422" y="102871"/>
                  </a:lnTo>
                  <a:lnTo>
                    <a:pt x="1024055" y="128530"/>
                  </a:lnTo>
                  <a:lnTo>
                    <a:pt x="1058747" y="156622"/>
                  </a:lnTo>
                  <a:lnTo>
                    <a:pt x="1091374" y="187023"/>
                  </a:lnTo>
                  <a:lnTo>
                    <a:pt x="1121813" y="219610"/>
                  </a:lnTo>
                  <a:lnTo>
                    <a:pt x="1149940" y="254260"/>
                  </a:lnTo>
                  <a:lnTo>
                    <a:pt x="1175631" y="290849"/>
                  </a:lnTo>
                  <a:lnTo>
                    <a:pt x="1198763" y="329253"/>
                  </a:lnTo>
                  <a:lnTo>
                    <a:pt x="1219212" y="369350"/>
                  </a:lnTo>
                  <a:lnTo>
                    <a:pt x="1236854" y="411016"/>
                  </a:lnTo>
                  <a:lnTo>
                    <a:pt x="1251565" y="454127"/>
                  </a:lnTo>
                  <a:lnTo>
                    <a:pt x="1263223" y="498560"/>
                  </a:lnTo>
                  <a:lnTo>
                    <a:pt x="1271703" y="544191"/>
                  </a:lnTo>
                  <a:lnTo>
                    <a:pt x="1276882" y="590898"/>
                  </a:lnTo>
                  <a:lnTo>
                    <a:pt x="1278636" y="638555"/>
                  </a:lnTo>
                  <a:lnTo>
                    <a:pt x="1276882" y="686213"/>
                  </a:lnTo>
                  <a:lnTo>
                    <a:pt x="1271703" y="732920"/>
                  </a:lnTo>
                  <a:lnTo>
                    <a:pt x="1263223" y="778551"/>
                  </a:lnTo>
                  <a:lnTo>
                    <a:pt x="1251565" y="822984"/>
                  </a:lnTo>
                  <a:lnTo>
                    <a:pt x="1236854" y="866095"/>
                  </a:lnTo>
                  <a:lnTo>
                    <a:pt x="1219212" y="907761"/>
                  </a:lnTo>
                  <a:lnTo>
                    <a:pt x="1198763" y="947858"/>
                  </a:lnTo>
                  <a:lnTo>
                    <a:pt x="1175631" y="986262"/>
                  </a:lnTo>
                  <a:lnTo>
                    <a:pt x="1149940" y="1022851"/>
                  </a:lnTo>
                  <a:lnTo>
                    <a:pt x="1121813" y="1057501"/>
                  </a:lnTo>
                  <a:lnTo>
                    <a:pt x="1091374" y="1090088"/>
                  </a:lnTo>
                  <a:lnTo>
                    <a:pt x="1058747" y="1120489"/>
                  </a:lnTo>
                  <a:lnTo>
                    <a:pt x="1024055" y="1148581"/>
                  </a:lnTo>
                  <a:lnTo>
                    <a:pt x="987422" y="1174240"/>
                  </a:lnTo>
                  <a:lnTo>
                    <a:pt x="948971" y="1197342"/>
                  </a:lnTo>
                  <a:lnTo>
                    <a:pt x="908827" y="1217765"/>
                  </a:lnTo>
                  <a:lnTo>
                    <a:pt x="867112" y="1235384"/>
                  </a:lnTo>
                  <a:lnTo>
                    <a:pt x="823952" y="1250077"/>
                  </a:lnTo>
                  <a:lnTo>
                    <a:pt x="779468" y="1261719"/>
                  </a:lnTo>
                  <a:lnTo>
                    <a:pt x="733785" y="1270188"/>
                  </a:lnTo>
                  <a:lnTo>
                    <a:pt x="687027" y="1275360"/>
                  </a:lnTo>
                  <a:lnTo>
                    <a:pt x="639317" y="1277112"/>
                  </a:lnTo>
                  <a:lnTo>
                    <a:pt x="591608" y="1275360"/>
                  </a:lnTo>
                  <a:lnTo>
                    <a:pt x="544850" y="1270188"/>
                  </a:lnTo>
                  <a:lnTo>
                    <a:pt x="499167" y="1261719"/>
                  </a:lnTo>
                  <a:lnTo>
                    <a:pt x="454683" y="1250077"/>
                  </a:lnTo>
                  <a:lnTo>
                    <a:pt x="411523" y="1235384"/>
                  </a:lnTo>
                  <a:lnTo>
                    <a:pt x="369808" y="1217765"/>
                  </a:lnTo>
                  <a:lnTo>
                    <a:pt x="329664" y="1197342"/>
                  </a:lnTo>
                  <a:lnTo>
                    <a:pt x="291213" y="1174240"/>
                  </a:lnTo>
                  <a:lnTo>
                    <a:pt x="254580" y="1148581"/>
                  </a:lnTo>
                  <a:lnTo>
                    <a:pt x="219888" y="1120489"/>
                  </a:lnTo>
                  <a:lnTo>
                    <a:pt x="187261" y="1090088"/>
                  </a:lnTo>
                  <a:lnTo>
                    <a:pt x="156822" y="1057501"/>
                  </a:lnTo>
                  <a:lnTo>
                    <a:pt x="128695" y="1022851"/>
                  </a:lnTo>
                  <a:lnTo>
                    <a:pt x="103004" y="986262"/>
                  </a:lnTo>
                  <a:lnTo>
                    <a:pt x="79872" y="947858"/>
                  </a:lnTo>
                  <a:lnTo>
                    <a:pt x="59423" y="907761"/>
                  </a:lnTo>
                  <a:lnTo>
                    <a:pt x="41781" y="866095"/>
                  </a:lnTo>
                  <a:lnTo>
                    <a:pt x="27070" y="822984"/>
                  </a:lnTo>
                  <a:lnTo>
                    <a:pt x="15412" y="778551"/>
                  </a:lnTo>
                  <a:lnTo>
                    <a:pt x="6932" y="732920"/>
                  </a:lnTo>
                  <a:lnTo>
                    <a:pt x="1753" y="686213"/>
                  </a:lnTo>
                  <a:lnTo>
                    <a:pt x="0" y="638555"/>
                  </a:lnTo>
                  <a:lnTo>
                    <a:pt x="2217" y="585401"/>
                  </a:lnTo>
                  <a:lnTo>
                    <a:pt x="8812" y="532886"/>
                  </a:lnTo>
                  <a:lnTo>
                    <a:pt x="19696" y="481266"/>
                  </a:lnTo>
                  <a:lnTo>
                    <a:pt x="34782" y="430799"/>
                  </a:lnTo>
                  <a:lnTo>
                    <a:pt x="53981" y="381744"/>
                  </a:lnTo>
                  <a:lnTo>
                    <a:pt x="77206" y="334357"/>
                  </a:lnTo>
                  <a:lnTo>
                    <a:pt x="104368" y="288895"/>
                  </a:lnTo>
                  <a:lnTo>
                    <a:pt x="135382" y="245617"/>
                  </a:lnTo>
                </a:path>
              </a:pathLst>
            </a:custGeom>
            <a:noFill/>
            <a:ln w="15240">
              <a:solidFill>
                <a:schemeClr val="tx2">
                  <a:lumMod val="60000"/>
                  <a:lumOff val="40000"/>
                </a:schemeClr>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38" name="object 19">
              <a:extLst>
                <a:ext uri="{FF2B5EF4-FFF2-40B4-BE49-F238E27FC236}">
                  <a16:creationId xmlns:a16="http://schemas.microsoft.com/office/drawing/2014/main" id="{6BDA3096-E4B1-3876-0128-A44D178BCA4E}"/>
                </a:ext>
              </a:extLst>
            </p:cNvPr>
            <p:cNvSpPr/>
            <p:nvPr>
              <p:custDataLst>
                <p:tags r:id="rId47"/>
              </p:custDataLst>
            </p:nvPr>
          </p:nvSpPr>
          <p:spPr bwMode="auto">
            <a:xfrm>
              <a:off x="4733412" y="1182661"/>
              <a:ext cx="514602" cy="695763"/>
            </a:xfrm>
            <a:custGeom>
              <a:avLst/>
              <a:gdLst/>
              <a:ahLst/>
              <a:cxnLst/>
              <a:rect l="l" t="t" r="r" b="b"/>
              <a:pathLst>
                <a:path w="772795" h="1082675">
                  <a:moveTo>
                    <a:pt x="0" y="0"/>
                  </a:moveTo>
                  <a:lnTo>
                    <a:pt x="48863" y="1521"/>
                  </a:lnTo>
                  <a:lnTo>
                    <a:pt x="96919" y="6026"/>
                  </a:lnTo>
                  <a:lnTo>
                    <a:pt x="144077" y="13424"/>
                  </a:lnTo>
                  <a:lnTo>
                    <a:pt x="190246" y="23624"/>
                  </a:lnTo>
                  <a:lnTo>
                    <a:pt x="235337" y="36535"/>
                  </a:lnTo>
                  <a:lnTo>
                    <a:pt x="279258" y="52067"/>
                  </a:lnTo>
                  <a:lnTo>
                    <a:pt x="321919" y="70128"/>
                  </a:lnTo>
                  <a:lnTo>
                    <a:pt x="363229" y="90629"/>
                  </a:lnTo>
                  <a:lnTo>
                    <a:pt x="403098" y="113479"/>
                  </a:lnTo>
                  <a:lnTo>
                    <a:pt x="441436" y="138587"/>
                  </a:lnTo>
                  <a:lnTo>
                    <a:pt x="478151" y="165862"/>
                  </a:lnTo>
                  <a:lnTo>
                    <a:pt x="513154" y="195214"/>
                  </a:lnTo>
                  <a:lnTo>
                    <a:pt x="546354" y="226552"/>
                  </a:lnTo>
                  <a:lnTo>
                    <a:pt x="577659" y="259785"/>
                  </a:lnTo>
                  <a:lnTo>
                    <a:pt x="606981" y="294823"/>
                  </a:lnTo>
                  <a:lnTo>
                    <a:pt x="634228" y="331575"/>
                  </a:lnTo>
                  <a:lnTo>
                    <a:pt x="659309" y="369951"/>
                  </a:lnTo>
                  <a:lnTo>
                    <a:pt x="682135" y="409859"/>
                  </a:lnTo>
                  <a:lnTo>
                    <a:pt x="702614" y="451210"/>
                  </a:lnTo>
                  <a:lnTo>
                    <a:pt x="720657" y="493912"/>
                  </a:lnTo>
                  <a:lnTo>
                    <a:pt x="736172" y="537875"/>
                  </a:lnTo>
                  <a:lnTo>
                    <a:pt x="749069" y="583008"/>
                  </a:lnTo>
                  <a:lnTo>
                    <a:pt x="759257" y="629221"/>
                  </a:lnTo>
                  <a:lnTo>
                    <a:pt x="766647" y="676422"/>
                  </a:lnTo>
                  <a:lnTo>
                    <a:pt x="771147" y="724522"/>
                  </a:lnTo>
                  <a:lnTo>
                    <a:pt x="772668" y="773430"/>
                  </a:lnTo>
                  <a:lnTo>
                    <a:pt x="770853" y="826453"/>
                  </a:lnTo>
                  <a:lnTo>
                    <a:pt x="765433" y="879103"/>
                  </a:lnTo>
                  <a:lnTo>
                    <a:pt x="756443" y="931195"/>
                  </a:lnTo>
                  <a:lnTo>
                    <a:pt x="743918" y="982547"/>
                  </a:lnTo>
                  <a:lnTo>
                    <a:pt x="727894" y="1032974"/>
                  </a:lnTo>
                  <a:lnTo>
                    <a:pt x="708406" y="1082294"/>
                  </a:lnTo>
                </a:path>
              </a:pathLst>
            </a:custGeom>
            <a:noFill/>
            <a:ln w="15240">
              <a:solidFill>
                <a:schemeClr val="tx2">
                  <a:lumMod val="60000"/>
                  <a:lumOff val="40000"/>
                </a:schemeClr>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40" name="object 41">
              <a:extLst>
                <a:ext uri="{FF2B5EF4-FFF2-40B4-BE49-F238E27FC236}">
                  <a16:creationId xmlns:a16="http://schemas.microsoft.com/office/drawing/2014/main" id="{DBED6C35-DD5D-BF18-21A7-6DB58E4E724A}"/>
                </a:ext>
              </a:extLst>
            </p:cNvPr>
            <p:cNvSpPr/>
            <p:nvPr>
              <p:custDataLst>
                <p:tags r:id="rId48"/>
              </p:custDataLst>
            </p:nvPr>
          </p:nvSpPr>
          <p:spPr bwMode="auto">
            <a:xfrm>
              <a:off x="4357892" y="1317036"/>
              <a:ext cx="752585" cy="725624"/>
            </a:xfrm>
            <a:custGeom>
              <a:avLst/>
              <a:gdLst/>
              <a:ahLst/>
              <a:cxnLst/>
              <a:rect l="l" t="t" r="r" b="b"/>
              <a:pathLst>
                <a:path w="1130935" h="1130935">
                  <a:moveTo>
                    <a:pt x="0" y="565404"/>
                  </a:moveTo>
                  <a:lnTo>
                    <a:pt x="2075" y="516614"/>
                  </a:lnTo>
                  <a:lnTo>
                    <a:pt x="8187" y="468978"/>
                  </a:lnTo>
                  <a:lnTo>
                    <a:pt x="18167" y="422665"/>
                  </a:lnTo>
                  <a:lnTo>
                    <a:pt x="31845" y="377844"/>
                  </a:lnTo>
                  <a:lnTo>
                    <a:pt x="49051" y="334686"/>
                  </a:lnTo>
                  <a:lnTo>
                    <a:pt x="69615" y="293360"/>
                  </a:lnTo>
                  <a:lnTo>
                    <a:pt x="93369" y="254034"/>
                  </a:lnTo>
                  <a:lnTo>
                    <a:pt x="120142" y="216881"/>
                  </a:lnTo>
                  <a:lnTo>
                    <a:pt x="149765" y="182067"/>
                  </a:lnTo>
                  <a:lnTo>
                    <a:pt x="182067" y="149765"/>
                  </a:lnTo>
                  <a:lnTo>
                    <a:pt x="216881" y="120142"/>
                  </a:lnTo>
                  <a:lnTo>
                    <a:pt x="254034" y="93369"/>
                  </a:lnTo>
                  <a:lnTo>
                    <a:pt x="293360" y="69615"/>
                  </a:lnTo>
                  <a:lnTo>
                    <a:pt x="334686" y="49051"/>
                  </a:lnTo>
                  <a:lnTo>
                    <a:pt x="377844" y="31845"/>
                  </a:lnTo>
                  <a:lnTo>
                    <a:pt x="422665" y="18167"/>
                  </a:lnTo>
                  <a:lnTo>
                    <a:pt x="468978" y="8187"/>
                  </a:lnTo>
                  <a:lnTo>
                    <a:pt x="516614" y="2075"/>
                  </a:lnTo>
                  <a:lnTo>
                    <a:pt x="565403" y="0"/>
                  </a:lnTo>
                  <a:lnTo>
                    <a:pt x="614193" y="2075"/>
                  </a:lnTo>
                  <a:lnTo>
                    <a:pt x="661829" y="8187"/>
                  </a:lnTo>
                  <a:lnTo>
                    <a:pt x="708142" y="18167"/>
                  </a:lnTo>
                  <a:lnTo>
                    <a:pt x="752963" y="31845"/>
                  </a:lnTo>
                  <a:lnTo>
                    <a:pt x="796121" y="49051"/>
                  </a:lnTo>
                  <a:lnTo>
                    <a:pt x="837447" y="69615"/>
                  </a:lnTo>
                  <a:lnTo>
                    <a:pt x="876773" y="93369"/>
                  </a:lnTo>
                  <a:lnTo>
                    <a:pt x="913926" y="120142"/>
                  </a:lnTo>
                  <a:lnTo>
                    <a:pt x="948740" y="149765"/>
                  </a:lnTo>
                  <a:lnTo>
                    <a:pt x="981042" y="182067"/>
                  </a:lnTo>
                  <a:lnTo>
                    <a:pt x="1010665" y="216881"/>
                  </a:lnTo>
                  <a:lnTo>
                    <a:pt x="1037438" y="254034"/>
                  </a:lnTo>
                  <a:lnTo>
                    <a:pt x="1061192" y="293360"/>
                  </a:lnTo>
                  <a:lnTo>
                    <a:pt x="1081756" y="334686"/>
                  </a:lnTo>
                  <a:lnTo>
                    <a:pt x="1098962" y="377844"/>
                  </a:lnTo>
                  <a:lnTo>
                    <a:pt x="1112640" y="422665"/>
                  </a:lnTo>
                  <a:lnTo>
                    <a:pt x="1122620" y="468978"/>
                  </a:lnTo>
                  <a:lnTo>
                    <a:pt x="1128732" y="516614"/>
                  </a:lnTo>
                  <a:lnTo>
                    <a:pt x="1130807" y="565404"/>
                  </a:lnTo>
                  <a:lnTo>
                    <a:pt x="1128732" y="614193"/>
                  </a:lnTo>
                  <a:lnTo>
                    <a:pt x="1122620" y="661829"/>
                  </a:lnTo>
                  <a:lnTo>
                    <a:pt x="1112640" y="708142"/>
                  </a:lnTo>
                  <a:lnTo>
                    <a:pt x="1098962" y="752963"/>
                  </a:lnTo>
                  <a:lnTo>
                    <a:pt x="1081756" y="796121"/>
                  </a:lnTo>
                  <a:lnTo>
                    <a:pt x="1061192" y="837447"/>
                  </a:lnTo>
                  <a:lnTo>
                    <a:pt x="1037438" y="876773"/>
                  </a:lnTo>
                  <a:lnTo>
                    <a:pt x="1010665" y="913926"/>
                  </a:lnTo>
                  <a:lnTo>
                    <a:pt x="981042" y="948740"/>
                  </a:lnTo>
                  <a:lnTo>
                    <a:pt x="948740" y="981042"/>
                  </a:lnTo>
                  <a:lnTo>
                    <a:pt x="913926" y="1010665"/>
                  </a:lnTo>
                  <a:lnTo>
                    <a:pt x="876773" y="1037438"/>
                  </a:lnTo>
                  <a:lnTo>
                    <a:pt x="837447" y="1061192"/>
                  </a:lnTo>
                  <a:lnTo>
                    <a:pt x="796121" y="1081756"/>
                  </a:lnTo>
                  <a:lnTo>
                    <a:pt x="752963" y="1098962"/>
                  </a:lnTo>
                  <a:lnTo>
                    <a:pt x="708142" y="1112640"/>
                  </a:lnTo>
                  <a:lnTo>
                    <a:pt x="661829" y="1122620"/>
                  </a:lnTo>
                  <a:lnTo>
                    <a:pt x="614193" y="1128732"/>
                  </a:lnTo>
                  <a:lnTo>
                    <a:pt x="565403" y="1130808"/>
                  </a:lnTo>
                  <a:lnTo>
                    <a:pt x="516614" y="1128732"/>
                  </a:lnTo>
                  <a:lnTo>
                    <a:pt x="468978" y="1122620"/>
                  </a:lnTo>
                  <a:lnTo>
                    <a:pt x="422665" y="1112640"/>
                  </a:lnTo>
                  <a:lnTo>
                    <a:pt x="377844" y="1098962"/>
                  </a:lnTo>
                  <a:lnTo>
                    <a:pt x="334686" y="1081756"/>
                  </a:lnTo>
                  <a:lnTo>
                    <a:pt x="293360" y="1061192"/>
                  </a:lnTo>
                  <a:lnTo>
                    <a:pt x="254034" y="1037438"/>
                  </a:lnTo>
                  <a:lnTo>
                    <a:pt x="216881" y="1010665"/>
                  </a:lnTo>
                  <a:lnTo>
                    <a:pt x="182067" y="981042"/>
                  </a:lnTo>
                  <a:lnTo>
                    <a:pt x="149765" y="948740"/>
                  </a:lnTo>
                  <a:lnTo>
                    <a:pt x="120142" y="913926"/>
                  </a:lnTo>
                  <a:lnTo>
                    <a:pt x="93369" y="876773"/>
                  </a:lnTo>
                  <a:lnTo>
                    <a:pt x="69615" y="837447"/>
                  </a:lnTo>
                  <a:lnTo>
                    <a:pt x="49051" y="796121"/>
                  </a:lnTo>
                  <a:lnTo>
                    <a:pt x="31845" y="752963"/>
                  </a:lnTo>
                  <a:lnTo>
                    <a:pt x="18167" y="708142"/>
                  </a:lnTo>
                  <a:lnTo>
                    <a:pt x="8187" y="661829"/>
                  </a:lnTo>
                  <a:lnTo>
                    <a:pt x="2075" y="614193"/>
                  </a:lnTo>
                  <a:lnTo>
                    <a:pt x="0" y="565404"/>
                  </a:lnTo>
                  <a:close/>
                </a:path>
              </a:pathLst>
            </a:custGeom>
            <a:noFill/>
            <a:ln w="19812">
              <a:solidFill>
                <a:schemeClr val="tx2">
                  <a:lumMod val="60000"/>
                  <a:lumOff val="40000"/>
                </a:schemeClr>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pic>
          <p:nvPicPr>
            <p:cNvPr id="72" name="Graphic 71" descr="Continuous Improvement with solid fill">
              <a:extLst>
                <a:ext uri="{FF2B5EF4-FFF2-40B4-BE49-F238E27FC236}">
                  <a16:creationId xmlns:a16="http://schemas.microsoft.com/office/drawing/2014/main" id="{1036449C-3101-FF72-88FC-57B985A916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4510618" y="1463848"/>
              <a:ext cx="447133" cy="432000"/>
            </a:xfrm>
            <a:prstGeom prst="rect">
              <a:avLst/>
            </a:prstGeom>
          </p:spPr>
        </p:pic>
      </p:grpSp>
      <p:grpSp>
        <p:nvGrpSpPr>
          <p:cNvPr id="167" name="Group 166">
            <a:extLst>
              <a:ext uri="{FF2B5EF4-FFF2-40B4-BE49-F238E27FC236}">
                <a16:creationId xmlns:a16="http://schemas.microsoft.com/office/drawing/2014/main" id="{3C7CDA29-699A-8B19-FDF9-272F7822099D}"/>
              </a:ext>
            </a:extLst>
          </p:cNvPr>
          <p:cNvGrpSpPr/>
          <p:nvPr/>
        </p:nvGrpSpPr>
        <p:grpSpPr>
          <a:xfrm>
            <a:off x="6191606" y="1415309"/>
            <a:ext cx="942664" cy="951074"/>
            <a:chOff x="6149505" y="1185413"/>
            <a:chExt cx="942664" cy="951074"/>
          </a:xfrm>
        </p:grpSpPr>
        <p:sp>
          <p:nvSpPr>
            <p:cNvPr id="28" name="object 17">
              <a:extLst>
                <a:ext uri="{FF2B5EF4-FFF2-40B4-BE49-F238E27FC236}">
                  <a16:creationId xmlns:a16="http://schemas.microsoft.com/office/drawing/2014/main" id="{092D2544-F9D2-C4E6-7B57-FA8194B72D9B}"/>
                </a:ext>
              </a:extLst>
            </p:cNvPr>
            <p:cNvSpPr/>
            <p:nvPr>
              <p:custDataLst>
                <p:tags r:id="rId41"/>
              </p:custDataLst>
            </p:nvPr>
          </p:nvSpPr>
          <p:spPr bwMode="auto">
            <a:xfrm>
              <a:off x="6205138" y="1234684"/>
              <a:ext cx="837580" cy="901803"/>
            </a:xfrm>
            <a:custGeom>
              <a:avLst/>
              <a:gdLst/>
              <a:ahLst/>
              <a:cxnLst/>
              <a:rect l="l" t="t" r="r" b="b"/>
              <a:pathLst>
                <a:path w="1259839" h="1405254">
                  <a:moveTo>
                    <a:pt x="556132" y="0"/>
                  </a:moveTo>
                  <a:lnTo>
                    <a:pt x="604293" y="1620"/>
                  </a:lnTo>
                  <a:lnTo>
                    <a:pt x="651582" y="6414"/>
                  </a:lnTo>
                  <a:lnTo>
                    <a:pt x="697894" y="14274"/>
                  </a:lnTo>
                  <a:lnTo>
                    <a:pt x="743124" y="25098"/>
                  </a:lnTo>
                  <a:lnTo>
                    <a:pt x="787169" y="38780"/>
                  </a:lnTo>
                  <a:lnTo>
                    <a:pt x="829923" y="55215"/>
                  </a:lnTo>
                  <a:lnTo>
                    <a:pt x="871281" y="74299"/>
                  </a:lnTo>
                  <a:lnTo>
                    <a:pt x="911140" y="95927"/>
                  </a:lnTo>
                  <a:lnTo>
                    <a:pt x="949394" y="119994"/>
                  </a:lnTo>
                  <a:lnTo>
                    <a:pt x="985938" y="146397"/>
                  </a:lnTo>
                  <a:lnTo>
                    <a:pt x="1020669" y="175029"/>
                  </a:lnTo>
                  <a:lnTo>
                    <a:pt x="1053480" y="205787"/>
                  </a:lnTo>
                  <a:lnTo>
                    <a:pt x="1084269" y="238566"/>
                  </a:lnTo>
                  <a:lnTo>
                    <a:pt x="1112929" y="273261"/>
                  </a:lnTo>
                  <a:lnTo>
                    <a:pt x="1139356" y="309767"/>
                  </a:lnTo>
                  <a:lnTo>
                    <a:pt x="1163447" y="347980"/>
                  </a:lnTo>
                  <a:lnTo>
                    <a:pt x="1185094" y="387794"/>
                  </a:lnTo>
                  <a:lnTo>
                    <a:pt x="1204196" y="429107"/>
                  </a:lnTo>
                  <a:lnTo>
                    <a:pt x="1220645" y="471812"/>
                  </a:lnTo>
                  <a:lnTo>
                    <a:pt x="1234339" y="515805"/>
                  </a:lnTo>
                  <a:lnTo>
                    <a:pt x="1245172" y="560981"/>
                  </a:lnTo>
                  <a:lnTo>
                    <a:pt x="1253039" y="607236"/>
                  </a:lnTo>
                  <a:lnTo>
                    <a:pt x="1257836" y="654465"/>
                  </a:lnTo>
                  <a:lnTo>
                    <a:pt x="1259459" y="702563"/>
                  </a:lnTo>
                  <a:lnTo>
                    <a:pt x="1257836" y="750662"/>
                  </a:lnTo>
                  <a:lnTo>
                    <a:pt x="1253039" y="797891"/>
                  </a:lnTo>
                  <a:lnTo>
                    <a:pt x="1245172" y="844146"/>
                  </a:lnTo>
                  <a:lnTo>
                    <a:pt x="1234339" y="889322"/>
                  </a:lnTo>
                  <a:lnTo>
                    <a:pt x="1220645" y="933315"/>
                  </a:lnTo>
                  <a:lnTo>
                    <a:pt x="1204196" y="976020"/>
                  </a:lnTo>
                  <a:lnTo>
                    <a:pt x="1185094" y="1017333"/>
                  </a:lnTo>
                  <a:lnTo>
                    <a:pt x="1163447" y="1057147"/>
                  </a:lnTo>
                  <a:lnTo>
                    <a:pt x="1139356" y="1095360"/>
                  </a:lnTo>
                  <a:lnTo>
                    <a:pt x="1112929" y="1131866"/>
                  </a:lnTo>
                  <a:lnTo>
                    <a:pt x="1084269" y="1166561"/>
                  </a:lnTo>
                  <a:lnTo>
                    <a:pt x="1053480" y="1199340"/>
                  </a:lnTo>
                  <a:lnTo>
                    <a:pt x="1020669" y="1230098"/>
                  </a:lnTo>
                  <a:lnTo>
                    <a:pt x="985938" y="1258730"/>
                  </a:lnTo>
                  <a:lnTo>
                    <a:pt x="949394" y="1285133"/>
                  </a:lnTo>
                  <a:lnTo>
                    <a:pt x="911140" y="1309200"/>
                  </a:lnTo>
                  <a:lnTo>
                    <a:pt x="871281" y="1330828"/>
                  </a:lnTo>
                  <a:lnTo>
                    <a:pt x="829923" y="1349912"/>
                  </a:lnTo>
                  <a:lnTo>
                    <a:pt x="787169" y="1366347"/>
                  </a:lnTo>
                  <a:lnTo>
                    <a:pt x="743124" y="1380029"/>
                  </a:lnTo>
                  <a:lnTo>
                    <a:pt x="697894" y="1390853"/>
                  </a:lnTo>
                  <a:lnTo>
                    <a:pt x="651582" y="1398713"/>
                  </a:lnTo>
                  <a:lnTo>
                    <a:pt x="604293" y="1403507"/>
                  </a:lnTo>
                  <a:lnTo>
                    <a:pt x="556132" y="1405128"/>
                  </a:lnTo>
                  <a:lnTo>
                    <a:pt x="506172" y="1403355"/>
                  </a:lnTo>
                  <a:lnTo>
                    <a:pt x="456808" y="1398092"/>
                  </a:lnTo>
                  <a:lnTo>
                    <a:pt x="408205" y="1389418"/>
                  </a:lnTo>
                  <a:lnTo>
                    <a:pt x="360525" y="1377414"/>
                  </a:lnTo>
                  <a:lnTo>
                    <a:pt x="313933" y="1362159"/>
                  </a:lnTo>
                  <a:lnTo>
                    <a:pt x="268593" y="1343733"/>
                  </a:lnTo>
                  <a:lnTo>
                    <a:pt x="224667" y="1322217"/>
                  </a:lnTo>
                  <a:lnTo>
                    <a:pt x="182321" y="1297691"/>
                  </a:lnTo>
                  <a:lnTo>
                    <a:pt x="141717" y="1270235"/>
                  </a:lnTo>
                  <a:lnTo>
                    <a:pt x="103019" y="1239929"/>
                  </a:lnTo>
                  <a:lnTo>
                    <a:pt x="66391" y="1206853"/>
                  </a:lnTo>
                  <a:lnTo>
                    <a:pt x="31997" y="1171088"/>
                  </a:lnTo>
                  <a:lnTo>
                    <a:pt x="0" y="1132713"/>
                  </a:lnTo>
                </a:path>
              </a:pathLst>
            </a:custGeom>
            <a:noFill/>
            <a:ln w="15240">
              <a:solidFill>
                <a:srgbClr val="1CADE4"/>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29" name="object 18">
              <a:extLst>
                <a:ext uri="{FF2B5EF4-FFF2-40B4-BE49-F238E27FC236}">
                  <a16:creationId xmlns:a16="http://schemas.microsoft.com/office/drawing/2014/main" id="{A7B06DD8-1E82-772C-D9A0-C1ECFC10B321}"/>
                </a:ext>
              </a:extLst>
            </p:cNvPr>
            <p:cNvSpPr/>
            <p:nvPr>
              <p:custDataLst>
                <p:tags r:id="rId42"/>
              </p:custDataLst>
            </p:nvPr>
          </p:nvSpPr>
          <p:spPr bwMode="auto">
            <a:xfrm>
              <a:off x="6149505" y="1274996"/>
              <a:ext cx="849943" cy="821179"/>
            </a:xfrm>
            <a:custGeom>
              <a:avLst/>
              <a:gdLst/>
              <a:ahLst/>
              <a:cxnLst/>
              <a:rect l="l" t="t" r="r" b="b"/>
              <a:pathLst>
                <a:path w="1278889" h="1277620">
                  <a:moveTo>
                    <a:pt x="639317" y="0"/>
                  </a:moveTo>
                  <a:lnTo>
                    <a:pt x="687027" y="1751"/>
                  </a:lnTo>
                  <a:lnTo>
                    <a:pt x="733785" y="6923"/>
                  </a:lnTo>
                  <a:lnTo>
                    <a:pt x="779468" y="15392"/>
                  </a:lnTo>
                  <a:lnTo>
                    <a:pt x="823952" y="27034"/>
                  </a:lnTo>
                  <a:lnTo>
                    <a:pt x="867112" y="41727"/>
                  </a:lnTo>
                  <a:lnTo>
                    <a:pt x="908827" y="59346"/>
                  </a:lnTo>
                  <a:lnTo>
                    <a:pt x="948971" y="79769"/>
                  </a:lnTo>
                  <a:lnTo>
                    <a:pt x="987422" y="102871"/>
                  </a:lnTo>
                  <a:lnTo>
                    <a:pt x="1024055" y="128530"/>
                  </a:lnTo>
                  <a:lnTo>
                    <a:pt x="1058747" y="156622"/>
                  </a:lnTo>
                  <a:lnTo>
                    <a:pt x="1091374" y="187023"/>
                  </a:lnTo>
                  <a:lnTo>
                    <a:pt x="1121813" y="219610"/>
                  </a:lnTo>
                  <a:lnTo>
                    <a:pt x="1149940" y="254260"/>
                  </a:lnTo>
                  <a:lnTo>
                    <a:pt x="1175631" y="290849"/>
                  </a:lnTo>
                  <a:lnTo>
                    <a:pt x="1198763" y="329253"/>
                  </a:lnTo>
                  <a:lnTo>
                    <a:pt x="1219212" y="369350"/>
                  </a:lnTo>
                  <a:lnTo>
                    <a:pt x="1236854" y="411016"/>
                  </a:lnTo>
                  <a:lnTo>
                    <a:pt x="1251565" y="454127"/>
                  </a:lnTo>
                  <a:lnTo>
                    <a:pt x="1263223" y="498560"/>
                  </a:lnTo>
                  <a:lnTo>
                    <a:pt x="1271703" y="544191"/>
                  </a:lnTo>
                  <a:lnTo>
                    <a:pt x="1276882" y="590898"/>
                  </a:lnTo>
                  <a:lnTo>
                    <a:pt x="1278636" y="638555"/>
                  </a:lnTo>
                  <a:lnTo>
                    <a:pt x="1276882" y="686213"/>
                  </a:lnTo>
                  <a:lnTo>
                    <a:pt x="1271703" y="732920"/>
                  </a:lnTo>
                  <a:lnTo>
                    <a:pt x="1263223" y="778551"/>
                  </a:lnTo>
                  <a:lnTo>
                    <a:pt x="1251565" y="822984"/>
                  </a:lnTo>
                  <a:lnTo>
                    <a:pt x="1236854" y="866095"/>
                  </a:lnTo>
                  <a:lnTo>
                    <a:pt x="1219212" y="907761"/>
                  </a:lnTo>
                  <a:lnTo>
                    <a:pt x="1198763" y="947858"/>
                  </a:lnTo>
                  <a:lnTo>
                    <a:pt x="1175631" y="986262"/>
                  </a:lnTo>
                  <a:lnTo>
                    <a:pt x="1149940" y="1022851"/>
                  </a:lnTo>
                  <a:lnTo>
                    <a:pt x="1121813" y="1057501"/>
                  </a:lnTo>
                  <a:lnTo>
                    <a:pt x="1091374" y="1090088"/>
                  </a:lnTo>
                  <a:lnTo>
                    <a:pt x="1058747" y="1120489"/>
                  </a:lnTo>
                  <a:lnTo>
                    <a:pt x="1024055" y="1148581"/>
                  </a:lnTo>
                  <a:lnTo>
                    <a:pt x="987422" y="1174240"/>
                  </a:lnTo>
                  <a:lnTo>
                    <a:pt x="948971" y="1197342"/>
                  </a:lnTo>
                  <a:lnTo>
                    <a:pt x="908827" y="1217765"/>
                  </a:lnTo>
                  <a:lnTo>
                    <a:pt x="867112" y="1235384"/>
                  </a:lnTo>
                  <a:lnTo>
                    <a:pt x="823952" y="1250077"/>
                  </a:lnTo>
                  <a:lnTo>
                    <a:pt x="779468" y="1261719"/>
                  </a:lnTo>
                  <a:lnTo>
                    <a:pt x="733785" y="1270188"/>
                  </a:lnTo>
                  <a:lnTo>
                    <a:pt x="687027" y="1275360"/>
                  </a:lnTo>
                  <a:lnTo>
                    <a:pt x="639317" y="1277112"/>
                  </a:lnTo>
                  <a:lnTo>
                    <a:pt x="591608" y="1275360"/>
                  </a:lnTo>
                  <a:lnTo>
                    <a:pt x="544850" y="1270188"/>
                  </a:lnTo>
                  <a:lnTo>
                    <a:pt x="499167" y="1261719"/>
                  </a:lnTo>
                  <a:lnTo>
                    <a:pt x="454683" y="1250077"/>
                  </a:lnTo>
                  <a:lnTo>
                    <a:pt x="411523" y="1235384"/>
                  </a:lnTo>
                  <a:lnTo>
                    <a:pt x="369808" y="1217765"/>
                  </a:lnTo>
                  <a:lnTo>
                    <a:pt x="329664" y="1197342"/>
                  </a:lnTo>
                  <a:lnTo>
                    <a:pt x="291213" y="1174240"/>
                  </a:lnTo>
                  <a:lnTo>
                    <a:pt x="254580" y="1148581"/>
                  </a:lnTo>
                  <a:lnTo>
                    <a:pt x="219888" y="1120489"/>
                  </a:lnTo>
                  <a:lnTo>
                    <a:pt x="187261" y="1090088"/>
                  </a:lnTo>
                  <a:lnTo>
                    <a:pt x="156822" y="1057501"/>
                  </a:lnTo>
                  <a:lnTo>
                    <a:pt x="128695" y="1022851"/>
                  </a:lnTo>
                  <a:lnTo>
                    <a:pt x="103004" y="986262"/>
                  </a:lnTo>
                  <a:lnTo>
                    <a:pt x="79872" y="947858"/>
                  </a:lnTo>
                  <a:lnTo>
                    <a:pt x="59423" y="907761"/>
                  </a:lnTo>
                  <a:lnTo>
                    <a:pt x="41781" y="866095"/>
                  </a:lnTo>
                  <a:lnTo>
                    <a:pt x="27070" y="822984"/>
                  </a:lnTo>
                  <a:lnTo>
                    <a:pt x="15412" y="778551"/>
                  </a:lnTo>
                  <a:lnTo>
                    <a:pt x="6932" y="732920"/>
                  </a:lnTo>
                  <a:lnTo>
                    <a:pt x="1753" y="686213"/>
                  </a:lnTo>
                  <a:lnTo>
                    <a:pt x="0" y="638555"/>
                  </a:lnTo>
                  <a:lnTo>
                    <a:pt x="2217" y="585401"/>
                  </a:lnTo>
                  <a:lnTo>
                    <a:pt x="8812" y="532886"/>
                  </a:lnTo>
                  <a:lnTo>
                    <a:pt x="19696" y="481266"/>
                  </a:lnTo>
                  <a:lnTo>
                    <a:pt x="34782" y="430799"/>
                  </a:lnTo>
                  <a:lnTo>
                    <a:pt x="53981" y="381744"/>
                  </a:lnTo>
                  <a:lnTo>
                    <a:pt x="77206" y="334357"/>
                  </a:lnTo>
                  <a:lnTo>
                    <a:pt x="104368" y="288895"/>
                  </a:lnTo>
                  <a:lnTo>
                    <a:pt x="135382" y="245617"/>
                  </a:lnTo>
                </a:path>
              </a:pathLst>
            </a:custGeom>
            <a:noFill/>
            <a:ln w="15240">
              <a:solidFill>
                <a:srgbClr val="1CADE4"/>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30" name="object 19">
              <a:extLst>
                <a:ext uri="{FF2B5EF4-FFF2-40B4-BE49-F238E27FC236}">
                  <a16:creationId xmlns:a16="http://schemas.microsoft.com/office/drawing/2014/main" id="{4B91B14C-E399-A012-B464-DCD5961FE6E8}"/>
                </a:ext>
              </a:extLst>
            </p:cNvPr>
            <p:cNvSpPr/>
            <p:nvPr>
              <p:custDataLst>
                <p:tags r:id="rId43"/>
              </p:custDataLst>
            </p:nvPr>
          </p:nvSpPr>
          <p:spPr bwMode="auto">
            <a:xfrm>
              <a:off x="6577568" y="1185413"/>
              <a:ext cx="514601" cy="695762"/>
            </a:xfrm>
            <a:custGeom>
              <a:avLst/>
              <a:gdLst/>
              <a:ahLst/>
              <a:cxnLst/>
              <a:rect l="l" t="t" r="r" b="b"/>
              <a:pathLst>
                <a:path w="772795" h="1082675">
                  <a:moveTo>
                    <a:pt x="0" y="0"/>
                  </a:moveTo>
                  <a:lnTo>
                    <a:pt x="48863" y="1521"/>
                  </a:lnTo>
                  <a:lnTo>
                    <a:pt x="96919" y="6026"/>
                  </a:lnTo>
                  <a:lnTo>
                    <a:pt x="144077" y="13424"/>
                  </a:lnTo>
                  <a:lnTo>
                    <a:pt x="190246" y="23624"/>
                  </a:lnTo>
                  <a:lnTo>
                    <a:pt x="235337" y="36535"/>
                  </a:lnTo>
                  <a:lnTo>
                    <a:pt x="279258" y="52067"/>
                  </a:lnTo>
                  <a:lnTo>
                    <a:pt x="321919" y="70128"/>
                  </a:lnTo>
                  <a:lnTo>
                    <a:pt x="363229" y="90629"/>
                  </a:lnTo>
                  <a:lnTo>
                    <a:pt x="403098" y="113479"/>
                  </a:lnTo>
                  <a:lnTo>
                    <a:pt x="441436" y="138587"/>
                  </a:lnTo>
                  <a:lnTo>
                    <a:pt x="478151" y="165862"/>
                  </a:lnTo>
                  <a:lnTo>
                    <a:pt x="513154" y="195214"/>
                  </a:lnTo>
                  <a:lnTo>
                    <a:pt x="546354" y="226552"/>
                  </a:lnTo>
                  <a:lnTo>
                    <a:pt x="577659" y="259785"/>
                  </a:lnTo>
                  <a:lnTo>
                    <a:pt x="606981" y="294823"/>
                  </a:lnTo>
                  <a:lnTo>
                    <a:pt x="634228" y="331575"/>
                  </a:lnTo>
                  <a:lnTo>
                    <a:pt x="659309" y="369951"/>
                  </a:lnTo>
                  <a:lnTo>
                    <a:pt x="682135" y="409859"/>
                  </a:lnTo>
                  <a:lnTo>
                    <a:pt x="702614" y="451210"/>
                  </a:lnTo>
                  <a:lnTo>
                    <a:pt x="720657" y="493912"/>
                  </a:lnTo>
                  <a:lnTo>
                    <a:pt x="736172" y="537875"/>
                  </a:lnTo>
                  <a:lnTo>
                    <a:pt x="749069" y="583008"/>
                  </a:lnTo>
                  <a:lnTo>
                    <a:pt x="759257" y="629221"/>
                  </a:lnTo>
                  <a:lnTo>
                    <a:pt x="766647" y="676422"/>
                  </a:lnTo>
                  <a:lnTo>
                    <a:pt x="771147" y="724522"/>
                  </a:lnTo>
                  <a:lnTo>
                    <a:pt x="772668" y="773430"/>
                  </a:lnTo>
                  <a:lnTo>
                    <a:pt x="770853" y="826453"/>
                  </a:lnTo>
                  <a:lnTo>
                    <a:pt x="765433" y="879103"/>
                  </a:lnTo>
                  <a:lnTo>
                    <a:pt x="756443" y="931195"/>
                  </a:lnTo>
                  <a:lnTo>
                    <a:pt x="743918" y="982547"/>
                  </a:lnTo>
                  <a:lnTo>
                    <a:pt x="727894" y="1032974"/>
                  </a:lnTo>
                  <a:lnTo>
                    <a:pt x="708406" y="1082294"/>
                  </a:lnTo>
                </a:path>
              </a:pathLst>
            </a:custGeom>
            <a:noFill/>
            <a:ln w="15240">
              <a:solidFill>
                <a:srgbClr val="1CADE4"/>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32" name="object 41">
              <a:extLst>
                <a:ext uri="{FF2B5EF4-FFF2-40B4-BE49-F238E27FC236}">
                  <a16:creationId xmlns:a16="http://schemas.microsoft.com/office/drawing/2014/main" id="{375A9ADD-487D-6D20-8719-61BC7C54A6D0}"/>
                </a:ext>
              </a:extLst>
            </p:cNvPr>
            <p:cNvSpPr/>
            <p:nvPr>
              <p:custDataLst>
                <p:tags r:id="rId44"/>
              </p:custDataLst>
            </p:nvPr>
          </p:nvSpPr>
          <p:spPr bwMode="auto">
            <a:xfrm>
              <a:off x="6202047" y="1319788"/>
              <a:ext cx="752587" cy="725624"/>
            </a:xfrm>
            <a:custGeom>
              <a:avLst/>
              <a:gdLst/>
              <a:ahLst/>
              <a:cxnLst/>
              <a:rect l="l" t="t" r="r" b="b"/>
              <a:pathLst>
                <a:path w="1130935" h="1130935">
                  <a:moveTo>
                    <a:pt x="0" y="565404"/>
                  </a:moveTo>
                  <a:lnTo>
                    <a:pt x="2075" y="516614"/>
                  </a:lnTo>
                  <a:lnTo>
                    <a:pt x="8187" y="468978"/>
                  </a:lnTo>
                  <a:lnTo>
                    <a:pt x="18167" y="422665"/>
                  </a:lnTo>
                  <a:lnTo>
                    <a:pt x="31845" y="377844"/>
                  </a:lnTo>
                  <a:lnTo>
                    <a:pt x="49051" y="334686"/>
                  </a:lnTo>
                  <a:lnTo>
                    <a:pt x="69615" y="293360"/>
                  </a:lnTo>
                  <a:lnTo>
                    <a:pt x="93369" y="254034"/>
                  </a:lnTo>
                  <a:lnTo>
                    <a:pt x="120142" y="216881"/>
                  </a:lnTo>
                  <a:lnTo>
                    <a:pt x="149765" y="182067"/>
                  </a:lnTo>
                  <a:lnTo>
                    <a:pt x="182067" y="149765"/>
                  </a:lnTo>
                  <a:lnTo>
                    <a:pt x="216881" y="120142"/>
                  </a:lnTo>
                  <a:lnTo>
                    <a:pt x="254034" y="93369"/>
                  </a:lnTo>
                  <a:lnTo>
                    <a:pt x="293360" y="69615"/>
                  </a:lnTo>
                  <a:lnTo>
                    <a:pt x="334686" y="49051"/>
                  </a:lnTo>
                  <a:lnTo>
                    <a:pt x="377844" y="31845"/>
                  </a:lnTo>
                  <a:lnTo>
                    <a:pt x="422665" y="18167"/>
                  </a:lnTo>
                  <a:lnTo>
                    <a:pt x="468978" y="8187"/>
                  </a:lnTo>
                  <a:lnTo>
                    <a:pt x="516614" y="2075"/>
                  </a:lnTo>
                  <a:lnTo>
                    <a:pt x="565403" y="0"/>
                  </a:lnTo>
                  <a:lnTo>
                    <a:pt x="614193" y="2075"/>
                  </a:lnTo>
                  <a:lnTo>
                    <a:pt x="661829" y="8187"/>
                  </a:lnTo>
                  <a:lnTo>
                    <a:pt x="708142" y="18167"/>
                  </a:lnTo>
                  <a:lnTo>
                    <a:pt x="752963" y="31845"/>
                  </a:lnTo>
                  <a:lnTo>
                    <a:pt x="796121" y="49051"/>
                  </a:lnTo>
                  <a:lnTo>
                    <a:pt x="837447" y="69615"/>
                  </a:lnTo>
                  <a:lnTo>
                    <a:pt x="876773" y="93369"/>
                  </a:lnTo>
                  <a:lnTo>
                    <a:pt x="913926" y="120142"/>
                  </a:lnTo>
                  <a:lnTo>
                    <a:pt x="948740" y="149765"/>
                  </a:lnTo>
                  <a:lnTo>
                    <a:pt x="981042" y="182067"/>
                  </a:lnTo>
                  <a:lnTo>
                    <a:pt x="1010665" y="216881"/>
                  </a:lnTo>
                  <a:lnTo>
                    <a:pt x="1037438" y="254034"/>
                  </a:lnTo>
                  <a:lnTo>
                    <a:pt x="1061192" y="293360"/>
                  </a:lnTo>
                  <a:lnTo>
                    <a:pt x="1081756" y="334686"/>
                  </a:lnTo>
                  <a:lnTo>
                    <a:pt x="1098962" y="377844"/>
                  </a:lnTo>
                  <a:lnTo>
                    <a:pt x="1112640" y="422665"/>
                  </a:lnTo>
                  <a:lnTo>
                    <a:pt x="1122620" y="468978"/>
                  </a:lnTo>
                  <a:lnTo>
                    <a:pt x="1128732" y="516614"/>
                  </a:lnTo>
                  <a:lnTo>
                    <a:pt x="1130807" y="565404"/>
                  </a:lnTo>
                  <a:lnTo>
                    <a:pt x="1128732" y="614193"/>
                  </a:lnTo>
                  <a:lnTo>
                    <a:pt x="1122620" y="661829"/>
                  </a:lnTo>
                  <a:lnTo>
                    <a:pt x="1112640" y="708142"/>
                  </a:lnTo>
                  <a:lnTo>
                    <a:pt x="1098962" y="752963"/>
                  </a:lnTo>
                  <a:lnTo>
                    <a:pt x="1081756" y="796121"/>
                  </a:lnTo>
                  <a:lnTo>
                    <a:pt x="1061192" y="837447"/>
                  </a:lnTo>
                  <a:lnTo>
                    <a:pt x="1037438" y="876773"/>
                  </a:lnTo>
                  <a:lnTo>
                    <a:pt x="1010665" y="913926"/>
                  </a:lnTo>
                  <a:lnTo>
                    <a:pt x="981042" y="948740"/>
                  </a:lnTo>
                  <a:lnTo>
                    <a:pt x="948740" y="981042"/>
                  </a:lnTo>
                  <a:lnTo>
                    <a:pt x="913926" y="1010665"/>
                  </a:lnTo>
                  <a:lnTo>
                    <a:pt x="876773" y="1037438"/>
                  </a:lnTo>
                  <a:lnTo>
                    <a:pt x="837447" y="1061192"/>
                  </a:lnTo>
                  <a:lnTo>
                    <a:pt x="796121" y="1081756"/>
                  </a:lnTo>
                  <a:lnTo>
                    <a:pt x="752963" y="1098962"/>
                  </a:lnTo>
                  <a:lnTo>
                    <a:pt x="708142" y="1112640"/>
                  </a:lnTo>
                  <a:lnTo>
                    <a:pt x="661829" y="1122620"/>
                  </a:lnTo>
                  <a:lnTo>
                    <a:pt x="614193" y="1128732"/>
                  </a:lnTo>
                  <a:lnTo>
                    <a:pt x="565403" y="1130808"/>
                  </a:lnTo>
                  <a:lnTo>
                    <a:pt x="516614" y="1128732"/>
                  </a:lnTo>
                  <a:lnTo>
                    <a:pt x="468978" y="1122620"/>
                  </a:lnTo>
                  <a:lnTo>
                    <a:pt x="422665" y="1112640"/>
                  </a:lnTo>
                  <a:lnTo>
                    <a:pt x="377844" y="1098962"/>
                  </a:lnTo>
                  <a:lnTo>
                    <a:pt x="334686" y="1081756"/>
                  </a:lnTo>
                  <a:lnTo>
                    <a:pt x="293360" y="1061192"/>
                  </a:lnTo>
                  <a:lnTo>
                    <a:pt x="254034" y="1037438"/>
                  </a:lnTo>
                  <a:lnTo>
                    <a:pt x="216881" y="1010665"/>
                  </a:lnTo>
                  <a:lnTo>
                    <a:pt x="182067" y="981042"/>
                  </a:lnTo>
                  <a:lnTo>
                    <a:pt x="149765" y="948740"/>
                  </a:lnTo>
                  <a:lnTo>
                    <a:pt x="120142" y="913926"/>
                  </a:lnTo>
                  <a:lnTo>
                    <a:pt x="93369" y="876773"/>
                  </a:lnTo>
                  <a:lnTo>
                    <a:pt x="69615" y="837447"/>
                  </a:lnTo>
                  <a:lnTo>
                    <a:pt x="49051" y="796121"/>
                  </a:lnTo>
                  <a:lnTo>
                    <a:pt x="31845" y="752963"/>
                  </a:lnTo>
                  <a:lnTo>
                    <a:pt x="18167" y="708142"/>
                  </a:lnTo>
                  <a:lnTo>
                    <a:pt x="8187" y="661829"/>
                  </a:lnTo>
                  <a:lnTo>
                    <a:pt x="2075" y="614193"/>
                  </a:lnTo>
                  <a:lnTo>
                    <a:pt x="0" y="565404"/>
                  </a:lnTo>
                  <a:close/>
                </a:path>
              </a:pathLst>
            </a:custGeom>
            <a:noFill/>
            <a:ln w="19812">
              <a:solidFill>
                <a:srgbClr val="1CADE4"/>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pic>
          <p:nvPicPr>
            <p:cNvPr id="73" name="Graphic 72" descr="Label with solid fill">
              <a:extLst>
                <a:ext uri="{FF2B5EF4-FFF2-40B4-BE49-F238E27FC236}">
                  <a16:creationId xmlns:a16="http://schemas.microsoft.com/office/drawing/2014/main" id="{864BC65A-CE01-838F-6687-C3683A04CD3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a:off x="6362340" y="1473911"/>
              <a:ext cx="432000" cy="417379"/>
            </a:xfrm>
            <a:prstGeom prst="rect">
              <a:avLst/>
            </a:prstGeom>
          </p:spPr>
        </p:pic>
      </p:grpSp>
      <p:grpSp>
        <p:nvGrpSpPr>
          <p:cNvPr id="156" name="Group 155">
            <a:extLst>
              <a:ext uri="{FF2B5EF4-FFF2-40B4-BE49-F238E27FC236}">
                <a16:creationId xmlns:a16="http://schemas.microsoft.com/office/drawing/2014/main" id="{962FDD09-4513-BFCD-03DF-133406D60C19}"/>
              </a:ext>
            </a:extLst>
          </p:cNvPr>
          <p:cNvGrpSpPr/>
          <p:nvPr/>
        </p:nvGrpSpPr>
        <p:grpSpPr>
          <a:xfrm>
            <a:off x="2559000" y="1415309"/>
            <a:ext cx="942666" cy="951074"/>
            <a:chOff x="2674227" y="1241806"/>
            <a:chExt cx="942666" cy="951074"/>
          </a:xfrm>
        </p:grpSpPr>
        <p:grpSp>
          <p:nvGrpSpPr>
            <p:cNvPr id="155" name="Group 154">
              <a:extLst>
                <a:ext uri="{FF2B5EF4-FFF2-40B4-BE49-F238E27FC236}">
                  <a16:creationId xmlns:a16="http://schemas.microsoft.com/office/drawing/2014/main" id="{9FC05909-C302-1E1C-BFAC-59073074019E}"/>
                </a:ext>
              </a:extLst>
            </p:cNvPr>
            <p:cNvGrpSpPr/>
            <p:nvPr/>
          </p:nvGrpSpPr>
          <p:grpSpPr>
            <a:xfrm>
              <a:off x="2674227" y="1241806"/>
              <a:ext cx="942666" cy="951074"/>
              <a:chOff x="2674227" y="1241806"/>
              <a:chExt cx="942666" cy="951074"/>
            </a:xfrm>
          </p:grpSpPr>
          <p:sp>
            <p:nvSpPr>
              <p:cNvPr id="75" name="object 17">
                <a:extLst>
                  <a:ext uri="{FF2B5EF4-FFF2-40B4-BE49-F238E27FC236}">
                    <a16:creationId xmlns:a16="http://schemas.microsoft.com/office/drawing/2014/main" id="{BA8B6B72-3D18-E278-EA00-F069BE8D2DDC}"/>
                  </a:ext>
                </a:extLst>
              </p:cNvPr>
              <p:cNvSpPr/>
              <p:nvPr>
                <p:custDataLst>
                  <p:tags r:id="rId37"/>
                </p:custDataLst>
              </p:nvPr>
            </p:nvSpPr>
            <p:spPr bwMode="auto">
              <a:xfrm>
                <a:off x="2729860" y="1291076"/>
                <a:ext cx="837582" cy="901804"/>
              </a:xfrm>
              <a:custGeom>
                <a:avLst/>
                <a:gdLst/>
                <a:ahLst/>
                <a:cxnLst/>
                <a:rect l="l" t="t" r="r" b="b"/>
                <a:pathLst>
                  <a:path w="1259839" h="1405254">
                    <a:moveTo>
                      <a:pt x="556132" y="0"/>
                    </a:moveTo>
                    <a:lnTo>
                      <a:pt x="604293" y="1620"/>
                    </a:lnTo>
                    <a:lnTo>
                      <a:pt x="651582" y="6414"/>
                    </a:lnTo>
                    <a:lnTo>
                      <a:pt x="697894" y="14274"/>
                    </a:lnTo>
                    <a:lnTo>
                      <a:pt x="743124" y="25098"/>
                    </a:lnTo>
                    <a:lnTo>
                      <a:pt x="787169" y="38780"/>
                    </a:lnTo>
                    <a:lnTo>
                      <a:pt x="829923" y="55215"/>
                    </a:lnTo>
                    <a:lnTo>
                      <a:pt x="871281" y="74299"/>
                    </a:lnTo>
                    <a:lnTo>
                      <a:pt x="911140" y="95927"/>
                    </a:lnTo>
                    <a:lnTo>
                      <a:pt x="949394" y="119994"/>
                    </a:lnTo>
                    <a:lnTo>
                      <a:pt x="985938" y="146397"/>
                    </a:lnTo>
                    <a:lnTo>
                      <a:pt x="1020669" y="175029"/>
                    </a:lnTo>
                    <a:lnTo>
                      <a:pt x="1053480" y="205787"/>
                    </a:lnTo>
                    <a:lnTo>
                      <a:pt x="1084269" y="238566"/>
                    </a:lnTo>
                    <a:lnTo>
                      <a:pt x="1112929" y="273261"/>
                    </a:lnTo>
                    <a:lnTo>
                      <a:pt x="1139356" y="309767"/>
                    </a:lnTo>
                    <a:lnTo>
                      <a:pt x="1163447" y="347980"/>
                    </a:lnTo>
                    <a:lnTo>
                      <a:pt x="1185094" y="387794"/>
                    </a:lnTo>
                    <a:lnTo>
                      <a:pt x="1204196" y="429107"/>
                    </a:lnTo>
                    <a:lnTo>
                      <a:pt x="1220645" y="471812"/>
                    </a:lnTo>
                    <a:lnTo>
                      <a:pt x="1234339" y="515805"/>
                    </a:lnTo>
                    <a:lnTo>
                      <a:pt x="1245172" y="560981"/>
                    </a:lnTo>
                    <a:lnTo>
                      <a:pt x="1253039" y="607236"/>
                    </a:lnTo>
                    <a:lnTo>
                      <a:pt x="1257836" y="654465"/>
                    </a:lnTo>
                    <a:lnTo>
                      <a:pt x="1259459" y="702563"/>
                    </a:lnTo>
                    <a:lnTo>
                      <a:pt x="1257836" y="750662"/>
                    </a:lnTo>
                    <a:lnTo>
                      <a:pt x="1253039" y="797891"/>
                    </a:lnTo>
                    <a:lnTo>
                      <a:pt x="1245172" y="844146"/>
                    </a:lnTo>
                    <a:lnTo>
                      <a:pt x="1234339" y="889322"/>
                    </a:lnTo>
                    <a:lnTo>
                      <a:pt x="1220645" y="933315"/>
                    </a:lnTo>
                    <a:lnTo>
                      <a:pt x="1204196" y="976020"/>
                    </a:lnTo>
                    <a:lnTo>
                      <a:pt x="1185094" y="1017333"/>
                    </a:lnTo>
                    <a:lnTo>
                      <a:pt x="1163447" y="1057147"/>
                    </a:lnTo>
                    <a:lnTo>
                      <a:pt x="1139356" y="1095360"/>
                    </a:lnTo>
                    <a:lnTo>
                      <a:pt x="1112929" y="1131866"/>
                    </a:lnTo>
                    <a:lnTo>
                      <a:pt x="1084269" y="1166561"/>
                    </a:lnTo>
                    <a:lnTo>
                      <a:pt x="1053480" y="1199340"/>
                    </a:lnTo>
                    <a:lnTo>
                      <a:pt x="1020669" y="1230098"/>
                    </a:lnTo>
                    <a:lnTo>
                      <a:pt x="985938" y="1258730"/>
                    </a:lnTo>
                    <a:lnTo>
                      <a:pt x="949394" y="1285133"/>
                    </a:lnTo>
                    <a:lnTo>
                      <a:pt x="911140" y="1309200"/>
                    </a:lnTo>
                    <a:lnTo>
                      <a:pt x="871281" y="1330828"/>
                    </a:lnTo>
                    <a:lnTo>
                      <a:pt x="829923" y="1349912"/>
                    </a:lnTo>
                    <a:lnTo>
                      <a:pt x="787169" y="1366347"/>
                    </a:lnTo>
                    <a:lnTo>
                      <a:pt x="743124" y="1380029"/>
                    </a:lnTo>
                    <a:lnTo>
                      <a:pt x="697894" y="1390853"/>
                    </a:lnTo>
                    <a:lnTo>
                      <a:pt x="651582" y="1398713"/>
                    </a:lnTo>
                    <a:lnTo>
                      <a:pt x="604293" y="1403507"/>
                    </a:lnTo>
                    <a:lnTo>
                      <a:pt x="556132" y="1405128"/>
                    </a:lnTo>
                    <a:lnTo>
                      <a:pt x="506172" y="1403355"/>
                    </a:lnTo>
                    <a:lnTo>
                      <a:pt x="456808" y="1398092"/>
                    </a:lnTo>
                    <a:lnTo>
                      <a:pt x="408205" y="1389418"/>
                    </a:lnTo>
                    <a:lnTo>
                      <a:pt x="360525" y="1377414"/>
                    </a:lnTo>
                    <a:lnTo>
                      <a:pt x="313933" y="1362159"/>
                    </a:lnTo>
                    <a:lnTo>
                      <a:pt x="268593" y="1343733"/>
                    </a:lnTo>
                    <a:lnTo>
                      <a:pt x="224667" y="1322217"/>
                    </a:lnTo>
                    <a:lnTo>
                      <a:pt x="182321" y="1297691"/>
                    </a:lnTo>
                    <a:lnTo>
                      <a:pt x="141717" y="1270235"/>
                    </a:lnTo>
                    <a:lnTo>
                      <a:pt x="103019" y="1239929"/>
                    </a:lnTo>
                    <a:lnTo>
                      <a:pt x="66391" y="1206853"/>
                    </a:lnTo>
                    <a:lnTo>
                      <a:pt x="31997" y="1171088"/>
                    </a:lnTo>
                    <a:lnTo>
                      <a:pt x="0" y="1132713"/>
                    </a:lnTo>
                  </a:path>
                </a:pathLst>
              </a:custGeom>
              <a:noFill/>
              <a:ln w="15240">
                <a:solidFill>
                  <a:srgbClr val="1CADE4"/>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76" name="object 18">
                <a:extLst>
                  <a:ext uri="{FF2B5EF4-FFF2-40B4-BE49-F238E27FC236}">
                    <a16:creationId xmlns:a16="http://schemas.microsoft.com/office/drawing/2014/main" id="{B00D0601-5460-60FB-E5A7-3C57EA71EFD9}"/>
                  </a:ext>
                </a:extLst>
              </p:cNvPr>
              <p:cNvSpPr/>
              <p:nvPr>
                <p:custDataLst>
                  <p:tags r:id="rId38"/>
                </p:custDataLst>
              </p:nvPr>
            </p:nvSpPr>
            <p:spPr bwMode="auto">
              <a:xfrm>
                <a:off x="2674227" y="1331389"/>
                <a:ext cx="849945" cy="821179"/>
              </a:xfrm>
              <a:custGeom>
                <a:avLst/>
                <a:gdLst/>
                <a:ahLst/>
                <a:cxnLst/>
                <a:rect l="l" t="t" r="r" b="b"/>
                <a:pathLst>
                  <a:path w="1278889" h="1277620">
                    <a:moveTo>
                      <a:pt x="639317" y="0"/>
                    </a:moveTo>
                    <a:lnTo>
                      <a:pt x="687027" y="1751"/>
                    </a:lnTo>
                    <a:lnTo>
                      <a:pt x="733785" y="6923"/>
                    </a:lnTo>
                    <a:lnTo>
                      <a:pt x="779468" y="15392"/>
                    </a:lnTo>
                    <a:lnTo>
                      <a:pt x="823952" y="27034"/>
                    </a:lnTo>
                    <a:lnTo>
                      <a:pt x="867112" y="41727"/>
                    </a:lnTo>
                    <a:lnTo>
                      <a:pt x="908827" y="59346"/>
                    </a:lnTo>
                    <a:lnTo>
                      <a:pt x="948971" y="79769"/>
                    </a:lnTo>
                    <a:lnTo>
                      <a:pt x="987422" y="102871"/>
                    </a:lnTo>
                    <a:lnTo>
                      <a:pt x="1024055" y="128530"/>
                    </a:lnTo>
                    <a:lnTo>
                      <a:pt x="1058747" y="156622"/>
                    </a:lnTo>
                    <a:lnTo>
                      <a:pt x="1091374" y="187023"/>
                    </a:lnTo>
                    <a:lnTo>
                      <a:pt x="1121813" y="219610"/>
                    </a:lnTo>
                    <a:lnTo>
                      <a:pt x="1149940" y="254260"/>
                    </a:lnTo>
                    <a:lnTo>
                      <a:pt x="1175631" y="290849"/>
                    </a:lnTo>
                    <a:lnTo>
                      <a:pt x="1198763" y="329253"/>
                    </a:lnTo>
                    <a:lnTo>
                      <a:pt x="1219212" y="369350"/>
                    </a:lnTo>
                    <a:lnTo>
                      <a:pt x="1236854" y="411016"/>
                    </a:lnTo>
                    <a:lnTo>
                      <a:pt x="1251565" y="454127"/>
                    </a:lnTo>
                    <a:lnTo>
                      <a:pt x="1263223" y="498560"/>
                    </a:lnTo>
                    <a:lnTo>
                      <a:pt x="1271703" y="544191"/>
                    </a:lnTo>
                    <a:lnTo>
                      <a:pt x="1276882" y="590898"/>
                    </a:lnTo>
                    <a:lnTo>
                      <a:pt x="1278636" y="638555"/>
                    </a:lnTo>
                    <a:lnTo>
                      <a:pt x="1276882" y="686213"/>
                    </a:lnTo>
                    <a:lnTo>
                      <a:pt x="1271703" y="732920"/>
                    </a:lnTo>
                    <a:lnTo>
                      <a:pt x="1263223" y="778551"/>
                    </a:lnTo>
                    <a:lnTo>
                      <a:pt x="1251565" y="822984"/>
                    </a:lnTo>
                    <a:lnTo>
                      <a:pt x="1236854" y="866095"/>
                    </a:lnTo>
                    <a:lnTo>
                      <a:pt x="1219212" y="907761"/>
                    </a:lnTo>
                    <a:lnTo>
                      <a:pt x="1198763" y="947858"/>
                    </a:lnTo>
                    <a:lnTo>
                      <a:pt x="1175631" y="986262"/>
                    </a:lnTo>
                    <a:lnTo>
                      <a:pt x="1149940" y="1022851"/>
                    </a:lnTo>
                    <a:lnTo>
                      <a:pt x="1121813" y="1057501"/>
                    </a:lnTo>
                    <a:lnTo>
                      <a:pt x="1091374" y="1090088"/>
                    </a:lnTo>
                    <a:lnTo>
                      <a:pt x="1058747" y="1120489"/>
                    </a:lnTo>
                    <a:lnTo>
                      <a:pt x="1024055" y="1148581"/>
                    </a:lnTo>
                    <a:lnTo>
                      <a:pt x="987422" y="1174240"/>
                    </a:lnTo>
                    <a:lnTo>
                      <a:pt x="948971" y="1197342"/>
                    </a:lnTo>
                    <a:lnTo>
                      <a:pt x="908827" y="1217765"/>
                    </a:lnTo>
                    <a:lnTo>
                      <a:pt x="867112" y="1235384"/>
                    </a:lnTo>
                    <a:lnTo>
                      <a:pt x="823952" y="1250077"/>
                    </a:lnTo>
                    <a:lnTo>
                      <a:pt x="779468" y="1261719"/>
                    </a:lnTo>
                    <a:lnTo>
                      <a:pt x="733785" y="1270188"/>
                    </a:lnTo>
                    <a:lnTo>
                      <a:pt x="687027" y="1275360"/>
                    </a:lnTo>
                    <a:lnTo>
                      <a:pt x="639317" y="1277112"/>
                    </a:lnTo>
                    <a:lnTo>
                      <a:pt x="591608" y="1275360"/>
                    </a:lnTo>
                    <a:lnTo>
                      <a:pt x="544850" y="1270188"/>
                    </a:lnTo>
                    <a:lnTo>
                      <a:pt x="499167" y="1261719"/>
                    </a:lnTo>
                    <a:lnTo>
                      <a:pt x="454683" y="1250077"/>
                    </a:lnTo>
                    <a:lnTo>
                      <a:pt x="411523" y="1235384"/>
                    </a:lnTo>
                    <a:lnTo>
                      <a:pt x="369808" y="1217765"/>
                    </a:lnTo>
                    <a:lnTo>
                      <a:pt x="329664" y="1197342"/>
                    </a:lnTo>
                    <a:lnTo>
                      <a:pt x="291213" y="1174240"/>
                    </a:lnTo>
                    <a:lnTo>
                      <a:pt x="254580" y="1148581"/>
                    </a:lnTo>
                    <a:lnTo>
                      <a:pt x="219888" y="1120489"/>
                    </a:lnTo>
                    <a:lnTo>
                      <a:pt x="187261" y="1090088"/>
                    </a:lnTo>
                    <a:lnTo>
                      <a:pt x="156822" y="1057501"/>
                    </a:lnTo>
                    <a:lnTo>
                      <a:pt x="128695" y="1022851"/>
                    </a:lnTo>
                    <a:lnTo>
                      <a:pt x="103004" y="986262"/>
                    </a:lnTo>
                    <a:lnTo>
                      <a:pt x="79872" y="947858"/>
                    </a:lnTo>
                    <a:lnTo>
                      <a:pt x="59423" y="907761"/>
                    </a:lnTo>
                    <a:lnTo>
                      <a:pt x="41781" y="866095"/>
                    </a:lnTo>
                    <a:lnTo>
                      <a:pt x="27070" y="822984"/>
                    </a:lnTo>
                    <a:lnTo>
                      <a:pt x="15412" y="778551"/>
                    </a:lnTo>
                    <a:lnTo>
                      <a:pt x="6932" y="732920"/>
                    </a:lnTo>
                    <a:lnTo>
                      <a:pt x="1753" y="686213"/>
                    </a:lnTo>
                    <a:lnTo>
                      <a:pt x="0" y="638555"/>
                    </a:lnTo>
                    <a:lnTo>
                      <a:pt x="2217" y="585401"/>
                    </a:lnTo>
                    <a:lnTo>
                      <a:pt x="8812" y="532886"/>
                    </a:lnTo>
                    <a:lnTo>
                      <a:pt x="19696" y="481266"/>
                    </a:lnTo>
                    <a:lnTo>
                      <a:pt x="34782" y="430799"/>
                    </a:lnTo>
                    <a:lnTo>
                      <a:pt x="53981" y="381744"/>
                    </a:lnTo>
                    <a:lnTo>
                      <a:pt x="77206" y="334357"/>
                    </a:lnTo>
                    <a:lnTo>
                      <a:pt x="104368" y="288895"/>
                    </a:lnTo>
                    <a:lnTo>
                      <a:pt x="135382" y="245617"/>
                    </a:lnTo>
                  </a:path>
                </a:pathLst>
              </a:custGeom>
              <a:noFill/>
              <a:ln w="15240">
                <a:solidFill>
                  <a:srgbClr val="1CADE4"/>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77" name="object 19">
                <a:extLst>
                  <a:ext uri="{FF2B5EF4-FFF2-40B4-BE49-F238E27FC236}">
                    <a16:creationId xmlns:a16="http://schemas.microsoft.com/office/drawing/2014/main" id="{A3365229-4AEC-4552-5BFB-C9A120470C98}"/>
                  </a:ext>
                </a:extLst>
              </p:cNvPr>
              <p:cNvSpPr/>
              <p:nvPr>
                <p:custDataLst>
                  <p:tags r:id="rId39"/>
                </p:custDataLst>
              </p:nvPr>
            </p:nvSpPr>
            <p:spPr bwMode="auto">
              <a:xfrm>
                <a:off x="3102291" y="1241806"/>
                <a:ext cx="514602" cy="695762"/>
              </a:xfrm>
              <a:custGeom>
                <a:avLst/>
                <a:gdLst/>
                <a:ahLst/>
                <a:cxnLst/>
                <a:rect l="l" t="t" r="r" b="b"/>
                <a:pathLst>
                  <a:path w="772795" h="1082675">
                    <a:moveTo>
                      <a:pt x="0" y="0"/>
                    </a:moveTo>
                    <a:lnTo>
                      <a:pt x="48863" y="1521"/>
                    </a:lnTo>
                    <a:lnTo>
                      <a:pt x="96919" y="6026"/>
                    </a:lnTo>
                    <a:lnTo>
                      <a:pt x="144077" y="13424"/>
                    </a:lnTo>
                    <a:lnTo>
                      <a:pt x="190246" y="23624"/>
                    </a:lnTo>
                    <a:lnTo>
                      <a:pt x="235337" y="36535"/>
                    </a:lnTo>
                    <a:lnTo>
                      <a:pt x="279258" y="52067"/>
                    </a:lnTo>
                    <a:lnTo>
                      <a:pt x="321919" y="70128"/>
                    </a:lnTo>
                    <a:lnTo>
                      <a:pt x="363229" y="90629"/>
                    </a:lnTo>
                    <a:lnTo>
                      <a:pt x="403098" y="113479"/>
                    </a:lnTo>
                    <a:lnTo>
                      <a:pt x="441436" y="138587"/>
                    </a:lnTo>
                    <a:lnTo>
                      <a:pt x="478151" y="165862"/>
                    </a:lnTo>
                    <a:lnTo>
                      <a:pt x="513154" y="195214"/>
                    </a:lnTo>
                    <a:lnTo>
                      <a:pt x="546354" y="226552"/>
                    </a:lnTo>
                    <a:lnTo>
                      <a:pt x="577659" y="259785"/>
                    </a:lnTo>
                    <a:lnTo>
                      <a:pt x="606981" y="294823"/>
                    </a:lnTo>
                    <a:lnTo>
                      <a:pt x="634228" y="331575"/>
                    </a:lnTo>
                    <a:lnTo>
                      <a:pt x="659309" y="369951"/>
                    </a:lnTo>
                    <a:lnTo>
                      <a:pt x="682135" y="409859"/>
                    </a:lnTo>
                    <a:lnTo>
                      <a:pt x="702614" y="451210"/>
                    </a:lnTo>
                    <a:lnTo>
                      <a:pt x="720657" y="493912"/>
                    </a:lnTo>
                    <a:lnTo>
                      <a:pt x="736172" y="537875"/>
                    </a:lnTo>
                    <a:lnTo>
                      <a:pt x="749069" y="583008"/>
                    </a:lnTo>
                    <a:lnTo>
                      <a:pt x="759257" y="629221"/>
                    </a:lnTo>
                    <a:lnTo>
                      <a:pt x="766647" y="676422"/>
                    </a:lnTo>
                    <a:lnTo>
                      <a:pt x="771147" y="724522"/>
                    </a:lnTo>
                    <a:lnTo>
                      <a:pt x="772668" y="773430"/>
                    </a:lnTo>
                    <a:lnTo>
                      <a:pt x="770853" y="826453"/>
                    </a:lnTo>
                    <a:lnTo>
                      <a:pt x="765433" y="879103"/>
                    </a:lnTo>
                    <a:lnTo>
                      <a:pt x="756443" y="931195"/>
                    </a:lnTo>
                    <a:lnTo>
                      <a:pt x="743918" y="982547"/>
                    </a:lnTo>
                    <a:lnTo>
                      <a:pt x="727894" y="1032974"/>
                    </a:lnTo>
                    <a:lnTo>
                      <a:pt x="708406" y="1082294"/>
                    </a:lnTo>
                  </a:path>
                </a:pathLst>
              </a:custGeom>
              <a:noFill/>
              <a:ln w="15240">
                <a:solidFill>
                  <a:srgbClr val="1CADE4"/>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79" name="object 41">
                <a:extLst>
                  <a:ext uri="{FF2B5EF4-FFF2-40B4-BE49-F238E27FC236}">
                    <a16:creationId xmlns:a16="http://schemas.microsoft.com/office/drawing/2014/main" id="{9F031E4F-78B8-A9FE-0F07-97BE7EAA5882}"/>
                  </a:ext>
                </a:extLst>
              </p:cNvPr>
              <p:cNvSpPr/>
              <p:nvPr>
                <p:custDataLst>
                  <p:tags r:id="rId40"/>
                </p:custDataLst>
              </p:nvPr>
            </p:nvSpPr>
            <p:spPr bwMode="auto">
              <a:xfrm>
                <a:off x="2715339" y="1376181"/>
                <a:ext cx="752588" cy="725623"/>
              </a:xfrm>
              <a:custGeom>
                <a:avLst/>
                <a:gdLst/>
                <a:ahLst/>
                <a:cxnLst/>
                <a:rect l="l" t="t" r="r" b="b"/>
                <a:pathLst>
                  <a:path w="1130935" h="1130935">
                    <a:moveTo>
                      <a:pt x="0" y="565404"/>
                    </a:moveTo>
                    <a:lnTo>
                      <a:pt x="2075" y="516614"/>
                    </a:lnTo>
                    <a:lnTo>
                      <a:pt x="8187" y="468978"/>
                    </a:lnTo>
                    <a:lnTo>
                      <a:pt x="18167" y="422665"/>
                    </a:lnTo>
                    <a:lnTo>
                      <a:pt x="31845" y="377844"/>
                    </a:lnTo>
                    <a:lnTo>
                      <a:pt x="49051" y="334686"/>
                    </a:lnTo>
                    <a:lnTo>
                      <a:pt x="69615" y="293360"/>
                    </a:lnTo>
                    <a:lnTo>
                      <a:pt x="93369" y="254034"/>
                    </a:lnTo>
                    <a:lnTo>
                      <a:pt x="120142" y="216881"/>
                    </a:lnTo>
                    <a:lnTo>
                      <a:pt x="149765" y="182067"/>
                    </a:lnTo>
                    <a:lnTo>
                      <a:pt x="182067" y="149765"/>
                    </a:lnTo>
                    <a:lnTo>
                      <a:pt x="216881" y="120142"/>
                    </a:lnTo>
                    <a:lnTo>
                      <a:pt x="254034" y="93369"/>
                    </a:lnTo>
                    <a:lnTo>
                      <a:pt x="293360" y="69615"/>
                    </a:lnTo>
                    <a:lnTo>
                      <a:pt x="334686" y="49051"/>
                    </a:lnTo>
                    <a:lnTo>
                      <a:pt x="377844" y="31845"/>
                    </a:lnTo>
                    <a:lnTo>
                      <a:pt x="422665" y="18167"/>
                    </a:lnTo>
                    <a:lnTo>
                      <a:pt x="468978" y="8187"/>
                    </a:lnTo>
                    <a:lnTo>
                      <a:pt x="516614" y="2075"/>
                    </a:lnTo>
                    <a:lnTo>
                      <a:pt x="565403" y="0"/>
                    </a:lnTo>
                    <a:lnTo>
                      <a:pt x="614193" y="2075"/>
                    </a:lnTo>
                    <a:lnTo>
                      <a:pt x="661829" y="8187"/>
                    </a:lnTo>
                    <a:lnTo>
                      <a:pt x="708142" y="18167"/>
                    </a:lnTo>
                    <a:lnTo>
                      <a:pt x="752963" y="31845"/>
                    </a:lnTo>
                    <a:lnTo>
                      <a:pt x="796121" y="49051"/>
                    </a:lnTo>
                    <a:lnTo>
                      <a:pt x="837447" y="69615"/>
                    </a:lnTo>
                    <a:lnTo>
                      <a:pt x="876773" y="93369"/>
                    </a:lnTo>
                    <a:lnTo>
                      <a:pt x="913926" y="120142"/>
                    </a:lnTo>
                    <a:lnTo>
                      <a:pt x="948740" y="149765"/>
                    </a:lnTo>
                    <a:lnTo>
                      <a:pt x="981042" y="182067"/>
                    </a:lnTo>
                    <a:lnTo>
                      <a:pt x="1010665" y="216881"/>
                    </a:lnTo>
                    <a:lnTo>
                      <a:pt x="1037438" y="254034"/>
                    </a:lnTo>
                    <a:lnTo>
                      <a:pt x="1061192" y="293360"/>
                    </a:lnTo>
                    <a:lnTo>
                      <a:pt x="1081756" y="334686"/>
                    </a:lnTo>
                    <a:lnTo>
                      <a:pt x="1098962" y="377844"/>
                    </a:lnTo>
                    <a:lnTo>
                      <a:pt x="1112640" y="422665"/>
                    </a:lnTo>
                    <a:lnTo>
                      <a:pt x="1122620" y="468978"/>
                    </a:lnTo>
                    <a:lnTo>
                      <a:pt x="1128732" y="516614"/>
                    </a:lnTo>
                    <a:lnTo>
                      <a:pt x="1130807" y="565404"/>
                    </a:lnTo>
                    <a:lnTo>
                      <a:pt x="1128732" y="614193"/>
                    </a:lnTo>
                    <a:lnTo>
                      <a:pt x="1122620" y="661829"/>
                    </a:lnTo>
                    <a:lnTo>
                      <a:pt x="1112640" y="708142"/>
                    </a:lnTo>
                    <a:lnTo>
                      <a:pt x="1098962" y="752963"/>
                    </a:lnTo>
                    <a:lnTo>
                      <a:pt x="1081756" y="796121"/>
                    </a:lnTo>
                    <a:lnTo>
                      <a:pt x="1061192" y="837447"/>
                    </a:lnTo>
                    <a:lnTo>
                      <a:pt x="1037438" y="876773"/>
                    </a:lnTo>
                    <a:lnTo>
                      <a:pt x="1010665" y="913926"/>
                    </a:lnTo>
                    <a:lnTo>
                      <a:pt x="981042" y="948740"/>
                    </a:lnTo>
                    <a:lnTo>
                      <a:pt x="948740" y="981042"/>
                    </a:lnTo>
                    <a:lnTo>
                      <a:pt x="913926" y="1010665"/>
                    </a:lnTo>
                    <a:lnTo>
                      <a:pt x="876773" y="1037438"/>
                    </a:lnTo>
                    <a:lnTo>
                      <a:pt x="837447" y="1061192"/>
                    </a:lnTo>
                    <a:lnTo>
                      <a:pt x="796121" y="1081756"/>
                    </a:lnTo>
                    <a:lnTo>
                      <a:pt x="752963" y="1098962"/>
                    </a:lnTo>
                    <a:lnTo>
                      <a:pt x="708142" y="1112640"/>
                    </a:lnTo>
                    <a:lnTo>
                      <a:pt x="661829" y="1122620"/>
                    </a:lnTo>
                    <a:lnTo>
                      <a:pt x="614193" y="1128732"/>
                    </a:lnTo>
                    <a:lnTo>
                      <a:pt x="565403" y="1130808"/>
                    </a:lnTo>
                    <a:lnTo>
                      <a:pt x="516614" y="1128732"/>
                    </a:lnTo>
                    <a:lnTo>
                      <a:pt x="468978" y="1122620"/>
                    </a:lnTo>
                    <a:lnTo>
                      <a:pt x="422665" y="1112640"/>
                    </a:lnTo>
                    <a:lnTo>
                      <a:pt x="377844" y="1098962"/>
                    </a:lnTo>
                    <a:lnTo>
                      <a:pt x="334686" y="1081756"/>
                    </a:lnTo>
                    <a:lnTo>
                      <a:pt x="293360" y="1061192"/>
                    </a:lnTo>
                    <a:lnTo>
                      <a:pt x="254034" y="1037438"/>
                    </a:lnTo>
                    <a:lnTo>
                      <a:pt x="216881" y="1010665"/>
                    </a:lnTo>
                    <a:lnTo>
                      <a:pt x="182067" y="981042"/>
                    </a:lnTo>
                    <a:lnTo>
                      <a:pt x="149765" y="948740"/>
                    </a:lnTo>
                    <a:lnTo>
                      <a:pt x="120142" y="913926"/>
                    </a:lnTo>
                    <a:lnTo>
                      <a:pt x="93369" y="876773"/>
                    </a:lnTo>
                    <a:lnTo>
                      <a:pt x="69615" y="837447"/>
                    </a:lnTo>
                    <a:lnTo>
                      <a:pt x="49051" y="796121"/>
                    </a:lnTo>
                    <a:lnTo>
                      <a:pt x="31845" y="752963"/>
                    </a:lnTo>
                    <a:lnTo>
                      <a:pt x="18167" y="708142"/>
                    </a:lnTo>
                    <a:lnTo>
                      <a:pt x="8187" y="661829"/>
                    </a:lnTo>
                    <a:lnTo>
                      <a:pt x="2075" y="614193"/>
                    </a:lnTo>
                    <a:lnTo>
                      <a:pt x="0" y="565404"/>
                    </a:lnTo>
                    <a:close/>
                  </a:path>
                </a:pathLst>
              </a:custGeom>
              <a:noFill/>
              <a:ln w="19812">
                <a:solidFill>
                  <a:srgbClr val="1CADE4"/>
                </a:solidFill>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grpSp>
        <p:pic>
          <p:nvPicPr>
            <p:cNvPr id="80" name="Graphic 79" descr="Target Audience with solid fill">
              <a:extLst>
                <a:ext uri="{FF2B5EF4-FFF2-40B4-BE49-F238E27FC236}">
                  <a16:creationId xmlns:a16="http://schemas.microsoft.com/office/drawing/2014/main" id="{AD078680-2AF4-0E62-A4B9-49CF315611B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7"/>
                </a:ext>
              </a:extLst>
            </a:blip>
            <a:stretch>
              <a:fillRect/>
            </a:stretch>
          </p:blipFill>
          <p:spPr>
            <a:xfrm>
              <a:off x="2929560" y="1508654"/>
              <a:ext cx="432000" cy="417379"/>
            </a:xfrm>
            <a:prstGeom prst="rect">
              <a:avLst/>
            </a:prstGeom>
          </p:spPr>
        </p:pic>
      </p:grpSp>
      <p:sp>
        <p:nvSpPr>
          <p:cNvPr id="81" name="Rectangle 80">
            <a:extLst>
              <a:ext uri="{FF2B5EF4-FFF2-40B4-BE49-F238E27FC236}">
                <a16:creationId xmlns:a16="http://schemas.microsoft.com/office/drawing/2014/main" id="{1A112EB8-143E-BFD6-951A-12E4EAD680AE}"/>
              </a:ext>
            </a:extLst>
          </p:cNvPr>
          <p:cNvSpPr/>
          <p:nvPr/>
        </p:nvSpPr>
        <p:spPr>
          <a:xfrm>
            <a:off x="9709410" y="4579931"/>
            <a:ext cx="1640463" cy="5197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82" name="Rectangle 81">
            <a:extLst>
              <a:ext uri="{FF2B5EF4-FFF2-40B4-BE49-F238E27FC236}">
                <a16:creationId xmlns:a16="http://schemas.microsoft.com/office/drawing/2014/main" id="{423F6762-3617-9C69-C70C-259B6980201E}"/>
              </a:ext>
            </a:extLst>
          </p:cNvPr>
          <p:cNvSpPr/>
          <p:nvPr/>
        </p:nvSpPr>
        <p:spPr>
          <a:xfrm>
            <a:off x="8998539" y="3495089"/>
            <a:ext cx="1640463" cy="5197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grpSp>
        <p:nvGrpSpPr>
          <p:cNvPr id="188" name="Group 187">
            <a:extLst>
              <a:ext uri="{FF2B5EF4-FFF2-40B4-BE49-F238E27FC236}">
                <a16:creationId xmlns:a16="http://schemas.microsoft.com/office/drawing/2014/main" id="{7AF45F80-199C-91A0-A67C-23B29CE35A1A}"/>
              </a:ext>
            </a:extLst>
          </p:cNvPr>
          <p:cNvGrpSpPr/>
          <p:nvPr/>
        </p:nvGrpSpPr>
        <p:grpSpPr>
          <a:xfrm>
            <a:off x="313532" y="4951572"/>
            <a:ext cx="1800000" cy="1047705"/>
            <a:chOff x="371407" y="4951572"/>
            <a:chExt cx="1800000" cy="1047705"/>
          </a:xfrm>
        </p:grpSpPr>
        <p:sp>
          <p:nvSpPr>
            <p:cNvPr id="8" name="TextBox 7">
              <a:extLst>
                <a:ext uri="{FF2B5EF4-FFF2-40B4-BE49-F238E27FC236}">
                  <a16:creationId xmlns:a16="http://schemas.microsoft.com/office/drawing/2014/main" id="{2BD02179-7836-D12D-96D2-8E8FEC543606}"/>
                </a:ext>
              </a:extLst>
            </p:cNvPr>
            <p:cNvSpPr txBox="1"/>
            <p:nvPr/>
          </p:nvSpPr>
          <p:spPr>
            <a:xfrm>
              <a:off x="371407" y="5214447"/>
              <a:ext cx="1800000" cy="784830"/>
            </a:xfrm>
            <a:prstGeom prst="rect">
              <a:avLst/>
            </a:prstGeom>
            <a:noFill/>
          </p:spPr>
          <p:txBody>
            <a:bodyPr wrap="square" lIns="36000" rIns="36000" rtlCol="0">
              <a:spAutoFit/>
            </a:bodyPr>
            <a:lstStyle/>
            <a:p>
              <a:pPr lvl="0" algn="ctr">
                <a:defRPr/>
              </a:pPr>
              <a:r>
                <a:rPr lang="en-IN" sz="900">
                  <a:solidFill>
                    <a:schemeClr val="bg1"/>
                  </a:solidFill>
                  <a:latin typeface="Ubuntu" panose="020B0504030602030204" pitchFamily="34" charset="0"/>
                </a:rPr>
                <a:t>Revenue growth by segment</a:t>
              </a:r>
            </a:p>
            <a:p>
              <a:pPr lvl="0" algn="ctr">
                <a:defRPr/>
              </a:pPr>
              <a:r>
                <a:rPr lang="en-IN" sz="900">
                  <a:solidFill>
                    <a:schemeClr val="bg1"/>
                  </a:solidFill>
                  <a:latin typeface="Ubuntu" panose="020B0504030602030204" pitchFamily="34" charset="0"/>
                </a:rPr>
                <a:t>Network utilisation &amp; capacity monetisation</a:t>
              </a:r>
            </a:p>
            <a:p>
              <a:pPr lvl="0" algn="ctr">
                <a:defRPr/>
              </a:pPr>
              <a:r>
                <a:rPr lang="en-IN" sz="900">
                  <a:solidFill>
                    <a:schemeClr val="bg1"/>
                  </a:solidFill>
                  <a:latin typeface="Ubuntu" panose="020B0504030602030204" pitchFamily="34" charset="0"/>
                </a:rPr>
                <a:t>Share in priority wholesale segments</a:t>
              </a:r>
              <a:endParaRPr kumimoji="0" lang="en-IN" sz="900" b="0" i="0" u="none" strike="noStrike" kern="1200" cap="none" spc="0" normalizeH="0" baseline="0" noProof="0">
                <a:ln>
                  <a:noFill/>
                </a:ln>
                <a:solidFill>
                  <a:schemeClr val="bg1"/>
                </a:solidFill>
                <a:effectLst/>
                <a:uLnTx/>
                <a:uFillTx/>
                <a:latin typeface="Ubuntu" panose="020B0504030602030204" pitchFamily="34" charset="0"/>
              </a:endParaRPr>
            </a:p>
          </p:txBody>
        </p:sp>
        <p:sp>
          <p:nvSpPr>
            <p:cNvPr id="83" name="TextBox 82">
              <a:extLst>
                <a:ext uri="{FF2B5EF4-FFF2-40B4-BE49-F238E27FC236}">
                  <a16:creationId xmlns:a16="http://schemas.microsoft.com/office/drawing/2014/main" id="{5BA76283-01E6-2C68-728D-646853063436}"/>
                </a:ext>
              </a:extLst>
            </p:cNvPr>
            <p:cNvSpPr txBox="1"/>
            <p:nvPr/>
          </p:nvSpPr>
          <p:spPr>
            <a:xfrm>
              <a:off x="515407" y="4951572"/>
              <a:ext cx="1512000"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Ubuntu" panose="020B0504030602030204" pitchFamily="34" charset="0"/>
                  <a:ea typeface="+mn-ea"/>
                  <a:cs typeface="+mn-cs"/>
                </a:rPr>
                <a:t>Success Metrics</a:t>
              </a:r>
              <a:endParaRPr kumimoji="0" lang="en-US" sz="10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grpSp>
      <p:grpSp>
        <p:nvGrpSpPr>
          <p:cNvPr id="189" name="Group 188">
            <a:extLst>
              <a:ext uri="{FF2B5EF4-FFF2-40B4-BE49-F238E27FC236}">
                <a16:creationId xmlns:a16="http://schemas.microsoft.com/office/drawing/2014/main" id="{0BCD3242-5BD9-FF34-249F-E901343E9657}"/>
              </a:ext>
            </a:extLst>
          </p:cNvPr>
          <p:cNvGrpSpPr/>
          <p:nvPr/>
        </p:nvGrpSpPr>
        <p:grpSpPr>
          <a:xfrm>
            <a:off x="2136153" y="4945589"/>
            <a:ext cx="1800000" cy="915189"/>
            <a:chOff x="2189937" y="4945589"/>
            <a:chExt cx="1800000" cy="915189"/>
          </a:xfrm>
        </p:grpSpPr>
        <p:sp>
          <p:nvSpPr>
            <p:cNvPr id="9" name="TextBox 8">
              <a:extLst>
                <a:ext uri="{FF2B5EF4-FFF2-40B4-BE49-F238E27FC236}">
                  <a16:creationId xmlns:a16="http://schemas.microsoft.com/office/drawing/2014/main" id="{ED37F3A5-DC9F-F04B-A52C-3F07A9F3DE56}"/>
                </a:ext>
              </a:extLst>
            </p:cNvPr>
            <p:cNvSpPr txBox="1"/>
            <p:nvPr/>
          </p:nvSpPr>
          <p:spPr>
            <a:xfrm>
              <a:off x="2189937" y="5214447"/>
              <a:ext cx="1800000" cy="646331"/>
            </a:xfrm>
            <a:prstGeom prst="rect">
              <a:avLst/>
            </a:prstGeom>
            <a:noFill/>
          </p:spPr>
          <p:txBody>
            <a:bodyPr wrap="square" lIns="36000" rIns="36000" rtlCol="0">
              <a:spAutoFit/>
            </a:bodyPr>
            <a:lstStyle/>
            <a:p>
              <a:pPr lvl="0" algn="ctr">
                <a:defRPr/>
              </a:pPr>
              <a:r>
                <a:rPr lang="en-IN" sz="900">
                  <a:solidFill>
                    <a:schemeClr val="bg1"/>
                  </a:solidFill>
                  <a:latin typeface="Ubuntu" panose="020B0504030602030204" pitchFamily="34" charset="0"/>
                </a:rPr>
                <a:t>Dedicated strategic account management</a:t>
              </a:r>
            </a:p>
            <a:p>
              <a:pPr lvl="0" algn="ctr">
                <a:defRPr/>
              </a:pPr>
              <a:r>
                <a:rPr lang="en-IN" sz="900">
                  <a:solidFill>
                    <a:schemeClr val="bg1"/>
                  </a:solidFill>
                  <a:latin typeface="Ubuntu" panose="020B0504030602030204" pitchFamily="34" charset="0"/>
                </a:rPr>
                <a:t>High-reliability SLAs for carriers &amp; </a:t>
              </a:r>
              <a:r>
                <a:rPr lang="en-IN" sz="900" err="1">
                  <a:solidFill>
                    <a:schemeClr val="bg1"/>
                  </a:solidFill>
                  <a:latin typeface="Ubuntu" panose="020B0504030602030204" pitchFamily="34" charset="0"/>
                </a:rPr>
                <a:t>hyperscalers</a:t>
              </a:r>
              <a:endParaRPr lang="en-IN" sz="900">
                <a:solidFill>
                  <a:schemeClr val="bg1"/>
                </a:solidFill>
                <a:latin typeface="Ubuntu" panose="020B0504030602030204" pitchFamily="34" charset="0"/>
              </a:endParaRPr>
            </a:p>
          </p:txBody>
        </p:sp>
        <p:sp>
          <p:nvSpPr>
            <p:cNvPr id="84" name="TextBox 83">
              <a:extLst>
                <a:ext uri="{FF2B5EF4-FFF2-40B4-BE49-F238E27FC236}">
                  <a16:creationId xmlns:a16="http://schemas.microsoft.com/office/drawing/2014/main" id="{264B5DAC-1E39-232B-2930-DB0EE2F87045}"/>
                </a:ext>
              </a:extLst>
            </p:cNvPr>
            <p:cNvSpPr txBox="1"/>
            <p:nvPr/>
          </p:nvSpPr>
          <p:spPr>
            <a:xfrm>
              <a:off x="2333937" y="4945589"/>
              <a:ext cx="1512000"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Ubuntu" panose="020B0504030602030204" pitchFamily="34" charset="0"/>
                  <a:ea typeface="+mn-ea"/>
                  <a:cs typeface="+mn-cs"/>
                </a:rPr>
                <a:t>Customer Support</a:t>
              </a:r>
              <a:endParaRPr kumimoji="0" lang="en-US" sz="10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grpSp>
      <p:grpSp>
        <p:nvGrpSpPr>
          <p:cNvPr id="190" name="Group 189">
            <a:extLst>
              <a:ext uri="{FF2B5EF4-FFF2-40B4-BE49-F238E27FC236}">
                <a16:creationId xmlns:a16="http://schemas.microsoft.com/office/drawing/2014/main" id="{101FFB9C-72C3-6A35-528A-4095A671C9CA}"/>
              </a:ext>
            </a:extLst>
          </p:cNvPr>
          <p:cNvGrpSpPr/>
          <p:nvPr/>
        </p:nvGrpSpPr>
        <p:grpSpPr>
          <a:xfrm>
            <a:off x="3958774" y="4914857"/>
            <a:ext cx="1800000" cy="1361419"/>
            <a:chOff x="4051375" y="4914857"/>
            <a:chExt cx="1800000" cy="1361419"/>
          </a:xfrm>
        </p:grpSpPr>
        <p:sp>
          <p:nvSpPr>
            <p:cNvPr id="10" name="TextBox 133">
              <a:extLst>
                <a:ext uri="{FF2B5EF4-FFF2-40B4-BE49-F238E27FC236}">
                  <a16:creationId xmlns:a16="http://schemas.microsoft.com/office/drawing/2014/main" id="{7D8E499F-45DB-1C08-BF7D-13E616E28B90}"/>
                </a:ext>
              </a:extLst>
            </p:cNvPr>
            <p:cNvSpPr txBox="1"/>
            <p:nvPr/>
          </p:nvSpPr>
          <p:spPr>
            <a:xfrm>
              <a:off x="4051375" y="5214447"/>
              <a:ext cx="1800000" cy="1061829"/>
            </a:xfrm>
            <a:prstGeom prst="rect">
              <a:avLst/>
            </a:prstGeom>
            <a:noFill/>
          </p:spPr>
          <p:txBody>
            <a:bodyPr wrap="square" lIns="36000" rIns="36000" rtlCol="0">
              <a:spAutoFit/>
            </a:bodyPr>
            <a:lstStyle/>
            <a:p>
              <a:pPr lvl="0" algn="ctr">
                <a:defRPr/>
              </a:pPr>
              <a:r>
                <a:rPr lang="en-IN" sz="900">
                  <a:solidFill>
                    <a:schemeClr val="bg1"/>
                  </a:solidFill>
                  <a:latin typeface="Ubuntu" panose="020B0504030602030204" pitchFamily="34" charset="0"/>
                </a:rPr>
                <a:t>Establish scalable wholesale operating model</a:t>
              </a:r>
            </a:p>
            <a:p>
              <a:pPr lvl="0" algn="ctr">
                <a:defRPr/>
              </a:pPr>
              <a:r>
                <a:rPr lang="en-IN" sz="900">
                  <a:solidFill>
                    <a:schemeClr val="bg1"/>
                  </a:solidFill>
                  <a:latin typeface="Ubuntu" panose="020B0504030602030204" pitchFamily="34" charset="0"/>
                </a:rPr>
                <a:t>Align governance across network, enterprise, partnerships</a:t>
              </a:r>
            </a:p>
            <a:p>
              <a:pPr lvl="0" algn="ctr">
                <a:defRPr/>
              </a:pPr>
              <a:r>
                <a:rPr lang="en-IN" sz="900">
                  <a:solidFill>
                    <a:schemeClr val="bg1"/>
                  </a:solidFill>
                  <a:latin typeface="Ubuntu" panose="020B0504030602030204" pitchFamily="34" charset="0"/>
                </a:rPr>
                <a:t>Streamline pricing, provisioning, contracting</a:t>
              </a:r>
              <a:endParaRPr kumimoji="0" lang="en-US" sz="900" b="0" i="0" u="none" strike="noStrike" kern="1200" cap="none" spc="0" normalizeH="0" baseline="0" noProof="0">
                <a:ln>
                  <a:noFill/>
                </a:ln>
                <a:solidFill>
                  <a:schemeClr val="bg1"/>
                </a:solidFill>
                <a:effectLst/>
                <a:uLnTx/>
                <a:uFillTx/>
                <a:latin typeface="Ubuntu" panose="020B0504030602030204" pitchFamily="34" charset="0"/>
              </a:endParaRPr>
            </a:p>
          </p:txBody>
        </p:sp>
        <p:sp>
          <p:nvSpPr>
            <p:cNvPr id="85" name="TextBox 84">
              <a:extLst>
                <a:ext uri="{FF2B5EF4-FFF2-40B4-BE49-F238E27FC236}">
                  <a16:creationId xmlns:a16="http://schemas.microsoft.com/office/drawing/2014/main" id="{35089925-CD2E-20EF-E4CB-B893E9751911}"/>
                </a:ext>
              </a:extLst>
            </p:cNvPr>
            <p:cNvSpPr txBox="1"/>
            <p:nvPr/>
          </p:nvSpPr>
          <p:spPr>
            <a:xfrm>
              <a:off x="4195375" y="4914857"/>
              <a:ext cx="151200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Ubuntu" panose="020B0504030602030204" pitchFamily="34" charset="0"/>
                  <a:ea typeface="+mn-ea"/>
                  <a:cs typeface="+mn-cs"/>
                </a:rPr>
                <a:t>Operations Capability Realignment</a:t>
              </a:r>
              <a:endParaRPr kumimoji="0" lang="en-US" sz="10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grpSp>
      <p:grpSp>
        <p:nvGrpSpPr>
          <p:cNvPr id="191" name="Group 190">
            <a:extLst>
              <a:ext uri="{FF2B5EF4-FFF2-40B4-BE49-F238E27FC236}">
                <a16:creationId xmlns:a16="http://schemas.microsoft.com/office/drawing/2014/main" id="{A6D8CDB8-9F9D-C789-0559-2F4EAD959CAB}"/>
              </a:ext>
            </a:extLst>
          </p:cNvPr>
          <p:cNvGrpSpPr/>
          <p:nvPr/>
        </p:nvGrpSpPr>
        <p:grpSpPr>
          <a:xfrm>
            <a:off x="5781395" y="4906272"/>
            <a:ext cx="1800000" cy="1231505"/>
            <a:chOff x="5891359" y="4906272"/>
            <a:chExt cx="1800000" cy="1231505"/>
          </a:xfrm>
        </p:grpSpPr>
        <p:sp>
          <p:nvSpPr>
            <p:cNvPr id="11" name="TextBox 133">
              <a:extLst>
                <a:ext uri="{FF2B5EF4-FFF2-40B4-BE49-F238E27FC236}">
                  <a16:creationId xmlns:a16="http://schemas.microsoft.com/office/drawing/2014/main" id="{6D017AEE-B7C4-6F66-9125-526B3A5DE468}"/>
                </a:ext>
              </a:extLst>
            </p:cNvPr>
            <p:cNvSpPr txBox="1"/>
            <p:nvPr/>
          </p:nvSpPr>
          <p:spPr>
            <a:xfrm>
              <a:off x="5891359" y="5214447"/>
              <a:ext cx="1800000" cy="923330"/>
            </a:xfrm>
            <a:prstGeom prst="rect">
              <a:avLst/>
            </a:prstGeom>
            <a:noFill/>
          </p:spPr>
          <p:txBody>
            <a:bodyPr wrap="square" lIns="36000" rIns="36000" rtlCol="0">
              <a:spAutoFit/>
            </a:bodyPr>
            <a:lstStyle/>
            <a:p>
              <a:pPr lvl="0" algn="ctr">
                <a:defRPr/>
              </a:pPr>
              <a:r>
                <a:rPr lang="en-IN" sz="900">
                  <a:solidFill>
                    <a:schemeClr val="bg1"/>
                  </a:solidFill>
                  <a:latin typeface="Ubuntu" panose="020B0504030602030204" pitchFamily="34" charset="0"/>
                </a:rPr>
                <a:t>Deploy platforms for pricing, quoting, provisioning</a:t>
              </a:r>
            </a:p>
            <a:p>
              <a:pPr lvl="0" algn="ctr">
                <a:defRPr/>
              </a:pPr>
              <a:r>
                <a:rPr lang="en-IN" sz="900">
                  <a:solidFill>
                    <a:schemeClr val="bg1"/>
                  </a:solidFill>
                  <a:latin typeface="Ubuntu" panose="020B0504030602030204" pitchFamily="34" charset="0"/>
                </a:rPr>
                <a:t>Build network visibility (capacity, utilisation, routes)</a:t>
              </a:r>
            </a:p>
            <a:p>
              <a:pPr lvl="0" algn="ctr">
                <a:defRPr/>
              </a:pPr>
              <a:r>
                <a:rPr lang="en-IN" sz="900">
                  <a:solidFill>
                    <a:schemeClr val="bg1"/>
                  </a:solidFill>
                  <a:latin typeface="Ubuntu" panose="020B0504030602030204" pitchFamily="34" charset="0"/>
                </a:rPr>
                <a:t>Enable analytics-driven demand forecasting</a:t>
              </a:r>
              <a:endParaRPr kumimoji="0" lang="en-US" sz="900" b="0" i="0" u="none" strike="noStrike" kern="1200" cap="none" spc="0" normalizeH="0" baseline="0" noProof="0">
                <a:ln>
                  <a:noFill/>
                </a:ln>
                <a:solidFill>
                  <a:schemeClr val="bg1"/>
                </a:solidFill>
                <a:effectLst/>
                <a:uLnTx/>
                <a:uFillTx/>
                <a:latin typeface="Ubuntu" panose="020B0504030602030204" pitchFamily="34" charset="0"/>
              </a:endParaRPr>
            </a:p>
          </p:txBody>
        </p:sp>
        <p:sp>
          <p:nvSpPr>
            <p:cNvPr id="86" name="TextBox 85">
              <a:extLst>
                <a:ext uri="{FF2B5EF4-FFF2-40B4-BE49-F238E27FC236}">
                  <a16:creationId xmlns:a16="http://schemas.microsoft.com/office/drawing/2014/main" id="{BBCC8824-46E5-EA30-8C87-CE8A4AC40C70}"/>
                </a:ext>
              </a:extLst>
            </p:cNvPr>
            <p:cNvSpPr txBox="1"/>
            <p:nvPr/>
          </p:nvSpPr>
          <p:spPr>
            <a:xfrm>
              <a:off x="6035359" y="4906272"/>
              <a:ext cx="151200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Ubuntu" panose="020B0504030602030204" pitchFamily="34" charset="0"/>
                  <a:ea typeface="+mn-ea"/>
                  <a:cs typeface="+mn-cs"/>
                </a:rPr>
                <a:t>Digital Landscape Enablement</a:t>
              </a:r>
              <a:endParaRPr kumimoji="0" lang="en-US" sz="10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grpSp>
      <p:grpSp>
        <p:nvGrpSpPr>
          <p:cNvPr id="192" name="Group 191">
            <a:extLst>
              <a:ext uri="{FF2B5EF4-FFF2-40B4-BE49-F238E27FC236}">
                <a16:creationId xmlns:a16="http://schemas.microsoft.com/office/drawing/2014/main" id="{2B3E8E8C-B074-40A5-4101-C6783166544D}"/>
              </a:ext>
            </a:extLst>
          </p:cNvPr>
          <p:cNvGrpSpPr/>
          <p:nvPr/>
        </p:nvGrpSpPr>
        <p:grpSpPr>
          <a:xfrm>
            <a:off x="7604016" y="4897058"/>
            <a:ext cx="1800000" cy="963720"/>
            <a:chOff x="7731343" y="4897058"/>
            <a:chExt cx="1800000" cy="963720"/>
          </a:xfrm>
        </p:grpSpPr>
        <p:sp>
          <p:nvSpPr>
            <p:cNvPr id="12" name="TextBox 133">
              <a:extLst>
                <a:ext uri="{FF2B5EF4-FFF2-40B4-BE49-F238E27FC236}">
                  <a16:creationId xmlns:a16="http://schemas.microsoft.com/office/drawing/2014/main" id="{511A89C8-C78A-CDB1-E7EB-9B741656DB82}"/>
                </a:ext>
              </a:extLst>
            </p:cNvPr>
            <p:cNvSpPr txBox="1"/>
            <p:nvPr/>
          </p:nvSpPr>
          <p:spPr>
            <a:xfrm>
              <a:off x="7731343" y="5214447"/>
              <a:ext cx="1800000" cy="646331"/>
            </a:xfrm>
            <a:prstGeom prst="rect">
              <a:avLst/>
            </a:prstGeom>
            <a:noFill/>
          </p:spPr>
          <p:txBody>
            <a:bodyPr wrap="square" lIns="36000" rIns="36000" rtlCol="0">
              <a:spAutoFit/>
            </a:bodyPr>
            <a:lstStyle/>
            <a:p>
              <a:pPr lvl="0" algn="ctr">
                <a:defRPr/>
              </a:pPr>
              <a:r>
                <a:rPr lang="en-IN" sz="900">
                  <a:solidFill>
                    <a:schemeClr val="bg1"/>
                  </a:solidFill>
                  <a:latin typeface="Ubuntu" panose="020B0504030602030204" pitchFamily="34" charset="0"/>
                </a:rPr>
                <a:t>Shift from capacity-selling → solution-selling</a:t>
              </a:r>
            </a:p>
            <a:p>
              <a:pPr lvl="0" algn="ctr">
                <a:defRPr/>
              </a:pPr>
              <a:r>
                <a:rPr lang="en-IN" sz="900">
                  <a:solidFill>
                    <a:schemeClr val="bg1"/>
                  </a:solidFill>
                  <a:latin typeface="Ubuntu" panose="020B0504030602030204" pitchFamily="34" charset="0"/>
                </a:rPr>
                <a:t>Equip teams with wholesale &amp; ecosystem propositions</a:t>
              </a:r>
              <a:endParaRPr kumimoji="0" lang="en-US" sz="900" b="1" i="0" u="none" strike="noStrike" kern="1200" cap="none" spc="0" normalizeH="0" baseline="0" noProof="0">
                <a:ln>
                  <a:noFill/>
                </a:ln>
                <a:solidFill>
                  <a:schemeClr val="bg1"/>
                </a:solidFill>
                <a:effectLst/>
                <a:uLnTx/>
                <a:uFillTx/>
                <a:latin typeface="Ubuntu" panose="020B0504030602030204" pitchFamily="34" charset="0"/>
              </a:endParaRPr>
            </a:p>
          </p:txBody>
        </p:sp>
        <p:sp>
          <p:nvSpPr>
            <p:cNvPr id="87" name="TextBox 86">
              <a:extLst>
                <a:ext uri="{FF2B5EF4-FFF2-40B4-BE49-F238E27FC236}">
                  <a16:creationId xmlns:a16="http://schemas.microsoft.com/office/drawing/2014/main" id="{44444DC3-75B8-FB7A-8D1B-BD5E4EEE1423}"/>
                </a:ext>
              </a:extLst>
            </p:cNvPr>
            <p:cNvSpPr txBox="1"/>
            <p:nvPr/>
          </p:nvSpPr>
          <p:spPr>
            <a:xfrm>
              <a:off x="7875343" y="4897058"/>
              <a:ext cx="1512000"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Ubuntu" panose="020B0504030602030204" pitchFamily="34" charset="0"/>
                  <a:ea typeface="+mn-ea"/>
                  <a:cs typeface="+mn-cs"/>
                </a:rPr>
                <a:t>Sales Enablement</a:t>
              </a:r>
              <a:endParaRPr kumimoji="0" lang="en-US" sz="10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grpSp>
      <p:grpSp>
        <p:nvGrpSpPr>
          <p:cNvPr id="193" name="Group 192">
            <a:extLst>
              <a:ext uri="{FF2B5EF4-FFF2-40B4-BE49-F238E27FC236}">
                <a16:creationId xmlns:a16="http://schemas.microsoft.com/office/drawing/2014/main" id="{4D9A06C4-B940-820E-3EF4-85C6195C2B36}"/>
              </a:ext>
            </a:extLst>
          </p:cNvPr>
          <p:cNvGrpSpPr/>
          <p:nvPr/>
        </p:nvGrpSpPr>
        <p:grpSpPr>
          <a:xfrm>
            <a:off x="9426638" y="4886412"/>
            <a:ext cx="1800000" cy="974366"/>
            <a:chOff x="9519238" y="4886412"/>
            <a:chExt cx="1800000" cy="974366"/>
          </a:xfrm>
        </p:grpSpPr>
        <p:sp>
          <p:nvSpPr>
            <p:cNvPr id="13" name="TextBox 133">
              <a:extLst>
                <a:ext uri="{FF2B5EF4-FFF2-40B4-BE49-F238E27FC236}">
                  <a16:creationId xmlns:a16="http://schemas.microsoft.com/office/drawing/2014/main" id="{1F2F8025-FC35-61A9-18FF-806B1F57E00D}"/>
                </a:ext>
              </a:extLst>
            </p:cNvPr>
            <p:cNvSpPr txBox="1"/>
            <p:nvPr/>
          </p:nvSpPr>
          <p:spPr>
            <a:xfrm>
              <a:off x="9519238" y="5214447"/>
              <a:ext cx="1800000" cy="646331"/>
            </a:xfrm>
            <a:prstGeom prst="rect">
              <a:avLst/>
            </a:prstGeom>
            <a:noFill/>
          </p:spPr>
          <p:txBody>
            <a:bodyPr wrap="square" lIns="36000" rIns="36000" rtlCol="0">
              <a:spAutoFit/>
            </a:bodyPr>
            <a:lstStyle/>
            <a:p>
              <a:pPr lvl="0" algn="ctr" fontAlgn="base">
                <a:defRPr/>
              </a:pPr>
              <a:r>
                <a:rPr lang="en-IN" sz="900">
                  <a:solidFill>
                    <a:schemeClr val="bg1"/>
                  </a:solidFill>
                  <a:latin typeface="Ubuntu" panose="020B0504030602030204" pitchFamily="34" charset="0"/>
                </a:rPr>
                <a:t>Continuous optimisation via customer feedback loops</a:t>
              </a:r>
            </a:p>
            <a:p>
              <a:pPr lvl="0" algn="ctr" fontAlgn="base">
                <a:defRPr/>
              </a:pPr>
              <a:r>
                <a:rPr lang="en-IN" sz="900">
                  <a:solidFill>
                    <a:schemeClr val="bg1"/>
                  </a:solidFill>
                  <a:latin typeface="Ubuntu" panose="020B0504030602030204" pitchFamily="34" charset="0"/>
                </a:rPr>
                <a:t>Refine pricing, portfolio, and utilisation</a:t>
              </a:r>
              <a:endParaRPr kumimoji="0" lang="en-US" sz="900" b="0" i="0" u="none" strike="noStrike" kern="1200" cap="none" spc="0" normalizeH="0" baseline="0" noProof="0">
                <a:ln>
                  <a:noFill/>
                </a:ln>
                <a:solidFill>
                  <a:schemeClr val="bg1"/>
                </a:solidFill>
                <a:effectLst/>
                <a:uLnTx/>
                <a:uFillTx/>
                <a:latin typeface="Ubuntu" panose="020B0504030602030204" pitchFamily="34" charset="0"/>
              </a:endParaRPr>
            </a:p>
          </p:txBody>
        </p:sp>
        <p:sp>
          <p:nvSpPr>
            <p:cNvPr id="88" name="TextBox 87">
              <a:extLst>
                <a:ext uri="{FF2B5EF4-FFF2-40B4-BE49-F238E27FC236}">
                  <a16:creationId xmlns:a16="http://schemas.microsoft.com/office/drawing/2014/main" id="{F7D31E40-050B-4BB9-0C52-6FCC680AD10F}"/>
                </a:ext>
              </a:extLst>
            </p:cNvPr>
            <p:cNvSpPr txBox="1"/>
            <p:nvPr/>
          </p:nvSpPr>
          <p:spPr>
            <a:xfrm>
              <a:off x="9519238" y="4886412"/>
              <a:ext cx="180000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Ubuntu" panose="020B0504030602030204" pitchFamily="34" charset="0"/>
                  <a:ea typeface="+mn-ea"/>
                  <a:cs typeface="+mn-cs"/>
                </a:rPr>
                <a:t>Operational Sustainability and Review</a:t>
              </a:r>
              <a:r>
                <a:rPr kumimoji="0" lang="en-US" sz="1000" b="1" i="0" u="none" strike="noStrike" kern="1200" cap="none" spc="0" normalizeH="0" baseline="0" noProof="0">
                  <a:ln>
                    <a:noFill/>
                  </a:ln>
                  <a:solidFill>
                    <a:schemeClr val="bg1"/>
                  </a:solidFill>
                  <a:effectLst/>
                  <a:uLnTx/>
                  <a:uFillTx/>
                  <a:latin typeface="Ubuntu" panose="020B0504030602030204" pitchFamily="34" charset="0"/>
                  <a:ea typeface="+mn-ea"/>
                  <a:cs typeface="+mn-cs"/>
                </a:rPr>
                <a:t> </a:t>
              </a:r>
              <a:endParaRPr kumimoji="0" lang="en-US" sz="10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grpSp>
      <p:sp>
        <p:nvSpPr>
          <p:cNvPr id="89" name="Rectangle 88">
            <a:extLst>
              <a:ext uri="{FF2B5EF4-FFF2-40B4-BE49-F238E27FC236}">
                <a16:creationId xmlns:a16="http://schemas.microsoft.com/office/drawing/2014/main" id="{B3F01A95-5E98-1053-2026-C75B79CB2917}"/>
              </a:ext>
            </a:extLst>
          </p:cNvPr>
          <p:cNvSpPr/>
          <p:nvPr/>
        </p:nvSpPr>
        <p:spPr>
          <a:xfrm>
            <a:off x="0" y="6207908"/>
            <a:ext cx="12192000" cy="695509"/>
          </a:xfrm>
          <a:prstGeom prst="rect">
            <a:avLst/>
          </a:prstGeom>
          <a:solidFill>
            <a:srgbClr val="006EAC">
              <a:alpha val="7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90" name="TextBox 89">
            <a:extLst>
              <a:ext uri="{FF2B5EF4-FFF2-40B4-BE49-F238E27FC236}">
                <a16:creationId xmlns:a16="http://schemas.microsoft.com/office/drawing/2014/main" id="{FA064397-9CD4-5ED6-8CF3-CAA9075319BF}"/>
              </a:ext>
            </a:extLst>
          </p:cNvPr>
          <p:cNvSpPr txBox="1"/>
          <p:nvPr/>
        </p:nvSpPr>
        <p:spPr>
          <a:xfrm>
            <a:off x="133564" y="6423973"/>
            <a:ext cx="1748700"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a:ln>
                  <a:noFill/>
                </a:ln>
                <a:solidFill>
                  <a:schemeClr val="bg1"/>
                </a:solidFill>
                <a:effectLst/>
                <a:uLnTx/>
                <a:uFillTx/>
                <a:latin typeface="Ubuntu" panose="020B0504030602030204" pitchFamily="34" charset="0"/>
                <a:ea typeface="+mn-ea"/>
                <a:cs typeface="+mn-cs"/>
              </a:rPr>
              <a:t>Our Capabilities:</a:t>
            </a:r>
            <a:endParaRPr kumimoji="0" lang="en-US" sz="1300" b="1"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91" name="Rectangle 90">
            <a:extLst>
              <a:ext uri="{FF2B5EF4-FFF2-40B4-BE49-F238E27FC236}">
                <a16:creationId xmlns:a16="http://schemas.microsoft.com/office/drawing/2014/main" id="{8D310C38-BEC4-A297-4309-F8733FE4CFBB}"/>
              </a:ext>
            </a:extLst>
          </p:cNvPr>
          <p:cNvSpPr/>
          <p:nvPr/>
        </p:nvSpPr>
        <p:spPr>
          <a:xfrm>
            <a:off x="1815334" y="6389789"/>
            <a:ext cx="1158960" cy="372869"/>
          </a:xfrm>
          <a:prstGeom prst="rect">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50" b="1" i="0" u="none" strike="noStrike" kern="1200" cap="none" spc="0" normalizeH="0" baseline="0" noProof="0">
                <a:ln>
                  <a:noFill/>
                </a:ln>
                <a:solidFill>
                  <a:schemeClr val="tx1"/>
                </a:solidFill>
                <a:effectLst/>
                <a:uLnTx/>
                <a:uFillTx/>
                <a:latin typeface="Ubuntu" panose="020B0504030602030204" pitchFamily="34" charset="0"/>
                <a:ea typeface="+mn-ea"/>
                <a:cs typeface="+mn-cs"/>
              </a:rPr>
              <a:t>GTM strategy</a:t>
            </a:r>
            <a:endParaRPr kumimoji="0" lang="en-US" sz="950" b="1" i="0" u="none" strike="noStrike" kern="1200" cap="none" spc="0" normalizeH="0" baseline="0" noProof="0">
              <a:ln>
                <a:noFill/>
              </a:ln>
              <a:solidFill>
                <a:schemeClr val="tx1"/>
              </a:solidFill>
              <a:effectLst/>
              <a:uLnTx/>
              <a:uFillTx/>
              <a:latin typeface="Ubuntu" panose="020B0504030602030204" pitchFamily="34" charset="0"/>
              <a:ea typeface="+mn-ea"/>
              <a:cs typeface="+mn-cs"/>
            </a:endParaRPr>
          </a:p>
        </p:txBody>
      </p:sp>
      <p:sp>
        <p:nvSpPr>
          <p:cNvPr id="92" name="Rectangle 91">
            <a:extLst>
              <a:ext uri="{FF2B5EF4-FFF2-40B4-BE49-F238E27FC236}">
                <a16:creationId xmlns:a16="http://schemas.microsoft.com/office/drawing/2014/main" id="{D5B3BFA8-9062-66C5-4AEA-C2C2030FA1F5}"/>
              </a:ext>
            </a:extLst>
          </p:cNvPr>
          <p:cNvSpPr/>
          <p:nvPr/>
        </p:nvSpPr>
        <p:spPr>
          <a:xfrm>
            <a:off x="3071430" y="6396755"/>
            <a:ext cx="1158960" cy="353762"/>
          </a:xfrm>
          <a:prstGeom prst="rect">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50" b="1" i="0" u="none" strike="noStrike" kern="1200" cap="none" spc="0" normalizeH="0" baseline="0" noProof="0">
                <a:ln>
                  <a:noFill/>
                </a:ln>
                <a:solidFill>
                  <a:schemeClr val="tx1"/>
                </a:solidFill>
                <a:effectLst/>
                <a:uLnTx/>
                <a:uFillTx/>
                <a:latin typeface="Ubuntu" panose="020B0504030602030204" pitchFamily="34" charset="0"/>
                <a:ea typeface="+mn-ea"/>
                <a:cs typeface="+mn-cs"/>
              </a:rPr>
              <a:t>Business Model Strategy</a:t>
            </a:r>
            <a:endParaRPr kumimoji="0" lang="en-US" sz="950" b="1" i="0" u="none" strike="noStrike" kern="1200" cap="none" spc="0" normalizeH="0" baseline="0" noProof="0">
              <a:ln>
                <a:noFill/>
              </a:ln>
              <a:solidFill>
                <a:schemeClr val="tx1"/>
              </a:solidFill>
              <a:effectLst/>
              <a:uLnTx/>
              <a:uFillTx/>
              <a:latin typeface="Ubuntu" panose="020B0504030602030204" pitchFamily="34" charset="0"/>
              <a:ea typeface="+mn-ea"/>
              <a:cs typeface="+mn-cs"/>
            </a:endParaRPr>
          </a:p>
        </p:txBody>
      </p:sp>
      <p:sp>
        <p:nvSpPr>
          <p:cNvPr id="93" name="Rectangle 92">
            <a:extLst>
              <a:ext uri="{FF2B5EF4-FFF2-40B4-BE49-F238E27FC236}">
                <a16:creationId xmlns:a16="http://schemas.microsoft.com/office/drawing/2014/main" id="{762E7DDD-6816-E594-4EE4-010BECC8DEBE}"/>
              </a:ext>
            </a:extLst>
          </p:cNvPr>
          <p:cNvSpPr/>
          <p:nvPr/>
        </p:nvSpPr>
        <p:spPr>
          <a:xfrm>
            <a:off x="5595662" y="6388298"/>
            <a:ext cx="1158960" cy="353762"/>
          </a:xfrm>
          <a:prstGeom prst="rect">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50" b="1" i="0" u="none" strike="noStrike" kern="1200" cap="none" spc="0" normalizeH="0" baseline="0" noProof="0">
                <a:ln>
                  <a:noFill/>
                </a:ln>
                <a:solidFill>
                  <a:schemeClr val="tx1"/>
                </a:solidFill>
                <a:effectLst/>
                <a:uLnTx/>
                <a:uFillTx/>
                <a:latin typeface="Ubuntu" panose="020B0504030602030204" pitchFamily="34" charset="0"/>
                <a:ea typeface="+mn-ea"/>
                <a:cs typeface="+mn-cs"/>
              </a:rPr>
              <a:t>Customer and Market Analysis</a:t>
            </a:r>
            <a:endParaRPr kumimoji="0" lang="en-US" sz="950" b="1" i="0" u="none" strike="noStrike" kern="1200" cap="none" spc="0" normalizeH="0" baseline="0" noProof="0">
              <a:ln>
                <a:noFill/>
              </a:ln>
              <a:solidFill>
                <a:schemeClr val="tx1"/>
              </a:solidFill>
              <a:effectLst/>
              <a:uLnTx/>
              <a:uFillTx/>
              <a:latin typeface="Ubuntu" panose="020B0504030602030204" pitchFamily="34" charset="0"/>
              <a:ea typeface="+mn-ea"/>
              <a:cs typeface="+mn-cs"/>
            </a:endParaRPr>
          </a:p>
        </p:txBody>
      </p:sp>
      <p:sp>
        <p:nvSpPr>
          <p:cNvPr id="94" name="Rectangle 93">
            <a:extLst>
              <a:ext uri="{FF2B5EF4-FFF2-40B4-BE49-F238E27FC236}">
                <a16:creationId xmlns:a16="http://schemas.microsoft.com/office/drawing/2014/main" id="{6FC29E3F-C185-6F93-1CB6-C1A5C4F20A6E}"/>
              </a:ext>
            </a:extLst>
          </p:cNvPr>
          <p:cNvSpPr/>
          <p:nvPr/>
        </p:nvSpPr>
        <p:spPr>
          <a:xfrm>
            <a:off x="10757285" y="6386871"/>
            <a:ext cx="1158960" cy="353762"/>
          </a:xfrm>
          <a:prstGeom prst="rect">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50" b="1" i="0" u="none" strike="noStrike" kern="1200" cap="none" spc="0" normalizeH="0" baseline="0" noProof="0">
                <a:ln>
                  <a:noFill/>
                </a:ln>
                <a:solidFill>
                  <a:schemeClr val="tx1"/>
                </a:solidFill>
                <a:effectLst/>
                <a:uLnTx/>
                <a:uFillTx/>
                <a:latin typeface="Ubuntu" panose="020B0504030602030204" pitchFamily="34" charset="0"/>
                <a:ea typeface="+mn-ea"/>
                <a:cs typeface="+mn-cs"/>
              </a:rPr>
              <a:t>Agile Program Management</a:t>
            </a:r>
            <a:endParaRPr kumimoji="0" lang="en-US" sz="950" b="1" i="0" u="none" strike="noStrike" kern="1200" cap="none" spc="0" normalizeH="0" baseline="0" noProof="0">
              <a:ln>
                <a:noFill/>
              </a:ln>
              <a:solidFill>
                <a:schemeClr val="tx1"/>
              </a:solidFill>
              <a:effectLst/>
              <a:uLnTx/>
              <a:uFillTx/>
              <a:latin typeface="Ubuntu" panose="020B0504030602030204" pitchFamily="34" charset="0"/>
              <a:ea typeface="+mn-ea"/>
              <a:cs typeface="+mn-cs"/>
            </a:endParaRPr>
          </a:p>
        </p:txBody>
      </p:sp>
      <p:sp>
        <p:nvSpPr>
          <p:cNvPr id="95" name="Rectangle 94">
            <a:extLst>
              <a:ext uri="{FF2B5EF4-FFF2-40B4-BE49-F238E27FC236}">
                <a16:creationId xmlns:a16="http://schemas.microsoft.com/office/drawing/2014/main" id="{F90F78CD-A632-B366-4A3B-8FC8D9D7152D}"/>
              </a:ext>
            </a:extLst>
          </p:cNvPr>
          <p:cNvSpPr/>
          <p:nvPr/>
        </p:nvSpPr>
        <p:spPr>
          <a:xfrm>
            <a:off x="6842706" y="6371128"/>
            <a:ext cx="1158960" cy="379389"/>
          </a:xfrm>
          <a:prstGeom prst="rect">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50" b="1" i="0" u="none" strike="noStrike" kern="1200" cap="none" spc="0" normalizeH="0" baseline="0" noProof="0">
                <a:ln>
                  <a:noFill/>
                </a:ln>
                <a:solidFill>
                  <a:schemeClr val="tx1"/>
                </a:solidFill>
                <a:effectLst/>
                <a:uLnTx/>
                <a:uFillTx/>
                <a:latin typeface="Ubuntu" panose="020B0504030602030204" pitchFamily="34" charset="0"/>
                <a:ea typeface="+mn-ea"/>
                <a:cs typeface="+mn-cs"/>
              </a:rPr>
              <a:t>Digital Transformation</a:t>
            </a:r>
            <a:endParaRPr kumimoji="0" lang="en-US" sz="950" b="1" i="0" u="none" strike="noStrike" kern="1200" cap="none" spc="0" normalizeH="0" baseline="0" noProof="0">
              <a:ln>
                <a:noFill/>
              </a:ln>
              <a:solidFill>
                <a:schemeClr val="tx1"/>
              </a:solidFill>
              <a:effectLst/>
              <a:uLnTx/>
              <a:uFillTx/>
              <a:latin typeface="Ubuntu" panose="020B0504030602030204" pitchFamily="34" charset="0"/>
              <a:ea typeface="+mn-ea"/>
              <a:cs typeface="+mn-cs"/>
            </a:endParaRPr>
          </a:p>
        </p:txBody>
      </p:sp>
      <p:sp>
        <p:nvSpPr>
          <p:cNvPr id="96" name="Rectangle 95">
            <a:extLst>
              <a:ext uri="{FF2B5EF4-FFF2-40B4-BE49-F238E27FC236}">
                <a16:creationId xmlns:a16="http://schemas.microsoft.com/office/drawing/2014/main" id="{B91A3629-6C50-BDB3-F587-F4EDF09382F7}"/>
              </a:ext>
            </a:extLst>
          </p:cNvPr>
          <p:cNvSpPr/>
          <p:nvPr/>
        </p:nvSpPr>
        <p:spPr>
          <a:xfrm>
            <a:off x="8087232" y="6364715"/>
            <a:ext cx="1158960" cy="379388"/>
          </a:xfrm>
          <a:prstGeom prst="rect">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50" b="1" i="0" u="none" strike="noStrike" kern="1200" cap="none" spc="0" normalizeH="0" baseline="0" noProof="0">
                <a:ln>
                  <a:noFill/>
                </a:ln>
                <a:solidFill>
                  <a:schemeClr val="tx1"/>
                </a:solidFill>
                <a:effectLst/>
                <a:uLnTx/>
                <a:uFillTx/>
                <a:latin typeface="Ubuntu" panose="020B0504030602030204" pitchFamily="34" charset="0"/>
                <a:ea typeface="+mn-ea"/>
                <a:cs typeface="+mn-cs"/>
              </a:rPr>
              <a:t>Process Redesign</a:t>
            </a:r>
            <a:endParaRPr kumimoji="0" lang="en-US" sz="950" b="1" i="0" u="none" strike="noStrike" kern="1200" cap="none" spc="0" normalizeH="0" baseline="0" noProof="0">
              <a:ln>
                <a:noFill/>
              </a:ln>
              <a:solidFill>
                <a:schemeClr val="tx1"/>
              </a:solidFill>
              <a:effectLst/>
              <a:uLnTx/>
              <a:uFillTx/>
              <a:latin typeface="Ubuntu" panose="020B0504030602030204" pitchFamily="34" charset="0"/>
              <a:ea typeface="+mn-ea"/>
              <a:cs typeface="+mn-cs"/>
            </a:endParaRPr>
          </a:p>
        </p:txBody>
      </p:sp>
      <p:sp>
        <p:nvSpPr>
          <p:cNvPr id="97" name="Rectangle 96">
            <a:extLst>
              <a:ext uri="{FF2B5EF4-FFF2-40B4-BE49-F238E27FC236}">
                <a16:creationId xmlns:a16="http://schemas.microsoft.com/office/drawing/2014/main" id="{B942EC91-FE59-8869-397B-72B0E0BABBE3}"/>
              </a:ext>
            </a:extLst>
          </p:cNvPr>
          <p:cNvSpPr/>
          <p:nvPr/>
        </p:nvSpPr>
        <p:spPr>
          <a:xfrm>
            <a:off x="9310264" y="6376997"/>
            <a:ext cx="1312769" cy="353762"/>
          </a:xfrm>
          <a:prstGeom prst="rect">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chemeClr val="tx1"/>
                </a:solidFill>
                <a:effectLst/>
                <a:uLnTx/>
                <a:uFillTx/>
                <a:latin typeface="Ubuntu" panose="020B0504030602030204" pitchFamily="34" charset="0"/>
                <a:ea typeface="+mn-ea"/>
                <a:cs typeface="+mn-cs"/>
              </a:rPr>
              <a:t>Marketing, Campaigns &amp; content</a:t>
            </a:r>
          </a:p>
        </p:txBody>
      </p:sp>
      <p:sp>
        <p:nvSpPr>
          <p:cNvPr id="98" name="Rectangle 97">
            <a:extLst>
              <a:ext uri="{FF2B5EF4-FFF2-40B4-BE49-F238E27FC236}">
                <a16:creationId xmlns:a16="http://schemas.microsoft.com/office/drawing/2014/main" id="{A9BDD289-52C2-F13B-2039-E6A6FD30F65D}"/>
              </a:ext>
            </a:extLst>
          </p:cNvPr>
          <p:cNvSpPr/>
          <p:nvPr/>
        </p:nvSpPr>
        <p:spPr>
          <a:xfrm>
            <a:off x="4333546" y="6396755"/>
            <a:ext cx="1158960" cy="353762"/>
          </a:xfrm>
          <a:prstGeom prst="rect">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chemeClr val="tx1"/>
                </a:solidFill>
                <a:effectLst/>
                <a:uLnTx/>
                <a:uFillTx/>
                <a:latin typeface="Ubuntu" panose="020B0504030602030204" pitchFamily="34" charset="0"/>
                <a:ea typeface="+mn-ea"/>
                <a:cs typeface="+mn-cs"/>
              </a:rPr>
              <a:t>Portfolio Diversification </a:t>
            </a:r>
          </a:p>
        </p:txBody>
      </p:sp>
      <p:grpSp>
        <p:nvGrpSpPr>
          <p:cNvPr id="99" name="Group 98">
            <a:extLst>
              <a:ext uri="{FF2B5EF4-FFF2-40B4-BE49-F238E27FC236}">
                <a16:creationId xmlns:a16="http://schemas.microsoft.com/office/drawing/2014/main" id="{A1B6A049-92EB-F7F0-79CE-CFE1551CCB18}"/>
              </a:ext>
            </a:extLst>
          </p:cNvPr>
          <p:cNvGrpSpPr>
            <a:grpSpLocks/>
          </p:cNvGrpSpPr>
          <p:nvPr/>
        </p:nvGrpSpPr>
        <p:grpSpPr bwMode="auto">
          <a:xfrm>
            <a:off x="11106931" y="2662488"/>
            <a:ext cx="1197333" cy="1336098"/>
            <a:chOff x="10204853" y="1729843"/>
            <a:chExt cx="1171444" cy="1224343"/>
          </a:xfrm>
          <a:noFill/>
        </p:grpSpPr>
        <p:sp>
          <p:nvSpPr>
            <p:cNvPr id="100" name="object 17">
              <a:extLst>
                <a:ext uri="{FF2B5EF4-FFF2-40B4-BE49-F238E27FC236}">
                  <a16:creationId xmlns:a16="http://schemas.microsoft.com/office/drawing/2014/main" id="{784CB288-5C9A-C4BA-80F5-4711AA1B723F}"/>
                </a:ext>
              </a:extLst>
            </p:cNvPr>
            <p:cNvSpPr/>
            <p:nvPr/>
          </p:nvSpPr>
          <p:spPr>
            <a:xfrm>
              <a:off x="10273987" y="1793270"/>
              <a:ext cx="1040857" cy="1160916"/>
            </a:xfrm>
            <a:custGeom>
              <a:avLst/>
              <a:gdLst/>
              <a:ahLst/>
              <a:cxnLst/>
              <a:rect l="l" t="t" r="r" b="b"/>
              <a:pathLst>
                <a:path w="1259839" h="1405254">
                  <a:moveTo>
                    <a:pt x="556132" y="0"/>
                  </a:moveTo>
                  <a:lnTo>
                    <a:pt x="604293" y="1620"/>
                  </a:lnTo>
                  <a:lnTo>
                    <a:pt x="651582" y="6414"/>
                  </a:lnTo>
                  <a:lnTo>
                    <a:pt x="697894" y="14274"/>
                  </a:lnTo>
                  <a:lnTo>
                    <a:pt x="743124" y="25098"/>
                  </a:lnTo>
                  <a:lnTo>
                    <a:pt x="787169" y="38780"/>
                  </a:lnTo>
                  <a:lnTo>
                    <a:pt x="829923" y="55215"/>
                  </a:lnTo>
                  <a:lnTo>
                    <a:pt x="871281" y="74299"/>
                  </a:lnTo>
                  <a:lnTo>
                    <a:pt x="911140" y="95927"/>
                  </a:lnTo>
                  <a:lnTo>
                    <a:pt x="949394" y="119994"/>
                  </a:lnTo>
                  <a:lnTo>
                    <a:pt x="985938" y="146397"/>
                  </a:lnTo>
                  <a:lnTo>
                    <a:pt x="1020669" y="175029"/>
                  </a:lnTo>
                  <a:lnTo>
                    <a:pt x="1053480" y="205787"/>
                  </a:lnTo>
                  <a:lnTo>
                    <a:pt x="1084269" y="238566"/>
                  </a:lnTo>
                  <a:lnTo>
                    <a:pt x="1112929" y="273261"/>
                  </a:lnTo>
                  <a:lnTo>
                    <a:pt x="1139356" y="309767"/>
                  </a:lnTo>
                  <a:lnTo>
                    <a:pt x="1163447" y="347980"/>
                  </a:lnTo>
                  <a:lnTo>
                    <a:pt x="1185094" y="387794"/>
                  </a:lnTo>
                  <a:lnTo>
                    <a:pt x="1204196" y="429107"/>
                  </a:lnTo>
                  <a:lnTo>
                    <a:pt x="1220645" y="471812"/>
                  </a:lnTo>
                  <a:lnTo>
                    <a:pt x="1234339" y="515805"/>
                  </a:lnTo>
                  <a:lnTo>
                    <a:pt x="1245172" y="560981"/>
                  </a:lnTo>
                  <a:lnTo>
                    <a:pt x="1253039" y="607236"/>
                  </a:lnTo>
                  <a:lnTo>
                    <a:pt x="1257836" y="654465"/>
                  </a:lnTo>
                  <a:lnTo>
                    <a:pt x="1259459" y="702563"/>
                  </a:lnTo>
                  <a:lnTo>
                    <a:pt x="1257836" y="750662"/>
                  </a:lnTo>
                  <a:lnTo>
                    <a:pt x="1253039" y="797891"/>
                  </a:lnTo>
                  <a:lnTo>
                    <a:pt x="1245172" y="844146"/>
                  </a:lnTo>
                  <a:lnTo>
                    <a:pt x="1234339" y="889322"/>
                  </a:lnTo>
                  <a:lnTo>
                    <a:pt x="1220645" y="933315"/>
                  </a:lnTo>
                  <a:lnTo>
                    <a:pt x="1204196" y="976020"/>
                  </a:lnTo>
                  <a:lnTo>
                    <a:pt x="1185094" y="1017333"/>
                  </a:lnTo>
                  <a:lnTo>
                    <a:pt x="1163447" y="1057147"/>
                  </a:lnTo>
                  <a:lnTo>
                    <a:pt x="1139356" y="1095360"/>
                  </a:lnTo>
                  <a:lnTo>
                    <a:pt x="1112929" y="1131866"/>
                  </a:lnTo>
                  <a:lnTo>
                    <a:pt x="1084269" y="1166561"/>
                  </a:lnTo>
                  <a:lnTo>
                    <a:pt x="1053480" y="1199340"/>
                  </a:lnTo>
                  <a:lnTo>
                    <a:pt x="1020669" y="1230098"/>
                  </a:lnTo>
                  <a:lnTo>
                    <a:pt x="985938" y="1258730"/>
                  </a:lnTo>
                  <a:lnTo>
                    <a:pt x="949394" y="1285133"/>
                  </a:lnTo>
                  <a:lnTo>
                    <a:pt x="911140" y="1309200"/>
                  </a:lnTo>
                  <a:lnTo>
                    <a:pt x="871281" y="1330828"/>
                  </a:lnTo>
                  <a:lnTo>
                    <a:pt x="829923" y="1349912"/>
                  </a:lnTo>
                  <a:lnTo>
                    <a:pt x="787169" y="1366347"/>
                  </a:lnTo>
                  <a:lnTo>
                    <a:pt x="743124" y="1380029"/>
                  </a:lnTo>
                  <a:lnTo>
                    <a:pt x="697894" y="1390853"/>
                  </a:lnTo>
                  <a:lnTo>
                    <a:pt x="651582" y="1398713"/>
                  </a:lnTo>
                  <a:lnTo>
                    <a:pt x="604293" y="1403507"/>
                  </a:lnTo>
                  <a:lnTo>
                    <a:pt x="556132" y="1405128"/>
                  </a:lnTo>
                  <a:lnTo>
                    <a:pt x="506172" y="1403355"/>
                  </a:lnTo>
                  <a:lnTo>
                    <a:pt x="456808" y="1398092"/>
                  </a:lnTo>
                  <a:lnTo>
                    <a:pt x="408205" y="1389418"/>
                  </a:lnTo>
                  <a:lnTo>
                    <a:pt x="360525" y="1377414"/>
                  </a:lnTo>
                  <a:lnTo>
                    <a:pt x="313933" y="1362159"/>
                  </a:lnTo>
                  <a:lnTo>
                    <a:pt x="268593" y="1343733"/>
                  </a:lnTo>
                  <a:lnTo>
                    <a:pt x="224667" y="1322217"/>
                  </a:lnTo>
                  <a:lnTo>
                    <a:pt x="182321" y="1297691"/>
                  </a:lnTo>
                  <a:lnTo>
                    <a:pt x="141717" y="1270235"/>
                  </a:lnTo>
                  <a:lnTo>
                    <a:pt x="103019" y="1239929"/>
                  </a:lnTo>
                  <a:lnTo>
                    <a:pt x="66391" y="1206853"/>
                  </a:lnTo>
                  <a:lnTo>
                    <a:pt x="31997" y="1171088"/>
                  </a:lnTo>
                  <a:lnTo>
                    <a:pt x="0" y="1132713"/>
                  </a:lnTo>
                </a:path>
              </a:pathLst>
            </a:custGeom>
            <a:grpFill/>
            <a:ln w="15240">
              <a:solidFill>
                <a:srgbClr val="006EAC"/>
              </a:solidFill>
            </a:ln>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01" name="object 18">
              <a:extLst>
                <a:ext uri="{FF2B5EF4-FFF2-40B4-BE49-F238E27FC236}">
                  <a16:creationId xmlns:a16="http://schemas.microsoft.com/office/drawing/2014/main" id="{57C8F3A6-E3D4-FF45-66EE-45FF7B009F59}"/>
                </a:ext>
              </a:extLst>
            </p:cNvPr>
            <p:cNvSpPr/>
            <p:nvPr/>
          </p:nvSpPr>
          <p:spPr>
            <a:xfrm>
              <a:off x="10204853" y="1845166"/>
              <a:ext cx="1056220" cy="1057126"/>
            </a:xfrm>
            <a:custGeom>
              <a:avLst/>
              <a:gdLst/>
              <a:ahLst/>
              <a:cxnLst/>
              <a:rect l="l" t="t" r="r" b="b"/>
              <a:pathLst>
                <a:path w="1278889" h="1277620">
                  <a:moveTo>
                    <a:pt x="639317" y="0"/>
                  </a:moveTo>
                  <a:lnTo>
                    <a:pt x="687027" y="1751"/>
                  </a:lnTo>
                  <a:lnTo>
                    <a:pt x="733785" y="6923"/>
                  </a:lnTo>
                  <a:lnTo>
                    <a:pt x="779468" y="15392"/>
                  </a:lnTo>
                  <a:lnTo>
                    <a:pt x="823952" y="27034"/>
                  </a:lnTo>
                  <a:lnTo>
                    <a:pt x="867112" y="41727"/>
                  </a:lnTo>
                  <a:lnTo>
                    <a:pt x="908827" y="59346"/>
                  </a:lnTo>
                  <a:lnTo>
                    <a:pt x="948971" y="79769"/>
                  </a:lnTo>
                  <a:lnTo>
                    <a:pt x="987422" y="102871"/>
                  </a:lnTo>
                  <a:lnTo>
                    <a:pt x="1024055" y="128530"/>
                  </a:lnTo>
                  <a:lnTo>
                    <a:pt x="1058747" y="156622"/>
                  </a:lnTo>
                  <a:lnTo>
                    <a:pt x="1091374" y="187023"/>
                  </a:lnTo>
                  <a:lnTo>
                    <a:pt x="1121813" y="219610"/>
                  </a:lnTo>
                  <a:lnTo>
                    <a:pt x="1149940" y="254260"/>
                  </a:lnTo>
                  <a:lnTo>
                    <a:pt x="1175631" y="290849"/>
                  </a:lnTo>
                  <a:lnTo>
                    <a:pt x="1198763" y="329253"/>
                  </a:lnTo>
                  <a:lnTo>
                    <a:pt x="1219212" y="369350"/>
                  </a:lnTo>
                  <a:lnTo>
                    <a:pt x="1236854" y="411016"/>
                  </a:lnTo>
                  <a:lnTo>
                    <a:pt x="1251565" y="454127"/>
                  </a:lnTo>
                  <a:lnTo>
                    <a:pt x="1263223" y="498560"/>
                  </a:lnTo>
                  <a:lnTo>
                    <a:pt x="1271703" y="544191"/>
                  </a:lnTo>
                  <a:lnTo>
                    <a:pt x="1276882" y="590898"/>
                  </a:lnTo>
                  <a:lnTo>
                    <a:pt x="1278636" y="638555"/>
                  </a:lnTo>
                  <a:lnTo>
                    <a:pt x="1276882" y="686213"/>
                  </a:lnTo>
                  <a:lnTo>
                    <a:pt x="1271703" y="732920"/>
                  </a:lnTo>
                  <a:lnTo>
                    <a:pt x="1263223" y="778551"/>
                  </a:lnTo>
                  <a:lnTo>
                    <a:pt x="1251565" y="822984"/>
                  </a:lnTo>
                  <a:lnTo>
                    <a:pt x="1236854" y="866095"/>
                  </a:lnTo>
                  <a:lnTo>
                    <a:pt x="1219212" y="907761"/>
                  </a:lnTo>
                  <a:lnTo>
                    <a:pt x="1198763" y="947858"/>
                  </a:lnTo>
                  <a:lnTo>
                    <a:pt x="1175631" y="986262"/>
                  </a:lnTo>
                  <a:lnTo>
                    <a:pt x="1149940" y="1022851"/>
                  </a:lnTo>
                  <a:lnTo>
                    <a:pt x="1121813" y="1057501"/>
                  </a:lnTo>
                  <a:lnTo>
                    <a:pt x="1091374" y="1090088"/>
                  </a:lnTo>
                  <a:lnTo>
                    <a:pt x="1058747" y="1120489"/>
                  </a:lnTo>
                  <a:lnTo>
                    <a:pt x="1024055" y="1148581"/>
                  </a:lnTo>
                  <a:lnTo>
                    <a:pt x="987422" y="1174240"/>
                  </a:lnTo>
                  <a:lnTo>
                    <a:pt x="948971" y="1197342"/>
                  </a:lnTo>
                  <a:lnTo>
                    <a:pt x="908827" y="1217765"/>
                  </a:lnTo>
                  <a:lnTo>
                    <a:pt x="867112" y="1235384"/>
                  </a:lnTo>
                  <a:lnTo>
                    <a:pt x="823952" y="1250077"/>
                  </a:lnTo>
                  <a:lnTo>
                    <a:pt x="779468" y="1261719"/>
                  </a:lnTo>
                  <a:lnTo>
                    <a:pt x="733785" y="1270188"/>
                  </a:lnTo>
                  <a:lnTo>
                    <a:pt x="687027" y="1275360"/>
                  </a:lnTo>
                  <a:lnTo>
                    <a:pt x="639317" y="1277112"/>
                  </a:lnTo>
                  <a:lnTo>
                    <a:pt x="591608" y="1275360"/>
                  </a:lnTo>
                  <a:lnTo>
                    <a:pt x="544850" y="1270188"/>
                  </a:lnTo>
                  <a:lnTo>
                    <a:pt x="499167" y="1261719"/>
                  </a:lnTo>
                  <a:lnTo>
                    <a:pt x="454683" y="1250077"/>
                  </a:lnTo>
                  <a:lnTo>
                    <a:pt x="411523" y="1235384"/>
                  </a:lnTo>
                  <a:lnTo>
                    <a:pt x="369808" y="1217765"/>
                  </a:lnTo>
                  <a:lnTo>
                    <a:pt x="329664" y="1197342"/>
                  </a:lnTo>
                  <a:lnTo>
                    <a:pt x="291213" y="1174240"/>
                  </a:lnTo>
                  <a:lnTo>
                    <a:pt x="254580" y="1148581"/>
                  </a:lnTo>
                  <a:lnTo>
                    <a:pt x="219888" y="1120489"/>
                  </a:lnTo>
                  <a:lnTo>
                    <a:pt x="187261" y="1090088"/>
                  </a:lnTo>
                  <a:lnTo>
                    <a:pt x="156822" y="1057501"/>
                  </a:lnTo>
                  <a:lnTo>
                    <a:pt x="128695" y="1022851"/>
                  </a:lnTo>
                  <a:lnTo>
                    <a:pt x="103004" y="986262"/>
                  </a:lnTo>
                  <a:lnTo>
                    <a:pt x="79872" y="947858"/>
                  </a:lnTo>
                  <a:lnTo>
                    <a:pt x="59423" y="907761"/>
                  </a:lnTo>
                  <a:lnTo>
                    <a:pt x="41781" y="866095"/>
                  </a:lnTo>
                  <a:lnTo>
                    <a:pt x="27070" y="822984"/>
                  </a:lnTo>
                  <a:lnTo>
                    <a:pt x="15412" y="778551"/>
                  </a:lnTo>
                  <a:lnTo>
                    <a:pt x="6932" y="732920"/>
                  </a:lnTo>
                  <a:lnTo>
                    <a:pt x="1753" y="686213"/>
                  </a:lnTo>
                  <a:lnTo>
                    <a:pt x="0" y="638555"/>
                  </a:lnTo>
                  <a:lnTo>
                    <a:pt x="2217" y="585401"/>
                  </a:lnTo>
                  <a:lnTo>
                    <a:pt x="8812" y="532886"/>
                  </a:lnTo>
                  <a:lnTo>
                    <a:pt x="19696" y="481266"/>
                  </a:lnTo>
                  <a:lnTo>
                    <a:pt x="34782" y="430799"/>
                  </a:lnTo>
                  <a:lnTo>
                    <a:pt x="53981" y="381744"/>
                  </a:lnTo>
                  <a:lnTo>
                    <a:pt x="77206" y="334357"/>
                  </a:lnTo>
                  <a:lnTo>
                    <a:pt x="104368" y="288895"/>
                  </a:lnTo>
                  <a:lnTo>
                    <a:pt x="135382" y="245617"/>
                  </a:lnTo>
                </a:path>
              </a:pathLst>
            </a:custGeom>
            <a:grpFill/>
            <a:ln w="15240">
              <a:solidFill>
                <a:srgbClr val="006EAC"/>
              </a:solidFill>
            </a:ln>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02" name="object 19">
              <a:extLst>
                <a:ext uri="{FF2B5EF4-FFF2-40B4-BE49-F238E27FC236}">
                  <a16:creationId xmlns:a16="http://schemas.microsoft.com/office/drawing/2014/main" id="{A9F52FFA-9F4C-D88A-75D7-5ADE7653AAA0}"/>
                </a:ext>
              </a:extLst>
            </p:cNvPr>
            <p:cNvSpPr/>
            <p:nvPr/>
          </p:nvSpPr>
          <p:spPr>
            <a:xfrm>
              <a:off x="10736803" y="1729843"/>
              <a:ext cx="639494" cy="895674"/>
            </a:xfrm>
            <a:custGeom>
              <a:avLst/>
              <a:gdLst/>
              <a:ahLst/>
              <a:cxnLst/>
              <a:rect l="l" t="t" r="r" b="b"/>
              <a:pathLst>
                <a:path w="772795" h="1082675">
                  <a:moveTo>
                    <a:pt x="0" y="0"/>
                  </a:moveTo>
                  <a:lnTo>
                    <a:pt x="48863" y="1521"/>
                  </a:lnTo>
                  <a:lnTo>
                    <a:pt x="96919" y="6026"/>
                  </a:lnTo>
                  <a:lnTo>
                    <a:pt x="144077" y="13424"/>
                  </a:lnTo>
                  <a:lnTo>
                    <a:pt x="190246" y="23624"/>
                  </a:lnTo>
                  <a:lnTo>
                    <a:pt x="235337" y="36535"/>
                  </a:lnTo>
                  <a:lnTo>
                    <a:pt x="279258" y="52067"/>
                  </a:lnTo>
                  <a:lnTo>
                    <a:pt x="321919" y="70128"/>
                  </a:lnTo>
                  <a:lnTo>
                    <a:pt x="363229" y="90629"/>
                  </a:lnTo>
                  <a:lnTo>
                    <a:pt x="403098" y="113479"/>
                  </a:lnTo>
                  <a:lnTo>
                    <a:pt x="441436" y="138587"/>
                  </a:lnTo>
                  <a:lnTo>
                    <a:pt x="478151" y="165862"/>
                  </a:lnTo>
                  <a:lnTo>
                    <a:pt x="513154" y="195214"/>
                  </a:lnTo>
                  <a:lnTo>
                    <a:pt x="546354" y="226552"/>
                  </a:lnTo>
                  <a:lnTo>
                    <a:pt x="577659" y="259785"/>
                  </a:lnTo>
                  <a:lnTo>
                    <a:pt x="606981" y="294823"/>
                  </a:lnTo>
                  <a:lnTo>
                    <a:pt x="634228" y="331575"/>
                  </a:lnTo>
                  <a:lnTo>
                    <a:pt x="659309" y="369951"/>
                  </a:lnTo>
                  <a:lnTo>
                    <a:pt x="682135" y="409859"/>
                  </a:lnTo>
                  <a:lnTo>
                    <a:pt x="702614" y="451210"/>
                  </a:lnTo>
                  <a:lnTo>
                    <a:pt x="720657" y="493912"/>
                  </a:lnTo>
                  <a:lnTo>
                    <a:pt x="736172" y="537875"/>
                  </a:lnTo>
                  <a:lnTo>
                    <a:pt x="749069" y="583008"/>
                  </a:lnTo>
                  <a:lnTo>
                    <a:pt x="759257" y="629221"/>
                  </a:lnTo>
                  <a:lnTo>
                    <a:pt x="766647" y="676422"/>
                  </a:lnTo>
                  <a:lnTo>
                    <a:pt x="771147" y="724522"/>
                  </a:lnTo>
                  <a:lnTo>
                    <a:pt x="772668" y="773430"/>
                  </a:lnTo>
                  <a:lnTo>
                    <a:pt x="770853" y="826453"/>
                  </a:lnTo>
                  <a:lnTo>
                    <a:pt x="765433" y="879103"/>
                  </a:lnTo>
                  <a:lnTo>
                    <a:pt x="756443" y="931195"/>
                  </a:lnTo>
                  <a:lnTo>
                    <a:pt x="743918" y="982547"/>
                  </a:lnTo>
                  <a:lnTo>
                    <a:pt x="727894" y="1032974"/>
                  </a:lnTo>
                  <a:lnTo>
                    <a:pt x="708406" y="1082294"/>
                  </a:lnTo>
                </a:path>
              </a:pathLst>
            </a:custGeom>
            <a:grpFill/>
            <a:ln w="15240">
              <a:solidFill>
                <a:srgbClr val="006EAC"/>
              </a:solidFill>
            </a:ln>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03" name="object 40">
              <a:extLst>
                <a:ext uri="{FF2B5EF4-FFF2-40B4-BE49-F238E27FC236}">
                  <a16:creationId xmlns:a16="http://schemas.microsoft.com/office/drawing/2014/main" id="{496FCB74-B8D3-E8AA-9B66-A09EDC546B9D}"/>
                </a:ext>
              </a:extLst>
            </p:cNvPr>
            <p:cNvSpPr/>
            <p:nvPr/>
          </p:nvSpPr>
          <p:spPr>
            <a:xfrm>
              <a:off x="10270147" y="1902827"/>
              <a:ext cx="935234" cy="934115"/>
            </a:xfrm>
            <a:custGeom>
              <a:avLst/>
              <a:gdLst/>
              <a:ahLst/>
              <a:cxnLst/>
              <a:rect l="l" t="t" r="r" b="b"/>
              <a:pathLst>
                <a:path w="1130935" h="1130935">
                  <a:moveTo>
                    <a:pt x="565403" y="0"/>
                  </a:moveTo>
                  <a:lnTo>
                    <a:pt x="516614" y="2075"/>
                  </a:lnTo>
                  <a:lnTo>
                    <a:pt x="468978" y="8187"/>
                  </a:lnTo>
                  <a:lnTo>
                    <a:pt x="422665" y="18167"/>
                  </a:lnTo>
                  <a:lnTo>
                    <a:pt x="377844" y="31845"/>
                  </a:lnTo>
                  <a:lnTo>
                    <a:pt x="334686" y="49051"/>
                  </a:lnTo>
                  <a:lnTo>
                    <a:pt x="293360" y="69615"/>
                  </a:lnTo>
                  <a:lnTo>
                    <a:pt x="254034" y="93369"/>
                  </a:lnTo>
                  <a:lnTo>
                    <a:pt x="216881" y="120142"/>
                  </a:lnTo>
                  <a:lnTo>
                    <a:pt x="182067" y="149765"/>
                  </a:lnTo>
                  <a:lnTo>
                    <a:pt x="149765" y="182067"/>
                  </a:lnTo>
                  <a:lnTo>
                    <a:pt x="120142" y="216881"/>
                  </a:lnTo>
                  <a:lnTo>
                    <a:pt x="93369" y="254034"/>
                  </a:lnTo>
                  <a:lnTo>
                    <a:pt x="69615" y="293360"/>
                  </a:lnTo>
                  <a:lnTo>
                    <a:pt x="49051" y="334686"/>
                  </a:lnTo>
                  <a:lnTo>
                    <a:pt x="31845" y="377844"/>
                  </a:lnTo>
                  <a:lnTo>
                    <a:pt x="18167" y="422665"/>
                  </a:lnTo>
                  <a:lnTo>
                    <a:pt x="8187" y="468978"/>
                  </a:lnTo>
                  <a:lnTo>
                    <a:pt x="2075" y="516614"/>
                  </a:lnTo>
                  <a:lnTo>
                    <a:pt x="0" y="565404"/>
                  </a:lnTo>
                  <a:lnTo>
                    <a:pt x="2075" y="614193"/>
                  </a:lnTo>
                  <a:lnTo>
                    <a:pt x="8187" y="661829"/>
                  </a:lnTo>
                  <a:lnTo>
                    <a:pt x="18167" y="708142"/>
                  </a:lnTo>
                  <a:lnTo>
                    <a:pt x="31845" y="752963"/>
                  </a:lnTo>
                  <a:lnTo>
                    <a:pt x="49051" y="796121"/>
                  </a:lnTo>
                  <a:lnTo>
                    <a:pt x="69615" y="837447"/>
                  </a:lnTo>
                  <a:lnTo>
                    <a:pt x="93369" y="876773"/>
                  </a:lnTo>
                  <a:lnTo>
                    <a:pt x="120142" y="913926"/>
                  </a:lnTo>
                  <a:lnTo>
                    <a:pt x="149765" y="948740"/>
                  </a:lnTo>
                  <a:lnTo>
                    <a:pt x="182067" y="981042"/>
                  </a:lnTo>
                  <a:lnTo>
                    <a:pt x="216881" y="1010665"/>
                  </a:lnTo>
                  <a:lnTo>
                    <a:pt x="254034" y="1037438"/>
                  </a:lnTo>
                  <a:lnTo>
                    <a:pt x="293360" y="1061192"/>
                  </a:lnTo>
                  <a:lnTo>
                    <a:pt x="334686" y="1081756"/>
                  </a:lnTo>
                  <a:lnTo>
                    <a:pt x="377844" y="1098962"/>
                  </a:lnTo>
                  <a:lnTo>
                    <a:pt x="422665" y="1112640"/>
                  </a:lnTo>
                  <a:lnTo>
                    <a:pt x="468978" y="1122620"/>
                  </a:lnTo>
                  <a:lnTo>
                    <a:pt x="516614" y="1128732"/>
                  </a:lnTo>
                  <a:lnTo>
                    <a:pt x="565403" y="1130808"/>
                  </a:lnTo>
                  <a:lnTo>
                    <a:pt x="614193" y="1128732"/>
                  </a:lnTo>
                  <a:lnTo>
                    <a:pt x="661829" y="1122620"/>
                  </a:lnTo>
                  <a:lnTo>
                    <a:pt x="708142" y="1112640"/>
                  </a:lnTo>
                  <a:lnTo>
                    <a:pt x="752963" y="1098962"/>
                  </a:lnTo>
                  <a:lnTo>
                    <a:pt x="796121" y="1081756"/>
                  </a:lnTo>
                  <a:lnTo>
                    <a:pt x="837447" y="1061192"/>
                  </a:lnTo>
                  <a:lnTo>
                    <a:pt x="876773" y="1037438"/>
                  </a:lnTo>
                  <a:lnTo>
                    <a:pt x="913926" y="1010665"/>
                  </a:lnTo>
                  <a:lnTo>
                    <a:pt x="948740" y="981042"/>
                  </a:lnTo>
                  <a:lnTo>
                    <a:pt x="981042" y="948740"/>
                  </a:lnTo>
                  <a:lnTo>
                    <a:pt x="1010665" y="913926"/>
                  </a:lnTo>
                  <a:lnTo>
                    <a:pt x="1037438" y="876773"/>
                  </a:lnTo>
                  <a:lnTo>
                    <a:pt x="1061192" y="837447"/>
                  </a:lnTo>
                  <a:lnTo>
                    <a:pt x="1081756" y="796121"/>
                  </a:lnTo>
                  <a:lnTo>
                    <a:pt x="1098962" y="752963"/>
                  </a:lnTo>
                  <a:lnTo>
                    <a:pt x="1112640" y="708142"/>
                  </a:lnTo>
                  <a:lnTo>
                    <a:pt x="1122620" y="661829"/>
                  </a:lnTo>
                  <a:lnTo>
                    <a:pt x="1128732" y="614193"/>
                  </a:lnTo>
                  <a:lnTo>
                    <a:pt x="1130807" y="565404"/>
                  </a:lnTo>
                  <a:lnTo>
                    <a:pt x="1128732" y="516614"/>
                  </a:lnTo>
                  <a:lnTo>
                    <a:pt x="1122620" y="468978"/>
                  </a:lnTo>
                  <a:lnTo>
                    <a:pt x="1112640" y="422665"/>
                  </a:lnTo>
                  <a:lnTo>
                    <a:pt x="1098962" y="377844"/>
                  </a:lnTo>
                  <a:lnTo>
                    <a:pt x="1081756" y="334686"/>
                  </a:lnTo>
                  <a:lnTo>
                    <a:pt x="1061192" y="293360"/>
                  </a:lnTo>
                  <a:lnTo>
                    <a:pt x="1037438" y="254034"/>
                  </a:lnTo>
                  <a:lnTo>
                    <a:pt x="1010665" y="216881"/>
                  </a:lnTo>
                  <a:lnTo>
                    <a:pt x="981042" y="182067"/>
                  </a:lnTo>
                  <a:lnTo>
                    <a:pt x="948740" y="149765"/>
                  </a:lnTo>
                  <a:lnTo>
                    <a:pt x="913926" y="120142"/>
                  </a:lnTo>
                  <a:lnTo>
                    <a:pt x="876773" y="93369"/>
                  </a:lnTo>
                  <a:lnTo>
                    <a:pt x="837447" y="69615"/>
                  </a:lnTo>
                  <a:lnTo>
                    <a:pt x="796121" y="49051"/>
                  </a:lnTo>
                  <a:lnTo>
                    <a:pt x="752963" y="31845"/>
                  </a:lnTo>
                  <a:lnTo>
                    <a:pt x="708142" y="18167"/>
                  </a:lnTo>
                  <a:lnTo>
                    <a:pt x="661829" y="8187"/>
                  </a:lnTo>
                  <a:lnTo>
                    <a:pt x="614193" y="2075"/>
                  </a:lnTo>
                  <a:lnTo>
                    <a:pt x="565403" y="0"/>
                  </a:lnTo>
                  <a:close/>
                </a:path>
              </a:pathLst>
            </a:custGeom>
            <a:grpFill/>
            <a:ln>
              <a:solidFill>
                <a:srgbClr val="1CADE4"/>
              </a:solidFill>
            </a:ln>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04" name="object 41">
              <a:extLst>
                <a:ext uri="{FF2B5EF4-FFF2-40B4-BE49-F238E27FC236}">
                  <a16:creationId xmlns:a16="http://schemas.microsoft.com/office/drawing/2014/main" id="{2B908DD2-EE2B-085E-397E-2222C5771A46}"/>
                </a:ext>
              </a:extLst>
            </p:cNvPr>
            <p:cNvSpPr/>
            <p:nvPr/>
          </p:nvSpPr>
          <p:spPr>
            <a:xfrm>
              <a:off x="10270147" y="1902827"/>
              <a:ext cx="935234" cy="934115"/>
            </a:xfrm>
            <a:custGeom>
              <a:avLst/>
              <a:gdLst/>
              <a:ahLst/>
              <a:cxnLst/>
              <a:rect l="l" t="t" r="r" b="b"/>
              <a:pathLst>
                <a:path w="1130935" h="1130935">
                  <a:moveTo>
                    <a:pt x="0" y="565404"/>
                  </a:moveTo>
                  <a:lnTo>
                    <a:pt x="2075" y="516614"/>
                  </a:lnTo>
                  <a:lnTo>
                    <a:pt x="8187" y="468978"/>
                  </a:lnTo>
                  <a:lnTo>
                    <a:pt x="18167" y="422665"/>
                  </a:lnTo>
                  <a:lnTo>
                    <a:pt x="31845" y="377844"/>
                  </a:lnTo>
                  <a:lnTo>
                    <a:pt x="49051" y="334686"/>
                  </a:lnTo>
                  <a:lnTo>
                    <a:pt x="69615" y="293360"/>
                  </a:lnTo>
                  <a:lnTo>
                    <a:pt x="93369" y="254034"/>
                  </a:lnTo>
                  <a:lnTo>
                    <a:pt x="120142" y="216881"/>
                  </a:lnTo>
                  <a:lnTo>
                    <a:pt x="149765" y="182067"/>
                  </a:lnTo>
                  <a:lnTo>
                    <a:pt x="182067" y="149765"/>
                  </a:lnTo>
                  <a:lnTo>
                    <a:pt x="216881" y="120142"/>
                  </a:lnTo>
                  <a:lnTo>
                    <a:pt x="254034" y="93369"/>
                  </a:lnTo>
                  <a:lnTo>
                    <a:pt x="293360" y="69615"/>
                  </a:lnTo>
                  <a:lnTo>
                    <a:pt x="334686" y="49051"/>
                  </a:lnTo>
                  <a:lnTo>
                    <a:pt x="377844" y="31845"/>
                  </a:lnTo>
                  <a:lnTo>
                    <a:pt x="422665" y="18167"/>
                  </a:lnTo>
                  <a:lnTo>
                    <a:pt x="468978" y="8187"/>
                  </a:lnTo>
                  <a:lnTo>
                    <a:pt x="516614" y="2075"/>
                  </a:lnTo>
                  <a:lnTo>
                    <a:pt x="565403" y="0"/>
                  </a:lnTo>
                  <a:lnTo>
                    <a:pt x="614193" y="2075"/>
                  </a:lnTo>
                  <a:lnTo>
                    <a:pt x="661829" y="8187"/>
                  </a:lnTo>
                  <a:lnTo>
                    <a:pt x="708142" y="18167"/>
                  </a:lnTo>
                  <a:lnTo>
                    <a:pt x="752963" y="31845"/>
                  </a:lnTo>
                  <a:lnTo>
                    <a:pt x="796121" y="49051"/>
                  </a:lnTo>
                  <a:lnTo>
                    <a:pt x="837447" y="69615"/>
                  </a:lnTo>
                  <a:lnTo>
                    <a:pt x="876773" y="93369"/>
                  </a:lnTo>
                  <a:lnTo>
                    <a:pt x="913926" y="120142"/>
                  </a:lnTo>
                  <a:lnTo>
                    <a:pt x="948740" y="149765"/>
                  </a:lnTo>
                  <a:lnTo>
                    <a:pt x="981042" y="182067"/>
                  </a:lnTo>
                  <a:lnTo>
                    <a:pt x="1010665" y="216881"/>
                  </a:lnTo>
                  <a:lnTo>
                    <a:pt x="1037438" y="254034"/>
                  </a:lnTo>
                  <a:lnTo>
                    <a:pt x="1061192" y="293360"/>
                  </a:lnTo>
                  <a:lnTo>
                    <a:pt x="1081756" y="334686"/>
                  </a:lnTo>
                  <a:lnTo>
                    <a:pt x="1098962" y="377844"/>
                  </a:lnTo>
                  <a:lnTo>
                    <a:pt x="1112640" y="422665"/>
                  </a:lnTo>
                  <a:lnTo>
                    <a:pt x="1122620" y="468978"/>
                  </a:lnTo>
                  <a:lnTo>
                    <a:pt x="1128732" y="516614"/>
                  </a:lnTo>
                  <a:lnTo>
                    <a:pt x="1130807" y="565404"/>
                  </a:lnTo>
                  <a:lnTo>
                    <a:pt x="1128732" y="614193"/>
                  </a:lnTo>
                  <a:lnTo>
                    <a:pt x="1122620" y="661829"/>
                  </a:lnTo>
                  <a:lnTo>
                    <a:pt x="1112640" y="708142"/>
                  </a:lnTo>
                  <a:lnTo>
                    <a:pt x="1098962" y="752963"/>
                  </a:lnTo>
                  <a:lnTo>
                    <a:pt x="1081756" y="796121"/>
                  </a:lnTo>
                  <a:lnTo>
                    <a:pt x="1061192" y="837447"/>
                  </a:lnTo>
                  <a:lnTo>
                    <a:pt x="1037438" y="876773"/>
                  </a:lnTo>
                  <a:lnTo>
                    <a:pt x="1010665" y="913926"/>
                  </a:lnTo>
                  <a:lnTo>
                    <a:pt x="981042" y="948740"/>
                  </a:lnTo>
                  <a:lnTo>
                    <a:pt x="948740" y="981042"/>
                  </a:lnTo>
                  <a:lnTo>
                    <a:pt x="913926" y="1010665"/>
                  </a:lnTo>
                  <a:lnTo>
                    <a:pt x="876773" y="1037438"/>
                  </a:lnTo>
                  <a:lnTo>
                    <a:pt x="837447" y="1061192"/>
                  </a:lnTo>
                  <a:lnTo>
                    <a:pt x="796121" y="1081756"/>
                  </a:lnTo>
                  <a:lnTo>
                    <a:pt x="752963" y="1098962"/>
                  </a:lnTo>
                  <a:lnTo>
                    <a:pt x="708142" y="1112640"/>
                  </a:lnTo>
                  <a:lnTo>
                    <a:pt x="661829" y="1122620"/>
                  </a:lnTo>
                  <a:lnTo>
                    <a:pt x="614193" y="1128732"/>
                  </a:lnTo>
                  <a:lnTo>
                    <a:pt x="565403" y="1130808"/>
                  </a:lnTo>
                  <a:lnTo>
                    <a:pt x="516614" y="1128732"/>
                  </a:lnTo>
                  <a:lnTo>
                    <a:pt x="468978" y="1122620"/>
                  </a:lnTo>
                  <a:lnTo>
                    <a:pt x="422665" y="1112640"/>
                  </a:lnTo>
                  <a:lnTo>
                    <a:pt x="377844" y="1098962"/>
                  </a:lnTo>
                  <a:lnTo>
                    <a:pt x="334686" y="1081756"/>
                  </a:lnTo>
                  <a:lnTo>
                    <a:pt x="293360" y="1061192"/>
                  </a:lnTo>
                  <a:lnTo>
                    <a:pt x="254034" y="1037438"/>
                  </a:lnTo>
                  <a:lnTo>
                    <a:pt x="216881" y="1010665"/>
                  </a:lnTo>
                  <a:lnTo>
                    <a:pt x="182067" y="981042"/>
                  </a:lnTo>
                  <a:lnTo>
                    <a:pt x="149765" y="948740"/>
                  </a:lnTo>
                  <a:lnTo>
                    <a:pt x="120142" y="913926"/>
                  </a:lnTo>
                  <a:lnTo>
                    <a:pt x="93369" y="876773"/>
                  </a:lnTo>
                  <a:lnTo>
                    <a:pt x="69615" y="837447"/>
                  </a:lnTo>
                  <a:lnTo>
                    <a:pt x="49051" y="796121"/>
                  </a:lnTo>
                  <a:lnTo>
                    <a:pt x="31845" y="752963"/>
                  </a:lnTo>
                  <a:lnTo>
                    <a:pt x="18167" y="708142"/>
                  </a:lnTo>
                  <a:lnTo>
                    <a:pt x="8187" y="661829"/>
                  </a:lnTo>
                  <a:lnTo>
                    <a:pt x="2075" y="614193"/>
                  </a:lnTo>
                  <a:lnTo>
                    <a:pt x="0" y="565404"/>
                  </a:lnTo>
                  <a:close/>
                </a:path>
              </a:pathLst>
            </a:custGeom>
            <a:grpFill/>
            <a:ln w="19812">
              <a:solidFill>
                <a:srgbClr val="006EAC"/>
              </a:solidFill>
            </a:ln>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grpSp>
      <p:grpSp>
        <p:nvGrpSpPr>
          <p:cNvPr id="194" name="Group 193">
            <a:extLst>
              <a:ext uri="{FF2B5EF4-FFF2-40B4-BE49-F238E27FC236}">
                <a16:creationId xmlns:a16="http://schemas.microsoft.com/office/drawing/2014/main" id="{1B98CE13-E059-AD94-6463-93E87FAB157D}"/>
              </a:ext>
            </a:extLst>
          </p:cNvPr>
          <p:cNvGrpSpPr/>
          <p:nvPr/>
        </p:nvGrpSpPr>
        <p:grpSpPr>
          <a:xfrm>
            <a:off x="11227102" y="2925360"/>
            <a:ext cx="853092" cy="806400"/>
            <a:chOff x="11125502" y="2889800"/>
            <a:chExt cx="853092" cy="806400"/>
          </a:xfrm>
        </p:grpSpPr>
        <p:pic>
          <p:nvPicPr>
            <p:cNvPr id="105" name="Graphic 104" descr="Flip calendar with solid fill">
              <a:extLst>
                <a:ext uri="{FF2B5EF4-FFF2-40B4-BE49-F238E27FC236}">
                  <a16:creationId xmlns:a16="http://schemas.microsoft.com/office/drawing/2014/main" id="{CDBA96D9-F458-61DF-0FD3-B3CBE99BF5C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8"/>
                </a:ext>
              </a:extLst>
            </a:blip>
            <a:stretch>
              <a:fillRect/>
            </a:stretch>
          </p:blipFill>
          <p:spPr>
            <a:xfrm>
              <a:off x="11386845" y="2889800"/>
              <a:ext cx="330407" cy="330407"/>
            </a:xfrm>
            <a:prstGeom prst="rect">
              <a:avLst/>
            </a:prstGeom>
          </p:spPr>
        </p:pic>
        <p:sp>
          <p:nvSpPr>
            <p:cNvPr id="106" name="TextBox 105">
              <a:extLst>
                <a:ext uri="{FF2B5EF4-FFF2-40B4-BE49-F238E27FC236}">
                  <a16:creationId xmlns:a16="http://schemas.microsoft.com/office/drawing/2014/main" id="{0291AC18-D187-F08D-04A8-14D3F82C3D86}"/>
                </a:ext>
              </a:extLst>
            </p:cNvPr>
            <p:cNvSpPr txBox="1"/>
            <p:nvPr/>
          </p:nvSpPr>
          <p:spPr>
            <a:xfrm>
              <a:off x="11125502" y="3142202"/>
              <a:ext cx="853092"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Ubuntu" panose="020B0504030602030204" pitchFamily="34" charset="0"/>
                  <a:ea typeface="+mn-ea"/>
                  <a:cs typeface="+mn-cs"/>
                </a:rPr>
                <a:t>Launch and Rollouts</a:t>
              </a:r>
              <a:endParaRPr kumimoji="0" lang="en-IN" sz="10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grpSp>
      <p:sp>
        <p:nvSpPr>
          <p:cNvPr id="107" name="object 65">
            <a:extLst>
              <a:ext uri="{FF2B5EF4-FFF2-40B4-BE49-F238E27FC236}">
                <a16:creationId xmlns:a16="http://schemas.microsoft.com/office/drawing/2014/main" id="{199D64B7-36B2-85E7-44AF-2650FA9177F5}"/>
              </a:ext>
            </a:extLst>
          </p:cNvPr>
          <p:cNvSpPr/>
          <p:nvPr>
            <p:custDataLst>
              <p:tags r:id="rId6"/>
            </p:custDataLst>
          </p:nvPr>
        </p:nvSpPr>
        <p:spPr>
          <a:xfrm rot="2830914">
            <a:off x="10703572" y="1989731"/>
            <a:ext cx="1269329" cy="248219"/>
          </a:xfrm>
          <a:custGeom>
            <a:avLst/>
            <a:gdLst/>
            <a:ahLst/>
            <a:cxnLst/>
            <a:rect l="l" t="t" r="r" b="b"/>
            <a:pathLst>
              <a:path w="1685289" h="352425">
                <a:moveTo>
                  <a:pt x="1621144" y="306764"/>
                </a:moveTo>
                <a:lnTo>
                  <a:pt x="1602486" y="327913"/>
                </a:lnTo>
                <a:lnTo>
                  <a:pt x="1684782" y="349758"/>
                </a:lnTo>
                <a:lnTo>
                  <a:pt x="1670790" y="315087"/>
                </a:lnTo>
                <a:lnTo>
                  <a:pt x="1631188" y="315087"/>
                </a:lnTo>
                <a:lnTo>
                  <a:pt x="1621144" y="306764"/>
                </a:lnTo>
                <a:close/>
              </a:path>
              <a:path w="1685289" h="352425">
                <a:moveTo>
                  <a:pt x="1633736" y="292491"/>
                </a:moveTo>
                <a:lnTo>
                  <a:pt x="1621144" y="306764"/>
                </a:lnTo>
                <a:lnTo>
                  <a:pt x="1631188" y="315087"/>
                </a:lnTo>
                <a:lnTo>
                  <a:pt x="1643380" y="300482"/>
                </a:lnTo>
                <a:lnTo>
                  <a:pt x="1633736" y="292491"/>
                </a:lnTo>
                <a:close/>
              </a:path>
              <a:path w="1685289" h="352425">
                <a:moveTo>
                  <a:pt x="1652905" y="270763"/>
                </a:moveTo>
                <a:lnTo>
                  <a:pt x="1633736" y="292491"/>
                </a:lnTo>
                <a:lnTo>
                  <a:pt x="1643380" y="300482"/>
                </a:lnTo>
                <a:lnTo>
                  <a:pt x="1631188" y="315087"/>
                </a:lnTo>
                <a:lnTo>
                  <a:pt x="1670790" y="315087"/>
                </a:lnTo>
                <a:lnTo>
                  <a:pt x="1652905" y="270763"/>
                </a:lnTo>
                <a:close/>
              </a:path>
              <a:path w="1685289" h="352425">
                <a:moveTo>
                  <a:pt x="1583689" y="252222"/>
                </a:moveTo>
                <a:lnTo>
                  <a:pt x="1572387" y="267588"/>
                </a:lnTo>
                <a:lnTo>
                  <a:pt x="1585976" y="277622"/>
                </a:lnTo>
                <a:lnTo>
                  <a:pt x="1621144" y="306764"/>
                </a:lnTo>
                <a:lnTo>
                  <a:pt x="1633736" y="292491"/>
                </a:lnTo>
                <a:lnTo>
                  <a:pt x="1598168" y="263017"/>
                </a:lnTo>
                <a:lnTo>
                  <a:pt x="1583689" y="252222"/>
                </a:lnTo>
                <a:close/>
              </a:path>
              <a:path w="1685289" h="352425">
                <a:moveTo>
                  <a:pt x="1472311" y="177292"/>
                </a:moveTo>
                <a:lnTo>
                  <a:pt x="1462532" y="193675"/>
                </a:lnTo>
                <a:lnTo>
                  <a:pt x="1488567" y="209296"/>
                </a:lnTo>
                <a:lnTo>
                  <a:pt x="1526286" y="234442"/>
                </a:lnTo>
                <a:lnTo>
                  <a:pt x="1536954" y="218694"/>
                </a:lnTo>
                <a:lnTo>
                  <a:pt x="1499108" y="193421"/>
                </a:lnTo>
                <a:lnTo>
                  <a:pt x="1472311" y="177292"/>
                </a:lnTo>
                <a:close/>
              </a:path>
              <a:path w="1685289" h="352425">
                <a:moveTo>
                  <a:pt x="1353693" y="114553"/>
                </a:moveTo>
                <a:lnTo>
                  <a:pt x="1345564" y="131825"/>
                </a:lnTo>
                <a:lnTo>
                  <a:pt x="1386586" y="151384"/>
                </a:lnTo>
                <a:lnTo>
                  <a:pt x="1413256" y="165608"/>
                </a:lnTo>
                <a:lnTo>
                  <a:pt x="1422273" y="148844"/>
                </a:lnTo>
                <a:lnTo>
                  <a:pt x="1395602" y="134493"/>
                </a:lnTo>
                <a:lnTo>
                  <a:pt x="1353693" y="114553"/>
                </a:lnTo>
                <a:close/>
              </a:path>
              <a:path w="1685289" h="352425">
                <a:moveTo>
                  <a:pt x="1228725" y="64770"/>
                </a:moveTo>
                <a:lnTo>
                  <a:pt x="1223010" y="82931"/>
                </a:lnTo>
                <a:lnTo>
                  <a:pt x="1226820" y="84200"/>
                </a:lnTo>
                <a:lnTo>
                  <a:pt x="1280922" y="103886"/>
                </a:lnTo>
                <a:lnTo>
                  <a:pt x="1293495" y="109220"/>
                </a:lnTo>
                <a:lnTo>
                  <a:pt x="1300861" y="91694"/>
                </a:lnTo>
                <a:lnTo>
                  <a:pt x="1288288" y="86360"/>
                </a:lnTo>
                <a:lnTo>
                  <a:pt x="1233424" y="66294"/>
                </a:lnTo>
                <a:lnTo>
                  <a:pt x="1228725" y="64770"/>
                </a:lnTo>
                <a:close/>
              </a:path>
              <a:path w="1685289" h="352425">
                <a:moveTo>
                  <a:pt x="1099312" y="29210"/>
                </a:moveTo>
                <a:lnTo>
                  <a:pt x="1095375" y="47751"/>
                </a:lnTo>
                <a:lnTo>
                  <a:pt x="1116965" y="52450"/>
                </a:lnTo>
                <a:lnTo>
                  <a:pt x="1168781" y="66039"/>
                </a:lnTo>
                <a:lnTo>
                  <a:pt x="1173734" y="47625"/>
                </a:lnTo>
                <a:lnTo>
                  <a:pt x="1121918" y="34036"/>
                </a:lnTo>
                <a:lnTo>
                  <a:pt x="1099312" y="29210"/>
                </a:lnTo>
                <a:close/>
              </a:path>
              <a:path w="1685289" h="352425">
                <a:moveTo>
                  <a:pt x="966978" y="7365"/>
                </a:moveTo>
                <a:lnTo>
                  <a:pt x="964692" y="26288"/>
                </a:lnTo>
                <a:lnTo>
                  <a:pt x="1005459" y="31114"/>
                </a:lnTo>
                <a:lnTo>
                  <a:pt x="1039749" y="36957"/>
                </a:lnTo>
                <a:lnTo>
                  <a:pt x="1042797" y="18161"/>
                </a:lnTo>
                <a:lnTo>
                  <a:pt x="1008634" y="12446"/>
                </a:lnTo>
                <a:lnTo>
                  <a:pt x="966978" y="7365"/>
                </a:lnTo>
                <a:close/>
              </a:path>
              <a:path w="1685289" h="352425">
                <a:moveTo>
                  <a:pt x="837057" y="0"/>
                </a:moveTo>
                <a:lnTo>
                  <a:pt x="832612" y="0"/>
                </a:lnTo>
                <a:lnTo>
                  <a:pt x="832993" y="19050"/>
                </a:lnTo>
                <a:lnTo>
                  <a:pt x="836549" y="19050"/>
                </a:lnTo>
                <a:lnTo>
                  <a:pt x="892937" y="20447"/>
                </a:lnTo>
                <a:lnTo>
                  <a:pt x="908177" y="21462"/>
                </a:lnTo>
                <a:lnTo>
                  <a:pt x="909574" y="2539"/>
                </a:lnTo>
                <a:lnTo>
                  <a:pt x="894334" y="1397"/>
                </a:lnTo>
                <a:lnTo>
                  <a:pt x="837057" y="0"/>
                </a:lnTo>
                <a:close/>
              </a:path>
              <a:path w="1685289" h="352425">
                <a:moveTo>
                  <a:pt x="774954" y="1397"/>
                </a:moveTo>
                <a:lnTo>
                  <a:pt x="722884" y="4952"/>
                </a:lnTo>
                <a:lnTo>
                  <a:pt x="698627" y="7747"/>
                </a:lnTo>
                <a:lnTo>
                  <a:pt x="700786" y="26670"/>
                </a:lnTo>
                <a:lnTo>
                  <a:pt x="724281" y="24002"/>
                </a:lnTo>
                <a:lnTo>
                  <a:pt x="776224" y="20447"/>
                </a:lnTo>
                <a:lnTo>
                  <a:pt x="774954" y="1397"/>
                </a:lnTo>
                <a:close/>
              </a:path>
              <a:path w="1685289" h="352425">
                <a:moveTo>
                  <a:pt x="641604" y="15494"/>
                </a:moveTo>
                <a:lnTo>
                  <a:pt x="609854" y="20574"/>
                </a:lnTo>
                <a:lnTo>
                  <a:pt x="566293" y="29845"/>
                </a:lnTo>
                <a:lnTo>
                  <a:pt x="570230" y="48513"/>
                </a:lnTo>
                <a:lnTo>
                  <a:pt x="612902" y="39370"/>
                </a:lnTo>
                <a:lnTo>
                  <a:pt x="644652" y="34289"/>
                </a:lnTo>
                <a:lnTo>
                  <a:pt x="641604" y="15494"/>
                </a:lnTo>
                <a:close/>
              </a:path>
              <a:path w="1685289" h="352425">
                <a:moveTo>
                  <a:pt x="510413" y="43814"/>
                </a:moveTo>
                <a:lnTo>
                  <a:pt x="498602" y="46989"/>
                </a:lnTo>
                <a:lnTo>
                  <a:pt x="443992" y="64135"/>
                </a:lnTo>
                <a:lnTo>
                  <a:pt x="436753" y="66801"/>
                </a:lnTo>
                <a:lnTo>
                  <a:pt x="443357" y="84709"/>
                </a:lnTo>
                <a:lnTo>
                  <a:pt x="449707" y="82296"/>
                </a:lnTo>
                <a:lnTo>
                  <a:pt x="503555" y="65405"/>
                </a:lnTo>
                <a:lnTo>
                  <a:pt x="515239" y="62357"/>
                </a:lnTo>
                <a:lnTo>
                  <a:pt x="510413" y="43814"/>
                </a:lnTo>
                <a:close/>
              </a:path>
              <a:path w="1685289" h="352425">
                <a:moveTo>
                  <a:pt x="382905" y="86995"/>
                </a:moveTo>
                <a:lnTo>
                  <a:pt x="337185" y="106425"/>
                </a:lnTo>
                <a:lnTo>
                  <a:pt x="312928" y="118237"/>
                </a:lnTo>
                <a:lnTo>
                  <a:pt x="321183" y="135382"/>
                </a:lnTo>
                <a:lnTo>
                  <a:pt x="344678" y="123951"/>
                </a:lnTo>
                <a:lnTo>
                  <a:pt x="390398" y="104521"/>
                </a:lnTo>
                <a:lnTo>
                  <a:pt x="382905" y="86995"/>
                </a:lnTo>
                <a:close/>
              </a:path>
              <a:path w="1685289" h="352425">
                <a:moveTo>
                  <a:pt x="261620" y="144525"/>
                </a:moveTo>
                <a:lnTo>
                  <a:pt x="234442" y="159385"/>
                </a:lnTo>
                <a:lnTo>
                  <a:pt x="195580" y="183387"/>
                </a:lnTo>
                <a:lnTo>
                  <a:pt x="205486" y="199517"/>
                </a:lnTo>
                <a:lnTo>
                  <a:pt x="243586" y="176149"/>
                </a:lnTo>
                <a:lnTo>
                  <a:pt x="270764" y="161289"/>
                </a:lnTo>
                <a:lnTo>
                  <a:pt x="261620" y="144525"/>
                </a:lnTo>
                <a:close/>
              </a:path>
              <a:path w="1685289" h="352425">
                <a:moveTo>
                  <a:pt x="147574" y="215392"/>
                </a:moveTo>
                <a:lnTo>
                  <a:pt x="136398" y="223138"/>
                </a:lnTo>
                <a:lnTo>
                  <a:pt x="89408" y="258952"/>
                </a:lnTo>
                <a:lnTo>
                  <a:pt x="85979" y="261747"/>
                </a:lnTo>
                <a:lnTo>
                  <a:pt x="98298" y="276225"/>
                </a:lnTo>
                <a:lnTo>
                  <a:pt x="100837" y="274065"/>
                </a:lnTo>
                <a:lnTo>
                  <a:pt x="147193" y="238760"/>
                </a:lnTo>
                <a:lnTo>
                  <a:pt x="158369" y="231139"/>
                </a:lnTo>
                <a:lnTo>
                  <a:pt x="147574" y="215392"/>
                </a:lnTo>
                <a:close/>
              </a:path>
              <a:path w="1685289" h="352425">
                <a:moveTo>
                  <a:pt x="42037" y="299085"/>
                </a:moveTo>
                <a:lnTo>
                  <a:pt x="0" y="338582"/>
                </a:lnTo>
                <a:lnTo>
                  <a:pt x="13081" y="352425"/>
                </a:lnTo>
                <a:lnTo>
                  <a:pt x="55118" y="313055"/>
                </a:lnTo>
                <a:lnTo>
                  <a:pt x="42037" y="299085"/>
                </a:lnTo>
                <a:close/>
              </a:path>
            </a:pathLst>
          </a:custGeom>
          <a:solidFill>
            <a:srgbClr val="A6A6A6"/>
          </a:solidFill>
          <a:ln w="9525" cap="flat" cmpd="sng" algn="ctr">
            <a:noFill/>
            <a:prstDash val="solid"/>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08" name="object 65">
            <a:extLst>
              <a:ext uri="{FF2B5EF4-FFF2-40B4-BE49-F238E27FC236}">
                <a16:creationId xmlns:a16="http://schemas.microsoft.com/office/drawing/2014/main" id="{E97997E3-DFFC-25EC-E658-157655C229A0}"/>
              </a:ext>
            </a:extLst>
          </p:cNvPr>
          <p:cNvSpPr/>
          <p:nvPr>
            <p:custDataLst>
              <p:tags r:id="rId7"/>
            </p:custDataLst>
          </p:nvPr>
        </p:nvSpPr>
        <p:spPr>
          <a:xfrm rot="21415856">
            <a:off x="5274532" y="3927201"/>
            <a:ext cx="1158046" cy="141069"/>
          </a:xfrm>
          <a:custGeom>
            <a:avLst/>
            <a:gdLst/>
            <a:ahLst/>
            <a:cxnLst/>
            <a:rect l="l" t="t" r="r" b="b"/>
            <a:pathLst>
              <a:path w="1685289" h="352425">
                <a:moveTo>
                  <a:pt x="1621144" y="306764"/>
                </a:moveTo>
                <a:lnTo>
                  <a:pt x="1602486" y="327913"/>
                </a:lnTo>
                <a:lnTo>
                  <a:pt x="1684782" y="349758"/>
                </a:lnTo>
                <a:lnTo>
                  <a:pt x="1670790" y="315087"/>
                </a:lnTo>
                <a:lnTo>
                  <a:pt x="1631188" y="315087"/>
                </a:lnTo>
                <a:lnTo>
                  <a:pt x="1621144" y="306764"/>
                </a:lnTo>
                <a:close/>
              </a:path>
              <a:path w="1685289" h="352425">
                <a:moveTo>
                  <a:pt x="1633736" y="292491"/>
                </a:moveTo>
                <a:lnTo>
                  <a:pt x="1621144" y="306764"/>
                </a:lnTo>
                <a:lnTo>
                  <a:pt x="1631188" y="315087"/>
                </a:lnTo>
                <a:lnTo>
                  <a:pt x="1643380" y="300482"/>
                </a:lnTo>
                <a:lnTo>
                  <a:pt x="1633736" y="292491"/>
                </a:lnTo>
                <a:close/>
              </a:path>
              <a:path w="1685289" h="352425">
                <a:moveTo>
                  <a:pt x="1652905" y="270763"/>
                </a:moveTo>
                <a:lnTo>
                  <a:pt x="1633736" y="292491"/>
                </a:lnTo>
                <a:lnTo>
                  <a:pt x="1643380" y="300482"/>
                </a:lnTo>
                <a:lnTo>
                  <a:pt x="1631188" y="315087"/>
                </a:lnTo>
                <a:lnTo>
                  <a:pt x="1670790" y="315087"/>
                </a:lnTo>
                <a:lnTo>
                  <a:pt x="1652905" y="270763"/>
                </a:lnTo>
                <a:close/>
              </a:path>
              <a:path w="1685289" h="352425">
                <a:moveTo>
                  <a:pt x="1583689" y="252222"/>
                </a:moveTo>
                <a:lnTo>
                  <a:pt x="1572387" y="267588"/>
                </a:lnTo>
                <a:lnTo>
                  <a:pt x="1585976" y="277622"/>
                </a:lnTo>
                <a:lnTo>
                  <a:pt x="1621144" y="306764"/>
                </a:lnTo>
                <a:lnTo>
                  <a:pt x="1633736" y="292491"/>
                </a:lnTo>
                <a:lnTo>
                  <a:pt x="1598168" y="263017"/>
                </a:lnTo>
                <a:lnTo>
                  <a:pt x="1583689" y="252222"/>
                </a:lnTo>
                <a:close/>
              </a:path>
              <a:path w="1685289" h="352425">
                <a:moveTo>
                  <a:pt x="1472311" y="177292"/>
                </a:moveTo>
                <a:lnTo>
                  <a:pt x="1462532" y="193675"/>
                </a:lnTo>
                <a:lnTo>
                  <a:pt x="1488567" y="209296"/>
                </a:lnTo>
                <a:lnTo>
                  <a:pt x="1526286" y="234442"/>
                </a:lnTo>
                <a:lnTo>
                  <a:pt x="1536954" y="218694"/>
                </a:lnTo>
                <a:lnTo>
                  <a:pt x="1499108" y="193421"/>
                </a:lnTo>
                <a:lnTo>
                  <a:pt x="1472311" y="177292"/>
                </a:lnTo>
                <a:close/>
              </a:path>
              <a:path w="1685289" h="352425">
                <a:moveTo>
                  <a:pt x="1353693" y="114553"/>
                </a:moveTo>
                <a:lnTo>
                  <a:pt x="1345564" y="131825"/>
                </a:lnTo>
                <a:lnTo>
                  <a:pt x="1386586" y="151384"/>
                </a:lnTo>
                <a:lnTo>
                  <a:pt x="1413256" y="165608"/>
                </a:lnTo>
                <a:lnTo>
                  <a:pt x="1422273" y="148844"/>
                </a:lnTo>
                <a:lnTo>
                  <a:pt x="1395602" y="134493"/>
                </a:lnTo>
                <a:lnTo>
                  <a:pt x="1353693" y="114553"/>
                </a:lnTo>
                <a:close/>
              </a:path>
              <a:path w="1685289" h="352425">
                <a:moveTo>
                  <a:pt x="1228725" y="64770"/>
                </a:moveTo>
                <a:lnTo>
                  <a:pt x="1223010" y="82931"/>
                </a:lnTo>
                <a:lnTo>
                  <a:pt x="1226820" y="84200"/>
                </a:lnTo>
                <a:lnTo>
                  <a:pt x="1280922" y="103886"/>
                </a:lnTo>
                <a:lnTo>
                  <a:pt x="1293495" y="109220"/>
                </a:lnTo>
                <a:lnTo>
                  <a:pt x="1300861" y="91694"/>
                </a:lnTo>
                <a:lnTo>
                  <a:pt x="1288288" y="86360"/>
                </a:lnTo>
                <a:lnTo>
                  <a:pt x="1233424" y="66294"/>
                </a:lnTo>
                <a:lnTo>
                  <a:pt x="1228725" y="64770"/>
                </a:lnTo>
                <a:close/>
              </a:path>
              <a:path w="1685289" h="352425">
                <a:moveTo>
                  <a:pt x="1099312" y="29210"/>
                </a:moveTo>
                <a:lnTo>
                  <a:pt x="1095375" y="47751"/>
                </a:lnTo>
                <a:lnTo>
                  <a:pt x="1116965" y="52450"/>
                </a:lnTo>
                <a:lnTo>
                  <a:pt x="1168781" y="66039"/>
                </a:lnTo>
                <a:lnTo>
                  <a:pt x="1173734" y="47625"/>
                </a:lnTo>
                <a:lnTo>
                  <a:pt x="1121918" y="34036"/>
                </a:lnTo>
                <a:lnTo>
                  <a:pt x="1099312" y="29210"/>
                </a:lnTo>
                <a:close/>
              </a:path>
              <a:path w="1685289" h="352425">
                <a:moveTo>
                  <a:pt x="966978" y="7365"/>
                </a:moveTo>
                <a:lnTo>
                  <a:pt x="964692" y="26288"/>
                </a:lnTo>
                <a:lnTo>
                  <a:pt x="1005459" y="31114"/>
                </a:lnTo>
                <a:lnTo>
                  <a:pt x="1039749" y="36957"/>
                </a:lnTo>
                <a:lnTo>
                  <a:pt x="1042797" y="18161"/>
                </a:lnTo>
                <a:lnTo>
                  <a:pt x="1008634" y="12446"/>
                </a:lnTo>
                <a:lnTo>
                  <a:pt x="966978" y="7365"/>
                </a:lnTo>
                <a:close/>
              </a:path>
              <a:path w="1685289" h="352425">
                <a:moveTo>
                  <a:pt x="837057" y="0"/>
                </a:moveTo>
                <a:lnTo>
                  <a:pt x="832612" y="0"/>
                </a:lnTo>
                <a:lnTo>
                  <a:pt x="832993" y="19050"/>
                </a:lnTo>
                <a:lnTo>
                  <a:pt x="836549" y="19050"/>
                </a:lnTo>
                <a:lnTo>
                  <a:pt x="892937" y="20447"/>
                </a:lnTo>
                <a:lnTo>
                  <a:pt x="908177" y="21462"/>
                </a:lnTo>
                <a:lnTo>
                  <a:pt x="909574" y="2539"/>
                </a:lnTo>
                <a:lnTo>
                  <a:pt x="894334" y="1397"/>
                </a:lnTo>
                <a:lnTo>
                  <a:pt x="837057" y="0"/>
                </a:lnTo>
                <a:close/>
              </a:path>
              <a:path w="1685289" h="352425">
                <a:moveTo>
                  <a:pt x="774954" y="1397"/>
                </a:moveTo>
                <a:lnTo>
                  <a:pt x="722884" y="4952"/>
                </a:lnTo>
                <a:lnTo>
                  <a:pt x="698627" y="7747"/>
                </a:lnTo>
                <a:lnTo>
                  <a:pt x="700786" y="26670"/>
                </a:lnTo>
                <a:lnTo>
                  <a:pt x="724281" y="24002"/>
                </a:lnTo>
                <a:lnTo>
                  <a:pt x="776224" y="20447"/>
                </a:lnTo>
                <a:lnTo>
                  <a:pt x="774954" y="1397"/>
                </a:lnTo>
                <a:close/>
              </a:path>
              <a:path w="1685289" h="352425">
                <a:moveTo>
                  <a:pt x="641604" y="15494"/>
                </a:moveTo>
                <a:lnTo>
                  <a:pt x="609854" y="20574"/>
                </a:lnTo>
                <a:lnTo>
                  <a:pt x="566293" y="29845"/>
                </a:lnTo>
                <a:lnTo>
                  <a:pt x="570230" y="48513"/>
                </a:lnTo>
                <a:lnTo>
                  <a:pt x="612902" y="39370"/>
                </a:lnTo>
                <a:lnTo>
                  <a:pt x="644652" y="34289"/>
                </a:lnTo>
                <a:lnTo>
                  <a:pt x="641604" y="15494"/>
                </a:lnTo>
                <a:close/>
              </a:path>
              <a:path w="1685289" h="352425">
                <a:moveTo>
                  <a:pt x="510413" y="43814"/>
                </a:moveTo>
                <a:lnTo>
                  <a:pt x="498602" y="46989"/>
                </a:lnTo>
                <a:lnTo>
                  <a:pt x="443992" y="64135"/>
                </a:lnTo>
                <a:lnTo>
                  <a:pt x="436753" y="66801"/>
                </a:lnTo>
                <a:lnTo>
                  <a:pt x="443357" y="84709"/>
                </a:lnTo>
                <a:lnTo>
                  <a:pt x="449707" y="82296"/>
                </a:lnTo>
                <a:lnTo>
                  <a:pt x="503555" y="65405"/>
                </a:lnTo>
                <a:lnTo>
                  <a:pt x="515239" y="62357"/>
                </a:lnTo>
                <a:lnTo>
                  <a:pt x="510413" y="43814"/>
                </a:lnTo>
                <a:close/>
              </a:path>
              <a:path w="1685289" h="352425">
                <a:moveTo>
                  <a:pt x="382905" y="86995"/>
                </a:moveTo>
                <a:lnTo>
                  <a:pt x="337185" y="106425"/>
                </a:lnTo>
                <a:lnTo>
                  <a:pt x="312928" y="118237"/>
                </a:lnTo>
                <a:lnTo>
                  <a:pt x="321183" y="135382"/>
                </a:lnTo>
                <a:lnTo>
                  <a:pt x="344678" y="123951"/>
                </a:lnTo>
                <a:lnTo>
                  <a:pt x="390398" y="104521"/>
                </a:lnTo>
                <a:lnTo>
                  <a:pt x="382905" y="86995"/>
                </a:lnTo>
                <a:close/>
              </a:path>
              <a:path w="1685289" h="352425">
                <a:moveTo>
                  <a:pt x="261620" y="144525"/>
                </a:moveTo>
                <a:lnTo>
                  <a:pt x="234442" y="159385"/>
                </a:lnTo>
                <a:lnTo>
                  <a:pt x="195580" y="183387"/>
                </a:lnTo>
                <a:lnTo>
                  <a:pt x="205486" y="199517"/>
                </a:lnTo>
                <a:lnTo>
                  <a:pt x="243586" y="176149"/>
                </a:lnTo>
                <a:lnTo>
                  <a:pt x="270764" y="161289"/>
                </a:lnTo>
                <a:lnTo>
                  <a:pt x="261620" y="144525"/>
                </a:lnTo>
                <a:close/>
              </a:path>
              <a:path w="1685289" h="352425">
                <a:moveTo>
                  <a:pt x="147574" y="215392"/>
                </a:moveTo>
                <a:lnTo>
                  <a:pt x="136398" y="223138"/>
                </a:lnTo>
                <a:lnTo>
                  <a:pt x="89408" y="258952"/>
                </a:lnTo>
                <a:lnTo>
                  <a:pt x="85979" y="261747"/>
                </a:lnTo>
                <a:lnTo>
                  <a:pt x="98298" y="276225"/>
                </a:lnTo>
                <a:lnTo>
                  <a:pt x="100837" y="274065"/>
                </a:lnTo>
                <a:lnTo>
                  <a:pt x="147193" y="238760"/>
                </a:lnTo>
                <a:lnTo>
                  <a:pt x="158369" y="231139"/>
                </a:lnTo>
                <a:lnTo>
                  <a:pt x="147574" y="215392"/>
                </a:lnTo>
                <a:close/>
              </a:path>
              <a:path w="1685289" h="352425">
                <a:moveTo>
                  <a:pt x="42037" y="299085"/>
                </a:moveTo>
                <a:lnTo>
                  <a:pt x="0" y="338582"/>
                </a:lnTo>
                <a:lnTo>
                  <a:pt x="13081" y="352425"/>
                </a:lnTo>
                <a:lnTo>
                  <a:pt x="55118" y="313055"/>
                </a:lnTo>
                <a:lnTo>
                  <a:pt x="42037" y="299085"/>
                </a:lnTo>
                <a:close/>
              </a:path>
            </a:pathLst>
          </a:custGeom>
          <a:solidFill>
            <a:srgbClr val="A6A6A6"/>
          </a:solidFill>
          <a:ln w="9525" cap="flat" cmpd="sng" algn="ctr">
            <a:noFill/>
            <a:prstDash val="solid"/>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09" name="object 65">
            <a:extLst>
              <a:ext uri="{FF2B5EF4-FFF2-40B4-BE49-F238E27FC236}">
                <a16:creationId xmlns:a16="http://schemas.microsoft.com/office/drawing/2014/main" id="{139C4136-E410-726F-98FB-3E77762E7B89}"/>
              </a:ext>
            </a:extLst>
          </p:cNvPr>
          <p:cNvSpPr>
            <a:spLocks/>
          </p:cNvSpPr>
          <p:nvPr>
            <p:custDataLst>
              <p:tags r:id="rId8"/>
            </p:custDataLst>
          </p:nvPr>
        </p:nvSpPr>
        <p:spPr bwMode="auto">
          <a:xfrm flipV="1">
            <a:off x="7180436" y="4633874"/>
            <a:ext cx="847264" cy="151929"/>
          </a:xfrm>
          <a:custGeom>
            <a:avLst/>
            <a:gdLst>
              <a:gd name="T0" fmla="*/ 1602486 w 1685289"/>
              <a:gd name="T1" fmla="*/ 327913 h 352425"/>
              <a:gd name="T2" fmla="*/ 1670790 w 1685289"/>
              <a:gd name="T3" fmla="*/ 315087 h 352425"/>
              <a:gd name="T4" fmla="*/ 1621144 w 1685289"/>
              <a:gd name="T5" fmla="*/ 306764 h 352425"/>
              <a:gd name="T6" fmla="*/ 1621144 w 1685289"/>
              <a:gd name="T7" fmla="*/ 306764 h 352425"/>
              <a:gd name="T8" fmla="*/ 1643380 w 1685289"/>
              <a:gd name="T9" fmla="*/ 300482 h 352425"/>
              <a:gd name="T10" fmla="*/ 1652905 w 1685289"/>
              <a:gd name="T11" fmla="*/ 270763 h 352425"/>
              <a:gd name="T12" fmla="*/ 1643380 w 1685289"/>
              <a:gd name="T13" fmla="*/ 300482 h 352425"/>
              <a:gd name="T14" fmla="*/ 1670790 w 1685289"/>
              <a:gd name="T15" fmla="*/ 315087 h 352425"/>
              <a:gd name="T16" fmla="*/ 1583689 w 1685289"/>
              <a:gd name="T17" fmla="*/ 252222 h 352425"/>
              <a:gd name="T18" fmla="*/ 1585976 w 1685289"/>
              <a:gd name="T19" fmla="*/ 277622 h 352425"/>
              <a:gd name="T20" fmla="*/ 1633736 w 1685289"/>
              <a:gd name="T21" fmla="*/ 292491 h 352425"/>
              <a:gd name="T22" fmla="*/ 1583689 w 1685289"/>
              <a:gd name="T23" fmla="*/ 252222 h 352425"/>
              <a:gd name="T24" fmla="*/ 1462532 w 1685289"/>
              <a:gd name="T25" fmla="*/ 193675 h 352425"/>
              <a:gd name="T26" fmla="*/ 1526286 w 1685289"/>
              <a:gd name="T27" fmla="*/ 234442 h 352425"/>
              <a:gd name="T28" fmla="*/ 1499108 w 1685289"/>
              <a:gd name="T29" fmla="*/ 193421 h 352425"/>
              <a:gd name="T30" fmla="*/ 1353693 w 1685289"/>
              <a:gd name="T31" fmla="*/ 114553 h 352425"/>
              <a:gd name="T32" fmla="*/ 1386586 w 1685289"/>
              <a:gd name="T33" fmla="*/ 151384 h 352425"/>
              <a:gd name="T34" fmla="*/ 1422273 w 1685289"/>
              <a:gd name="T35" fmla="*/ 148844 h 352425"/>
              <a:gd name="T36" fmla="*/ 1353693 w 1685289"/>
              <a:gd name="T37" fmla="*/ 114553 h 352425"/>
              <a:gd name="T38" fmla="*/ 1223010 w 1685289"/>
              <a:gd name="T39" fmla="*/ 82931 h 352425"/>
              <a:gd name="T40" fmla="*/ 1280922 w 1685289"/>
              <a:gd name="T41" fmla="*/ 103886 h 352425"/>
              <a:gd name="T42" fmla="*/ 1300861 w 1685289"/>
              <a:gd name="T43" fmla="*/ 91694 h 352425"/>
              <a:gd name="T44" fmla="*/ 1233424 w 1685289"/>
              <a:gd name="T45" fmla="*/ 66294 h 352425"/>
              <a:gd name="T46" fmla="*/ 1099312 w 1685289"/>
              <a:gd name="T47" fmla="*/ 29210 h 352425"/>
              <a:gd name="T48" fmla="*/ 1116965 w 1685289"/>
              <a:gd name="T49" fmla="*/ 52450 h 352425"/>
              <a:gd name="T50" fmla="*/ 1173734 w 1685289"/>
              <a:gd name="T51" fmla="*/ 47625 h 352425"/>
              <a:gd name="T52" fmla="*/ 1099312 w 1685289"/>
              <a:gd name="T53" fmla="*/ 29210 h 352425"/>
              <a:gd name="T54" fmla="*/ 964692 w 1685289"/>
              <a:gd name="T55" fmla="*/ 26288 h 352425"/>
              <a:gd name="T56" fmla="*/ 1039749 w 1685289"/>
              <a:gd name="T57" fmla="*/ 36957 h 352425"/>
              <a:gd name="T58" fmla="*/ 1008634 w 1685289"/>
              <a:gd name="T59" fmla="*/ 12446 h 352425"/>
              <a:gd name="T60" fmla="*/ 837057 w 1685289"/>
              <a:gd name="T61" fmla="*/ 0 h 352425"/>
              <a:gd name="T62" fmla="*/ 832993 w 1685289"/>
              <a:gd name="T63" fmla="*/ 19050 h 352425"/>
              <a:gd name="T64" fmla="*/ 892937 w 1685289"/>
              <a:gd name="T65" fmla="*/ 20447 h 352425"/>
              <a:gd name="T66" fmla="*/ 909574 w 1685289"/>
              <a:gd name="T67" fmla="*/ 2539 h 352425"/>
              <a:gd name="T68" fmla="*/ 837057 w 1685289"/>
              <a:gd name="T69" fmla="*/ 0 h 352425"/>
              <a:gd name="T70" fmla="*/ 722884 w 1685289"/>
              <a:gd name="T71" fmla="*/ 4952 h 352425"/>
              <a:gd name="T72" fmla="*/ 700786 w 1685289"/>
              <a:gd name="T73" fmla="*/ 26670 h 352425"/>
              <a:gd name="T74" fmla="*/ 776224 w 1685289"/>
              <a:gd name="T75" fmla="*/ 20447 h 352425"/>
              <a:gd name="T76" fmla="*/ 641604 w 1685289"/>
              <a:gd name="T77" fmla="*/ 15494 h 352425"/>
              <a:gd name="T78" fmla="*/ 566293 w 1685289"/>
              <a:gd name="T79" fmla="*/ 29845 h 352425"/>
              <a:gd name="T80" fmla="*/ 612902 w 1685289"/>
              <a:gd name="T81" fmla="*/ 39370 h 352425"/>
              <a:gd name="T82" fmla="*/ 641604 w 1685289"/>
              <a:gd name="T83" fmla="*/ 15494 h 352425"/>
              <a:gd name="T84" fmla="*/ 498602 w 1685289"/>
              <a:gd name="T85" fmla="*/ 46989 h 352425"/>
              <a:gd name="T86" fmla="*/ 436753 w 1685289"/>
              <a:gd name="T87" fmla="*/ 66801 h 352425"/>
              <a:gd name="T88" fmla="*/ 449707 w 1685289"/>
              <a:gd name="T89" fmla="*/ 82296 h 352425"/>
              <a:gd name="T90" fmla="*/ 515239 w 1685289"/>
              <a:gd name="T91" fmla="*/ 62357 h 352425"/>
              <a:gd name="T92" fmla="*/ 382905 w 1685289"/>
              <a:gd name="T93" fmla="*/ 86995 h 352425"/>
              <a:gd name="T94" fmla="*/ 312928 w 1685289"/>
              <a:gd name="T95" fmla="*/ 118237 h 352425"/>
              <a:gd name="T96" fmla="*/ 344678 w 1685289"/>
              <a:gd name="T97" fmla="*/ 123951 h 352425"/>
              <a:gd name="T98" fmla="*/ 382905 w 1685289"/>
              <a:gd name="T99" fmla="*/ 86995 h 352425"/>
              <a:gd name="T100" fmla="*/ 234442 w 1685289"/>
              <a:gd name="T101" fmla="*/ 159385 h 352425"/>
              <a:gd name="T102" fmla="*/ 205486 w 1685289"/>
              <a:gd name="T103" fmla="*/ 199517 h 352425"/>
              <a:gd name="T104" fmla="*/ 270764 w 1685289"/>
              <a:gd name="T105" fmla="*/ 161289 h 352425"/>
              <a:gd name="T106" fmla="*/ 147574 w 1685289"/>
              <a:gd name="T107" fmla="*/ 215392 h 352425"/>
              <a:gd name="T108" fmla="*/ 89408 w 1685289"/>
              <a:gd name="T109" fmla="*/ 258952 h 352425"/>
              <a:gd name="T110" fmla="*/ 98298 w 1685289"/>
              <a:gd name="T111" fmla="*/ 276225 h 352425"/>
              <a:gd name="T112" fmla="*/ 147193 w 1685289"/>
              <a:gd name="T113" fmla="*/ 238760 h 352425"/>
              <a:gd name="T114" fmla="*/ 147574 w 1685289"/>
              <a:gd name="T115" fmla="*/ 215392 h 352425"/>
              <a:gd name="T116" fmla="*/ 0 w 1685289"/>
              <a:gd name="T117" fmla="*/ 338582 h 352425"/>
              <a:gd name="T118" fmla="*/ 55118 w 1685289"/>
              <a:gd name="T119" fmla="*/ 313055 h 352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5289" h="352425">
                <a:moveTo>
                  <a:pt x="1621144" y="306764"/>
                </a:moveTo>
                <a:lnTo>
                  <a:pt x="1602486" y="327913"/>
                </a:lnTo>
                <a:lnTo>
                  <a:pt x="1684782" y="349758"/>
                </a:lnTo>
                <a:lnTo>
                  <a:pt x="1670790" y="315087"/>
                </a:lnTo>
                <a:lnTo>
                  <a:pt x="1631188" y="315087"/>
                </a:lnTo>
                <a:lnTo>
                  <a:pt x="1621144" y="306764"/>
                </a:lnTo>
                <a:close/>
              </a:path>
              <a:path w="1685289" h="352425">
                <a:moveTo>
                  <a:pt x="1633736" y="292491"/>
                </a:moveTo>
                <a:lnTo>
                  <a:pt x="1621144" y="306764"/>
                </a:lnTo>
                <a:lnTo>
                  <a:pt x="1631188" y="315087"/>
                </a:lnTo>
                <a:lnTo>
                  <a:pt x="1643380" y="300482"/>
                </a:lnTo>
                <a:lnTo>
                  <a:pt x="1633736" y="292491"/>
                </a:lnTo>
                <a:close/>
              </a:path>
              <a:path w="1685289" h="352425">
                <a:moveTo>
                  <a:pt x="1652905" y="270763"/>
                </a:moveTo>
                <a:lnTo>
                  <a:pt x="1633736" y="292491"/>
                </a:lnTo>
                <a:lnTo>
                  <a:pt x="1643380" y="300482"/>
                </a:lnTo>
                <a:lnTo>
                  <a:pt x="1631188" y="315087"/>
                </a:lnTo>
                <a:lnTo>
                  <a:pt x="1670790" y="315087"/>
                </a:lnTo>
                <a:lnTo>
                  <a:pt x="1652905" y="270763"/>
                </a:lnTo>
                <a:close/>
              </a:path>
              <a:path w="1685289" h="352425">
                <a:moveTo>
                  <a:pt x="1583689" y="252222"/>
                </a:moveTo>
                <a:lnTo>
                  <a:pt x="1572387" y="267588"/>
                </a:lnTo>
                <a:lnTo>
                  <a:pt x="1585976" y="277622"/>
                </a:lnTo>
                <a:lnTo>
                  <a:pt x="1621144" y="306764"/>
                </a:lnTo>
                <a:lnTo>
                  <a:pt x="1633736" y="292491"/>
                </a:lnTo>
                <a:lnTo>
                  <a:pt x="1598168" y="263017"/>
                </a:lnTo>
                <a:lnTo>
                  <a:pt x="1583689" y="252222"/>
                </a:lnTo>
                <a:close/>
              </a:path>
              <a:path w="1685289" h="352425">
                <a:moveTo>
                  <a:pt x="1472311" y="177292"/>
                </a:moveTo>
                <a:lnTo>
                  <a:pt x="1462532" y="193675"/>
                </a:lnTo>
                <a:lnTo>
                  <a:pt x="1488567" y="209296"/>
                </a:lnTo>
                <a:lnTo>
                  <a:pt x="1526286" y="234442"/>
                </a:lnTo>
                <a:lnTo>
                  <a:pt x="1536954" y="218694"/>
                </a:lnTo>
                <a:lnTo>
                  <a:pt x="1499108" y="193421"/>
                </a:lnTo>
                <a:lnTo>
                  <a:pt x="1472311" y="177292"/>
                </a:lnTo>
                <a:close/>
              </a:path>
              <a:path w="1685289" h="352425">
                <a:moveTo>
                  <a:pt x="1353693" y="114553"/>
                </a:moveTo>
                <a:lnTo>
                  <a:pt x="1345564" y="131825"/>
                </a:lnTo>
                <a:lnTo>
                  <a:pt x="1386586" y="151384"/>
                </a:lnTo>
                <a:lnTo>
                  <a:pt x="1413256" y="165608"/>
                </a:lnTo>
                <a:lnTo>
                  <a:pt x="1422273" y="148844"/>
                </a:lnTo>
                <a:lnTo>
                  <a:pt x="1395602" y="134493"/>
                </a:lnTo>
                <a:lnTo>
                  <a:pt x="1353693" y="114553"/>
                </a:lnTo>
                <a:close/>
              </a:path>
              <a:path w="1685289" h="352425">
                <a:moveTo>
                  <a:pt x="1228725" y="64770"/>
                </a:moveTo>
                <a:lnTo>
                  <a:pt x="1223010" y="82931"/>
                </a:lnTo>
                <a:lnTo>
                  <a:pt x="1226820" y="84200"/>
                </a:lnTo>
                <a:lnTo>
                  <a:pt x="1280922" y="103886"/>
                </a:lnTo>
                <a:lnTo>
                  <a:pt x="1293495" y="109220"/>
                </a:lnTo>
                <a:lnTo>
                  <a:pt x="1300861" y="91694"/>
                </a:lnTo>
                <a:lnTo>
                  <a:pt x="1288288" y="86360"/>
                </a:lnTo>
                <a:lnTo>
                  <a:pt x="1233424" y="66294"/>
                </a:lnTo>
                <a:lnTo>
                  <a:pt x="1228725" y="64770"/>
                </a:lnTo>
                <a:close/>
              </a:path>
              <a:path w="1685289" h="352425">
                <a:moveTo>
                  <a:pt x="1099312" y="29210"/>
                </a:moveTo>
                <a:lnTo>
                  <a:pt x="1095375" y="47751"/>
                </a:lnTo>
                <a:lnTo>
                  <a:pt x="1116965" y="52450"/>
                </a:lnTo>
                <a:lnTo>
                  <a:pt x="1168781" y="66039"/>
                </a:lnTo>
                <a:lnTo>
                  <a:pt x="1173734" y="47625"/>
                </a:lnTo>
                <a:lnTo>
                  <a:pt x="1121918" y="34036"/>
                </a:lnTo>
                <a:lnTo>
                  <a:pt x="1099312" y="29210"/>
                </a:lnTo>
                <a:close/>
              </a:path>
              <a:path w="1685289" h="352425">
                <a:moveTo>
                  <a:pt x="966978" y="7365"/>
                </a:moveTo>
                <a:lnTo>
                  <a:pt x="964692" y="26288"/>
                </a:lnTo>
                <a:lnTo>
                  <a:pt x="1005459" y="31114"/>
                </a:lnTo>
                <a:lnTo>
                  <a:pt x="1039749" y="36957"/>
                </a:lnTo>
                <a:lnTo>
                  <a:pt x="1042797" y="18161"/>
                </a:lnTo>
                <a:lnTo>
                  <a:pt x="1008634" y="12446"/>
                </a:lnTo>
                <a:lnTo>
                  <a:pt x="966978" y="7365"/>
                </a:lnTo>
                <a:close/>
              </a:path>
              <a:path w="1685289" h="352425">
                <a:moveTo>
                  <a:pt x="837057" y="0"/>
                </a:moveTo>
                <a:lnTo>
                  <a:pt x="832612" y="0"/>
                </a:lnTo>
                <a:lnTo>
                  <a:pt x="832993" y="19050"/>
                </a:lnTo>
                <a:lnTo>
                  <a:pt x="836549" y="19050"/>
                </a:lnTo>
                <a:lnTo>
                  <a:pt x="892937" y="20447"/>
                </a:lnTo>
                <a:lnTo>
                  <a:pt x="908177" y="21462"/>
                </a:lnTo>
                <a:lnTo>
                  <a:pt x="909574" y="2539"/>
                </a:lnTo>
                <a:lnTo>
                  <a:pt x="894334" y="1397"/>
                </a:lnTo>
                <a:lnTo>
                  <a:pt x="837057" y="0"/>
                </a:lnTo>
                <a:close/>
              </a:path>
              <a:path w="1685289" h="352425">
                <a:moveTo>
                  <a:pt x="774954" y="1397"/>
                </a:moveTo>
                <a:lnTo>
                  <a:pt x="722884" y="4952"/>
                </a:lnTo>
                <a:lnTo>
                  <a:pt x="698627" y="7747"/>
                </a:lnTo>
                <a:lnTo>
                  <a:pt x="700786" y="26670"/>
                </a:lnTo>
                <a:lnTo>
                  <a:pt x="724281" y="24002"/>
                </a:lnTo>
                <a:lnTo>
                  <a:pt x="776224" y="20447"/>
                </a:lnTo>
                <a:lnTo>
                  <a:pt x="774954" y="1397"/>
                </a:lnTo>
                <a:close/>
              </a:path>
              <a:path w="1685289" h="352425">
                <a:moveTo>
                  <a:pt x="641604" y="15494"/>
                </a:moveTo>
                <a:lnTo>
                  <a:pt x="609854" y="20574"/>
                </a:lnTo>
                <a:lnTo>
                  <a:pt x="566293" y="29845"/>
                </a:lnTo>
                <a:lnTo>
                  <a:pt x="570230" y="48513"/>
                </a:lnTo>
                <a:lnTo>
                  <a:pt x="612902" y="39370"/>
                </a:lnTo>
                <a:lnTo>
                  <a:pt x="644652" y="34289"/>
                </a:lnTo>
                <a:lnTo>
                  <a:pt x="641604" y="15494"/>
                </a:lnTo>
                <a:close/>
              </a:path>
              <a:path w="1685289" h="352425">
                <a:moveTo>
                  <a:pt x="510413" y="43814"/>
                </a:moveTo>
                <a:lnTo>
                  <a:pt x="498602" y="46989"/>
                </a:lnTo>
                <a:lnTo>
                  <a:pt x="443992" y="64135"/>
                </a:lnTo>
                <a:lnTo>
                  <a:pt x="436753" y="66801"/>
                </a:lnTo>
                <a:lnTo>
                  <a:pt x="443357" y="84709"/>
                </a:lnTo>
                <a:lnTo>
                  <a:pt x="449707" y="82296"/>
                </a:lnTo>
                <a:lnTo>
                  <a:pt x="503555" y="65405"/>
                </a:lnTo>
                <a:lnTo>
                  <a:pt x="515239" y="62357"/>
                </a:lnTo>
                <a:lnTo>
                  <a:pt x="510413" y="43814"/>
                </a:lnTo>
                <a:close/>
              </a:path>
              <a:path w="1685289" h="352425">
                <a:moveTo>
                  <a:pt x="382905" y="86995"/>
                </a:moveTo>
                <a:lnTo>
                  <a:pt x="337185" y="106425"/>
                </a:lnTo>
                <a:lnTo>
                  <a:pt x="312928" y="118237"/>
                </a:lnTo>
                <a:lnTo>
                  <a:pt x="321183" y="135382"/>
                </a:lnTo>
                <a:lnTo>
                  <a:pt x="344678" y="123951"/>
                </a:lnTo>
                <a:lnTo>
                  <a:pt x="390398" y="104521"/>
                </a:lnTo>
                <a:lnTo>
                  <a:pt x="382905" y="86995"/>
                </a:lnTo>
                <a:close/>
              </a:path>
              <a:path w="1685289" h="352425">
                <a:moveTo>
                  <a:pt x="261620" y="144525"/>
                </a:moveTo>
                <a:lnTo>
                  <a:pt x="234442" y="159385"/>
                </a:lnTo>
                <a:lnTo>
                  <a:pt x="195580" y="183387"/>
                </a:lnTo>
                <a:lnTo>
                  <a:pt x="205486" y="199517"/>
                </a:lnTo>
                <a:lnTo>
                  <a:pt x="243586" y="176149"/>
                </a:lnTo>
                <a:lnTo>
                  <a:pt x="270764" y="161289"/>
                </a:lnTo>
                <a:lnTo>
                  <a:pt x="261620" y="144525"/>
                </a:lnTo>
                <a:close/>
              </a:path>
              <a:path w="1685289" h="352425">
                <a:moveTo>
                  <a:pt x="147574" y="215392"/>
                </a:moveTo>
                <a:lnTo>
                  <a:pt x="136398" y="223138"/>
                </a:lnTo>
                <a:lnTo>
                  <a:pt x="89408" y="258952"/>
                </a:lnTo>
                <a:lnTo>
                  <a:pt x="85979" y="261747"/>
                </a:lnTo>
                <a:lnTo>
                  <a:pt x="98298" y="276225"/>
                </a:lnTo>
                <a:lnTo>
                  <a:pt x="100837" y="274065"/>
                </a:lnTo>
                <a:lnTo>
                  <a:pt x="147193" y="238760"/>
                </a:lnTo>
                <a:lnTo>
                  <a:pt x="158369" y="231139"/>
                </a:lnTo>
                <a:lnTo>
                  <a:pt x="147574" y="215392"/>
                </a:lnTo>
                <a:close/>
              </a:path>
              <a:path w="1685289" h="352425">
                <a:moveTo>
                  <a:pt x="42037" y="299085"/>
                </a:moveTo>
                <a:lnTo>
                  <a:pt x="0" y="338582"/>
                </a:lnTo>
                <a:lnTo>
                  <a:pt x="13081" y="352425"/>
                </a:lnTo>
                <a:lnTo>
                  <a:pt x="55118" y="313055"/>
                </a:lnTo>
                <a:lnTo>
                  <a:pt x="42037" y="299085"/>
                </a:lnTo>
                <a:close/>
              </a:path>
            </a:pathLst>
          </a:custGeom>
          <a:solidFill>
            <a:srgbClr val="A6A6A6"/>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10" name="object 65">
            <a:extLst>
              <a:ext uri="{FF2B5EF4-FFF2-40B4-BE49-F238E27FC236}">
                <a16:creationId xmlns:a16="http://schemas.microsoft.com/office/drawing/2014/main" id="{35EB5128-7C62-9D2E-FFF5-3E85DFE76D9F}"/>
              </a:ext>
            </a:extLst>
          </p:cNvPr>
          <p:cNvSpPr/>
          <p:nvPr>
            <p:custDataLst>
              <p:tags r:id="rId9"/>
            </p:custDataLst>
          </p:nvPr>
        </p:nvSpPr>
        <p:spPr>
          <a:xfrm rot="497277">
            <a:off x="1654768" y="3957200"/>
            <a:ext cx="890848" cy="203655"/>
          </a:xfrm>
          <a:custGeom>
            <a:avLst/>
            <a:gdLst/>
            <a:ahLst/>
            <a:cxnLst/>
            <a:rect l="l" t="t" r="r" b="b"/>
            <a:pathLst>
              <a:path w="1685289" h="352425">
                <a:moveTo>
                  <a:pt x="1621144" y="306764"/>
                </a:moveTo>
                <a:lnTo>
                  <a:pt x="1602486" y="327913"/>
                </a:lnTo>
                <a:lnTo>
                  <a:pt x="1684782" y="349758"/>
                </a:lnTo>
                <a:lnTo>
                  <a:pt x="1670790" y="315087"/>
                </a:lnTo>
                <a:lnTo>
                  <a:pt x="1631188" y="315087"/>
                </a:lnTo>
                <a:lnTo>
                  <a:pt x="1621144" y="306764"/>
                </a:lnTo>
                <a:close/>
              </a:path>
              <a:path w="1685289" h="352425">
                <a:moveTo>
                  <a:pt x="1633736" y="292491"/>
                </a:moveTo>
                <a:lnTo>
                  <a:pt x="1621144" y="306764"/>
                </a:lnTo>
                <a:lnTo>
                  <a:pt x="1631188" y="315087"/>
                </a:lnTo>
                <a:lnTo>
                  <a:pt x="1643380" y="300482"/>
                </a:lnTo>
                <a:lnTo>
                  <a:pt x="1633736" y="292491"/>
                </a:lnTo>
                <a:close/>
              </a:path>
              <a:path w="1685289" h="352425">
                <a:moveTo>
                  <a:pt x="1652905" y="270763"/>
                </a:moveTo>
                <a:lnTo>
                  <a:pt x="1633736" y="292491"/>
                </a:lnTo>
                <a:lnTo>
                  <a:pt x="1643380" y="300482"/>
                </a:lnTo>
                <a:lnTo>
                  <a:pt x="1631188" y="315087"/>
                </a:lnTo>
                <a:lnTo>
                  <a:pt x="1670790" y="315087"/>
                </a:lnTo>
                <a:lnTo>
                  <a:pt x="1652905" y="270763"/>
                </a:lnTo>
                <a:close/>
              </a:path>
              <a:path w="1685289" h="352425">
                <a:moveTo>
                  <a:pt x="1583689" y="252222"/>
                </a:moveTo>
                <a:lnTo>
                  <a:pt x="1572387" y="267588"/>
                </a:lnTo>
                <a:lnTo>
                  <a:pt x="1585976" y="277622"/>
                </a:lnTo>
                <a:lnTo>
                  <a:pt x="1621144" y="306764"/>
                </a:lnTo>
                <a:lnTo>
                  <a:pt x="1633736" y="292491"/>
                </a:lnTo>
                <a:lnTo>
                  <a:pt x="1598168" y="263017"/>
                </a:lnTo>
                <a:lnTo>
                  <a:pt x="1583689" y="252222"/>
                </a:lnTo>
                <a:close/>
              </a:path>
              <a:path w="1685289" h="352425">
                <a:moveTo>
                  <a:pt x="1472311" y="177292"/>
                </a:moveTo>
                <a:lnTo>
                  <a:pt x="1462532" y="193675"/>
                </a:lnTo>
                <a:lnTo>
                  <a:pt x="1488567" y="209296"/>
                </a:lnTo>
                <a:lnTo>
                  <a:pt x="1526286" y="234442"/>
                </a:lnTo>
                <a:lnTo>
                  <a:pt x="1536954" y="218694"/>
                </a:lnTo>
                <a:lnTo>
                  <a:pt x="1499108" y="193421"/>
                </a:lnTo>
                <a:lnTo>
                  <a:pt x="1472311" y="177292"/>
                </a:lnTo>
                <a:close/>
              </a:path>
              <a:path w="1685289" h="352425">
                <a:moveTo>
                  <a:pt x="1353693" y="114553"/>
                </a:moveTo>
                <a:lnTo>
                  <a:pt x="1345564" y="131825"/>
                </a:lnTo>
                <a:lnTo>
                  <a:pt x="1386586" y="151384"/>
                </a:lnTo>
                <a:lnTo>
                  <a:pt x="1413256" y="165608"/>
                </a:lnTo>
                <a:lnTo>
                  <a:pt x="1422273" y="148844"/>
                </a:lnTo>
                <a:lnTo>
                  <a:pt x="1395602" y="134493"/>
                </a:lnTo>
                <a:lnTo>
                  <a:pt x="1353693" y="114553"/>
                </a:lnTo>
                <a:close/>
              </a:path>
              <a:path w="1685289" h="352425">
                <a:moveTo>
                  <a:pt x="1228725" y="64770"/>
                </a:moveTo>
                <a:lnTo>
                  <a:pt x="1223010" y="82931"/>
                </a:lnTo>
                <a:lnTo>
                  <a:pt x="1226820" y="84200"/>
                </a:lnTo>
                <a:lnTo>
                  <a:pt x="1280922" y="103886"/>
                </a:lnTo>
                <a:lnTo>
                  <a:pt x="1293495" y="109220"/>
                </a:lnTo>
                <a:lnTo>
                  <a:pt x="1300861" y="91694"/>
                </a:lnTo>
                <a:lnTo>
                  <a:pt x="1288288" y="86360"/>
                </a:lnTo>
                <a:lnTo>
                  <a:pt x="1233424" y="66294"/>
                </a:lnTo>
                <a:lnTo>
                  <a:pt x="1228725" y="64770"/>
                </a:lnTo>
                <a:close/>
              </a:path>
              <a:path w="1685289" h="352425">
                <a:moveTo>
                  <a:pt x="1099312" y="29210"/>
                </a:moveTo>
                <a:lnTo>
                  <a:pt x="1095375" y="47751"/>
                </a:lnTo>
                <a:lnTo>
                  <a:pt x="1116965" y="52450"/>
                </a:lnTo>
                <a:lnTo>
                  <a:pt x="1168781" y="66039"/>
                </a:lnTo>
                <a:lnTo>
                  <a:pt x="1173734" y="47625"/>
                </a:lnTo>
                <a:lnTo>
                  <a:pt x="1121918" y="34036"/>
                </a:lnTo>
                <a:lnTo>
                  <a:pt x="1099312" y="29210"/>
                </a:lnTo>
                <a:close/>
              </a:path>
              <a:path w="1685289" h="352425">
                <a:moveTo>
                  <a:pt x="966978" y="7365"/>
                </a:moveTo>
                <a:lnTo>
                  <a:pt x="964692" y="26288"/>
                </a:lnTo>
                <a:lnTo>
                  <a:pt x="1005459" y="31114"/>
                </a:lnTo>
                <a:lnTo>
                  <a:pt x="1039749" y="36957"/>
                </a:lnTo>
                <a:lnTo>
                  <a:pt x="1042797" y="18161"/>
                </a:lnTo>
                <a:lnTo>
                  <a:pt x="1008634" y="12446"/>
                </a:lnTo>
                <a:lnTo>
                  <a:pt x="966978" y="7365"/>
                </a:lnTo>
                <a:close/>
              </a:path>
              <a:path w="1685289" h="352425">
                <a:moveTo>
                  <a:pt x="837057" y="0"/>
                </a:moveTo>
                <a:lnTo>
                  <a:pt x="832612" y="0"/>
                </a:lnTo>
                <a:lnTo>
                  <a:pt x="832993" y="19050"/>
                </a:lnTo>
                <a:lnTo>
                  <a:pt x="836549" y="19050"/>
                </a:lnTo>
                <a:lnTo>
                  <a:pt x="892937" y="20447"/>
                </a:lnTo>
                <a:lnTo>
                  <a:pt x="908177" y="21462"/>
                </a:lnTo>
                <a:lnTo>
                  <a:pt x="909574" y="2539"/>
                </a:lnTo>
                <a:lnTo>
                  <a:pt x="894334" y="1397"/>
                </a:lnTo>
                <a:lnTo>
                  <a:pt x="837057" y="0"/>
                </a:lnTo>
                <a:close/>
              </a:path>
              <a:path w="1685289" h="352425">
                <a:moveTo>
                  <a:pt x="774954" y="1397"/>
                </a:moveTo>
                <a:lnTo>
                  <a:pt x="722884" y="4952"/>
                </a:lnTo>
                <a:lnTo>
                  <a:pt x="698627" y="7747"/>
                </a:lnTo>
                <a:lnTo>
                  <a:pt x="700786" y="26670"/>
                </a:lnTo>
                <a:lnTo>
                  <a:pt x="724281" y="24002"/>
                </a:lnTo>
                <a:lnTo>
                  <a:pt x="776224" y="20447"/>
                </a:lnTo>
                <a:lnTo>
                  <a:pt x="774954" y="1397"/>
                </a:lnTo>
                <a:close/>
              </a:path>
              <a:path w="1685289" h="352425">
                <a:moveTo>
                  <a:pt x="641604" y="15494"/>
                </a:moveTo>
                <a:lnTo>
                  <a:pt x="609854" y="20574"/>
                </a:lnTo>
                <a:lnTo>
                  <a:pt x="566293" y="29845"/>
                </a:lnTo>
                <a:lnTo>
                  <a:pt x="570230" y="48513"/>
                </a:lnTo>
                <a:lnTo>
                  <a:pt x="612902" y="39370"/>
                </a:lnTo>
                <a:lnTo>
                  <a:pt x="644652" y="34289"/>
                </a:lnTo>
                <a:lnTo>
                  <a:pt x="641604" y="15494"/>
                </a:lnTo>
                <a:close/>
              </a:path>
              <a:path w="1685289" h="352425">
                <a:moveTo>
                  <a:pt x="510413" y="43814"/>
                </a:moveTo>
                <a:lnTo>
                  <a:pt x="498602" y="46989"/>
                </a:lnTo>
                <a:lnTo>
                  <a:pt x="443992" y="64135"/>
                </a:lnTo>
                <a:lnTo>
                  <a:pt x="436753" y="66801"/>
                </a:lnTo>
                <a:lnTo>
                  <a:pt x="443357" y="84709"/>
                </a:lnTo>
                <a:lnTo>
                  <a:pt x="449707" y="82296"/>
                </a:lnTo>
                <a:lnTo>
                  <a:pt x="503555" y="65405"/>
                </a:lnTo>
                <a:lnTo>
                  <a:pt x="515239" y="62357"/>
                </a:lnTo>
                <a:lnTo>
                  <a:pt x="510413" y="43814"/>
                </a:lnTo>
                <a:close/>
              </a:path>
              <a:path w="1685289" h="352425">
                <a:moveTo>
                  <a:pt x="382905" y="86995"/>
                </a:moveTo>
                <a:lnTo>
                  <a:pt x="337185" y="106425"/>
                </a:lnTo>
                <a:lnTo>
                  <a:pt x="312928" y="118237"/>
                </a:lnTo>
                <a:lnTo>
                  <a:pt x="321183" y="135382"/>
                </a:lnTo>
                <a:lnTo>
                  <a:pt x="344678" y="123951"/>
                </a:lnTo>
                <a:lnTo>
                  <a:pt x="390398" y="104521"/>
                </a:lnTo>
                <a:lnTo>
                  <a:pt x="382905" y="86995"/>
                </a:lnTo>
                <a:close/>
              </a:path>
              <a:path w="1685289" h="352425">
                <a:moveTo>
                  <a:pt x="261620" y="144525"/>
                </a:moveTo>
                <a:lnTo>
                  <a:pt x="234442" y="159385"/>
                </a:lnTo>
                <a:lnTo>
                  <a:pt x="195580" y="183387"/>
                </a:lnTo>
                <a:lnTo>
                  <a:pt x="205486" y="199517"/>
                </a:lnTo>
                <a:lnTo>
                  <a:pt x="243586" y="176149"/>
                </a:lnTo>
                <a:lnTo>
                  <a:pt x="270764" y="161289"/>
                </a:lnTo>
                <a:lnTo>
                  <a:pt x="261620" y="144525"/>
                </a:lnTo>
                <a:close/>
              </a:path>
              <a:path w="1685289" h="352425">
                <a:moveTo>
                  <a:pt x="147574" y="215392"/>
                </a:moveTo>
                <a:lnTo>
                  <a:pt x="136398" y="223138"/>
                </a:lnTo>
                <a:lnTo>
                  <a:pt x="89408" y="258952"/>
                </a:lnTo>
                <a:lnTo>
                  <a:pt x="85979" y="261747"/>
                </a:lnTo>
                <a:lnTo>
                  <a:pt x="98298" y="276225"/>
                </a:lnTo>
                <a:lnTo>
                  <a:pt x="100837" y="274065"/>
                </a:lnTo>
                <a:lnTo>
                  <a:pt x="147193" y="238760"/>
                </a:lnTo>
                <a:lnTo>
                  <a:pt x="158369" y="231139"/>
                </a:lnTo>
                <a:lnTo>
                  <a:pt x="147574" y="215392"/>
                </a:lnTo>
                <a:close/>
              </a:path>
              <a:path w="1685289" h="352425">
                <a:moveTo>
                  <a:pt x="42037" y="299085"/>
                </a:moveTo>
                <a:lnTo>
                  <a:pt x="0" y="338582"/>
                </a:lnTo>
                <a:lnTo>
                  <a:pt x="13081" y="352425"/>
                </a:lnTo>
                <a:lnTo>
                  <a:pt x="55118" y="313055"/>
                </a:lnTo>
                <a:lnTo>
                  <a:pt x="42037" y="299085"/>
                </a:lnTo>
                <a:close/>
              </a:path>
            </a:pathLst>
          </a:custGeom>
          <a:solidFill>
            <a:srgbClr val="A6A6A6"/>
          </a:solidFill>
          <a:ln w="9525" cap="flat" cmpd="sng" algn="ctr">
            <a:noFill/>
            <a:prstDash val="solid"/>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11" name="object 65">
            <a:extLst>
              <a:ext uri="{FF2B5EF4-FFF2-40B4-BE49-F238E27FC236}">
                <a16:creationId xmlns:a16="http://schemas.microsoft.com/office/drawing/2014/main" id="{4CBC3D60-DD57-40D3-943E-BA549FDE1D4E}"/>
              </a:ext>
            </a:extLst>
          </p:cNvPr>
          <p:cNvSpPr>
            <a:spLocks/>
          </p:cNvSpPr>
          <p:nvPr>
            <p:custDataLst>
              <p:tags r:id="rId10"/>
            </p:custDataLst>
          </p:nvPr>
        </p:nvSpPr>
        <p:spPr bwMode="auto">
          <a:xfrm rot="486244" flipV="1">
            <a:off x="3491474" y="4774114"/>
            <a:ext cx="1056059" cy="213008"/>
          </a:xfrm>
          <a:custGeom>
            <a:avLst/>
            <a:gdLst>
              <a:gd name="T0" fmla="*/ 1602486 w 1685289"/>
              <a:gd name="T1" fmla="*/ 327913 h 352425"/>
              <a:gd name="T2" fmla="*/ 1670790 w 1685289"/>
              <a:gd name="T3" fmla="*/ 315087 h 352425"/>
              <a:gd name="T4" fmla="*/ 1621144 w 1685289"/>
              <a:gd name="T5" fmla="*/ 306764 h 352425"/>
              <a:gd name="T6" fmla="*/ 1621144 w 1685289"/>
              <a:gd name="T7" fmla="*/ 306764 h 352425"/>
              <a:gd name="T8" fmla="*/ 1643380 w 1685289"/>
              <a:gd name="T9" fmla="*/ 300482 h 352425"/>
              <a:gd name="T10" fmla="*/ 1652905 w 1685289"/>
              <a:gd name="T11" fmla="*/ 270763 h 352425"/>
              <a:gd name="T12" fmla="*/ 1643380 w 1685289"/>
              <a:gd name="T13" fmla="*/ 300482 h 352425"/>
              <a:gd name="T14" fmla="*/ 1670790 w 1685289"/>
              <a:gd name="T15" fmla="*/ 315087 h 352425"/>
              <a:gd name="T16" fmla="*/ 1583689 w 1685289"/>
              <a:gd name="T17" fmla="*/ 252222 h 352425"/>
              <a:gd name="T18" fmla="*/ 1585976 w 1685289"/>
              <a:gd name="T19" fmla="*/ 277622 h 352425"/>
              <a:gd name="T20" fmla="*/ 1633736 w 1685289"/>
              <a:gd name="T21" fmla="*/ 292491 h 352425"/>
              <a:gd name="T22" fmla="*/ 1583689 w 1685289"/>
              <a:gd name="T23" fmla="*/ 252222 h 352425"/>
              <a:gd name="T24" fmla="*/ 1462532 w 1685289"/>
              <a:gd name="T25" fmla="*/ 193675 h 352425"/>
              <a:gd name="T26" fmla="*/ 1526286 w 1685289"/>
              <a:gd name="T27" fmla="*/ 234442 h 352425"/>
              <a:gd name="T28" fmla="*/ 1499108 w 1685289"/>
              <a:gd name="T29" fmla="*/ 193421 h 352425"/>
              <a:gd name="T30" fmla="*/ 1353693 w 1685289"/>
              <a:gd name="T31" fmla="*/ 114553 h 352425"/>
              <a:gd name="T32" fmla="*/ 1386586 w 1685289"/>
              <a:gd name="T33" fmla="*/ 151384 h 352425"/>
              <a:gd name="T34" fmla="*/ 1422273 w 1685289"/>
              <a:gd name="T35" fmla="*/ 148844 h 352425"/>
              <a:gd name="T36" fmla="*/ 1353693 w 1685289"/>
              <a:gd name="T37" fmla="*/ 114553 h 352425"/>
              <a:gd name="T38" fmla="*/ 1223010 w 1685289"/>
              <a:gd name="T39" fmla="*/ 82931 h 352425"/>
              <a:gd name="T40" fmla="*/ 1280922 w 1685289"/>
              <a:gd name="T41" fmla="*/ 103886 h 352425"/>
              <a:gd name="T42" fmla="*/ 1300861 w 1685289"/>
              <a:gd name="T43" fmla="*/ 91694 h 352425"/>
              <a:gd name="T44" fmla="*/ 1233424 w 1685289"/>
              <a:gd name="T45" fmla="*/ 66294 h 352425"/>
              <a:gd name="T46" fmla="*/ 1099312 w 1685289"/>
              <a:gd name="T47" fmla="*/ 29210 h 352425"/>
              <a:gd name="T48" fmla="*/ 1116965 w 1685289"/>
              <a:gd name="T49" fmla="*/ 52450 h 352425"/>
              <a:gd name="T50" fmla="*/ 1173734 w 1685289"/>
              <a:gd name="T51" fmla="*/ 47625 h 352425"/>
              <a:gd name="T52" fmla="*/ 1099312 w 1685289"/>
              <a:gd name="T53" fmla="*/ 29210 h 352425"/>
              <a:gd name="T54" fmla="*/ 964692 w 1685289"/>
              <a:gd name="T55" fmla="*/ 26288 h 352425"/>
              <a:gd name="T56" fmla="*/ 1039749 w 1685289"/>
              <a:gd name="T57" fmla="*/ 36957 h 352425"/>
              <a:gd name="T58" fmla="*/ 1008634 w 1685289"/>
              <a:gd name="T59" fmla="*/ 12446 h 352425"/>
              <a:gd name="T60" fmla="*/ 837057 w 1685289"/>
              <a:gd name="T61" fmla="*/ 0 h 352425"/>
              <a:gd name="T62" fmla="*/ 832993 w 1685289"/>
              <a:gd name="T63" fmla="*/ 19050 h 352425"/>
              <a:gd name="T64" fmla="*/ 892937 w 1685289"/>
              <a:gd name="T65" fmla="*/ 20447 h 352425"/>
              <a:gd name="T66" fmla="*/ 909574 w 1685289"/>
              <a:gd name="T67" fmla="*/ 2539 h 352425"/>
              <a:gd name="T68" fmla="*/ 837057 w 1685289"/>
              <a:gd name="T69" fmla="*/ 0 h 352425"/>
              <a:gd name="T70" fmla="*/ 722884 w 1685289"/>
              <a:gd name="T71" fmla="*/ 4952 h 352425"/>
              <a:gd name="T72" fmla="*/ 700786 w 1685289"/>
              <a:gd name="T73" fmla="*/ 26670 h 352425"/>
              <a:gd name="T74" fmla="*/ 776224 w 1685289"/>
              <a:gd name="T75" fmla="*/ 20447 h 352425"/>
              <a:gd name="T76" fmla="*/ 641604 w 1685289"/>
              <a:gd name="T77" fmla="*/ 15494 h 352425"/>
              <a:gd name="T78" fmla="*/ 566293 w 1685289"/>
              <a:gd name="T79" fmla="*/ 29845 h 352425"/>
              <a:gd name="T80" fmla="*/ 612902 w 1685289"/>
              <a:gd name="T81" fmla="*/ 39370 h 352425"/>
              <a:gd name="T82" fmla="*/ 641604 w 1685289"/>
              <a:gd name="T83" fmla="*/ 15494 h 352425"/>
              <a:gd name="T84" fmla="*/ 498602 w 1685289"/>
              <a:gd name="T85" fmla="*/ 46989 h 352425"/>
              <a:gd name="T86" fmla="*/ 436753 w 1685289"/>
              <a:gd name="T87" fmla="*/ 66801 h 352425"/>
              <a:gd name="T88" fmla="*/ 449707 w 1685289"/>
              <a:gd name="T89" fmla="*/ 82296 h 352425"/>
              <a:gd name="T90" fmla="*/ 515239 w 1685289"/>
              <a:gd name="T91" fmla="*/ 62357 h 352425"/>
              <a:gd name="T92" fmla="*/ 382905 w 1685289"/>
              <a:gd name="T93" fmla="*/ 86995 h 352425"/>
              <a:gd name="T94" fmla="*/ 312928 w 1685289"/>
              <a:gd name="T95" fmla="*/ 118237 h 352425"/>
              <a:gd name="T96" fmla="*/ 344678 w 1685289"/>
              <a:gd name="T97" fmla="*/ 123951 h 352425"/>
              <a:gd name="T98" fmla="*/ 382905 w 1685289"/>
              <a:gd name="T99" fmla="*/ 86995 h 352425"/>
              <a:gd name="T100" fmla="*/ 234442 w 1685289"/>
              <a:gd name="T101" fmla="*/ 159385 h 352425"/>
              <a:gd name="T102" fmla="*/ 205486 w 1685289"/>
              <a:gd name="T103" fmla="*/ 199517 h 352425"/>
              <a:gd name="T104" fmla="*/ 270764 w 1685289"/>
              <a:gd name="T105" fmla="*/ 161289 h 352425"/>
              <a:gd name="T106" fmla="*/ 147574 w 1685289"/>
              <a:gd name="T107" fmla="*/ 215392 h 352425"/>
              <a:gd name="T108" fmla="*/ 89408 w 1685289"/>
              <a:gd name="T109" fmla="*/ 258952 h 352425"/>
              <a:gd name="T110" fmla="*/ 98298 w 1685289"/>
              <a:gd name="T111" fmla="*/ 276225 h 352425"/>
              <a:gd name="T112" fmla="*/ 147193 w 1685289"/>
              <a:gd name="T113" fmla="*/ 238760 h 352425"/>
              <a:gd name="T114" fmla="*/ 147574 w 1685289"/>
              <a:gd name="T115" fmla="*/ 215392 h 352425"/>
              <a:gd name="T116" fmla="*/ 0 w 1685289"/>
              <a:gd name="T117" fmla="*/ 338582 h 352425"/>
              <a:gd name="T118" fmla="*/ 55118 w 1685289"/>
              <a:gd name="T119" fmla="*/ 313055 h 352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5289" h="352425">
                <a:moveTo>
                  <a:pt x="1621144" y="306764"/>
                </a:moveTo>
                <a:lnTo>
                  <a:pt x="1602486" y="327913"/>
                </a:lnTo>
                <a:lnTo>
                  <a:pt x="1684782" y="349758"/>
                </a:lnTo>
                <a:lnTo>
                  <a:pt x="1670790" y="315087"/>
                </a:lnTo>
                <a:lnTo>
                  <a:pt x="1631188" y="315087"/>
                </a:lnTo>
                <a:lnTo>
                  <a:pt x="1621144" y="306764"/>
                </a:lnTo>
                <a:close/>
              </a:path>
              <a:path w="1685289" h="352425">
                <a:moveTo>
                  <a:pt x="1633736" y="292491"/>
                </a:moveTo>
                <a:lnTo>
                  <a:pt x="1621144" y="306764"/>
                </a:lnTo>
                <a:lnTo>
                  <a:pt x="1631188" y="315087"/>
                </a:lnTo>
                <a:lnTo>
                  <a:pt x="1643380" y="300482"/>
                </a:lnTo>
                <a:lnTo>
                  <a:pt x="1633736" y="292491"/>
                </a:lnTo>
                <a:close/>
              </a:path>
              <a:path w="1685289" h="352425">
                <a:moveTo>
                  <a:pt x="1652905" y="270763"/>
                </a:moveTo>
                <a:lnTo>
                  <a:pt x="1633736" y="292491"/>
                </a:lnTo>
                <a:lnTo>
                  <a:pt x="1643380" y="300482"/>
                </a:lnTo>
                <a:lnTo>
                  <a:pt x="1631188" y="315087"/>
                </a:lnTo>
                <a:lnTo>
                  <a:pt x="1670790" y="315087"/>
                </a:lnTo>
                <a:lnTo>
                  <a:pt x="1652905" y="270763"/>
                </a:lnTo>
                <a:close/>
              </a:path>
              <a:path w="1685289" h="352425">
                <a:moveTo>
                  <a:pt x="1583689" y="252222"/>
                </a:moveTo>
                <a:lnTo>
                  <a:pt x="1572387" y="267588"/>
                </a:lnTo>
                <a:lnTo>
                  <a:pt x="1585976" y="277622"/>
                </a:lnTo>
                <a:lnTo>
                  <a:pt x="1621144" y="306764"/>
                </a:lnTo>
                <a:lnTo>
                  <a:pt x="1633736" y="292491"/>
                </a:lnTo>
                <a:lnTo>
                  <a:pt x="1598168" y="263017"/>
                </a:lnTo>
                <a:lnTo>
                  <a:pt x="1583689" y="252222"/>
                </a:lnTo>
                <a:close/>
              </a:path>
              <a:path w="1685289" h="352425">
                <a:moveTo>
                  <a:pt x="1472311" y="177292"/>
                </a:moveTo>
                <a:lnTo>
                  <a:pt x="1462532" y="193675"/>
                </a:lnTo>
                <a:lnTo>
                  <a:pt x="1488567" y="209296"/>
                </a:lnTo>
                <a:lnTo>
                  <a:pt x="1526286" y="234442"/>
                </a:lnTo>
                <a:lnTo>
                  <a:pt x="1536954" y="218694"/>
                </a:lnTo>
                <a:lnTo>
                  <a:pt x="1499108" y="193421"/>
                </a:lnTo>
                <a:lnTo>
                  <a:pt x="1472311" y="177292"/>
                </a:lnTo>
                <a:close/>
              </a:path>
              <a:path w="1685289" h="352425">
                <a:moveTo>
                  <a:pt x="1353693" y="114553"/>
                </a:moveTo>
                <a:lnTo>
                  <a:pt x="1345564" y="131825"/>
                </a:lnTo>
                <a:lnTo>
                  <a:pt x="1386586" y="151384"/>
                </a:lnTo>
                <a:lnTo>
                  <a:pt x="1413256" y="165608"/>
                </a:lnTo>
                <a:lnTo>
                  <a:pt x="1422273" y="148844"/>
                </a:lnTo>
                <a:lnTo>
                  <a:pt x="1395602" y="134493"/>
                </a:lnTo>
                <a:lnTo>
                  <a:pt x="1353693" y="114553"/>
                </a:lnTo>
                <a:close/>
              </a:path>
              <a:path w="1685289" h="352425">
                <a:moveTo>
                  <a:pt x="1228725" y="64770"/>
                </a:moveTo>
                <a:lnTo>
                  <a:pt x="1223010" y="82931"/>
                </a:lnTo>
                <a:lnTo>
                  <a:pt x="1226820" y="84200"/>
                </a:lnTo>
                <a:lnTo>
                  <a:pt x="1280922" y="103886"/>
                </a:lnTo>
                <a:lnTo>
                  <a:pt x="1293495" y="109220"/>
                </a:lnTo>
                <a:lnTo>
                  <a:pt x="1300861" y="91694"/>
                </a:lnTo>
                <a:lnTo>
                  <a:pt x="1288288" y="86360"/>
                </a:lnTo>
                <a:lnTo>
                  <a:pt x="1233424" y="66294"/>
                </a:lnTo>
                <a:lnTo>
                  <a:pt x="1228725" y="64770"/>
                </a:lnTo>
                <a:close/>
              </a:path>
              <a:path w="1685289" h="352425">
                <a:moveTo>
                  <a:pt x="1099312" y="29210"/>
                </a:moveTo>
                <a:lnTo>
                  <a:pt x="1095375" y="47751"/>
                </a:lnTo>
                <a:lnTo>
                  <a:pt x="1116965" y="52450"/>
                </a:lnTo>
                <a:lnTo>
                  <a:pt x="1168781" y="66039"/>
                </a:lnTo>
                <a:lnTo>
                  <a:pt x="1173734" y="47625"/>
                </a:lnTo>
                <a:lnTo>
                  <a:pt x="1121918" y="34036"/>
                </a:lnTo>
                <a:lnTo>
                  <a:pt x="1099312" y="29210"/>
                </a:lnTo>
                <a:close/>
              </a:path>
              <a:path w="1685289" h="352425">
                <a:moveTo>
                  <a:pt x="966978" y="7365"/>
                </a:moveTo>
                <a:lnTo>
                  <a:pt x="964692" y="26288"/>
                </a:lnTo>
                <a:lnTo>
                  <a:pt x="1005459" y="31114"/>
                </a:lnTo>
                <a:lnTo>
                  <a:pt x="1039749" y="36957"/>
                </a:lnTo>
                <a:lnTo>
                  <a:pt x="1042797" y="18161"/>
                </a:lnTo>
                <a:lnTo>
                  <a:pt x="1008634" y="12446"/>
                </a:lnTo>
                <a:lnTo>
                  <a:pt x="966978" y="7365"/>
                </a:lnTo>
                <a:close/>
              </a:path>
              <a:path w="1685289" h="352425">
                <a:moveTo>
                  <a:pt x="837057" y="0"/>
                </a:moveTo>
                <a:lnTo>
                  <a:pt x="832612" y="0"/>
                </a:lnTo>
                <a:lnTo>
                  <a:pt x="832993" y="19050"/>
                </a:lnTo>
                <a:lnTo>
                  <a:pt x="836549" y="19050"/>
                </a:lnTo>
                <a:lnTo>
                  <a:pt x="892937" y="20447"/>
                </a:lnTo>
                <a:lnTo>
                  <a:pt x="908177" y="21462"/>
                </a:lnTo>
                <a:lnTo>
                  <a:pt x="909574" y="2539"/>
                </a:lnTo>
                <a:lnTo>
                  <a:pt x="894334" y="1397"/>
                </a:lnTo>
                <a:lnTo>
                  <a:pt x="837057" y="0"/>
                </a:lnTo>
                <a:close/>
              </a:path>
              <a:path w="1685289" h="352425">
                <a:moveTo>
                  <a:pt x="774954" y="1397"/>
                </a:moveTo>
                <a:lnTo>
                  <a:pt x="722884" y="4952"/>
                </a:lnTo>
                <a:lnTo>
                  <a:pt x="698627" y="7747"/>
                </a:lnTo>
                <a:lnTo>
                  <a:pt x="700786" y="26670"/>
                </a:lnTo>
                <a:lnTo>
                  <a:pt x="724281" y="24002"/>
                </a:lnTo>
                <a:lnTo>
                  <a:pt x="776224" y="20447"/>
                </a:lnTo>
                <a:lnTo>
                  <a:pt x="774954" y="1397"/>
                </a:lnTo>
                <a:close/>
              </a:path>
              <a:path w="1685289" h="352425">
                <a:moveTo>
                  <a:pt x="641604" y="15494"/>
                </a:moveTo>
                <a:lnTo>
                  <a:pt x="609854" y="20574"/>
                </a:lnTo>
                <a:lnTo>
                  <a:pt x="566293" y="29845"/>
                </a:lnTo>
                <a:lnTo>
                  <a:pt x="570230" y="48513"/>
                </a:lnTo>
                <a:lnTo>
                  <a:pt x="612902" y="39370"/>
                </a:lnTo>
                <a:lnTo>
                  <a:pt x="644652" y="34289"/>
                </a:lnTo>
                <a:lnTo>
                  <a:pt x="641604" y="15494"/>
                </a:lnTo>
                <a:close/>
              </a:path>
              <a:path w="1685289" h="352425">
                <a:moveTo>
                  <a:pt x="510413" y="43814"/>
                </a:moveTo>
                <a:lnTo>
                  <a:pt x="498602" y="46989"/>
                </a:lnTo>
                <a:lnTo>
                  <a:pt x="443992" y="64135"/>
                </a:lnTo>
                <a:lnTo>
                  <a:pt x="436753" y="66801"/>
                </a:lnTo>
                <a:lnTo>
                  <a:pt x="443357" y="84709"/>
                </a:lnTo>
                <a:lnTo>
                  <a:pt x="449707" y="82296"/>
                </a:lnTo>
                <a:lnTo>
                  <a:pt x="503555" y="65405"/>
                </a:lnTo>
                <a:lnTo>
                  <a:pt x="515239" y="62357"/>
                </a:lnTo>
                <a:lnTo>
                  <a:pt x="510413" y="43814"/>
                </a:lnTo>
                <a:close/>
              </a:path>
              <a:path w="1685289" h="352425">
                <a:moveTo>
                  <a:pt x="382905" y="86995"/>
                </a:moveTo>
                <a:lnTo>
                  <a:pt x="337185" y="106425"/>
                </a:lnTo>
                <a:lnTo>
                  <a:pt x="312928" y="118237"/>
                </a:lnTo>
                <a:lnTo>
                  <a:pt x="321183" y="135382"/>
                </a:lnTo>
                <a:lnTo>
                  <a:pt x="344678" y="123951"/>
                </a:lnTo>
                <a:lnTo>
                  <a:pt x="390398" y="104521"/>
                </a:lnTo>
                <a:lnTo>
                  <a:pt x="382905" y="86995"/>
                </a:lnTo>
                <a:close/>
              </a:path>
              <a:path w="1685289" h="352425">
                <a:moveTo>
                  <a:pt x="261620" y="144525"/>
                </a:moveTo>
                <a:lnTo>
                  <a:pt x="234442" y="159385"/>
                </a:lnTo>
                <a:lnTo>
                  <a:pt x="195580" y="183387"/>
                </a:lnTo>
                <a:lnTo>
                  <a:pt x="205486" y="199517"/>
                </a:lnTo>
                <a:lnTo>
                  <a:pt x="243586" y="176149"/>
                </a:lnTo>
                <a:lnTo>
                  <a:pt x="270764" y="161289"/>
                </a:lnTo>
                <a:lnTo>
                  <a:pt x="261620" y="144525"/>
                </a:lnTo>
                <a:close/>
              </a:path>
              <a:path w="1685289" h="352425">
                <a:moveTo>
                  <a:pt x="147574" y="215392"/>
                </a:moveTo>
                <a:lnTo>
                  <a:pt x="136398" y="223138"/>
                </a:lnTo>
                <a:lnTo>
                  <a:pt x="89408" y="258952"/>
                </a:lnTo>
                <a:lnTo>
                  <a:pt x="85979" y="261747"/>
                </a:lnTo>
                <a:lnTo>
                  <a:pt x="98298" y="276225"/>
                </a:lnTo>
                <a:lnTo>
                  <a:pt x="100837" y="274065"/>
                </a:lnTo>
                <a:lnTo>
                  <a:pt x="147193" y="238760"/>
                </a:lnTo>
                <a:lnTo>
                  <a:pt x="158369" y="231139"/>
                </a:lnTo>
                <a:lnTo>
                  <a:pt x="147574" y="215392"/>
                </a:lnTo>
                <a:close/>
              </a:path>
              <a:path w="1685289" h="352425">
                <a:moveTo>
                  <a:pt x="42037" y="299085"/>
                </a:moveTo>
                <a:lnTo>
                  <a:pt x="0" y="338582"/>
                </a:lnTo>
                <a:lnTo>
                  <a:pt x="13081" y="352425"/>
                </a:lnTo>
                <a:lnTo>
                  <a:pt x="55118" y="313055"/>
                </a:lnTo>
                <a:lnTo>
                  <a:pt x="42037" y="299085"/>
                </a:lnTo>
                <a:close/>
              </a:path>
            </a:pathLst>
          </a:custGeom>
          <a:solidFill>
            <a:srgbClr val="A6A6A6"/>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12" name="object 65">
            <a:extLst>
              <a:ext uri="{FF2B5EF4-FFF2-40B4-BE49-F238E27FC236}">
                <a16:creationId xmlns:a16="http://schemas.microsoft.com/office/drawing/2014/main" id="{668FAA18-69EF-4B05-4B1F-C8D0986DBD09}"/>
              </a:ext>
            </a:extLst>
          </p:cNvPr>
          <p:cNvSpPr/>
          <p:nvPr>
            <p:custDataLst>
              <p:tags r:id="rId11"/>
            </p:custDataLst>
          </p:nvPr>
        </p:nvSpPr>
        <p:spPr>
          <a:xfrm>
            <a:off x="8986443" y="4061481"/>
            <a:ext cx="890171" cy="160141"/>
          </a:xfrm>
          <a:custGeom>
            <a:avLst/>
            <a:gdLst/>
            <a:ahLst/>
            <a:cxnLst/>
            <a:rect l="l" t="t" r="r" b="b"/>
            <a:pathLst>
              <a:path w="1685289" h="352425">
                <a:moveTo>
                  <a:pt x="1621144" y="306764"/>
                </a:moveTo>
                <a:lnTo>
                  <a:pt x="1602486" y="327913"/>
                </a:lnTo>
                <a:lnTo>
                  <a:pt x="1684782" y="349758"/>
                </a:lnTo>
                <a:lnTo>
                  <a:pt x="1670790" y="315087"/>
                </a:lnTo>
                <a:lnTo>
                  <a:pt x="1631188" y="315087"/>
                </a:lnTo>
                <a:lnTo>
                  <a:pt x="1621144" y="306764"/>
                </a:lnTo>
                <a:close/>
              </a:path>
              <a:path w="1685289" h="352425">
                <a:moveTo>
                  <a:pt x="1633736" y="292491"/>
                </a:moveTo>
                <a:lnTo>
                  <a:pt x="1621144" y="306764"/>
                </a:lnTo>
                <a:lnTo>
                  <a:pt x="1631188" y="315087"/>
                </a:lnTo>
                <a:lnTo>
                  <a:pt x="1643380" y="300482"/>
                </a:lnTo>
                <a:lnTo>
                  <a:pt x="1633736" y="292491"/>
                </a:lnTo>
                <a:close/>
              </a:path>
              <a:path w="1685289" h="352425">
                <a:moveTo>
                  <a:pt x="1652905" y="270763"/>
                </a:moveTo>
                <a:lnTo>
                  <a:pt x="1633736" y="292491"/>
                </a:lnTo>
                <a:lnTo>
                  <a:pt x="1643380" y="300482"/>
                </a:lnTo>
                <a:lnTo>
                  <a:pt x="1631188" y="315087"/>
                </a:lnTo>
                <a:lnTo>
                  <a:pt x="1670790" y="315087"/>
                </a:lnTo>
                <a:lnTo>
                  <a:pt x="1652905" y="270763"/>
                </a:lnTo>
                <a:close/>
              </a:path>
              <a:path w="1685289" h="352425">
                <a:moveTo>
                  <a:pt x="1583689" y="252222"/>
                </a:moveTo>
                <a:lnTo>
                  <a:pt x="1572387" y="267588"/>
                </a:lnTo>
                <a:lnTo>
                  <a:pt x="1585976" y="277622"/>
                </a:lnTo>
                <a:lnTo>
                  <a:pt x="1621144" y="306764"/>
                </a:lnTo>
                <a:lnTo>
                  <a:pt x="1633736" y="292491"/>
                </a:lnTo>
                <a:lnTo>
                  <a:pt x="1598168" y="263017"/>
                </a:lnTo>
                <a:lnTo>
                  <a:pt x="1583689" y="252222"/>
                </a:lnTo>
                <a:close/>
              </a:path>
              <a:path w="1685289" h="352425">
                <a:moveTo>
                  <a:pt x="1472311" y="177292"/>
                </a:moveTo>
                <a:lnTo>
                  <a:pt x="1462532" y="193675"/>
                </a:lnTo>
                <a:lnTo>
                  <a:pt x="1488567" y="209296"/>
                </a:lnTo>
                <a:lnTo>
                  <a:pt x="1526286" y="234442"/>
                </a:lnTo>
                <a:lnTo>
                  <a:pt x="1536954" y="218694"/>
                </a:lnTo>
                <a:lnTo>
                  <a:pt x="1499108" y="193421"/>
                </a:lnTo>
                <a:lnTo>
                  <a:pt x="1472311" y="177292"/>
                </a:lnTo>
                <a:close/>
              </a:path>
              <a:path w="1685289" h="352425">
                <a:moveTo>
                  <a:pt x="1353693" y="114553"/>
                </a:moveTo>
                <a:lnTo>
                  <a:pt x="1345564" y="131825"/>
                </a:lnTo>
                <a:lnTo>
                  <a:pt x="1386586" y="151384"/>
                </a:lnTo>
                <a:lnTo>
                  <a:pt x="1413256" y="165608"/>
                </a:lnTo>
                <a:lnTo>
                  <a:pt x="1422273" y="148844"/>
                </a:lnTo>
                <a:lnTo>
                  <a:pt x="1395602" y="134493"/>
                </a:lnTo>
                <a:lnTo>
                  <a:pt x="1353693" y="114553"/>
                </a:lnTo>
                <a:close/>
              </a:path>
              <a:path w="1685289" h="352425">
                <a:moveTo>
                  <a:pt x="1228725" y="64770"/>
                </a:moveTo>
                <a:lnTo>
                  <a:pt x="1223010" y="82931"/>
                </a:lnTo>
                <a:lnTo>
                  <a:pt x="1226820" y="84200"/>
                </a:lnTo>
                <a:lnTo>
                  <a:pt x="1280922" y="103886"/>
                </a:lnTo>
                <a:lnTo>
                  <a:pt x="1293495" y="109220"/>
                </a:lnTo>
                <a:lnTo>
                  <a:pt x="1300861" y="91694"/>
                </a:lnTo>
                <a:lnTo>
                  <a:pt x="1288288" y="86360"/>
                </a:lnTo>
                <a:lnTo>
                  <a:pt x="1233424" y="66294"/>
                </a:lnTo>
                <a:lnTo>
                  <a:pt x="1228725" y="64770"/>
                </a:lnTo>
                <a:close/>
              </a:path>
              <a:path w="1685289" h="352425">
                <a:moveTo>
                  <a:pt x="1099312" y="29210"/>
                </a:moveTo>
                <a:lnTo>
                  <a:pt x="1095375" y="47751"/>
                </a:lnTo>
                <a:lnTo>
                  <a:pt x="1116965" y="52450"/>
                </a:lnTo>
                <a:lnTo>
                  <a:pt x="1168781" y="66039"/>
                </a:lnTo>
                <a:lnTo>
                  <a:pt x="1173734" y="47625"/>
                </a:lnTo>
                <a:lnTo>
                  <a:pt x="1121918" y="34036"/>
                </a:lnTo>
                <a:lnTo>
                  <a:pt x="1099312" y="29210"/>
                </a:lnTo>
                <a:close/>
              </a:path>
              <a:path w="1685289" h="352425">
                <a:moveTo>
                  <a:pt x="966978" y="7365"/>
                </a:moveTo>
                <a:lnTo>
                  <a:pt x="964692" y="26288"/>
                </a:lnTo>
                <a:lnTo>
                  <a:pt x="1005459" y="31114"/>
                </a:lnTo>
                <a:lnTo>
                  <a:pt x="1039749" y="36957"/>
                </a:lnTo>
                <a:lnTo>
                  <a:pt x="1042797" y="18161"/>
                </a:lnTo>
                <a:lnTo>
                  <a:pt x="1008634" y="12446"/>
                </a:lnTo>
                <a:lnTo>
                  <a:pt x="966978" y="7365"/>
                </a:lnTo>
                <a:close/>
              </a:path>
              <a:path w="1685289" h="352425">
                <a:moveTo>
                  <a:pt x="837057" y="0"/>
                </a:moveTo>
                <a:lnTo>
                  <a:pt x="832612" y="0"/>
                </a:lnTo>
                <a:lnTo>
                  <a:pt x="832993" y="19050"/>
                </a:lnTo>
                <a:lnTo>
                  <a:pt x="836549" y="19050"/>
                </a:lnTo>
                <a:lnTo>
                  <a:pt x="892937" y="20447"/>
                </a:lnTo>
                <a:lnTo>
                  <a:pt x="908177" y="21462"/>
                </a:lnTo>
                <a:lnTo>
                  <a:pt x="909574" y="2539"/>
                </a:lnTo>
                <a:lnTo>
                  <a:pt x="894334" y="1397"/>
                </a:lnTo>
                <a:lnTo>
                  <a:pt x="837057" y="0"/>
                </a:lnTo>
                <a:close/>
              </a:path>
              <a:path w="1685289" h="352425">
                <a:moveTo>
                  <a:pt x="774954" y="1397"/>
                </a:moveTo>
                <a:lnTo>
                  <a:pt x="722884" y="4952"/>
                </a:lnTo>
                <a:lnTo>
                  <a:pt x="698627" y="7747"/>
                </a:lnTo>
                <a:lnTo>
                  <a:pt x="700786" y="26670"/>
                </a:lnTo>
                <a:lnTo>
                  <a:pt x="724281" y="24002"/>
                </a:lnTo>
                <a:lnTo>
                  <a:pt x="776224" y="20447"/>
                </a:lnTo>
                <a:lnTo>
                  <a:pt x="774954" y="1397"/>
                </a:lnTo>
                <a:close/>
              </a:path>
              <a:path w="1685289" h="352425">
                <a:moveTo>
                  <a:pt x="641604" y="15494"/>
                </a:moveTo>
                <a:lnTo>
                  <a:pt x="609854" y="20574"/>
                </a:lnTo>
                <a:lnTo>
                  <a:pt x="566293" y="29845"/>
                </a:lnTo>
                <a:lnTo>
                  <a:pt x="570230" y="48513"/>
                </a:lnTo>
                <a:lnTo>
                  <a:pt x="612902" y="39370"/>
                </a:lnTo>
                <a:lnTo>
                  <a:pt x="644652" y="34289"/>
                </a:lnTo>
                <a:lnTo>
                  <a:pt x="641604" y="15494"/>
                </a:lnTo>
                <a:close/>
              </a:path>
              <a:path w="1685289" h="352425">
                <a:moveTo>
                  <a:pt x="510413" y="43814"/>
                </a:moveTo>
                <a:lnTo>
                  <a:pt x="498602" y="46989"/>
                </a:lnTo>
                <a:lnTo>
                  <a:pt x="443992" y="64135"/>
                </a:lnTo>
                <a:lnTo>
                  <a:pt x="436753" y="66801"/>
                </a:lnTo>
                <a:lnTo>
                  <a:pt x="443357" y="84709"/>
                </a:lnTo>
                <a:lnTo>
                  <a:pt x="449707" y="82296"/>
                </a:lnTo>
                <a:lnTo>
                  <a:pt x="503555" y="65405"/>
                </a:lnTo>
                <a:lnTo>
                  <a:pt x="515239" y="62357"/>
                </a:lnTo>
                <a:lnTo>
                  <a:pt x="510413" y="43814"/>
                </a:lnTo>
                <a:close/>
              </a:path>
              <a:path w="1685289" h="352425">
                <a:moveTo>
                  <a:pt x="382905" y="86995"/>
                </a:moveTo>
                <a:lnTo>
                  <a:pt x="337185" y="106425"/>
                </a:lnTo>
                <a:lnTo>
                  <a:pt x="312928" y="118237"/>
                </a:lnTo>
                <a:lnTo>
                  <a:pt x="321183" y="135382"/>
                </a:lnTo>
                <a:lnTo>
                  <a:pt x="344678" y="123951"/>
                </a:lnTo>
                <a:lnTo>
                  <a:pt x="390398" y="104521"/>
                </a:lnTo>
                <a:lnTo>
                  <a:pt x="382905" y="86995"/>
                </a:lnTo>
                <a:close/>
              </a:path>
              <a:path w="1685289" h="352425">
                <a:moveTo>
                  <a:pt x="261620" y="144525"/>
                </a:moveTo>
                <a:lnTo>
                  <a:pt x="234442" y="159385"/>
                </a:lnTo>
                <a:lnTo>
                  <a:pt x="195580" y="183387"/>
                </a:lnTo>
                <a:lnTo>
                  <a:pt x="205486" y="199517"/>
                </a:lnTo>
                <a:lnTo>
                  <a:pt x="243586" y="176149"/>
                </a:lnTo>
                <a:lnTo>
                  <a:pt x="270764" y="161289"/>
                </a:lnTo>
                <a:lnTo>
                  <a:pt x="261620" y="144525"/>
                </a:lnTo>
                <a:close/>
              </a:path>
              <a:path w="1685289" h="352425">
                <a:moveTo>
                  <a:pt x="147574" y="215392"/>
                </a:moveTo>
                <a:lnTo>
                  <a:pt x="136398" y="223138"/>
                </a:lnTo>
                <a:lnTo>
                  <a:pt x="89408" y="258952"/>
                </a:lnTo>
                <a:lnTo>
                  <a:pt x="85979" y="261747"/>
                </a:lnTo>
                <a:lnTo>
                  <a:pt x="98298" y="276225"/>
                </a:lnTo>
                <a:lnTo>
                  <a:pt x="100837" y="274065"/>
                </a:lnTo>
                <a:lnTo>
                  <a:pt x="147193" y="238760"/>
                </a:lnTo>
                <a:lnTo>
                  <a:pt x="158369" y="231139"/>
                </a:lnTo>
                <a:lnTo>
                  <a:pt x="147574" y="215392"/>
                </a:lnTo>
                <a:close/>
              </a:path>
              <a:path w="1685289" h="352425">
                <a:moveTo>
                  <a:pt x="42037" y="299085"/>
                </a:moveTo>
                <a:lnTo>
                  <a:pt x="0" y="338582"/>
                </a:lnTo>
                <a:lnTo>
                  <a:pt x="13081" y="352425"/>
                </a:lnTo>
                <a:lnTo>
                  <a:pt x="55118" y="313055"/>
                </a:lnTo>
                <a:lnTo>
                  <a:pt x="42037" y="299085"/>
                </a:lnTo>
                <a:close/>
              </a:path>
            </a:pathLst>
          </a:custGeom>
          <a:solidFill>
            <a:srgbClr val="A6A6A6"/>
          </a:solidFill>
          <a:ln w="9525" cap="flat" cmpd="sng" algn="ctr">
            <a:noFill/>
            <a:prstDash val="solid"/>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grpSp>
        <p:nvGrpSpPr>
          <p:cNvPr id="178" name="Group 177">
            <a:extLst>
              <a:ext uri="{FF2B5EF4-FFF2-40B4-BE49-F238E27FC236}">
                <a16:creationId xmlns:a16="http://schemas.microsoft.com/office/drawing/2014/main" id="{315FE94D-7792-44A0-9CE7-CC8BE0FE29EF}"/>
              </a:ext>
            </a:extLst>
          </p:cNvPr>
          <p:cNvGrpSpPr/>
          <p:nvPr/>
        </p:nvGrpSpPr>
        <p:grpSpPr>
          <a:xfrm>
            <a:off x="751614" y="4007956"/>
            <a:ext cx="938657" cy="875999"/>
            <a:chOff x="728308" y="3878322"/>
            <a:chExt cx="938657" cy="875999"/>
          </a:xfrm>
        </p:grpSpPr>
        <p:sp>
          <p:nvSpPr>
            <p:cNvPr id="136" name="object 17">
              <a:extLst>
                <a:ext uri="{FF2B5EF4-FFF2-40B4-BE49-F238E27FC236}">
                  <a16:creationId xmlns:a16="http://schemas.microsoft.com/office/drawing/2014/main" id="{B7DADD4A-5C85-DBEA-097E-43EA417DF64D}"/>
                </a:ext>
              </a:extLst>
            </p:cNvPr>
            <p:cNvSpPr/>
            <p:nvPr>
              <p:custDataLst>
                <p:tags r:id="rId33"/>
              </p:custDataLst>
            </p:nvPr>
          </p:nvSpPr>
          <p:spPr bwMode="auto">
            <a:xfrm>
              <a:off x="783704" y="3923704"/>
              <a:ext cx="834020" cy="830617"/>
            </a:xfrm>
            <a:custGeom>
              <a:avLst/>
              <a:gdLst/>
              <a:ahLst/>
              <a:cxnLst/>
              <a:rect l="l" t="t" r="r" b="b"/>
              <a:pathLst>
                <a:path w="1259839" h="1405254">
                  <a:moveTo>
                    <a:pt x="556132" y="0"/>
                  </a:moveTo>
                  <a:lnTo>
                    <a:pt x="604293" y="1620"/>
                  </a:lnTo>
                  <a:lnTo>
                    <a:pt x="651582" y="6414"/>
                  </a:lnTo>
                  <a:lnTo>
                    <a:pt x="697894" y="14274"/>
                  </a:lnTo>
                  <a:lnTo>
                    <a:pt x="743124" y="25098"/>
                  </a:lnTo>
                  <a:lnTo>
                    <a:pt x="787169" y="38780"/>
                  </a:lnTo>
                  <a:lnTo>
                    <a:pt x="829923" y="55215"/>
                  </a:lnTo>
                  <a:lnTo>
                    <a:pt x="871281" y="74299"/>
                  </a:lnTo>
                  <a:lnTo>
                    <a:pt x="911140" y="95927"/>
                  </a:lnTo>
                  <a:lnTo>
                    <a:pt x="949394" y="119994"/>
                  </a:lnTo>
                  <a:lnTo>
                    <a:pt x="985938" y="146397"/>
                  </a:lnTo>
                  <a:lnTo>
                    <a:pt x="1020669" y="175029"/>
                  </a:lnTo>
                  <a:lnTo>
                    <a:pt x="1053480" y="205787"/>
                  </a:lnTo>
                  <a:lnTo>
                    <a:pt x="1084269" y="238566"/>
                  </a:lnTo>
                  <a:lnTo>
                    <a:pt x="1112929" y="273261"/>
                  </a:lnTo>
                  <a:lnTo>
                    <a:pt x="1139356" y="309767"/>
                  </a:lnTo>
                  <a:lnTo>
                    <a:pt x="1163447" y="347980"/>
                  </a:lnTo>
                  <a:lnTo>
                    <a:pt x="1185094" y="387794"/>
                  </a:lnTo>
                  <a:lnTo>
                    <a:pt x="1204196" y="429107"/>
                  </a:lnTo>
                  <a:lnTo>
                    <a:pt x="1220645" y="471812"/>
                  </a:lnTo>
                  <a:lnTo>
                    <a:pt x="1234339" y="515805"/>
                  </a:lnTo>
                  <a:lnTo>
                    <a:pt x="1245172" y="560981"/>
                  </a:lnTo>
                  <a:lnTo>
                    <a:pt x="1253039" y="607236"/>
                  </a:lnTo>
                  <a:lnTo>
                    <a:pt x="1257836" y="654465"/>
                  </a:lnTo>
                  <a:lnTo>
                    <a:pt x="1259459" y="702563"/>
                  </a:lnTo>
                  <a:lnTo>
                    <a:pt x="1257836" y="750662"/>
                  </a:lnTo>
                  <a:lnTo>
                    <a:pt x="1253039" y="797891"/>
                  </a:lnTo>
                  <a:lnTo>
                    <a:pt x="1245172" y="844146"/>
                  </a:lnTo>
                  <a:lnTo>
                    <a:pt x="1234339" y="889322"/>
                  </a:lnTo>
                  <a:lnTo>
                    <a:pt x="1220645" y="933315"/>
                  </a:lnTo>
                  <a:lnTo>
                    <a:pt x="1204196" y="976020"/>
                  </a:lnTo>
                  <a:lnTo>
                    <a:pt x="1185094" y="1017333"/>
                  </a:lnTo>
                  <a:lnTo>
                    <a:pt x="1163447" y="1057147"/>
                  </a:lnTo>
                  <a:lnTo>
                    <a:pt x="1139356" y="1095360"/>
                  </a:lnTo>
                  <a:lnTo>
                    <a:pt x="1112929" y="1131866"/>
                  </a:lnTo>
                  <a:lnTo>
                    <a:pt x="1084269" y="1166561"/>
                  </a:lnTo>
                  <a:lnTo>
                    <a:pt x="1053480" y="1199340"/>
                  </a:lnTo>
                  <a:lnTo>
                    <a:pt x="1020669" y="1230098"/>
                  </a:lnTo>
                  <a:lnTo>
                    <a:pt x="985938" y="1258730"/>
                  </a:lnTo>
                  <a:lnTo>
                    <a:pt x="949394" y="1285133"/>
                  </a:lnTo>
                  <a:lnTo>
                    <a:pt x="911140" y="1309200"/>
                  </a:lnTo>
                  <a:lnTo>
                    <a:pt x="871281" y="1330828"/>
                  </a:lnTo>
                  <a:lnTo>
                    <a:pt x="829923" y="1349912"/>
                  </a:lnTo>
                  <a:lnTo>
                    <a:pt x="787169" y="1366347"/>
                  </a:lnTo>
                  <a:lnTo>
                    <a:pt x="743124" y="1380029"/>
                  </a:lnTo>
                  <a:lnTo>
                    <a:pt x="697894" y="1390853"/>
                  </a:lnTo>
                  <a:lnTo>
                    <a:pt x="651582" y="1398713"/>
                  </a:lnTo>
                  <a:lnTo>
                    <a:pt x="604293" y="1403507"/>
                  </a:lnTo>
                  <a:lnTo>
                    <a:pt x="556132" y="1405128"/>
                  </a:lnTo>
                  <a:lnTo>
                    <a:pt x="506172" y="1403355"/>
                  </a:lnTo>
                  <a:lnTo>
                    <a:pt x="456808" y="1398092"/>
                  </a:lnTo>
                  <a:lnTo>
                    <a:pt x="408205" y="1389418"/>
                  </a:lnTo>
                  <a:lnTo>
                    <a:pt x="360525" y="1377414"/>
                  </a:lnTo>
                  <a:lnTo>
                    <a:pt x="313933" y="1362159"/>
                  </a:lnTo>
                  <a:lnTo>
                    <a:pt x="268593" y="1343733"/>
                  </a:lnTo>
                  <a:lnTo>
                    <a:pt x="224667" y="1322217"/>
                  </a:lnTo>
                  <a:lnTo>
                    <a:pt x="182321" y="1297691"/>
                  </a:lnTo>
                  <a:lnTo>
                    <a:pt x="141717" y="1270235"/>
                  </a:lnTo>
                  <a:lnTo>
                    <a:pt x="103019" y="1239929"/>
                  </a:lnTo>
                  <a:lnTo>
                    <a:pt x="66391" y="1206853"/>
                  </a:lnTo>
                  <a:lnTo>
                    <a:pt x="31997" y="1171088"/>
                  </a:lnTo>
                  <a:lnTo>
                    <a:pt x="0" y="1132713"/>
                  </a:lnTo>
                </a:path>
              </a:pathLst>
            </a:custGeom>
            <a:noFill/>
            <a:ln w="15240">
              <a:solidFill>
                <a:schemeClr val="bg2">
                  <a:lumMod val="75000"/>
                </a:schemeClr>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37" name="object 18">
              <a:extLst>
                <a:ext uri="{FF2B5EF4-FFF2-40B4-BE49-F238E27FC236}">
                  <a16:creationId xmlns:a16="http://schemas.microsoft.com/office/drawing/2014/main" id="{00468F4B-028E-129C-32B8-5EF68479280B}"/>
                </a:ext>
              </a:extLst>
            </p:cNvPr>
            <p:cNvSpPr/>
            <p:nvPr>
              <p:custDataLst>
                <p:tags r:id="rId34"/>
              </p:custDataLst>
            </p:nvPr>
          </p:nvSpPr>
          <p:spPr bwMode="auto">
            <a:xfrm>
              <a:off x="728308" y="3960833"/>
              <a:ext cx="846330" cy="756356"/>
            </a:xfrm>
            <a:custGeom>
              <a:avLst/>
              <a:gdLst/>
              <a:ahLst/>
              <a:cxnLst/>
              <a:rect l="l" t="t" r="r" b="b"/>
              <a:pathLst>
                <a:path w="1278889" h="1277620">
                  <a:moveTo>
                    <a:pt x="639317" y="0"/>
                  </a:moveTo>
                  <a:lnTo>
                    <a:pt x="687027" y="1751"/>
                  </a:lnTo>
                  <a:lnTo>
                    <a:pt x="733785" y="6923"/>
                  </a:lnTo>
                  <a:lnTo>
                    <a:pt x="779468" y="15392"/>
                  </a:lnTo>
                  <a:lnTo>
                    <a:pt x="823952" y="27034"/>
                  </a:lnTo>
                  <a:lnTo>
                    <a:pt x="867112" y="41727"/>
                  </a:lnTo>
                  <a:lnTo>
                    <a:pt x="908827" y="59346"/>
                  </a:lnTo>
                  <a:lnTo>
                    <a:pt x="948971" y="79769"/>
                  </a:lnTo>
                  <a:lnTo>
                    <a:pt x="987422" y="102871"/>
                  </a:lnTo>
                  <a:lnTo>
                    <a:pt x="1024055" y="128530"/>
                  </a:lnTo>
                  <a:lnTo>
                    <a:pt x="1058747" y="156622"/>
                  </a:lnTo>
                  <a:lnTo>
                    <a:pt x="1091374" y="187023"/>
                  </a:lnTo>
                  <a:lnTo>
                    <a:pt x="1121813" y="219610"/>
                  </a:lnTo>
                  <a:lnTo>
                    <a:pt x="1149940" y="254260"/>
                  </a:lnTo>
                  <a:lnTo>
                    <a:pt x="1175631" y="290849"/>
                  </a:lnTo>
                  <a:lnTo>
                    <a:pt x="1198763" y="329253"/>
                  </a:lnTo>
                  <a:lnTo>
                    <a:pt x="1219212" y="369350"/>
                  </a:lnTo>
                  <a:lnTo>
                    <a:pt x="1236854" y="411016"/>
                  </a:lnTo>
                  <a:lnTo>
                    <a:pt x="1251565" y="454127"/>
                  </a:lnTo>
                  <a:lnTo>
                    <a:pt x="1263223" y="498560"/>
                  </a:lnTo>
                  <a:lnTo>
                    <a:pt x="1271703" y="544191"/>
                  </a:lnTo>
                  <a:lnTo>
                    <a:pt x="1276882" y="590898"/>
                  </a:lnTo>
                  <a:lnTo>
                    <a:pt x="1278636" y="638555"/>
                  </a:lnTo>
                  <a:lnTo>
                    <a:pt x="1276882" y="686213"/>
                  </a:lnTo>
                  <a:lnTo>
                    <a:pt x="1271703" y="732920"/>
                  </a:lnTo>
                  <a:lnTo>
                    <a:pt x="1263223" y="778551"/>
                  </a:lnTo>
                  <a:lnTo>
                    <a:pt x="1251565" y="822984"/>
                  </a:lnTo>
                  <a:lnTo>
                    <a:pt x="1236854" y="866095"/>
                  </a:lnTo>
                  <a:lnTo>
                    <a:pt x="1219212" y="907761"/>
                  </a:lnTo>
                  <a:lnTo>
                    <a:pt x="1198763" y="947858"/>
                  </a:lnTo>
                  <a:lnTo>
                    <a:pt x="1175631" y="986262"/>
                  </a:lnTo>
                  <a:lnTo>
                    <a:pt x="1149940" y="1022851"/>
                  </a:lnTo>
                  <a:lnTo>
                    <a:pt x="1121813" y="1057501"/>
                  </a:lnTo>
                  <a:lnTo>
                    <a:pt x="1091374" y="1090088"/>
                  </a:lnTo>
                  <a:lnTo>
                    <a:pt x="1058747" y="1120489"/>
                  </a:lnTo>
                  <a:lnTo>
                    <a:pt x="1024055" y="1148581"/>
                  </a:lnTo>
                  <a:lnTo>
                    <a:pt x="987422" y="1174240"/>
                  </a:lnTo>
                  <a:lnTo>
                    <a:pt x="948971" y="1197342"/>
                  </a:lnTo>
                  <a:lnTo>
                    <a:pt x="908827" y="1217765"/>
                  </a:lnTo>
                  <a:lnTo>
                    <a:pt x="867112" y="1235384"/>
                  </a:lnTo>
                  <a:lnTo>
                    <a:pt x="823952" y="1250077"/>
                  </a:lnTo>
                  <a:lnTo>
                    <a:pt x="779468" y="1261719"/>
                  </a:lnTo>
                  <a:lnTo>
                    <a:pt x="733785" y="1270188"/>
                  </a:lnTo>
                  <a:lnTo>
                    <a:pt x="687027" y="1275360"/>
                  </a:lnTo>
                  <a:lnTo>
                    <a:pt x="639317" y="1277112"/>
                  </a:lnTo>
                  <a:lnTo>
                    <a:pt x="591608" y="1275360"/>
                  </a:lnTo>
                  <a:lnTo>
                    <a:pt x="544850" y="1270188"/>
                  </a:lnTo>
                  <a:lnTo>
                    <a:pt x="499167" y="1261719"/>
                  </a:lnTo>
                  <a:lnTo>
                    <a:pt x="454683" y="1250077"/>
                  </a:lnTo>
                  <a:lnTo>
                    <a:pt x="411523" y="1235384"/>
                  </a:lnTo>
                  <a:lnTo>
                    <a:pt x="369808" y="1217765"/>
                  </a:lnTo>
                  <a:lnTo>
                    <a:pt x="329664" y="1197342"/>
                  </a:lnTo>
                  <a:lnTo>
                    <a:pt x="291213" y="1174240"/>
                  </a:lnTo>
                  <a:lnTo>
                    <a:pt x="254580" y="1148581"/>
                  </a:lnTo>
                  <a:lnTo>
                    <a:pt x="219888" y="1120489"/>
                  </a:lnTo>
                  <a:lnTo>
                    <a:pt x="187261" y="1090088"/>
                  </a:lnTo>
                  <a:lnTo>
                    <a:pt x="156822" y="1057501"/>
                  </a:lnTo>
                  <a:lnTo>
                    <a:pt x="128695" y="1022851"/>
                  </a:lnTo>
                  <a:lnTo>
                    <a:pt x="103004" y="986262"/>
                  </a:lnTo>
                  <a:lnTo>
                    <a:pt x="79872" y="947858"/>
                  </a:lnTo>
                  <a:lnTo>
                    <a:pt x="59423" y="907761"/>
                  </a:lnTo>
                  <a:lnTo>
                    <a:pt x="41781" y="866095"/>
                  </a:lnTo>
                  <a:lnTo>
                    <a:pt x="27070" y="822984"/>
                  </a:lnTo>
                  <a:lnTo>
                    <a:pt x="15412" y="778551"/>
                  </a:lnTo>
                  <a:lnTo>
                    <a:pt x="6932" y="732920"/>
                  </a:lnTo>
                  <a:lnTo>
                    <a:pt x="1753" y="686213"/>
                  </a:lnTo>
                  <a:lnTo>
                    <a:pt x="0" y="638555"/>
                  </a:lnTo>
                  <a:lnTo>
                    <a:pt x="2217" y="585401"/>
                  </a:lnTo>
                  <a:lnTo>
                    <a:pt x="8812" y="532886"/>
                  </a:lnTo>
                  <a:lnTo>
                    <a:pt x="19696" y="481266"/>
                  </a:lnTo>
                  <a:lnTo>
                    <a:pt x="34782" y="430799"/>
                  </a:lnTo>
                  <a:lnTo>
                    <a:pt x="53981" y="381744"/>
                  </a:lnTo>
                  <a:lnTo>
                    <a:pt x="77206" y="334357"/>
                  </a:lnTo>
                  <a:lnTo>
                    <a:pt x="104368" y="288895"/>
                  </a:lnTo>
                  <a:lnTo>
                    <a:pt x="135382" y="245617"/>
                  </a:lnTo>
                </a:path>
              </a:pathLst>
            </a:custGeom>
            <a:noFill/>
            <a:ln w="15240">
              <a:solidFill>
                <a:schemeClr val="bg2">
                  <a:lumMod val="75000"/>
                </a:schemeClr>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38" name="object 19">
              <a:extLst>
                <a:ext uri="{FF2B5EF4-FFF2-40B4-BE49-F238E27FC236}">
                  <a16:creationId xmlns:a16="http://schemas.microsoft.com/office/drawing/2014/main" id="{54AC2856-6D2A-9122-7D78-B2B3CBA69D93}"/>
                </a:ext>
              </a:extLst>
            </p:cNvPr>
            <p:cNvSpPr/>
            <p:nvPr>
              <p:custDataLst>
                <p:tags r:id="rId35"/>
              </p:custDataLst>
            </p:nvPr>
          </p:nvSpPr>
          <p:spPr bwMode="auto">
            <a:xfrm>
              <a:off x="1154550" y="3878322"/>
              <a:ext cx="512415" cy="640840"/>
            </a:xfrm>
            <a:custGeom>
              <a:avLst/>
              <a:gdLst/>
              <a:ahLst/>
              <a:cxnLst/>
              <a:rect l="l" t="t" r="r" b="b"/>
              <a:pathLst>
                <a:path w="772795" h="1082675">
                  <a:moveTo>
                    <a:pt x="0" y="0"/>
                  </a:moveTo>
                  <a:lnTo>
                    <a:pt x="48863" y="1521"/>
                  </a:lnTo>
                  <a:lnTo>
                    <a:pt x="96919" y="6026"/>
                  </a:lnTo>
                  <a:lnTo>
                    <a:pt x="144077" y="13424"/>
                  </a:lnTo>
                  <a:lnTo>
                    <a:pt x="190246" y="23624"/>
                  </a:lnTo>
                  <a:lnTo>
                    <a:pt x="235337" y="36535"/>
                  </a:lnTo>
                  <a:lnTo>
                    <a:pt x="279258" y="52067"/>
                  </a:lnTo>
                  <a:lnTo>
                    <a:pt x="321919" y="70128"/>
                  </a:lnTo>
                  <a:lnTo>
                    <a:pt x="363229" y="90629"/>
                  </a:lnTo>
                  <a:lnTo>
                    <a:pt x="403098" y="113479"/>
                  </a:lnTo>
                  <a:lnTo>
                    <a:pt x="441436" y="138587"/>
                  </a:lnTo>
                  <a:lnTo>
                    <a:pt x="478151" y="165862"/>
                  </a:lnTo>
                  <a:lnTo>
                    <a:pt x="513154" y="195214"/>
                  </a:lnTo>
                  <a:lnTo>
                    <a:pt x="546354" y="226552"/>
                  </a:lnTo>
                  <a:lnTo>
                    <a:pt x="577659" y="259785"/>
                  </a:lnTo>
                  <a:lnTo>
                    <a:pt x="606981" y="294823"/>
                  </a:lnTo>
                  <a:lnTo>
                    <a:pt x="634228" y="331575"/>
                  </a:lnTo>
                  <a:lnTo>
                    <a:pt x="659309" y="369951"/>
                  </a:lnTo>
                  <a:lnTo>
                    <a:pt x="682135" y="409859"/>
                  </a:lnTo>
                  <a:lnTo>
                    <a:pt x="702614" y="451210"/>
                  </a:lnTo>
                  <a:lnTo>
                    <a:pt x="720657" y="493912"/>
                  </a:lnTo>
                  <a:lnTo>
                    <a:pt x="736172" y="537875"/>
                  </a:lnTo>
                  <a:lnTo>
                    <a:pt x="749069" y="583008"/>
                  </a:lnTo>
                  <a:lnTo>
                    <a:pt x="759257" y="629221"/>
                  </a:lnTo>
                  <a:lnTo>
                    <a:pt x="766647" y="676422"/>
                  </a:lnTo>
                  <a:lnTo>
                    <a:pt x="771147" y="724522"/>
                  </a:lnTo>
                  <a:lnTo>
                    <a:pt x="772668" y="773430"/>
                  </a:lnTo>
                  <a:lnTo>
                    <a:pt x="770853" y="826453"/>
                  </a:lnTo>
                  <a:lnTo>
                    <a:pt x="765433" y="879103"/>
                  </a:lnTo>
                  <a:lnTo>
                    <a:pt x="756443" y="931195"/>
                  </a:lnTo>
                  <a:lnTo>
                    <a:pt x="743918" y="982547"/>
                  </a:lnTo>
                  <a:lnTo>
                    <a:pt x="727894" y="1032974"/>
                  </a:lnTo>
                  <a:lnTo>
                    <a:pt x="708406" y="1082294"/>
                  </a:lnTo>
                </a:path>
              </a:pathLst>
            </a:custGeom>
            <a:noFill/>
            <a:ln w="15240">
              <a:solidFill>
                <a:schemeClr val="bg2">
                  <a:lumMod val="75000"/>
                </a:schemeClr>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39" name="object 41">
              <a:extLst>
                <a:ext uri="{FF2B5EF4-FFF2-40B4-BE49-F238E27FC236}">
                  <a16:creationId xmlns:a16="http://schemas.microsoft.com/office/drawing/2014/main" id="{A03E35FB-11F8-CAAA-D113-4B2F6FE625F9}"/>
                </a:ext>
              </a:extLst>
            </p:cNvPr>
            <p:cNvSpPr/>
            <p:nvPr>
              <p:custDataLst>
                <p:tags r:id="rId36"/>
              </p:custDataLst>
            </p:nvPr>
          </p:nvSpPr>
          <p:spPr bwMode="auto">
            <a:xfrm>
              <a:off x="780626" y="4002089"/>
              <a:ext cx="749387" cy="668344"/>
            </a:xfrm>
            <a:custGeom>
              <a:avLst/>
              <a:gdLst/>
              <a:ahLst/>
              <a:cxnLst/>
              <a:rect l="l" t="t" r="r" b="b"/>
              <a:pathLst>
                <a:path w="1130935" h="1130935">
                  <a:moveTo>
                    <a:pt x="0" y="565404"/>
                  </a:moveTo>
                  <a:lnTo>
                    <a:pt x="2075" y="516614"/>
                  </a:lnTo>
                  <a:lnTo>
                    <a:pt x="8187" y="468978"/>
                  </a:lnTo>
                  <a:lnTo>
                    <a:pt x="18167" y="422665"/>
                  </a:lnTo>
                  <a:lnTo>
                    <a:pt x="31845" y="377844"/>
                  </a:lnTo>
                  <a:lnTo>
                    <a:pt x="49051" y="334686"/>
                  </a:lnTo>
                  <a:lnTo>
                    <a:pt x="69615" y="293360"/>
                  </a:lnTo>
                  <a:lnTo>
                    <a:pt x="93369" y="254034"/>
                  </a:lnTo>
                  <a:lnTo>
                    <a:pt x="120142" y="216881"/>
                  </a:lnTo>
                  <a:lnTo>
                    <a:pt x="149765" y="182067"/>
                  </a:lnTo>
                  <a:lnTo>
                    <a:pt x="182067" y="149765"/>
                  </a:lnTo>
                  <a:lnTo>
                    <a:pt x="216881" y="120142"/>
                  </a:lnTo>
                  <a:lnTo>
                    <a:pt x="254034" y="93369"/>
                  </a:lnTo>
                  <a:lnTo>
                    <a:pt x="293360" y="69615"/>
                  </a:lnTo>
                  <a:lnTo>
                    <a:pt x="334686" y="49051"/>
                  </a:lnTo>
                  <a:lnTo>
                    <a:pt x="377844" y="31845"/>
                  </a:lnTo>
                  <a:lnTo>
                    <a:pt x="422665" y="18167"/>
                  </a:lnTo>
                  <a:lnTo>
                    <a:pt x="468978" y="8187"/>
                  </a:lnTo>
                  <a:lnTo>
                    <a:pt x="516614" y="2075"/>
                  </a:lnTo>
                  <a:lnTo>
                    <a:pt x="565403" y="0"/>
                  </a:lnTo>
                  <a:lnTo>
                    <a:pt x="614193" y="2075"/>
                  </a:lnTo>
                  <a:lnTo>
                    <a:pt x="661829" y="8187"/>
                  </a:lnTo>
                  <a:lnTo>
                    <a:pt x="708142" y="18167"/>
                  </a:lnTo>
                  <a:lnTo>
                    <a:pt x="752963" y="31845"/>
                  </a:lnTo>
                  <a:lnTo>
                    <a:pt x="796121" y="49051"/>
                  </a:lnTo>
                  <a:lnTo>
                    <a:pt x="837447" y="69615"/>
                  </a:lnTo>
                  <a:lnTo>
                    <a:pt x="876773" y="93369"/>
                  </a:lnTo>
                  <a:lnTo>
                    <a:pt x="913926" y="120142"/>
                  </a:lnTo>
                  <a:lnTo>
                    <a:pt x="948740" y="149765"/>
                  </a:lnTo>
                  <a:lnTo>
                    <a:pt x="981042" y="182067"/>
                  </a:lnTo>
                  <a:lnTo>
                    <a:pt x="1010665" y="216881"/>
                  </a:lnTo>
                  <a:lnTo>
                    <a:pt x="1037438" y="254034"/>
                  </a:lnTo>
                  <a:lnTo>
                    <a:pt x="1061192" y="293360"/>
                  </a:lnTo>
                  <a:lnTo>
                    <a:pt x="1081756" y="334686"/>
                  </a:lnTo>
                  <a:lnTo>
                    <a:pt x="1098962" y="377844"/>
                  </a:lnTo>
                  <a:lnTo>
                    <a:pt x="1112640" y="422665"/>
                  </a:lnTo>
                  <a:lnTo>
                    <a:pt x="1122620" y="468978"/>
                  </a:lnTo>
                  <a:lnTo>
                    <a:pt x="1128732" y="516614"/>
                  </a:lnTo>
                  <a:lnTo>
                    <a:pt x="1130807" y="565404"/>
                  </a:lnTo>
                  <a:lnTo>
                    <a:pt x="1128732" y="614193"/>
                  </a:lnTo>
                  <a:lnTo>
                    <a:pt x="1122620" y="661829"/>
                  </a:lnTo>
                  <a:lnTo>
                    <a:pt x="1112640" y="708142"/>
                  </a:lnTo>
                  <a:lnTo>
                    <a:pt x="1098962" y="752963"/>
                  </a:lnTo>
                  <a:lnTo>
                    <a:pt x="1081756" y="796121"/>
                  </a:lnTo>
                  <a:lnTo>
                    <a:pt x="1061192" y="837447"/>
                  </a:lnTo>
                  <a:lnTo>
                    <a:pt x="1037438" y="876773"/>
                  </a:lnTo>
                  <a:lnTo>
                    <a:pt x="1010665" y="913926"/>
                  </a:lnTo>
                  <a:lnTo>
                    <a:pt x="981042" y="948740"/>
                  </a:lnTo>
                  <a:lnTo>
                    <a:pt x="948740" y="981042"/>
                  </a:lnTo>
                  <a:lnTo>
                    <a:pt x="913926" y="1010665"/>
                  </a:lnTo>
                  <a:lnTo>
                    <a:pt x="876773" y="1037438"/>
                  </a:lnTo>
                  <a:lnTo>
                    <a:pt x="837447" y="1061192"/>
                  </a:lnTo>
                  <a:lnTo>
                    <a:pt x="796121" y="1081756"/>
                  </a:lnTo>
                  <a:lnTo>
                    <a:pt x="752963" y="1098962"/>
                  </a:lnTo>
                  <a:lnTo>
                    <a:pt x="708142" y="1112640"/>
                  </a:lnTo>
                  <a:lnTo>
                    <a:pt x="661829" y="1122620"/>
                  </a:lnTo>
                  <a:lnTo>
                    <a:pt x="614193" y="1128732"/>
                  </a:lnTo>
                  <a:lnTo>
                    <a:pt x="565403" y="1130808"/>
                  </a:lnTo>
                  <a:lnTo>
                    <a:pt x="516614" y="1128732"/>
                  </a:lnTo>
                  <a:lnTo>
                    <a:pt x="468978" y="1122620"/>
                  </a:lnTo>
                  <a:lnTo>
                    <a:pt x="422665" y="1112640"/>
                  </a:lnTo>
                  <a:lnTo>
                    <a:pt x="377844" y="1098962"/>
                  </a:lnTo>
                  <a:lnTo>
                    <a:pt x="334686" y="1081756"/>
                  </a:lnTo>
                  <a:lnTo>
                    <a:pt x="293360" y="1061192"/>
                  </a:lnTo>
                  <a:lnTo>
                    <a:pt x="254034" y="1037438"/>
                  </a:lnTo>
                  <a:lnTo>
                    <a:pt x="216881" y="1010665"/>
                  </a:lnTo>
                  <a:lnTo>
                    <a:pt x="182067" y="981042"/>
                  </a:lnTo>
                  <a:lnTo>
                    <a:pt x="149765" y="948740"/>
                  </a:lnTo>
                  <a:lnTo>
                    <a:pt x="120142" y="913926"/>
                  </a:lnTo>
                  <a:lnTo>
                    <a:pt x="93369" y="876773"/>
                  </a:lnTo>
                  <a:lnTo>
                    <a:pt x="69615" y="837447"/>
                  </a:lnTo>
                  <a:lnTo>
                    <a:pt x="49051" y="796121"/>
                  </a:lnTo>
                  <a:lnTo>
                    <a:pt x="31845" y="752963"/>
                  </a:lnTo>
                  <a:lnTo>
                    <a:pt x="18167" y="708142"/>
                  </a:lnTo>
                  <a:lnTo>
                    <a:pt x="8187" y="661829"/>
                  </a:lnTo>
                  <a:lnTo>
                    <a:pt x="2075" y="614193"/>
                  </a:lnTo>
                  <a:lnTo>
                    <a:pt x="0" y="565404"/>
                  </a:lnTo>
                  <a:close/>
                </a:path>
              </a:pathLst>
            </a:custGeom>
            <a:noFill/>
            <a:ln w="19812">
              <a:solidFill>
                <a:schemeClr val="bg2">
                  <a:lumMod val="75000"/>
                </a:schemeClr>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pic>
          <p:nvPicPr>
            <p:cNvPr id="146" name="Graphic 145" descr="Gauge with solid fill">
              <a:extLst>
                <a:ext uri="{FF2B5EF4-FFF2-40B4-BE49-F238E27FC236}">
                  <a16:creationId xmlns:a16="http://schemas.microsoft.com/office/drawing/2014/main" id="{27C0D4EA-E2F5-BCE2-1CFD-A76FCB798C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939319" y="4143224"/>
              <a:ext cx="432000" cy="386074"/>
            </a:xfrm>
            <a:prstGeom prst="rect">
              <a:avLst/>
            </a:prstGeom>
          </p:spPr>
        </p:pic>
      </p:grpSp>
      <p:grpSp>
        <p:nvGrpSpPr>
          <p:cNvPr id="179" name="Group 178">
            <a:extLst>
              <a:ext uri="{FF2B5EF4-FFF2-40B4-BE49-F238E27FC236}">
                <a16:creationId xmlns:a16="http://schemas.microsoft.com/office/drawing/2014/main" id="{1F579AA9-11DE-CFC7-3FD9-4093C02DD0A8}"/>
              </a:ext>
            </a:extLst>
          </p:cNvPr>
          <p:cNvGrpSpPr/>
          <p:nvPr/>
        </p:nvGrpSpPr>
        <p:grpSpPr>
          <a:xfrm>
            <a:off x="2576728" y="4007956"/>
            <a:ext cx="938658" cy="875997"/>
            <a:chOff x="2410475" y="3858977"/>
            <a:chExt cx="938658" cy="875997"/>
          </a:xfrm>
        </p:grpSpPr>
        <p:sp>
          <p:nvSpPr>
            <p:cNvPr id="119" name="object 17">
              <a:extLst>
                <a:ext uri="{FF2B5EF4-FFF2-40B4-BE49-F238E27FC236}">
                  <a16:creationId xmlns:a16="http://schemas.microsoft.com/office/drawing/2014/main" id="{256BE460-120E-6EDD-55BC-053930386A7B}"/>
                </a:ext>
              </a:extLst>
            </p:cNvPr>
            <p:cNvSpPr/>
            <p:nvPr>
              <p:custDataLst>
                <p:tags r:id="rId29"/>
              </p:custDataLst>
            </p:nvPr>
          </p:nvSpPr>
          <p:spPr bwMode="auto">
            <a:xfrm>
              <a:off x="2465872" y="3904357"/>
              <a:ext cx="834020" cy="830617"/>
            </a:xfrm>
            <a:custGeom>
              <a:avLst/>
              <a:gdLst/>
              <a:ahLst/>
              <a:cxnLst/>
              <a:rect l="l" t="t" r="r" b="b"/>
              <a:pathLst>
                <a:path w="1259839" h="1405254">
                  <a:moveTo>
                    <a:pt x="556132" y="0"/>
                  </a:moveTo>
                  <a:lnTo>
                    <a:pt x="604293" y="1620"/>
                  </a:lnTo>
                  <a:lnTo>
                    <a:pt x="651582" y="6414"/>
                  </a:lnTo>
                  <a:lnTo>
                    <a:pt x="697894" y="14274"/>
                  </a:lnTo>
                  <a:lnTo>
                    <a:pt x="743124" y="25098"/>
                  </a:lnTo>
                  <a:lnTo>
                    <a:pt x="787169" y="38780"/>
                  </a:lnTo>
                  <a:lnTo>
                    <a:pt x="829923" y="55215"/>
                  </a:lnTo>
                  <a:lnTo>
                    <a:pt x="871281" y="74299"/>
                  </a:lnTo>
                  <a:lnTo>
                    <a:pt x="911140" y="95927"/>
                  </a:lnTo>
                  <a:lnTo>
                    <a:pt x="949394" y="119994"/>
                  </a:lnTo>
                  <a:lnTo>
                    <a:pt x="985938" y="146397"/>
                  </a:lnTo>
                  <a:lnTo>
                    <a:pt x="1020669" y="175029"/>
                  </a:lnTo>
                  <a:lnTo>
                    <a:pt x="1053480" y="205787"/>
                  </a:lnTo>
                  <a:lnTo>
                    <a:pt x="1084269" y="238566"/>
                  </a:lnTo>
                  <a:lnTo>
                    <a:pt x="1112929" y="273261"/>
                  </a:lnTo>
                  <a:lnTo>
                    <a:pt x="1139356" y="309767"/>
                  </a:lnTo>
                  <a:lnTo>
                    <a:pt x="1163447" y="347980"/>
                  </a:lnTo>
                  <a:lnTo>
                    <a:pt x="1185094" y="387794"/>
                  </a:lnTo>
                  <a:lnTo>
                    <a:pt x="1204196" y="429107"/>
                  </a:lnTo>
                  <a:lnTo>
                    <a:pt x="1220645" y="471812"/>
                  </a:lnTo>
                  <a:lnTo>
                    <a:pt x="1234339" y="515805"/>
                  </a:lnTo>
                  <a:lnTo>
                    <a:pt x="1245172" y="560981"/>
                  </a:lnTo>
                  <a:lnTo>
                    <a:pt x="1253039" y="607236"/>
                  </a:lnTo>
                  <a:lnTo>
                    <a:pt x="1257836" y="654465"/>
                  </a:lnTo>
                  <a:lnTo>
                    <a:pt x="1259459" y="702563"/>
                  </a:lnTo>
                  <a:lnTo>
                    <a:pt x="1257836" y="750662"/>
                  </a:lnTo>
                  <a:lnTo>
                    <a:pt x="1253039" y="797891"/>
                  </a:lnTo>
                  <a:lnTo>
                    <a:pt x="1245172" y="844146"/>
                  </a:lnTo>
                  <a:lnTo>
                    <a:pt x="1234339" y="889322"/>
                  </a:lnTo>
                  <a:lnTo>
                    <a:pt x="1220645" y="933315"/>
                  </a:lnTo>
                  <a:lnTo>
                    <a:pt x="1204196" y="976020"/>
                  </a:lnTo>
                  <a:lnTo>
                    <a:pt x="1185094" y="1017333"/>
                  </a:lnTo>
                  <a:lnTo>
                    <a:pt x="1163447" y="1057147"/>
                  </a:lnTo>
                  <a:lnTo>
                    <a:pt x="1139356" y="1095360"/>
                  </a:lnTo>
                  <a:lnTo>
                    <a:pt x="1112929" y="1131866"/>
                  </a:lnTo>
                  <a:lnTo>
                    <a:pt x="1084269" y="1166561"/>
                  </a:lnTo>
                  <a:lnTo>
                    <a:pt x="1053480" y="1199340"/>
                  </a:lnTo>
                  <a:lnTo>
                    <a:pt x="1020669" y="1230098"/>
                  </a:lnTo>
                  <a:lnTo>
                    <a:pt x="985938" y="1258730"/>
                  </a:lnTo>
                  <a:lnTo>
                    <a:pt x="949394" y="1285133"/>
                  </a:lnTo>
                  <a:lnTo>
                    <a:pt x="911140" y="1309200"/>
                  </a:lnTo>
                  <a:lnTo>
                    <a:pt x="871281" y="1330828"/>
                  </a:lnTo>
                  <a:lnTo>
                    <a:pt x="829923" y="1349912"/>
                  </a:lnTo>
                  <a:lnTo>
                    <a:pt x="787169" y="1366347"/>
                  </a:lnTo>
                  <a:lnTo>
                    <a:pt x="743124" y="1380029"/>
                  </a:lnTo>
                  <a:lnTo>
                    <a:pt x="697894" y="1390853"/>
                  </a:lnTo>
                  <a:lnTo>
                    <a:pt x="651582" y="1398713"/>
                  </a:lnTo>
                  <a:lnTo>
                    <a:pt x="604293" y="1403507"/>
                  </a:lnTo>
                  <a:lnTo>
                    <a:pt x="556132" y="1405128"/>
                  </a:lnTo>
                  <a:lnTo>
                    <a:pt x="506172" y="1403355"/>
                  </a:lnTo>
                  <a:lnTo>
                    <a:pt x="456808" y="1398092"/>
                  </a:lnTo>
                  <a:lnTo>
                    <a:pt x="408205" y="1389418"/>
                  </a:lnTo>
                  <a:lnTo>
                    <a:pt x="360525" y="1377414"/>
                  </a:lnTo>
                  <a:lnTo>
                    <a:pt x="313933" y="1362159"/>
                  </a:lnTo>
                  <a:lnTo>
                    <a:pt x="268593" y="1343733"/>
                  </a:lnTo>
                  <a:lnTo>
                    <a:pt x="224667" y="1322217"/>
                  </a:lnTo>
                  <a:lnTo>
                    <a:pt x="182321" y="1297691"/>
                  </a:lnTo>
                  <a:lnTo>
                    <a:pt x="141717" y="1270235"/>
                  </a:lnTo>
                  <a:lnTo>
                    <a:pt x="103019" y="1239929"/>
                  </a:lnTo>
                  <a:lnTo>
                    <a:pt x="66391" y="1206853"/>
                  </a:lnTo>
                  <a:lnTo>
                    <a:pt x="31997" y="1171088"/>
                  </a:lnTo>
                  <a:lnTo>
                    <a:pt x="0" y="1132713"/>
                  </a:lnTo>
                </a:path>
              </a:pathLst>
            </a:custGeom>
            <a:noFill/>
            <a:ln w="15240">
              <a:solidFill>
                <a:srgbClr val="1CADE4"/>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20" name="object 18">
              <a:extLst>
                <a:ext uri="{FF2B5EF4-FFF2-40B4-BE49-F238E27FC236}">
                  <a16:creationId xmlns:a16="http://schemas.microsoft.com/office/drawing/2014/main" id="{D230A2FB-19ED-8731-B384-36E8FAA301D0}"/>
                </a:ext>
              </a:extLst>
            </p:cNvPr>
            <p:cNvSpPr/>
            <p:nvPr>
              <p:custDataLst>
                <p:tags r:id="rId30"/>
              </p:custDataLst>
            </p:nvPr>
          </p:nvSpPr>
          <p:spPr bwMode="auto">
            <a:xfrm>
              <a:off x="2410475" y="3941489"/>
              <a:ext cx="846330" cy="756356"/>
            </a:xfrm>
            <a:custGeom>
              <a:avLst/>
              <a:gdLst/>
              <a:ahLst/>
              <a:cxnLst/>
              <a:rect l="l" t="t" r="r" b="b"/>
              <a:pathLst>
                <a:path w="1278889" h="1277620">
                  <a:moveTo>
                    <a:pt x="639317" y="0"/>
                  </a:moveTo>
                  <a:lnTo>
                    <a:pt x="687027" y="1751"/>
                  </a:lnTo>
                  <a:lnTo>
                    <a:pt x="733785" y="6923"/>
                  </a:lnTo>
                  <a:lnTo>
                    <a:pt x="779468" y="15392"/>
                  </a:lnTo>
                  <a:lnTo>
                    <a:pt x="823952" y="27034"/>
                  </a:lnTo>
                  <a:lnTo>
                    <a:pt x="867112" y="41727"/>
                  </a:lnTo>
                  <a:lnTo>
                    <a:pt x="908827" y="59346"/>
                  </a:lnTo>
                  <a:lnTo>
                    <a:pt x="948971" y="79769"/>
                  </a:lnTo>
                  <a:lnTo>
                    <a:pt x="987422" y="102871"/>
                  </a:lnTo>
                  <a:lnTo>
                    <a:pt x="1024055" y="128530"/>
                  </a:lnTo>
                  <a:lnTo>
                    <a:pt x="1058747" y="156622"/>
                  </a:lnTo>
                  <a:lnTo>
                    <a:pt x="1091374" y="187023"/>
                  </a:lnTo>
                  <a:lnTo>
                    <a:pt x="1121813" y="219610"/>
                  </a:lnTo>
                  <a:lnTo>
                    <a:pt x="1149940" y="254260"/>
                  </a:lnTo>
                  <a:lnTo>
                    <a:pt x="1175631" y="290849"/>
                  </a:lnTo>
                  <a:lnTo>
                    <a:pt x="1198763" y="329253"/>
                  </a:lnTo>
                  <a:lnTo>
                    <a:pt x="1219212" y="369350"/>
                  </a:lnTo>
                  <a:lnTo>
                    <a:pt x="1236854" y="411016"/>
                  </a:lnTo>
                  <a:lnTo>
                    <a:pt x="1251565" y="454127"/>
                  </a:lnTo>
                  <a:lnTo>
                    <a:pt x="1263223" y="498560"/>
                  </a:lnTo>
                  <a:lnTo>
                    <a:pt x="1271703" y="544191"/>
                  </a:lnTo>
                  <a:lnTo>
                    <a:pt x="1276882" y="590898"/>
                  </a:lnTo>
                  <a:lnTo>
                    <a:pt x="1278636" y="638555"/>
                  </a:lnTo>
                  <a:lnTo>
                    <a:pt x="1276882" y="686213"/>
                  </a:lnTo>
                  <a:lnTo>
                    <a:pt x="1271703" y="732920"/>
                  </a:lnTo>
                  <a:lnTo>
                    <a:pt x="1263223" y="778551"/>
                  </a:lnTo>
                  <a:lnTo>
                    <a:pt x="1251565" y="822984"/>
                  </a:lnTo>
                  <a:lnTo>
                    <a:pt x="1236854" y="866095"/>
                  </a:lnTo>
                  <a:lnTo>
                    <a:pt x="1219212" y="907761"/>
                  </a:lnTo>
                  <a:lnTo>
                    <a:pt x="1198763" y="947858"/>
                  </a:lnTo>
                  <a:lnTo>
                    <a:pt x="1175631" y="986262"/>
                  </a:lnTo>
                  <a:lnTo>
                    <a:pt x="1149940" y="1022851"/>
                  </a:lnTo>
                  <a:lnTo>
                    <a:pt x="1121813" y="1057501"/>
                  </a:lnTo>
                  <a:lnTo>
                    <a:pt x="1091374" y="1090088"/>
                  </a:lnTo>
                  <a:lnTo>
                    <a:pt x="1058747" y="1120489"/>
                  </a:lnTo>
                  <a:lnTo>
                    <a:pt x="1024055" y="1148581"/>
                  </a:lnTo>
                  <a:lnTo>
                    <a:pt x="987422" y="1174240"/>
                  </a:lnTo>
                  <a:lnTo>
                    <a:pt x="948971" y="1197342"/>
                  </a:lnTo>
                  <a:lnTo>
                    <a:pt x="908827" y="1217765"/>
                  </a:lnTo>
                  <a:lnTo>
                    <a:pt x="867112" y="1235384"/>
                  </a:lnTo>
                  <a:lnTo>
                    <a:pt x="823952" y="1250077"/>
                  </a:lnTo>
                  <a:lnTo>
                    <a:pt x="779468" y="1261719"/>
                  </a:lnTo>
                  <a:lnTo>
                    <a:pt x="733785" y="1270188"/>
                  </a:lnTo>
                  <a:lnTo>
                    <a:pt x="687027" y="1275360"/>
                  </a:lnTo>
                  <a:lnTo>
                    <a:pt x="639317" y="1277112"/>
                  </a:lnTo>
                  <a:lnTo>
                    <a:pt x="591608" y="1275360"/>
                  </a:lnTo>
                  <a:lnTo>
                    <a:pt x="544850" y="1270188"/>
                  </a:lnTo>
                  <a:lnTo>
                    <a:pt x="499167" y="1261719"/>
                  </a:lnTo>
                  <a:lnTo>
                    <a:pt x="454683" y="1250077"/>
                  </a:lnTo>
                  <a:lnTo>
                    <a:pt x="411523" y="1235384"/>
                  </a:lnTo>
                  <a:lnTo>
                    <a:pt x="369808" y="1217765"/>
                  </a:lnTo>
                  <a:lnTo>
                    <a:pt x="329664" y="1197342"/>
                  </a:lnTo>
                  <a:lnTo>
                    <a:pt x="291213" y="1174240"/>
                  </a:lnTo>
                  <a:lnTo>
                    <a:pt x="254580" y="1148581"/>
                  </a:lnTo>
                  <a:lnTo>
                    <a:pt x="219888" y="1120489"/>
                  </a:lnTo>
                  <a:lnTo>
                    <a:pt x="187261" y="1090088"/>
                  </a:lnTo>
                  <a:lnTo>
                    <a:pt x="156822" y="1057501"/>
                  </a:lnTo>
                  <a:lnTo>
                    <a:pt x="128695" y="1022851"/>
                  </a:lnTo>
                  <a:lnTo>
                    <a:pt x="103004" y="986262"/>
                  </a:lnTo>
                  <a:lnTo>
                    <a:pt x="79872" y="947858"/>
                  </a:lnTo>
                  <a:lnTo>
                    <a:pt x="59423" y="907761"/>
                  </a:lnTo>
                  <a:lnTo>
                    <a:pt x="41781" y="866095"/>
                  </a:lnTo>
                  <a:lnTo>
                    <a:pt x="27070" y="822984"/>
                  </a:lnTo>
                  <a:lnTo>
                    <a:pt x="15412" y="778551"/>
                  </a:lnTo>
                  <a:lnTo>
                    <a:pt x="6932" y="732920"/>
                  </a:lnTo>
                  <a:lnTo>
                    <a:pt x="1753" y="686213"/>
                  </a:lnTo>
                  <a:lnTo>
                    <a:pt x="0" y="638555"/>
                  </a:lnTo>
                  <a:lnTo>
                    <a:pt x="2217" y="585401"/>
                  </a:lnTo>
                  <a:lnTo>
                    <a:pt x="8812" y="532886"/>
                  </a:lnTo>
                  <a:lnTo>
                    <a:pt x="19696" y="481266"/>
                  </a:lnTo>
                  <a:lnTo>
                    <a:pt x="34782" y="430799"/>
                  </a:lnTo>
                  <a:lnTo>
                    <a:pt x="53981" y="381744"/>
                  </a:lnTo>
                  <a:lnTo>
                    <a:pt x="77206" y="334357"/>
                  </a:lnTo>
                  <a:lnTo>
                    <a:pt x="104368" y="288895"/>
                  </a:lnTo>
                  <a:lnTo>
                    <a:pt x="135382" y="245617"/>
                  </a:lnTo>
                </a:path>
              </a:pathLst>
            </a:custGeom>
            <a:noFill/>
            <a:ln w="15240">
              <a:solidFill>
                <a:srgbClr val="1CADE4"/>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21" name="object 19">
              <a:extLst>
                <a:ext uri="{FF2B5EF4-FFF2-40B4-BE49-F238E27FC236}">
                  <a16:creationId xmlns:a16="http://schemas.microsoft.com/office/drawing/2014/main" id="{65671373-09B2-ACA9-598C-7F9A7A3BDC8E}"/>
                </a:ext>
              </a:extLst>
            </p:cNvPr>
            <p:cNvSpPr/>
            <p:nvPr>
              <p:custDataLst>
                <p:tags r:id="rId31"/>
              </p:custDataLst>
            </p:nvPr>
          </p:nvSpPr>
          <p:spPr bwMode="auto">
            <a:xfrm>
              <a:off x="2836719" y="3858977"/>
              <a:ext cx="512414" cy="640840"/>
            </a:xfrm>
            <a:custGeom>
              <a:avLst/>
              <a:gdLst/>
              <a:ahLst/>
              <a:cxnLst/>
              <a:rect l="l" t="t" r="r" b="b"/>
              <a:pathLst>
                <a:path w="772795" h="1082675">
                  <a:moveTo>
                    <a:pt x="0" y="0"/>
                  </a:moveTo>
                  <a:lnTo>
                    <a:pt x="48863" y="1521"/>
                  </a:lnTo>
                  <a:lnTo>
                    <a:pt x="96919" y="6026"/>
                  </a:lnTo>
                  <a:lnTo>
                    <a:pt x="144077" y="13424"/>
                  </a:lnTo>
                  <a:lnTo>
                    <a:pt x="190246" y="23624"/>
                  </a:lnTo>
                  <a:lnTo>
                    <a:pt x="235337" y="36535"/>
                  </a:lnTo>
                  <a:lnTo>
                    <a:pt x="279258" y="52067"/>
                  </a:lnTo>
                  <a:lnTo>
                    <a:pt x="321919" y="70128"/>
                  </a:lnTo>
                  <a:lnTo>
                    <a:pt x="363229" y="90629"/>
                  </a:lnTo>
                  <a:lnTo>
                    <a:pt x="403098" y="113479"/>
                  </a:lnTo>
                  <a:lnTo>
                    <a:pt x="441436" y="138587"/>
                  </a:lnTo>
                  <a:lnTo>
                    <a:pt x="478151" y="165862"/>
                  </a:lnTo>
                  <a:lnTo>
                    <a:pt x="513154" y="195214"/>
                  </a:lnTo>
                  <a:lnTo>
                    <a:pt x="546354" y="226552"/>
                  </a:lnTo>
                  <a:lnTo>
                    <a:pt x="577659" y="259785"/>
                  </a:lnTo>
                  <a:lnTo>
                    <a:pt x="606981" y="294823"/>
                  </a:lnTo>
                  <a:lnTo>
                    <a:pt x="634228" y="331575"/>
                  </a:lnTo>
                  <a:lnTo>
                    <a:pt x="659309" y="369951"/>
                  </a:lnTo>
                  <a:lnTo>
                    <a:pt x="682135" y="409859"/>
                  </a:lnTo>
                  <a:lnTo>
                    <a:pt x="702614" y="451210"/>
                  </a:lnTo>
                  <a:lnTo>
                    <a:pt x="720657" y="493912"/>
                  </a:lnTo>
                  <a:lnTo>
                    <a:pt x="736172" y="537875"/>
                  </a:lnTo>
                  <a:lnTo>
                    <a:pt x="749069" y="583008"/>
                  </a:lnTo>
                  <a:lnTo>
                    <a:pt x="759257" y="629221"/>
                  </a:lnTo>
                  <a:lnTo>
                    <a:pt x="766647" y="676422"/>
                  </a:lnTo>
                  <a:lnTo>
                    <a:pt x="771147" y="724522"/>
                  </a:lnTo>
                  <a:lnTo>
                    <a:pt x="772668" y="773430"/>
                  </a:lnTo>
                  <a:lnTo>
                    <a:pt x="770853" y="826453"/>
                  </a:lnTo>
                  <a:lnTo>
                    <a:pt x="765433" y="879103"/>
                  </a:lnTo>
                  <a:lnTo>
                    <a:pt x="756443" y="931195"/>
                  </a:lnTo>
                  <a:lnTo>
                    <a:pt x="743918" y="982547"/>
                  </a:lnTo>
                  <a:lnTo>
                    <a:pt x="727894" y="1032974"/>
                  </a:lnTo>
                  <a:lnTo>
                    <a:pt x="708406" y="1082294"/>
                  </a:lnTo>
                </a:path>
              </a:pathLst>
            </a:custGeom>
            <a:noFill/>
            <a:ln w="15240">
              <a:solidFill>
                <a:srgbClr val="1CADE4"/>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23" name="object 41">
              <a:extLst>
                <a:ext uri="{FF2B5EF4-FFF2-40B4-BE49-F238E27FC236}">
                  <a16:creationId xmlns:a16="http://schemas.microsoft.com/office/drawing/2014/main" id="{03584C70-BDB3-196E-8C87-1E843B1AF644}"/>
                </a:ext>
              </a:extLst>
            </p:cNvPr>
            <p:cNvSpPr/>
            <p:nvPr>
              <p:custDataLst>
                <p:tags r:id="rId32"/>
              </p:custDataLst>
            </p:nvPr>
          </p:nvSpPr>
          <p:spPr bwMode="auto">
            <a:xfrm>
              <a:off x="2462794" y="3982744"/>
              <a:ext cx="749388" cy="668344"/>
            </a:xfrm>
            <a:custGeom>
              <a:avLst/>
              <a:gdLst/>
              <a:ahLst/>
              <a:cxnLst/>
              <a:rect l="l" t="t" r="r" b="b"/>
              <a:pathLst>
                <a:path w="1130935" h="1130935">
                  <a:moveTo>
                    <a:pt x="0" y="565404"/>
                  </a:moveTo>
                  <a:lnTo>
                    <a:pt x="2075" y="516614"/>
                  </a:lnTo>
                  <a:lnTo>
                    <a:pt x="8187" y="468978"/>
                  </a:lnTo>
                  <a:lnTo>
                    <a:pt x="18167" y="422665"/>
                  </a:lnTo>
                  <a:lnTo>
                    <a:pt x="31845" y="377844"/>
                  </a:lnTo>
                  <a:lnTo>
                    <a:pt x="49051" y="334686"/>
                  </a:lnTo>
                  <a:lnTo>
                    <a:pt x="69615" y="293360"/>
                  </a:lnTo>
                  <a:lnTo>
                    <a:pt x="93369" y="254034"/>
                  </a:lnTo>
                  <a:lnTo>
                    <a:pt x="120142" y="216881"/>
                  </a:lnTo>
                  <a:lnTo>
                    <a:pt x="149765" y="182067"/>
                  </a:lnTo>
                  <a:lnTo>
                    <a:pt x="182067" y="149765"/>
                  </a:lnTo>
                  <a:lnTo>
                    <a:pt x="216881" y="120142"/>
                  </a:lnTo>
                  <a:lnTo>
                    <a:pt x="254034" y="93369"/>
                  </a:lnTo>
                  <a:lnTo>
                    <a:pt x="293360" y="69615"/>
                  </a:lnTo>
                  <a:lnTo>
                    <a:pt x="334686" y="49051"/>
                  </a:lnTo>
                  <a:lnTo>
                    <a:pt x="377844" y="31845"/>
                  </a:lnTo>
                  <a:lnTo>
                    <a:pt x="422665" y="18167"/>
                  </a:lnTo>
                  <a:lnTo>
                    <a:pt x="468978" y="8187"/>
                  </a:lnTo>
                  <a:lnTo>
                    <a:pt x="516614" y="2075"/>
                  </a:lnTo>
                  <a:lnTo>
                    <a:pt x="565403" y="0"/>
                  </a:lnTo>
                  <a:lnTo>
                    <a:pt x="614193" y="2075"/>
                  </a:lnTo>
                  <a:lnTo>
                    <a:pt x="661829" y="8187"/>
                  </a:lnTo>
                  <a:lnTo>
                    <a:pt x="708142" y="18167"/>
                  </a:lnTo>
                  <a:lnTo>
                    <a:pt x="752963" y="31845"/>
                  </a:lnTo>
                  <a:lnTo>
                    <a:pt x="796121" y="49051"/>
                  </a:lnTo>
                  <a:lnTo>
                    <a:pt x="837447" y="69615"/>
                  </a:lnTo>
                  <a:lnTo>
                    <a:pt x="876773" y="93369"/>
                  </a:lnTo>
                  <a:lnTo>
                    <a:pt x="913926" y="120142"/>
                  </a:lnTo>
                  <a:lnTo>
                    <a:pt x="948740" y="149765"/>
                  </a:lnTo>
                  <a:lnTo>
                    <a:pt x="981042" y="182067"/>
                  </a:lnTo>
                  <a:lnTo>
                    <a:pt x="1010665" y="216881"/>
                  </a:lnTo>
                  <a:lnTo>
                    <a:pt x="1037438" y="254034"/>
                  </a:lnTo>
                  <a:lnTo>
                    <a:pt x="1061192" y="293360"/>
                  </a:lnTo>
                  <a:lnTo>
                    <a:pt x="1081756" y="334686"/>
                  </a:lnTo>
                  <a:lnTo>
                    <a:pt x="1098962" y="377844"/>
                  </a:lnTo>
                  <a:lnTo>
                    <a:pt x="1112640" y="422665"/>
                  </a:lnTo>
                  <a:lnTo>
                    <a:pt x="1122620" y="468978"/>
                  </a:lnTo>
                  <a:lnTo>
                    <a:pt x="1128732" y="516614"/>
                  </a:lnTo>
                  <a:lnTo>
                    <a:pt x="1130807" y="565404"/>
                  </a:lnTo>
                  <a:lnTo>
                    <a:pt x="1128732" y="614193"/>
                  </a:lnTo>
                  <a:lnTo>
                    <a:pt x="1122620" y="661829"/>
                  </a:lnTo>
                  <a:lnTo>
                    <a:pt x="1112640" y="708142"/>
                  </a:lnTo>
                  <a:lnTo>
                    <a:pt x="1098962" y="752963"/>
                  </a:lnTo>
                  <a:lnTo>
                    <a:pt x="1081756" y="796121"/>
                  </a:lnTo>
                  <a:lnTo>
                    <a:pt x="1061192" y="837447"/>
                  </a:lnTo>
                  <a:lnTo>
                    <a:pt x="1037438" y="876773"/>
                  </a:lnTo>
                  <a:lnTo>
                    <a:pt x="1010665" y="913926"/>
                  </a:lnTo>
                  <a:lnTo>
                    <a:pt x="981042" y="948740"/>
                  </a:lnTo>
                  <a:lnTo>
                    <a:pt x="948740" y="981042"/>
                  </a:lnTo>
                  <a:lnTo>
                    <a:pt x="913926" y="1010665"/>
                  </a:lnTo>
                  <a:lnTo>
                    <a:pt x="876773" y="1037438"/>
                  </a:lnTo>
                  <a:lnTo>
                    <a:pt x="837447" y="1061192"/>
                  </a:lnTo>
                  <a:lnTo>
                    <a:pt x="796121" y="1081756"/>
                  </a:lnTo>
                  <a:lnTo>
                    <a:pt x="752963" y="1098962"/>
                  </a:lnTo>
                  <a:lnTo>
                    <a:pt x="708142" y="1112640"/>
                  </a:lnTo>
                  <a:lnTo>
                    <a:pt x="661829" y="1122620"/>
                  </a:lnTo>
                  <a:lnTo>
                    <a:pt x="614193" y="1128732"/>
                  </a:lnTo>
                  <a:lnTo>
                    <a:pt x="565403" y="1130808"/>
                  </a:lnTo>
                  <a:lnTo>
                    <a:pt x="516614" y="1128732"/>
                  </a:lnTo>
                  <a:lnTo>
                    <a:pt x="468978" y="1122620"/>
                  </a:lnTo>
                  <a:lnTo>
                    <a:pt x="422665" y="1112640"/>
                  </a:lnTo>
                  <a:lnTo>
                    <a:pt x="377844" y="1098962"/>
                  </a:lnTo>
                  <a:lnTo>
                    <a:pt x="334686" y="1081756"/>
                  </a:lnTo>
                  <a:lnTo>
                    <a:pt x="293360" y="1061192"/>
                  </a:lnTo>
                  <a:lnTo>
                    <a:pt x="254034" y="1037438"/>
                  </a:lnTo>
                  <a:lnTo>
                    <a:pt x="216881" y="1010665"/>
                  </a:lnTo>
                  <a:lnTo>
                    <a:pt x="182067" y="981042"/>
                  </a:lnTo>
                  <a:lnTo>
                    <a:pt x="149765" y="948740"/>
                  </a:lnTo>
                  <a:lnTo>
                    <a:pt x="120142" y="913926"/>
                  </a:lnTo>
                  <a:lnTo>
                    <a:pt x="93369" y="876773"/>
                  </a:lnTo>
                  <a:lnTo>
                    <a:pt x="69615" y="837447"/>
                  </a:lnTo>
                  <a:lnTo>
                    <a:pt x="49051" y="796121"/>
                  </a:lnTo>
                  <a:lnTo>
                    <a:pt x="31845" y="752963"/>
                  </a:lnTo>
                  <a:lnTo>
                    <a:pt x="18167" y="708142"/>
                  </a:lnTo>
                  <a:lnTo>
                    <a:pt x="8187" y="661829"/>
                  </a:lnTo>
                  <a:lnTo>
                    <a:pt x="2075" y="614193"/>
                  </a:lnTo>
                  <a:lnTo>
                    <a:pt x="0" y="565404"/>
                  </a:lnTo>
                  <a:close/>
                </a:path>
              </a:pathLst>
            </a:custGeom>
            <a:noFill/>
            <a:ln w="19812">
              <a:solidFill>
                <a:srgbClr val="1CADE4"/>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pic>
          <p:nvPicPr>
            <p:cNvPr id="147" name="Graphic 146" descr="Open hand with solid fill">
              <a:extLst>
                <a:ext uri="{FF2B5EF4-FFF2-40B4-BE49-F238E27FC236}">
                  <a16:creationId xmlns:a16="http://schemas.microsoft.com/office/drawing/2014/main" id="{105F64C7-5709-7952-3BD3-0AD0EF571CE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2621488" y="4123879"/>
              <a:ext cx="432000" cy="386074"/>
            </a:xfrm>
            <a:prstGeom prst="rect">
              <a:avLst/>
            </a:prstGeom>
          </p:spPr>
        </p:pic>
      </p:grpSp>
      <p:grpSp>
        <p:nvGrpSpPr>
          <p:cNvPr id="180" name="Group 179">
            <a:extLst>
              <a:ext uri="{FF2B5EF4-FFF2-40B4-BE49-F238E27FC236}">
                <a16:creationId xmlns:a16="http://schemas.microsoft.com/office/drawing/2014/main" id="{DD64E62C-8AA4-2424-7920-C29F6079B731}"/>
              </a:ext>
            </a:extLst>
          </p:cNvPr>
          <p:cNvGrpSpPr/>
          <p:nvPr/>
        </p:nvGrpSpPr>
        <p:grpSpPr>
          <a:xfrm>
            <a:off x="4401843" y="4007956"/>
            <a:ext cx="938654" cy="875999"/>
            <a:chOff x="4357464" y="3849621"/>
            <a:chExt cx="938654" cy="875999"/>
          </a:xfrm>
        </p:grpSpPr>
        <p:sp>
          <p:nvSpPr>
            <p:cNvPr id="125" name="object 17">
              <a:extLst>
                <a:ext uri="{FF2B5EF4-FFF2-40B4-BE49-F238E27FC236}">
                  <a16:creationId xmlns:a16="http://schemas.microsoft.com/office/drawing/2014/main" id="{C52F6D08-AB09-EACD-A13A-55C88B928DA4}"/>
                </a:ext>
              </a:extLst>
            </p:cNvPr>
            <p:cNvSpPr/>
            <p:nvPr>
              <p:custDataLst>
                <p:tags r:id="rId25"/>
              </p:custDataLst>
            </p:nvPr>
          </p:nvSpPr>
          <p:spPr bwMode="auto">
            <a:xfrm>
              <a:off x="4412860" y="3895003"/>
              <a:ext cx="834017" cy="830617"/>
            </a:xfrm>
            <a:custGeom>
              <a:avLst/>
              <a:gdLst/>
              <a:ahLst/>
              <a:cxnLst/>
              <a:rect l="l" t="t" r="r" b="b"/>
              <a:pathLst>
                <a:path w="1259839" h="1405254">
                  <a:moveTo>
                    <a:pt x="556132" y="0"/>
                  </a:moveTo>
                  <a:lnTo>
                    <a:pt x="604293" y="1620"/>
                  </a:lnTo>
                  <a:lnTo>
                    <a:pt x="651582" y="6414"/>
                  </a:lnTo>
                  <a:lnTo>
                    <a:pt x="697894" y="14274"/>
                  </a:lnTo>
                  <a:lnTo>
                    <a:pt x="743124" y="25098"/>
                  </a:lnTo>
                  <a:lnTo>
                    <a:pt x="787169" y="38780"/>
                  </a:lnTo>
                  <a:lnTo>
                    <a:pt x="829923" y="55215"/>
                  </a:lnTo>
                  <a:lnTo>
                    <a:pt x="871281" y="74299"/>
                  </a:lnTo>
                  <a:lnTo>
                    <a:pt x="911140" y="95927"/>
                  </a:lnTo>
                  <a:lnTo>
                    <a:pt x="949394" y="119994"/>
                  </a:lnTo>
                  <a:lnTo>
                    <a:pt x="985938" y="146397"/>
                  </a:lnTo>
                  <a:lnTo>
                    <a:pt x="1020669" y="175029"/>
                  </a:lnTo>
                  <a:lnTo>
                    <a:pt x="1053480" y="205787"/>
                  </a:lnTo>
                  <a:lnTo>
                    <a:pt x="1084269" y="238566"/>
                  </a:lnTo>
                  <a:lnTo>
                    <a:pt x="1112929" y="273261"/>
                  </a:lnTo>
                  <a:lnTo>
                    <a:pt x="1139356" y="309767"/>
                  </a:lnTo>
                  <a:lnTo>
                    <a:pt x="1163447" y="347980"/>
                  </a:lnTo>
                  <a:lnTo>
                    <a:pt x="1185094" y="387794"/>
                  </a:lnTo>
                  <a:lnTo>
                    <a:pt x="1204196" y="429107"/>
                  </a:lnTo>
                  <a:lnTo>
                    <a:pt x="1220645" y="471812"/>
                  </a:lnTo>
                  <a:lnTo>
                    <a:pt x="1234339" y="515805"/>
                  </a:lnTo>
                  <a:lnTo>
                    <a:pt x="1245172" y="560981"/>
                  </a:lnTo>
                  <a:lnTo>
                    <a:pt x="1253039" y="607236"/>
                  </a:lnTo>
                  <a:lnTo>
                    <a:pt x="1257836" y="654465"/>
                  </a:lnTo>
                  <a:lnTo>
                    <a:pt x="1259459" y="702563"/>
                  </a:lnTo>
                  <a:lnTo>
                    <a:pt x="1257836" y="750662"/>
                  </a:lnTo>
                  <a:lnTo>
                    <a:pt x="1253039" y="797891"/>
                  </a:lnTo>
                  <a:lnTo>
                    <a:pt x="1245172" y="844146"/>
                  </a:lnTo>
                  <a:lnTo>
                    <a:pt x="1234339" y="889322"/>
                  </a:lnTo>
                  <a:lnTo>
                    <a:pt x="1220645" y="933315"/>
                  </a:lnTo>
                  <a:lnTo>
                    <a:pt x="1204196" y="976020"/>
                  </a:lnTo>
                  <a:lnTo>
                    <a:pt x="1185094" y="1017333"/>
                  </a:lnTo>
                  <a:lnTo>
                    <a:pt x="1163447" y="1057147"/>
                  </a:lnTo>
                  <a:lnTo>
                    <a:pt x="1139356" y="1095360"/>
                  </a:lnTo>
                  <a:lnTo>
                    <a:pt x="1112929" y="1131866"/>
                  </a:lnTo>
                  <a:lnTo>
                    <a:pt x="1084269" y="1166561"/>
                  </a:lnTo>
                  <a:lnTo>
                    <a:pt x="1053480" y="1199340"/>
                  </a:lnTo>
                  <a:lnTo>
                    <a:pt x="1020669" y="1230098"/>
                  </a:lnTo>
                  <a:lnTo>
                    <a:pt x="985938" y="1258730"/>
                  </a:lnTo>
                  <a:lnTo>
                    <a:pt x="949394" y="1285133"/>
                  </a:lnTo>
                  <a:lnTo>
                    <a:pt x="911140" y="1309200"/>
                  </a:lnTo>
                  <a:lnTo>
                    <a:pt x="871281" y="1330828"/>
                  </a:lnTo>
                  <a:lnTo>
                    <a:pt x="829923" y="1349912"/>
                  </a:lnTo>
                  <a:lnTo>
                    <a:pt x="787169" y="1366347"/>
                  </a:lnTo>
                  <a:lnTo>
                    <a:pt x="743124" y="1380029"/>
                  </a:lnTo>
                  <a:lnTo>
                    <a:pt x="697894" y="1390853"/>
                  </a:lnTo>
                  <a:lnTo>
                    <a:pt x="651582" y="1398713"/>
                  </a:lnTo>
                  <a:lnTo>
                    <a:pt x="604293" y="1403507"/>
                  </a:lnTo>
                  <a:lnTo>
                    <a:pt x="556132" y="1405128"/>
                  </a:lnTo>
                  <a:lnTo>
                    <a:pt x="506172" y="1403355"/>
                  </a:lnTo>
                  <a:lnTo>
                    <a:pt x="456808" y="1398092"/>
                  </a:lnTo>
                  <a:lnTo>
                    <a:pt x="408205" y="1389418"/>
                  </a:lnTo>
                  <a:lnTo>
                    <a:pt x="360525" y="1377414"/>
                  </a:lnTo>
                  <a:lnTo>
                    <a:pt x="313933" y="1362159"/>
                  </a:lnTo>
                  <a:lnTo>
                    <a:pt x="268593" y="1343733"/>
                  </a:lnTo>
                  <a:lnTo>
                    <a:pt x="224667" y="1322217"/>
                  </a:lnTo>
                  <a:lnTo>
                    <a:pt x="182321" y="1297691"/>
                  </a:lnTo>
                  <a:lnTo>
                    <a:pt x="141717" y="1270235"/>
                  </a:lnTo>
                  <a:lnTo>
                    <a:pt x="103019" y="1239929"/>
                  </a:lnTo>
                  <a:lnTo>
                    <a:pt x="66391" y="1206853"/>
                  </a:lnTo>
                  <a:lnTo>
                    <a:pt x="31997" y="1171088"/>
                  </a:lnTo>
                  <a:lnTo>
                    <a:pt x="0" y="1132713"/>
                  </a:lnTo>
                </a:path>
              </a:pathLst>
            </a:custGeom>
            <a:noFill/>
            <a:ln w="15240">
              <a:solidFill>
                <a:schemeClr val="tx2">
                  <a:lumMod val="60000"/>
                  <a:lumOff val="40000"/>
                </a:schemeClr>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sz="9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26" name="object 18">
              <a:extLst>
                <a:ext uri="{FF2B5EF4-FFF2-40B4-BE49-F238E27FC236}">
                  <a16:creationId xmlns:a16="http://schemas.microsoft.com/office/drawing/2014/main" id="{521EEBEF-66F4-B65A-F47E-2E4166ED461B}"/>
                </a:ext>
              </a:extLst>
            </p:cNvPr>
            <p:cNvSpPr/>
            <p:nvPr>
              <p:custDataLst>
                <p:tags r:id="rId26"/>
              </p:custDataLst>
            </p:nvPr>
          </p:nvSpPr>
          <p:spPr bwMode="auto">
            <a:xfrm>
              <a:off x="4357464" y="3932132"/>
              <a:ext cx="846327" cy="756357"/>
            </a:xfrm>
            <a:custGeom>
              <a:avLst/>
              <a:gdLst/>
              <a:ahLst/>
              <a:cxnLst/>
              <a:rect l="l" t="t" r="r" b="b"/>
              <a:pathLst>
                <a:path w="1278889" h="1277620">
                  <a:moveTo>
                    <a:pt x="639317" y="0"/>
                  </a:moveTo>
                  <a:lnTo>
                    <a:pt x="687027" y="1751"/>
                  </a:lnTo>
                  <a:lnTo>
                    <a:pt x="733785" y="6923"/>
                  </a:lnTo>
                  <a:lnTo>
                    <a:pt x="779468" y="15392"/>
                  </a:lnTo>
                  <a:lnTo>
                    <a:pt x="823952" y="27034"/>
                  </a:lnTo>
                  <a:lnTo>
                    <a:pt x="867112" y="41727"/>
                  </a:lnTo>
                  <a:lnTo>
                    <a:pt x="908827" y="59346"/>
                  </a:lnTo>
                  <a:lnTo>
                    <a:pt x="948971" y="79769"/>
                  </a:lnTo>
                  <a:lnTo>
                    <a:pt x="987422" y="102871"/>
                  </a:lnTo>
                  <a:lnTo>
                    <a:pt x="1024055" y="128530"/>
                  </a:lnTo>
                  <a:lnTo>
                    <a:pt x="1058747" y="156622"/>
                  </a:lnTo>
                  <a:lnTo>
                    <a:pt x="1091374" y="187023"/>
                  </a:lnTo>
                  <a:lnTo>
                    <a:pt x="1121813" y="219610"/>
                  </a:lnTo>
                  <a:lnTo>
                    <a:pt x="1149940" y="254260"/>
                  </a:lnTo>
                  <a:lnTo>
                    <a:pt x="1175631" y="290849"/>
                  </a:lnTo>
                  <a:lnTo>
                    <a:pt x="1198763" y="329253"/>
                  </a:lnTo>
                  <a:lnTo>
                    <a:pt x="1219212" y="369350"/>
                  </a:lnTo>
                  <a:lnTo>
                    <a:pt x="1236854" y="411016"/>
                  </a:lnTo>
                  <a:lnTo>
                    <a:pt x="1251565" y="454127"/>
                  </a:lnTo>
                  <a:lnTo>
                    <a:pt x="1263223" y="498560"/>
                  </a:lnTo>
                  <a:lnTo>
                    <a:pt x="1271703" y="544191"/>
                  </a:lnTo>
                  <a:lnTo>
                    <a:pt x="1276882" y="590898"/>
                  </a:lnTo>
                  <a:lnTo>
                    <a:pt x="1278636" y="638555"/>
                  </a:lnTo>
                  <a:lnTo>
                    <a:pt x="1276882" y="686213"/>
                  </a:lnTo>
                  <a:lnTo>
                    <a:pt x="1271703" y="732920"/>
                  </a:lnTo>
                  <a:lnTo>
                    <a:pt x="1263223" y="778551"/>
                  </a:lnTo>
                  <a:lnTo>
                    <a:pt x="1251565" y="822984"/>
                  </a:lnTo>
                  <a:lnTo>
                    <a:pt x="1236854" y="866095"/>
                  </a:lnTo>
                  <a:lnTo>
                    <a:pt x="1219212" y="907761"/>
                  </a:lnTo>
                  <a:lnTo>
                    <a:pt x="1198763" y="947858"/>
                  </a:lnTo>
                  <a:lnTo>
                    <a:pt x="1175631" y="986262"/>
                  </a:lnTo>
                  <a:lnTo>
                    <a:pt x="1149940" y="1022851"/>
                  </a:lnTo>
                  <a:lnTo>
                    <a:pt x="1121813" y="1057501"/>
                  </a:lnTo>
                  <a:lnTo>
                    <a:pt x="1091374" y="1090088"/>
                  </a:lnTo>
                  <a:lnTo>
                    <a:pt x="1058747" y="1120489"/>
                  </a:lnTo>
                  <a:lnTo>
                    <a:pt x="1024055" y="1148581"/>
                  </a:lnTo>
                  <a:lnTo>
                    <a:pt x="987422" y="1174240"/>
                  </a:lnTo>
                  <a:lnTo>
                    <a:pt x="948971" y="1197342"/>
                  </a:lnTo>
                  <a:lnTo>
                    <a:pt x="908827" y="1217765"/>
                  </a:lnTo>
                  <a:lnTo>
                    <a:pt x="867112" y="1235384"/>
                  </a:lnTo>
                  <a:lnTo>
                    <a:pt x="823952" y="1250077"/>
                  </a:lnTo>
                  <a:lnTo>
                    <a:pt x="779468" y="1261719"/>
                  </a:lnTo>
                  <a:lnTo>
                    <a:pt x="733785" y="1270188"/>
                  </a:lnTo>
                  <a:lnTo>
                    <a:pt x="687027" y="1275360"/>
                  </a:lnTo>
                  <a:lnTo>
                    <a:pt x="639317" y="1277112"/>
                  </a:lnTo>
                  <a:lnTo>
                    <a:pt x="591608" y="1275360"/>
                  </a:lnTo>
                  <a:lnTo>
                    <a:pt x="544850" y="1270188"/>
                  </a:lnTo>
                  <a:lnTo>
                    <a:pt x="499167" y="1261719"/>
                  </a:lnTo>
                  <a:lnTo>
                    <a:pt x="454683" y="1250077"/>
                  </a:lnTo>
                  <a:lnTo>
                    <a:pt x="411523" y="1235384"/>
                  </a:lnTo>
                  <a:lnTo>
                    <a:pt x="369808" y="1217765"/>
                  </a:lnTo>
                  <a:lnTo>
                    <a:pt x="329664" y="1197342"/>
                  </a:lnTo>
                  <a:lnTo>
                    <a:pt x="291213" y="1174240"/>
                  </a:lnTo>
                  <a:lnTo>
                    <a:pt x="254580" y="1148581"/>
                  </a:lnTo>
                  <a:lnTo>
                    <a:pt x="219888" y="1120489"/>
                  </a:lnTo>
                  <a:lnTo>
                    <a:pt x="187261" y="1090088"/>
                  </a:lnTo>
                  <a:lnTo>
                    <a:pt x="156822" y="1057501"/>
                  </a:lnTo>
                  <a:lnTo>
                    <a:pt x="128695" y="1022851"/>
                  </a:lnTo>
                  <a:lnTo>
                    <a:pt x="103004" y="986262"/>
                  </a:lnTo>
                  <a:lnTo>
                    <a:pt x="79872" y="947858"/>
                  </a:lnTo>
                  <a:lnTo>
                    <a:pt x="59423" y="907761"/>
                  </a:lnTo>
                  <a:lnTo>
                    <a:pt x="41781" y="866095"/>
                  </a:lnTo>
                  <a:lnTo>
                    <a:pt x="27070" y="822984"/>
                  </a:lnTo>
                  <a:lnTo>
                    <a:pt x="15412" y="778551"/>
                  </a:lnTo>
                  <a:lnTo>
                    <a:pt x="6932" y="732920"/>
                  </a:lnTo>
                  <a:lnTo>
                    <a:pt x="1753" y="686213"/>
                  </a:lnTo>
                  <a:lnTo>
                    <a:pt x="0" y="638555"/>
                  </a:lnTo>
                  <a:lnTo>
                    <a:pt x="2217" y="585401"/>
                  </a:lnTo>
                  <a:lnTo>
                    <a:pt x="8812" y="532886"/>
                  </a:lnTo>
                  <a:lnTo>
                    <a:pt x="19696" y="481266"/>
                  </a:lnTo>
                  <a:lnTo>
                    <a:pt x="34782" y="430799"/>
                  </a:lnTo>
                  <a:lnTo>
                    <a:pt x="53981" y="381744"/>
                  </a:lnTo>
                  <a:lnTo>
                    <a:pt x="77206" y="334357"/>
                  </a:lnTo>
                  <a:lnTo>
                    <a:pt x="104368" y="288895"/>
                  </a:lnTo>
                  <a:lnTo>
                    <a:pt x="135382" y="245617"/>
                  </a:lnTo>
                </a:path>
              </a:pathLst>
            </a:custGeom>
            <a:noFill/>
            <a:ln w="15240">
              <a:solidFill>
                <a:schemeClr val="tx2">
                  <a:lumMod val="60000"/>
                  <a:lumOff val="40000"/>
                </a:schemeClr>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sz="9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27" name="object 19">
              <a:extLst>
                <a:ext uri="{FF2B5EF4-FFF2-40B4-BE49-F238E27FC236}">
                  <a16:creationId xmlns:a16="http://schemas.microsoft.com/office/drawing/2014/main" id="{0725C1AA-BB29-B3D9-5ACF-59CFE92C828D}"/>
                </a:ext>
              </a:extLst>
            </p:cNvPr>
            <p:cNvSpPr/>
            <p:nvPr>
              <p:custDataLst>
                <p:tags r:id="rId27"/>
              </p:custDataLst>
            </p:nvPr>
          </p:nvSpPr>
          <p:spPr bwMode="auto">
            <a:xfrm>
              <a:off x="4783705" y="3849621"/>
              <a:ext cx="512413" cy="640840"/>
            </a:xfrm>
            <a:custGeom>
              <a:avLst/>
              <a:gdLst/>
              <a:ahLst/>
              <a:cxnLst/>
              <a:rect l="l" t="t" r="r" b="b"/>
              <a:pathLst>
                <a:path w="772795" h="1082675">
                  <a:moveTo>
                    <a:pt x="0" y="0"/>
                  </a:moveTo>
                  <a:lnTo>
                    <a:pt x="48863" y="1521"/>
                  </a:lnTo>
                  <a:lnTo>
                    <a:pt x="96919" y="6026"/>
                  </a:lnTo>
                  <a:lnTo>
                    <a:pt x="144077" y="13424"/>
                  </a:lnTo>
                  <a:lnTo>
                    <a:pt x="190246" y="23624"/>
                  </a:lnTo>
                  <a:lnTo>
                    <a:pt x="235337" y="36535"/>
                  </a:lnTo>
                  <a:lnTo>
                    <a:pt x="279258" y="52067"/>
                  </a:lnTo>
                  <a:lnTo>
                    <a:pt x="321919" y="70128"/>
                  </a:lnTo>
                  <a:lnTo>
                    <a:pt x="363229" y="90629"/>
                  </a:lnTo>
                  <a:lnTo>
                    <a:pt x="403098" y="113479"/>
                  </a:lnTo>
                  <a:lnTo>
                    <a:pt x="441436" y="138587"/>
                  </a:lnTo>
                  <a:lnTo>
                    <a:pt x="478151" y="165862"/>
                  </a:lnTo>
                  <a:lnTo>
                    <a:pt x="513154" y="195214"/>
                  </a:lnTo>
                  <a:lnTo>
                    <a:pt x="546354" y="226552"/>
                  </a:lnTo>
                  <a:lnTo>
                    <a:pt x="577659" y="259785"/>
                  </a:lnTo>
                  <a:lnTo>
                    <a:pt x="606981" y="294823"/>
                  </a:lnTo>
                  <a:lnTo>
                    <a:pt x="634228" y="331575"/>
                  </a:lnTo>
                  <a:lnTo>
                    <a:pt x="659309" y="369951"/>
                  </a:lnTo>
                  <a:lnTo>
                    <a:pt x="682135" y="409859"/>
                  </a:lnTo>
                  <a:lnTo>
                    <a:pt x="702614" y="451210"/>
                  </a:lnTo>
                  <a:lnTo>
                    <a:pt x="720657" y="493912"/>
                  </a:lnTo>
                  <a:lnTo>
                    <a:pt x="736172" y="537875"/>
                  </a:lnTo>
                  <a:lnTo>
                    <a:pt x="749069" y="583008"/>
                  </a:lnTo>
                  <a:lnTo>
                    <a:pt x="759257" y="629221"/>
                  </a:lnTo>
                  <a:lnTo>
                    <a:pt x="766647" y="676422"/>
                  </a:lnTo>
                  <a:lnTo>
                    <a:pt x="771147" y="724522"/>
                  </a:lnTo>
                  <a:lnTo>
                    <a:pt x="772668" y="773430"/>
                  </a:lnTo>
                  <a:lnTo>
                    <a:pt x="770853" y="826453"/>
                  </a:lnTo>
                  <a:lnTo>
                    <a:pt x="765433" y="879103"/>
                  </a:lnTo>
                  <a:lnTo>
                    <a:pt x="756443" y="931195"/>
                  </a:lnTo>
                  <a:lnTo>
                    <a:pt x="743918" y="982547"/>
                  </a:lnTo>
                  <a:lnTo>
                    <a:pt x="727894" y="1032974"/>
                  </a:lnTo>
                  <a:lnTo>
                    <a:pt x="708406" y="1082294"/>
                  </a:lnTo>
                </a:path>
              </a:pathLst>
            </a:custGeom>
            <a:noFill/>
            <a:ln w="15240">
              <a:solidFill>
                <a:schemeClr val="tx2">
                  <a:lumMod val="60000"/>
                  <a:lumOff val="40000"/>
                </a:schemeClr>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sz="9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29" name="object 41">
              <a:extLst>
                <a:ext uri="{FF2B5EF4-FFF2-40B4-BE49-F238E27FC236}">
                  <a16:creationId xmlns:a16="http://schemas.microsoft.com/office/drawing/2014/main" id="{574330DF-A058-60C7-6B94-1B607AD93C2C}"/>
                </a:ext>
              </a:extLst>
            </p:cNvPr>
            <p:cNvSpPr/>
            <p:nvPr>
              <p:custDataLst>
                <p:tags r:id="rId28"/>
              </p:custDataLst>
            </p:nvPr>
          </p:nvSpPr>
          <p:spPr bwMode="auto">
            <a:xfrm>
              <a:off x="4409782" y="3973389"/>
              <a:ext cx="749384" cy="668345"/>
            </a:xfrm>
            <a:custGeom>
              <a:avLst/>
              <a:gdLst/>
              <a:ahLst/>
              <a:cxnLst/>
              <a:rect l="l" t="t" r="r" b="b"/>
              <a:pathLst>
                <a:path w="1130935" h="1130935">
                  <a:moveTo>
                    <a:pt x="0" y="565404"/>
                  </a:moveTo>
                  <a:lnTo>
                    <a:pt x="2075" y="516614"/>
                  </a:lnTo>
                  <a:lnTo>
                    <a:pt x="8187" y="468978"/>
                  </a:lnTo>
                  <a:lnTo>
                    <a:pt x="18167" y="422665"/>
                  </a:lnTo>
                  <a:lnTo>
                    <a:pt x="31845" y="377844"/>
                  </a:lnTo>
                  <a:lnTo>
                    <a:pt x="49051" y="334686"/>
                  </a:lnTo>
                  <a:lnTo>
                    <a:pt x="69615" y="293360"/>
                  </a:lnTo>
                  <a:lnTo>
                    <a:pt x="93369" y="254034"/>
                  </a:lnTo>
                  <a:lnTo>
                    <a:pt x="120142" y="216881"/>
                  </a:lnTo>
                  <a:lnTo>
                    <a:pt x="149765" y="182067"/>
                  </a:lnTo>
                  <a:lnTo>
                    <a:pt x="182067" y="149765"/>
                  </a:lnTo>
                  <a:lnTo>
                    <a:pt x="216881" y="120142"/>
                  </a:lnTo>
                  <a:lnTo>
                    <a:pt x="254034" y="93369"/>
                  </a:lnTo>
                  <a:lnTo>
                    <a:pt x="293360" y="69615"/>
                  </a:lnTo>
                  <a:lnTo>
                    <a:pt x="334686" y="49051"/>
                  </a:lnTo>
                  <a:lnTo>
                    <a:pt x="377844" y="31845"/>
                  </a:lnTo>
                  <a:lnTo>
                    <a:pt x="422665" y="18167"/>
                  </a:lnTo>
                  <a:lnTo>
                    <a:pt x="468978" y="8187"/>
                  </a:lnTo>
                  <a:lnTo>
                    <a:pt x="516614" y="2075"/>
                  </a:lnTo>
                  <a:lnTo>
                    <a:pt x="565403" y="0"/>
                  </a:lnTo>
                  <a:lnTo>
                    <a:pt x="614193" y="2075"/>
                  </a:lnTo>
                  <a:lnTo>
                    <a:pt x="661829" y="8187"/>
                  </a:lnTo>
                  <a:lnTo>
                    <a:pt x="708142" y="18167"/>
                  </a:lnTo>
                  <a:lnTo>
                    <a:pt x="752963" y="31845"/>
                  </a:lnTo>
                  <a:lnTo>
                    <a:pt x="796121" y="49051"/>
                  </a:lnTo>
                  <a:lnTo>
                    <a:pt x="837447" y="69615"/>
                  </a:lnTo>
                  <a:lnTo>
                    <a:pt x="876773" y="93369"/>
                  </a:lnTo>
                  <a:lnTo>
                    <a:pt x="913926" y="120142"/>
                  </a:lnTo>
                  <a:lnTo>
                    <a:pt x="948740" y="149765"/>
                  </a:lnTo>
                  <a:lnTo>
                    <a:pt x="981042" y="182067"/>
                  </a:lnTo>
                  <a:lnTo>
                    <a:pt x="1010665" y="216881"/>
                  </a:lnTo>
                  <a:lnTo>
                    <a:pt x="1037438" y="254034"/>
                  </a:lnTo>
                  <a:lnTo>
                    <a:pt x="1061192" y="293360"/>
                  </a:lnTo>
                  <a:lnTo>
                    <a:pt x="1081756" y="334686"/>
                  </a:lnTo>
                  <a:lnTo>
                    <a:pt x="1098962" y="377844"/>
                  </a:lnTo>
                  <a:lnTo>
                    <a:pt x="1112640" y="422665"/>
                  </a:lnTo>
                  <a:lnTo>
                    <a:pt x="1122620" y="468978"/>
                  </a:lnTo>
                  <a:lnTo>
                    <a:pt x="1128732" y="516614"/>
                  </a:lnTo>
                  <a:lnTo>
                    <a:pt x="1130807" y="565404"/>
                  </a:lnTo>
                  <a:lnTo>
                    <a:pt x="1128732" y="614193"/>
                  </a:lnTo>
                  <a:lnTo>
                    <a:pt x="1122620" y="661829"/>
                  </a:lnTo>
                  <a:lnTo>
                    <a:pt x="1112640" y="708142"/>
                  </a:lnTo>
                  <a:lnTo>
                    <a:pt x="1098962" y="752963"/>
                  </a:lnTo>
                  <a:lnTo>
                    <a:pt x="1081756" y="796121"/>
                  </a:lnTo>
                  <a:lnTo>
                    <a:pt x="1061192" y="837447"/>
                  </a:lnTo>
                  <a:lnTo>
                    <a:pt x="1037438" y="876773"/>
                  </a:lnTo>
                  <a:lnTo>
                    <a:pt x="1010665" y="913926"/>
                  </a:lnTo>
                  <a:lnTo>
                    <a:pt x="981042" y="948740"/>
                  </a:lnTo>
                  <a:lnTo>
                    <a:pt x="948740" y="981042"/>
                  </a:lnTo>
                  <a:lnTo>
                    <a:pt x="913926" y="1010665"/>
                  </a:lnTo>
                  <a:lnTo>
                    <a:pt x="876773" y="1037438"/>
                  </a:lnTo>
                  <a:lnTo>
                    <a:pt x="837447" y="1061192"/>
                  </a:lnTo>
                  <a:lnTo>
                    <a:pt x="796121" y="1081756"/>
                  </a:lnTo>
                  <a:lnTo>
                    <a:pt x="752963" y="1098962"/>
                  </a:lnTo>
                  <a:lnTo>
                    <a:pt x="708142" y="1112640"/>
                  </a:lnTo>
                  <a:lnTo>
                    <a:pt x="661829" y="1122620"/>
                  </a:lnTo>
                  <a:lnTo>
                    <a:pt x="614193" y="1128732"/>
                  </a:lnTo>
                  <a:lnTo>
                    <a:pt x="565403" y="1130808"/>
                  </a:lnTo>
                  <a:lnTo>
                    <a:pt x="516614" y="1128732"/>
                  </a:lnTo>
                  <a:lnTo>
                    <a:pt x="468978" y="1122620"/>
                  </a:lnTo>
                  <a:lnTo>
                    <a:pt x="422665" y="1112640"/>
                  </a:lnTo>
                  <a:lnTo>
                    <a:pt x="377844" y="1098962"/>
                  </a:lnTo>
                  <a:lnTo>
                    <a:pt x="334686" y="1081756"/>
                  </a:lnTo>
                  <a:lnTo>
                    <a:pt x="293360" y="1061192"/>
                  </a:lnTo>
                  <a:lnTo>
                    <a:pt x="254034" y="1037438"/>
                  </a:lnTo>
                  <a:lnTo>
                    <a:pt x="216881" y="1010665"/>
                  </a:lnTo>
                  <a:lnTo>
                    <a:pt x="182067" y="981042"/>
                  </a:lnTo>
                  <a:lnTo>
                    <a:pt x="149765" y="948740"/>
                  </a:lnTo>
                  <a:lnTo>
                    <a:pt x="120142" y="913926"/>
                  </a:lnTo>
                  <a:lnTo>
                    <a:pt x="93369" y="876773"/>
                  </a:lnTo>
                  <a:lnTo>
                    <a:pt x="69615" y="837447"/>
                  </a:lnTo>
                  <a:lnTo>
                    <a:pt x="49051" y="796121"/>
                  </a:lnTo>
                  <a:lnTo>
                    <a:pt x="31845" y="752963"/>
                  </a:lnTo>
                  <a:lnTo>
                    <a:pt x="18167" y="708142"/>
                  </a:lnTo>
                  <a:lnTo>
                    <a:pt x="8187" y="661829"/>
                  </a:lnTo>
                  <a:lnTo>
                    <a:pt x="2075" y="614193"/>
                  </a:lnTo>
                  <a:lnTo>
                    <a:pt x="0" y="565404"/>
                  </a:lnTo>
                  <a:close/>
                </a:path>
              </a:pathLst>
            </a:custGeom>
            <a:noFill/>
            <a:ln w="19812">
              <a:solidFill>
                <a:schemeClr val="tx2">
                  <a:lumMod val="60000"/>
                  <a:lumOff val="40000"/>
                </a:schemeClr>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sz="9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pic>
          <p:nvPicPr>
            <p:cNvPr id="148" name="Graphic 147" descr="Network diagram with solid fill">
              <a:extLst>
                <a:ext uri="{FF2B5EF4-FFF2-40B4-BE49-F238E27FC236}">
                  <a16:creationId xmlns:a16="http://schemas.microsoft.com/office/drawing/2014/main" id="{7259A852-221A-5160-5FA4-4901816137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a:off x="4568474" y="4114524"/>
              <a:ext cx="432000" cy="386074"/>
            </a:xfrm>
            <a:prstGeom prst="rect">
              <a:avLst/>
            </a:prstGeom>
          </p:spPr>
        </p:pic>
      </p:grpSp>
      <p:grpSp>
        <p:nvGrpSpPr>
          <p:cNvPr id="181" name="Group 180">
            <a:extLst>
              <a:ext uri="{FF2B5EF4-FFF2-40B4-BE49-F238E27FC236}">
                <a16:creationId xmlns:a16="http://schemas.microsoft.com/office/drawing/2014/main" id="{24C52FD3-7E40-A4B7-095F-C3C60DFED6AE}"/>
              </a:ext>
            </a:extLst>
          </p:cNvPr>
          <p:cNvGrpSpPr/>
          <p:nvPr/>
        </p:nvGrpSpPr>
        <p:grpSpPr>
          <a:xfrm>
            <a:off x="6226954" y="4007956"/>
            <a:ext cx="938654" cy="875998"/>
            <a:chOff x="6193778" y="3852155"/>
            <a:chExt cx="938654" cy="875998"/>
          </a:xfrm>
        </p:grpSpPr>
        <p:sp>
          <p:nvSpPr>
            <p:cNvPr id="114" name="object 17">
              <a:extLst>
                <a:ext uri="{FF2B5EF4-FFF2-40B4-BE49-F238E27FC236}">
                  <a16:creationId xmlns:a16="http://schemas.microsoft.com/office/drawing/2014/main" id="{0F422EFF-0BA2-4777-84C7-34658CAD5078}"/>
                </a:ext>
              </a:extLst>
            </p:cNvPr>
            <p:cNvSpPr/>
            <p:nvPr>
              <p:custDataLst>
                <p:tags r:id="rId21"/>
              </p:custDataLst>
            </p:nvPr>
          </p:nvSpPr>
          <p:spPr bwMode="auto">
            <a:xfrm>
              <a:off x="6249174" y="3897536"/>
              <a:ext cx="834017" cy="830617"/>
            </a:xfrm>
            <a:custGeom>
              <a:avLst/>
              <a:gdLst/>
              <a:ahLst/>
              <a:cxnLst/>
              <a:rect l="l" t="t" r="r" b="b"/>
              <a:pathLst>
                <a:path w="1259839" h="1405254">
                  <a:moveTo>
                    <a:pt x="556132" y="0"/>
                  </a:moveTo>
                  <a:lnTo>
                    <a:pt x="604293" y="1620"/>
                  </a:lnTo>
                  <a:lnTo>
                    <a:pt x="651582" y="6414"/>
                  </a:lnTo>
                  <a:lnTo>
                    <a:pt x="697894" y="14274"/>
                  </a:lnTo>
                  <a:lnTo>
                    <a:pt x="743124" y="25098"/>
                  </a:lnTo>
                  <a:lnTo>
                    <a:pt x="787169" y="38780"/>
                  </a:lnTo>
                  <a:lnTo>
                    <a:pt x="829923" y="55215"/>
                  </a:lnTo>
                  <a:lnTo>
                    <a:pt x="871281" y="74299"/>
                  </a:lnTo>
                  <a:lnTo>
                    <a:pt x="911140" y="95927"/>
                  </a:lnTo>
                  <a:lnTo>
                    <a:pt x="949394" y="119994"/>
                  </a:lnTo>
                  <a:lnTo>
                    <a:pt x="985938" y="146397"/>
                  </a:lnTo>
                  <a:lnTo>
                    <a:pt x="1020669" y="175029"/>
                  </a:lnTo>
                  <a:lnTo>
                    <a:pt x="1053480" y="205787"/>
                  </a:lnTo>
                  <a:lnTo>
                    <a:pt x="1084269" y="238566"/>
                  </a:lnTo>
                  <a:lnTo>
                    <a:pt x="1112929" y="273261"/>
                  </a:lnTo>
                  <a:lnTo>
                    <a:pt x="1139356" y="309767"/>
                  </a:lnTo>
                  <a:lnTo>
                    <a:pt x="1163447" y="347980"/>
                  </a:lnTo>
                  <a:lnTo>
                    <a:pt x="1185094" y="387794"/>
                  </a:lnTo>
                  <a:lnTo>
                    <a:pt x="1204196" y="429107"/>
                  </a:lnTo>
                  <a:lnTo>
                    <a:pt x="1220645" y="471812"/>
                  </a:lnTo>
                  <a:lnTo>
                    <a:pt x="1234339" y="515805"/>
                  </a:lnTo>
                  <a:lnTo>
                    <a:pt x="1245172" y="560981"/>
                  </a:lnTo>
                  <a:lnTo>
                    <a:pt x="1253039" y="607236"/>
                  </a:lnTo>
                  <a:lnTo>
                    <a:pt x="1257836" y="654465"/>
                  </a:lnTo>
                  <a:lnTo>
                    <a:pt x="1259459" y="702563"/>
                  </a:lnTo>
                  <a:lnTo>
                    <a:pt x="1257836" y="750662"/>
                  </a:lnTo>
                  <a:lnTo>
                    <a:pt x="1253039" y="797891"/>
                  </a:lnTo>
                  <a:lnTo>
                    <a:pt x="1245172" y="844146"/>
                  </a:lnTo>
                  <a:lnTo>
                    <a:pt x="1234339" y="889322"/>
                  </a:lnTo>
                  <a:lnTo>
                    <a:pt x="1220645" y="933315"/>
                  </a:lnTo>
                  <a:lnTo>
                    <a:pt x="1204196" y="976020"/>
                  </a:lnTo>
                  <a:lnTo>
                    <a:pt x="1185094" y="1017333"/>
                  </a:lnTo>
                  <a:lnTo>
                    <a:pt x="1163447" y="1057147"/>
                  </a:lnTo>
                  <a:lnTo>
                    <a:pt x="1139356" y="1095360"/>
                  </a:lnTo>
                  <a:lnTo>
                    <a:pt x="1112929" y="1131866"/>
                  </a:lnTo>
                  <a:lnTo>
                    <a:pt x="1084269" y="1166561"/>
                  </a:lnTo>
                  <a:lnTo>
                    <a:pt x="1053480" y="1199340"/>
                  </a:lnTo>
                  <a:lnTo>
                    <a:pt x="1020669" y="1230098"/>
                  </a:lnTo>
                  <a:lnTo>
                    <a:pt x="985938" y="1258730"/>
                  </a:lnTo>
                  <a:lnTo>
                    <a:pt x="949394" y="1285133"/>
                  </a:lnTo>
                  <a:lnTo>
                    <a:pt x="911140" y="1309200"/>
                  </a:lnTo>
                  <a:lnTo>
                    <a:pt x="871281" y="1330828"/>
                  </a:lnTo>
                  <a:lnTo>
                    <a:pt x="829923" y="1349912"/>
                  </a:lnTo>
                  <a:lnTo>
                    <a:pt x="787169" y="1366347"/>
                  </a:lnTo>
                  <a:lnTo>
                    <a:pt x="743124" y="1380029"/>
                  </a:lnTo>
                  <a:lnTo>
                    <a:pt x="697894" y="1390853"/>
                  </a:lnTo>
                  <a:lnTo>
                    <a:pt x="651582" y="1398713"/>
                  </a:lnTo>
                  <a:lnTo>
                    <a:pt x="604293" y="1403507"/>
                  </a:lnTo>
                  <a:lnTo>
                    <a:pt x="556132" y="1405128"/>
                  </a:lnTo>
                  <a:lnTo>
                    <a:pt x="506172" y="1403355"/>
                  </a:lnTo>
                  <a:lnTo>
                    <a:pt x="456808" y="1398092"/>
                  </a:lnTo>
                  <a:lnTo>
                    <a:pt x="408205" y="1389418"/>
                  </a:lnTo>
                  <a:lnTo>
                    <a:pt x="360525" y="1377414"/>
                  </a:lnTo>
                  <a:lnTo>
                    <a:pt x="313933" y="1362159"/>
                  </a:lnTo>
                  <a:lnTo>
                    <a:pt x="268593" y="1343733"/>
                  </a:lnTo>
                  <a:lnTo>
                    <a:pt x="224667" y="1322217"/>
                  </a:lnTo>
                  <a:lnTo>
                    <a:pt x="182321" y="1297691"/>
                  </a:lnTo>
                  <a:lnTo>
                    <a:pt x="141717" y="1270235"/>
                  </a:lnTo>
                  <a:lnTo>
                    <a:pt x="103019" y="1239929"/>
                  </a:lnTo>
                  <a:lnTo>
                    <a:pt x="66391" y="1206853"/>
                  </a:lnTo>
                  <a:lnTo>
                    <a:pt x="31997" y="1171088"/>
                  </a:lnTo>
                  <a:lnTo>
                    <a:pt x="0" y="1132713"/>
                  </a:lnTo>
                </a:path>
              </a:pathLst>
            </a:custGeom>
            <a:noFill/>
            <a:ln w="15240">
              <a:solidFill>
                <a:srgbClr val="1CADE4"/>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15" name="object 18">
              <a:extLst>
                <a:ext uri="{FF2B5EF4-FFF2-40B4-BE49-F238E27FC236}">
                  <a16:creationId xmlns:a16="http://schemas.microsoft.com/office/drawing/2014/main" id="{DF4C3749-C8F5-7F75-207E-75F6491A4B95}"/>
                </a:ext>
              </a:extLst>
            </p:cNvPr>
            <p:cNvSpPr/>
            <p:nvPr>
              <p:custDataLst>
                <p:tags r:id="rId22"/>
              </p:custDataLst>
            </p:nvPr>
          </p:nvSpPr>
          <p:spPr bwMode="auto">
            <a:xfrm>
              <a:off x="6193778" y="3934667"/>
              <a:ext cx="846327" cy="756357"/>
            </a:xfrm>
            <a:custGeom>
              <a:avLst/>
              <a:gdLst/>
              <a:ahLst/>
              <a:cxnLst/>
              <a:rect l="l" t="t" r="r" b="b"/>
              <a:pathLst>
                <a:path w="1278889" h="1277620">
                  <a:moveTo>
                    <a:pt x="639317" y="0"/>
                  </a:moveTo>
                  <a:lnTo>
                    <a:pt x="687027" y="1751"/>
                  </a:lnTo>
                  <a:lnTo>
                    <a:pt x="733785" y="6923"/>
                  </a:lnTo>
                  <a:lnTo>
                    <a:pt x="779468" y="15392"/>
                  </a:lnTo>
                  <a:lnTo>
                    <a:pt x="823952" y="27034"/>
                  </a:lnTo>
                  <a:lnTo>
                    <a:pt x="867112" y="41727"/>
                  </a:lnTo>
                  <a:lnTo>
                    <a:pt x="908827" y="59346"/>
                  </a:lnTo>
                  <a:lnTo>
                    <a:pt x="948971" y="79769"/>
                  </a:lnTo>
                  <a:lnTo>
                    <a:pt x="987422" y="102871"/>
                  </a:lnTo>
                  <a:lnTo>
                    <a:pt x="1024055" y="128530"/>
                  </a:lnTo>
                  <a:lnTo>
                    <a:pt x="1058747" y="156622"/>
                  </a:lnTo>
                  <a:lnTo>
                    <a:pt x="1091374" y="187023"/>
                  </a:lnTo>
                  <a:lnTo>
                    <a:pt x="1121813" y="219610"/>
                  </a:lnTo>
                  <a:lnTo>
                    <a:pt x="1149940" y="254260"/>
                  </a:lnTo>
                  <a:lnTo>
                    <a:pt x="1175631" y="290849"/>
                  </a:lnTo>
                  <a:lnTo>
                    <a:pt x="1198763" y="329253"/>
                  </a:lnTo>
                  <a:lnTo>
                    <a:pt x="1219212" y="369350"/>
                  </a:lnTo>
                  <a:lnTo>
                    <a:pt x="1236854" y="411016"/>
                  </a:lnTo>
                  <a:lnTo>
                    <a:pt x="1251565" y="454127"/>
                  </a:lnTo>
                  <a:lnTo>
                    <a:pt x="1263223" y="498560"/>
                  </a:lnTo>
                  <a:lnTo>
                    <a:pt x="1271703" y="544191"/>
                  </a:lnTo>
                  <a:lnTo>
                    <a:pt x="1276882" y="590898"/>
                  </a:lnTo>
                  <a:lnTo>
                    <a:pt x="1278636" y="638555"/>
                  </a:lnTo>
                  <a:lnTo>
                    <a:pt x="1276882" y="686213"/>
                  </a:lnTo>
                  <a:lnTo>
                    <a:pt x="1271703" y="732920"/>
                  </a:lnTo>
                  <a:lnTo>
                    <a:pt x="1263223" y="778551"/>
                  </a:lnTo>
                  <a:lnTo>
                    <a:pt x="1251565" y="822984"/>
                  </a:lnTo>
                  <a:lnTo>
                    <a:pt x="1236854" y="866095"/>
                  </a:lnTo>
                  <a:lnTo>
                    <a:pt x="1219212" y="907761"/>
                  </a:lnTo>
                  <a:lnTo>
                    <a:pt x="1198763" y="947858"/>
                  </a:lnTo>
                  <a:lnTo>
                    <a:pt x="1175631" y="986262"/>
                  </a:lnTo>
                  <a:lnTo>
                    <a:pt x="1149940" y="1022851"/>
                  </a:lnTo>
                  <a:lnTo>
                    <a:pt x="1121813" y="1057501"/>
                  </a:lnTo>
                  <a:lnTo>
                    <a:pt x="1091374" y="1090088"/>
                  </a:lnTo>
                  <a:lnTo>
                    <a:pt x="1058747" y="1120489"/>
                  </a:lnTo>
                  <a:lnTo>
                    <a:pt x="1024055" y="1148581"/>
                  </a:lnTo>
                  <a:lnTo>
                    <a:pt x="987422" y="1174240"/>
                  </a:lnTo>
                  <a:lnTo>
                    <a:pt x="948971" y="1197342"/>
                  </a:lnTo>
                  <a:lnTo>
                    <a:pt x="908827" y="1217765"/>
                  </a:lnTo>
                  <a:lnTo>
                    <a:pt x="867112" y="1235384"/>
                  </a:lnTo>
                  <a:lnTo>
                    <a:pt x="823952" y="1250077"/>
                  </a:lnTo>
                  <a:lnTo>
                    <a:pt x="779468" y="1261719"/>
                  </a:lnTo>
                  <a:lnTo>
                    <a:pt x="733785" y="1270188"/>
                  </a:lnTo>
                  <a:lnTo>
                    <a:pt x="687027" y="1275360"/>
                  </a:lnTo>
                  <a:lnTo>
                    <a:pt x="639317" y="1277112"/>
                  </a:lnTo>
                  <a:lnTo>
                    <a:pt x="591608" y="1275360"/>
                  </a:lnTo>
                  <a:lnTo>
                    <a:pt x="544850" y="1270188"/>
                  </a:lnTo>
                  <a:lnTo>
                    <a:pt x="499167" y="1261719"/>
                  </a:lnTo>
                  <a:lnTo>
                    <a:pt x="454683" y="1250077"/>
                  </a:lnTo>
                  <a:lnTo>
                    <a:pt x="411523" y="1235384"/>
                  </a:lnTo>
                  <a:lnTo>
                    <a:pt x="369808" y="1217765"/>
                  </a:lnTo>
                  <a:lnTo>
                    <a:pt x="329664" y="1197342"/>
                  </a:lnTo>
                  <a:lnTo>
                    <a:pt x="291213" y="1174240"/>
                  </a:lnTo>
                  <a:lnTo>
                    <a:pt x="254580" y="1148581"/>
                  </a:lnTo>
                  <a:lnTo>
                    <a:pt x="219888" y="1120489"/>
                  </a:lnTo>
                  <a:lnTo>
                    <a:pt x="187261" y="1090088"/>
                  </a:lnTo>
                  <a:lnTo>
                    <a:pt x="156822" y="1057501"/>
                  </a:lnTo>
                  <a:lnTo>
                    <a:pt x="128695" y="1022851"/>
                  </a:lnTo>
                  <a:lnTo>
                    <a:pt x="103004" y="986262"/>
                  </a:lnTo>
                  <a:lnTo>
                    <a:pt x="79872" y="947858"/>
                  </a:lnTo>
                  <a:lnTo>
                    <a:pt x="59423" y="907761"/>
                  </a:lnTo>
                  <a:lnTo>
                    <a:pt x="41781" y="866095"/>
                  </a:lnTo>
                  <a:lnTo>
                    <a:pt x="27070" y="822984"/>
                  </a:lnTo>
                  <a:lnTo>
                    <a:pt x="15412" y="778551"/>
                  </a:lnTo>
                  <a:lnTo>
                    <a:pt x="6932" y="732920"/>
                  </a:lnTo>
                  <a:lnTo>
                    <a:pt x="1753" y="686213"/>
                  </a:lnTo>
                  <a:lnTo>
                    <a:pt x="0" y="638555"/>
                  </a:lnTo>
                  <a:lnTo>
                    <a:pt x="2217" y="585401"/>
                  </a:lnTo>
                  <a:lnTo>
                    <a:pt x="8812" y="532886"/>
                  </a:lnTo>
                  <a:lnTo>
                    <a:pt x="19696" y="481266"/>
                  </a:lnTo>
                  <a:lnTo>
                    <a:pt x="34782" y="430799"/>
                  </a:lnTo>
                  <a:lnTo>
                    <a:pt x="53981" y="381744"/>
                  </a:lnTo>
                  <a:lnTo>
                    <a:pt x="77206" y="334357"/>
                  </a:lnTo>
                  <a:lnTo>
                    <a:pt x="104368" y="288895"/>
                  </a:lnTo>
                  <a:lnTo>
                    <a:pt x="135382" y="245617"/>
                  </a:lnTo>
                </a:path>
              </a:pathLst>
            </a:custGeom>
            <a:noFill/>
            <a:ln w="15240">
              <a:solidFill>
                <a:srgbClr val="1CADE4"/>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16" name="object 19">
              <a:extLst>
                <a:ext uri="{FF2B5EF4-FFF2-40B4-BE49-F238E27FC236}">
                  <a16:creationId xmlns:a16="http://schemas.microsoft.com/office/drawing/2014/main" id="{F57B956D-CAD4-C6AB-0F72-F423F42BEEAB}"/>
                </a:ext>
              </a:extLst>
            </p:cNvPr>
            <p:cNvSpPr/>
            <p:nvPr>
              <p:custDataLst>
                <p:tags r:id="rId23"/>
              </p:custDataLst>
            </p:nvPr>
          </p:nvSpPr>
          <p:spPr bwMode="auto">
            <a:xfrm>
              <a:off x="6620020" y="3852155"/>
              <a:ext cx="512412" cy="640840"/>
            </a:xfrm>
            <a:custGeom>
              <a:avLst/>
              <a:gdLst/>
              <a:ahLst/>
              <a:cxnLst/>
              <a:rect l="l" t="t" r="r" b="b"/>
              <a:pathLst>
                <a:path w="772795" h="1082675">
                  <a:moveTo>
                    <a:pt x="0" y="0"/>
                  </a:moveTo>
                  <a:lnTo>
                    <a:pt x="48863" y="1521"/>
                  </a:lnTo>
                  <a:lnTo>
                    <a:pt x="96919" y="6026"/>
                  </a:lnTo>
                  <a:lnTo>
                    <a:pt x="144077" y="13424"/>
                  </a:lnTo>
                  <a:lnTo>
                    <a:pt x="190246" y="23624"/>
                  </a:lnTo>
                  <a:lnTo>
                    <a:pt x="235337" y="36535"/>
                  </a:lnTo>
                  <a:lnTo>
                    <a:pt x="279258" y="52067"/>
                  </a:lnTo>
                  <a:lnTo>
                    <a:pt x="321919" y="70128"/>
                  </a:lnTo>
                  <a:lnTo>
                    <a:pt x="363229" y="90629"/>
                  </a:lnTo>
                  <a:lnTo>
                    <a:pt x="403098" y="113479"/>
                  </a:lnTo>
                  <a:lnTo>
                    <a:pt x="441436" y="138587"/>
                  </a:lnTo>
                  <a:lnTo>
                    <a:pt x="478151" y="165862"/>
                  </a:lnTo>
                  <a:lnTo>
                    <a:pt x="513154" y="195214"/>
                  </a:lnTo>
                  <a:lnTo>
                    <a:pt x="546354" y="226552"/>
                  </a:lnTo>
                  <a:lnTo>
                    <a:pt x="577659" y="259785"/>
                  </a:lnTo>
                  <a:lnTo>
                    <a:pt x="606981" y="294823"/>
                  </a:lnTo>
                  <a:lnTo>
                    <a:pt x="634228" y="331575"/>
                  </a:lnTo>
                  <a:lnTo>
                    <a:pt x="659309" y="369951"/>
                  </a:lnTo>
                  <a:lnTo>
                    <a:pt x="682135" y="409859"/>
                  </a:lnTo>
                  <a:lnTo>
                    <a:pt x="702614" y="451210"/>
                  </a:lnTo>
                  <a:lnTo>
                    <a:pt x="720657" y="493912"/>
                  </a:lnTo>
                  <a:lnTo>
                    <a:pt x="736172" y="537875"/>
                  </a:lnTo>
                  <a:lnTo>
                    <a:pt x="749069" y="583008"/>
                  </a:lnTo>
                  <a:lnTo>
                    <a:pt x="759257" y="629221"/>
                  </a:lnTo>
                  <a:lnTo>
                    <a:pt x="766647" y="676422"/>
                  </a:lnTo>
                  <a:lnTo>
                    <a:pt x="771147" y="724522"/>
                  </a:lnTo>
                  <a:lnTo>
                    <a:pt x="772668" y="773430"/>
                  </a:lnTo>
                  <a:lnTo>
                    <a:pt x="770853" y="826453"/>
                  </a:lnTo>
                  <a:lnTo>
                    <a:pt x="765433" y="879103"/>
                  </a:lnTo>
                  <a:lnTo>
                    <a:pt x="756443" y="931195"/>
                  </a:lnTo>
                  <a:lnTo>
                    <a:pt x="743918" y="982547"/>
                  </a:lnTo>
                  <a:lnTo>
                    <a:pt x="727894" y="1032974"/>
                  </a:lnTo>
                  <a:lnTo>
                    <a:pt x="708406" y="1082294"/>
                  </a:lnTo>
                </a:path>
              </a:pathLst>
            </a:custGeom>
            <a:noFill/>
            <a:ln w="15240">
              <a:solidFill>
                <a:srgbClr val="1CADE4"/>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18" name="object 41">
              <a:extLst>
                <a:ext uri="{FF2B5EF4-FFF2-40B4-BE49-F238E27FC236}">
                  <a16:creationId xmlns:a16="http://schemas.microsoft.com/office/drawing/2014/main" id="{745E61E8-3D62-C10B-243C-3127A4ECE2A8}"/>
                </a:ext>
              </a:extLst>
            </p:cNvPr>
            <p:cNvSpPr/>
            <p:nvPr>
              <p:custDataLst>
                <p:tags r:id="rId24"/>
              </p:custDataLst>
            </p:nvPr>
          </p:nvSpPr>
          <p:spPr bwMode="auto">
            <a:xfrm>
              <a:off x="6246096" y="3975923"/>
              <a:ext cx="749385" cy="668344"/>
            </a:xfrm>
            <a:custGeom>
              <a:avLst/>
              <a:gdLst/>
              <a:ahLst/>
              <a:cxnLst/>
              <a:rect l="l" t="t" r="r" b="b"/>
              <a:pathLst>
                <a:path w="1130935" h="1130935">
                  <a:moveTo>
                    <a:pt x="0" y="565404"/>
                  </a:moveTo>
                  <a:lnTo>
                    <a:pt x="2075" y="516614"/>
                  </a:lnTo>
                  <a:lnTo>
                    <a:pt x="8187" y="468978"/>
                  </a:lnTo>
                  <a:lnTo>
                    <a:pt x="18167" y="422665"/>
                  </a:lnTo>
                  <a:lnTo>
                    <a:pt x="31845" y="377844"/>
                  </a:lnTo>
                  <a:lnTo>
                    <a:pt x="49051" y="334686"/>
                  </a:lnTo>
                  <a:lnTo>
                    <a:pt x="69615" y="293360"/>
                  </a:lnTo>
                  <a:lnTo>
                    <a:pt x="93369" y="254034"/>
                  </a:lnTo>
                  <a:lnTo>
                    <a:pt x="120142" y="216881"/>
                  </a:lnTo>
                  <a:lnTo>
                    <a:pt x="149765" y="182067"/>
                  </a:lnTo>
                  <a:lnTo>
                    <a:pt x="182067" y="149765"/>
                  </a:lnTo>
                  <a:lnTo>
                    <a:pt x="216881" y="120142"/>
                  </a:lnTo>
                  <a:lnTo>
                    <a:pt x="254034" y="93369"/>
                  </a:lnTo>
                  <a:lnTo>
                    <a:pt x="293360" y="69615"/>
                  </a:lnTo>
                  <a:lnTo>
                    <a:pt x="334686" y="49051"/>
                  </a:lnTo>
                  <a:lnTo>
                    <a:pt x="377844" y="31845"/>
                  </a:lnTo>
                  <a:lnTo>
                    <a:pt x="422665" y="18167"/>
                  </a:lnTo>
                  <a:lnTo>
                    <a:pt x="468978" y="8187"/>
                  </a:lnTo>
                  <a:lnTo>
                    <a:pt x="516614" y="2075"/>
                  </a:lnTo>
                  <a:lnTo>
                    <a:pt x="565403" y="0"/>
                  </a:lnTo>
                  <a:lnTo>
                    <a:pt x="614193" y="2075"/>
                  </a:lnTo>
                  <a:lnTo>
                    <a:pt x="661829" y="8187"/>
                  </a:lnTo>
                  <a:lnTo>
                    <a:pt x="708142" y="18167"/>
                  </a:lnTo>
                  <a:lnTo>
                    <a:pt x="752963" y="31845"/>
                  </a:lnTo>
                  <a:lnTo>
                    <a:pt x="796121" y="49051"/>
                  </a:lnTo>
                  <a:lnTo>
                    <a:pt x="837447" y="69615"/>
                  </a:lnTo>
                  <a:lnTo>
                    <a:pt x="876773" y="93369"/>
                  </a:lnTo>
                  <a:lnTo>
                    <a:pt x="913926" y="120142"/>
                  </a:lnTo>
                  <a:lnTo>
                    <a:pt x="948740" y="149765"/>
                  </a:lnTo>
                  <a:lnTo>
                    <a:pt x="981042" y="182067"/>
                  </a:lnTo>
                  <a:lnTo>
                    <a:pt x="1010665" y="216881"/>
                  </a:lnTo>
                  <a:lnTo>
                    <a:pt x="1037438" y="254034"/>
                  </a:lnTo>
                  <a:lnTo>
                    <a:pt x="1061192" y="293360"/>
                  </a:lnTo>
                  <a:lnTo>
                    <a:pt x="1081756" y="334686"/>
                  </a:lnTo>
                  <a:lnTo>
                    <a:pt x="1098962" y="377844"/>
                  </a:lnTo>
                  <a:lnTo>
                    <a:pt x="1112640" y="422665"/>
                  </a:lnTo>
                  <a:lnTo>
                    <a:pt x="1122620" y="468978"/>
                  </a:lnTo>
                  <a:lnTo>
                    <a:pt x="1128732" y="516614"/>
                  </a:lnTo>
                  <a:lnTo>
                    <a:pt x="1130807" y="565404"/>
                  </a:lnTo>
                  <a:lnTo>
                    <a:pt x="1128732" y="614193"/>
                  </a:lnTo>
                  <a:lnTo>
                    <a:pt x="1122620" y="661829"/>
                  </a:lnTo>
                  <a:lnTo>
                    <a:pt x="1112640" y="708142"/>
                  </a:lnTo>
                  <a:lnTo>
                    <a:pt x="1098962" y="752963"/>
                  </a:lnTo>
                  <a:lnTo>
                    <a:pt x="1081756" y="796121"/>
                  </a:lnTo>
                  <a:lnTo>
                    <a:pt x="1061192" y="837447"/>
                  </a:lnTo>
                  <a:lnTo>
                    <a:pt x="1037438" y="876773"/>
                  </a:lnTo>
                  <a:lnTo>
                    <a:pt x="1010665" y="913926"/>
                  </a:lnTo>
                  <a:lnTo>
                    <a:pt x="981042" y="948740"/>
                  </a:lnTo>
                  <a:lnTo>
                    <a:pt x="948740" y="981042"/>
                  </a:lnTo>
                  <a:lnTo>
                    <a:pt x="913926" y="1010665"/>
                  </a:lnTo>
                  <a:lnTo>
                    <a:pt x="876773" y="1037438"/>
                  </a:lnTo>
                  <a:lnTo>
                    <a:pt x="837447" y="1061192"/>
                  </a:lnTo>
                  <a:lnTo>
                    <a:pt x="796121" y="1081756"/>
                  </a:lnTo>
                  <a:lnTo>
                    <a:pt x="752963" y="1098962"/>
                  </a:lnTo>
                  <a:lnTo>
                    <a:pt x="708142" y="1112640"/>
                  </a:lnTo>
                  <a:lnTo>
                    <a:pt x="661829" y="1122620"/>
                  </a:lnTo>
                  <a:lnTo>
                    <a:pt x="614193" y="1128732"/>
                  </a:lnTo>
                  <a:lnTo>
                    <a:pt x="565403" y="1130808"/>
                  </a:lnTo>
                  <a:lnTo>
                    <a:pt x="516614" y="1128732"/>
                  </a:lnTo>
                  <a:lnTo>
                    <a:pt x="468978" y="1122620"/>
                  </a:lnTo>
                  <a:lnTo>
                    <a:pt x="422665" y="1112640"/>
                  </a:lnTo>
                  <a:lnTo>
                    <a:pt x="377844" y="1098962"/>
                  </a:lnTo>
                  <a:lnTo>
                    <a:pt x="334686" y="1081756"/>
                  </a:lnTo>
                  <a:lnTo>
                    <a:pt x="293360" y="1061192"/>
                  </a:lnTo>
                  <a:lnTo>
                    <a:pt x="254034" y="1037438"/>
                  </a:lnTo>
                  <a:lnTo>
                    <a:pt x="216881" y="1010665"/>
                  </a:lnTo>
                  <a:lnTo>
                    <a:pt x="182067" y="981042"/>
                  </a:lnTo>
                  <a:lnTo>
                    <a:pt x="149765" y="948740"/>
                  </a:lnTo>
                  <a:lnTo>
                    <a:pt x="120142" y="913926"/>
                  </a:lnTo>
                  <a:lnTo>
                    <a:pt x="93369" y="876773"/>
                  </a:lnTo>
                  <a:lnTo>
                    <a:pt x="69615" y="837447"/>
                  </a:lnTo>
                  <a:lnTo>
                    <a:pt x="49051" y="796121"/>
                  </a:lnTo>
                  <a:lnTo>
                    <a:pt x="31845" y="752963"/>
                  </a:lnTo>
                  <a:lnTo>
                    <a:pt x="18167" y="708142"/>
                  </a:lnTo>
                  <a:lnTo>
                    <a:pt x="8187" y="661829"/>
                  </a:lnTo>
                  <a:lnTo>
                    <a:pt x="2075" y="614193"/>
                  </a:lnTo>
                  <a:lnTo>
                    <a:pt x="0" y="565404"/>
                  </a:lnTo>
                  <a:close/>
                </a:path>
              </a:pathLst>
            </a:custGeom>
            <a:noFill/>
            <a:ln w="19812">
              <a:solidFill>
                <a:srgbClr val="1CADE4"/>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pic>
          <p:nvPicPr>
            <p:cNvPr id="149" name="Graphic 148" descr="Monitor with solid fill">
              <a:extLst>
                <a:ext uri="{FF2B5EF4-FFF2-40B4-BE49-F238E27FC236}">
                  <a16:creationId xmlns:a16="http://schemas.microsoft.com/office/drawing/2014/main" id="{6A6F903A-F8C1-634D-C38B-63047BE8166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2"/>
                </a:ext>
              </a:extLst>
            </a:blip>
            <a:stretch>
              <a:fillRect/>
            </a:stretch>
          </p:blipFill>
          <p:spPr>
            <a:xfrm>
              <a:off x="6404788" y="4117058"/>
              <a:ext cx="432000" cy="386074"/>
            </a:xfrm>
            <a:prstGeom prst="rect">
              <a:avLst/>
            </a:prstGeom>
          </p:spPr>
        </p:pic>
      </p:grpSp>
      <p:grpSp>
        <p:nvGrpSpPr>
          <p:cNvPr id="182" name="Group 181">
            <a:extLst>
              <a:ext uri="{FF2B5EF4-FFF2-40B4-BE49-F238E27FC236}">
                <a16:creationId xmlns:a16="http://schemas.microsoft.com/office/drawing/2014/main" id="{2B99D882-28BF-503C-46EC-A0F29DAC9185}"/>
              </a:ext>
            </a:extLst>
          </p:cNvPr>
          <p:cNvGrpSpPr/>
          <p:nvPr/>
        </p:nvGrpSpPr>
        <p:grpSpPr>
          <a:xfrm>
            <a:off x="8052065" y="4007956"/>
            <a:ext cx="938657" cy="875998"/>
            <a:chOff x="8197095" y="3847315"/>
            <a:chExt cx="938657" cy="875998"/>
          </a:xfrm>
        </p:grpSpPr>
        <p:sp>
          <p:nvSpPr>
            <p:cNvPr id="131" name="object 17">
              <a:extLst>
                <a:ext uri="{FF2B5EF4-FFF2-40B4-BE49-F238E27FC236}">
                  <a16:creationId xmlns:a16="http://schemas.microsoft.com/office/drawing/2014/main" id="{48882F42-6B40-7248-963E-DB5CF10F8B61}"/>
                </a:ext>
              </a:extLst>
            </p:cNvPr>
            <p:cNvSpPr/>
            <p:nvPr>
              <p:custDataLst>
                <p:tags r:id="rId17"/>
              </p:custDataLst>
            </p:nvPr>
          </p:nvSpPr>
          <p:spPr bwMode="auto">
            <a:xfrm>
              <a:off x="8252491" y="3892696"/>
              <a:ext cx="834020" cy="830617"/>
            </a:xfrm>
            <a:custGeom>
              <a:avLst/>
              <a:gdLst/>
              <a:ahLst/>
              <a:cxnLst/>
              <a:rect l="l" t="t" r="r" b="b"/>
              <a:pathLst>
                <a:path w="1259839" h="1405254">
                  <a:moveTo>
                    <a:pt x="556132" y="0"/>
                  </a:moveTo>
                  <a:lnTo>
                    <a:pt x="604293" y="1620"/>
                  </a:lnTo>
                  <a:lnTo>
                    <a:pt x="651582" y="6414"/>
                  </a:lnTo>
                  <a:lnTo>
                    <a:pt x="697894" y="14274"/>
                  </a:lnTo>
                  <a:lnTo>
                    <a:pt x="743124" y="25098"/>
                  </a:lnTo>
                  <a:lnTo>
                    <a:pt x="787169" y="38780"/>
                  </a:lnTo>
                  <a:lnTo>
                    <a:pt x="829923" y="55215"/>
                  </a:lnTo>
                  <a:lnTo>
                    <a:pt x="871281" y="74299"/>
                  </a:lnTo>
                  <a:lnTo>
                    <a:pt x="911140" y="95927"/>
                  </a:lnTo>
                  <a:lnTo>
                    <a:pt x="949394" y="119994"/>
                  </a:lnTo>
                  <a:lnTo>
                    <a:pt x="985938" y="146397"/>
                  </a:lnTo>
                  <a:lnTo>
                    <a:pt x="1020669" y="175029"/>
                  </a:lnTo>
                  <a:lnTo>
                    <a:pt x="1053480" y="205787"/>
                  </a:lnTo>
                  <a:lnTo>
                    <a:pt x="1084269" y="238566"/>
                  </a:lnTo>
                  <a:lnTo>
                    <a:pt x="1112929" y="273261"/>
                  </a:lnTo>
                  <a:lnTo>
                    <a:pt x="1139356" y="309767"/>
                  </a:lnTo>
                  <a:lnTo>
                    <a:pt x="1163447" y="347980"/>
                  </a:lnTo>
                  <a:lnTo>
                    <a:pt x="1185094" y="387794"/>
                  </a:lnTo>
                  <a:lnTo>
                    <a:pt x="1204196" y="429107"/>
                  </a:lnTo>
                  <a:lnTo>
                    <a:pt x="1220645" y="471812"/>
                  </a:lnTo>
                  <a:lnTo>
                    <a:pt x="1234339" y="515805"/>
                  </a:lnTo>
                  <a:lnTo>
                    <a:pt x="1245172" y="560981"/>
                  </a:lnTo>
                  <a:lnTo>
                    <a:pt x="1253039" y="607236"/>
                  </a:lnTo>
                  <a:lnTo>
                    <a:pt x="1257836" y="654465"/>
                  </a:lnTo>
                  <a:lnTo>
                    <a:pt x="1259459" y="702563"/>
                  </a:lnTo>
                  <a:lnTo>
                    <a:pt x="1257836" y="750662"/>
                  </a:lnTo>
                  <a:lnTo>
                    <a:pt x="1253039" y="797891"/>
                  </a:lnTo>
                  <a:lnTo>
                    <a:pt x="1245172" y="844146"/>
                  </a:lnTo>
                  <a:lnTo>
                    <a:pt x="1234339" y="889322"/>
                  </a:lnTo>
                  <a:lnTo>
                    <a:pt x="1220645" y="933315"/>
                  </a:lnTo>
                  <a:lnTo>
                    <a:pt x="1204196" y="976020"/>
                  </a:lnTo>
                  <a:lnTo>
                    <a:pt x="1185094" y="1017333"/>
                  </a:lnTo>
                  <a:lnTo>
                    <a:pt x="1163447" y="1057147"/>
                  </a:lnTo>
                  <a:lnTo>
                    <a:pt x="1139356" y="1095360"/>
                  </a:lnTo>
                  <a:lnTo>
                    <a:pt x="1112929" y="1131866"/>
                  </a:lnTo>
                  <a:lnTo>
                    <a:pt x="1084269" y="1166561"/>
                  </a:lnTo>
                  <a:lnTo>
                    <a:pt x="1053480" y="1199340"/>
                  </a:lnTo>
                  <a:lnTo>
                    <a:pt x="1020669" y="1230098"/>
                  </a:lnTo>
                  <a:lnTo>
                    <a:pt x="985938" y="1258730"/>
                  </a:lnTo>
                  <a:lnTo>
                    <a:pt x="949394" y="1285133"/>
                  </a:lnTo>
                  <a:lnTo>
                    <a:pt x="911140" y="1309200"/>
                  </a:lnTo>
                  <a:lnTo>
                    <a:pt x="871281" y="1330828"/>
                  </a:lnTo>
                  <a:lnTo>
                    <a:pt x="829923" y="1349912"/>
                  </a:lnTo>
                  <a:lnTo>
                    <a:pt x="787169" y="1366347"/>
                  </a:lnTo>
                  <a:lnTo>
                    <a:pt x="743124" y="1380029"/>
                  </a:lnTo>
                  <a:lnTo>
                    <a:pt x="697894" y="1390853"/>
                  </a:lnTo>
                  <a:lnTo>
                    <a:pt x="651582" y="1398713"/>
                  </a:lnTo>
                  <a:lnTo>
                    <a:pt x="604293" y="1403507"/>
                  </a:lnTo>
                  <a:lnTo>
                    <a:pt x="556132" y="1405128"/>
                  </a:lnTo>
                  <a:lnTo>
                    <a:pt x="506172" y="1403355"/>
                  </a:lnTo>
                  <a:lnTo>
                    <a:pt x="456808" y="1398092"/>
                  </a:lnTo>
                  <a:lnTo>
                    <a:pt x="408205" y="1389418"/>
                  </a:lnTo>
                  <a:lnTo>
                    <a:pt x="360525" y="1377414"/>
                  </a:lnTo>
                  <a:lnTo>
                    <a:pt x="313933" y="1362159"/>
                  </a:lnTo>
                  <a:lnTo>
                    <a:pt x="268593" y="1343733"/>
                  </a:lnTo>
                  <a:lnTo>
                    <a:pt x="224667" y="1322217"/>
                  </a:lnTo>
                  <a:lnTo>
                    <a:pt x="182321" y="1297691"/>
                  </a:lnTo>
                  <a:lnTo>
                    <a:pt x="141717" y="1270235"/>
                  </a:lnTo>
                  <a:lnTo>
                    <a:pt x="103019" y="1239929"/>
                  </a:lnTo>
                  <a:lnTo>
                    <a:pt x="66391" y="1206853"/>
                  </a:lnTo>
                  <a:lnTo>
                    <a:pt x="31997" y="1171088"/>
                  </a:lnTo>
                  <a:lnTo>
                    <a:pt x="0" y="1132713"/>
                  </a:lnTo>
                </a:path>
              </a:pathLst>
            </a:custGeom>
            <a:noFill/>
            <a:ln w="15240">
              <a:solidFill>
                <a:srgbClr val="1CADE4"/>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32" name="object 18">
              <a:extLst>
                <a:ext uri="{FF2B5EF4-FFF2-40B4-BE49-F238E27FC236}">
                  <a16:creationId xmlns:a16="http://schemas.microsoft.com/office/drawing/2014/main" id="{842B6A06-4A56-F588-10E7-BF3EB2C73908}"/>
                </a:ext>
              </a:extLst>
            </p:cNvPr>
            <p:cNvSpPr/>
            <p:nvPr>
              <p:custDataLst>
                <p:tags r:id="rId18"/>
              </p:custDataLst>
            </p:nvPr>
          </p:nvSpPr>
          <p:spPr bwMode="auto">
            <a:xfrm>
              <a:off x="8197095" y="3929827"/>
              <a:ext cx="846330" cy="756357"/>
            </a:xfrm>
            <a:custGeom>
              <a:avLst/>
              <a:gdLst/>
              <a:ahLst/>
              <a:cxnLst/>
              <a:rect l="l" t="t" r="r" b="b"/>
              <a:pathLst>
                <a:path w="1278889" h="1277620">
                  <a:moveTo>
                    <a:pt x="639317" y="0"/>
                  </a:moveTo>
                  <a:lnTo>
                    <a:pt x="687027" y="1751"/>
                  </a:lnTo>
                  <a:lnTo>
                    <a:pt x="733785" y="6923"/>
                  </a:lnTo>
                  <a:lnTo>
                    <a:pt x="779468" y="15392"/>
                  </a:lnTo>
                  <a:lnTo>
                    <a:pt x="823952" y="27034"/>
                  </a:lnTo>
                  <a:lnTo>
                    <a:pt x="867112" y="41727"/>
                  </a:lnTo>
                  <a:lnTo>
                    <a:pt x="908827" y="59346"/>
                  </a:lnTo>
                  <a:lnTo>
                    <a:pt x="948971" y="79769"/>
                  </a:lnTo>
                  <a:lnTo>
                    <a:pt x="987422" y="102871"/>
                  </a:lnTo>
                  <a:lnTo>
                    <a:pt x="1024055" y="128530"/>
                  </a:lnTo>
                  <a:lnTo>
                    <a:pt x="1058747" y="156622"/>
                  </a:lnTo>
                  <a:lnTo>
                    <a:pt x="1091374" y="187023"/>
                  </a:lnTo>
                  <a:lnTo>
                    <a:pt x="1121813" y="219610"/>
                  </a:lnTo>
                  <a:lnTo>
                    <a:pt x="1149940" y="254260"/>
                  </a:lnTo>
                  <a:lnTo>
                    <a:pt x="1175631" y="290849"/>
                  </a:lnTo>
                  <a:lnTo>
                    <a:pt x="1198763" y="329253"/>
                  </a:lnTo>
                  <a:lnTo>
                    <a:pt x="1219212" y="369350"/>
                  </a:lnTo>
                  <a:lnTo>
                    <a:pt x="1236854" y="411016"/>
                  </a:lnTo>
                  <a:lnTo>
                    <a:pt x="1251565" y="454127"/>
                  </a:lnTo>
                  <a:lnTo>
                    <a:pt x="1263223" y="498560"/>
                  </a:lnTo>
                  <a:lnTo>
                    <a:pt x="1271703" y="544191"/>
                  </a:lnTo>
                  <a:lnTo>
                    <a:pt x="1276882" y="590898"/>
                  </a:lnTo>
                  <a:lnTo>
                    <a:pt x="1278636" y="638555"/>
                  </a:lnTo>
                  <a:lnTo>
                    <a:pt x="1276882" y="686213"/>
                  </a:lnTo>
                  <a:lnTo>
                    <a:pt x="1271703" y="732920"/>
                  </a:lnTo>
                  <a:lnTo>
                    <a:pt x="1263223" y="778551"/>
                  </a:lnTo>
                  <a:lnTo>
                    <a:pt x="1251565" y="822984"/>
                  </a:lnTo>
                  <a:lnTo>
                    <a:pt x="1236854" y="866095"/>
                  </a:lnTo>
                  <a:lnTo>
                    <a:pt x="1219212" y="907761"/>
                  </a:lnTo>
                  <a:lnTo>
                    <a:pt x="1198763" y="947858"/>
                  </a:lnTo>
                  <a:lnTo>
                    <a:pt x="1175631" y="986262"/>
                  </a:lnTo>
                  <a:lnTo>
                    <a:pt x="1149940" y="1022851"/>
                  </a:lnTo>
                  <a:lnTo>
                    <a:pt x="1121813" y="1057501"/>
                  </a:lnTo>
                  <a:lnTo>
                    <a:pt x="1091374" y="1090088"/>
                  </a:lnTo>
                  <a:lnTo>
                    <a:pt x="1058747" y="1120489"/>
                  </a:lnTo>
                  <a:lnTo>
                    <a:pt x="1024055" y="1148581"/>
                  </a:lnTo>
                  <a:lnTo>
                    <a:pt x="987422" y="1174240"/>
                  </a:lnTo>
                  <a:lnTo>
                    <a:pt x="948971" y="1197342"/>
                  </a:lnTo>
                  <a:lnTo>
                    <a:pt x="908827" y="1217765"/>
                  </a:lnTo>
                  <a:lnTo>
                    <a:pt x="867112" y="1235384"/>
                  </a:lnTo>
                  <a:lnTo>
                    <a:pt x="823952" y="1250077"/>
                  </a:lnTo>
                  <a:lnTo>
                    <a:pt x="779468" y="1261719"/>
                  </a:lnTo>
                  <a:lnTo>
                    <a:pt x="733785" y="1270188"/>
                  </a:lnTo>
                  <a:lnTo>
                    <a:pt x="687027" y="1275360"/>
                  </a:lnTo>
                  <a:lnTo>
                    <a:pt x="639317" y="1277112"/>
                  </a:lnTo>
                  <a:lnTo>
                    <a:pt x="591608" y="1275360"/>
                  </a:lnTo>
                  <a:lnTo>
                    <a:pt x="544850" y="1270188"/>
                  </a:lnTo>
                  <a:lnTo>
                    <a:pt x="499167" y="1261719"/>
                  </a:lnTo>
                  <a:lnTo>
                    <a:pt x="454683" y="1250077"/>
                  </a:lnTo>
                  <a:lnTo>
                    <a:pt x="411523" y="1235384"/>
                  </a:lnTo>
                  <a:lnTo>
                    <a:pt x="369808" y="1217765"/>
                  </a:lnTo>
                  <a:lnTo>
                    <a:pt x="329664" y="1197342"/>
                  </a:lnTo>
                  <a:lnTo>
                    <a:pt x="291213" y="1174240"/>
                  </a:lnTo>
                  <a:lnTo>
                    <a:pt x="254580" y="1148581"/>
                  </a:lnTo>
                  <a:lnTo>
                    <a:pt x="219888" y="1120489"/>
                  </a:lnTo>
                  <a:lnTo>
                    <a:pt x="187261" y="1090088"/>
                  </a:lnTo>
                  <a:lnTo>
                    <a:pt x="156822" y="1057501"/>
                  </a:lnTo>
                  <a:lnTo>
                    <a:pt x="128695" y="1022851"/>
                  </a:lnTo>
                  <a:lnTo>
                    <a:pt x="103004" y="986262"/>
                  </a:lnTo>
                  <a:lnTo>
                    <a:pt x="79872" y="947858"/>
                  </a:lnTo>
                  <a:lnTo>
                    <a:pt x="59423" y="907761"/>
                  </a:lnTo>
                  <a:lnTo>
                    <a:pt x="41781" y="866095"/>
                  </a:lnTo>
                  <a:lnTo>
                    <a:pt x="27070" y="822984"/>
                  </a:lnTo>
                  <a:lnTo>
                    <a:pt x="15412" y="778551"/>
                  </a:lnTo>
                  <a:lnTo>
                    <a:pt x="6932" y="732920"/>
                  </a:lnTo>
                  <a:lnTo>
                    <a:pt x="1753" y="686213"/>
                  </a:lnTo>
                  <a:lnTo>
                    <a:pt x="0" y="638555"/>
                  </a:lnTo>
                  <a:lnTo>
                    <a:pt x="2217" y="585401"/>
                  </a:lnTo>
                  <a:lnTo>
                    <a:pt x="8812" y="532886"/>
                  </a:lnTo>
                  <a:lnTo>
                    <a:pt x="19696" y="481266"/>
                  </a:lnTo>
                  <a:lnTo>
                    <a:pt x="34782" y="430799"/>
                  </a:lnTo>
                  <a:lnTo>
                    <a:pt x="53981" y="381744"/>
                  </a:lnTo>
                  <a:lnTo>
                    <a:pt x="77206" y="334357"/>
                  </a:lnTo>
                  <a:lnTo>
                    <a:pt x="104368" y="288895"/>
                  </a:lnTo>
                  <a:lnTo>
                    <a:pt x="135382" y="245617"/>
                  </a:lnTo>
                </a:path>
              </a:pathLst>
            </a:custGeom>
            <a:noFill/>
            <a:ln w="15240">
              <a:solidFill>
                <a:srgbClr val="1CADE4"/>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33" name="object 19">
              <a:extLst>
                <a:ext uri="{FF2B5EF4-FFF2-40B4-BE49-F238E27FC236}">
                  <a16:creationId xmlns:a16="http://schemas.microsoft.com/office/drawing/2014/main" id="{DB892C81-3E5C-2E90-EA1F-E294E776DAF6}"/>
                </a:ext>
              </a:extLst>
            </p:cNvPr>
            <p:cNvSpPr/>
            <p:nvPr>
              <p:custDataLst>
                <p:tags r:id="rId19"/>
              </p:custDataLst>
            </p:nvPr>
          </p:nvSpPr>
          <p:spPr bwMode="auto">
            <a:xfrm>
              <a:off x="8623337" y="3847315"/>
              <a:ext cx="512415" cy="640841"/>
            </a:xfrm>
            <a:custGeom>
              <a:avLst/>
              <a:gdLst/>
              <a:ahLst/>
              <a:cxnLst/>
              <a:rect l="l" t="t" r="r" b="b"/>
              <a:pathLst>
                <a:path w="772795" h="1082675">
                  <a:moveTo>
                    <a:pt x="0" y="0"/>
                  </a:moveTo>
                  <a:lnTo>
                    <a:pt x="48863" y="1521"/>
                  </a:lnTo>
                  <a:lnTo>
                    <a:pt x="96919" y="6026"/>
                  </a:lnTo>
                  <a:lnTo>
                    <a:pt x="144077" y="13424"/>
                  </a:lnTo>
                  <a:lnTo>
                    <a:pt x="190246" y="23624"/>
                  </a:lnTo>
                  <a:lnTo>
                    <a:pt x="235337" y="36535"/>
                  </a:lnTo>
                  <a:lnTo>
                    <a:pt x="279258" y="52067"/>
                  </a:lnTo>
                  <a:lnTo>
                    <a:pt x="321919" y="70128"/>
                  </a:lnTo>
                  <a:lnTo>
                    <a:pt x="363229" y="90629"/>
                  </a:lnTo>
                  <a:lnTo>
                    <a:pt x="403098" y="113479"/>
                  </a:lnTo>
                  <a:lnTo>
                    <a:pt x="441436" y="138587"/>
                  </a:lnTo>
                  <a:lnTo>
                    <a:pt x="478151" y="165862"/>
                  </a:lnTo>
                  <a:lnTo>
                    <a:pt x="513154" y="195214"/>
                  </a:lnTo>
                  <a:lnTo>
                    <a:pt x="546354" y="226552"/>
                  </a:lnTo>
                  <a:lnTo>
                    <a:pt x="577659" y="259785"/>
                  </a:lnTo>
                  <a:lnTo>
                    <a:pt x="606981" y="294823"/>
                  </a:lnTo>
                  <a:lnTo>
                    <a:pt x="634228" y="331575"/>
                  </a:lnTo>
                  <a:lnTo>
                    <a:pt x="659309" y="369951"/>
                  </a:lnTo>
                  <a:lnTo>
                    <a:pt x="682135" y="409859"/>
                  </a:lnTo>
                  <a:lnTo>
                    <a:pt x="702614" y="451210"/>
                  </a:lnTo>
                  <a:lnTo>
                    <a:pt x="720657" y="493912"/>
                  </a:lnTo>
                  <a:lnTo>
                    <a:pt x="736172" y="537875"/>
                  </a:lnTo>
                  <a:lnTo>
                    <a:pt x="749069" y="583008"/>
                  </a:lnTo>
                  <a:lnTo>
                    <a:pt x="759257" y="629221"/>
                  </a:lnTo>
                  <a:lnTo>
                    <a:pt x="766647" y="676422"/>
                  </a:lnTo>
                  <a:lnTo>
                    <a:pt x="771147" y="724522"/>
                  </a:lnTo>
                  <a:lnTo>
                    <a:pt x="772668" y="773430"/>
                  </a:lnTo>
                  <a:lnTo>
                    <a:pt x="770853" y="826453"/>
                  </a:lnTo>
                  <a:lnTo>
                    <a:pt x="765433" y="879103"/>
                  </a:lnTo>
                  <a:lnTo>
                    <a:pt x="756443" y="931195"/>
                  </a:lnTo>
                  <a:lnTo>
                    <a:pt x="743918" y="982547"/>
                  </a:lnTo>
                  <a:lnTo>
                    <a:pt x="727894" y="1032974"/>
                  </a:lnTo>
                  <a:lnTo>
                    <a:pt x="708406" y="1082294"/>
                  </a:lnTo>
                </a:path>
              </a:pathLst>
            </a:custGeom>
            <a:noFill/>
            <a:ln w="15240">
              <a:solidFill>
                <a:srgbClr val="1CADE4"/>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35" name="object 41">
              <a:extLst>
                <a:ext uri="{FF2B5EF4-FFF2-40B4-BE49-F238E27FC236}">
                  <a16:creationId xmlns:a16="http://schemas.microsoft.com/office/drawing/2014/main" id="{BE1103D5-94AF-A0BE-CE63-D875778EB8E2}"/>
                </a:ext>
              </a:extLst>
            </p:cNvPr>
            <p:cNvSpPr/>
            <p:nvPr>
              <p:custDataLst>
                <p:tags r:id="rId20"/>
              </p:custDataLst>
            </p:nvPr>
          </p:nvSpPr>
          <p:spPr bwMode="auto">
            <a:xfrm>
              <a:off x="8249414" y="3971082"/>
              <a:ext cx="749386" cy="668344"/>
            </a:xfrm>
            <a:custGeom>
              <a:avLst/>
              <a:gdLst/>
              <a:ahLst/>
              <a:cxnLst/>
              <a:rect l="l" t="t" r="r" b="b"/>
              <a:pathLst>
                <a:path w="1130935" h="1130935">
                  <a:moveTo>
                    <a:pt x="0" y="565404"/>
                  </a:moveTo>
                  <a:lnTo>
                    <a:pt x="2075" y="516614"/>
                  </a:lnTo>
                  <a:lnTo>
                    <a:pt x="8187" y="468978"/>
                  </a:lnTo>
                  <a:lnTo>
                    <a:pt x="18167" y="422665"/>
                  </a:lnTo>
                  <a:lnTo>
                    <a:pt x="31845" y="377844"/>
                  </a:lnTo>
                  <a:lnTo>
                    <a:pt x="49051" y="334686"/>
                  </a:lnTo>
                  <a:lnTo>
                    <a:pt x="69615" y="293360"/>
                  </a:lnTo>
                  <a:lnTo>
                    <a:pt x="93369" y="254034"/>
                  </a:lnTo>
                  <a:lnTo>
                    <a:pt x="120142" y="216881"/>
                  </a:lnTo>
                  <a:lnTo>
                    <a:pt x="149765" y="182067"/>
                  </a:lnTo>
                  <a:lnTo>
                    <a:pt x="182067" y="149765"/>
                  </a:lnTo>
                  <a:lnTo>
                    <a:pt x="216881" y="120142"/>
                  </a:lnTo>
                  <a:lnTo>
                    <a:pt x="254034" y="93369"/>
                  </a:lnTo>
                  <a:lnTo>
                    <a:pt x="293360" y="69615"/>
                  </a:lnTo>
                  <a:lnTo>
                    <a:pt x="334686" y="49051"/>
                  </a:lnTo>
                  <a:lnTo>
                    <a:pt x="377844" y="31845"/>
                  </a:lnTo>
                  <a:lnTo>
                    <a:pt x="422665" y="18167"/>
                  </a:lnTo>
                  <a:lnTo>
                    <a:pt x="468978" y="8187"/>
                  </a:lnTo>
                  <a:lnTo>
                    <a:pt x="516614" y="2075"/>
                  </a:lnTo>
                  <a:lnTo>
                    <a:pt x="565403" y="0"/>
                  </a:lnTo>
                  <a:lnTo>
                    <a:pt x="614193" y="2075"/>
                  </a:lnTo>
                  <a:lnTo>
                    <a:pt x="661829" y="8187"/>
                  </a:lnTo>
                  <a:lnTo>
                    <a:pt x="708142" y="18167"/>
                  </a:lnTo>
                  <a:lnTo>
                    <a:pt x="752963" y="31845"/>
                  </a:lnTo>
                  <a:lnTo>
                    <a:pt x="796121" y="49051"/>
                  </a:lnTo>
                  <a:lnTo>
                    <a:pt x="837447" y="69615"/>
                  </a:lnTo>
                  <a:lnTo>
                    <a:pt x="876773" y="93369"/>
                  </a:lnTo>
                  <a:lnTo>
                    <a:pt x="913926" y="120142"/>
                  </a:lnTo>
                  <a:lnTo>
                    <a:pt x="948740" y="149765"/>
                  </a:lnTo>
                  <a:lnTo>
                    <a:pt x="981042" y="182067"/>
                  </a:lnTo>
                  <a:lnTo>
                    <a:pt x="1010665" y="216881"/>
                  </a:lnTo>
                  <a:lnTo>
                    <a:pt x="1037438" y="254034"/>
                  </a:lnTo>
                  <a:lnTo>
                    <a:pt x="1061192" y="293360"/>
                  </a:lnTo>
                  <a:lnTo>
                    <a:pt x="1081756" y="334686"/>
                  </a:lnTo>
                  <a:lnTo>
                    <a:pt x="1098962" y="377844"/>
                  </a:lnTo>
                  <a:lnTo>
                    <a:pt x="1112640" y="422665"/>
                  </a:lnTo>
                  <a:lnTo>
                    <a:pt x="1122620" y="468978"/>
                  </a:lnTo>
                  <a:lnTo>
                    <a:pt x="1128732" y="516614"/>
                  </a:lnTo>
                  <a:lnTo>
                    <a:pt x="1130807" y="565404"/>
                  </a:lnTo>
                  <a:lnTo>
                    <a:pt x="1128732" y="614193"/>
                  </a:lnTo>
                  <a:lnTo>
                    <a:pt x="1122620" y="661829"/>
                  </a:lnTo>
                  <a:lnTo>
                    <a:pt x="1112640" y="708142"/>
                  </a:lnTo>
                  <a:lnTo>
                    <a:pt x="1098962" y="752963"/>
                  </a:lnTo>
                  <a:lnTo>
                    <a:pt x="1081756" y="796121"/>
                  </a:lnTo>
                  <a:lnTo>
                    <a:pt x="1061192" y="837447"/>
                  </a:lnTo>
                  <a:lnTo>
                    <a:pt x="1037438" y="876773"/>
                  </a:lnTo>
                  <a:lnTo>
                    <a:pt x="1010665" y="913926"/>
                  </a:lnTo>
                  <a:lnTo>
                    <a:pt x="981042" y="948740"/>
                  </a:lnTo>
                  <a:lnTo>
                    <a:pt x="948740" y="981042"/>
                  </a:lnTo>
                  <a:lnTo>
                    <a:pt x="913926" y="1010665"/>
                  </a:lnTo>
                  <a:lnTo>
                    <a:pt x="876773" y="1037438"/>
                  </a:lnTo>
                  <a:lnTo>
                    <a:pt x="837447" y="1061192"/>
                  </a:lnTo>
                  <a:lnTo>
                    <a:pt x="796121" y="1081756"/>
                  </a:lnTo>
                  <a:lnTo>
                    <a:pt x="752963" y="1098962"/>
                  </a:lnTo>
                  <a:lnTo>
                    <a:pt x="708142" y="1112640"/>
                  </a:lnTo>
                  <a:lnTo>
                    <a:pt x="661829" y="1122620"/>
                  </a:lnTo>
                  <a:lnTo>
                    <a:pt x="614193" y="1128732"/>
                  </a:lnTo>
                  <a:lnTo>
                    <a:pt x="565403" y="1130808"/>
                  </a:lnTo>
                  <a:lnTo>
                    <a:pt x="516614" y="1128732"/>
                  </a:lnTo>
                  <a:lnTo>
                    <a:pt x="468978" y="1122620"/>
                  </a:lnTo>
                  <a:lnTo>
                    <a:pt x="422665" y="1112640"/>
                  </a:lnTo>
                  <a:lnTo>
                    <a:pt x="377844" y="1098962"/>
                  </a:lnTo>
                  <a:lnTo>
                    <a:pt x="334686" y="1081756"/>
                  </a:lnTo>
                  <a:lnTo>
                    <a:pt x="293360" y="1061192"/>
                  </a:lnTo>
                  <a:lnTo>
                    <a:pt x="254034" y="1037438"/>
                  </a:lnTo>
                  <a:lnTo>
                    <a:pt x="216881" y="1010665"/>
                  </a:lnTo>
                  <a:lnTo>
                    <a:pt x="182067" y="981042"/>
                  </a:lnTo>
                  <a:lnTo>
                    <a:pt x="149765" y="948740"/>
                  </a:lnTo>
                  <a:lnTo>
                    <a:pt x="120142" y="913926"/>
                  </a:lnTo>
                  <a:lnTo>
                    <a:pt x="93369" y="876773"/>
                  </a:lnTo>
                  <a:lnTo>
                    <a:pt x="69615" y="837447"/>
                  </a:lnTo>
                  <a:lnTo>
                    <a:pt x="49051" y="796121"/>
                  </a:lnTo>
                  <a:lnTo>
                    <a:pt x="31845" y="752963"/>
                  </a:lnTo>
                  <a:lnTo>
                    <a:pt x="18167" y="708142"/>
                  </a:lnTo>
                  <a:lnTo>
                    <a:pt x="8187" y="661829"/>
                  </a:lnTo>
                  <a:lnTo>
                    <a:pt x="2075" y="614193"/>
                  </a:lnTo>
                  <a:lnTo>
                    <a:pt x="0" y="565404"/>
                  </a:lnTo>
                  <a:close/>
                </a:path>
              </a:pathLst>
            </a:custGeom>
            <a:noFill/>
            <a:ln w="19812">
              <a:solidFill>
                <a:srgbClr val="1CADE4"/>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pic>
          <p:nvPicPr>
            <p:cNvPr id="150" name="Graphic 149" descr="Teacher with solid fill">
              <a:extLst>
                <a:ext uri="{FF2B5EF4-FFF2-40B4-BE49-F238E27FC236}">
                  <a16:creationId xmlns:a16="http://schemas.microsoft.com/office/drawing/2014/main" id="{BA61A6A6-5AF6-6649-53F2-DF29EEDA87F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3"/>
                </a:ext>
              </a:extLst>
            </a:blip>
            <a:stretch>
              <a:fillRect/>
            </a:stretch>
          </p:blipFill>
          <p:spPr>
            <a:xfrm>
              <a:off x="8408107" y="4112217"/>
              <a:ext cx="432000" cy="386074"/>
            </a:xfrm>
            <a:prstGeom prst="rect">
              <a:avLst/>
            </a:prstGeom>
          </p:spPr>
        </p:pic>
      </p:grpSp>
      <p:grpSp>
        <p:nvGrpSpPr>
          <p:cNvPr id="183" name="Group 182">
            <a:extLst>
              <a:ext uri="{FF2B5EF4-FFF2-40B4-BE49-F238E27FC236}">
                <a16:creationId xmlns:a16="http://schemas.microsoft.com/office/drawing/2014/main" id="{2A7048C2-8FF6-DC43-EFD4-A13A7C49BCB9}"/>
              </a:ext>
            </a:extLst>
          </p:cNvPr>
          <p:cNvGrpSpPr/>
          <p:nvPr/>
        </p:nvGrpSpPr>
        <p:grpSpPr>
          <a:xfrm>
            <a:off x="9877179" y="4007956"/>
            <a:ext cx="938657" cy="875998"/>
            <a:chOff x="9881466" y="3859252"/>
            <a:chExt cx="938657" cy="875998"/>
          </a:xfrm>
        </p:grpSpPr>
        <p:sp>
          <p:nvSpPr>
            <p:cNvPr id="141" name="object 17">
              <a:extLst>
                <a:ext uri="{FF2B5EF4-FFF2-40B4-BE49-F238E27FC236}">
                  <a16:creationId xmlns:a16="http://schemas.microsoft.com/office/drawing/2014/main" id="{824E233C-5130-3AD0-59A6-898E97336D2C}"/>
                </a:ext>
              </a:extLst>
            </p:cNvPr>
            <p:cNvSpPr/>
            <p:nvPr>
              <p:custDataLst>
                <p:tags r:id="rId13"/>
              </p:custDataLst>
            </p:nvPr>
          </p:nvSpPr>
          <p:spPr bwMode="auto">
            <a:xfrm>
              <a:off x="9936862" y="3904633"/>
              <a:ext cx="834020" cy="830617"/>
            </a:xfrm>
            <a:custGeom>
              <a:avLst/>
              <a:gdLst/>
              <a:ahLst/>
              <a:cxnLst/>
              <a:rect l="l" t="t" r="r" b="b"/>
              <a:pathLst>
                <a:path w="1259839" h="1405254">
                  <a:moveTo>
                    <a:pt x="556132" y="0"/>
                  </a:moveTo>
                  <a:lnTo>
                    <a:pt x="604293" y="1620"/>
                  </a:lnTo>
                  <a:lnTo>
                    <a:pt x="651582" y="6414"/>
                  </a:lnTo>
                  <a:lnTo>
                    <a:pt x="697894" y="14274"/>
                  </a:lnTo>
                  <a:lnTo>
                    <a:pt x="743124" y="25098"/>
                  </a:lnTo>
                  <a:lnTo>
                    <a:pt x="787169" y="38780"/>
                  </a:lnTo>
                  <a:lnTo>
                    <a:pt x="829923" y="55215"/>
                  </a:lnTo>
                  <a:lnTo>
                    <a:pt x="871281" y="74299"/>
                  </a:lnTo>
                  <a:lnTo>
                    <a:pt x="911140" y="95927"/>
                  </a:lnTo>
                  <a:lnTo>
                    <a:pt x="949394" y="119994"/>
                  </a:lnTo>
                  <a:lnTo>
                    <a:pt x="985938" y="146397"/>
                  </a:lnTo>
                  <a:lnTo>
                    <a:pt x="1020669" y="175029"/>
                  </a:lnTo>
                  <a:lnTo>
                    <a:pt x="1053480" y="205787"/>
                  </a:lnTo>
                  <a:lnTo>
                    <a:pt x="1084269" y="238566"/>
                  </a:lnTo>
                  <a:lnTo>
                    <a:pt x="1112929" y="273261"/>
                  </a:lnTo>
                  <a:lnTo>
                    <a:pt x="1139356" y="309767"/>
                  </a:lnTo>
                  <a:lnTo>
                    <a:pt x="1163447" y="347980"/>
                  </a:lnTo>
                  <a:lnTo>
                    <a:pt x="1185094" y="387794"/>
                  </a:lnTo>
                  <a:lnTo>
                    <a:pt x="1204196" y="429107"/>
                  </a:lnTo>
                  <a:lnTo>
                    <a:pt x="1220645" y="471812"/>
                  </a:lnTo>
                  <a:lnTo>
                    <a:pt x="1234339" y="515805"/>
                  </a:lnTo>
                  <a:lnTo>
                    <a:pt x="1245172" y="560981"/>
                  </a:lnTo>
                  <a:lnTo>
                    <a:pt x="1253039" y="607236"/>
                  </a:lnTo>
                  <a:lnTo>
                    <a:pt x="1257836" y="654465"/>
                  </a:lnTo>
                  <a:lnTo>
                    <a:pt x="1259459" y="702563"/>
                  </a:lnTo>
                  <a:lnTo>
                    <a:pt x="1257836" y="750662"/>
                  </a:lnTo>
                  <a:lnTo>
                    <a:pt x="1253039" y="797891"/>
                  </a:lnTo>
                  <a:lnTo>
                    <a:pt x="1245172" y="844146"/>
                  </a:lnTo>
                  <a:lnTo>
                    <a:pt x="1234339" y="889322"/>
                  </a:lnTo>
                  <a:lnTo>
                    <a:pt x="1220645" y="933315"/>
                  </a:lnTo>
                  <a:lnTo>
                    <a:pt x="1204196" y="976020"/>
                  </a:lnTo>
                  <a:lnTo>
                    <a:pt x="1185094" y="1017333"/>
                  </a:lnTo>
                  <a:lnTo>
                    <a:pt x="1163447" y="1057147"/>
                  </a:lnTo>
                  <a:lnTo>
                    <a:pt x="1139356" y="1095360"/>
                  </a:lnTo>
                  <a:lnTo>
                    <a:pt x="1112929" y="1131866"/>
                  </a:lnTo>
                  <a:lnTo>
                    <a:pt x="1084269" y="1166561"/>
                  </a:lnTo>
                  <a:lnTo>
                    <a:pt x="1053480" y="1199340"/>
                  </a:lnTo>
                  <a:lnTo>
                    <a:pt x="1020669" y="1230098"/>
                  </a:lnTo>
                  <a:lnTo>
                    <a:pt x="985938" y="1258730"/>
                  </a:lnTo>
                  <a:lnTo>
                    <a:pt x="949394" y="1285133"/>
                  </a:lnTo>
                  <a:lnTo>
                    <a:pt x="911140" y="1309200"/>
                  </a:lnTo>
                  <a:lnTo>
                    <a:pt x="871281" y="1330828"/>
                  </a:lnTo>
                  <a:lnTo>
                    <a:pt x="829923" y="1349912"/>
                  </a:lnTo>
                  <a:lnTo>
                    <a:pt x="787169" y="1366347"/>
                  </a:lnTo>
                  <a:lnTo>
                    <a:pt x="743124" y="1380029"/>
                  </a:lnTo>
                  <a:lnTo>
                    <a:pt x="697894" y="1390853"/>
                  </a:lnTo>
                  <a:lnTo>
                    <a:pt x="651582" y="1398713"/>
                  </a:lnTo>
                  <a:lnTo>
                    <a:pt x="604293" y="1403507"/>
                  </a:lnTo>
                  <a:lnTo>
                    <a:pt x="556132" y="1405128"/>
                  </a:lnTo>
                  <a:lnTo>
                    <a:pt x="506172" y="1403355"/>
                  </a:lnTo>
                  <a:lnTo>
                    <a:pt x="456808" y="1398092"/>
                  </a:lnTo>
                  <a:lnTo>
                    <a:pt x="408205" y="1389418"/>
                  </a:lnTo>
                  <a:lnTo>
                    <a:pt x="360525" y="1377414"/>
                  </a:lnTo>
                  <a:lnTo>
                    <a:pt x="313933" y="1362159"/>
                  </a:lnTo>
                  <a:lnTo>
                    <a:pt x="268593" y="1343733"/>
                  </a:lnTo>
                  <a:lnTo>
                    <a:pt x="224667" y="1322217"/>
                  </a:lnTo>
                  <a:lnTo>
                    <a:pt x="182321" y="1297691"/>
                  </a:lnTo>
                  <a:lnTo>
                    <a:pt x="141717" y="1270235"/>
                  </a:lnTo>
                  <a:lnTo>
                    <a:pt x="103019" y="1239929"/>
                  </a:lnTo>
                  <a:lnTo>
                    <a:pt x="66391" y="1206853"/>
                  </a:lnTo>
                  <a:lnTo>
                    <a:pt x="31997" y="1171088"/>
                  </a:lnTo>
                  <a:lnTo>
                    <a:pt x="0" y="1132713"/>
                  </a:lnTo>
                </a:path>
              </a:pathLst>
            </a:custGeom>
            <a:noFill/>
            <a:ln w="15240">
              <a:solidFill>
                <a:srgbClr val="1CADE4"/>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42" name="object 18">
              <a:extLst>
                <a:ext uri="{FF2B5EF4-FFF2-40B4-BE49-F238E27FC236}">
                  <a16:creationId xmlns:a16="http://schemas.microsoft.com/office/drawing/2014/main" id="{B1D2C288-8EBD-40DD-6B5C-97F584320E1A}"/>
                </a:ext>
              </a:extLst>
            </p:cNvPr>
            <p:cNvSpPr/>
            <p:nvPr>
              <p:custDataLst>
                <p:tags r:id="rId14"/>
              </p:custDataLst>
            </p:nvPr>
          </p:nvSpPr>
          <p:spPr bwMode="auto">
            <a:xfrm>
              <a:off x="9881466" y="3941764"/>
              <a:ext cx="846330" cy="756357"/>
            </a:xfrm>
            <a:custGeom>
              <a:avLst/>
              <a:gdLst/>
              <a:ahLst/>
              <a:cxnLst/>
              <a:rect l="l" t="t" r="r" b="b"/>
              <a:pathLst>
                <a:path w="1278889" h="1277620">
                  <a:moveTo>
                    <a:pt x="639317" y="0"/>
                  </a:moveTo>
                  <a:lnTo>
                    <a:pt x="687027" y="1751"/>
                  </a:lnTo>
                  <a:lnTo>
                    <a:pt x="733785" y="6923"/>
                  </a:lnTo>
                  <a:lnTo>
                    <a:pt x="779468" y="15392"/>
                  </a:lnTo>
                  <a:lnTo>
                    <a:pt x="823952" y="27034"/>
                  </a:lnTo>
                  <a:lnTo>
                    <a:pt x="867112" y="41727"/>
                  </a:lnTo>
                  <a:lnTo>
                    <a:pt x="908827" y="59346"/>
                  </a:lnTo>
                  <a:lnTo>
                    <a:pt x="948971" y="79769"/>
                  </a:lnTo>
                  <a:lnTo>
                    <a:pt x="987422" y="102871"/>
                  </a:lnTo>
                  <a:lnTo>
                    <a:pt x="1024055" y="128530"/>
                  </a:lnTo>
                  <a:lnTo>
                    <a:pt x="1058747" y="156622"/>
                  </a:lnTo>
                  <a:lnTo>
                    <a:pt x="1091374" y="187023"/>
                  </a:lnTo>
                  <a:lnTo>
                    <a:pt x="1121813" y="219610"/>
                  </a:lnTo>
                  <a:lnTo>
                    <a:pt x="1149940" y="254260"/>
                  </a:lnTo>
                  <a:lnTo>
                    <a:pt x="1175631" y="290849"/>
                  </a:lnTo>
                  <a:lnTo>
                    <a:pt x="1198763" y="329253"/>
                  </a:lnTo>
                  <a:lnTo>
                    <a:pt x="1219212" y="369350"/>
                  </a:lnTo>
                  <a:lnTo>
                    <a:pt x="1236854" y="411016"/>
                  </a:lnTo>
                  <a:lnTo>
                    <a:pt x="1251565" y="454127"/>
                  </a:lnTo>
                  <a:lnTo>
                    <a:pt x="1263223" y="498560"/>
                  </a:lnTo>
                  <a:lnTo>
                    <a:pt x="1271703" y="544191"/>
                  </a:lnTo>
                  <a:lnTo>
                    <a:pt x="1276882" y="590898"/>
                  </a:lnTo>
                  <a:lnTo>
                    <a:pt x="1278636" y="638555"/>
                  </a:lnTo>
                  <a:lnTo>
                    <a:pt x="1276882" y="686213"/>
                  </a:lnTo>
                  <a:lnTo>
                    <a:pt x="1271703" y="732920"/>
                  </a:lnTo>
                  <a:lnTo>
                    <a:pt x="1263223" y="778551"/>
                  </a:lnTo>
                  <a:lnTo>
                    <a:pt x="1251565" y="822984"/>
                  </a:lnTo>
                  <a:lnTo>
                    <a:pt x="1236854" y="866095"/>
                  </a:lnTo>
                  <a:lnTo>
                    <a:pt x="1219212" y="907761"/>
                  </a:lnTo>
                  <a:lnTo>
                    <a:pt x="1198763" y="947858"/>
                  </a:lnTo>
                  <a:lnTo>
                    <a:pt x="1175631" y="986262"/>
                  </a:lnTo>
                  <a:lnTo>
                    <a:pt x="1149940" y="1022851"/>
                  </a:lnTo>
                  <a:lnTo>
                    <a:pt x="1121813" y="1057501"/>
                  </a:lnTo>
                  <a:lnTo>
                    <a:pt x="1091374" y="1090088"/>
                  </a:lnTo>
                  <a:lnTo>
                    <a:pt x="1058747" y="1120489"/>
                  </a:lnTo>
                  <a:lnTo>
                    <a:pt x="1024055" y="1148581"/>
                  </a:lnTo>
                  <a:lnTo>
                    <a:pt x="987422" y="1174240"/>
                  </a:lnTo>
                  <a:lnTo>
                    <a:pt x="948971" y="1197342"/>
                  </a:lnTo>
                  <a:lnTo>
                    <a:pt x="908827" y="1217765"/>
                  </a:lnTo>
                  <a:lnTo>
                    <a:pt x="867112" y="1235384"/>
                  </a:lnTo>
                  <a:lnTo>
                    <a:pt x="823952" y="1250077"/>
                  </a:lnTo>
                  <a:lnTo>
                    <a:pt x="779468" y="1261719"/>
                  </a:lnTo>
                  <a:lnTo>
                    <a:pt x="733785" y="1270188"/>
                  </a:lnTo>
                  <a:lnTo>
                    <a:pt x="687027" y="1275360"/>
                  </a:lnTo>
                  <a:lnTo>
                    <a:pt x="639317" y="1277112"/>
                  </a:lnTo>
                  <a:lnTo>
                    <a:pt x="591608" y="1275360"/>
                  </a:lnTo>
                  <a:lnTo>
                    <a:pt x="544850" y="1270188"/>
                  </a:lnTo>
                  <a:lnTo>
                    <a:pt x="499167" y="1261719"/>
                  </a:lnTo>
                  <a:lnTo>
                    <a:pt x="454683" y="1250077"/>
                  </a:lnTo>
                  <a:lnTo>
                    <a:pt x="411523" y="1235384"/>
                  </a:lnTo>
                  <a:lnTo>
                    <a:pt x="369808" y="1217765"/>
                  </a:lnTo>
                  <a:lnTo>
                    <a:pt x="329664" y="1197342"/>
                  </a:lnTo>
                  <a:lnTo>
                    <a:pt x="291213" y="1174240"/>
                  </a:lnTo>
                  <a:lnTo>
                    <a:pt x="254580" y="1148581"/>
                  </a:lnTo>
                  <a:lnTo>
                    <a:pt x="219888" y="1120489"/>
                  </a:lnTo>
                  <a:lnTo>
                    <a:pt x="187261" y="1090088"/>
                  </a:lnTo>
                  <a:lnTo>
                    <a:pt x="156822" y="1057501"/>
                  </a:lnTo>
                  <a:lnTo>
                    <a:pt x="128695" y="1022851"/>
                  </a:lnTo>
                  <a:lnTo>
                    <a:pt x="103004" y="986262"/>
                  </a:lnTo>
                  <a:lnTo>
                    <a:pt x="79872" y="947858"/>
                  </a:lnTo>
                  <a:lnTo>
                    <a:pt x="59423" y="907761"/>
                  </a:lnTo>
                  <a:lnTo>
                    <a:pt x="41781" y="866095"/>
                  </a:lnTo>
                  <a:lnTo>
                    <a:pt x="27070" y="822984"/>
                  </a:lnTo>
                  <a:lnTo>
                    <a:pt x="15412" y="778551"/>
                  </a:lnTo>
                  <a:lnTo>
                    <a:pt x="6932" y="732920"/>
                  </a:lnTo>
                  <a:lnTo>
                    <a:pt x="1753" y="686213"/>
                  </a:lnTo>
                  <a:lnTo>
                    <a:pt x="0" y="638555"/>
                  </a:lnTo>
                  <a:lnTo>
                    <a:pt x="2217" y="585401"/>
                  </a:lnTo>
                  <a:lnTo>
                    <a:pt x="8812" y="532886"/>
                  </a:lnTo>
                  <a:lnTo>
                    <a:pt x="19696" y="481266"/>
                  </a:lnTo>
                  <a:lnTo>
                    <a:pt x="34782" y="430799"/>
                  </a:lnTo>
                  <a:lnTo>
                    <a:pt x="53981" y="381744"/>
                  </a:lnTo>
                  <a:lnTo>
                    <a:pt x="77206" y="334357"/>
                  </a:lnTo>
                  <a:lnTo>
                    <a:pt x="104368" y="288895"/>
                  </a:lnTo>
                  <a:lnTo>
                    <a:pt x="135382" y="245617"/>
                  </a:lnTo>
                </a:path>
              </a:pathLst>
            </a:custGeom>
            <a:noFill/>
            <a:ln w="15240">
              <a:solidFill>
                <a:srgbClr val="1CADE4"/>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43" name="object 19">
              <a:extLst>
                <a:ext uri="{FF2B5EF4-FFF2-40B4-BE49-F238E27FC236}">
                  <a16:creationId xmlns:a16="http://schemas.microsoft.com/office/drawing/2014/main" id="{09693A52-A0E2-B171-7E92-8B43B96760B1}"/>
                </a:ext>
              </a:extLst>
            </p:cNvPr>
            <p:cNvSpPr/>
            <p:nvPr>
              <p:custDataLst>
                <p:tags r:id="rId15"/>
              </p:custDataLst>
            </p:nvPr>
          </p:nvSpPr>
          <p:spPr bwMode="auto">
            <a:xfrm>
              <a:off x="10307708" y="3859252"/>
              <a:ext cx="512415" cy="640841"/>
            </a:xfrm>
            <a:custGeom>
              <a:avLst/>
              <a:gdLst/>
              <a:ahLst/>
              <a:cxnLst/>
              <a:rect l="l" t="t" r="r" b="b"/>
              <a:pathLst>
                <a:path w="772795" h="1082675">
                  <a:moveTo>
                    <a:pt x="0" y="0"/>
                  </a:moveTo>
                  <a:lnTo>
                    <a:pt x="48863" y="1521"/>
                  </a:lnTo>
                  <a:lnTo>
                    <a:pt x="96919" y="6026"/>
                  </a:lnTo>
                  <a:lnTo>
                    <a:pt x="144077" y="13424"/>
                  </a:lnTo>
                  <a:lnTo>
                    <a:pt x="190246" y="23624"/>
                  </a:lnTo>
                  <a:lnTo>
                    <a:pt x="235337" y="36535"/>
                  </a:lnTo>
                  <a:lnTo>
                    <a:pt x="279258" y="52067"/>
                  </a:lnTo>
                  <a:lnTo>
                    <a:pt x="321919" y="70128"/>
                  </a:lnTo>
                  <a:lnTo>
                    <a:pt x="363229" y="90629"/>
                  </a:lnTo>
                  <a:lnTo>
                    <a:pt x="403098" y="113479"/>
                  </a:lnTo>
                  <a:lnTo>
                    <a:pt x="441436" y="138587"/>
                  </a:lnTo>
                  <a:lnTo>
                    <a:pt x="478151" y="165862"/>
                  </a:lnTo>
                  <a:lnTo>
                    <a:pt x="513154" y="195214"/>
                  </a:lnTo>
                  <a:lnTo>
                    <a:pt x="546354" y="226552"/>
                  </a:lnTo>
                  <a:lnTo>
                    <a:pt x="577659" y="259785"/>
                  </a:lnTo>
                  <a:lnTo>
                    <a:pt x="606981" y="294823"/>
                  </a:lnTo>
                  <a:lnTo>
                    <a:pt x="634228" y="331575"/>
                  </a:lnTo>
                  <a:lnTo>
                    <a:pt x="659309" y="369951"/>
                  </a:lnTo>
                  <a:lnTo>
                    <a:pt x="682135" y="409859"/>
                  </a:lnTo>
                  <a:lnTo>
                    <a:pt x="702614" y="451210"/>
                  </a:lnTo>
                  <a:lnTo>
                    <a:pt x="720657" y="493912"/>
                  </a:lnTo>
                  <a:lnTo>
                    <a:pt x="736172" y="537875"/>
                  </a:lnTo>
                  <a:lnTo>
                    <a:pt x="749069" y="583008"/>
                  </a:lnTo>
                  <a:lnTo>
                    <a:pt x="759257" y="629221"/>
                  </a:lnTo>
                  <a:lnTo>
                    <a:pt x="766647" y="676422"/>
                  </a:lnTo>
                  <a:lnTo>
                    <a:pt x="771147" y="724522"/>
                  </a:lnTo>
                  <a:lnTo>
                    <a:pt x="772668" y="773430"/>
                  </a:lnTo>
                  <a:lnTo>
                    <a:pt x="770853" y="826453"/>
                  </a:lnTo>
                  <a:lnTo>
                    <a:pt x="765433" y="879103"/>
                  </a:lnTo>
                  <a:lnTo>
                    <a:pt x="756443" y="931195"/>
                  </a:lnTo>
                  <a:lnTo>
                    <a:pt x="743918" y="982547"/>
                  </a:lnTo>
                  <a:lnTo>
                    <a:pt x="727894" y="1032974"/>
                  </a:lnTo>
                  <a:lnTo>
                    <a:pt x="708406" y="1082294"/>
                  </a:lnTo>
                </a:path>
              </a:pathLst>
            </a:custGeom>
            <a:noFill/>
            <a:ln w="15240">
              <a:solidFill>
                <a:srgbClr val="1CADE4"/>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145" name="object 41">
              <a:extLst>
                <a:ext uri="{FF2B5EF4-FFF2-40B4-BE49-F238E27FC236}">
                  <a16:creationId xmlns:a16="http://schemas.microsoft.com/office/drawing/2014/main" id="{B4DEF603-16E9-C046-F62A-60892D29FA46}"/>
                </a:ext>
              </a:extLst>
            </p:cNvPr>
            <p:cNvSpPr/>
            <p:nvPr>
              <p:custDataLst>
                <p:tags r:id="rId16"/>
              </p:custDataLst>
            </p:nvPr>
          </p:nvSpPr>
          <p:spPr bwMode="auto">
            <a:xfrm>
              <a:off x="9933785" y="3983019"/>
              <a:ext cx="749386" cy="668344"/>
            </a:xfrm>
            <a:custGeom>
              <a:avLst/>
              <a:gdLst/>
              <a:ahLst/>
              <a:cxnLst/>
              <a:rect l="l" t="t" r="r" b="b"/>
              <a:pathLst>
                <a:path w="1130935" h="1130935">
                  <a:moveTo>
                    <a:pt x="0" y="565404"/>
                  </a:moveTo>
                  <a:lnTo>
                    <a:pt x="2075" y="516614"/>
                  </a:lnTo>
                  <a:lnTo>
                    <a:pt x="8187" y="468978"/>
                  </a:lnTo>
                  <a:lnTo>
                    <a:pt x="18167" y="422665"/>
                  </a:lnTo>
                  <a:lnTo>
                    <a:pt x="31845" y="377844"/>
                  </a:lnTo>
                  <a:lnTo>
                    <a:pt x="49051" y="334686"/>
                  </a:lnTo>
                  <a:lnTo>
                    <a:pt x="69615" y="293360"/>
                  </a:lnTo>
                  <a:lnTo>
                    <a:pt x="93369" y="254034"/>
                  </a:lnTo>
                  <a:lnTo>
                    <a:pt x="120142" y="216881"/>
                  </a:lnTo>
                  <a:lnTo>
                    <a:pt x="149765" y="182067"/>
                  </a:lnTo>
                  <a:lnTo>
                    <a:pt x="182067" y="149765"/>
                  </a:lnTo>
                  <a:lnTo>
                    <a:pt x="216881" y="120142"/>
                  </a:lnTo>
                  <a:lnTo>
                    <a:pt x="254034" y="93369"/>
                  </a:lnTo>
                  <a:lnTo>
                    <a:pt x="293360" y="69615"/>
                  </a:lnTo>
                  <a:lnTo>
                    <a:pt x="334686" y="49051"/>
                  </a:lnTo>
                  <a:lnTo>
                    <a:pt x="377844" y="31845"/>
                  </a:lnTo>
                  <a:lnTo>
                    <a:pt x="422665" y="18167"/>
                  </a:lnTo>
                  <a:lnTo>
                    <a:pt x="468978" y="8187"/>
                  </a:lnTo>
                  <a:lnTo>
                    <a:pt x="516614" y="2075"/>
                  </a:lnTo>
                  <a:lnTo>
                    <a:pt x="565403" y="0"/>
                  </a:lnTo>
                  <a:lnTo>
                    <a:pt x="614193" y="2075"/>
                  </a:lnTo>
                  <a:lnTo>
                    <a:pt x="661829" y="8187"/>
                  </a:lnTo>
                  <a:lnTo>
                    <a:pt x="708142" y="18167"/>
                  </a:lnTo>
                  <a:lnTo>
                    <a:pt x="752963" y="31845"/>
                  </a:lnTo>
                  <a:lnTo>
                    <a:pt x="796121" y="49051"/>
                  </a:lnTo>
                  <a:lnTo>
                    <a:pt x="837447" y="69615"/>
                  </a:lnTo>
                  <a:lnTo>
                    <a:pt x="876773" y="93369"/>
                  </a:lnTo>
                  <a:lnTo>
                    <a:pt x="913926" y="120142"/>
                  </a:lnTo>
                  <a:lnTo>
                    <a:pt x="948740" y="149765"/>
                  </a:lnTo>
                  <a:lnTo>
                    <a:pt x="981042" y="182067"/>
                  </a:lnTo>
                  <a:lnTo>
                    <a:pt x="1010665" y="216881"/>
                  </a:lnTo>
                  <a:lnTo>
                    <a:pt x="1037438" y="254034"/>
                  </a:lnTo>
                  <a:lnTo>
                    <a:pt x="1061192" y="293360"/>
                  </a:lnTo>
                  <a:lnTo>
                    <a:pt x="1081756" y="334686"/>
                  </a:lnTo>
                  <a:lnTo>
                    <a:pt x="1098962" y="377844"/>
                  </a:lnTo>
                  <a:lnTo>
                    <a:pt x="1112640" y="422665"/>
                  </a:lnTo>
                  <a:lnTo>
                    <a:pt x="1122620" y="468978"/>
                  </a:lnTo>
                  <a:lnTo>
                    <a:pt x="1128732" y="516614"/>
                  </a:lnTo>
                  <a:lnTo>
                    <a:pt x="1130807" y="565404"/>
                  </a:lnTo>
                  <a:lnTo>
                    <a:pt x="1128732" y="614193"/>
                  </a:lnTo>
                  <a:lnTo>
                    <a:pt x="1122620" y="661829"/>
                  </a:lnTo>
                  <a:lnTo>
                    <a:pt x="1112640" y="708142"/>
                  </a:lnTo>
                  <a:lnTo>
                    <a:pt x="1098962" y="752963"/>
                  </a:lnTo>
                  <a:lnTo>
                    <a:pt x="1081756" y="796121"/>
                  </a:lnTo>
                  <a:lnTo>
                    <a:pt x="1061192" y="837447"/>
                  </a:lnTo>
                  <a:lnTo>
                    <a:pt x="1037438" y="876773"/>
                  </a:lnTo>
                  <a:lnTo>
                    <a:pt x="1010665" y="913926"/>
                  </a:lnTo>
                  <a:lnTo>
                    <a:pt x="981042" y="948740"/>
                  </a:lnTo>
                  <a:lnTo>
                    <a:pt x="948740" y="981042"/>
                  </a:lnTo>
                  <a:lnTo>
                    <a:pt x="913926" y="1010665"/>
                  </a:lnTo>
                  <a:lnTo>
                    <a:pt x="876773" y="1037438"/>
                  </a:lnTo>
                  <a:lnTo>
                    <a:pt x="837447" y="1061192"/>
                  </a:lnTo>
                  <a:lnTo>
                    <a:pt x="796121" y="1081756"/>
                  </a:lnTo>
                  <a:lnTo>
                    <a:pt x="752963" y="1098962"/>
                  </a:lnTo>
                  <a:lnTo>
                    <a:pt x="708142" y="1112640"/>
                  </a:lnTo>
                  <a:lnTo>
                    <a:pt x="661829" y="1122620"/>
                  </a:lnTo>
                  <a:lnTo>
                    <a:pt x="614193" y="1128732"/>
                  </a:lnTo>
                  <a:lnTo>
                    <a:pt x="565403" y="1130808"/>
                  </a:lnTo>
                  <a:lnTo>
                    <a:pt x="516614" y="1128732"/>
                  </a:lnTo>
                  <a:lnTo>
                    <a:pt x="468978" y="1122620"/>
                  </a:lnTo>
                  <a:lnTo>
                    <a:pt x="422665" y="1112640"/>
                  </a:lnTo>
                  <a:lnTo>
                    <a:pt x="377844" y="1098962"/>
                  </a:lnTo>
                  <a:lnTo>
                    <a:pt x="334686" y="1081756"/>
                  </a:lnTo>
                  <a:lnTo>
                    <a:pt x="293360" y="1061192"/>
                  </a:lnTo>
                  <a:lnTo>
                    <a:pt x="254034" y="1037438"/>
                  </a:lnTo>
                  <a:lnTo>
                    <a:pt x="216881" y="1010665"/>
                  </a:lnTo>
                  <a:lnTo>
                    <a:pt x="182067" y="981042"/>
                  </a:lnTo>
                  <a:lnTo>
                    <a:pt x="149765" y="948740"/>
                  </a:lnTo>
                  <a:lnTo>
                    <a:pt x="120142" y="913926"/>
                  </a:lnTo>
                  <a:lnTo>
                    <a:pt x="93369" y="876773"/>
                  </a:lnTo>
                  <a:lnTo>
                    <a:pt x="69615" y="837447"/>
                  </a:lnTo>
                  <a:lnTo>
                    <a:pt x="49051" y="796121"/>
                  </a:lnTo>
                  <a:lnTo>
                    <a:pt x="31845" y="752963"/>
                  </a:lnTo>
                  <a:lnTo>
                    <a:pt x="18167" y="708142"/>
                  </a:lnTo>
                  <a:lnTo>
                    <a:pt x="8187" y="661829"/>
                  </a:lnTo>
                  <a:lnTo>
                    <a:pt x="2075" y="614193"/>
                  </a:lnTo>
                  <a:lnTo>
                    <a:pt x="0" y="565404"/>
                  </a:lnTo>
                  <a:close/>
                </a:path>
              </a:pathLst>
            </a:custGeom>
            <a:noFill/>
            <a:ln w="19812">
              <a:solidFill>
                <a:srgbClr val="1CADE4"/>
              </a:solidFill>
            </a:ln>
          </p:spPr>
          <p:txBody>
            <a:bodyPr lIns="0" tIns="0" rIns="0" bIns="0"/>
            <a:lstStyle/>
            <a:p>
              <a:pPr marR="0" lvl="0" algn="l" defTabSz="914400" rtl="0" eaLnBrk="1" fontAlgn="auto" latinLnBrk="0" hangingPunct="1">
                <a:lnSpc>
                  <a:spcPct val="100000"/>
                </a:lnSpc>
                <a:spcBef>
                  <a:spcPts val="0"/>
                </a:spcBef>
                <a:spcAft>
                  <a:spcPts val="0"/>
                </a:spcAft>
                <a:buClrTx/>
                <a:buSzTx/>
                <a:tabLst/>
                <a:defRPr/>
              </a:pPr>
              <a:endParaRPr kumimoji="0"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pic>
          <p:nvPicPr>
            <p:cNvPr id="151" name="Graphic 150" descr="Workflow with solid fill">
              <a:extLst>
                <a:ext uri="{FF2B5EF4-FFF2-40B4-BE49-F238E27FC236}">
                  <a16:creationId xmlns:a16="http://schemas.microsoft.com/office/drawing/2014/main" id="{1685403F-022B-C54D-7FEC-51AC4E9AAB2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4"/>
                </a:ext>
              </a:extLst>
            </a:blip>
            <a:stretch>
              <a:fillRect/>
            </a:stretch>
          </p:blipFill>
          <p:spPr>
            <a:xfrm>
              <a:off x="10071409" y="4105325"/>
              <a:ext cx="474139" cy="423732"/>
            </a:xfrm>
            <a:prstGeom prst="rect">
              <a:avLst/>
            </a:prstGeom>
          </p:spPr>
        </p:pic>
      </p:grpSp>
      <p:sp>
        <p:nvSpPr>
          <p:cNvPr id="152" name="object 65">
            <a:extLst>
              <a:ext uri="{FF2B5EF4-FFF2-40B4-BE49-F238E27FC236}">
                <a16:creationId xmlns:a16="http://schemas.microsoft.com/office/drawing/2014/main" id="{BA446D65-36CD-3DE7-B9BA-032CC85EC32B}"/>
              </a:ext>
            </a:extLst>
          </p:cNvPr>
          <p:cNvSpPr>
            <a:spLocks/>
          </p:cNvSpPr>
          <p:nvPr>
            <p:custDataLst>
              <p:tags r:id="rId12"/>
            </p:custDataLst>
          </p:nvPr>
        </p:nvSpPr>
        <p:spPr bwMode="auto">
          <a:xfrm rot="19609458" flipV="1">
            <a:off x="10804707" y="4225642"/>
            <a:ext cx="833567" cy="62796"/>
          </a:xfrm>
          <a:custGeom>
            <a:avLst/>
            <a:gdLst>
              <a:gd name="T0" fmla="*/ 1602486 w 1685289"/>
              <a:gd name="T1" fmla="*/ 327913 h 352425"/>
              <a:gd name="T2" fmla="*/ 1670790 w 1685289"/>
              <a:gd name="T3" fmla="*/ 315087 h 352425"/>
              <a:gd name="T4" fmla="*/ 1621144 w 1685289"/>
              <a:gd name="T5" fmla="*/ 306764 h 352425"/>
              <a:gd name="T6" fmla="*/ 1621144 w 1685289"/>
              <a:gd name="T7" fmla="*/ 306764 h 352425"/>
              <a:gd name="T8" fmla="*/ 1643380 w 1685289"/>
              <a:gd name="T9" fmla="*/ 300482 h 352425"/>
              <a:gd name="T10" fmla="*/ 1652905 w 1685289"/>
              <a:gd name="T11" fmla="*/ 270763 h 352425"/>
              <a:gd name="T12" fmla="*/ 1643380 w 1685289"/>
              <a:gd name="T13" fmla="*/ 300482 h 352425"/>
              <a:gd name="T14" fmla="*/ 1670790 w 1685289"/>
              <a:gd name="T15" fmla="*/ 315087 h 352425"/>
              <a:gd name="T16" fmla="*/ 1583689 w 1685289"/>
              <a:gd name="T17" fmla="*/ 252222 h 352425"/>
              <a:gd name="T18" fmla="*/ 1585976 w 1685289"/>
              <a:gd name="T19" fmla="*/ 277622 h 352425"/>
              <a:gd name="T20" fmla="*/ 1633736 w 1685289"/>
              <a:gd name="T21" fmla="*/ 292491 h 352425"/>
              <a:gd name="T22" fmla="*/ 1583689 w 1685289"/>
              <a:gd name="T23" fmla="*/ 252222 h 352425"/>
              <a:gd name="T24" fmla="*/ 1462532 w 1685289"/>
              <a:gd name="T25" fmla="*/ 193675 h 352425"/>
              <a:gd name="T26" fmla="*/ 1526286 w 1685289"/>
              <a:gd name="T27" fmla="*/ 234442 h 352425"/>
              <a:gd name="T28" fmla="*/ 1499108 w 1685289"/>
              <a:gd name="T29" fmla="*/ 193421 h 352425"/>
              <a:gd name="T30" fmla="*/ 1353693 w 1685289"/>
              <a:gd name="T31" fmla="*/ 114553 h 352425"/>
              <a:gd name="T32" fmla="*/ 1386586 w 1685289"/>
              <a:gd name="T33" fmla="*/ 151384 h 352425"/>
              <a:gd name="T34" fmla="*/ 1422273 w 1685289"/>
              <a:gd name="T35" fmla="*/ 148844 h 352425"/>
              <a:gd name="T36" fmla="*/ 1353693 w 1685289"/>
              <a:gd name="T37" fmla="*/ 114553 h 352425"/>
              <a:gd name="T38" fmla="*/ 1223010 w 1685289"/>
              <a:gd name="T39" fmla="*/ 82931 h 352425"/>
              <a:gd name="T40" fmla="*/ 1280922 w 1685289"/>
              <a:gd name="T41" fmla="*/ 103886 h 352425"/>
              <a:gd name="T42" fmla="*/ 1300861 w 1685289"/>
              <a:gd name="T43" fmla="*/ 91694 h 352425"/>
              <a:gd name="T44" fmla="*/ 1233424 w 1685289"/>
              <a:gd name="T45" fmla="*/ 66294 h 352425"/>
              <a:gd name="T46" fmla="*/ 1099312 w 1685289"/>
              <a:gd name="T47" fmla="*/ 29210 h 352425"/>
              <a:gd name="T48" fmla="*/ 1116965 w 1685289"/>
              <a:gd name="T49" fmla="*/ 52450 h 352425"/>
              <a:gd name="T50" fmla="*/ 1173734 w 1685289"/>
              <a:gd name="T51" fmla="*/ 47625 h 352425"/>
              <a:gd name="T52" fmla="*/ 1099312 w 1685289"/>
              <a:gd name="T53" fmla="*/ 29210 h 352425"/>
              <a:gd name="T54" fmla="*/ 964692 w 1685289"/>
              <a:gd name="T55" fmla="*/ 26288 h 352425"/>
              <a:gd name="T56" fmla="*/ 1039749 w 1685289"/>
              <a:gd name="T57" fmla="*/ 36957 h 352425"/>
              <a:gd name="T58" fmla="*/ 1008634 w 1685289"/>
              <a:gd name="T59" fmla="*/ 12446 h 352425"/>
              <a:gd name="T60" fmla="*/ 837057 w 1685289"/>
              <a:gd name="T61" fmla="*/ 0 h 352425"/>
              <a:gd name="T62" fmla="*/ 832993 w 1685289"/>
              <a:gd name="T63" fmla="*/ 19050 h 352425"/>
              <a:gd name="T64" fmla="*/ 892937 w 1685289"/>
              <a:gd name="T65" fmla="*/ 20447 h 352425"/>
              <a:gd name="T66" fmla="*/ 909574 w 1685289"/>
              <a:gd name="T67" fmla="*/ 2539 h 352425"/>
              <a:gd name="T68" fmla="*/ 837057 w 1685289"/>
              <a:gd name="T69" fmla="*/ 0 h 352425"/>
              <a:gd name="T70" fmla="*/ 722884 w 1685289"/>
              <a:gd name="T71" fmla="*/ 4952 h 352425"/>
              <a:gd name="T72" fmla="*/ 700786 w 1685289"/>
              <a:gd name="T73" fmla="*/ 26670 h 352425"/>
              <a:gd name="T74" fmla="*/ 776224 w 1685289"/>
              <a:gd name="T75" fmla="*/ 20447 h 352425"/>
              <a:gd name="T76" fmla="*/ 641604 w 1685289"/>
              <a:gd name="T77" fmla="*/ 15494 h 352425"/>
              <a:gd name="T78" fmla="*/ 566293 w 1685289"/>
              <a:gd name="T79" fmla="*/ 29845 h 352425"/>
              <a:gd name="T80" fmla="*/ 612902 w 1685289"/>
              <a:gd name="T81" fmla="*/ 39370 h 352425"/>
              <a:gd name="T82" fmla="*/ 641604 w 1685289"/>
              <a:gd name="T83" fmla="*/ 15494 h 352425"/>
              <a:gd name="T84" fmla="*/ 498602 w 1685289"/>
              <a:gd name="T85" fmla="*/ 46989 h 352425"/>
              <a:gd name="T86" fmla="*/ 436753 w 1685289"/>
              <a:gd name="T87" fmla="*/ 66801 h 352425"/>
              <a:gd name="T88" fmla="*/ 449707 w 1685289"/>
              <a:gd name="T89" fmla="*/ 82296 h 352425"/>
              <a:gd name="T90" fmla="*/ 515239 w 1685289"/>
              <a:gd name="T91" fmla="*/ 62357 h 352425"/>
              <a:gd name="T92" fmla="*/ 382905 w 1685289"/>
              <a:gd name="T93" fmla="*/ 86995 h 352425"/>
              <a:gd name="T94" fmla="*/ 312928 w 1685289"/>
              <a:gd name="T95" fmla="*/ 118237 h 352425"/>
              <a:gd name="T96" fmla="*/ 344678 w 1685289"/>
              <a:gd name="T97" fmla="*/ 123951 h 352425"/>
              <a:gd name="T98" fmla="*/ 382905 w 1685289"/>
              <a:gd name="T99" fmla="*/ 86995 h 352425"/>
              <a:gd name="T100" fmla="*/ 234442 w 1685289"/>
              <a:gd name="T101" fmla="*/ 159385 h 352425"/>
              <a:gd name="T102" fmla="*/ 205486 w 1685289"/>
              <a:gd name="T103" fmla="*/ 199517 h 352425"/>
              <a:gd name="T104" fmla="*/ 270764 w 1685289"/>
              <a:gd name="T105" fmla="*/ 161289 h 352425"/>
              <a:gd name="T106" fmla="*/ 147574 w 1685289"/>
              <a:gd name="T107" fmla="*/ 215392 h 352425"/>
              <a:gd name="T108" fmla="*/ 89408 w 1685289"/>
              <a:gd name="T109" fmla="*/ 258952 h 352425"/>
              <a:gd name="T110" fmla="*/ 98298 w 1685289"/>
              <a:gd name="T111" fmla="*/ 276225 h 352425"/>
              <a:gd name="T112" fmla="*/ 147193 w 1685289"/>
              <a:gd name="T113" fmla="*/ 238760 h 352425"/>
              <a:gd name="T114" fmla="*/ 147574 w 1685289"/>
              <a:gd name="T115" fmla="*/ 215392 h 352425"/>
              <a:gd name="T116" fmla="*/ 0 w 1685289"/>
              <a:gd name="T117" fmla="*/ 338582 h 352425"/>
              <a:gd name="T118" fmla="*/ 55118 w 1685289"/>
              <a:gd name="T119" fmla="*/ 313055 h 352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5289" h="352425">
                <a:moveTo>
                  <a:pt x="1621144" y="306764"/>
                </a:moveTo>
                <a:lnTo>
                  <a:pt x="1602486" y="327913"/>
                </a:lnTo>
                <a:lnTo>
                  <a:pt x="1684782" y="349758"/>
                </a:lnTo>
                <a:lnTo>
                  <a:pt x="1670790" y="315087"/>
                </a:lnTo>
                <a:lnTo>
                  <a:pt x="1631188" y="315087"/>
                </a:lnTo>
                <a:lnTo>
                  <a:pt x="1621144" y="306764"/>
                </a:lnTo>
                <a:close/>
              </a:path>
              <a:path w="1685289" h="352425">
                <a:moveTo>
                  <a:pt x="1633736" y="292491"/>
                </a:moveTo>
                <a:lnTo>
                  <a:pt x="1621144" y="306764"/>
                </a:lnTo>
                <a:lnTo>
                  <a:pt x="1631188" y="315087"/>
                </a:lnTo>
                <a:lnTo>
                  <a:pt x="1643380" y="300482"/>
                </a:lnTo>
                <a:lnTo>
                  <a:pt x="1633736" y="292491"/>
                </a:lnTo>
                <a:close/>
              </a:path>
              <a:path w="1685289" h="352425">
                <a:moveTo>
                  <a:pt x="1652905" y="270763"/>
                </a:moveTo>
                <a:lnTo>
                  <a:pt x="1633736" y="292491"/>
                </a:lnTo>
                <a:lnTo>
                  <a:pt x="1643380" y="300482"/>
                </a:lnTo>
                <a:lnTo>
                  <a:pt x="1631188" y="315087"/>
                </a:lnTo>
                <a:lnTo>
                  <a:pt x="1670790" y="315087"/>
                </a:lnTo>
                <a:lnTo>
                  <a:pt x="1652905" y="270763"/>
                </a:lnTo>
                <a:close/>
              </a:path>
              <a:path w="1685289" h="352425">
                <a:moveTo>
                  <a:pt x="1583689" y="252222"/>
                </a:moveTo>
                <a:lnTo>
                  <a:pt x="1572387" y="267588"/>
                </a:lnTo>
                <a:lnTo>
                  <a:pt x="1585976" y="277622"/>
                </a:lnTo>
                <a:lnTo>
                  <a:pt x="1621144" y="306764"/>
                </a:lnTo>
                <a:lnTo>
                  <a:pt x="1633736" y="292491"/>
                </a:lnTo>
                <a:lnTo>
                  <a:pt x="1598168" y="263017"/>
                </a:lnTo>
                <a:lnTo>
                  <a:pt x="1583689" y="252222"/>
                </a:lnTo>
                <a:close/>
              </a:path>
              <a:path w="1685289" h="352425">
                <a:moveTo>
                  <a:pt x="1472311" y="177292"/>
                </a:moveTo>
                <a:lnTo>
                  <a:pt x="1462532" y="193675"/>
                </a:lnTo>
                <a:lnTo>
                  <a:pt x="1488567" y="209296"/>
                </a:lnTo>
                <a:lnTo>
                  <a:pt x="1526286" y="234442"/>
                </a:lnTo>
                <a:lnTo>
                  <a:pt x="1536954" y="218694"/>
                </a:lnTo>
                <a:lnTo>
                  <a:pt x="1499108" y="193421"/>
                </a:lnTo>
                <a:lnTo>
                  <a:pt x="1472311" y="177292"/>
                </a:lnTo>
                <a:close/>
              </a:path>
              <a:path w="1685289" h="352425">
                <a:moveTo>
                  <a:pt x="1353693" y="114553"/>
                </a:moveTo>
                <a:lnTo>
                  <a:pt x="1345564" y="131825"/>
                </a:lnTo>
                <a:lnTo>
                  <a:pt x="1386586" y="151384"/>
                </a:lnTo>
                <a:lnTo>
                  <a:pt x="1413256" y="165608"/>
                </a:lnTo>
                <a:lnTo>
                  <a:pt x="1422273" y="148844"/>
                </a:lnTo>
                <a:lnTo>
                  <a:pt x="1395602" y="134493"/>
                </a:lnTo>
                <a:lnTo>
                  <a:pt x="1353693" y="114553"/>
                </a:lnTo>
                <a:close/>
              </a:path>
              <a:path w="1685289" h="352425">
                <a:moveTo>
                  <a:pt x="1228725" y="64770"/>
                </a:moveTo>
                <a:lnTo>
                  <a:pt x="1223010" y="82931"/>
                </a:lnTo>
                <a:lnTo>
                  <a:pt x="1226820" y="84200"/>
                </a:lnTo>
                <a:lnTo>
                  <a:pt x="1280922" y="103886"/>
                </a:lnTo>
                <a:lnTo>
                  <a:pt x="1293495" y="109220"/>
                </a:lnTo>
                <a:lnTo>
                  <a:pt x="1300861" y="91694"/>
                </a:lnTo>
                <a:lnTo>
                  <a:pt x="1288288" y="86360"/>
                </a:lnTo>
                <a:lnTo>
                  <a:pt x="1233424" y="66294"/>
                </a:lnTo>
                <a:lnTo>
                  <a:pt x="1228725" y="64770"/>
                </a:lnTo>
                <a:close/>
              </a:path>
              <a:path w="1685289" h="352425">
                <a:moveTo>
                  <a:pt x="1099312" y="29210"/>
                </a:moveTo>
                <a:lnTo>
                  <a:pt x="1095375" y="47751"/>
                </a:lnTo>
                <a:lnTo>
                  <a:pt x="1116965" y="52450"/>
                </a:lnTo>
                <a:lnTo>
                  <a:pt x="1168781" y="66039"/>
                </a:lnTo>
                <a:lnTo>
                  <a:pt x="1173734" y="47625"/>
                </a:lnTo>
                <a:lnTo>
                  <a:pt x="1121918" y="34036"/>
                </a:lnTo>
                <a:lnTo>
                  <a:pt x="1099312" y="29210"/>
                </a:lnTo>
                <a:close/>
              </a:path>
              <a:path w="1685289" h="352425">
                <a:moveTo>
                  <a:pt x="966978" y="7365"/>
                </a:moveTo>
                <a:lnTo>
                  <a:pt x="964692" y="26288"/>
                </a:lnTo>
                <a:lnTo>
                  <a:pt x="1005459" y="31114"/>
                </a:lnTo>
                <a:lnTo>
                  <a:pt x="1039749" y="36957"/>
                </a:lnTo>
                <a:lnTo>
                  <a:pt x="1042797" y="18161"/>
                </a:lnTo>
                <a:lnTo>
                  <a:pt x="1008634" y="12446"/>
                </a:lnTo>
                <a:lnTo>
                  <a:pt x="966978" y="7365"/>
                </a:lnTo>
                <a:close/>
              </a:path>
              <a:path w="1685289" h="352425">
                <a:moveTo>
                  <a:pt x="837057" y="0"/>
                </a:moveTo>
                <a:lnTo>
                  <a:pt x="832612" y="0"/>
                </a:lnTo>
                <a:lnTo>
                  <a:pt x="832993" y="19050"/>
                </a:lnTo>
                <a:lnTo>
                  <a:pt x="836549" y="19050"/>
                </a:lnTo>
                <a:lnTo>
                  <a:pt x="892937" y="20447"/>
                </a:lnTo>
                <a:lnTo>
                  <a:pt x="908177" y="21462"/>
                </a:lnTo>
                <a:lnTo>
                  <a:pt x="909574" y="2539"/>
                </a:lnTo>
                <a:lnTo>
                  <a:pt x="894334" y="1397"/>
                </a:lnTo>
                <a:lnTo>
                  <a:pt x="837057" y="0"/>
                </a:lnTo>
                <a:close/>
              </a:path>
              <a:path w="1685289" h="352425">
                <a:moveTo>
                  <a:pt x="774954" y="1397"/>
                </a:moveTo>
                <a:lnTo>
                  <a:pt x="722884" y="4952"/>
                </a:lnTo>
                <a:lnTo>
                  <a:pt x="698627" y="7747"/>
                </a:lnTo>
                <a:lnTo>
                  <a:pt x="700786" y="26670"/>
                </a:lnTo>
                <a:lnTo>
                  <a:pt x="724281" y="24002"/>
                </a:lnTo>
                <a:lnTo>
                  <a:pt x="776224" y="20447"/>
                </a:lnTo>
                <a:lnTo>
                  <a:pt x="774954" y="1397"/>
                </a:lnTo>
                <a:close/>
              </a:path>
              <a:path w="1685289" h="352425">
                <a:moveTo>
                  <a:pt x="641604" y="15494"/>
                </a:moveTo>
                <a:lnTo>
                  <a:pt x="609854" y="20574"/>
                </a:lnTo>
                <a:lnTo>
                  <a:pt x="566293" y="29845"/>
                </a:lnTo>
                <a:lnTo>
                  <a:pt x="570230" y="48513"/>
                </a:lnTo>
                <a:lnTo>
                  <a:pt x="612902" y="39370"/>
                </a:lnTo>
                <a:lnTo>
                  <a:pt x="644652" y="34289"/>
                </a:lnTo>
                <a:lnTo>
                  <a:pt x="641604" y="15494"/>
                </a:lnTo>
                <a:close/>
              </a:path>
              <a:path w="1685289" h="352425">
                <a:moveTo>
                  <a:pt x="510413" y="43814"/>
                </a:moveTo>
                <a:lnTo>
                  <a:pt x="498602" y="46989"/>
                </a:lnTo>
                <a:lnTo>
                  <a:pt x="443992" y="64135"/>
                </a:lnTo>
                <a:lnTo>
                  <a:pt x="436753" y="66801"/>
                </a:lnTo>
                <a:lnTo>
                  <a:pt x="443357" y="84709"/>
                </a:lnTo>
                <a:lnTo>
                  <a:pt x="449707" y="82296"/>
                </a:lnTo>
                <a:lnTo>
                  <a:pt x="503555" y="65405"/>
                </a:lnTo>
                <a:lnTo>
                  <a:pt x="515239" y="62357"/>
                </a:lnTo>
                <a:lnTo>
                  <a:pt x="510413" y="43814"/>
                </a:lnTo>
                <a:close/>
              </a:path>
              <a:path w="1685289" h="352425">
                <a:moveTo>
                  <a:pt x="382905" y="86995"/>
                </a:moveTo>
                <a:lnTo>
                  <a:pt x="337185" y="106425"/>
                </a:lnTo>
                <a:lnTo>
                  <a:pt x="312928" y="118237"/>
                </a:lnTo>
                <a:lnTo>
                  <a:pt x="321183" y="135382"/>
                </a:lnTo>
                <a:lnTo>
                  <a:pt x="344678" y="123951"/>
                </a:lnTo>
                <a:lnTo>
                  <a:pt x="390398" y="104521"/>
                </a:lnTo>
                <a:lnTo>
                  <a:pt x="382905" y="86995"/>
                </a:lnTo>
                <a:close/>
              </a:path>
              <a:path w="1685289" h="352425">
                <a:moveTo>
                  <a:pt x="261620" y="144525"/>
                </a:moveTo>
                <a:lnTo>
                  <a:pt x="234442" y="159385"/>
                </a:lnTo>
                <a:lnTo>
                  <a:pt x="195580" y="183387"/>
                </a:lnTo>
                <a:lnTo>
                  <a:pt x="205486" y="199517"/>
                </a:lnTo>
                <a:lnTo>
                  <a:pt x="243586" y="176149"/>
                </a:lnTo>
                <a:lnTo>
                  <a:pt x="270764" y="161289"/>
                </a:lnTo>
                <a:lnTo>
                  <a:pt x="261620" y="144525"/>
                </a:lnTo>
                <a:close/>
              </a:path>
              <a:path w="1685289" h="352425">
                <a:moveTo>
                  <a:pt x="147574" y="215392"/>
                </a:moveTo>
                <a:lnTo>
                  <a:pt x="136398" y="223138"/>
                </a:lnTo>
                <a:lnTo>
                  <a:pt x="89408" y="258952"/>
                </a:lnTo>
                <a:lnTo>
                  <a:pt x="85979" y="261747"/>
                </a:lnTo>
                <a:lnTo>
                  <a:pt x="98298" y="276225"/>
                </a:lnTo>
                <a:lnTo>
                  <a:pt x="100837" y="274065"/>
                </a:lnTo>
                <a:lnTo>
                  <a:pt x="147193" y="238760"/>
                </a:lnTo>
                <a:lnTo>
                  <a:pt x="158369" y="231139"/>
                </a:lnTo>
                <a:lnTo>
                  <a:pt x="147574" y="215392"/>
                </a:lnTo>
                <a:close/>
              </a:path>
              <a:path w="1685289" h="352425">
                <a:moveTo>
                  <a:pt x="42037" y="299085"/>
                </a:moveTo>
                <a:lnTo>
                  <a:pt x="0" y="338582"/>
                </a:lnTo>
                <a:lnTo>
                  <a:pt x="13081" y="352425"/>
                </a:lnTo>
                <a:lnTo>
                  <a:pt x="55118" y="313055"/>
                </a:lnTo>
                <a:lnTo>
                  <a:pt x="42037" y="299085"/>
                </a:lnTo>
                <a:close/>
              </a:path>
            </a:pathLst>
          </a:custGeom>
          <a:solidFill>
            <a:srgbClr val="A6A6A6"/>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bg1"/>
              </a:solidFill>
              <a:effectLst/>
              <a:uLnTx/>
              <a:uFillTx/>
              <a:latin typeface="Ubuntu" panose="020B0504030602030204" pitchFamily="34" charset="0"/>
              <a:ea typeface="+mn-ea"/>
              <a:cs typeface="+mn-cs"/>
            </a:endParaRPr>
          </a:p>
        </p:txBody>
      </p:sp>
      <p:pic>
        <p:nvPicPr>
          <p:cNvPr id="4" name="Picture 3">
            <a:extLst>
              <a:ext uri="{FF2B5EF4-FFF2-40B4-BE49-F238E27FC236}">
                <a16:creationId xmlns:a16="http://schemas.microsoft.com/office/drawing/2014/main" id="{648AE9AF-8E28-BCCE-D315-557BC37D6D3A}"/>
              </a:ext>
            </a:extLst>
          </p:cNvPr>
          <p:cNvPicPr>
            <a:picLocks noChangeAspect="1"/>
          </p:cNvPicPr>
          <p:nvPr/>
        </p:nvPicPr>
        <p:blipFill>
          <a:blip r:embed="rId75"/>
          <a:stretch>
            <a:fillRect/>
          </a:stretch>
        </p:blipFill>
        <p:spPr>
          <a:xfrm>
            <a:off x="10595509" y="0"/>
            <a:ext cx="1237002" cy="696510"/>
          </a:xfrm>
          <a:prstGeom prst="rect">
            <a:avLst/>
          </a:prstGeom>
        </p:spPr>
      </p:pic>
    </p:spTree>
    <p:extLst>
      <p:ext uri="{BB962C8B-B14F-4D97-AF65-F5344CB8AC3E}">
        <p14:creationId xmlns:p14="http://schemas.microsoft.com/office/powerpoint/2010/main" val="1645105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52CA8-0EE7-4E02-AD11-2A26C679EE91}"/>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02B9624D-DFD8-B2B4-BBDD-458A038D000E}"/>
              </a:ext>
            </a:extLst>
          </p:cNvPr>
          <p:cNvSpPr/>
          <p:nvPr/>
        </p:nvSpPr>
        <p:spPr>
          <a:xfrm>
            <a:off x="54234" y="1168399"/>
            <a:ext cx="12040742" cy="4289397"/>
          </a:xfrm>
          <a:prstGeom prst="rect">
            <a:avLst/>
          </a:prstGeom>
          <a:solidFill>
            <a:schemeClr val="accent2">
              <a:alpha val="70000"/>
            </a:schemeClr>
          </a:solidFill>
          <a:ln w="1270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2" name="Title 1">
            <a:extLst>
              <a:ext uri="{FF2B5EF4-FFF2-40B4-BE49-F238E27FC236}">
                <a16:creationId xmlns:a16="http://schemas.microsoft.com/office/drawing/2014/main" id="{509042A9-2BE9-25EC-4CE1-7D3C08AE892B}"/>
              </a:ext>
            </a:extLst>
          </p:cNvPr>
          <p:cNvSpPr>
            <a:spLocks noGrp="1"/>
          </p:cNvSpPr>
          <p:nvPr>
            <p:ph type="title"/>
          </p:nvPr>
        </p:nvSpPr>
        <p:spPr>
          <a:xfrm>
            <a:off x="542420" y="259979"/>
            <a:ext cx="10074246" cy="1079526"/>
          </a:xfrm>
        </p:spPr>
        <p:txBody>
          <a:bodyPr/>
          <a:lstStyle/>
          <a:p>
            <a:r>
              <a:rPr lang="en-US"/>
              <a:t>Translating market insights and analysis into a clear five‑year growth blueprint.</a:t>
            </a:r>
            <a:endParaRPr lang="en-IN"/>
          </a:p>
        </p:txBody>
      </p:sp>
      <p:sp>
        <p:nvSpPr>
          <p:cNvPr id="50" name="Rectangle 49">
            <a:extLst>
              <a:ext uri="{FF2B5EF4-FFF2-40B4-BE49-F238E27FC236}">
                <a16:creationId xmlns:a16="http://schemas.microsoft.com/office/drawing/2014/main" id="{5F8FBF4F-05D0-47DD-052C-088A12A55730}"/>
              </a:ext>
            </a:extLst>
          </p:cNvPr>
          <p:cNvSpPr/>
          <p:nvPr/>
        </p:nvSpPr>
        <p:spPr>
          <a:xfrm>
            <a:off x="80137" y="5684408"/>
            <a:ext cx="12040742" cy="625207"/>
          </a:xfrm>
          <a:prstGeom prst="rect">
            <a:avLst/>
          </a:prstGeom>
          <a:solidFill>
            <a:schemeClr val="accent2">
              <a:alpha val="70000"/>
            </a:schemeClr>
          </a:solidFill>
          <a:ln w="1270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58" name="TextBox 57">
            <a:extLst>
              <a:ext uri="{FF2B5EF4-FFF2-40B4-BE49-F238E27FC236}">
                <a16:creationId xmlns:a16="http://schemas.microsoft.com/office/drawing/2014/main" id="{954F91AE-505B-C43D-681C-DDB2302411C3}"/>
              </a:ext>
            </a:extLst>
          </p:cNvPr>
          <p:cNvSpPr txBox="1"/>
          <p:nvPr/>
        </p:nvSpPr>
        <p:spPr>
          <a:xfrm>
            <a:off x="142330" y="5515796"/>
            <a:ext cx="1907934" cy="271863"/>
          </a:xfrm>
          <a:prstGeom prst="rect">
            <a:avLst/>
          </a:prstGeom>
          <a:solidFill>
            <a:schemeClr val="bg1"/>
          </a:solidFill>
          <a:ln>
            <a:solidFill>
              <a:schemeClr val="tx1"/>
            </a:solidFill>
          </a:ln>
        </p:spPr>
        <p:txBody>
          <a:bodyPr wrap="square">
            <a:spAutoFit/>
          </a:bodyPr>
          <a:lstStyle/>
          <a:p>
            <a:r>
              <a:rPr lang="en-IN" sz="1100" b="1"/>
              <a:t>Key Outcomes</a:t>
            </a:r>
          </a:p>
        </p:txBody>
      </p:sp>
      <p:sp>
        <p:nvSpPr>
          <p:cNvPr id="59" name="Rectangle: Rounded Corners 58">
            <a:extLst>
              <a:ext uri="{FF2B5EF4-FFF2-40B4-BE49-F238E27FC236}">
                <a16:creationId xmlns:a16="http://schemas.microsoft.com/office/drawing/2014/main" id="{64C3E2CE-B24D-10C1-A43F-D3CDF55BE5CF}"/>
              </a:ext>
            </a:extLst>
          </p:cNvPr>
          <p:cNvSpPr/>
          <p:nvPr/>
        </p:nvSpPr>
        <p:spPr>
          <a:xfrm>
            <a:off x="243295" y="5844748"/>
            <a:ext cx="1907934" cy="406868"/>
          </a:xfrm>
          <a:prstGeom prst="roundRect">
            <a:avLst/>
          </a:prstGeom>
          <a:solidFill>
            <a:schemeClr val="accent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solidFill>
                  <a:schemeClr val="bg1"/>
                </a:solidFill>
              </a:rPr>
              <a:t>5 Year Outlook</a:t>
            </a:r>
          </a:p>
        </p:txBody>
      </p:sp>
      <p:sp>
        <p:nvSpPr>
          <p:cNvPr id="60" name="Rectangle: Rounded Corners 59">
            <a:extLst>
              <a:ext uri="{FF2B5EF4-FFF2-40B4-BE49-F238E27FC236}">
                <a16:creationId xmlns:a16="http://schemas.microsoft.com/office/drawing/2014/main" id="{D737C434-5453-D009-F16E-A542D1B5F105}"/>
              </a:ext>
            </a:extLst>
          </p:cNvPr>
          <p:cNvSpPr/>
          <p:nvPr/>
        </p:nvSpPr>
        <p:spPr>
          <a:xfrm>
            <a:off x="2689239" y="5844748"/>
            <a:ext cx="1907934" cy="406868"/>
          </a:xfrm>
          <a:prstGeom prst="roundRect">
            <a:avLst/>
          </a:prstGeom>
          <a:solidFill>
            <a:schemeClr val="accent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solidFill>
                  <a:schemeClr val="bg1"/>
                </a:solidFill>
              </a:rPr>
              <a:t>key growth drivers and demand trends</a:t>
            </a:r>
          </a:p>
        </p:txBody>
      </p:sp>
      <p:sp>
        <p:nvSpPr>
          <p:cNvPr id="61" name="Rectangle: Rounded Corners 60">
            <a:extLst>
              <a:ext uri="{FF2B5EF4-FFF2-40B4-BE49-F238E27FC236}">
                <a16:creationId xmlns:a16="http://schemas.microsoft.com/office/drawing/2014/main" id="{41829CCD-6E7E-401F-BD86-16F8C9E5AFBC}"/>
              </a:ext>
            </a:extLst>
          </p:cNvPr>
          <p:cNvSpPr/>
          <p:nvPr/>
        </p:nvSpPr>
        <p:spPr>
          <a:xfrm>
            <a:off x="5135183" y="5844748"/>
            <a:ext cx="1907934" cy="406868"/>
          </a:xfrm>
          <a:prstGeom prst="roundRect">
            <a:avLst/>
          </a:prstGeom>
          <a:solidFill>
            <a:schemeClr val="accent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solidFill>
                  <a:schemeClr val="bg1"/>
                </a:solidFill>
              </a:rPr>
              <a:t>Competitive positioning</a:t>
            </a:r>
          </a:p>
        </p:txBody>
      </p:sp>
      <p:sp>
        <p:nvSpPr>
          <p:cNvPr id="62" name="Rectangle: Rounded Corners 61">
            <a:extLst>
              <a:ext uri="{FF2B5EF4-FFF2-40B4-BE49-F238E27FC236}">
                <a16:creationId xmlns:a16="http://schemas.microsoft.com/office/drawing/2014/main" id="{093669A5-AA1B-ECBB-4C77-4F3388E15CA6}"/>
              </a:ext>
            </a:extLst>
          </p:cNvPr>
          <p:cNvSpPr/>
          <p:nvPr/>
        </p:nvSpPr>
        <p:spPr>
          <a:xfrm>
            <a:off x="7581127" y="5844748"/>
            <a:ext cx="1907934" cy="406868"/>
          </a:xfrm>
          <a:prstGeom prst="roundRect">
            <a:avLst/>
          </a:prstGeom>
          <a:solidFill>
            <a:schemeClr val="accent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t>optimal GTM model</a:t>
            </a:r>
            <a:endParaRPr lang="en-IN" sz="1000" b="1">
              <a:solidFill>
                <a:schemeClr val="bg1"/>
              </a:solidFill>
            </a:endParaRPr>
          </a:p>
        </p:txBody>
      </p:sp>
      <p:sp>
        <p:nvSpPr>
          <p:cNvPr id="63" name="Rectangle: Rounded Corners 62">
            <a:extLst>
              <a:ext uri="{FF2B5EF4-FFF2-40B4-BE49-F238E27FC236}">
                <a16:creationId xmlns:a16="http://schemas.microsoft.com/office/drawing/2014/main" id="{AA5DC307-80E6-37A7-7ED8-A93081608C51}"/>
              </a:ext>
            </a:extLst>
          </p:cNvPr>
          <p:cNvSpPr/>
          <p:nvPr/>
        </p:nvSpPr>
        <p:spPr>
          <a:xfrm>
            <a:off x="10027072" y="5844748"/>
            <a:ext cx="1907934" cy="406868"/>
          </a:xfrm>
          <a:prstGeom prst="roundRect">
            <a:avLst/>
          </a:prstGeom>
          <a:solidFill>
            <a:schemeClr val="accent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solidFill>
                  <a:schemeClr val="bg1"/>
                </a:solidFill>
              </a:rPr>
              <a:t>Strategic Recommendation</a:t>
            </a:r>
          </a:p>
        </p:txBody>
      </p:sp>
      <p:grpSp>
        <p:nvGrpSpPr>
          <p:cNvPr id="78" name="Group 77">
            <a:extLst>
              <a:ext uri="{FF2B5EF4-FFF2-40B4-BE49-F238E27FC236}">
                <a16:creationId xmlns:a16="http://schemas.microsoft.com/office/drawing/2014/main" id="{1AA4CCD6-D384-448A-35F9-5AA19E465C7B}"/>
              </a:ext>
            </a:extLst>
          </p:cNvPr>
          <p:cNvGrpSpPr/>
          <p:nvPr/>
        </p:nvGrpSpPr>
        <p:grpSpPr>
          <a:xfrm>
            <a:off x="243295" y="1248484"/>
            <a:ext cx="11810339" cy="4106096"/>
            <a:chOff x="243295" y="1161985"/>
            <a:chExt cx="11810339" cy="4106096"/>
          </a:xfrm>
        </p:grpSpPr>
        <p:grpSp>
          <p:nvGrpSpPr>
            <p:cNvPr id="75" name="Group 74">
              <a:extLst>
                <a:ext uri="{FF2B5EF4-FFF2-40B4-BE49-F238E27FC236}">
                  <a16:creationId xmlns:a16="http://schemas.microsoft.com/office/drawing/2014/main" id="{8B14ED74-DA72-D3B5-AD70-766E235A6D07}"/>
                </a:ext>
              </a:extLst>
            </p:cNvPr>
            <p:cNvGrpSpPr/>
            <p:nvPr/>
          </p:nvGrpSpPr>
          <p:grpSpPr>
            <a:xfrm>
              <a:off x="2411902" y="3987806"/>
              <a:ext cx="6818772" cy="1280275"/>
              <a:chOff x="2411902" y="4139507"/>
              <a:chExt cx="6818772" cy="1280275"/>
            </a:xfrm>
          </p:grpSpPr>
          <p:grpSp>
            <p:nvGrpSpPr>
              <p:cNvPr id="74" name="Group 73">
                <a:extLst>
                  <a:ext uri="{FF2B5EF4-FFF2-40B4-BE49-F238E27FC236}">
                    <a16:creationId xmlns:a16="http://schemas.microsoft.com/office/drawing/2014/main" id="{F399FA93-3D5B-29DF-B1EA-0B9634809C5A}"/>
                  </a:ext>
                </a:extLst>
              </p:cNvPr>
              <p:cNvGrpSpPr/>
              <p:nvPr/>
            </p:nvGrpSpPr>
            <p:grpSpPr>
              <a:xfrm>
                <a:off x="2411902" y="4440598"/>
                <a:ext cx="6818772" cy="979184"/>
                <a:chOff x="2411902" y="4440598"/>
                <a:chExt cx="6818772" cy="979184"/>
              </a:xfrm>
            </p:grpSpPr>
            <p:grpSp>
              <p:nvGrpSpPr>
                <p:cNvPr id="11" name="Group 10">
                  <a:extLst>
                    <a:ext uri="{FF2B5EF4-FFF2-40B4-BE49-F238E27FC236}">
                      <a16:creationId xmlns:a16="http://schemas.microsoft.com/office/drawing/2014/main" id="{1ACD8B3D-D622-1665-A0A9-B5B2A8186F49}"/>
                    </a:ext>
                  </a:extLst>
                </p:cNvPr>
                <p:cNvGrpSpPr/>
                <p:nvPr/>
              </p:nvGrpSpPr>
              <p:grpSpPr>
                <a:xfrm>
                  <a:off x="4917286" y="4445046"/>
                  <a:ext cx="4313388" cy="974736"/>
                  <a:chOff x="4917286" y="4182160"/>
                  <a:chExt cx="4313388" cy="1225202"/>
                </a:xfrm>
              </p:grpSpPr>
              <p:sp>
                <p:nvSpPr>
                  <p:cNvPr id="12" name="Rectangle 11">
                    <a:extLst>
                      <a:ext uri="{FF2B5EF4-FFF2-40B4-BE49-F238E27FC236}">
                        <a16:creationId xmlns:a16="http://schemas.microsoft.com/office/drawing/2014/main" id="{F7504BC1-913D-5ED7-4EE9-0C2CEDC315AA}"/>
                      </a:ext>
                    </a:extLst>
                  </p:cNvPr>
                  <p:cNvSpPr/>
                  <p:nvPr/>
                </p:nvSpPr>
                <p:spPr>
                  <a:xfrm>
                    <a:off x="4917286" y="4182160"/>
                    <a:ext cx="4313388" cy="1225202"/>
                  </a:xfrm>
                  <a:prstGeom prst="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13" name="Rectangle 12">
                    <a:extLst>
                      <a:ext uri="{FF2B5EF4-FFF2-40B4-BE49-F238E27FC236}">
                        <a16:creationId xmlns:a16="http://schemas.microsoft.com/office/drawing/2014/main" id="{2FC9099F-D1BA-EAB5-E362-3BDA490970F9}"/>
                      </a:ext>
                    </a:extLst>
                  </p:cNvPr>
                  <p:cNvSpPr/>
                  <p:nvPr/>
                </p:nvSpPr>
                <p:spPr>
                  <a:xfrm>
                    <a:off x="6878279" y="4478525"/>
                    <a:ext cx="404049" cy="792000"/>
                  </a:xfrm>
                  <a:prstGeom prst="rect">
                    <a:avLst/>
                  </a:prstGeom>
                  <a:solidFill>
                    <a:srgbClr val="7C89AD"/>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vert270" lIns="0" rIns="0" rtlCol="0" anchor="ctr"/>
                  <a:lstStyle/>
                  <a:p>
                    <a:pPr algn="ctr"/>
                    <a:r>
                      <a:rPr lang="en-IN" sz="700">
                        <a:solidFill>
                          <a:schemeClr val="tx1"/>
                        </a:solidFill>
                        <a:latin typeface="+mj-lt"/>
                      </a:rPr>
                      <a:t>Eliminate</a:t>
                    </a:r>
                  </a:p>
                </p:txBody>
              </p:sp>
              <p:sp>
                <p:nvSpPr>
                  <p:cNvPr id="14" name="Rectangle 13">
                    <a:extLst>
                      <a:ext uri="{FF2B5EF4-FFF2-40B4-BE49-F238E27FC236}">
                        <a16:creationId xmlns:a16="http://schemas.microsoft.com/office/drawing/2014/main" id="{D1FCBA2B-3C66-CD6B-9D70-BE65C76054C5}"/>
                      </a:ext>
                    </a:extLst>
                  </p:cNvPr>
                  <p:cNvSpPr/>
                  <p:nvPr/>
                </p:nvSpPr>
                <p:spPr>
                  <a:xfrm>
                    <a:off x="7319748" y="4478525"/>
                    <a:ext cx="459925" cy="792000"/>
                  </a:xfrm>
                  <a:prstGeom prst="rect">
                    <a:avLst/>
                  </a:prstGeom>
                  <a:solidFill>
                    <a:srgbClr val="7C89AD"/>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vert270" lIns="0" rIns="0" rtlCol="0" anchor="ctr"/>
                  <a:lstStyle/>
                  <a:p>
                    <a:pPr algn="ctr"/>
                    <a:r>
                      <a:rPr lang="en-IN" sz="700">
                        <a:solidFill>
                          <a:schemeClr val="tx1"/>
                        </a:solidFill>
                        <a:latin typeface="+mj-lt"/>
                      </a:rPr>
                      <a:t>Standardize</a:t>
                    </a:r>
                  </a:p>
                </p:txBody>
              </p:sp>
              <p:sp>
                <p:nvSpPr>
                  <p:cNvPr id="15" name="Rectangle 14">
                    <a:extLst>
                      <a:ext uri="{FF2B5EF4-FFF2-40B4-BE49-F238E27FC236}">
                        <a16:creationId xmlns:a16="http://schemas.microsoft.com/office/drawing/2014/main" id="{1F9AF430-D1D7-A3D2-6420-820A203D01EF}"/>
                      </a:ext>
                    </a:extLst>
                  </p:cNvPr>
                  <p:cNvSpPr/>
                  <p:nvPr/>
                </p:nvSpPr>
                <p:spPr>
                  <a:xfrm>
                    <a:off x="7817093" y="4478525"/>
                    <a:ext cx="404049" cy="792000"/>
                  </a:xfrm>
                  <a:prstGeom prst="rect">
                    <a:avLst/>
                  </a:prstGeom>
                  <a:solidFill>
                    <a:srgbClr val="7C89AD"/>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vert270" lIns="0" rIns="0" rtlCol="0" anchor="ctr"/>
                  <a:lstStyle/>
                  <a:p>
                    <a:pPr algn="ctr"/>
                    <a:r>
                      <a:rPr lang="en-IN" sz="700">
                        <a:solidFill>
                          <a:schemeClr val="tx1"/>
                        </a:solidFill>
                        <a:latin typeface="+mj-lt"/>
                      </a:rPr>
                      <a:t>Optimize</a:t>
                    </a:r>
                  </a:p>
                </p:txBody>
              </p:sp>
              <p:sp>
                <p:nvSpPr>
                  <p:cNvPr id="16" name="Rectangle 15">
                    <a:extLst>
                      <a:ext uri="{FF2B5EF4-FFF2-40B4-BE49-F238E27FC236}">
                        <a16:creationId xmlns:a16="http://schemas.microsoft.com/office/drawing/2014/main" id="{F8D6DD91-61B6-F201-BEF7-AB7C61CAB815}"/>
                      </a:ext>
                    </a:extLst>
                  </p:cNvPr>
                  <p:cNvSpPr/>
                  <p:nvPr/>
                </p:nvSpPr>
                <p:spPr>
                  <a:xfrm>
                    <a:off x="8258562" y="4478525"/>
                    <a:ext cx="404049" cy="792000"/>
                  </a:xfrm>
                  <a:prstGeom prst="rect">
                    <a:avLst/>
                  </a:prstGeom>
                  <a:solidFill>
                    <a:srgbClr val="7C89AD"/>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vert270" lIns="0" rIns="0" rtlCol="0" anchor="ctr"/>
                  <a:lstStyle/>
                  <a:p>
                    <a:pPr algn="ctr"/>
                    <a:r>
                      <a:rPr lang="en-IN" sz="700">
                        <a:solidFill>
                          <a:schemeClr val="tx1"/>
                        </a:solidFill>
                        <a:latin typeface="+mj-lt"/>
                      </a:rPr>
                      <a:t>Automate</a:t>
                    </a:r>
                  </a:p>
                </p:txBody>
              </p:sp>
              <p:sp>
                <p:nvSpPr>
                  <p:cNvPr id="17" name="Rectangle 16">
                    <a:extLst>
                      <a:ext uri="{FF2B5EF4-FFF2-40B4-BE49-F238E27FC236}">
                        <a16:creationId xmlns:a16="http://schemas.microsoft.com/office/drawing/2014/main" id="{C3722E88-11A3-1DC3-A931-F8D37C3086E9}"/>
                      </a:ext>
                    </a:extLst>
                  </p:cNvPr>
                  <p:cNvSpPr/>
                  <p:nvPr/>
                </p:nvSpPr>
                <p:spPr>
                  <a:xfrm>
                    <a:off x="8700029" y="4478525"/>
                    <a:ext cx="404049" cy="792000"/>
                  </a:xfrm>
                  <a:prstGeom prst="rect">
                    <a:avLst/>
                  </a:prstGeom>
                  <a:solidFill>
                    <a:srgbClr val="7C89AD"/>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vert270" lIns="0" rIns="0" rtlCol="0" anchor="ctr"/>
                  <a:lstStyle/>
                  <a:p>
                    <a:pPr algn="ctr"/>
                    <a:r>
                      <a:rPr lang="en-IN" sz="700">
                        <a:solidFill>
                          <a:schemeClr val="tx1"/>
                        </a:solidFill>
                        <a:latin typeface="+mj-lt"/>
                      </a:rPr>
                      <a:t>Robotize</a:t>
                    </a:r>
                  </a:p>
                </p:txBody>
              </p:sp>
              <p:sp>
                <p:nvSpPr>
                  <p:cNvPr id="18" name="Rectangle 17">
                    <a:extLst>
                      <a:ext uri="{FF2B5EF4-FFF2-40B4-BE49-F238E27FC236}">
                        <a16:creationId xmlns:a16="http://schemas.microsoft.com/office/drawing/2014/main" id="{0709CFB1-8814-0C95-824C-A97E1348CAEE}"/>
                      </a:ext>
                    </a:extLst>
                  </p:cNvPr>
                  <p:cNvSpPr/>
                  <p:nvPr/>
                </p:nvSpPr>
                <p:spPr>
                  <a:xfrm>
                    <a:off x="6857959" y="4291487"/>
                    <a:ext cx="2277545" cy="154152"/>
                  </a:xfrm>
                  <a:prstGeom prst="rect">
                    <a:avLst/>
                  </a:prstGeom>
                  <a:solidFill>
                    <a:srgbClr val="000F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b="1">
                        <a:solidFill>
                          <a:schemeClr val="bg1"/>
                        </a:solidFill>
                        <a:latin typeface="+mj-lt"/>
                      </a:rPr>
                      <a:t>Capgemini’s ESOAR</a:t>
                    </a:r>
                  </a:p>
                </p:txBody>
              </p:sp>
              <p:sp>
                <p:nvSpPr>
                  <p:cNvPr id="19" name="Rectangle 18">
                    <a:extLst>
                      <a:ext uri="{FF2B5EF4-FFF2-40B4-BE49-F238E27FC236}">
                        <a16:creationId xmlns:a16="http://schemas.microsoft.com/office/drawing/2014/main" id="{EF905EF0-3C8D-D004-6711-6652D2D3BE2C}"/>
                      </a:ext>
                    </a:extLst>
                  </p:cNvPr>
                  <p:cNvSpPr/>
                  <p:nvPr/>
                </p:nvSpPr>
                <p:spPr>
                  <a:xfrm>
                    <a:off x="6857960" y="4262487"/>
                    <a:ext cx="2277544" cy="102812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20" name="Rectangle 19">
                    <a:extLst>
                      <a:ext uri="{FF2B5EF4-FFF2-40B4-BE49-F238E27FC236}">
                        <a16:creationId xmlns:a16="http://schemas.microsoft.com/office/drawing/2014/main" id="{73A6BA57-8272-51A1-71FD-15D575763E60}"/>
                      </a:ext>
                    </a:extLst>
                  </p:cNvPr>
                  <p:cNvSpPr/>
                  <p:nvPr/>
                </p:nvSpPr>
                <p:spPr>
                  <a:xfrm>
                    <a:off x="6857960" y="4262487"/>
                    <a:ext cx="2277544" cy="103142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grpSp>
                <p:nvGrpSpPr>
                  <p:cNvPr id="21" name="Group 20">
                    <a:extLst>
                      <a:ext uri="{FF2B5EF4-FFF2-40B4-BE49-F238E27FC236}">
                        <a16:creationId xmlns:a16="http://schemas.microsoft.com/office/drawing/2014/main" id="{4F6FF255-13E1-7631-377A-4A011B90CFFC}"/>
                      </a:ext>
                    </a:extLst>
                  </p:cNvPr>
                  <p:cNvGrpSpPr/>
                  <p:nvPr/>
                </p:nvGrpSpPr>
                <p:grpSpPr>
                  <a:xfrm>
                    <a:off x="4995634" y="4252488"/>
                    <a:ext cx="1808140" cy="1076672"/>
                    <a:chOff x="4007236" y="4960077"/>
                    <a:chExt cx="1708549" cy="1076672"/>
                  </a:xfrm>
                </p:grpSpPr>
                <p:grpSp>
                  <p:nvGrpSpPr>
                    <p:cNvPr id="22" name="Group 21">
                      <a:extLst>
                        <a:ext uri="{FF2B5EF4-FFF2-40B4-BE49-F238E27FC236}">
                          <a16:creationId xmlns:a16="http://schemas.microsoft.com/office/drawing/2014/main" id="{E73A4393-C3B3-9356-B2FB-6270B957BA04}"/>
                        </a:ext>
                      </a:extLst>
                    </p:cNvPr>
                    <p:cNvGrpSpPr/>
                    <p:nvPr/>
                  </p:nvGrpSpPr>
                  <p:grpSpPr>
                    <a:xfrm>
                      <a:off x="4033630" y="4999633"/>
                      <a:ext cx="1682155" cy="1037116"/>
                      <a:chOff x="6824223" y="4915308"/>
                      <a:chExt cx="1904543" cy="1259511"/>
                    </a:xfrm>
                  </p:grpSpPr>
                  <p:grpSp>
                    <p:nvGrpSpPr>
                      <p:cNvPr id="24" name="Group 23">
                        <a:extLst>
                          <a:ext uri="{FF2B5EF4-FFF2-40B4-BE49-F238E27FC236}">
                            <a16:creationId xmlns:a16="http://schemas.microsoft.com/office/drawing/2014/main" id="{3601B08E-93EE-1870-8446-46C6234AD487}"/>
                          </a:ext>
                        </a:extLst>
                      </p:cNvPr>
                      <p:cNvGrpSpPr/>
                      <p:nvPr/>
                    </p:nvGrpSpPr>
                    <p:grpSpPr>
                      <a:xfrm>
                        <a:off x="7470048" y="4915492"/>
                        <a:ext cx="1242531" cy="638405"/>
                        <a:chOff x="729571" y="504"/>
                        <a:chExt cx="1308650" cy="591881"/>
                      </a:xfrm>
                    </p:grpSpPr>
                    <p:sp>
                      <p:nvSpPr>
                        <p:cNvPr id="30" name="Rectangle 29">
                          <a:extLst>
                            <a:ext uri="{FF2B5EF4-FFF2-40B4-BE49-F238E27FC236}">
                              <a16:creationId xmlns:a16="http://schemas.microsoft.com/office/drawing/2014/main" id="{6D80DA0D-9731-A08D-08BF-3FFA63DBC4C9}"/>
                            </a:ext>
                          </a:extLst>
                        </p:cNvPr>
                        <p:cNvSpPr/>
                        <p:nvPr/>
                      </p:nvSpPr>
                      <p:spPr>
                        <a:xfrm>
                          <a:off x="729571" y="504"/>
                          <a:ext cx="1308650" cy="591881"/>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IN"/>
                        </a:p>
                      </p:txBody>
                    </p:sp>
                    <p:sp>
                      <p:nvSpPr>
                        <p:cNvPr id="31" name="TextBox 30">
                          <a:extLst>
                            <a:ext uri="{FF2B5EF4-FFF2-40B4-BE49-F238E27FC236}">
                              <a16:creationId xmlns:a16="http://schemas.microsoft.com/office/drawing/2014/main" id="{5582C4ED-98DC-21F7-3DEA-C8FBC48A2851}"/>
                            </a:ext>
                          </a:extLst>
                        </p:cNvPr>
                        <p:cNvSpPr txBox="1"/>
                        <p:nvPr/>
                      </p:nvSpPr>
                      <p:spPr>
                        <a:xfrm>
                          <a:off x="729571" y="504"/>
                          <a:ext cx="1308650" cy="591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000" kern="1200"/>
                            <a:t>Industry Best Practises</a:t>
                          </a:r>
                        </a:p>
                      </p:txBody>
                    </p:sp>
                  </p:grpSp>
                  <p:sp>
                    <p:nvSpPr>
                      <p:cNvPr id="25" name="Rectangle 24" descr="Handshake outline">
                        <a:extLst>
                          <a:ext uri="{FF2B5EF4-FFF2-40B4-BE49-F238E27FC236}">
                            <a16:creationId xmlns:a16="http://schemas.microsoft.com/office/drawing/2014/main" id="{BDD0BE11-0A5F-4442-E868-D5953A8CFCE4}"/>
                          </a:ext>
                        </a:extLst>
                      </p:cNvPr>
                      <p:cNvSpPr/>
                      <p:nvPr/>
                    </p:nvSpPr>
                    <p:spPr>
                      <a:xfrm>
                        <a:off x="6824223" y="4915308"/>
                        <a:ext cx="556357" cy="638405"/>
                      </a:xfrm>
                      <a:prstGeom prst="rect">
                        <a:avLst/>
                      </a:prstGeom>
                      <a:blipFill>
                        <a:blip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l="-1000" r="-1000"/>
                        </a:stretch>
                      </a:blip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a:lstStyle/>
                      <a:p>
                        <a:endParaRPr lang="en-IN"/>
                      </a:p>
                    </p:txBody>
                  </p:sp>
                  <p:grpSp>
                    <p:nvGrpSpPr>
                      <p:cNvPr id="26" name="Group 25">
                        <a:extLst>
                          <a:ext uri="{FF2B5EF4-FFF2-40B4-BE49-F238E27FC236}">
                            <a16:creationId xmlns:a16="http://schemas.microsoft.com/office/drawing/2014/main" id="{A8455FC8-4351-7BE0-9E6E-C262541485C9}"/>
                          </a:ext>
                        </a:extLst>
                      </p:cNvPr>
                      <p:cNvGrpSpPr/>
                      <p:nvPr/>
                    </p:nvGrpSpPr>
                    <p:grpSpPr>
                      <a:xfrm>
                        <a:off x="6839313" y="5547555"/>
                        <a:ext cx="1176910" cy="627264"/>
                        <a:chOff x="102965" y="703775"/>
                        <a:chExt cx="1239537" cy="581552"/>
                      </a:xfrm>
                    </p:grpSpPr>
                    <p:sp>
                      <p:nvSpPr>
                        <p:cNvPr id="28" name="Rectangle 27">
                          <a:extLst>
                            <a:ext uri="{FF2B5EF4-FFF2-40B4-BE49-F238E27FC236}">
                              <a16:creationId xmlns:a16="http://schemas.microsoft.com/office/drawing/2014/main" id="{0499B217-486C-FF8D-8E34-5709CD68253B}"/>
                            </a:ext>
                          </a:extLst>
                        </p:cNvPr>
                        <p:cNvSpPr/>
                        <p:nvPr/>
                      </p:nvSpPr>
                      <p:spPr>
                        <a:xfrm>
                          <a:off x="102965" y="703775"/>
                          <a:ext cx="1231018" cy="550514"/>
                        </a:xfrm>
                        <a:prstGeom prst="rect">
                          <a:avLst/>
                        </a:prstGeom>
                        <a:solidFill>
                          <a:srgbClr val="000F1D"/>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IN"/>
                        </a:p>
                      </p:txBody>
                    </p:sp>
                    <p:sp>
                      <p:nvSpPr>
                        <p:cNvPr id="29" name="TextBox 28">
                          <a:extLst>
                            <a:ext uri="{FF2B5EF4-FFF2-40B4-BE49-F238E27FC236}">
                              <a16:creationId xmlns:a16="http://schemas.microsoft.com/office/drawing/2014/main" id="{70F25B58-7A8C-FE24-D56B-62167FBC22FB}"/>
                            </a:ext>
                          </a:extLst>
                        </p:cNvPr>
                        <p:cNvSpPr txBox="1"/>
                        <p:nvPr/>
                      </p:nvSpPr>
                      <p:spPr>
                        <a:xfrm>
                          <a:off x="111483" y="734813"/>
                          <a:ext cx="1231019" cy="5505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000" kern="1200" err="1"/>
                            <a:t>TMForum</a:t>
                          </a:r>
                          <a:r>
                            <a:rPr lang="en-IN" sz="1000" kern="1200"/>
                            <a:t> </a:t>
                          </a:r>
                          <a:r>
                            <a:rPr lang="en-IN" sz="1000"/>
                            <a:t>Framework</a:t>
                          </a:r>
                          <a:endParaRPr lang="en-IN" sz="1000" kern="1200"/>
                        </a:p>
                      </p:txBody>
                    </p:sp>
                  </p:grpSp>
                  <p:sp>
                    <p:nvSpPr>
                      <p:cNvPr id="27" name="Rectangle 26" descr="Network outline">
                        <a:extLst>
                          <a:ext uri="{FF2B5EF4-FFF2-40B4-BE49-F238E27FC236}">
                            <a16:creationId xmlns:a16="http://schemas.microsoft.com/office/drawing/2014/main" id="{68195521-668F-CB9B-C16F-200B0825AC5D}"/>
                          </a:ext>
                        </a:extLst>
                      </p:cNvPr>
                      <p:cNvSpPr/>
                      <p:nvPr/>
                    </p:nvSpPr>
                    <p:spPr>
                      <a:xfrm>
                        <a:off x="8205413" y="5547554"/>
                        <a:ext cx="523353" cy="593786"/>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l="-1000" r="-1000"/>
                        </a:stretch>
                      </a:blip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a:lstStyle/>
                      <a:p>
                        <a:endParaRPr lang="en-IN"/>
                      </a:p>
                    </p:txBody>
                  </p:sp>
                </p:grpSp>
                <p:sp>
                  <p:nvSpPr>
                    <p:cNvPr id="23" name="Rectangle 22">
                      <a:extLst>
                        <a:ext uri="{FF2B5EF4-FFF2-40B4-BE49-F238E27FC236}">
                          <a16:creationId xmlns:a16="http://schemas.microsoft.com/office/drawing/2014/main" id="{BC2157D2-26ED-20F3-1C69-518E42D48FD6}"/>
                        </a:ext>
                      </a:extLst>
                    </p:cNvPr>
                    <p:cNvSpPr/>
                    <p:nvPr/>
                  </p:nvSpPr>
                  <p:spPr>
                    <a:xfrm>
                      <a:off x="4007236" y="4960077"/>
                      <a:ext cx="1694271" cy="104567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grpSp>
            </p:grpSp>
            <p:sp>
              <p:nvSpPr>
                <p:cNvPr id="10" name="Rectangle 9">
                  <a:extLst>
                    <a:ext uri="{FF2B5EF4-FFF2-40B4-BE49-F238E27FC236}">
                      <a16:creationId xmlns:a16="http://schemas.microsoft.com/office/drawing/2014/main" id="{A057F7FC-453C-15A0-56A2-EBB09DFC20D0}"/>
                    </a:ext>
                  </a:extLst>
                </p:cNvPr>
                <p:cNvSpPr/>
                <p:nvPr/>
              </p:nvSpPr>
              <p:spPr>
                <a:xfrm>
                  <a:off x="2411902" y="4440598"/>
                  <a:ext cx="2320983" cy="979184"/>
                </a:xfrm>
                <a:prstGeom prst="rect">
                  <a:avLst/>
                </a:prstGeom>
                <a:noFill/>
                <a:ln w="12700">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IN" sz="1100" b="1">
                      <a:solidFill>
                        <a:schemeClr val="bg1"/>
                      </a:solidFill>
                    </a:rPr>
                    <a:t>Inputs:</a:t>
                  </a:r>
                </a:p>
                <a:p>
                  <a:pPr marL="85725" indent="-85725">
                    <a:buFont typeface="Arial" panose="020B0604020202020204" pitchFamily="34" charset="0"/>
                    <a:buChar char="•"/>
                  </a:pPr>
                  <a:r>
                    <a:rPr lang="en-IN" sz="1050" i="1">
                      <a:solidFill>
                        <a:schemeClr val="bg1"/>
                      </a:solidFill>
                    </a:rPr>
                    <a:t>Maxis’s </a:t>
                  </a:r>
                  <a:r>
                    <a:rPr lang="en-IN" sz="1050">
                      <a:solidFill>
                        <a:schemeClr val="bg1"/>
                      </a:solidFill>
                    </a:rPr>
                    <a:t>Business Strategy</a:t>
                  </a:r>
                </a:p>
                <a:p>
                  <a:pPr marL="85725" indent="-85725">
                    <a:buFont typeface="Arial" panose="020B0604020202020204" pitchFamily="34" charset="0"/>
                    <a:buChar char="•"/>
                  </a:pPr>
                  <a:r>
                    <a:rPr lang="en-IN" sz="1050">
                      <a:solidFill>
                        <a:schemeClr val="bg1"/>
                      </a:solidFill>
                    </a:rPr>
                    <a:t>Network infrastructure &amp; asset base (fibre, subsea, capacity)</a:t>
                  </a:r>
                </a:p>
                <a:p>
                  <a:pPr marL="85725" indent="-85725">
                    <a:buFont typeface="Arial" panose="020B0604020202020204" pitchFamily="34" charset="0"/>
                    <a:buChar char="•"/>
                  </a:pPr>
                  <a:r>
                    <a:rPr lang="en-IN" sz="1050">
                      <a:solidFill>
                        <a:schemeClr val="bg1"/>
                      </a:solidFill>
                    </a:rPr>
                    <a:t>Existing pricing, contracts, and partnerships</a:t>
                  </a:r>
                </a:p>
              </p:txBody>
            </p:sp>
          </p:grpSp>
          <p:sp>
            <p:nvSpPr>
              <p:cNvPr id="64" name="Arrow: Right 63">
                <a:extLst>
                  <a:ext uri="{FF2B5EF4-FFF2-40B4-BE49-F238E27FC236}">
                    <a16:creationId xmlns:a16="http://schemas.microsoft.com/office/drawing/2014/main" id="{D35B7285-A048-6EF7-7486-789BB82C4AA4}"/>
                  </a:ext>
                </a:extLst>
              </p:cNvPr>
              <p:cNvSpPr/>
              <p:nvPr/>
            </p:nvSpPr>
            <p:spPr>
              <a:xfrm rot="16200000">
                <a:off x="3349881" y="4145147"/>
                <a:ext cx="277897" cy="266617"/>
              </a:xfrm>
              <a:prstGeom prst="rightArrow">
                <a:avLst>
                  <a:gd name="adj1" fmla="val 50000"/>
                  <a:gd name="adj2" fmla="val 54488"/>
                </a:avLst>
              </a:prstGeom>
              <a:solidFill>
                <a:schemeClr val="tx1">
                  <a:lumMod val="50000"/>
                  <a:lumOff val="50000"/>
                  <a:alpha val="63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66" name="Arrow: Right 65">
                <a:extLst>
                  <a:ext uri="{FF2B5EF4-FFF2-40B4-BE49-F238E27FC236}">
                    <a16:creationId xmlns:a16="http://schemas.microsoft.com/office/drawing/2014/main" id="{9D41A610-06D2-F140-B6E3-CD666F6B369D}"/>
                  </a:ext>
                </a:extLst>
              </p:cNvPr>
              <p:cNvSpPr/>
              <p:nvPr/>
            </p:nvSpPr>
            <p:spPr>
              <a:xfrm rot="16200000">
                <a:off x="5699152" y="4145147"/>
                <a:ext cx="277897" cy="266617"/>
              </a:xfrm>
              <a:prstGeom prst="rightArrow">
                <a:avLst>
                  <a:gd name="adj1" fmla="val 50000"/>
                  <a:gd name="adj2" fmla="val 54488"/>
                </a:avLst>
              </a:prstGeom>
              <a:solidFill>
                <a:schemeClr val="tx1">
                  <a:lumMod val="50000"/>
                  <a:lumOff val="50000"/>
                  <a:alpha val="63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67" name="Arrow: Right 66">
                <a:extLst>
                  <a:ext uri="{FF2B5EF4-FFF2-40B4-BE49-F238E27FC236}">
                    <a16:creationId xmlns:a16="http://schemas.microsoft.com/office/drawing/2014/main" id="{B5B34AE0-B842-93A4-F602-C53D8B3721B8}"/>
                  </a:ext>
                </a:extLst>
              </p:cNvPr>
              <p:cNvSpPr/>
              <p:nvPr/>
            </p:nvSpPr>
            <p:spPr>
              <a:xfrm rot="16200000">
                <a:off x="8048423" y="4145147"/>
                <a:ext cx="277897" cy="266617"/>
              </a:xfrm>
              <a:prstGeom prst="rightArrow">
                <a:avLst>
                  <a:gd name="adj1" fmla="val 50000"/>
                  <a:gd name="adj2" fmla="val 54488"/>
                </a:avLst>
              </a:prstGeom>
              <a:solidFill>
                <a:schemeClr val="tx1">
                  <a:lumMod val="50000"/>
                  <a:lumOff val="50000"/>
                  <a:alpha val="63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grpSp>
        <p:grpSp>
          <p:nvGrpSpPr>
            <p:cNvPr id="77" name="Group 76">
              <a:extLst>
                <a:ext uri="{FF2B5EF4-FFF2-40B4-BE49-F238E27FC236}">
                  <a16:creationId xmlns:a16="http://schemas.microsoft.com/office/drawing/2014/main" id="{5CA19D6D-1039-2AB7-A22E-6759B9A3B7D7}"/>
                </a:ext>
              </a:extLst>
            </p:cNvPr>
            <p:cNvGrpSpPr/>
            <p:nvPr/>
          </p:nvGrpSpPr>
          <p:grpSpPr>
            <a:xfrm>
              <a:off x="243295" y="1161985"/>
              <a:ext cx="11810339" cy="2976092"/>
              <a:chOff x="243295" y="1290826"/>
              <a:chExt cx="11810339" cy="2976092"/>
            </a:xfrm>
          </p:grpSpPr>
          <p:grpSp>
            <p:nvGrpSpPr>
              <p:cNvPr id="70" name="Group 69">
                <a:extLst>
                  <a:ext uri="{FF2B5EF4-FFF2-40B4-BE49-F238E27FC236}">
                    <a16:creationId xmlns:a16="http://schemas.microsoft.com/office/drawing/2014/main" id="{B74FACD3-32FB-EE41-533D-C9AAEE60F6E3}"/>
                  </a:ext>
                </a:extLst>
              </p:cNvPr>
              <p:cNvGrpSpPr/>
              <p:nvPr/>
            </p:nvGrpSpPr>
            <p:grpSpPr>
              <a:xfrm>
                <a:off x="9620743" y="1290826"/>
                <a:ext cx="2432891" cy="2976092"/>
                <a:chOff x="9620743" y="932473"/>
                <a:chExt cx="2432891" cy="2976092"/>
              </a:xfrm>
            </p:grpSpPr>
            <p:sp>
              <p:nvSpPr>
                <p:cNvPr id="9" name="Rectangle 8">
                  <a:extLst>
                    <a:ext uri="{FF2B5EF4-FFF2-40B4-BE49-F238E27FC236}">
                      <a16:creationId xmlns:a16="http://schemas.microsoft.com/office/drawing/2014/main" id="{ED973980-77EA-F785-0C54-86982355870B}"/>
                    </a:ext>
                  </a:extLst>
                </p:cNvPr>
                <p:cNvSpPr/>
                <p:nvPr/>
              </p:nvSpPr>
              <p:spPr>
                <a:xfrm>
                  <a:off x="9620743" y="932473"/>
                  <a:ext cx="2432891" cy="2976092"/>
                </a:xfrm>
                <a:prstGeom prst="rect">
                  <a:avLst/>
                </a:prstGeom>
                <a:noFill/>
                <a:ln w="12700">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35" name="Rectangle 34">
                  <a:extLst>
                    <a:ext uri="{FF2B5EF4-FFF2-40B4-BE49-F238E27FC236}">
                      <a16:creationId xmlns:a16="http://schemas.microsoft.com/office/drawing/2014/main" id="{8E5FC770-5479-C687-0B14-6406486B6A20}"/>
                    </a:ext>
                  </a:extLst>
                </p:cNvPr>
                <p:cNvSpPr/>
                <p:nvPr/>
              </p:nvSpPr>
              <p:spPr>
                <a:xfrm>
                  <a:off x="9835413" y="1014122"/>
                  <a:ext cx="2000643" cy="750088"/>
                </a:xfrm>
                <a:prstGeom prst="rect">
                  <a:avLst/>
                </a:prstGeom>
                <a:solidFill>
                  <a:srgbClr val="7C89AD"/>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b"/>
                <a:lstStyle/>
                <a:p>
                  <a:r>
                    <a:rPr lang="en-IN" sz="800" b="1">
                      <a:solidFill>
                        <a:schemeClr val="tx1"/>
                      </a:solidFill>
                    </a:rPr>
                    <a:t>Revamped Business Model</a:t>
                  </a:r>
                </a:p>
                <a:p>
                  <a:pPr marL="171450" indent="-171450">
                    <a:buFont typeface="Arial" panose="020B0604020202020204" pitchFamily="34" charset="0"/>
                    <a:buChar char="•"/>
                  </a:pPr>
                  <a:r>
                    <a:rPr lang="en-IN" sz="800">
                      <a:solidFill>
                        <a:schemeClr val="tx1"/>
                      </a:solidFill>
                    </a:rPr>
                    <a:t>Wholesale monetisation strategy</a:t>
                  </a:r>
                </a:p>
                <a:p>
                  <a:pPr marL="171450" indent="-171450">
                    <a:buFont typeface="Arial" panose="020B0604020202020204" pitchFamily="34" charset="0"/>
                    <a:buChar char="•"/>
                  </a:pPr>
                  <a:r>
                    <a:rPr lang="en-IN" sz="800" err="1">
                      <a:solidFill>
                        <a:schemeClr val="tx1"/>
                      </a:solidFill>
                    </a:rPr>
                    <a:t>Hyperscaler</a:t>
                  </a:r>
                  <a:r>
                    <a:rPr lang="en-IN" sz="800">
                      <a:solidFill>
                        <a:schemeClr val="tx1"/>
                      </a:solidFill>
                    </a:rPr>
                    <a:t> &amp; ecosystem partnerships</a:t>
                  </a:r>
                </a:p>
                <a:p>
                  <a:pPr marL="171450" indent="-171450">
                    <a:buFont typeface="Arial" panose="020B0604020202020204" pitchFamily="34" charset="0"/>
                    <a:buChar char="•"/>
                  </a:pPr>
                  <a:r>
                    <a:rPr lang="en-IN" sz="800">
                      <a:solidFill>
                        <a:schemeClr val="tx1"/>
                      </a:solidFill>
                    </a:rPr>
                    <a:t>New revenue pools (DC, APIs, cross-border capacity)</a:t>
                  </a:r>
                </a:p>
              </p:txBody>
            </p:sp>
            <p:sp>
              <p:nvSpPr>
                <p:cNvPr id="36" name="Rectangle 35">
                  <a:extLst>
                    <a:ext uri="{FF2B5EF4-FFF2-40B4-BE49-F238E27FC236}">
                      <a16:creationId xmlns:a16="http://schemas.microsoft.com/office/drawing/2014/main" id="{B01ED2EC-DEDD-0B11-1522-339DDAC971BD}"/>
                    </a:ext>
                  </a:extLst>
                </p:cNvPr>
                <p:cNvSpPr/>
                <p:nvPr/>
              </p:nvSpPr>
              <p:spPr>
                <a:xfrm>
                  <a:off x="9835413" y="1811442"/>
                  <a:ext cx="2000643" cy="615745"/>
                </a:xfrm>
                <a:prstGeom prst="rect">
                  <a:avLst/>
                </a:prstGeom>
                <a:solidFill>
                  <a:srgbClr val="7C89AD"/>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b"/>
                <a:lstStyle/>
                <a:p>
                  <a:r>
                    <a:rPr lang="en-IN" sz="800" b="1">
                      <a:solidFill>
                        <a:schemeClr val="tx1"/>
                      </a:solidFill>
                    </a:rPr>
                    <a:t>Optimized Product portfolio</a:t>
                  </a:r>
                </a:p>
                <a:p>
                  <a:pPr marL="171450" indent="-171450">
                    <a:buFont typeface="Arial" panose="020B0604020202020204" pitchFamily="34" charset="0"/>
                    <a:buChar char="•"/>
                  </a:pPr>
                  <a:r>
                    <a:rPr lang="en-IN" sz="800">
                      <a:solidFill>
                        <a:schemeClr val="tx1"/>
                      </a:solidFill>
                    </a:rPr>
                    <a:t>Connectivity (fibre, subsea, routes)</a:t>
                  </a:r>
                </a:p>
                <a:p>
                  <a:pPr marL="171450" indent="-171450">
                    <a:buFont typeface="Arial" panose="020B0604020202020204" pitchFamily="34" charset="0"/>
                    <a:buChar char="•"/>
                  </a:pPr>
                  <a:r>
                    <a:rPr lang="en-IN" sz="800">
                      <a:solidFill>
                        <a:schemeClr val="tx1"/>
                      </a:solidFill>
                    </a:rPr>
                    <a:t>IP Transit &amp; DC interconnect offerings</a:t>
                  </a:r>
                </a:p>
                <a:p>
                  <a:pPr marL="171450" indent="-171450">
                    <a:buFont typeface="Arial" panose="020B0604020202020204" pitchFamily="34" charset="0"/>
                    <a:buChar char="•"/>
                  </a:pPr>
                  <a:r>
                    <a:rPr lang="en-IN" sz="800">
                      <a:solidFill>
                        <a:schemeClr val="tx1"/>
                      </a:solidFill>
                    </a:rPr>
                    <a:t>Pricing models (IRU, capacity, usage-based)</a:t>
                  </a:r>
                </a:p>
              </p:txBody>
            </p:sp>
            <p:sp>
              <p:nvSpPr>
                <p:cNvPr id="37" name="Rectangle 36">
                  <a:extLst>
                    <a:ext uri="{FF2B5EF4-FFF2-40B4-BE49-F238E27FC236}">
                      <a16:creationId xmlns:a16="http://schemas.microsoft.com/office/drawing/2014/main" id="{2E9317A5-018B-C12E-A078-F9E18141C5E5}"/>
                    </a:ext>
                  </a:extLst>
                </p:cNvPr>
                <p:cNvSpPr/>
                <p:nvPr/>
              </p:nvSpPr>
              <p:spPr>
                <a:xfrm>
                  <a:off x="9839880" y="2474419"/>
                  <a:ext cx="2000643" cy="615745"/>
                </a:xfrm>
                <a:prstGeom prst="rect">
                  <a:avLst/>
                </a:prstGeom>
                <a:solidFill>
                  <a:srgbClr val="7C89AD"/>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b"/>
                <a:lstStyle/>
                <a:p>
                  <a:r>
                    <a:rPr lang="en-IN" sz="800" b="1">
                      <a:solidFill>
                        <a:schemeClr val="tx1"/>
                      </a:solidFill>
                    </a:rPr>
                    <a:t>New GTM Strategy</a:t>
                  </a:r>
                </a:p>
                <a:p>
                  <a:pPr marL="171450" indent="-171450">
                    <a:buFont typeface="Arial" panose="020B0604020202020204" pitchFamily="34" charset="0"/>
                    <a:buChar char="•"/>
                  </a:pPr>
                  <a:r>
                    <a:rPr lang="en-IN" sz="800">
                      <a:solidFill>
                        <a:schemeClr val="tx1"/>
                      </a:solidFill>
                    </a:rPr>
                    <a:t>Segment prioritisation (</a:t>
                  </a:r>
                  <a:r>
                    <a:rPr lang="en-IN" sz="800" err="1">
                      <a:solidFill>
                        <a:schemeClr val="tx1"/>
                      </a:solidFill>
                    </a:rPr>
                    <a:t>hyperscalers</a:t>
                  </a:r>
                  <a:r>
                    <a:rPr lang="en-IN" sz="800">
                      <a:solidFill>
                        <a:schemeClr val="tx1"/>
                      </a:solidFill>
                    </a:rPr>
                    <a:t>, OTTs, MVNOs, carriers)</a:t>
                  </a:r>
                </a:p>
                <a:p>
                  <a:pPr marL="171450" indent="-171450">
                    <a:buFont typeface="Arial" panose="020B0604020202020204" pitchFamily="34" charset="0"/>
                    <a:buChar char="•"/>
                  </a:pPr>
                  <a:r>
                    <a:rPr lang="en-IN" sz="800">
                      <a:solidFill>
                        <a:schemeClr val="tx1"/>
                      </a:solidFill>
                    </a:rPr>
                    <a:t>Target routes &amp; geographies</a:t>
                  </a:r>
                </a:p>
                <a:p>
                  <a:pPr marL="171450" indent="-171450">
                    <a:buFont typeface="Arial" panose="020B0604020202020204" pitchFamily="34" charset="0"/>
                    <a:buChar char="•"/>
                  </a:pPr>
                  <a:r>
                    <a:rPr lang="en-IN" sz="800">
                      <a:solidFill>
                        <a:schemeClr val="tx1"/>
                      </a:solidFill>
                    </a:rPr>
                    <a:t>Wholesale brand positioning</a:t>
                  </a:r>
                </a:p>
              </p:txBody>
            </p:sp>
            <p:sp>
              <p:nvSpPr>
                <p:cNvPr id="38" name="TextBox 37">
                  <a:extLst>
                    <a:ext uri="{FF2B5EF4-FFF2-40B4-BE49-F238E27FC236}">
                      <a16:creationId xmlns:a16="http://schemas.microsoft.com/office/drawing/2014/main" id="{7FE5B081-56F5-BDC4-2CE4-5CBFD0D5D380}"/>
                    </a:ext>
                  </a:extLst>
                </p:cNvPr>
                <p:cNvSpPr txBox="1"/>
                <p:nvPr/>
              </p:nvSpPr>
              <p:spPr>
                <a:xfrm>
                  <a:off x="9830946" y="3137396"/>
                  <a:ext cx="2005110" cy="636480"/>
                </a:xfrm>
                <a:prstGeom prst="rect">
                  <a:avLst/>
                </a:prstGeom>
                <a:solidFill>
                  <a:srgbClr val="7C89AD"/>
                </a:solidFill>
                <a:ln>
                  <a:solidFill>
                    <a:schemeClr val="tx2"/>
                  </a:solidFill>
                </a:ln>
              </p:spPr>
              <p:txBody>
                <a:bodyPr wrap="square" lIns="36000" tIns="0" rIns="36000" bIns="0" anchor="t">
                  <a:noAutofit/>
                </a:bodyPr>
                <a:lstStyle/>
                <a:p>
                  <a:r>
                    <a:rPr lang="en-IN" sz="800" b="1"/>
                    <a:t>Revamped Operating Model</a:t>
                  </a:r>
                </a:p>
                <a:p>
                  <a:pPr marL="171450" indent="-171450">
                    <a:buFont typeface="Arial" panose="020B0604020202020204" pitchFamily="34" charset="0"/>
                    <a:buChar char="•"/>
                  </a:pPr>
                  <a:r>
                    <a:rPr lang="en-IN" sz="800"/>
                    <a:t>Wholesale organisation structure</a:t>
                  </a:r>
                </a:p>
                <a:p>
                  <a:pPr marL="171450" indent="-171450">
                    <a:buFont typeface="Arial" panose="020B0604020202020204" pitchFamily="34" charset="0"/>
                    <a:buChar char="•"/>
                  </a:pPr>
                  <a:r>
                    <a:rPr lang="en-IN" sz="800"/>
                    <a:t>KRAs / RACIs aligned to growth</a:t>
                  </a:r>
                </a:p>
                <a:p>
                  <a:pPr marL="171450" indent="-171450">
                    <a:buFont typeface="Arial" panose="020B0604020202020204" pitchFamily="34" charset="0"/>
                    <a:buChar char="•"/>
                  </a:pPr>
                  <a:r>
                    <a:rPr lang="en-IN" sz="800"/>
                    <a:t>Data, tools &amp; analytics for market intelligence</a:t>
                  </a:r>
                  <a:endParaRPr lang="en-IN" sz="800">
                    <a:solidFill>
                      <a:schemeClr val="tx1"/>
                    </a:solidFill>
                  </a:endParaRPr>
                </a:p>
              </p:txBody>
            </p:sp>
          </p:grpSp>
          <p:grpSp>
            <p:nvGrpSpPr>
              <p:cNvPr id="69" name="Group 68">
                <a:extLst>
                  <a:ext uri="{FF2B5EF4-FFF2-40B4-BE49-F238E27FC236}">
                    <a16:creationId xmlns:a16="http://schemas.microsoft.com/office/drawing/2014/main" id="{C5D86E26-29B8-3ED9-F662-EA8F076D6FC0}"/>
                  </a:ext>
                </a:extLst>
              </p:cNvPr>
              <p:cNvGrpSpPr/>
              <p:nvPr/>
            </p:nvGrpSpPr>
            <p:grpSpPr>
              <a:xfrm>
                <a:off x="243295" y="1290826"/>
                <a:ext cx="1796269" cy="2976092"/>
                <a:chOff x="243295" y="932473"/>
                <a:chExt cx="1796269" cy="3119678"/>
              </a:xfrm>
            </p:grpSpPr>
            <p:sp>
              <p:nvSpPr>
                <p:cNvPr id="8" name="Rectangle 7">
                  <a:extLst>
                    <a:ext uri="{FF2B5EF4-FFF2-40B4-BE49-F238E27FC236}">
                      <a16:creationId xmlns:a16="http://schemas.microsoft.com/office/drawing/2014/main" id="{5F191A9D-C39A-C873-4FA8-C09B2F93C152}"/>
                    </a:ext>
                  </a:extLst>
                </p:cNvPr>
                <p:cNvSpPr/>
                <p:nvPr/>
              </p:nvSpPr>
              <p:spPr>
                <a:xfrm>
                  <a:off x="243295" y="932473"/>
                  <a:ext cx="1796269" cy="3119678"/>
                </a:xfrm>
                <a:prstGeom prst="rect">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solidFill>
                      <a:schemeClr val="bg1"/>
                    </a:solidFill>
                  </a:endParaRPr>
                </a:p>
              </p:txBody>
            </p:sp>
            <p:sp>
              <p:nvSpPr>
                <p:cNvPr id="32" name="TextBox 31">
                  <a:extLst>
                    <a:ext uri="{FF2B5EF4-FFF2-40B4-BE49-F238E27FC236}">
                      <a16:creationId xmlns:a16="http://schemas.microsoft.com/office/drawing/2014/main" id="{3CDAD753-E224-7E0B-7C38-557C014317CF}"/>
                    </a:ext>
                  </a:extLst>
                </p:cNvPr>
                <p:cNvSpPr txBox="1"/>
                <p:nvPr/>
              </p:nvSpPr>
              <p:spPr>
                <a:xfrm>
                  <a:off x="716566" y="2550956"/>
                  <a:ext cx="1208168" cy="587636"/>
                </a:xfrm>
                <a:prstGeom prst="rect">
                  <a:avLst/>
                </a:prstGeom>
                <a:solidFill>
                  <a:schemeClr val="accent2"/>
                </a:solidFill>
                <a:ln>
                  <a:solidFill>
                    <a:schemeClr val="bg1"/>
                  </a:solidFill>
                </a:ln>
              </p:spPr>
              <p:txBody>
                <a:bodyPr wrap="square" rtlCol="0" anchor="ctr">
                  <a:noAutofit/>
                </a:bodyPr>
                <a:lstStyle/>
                <a:p>
                  <a:pPr algn="ctr"/>
                  <a:r>
                    <a:rPr lang="en-IN" sz="1050" b="1">
                      <a:solidFill>
                        <a:schemeClr val="bg1"/>
                      </a:solidFill>
                    </a:rPr>
                    <a:t>Products &amp; Services</a:t>
                  </a:r>
                </a:p>
              </p:txBody>
            </p:sp>
            <p:sp>
              <p:nvSpPr>
                <p:cNvPr id="33" name="TextBox 32">
                  <a:extLst>
                    <a:ext uri="{FF2B5EF4-FFF2-40B4-BE49-F238E27FC236}">
                      <a16:creationId xmlns:a16="http://schemas.microsoft.com/office/drawing/2014/main" id="{722C983A-C2C4-4553-7F9E-29497B52FE7C}"/>
                    </a:ext>
                  </a:extLst>
                </p:cNvPr>
                <p:cNvSpPr txBox="1"/>
                <p:nvPr/>
              </p:nvSpPr>
              <p:spPr>
                <a:xfrm>
                  <a:off x="730464" y="3247289"/>
                  <a:ext cx="1180372" cy="587636"/>
                </a:xfrm>
                <a:prstGeom prst="rect">
                  <a:avLst/>
                </a:prstGeom>
                <a:solidFill>
                  <a:schemeClr val="accent2"/>
                </a:solidFill>
                <a:ln>
                  <a:solidFill>
                    <a:schemeClr val="bg1"/>
                  </a:solidFill>
                </a:ln>
              </p:spPr>
              <p:txBody>
                <a:bodyPr wrap="square" rtlCol="0" anchor="ctr">
                  <a:noAutofit/>
                </a:bodyPr>
                <a:lstStyle/>
                <a:p>
                  <a:pPr algn="ctr"/>
                  <a:r>
                    <a:rPr lang="en-IN" sz="1050" b="1">
                      <a:solidFill>
                        <a:schemeClr val="bg1"/>
                      </a:solidFill>
                    </a:rPr>
                    <a:t>Operating Model</a:t>
                  </a:r>
                </a:p>
              </p:txBody>
            </p:sp>
            <p:sp>
              <p:nvSpPr>
                <p:cNvPr id="39" name="TextBox 38">
                  <a:extLst>
                    <a:ext uri="{FF2B5EF4-FFF2-40B4-BE49-F238E27FC236}">
                      <a16:creationId xmlns:a16="http://schemas.microsoft.com/office/drawing/2014/main" id="{F7DAB819-BC6F-40D5-80F6-80D97D1B30D6}"/>
                    </a:ext>
                  </a:extLst>
                </p:cNvPr>
                <p:cNvSpPr txBox="1"/>
                <p:nvPr/>
              </p:nvSpPr>
              <p:spPr>
                <a:xfrm>
                  <a:off x="716566" y="1158287"/>
                  <a:ext cx="1208168" cy="587636"/>
                </a:xfrm>
                <a:prstGeom prst="rect">
                  <a:avLst/>
                </a:prstGeom>
                <a:solidFill>
                  <a:schemeClr val="accent2"/>
                </a:solidFill>
                <a:ln>
                  <a:solidFill>
                    <a:schemeClr val="bg1"/>
                  </a:solidFill>
                </a:ln>
              </p:spPr>
              <p:txBody>
                <a:bodyPr wrap="square" rtlCol="0" anchor="ctr">
                  <a:noAutofit/>
                </a:bodyPr>
                <a:lstStyle/>
                <a:p>
                  <a:pPr algn="ctr"/>
                  <a:r>
                    <a:rPr lang="en-IN" sz="1050" b="1">
                      <a:solidFill>
                        <a:schemeClr val="bg1"/>
                      </a:solidFill>
                    </a:rPr>
                    <a:t>Market Segment &amp; GTM</a:t>
                  </a:r>
                </a:p>
              </p:txBody>
            </p:sp>
            <p:sp>
              <p:nvSpPr>
                <p:cNvPr id="40" name="TextBox 39">
                  <a:extLst>
                    <a:ext uri="{FF2B5EF4-FFF2-40B4-BE49-F238E27FC236}">
                      <a16:creationId xmlns:a16="http://schemas.microsoft.com/office/drawing/2014/main" id="{9AB23682-AB93-6851-F56E-86EE8599C545}"/>
                    </a:ext>
                  </a:extLst>
                </p:cNvPr>
                <p:cNvSpPr txBox="1"/>
                <p:nvPr/>
              </p:nvSpPr>
              <p:spPr>
                <a:xfrm>
                  <a:off x="724249" y="1854621"/>
                  <a:ext cx="1192803" cy="587636"/>
                </a:xfrm>
                <a:prstGeom prst="rect">
                  <a:avLst/>
                </a:prstGeom>
                <a:solidFill>
                  <a:schemeClr val="accent2"/>
                </a:solidFill>
                <a:ln>
                  <a:solidFill>
                    <a:schemeClr val="bg1"/>
                  </a:solidFill>
                </a:ln>
              </p:spPr>
              <p:txBody>
                <a:bodyPr wrap="square" rtlCol="0" anchor="ctr">
                  <a:noAutofit/>
                </a:bodyPr>
                <a:lstStyle/>
                <a:p>
                  <a:pPr algn="ctr"/>
                  <a:r>
                    <a:rPr lang="en-IN" sz="1050" b="1">
                      <a:solidFill>
                        <a:schemeClr val="bg1"/>
                      </a:solidFill>
                    </a:rPr>
                    <a:t>Business Model</a:t>
                  </a:r>
                </a:p>
              </p:txBody>
            </p:sp>
            <p:sp>
              <p:nvSpPr>
                <p:cNvPr id="44" name="TextBox 43">
                  <a:extLst>
                    <a:ext uri="{FF2B5EF4-FFF2-40B4-BE49-F238E27FC236}">
                      <a16:creationId xmlns:a16="http://schemas.microsoft.com/office/drawing/2014/main" id="{628FE6A7-38C9-D16B-3840-99D3AC717A04}"/>
                    </a:ext>
                  </a:extLst>
                </p:cNvPr>
                <p:cNvSpPr txBox="1"/>
                <p:nvPr/>
              </p:nvSpPr>
              <p:spPr>
                <a:xfrm rot="16200000">
                  <a:off x="-855402" y="2338424"/>
                  <a:ext cx="2566728" cy="307777"/>
                </a:xfrm>
                <a:prstGeom prst="rect">
                  <a:avLst/>
                </a:prstGeom>
                <a:noFill/>
              </p:spPr>
              <p:txBody>
                <a:bodyPr wrap="none" rtlCol="0">
                  <a:spAutoFit/>
                </a:bodyPr>
                <a:lstStyle/>
                <a:p>
                  <a:r>
                    <a:rPr lang="en-IN" sz="1400">
                      <a:solidFill>
                        <a:schemeClr val="bg1"/>
                      </a:solidFill>
                    </a:rPr>
                    <a:t>Dimensions for consideration</a:t>
                  </a:r>
                </a:p>
              </p:txBody>
            </p:sp>
          </p:grpSp>
          <p:sp>
            <p:nvSpPr>
              <p:cNvPr id="45" name="Isosceles Triangle 44">
                <a:extLst>
                  <a:ext uri="{FF2B5EF4-FFF2-40B4-BE49-F238E27FC236}">
                    <a16:creationId xmlns:a16="http://schemas.microsoft.com/office/drawing/2014/main" id="{D5C072C7-7AF9-995A-7843-E776A592CF3A}"/>
                  </a:ext>
                </a:extLst>
              </p:cNvPr>
              <p:cNvSpPr/>
              <p:nvPr/>
            </p:nvSpPr>
            <p:spPr>
              <a:xfrm rot="5400000">
                <a:off x="1386187" y="2659791"/>
                <a:ext cx="1790757" cy="260673"/>
              </a:xfrm>
              <a:prstGeom prst="triangle">
                <a:avLst/>
              </a:prstGeom>
              <a:solidFill>
                <a:schemeClr val="tx1">
                  <a:lumMod val="50000"/>
                  <a:lumOff val="50000"/>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47" name="Isosceles Triangle 46">
                <a:extLst>
                  <a:ext uri="{FF2B5EF4-FFF2-40B4-BE49-F238E27FC236}">
                    <a16:creationId xmlns:a16="http://schemas.microsoft.com/office/drawing/2014/main" id="{FE822375-5D57-870E-DCC7-BD9D03DCC00F}"/>
                  </a:ext>
                </a:extLst>
              </p:cNvPr>
              <p:cNvSpPr/>
              <p:nvPr/>
            </p:nvSpPr>
            <p:spPr>
              <a:xfrm rot="5400000">
                <a:off x="8586609" y="2648536"/>
                <a:ext cx="1790757" cy="260673"/>
              </a:xfrm>
              <a:prstGeom prst="triangle">
                <a:avLst/>
              </a:prstGeom>
              <a:solidFill>
                <a:schemeClr val="tx1">
                  <a:lumMod val="50000"/>
                  <a:lumOff val="50000"/>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grpSp>
            <p:nvGrpSpPr>
              <p:cNvPr id="76" name="Group 75">
                <a:extLst>
                  <a:ext uri="{FF2B5EF4-FFF2-40B4-BE49-F238E27FC236}">
                    <a16:creationId xmlns:a16="http://schemas.microsoft.com/office/drawing/2014/main" id="{2BCEA9E5-9407-4B38-DAD5-95196DB7B12E}"/>
                  </a:ext>
                </a:extLst>
              </p:cNvPr>
              <p:cNvGrpSpPr/>
              <p:nvPr/>
            </p:nvGrpSpPr>
            <p:grpSpPr>
              <a:xfrm>
                <a:off x="2445532" y="1290826"/>
                <a:ext cx="6785138" cy="2976092"/>
                <a:chOff x="2445532" y="1290826"/>
                <a:chExt cx="6785138" cy="2976092"/>
              </a:xfrm>
            </p:grpSpPr>
            <p:grpSp>
              <p:nvGrpSpPr>
                <p:cNvPr id="68" name="Group 67">
                  <a:extLst>
                    <a:ext uri="{FF2B5EF4-FFF2-40B4-BE49-F238E27FC236}">
                      <a16:creationId xmlns:a16="http://schemas.microsoft.com/office/drawing/2014/main" id="{A396D369-F5AF-2BA0-06AD-8D294852AD28}"/>
                    </a:ext>
                  </a:extLst>
                </p:cNvPr>
                <p:cNvGrpSpPr/>
                <p:nvPr/>
              </p:nvGrpSpPr>
              <p:grpSpPr>
                <a:xfrm>
                  <a:off x="2445532" y="1290826"/>
                  <a:ext cx="6785138" cy="2976092"/>
                  <a:chOff x="2445532" y="932473"/>
                  <a:chExt cx="6785138" cy="2976092"/>
                </a:xfrm>
              </p:grpSpPr>
              <p:sp>
                <p:nvSpPr>
                  <p:cNvPr id="7" name="Rectangle 6">
                    <a:extLst>
                      <a:ext uri="{FF2B5EF4-FFF2-40B4-BE49-F238E27FC236}">
                        <a16:creationId xmlns:a16="http://schemas.microsoft.com/office/drawing/2014/main" id="{89377B1D-814B-1A1D-E960-3EAE45D0D656}"/>
                      </a:ext>
                    </a:extLst>
                  </p:cNvPr>
                  <p:cNvSpPr/>
                  <p:nvPr/>
                </p:nvSpPr>
                <p:spPr>
                  <a:xfrm>
                    <a:off x="2445532" y="932473"/>
                    <a:ext cx="6785138" cy="2976092"/>
                  </a:xfrm>
                  <a:prstGeom prst="rect">
                    <a:avLst/>
                  </a:prstGeom>
                  <a:noFill/>
                  <a:ln w="12700">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34" name="Rectangle 33">
                    <a:extLst>
                      <a:ext uri="{FF2B5EF4-FFF2-40B4-BE49-F238E27FC236}">
                        <a16:creationId xmlns:a16="http://schemas.microsoft.com/office/drawing/2014/main" id="{1643907D-1628-0C3E-5E3F-3F8F8DB6ED40}"/>
                      </a:ext>
                    </a:extLst>
                  </p:cNvPr>
                  <p:cNvSpPr/>
                  <p:nvPr/>
                </p:nvSpPr>
                <p:spPr>
                  <a:xfrm>
                    <a:off x="2566512" y="1007062"/>
                    <a:ext cx="2052000" cy="2745908"/>
                  </a:xfrm>
                  <a:prstGeom prst="rect">
                    <a:avLst/>
                  </a:prstGeom>
                  <a:solidFill>
                    <a:schemeClr val="accent2">
                      <a:lumMod val="20000"/>
                      <a:lumOff val="80000"/>
                      <a:alpha val="63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algn="ctr"/>
                    <a:r>
                      <a:rPr lang="en-IN" sz="1050" b="1">
                        <a:solidFill>
                          <a:schemeClr val="tx1"/>
                        </a:solidFill>
                      </a:rPr>
                      <a:t>Discovery &amp; Scoping</a:t>
                    </a:r>
                    <a:endParaRPr lang="en-IN" sz="800">
                      <a:solidFill>
                        <a:schemeClr val="tx1"/>
                      </a:solidFill>
                    </a:endParaRPr>
                  </a:p>
                  <a:p>
                    <a:pPr marL="85725" indent="-85725">
                      <a:buFont typeface="Wingdings" panose="05000000000000000000" pitchFamily="2" charset="2"/>
                      <a:buChar char="§"/>
                    </a:pPr>
                    <a:r>
                      <a:rPr lang="en-IN" sz="900">
                        <a:solidFill>
                          <a:schemeClr val="tx1"/>
                        </a:solidFill>
                      </a:rPr>
                      <a:t>Interviews with Maxis Wholesale &amp; Enterprise stakeholders to align on scope</a:t>
                    </a:r>
                  </a:p>
                  <a:p>
                    <a:pPr marL="85725" indent="-85725">
                      <a:buFont typeface="Wingdings" panose="05000000000000000000" pitchFamily="2" charset="2"/>
                      <a:buChar char="§"/>
                    </a:pPr>
                    <a:r>
                      <a:rPr lang="en-IN" sz="900">
                        <a:solidFill>
                          <a:schemeClr val="tx1"/>
                        </a:solidFill>
                      </a:rPr>
                      <a:t>Agree on wholesale market study methodology</a:t>
                    </a:r>
                  </a:p>
                  <a:p>
                    <a:pPr marL="85725" indent="-85725">
                      <a:buFont typeface="Wingdings" panose="05000000000000000000" pitchFamily="2" charset="2"/>
                      <a:buChar char="§"/>
                    </a:pPr>
                    <a:r>
                      <a:rPr lang="en-IN" sz="900">
                        <a:solidFill>
                          <a:schemeClr val="tx1"/>
                        </a:solidFill>
                      </a:rPr>
                      <a:t>Project mobilisation &amp; governance setup</a:t>
                    </a:r>
                  </a:p>
                  <a:p>
                    <a:pPr marL="85725" indent="-85725">
                      <a:buFont typeface="Wingdings" panose="05000000000000000000" pitchFamily="2" charset="2"/>
                      <a:buChar char="§"/>
                    </a:pPr>
                    <a:r>
                      <a:rPr lang="en-IN" sz="900">
                        <a:solidFill>
                          <a:schemeClr val="tx1"/>
                        </a:solidFill>
                      </a:rPr>
                      <a:t>Define priority segments (connectivity, IP transit, DC, MVNO, etc.)</a:t>
                    </a:r>
                  </a:p>
                  <a:p>
                    <a:pPr marL="85725" indent="-85725">
                      <a:buFont typeface="Wingdings" panose="05000000000000000000" pitchFamily="2" charset="2"/>
                      <a:buChar char="§"/>
                    </a:pPr>
                    <a:r>
                      <a:rPr lang="en-IN" sz="900">
                        <a:solidFill>
                          <a:schemeClr val="tx1"/>
                        </a:solidFill>
                      </a:rPr>
                      <a:t>Stakeholder mapping across network, enterprise, strategy teams</a:t>
                    </a:r>
                  </a:p>
                  <a:p>
                    <a:pPr marL="85725" indent="-85725">
                      <a:buFont typeface="Wingdings" panose="05000000000000000000" pitchFamily="2" charset="2"/>
                      <a:buChar char="§"/>
                    </a:pPr>
                    <a:r>
                      <a:rPr lang="en-IN" sz="900">
                        <a:solidFill>
                          <a:schemeClr val="tx1"/>
                        </a:solidFill>
                      </a:rPr>
                      <a:t>Workshop planning &amp; execution</a:t>
                    </a:r>
                  </a:p>
                  <a:p>
                    <a:pPr marL="85725" indent="-85725">
                      <a:buFont typeface="Wingdings" panose="05000000000000000000" pitchFamily="2" charset="2"/>
                      <a:buChar char="§"/>
                    </a:pPr>
                    <a:r>
                      <a:rPr lang="en-IN" sz="900">
                        <a:solidFill>
                          <a:schemeClr val="tx1"/>
                        </a:solidFill>
                      </a:rPr>
                      <a:t>Define data requirements (market, traffic, capacity, pricing)</a:t>
                    </a:r>
                  </a:p>
                  <a:p>
                    <a:pPr marL="85725" indent="-85725">
                      <a:buFont typeface="Wingdings" panose="05000000000000000000" pitchFamily="2" charset="2"/>
                      <a:buChar char="§"/>
                    </a:pPr>
                    <a:r>
                      <a:rPr lang="en-IN" sz="900">
                        <a:solidFill>
                          <a:schemeClr val="tx1"/>
                        </a:solidFill>
                      </a:rPr>
                      <a:t>KPI definition aligned to growth objectives (revenue, utilisation, market share)</a:t>
                    </a:r>
                  </a:p>
                  <a:p>
                    <a:pPr algn="ctr"/>
                    <a:endParaRPr lang="en-IN" sz="800">
                      <a:solidFill>
                        <a:schemeClr val="tx1"/>
                      </a:solidFill>
                    </a:endParaRPr>
                  </a:p>
                </p:txBody>
              </p:sp>
              <p:sp>
                <p:nvSpPr>
                  <p:cNvPr id="41" name="Rectangle 40">
                    <a:extLst>
                      <a:ext uri="{FF2B5EF4-FFF2-40B4-BE49-F238E27FC236}">
                        <a16:creationId xmlns:a16="http://schemas.microsoft.com/office/drawing/2014/main" id="{D5C50524-BB3F-830F-5F8C-EE3FBB10661F}"/>
                      </a:ext>
                    </a:extLst>
                  </p:cNvPr>
                  <p:cNvSpPr/>
                  <p:nvPr/>
                </p:nvSpPr>
                <p:spPr>
                  <a:xfrm>
                    <a:off x="7075604" y="1006105"/>
                    <a:ext cx="2052000" cy="2744259"/>
                  </a:xfrm>
                  <a:prstGeom prst="rect">
                    <a:avLst/>
                  </a:prstGeom>
                  <a:solidFill>
                    <a:schemeClr val="accent2">
                      <a:lumMod val="20000"/>
                      <a:lumOff val="80000"/>
                      <a:alpha val="63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algn="ctr"/>
                    <a:r>
                      <a:rPr lang="en-IN" sz="1050" b="1">
                        <a:solidFill>
                          <a:schemeClr val="tx1"/>
                        </a:solidFill>
                      </a:rPr>
                      <a:t>Recommendations</a:t>
                    </a:r>
                  </a:p>
                  <a:p>
                    <a:pPr marL="85725" indent="-85725">
                      <a:buFont typeface="Wingdings" panose="05000000000000000000" pitchFamily="2" charset="2"/>
                      <a:buChar char="§"/>
                    </a:pPr>
                    <a:r>
                      <a:rPr lang="en-IN" sz="900">
                        <a:solidFill>
                          <a:schemeClr val="tx1"/>
                        </a:solidFill>
                      </a:rPr>
                      <a:t>Define Wholesale Growth Blueprint (“Where to Play / How to Win”)</a:t>
                    </a:r>
                  </a:p>
                  <a:p>
                    <a:pPr marL="85725" indent="-85725">
                      <a:buFont typeface="Wingdings" panose="05000000000000000000" pitchFamily="2" charset="2"/>
                      <a:buChar char="§"/>
                    </a:pPr>
                    <a:r>
                      <a:rPr lang="en-IN" sz="900">
                        <a:solidFill>
                          <a:schemeClr val="tx1"/>
                        </a:solidFill>
                      </a:rPr>
                      <a:t>Target segment &amp; geography prioritisation (MY + ASEAN, key routes)</a:t>
                    </a:r>
                  </a:p>
                  <a:p>
                    <a:pPr marL="85725" indent="-85725">
                      <a:buFont typeface="Wingdings" panose="05000000000000000000" pitchFamily="2" charset="2"/>
                      <a:buChar char="§"/>
                    </a:pPr>
                    <a:r>
                      <a:rPr lang="en-IN" sz="900">
                        <a:solidFill>
                          <a:schemeClr val="tx1"/>
                        </a:solidFill>
                      </a:rPr>
                      <a:t>To-be product &amp; service portfolio (connectivity, DC, APIs, etc.)</a:t>
                    </a:r>
                  </a:p>
                  <a:p>
                    <a:pPr marL="85725" indent="-85725">
                      <a:buFont typeface="Wingdings" panose="05000000000000000000" pitchFamily="2" charset="2"/>
                      <a:buChar char="§"/>
                    </a:pPr>
                    <a:r>
                      <a:rPr lang="en-IN" sz="900">
                        <a:solidFill>
                          <a:schemeClr val="tx1"/>
                        </a:solidFill>
                      </a:rPr>
                      <a:t>Differentiated value propositions by segment (</a:t>
                    </a:r>
                    <a:r>
                      <a:rPr lang="en-IN" sz="900" err="1">
                        <a:solidFill>
                          <a:schemeClr val="tx1"/>
                        </a:solidFill>
                      </a:rPr>
                      <a:t>hyperscalers</a:t>
                    </a:r>
                    <a:r>
                      <a:rPr lang="en-IN" sz="900">
                        <a:solidFill>
                          <a:schemeClr val="tx1"/>
                        </a:solidFill>
                      </a:rPr>
                      <a:t>, carriers, MVNOs)</a:t>
                    </a:r>
                  </a:p>
                  <a:p>
                    <a:pPr marL="85725" indent="-85725">
                      <a:buFont typeface="Wingdings" panose="05000000000000000000" pitchFamily="2" charset="2"/>
                      <a:buChar char="§"/>
                    </a:pPr>
                    <a:r>
                      <a:rPr lang="en-IN" sz="900">
                        <a:solidFill>
                          <a:schemeClr val="tx1"/>
                        </a:solidFill>
                      </a:rPr>
                      <a:t>Optimal GTM model &amp; partnership strategy</a:t>
                    </a:r>
                  </a:p>
                  <a:p>
                    <a:pPr marL="85725" indent="-85725">
                      <a:buFont typeface="Wingdings" panose="05000000000000000000" pitchFamily="2" charset="2"/>
                      <a:buChar char="§"/>
                    </a:pPr>
                    <a:r>
                      <a:rPr lang="en-IN" sz="900">
                        <a:solidFill>
                          <a:schemeClr val="tx1"/>
                        </a:solidFill>
                      </a:rPr>
                      <a:t>Operating model evolution for scalable wholesale growth</a:t>
                    </a:r>
                  </a:p>
                  <a:p>
                    <a:pPr marL="171450" indent="-171450">
                      <a:buFont typeface="Arial" panose="020B0604020202020204" pitchFamily="34" charset="0"/>
                      <a:buChar char="•"/>
                    </a:pPr>
                    <a:endParaRPr lang="en-IN" sz="900">
                      <a:solidFill>
                        <a:schemeClr val="tx1"/>
                      </a:solidFill>
                    </a:endParaRPr>
                  </a:p>
                  <a:p>
                    <a:pPr algn="ctr"/>
                    <a:endParaRPr lang="en-IN" sz="1050" b="1">
                      <a:solidFill>
                        <a:schemeClr val="tx1"/>
                      </a:solidFill>
                    </a:endParaRPr>
                  </a:p>
                </p:txBody>
              </p:sp>
              <p:sp>
                <p:nvSpPr>
                  <p:cNvPr id="42" name="Rectangle 41">
                    <a:extLst>
                      <a:ext uri="{FF2B5EF4-FFF2-40B4-BE49-F238E27FC236}">
                        <a16:creationId xmlns:a16="http://schemas.microsoft.com/office/drawing/2014/main" id="{EB86D0C6-A588-1DC1-6F15-6A52A008AE58}"/>
                      </a:ext>
                    </a:extLst>
                  </p:cNvPr>
                  <p:cNvSpPr/>
                  <p:nvPr/>
                </p:nvSpPr>
                <p:spPr>
                  <a:xfrm>
                    <a:off x="4821058" y="1006105"/>
                    <a:ext cx="2052000" cy="2736177"/>
                  </a:xfrm>
                  <a:prstGeom prst="rect">
                    <a:avLst/>
                  </a:prstGeom>
                  <a:solidFill>
                    <a:schemeClr val="accent2">
                      <a:lumMod val="20000"/>
                      <a:lumOff val="80000"/>
                      <a:alpha val="63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45720" rIns="36000" bIns="45720" rtlCol="0" anchor="t"/>
                  <a:lstStyle/>
                  <a:p>
                    <a:pPr algn="ctr"/>
                    <a:r>
                      <a:rPr lang="en-IN" sz="1050" b="1">
                        <a:solidFill>
                          <a:schemeClr val="tx1"/>
                        </a:solidFill>
                      </a:rPr>
                      <a:t>Assessment</a:t>
                    </a:r>
                    <a:endParaRPr lang="en-IN" sz="800">
                      <a:solidFill>
                        <a:schemeClr val="tx1"/>
                      </a:solidFill>
                    </a:endParaRPr>
                  </a:p>
                  <a:p>
                    <a:pPr marL="85725" indent="-85725">
                      <a:buFont typeface="Wingdings" panose="05000000000000000000" pitchFamily="2" charset="2"/>
                      <a:buChar char="§"/>
                    </a:pPr>
                    <a:r>
                      <a:rPr lang="en-IN" sz="900">
                        <a:solidFill>
                          <a:schemeClr val="tx1"/>
                        </a:solidFill>
                      </a:rPr>
                      <a:t>Validate existing wholesale GTM strategy &amp; offerings</a:t>
                    </a:r>
                  </a:p>
                  <a:p>
                    <a:pPr marL="85725" indent="-85725">
                      <a:buFont typeface="Wingdings" panose="05000000000000000000" pitchFamily="2" charset="2"/>
                      <a:buChar char="§"/>
                    </a:pPr>
                    <a:r>
                      <a:rPr lang="en-IN" sz="900">
                        <a:solidFill>
                          <a:schemeClr val="tx1"/>
                        </a:solidFill>
                      </a:rPr>
                      <a:t>Analyse market size, growth pools &amp; demand drivers (AI, </a:t>
                    </a:r>
                    <a:r>
                      <a:rPr lang="en-IN" sz="900" err="1">
                        <a:solidFill>
                          <a:schemeClr val="tx1"/>
                        </a:solidFill>
                      </a:rPr>
                      <a:t>hyperscalers</a:t>
                    </a:r>
                    <a:r>
                      <a:rPr lang="en-IN" sz="900">
                        <a:solidFill>
                          <a:schemeClr val="tx1"/>
                        </a:solidFill>
                      </a:rPr>
                      <a:t>, cross-border traffic)</a:t>
                    </a:r>
                  </a:p>
                  <a:p>
                    <a:pPr marL="85725" indent="-85725">
                      <a:buFont typeface="Wingdings" panose="05000000000000000000" pitchFamily="2" charset="2"/>
                      <a:buChar char="§"/>
                    </a:pPr>
                    <a:r>
                      <a:rPr lang="en-IN" sz="900">
                        <a:solidFill>
                          <a:schemeClr val="tx1"/>
                        </a:solidFill>
                      </a:rPr>
                      <a:t>Assess connectivity assets (fibre, subsea, routes, capacity vs utilisation)</a:t>
                    </a:r>
                  </a:p>
                  <a:p>
                    <a:pPr marL="85725" indent="-85725">
                      <a:buFont typeface="Wingdings" panose="05000000000000000000" pitchFamily="2" charset="2"/>
                      <a:buChar char="§"/>
                    </a:pPr>
                    <a:r>
                      <a:rPr lang="en-IN" sz="900">
                        <a:solidFill>
                          <a:schemeClr val="tx1"/>
                        </a:solidFill>
                      </a:rPr>
                      <a:t>Evaluate product &amp; service portfolio (IP transit, DC interconnect, MVNO enablement)</a:t>
                    </a:r>
                  </a:p>
                  <a:p>
                    <a:pPr marL="85725" indent="-85725">
                      <a:buFont typeface="Wingdings" panose="05000000000000000000" pitchFamily="2" charset="2"/>
                      <a:buChar char="§"/>
                    </a:pPr>
                    <a:r>
                      <a:rPr lang="en-IN" sz="900">
                        <a:solidFill>
                          <a:schemeClr val="tx1"/>
                        </a:solidFill>
                      </a:rPr>
                      <a:t>Benchmark against regional &amp; global wholesale leaders (e.g., Singtel, Telstra, Tata)</a:t>
                    </a:r>
                  </a:p>
                  <a:p>
                    <a:pPr marL="85725" indent="-85725">
                      <a:buFont typeface="Wingdings" panose="05000000000000000000" pitchFamily="2" charset="2"/>
                      <a:buChar char="§"/>
                    </a:pPr>
                    <a:r>
                      <a:rPr lang="en-IN" sz="900">
                        <a:solidFill>
                          <a:schemeClr val="tx1"/>
                        </a:solidFill>
                      </a:rPr>
                      <a:t>Assess operating model (people, processes, governance, technology)</a:t>
                    </a:r>
                  </a:p>
                  <a:p>
                    <a:pPr marL="85725" indent="-85725">
                      <a:buFont typeface="Wingdings" panose="05000000000000000000" pitchFamily="2" charset="2"/>
                      <a:buChar char="§"/>
                    </a:pPr>
                    <a:r>
                      <a:rPr lang="en-IN" sz="900">
                        <a:solidFill>
                          <a:schemeClr val="tx1"/>
                        </a:solidFill>
                      </a:rPr>
                      <a:t>Analyse pricing benchmarks (IRU, fibre, IP transit)</a:t>
                    </a:r>
                  </a:p>
                </p:txBody>
              </p:sp>
            </p:grpSp>
            <p:sp>
              <p:nvSpPr>
                <p:cNvPr id="71" name="Arrow: Right 70">
                  <a:extLst>
                    <a:ext uri="{FF2B5EF4-FFF2-40B4-BE49-F238E27FC236}">
                      <a16:creationId xmlns:a16="http://schemas.microsoft.com/office/drawing/2014/main" id="{D3C8A334-979D-1A4F-D839-D970D47710D7}"/>
                    </a:ext>
                  </a:extLst>
                </p:cNvPr>
                <p:cNvSpPr/>
                <p:nvPr/>
              </p:nvSpPr>
              <p:spPr>
                <a:xfrm>
                  <a:off x="4588353" y="2603444"/>
                  <a:ext cx="277897" cy="266617"/>
                </a:xfrm>
                <a:prstGeom prst="rightArrow">
                  <a:avLst>
                    <a:gd name="adj1" fmla="val 50000"/>
                    <a:gd name="adj2" fmla="val 54488"/>
                  </a:avLst>
                </a:prstGeom>
                <a:solidFill>
                  <a:schemeClr val="tx1">
                    <a:lumMod val="50000"/>
                    <a:lumOff val="50000"/>
                    <a:alpha val="63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72" name="Arrow: Right 71">
                  <a:extLst>
                    <a:ext uri="{FF2B5EF4-FFF2-40B4-BE49-F238E27FC236}">
                      <a16:creationId xmlns:a16="http://schemas.microsoft.com/office/drawing/2014/main" id="{B2E9F5D3-2A0E-623E-B74E-4C8B597E850F}"/>
                    </a:ext>
                  </a:extLst>
                </p:cNvPr>
                <p:cNvSpPr/>
                <p:nvPr/>
              </p:nvSpPr>
              <p:spPr>
                <a:xfrm>
                  <a:off x="6855089" y="2603443"/>
                  <a:ext cx="277897" cy="266617"/>
                </a:xfrm>
                <a:prstGeom prst="rightArrow">
                  <a:avLst>
                    <a:gd name="adj1" fmla="val 50000"/>
                    <a:gd name="adj2" fmla="val 54488"/>
                  </a:avLst>
                </a:prstGeom>
                <a:solidFill>
                  <a:schemeClr val="tx1">
                    <a:lumMod val="50000"/>
                    <a:lumOff val="50000"/>
                    <a:alpha val="63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grpSp>
        </p:grpSp>
      </p:grpSp>
      <p:pic>
        <p:nvPicPr>
          <p:cNvPr id="4" name="Picture 3">
            <a:extLst>
              <a:ext uri="{FF2B5EF4-FFF2-40B4-BE49-F238E27FC236}">
                <a16:creationId xmlns:a16="http://schemas.microsoft.com/office/drawing/2014/main" id="{258093EB-3108-67D8-ECFF-2B4732491F3E}"/>
              </a:ext>
            </a:extLst>
          </p:cNvPr>
          <p:cNvPicPr>
            <a:picLocks noChangeAspect="1"/>
          </p:cNvPicPr>
          <p:nvPr/>
        </p:nvPicPr>
        <p:blipFill>
          <a:blip r:embed="rId5"/>
          <a:stretch>
            <a:fillRect/>
          </a:stretch>
        </p:blipFill>
        <p:spPr>
          <a:xfrm>
            <a:off x="10595509" y="0"/>
            <a:ext cx="1237002" cy="696510"/>
          </a:xfrm>
          <a:prstGeom prst="rect">
            <a:avLst/>
          </a:prstGeom>
        </p:spPr>
      </p:pic>
      <p:sp>
        <p:nvSpPr>
          <p:cNvPr id="3" name="TextBox 2">
            <a:extLst>
              <a:ext uri="{FF2B5EF4-FFF2-40B4-BE49-F238E27FC236}">
                <a16:creationId xmlns:a16="http://schemas.microsoft.com/office/drawing/2014/main" id="{1ACB08E7-C4C0-A1E1-5A36-7E03F1F9C47F}"/>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5" name="Date Placeholder 5">
            <a:extLst>
              <a:ext uri="{FF2B5EF4-FFF2-40B4-BE49-F238E27FC236}">
                <a16:creationId xmlns:a16="http://schemas.microsoft.com/office/drawing/2014/main" id="{30AD764C-154B-F420-F437-3F47855C479F}"/>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6" name="Date Placeholder 5">
            <a:extLst>
              <a:ext uri="{FF2B5EF4-FFF2-40B4-BE49-F238E27FC236}">
                <a16:creationId xmlns:a16="http://schemas.microsoft.com/office/drawing/2014/main" id="{7B2EA886-2890-CE8D-3116-9D95F6190275}"/>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13</a:t>
            </a:r>
          </a:p>
        </p:txBody>
      </p:sp>
    </p:spTree>
    <p:extLst>
      <p:ext uri="{BB962C8B-B14F-4D97-AF65-F5344CB8AC3E}">
        <p14:creationId xmlns:p14="http://schemas.microsoft.com/office/powerpoint/2010/main" val="2645429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2B6ED-8852-E9A5-1569-BCF90A13D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FAF7EF-9A7D-C4FC-4F00-992BAEEE3A8F}"/>
              </a:ext>
            </a:extLst>
          </p:cNvPr>
          <p:cNvSpPr>
            <a:spLocks noGrp="1"/>
          </p:cNvSpPr>
          <p:nvPr>
            <p:ph type="title"/>
          </p:nvPr>
        </p:nvSpPr>
        <p:spPr>
          <a:xfrm>
            <a:off x="569654" y="264511"/>
            <a:ext cx="10074062" cy="805565"/>
          </a:xfrm>
        </p:spPr>
        <p:txBody>
          <a:bodyPr/>
          <a:lstStyle/>
          <a:p>
            <a:r>
              <a:rPr lang="en-US"/>
              <a:t>Structuring a phased approach to assess the current business model and design the future state.</a:t>
            </a:r>
            <a:endParaRPr lang="en-US" sz="1600"/>
          </a:p>
        </p:txBody>
      </p:sp>
      <p:sp>
        <p:nvSpPr>
          <p:cNvPr id="8" name="object 18">
            <a:extLst>
              <a:ext uri="{FF2B5EF4-FFF2-40B4-BE49-F238E27FC236}">
                <a16:creationId xmlns:a16="http://schemas.microsoft.com/office/drawing/2014/main" id="{21E493EB-CF6F-8A6D-8DFE-1FB0663B9D2F}"/>
              </a:ext>
            </a:extLst>
          </p:cNvPr>
          <p:cNvSpPr/>
          <p:nvPr/>
        </p:nvSpPr>
        <p:spPr>
          <a:xfrm>
            <a:off x="495540" y="5744786"/>
            <a:ext cx="11076940" cy="717814"/>
          </a:xfrm>
          <a:prstGeom prst="frame">
            <a:avLst>
              <a:gd name="adj1" fmla="val 7663"/>
            </a:avLst>
          </a:prstGeom>
          <a:solidFill>
            <a:schemeClr val="accent2"/>
          </a:solidFill>
          <a:ln w="28575">
            <a:solidFill>
              <a:schemeClr val="bg1"/>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Ubuntu"/>
              <a:ea typeface="+mn-ea"/>
              <a:cs typeface="+mn-cs"/>
            </a:endParaRPr>
          </a:p>
        </p:txBody>
      </p:sp>
      <p:sp>
        <p:nvSpPr>
          <p:cNvPr id="24" name="object 33">
            <a:extLst>
              <a:ext uri="{FF2B5EF4-FFF2-40B4-BE49-F238E27FC236}">
                <a16:creationId xmlns:a16="http://schemas.microsoft.com/office/drawing/2014/main" id="{52813C54-76EA-DF1A-F6E5-FD3D9279984D}"/>
              </a:ext>
            </a:extLst>
          </p:cNvPr>
          <p:cNvSpPr txBox="1"/>
          <p:nvPr/>
        </p:nvSpPr>
        <p:spPr>
          <a:xfrm>
            <a:off x="1048738" y="5959799"/>
            <a:ext cx="3010224" cy="323165"/>
          </a:xfrm>
          <a:prstGeom prst="rect">
            <a:avLst/>
          </a:prstGeom>
        </p:spPr>
        <p:txBody>
          <a:bodyPr vert="horz" wrap="square" lIns="0" tIns="0" rIns="0" bIns="0" rtlCol="0">
            <a:spAutoFit/>
          </a:bodyPr>
          <a:lstStyle/>
          <a:p>
            <a:pPr marL="16933" marR="6773"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3" normalizeH="0" baseline="0" noProof="0">
                <a:ln>
                  <a:noFill/>
                </a:ln>
                <a:solidFill>
                  <a:schemeClr val="bg1"/>
                </a:solidFill>
                <a:effectLst/>
                <a:uLnTx/>
                <a:uFillTx/>
                <a:latin typeface="Ubuntu"/>
                <a:ea typeface="+mn-ea"/>
                <a:cs typeface="Arial"/>
              </a:rPr>
              <a:t>CG’ </a:t>
            </a:r>
            <a:r>
              <a:rPr kumimoji="0" lang="en-US" sz="1050" b="1" i="0" u="none" strike="noStrike" kern="1200" cap="none" spc="0" normalizeH="0" baseline="0" noProof="0">
                <a:ln>
                  <a:noFill/>
                </a:ln>
                <a:solidFill>
                  <a:schemeClr val="bg1"/>
                </a:solidFill>
                <a:effectLst/>
                <a:uLnTx/>
                <a:uFillTx/>
                <a:latin typeface="Ubuntu"/>
                <a:ea typeface="+mn-ea"/>
                <a:cs typeface="Arial"/>
              </a:rPr>
              <a:t>Approa</a:t>
            </a:r>
            <a:r>
              <a:rPr kumimoji="0" lang="en-US" sz="1050" b="1" i="0" u="none" strike="noStrike" kern="1200" cap="none" spc="7" normalizeH="0" baseline="0" noProof="0">
                <a:ln>
                  <a:noFill/>
                </a:ln>
                <a:solidFill>
                  <a:schemeClr val="bg1"/>
                </a:solidFill>
                <a:effectLst/>
                <a:uLnTx/>
                <a:uFillTx/>
                <a:latin typeface="Ubuntu"/>
                <a:ea typeface="+mn-ea"/>
                <a:cs typeface="Arial"/>
              </a:rPr>
              <a:t>c</a:t>
            </a:r>
            <a:r>
              <a:rPr kumimoji="0" lang="en-US" sz="1050" b="1" i="0" u="none" strike="noStrike" kern="1200" cap="none" spc="0" normalizeH="0" baseline="0" noProof="0">
                <a:ln>
                  <a:noFill/>
                </a:ln>
                <a:solidFill>
                  <a:schemeClr val="bg1"/>
                </a:solidFill>
                <a:effectLst/>
                <a:uLnTx/>
                <a:uFillTx/>
                <a:latin typeface="Ubuntu"/>
                <a:ea typeface="+mn-ea"/>
                <a:cs typeface="Arial"/>
              </a:rPr>
              <a:t>h</a:t>
            </a:r>
            <a:r>
              <a:rPr kumimoji="0" lang="en-US" sz="1050" b="1" i="0" u="none" strike="noStrike" kern="1200" cap="none" spc="-27" normalizeH="0" baseline="0" noProof="0">
                <a:ln>
                  <a:noFill/>
                </a:ln>
                <a:solidFill>
                  <a:schemeClr val="bg1"/>
                </a:solidFill>
                <a:effectLst/>
                <a:uLnTx/>
                <a:uFillTx/>
                <a:latin typeface="Ubuntu"/>
                <a:ea typeface="+mn-ea"/>
                <a:cs typeface="Arial"/>
              </a:rPr>
              <a:t> </a:t>
            </a:r>
            <a:r>
              <a:rPr kumimoji="0" lang="en-US" sz="1050" b="1" i="0" u="none" strike="noStrike" kern="1200" cap="none" spc="0" normalizeH="0" baseline="0" noProof="0">
                <a:ln>
                  <a:noFill/>
                </a:ln>
                <a:solidFill>
                  <a:schemeClr val="bg1"/>
                </a:solidFill>
                <a:effectLst/>
                <a:uLnTx/>
                <a:uFillTx/>
                <a:latin typeface="Ubuntu"/>
                <a:ea typeface="+mn-ea"/>
                <a:cs typeface="Arial"/>
              </a:rPr>
              <a:t>&amp; </a:t>
            </a:r>
            <a:r>
              <a:rPr kumimoji="0" lang="en-US" sz="1050" b="1" i="0" u="none" strike="noStrike" kern="1200" cap="none" spc="7" normalizeH="0" baseline="0" noProof="0">
                <a:ln>
                  <a:noFill/>
                </a:ln>
                <a:solidFill>
                  <a:schemeClr val="bg1"/>
                </a:solidFill>
                <a:effectLst/>
                <a:uLnTx/>
                <a:uFillTx/>
                <a:latin typeface="Ubuntu"/>
                <a:ea typeface="+mn-ea"/>
                <a:cs typeface="Arial"/>
              </a:rPr>
              <a:t>m</a:t>
            </a:r>
            <a:r>
              <a:rPr kumimoji="0" lang="en-US" sz="1050" b="1" i="0" u="none" strike="noStrike" kern="1200" cap="none" spc="0" normalizeH="0" baseline="0" noProof="0">
                <a:ln>
                  <a:noFill/>
                </a:ln>
                <a:solidFill>
                  <a:schemeClr val="bg1"/>
                </a:solidFill>
                <a:effectLst/>
                <a:uLnTx/>
                <a:uFillTx/>
                <a:latin typeface="Ubuntu"/>
                <a:ea typeface="+mn-ea"/>
                <a:cs typeface="Arial"/>
              </a:rPr>
              <a:t>ethodolo</a:t>
            </a:r>
            <a:r>
              <a:rPr kumimoji="0" lang="en-US" sz="1050" b="1" i="0" u="none" strike="noStrike" kern="1200" cap="none" spc="-13" normalizeH="0" baseline="0" noProof="0">
                <a:ln>
                  <a:noFill/>
                </a:ln>
                <a:solidFill>
                  <a:schemeClr val="bg1"/>
                </a:solidFill>
                <a:effectLst/>
                <a:uLnTx/>
                <a:uFillTx/>
                <a:latin typeface="Ubuntu"/>
                <a:ea typeface="+mn-ea"/>
                <a:cs typeface="Arial"/>
              </a:rPr>
              <a:t>g</a:t>
            </a:r>
            <a:r>
              <a:rPr kumimoji="0" lang="en-US" sz="1050" b="1" i="0" u="none" strike="noStrike" kern="1200" cap="none" spc="0" normalizeH="0" baseline="0" noProof="0">
                <a:ln>
                  <a:noFill/>
                </a:ln>
                <a:solidFill>
                  <a:schemeClr val="bg1"/>
                </a:solidFill>
                <a:effectLst/>
                <a:uLnTx/>
                <a:uFillTx/>
                <a:latin typeface="Ubuntu"/>
                <a:ea typeface="+mn-ea"/>
                <a:cs typeface="Arial"/>
              </a:rPr>
              <a:t>y</a:t>
            </a:r>
            <a:r>
              <a:rPr kumimoji="0" lang="en-US" sz="1050" b="1" i="0" u="none" strike="noStrike" kern="1200" cap="none" spc="-40" normalizeH="0" baseline="0" noProof="0">
                <a:ln>
                  <a:noFill/>
                </a:ln>
                <a:solidFill>
                  <a:schemeClr val="bg1"/>
                </a:solidFill>
                <a:effectLst/>
                <a:uLnTx/>
                <a:uFillTx/>
                <a:latin typeface="Ubuntu"/>
                <a:ea typeface="+mn-ea"/>
                <a:cs typeface="Arial"/>
              </a:rPr>
              <a:t> </a:t>
            </a:r>
            <a:r>
              <a:rPr kumimoji="0" lang="en-US" sz="1050" b="1" i="0" u="none" strike="noStrike" kern="1200" cap="none" spc="0" normalizeH="0" baseline="0" noProof="0">
                <a:ln>
                  <a:noFill/>
                </a:ln>
                <a:solidFill>
                  <a:schemeClr val="bg1"/>
                </a:solidFill>
                <a:effectLst/>
                <a:uLnTx/>
                <a:uFillTx/>
                <a:latin typeface="Ubuntu"/>
                <a:ea typeface="+mn-ea"/>
                <a:cs typeface="Arial"/>
              </a:rPr>
              <a:t>for Bu</a:t>
            </a:r>
            <a:r>
              <a:rPr kumimoji="0" lang="en-US" sz="1050" b="1" i="0" u="none" strike="noStrike" kern="1200" cap="none" spc="7" normalizeH="0" baseline="0" noProof="0">
                <a:ln>
                  <a:noFill/>
                </a:ln>
                <a:solidFill>
                  <a:schemeClr val="bg1"/>
                </a:solidFill>
                <a:effectLst/>
                <a:uLnTx/>
                <a:uFillTx/>
                <a:latin typeface="Ubuntu"/>
                <a:ea typeface="+mn-ea"/>
                <a:cs typeface="Arial"/>
              </a:rPr>
              <a:t>s</a:t>
            </a:r>
            <a:r>
              <a:rPr kumimoji="0" lang="en-US" sz="1050" b="1" i="0" u="none" strike="noStrike" kern="1200" cap="none" spc="0" normalizeH="0" baseline="0" noProof="0">
                <a:ln>
                  <a:noFill/>
                </a:ln>
                <a:solidFill>
                  <a:schemeClr val="bg1"/>
                </a:solidFill>
                <a:effectLst/>
                <a:uLnTx/>
                <a:uFillTx/>
                <a:latin typeface="Ubuntu"/>
                <a:ea typeface="+mn-ea"/>
                <a:cs typeface="Arial"/>
              </a:rPr>
              <a:t>ine</a:t>
            </a:r>
            <a:r>
              <a:rPr kumimoji="0" lang="en-US" sz="1050" b="1" i="0" u="none" strike="noStrike" kern="1200" cap="none" spc="7" normalizeH="0" baseline="0" noProof="0">
                <a:ln>
                  <a:noFill/>
                </a:ln>
                <a:solidFill>
                  <a:schemeClr val="bg1"/>
                </a:solidFill>
                <a:effectLst/>
                <a:uLnTx/>
                <a:uFillTx/>
                <a:latin typeface="Ubuntu"/>
                <a:ea typeface="+mn-ea"/>
                <a:cs typeface="Arial"/>
              </a:rPr>
              <a:t>s</a:t>
            </a:r>
            <a:r>
              <a:rPr kumimoji="0" lang="en-US" sz="1050" b="1" i="0" u="none" strike="noStrike" kern="1200" cap="none" spc="0" normalizeH="0" baseline="0" noProof="0">
                <a:ln>
                  <a:noFill/>
                </a:ln>
                <a:solidFill>
                  <a:schemeClr val="bg1"/>
                </a:solidFill>
                <a:effectLst/>
                <a:uLnTx/>
                <a:uFillTx/>
                <a:latin typeface="Ubuntu"/>
                <a:ea typeface="+mn-ea"/>
                <a:cs typeface="Arial"/>
              </a:rPr>
              <a:t>s</a:t>
            </a:r>
            <a:r>
              <a:rPr kumimoji="0" lang="en-US" sz="1050" b="1" i="0" u="none" strike="noStrike" kern="1200" cap="none" spc="-40" normalizeH="0" baseline="0" noProof="0">
                <a:ln>
                  <a:noFill/>
                </a:ln>
                <a:solidFill>
                  <a:schemeClr val="bg1"/>
                </a:solidFill>
                <a:effectLst/>
                <a:uLnTx/>
                <a:uFillTx/>
                <a:latin typeface="Ubuntu"/>
                <a:ea typeface="+mn-ea"/>
                <a:cs typeface="Arial"/>
              </a:rPr>
              <a:t> </a:t>
            </a:r>
            <a:r>
              <a:rPr kumimoji="0" lang="en-US" sz="1050" b="1" i="0" u="none" strike="noStrike" kern="1200" cap="none" spc="-27" normalizeH="0" baseline="0" noProof="0">
                <a:ln>
                  <a:noFill/>
                </a:ln>
                <a:solidFill>
                  <a:schemeClr val="bg1"/>
                </a:solidFill>
                <a:effectLst/>
                <a:uLnTx/>
                <a:uFillTx/>
                <a:latin typeface="Ubuntu"/>
                <a:ea typeface="+mn-ea"/>
                <a:cs typeface="Arial"/>
              </a:rPr>
              <a:t>M</a:t>
            </a:r>
            <a:r>
              <a:rPr kumimoji="0" lang="en-US" sz="1050" b="1" i="0" u="none" strike="noStrike" kern="1200" cap="none" spc="0" normalizeH="0" baseline="0" noProof="0">
                <a:ln>
                  <a:noFill/>
                </a:ln>
                <a:solidFill>
                  <a:schemeClr val="bg1"/>
                </a:solidFill>
                <a:effectLst/>
                <a:uLnTx/>
                <a:uFillTx/>
                <a:latin typeface="Ubuntu"/>
                <a:ea typeface="+mn-ea"/>
                <a:cs typeface="Arial"/>
              </a:rPr>
              <a:t>odel </a:t>
            </a:r>
            <a:r>
              <a:rPr kumimoji="0" lang="en-US" sz="1050" b="1" i="0" u="none" strike="noStrike" kern="1200" cap="none" spc="7" normalizeH="0" baseline="0" noProof="0">
                <a:ln>
                  <a:noFill/>
                </a:ln>
                <a:solidFill>
                  <a:schemeClr val="bg1"/>
                </a:solidFill>
                <a:effectLst/>
                <a:uLnTx/>
                <a:uFillTx/>
                <a:latin typeface="Ubuntu"/>
                <a:ea typeface="+mn-ea"/>
                <a:cs typeface="Arial"/>
              </a:rPr>
              <a:t>c</a:t>
            </a:r>
            <a:r>
              <a:rPr kumimoji="0" lang="en-US" sz="1050" b="1" i="0" u="none" strike="noStrike" kern="1200" cap="none" spc="0" normalizeH="0" baseline="0" noProof="0">
                <a:ln>
                  <a:noFill/>
                </a:ln>
                <a:solidFill>
                  <a:schemeClr val="bg1"/>
                </a:solidFill>
                <a:effectLst/>
                <a:uLnTx/>
                <a:uFillTx/>
                <a:latin typeface="Ubuntu"/>
                <a:ea typeface="+mn-ea"/>
                <a:cs typeface="Arial"/>
              </a:rPr>
              <a:t>o</a:t>
            </a:r>
            <a:r>
              <a:rPr kumimoji="0" lang="en-US" sz="1050" b="1" i="0" u="none" strike="noStrike" kern="1200" cap="none" spc="7" normalizeH="0" baseline="0" noProof="0">
                <a:ln>
                  <a:noFill/>
                </a:ln>
                <a:solidFill>
                  <a:schemeClr val="bg1"/>
                </a:solidFill>
                <a:effectLst/>
                <a:uLnTx/>
                <a:uFillTx/>
                <a:latin typeface="Ubuntu"/>
                <a:ea typeface="+mn-ea"/>
                <a:cs typeface="Arial"/>
              </a:rPr>
              <a:t>m</a:t>
            </a:r>
            <a:r>
              <a:rPr kumimoji="0" lang="en-US" sz="1050" b="1" i="0" u="none" strike="noStrike" kern="1200" cap="none" spc="0" normalizeH="0" baseline="0" noProof="0">
                <a:ln>
                  <a:noFill/>
                </a:ln>
                <a:solidFill>
                  <a:schemeClr val="bg1"/>
                </a:solidFill>
                <a:effectLst/>
                <a:uLnTx/>
                <a:uFillTx/>
                <a:latin typeface="Ubuntu"/>
                <a:ea typeface="+mn-ea"/>
                <a:cs typeface="Arial"/>
              </a:rPr>
              <a:t>ponents a</a:t>
            </a:r>
            <a:r>
              <a:rPr kumimoji="0" lang="en-US" sz="1050" b="1" i="0" u="none" strike="noStrike" kern="1200" cap="none" spc="7" normalizeH="0" baseline="0" noProof="0">
                <a:ln>
                  <a:noFill/>
                </a:ln>
                <a:solidFill>
                  <a:schemeClr val="bg1"/>
                </a:solidFill>
                <a:effectLst/>
                <a:uLnTx/>
                <a:uFillTx/>
                <a:latin typeface="Ubuntu"/>
                <a:ea typeface="+mn-ea"/>
                <a:cs typeface="Arial"/>
              </a:rPr>
              <a:t>ss</a:t>
            </a:r>
            <a:r>
              <a:rPr kumimoji="0" lang="en-US" sz="1050" b="1" i="0" u="none" strike="noStrike" kern="1200" cap="none" spc="0" normalizeH="0" baseline="0" noProof="0">
                <a:ln>
                  <a:noFill/>
                </a:ln>
                <a:solidFill>
                  <a:schemeClr val="bg1"/>
                </a:solidFill>
                <a:effectLst/>
                <a:uLnTx/>
                <a:uFillTx/>
                <a:latin typeface="Ubuntu"/>
                <a:ea typeface="+mn-ea"/>
                <a:cs typeface="Arial"/>
              </a:rPr>
              <a:t>e</a:t>
            </a:r>
            <a:r>
              <a:rPr kumimoji="0" lang="en-US" sz="1050" b="1" i="0" u="none" strike="noStrike" kern="1200" cap="none" spc="7" normalizeH="0" baseline="0" noProof="0">
                <a:ln>
                  <a:noFill/>
                </a:ln>
                <a:solidFill>
                  <a:schemeClr val="bg1"/>
                </a:solidFill>
                <a:effectLst/>
                <a:uLnTx/>
                <a:uFillTx/>
                <a:latin typeface="Ubuntu"/>
                <a:ea typeface="+mn-ea"/>
                <a:cs typeface="Arial"/>
              </a:rPr>
              <a:t>ssm</a:t>
            </a:r>
            <a:r>
              <a:rPr kumimoji="0" lang="en-US" sz="1050" b="1" i="0" u="none" strike="noStrike" kern="1200" cap="none" spc="-13" normalizeH="0" baseline="0" noProof="0">
                <a:ln>
                  <a:noFill/>
                </a:ln>
                <a:solidFill>
                  <a:schemeClr val="bg1"/>
                </a:solidFill>
                <a:effectLst/>
                <a:uLnTx/>
                <a:uFillTx/>
                <a:latin typeface="Ubuntu"/>
                <a:ea typeface="+mn-ea"/>
                <a:cs typeface="Arial"/>
              </a:rPr>
              <a:t>e</a:t>
            </a:r>
            <a:r>
              <a:rPr kumimoji="0" lang="en-US" sz="1050" b="1" i="0" u="none" strike="noStrike" kern="1200" cap="none" spc="0" normalizeH="0" baseline="0" noProof="0">
                <a:ln>
                  <a:noFill/>
                </a:ln>
                <a:solidFill>
                  <a:schemeClr val="bg1"/>
                </a:solidFill>
                <a:effectLst/>
                <a:uLnTx/>
                <a:uFillTx/>
                <a:latin typeface="Ubuntu"/>
                <a:ea typeface="+mn-ea"/>
                <a:cs typeface="Arial"/>
              </a:rPr>
              <a:t>nt</a:t>
            </a:r>
          </a:p>
        </p:txBody>
      </p:sp>
      <p:sp>
        <p:nvSpPr>
          <p:cNvPr id="25" name="object 34">
            <a:extLst>
              <a:ext uri="{FF2B5EF4-FFF2-40B4-BE49-F238E27FC236}">
                <a16:creationId xmlns:a16="http://schemas.microsoft.com/office/drawing/2014/main" id="{70F94E36-5447-3828-C276-85E92BB529B6}"/>
              </a:ext>
            </a:extLst>
          </p:cNvPr>
          <p:cNvSpPr txBox="1"/>
          <p:nvPr/>
        </p:nvSpPr>
        <p:spPr>
          <a:xfrm>
            <a:off x="4505831" y="6035648"/>
            <a:ext cx="3431732" cy="161583"/>
          </a:xfrm>
          <a:prstGeom prst="rect">
            <a:avLst/>
          </a:prstGeom>
        </p:spPr>
        <p:txBody>
          <a:bodyPr vert="horz" wrap="square" lIns="0" tIns="0" rIns="0" bIns="0" rtlCol="0">
            <a:spAutoFit/>
          </a:bodyPr>
          <a:lstStyle/>
          <a:p>
            <a:pPr marL="16933" marR="0"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13" normalizeH="0" baseline="0" noProof="0">
                <a:ln>
                  <a:noFill/>
                </a:ln>
                <a:solidFill>
                  <a:schemeClr val="bg1"/>
                </a:solidFill>
                <a:effectLst/>
                <a:uLnTx/>
                <a:uFillTx/>
                <a:latin typeface="Ubuntu"/>
                <a:ea typeface="+mn-ea"/>
                <a:cs typeface="Arial"/>
              </a:rPr>
              <a:t>CG </a:t>
            </a:r>
            <a:r>
              <a:rPr kumimoji="0" lang="en-IN" sz="1050" b="1" i="0" u="none" strike="noStrike" kern="1200" cap="none" spc="0" normalizeH="0" baseline="0" noProof="0">
                <a:ln>
                  <a:noFill/>
                </a:ln>
                <a:solidFill>
                  <a:schemeClr val="bg1"/>
                </a:solidFill>
                <a:effectLst/>
                <a:uLnTx/>
                <a:uFillTx/>
                <a:latin typeface="Ubuntu"/>
                <a:ea typeface="+mn-ea"/>
                <a:cs typeface="Arial"/>
              </a:rPr>
              <a:t>Fr</a:t>
            </a:r>
            <a:r>
              <a:rPr kumimoji="0" lang="en-IN" sz="1050" b="1" i="0" u="none" strike="noStrike" kern="1200" cap="none" spc="7" normalizeH="0" baseline="0" noProof="0">
                <a:ln>
                  <a:noFill/>
                </a:ln>
                <a:solidFill>
                  <a:schemeClr val="bg1"/>
                </a:solidFill>
                <a:effectLst/>
                <a:uLnTx/>
                <a:uFillTx/>
                <a:latin typeface="Ubuntu"/>
                <a:ea typeface="+mn-ea"/>
                <a:cs typeface="Arial"/>
              </a:rPr>
              <a:t>am</a:t>
            </a:r>
            <a:r>
              <a:rPr kumimoji="0" lang="en-IN" sz="1050" b="1" i="0" u="none" strike="noStrike" kern="1200" cap="none" spc="0" normalizeH="0" baseline="0" noProof="0">
                <a:ln>
                  <a:noFill/>
                </a:ln>
                <a:solidFill>
                  <a:schemeClr val="bg1"/>
                </a:solidFill>
                <a:effectLst/>
                <a:uLnTx/>
                <a:uFillTx/>
                <a:latin typeface="Ubuntu"/>
                <a:ea typeface="+mn-ea"/>
                <a:cs typeface="Arial"/>
              </a:rPr>
              <a:t>e</a:t>
            </a:r>
            <a:r>
              <a:rPr kumimoji="0" lang="en-IN" sz="1050" b="1" i="0" u="none" strike="noStrike" kern="1200" cap="none" spc="-20" normalizeH="0" baseline="0" noProof="0">
                <a:ln>
                  <a:noFill/>
                </a:ln>
                <a:solidFill>
                  <a:schemeClr val="bg1"/>
                </a:solidFill>
                <a:effectLst/>
                <a:uLnTx/>
                <a:uFillTx/>
                <a:latin typeface="Ubuntu"/>
                <a:ea typeface="+mn-ea"/>
                <a:cs typeface="Arial"/>
              </a:rPr>
              <a:t>w</a:t>
            </a:r>
            <a:r>
              <a:rPr kumimoji="0" lang="en-IN" sz="1050" b="1" i="0" u="none" strike="noStrike" kern="1200" cap="none" spc="0" normalizeH="0" baseline="0" noProof="0">
                <a:ln>
                  <a:noFill/>
                </a:ln>
                <a:solidFill>
                  <a:schemeClr val="bg1"/>
                </a:solidFill>
                <a:effectLst/>
                <a:uLnTx/>
                <a:uFillTx/>
                <a:latin typeface="Ubuntu"/>
                <a:ea typeface="+mn-ea"/>
                <a:cs typeface="Arial"/>
              </a:rPr>
              <a:t>or</a:t>
            </a:r>
            <a:r>
              <a:rPr kumimoji="0" lang="en-IN" sz="1050" b="1" i="0" u="none" strike="noStrike" kern="1200" cap="none" spc="7" normalizeH="0" baseline="0" noProof="0">
                <a:ln>
                  <a:noFill/>
                </a:ln>
                <a:solidFill>
                  <a:schemeClr val="bg1"/>
                </a:solidFill>
                <a:effectLst/>
                <a:uLnTx/>
                <a:uFillTx/>
                <a:latin typeface="Ubuntu"/>
                <a:ea typeface="+mn-ea"/>
                <a:cs typeface="Arial"/>
              </a:rPr>
              <a:t>ks</a:t>
            </a:r>
            <a:r>
              <a:rPr kumimoji="0" lang="en-IN" sz="1050" b="1" i="0" u="none" strike="noStrike" kern="1200" cap="none" spc="0" normalizeH="0" baseline="0" noProof="0">
                <a:ln>
                  <a:noFill/>
                </a:ln>
                <a:solidFill>
                  <a:schemeClr val="bg1"/>
                </a:solidFill>
                <a:effectLst/>
                <a:uLnTx/>
                <a:uFillTx/>
                <a:latin typeface="Ubuntu"/>
                <a:ea typeface="+mn-ea"/>
                <a:cs typeface="Arial"/>
              </a:rPr>
              <a:t>/</a:t>
            </a:r>
            <a:r>
              <a:rPr kumimoji="0" lang="en-IN" sz="1050" b="1" i="0" u="none" strike="noStrike" kern="1200" cap="none" spc="-33" normalizeH="0" baseline="0" noProof="0">
                <a:ln>
                  <a:noFill/>
                </a:ln>
                <a:solidFill>
                  <a:schemeClr val="bg1"/>
                </a:solidFill>
                <a:effectLst/>
                <a:uLnTx/>
                <a:uFillTx/>
                <a:latin typeface="Ubuntu"/>
                <a:ea typeface="+mn-ea"/>
                <a:cs typeface="Arial"/>
              </a:rPr>
              <a:t> </a:t>
            </a:r>
            <a:r>
              <a:rPr kumimoji="0" lang="en-IN" sz="1050" b="1" i="0" u="none" strike="noStrike" kern="1200" cap="none" spc="0" normalizeH="0" baseline="0" noProof="0">
                <a:ln>
                  <a:noFill/>
                </a:ln>
                <a:solidFill>
                  <a:schemeClr val="bg1"/>
                </a:solidFill>
                <a:effectLst/>
                <a:uLnTx/>
                <a:uFillTx/>
                <a:latin typeface="Ubuntu"/>
                <a:ea typeface="+mn-ea"/>
                <a:cs typeface="Arial"/>
              </a:rPr>
              <a:t>Ac</a:t>
            </a:r>
            <a:r>
              <a:rPr kumimoji="0" lang="en-IN" sz="1050" b="1" i="0" u="none" strike="noStrike" kern="1200" cap="none" spc="7" normalizeH="0" baseline="0" noProof="0">
                <a:ln>
                  <a:noFill/>
                </a:ln>
                <a:solidFill>
                  <a:schemeClr val="bg1"/>
                </a:solidFill>
                <a:effectLst/>
                <a:uLnTx/>
                <a:uFillTx/>
                <a:latin typeface="Ubuntu"/>
                <a:ea typeface="+mn-ea"/>
                <a:cs typeface="Arial"/>
              </a:rPr>
              <a:t>c</a:t>
            </a:r>
            <a:r>
              <a:rPr kumimoji="0" lang="en-IN" sz="1050" b="1" i="0" u="none" strike="noStrike" kern="1200" cap="none" spc="0" normalizeH="0" baseline="0" noProof="0">
                <a:ln>
                  <a:noFill/>
                </a:ln>
                <a:solidFill>
                  <a:schemeClr val="bg1"/>
                </a:solidFill>
                <a:effectLst/>
                <a:uLnTx/>
                <a:uFillTx/>
                <a:latin typeface="Ubuntu"/>
                <a:ea typeface="+mn-ea"/>
                <a:cs typeface="Arial"/>
              </a:rPr>
              <a:t>elerators</a:t>
            </a:r>
            <a:r>
              <a:rPr kumimoji="0" lang="en-IN" sz="1050" b="1" i="0" u="none" strike="noStrike" kern="1200" cap="none" spc="-40" normalizeH="0" baseline="0" noProof="0">
                <a:ln>
                  <a:noFill/>
                </a:ln>
                <a:solidFill>
                  <a:schemeClr val="bg1"/>
                </a:solidFill>
                <a:effectLst/>
                <a:uLnTx/>
                <a:uFillTx/>
                <a:latin typeface="Ubuntu"/>
                <a:ea typeface="+mn-ea"/>
                <a:cs typeface="Arial"/>
              </a:rPr>
              <a:t> </a:t>
            </a:r>
            <a:endParaRPr kumimoji="0" lang="en-IN" sz="1050" b="1" i="0" u="none" strike="noStrike" kern="1200" cap="none" spc="0" normalizeH="0" baseline="0" noProof="0">
              <a:ln>
                <a:noFill/>
              </a:ln>
              <a:solidFill>
                <a:schemeClr val="bg1"/>
              </a:solidFill>
              <a:effectLst/>
              <a:uLnTx/>
              <a:uFillTx/>
              <a:latin typeface="Ubuntu"/>
              <a:ea typeface="+mn-ea"/>
              <a:cs typeface="Arial"/>
            </a:endParaRPr>
          </a:p>
        </p:txBody>
      </p:sp>
      <p:sp>
        <p:nvSpPr>
          <p:cNvPr id="26" name="object 35">
            <a:extLst>
              <a:ext uri="{FF2B5EF4-FFF2-40B4-BE49-F238E27FC236}">
                <a16:creationId xmlns:a16="http://schemas.microsoft.com/office/drawing/2014/main" id="{D6AF54B0-8AB3-BBD2-8195-DDD4DDE36C3D}"/>
              </a:ext>
            </a:extLst>
          </p:cNvPr>
          <p:cNvSpPr txBox="1"/>
          <p:nvPr/>
        </p:nvSpPr>
        <p:spPr>
          <a:xfrm>
            <a:off x="8811778" y="6063614"/>
            <a:ext cx="2673845" cy="161583"/>
          </a:xfrm>
          <a:prstGeom prst="rect">
            <a:avLst/>
          </a:prstGeom>
        </p:spPr>
        <p:txBody>
          <a:bodyPr vert="horz" wrap="square" lIns="0" tIns="0" rIns="0" bIns="0" rtlCol="0">
            <a:spAutoFit/>
          </a:bodyPr>
          <a:lstStyle/>
          <a:p>
            <a:pPr marL="16933" marR="0"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13" normalizeH="0" baseline="0" noProof="0">
                <a:ln>
                  <a:noFill/>
                </a:ln>
                <a:solidFill>
                  <a:schemeClr val="bg1"/>
                </a:solidFill>
                <a:effectLst/>
                <a:uLnTx/>
                <a:uFillTx/>
                <a:latin typeface="Ubuntu"/>
                <a:ea typeface="+mn-ea"/>
                <a:cs typeface="Arial"/>
              </a:rPr>
              <a:t>T</a:t>
            </a:r>
            <a:r>
              <a:rPr kumimoji="0" lang="en-IN" sz="1050" b="1" i="0" u="none" strike="noStrike" kern="1200" cap="none" spc="0" normalizeH="0" baseline="0" noProof="0">
                <a:ln>
                  <a:noFill/>
                </a:ln>
                <a:solidFill>
                  <a:schemeClr val="bg1"/>
                </a:solidFill>
                <a:effectLst/>
                <a:uLnTx/>
                <a:uFillTx/>
                <a:latin typeface="Ubuntu"/>
                <a:ea typeface="+mn-ea"/>
                <a:cs typeface="Arial"/>
              </a:rPr>
              <a:t>el</a:t>
            </a:r>
            <a:r>
              <a:rPr kumimoji="0" lang="en-IN" sz="1050" b="1" i="0" u="none" strike="noStrike" kern="1200" cap="none" spc="7" normalizeH="0" baseline="0" noProof="0">
                <a:ln>
                  <a:noFill/>
                </a:ln>
                <a:solidFill>
                  <a:schemeClr val="bg1"/>
                </a:solidFill>
                <a:effectLst/>
                <a:uLnTx/>
                <a:uFillTx/>
                <a:latin typeface="Ubuntu"/>
                <a:ea typeface="+mn-ea"/>
                <a:cs typeface="Arial"/>
              </a:rPr>
              <a:t>c</a:t>
            </a:r>
            <a:r>
              <a:rPr kumimoji="0" lang="en-IN" sz="1050" b="1" i="0" u="none" strike="noStrike" kern="1200" cap="none" spc="0" normalizeH="0" baseline="0" noProof="0">
                <a:ln>
                  <a:noFill/>
                </a:ln>
                <a:solidFill>
                  <a:schemeClr val="bg1"/>
                </a:solidFill>
                <a:effectLst/>
                <a:uLnTx/>
                <a:uFillTx/>
                <a:latin typeface="Ubuntu"/>
                <a:ea typeface="+mn-ea"/>
                <a:cs typeface="Arial"/>
              </a:rPr>
              <a:t>o</a:t>
            </a:r>
            <a:r>
              <a:rPr kumimoji="0" lang="en-IN" sz="1050" b="1" i="0" u="none" strike="noStrike" kern="1200" cap="none" spc="-13" normalizeH="0" baseline="0" noProof="0">
                <a:ln>
                  <a:noFill/>
                </a:ln>
                <a:solidFill>
                  <a:schemeClr val="bg1"/>
                </a:solidFill>
                <a:effectLst/>
                <a:uLnTx/>
                <a:uFillTx/>
                <a:latin typeface="Ubuntu"/>
                <a:ea typeface="+mn-ea"/>
                <a:cs typeface="Arial"/>
              </a:rPr>
              <a:t> </a:t>
            </a:r>
            <a:r>
              <a:rPr kumimoji="0" lang="en-IN" sz="1050" b="1" i="0" u="none" strike="noStrike" kern="1200" cap="none" spc="0" normalizeH="0" baseline="0" noProof="0">
                <a:ln>
                  <a:noFill/>
                </a:ln>
                <a:solidFill>
                  <a:schemeClr val="bg1"/>
                </a:solidFill>
                <a:effectLst/>
                <a:uLnTx/>
                <a:uFillTx/>
                <a:latin typeface="Ubuntu"/>
                <a:ea typeface="+mn-ea"/>
                <a:cs typeface="Arial"/>
              </a:rPr>
              <a:t>E</a:t>
            </a:r>
            <a:r>
              <a:rPr kumimoji="0" lang="en-IN" sz="1050" b="1" i="0" u="none" strike="noStrike" kern="1200" cap="none" spc="-27" normalizeH="0" baseline="0" noProof="0">
                <a:ln>
                  <a:noFill/>
                </a:ln>
                <a:solidFill>
                  <a:schemeClr val="bg1"/>
                </a:solidFill>
                <a:effectLst/>
                <a:uLnTx/>
                <a:uFillTx/>
                <a:latin typeface="Ubuntu"/>
                <a:ea typeface="+mn-ea"/>
                <a:cs typeface="Arial"/>
              </a:rPr>
              <a:t>x</a:t>
            </a:r>
            <a:r>
              <a:rPr kumimoji="0" lang="en-IN" sz="1050" b="1" i="0" u="none" strike="noStrike" kern="1200" cap="none" spc="0" normalizeH="0" baseline="0" noProof="0">
                <a:ln>
                  <a:noFill/>
                </a:ln>
                <a:solidFill>
                  <a:schemeClr val="bg1"/>
                </a:solidFill>
                <a:effectLst/>
                <a:uLnTx/>
                <a:uFillTx/>
                <a:latin typeface="Ubuntu"/>
                <a:ea typeface="+mn-ea"/>
                <a:cs typeface="Arial"/>
              </a:rPr>
              <a:t>perien</a:t>
            </a:r>
            <a:r>
              <a:rPr kumimoji="0" lang="en-IN" sz="1050" b="1" i="0" u="none" strike="noStrike" kern="1200" cap="none" spc="7" normalizeH="0" baseline="0" noProof="0">
                <a:ln>
                  <a:noFill/>
                </a:ln>
                <a:solidFill>
                  <a:schemeClr val="bg1"/>
                </a:solidFill>
                <a:effectLst/>
                <a:uLnTx/>
                <a:uFillTx/>
                <a:latin typeface="Ubuntu"/>
                <a:ea typeface="+mn-ea"/>
                <a:cs typeface="Arial"/>
              </a:rPr>
              <a:t>c</a:t>
            </a:r>
            <a:r>
              <a:rPr kumimoji="0" lang="en-IN" sz="1050" b="1" i="0" u="none" strike="noStrike" kern="1200" cap="none" spc="0" normalizeH="0" baseline="0" noProof="0">
                <a:ln>
                  <a:noFill/>
                </a:ln>
                <a:solidFill>
                  <a:schemeClr val="bg1"/>
                </a:solidFill>
                <a:effectLst/>
                <a:uLnTx/>
                <a:uFillTx/>
                <a:latin typeface="Ubuntu"/>
                <a:ea typeface="+mn-ea"/>
                <a:cs typeface="Arial"/>
              </a:rPr>
              <a:t>ed</a:t>
            </a:r>
            <a:r>
              <a:rPr kumimoji="0" lang="en-IN" sz="1050" b="1" i="0" u="none" strike="noStrike" kern="1200" cap="none" spc="-13" normalizeH="0" baseline="0" noProof="0">
                <a:ln>
                  <a:noFill/>
                </a:ln>
                <a:solidFill>
                  <a:schemeClr val="bg1"/>
                </a:solidFill>
                <a:effectLst/>
                <a:uLnTx/>
                <a:uFillTx/>
                <a:latin typeface="Ubuntu"/>
                <a:ea typeface="+mn-ea"/>
                <a:cs typeface="Arial"/>
              </a:rPr>
              <a:t> </a:t>
            </a:r>
            <a:r>
              <a:rPr kumimoji="0" lang="en-IN" sz="1050" b="1" i="0" u="none" strike="noStrike" kern="1200" cap="none" spc="7" normalizeH="0" baseline="0" noProof="0">
                <a:ln>
                  <a:noFill/>
                </a:ln>
                <a:solidFill>
                  <a:schemeClr val="bg1"/>
                </a:solidFill>
                <a:effectLst/>
                <a:uLnTx/>
                <a:uFillTx/>
                <a:latin typeface="Ubuntu"/>
                <a:ea typeface="+mn-ea"/>
                <a:cs typeface="Arial"/>
              </a:rPr>
              <a:t>c</a:t>
            </a:r>
            <a:r>
              <a:rPr kumimoji="0" lang="en-IN" sz="1050" b="1" i="0" u="none" strike="noStrike" kern="1200" cap="none" spc="0" normalizeH="0" baseline="0" noProof="0">
                <a:ln>
                  <a:noFill/>
                </a:ln>
                <a:solidFill>
                  <a:schemeClr val="bg1"/>
                </a:solidFill>
                <a:effectLst/>
                <a:uLnTx/>
                <a:uFillTx/>
                <a:latin typeface="Ubuntu"/>
                <a:ea typeface="+mn-ea"/>
                <a:cs typeface="Arial"/>
              </a:rPr>
              <a:t>on</a:t>
            </a:r>
            <a:r>
              <a:rPr kumimoji="0" lang="en-IN" sz="1050" b="1" i="0" u="none" strike="noStrike" kern="1200" cap="none" spc="7" normalizeH="0" baseline="0" noProof="0">
                <a:ln>
                  <a:noFill/>
                </a:ln>
                <a:solidFill>
                  <a:schemeClr val="bg1"/>
                </a:solidFill>
                <a:effectLst/>
                <a:uLnTx/>
                <a:uFillTx/>
                <a:latin typeface="Ubuntu"/>
                <a:ea typeface="+mn-ea"/>
                <a:cs typeface="Arial"/>
              </a:rPr>
              <a:t>s</a:t>
            </a:r>
            <a:r>
              <a:rPr kumimoji="0" lang="en-IN" sz="1050" b="1" i="0" u="none" strike="noStrike" kern="1200" cap="none" spc="0" normalizeH="0" baseline="0" noProof="0">
                <a:ln>
                  <a:noFill/>
                </a:ln>
                <a:solidFill>
                  <a:schemeClr val="bg1"/>
                </a:solidFill>
                <a:effectLst/>
                <a:uLnTx/>
                <a:uFillTx/>
                <a:latin typeface="Ubuntu"/>
                <a:ea typeface="+mn-ea"/>
                <a:cs typeface="Arial"/>
              </a:rPr>
              <a:t>ulta</a:t>
            </a:r>
            <a:r>
              <a:rPr kumimoji="0" lang="en-IN" sz="1050" b="1" i="0" u="none" strike="noStrike" kern="1200" cap="none" spc="-13" normalizeH="0" baseline="0" noProof="0">
                <a:ln>
                  <a:noFill/>
                </a:ln>
                <a:solidFill>
                  <a:schemeClr val="bg1"/>
                </a:solidFill>
                <a:effectLst/>
                <a:uLnTx/>
                <a:uFillTx/>
                <a:latin typeface="Ubuntu"/>
                <a:ea typeface="+mn-ea"/>
                <a:cs typeface="Arial"/>
              </a:rPr>
              <a:t>n</a:t>
            </a:r>
            <a:r>
              <a:rPr kumimoji="0" lang="en-IN" sz="1050" b="1" i="0" u="none" strike="noStrike" kern="1200" cap="none" spc="0" normalizeH="0" baseline="0" noProof="0">
                <a:ln>
                  <a:noFill/>
                </a:ln>
                <a:solidFill>
                  <a:schemeClr val="bg1"/>
                </a:solidFill>
                <a:effectLst/>
                <a:uLnTx/>
                <a:uFillTx/>
                <a:latin typeface="Ubuntu"/>
                <a:ea typeface="+mn-ea"/>
                <a:cs typeface="Arial"/>
              </a:rPr>
              <a:t>ts</a:t>
            </a:r>
          </a:p>
        </p:txBody>
      </p:sp>
      <p:sp>
        <p:nvSpPr>
          <p:cNvPr id="27" name="object 37">
            <a:extLst>
              <a:ext uri="{FF2B5EF4-FFF2-40B4-BE49-F238E27FC236}">
                <a16:creationId xmlns:a16="http://schemas.microsoft.com/office/drawing/2014/main" id="{17E86065-39B9-DB45-0471-77032AC35DDB}"/>
              </a:ext>
            </a:extLst>
          </p:cNvPr>
          <p:cNvSpPr/>
          <p:nvPr/>
        </p:nvSpPr>
        <p:spPr>
          <a:xfrm>
            <a:off x="4204930" y="5770279"/>
            <a:ext cx="45719" cy="682435"/>
          </a:xfrm>
          <a:custGeom>
            <a:avLst/>
            <a:gdLst/>
            <a:ahLst/>
            <a:cxnLst/>
            <a:rect l="l" t="t" r="r" b="b"/>
            <a:pathLst>
              <a:path h="928370">
                <a:moveTo>
                  <a:pt x="0" y="0"/>
                </a:moveTo>
                <a:lnTo>
                  <a:pt x="0" y="928255"/>
                </a:lnTo>
              </a:path>
            </a:pathLst>
          </a:custGeom>
          <a:ln w="12700">
            <a:solidFill>
              <a:schemeClr val="bg1"/>
            </a:solidFill>
            <a:prstDash val="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Ubuntu"/>
              <a:ea typeface="+mn-ea"/>
              <a:cs typeface="+mn-cs"/>
            </a:endParaRPr>
          </a:p>
        </p:txBody>
      </p:sp>
      <p:sp>
        <p:nvSpPr>
          <p:cNvPr id="28" name="object 38">
            <a:extLst>
              <a:ext uri="{FF2B5EF4-FFF2-40B4-BE49-F238E27FC236}">
                <a16:creationId xmlns:a16="http://schemas.microsoft.com/office/drawing/2014/main" id="{D10A58D0-7DAE-FBCF-DAF9-5CA563920EF6}"/>
              </a:ext>
            </a:extLst>
          </p:cNvPr>
          <p:cNvSpPr/>
          <p:nvPr/>
        </p:nvSpPr>
        <p:spPr>
          <a:xfrm flipH="1">
            <a:off x="8070137" y="5780165"/>
            <a:ext cx="45719" cy="682435"/>
          </a:xfrm>
          <a:custGeom>
            <a:avLst/>
            <a:gdLst/>
            <a:ahLst/>
            <a:cxnLst/>
            <a:rect l="l" t="t" r="r" b="b"/>
            <a:pathLst>
              <a:path h="928370">
                <a:moveTo>
                  <a:pt x="0" y="0"/>
                </a:moveTo>
                <a:lnTo>
                  <a:pt x="0" y="928255"/>
                </a:lnTo>
              </a:path>
            </a:pathLst>
          </a:custGeom>
          <a:ln w="12700">
            <a:solidFill>
              <a:schemeClr val="bg1"/>
            </a:solidFill>
            <a:prstDash val="dash"/>
          </a:ln>
        </p:spPr>
        <p:txBody>
          <a:bodyPr wrap="square" lIns="0" tIns="0" rIns="0" bIns="0" rtlCol="0"/>
          <a:lstStyle/>
          <a:p>
            <a:endParaRPr sz="2400">
              <a:solidFill>
                <a:prstClr val="black"/>
              </a:solidFill>
              <a:latin typeface="Ubuntu"/>
            </a:endParaRPr>
          </a:p>
        </p:txBody>
      </p:sp>
      <p:sp>
        <p:nvSpPr>
          <p:cNvPr id="32" name="Rectangle: Rounded Corners 31">
            <a:extLst>
              <a:ext uri="{FF2B5EF4-FFF2-40B4-BE49-F238E27FC236}">
                <a16:creationId xmlns:a16="http://schemas.microsoft.com/office/drawing/2014/main" id="{6E4DEE89-79B2-C825-45C3-CBEE708FAEF9}"/>
              </a:ext>
            </a:extLst>
          </p:cNvPr>
          <p:cNvSpPr/>
          <p:nvPr/>
        </p:nvSpPr>
        <p:spPr>
          <a:xfrm>
            <a:off x="3464519" y="5614601"/>
            <a:ext cx="5301540" cy="225593"/>
          </a:xfrm>
          <a:prstGeom prst="roundRect">
            <a:avLst/>
          </a:prstGeom>
          <a:solidFill>
            <a:schemeClr val="accent4">
              <a:lumMod val="10000"/>
              <a:lumOff val="90000"/>
            </a:schemeClr>
          </a:solidFill>
          <a:ln w="19050">
            <a:solidFill>
              <a:schemeClr val="accent2"/>
            </a:solidFill>
          </a:ln>
        </p:spPr>
        <p:txBody>
          <a:bodyPr wrap="square" lIns="0" tIns="0" rIns="0" bIns="0" rtlCol="0"/>
          <a:lstStyle/>
          <a:p>
            <a:endParaRPr lang="en-IN" sz="2400" b="1">
              <a:solidFill>
                <a:schemeClr val="bg2">
                  <a:lumMod val="25000"/>
                </a:schemeClr>
              </a:solidFill>
              <a:latin typeface="Ubuntu"/>
            </a:endParaRPr>
          </a:p>
        </p:txBody>
      </p:sp>
      <p:sp>
        <p:nvSpPr>
          <p:cNvPr id="33" name="object 19">
            <a:extLst>
              <a:ext uri="{FF2B5EF4-FFF2-40B4-BE49-F238E27FC236}">
                <a16:creationId xmlns:a16="http://schemas.microsoft.com/office/drawing/2014/main" id="{B029DA47-2DC9-BB6D-D702-0A74DEAE03E3}"/>
              </a:ext>
            </a:extLst>
          </p:cNvPr>
          <p:cNvSpPr txBox="1"/>
          <p:nvPr/>
        </p:nvSpPr>
        <p:spPr>
          <a:xfrm>
            <a:off x="2950033" y="5631596"/>
            <a:ext cx="6271852" cy="184666"/>
          </a:xfrm>
          <a:prstGeom prst="rect">
            <a:avLst/>
          </a:prstGeom>
        </p:spPr>
        <p:txBody>
          <a:bodyPr vert="horz" wrap="square" lIns="0" tIns="0" rIns="0" bIns="0" rtlCol="0">
            <a:spAutoFit/>
          </a:bodyPr>
          <a:lstStyle/>
          <a:p>
            <a:pPr marL="16933" marR="0" lvl="0" indent="0" algn="ctr" defTabSz="914400" rtl="0" eaLnBrk="1" fontAlgn="auto" latinLnBrk="0" hangingPunct="1">
              <a:lnSpc>
                <a:spcPct val="100000"/>
              </a:lnSpc>
              <a:spcBef>
                <a:spcPts val="0"/>
              </a:spcBef>
              <a:spcAft>
                <a:spcPts val="0"/>
              </a:spcAft>
              <a:buClrTx/>
              <a:buSzTx/>
              <a:buFontTx/>
              <a:buNone/>
              <a:tabLst/>
              <a:defRPr/>
            </a:pPr>
            <a:r>
              <a:rPr kumimoji="0" sz="1200" b="1" i="0" strike="noStrike" kern="1200" cap="none" spc="0" normalizeH="0" baseline="0" noProof="0">
                <a:ln>
                  <a:noFill/>
                </a:ln>
                <a:effectLst/>
                <a:uLnTx/>
                <a:uFillTx/>
                <a:latin typeface="Ubuntu"/>
                <a:ea typeface="+mn-ea"/>
                <a:cs typeface="Arial"/>
              </a:rPr>
              <a:t>The key</a:t>
            </a:r>
            <a:r>
              <a:rPr kumimoji="0" sz="1200" b="1" i="0" strike="noStrike" kern="1200" cap="none" spc="-27" normalizeH="0" baseline="0" noProof="0">
                <a:ln>
                  <a:noFill/>
                </a:ln>
                <a:effectLst/>
                <a:uLnTx/>
                <a:uFillTx/>
                <a:latin typeface="Ubuntu"/>
                <a:ea typeface="+mn-ea"/>
                <a:cs typeface="Arial"/>
              </a:rPr>
              <a:t> </a:t>
            </a:r>
            <a:r>
              <a:rPr kumimoji="0" sz="1200" b="1" i="0" strike="noStrike" kern="1200" cap="none" spc="0" normalizeH="0" baseline="0" noProof="0">
                <a:ln>
                  <a:noFill/>
                </a:ln>
                <a:effectLst/>
                <a:uLnTx/>
                <a:uFillTx/>
                <a:latin typeface="Ubuntu"/>
                <a:ea typeface="+mn-ea"/>
                <a:cs typeface="Arial"/>
              </a:rPr>
              <a:t>tenets</a:t>
            </a:r>
            <a:r>
              <a:rPr kumimoji="0" sz="1200" b="1" i="0" strike="noStrike" kern="1200" cap="none" spc="-13" normalizeH="0" baseline="0" noProof="0">
                <a:ln>
                  <a:noFill/>
                </a:ln>
                <a:effectLst/>
                <a:uLnTx/>
                <a:uFillTx/>
                <a:latin typeface="Ubuntu"/>
                <a:ea typeface="+mn-ea"/>
                <a:cs typeface="Arial"/>
              </a:rPr>
              <a:t> </a:t>
            </a:r>
            <a:r>
              <a:rPr kumimoji="0" sz="1200" b="1" i="0" strike="noStrike" kern="1200" cap="none" spc="0" normalizeH="0" baseline="0" noProof="0">
                <a:ln>
                  <a:noFill/>
                </a:ln>
                <a:effectLst/>
                <a:uLnTx/>
                <a:uFillTx/>
                <a:latin typeface="Ubuntu"/>
                <a:ea typeface="+mn-ea"/>
                <a:cs typeface="Arial"/>
              </a:rPr>
              <a:t>of</a:t>
            </a:r>
            <a:r>
              <a:rPr kumimoji="0" sz="1200" b="1" i="0" strike="noStrike" kern="1200" cap="none" spc="7" normalizeH="0" baseline="0" noProof="0">
                <a:ln>
                  <a:noFill/>
                </a:ln>
                <a:effectLst/>
                <a:uLnTx/>
                <a:uFillTx/>
                <a:latin typeface="Ubuntu"/>
                <a:ea typeface="+mn-ea"/>
                <a:cs typeface="Arial"/>
              </a:rPr>
              <a:t> </a:t>
            </a:r>
            <a:r>
              <a:rPr kumimoji="0" sz="1200" b="1" i="0" strike="noStrike" kern="1200" cap="none" spc="0" normalizeH="0" baseline="0" noProof="0">
                <a:ln>
                  <a:noFill/>
                </a:ln>
                <a:effectLst/>
                <a:uLnTx/>
                <a:uFillTx/>
                <a:latin typeface="Ubuntu"/>
                <a:ea typeface="+mn-ea"/>
                <a:cs typeface="Arial"/>
              </a:rPr>
              <a:t>solution</a:t>
            </a:r>
            <a:r>
              <a:rPr kumimoji="0" sz="1200" b="1" i="0" strike="noStrike" kern="1200" cap="none" spc="47" normalizeH="0" baseline="0" noProof="0">
                <a:ln>
                  <a:noFill/>
                </a:ln>
                <a:effectLst/>
                <a:uLnTx/>
                <a:uFillTx/>
                <a:latin typeface="Ubuntu"/>
                <a:ea typeface="+mn-ea"/>
                <a:cs typeface="Arial"/>
              </a:rPr>
              <a:t> </a:t>
            </a:r>
            <a:r>
              <a:rPr kumimoji="0" sz="1200" b="1" i="0" strike="noStrike" kern="1200" cap="none" spc="20" normalizeH="0" baseline="0" noProof="0">
                <a:ln>
                  <a:noFill/>
                </a:ln>
                <a:effectLst/>
                <a:uLnTx/>
                <a:uFillTx/>
                <a:latin typeface="Ubuntu"/>
                <a:ea typeface="+mn-ea"/>
                <a:cs typeface="Arial"/>
              </a:rPr>
              <a:t>f</a:t>
            </a:r>
            <a:r>
              <a:rPr kumimoji="0" sz="1200" b="1" i="0" strike="noStrike" kern="1200" cap="none" spc="0" normalizeH="0" baseline="0" noProof="0">
                <a:ln>
                  <a:noFill/>
                </a:ln>
                <a:effectLst/>
                <a:uLnTx/>
                <a:uFillTx/>
                <a:latin typeface="Ubuntu"/>
                <a:ea typeface="+mn-ea"/>
                <a:cs typeface="Arial"/>
              </a:rPr>
              <a:t>or</a:t>
            </a:r>
            <a:r>
              <a:rPr kumimoji="0" sz="1200" b="1" i="0" strike="noStrike" kern="1200" cap="none" spc="-53" normalizeH="0" baseline="0" noProof="0">
                <a:ln>
                  <a:noFill/>
                </a:ln>
                <a:effectLst/>
                <a:uLnTx/>
                <a:uFillTx/>
                <a:latin typeface="Ubuntu"/>
                <a:ea typeface="+mn-ea"/>
                <a:cs typeface="Arial"/>
              </a:rPr>
              <a:t> </a:t>
            </a:r>
            <a:r>
              <a:rPr kumimoji="0" sz="1200" b="1" i="0" strike="noStrike" kern="1200" cap="none" spc="-7" normalizeH="0" baseline="0" noProof="0">
                <a:ln>
                  <a:noFill/>
                </a:ln>
                <a:effectLst/>
                <a:uLnTx/>
                <a:uFillTx/>
                <a:latin typeface="Ubuntu"/>
                <a:ea typeface="+mn-ea"/>
                <a:cs typeface="Arial"/>
              </a:rPr>
              <a:t>B</a:t>
            </a:r>
            <a:r>
              <a:rPr kumimoji="0" sz="1200" b="1" i="0" strike="noStrike" kern="1200" cap="none" spc="0" normalizeH="0" baseline="0" noProof="0">
                <a:ln>
                  <a:noFill/>
                </a:ln>
                <a:effectLst/>
                <a:uLnTx/>
                <a:uFillTx/>
                <a:latin typeface="Ubuntu"/>
                <a:ea typeface="+mn-ea"/>
                <a:cs typeface="Arial"/>
              </a:rPr>
              <a:t>us</a:t>
            </a:r>
            <a:r>
              <a:rPr kumimoji="0" sz="1200" b="1" i="0" strike="noStrike" kern="1200" cap="none" spc="-13" normalizeH="0" baseline="0" noProof="0">
                <a:ln>
                  <a:noFill/>
                </a:ln>
                <a:effectLst/>
                <a:uLnTx/>
                <a:uFillTx/>
                <a:latin typeface="Ubuntu"/>
                <a:ea typeface="+mn-ea"/>
                <a:cs typeface="Arial"/>
              </a:rPr>
              <a:t>i</a:t>
            </a:r>
            <a:r>
              <a:rPr kumimoji="0" sz="1200" b="1" i="0" strike="noStrike" kern="1200" cap="none" spc="0" normalizeH="0" baseline="0" noProof="0">
                <a:ln>
                  <a:noFill/>
                </a:ln>
                <a:effectLst/>
                <a:uLnTx/>
                <a:uFillTx/>
                <a:latin typeface="Ubuntu"/>
                <a:ea typeface="+mn-ea"/>
                <a:cs typeface="Arial"/>
              </a:rPr>
              <a:t>n</a:t>
            </a:r>
            <a:r>
              <a:rPr kumimoji="0" sz="1200" b="1" i="0" strike="noStrike" kern="1200" cap="none" spc="-7" normalizeH="0" baseline="0" noProof="0">
                <a:ln>
                  <a:noFill/>
                </a:ln>
                <a:effectLst/>
                <a:uLnTx/>
                <a:uFillTx/>
                <a:latin typeface="Ubuntu"/>
                <a:ea typeface="+mn-ea"/>
                <a:cs typeface="Arial"/>
              </a:rPr>
              <a:t>e</a:t>
            </a:r>
            <a:r>
              <a:rPr kumimoji="0" sz="1200" b="1" i="0" strike="noStrike" kern="1200" cap="none" spc="0" normalizeH="0" baseline="0" noProof="0">
                <a:ln>
                  <a:noFill/>
                </a:ln>
                <a:effectLst/>
                <a:uLnTx/>
                <a:uFillTx/>
                <a:latin typeface="Ubuntu"/>
                <a:ea typeface="+mn-ea"/>
                <a:cs typeface="Arial"/>
              </a:rPr>
              <a:t>ss</a:t>
            </a:r>
            <a:r>
              <a:rPr kumimoji="0" sz="1200" b="1" i="0" strike="noStrike" kern="1200" cap="none" spc="7" normalizeH="0" baseline="0" noProof="0">
                <a:ln>
                  <a:noFill/>
                </a:ln>
                <a:effectLst/>
                <a:uLnTx/>
                <a:uFillTx/>
                <a:latin typeface="Ubuntu"/>
                <a:ea typeface="+mn-ea"/>
                <a:cs typeface="Arial"/>
              </a:rPr>
              <a:t> </a:t>
            </a:r>
            <a:r>
              <a:rPr kumimoji="0" sz="1200" b="1" i="0" strike="noStrike" kern="1200" cap="none" spc="-27" normalizeH="0" baseline="0" noProof="0">
                <a:ln>
                  <a:noFill/>
                </a:ln>
                <a:effectLst/>
                <a:uLnTx/>
                <a:uFillTx/>
                <a:latin typeface="Ubuntu"/>
                <a:ea typeface="+mn-ea"/>
                <a:cs typeface="Arial"/>
              </a:rPr>
              <a:t>M</a:t>
            </a:r>
            <a:r>
              <a:rPr kumimoji="0" sz="1200" b="1" i="0" strike="noStrike" kern="1200" cap="none" spc="0" normalizeH="0" baseline="0" noProof="0">
                <a:ln>
                  <a:noFill/>
                </a:ln>
                <a:effectLst/>
                <a:uLnTx/>
                <a:uFillTx/>
                <a:latin typeface="Ubuntu"/>
                <a:ea typeface="+mn-ea"/>
                <a:cs typeface="Arial"/>
              </a:rPr>
              <a:t>o</a:t>
            </a:r>
            <a:r>
              <a:rPr kumimoji="0" sz="1200" b="1" i="0" strike="noStrike" kern="1200" cap="none" spc="-7" normalizeH="0" baseline="0" noProof="0">
                <a:ln>
                  <a:noFill/>
                </a:ln>
                <a:effectLst/>
                <a:uLnTx/>
                <a:uFillTx/>
                <a:latin typeface="Ubuntu"/>
                <a:ea typeface="+mn-ea"/>
                <a:cs typeface="Arial"/>
              </a:rPr>
              <a:t>d</a:t>
            </a:r>
            <a:r>
              <a:rPr kumimoji="0" sz="1200" b="1" i="0" strike="noStrike" kern="1200" cap="none" spc="0" normalizeH="0" baseline="0" noProof="0">
                <a:ln>
                  <a:noFill/>
                </a:ln>
                <a:effectLst/>
                <a:uLnTx/>
                <a:uFillTx/>
                <a:latin typeface="Ubuntu"/>
                <a:ea typeface="+mn-ea"/>
                <a:cs typeface="Arial"/>
              </a:rPr>
              <a:t>el</a:t>
            </a:r>
            <a:r>
              <a:rPr kumimoji="0" sz="1200" b="1" i="0" strike="noStrike" kern="1200" cap="none" spc="13" normalizeH="0" baseline="0" noProof="0">
                <a:ln>
                  <a:noFill/>
                </a:ln>
                <a:effectLst/>
                <a:uLnTx/>
                <a:uFillTx/>
                <a:latin typeface="Ubuntu"/>
                <a:ea typeface="+mn-ea"/>
                <a:cs typeface="Arial"/>
              </a:rPr>
              <a:t> </a:t>
            </a:r>
            <a:r>
              <a:rPr kumimoji="0" lang="en-IN" sz="1200" b="1" i="0" strike="noStrike" kern="1200" cap="none" spc="13" normalizeH="0" baseline="0" noProof="0">
                <a:ln>
                  <a:noFill/>
                </a:ln>
                <a:effectLst/>
                <a:uLnTx/>
                <a:uFillTx/>
                <a:latin typeface="Ubuntu"/>
                <a:ea typeface="+mn-ea"/>
                <a:cs typeface="Arial"/>
              </a:rPr>
              <a:t>assessment &amp; validation</a:t>
            </a:r>
            <a:endParaRPr kumimoji="0" sz="1200" b="1" i="0" strike="noStrike" kern="1200" cap="none" spc="0" normalizeH="0" baseline="0" noProof="0">
              <a:ln>
                <a:noFill/>
              </a:ln>
              <a:effectLst/>
              <a:uLnTx/>
              <a:uFillTx/>
              <a:latin typeface="Ubuntu"/>
              <a:ea typeface="+mn-ea"/>
              <a:cs typeface="Arial"/>
            </a:endParaRPr>
          </a:p>
        </p:txBody>
      </p:sp>
      <p:sp>
        <p:nvSpPr>
          <p:cNvPr id="34" name="object 24">
            <a:extLst>
              <a:ext uri="{FF2B5EF4-FFF2-40B4-BE49-F238E27FC236}">
                <a16:creationId xmlns:a16="http://schemas.microsoft.com/office/drawing/2014/main" id="{BCB3F1E7-5091-48F9-84A0-CAFCFF9AAC12}"/>
              </a:ext>
            </a:extLst>
          </p:cNvPr>
          <p:cNvSpPr txBox="1">
            <a:spLocks/>
          </p:cNvSpPr>
          <p:nvPr/>
        </p:nvSpPr>
        <p:spPr>
          <a:xfrm>
            <a:off x="478972" y="3444694"/>
            <a:ext cx="3276000" cy="381705"/>
          </a:xfrm>
          <a:prstGeom prst="rect">
            <a:avLst/>
          </a:prstGeom>
          <a:solidFill>
            <a:schemeClr val="accent2"/>
          </a:solidFill>
        </p:spPr>
        <p:txBody>
          <a:bodyPr vert="horz" wrap="square" lIns="0" tIns="0" rIns="0" bIns="0" rtlCol="0" anchor="ctr">
            <a:noAutofit/>
          </a:bodyPr>
          <a:lstStyle/>
          <a:p>
            <a:pPr marL="1693"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13" normalizeH="0" baseline="0" noProof="0">
                <a:ln>
                  <a:noFill/>
                </a:ln>
                <a:solidFill>
                  <a:srgbClr val="FFFFFF"/>
                </a:solidFill>
                <a:effectLst/>
                <a:uLnTx/>
                <a:uFillTx/>
                <a:latin typeface="Ubuntu"/>
                <a:ea typeface="+mn-ea"/>
                <a:cs typeface="Calibri"/>
              </a:rPr>
              <a:t>S</a:t>
            </a:r>
            <a:r>
              <a:rPr kumimoji="0" sz="1050" b="1" i="0" u="none" strike="noStrike" kern="1200" cap="none" spc="-20" normalizeH="0" baseline="0" noProof="0">
                <a:ln>
                  <a:noFill/>
                </a:ln>
                <a:solidFill>
                  <a:srgbClr val="FFFFFF"/>
                </a:solidFill>
                <a:effectLst/>
                <a:uLnTx/>
                <a:uFillTx/>
                <a:latin typeface="Ubuntu"/>
                <a:ea typeface="+mn-ea"/>
                <a:cs typeface="Calibri"/>
              </a:rPr>
              <a:t>T</a:t>
            </a:r>
            <a:r>
              <a:rPr kumimoji="0" sz="1050" b="1" i="0" u="none" strike="noStrike" kern="1200" cap="none" spc="-13" normalizeH="0" baseline="0" noProof="0">
                <a:ln>
                  <a:noFill/>
                </a:ln>
                <a:solidFill>
                  <a:srgbClr val="FFFFFF"/>
                </a:solidFill>
                <a:effectLst/>
                <a:uLnTx/>
                <a:uFillTx/>
                <a:latin typeface="Ubuntu"/>
                <a:ea typeface="+mn-ea"/>
                <a:cs typeface="Calibri"/>
              </a:rPr>
              <a:t>A</a:t>
            </a:r>
            <a:r>
              <a:rPr kumimoji="0" sz="1050" b="1" i="0" u="none" strike="noStrike" kern="1200" cap="none" spc="-20" normalizeH="0" baseline="0" noProof="0">
                <a:ln>
                  <a:noFill/>
                </a:ln>
                <a:solidFill>
                  <a:srgbClr val="FFFFFF"/>
                </a:solidFill>
                <a:effectLst/>
                <a:uLnTx/>
                <a:uFillTx/>
                <a:latin typeface="Ubuntu"/>
                <a:ea typeface="+mn-ea"/>
                <a:cs typeface="Calibri"/>
              </a:rPr>
              <a:t>G</a:t>
            </a:r>
            <a:r>
              <a:rPr kumimoji="0" sz="1050" b="1" i="0" u="none" strike="noStrike" kern="1200" cap="none" spc="-7" normalizeH="0" baseline="0" noProof="0">
                <a:ln>
                  <a:noFill/>
                </a:ln>
                <a:solidFill>
                  <a:srgbClr val="FFFFFF"/>
                </a:solidFill>
                <a:effectLst/>
                <a:uLnTx/>
                <a:uFillTx/>
                <a:latin typeface="Ubuntu"/>
                <a:ea typeface="+mn-ea"/>
                <a:cs typeface="Calibri"/>
              </a:rPr>
              <a:t>E</a:t>
            </a:r>
            <a:r>
              <a:rPr kumimoji="0" sz="1050" b="1" i="0" u="none" strike="noStrike" kern="1200" cap="none" spc="20" normalizeH="0" baseline="0" noProof="0">
                <a:ln>
                  <a:noFill/>
                </a:ln>
                <a:solidFill>
                  <a:srgbClr val="FFFFFF"/>
                </a:solidFill>
                <a:effectLst/>
                <a:uLnTx/>
                <a:uFillTx/>
                <a:latin typeface="Ubuntu"/>
                <a:ea typeface="+mn-ea"/>
                <a:cs typeface="Calibri"/>
              </a:rPr>
              <a:t> </a:t>
            </a:r>
            <a:r>
              <a:rPr kumimoji="0" sz="1050" b="1" i="0" u="none" strike="noStrike" kern="1200" cap="none" spc="-7" normalizeH="0" baseline="0" noProof="0">
                <a:ln>
                  <a:noFill/>
                </a:ln>
                <a:solidFill>
                  <a:srgbClr val="FFFFFF"/>
                </a:solidFill>
                <a:effectLst/>
                <a:uLnTx/>
                <a:uFillTx/>
                <a:latin typeface="Ubuntu"/>
                <a:ea typeface="+mn-ea"/>
                <a:cs typeface="Calibri"/>
              </a:rPr>
              <a:t>I</a:t>
            </a:r>
            <a:endParaRPr kumimoji="0" sz="1050" b="1" i="0" u="none" strike="noStrike" kern="1200" cap="none" spc="0" normalizeH="0" baseline="0" noProof="0">
              <a:ln>
                <a:noFill/>
              </a:ln>
              <a:solidFill>
                <a:prstClr val="black"/>
              </a:solidFill>
              <a:effectLst/>
              <a:uLnTx/>
              <a:uFillTx/>
              <a:latin typeface="Ubuntu"/>
              <a:ea typeface="+mn-ea"/>
              <a:cs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7" normalizeH="0" baseline="0" noProof="0">
                <a:ln>
                  <a:noFill/>
                </a:ln>
                <a:solidFill>
                  <a:srgbClr val="FFFFFF"/>
                </a:solidFill>
                <a:effectLst/>
                <a:uLnTx/>
                <a:uFillTx/>
                <a:latin typeface="Ubuntu"/>
                <a:ea typeface="+mn-ea"/>
                <a:cs typeface="Calibri"/>
              </a:rPr>
              <a:t>‘A</a:t>
            </a:r>
            <a:r>
              <a:rPr kumimoji="0" sz="1050" b="1" i="0" u="none" strike="noStrike" kern="1200" cap="none" spc="-13" normalizeH="0" baseline="0" noProof="0">
                <a:ln>
                  <a:noFill/>
                </a:ln>
                <a:solidFill>
                  <a:srgbClr val="FFFFFF"/>
                </a:solidFill>
                <a:effectLst/>
                <a:uLnTx/>
                <a:uFillTx/>
                <a:latin typeface="Ubuntu"/>
                <a:ea typeface="+mn-ea"/>
                <a:cs typeface="Calibri"/>
              </a:rPr>
              <a:t>S-</a:t>
            </a:r>
            <a:r>
              <a:rPr kumimoji="0" sz="1050" b="1" i="0" u="none" strike="noStrike" kern="1200" cap="none" spc="-7" normalizeH="0" baseline="0" noProof="0">
                <a:ln>
                  <a:noFill/>
                </a:ln>
                <a:solidFill>
                  <a:srgbClr val="FFFFFF"/>
                </a:solidFill>
                <a:effectLst/>
                <a:uLnTx/>
                <a:uFillTx/>
                <a:latin typeface="Ubuntu"/>
                <a:ea typeface="+mn-ea"/>
                <a:cs typeface="Calibri"/>
              </a:rPr>
              <a:t>IS’</a:t>
            </a:r>
            <a:r>
              <a:rPr kumimoji="0" sz="1050" b="1" i="0" u="none" strike="noStrike" kern="1200" cap="none" spc="0" normalizeH="0" baseline="0" noProof="0">
                <a:ln>
                  <a:noFill/>
                </a:ln>
                <a:solidFill>
                  <a:srgbClr val="FFFFFF"/>
                </a:solidFill>
                <a:effectLst/>
                <a:uLnTx/>
                <a:uFillTx/>
                <a:latin typeface="Ubuntu"/>
                <a:ea typeface="+mn-ea"/>
                <a:cs typeface="Calibri"/>
              </a:rPr>
              <a:t> </a:t>
            </a:r>
            <a:r>
              <a:rPr kumimoji="0" sz="1050" b="1" i="0" u="none" strike="noStrike" kern="1200" cap="none" spc="-13" normalizeH="0" baseline="0" noProof="0">
                <a:ln>
                  <a:noFill/>
                </a:ln>
                <a:solidFill>
                  <a:srgbClr val="FFFFFF"/>
                </a:solidFill>
                <a:effectLst/>
                <a:uLnTx/>
                <a:uFillTx/>
                <a:latin typeface="Ubuntu"/>
                <a:ea typeface="+mn-ea"/>
                <a:cs typeface="Calibri"/>
              </a:rPr>
              <a:t>ASS</a:t>
            </a:r>
            <a:r>
              <a:rPr kumimoji="0" sz="1050" b="1" i="0" u="none" strike="noStrike" kern="1200" cap="none" spc="0" normalizeH="0" baseline="0" noProof="0">
                <a:ln>
                  <a:noFill/>
                </a:ln>
                <a:solidFill>
                  <a:srgbClr val="FFFFFF"/>
                </a:solidFill>
                <a:effectLst/>
                <a:uLnTx/>
                <a:uFillTx/>
                <a:latin typeface="Ubuntu"/>
                <a:ea typeface="+mn-ea"/>
                <a:cs typeface="Calibri"/>
              </a:rPr>
              <a:t>E</a:t>
            </a:r>
            <a:r>
              <a:rPr kumimoji="0" sz="1050" b="1" i="0" u="none" strike="noStrike" kern="1200" cap="none" spc="-13" normalizeH="0" baseline="0" noProof="0">
                <a:ln>
                  <a:noFill/>
                </a:ln>
                <a:solidFill>
                  <a:srgbClr val="FFFFFF"/>
                </a:solidFill>
                <a:effectLst/>
                <a:uLnTx/>
                <a:uFillTx/>
                <a:latin typeface="Ubuntu"/>
                <a:ea typeface="+mn-ea"/>
                <a:cs typeface="Calibri"/>
              </a:rPr>
              <a:t>SSEM</a:t>
            </a:r>
            <a:r>
              <a:rPr kumimoji="0" sz="1050" b="1" i="0" u="none" strike="noStrike" kern="1200" cap="none" spc="0" normalizeH="0" baseline="0" noProof="0">
                <a:ln>
                  <a:noFill/>
                </a:ln>
                <a:solidFill>
                  <a:srgbClr val="FFFFFF"/>
                </a:solidFill>
                <a:effectLst/>
                <a:uLnTx/>
                <a:uFillTx/>
                <a:latin typeface="Ubuntu"/>
                <a:ea typeface="+mn-ea"/>
                <a:cs typeface="Calibri"/>
              </a:rPr>
              <a:t>E</a:t>
            </a:r>
            <a:r>
              <a:rPr kumimoji="0" sz="1050" b="1" i="0" u="none" strike="noStrike" kern="1200" cap="none" spc="-13" normalizeH="0" baseline="0" noProof="0">
                <a:ln>
                  <a:noFill/>
                </a:ln>
                <a:solidFill>
                  <a:srgbClr val="FFFFFF"/>
                </a:solidFill>
                <a:effectLst/>
                <a:uLnTx/>
                <a:uFillTx/>
                <a:latin typeface="Ubuntu"/>
                <a:ea typeface="+mn-ea"/>
                <a:cs typeface="Calibri"/>
              </a:rPr>
              <a:t>NT</a:t>
            </a:r>
            <a:r>
              <a:rPr kumimoji="0" sz="1050" b="1" i="0" u="none" strike="noStrike" kern="1200" cap="none" spc="27" normalizeH="0" baseline="0" noProof="0">
                <a:ln>
                  <a:noFill/>
                </a:ln>
                <a:solidFill>
                  <a:srgbClr val="FFFFFF"/>
                </a:solidFill>
                <a:effectLst/>
                <a:uLnTx/>
                <a:uFillTx/>
                <a:latin typeface="Ubuntu"/>
                <a:ea typeface="+mn-ea"/>
                <a:cs typeface="Calibri"/>
              </a:rPr>
              <a:t> </a:t>
            </a:r>
            <a:r>
              <a:rPr kumimoji="0" sz="1050" b="1" i="0" u="none" strike="noStrike" kern="1200" cap="none" spc="-13" normalizeH="0" baseline="0" noProof="0">
                <a:ln>
                  <a:noFill/>
                </a:ln>
                <a:solidFill>
                  <a:srgbClr val="FFFFFF"/>
                </a:solidFill>
                <a:effectLst/>
                <a:uLnTx/>
                <a:uFillTx/>
                <a:latin typeface="Ubuntu"/>
                <a:ea typeface="+mn-ea"/>
                <a:cs typeface="Calibri"/>
              </a:rPr>
              <a:t>&amp;</a:t>
            </a:r>
            <a:r>
              <a:rPr kumimoji="0" sz="1050" b="1" i="0" u="none" strike="noStrike" kern="1200" cap="none" spc="0" normalizeH="0" baseline="0" noProof="0">
                <a:ln>
                  <a:noFill/>
                </a:ln>
                <a:solidFill>
                  <a:srgbClr val="FFFFFF"/>
                </a:solidFill>
                <a:effectLst/>
                <a:uLnTx/>
                <a:uFillTx/>
                <a:latin typeface="Ubuntu"/>
                <a:ea typeface="+mn-ea"/>
                <a:cs typeface="Calibri"/>
              </a:rPr>
              <a:t> </a:t>
            </a:r>
            <a:r>
              <a:rPr kumimoji="0" sz="1050" b="1" i="0" u="none" strike="noStrike" kern="1200" cap="none" spc="-7" normalizeH="0" baseline="0" noProof="0">
                <a:ln>
                  <a:noFill/>
                </a:ln>
                <a:solidFill>
                  <a:srgbClr val="FFFFFF"/>
                </a:solidFill>
                <a:effectLst/>
                <a:uLnTx/>
                <a:uFillTx/>
                <a:latin typeface="Ubuntu"/>
                <a:ea typeface="+mn-ea"/>
                <a:cs typeface="Calibri"/>
              </a:rPr>
              <a:t>BASELININ</a:t>
            </a:r>
            <a:r>
              <a:rPr kumimoji="0" sz="1050" b="1" i="0" u="none" strike="noStrike" kern="1200" cap="none" spc="-13" normalizeH="0" baseline="0" noProof="0">
                <a:ln>
                  <a:noFill/>
                </a:ln>
                <a:solidFill>
                  <a:srgbClr val="FFFFFF"/>
                </a:solidFill>
                <a:effectLst/>
                <a:uLnTx/>
                <a:uFillTx/>
                <a:latin typeface="Ubuntu"/>
                <a:ea typeface="+mn-ea"/>
                <a:cs typeface="Calibri"/>
              </a:rPr>
              <a:t>G</a:t>
            </a:r>
            <a:endParaRPr kumimoji="0" sz="1050" b="1" i="0" u="none" strike="noStrike" kern="1200" cap="none" spc="0" normalizeH="0" baseline="0" noProof="0">
              <a:ln>
                <a:noFill/>
              </a:ln>
              <a:solidFill>
                <a:prstClr val="black"/>
              </a:solidFill>
              <a:effectLst/>
              <a:uLnTx/>
              <a:uFillTx/>
              <a:latin typeface="Ubuntu"/>
              <a:ea typeface="+mn-ea"/>
              <a:cs typeface="Calibri"/>
            </a:endParaRPr>
          </a:p>
        </p:txBody>
      </p:sp>
      <p:sp>
        <p:nvSpPr>
          <p:cNvPr id="35" name="object 25">
            <a:extLst>
              <a:ext uri="{FF2B5EF4-FFF2-40B4-BE49-F238E27FC236}">
                <a16:creationId xmlns:a16="http://schemas.microsoft.com/office/drawing/2014/main" id="{207F68B5-5C14-104D-B6A6-B4334FD574DD}"/>
              </a:ext>
            </a:extLst>
          </p:cNvPr>
          <p:cNvSpPr txBox="1">
            <a:spLocks/>
          </p:cNvSpPr>
          <p:nvPr/>
        </p:nvSpPr>
        <p:spPr>
          <a:xfrm>
            <a:off x="4445764" y="3444694"/>
            <a:ext cx="3276000" cy="381705"/>
          </a:xfrm>
          <a:prstGeom prst="rect">
            <a:avLst/>
          </a:prstGeom>
          <a:solidFill>
            <a:schemeClr val="accent2"/>
          </a:solidFill>
        </p:spPr>
        <p:txBody>
          <a:bodyPr vert="horz" wrap="square" lIns="0" tIns="0" rIns="0" bIns="0" rtlCol="0" anchor="ctr">
            <a:noAutofit/>
          </a:bodyPr>
          <a:lstStyle/>
          <a:p>
            <a:pPr marL="1693"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13" normalizeH="0" baseline="0" noProof="0">
                <a:ln>
                  <a:noFill/>
                </a:ln>
                <a:solidFill>
                  <a:srgbClr val="FFFFFF"/>
                </a:solidFill>
                <a:effectLst/>
                <a:uLnTx/>
                <a:uFillTx/>
                <a:latin typeface="Ubuntu"/>
                <a:ea typeface="+mn-ea"/>
                <a:cs typeface="Calibri"/>
              </a:rPr>
              <a:t>S</a:t>
            </a:r>
            <a:r>
              <a:rPr kumimoji="0" sz="1050" b="1" i="0" u="none" strike="noStrike" kern="1200" cap="none" spc="-20" normalizeH="0" baseline="0" noProof="0">
                <a:ln>
                  <a:noFill/>
                </a:ln>
                <a:solidFill>
                  <a:srgbClr val="FFFFFF"/>
                </a:solidFill>
                <a:effectLst/>
                <a:uLnTx/>
                <a:uFillTx/>
                <a:latin typeface="Ubuntu"/>
                <a:ea typeface="+mn-ea"/>
                <a:cs typeface="Calibri"/>
              </a:rPr>
              <a:t>T</a:t>
            </a:r>
            <a:r>
              <a:rPr kumimoji="0" sz="1050" b="1" i="0" u="none" strike="noStrike" kern="1200" cap="none" spc="-13" normalizeH="0" baseline="0" noProof="0">
                <a:ln>
                  <a:noFill/>
                </a:ln>
                <a:solidFill>
                  <a:srgbClr val="FFFFFF"/>
                </a:solidFill>
                <a:effectLst/>
                <a:uLnTx/>
                <a:uFillTx/>
                <a:latin typeface="Ubuntu"/>
                <a:ea typeface="+mn-ea"/>
                <a:cs typeface="Calibri"/>
              </a:rPr>
              <a:t>A</a:t>
            </a:r>
            <a:r>
              <a:rPr kumimoji="0" sz="1050" b="1" i="0" u="none" strike="noStrike" kern="1200" cap="none" spc="-20" normalizeH="0" baseline="0" noProof="0">
                <a:ln>
                  <a:noFill/>
                </a:ln>
                <a:solidFill>
                  <a:srgbClr val="FFFFFF"/>
                </a:solidFill>
                <a:effectLst/>
                <a:uLnTx/>
                <a:uFillTx/>
                <a:latin typeface="Ubuntu"/>
                <a:ea typeface="+mn-ea"/>
                <a:cs typeface="Calibri"/>
              </a:rPr>
              <a:t>G</a:t>
            </a:r>
            <a:r>
              <a:rPr kumimoji="0" sz="1050" b="1" i="0" u="none" strike="noStrike" kern="1200" cap="none" spc="-7" normalizeH="0" baseline="0" noProof="0">
                <a:ln>
                  <a:noFill/>
                </a:ln>
                <a:solidFill>
                  <a:srgbClr val="FFFFFF"/>
                </a:solidFill>
                <a:effectLst/>
                <a:uLnTx/>
                <a:uFillTx/>
                <a:latin typeface="Ubuntu"/>
                <a:ea typeface="+mn-ea"/>
                <a:cs typeface="Calibri"/>
              </a:rPr>
              <a:t>E</a:t>
            </a:r>
            <a:r>
              <a:rPr kumimoji="0" sz="1050" b="1" i="0" u="none" strike="noStrike" kern="1200" cap="none" spc="20" normalizeH="0" baseline="0" noProof="0">
                <a:ln>
                  <a:noFill/>
                </a:ln>
                <a:solidFill>
                  <a:srgbClr val="FFFFFF"/>
                </a:solidFill>
                <a:effectLst/>
                <a:uLnTx/>
                <a:uFillTx/>
                <a:latin typeface="Ubuntu"/>
                <a:ea typeface="+mn-ea"/>
                <a:cs typeface="Calibri"/>
              </a:rPr>
              <a:t> </a:t>
            </a:r>
            <a:r>
              <a:rPr kumimoji="0" sz="1050" b="1" i="0" u="none" strike="noStrike" kern="1200" cap="none" spc="-7" normalizeH="0" baseline="0" noProof="0">
                <a:ln>
                  <a:noFill/>
                </a:ln>
                <a:solidFill>
                  <a:srgbClr val="FFFFFF"/>
                </a:solidFill>
                <a:effectLst/>
                <a:uLnTx/>
                <a:uFillTx/>
                <a:latin typeface="Ubuntu"/>
                <a:ea typeface="+mn-ea"/>
                <a:cs typeface="Calibri"/>
              </a:rPr>
              <a:t>II</a:t>
            </a:r>
            <a:endParaRPr kumimoji="0" sz="1050" b="1" i="0" u="none" strike="noStrike" kern="1200" cap="none" spc="0" normalizeH="0" baseline="0" noProof="0">
              <a:ln>
                <a:noFill/>
              </a:ln>
              <a:solidFill>
                <a:prstClr val="black"/>
              </a:solidFill>
              <a:effectLst/>
              <a:uLnTx/>
              <a:uFillTx/>
              <a:latin typeface="Ubuntu"/>
              <a:ea typeface="+mn-ea"/>
              <a:cs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20" normalizeH="0" baseline="0" noProof="0">
                <a:ln>
                  <a:noFill/>
                </a:ln>
                <a:solidFill>
                  <a:srgbClr val="FFFFFF"/>
                </a:solidFill>
                <a:effectLst/>
                <a:uLnTx/>
                <a:uFillTx/>
                <a:latin typeface="Ubuntu"/>
                <a:ea typeface="+mn-ea"/>
                <a:cs typeface="Calibri"/>
              </a:rPr>
              <a:t>FUTU</a:t>
            </a:r>
            <a:r>
              <a:rPr kumimoji="0" sz="1050" b="1" i="0" u="none" strike="noStrike" kern="1200" cap="none" spc="-13" normalizeH="0" baseline="0" noProof="0">
                <a:ln>
                  <a:noFill/>
                </a:ln>
                <a:solidFill>
                  <a:srgbClr val="FFFFFF"/>
                </a:solidFill>
                <a:effectLst/>
                <a:uLnTx/>
                <a:uFillTx/>
                <a:latin typeface="Ubuntu"/>
                <a:ea typeface="+mn-ea"/>
                <a:cs typeface="Calibri"/>
              </a:rPr>
              <a:t>RE</a:t>
            </a:r>
            <a:r>
              <a:rPr kumimoji="0" sz="1050" b="1" i="0" u="none" strike="noStrike" kern="1200" cap="none" spc="20" normalizeH="0" baseline="0" noProof="0">
                <a:ln>
                  <a:noFill/>
                </a:ln>
                <a:solidFill>
                  <a:srgbClr val="FFFFFF"/>
                </a:solidFill>
                <a:effectLst/>
                <a:uLnTx/>
                <a:uFillTx/>
                <a:latin typeface="Ubuntu"/>
                <a:ea typeface="+mn-ea"/>
                <a:cs typeface="Calibri"/>
              </a:rPr>
              <a:t> </a:t>
            </a:r>
            <a:r>
              <a:rPr kumimoji="0" sz="1050" b="1" i="0" u="none" strike="noStrike" kern="1200" cap="none" spc="-13" normalizeH="0" baseline="0" noProof="0">
                <a:ln>
                  <a:noFill/>
                </a:ln>
                <a:solidFill>
                  <a:srgbClr val="FFFFFF"/>
                </a:solidFill>
                <a:effectLst/>
                <a:uLnTx/>
                <a:uFillTx/>
                <a:latin typeface="Ubuntu"/>
                <a:ea typeface="+mn-ea"/>
                <a:cs typeface="Calibri"/>
              </a:rPr>
              <a:t>MODE</a:t>
            </a:r>
            <a:r>
              <a:rPr kumimoji="0" sz="1050" b="1" i="0" u="none" strike="noStrike" kern="1200" cap="none" spc="-7" normalizeH="0" baseline="0" noProof="0">
                <a:ln>
                  <a:noFill/>
                </a:ln>
                <a:solidFill>
                  <a:srgbClr val="FFFFFF"/>
                </a:solidFill>
                <a:effectLst/>
                <a:uLnTx/>
                <a:uFillTx/>
                <a:latin typeface="Ubuntu"/>
                <a:ea typeface="+mn-ea"/>
                <a:cs typeface="Calibri"/>
              </a:rPr>
              <a:t> </a:t>
            </a:r>
            <a:r>
              <a:rPr kumimoji="0" sz="1050" b="1" i="0" u="none" strike="noStrike" kern="1200" cap="none" spc="-20" normalizeH="0" baseline="0" noProof="0">
                <a:ln>
                  <a:noFill/>
                </a:ln>
                <a:solidFill>
                  <a:srgbClr val="FFFFFF"/>
                </a:solidFill>
                <a:effectLst/>
                <a:uLnTx/>
                <a:uFillTx/>
                <a:latin typeface="Ubuntu"/>
                <a:ea typeface="+mn-ea"/>
                <a:cs typeface="Calibri"/>
              </a:rPr>
              <a:t>O</a:t>
            </a:r>
            <a:r>
              <a:rPr kumimoji="0" sz="1050" b="1" i="0" u="none" strike="noStrike" kern="1200" cap="none" spc="-7" normalizeH="0" baseline="0" noProof="0">
                <a:ln>
                  <a:noFill/>
                </a:ln>
                <a:solidFill>
                  <a:srgbClr val="FFFFFF"/>
                </a:solidFill>
                <a:effectLst/>
                <a:uLnTx/>
                <a:uFillTx/>
                <a:latin typeface="Ubuntu"/>
                <a:ea typeface="+mn-ea"/>
                <a:cs typeface="Calibri"/>
              </a:rPr>
              <a:t>F</a:t>
            </a:r>
            <a:r>
              <a:rPr kumimoji="0" sz="1050" b="1" i="0" u="none" strike="noStrike" kern="1200" cap="none" spc="13" normalizeH="0" baseline="0" noProof="0">
                <a:ln>
                  <a:noFill/>
                </a:ln>
                <a:solidFill>
                  <a:srgbClr val="FFFFFF"/>
                </a:solidFill>
                <a:effectLst/>
                <a:uLnTx/>
                <a:uFillTx/>
                <a:latin typeface="Ubuntu"/>
                <a:ea typeface="+mn-ea"/>
                <a:cs typeface="Calibri"/>
              </a:rPr>
              <a:t> </a:t>
            </a:r>
            <a:r>
              <a:rPr kumimoji="0" sz="1050" b="1" i="0" u="none" strike="noStrike" kern="1200" cap="none" spc="-20" normalizeH="0" baseline="0" noProof="0">
                <a:ln>
                  <a:noFill/>
                </a:ln>
                <a:solidFill>
                  <a:srgbClr val="FFFFFF"/>
                </a:solidFill>
                <a:effectLst/>
                <a:uLnTx/>
                <a:uFillTx/>
                <a:latin typeface="Ubuntu"/>
                <a:ea typeface="+mn-ea"/>
                <a:cs typeface="Calibri"/>
              </a:rPr>
              <a:t>OP</a:t>
            </a:r>
            <a:r>
              <a:rPr kumimoji="0" sz="1050" b="1" i="0" u="none" strike="noStrike" kern="1200" cap="none" spc="0" normalizeH="0" baseline="0" noProof="0">
                <a:ln>
                  <a:noFill/>
                </a:ln>
                <a:solidFill>
                  <a:srgbClr val="FFFFFF"/>
                </a:solidFill>
                <a:effectLst/>
                <a:uLnTx/>
                <a:uFillTx/>
                <a:latin typeface="Ubuntu"/>
                <a:ea typeface="+mn-ea"/>
                <a:cs typeface="Calibri"/>
              </a:rPr>
              <a:t>E</a:t>
            </a:r>
            <a:r>
              <a:rPr kumimoji="0" sz="1050" b="1" i="0" u="none" strike="noStrike" kern="1200" cap="none" spc="-13" normalizeH="0" baseline="0" noProof="0">
                <a:ln>
                  <a:noFill/>
                </a:ln>
                <a:solidFill>
                  <a:srgbClr val="FFFFFF"/>
                </a:solidFill>
                <a:effectLst/>
                <a:uLnTx/>
                <a:uFillTx/>
                <a:latin typeface="Ubuntu"/>
                <a:ea typeface="+mn-ea"/>
                <a:cs typeface="Calibri"/>
              </a:rPr>
              <a:t>RA</a:t>
            </a:r>
            <a:r>
              <a:rPr kumimoji="0" sz="1050" b="1" i="0" u="none" strike="noStrike" kern="1200" cap="none" spc="-20" normalizeH="0" baseline="0" noProof="0">
                <a:ln>
                  <a:noFill/>
                </a:ln>
                <a:solidFill>
                  <a:srgbClr val="FFFFFF"/>
                </a:solidFill>
                <a:effectLst/>
                <a:uLnTx/>
                <a:uFillTx/>
                <a:latin typeface="Ubuntu"/>
                <a:ea typeface="+mn-ea"/>
                <a:cs typeface="Calibri"/>
              </a:rPr>
              <a:t>T</a:t>
            </a:r>
            <a:r>
              <a:rPr kumimoji="0" sz="1050" b="1" i="0" u="none" strike="noStrike" kern="1200" cap="none" spc="-7" normalizeH="0" baseline="0" noProof="0">
                <a:ln>
                  <a:noFill/>
                </a:ln>
                <a:solidFill>
                  <a:srgbClr val="FFFFFF"/>
                </a:solidFill>
                <a:effectLst/>
                <a:uLnTx/>
                <a:uFillTx/>
                <a:latin typeface="Ubuntu"/>
                <a:ea typeface="+mn-ea"/>
                <a:cs typeface="Calibri"/>
              </a:rPr>
              <a:t>IONS </a:t>
            </a:r>
            <a:r>
              <a:rPr kumimoji="0" sz="1050" b="1" i="0" u="none" strike="noStrike" kern="1200" cap="none" spc="-20" normalizeH="0" baseline="0" noProof="0">
                <a:ln>
                  <a:noFill/>
                </a:ln>
                <a:solidFill>
                  <a:srgbClr val="FFFFFF"/>
                </a:solidFill>
                <a:effectLst/>
                <a:uLnTx/>
                <a:uFillTx/>
                <a:latin typeface="Ubuntu"/>
                <a:ea typeface="+mn-ea"/>
                <a:cs typeface="Calibri"/>
              </a:rPr>
              <a:t>D</a:t>
            </a:r>
            <a:r>
              <a:rPr kumimoji="0" sz="1050" b="1" i="0" u="none" strike="noStrike" kern="1200" cap="none" spc="0" normalizeH="0" baseline="0" noProof="0">
                <a:ln>
                  <a:noFill/>
                </a:ln>
                <a:solidFill>
                  <a:srgbClr val="FFFFFF"/>
                </a:solidFill>
                <a:effectLst/>
                <a:uLnTx/>
                <a:uFillTx/>
                <a:latin typeface="Ubuntu"/>
                <a:ea typeface="+mn-ea"/>
                <a:cs typeface="Calibri"/>
              </a:rPr>
              <a:t>E</a:t>
            </a:r>
            <a:r>
              <a:rPr kumimoji="0" sz="1050" b="1" i="0" u="none" strike="noStrike" kern="1200" cap="none" spc="-13" normalizeH="0" baseline="0" noProof="0">
                <a:ln>
                  <a:noFill/>
                </a:ln>
                <a:solidFill>
                  <a:srgbClr val="FFFFFF"/>
                </a:solidFill>
                <a:effectLst/>
                <a:uLnTx/>
                <a:uFillTx/>
                <a:latin typeface="Ubuntu"/>
                <a:ea typeface="+mn-ea"/>
                <a:cs typeface="Calibri"/>
              </a:rPr>
              <a:t>SIGN</a:t>
            </a:r>
            <a:endParaRPr kumimoji="0" sz="1050" b="1" i="0" u="none" strike="noStrike" kern="1200" cap="none" spc="0" normalizeH="0" baseline="0" noProof="0">
              <a:ln>
                <a:noFill/>
              </a:ln>
              <a:solidFill>
                <a:prstClr val="black"/>
              </a:solidFill>
              <a:effectLst/>
              <a:uLnTx/>
              <a:uFillTx/>
              <a:latin typeface="Ubuntu"/>
              <a:ea typeface="+mn-ea"/>
              <a:cs typeface="Calibri"/>
            </a:endParaRPr>
          </a:p>
        </p:txBody>
      </p:sp>
      <p:sp>
        <p:nvSpPr>
          <p:cNvPr id="36" name="object 26">
            <a:extLst>
              <a:ext uri="{FF2B5EF4-FFF2-40B4-BE49-F238E27FC236}">
                <a16:creationId xmlns:a16="http://schemas.microsoft.com/office/drawing/2014/main" id="{D965E425-4869-AFD0-3026-C9872FF36344}"/>
              </a:ext>
            </a:extLst>
          </p:cNvPr>
          <p:cNvSpPr txBox="1">
            <a:spLocks/>
          </p:cNvSpPr>
          <p:nvPr/>
        </p:nvSpPr>
        <p:spPr>
          <a:xfrm>
            <a:off x="8288165" y="3493062"/>
            <a:ext cx="3276000" cy="381705"/>
          </a:xfrm>
          <a:prstGeom prst="rect">
            <a:avLst/>
          </a:prstGeom>
          <a:solidFill>
            <a:schemeClr val="accent2"/>
          </a:solidFill>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13" normalizeH="0" baseline="0" noProof="0">
                <a:ln>
                  <a:noFill/>
                </a:ln>
                <a:solidFill>
                  <a:srgbClr val="FFFFFF"/>
                </a:solidFill>
                <a:effectLst/>
                <a:uLnTx/>
                <a:uFillTx/>
                <a:latin typeface="Ubuntu"/>
                <a:ea typeface="+mn-ea"/>
                <a:cs typeface="Calibri"/>
              </a:rPr>
              <a:t>S</a:t>
            </a:r>
            <a:r>
              <a:rPr kumimoji="0" sz="1050" b="1" i="0" u="none" strike="noStrike" kern="1200" cap="none" spc="-20" normalizeH="0" baseline="0" noProof="0">
                <a:ln>
                  <a:noFill/>
                </a:ln>
                <a:solidFill>
                  <a:srgbClr val="FFFFFF"/>
                </a:solidFill>
                <a:effectLst/>
                <a:uLnTx/>
                <a:uFillTx/>
                <a:latin typeface="Ubuntu"/>
                <a:ea typeface="+mn-ea"/>
                <a:cs typeface="Calibri"/>
              </a:rPr>
              <a:t>T</a:t>
            </a:r>
            <a:r>
              <a:rPr kumimoji="0" sz="1050" b="1" i="0" u="none" strike="noStrike" kern="1200" cap="none" spc="-13" normalizeH="0" baseline="0" noProof="0">
                <a:ln>
                  <a:noFill/>
                </a:ln>
                <a:solidFill>
                  <a:srgbClr val="FFFFFF"/>
                </a:solidFill>
                <a:effectLst/>
                <a:uLnTx/>
                <a:uFillTx/>
                <a:latin typeface="Ubuntu"/>
                <a:ea typeface="+mn-ea"/>
                <a:cs typeface="Calibri"/>
              </a:rPr>
              <a:t>A</a:t>
            </a:r>
            <a:r>
              <a:rPr kumimoji="0" sz="1050" b="1" i="0" u="none" strike="noStrike" kern="1200" cap="none" spc="-27" normalizeH="0" baseline="0" noProof="0">
                <a:ln>
                  <a:noFill/>
                </a:ln>
                <a:solidFill>
                  <a:srgbClr val="FFFFFF"/>
                </a:solidFill>
                <a:effectLst/>
                <a:uLnTx/>
                <a:uFillTx/>
                <a:latin typeface="Ubuntu"/>
                <a:ea typeface="+mn-ea"/>
                <a:cs typeface="Calibri"/>
              </a:rPr>
              <a:t>G</a:t>
            </a:r>
            <a:r>
              <a:rPr kumimoji="0" sz="1050" b="1" i="0" u="none" strike="noStrike" kern="1200" cap="none" spc="-7" normalizeH="0" baseline="0" noProof="0">
                <a:ln>
                  <a:noFill/>
                </a:ln>
                <a:solidFill>
                  <a:srgbClr val="FFFFFF"/>
                </a:solidFill>
                <a:effectLst/>
                <a:uLnTx/>
                <a:uFillTx/>
                <a:latin typeface="Ubuntu"/>
                <a:ea typeface="+mn-ea"/>
                <a:cs typeface="Calibri"/>
              </a:rPr>
              <a:t>E</a:t>
            </a:r>
            <a:r>
              <a:rPr kumimoji="0" sz="1050" b="1" i="0" u="none" strike="noStrike" kern="1200" cap="none" spc="20" normalizeH="0" baseline="0" noProof="0">
                <a:ln>
                  <a:noFill/>
                </a:ln>
                <a:solidFill>
                  <a:srgbClr val="FFFFFF"/>
                </a:solidFill>
                <a:effectLst/>
                <a:uLnTx/>
                <a:uFillTx/>
                <a:latin typeface="Ubuntu"/>
                <a:ea typeface="+mn-ea"/>
                <a:cs typeface="Calibri"/>
              </a:rPr>
              <a:t> </a:t>
            </a:r>
            <a:r>
              <a:rPr kumimoji="0" sz="1050" b="1" i="0" u="none" strike="noStrike" kern="1200" cap="none" spc="-7" normalizeH="0" baseline="0" noProof="0">
                <a:ln>
                  <a:noFill/>
                </a:ln>
                <a:solidFill>
                  <a:srgbClr val="FFFFFF"/>
                </a:solidFill>
                <a:effectLst/>
                <a:uLnTx/>
                <a:uFillTx/>
                <a:latin typeface="Ubuntu"/>
                <a:ea typeface="+mn-ea"/>
                <a:cs typeface="Calibri"/>
              </a:rPr>
              <a:t>III</a:t>
            </a:r>
            <a:endParaRPr kumimoji="0" sz="1050" b="1" i="0" u="none" strike="noStrike" kern="1200" cap="none" spc="0" normalizeH="0" baseline="0" noProof="0">
              <a:ln>
                <a:noFill/>
              </a:ln>
              <a:solidFill>
                <a:prstClr val="black"/>
              </a:solidFill>
              <a:effectLst/>
              <a:uLnTx/>
              <a:uFillTx/>
              <a:latin typeface="Ubuntu"/>
              <a:ea typeface="+mn-ea"/>
              <a:cs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7" normalizeH="0" baseline="0" noProof="0">
                <a:ln>
                  <a:noFill/>
                </a:ln>
                <a:solidFill>
                  <a:srgbClr val="FFFFFF"/>
                </a:solidFill>
                <a:effectLst/>
                <a:uLnTx/>
                <a:uFillTx/>
                <a:latin typeface="Ubuntu"/>
                <a:ea typeface="+mn-ea"/>
                <a:cs typeface="Calibri"/>
              </a:rPr>
              <a:t>EXE</a:t>
            </a:r>
            <a:r>
              <a:rPr kumimoji="0" sz="1050" b="1" i="0" u="none" strike="noStrike" kern="1200" cap="none" spc="-20" normalizeH="0" baseline="0" noProof="0">
                <a:ln>
                  <a:noFill/>
                </a:ln>
                <a:solidFill>
                  <a:srgbClr val="FFFFFF"/>
                </a:solidFill>
                <a:effectLst/>
                <a:uLnTx/>
                <a:uFillTx/>
                <a:latin typeface="Ubuntu"/>
                <a:ea typeface="+mn-ea"/>
                <a:cs typeface="Calibri"/>
              </a:rPr>
              <a:t>C</a:t>
            </a:r>
            <a:r>
              <a:rPr kumimoji="0" sz="1050" b="1" i="0" u="none" strike="noStrike" kern="1200" cap="none" spc="-27" normalizeH="0" baseline="0" noProof="0">
                <a:ln>
                  <a:noFill/>
                </a:ln>
                <a:solidFill>
                  <a:srgbClr val="FFFFFF"/>
                </a:solidFill>
                <a:effectLst/>
                <a:uLnTx/>
                <a:uFillTx/>
                <a:latin typeface="Ubuntu"/>
                <a:ea typeface="+mn-ea"/>
                <a:cs typeface="Calibri"/>
              </a:rPr>
              <a:t>UT</a:t>
            </a:r>
            <a:r>
              <a:rPr kumimoji="0" sz="1050" b="1" i="0" u="none" strike="noStrike" kern="1200" cap="none" spc="-13" normalizeH="0" baseline="0" noProof="0">
                <a:ln>
                  <a:noFill/>
                </a:ln>
                <a:solidFill>
                  <a:srgbClr val="FFFFFF"/>
                </a:solidFill>
                <a:effectLst/>
                <a:uLnTx/>
                <a:uFillTx/>
                <a:latin typeface="Ubuntu"/>
                <a:ea typeface="+mn-ea"/>
                <a:cs typeface="Calibri"/>
              </a:rPr>
              <a:t>ION</a:t>
            </a:r>
            <a:r>
              <a:rPr kumimoji="0" sz="1050" b="1" i="0" u="none" strike="noStrike" kern="1200" cap="none" spc="0" normalizeH="0" baseline="0" noProof="0">
                <a:ln>
                  <a:noFill/>
                </a:ln>
                <a:solidFill>
                  <a:srgbClr val="FFFFFF"/>
                </a:solidFill>
                <a:effectLst/>
                <a:uLnTx/>
                <a:uFillTx/>
                <a:latin typeface="Ubuntu"/>
                <a:ea typeface="+mn-ea"/>
                <a:cs typeface="Calibri"/>
              </a:rPr>
              <a:t> </a:t>
            </a:r>
            <a:r>
              <a:rPr kumimoji="0" sz="1050" b="1" i="0" u="none" strike="noStrike" kern="1200" cap="none" spc="-13" normalizeH="0" baseline="0" noProof="0">
                <a:ln>
                  <a:noFill/>
                </a:ln>
                <a:solidFill>
                  <a:srgbClr val="FFFFFF"/>
                </a:solidFill>
                <a:effectLst/>
                <a:uLnTx/>
                <a:uFillTx/>
                <a:latin typeface="Ubuntu"/>
                <a:ea typeface="+mn-ea"/>
                <a:cs typeface="Calibri"/>
              </a:rPr>
              <a:t>PLA</a:t>
            </a:r>
            <a:r>
              <a:rPr kumimoji="0" sz="1050" b="1" i="0" u="none" strike="noStrike" kern="1200" cap="none" spc="-7" normalizeH="0" baseline="0" noProof="0">
                <a:ln>
                  <a:noFill/>
                </a:ln>
                <a:solidFill>
                  <a:srgbClr val="FFFFFF"/>
                </a:solidFill>
                <a:effectLst/>
                <a:uLnTx/>
                <a:uFillTx/>
                <a:latin typeface="Ubuntu"/>
                <a:ea typeface="+mn-ea"/>
                <a:cs typeface="Calibri"/>
              </a:rPr>
              <a:t>NNIN</a:t>
            </a:r>
            <a:r>
              <a:rPr kumimoji="0" sz="1050" b="1" i="0" u="none" strike="noStrike" kern="1200" cap="none" spc="-13" normalizeH="0" baseline="0" noProof="0">
                <a:ln>
                  <a:noFill/>
                </a:ln>
                <a:solidFill>
                  <a:srgbClr val="FFFFFF"/>
                </a:solidFill>
                <a:effectLst/>
                <a:uLnTx/>
                <a:uFillTx/>
                <a:latin typeface="Ubuntu"/>
                <a:ea typeface="+mn-ea"/>
                <a:cs typeface="Calibri"/>
              </a:rPr>
              <a:t>G</a:t>
            </a:r>
            <a:endParaRPr kumimoji="0" sz="1050" b="1" i="0" u="none" strike="noStrike" kern="1200" cap="none" spc="0" normalizeH="0" baseline="0" noProof="0">
              <a:ln>
                <a:noFill/>
              </a:ln>
              <a:solidFill>
                <a:prstClr val="black"/>
              </a:solidFill>
              <a:effectLst/>
              <a:uLnTx/>
              <a:uFillTx/>
              <a:latin typeface="Ubuntu"/>
              <a:ea typeface="+mn-ea"/>
              <a:cs typeface="Calibri"/>
            </a:endParaRPr>
          </a:p>
        </p:txBody>
      </p:sp>
      <p:graphicFrame>
        <p:nvGraphicFramePr>
          <p:cNvPr id="37" name="object 44">
            <a:extLst>
              <a:ext uri="{FF2B5EF4-FFF2-40B4-BE49-F238E27FC236}">
                <a16:creationId xmlns:a16="http://schemas.microsoft.com/office/drawing/2014/main" id="{41206D2A-AA8D-1557-B7B0-AD741AA61C09}"/>
              </a:ext>
            </a:extLst>
          </p:cNvPr>
          <p:cNvGraphicFramePr>
            <a:graphicFrameLocks noGrp="1"/>
          </p:cNvGraphicFramePr>
          <p:nvPr/>
        </p:nvGraphicFramePr>
        <p:xfrm>
          <a:off x="4406761" y="3937237"/>
          <a:ext cx="3279953" cy="1331068"/>
        </p:xfrm>
        <a:graphic>
          <a:graphicData uri="http://schemas.openxmlformats.org/drawingml/2006/table">
            <a:tbl>
              <a:tblPr firstRow="1" bandRow="1">
                <a:tableStyleId>{2D5ABB26-0587-4C30-8999-92F81FD0307C}</a:tableStyleId>
              </a:tblPr>
              <a:tblGrid>
                <a:gridCol w="3279953">
                  <a:extLst>
                    <a:ext uri="{9D8B030D-6E8A-4147-A177-3AD203B41FA5}">
                      <a16:colId xmlns:a16="http://schemas.microsoft.com/office/drawing/2014/main" val="20001"/>
                    </a:ext>
                  </a:extLst>
                </a:gridCol>
              </a:tblGrid>
              <a:tr h="1331068">
                <a:tc>
                  <a:txBody>
                    <a:bodyPr/>
                    <a:lstStyle/>
                    <a:p>
                      <a:pPr marL="266700" indent="-174625" defTabSz="914400" rtl="0" eaLnBrk="1" latinLnBrk="0" hangingPunct="1">
                        <a:lnSpc>
                          <a:spcPct val="100000"/>
                        </a:lnSpc>
                        <a:spcAft>
                          <a:spcPts val="600"/>
                        </a:spcAft>
                        <a:buFont typeface="Arial" panose="020B0604020202020204" pitchFamily="34" charset="0"/>
                        <a:buChar char="•"/>
                      </a:pPr>
                      <a:r>
                        <a:rPr lang="en-IN" sz="1000" i="1" kern="1200">
                          <a:solidFill>
                            <a:schemeClr val="bg1"/>
                          </a:solidFill>
                          <a:latin typeface="+mn-lt"/>
                          <a:ea typeface="+mn-ea"/>
                          <a:cs typeface="Calibri"/>
                        </a:rPr>
                        <a:t>Perform market opportunity &amp; gap assessment</a:t>
                      </a:r>
                    </a:p>
                    <a:p>
                      <a:pPr marL="266700" indent="-174625" defTabSz="914400" rtl="0" eaLnBrk="1" latinLnBrk="0" hangingPunct="1">
                        <a:lnSpc>
                          <a:spcPct val="100000"/>
                        </a:lnSpc>
                        <a:spcAft>
                          <a:spcPts val="600"/>
                        </a:spcAft>
                        <a:buFont typeface="Arial" panose="020B0604020202020204" pitchFamily="34" charset="0"/>
                        <a:buChar char="•"/>
                      </a:pPr>
                      <a:r>
                        <a:rPr lang="en-IN" sz="1000" i="1" kern="1200">
                          <a:solidFill>
                            <a:schemeClr val="bg1"/>
                          </a:solidFill>
                          <a:latin typeface="+mn-lt"/>
                          <a:ea typeface="+mn-ea"/>
                          <a:cs typeface="Calibri"/>
                        </a:rPr>
                        <a:t>Define growth blueprint &amp; implementation roadmap</a:t>
                      </a:r>
                    </a:p>
                    <a:p>
                      <a:pPr marL="266700" indent="-174625" defTabSz="914400" rtl="0" eaLnBrk="1" latinLnBrk="0" hangingPunct="1">
                        <a:lnSpc>
                          <a:spcPct val="100000"/>
                        </a:lnSpc>
                        <a:spcAft>
                          <a:spcPts val="600"/>
                        </a:spcAft>
                        <a:buFont typeface="Arial" panose="020B0604020202020204" pitchFamily="34" charset="0"/>
                        <a:buChar char="•"/>
                      </a:pPr>
                      <a:r>
                        <a:rPr lang="en-IN" sz="1000" i="1" kern="1200">
                          <a:solidFill>
                            <a:schemeClr val="bg1"/>
                          </a:solidFill>
                          <a:latin typeface="+mn-lt"/>
                          <a:ea typeface="+mn-ea"/>
                          <a:cs typeface="Calibri"/>
                        </a:rPr>
                        <a:t>Finalise business requirements for scaling wholesale</a:t>
                      </a:r>
                    </a:p>
                    <a:p>
                      <a:pPr marL="266700" indent="-174625" defTabSz="914400" rtl="0" eaLnBrk="1" latinLnBrk="0" hangingPunct="1">
                        <a:lnSpc>
                          <a:spcPct val="100000"/>
                        </a:lnSpc>
                        <a:spcAft>
                          <a:spcPts val="600"/>
                        </a:spcAft>
                        <a:buFont typeface="Arial" panose="020B0604020202020204" pitchFamily="34" charset="0"/>
                        <a:buChar char="•"/>
                      </a:pPr>
                      <a:r>
                        <a:rPr lang="en-IN" sz="1000" i="1" kern="1200">
                          <a:solidFill>
                            <a:schemeClr val="bg1"/>
                          </a:solidFill>
                          <a:latin typeface="+mn-lt"/>
                          <a:ea typeface="+mn-ea"/>
                          <a:cs typeface="Calibri"/>
                        </a:rPr>
                        <a:t>Design future operating model</a:t>
                      </a:r>
                    </a:p>
                  </a:txBody>
                  <a:tcPr marL="0" marR="0" marT="0" marB="0" anchor="ctr">
                    <a:solidFill>
                      <a:schemeClr val="accent1">
                        <a:alpha val="34000"/>
                      </a:schemeClr>
                    </a:solidFill>
                  </a:tcPr>
                </a:tc>
                <a:extLst>
                  <a:ext uri="{0D108BD9-81ED-4DB2-BD59-A6C34878D82A}">
                    <a16:rowId xmlns:a16="http://schemas.microsoft.com/office/drawing/2014/main" val="10000"/>
                  </a:ext>
                </a:extLst>
              </a:tr>
            </a:tbl>
          </a:graphicData>
        </a:graphic>
      </p:graphicFrame>
      <p:graphicFrame>
        <p:nvGraphicFramePr>
          <p:cNvPr id="38" name="object 44">
            <a:extLst>
              <a:ext uri="{FF2B5EF4-FFF2-40B4-BE49-F238E27FC236}">
                <a16:creationId xmlns:a16="http://schemas.microsoft.com/office/drawing/2014/main" id="{8156E7ED-A4E4-23E9-6223-A4DA167BBBE6}"/>
              </a:ext>
            </a:extLst>
          </p:cNvPr>
          <p:cNvGraphicFramePr>
            <a:graphicFrameLocks noGrp="1"/>
          </p:cNvGraphicFramePr>
          <p:nvPr>
            <p:extLst>
              <p:ext uri="{D42A27DB-BD31-4B8C-83A1-F6EECF244321}">
                <p14:modId xmlns:p14="http://schemas.microsoft.com/office/powerpoint/2010/main" val="3513751593"/>
              </p:ext>
            </p:extLst>
          </p:nvPr>
        </p:nvGraphicFramePr>
        <p:xfrm>
          <a:off x="8296475" y="3937237"/>
          <a:ext cx="3259380" cy="1331069"/>
        </p:xfrm>
        <a:graphic>
          <a:graphicData uri="http://schemas.openxmlformats.org/drawingml/2006/table">
            <a:tbl>
              <a:tblPr firstRow="1" bandRow="1">
                <a:tableStyleId>{2D5ABB26-0587-4C30-8999-92F81FD0307C}</a:tableStyleId>
              </a:tblPr>
              <a:tblGrid>
                <a:gridCol w="3259380">
                  <a:extLst>
                    <a:ext uri="{9D8B030D-6E8A-4147-A177-3AD203B41FA5}">
                      <a16:colId xmlns:a16="http://schemas.microsoft.com/office/drawing/2014/main" val="20001"/>
                    </a:ext>
                  </a:extLst>
                </a:gridCol>
              </a:tblGrid>
              <a:tr h="1331069">
                <a:tc>
                  <a:txBody>
                    <a:bodyPr/>
                    <a:lstStyle/>
                    <a:p>
                      <a:pPr marL="266700" marR="116839" indent="-174625" defTabSz="914400" rtl="0" eaLnBrk="1" latinLnBrk="0" hangingPunct="1">
                        <a:lnSpc>
                          <a:spcPct val="100000"/>
                        </a:lnSpc>
                        <a:spcAft>
                          <a:spcPts val="600"/>
                        </a:spcAft>
                        <a:buFont typeface="Arial" panose="020B0604020202020204" pitchFamily="34" charset="0"/>
                        <a:buChar char="•"/>
                      </a:pPr>
                      <a:r>
                        <a:rPr lang="en-IN" sz="1000" i="1" kern="1200">
                          <a:solidFill>
                            <a:schemeClr val="bg1"/>
                          </a:solidFill>
                          <a:latin typeface="+mn-lt"/>
                          <a:ea typeface="+mn-ea"/>
                          <a:cs typeface="Calibri"/>
                        </a:rPr>
                        <a:t>Prioritise recommendations:</a:t>
                      </a:r>
                    </a:p>
                    <a:p>
                      <a:pPr marL="266700" marR="116839" indent="-174625" defTabSz="914400" rtl="0" eaLnBrk="1" latinLnBrk="0" hangingPunct="1">
                        <a:lnSpc>
                          <a:spcPct val="100000"/>
                        </a:lnSpc>
                        <a:spcAft>
                          <a:spcPts val="600"/>
                        </a:spcAft>
                        <a:buFont typeface="Arial" panose="020B0604020202020204" pitchFamily="34" charset="0"/>
                        <a:buChar char="•"/>
                      </a:pPr>
                      <a:r>
                        <a:rPr lang="en-IN" sz="1000" i="1" kern="1200">
                          <a:solidFill>
                            <a:schemeClr val="bg1"/>
                          </a:solidFill>
                          <a:latin typeface="+mn-lt"/>
                          <a:ea typeface="+mn-ea"/>
                          <a:cs typeface="Calibri"/>
                        </a:rPr>
                        <a:t>Define execution roadmap with stakeholders</a:t>
                      </a:r>
                    </a:p>
                    <a:p>
                      <a:pPr marL="266700" marR="116839" indent="-174625" defTabSz="914400" rtl="0" eaLnBrk="1" latinLnBrk="0" hangingPunct="1">
                        <a:lnSpc>
                          <a:spcPct val="100000"/>
                        </a:lnSpc>
                        <a:spcAft>
                          <a:spcPts val="600"/>
                        </a:spcAft>
                        <a:buFont typeface="Arial" panose="020B0604020202020204" pitchFamily="34" charset="0"/>
                        <a:buChar char="•"/>
                      </a:pPr>
                      <a:r>
                        <a:rPr lang="en-IN" sz="1000" i="1" kern="1200">
                          <a:solidFill>
                            <a:schemeClr val="bg1"/>
                          </a:solidFill>
                          <a:latin typeface="+mn-lt"/>
                          <a:ea typeface="+mn-ea"/>
                          <a:cs typeface="Calibri"/>
                        </a:rPr>
                        <a:t>Define change management considerations</a:t>
                      </a:r>
                    </a:p>
                  </a:txBody>
                  <a:tcPr marL="0" marR="0" marT="0" marB="0" anchor="ctr">
                    <a:solidFill>
                      <a:srgbClr val="1DB6F3">
                        <a:alpha val="33725"/>
                      </a:srgbClr>
                    </a:solidFill>
                  </a:tcPr>
                </a:tc>
                <a:extLst>
                  <a:ext uri="{0D108BD9-81ED-4DB2-BD59-A6C34878D82A}">
                    <a16:rowId xmlns:a16="http://schemas.microsoft.com/office/drawing/2014/main" val="10000"/>
                  </a:ext>
                </a:extLst>
              </a:tr>
            </a:tbl>
          </a:graphicData>
        </a:graphic>
      </p:graphicFrame>
      <p:sp>
        <p:nvSpPr>
          <p:cNvPr id="39" name="Isosceles Triangle 38">
            <a:extLst>
              <a:ext uri="{FF2B5EF4-FFF2-40B4-BE49-F238E27FC236}">
                <a16:creationId xmlns:a16="http://schemas.microsoft.com/office/drawing/2014/main" id="{81F3D15C-DCEE-3327-0379-B6102B49E7B9}"/>
              </a:ext>
            </a:extLst>
          </p:cNvPr>
          <p:cNvSpPr/>
          <p:nvPr/>
        </p:nvSpPr>
        <p:spPr>
          <a:xfrm rot="5400000">
            <a:off x="3221840" y="4171128"/>
            <a:ext cx="1797152" cy="31289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0" name="Isosceles Triangle 39">
            <a:extLst>
              <a:ext uri="{FF2B5EF4-FFF2-40B4-BE49-F238E27FC236}">
                <a16:creationId xmlns:a16="http://schemas.microsoft.com/office/drawing/2014/main" id="{C9AF6C1F-4A10-4732-F595-D4631479F008}"/>
              </a:ext>
            </a:extLst>
          </p:cNvPr>
          <p:cNvSpPr/>
          <p:nvPr/>
        </p:nvSpPr>
        <p:spPr>
          <a:xfrm rot="5400000">
            <a:off x="7155400" y="4171070"/>
            <a:ext cx="1797154" cy="31289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1" name="Rectangle 40">
            <a:extLst>
              <a:ext uri="{FF2B5EF4-FFF2-40B4-BE49-F238E27FC236}">
                <a16:creationId xmlns:a16="http://schemas.microsoft.com/office/drawing/2014/main" id="{DC4FD136-1618-42F8-6626-8F60AB1470A0}"/>
              </a:ext>
            </a:extLst>
          </p:cNvPr>
          <p:cNvSpPr/>
          <p:nvPr/>
        </p:nvSpPr>
        <p:spPr>
          <a:xfrm>
            <a:off x="383631" y="3096069"/>
            <a:ext cx="11283412" cy="2286303"/>
          </a:xfrm>
          <a:prstGeom prst="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2" name="object 3">
            <a:extLst>
              <a:ext uri="{FF2B5EF4-FFF2-40B4-BE49-F238E27FC236}">
                <a16:creationId xmlns:a16="http://schemas.microsoft.com/office/drawing/2014/main" id="{AEFD4885-4E13-67FF-AE6A-3A1426587F32}"/>
              </a:ext>
            </a:extLst>
          </p:cNvPr>
          <p:cNvSpPr txBox="1"/>
          <p:nvPr/>
        </p:nvSpPr>
        <p:spPr>
          <a:xfrm>
            <a:off x="383631" y="3108427"/>
            <a:ext cx="1208949" cy="218477"/>
          </a:xfrm>
          <a:prstGeom prst="rect">
            <a:avLst/>
          </a:prstGeom>
          <a:noFill/>
          <a:ln w="12700">
            <a:noFill/>
          </a:ln>
        </p:spPr>
        <p:txBody>
          <a:bodyPr vert="horz" wrap="square" lIns="0" tIns="0" rIns="0" bIns="0" rtlCol="0">
            <a:noAutofit/>
          </a:bodyPr>
          <a:lstStyle/>
          <a:p>
            <a:pPr marL="16933"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chemeClr val="bg1"/>
                </a:solidFill>
                <a:effectLst/>
                <a:uLnTx/>
                <a:uFillTx/>
                <a:latin typeface="Ubuntu"/>
                <a:ea typeface="+mn-ea"/>
                <a:cs typeface="Arial"/>
              </a:rPr>
              <a:t>Methodology</a:t>
            </a:r>
            <a:endParaRPr kumimoji="0" lang="en-IN" sz="1400" b="0" i="0" u="none" strike="noStrike" kern="1200" cap="none" spc="0" normalizeH="0" baseline="0" noProof="0">
              <a:ln>
                <a:noFill/>
              </a:ln>
              <a:solidFill>
                <a:schemeClr val="bg1"/>
              </a:solidFill>
              <a:effectLst/>
              <a:uLnTx/>
              <a:uFillTx/>
              <a:latin typeface="Ubuntu"/>
              <a:ea typeface="+mn-ea"/>
              <a:cs typeface="Arial"/>
            </a:endParaRPr>
          </a:p>
        </p:txBody>
      </p:sp>
      <p:sp>
        <p:nvSpPr>
          <p:cNvPr id="43" name="Isosceles Triangle 42">
            <a:extLst>
              <a:ext uri="{FF2B5EF4-FFF2-40B4-BE49-F238E27FC236}">
                <a16:creationId xmlns:a16="http://schemas.microsoft.com/office/drawing/2014/main" id="{99B9E060-17F1-3216-8BA0-2857E335B055}"/>
              </a:ext>
            </a:extLst>
          </p:cNvPr>
          <p:cNvSpPr/>
          <p:nvPr/>
        </p:nvSpPr>
        <p:spPr>
          <a:xfrm rot="5400000">
            <a:off x="3126727" y="4180192"/>
            <a:ext cx="1822229" cy="319847"/>
          </a:xfrm>
          <a:prstGeom prs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4" name="Isosceles Triangle 43">
            <a:extLst>
              <a:ext uri="{FF2B5EF4-FFF2-40B4-BE49-F238E27FC236}">
                <a16:creationId xmlns:a16="http://schemas.microsoft.com/office/drawing/2014/main" id="{542C71B4-2F9C-24AB-B98E-970F960D1EE9}"/>
              </a:ext>
            </a:extLst>
          </p:cNvPr>
          <p:cNvSpPr/>
          <p:nvPr/>
        </p:nvSpPr>
        <p:spPr>
          <a:xfrm rot="5400000">
            <a:off x="7063765" y="4183612"/>
            <a:ext cx="1822228" cy="312897"/>
          </a:xfrm>
          <a:prstGeom prs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graphicFrame>
        <p:nvGraphicFramePr>
          <p:cNvPr id="46" name="object 44">
            <a:extLst>
              <a:ext uri="{FF2B5EF4-FFF2-40B4-BE49-F238E27FC236}">
                <a16:creationId xmlns:a16="http://schemas.microsoft.com/office/drawing/2014/main" id="{4E8C5B19-6BD0-47F9-AE26-19FEE29F8A34}"/>
              </a:ext>
            </a:extLst>
          </p:cNvPr>
          <p:cNvGraphicFramePr>
            <a:graphicFrameLocks noGrp="1"/>
          </p:cNvGraphicFramePr>
          <p:nvPr/>
        </p:nvGraphicFramePr>
        <p:xfrm>
          <a:off x="493727" y="3937237"/>
          <a:ext cx="3279953" cy="1291198"/>
        </p:xfrm>
        <a:graphic>
          <a:graphicData uri="http://schemas.openxmlformats.org/drawingml/2006/table">
            <a:tbl>
              <a:tblPr firstRow="1" bandRow="1">
                <a:tableStyleId>{2D5ABB26-0587-4C30-8999-92F81FD0307C}</a:tableStyleId>
              </a:tblPr>
              <a:tblGrid>
                <a:gridCol w="3279953">
                  <a:extLst>
                    <a:ext uri="{9D8B030D-6E8A-4147-A177-3AD203B41FA5}">
                      <a16:colId xmlns:a16="http://schemas.microsoft.com/office/drawing/2014/main" val="20001"/>
                    </a:ext>
                  </a:extLst>
                </a:gridCol>
              </a:tblGrid>
              <a:tr h="1291198">
                <a:tc>
                  <a:txBody>
                    <a:bodyPr/>
                    <a:lstStyle/>
                    <a:p>
                      <a:pPr marL="266700" indent="-174625" defTabSz="914400" rtl="0" eaLnBrk="1" latinLnBrk="0" hangingPunct="1">
                        <a:lnSpc>
                          <a:spcPct val="100000"/>
                        </a:lnSpc>
                        <a:spcAft>
                          <a:spcPts val="600"/>
                        </a:spcAft>
                        <a:buFont typeface="Arial" panose="020B0604020202020204" pitchFamily="34" charset="0"/>
                        <a:buChar char="•"/>
                      </a:pPr>
                      <a:r>
                        <a:rPr lang="en-IN" sz="1000" i="1" kern="1200">
                          <a:solidFill>
                            <a:schemeClr val="bg1"/>
                          </a:solidFill>
                          <a:latin typeface="+mn-lt"/>
                          <a:ea typeface="+mn-ea"/>
                          <a:cs typeface="Calibri"/>
                        </a:rPr>
                        <a:t>Understand Maxis Wholesale ambition, targets, and current growth trajectory</a:t>
                      </a:r>
                    </a:p>
                    <a:p>
                      <a:pPr marL="266700" indent="-174625" defTabSz="914400" rtl="0" eaLnBrk="1" latinLnBrk="0" hangingPunct="1">
                        <a:lnSpc>
                          <a:spcPct val="100000"/>
                        </a:lnSpc>
                        <a:spcAft>
                          <a:spcPts val="600"/>
                        </a:spcAft>
                        <a:buFont typeface="Arial" panose="020B0604020202020204" pitchFamily="34" charset="0"/>
                        <a:buChar char="•"/>
                      </a:pPr>
                      <a:r>
                        <a:rPr lang="en-IN" sz="1000" i="1" kern="1200">
                          <a:solidFill>
                            <a:schemeClr val="bg1"/>
                          </a:solidFill>
                          <a:latin typeface="+mn-lt"/>
                          <a:ea typeface="+mn-ea"/>
                          <a:cs typeface="Calibri"/>
                        </a:rPr>
                        <a:t>Analyse insights from Existing wholesale &amp; enterprise initiatives , Network &amp; infrastructure utilisation</a:t>
                      </a:r>
                    </a:p>
                    <a:p>
                      <a:pPr marL="266700" indent="-174625" defTabSz="914400" rtl="0" eaLnBrk="1" latinLnBrk="0" hangingPunct="1">
                        <a:lnSpc>
                          <a:spcPct val="100000"/>
                        </a:lnSpc>
                        <a:spcAft>
                          <a:spcPts val="600"/>
                        </a:spcAft>
                        <a:buFont typeface="Arial" panose="020B0604020202020204" pitchFamily="34" charset="0"/>
                        <a:buChar char="•"/>
                      </a:pPr>
                      <a:r>
                        <a:rPr lang="en-IN" sz="1000" i="1" kern="1200">
                          <a:solidFill>
                            <a:schemeClr val="bg1"/>
                          </a:solidFill>
                          <a:latin typeface="+mn-lt"/>
                          <a:ea typeface="+mn-ea"/>
                          <a:cs typeface="Calibri"/>
                        </a:rPr>
                        <a:t>Identify key pain points and Assess business model components</a:t>
                      </a:r>
                    </a:p>
                  </a:txBody>
                  <a:tcPr marL="0" marR="0" marT="0" marB="0" anchor="ctr">
                    <a:solidFill>
                      <a:schemeClr val="accent1">
                        <a:alpha val="34000"/>
                      </a:schemeClr>
                    </a:solidFill>
                  </a:tcPr>
                </a:tc>
                <a:extLst>
                  <a:ext uri="{0D108BD9-81ED-4DB2-BD59-A6C34878D82A}">
                    <a16:rowId xmlns:a16="http://schemas.microsoft.com/office/drawing/2014/main" val="10000"/>
                  </a:ext>
                </a:extLst>
              </a:tr>
            </a:tbl>
          </a:graphicData>
        </a:graphic>
      </p:graphicFrame>
      <p:sp>
        <p:nvSpPr>
          <p:cNvPr id="7" name="Rectangle 6">
            <a:extLst>
              <a:ext uri="{FF2B5EF4-FFF2-40B4-BE49-F238E27FC236}">
                <a16:creationId xmlns:a16="http://schemas.microsoft.com/office/drawing/2014/main" id="{731DB385-F799-1DE0-4E23-312EEA11043F}"/>
              </a:ext>
            </a:extLst>
          </p:cNvPr>
          <p:cNvSpPr/>
          <p:nvPr/>
        </p:nvSpPr>
        <p:spPr>
          <a:xfrm>
            <a:off x="383631" y="1291406"/>
            <a:ext cx="11283412" cy="1684197"/>
          </a:xfrm>
          <a:prstGeom prst="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9" name="object 3">
            <a:extLst>
              <a:ext uri="{FF2B5EF4-FFF2-40B4-BE49-F238E27FC236}">
                <a16:creationId xmlns:a16="http://schemas.microsoft.com/office/drawing/2014/main" id="{F8177724-669D-0AEB-9643-CD2CF5BB91C8}"/>
              </a:ext>
            </a:extLst>
          </p:cNvPr>
          <p:cNvSpPr txBox="1"/>
          <p:nvPr/>
        </p:nvSpPr>
        <p:spPr>
          <a:xfrm>
            <a:off x="381953" y="1291406"/>
            <a:ext cx="2655887" cy="228575"/>
          </a:xfrm>
          <a:prstGeom prst="rect">
            <a:avLst/>
          </a:prstGeom>
          <a:noFill/>
          <a:ln w="12700">
            <a:noFill/>
          </a:ln>
        </p:spPr>
        <p:txBody>
          <a:bodyPr vert="horz" wrap="square" lIns="0" tIns="0" rIns="0" bIns="0" rtlCol="0">
            <a:noAutofit/>
          </a:bodyPr>
          <a:lstStyle>
            <a:defPPr>
              <a:defRPr lang="en-US"/>
            </a:defPPr>
            <a:lvl1pPr marL="16933"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rgbClr val="6C6D70"/>
                </a:solidFill>
                <a:effectLst/>
                <a:uLnTx/>
                <a:uFillTx/>
                <a:latin typeface="Ubuntu"/>
                <a:cs typeface="Arial"/>
              </a:defRPr>
            </a:lvl1pPr>
          </a:lstStyle>
          <a:p>
            <a:r>
              <a:rPr lang="en-US">
                <a:solidFill>
                  <a:schemeClr val="bg1"/>
                </a:solidFill>
              </a:rPr>
              <a:t>Key ‘In-Scope’ Considerations </a:t>
            </a:r>
          </a:p>
        </p:txBody>
      </p:sp>
      <p:sp>
        <p:nvSpPr>
          <p:cNvPr id="17" name="object 11">
            <a:extLst>
              <a:ext uri="{FF2B5EF4-FFF2-40B4-BE49-F238E27FC236}">
                <a16:creationId xmlns:a16="http://schemas.microsoft.com/office/drawing/2014/main" id="{A44D4B2A-A805-302B-203B-5DBAA33DEEA0}"/>
              </a:ext>
            </a:extLst>
          </p:cNvPr>
          <p:cNvSpPr/>
          <p:nvPr/>
        </p:nvSpPr>
        <p:spPr>
          <a:xfrm>
            <a:off x="8144255" y="1626199"/>
            <a:ext cx="3385820" cy="1259611"/>
          </a:xfrm>
          <a:custGeom>
            <a:avLst/>
            <a:gdLst/>
            <a:ahLst/>
            <a:cxnLst/>
            <a:rect l="l" t="t" r="r" b="b"/>
            <a:pathLst>
              <a:path w="2539365" h="1649095">
                <a:moveTo>
                  <a:pt x="0" y="130301"/>
                </a:moveTo>
                <a:lnTo>
                  <a:pt x="7081" y="87790"/>
                </a:lnTo>
                <a:lnTo>
                  <a:pt x="26751" y="51160"/>
                </a:lnTo>
                <a:lnTo>
                  <a:pt x="56644" y="22775"/>
                </a:lnTo>
                <a:lnTo>
                  <a:pt x="94396" y="5001"/>
                </a:lnTo>
                <a:lnTo>
                  <a:pt x="2408682" y="0"/>
                </a:lnTo>
                <a:lnTo>
                  <a:pt x="2423360" y="816"/>
                </a:lnTo>
                <a:lnTo>
                  <a:pt x="2464174" y="12356"/>
                </a:lnTo>
                <a:lnTo>
                  <a:pt x="2498318" y="35696"/>
                </a:lnTo>
                <a:lnTo>
                  <a:pt x="2523428" y="68471"/>
                </a:lnTo>
                <a:lnTo>
                  <a:pt x="2537140" y="108318"/>
                </a:lnTo>
                <a:lnTo>
                  <a:pt x="2538984" y="1518665"/>
                </a:lnTo>
                <a:lnTo>
                  <a:pt x="2538167" y="1533344"/>
                </a:lnTo>
                <a:lnTo>
                  <a:pt x="2526627" y="1574158"/>
                </a:lnTo>
                <a:lnTo>
                  <a:pt x="2503287" y="1608302"/>
                </a:lnTo>
                <a:lnTo>
                  <a:pt x="2470512" y="1633412"/>
                </a:lnTo>
                <a:lnTo>
                  <a:pt x="2430665" y="1647124"/>
                </a:lnTo>
                <a:lnTo>
                  <a:pt x="130302" y="1648967"/>
                </a:lnTo>
                <a:lnTo>
                  <a:pt x="115623" y="1648151"/>
                </a:lnTo>
                <a:lnTo>
                  <a:pt x="74809" y="1636611"/>
                </a:lnTo>
                <a:lnTo>
                  <a:pt x="40665" y="1613271"/>
                </a:lnTo>
                <a:lnTo>
                  <a:pt x="15555" y="1580496"/>
                </a:lnTo>
                <a:lnTo>
                  <a:pt x="1843" y="1540649"/>
                </a:lnTo>
                <a:lnTo>
                  <a:pt x="0" y="130301"/>
                </a:lnTo>
                <a:close/>
              </a:path>
            </a:pathLst>
          </a:custGeom>
          <a:solidFill>
            <a:schemeClr val="accent5">
              <a:lumMod val="20000"/>
              <a:lumOff val="80000"/>
              <a:alpha val="49000"/>
            </a:schemeClr>
          </a:solidFill>
          <a:ln w="3175">
            <a:solidFill>
              <a:srgbClr val="A7A9A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sp>
        <p:nvSpPr>
          <p:cNvPr id="18" name="object 12">
            <a:extLst>
              <a:ext uri="{FF2B5EF4-FFF2-40B4-BE49-F238E27FC236}">
                <a16:creationId xmlns:a16="http://schemas.microsoft.com/office/drawing/2014/main" id="{CB9922AE-3975-EEC1-3F98-1A91CF7C3C37}"/>
              </a:ext>
            </a:extLst>
          </p:cNvPr>
          <p:cNvSpPr txBox="1"/>
          <p:nvPr/>
        </p:nvSpPr>
        <p:spPr>
          <a:xfrm>
            <a:off x="8801269" y="1690495"/>
            <a:ext cx="2071793" cy="215444"/>
          </a:xfrm>
          <a:prstGeom prst="rect">
            <a:avLst/>
          </a:prstGeom>
        </p:spPr>
        <p:txBody>
          <a:bodyPr vert="horz" wrap="square" lIns="0" tIns="0" rIns="0" bIns="0" rtlCol="0">
            <a:spAutoFit/>
          </a:bodyPr>
          <a:lstStyle/>
          <a:p>
            <a:pPr marL="16933"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effectLst/>
                <a:uLnTx/>
                <a:uFillTx/>
                <a:latin typeface="Ubuntu"/>
                <a:ea typeface="+mn-ea"/>
                <a:cs typeface="Arial"/>
              </a:rPr>
              <a:t>Pr</a:t>
            </a:r>
            <a:r>
              <a:rPr kumimoji="0" sz="1400" b="1" i="0" u="none" strike="noStrike" kern="1200" cap="none" spc="-13" normalizeH="0" baseline="0" noProof="0">
                <a:ln>
                  <a:noFill/>
                </a:ln>
                <a:effectLst/>
                <a:uLnTx/>
                <a:uFillTx/>
                <a:latin typeface="Ubuntu"/>
                <a:ea typeface="+mn-ea"/>
                <a:cs typeface="Arial"/>
              </a:rPr>
              <a:t>odu</a:t>
            </a:r>
            <a:r>
              <a:rPr kumimoji="0" sz="1400" b="1" i="0" u="none" strike="noStrike" kern="1200" cap="none" spc="0" normalizeH="0" baseline="0" noProof="0">
                <a:ln>
                  <a:noFill/>
                </a:ln>
                <a:effectLst/>
                <a:uLnTx/>
                <a:uFillTx/>
                <a:latin typeface="Ubuntu"/>
                <a:ea typeface="+mn-ea"/>
                <a:cs typeface="Arial"/>
              </a:rPr>
              <a:t>ct</a:t>
            </a:r>
            <a:r>
              <a:rPr kumimoji="0" sz="1400" b="1" i="0" u="none" strike="noStrike" kern="1200" cap="none" spc="-27" normalizeH="0" baseline="0" noProof="0">
                <a:ln>
                  <a:noFill/>
                </a:ln>
                <a:effectLst/>
                <a:uLnTx/>
                <a:uFillTx/>
                <a:latin typeface="Ubuntu"/>
                <a:ea typeface="+mn-ea"/>
                <a:cs typeface="Arial"/>
              </a:rPr>
              <a:t> </a:t>
            </a:r>
            <a:r>
              <a:rPr kumimoji="0" sz="1400" b="1" i="0" u="none" strike="noStrike" kern="1200" cap="none" spc="-13" normalizeH="0" baseline="0" noProof="0">
                <a:ln>
                  <a:noFill/>
                </a:ln>
                <a:effectLst/>
                <a:uLnTx/>
                <a:uFillTx/>
                <a:latin typeface="Ubuntu"/>
                <a:ea typeface="+mn-ea"/>
                <a:cs typeface="Arial"/>
              </a:rPr>
              <a:t>Co</a:t>
            </a:r>
            <a:r>
              <a:rPr kumimoji="0" sz="1400" b="1" i="0" u="none" strike="noStrike" kern="1200" cap="none" spc="-20" normalizeH="0" baseline="0" noProof="0">
                <a:ln>
                  <a:noFill/>
                </a:ln>
                <a:effectLst/>
                <a:uLnTx/>
                <a:uFillTx/>
                <a:latin typeface="Ubuntu"/>
                <a:ea typeface="+mn-ea"/>
                <a:cs typeface="Arial"/>
              </a:rPr>
              <a:t>v</a:t>
            </a:r>
            <a:r>
              <a:rPr kumimoji="0" sz="1400" b="1" i="0" u="none" strike="noStrike" kern="1200" cap="none" spc="0" normalizeH="0" baseline="0" noProof="0">
                <a:ln>
                  <a:noFill/>
                </a:ln>
                <a:effectLst/>
                <a:uLnTx/>
                <a:uFillTx/>
                <a:latin typeface="Ubuntu"/>
                <a:ea typeface="+mn-ea"/>
                <a:cs typeface="Arial"/>
              </a:rPr>
              <a:t>era</a:t>
            </a:r>
            <a:r>
              <a:rPr kumimoji="0" sz="1400" b="1" i="0" u="none" strike="noStrike" kern="1200" cap="none" spc="-13" normalizeH="0" baseline="0" noProof="0">
                <a:ln>
                  <a:noFill/>
                </a:ln>
                <a:effectLst/>
                <a:uLnTx/>
                <a:uFillTx/>
                <a:latin typeface="Ubuntu"/>
                <a:ea typeface="+mn-ea"/>
                <a:cs typeface="Arial"/>
              </a:rPr>
              <a:t>g</a:t>
            </a:r>
            <a:r>
              <a:rPr kumimoji="0" sz="1400" b="1" i="0" u="none" strike="noStrike" kern="1200" cap="none" spc="0" normalizeH="0" baseline="0" noProof="0">
                <a:ln>
                  <a:noFill/>
                </a:ln>
                <a:effectLst/>
                <a:uLnTx/>
                <a:uFillTx/>
                <a:latin typeface="Ubuntu"/>
                <a:ea typeface="+mn-ea"/>
                <a:cs typeface="Arial"/>
              </a:rPr>
              <a:t>e</a:t>
            </a:r>
            <a:endParaRPr kumimoji="0" sz="1400" b="0" i="0" u="none" strike="noStrike" kern="1200" cap="none" spc="0" normalizeH="0" baseline="0" noProof="0">
              <a:ln>
                <a:noFill/>
              </a:ln>
              <a:effectLst/>
              <a:uLnTx/>
              <a:uFillTx/>
              <a:latin typeface="Ubuntu"/>
              <a:ea typeface="+mn-ea"/>
              <a:cs typeface="Arial"/>
            </a:endParaRPr>
          </a:p>
        </p:txBody>
      </p:sp>
      <p:sp>
        <p:nvSpPr>
          <p:cNvPr id="19" name="object 13">
            <a:extLst>
              <a:ext uri="{FF2B5EF4-FFF2-40B4-BE49-F238E27FC236}">
                <a16:creationId xmlns:a16="http://schemas.microsoft.com/office/drawing/2014/main" id="{912FC351-A6CB-DAB2-3179-FB15A77F3857}"/>
              </a:ext>
            </a:extLst>
          </p:cNvPr>
          <p:cNvSpPr txBox="1"/>
          <p:nvPr/>
        </p:nvSpPr>
        <p:spPr>
          <a:xfrm>
            <a:off x="8236383" y="2009181"/>
            <a:ext cx="3249239" cy="846386"/>
          </a:xfrm>
          <a:prstGeom prst="rect">
            <a:avLst/>
          </a:prstGeom>
        </p:spPr>
        <p:txBody>
          <a:bodyPr vert="horz" wrap="square" lIns="0" tIns="0" rIns="0" bIns="0" rtlCol="0">
            <a:spAutoFit/>
          </a:bodyPr>
          <a:lstStyle/>
          <a:p>
            <a:pPr marL="169329" marR="0" lvl="0" indent="-152396" algn="l" defTabSz="914400" rtl="0" eaLnBrk="1" fontAlgn="auto" latinLnBrk="0" hangingPunct="1">
              <a:lnSpc>
                <a:spcPct val="100000"/>
              </a:lnSpc>
              <a:spcBef>
                <a:spcPts val="0"/>
              </a:spcBef>
              <a:spcAft>
                <a:spcPts val="0"/>
              </a:spcAft>
              <a:buClr>
                <a:schemeClr val="tx1"/>
              </a:buClr>
              <a:buSzTx/>
              <a:buFont typeface="Arial"/>
              <a:buChar char="•"/>
              <a:tabLst>
                <a:tab pos="169329" algn="l"/>
              </a:tabLst>
              <a:defRPr/>
            </a:pPr>
            <a:r>
              <a:rPr kumimoji="0" lang="en-IN" sz="1100" b="0" i="0" u="none" strike="noStrike" kern="1200" cap="none" spc="0" normalizeH="0" baseline="0" noProof="0">
                <a:ln>
                  <a:noFill/>
                </a:ln>
                <a:effectLst/>
                <a:uLnTx/>
                <a:uFillTx/>
                <a:latin typeface="Ubuntu"/>
                <a:ea typeface="+mn-ea"/>
                <a:cs typeface="Arial"/>
              </a:rPr>
              <a:t>Connectivity</a:t>
            </a:r>
          </a:p>
          <a:p>
            <a:pPr marL="169329" indent="-152396">
              <a:buClr>
                <a:schemeClr val="tx1"/>
              </a:buClr>
              <a:buFont typeface="Arial"/>
              <a:buChar char="•"/>
              <a:tabLst>
                <a:tab pos="169329" algn="l"/>
              </a:tabLst>
              <a:defRPr/>
            </a:pPr>
            <a:r>
              <a:rPr lang="en-IN" sz="1100">
                <a:cs typeface="Arial"/>
              </a:rPr>
              <a:t>IP Transit</a:t>
            </a:r>
          </a:p>
          <a:p>
            <a:pPr marL="169329" marR="0" lvl="0" indent="-152396" algn="l" defTabSz="914400" rtl="0" eaLnBrk="1" fontAlgn="auto" latinLnBrk="0" hangingPunct="1">
              <a:lnSpc>
                <a:spcPct val="100000"/>
              </a:lnSpc>
              <a:spcBef>
                <a:spcPts val="0"/>
              </a:spcBef>
              <a:spcAft>
                <a:spcPts val="0"/>
              </a:spcAft>
              <a:buClr>
                <a:schemeClr val="tx1"/>
              </a:buClr>
              <a:buSzTx/>
              <a:buFont typeface="Arial"/>
              <a:buChar char="•"/>
              <a:tabLst>
                <a:tab pos="169329" algn="l"/>
              </a:tabLst>
              <a:defRPr/>
            </a:pPr>
            <a:r>
              <a:rPr kumimoji="0" lang="en-IN" sz="1100" b="0" i="0" u="none" strike="noStrike" kern="1200" cap="none" spc="-13" normalizeH="0" baseline="0" noProof="0">
                <a:ln>
                  <a:noFill/>
                </a:ln>
                <a:effectLst/>
                <a:uLnTx/>
                <a:uFillTx/>
                <a:latin typeface="Ubuntu"/>
                <a:ea typeface="+mn-ea"/>
                <a:cs typeface="Arial"/>
              </a:rPr>
              <a:t>Infrastructure</a:t>
            </a:r>
            <a:endParaRPr kumimoji="0" lang="en-IN" sz="1100" b="0" i="0" u="none" strike="noStrike" kern="1200" cap="none" spc="0" normalizeH="0" baseline="0" noProof="0">
              <a:ln>
                <a:noFill/>
              </a:ln>
              <a:effectLst/>
              <a:uLnTx/>
              <a:uFillTx/>
              <a:latin typeface="Ubuntu"/>
              <a:ea typeface="+mn-ea"/>
              <a:cs typeface="Arial"/>
            </a:endParaRPr>
          </a:p>
          <a:p>
            <a:pPr marL="169329" lvl="0" indent="-152396">
              <a:buClr>
                <a:schemeClr val="tx1"/>
              </a:buClr>
              <a:buFont typeface="Arial"/>
              <a:buChar char="•"/>
              <a:tabLst>
                <a:tab pos="169329" algn="l"/>
              </a:tabLst>
              <a:defRPr/>
            </a:pPr>
            <a:r>
              <a:rPr lang="en-IN" sz="1100">
                <a:cs typeface="Arial"/>
              </a:rPr>
              <a:t>Data Centre interconnect &amp; ecosystem services</a:t>
            </a:r>
            <a:endParaRPr lang="en-IN" sz="1100">
              <a:latin typeface="Ubuntu"/>
              <a:cs typeface="Arial"/>
            </a:endParaRPr>
          </a:p>
          <a:p>
            <a:pPr marL="169329" lvl="0" indent="-152396">
              <a:buClr>
                <a:schemeClr val="tx1"/>
              </a:buClr>
              <a:buFont typeface="Arial"/>
              <a:buChar char="•"/>
              <a:tabLst>
                <a:tab pos="169329" algn="l"/>
              </a:tabLst>
              <a:defRPr/>
            </a:pPr>
            <a:r>
              <a:rPr kumimoji="0" lang="en-IN" sz="1100" b="0" i="0" u="none" strike="noStrike" kern="1200" cap="none" spc="0" normalizeH="0" baseline="0" noProof="0">
                <a:ln>
                  <a:noFill/>
                </a:ln>
                <a:effectLst/>
                <a:uLnTx/>
                <a:uFillTx/>
                <a:latin typeface="Ubuntu"/>
                <a:ea typeface="+mn-ea"/>
                <a:cs typeface="Arial"/>
              </a:rPr>
              <a:t>Network API</a:t>
            </a:r>
          </a:p>
        </p:txBody>
      </p:sp>
      <p:sp>
        <p:nvSpPr>
          <p:cNvPr id="13" name="object 7">
            <a:extLst>
              <a:ext uri="{FF2B5EF4-FFF2-40B4-BE49-F238E27FC236}">
                <a16:creationId xmlns:a16="http://schemas.microsoft.com/office/drawing/2014/main" id="{C1F82068-7FD1-88E2-D765-848FDB974876}"/>
              </a:ext>
            </a:extLst>
          </p:cNvPr>
          <p:cNvSpPr/>
          <p:nvPr/>
        </p:nvSpPr>
        <p:spPr>
          <a:xfrm>
            <a:off x="4409439" y="1626199"/>
            <a:ext cx="3385820" cy="1259611"/>
          </a:xfrm>
          <a:custGeom>
            <a:avLst/>
            <a:gdLst/>
            <a:ahLst/>
            <a:cxnLst/>
            <a:rect l="l" t="t" r="r" b="b"/>
            <a:pathLst>
              <a:path w="2539365" h="1649095">
                <a:moveTo>
                  <a:pt x="2400681" y="0"/>
                </a:moveTo>
                <a:lnTo>
                  <a:pt x="132374" y="125"/>
                </a:lnTo>
                <a:lnTo>
                  <a:pt x="90351" y="8553"/>
                </a:lnTo>
                <a:lnTo>
                  <a:pt x="53991" y="28697"/>
                </a:lnTo>
                <a:lnTo>
                  <a:pt x="25404" y="58444"/>
                </a:lnTo>
                <a:lnTo>
                  <a:pt x="6703" y="95684"/>
                </a:lnTo>
                <a:lnTo>
                  <a:pt x="0" y="138302"/>
                </a:lnTo>
                <a:lnTo>
                  <a:pt x="125" y="1516593"/>
                </a:lnTo>
                <a:lnTo>
                  <a:pt x="8553" y="1558616"/>
                </a:lnTo>
                <a:lnTo>
                  <a:pt x="28697" y="1594976"/>
                </a:lnTo>
                <a:lnTo>
                  <a:pt x="58444" y="1623563"/>
                </a:lnTo>
                <a:lnTo>
                  <a:pt x="95684" y="1642264"/>
                </a:lnTo>
                <a:lnTo>
                  <a:pt x="138303" y="1648967"/>
                </a:lnTo>
                <a:lnTo>
                  <a:pt x="2406609" y="1648842"/>
                </a:lnTo>
                <a:lnTo>
                  <a:pt x="2448632" y="1640414"/>
                </a:lnTo>
                <a:lnTo>
                  <a:pt x="2484992" y="1620270"/>
                </a:lnTo>
                <a:lnTo>
                  <a:pt x="2513579" y="1590523"/>
                </a:lnTo>
                <a:lnTo>
                  <a:pt x="2532280" y="1553283"/>
                </a:lnTo>
                <a:lnTo>
                  <a:pt x="2538984" y="1510664"/>
                </a:lnTo>
                <a:lnTo>
                  <a:pt x="2538858" y="132374"/>
                </a:lnTo>
                <a:lnTo>
                  <a:pt x="2530430" y="90351"/>
                </a:lnTo>
                <a:lnTo>
                  <a:pt x="2510286" y="53991"/>
                </a:lnTo>
                <a:lnTo>
                  <a:pt x="2480539" y="25404"/>
                </a:lnTo>
                <a:lnTo>
                  <a:pt x="2443299" y="6703"/>
                </a:lnTo>
                <a:lnTo>
                  <a:pt x="2400681" y="0"/>
                </a:lnTo>
                <a:close/>
              </a:path>
            </a:pathLst>
          </a:custGeom>
          <a:solidFill>
            <a:schemeClr val="accent2">
              <a:lumMod val="20000"/>
              <a:lumOff val="80000"/>
              <a:alpha val="49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sp>
        <p:nvSpPr>
          <p:cNvPr id="15" name="object 9">
            <a:extLst>
              <a:ext uri="{FF2B5EF4-FFF2-40B4-BE49-F238E27FC236}">
                <a16:creationId xmlns:a16="http://schemas.microsoft.com/office/drawing/2014/main" id="{90CF02AA-0E54-720F-8601-26FDD1C2C1E7}"/>
              </a:ext>
            </a:extLst>
          </p:cNvPr>
          <p:cNvSpPr txBox="1"/>
          <p:nvPr/>
        </p:nvSpPr>
        <p:spPr>
          <a:xfrm>
            <a:off x="5066453" y="1718756"/>
            <a:ext cx="2071793" cy="430887"/>
          </a:xfrm>
          <a:prstGeom prst="rect">
            <a:avLst/>
          </a:prstGeom>
        </p:spPr>
        <p:txBody>
          <a:bodyPr vert="horz" wrap="square" lIns="0" tIns="0" rIns="0" bIns="0" rtlCol="0" anchor="t">
            <a:spAutoFit/>
          </a:bodyPr>
          <a:lstStyle/>
          <a:p>
            <a:pPr marL="1651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20" normalizeH="0" baseline="0" noProof="0">
                <a:ln>
                  <a:noFill/>
                </a:ln>
                <a:effectLst/>
                <a:uLnTx/>
                <a:uFillTx/>
                <a:latin typeface="Ubuntu"/>
                <a:ea typeface="+mn-ea"/>
                <a:cs typeface="Arial"/>
              </a:rPr>
              <a:t>M</a:t>
            </a:r>
            <a:r>
              <a:rPr kumimoji="0" sz="1400" b="1" i="0" u="none" strike="noStrike" kern="1200" cap="none" spc="0" normalizeH="0" baseline="0" noProof="0">
                <a:ln>
                  <a:noFill/>
                </a:ln>
                <a:effectLst/>
                <a:uLnTx/>
                <a:uFillTx/>
                <a:latin typeface="Ubuntu"/>
                <a:ea typeface="+mn-ea"/>
                <a:cs typeface="Arial"/>
              </a:rPr>
              <a:t>ark</a:t>
            </a:r>
            <a:r>
              <a:rPr kumimoji="0" sz="1400" b="1" i="0" u="none" strike="noStrike" kern="1200" cap="none" spc="-20" normalizeH="0" baseline="0" noProof="0">
                <a:ln>
                  <a:noFill/>
                </a:ln>
                <a:effectLst/>
                <a:uLnTx/>
                <a:uFillTx/>
                <a:latin typeface="Ubuntu"/>
                <a:ea typeface="+mn-ea"/>
                <a:cs typeface="Arial"/>
              </a:rPr>
              <a:t>e</a:t>
            </a:r>
            <a:r>
              <a:rPr kumimoji="0" sz="1400" b="1" i="0" u="none" strike="noStrike" kern="1200" cap="none" spc="0" normalizeH="0" baseline="0" noProof="0">
                <a:ln>
                  <a:noFill/>
                </a:ln>
                <a:effectLst/>
                <a:uLnTx/>
                <a:uFillTx/>
                <a:latin typeface="Ubuntu"/>
                <a:ea typeface="+mn-ea"/>
                <a:cs typeface="Arial"/>
              </a:rPr>
              <a:t>ts</a:t>
            </a:r>
            <a:r>
              <a:rPr kumimoji="0" sz="1400" b="1" i="0" u="none" strike="noStrike" kern="1200" cap="none" spc="-60" normalizeH="0" baseline="0" noProof="0">
                <a:ln>
                  <a:noFill/>
                </a:ln>
                <a:effectLst/>
                <a:uLnTx/>
                <a:uFillTx/>
                <a:latin typeface="Ubuntu"/>
                <a:ea typeface="+mn-ea"/>
                <a:cs typeface="Arial"/>
              </a:rPr>
              <a:t> </a:t>
            </a:r>
            <a:r>
              <a:rPr kumimoji="0" sz="1400" b="1" i="0" u="none" strike="noStrike" kern="1200" cap="none" spc="-13" normalizeH="0" baseline="0" noProof="0">
                <a:ln>
                  <a:noFill/>
                </a:ln>
                <a:effectLst/>
                <a:uLnTx/>
                <a:uFillTx/>
                <a:latin typeface="Ubuntu"/>
                <a:ea typeface="+mn-ea"/>
                <a:cs typeface="Arial"/>
              </a:rPr>
              <a:t>Co</a:t>
            </a:r>
            <a:r>
              <a:rPr kumimoji="0" sz="1400" b="1" i="0" u="none" strike="noStrike" kern="1200" cap="none" spc="-20" normalizeH="0" baseline="0" noProof="0">
                <a:ln>
                  <a:noFill/>
                </a:ln>
                <a:effectLst/>
                <a:uLnTx/>
                <a:uFillTx/>
                <a:latin typeface="Ubuntu"/>
                <a:ea typeface="+mn-ea"/>
                <a:cs typeface="Arial"/>
              </a:rPr>
              <a:t>v</a:t>
            </a:r>
            <a:r>
              <a:rPr kumimoji="0" sz="1400" b="1" i="0" u="none" strike="noStrike" kern="1200" cap="none" spc="0" normalizeH="0" baseline="0" noProof="0">
                <a:ln>
                  <a:noFill/>
                </a:ln>
                <a:effectLst/>
                <a:uLnTx/>
                <a:uFillTx/>
                <a:latin typeface="Ubuntu"/>
                <a:ea typeface="+mn-ea"/>
                <a:cs typeface="Arial"/>
              </a:rPr>
              <a:t>era</a:t>
            </a:r>
            <a:r>
              <a:rPr kumimoji="0" sz="1400" b="1" i="0" u="none" strike="noStrike" kern="1200" cap="none" spc="-13" normalizeH="0" baseline="0" noProof="0">
                <a:ln>
                  <a:noFill/>
                </a:ln>
                <a:effectLst/>
                <a:uLnTx/>
                <a:uFillTx/>
                <a:latin typeface="Ubuntu"/>
                <a:ea typeface="+mn-ea"/>
                <a:cs typeface="Arial"/>
              </a:rPr>
              <a:t>g</a:t>
            </a:r>
            <a:r>
              <a:rPr kumimoji="0" sz="1400" b="1" i="0" u="none" strike="noStrike" kern="1200" cap="none" spc="0" normalizeH="0" baseline="0" noProof="0">
                <a:ln>
                  <a:noFill/>
                </a:ln>
                <a:effectLst/>
                <a:uLnTx/>
                <a:uFillTx/>
                <a:latin typeface="Ubuntu"/>
                <a:ea typeface="+mn-ea"/>
                <a:cs typeface="Arial"/>
              </a:rPr>
              <a:t>e</a:t>
            </a:r>
          </a:p>
          <a:p>
            <a:pPr marL="169545">
              <a:defRPr/>
            </a:pPr>
            <a:endParaRPr lang="en-IN" sz="1400">
              <a:latin typeface="Ubuntu"/>
              <a:cs typeface="Arial"/>
            </a:endParaRPr>
          </a:p>
        </p:txBody>
      </p:sp>
      <p:sp>
        <p:nvSpPr>
          <p:cNvPr id="47" name="object 13">
            <a:extLst>
              <a:ext uri="{FF2B5EF4-FFF2-40B4-BE49-F238E27FC236}">
                <a16:creationId xmlns:a16="http://schemas.microsoft.com/office/drawing/2014/main" id="{69F40035-6C59-55AD-C9A9-D64D9300FF5A}"/>
              </a:ext>
            </a:extLst>
          </p:cNvPr>
          <p:cNvSpPr txBox="1"/>
          <p:nvPr/>
        </p:nvSpPr>
        <p:spPr>
          <a:xfrm>
            <a:off x="4406762" y="2042840"/>
            <a:ext cx="3336716" cy="846386"/>
          </a:xfrm>
          <a:prstGeom prst="rect">
            <a:avLst/>
          </a:prstGeom>
        </p:spPr>
        <p:txBody>
          <a:bodyPr vert="horz" wrap="square" lIns="0" tIns="0" rIns="0" bIns="0" rtlCol="0" anchor="t">
            <a:spAutoFit/>
          </a:bodyPr>
          <a:lstStyle/>
          <a:p>
            <a:pPr marL="321310" indent="-151765">
              <a:buClr>
                <a:schemeClr val="tx1"/>
              </a:buClr>
              <a:buFont typeface="Arial,Sans-Serif"/>
              <a:buChar char="•"/>
              <a:tabLst>
                <a:tab pos="169329" algn="l"/>
              </a:tabLst>
              <a:defRPr/>
            </a:pPr>
            <a:r>
              <a:rPr lang="en-IN" sz="1100">
                <a:latin typeface="Ubuntu"/>
                <a:cs typeface="Arial"/>
              </a:rPr>
              <a:t>Wholesale</a:t>
            </a:r>
            <a:r>
              <a:rPr lang="en-IN" sz="1100">
                <a:cs typeface="Arial"/>
              </a:rPr>
              <a:t> &amp; Enterprise</a:t>
            </a:r>
          </a:p>
          <a:p>
            <a:pPr marL="321310" marR="0" lvl="0" indent="-151765" algn="l" defTabSz="914400">
              <a:lnSpc>
                <a:spcPct val="100000"/>
              </a:lnSpc>
              <a:spcBef>
                <a:spcPts val="0"/>
              </a:spcBef>
              <a:spcAft>
                <a:spcPts val="0"/>
              </a:spcAft>
              <a:buClr>
                <a:schemeClr val="tx1"/>
              </a:buClr>
              <a:buSzTx/>
              <a:buFont typeface="Arial,Sans-Serif"/>
              <a:buChar char="•"/>
              <a:tabLst>
                <a:tab pos="169329" algn="l"/>
              </a:tabLst>
              <a:defRPr/>
            </a:pPr>
            <a:r>
              <a:rPr kumimoji="0" lang="en-IN" sz="1100" b="0" i="0" u="none" strike="noStrike" kern="1200" cap="none" normalizeH="0" baseline="0" noProof="0">
                <a:ln>
                  <a:noFill/>
                </a:ln>
                <a:effectLst/>
                <a:uLnTx/>
                <a:uFillTx/>
                <a:latin typeface="Ubuntu"/>
                <a:ea typeface="+mn-ea"/>
                <a:cs typeface="Arial"/>
              </a:rPr>
              <a:t>Infrastructure</a:t>
            </a:r>
            <a:endParaRPr lang="en-IN" sz="1100" b="0" i="0" u="none" strike="noStrike" kern="1200" cap="none" normalizeH="0" baseline="0" noProof="0">
              <a:ln>
                <a:noFill/>
              </a:ln>
              <a:effectLst/>
              <a:uLnTx/>
              <a:uFillTx/>
              <a:latin typeface="Ubuntu"/>
              <a:cs typeface="Arial"/>
            </a:endParaRPr>
          </a:p>
          <a:p>
            <a:pPr marL="321310" indent="-151765">
              <a:buClr>
                <a:schemeClr val="tx1"/>
              </a:buClr>
              <a:buFont typeface="Arial,Sans-Serif"/>
              <a:buChar char="•"/>
              <a:tabLst>
                <a:tab pos="169329" algn="l"/>
              </a:tabLst>
              <a:defRPr/>
            </a:pPr>
            <a:r>
              <a:rPr lang="en-IN" sz="1100">
                <a:cs typeface="Arial"/>
              </a:rPr>
              <a:t>Consumer</a:t>
            </a:r>
            <a:endParaRPr lang="en-IN" sz="1100">
              <a:latin typeface="Ubuntu"/>
              <a:cs typeface="Arial"/>
            </a:endParaRPr>
          </a:p>
          <a:p>
            <a:pPr marL="321310" lvl="0" indent="-151765">
              <a:buClr>
                <a:schemeClr val="tx1"/>
              </a:buClr>
              <a:buFont typeface="Arial,Sans-Serif"/>
              <a:buChar char="•"/>
              <a:tabLst>
                <a:tab pos="169329" algn="l"/>
              </a:tabLst>
              <a:defRPr/>
            </a:pPr>
            <a:r>
              <a:rPr lang="en-IN" sz="1100">
                <a:latin typeface="Ubuntu"/>
                <a:cs typeface="Arial"/>
              </a:rPr>
              <a:t>MVNO</a:t>
            </a:r>
          </a:p>
          <a:p>
            <a:pPr marL="168910" lvl="0" indent="-151765">
              <a:buClr>
                <a:schemeClr val="tx1"/>
              </a:buClr>
              <a:buFont typeface="Arial"/>
              <a:buChar char="•"/>
              <a:tabLst>
                <a:tab pos="169329" algn="l"/>
              </a:tabLst>
              <a:defRPr/>
            </a:pPr>
            <a:endParaRPr lang="en-IN" sz="1100" b="0" i="0" u="none" strike="noStrike" kern="1200" cap="none" spc="0" normalizeH="0" baseline="0" noProof="0">
              <a:ln>
                <a:noFill/>
              </a:ln>
              <a:effectLst/>
              <a:uLnTx/>
              <a:uFillTx/>
              <a:latin typeface="Ubuntu"/>
              <a:cs typeface="Arial"/>
            </a:endParaRPr>
          </a:p>
        </p:txBody>
      </p:sp>
      <p:sp>
        <p:nvSpPr>
          <p:cNvPr id="11" name="object 5">
            <a:extLst>
              <a:ext uri="{FF2B5EF4-FFF2-40B4-BE49-F238E27FC236}">
                <a16:creationId xmlns:a16="http://schemas.microsoft.com/office/drawing/2014/main" id="{F622EF94-8990-1542-CF3A-B77E8B11082B}"/>
              </a:ext>
            </a:extLst>
          </p:cNvPr>
          <p:cNvSpPr/>
          <p:nvPr/>
        </p:nvSpPr>
        <p:spPr>
          <a:xfrm>
            <a:off x="524957" y="1629615"/>
            <a:ext cx="3535488" cy="1259611"/>
          </a:xfrm>
          <a:custGeom>
            <a:avLst/>
            <a:gdLst/>
            <a:ahLst/>
            <a:cxnLst/>
            <a:rect l="l" t="t" r="r" b="b"/>
            <a:pathLst>
              <a:path w="2539365" h="1645920">
                <a:moveTo>
                  <a:pt x="0" y="130047"/>
                </a:moveTo>
                <a:lnTo>
                  <a:pt x="7099" y="87531"/>
                </a:lnTo>
                <a:lnTo>
                  <a:pt x="26811" y="50919"/>
                </a:lnTo>
                <a:lnTo>
                  <a:pt x="56754" y="22584"/>
                </a:lnTo>
                <a:lnTo>
                  <a:pt x="94546" y="4895"/>
                </a:lnTo>
                <a:lnTo>
                  <a:pt x="2408936" y="0"/>
                </a:lnTo>
                <a:lnTo>
                  <a:pt x="2423616" y="817"/>
                </a:lnTo>
                <a:lnTo>
                  <a:pt x="2464424" y="12376"/>
                </a:lnTo>
                <a:lnTo>
                  <a:pt x="2498539" y="35751"/>
                </a:lnTo>
                <a:lnTo>
                  <a:pt x="2523589" y="68570"/>
                </a:lnTo>
                <a:lnTo>
                  <a:pt x="2537205" y="108464"/>
                </a:lnTo>
                <a:lnTo>
                  <a:pt x="2538984" y="1515871"/>
                </a:lnTo>
                <a:lnTo>
                  <a:pt x="2538166" y="1530552"/>
                </a:lnTo>
                <a:lnTo>
                  <a:pt x="2526607" y="1571360"/>
                </a:lnTo>
                <a:lnTo>
                  <a:pt x="2503232" y="1605475"/>
                </a:lnTo>
                <a:lnTo>
                  <a:pt x="2470413" y="1630525"/>
                </a:lnTo>
                <a:lnTo>
                  <a:pt x="2430519" y="1644141"/>
                </a:lnTo>
                <a:lnTo>
                  <a:pt x="130022" y="1645919"/>
                </a:lnTo>
                <a:lnTo>
                  <a:pt x="115354" y="1645102"/>
                </a:lnTo>
                <a:lnTo>
                  <a:pt x="74567" y="1633541"/>
                </a:lnTo>
                <a:lnTo>
                  <a:pt x="40454" y="1610162"/>
                </a:lnTo>
                <a:lnTo>
                  <a:pt x="15397" y="1577337"/>
                </a:lnTo>
                <a:lnTo>
                  <a:pt x="1777" y="1537437"/>
                </a:lnTo>
                <a:lnTo>
                  <a:pt x="0" y="130047"/>
                </a:lnTo>
                <a:close/>
              </a:path>
            </a:pathLst>
          </a:custGeom>
          <a:solidFill>
            <a:schemeClr val="accent1">
              <a:lumMod val="20000"/>
              <a:lumOff val="80000"/>
              <a:alpha val="49000"/>
            </a:schemeClr>
          </a:solidFill>
          <a:ln w="3175">
            <a:solidFill>
              <a:srgbClr val="A7A9A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sp>
        <p:nvSpPr>
          <p:cNvPr id="12" name="object 6">
            <a:extLst>
              <a:ext uri="{FF2B5EF4-FFF2-40B4-BE49-F238E27FC236}">
                <a16:creationId xmlns:a16="http://schemas.microsoft.com/office/drawing/2014/main" id="{B425E8B8-D50D-A69C-F41B-648E19907762}"/>
              </a:ext>
            </a:extLst>
          </p:cNvPr>
          <p:cNvSpPr txBox="1"/>
          <p:nvPr/>
        </p:nvSpPr>
        <p:spPr>
          <a:xfrm>
            <a:off x="571533" y="1718756"/>
            <a:ext cx="3385820" cy="215444"/>
          </a:xfrm>
          <a:prstGeom prst="rect">
            <a:avLst/>
          </a:prstGeom>
        </p:spPr>
        <p:txBody>
          <a:bodyPr vert="horz" wrap="square" lIns="0" tIns="0" rIns="0" bIns="0" rtlCol="0" anchor="t">
            <a:spAutoFit/>
          </a:bodyPr>
          <a:lstStyle/>
          <a:p>
            <a:pPr marL="16510" marR="635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13" normalizeH="0" baseline="0" noProof="0">
                <a:ln>
                  <a:noFill/>
                </a:ln>
                <a:effectLst/>
                <a:uLnTx/>
                <a:uFillTx/>
                <a:latin typeface="Ubuntu"/>
                <a:ea typeface="+mn-ea"/>
                <a:cs typeface="Arial"/>
              </a:rPr>
              <a:t>Bu</a:t>
            </a:r>
            <a:r>
              <a:rPr kumimoji="0" lang="en-IN" sz="1400" b="1" i="0" u="none" strike="noStrike" kern="1200" cap="none" spc="0" normalizeH="0" baseline="0" noProof="0">
                <a:ln>
                  <a:noFill/>
                </a:ln>
                <a:effectLst/>
                <a:uLnTx/>
                <a:uFillTx/>
                <a:latin typeface="Ubuntu"/>
                <a:ea typeface="+mn-ea"/>
                <a:cs typeface="Arial"/>
              </a:rPr>
              <a:t>si</a:t>
            </a:r>
            <a:r>
              <a:rPr kumimoji="0" lang="en-IN" sz="1400" b="1" i="0" u="none" strike="noStrike" kern="1200" cap="none" spc="-13" normalizeH="0" baseline="0" noProof="0">
                <a:ln>
                  <a:noFill/>
                </a:ln>
                <a:effectLst/>
                <a:uLnTx/>
                <a:uFillTx/>
                <a:latin typeface="Ubuntu"/>
                <a:ea typeface="+mn-ea"/>
                <a:cs typeface="Arial"/>
              </a:rPr>
              <a:t>n</a:t>
            </a:r>
            <a:r>
              <a:rPr kumimoji="0" lang="en-IN" sz="1400" b="1" i="0" u="none" strike="noStrike" kern="1200" cap="none" spc="0" normalizeH="0" baseline="0" noProof="0">
                <a:ln>
                  <a:noFill/>
                </a:ln>
                <a:effectLst/>
                <a:uLnTx/>
                <a:uFillTx/>
                <a:latin typeface="Ubuntu"/>
                <a:ea typeface="+mn-ea"/>
                <a:cs typeface="Arial"/>
              </a:rPr>
              <a:t>ess</a:t>
            </a:r>
            <a:r>
              <a:rPr kumimoji="0" lang="en-IN" sz="1400" b="1" i="0" u="none" strike="noStrike" kern="1200" cap="none" spc="-47" normalizeH="0" baseline="0" noProof="0">
                <a:ln>
                  <a:noFill/>
                </a:ln>
                <a:effectLst/>
                <a:uLnTx/>
                <a:uFillTx/>
                <a:latin typeface="Ubuntu"/>
                <a:ea typeface="+mn-ea"/>
                <a:cs typeface="Arial"/>
              </a:rPr>
              <a:t> </a:t>
            </a:r>
            <a:r>
              <a:rPr kumimoji="0" lang="en-IN" sz="1400" b="1" i="0" u="none" strike="noStrike" kern="1200" cap="none" spc="20" normalizeH="0" baseline="0" noProof="0">
                <a:ln>
                  <a:noFill/>
                </a:ln>
                <a:effectLst/>
                <a:uLnTx/>
                <a:uFillTx/>
                <a:latin typeface="Ubuntu"/>
                <a:ea typeface="+mn-ea"/>
                <a:cs typeface="Arial"/>
              </a:rPr>
              <a:t>M</a:t>
            </a:r>
            <a:r>
              <a:rPr kumimoji="0" lang="en-IN" sz="1400" b="1" i="0" u="none" strike="noStrike" kern="1200" cap="none" spc="-13" normalizeH="0" baseline="0" noProof="0">
                <a:ln>
                  <a:noFill/>
                </a:ln>
                <a:effectLst/>
                <a:uLnTx/>
                <a:uFillTx/>
                <a:latin typeface="Ubuntu"/>
                <a:ea typeface="+mn-ea"/>
                <a:cs typeface="Arial"/>
              </a:rPr>
              <a:t>od</a:t>
            </a:r>
            <a:r>
              <a:rPr kumimoji="0" lang="en-IN" sz="1400" b="1" i="0" u="none" strike="noStrike" kern="1200" cap="none" spc="0" normalizeH="0" baseline="0" noProof="0">
                <a:ln>
                  <a:noFill/>
                </a:ln>
                <a:effectLst/>
                <a:uLnTx/>
                <a:uFillTx/>
                <a:latin typeface="Ubuntu"/>
                <a:ea typeface="+mn-ea"/>
                <a:cs typeface="Arial"/>
              </a:rPr>
              <a:t>el </a:t>
            </a:r>
            <a:r>
              <a:rPr kumimoji="0" lang="en-IN" sz="1400" b="1" i="0" u="none" strike="noStrike" kern="1200" cap="none" spc="-13" normalizeH="0" baseline="0" noProof="0">
                <a:ln>
                  <a:noFill/>
                </a:ln>
                <a:effectLst/>
                <a:uLnTx/>
                <a:uFillTx/>
                <a:latin typeface="Ubuntu"/>
                <a:ea typeface="+mn-ea"/>
                <a:cs typeface="Arial"/>
              </a:rPr>
              <a:t>Co</a:t>
            </a:r>
            <a:r>
              <a:rPr kumimoji="0" lang="en-IN" sz="1400" b="1" i="0" u="none" strike="noStrike" kern="1200" cap="none" spc="0" normalizeH="0" baseline="0" noProof="0">
                <a:ln>
                  <a:noFill/>
                </a:ln>
                <a:effectLst/>
                <a:uLnTx/>
                <a:uFillTx/>
                <a:latin typeface="Ubuntu"/>
                <a:ea typeface="+mn-ea"/>
                <a:cs typeface="Arial"/>
              </a:rPr>
              <a:t>m</a:t>
            </a:r>
            <a:r>
              <a:rPr kumimoji="0" lang="en-IN" sz="1400" b="1" i="0" u="none" strike="noStrike" kern="1200" cap="none" spc="-13" normalizeH="0" baseline="0" noProof="0">
                <a:ln>
                  <a:noFill/>
                </a:ln>
                <a:effectLst/>
                <a:uLnTx/>
                <a:uFillTx/>
                <a:latin typeface="Ubuntu"/>
                <a:ea typeface="+mn-ea"/>
                <a:cs typeface="Arial"/>
              </a:rPr>
              <a:t>pon</a:t>
            </a:r>
            <a:r>
              <a:rPr kumimoji="0" lang="en-IN" sz="1400" b="1" i="0" u="none" strike="noStrike" kern="1200" cap="none" spc="0" normalizeH="0" baseline="0" noProof="0">
                <a:ln>
                  <a:noFill/>
                </a:ln>
                <a:effectLst/>
                <a:uLnTx/>
                <a:uFillTx/>
                <a:latin typeface="Ubuntu"/>
                <a:ea typeface="+mn-ea"/>
                <a:cs typeface="Arial"/>
              </a:rPr>
              <a:t>e</a:t>
            </a:r>
            <a:r>
              <a:rPr kumimoji="0" lang="en-IN" sz="1400" b="1" i="0" u="none" strike="noStrike" kern="1200" cap="none" spc="-13" normalizeH="0" baseline="0" noProof="0">
                <a:ln>
                  <a:noFill/>
                </a:ln>
                <a:effectLst/>
                <a:uLnTx/>
                <a:uFillTx/>
                <a:latin typeface="Ubuntu"/>
                <a:ea typeface="+mn-ea"/>
                <a:cs typeface="Arial"/>
              </a:rPr>
              <a:t>n</a:t>
            </a:r>
            <a:r>
              <a:rPr kumimoji="0" lang="en-IN" sz="1400" b="1" i="0" u="none" strike="noStrike" kern="1200" cap="none" spc="0" normalizeH="0" baseline="0" noProof="0">
                <a:ln>
                  <a:noFill/>
                </a:ln>
                <a:effectLst/>
                <a:uLnTx/>
                <a:uFillTx/>
                <a:latin typeface="Ubuntu"/>
                <a:ea typeface="+mn-ea"/>
                <a:cs typeface="Arial"/>
              </a:rPr>
              <a:t>ts</a:t>
            </a:r>
            <a:r>
              <a:rPr kumimoji="0" lang="en-IN" sz="1400" b="1" i="0" u="none" strike="noStrike" kern="1200" cap="none" spc="-27" normalizeH="0" baseline="0" noProof="0">
                <a:ln>
                  <a:noFill/>
                </a:ln>
                <a:effectLst/>
                <a:uLnTx/>
                <a:uFillTx/>
                <a:latin typeface="Ubuntu"/>
                <a:ea typeface="+mn-ea"/>
                <a:cs typeface="Arial"/>
              </a:rPr>
              <a:t> </a:t>
            </a:r>
            <a:r>
              <a:rPr kumimoji="0" lang="en-IN" sz="1400" b="1" i="0" u="none" strike="noStrike" kern="1200" cap="none" spc="-13" normalizeH="0" baseline="0" noProof="0">
                <a:ln>
                  <a:noFill/>
                </a:ln>
                <a:effectLst/>
                <a:uLnTx/>
                <a:uFillTx/>
                <a:latin typeface="Ubuntu"/>
                <a:ea typeface="+mn-ea"/>
                <a:cs typeface="Arial"/>
              </a:rPr>
              <a:t>Co</a:t>
            </a:r>
            <a:r>
              <a:rPr kumimoji="0" lang="en-IN" sz="1400" b="1" i="0" u="none" strike="noStrike" kern="1200" cap="none" spc="-20" normalizeH="0" baseline="0" noProof="0">
                <a:ln>
                  <a:noFill/>
                </a:ln>
                <a:effectLst/>
                <a:uLnTx/>
                <a:uFillTx/>
                <a:latin typeface="Ubuntu"/>
                <a:ea typeface="+mn-ea"/>
                <a:cs typeface="Arial"/>
              </a:rPr>
              <a:t>v</a:t>
            </a:r>
            <a:r>
              <a:rPr kumimoji="0" lang="en-IN" sz="1400" b="1" i="0" u="none" strike="noStrike" kern="1200" cap="none" spc="0" normalizeH="0" baseline="0" noProof="0">
                <a:ln>
                  <a:noFill/>
                </a:ln>
                <a:effectLst/>
                <a:uLnTx/>
                <a:uFillTx/>
                <a:latin typeface="Ubuntu"/>
                <a:ea typeface="+mn-ea"/>
                <a:cs typeface="Arial"/>
              </a:rPr>
              <a:t>era</a:t>
            </a:r>
            <a:r>
              <a:rPr kumimoji="0" lang="en-IN" sz="1400" b="1" i="0" u="none" strike="noStrike" kern="1200" cap="none" spc="-13" normalizeH="0" baseline="0" noProof="0">
                <a:ln>
                  <a:noFill/>
                </a:ln>
                <a:effectLst/>
                <a:uLnTx/>
                <a:uFillTx/>
                <a:latin typeface="Ubuntu"/>
                <a:ea typeface="+mn-ea"/>
                <a:cs typeface="Arial"/>
              </a:rPr>
              <a:t>g</a:t>
            </a:r>
            <a:r>
              <a:rPr kumimoji="0" lang="en-IN" sz="1400" b="1" i="0" u="none" strike="noStrike" kern="1200" cap="none" spc="0" normalizeH="0" baseline="0" noProof="0">
                <a:ln>
                  <a:noFill/>
                </a:ln>
                <a:effectLst/>
                <a:uLnTx/>
                <a:uFillTx/>
                <a:latin typeface="Ubuntu"/>
                <a:ea typeface="+mn-ea"/>
                <a:cs typeface="Arial"/>
              </a:rPr>
              <a:t>e</a:t>
            </a:r>
            <a:endParaRPr lang="en-IN" sz="1400" b="0" i="0" u="none" strike="noStrike" kern="1200" cap="none" spc="0" normalizeH="0" baseline="0" noProof="0">
              <a:ln>
                <a:noFill/>
              </a:ln>
              <a:effectLst/>
              <a:uLnTx/>
              <a:uFillTx/>
              <a:latin typeface="Ubuntu"/>
              <a:cs typeface="Arial"/>
            </a:endParaRPr>
          </a:p>
        </p:txBody>
      </p:sp>
      <p:sp>
        <p:nvSpPr>
          <p:cNvPr id="48" name="object 13">
            <a:extLst>
              <a:ext uri="{FF2B5EF4-FFF2-40B4-BE49-F238E27FC236}">
                <a16:creationId xmlns:a16="http://schemas.microsoft.com/office/drawing/2014/main" id="{0B8D6D33-08B7-2F26-45AC-858FDB4CE149}"/>
              </a:ext>
            </a:extLst>
          </p:cNvPr>
          <p:cNvSpPr txBox="1"/>
          <p:nvPr/>
        </p:nvSpPr>
        <p:spPr>
          <a:xfrm>
            <a:off x="550863" y="2042840"/>
            <a:ext cx="3497948" cy="846386"/>
          </a:xfrm>
          <a:prstGeom prst="rect">
            <a:avLst/>
          </a:prstGeom>
        </p:spPr>
        <p:txBody>
          <a:bodyPr vert="horz" wrap="square" lIns="0" tIns="0" rIns="0" bIns="0" rtlCol="0" anchor="t">
            <a:spAutoFit/>
          </a:bodyPr>
          <a:lstStyle/>
          <a:p>
            <a:pPr marL="321310" indent="-151765">
              <a:spcBef>
                <a:spcPts val="20"/>
              </a:spcBef>
              <a:buClr>
                <a:schemeClr val="tx1"/>
              </a:buClr>
              <a:buFont typeface="Arial,Sans-Serif"/>
              <a:buChar char="•"/>
              <a:tabLst>
                <a:tab pos="169329" algn="l"/>
              </a:tabLst>
              <a:defRPr/>
            </a:pPr>
            <a:r>
              <a:rPr lang="en-IN" sz="1100">
                <a:latin typeface="Ubuntu"/>
                <a:cs typeface="Arial"/>
              </a:rPr>
              <a:t>Wholesale</a:t>
            </a:r>
            <a:r>
              <a:rPr lang="en-IN" sz="1100">
                <a:cs typeface="Arial"/>
              </a:rPr>
              <a:t> customers &amp; </a:t>
            </a:r>
            <a:r>
              <a:rPr lang="en-IN" sz="1100">
                <a:latin typeface="Ubuntu"/>
                <a:cs typeface="Arial"/>
              </a:rPr>
              <a:t>journeys </a:t>
            </a:r>
            <a:endParaRPr lang="en-US" sz="1100">
              <a:cs typeface="Arial"/>
            </a:endParaRPr>
          </a:p>
          <a:p>
            <a:pPr marL="321310" indent="-151765">
              <a:spcBef>
                <a:spcPts val="20"/>
              </a:spcBef>
              <a:buClr>
                <a:schemeClr val="tx1"/>
              </a:buClr>
              <a:buFont typeface="Arial,Sans-Serif"/>
              <a:buChar char="•"/>
              <a:tabLst>
                <a:tab pos="169329" algn="l"/>
              </a:tabLst>
              <a:defRPr/>
            </a:pPr>
            <a:r>
              <a:rPr lang="en-IN" sz="1100">
                <a:cs typeface="Arial"/>
              </a:rPr>
              <a:t>Products </a:t>
            </a:r>
            <a:endParaRPr lang="en-US" sz="1100" b="0" i="0" u="none" strike="noStrike" kern="1200" cap="none" normalizeH="0" baseline="0" noProof="0">
              <a:ln>
                <a:noFill/>
              </a:ln>
              <a:effectLst/>
              <a:uLnTx/>
              <a:uFillTx/>
              <a:latin typeface="Ubuntu"/>
              <a:cs typeface="Arial"/>
            </a:endParaRPr>
          </a:p>
          <a:p>
            <a:pPr marL="321310" indent="-151765">
              <a:spcBef>
                <a:spcPts val="20"/>
              </a:spcBef>
              <a:buClr>
                <a:schemeClr val="tx1"/>
              </a:buClr>
              <a:buFont typeface="Arial,Sans-Serif"/>
              <a:buChar char="•"/>
              <a:tabLst>
                <a:tab pos="169329" algn="l"/>
              </a:tabLst>
              <a:defRPr/>
            </a:pPr>
            <a:r>
              <a:rPr lang="en-IN" sz="1100">
                <a:latin typeface="Ubuntu"/>
                <a:cs typeface="Arial"/>
              </a:rPr>
              <a:t>Channels</a:t>
            </a:r>
            <a:endParaRPr lang="en-US" sz="1100">
              <a:latin typeface="Ubuntu"/>
              <a:cs typeface="Arial"/>
            </a:endParaRPr>
          </a:p>
          <a:p>
            <a:pPr marL="321310" lvl="0" indent="-151765">
              <a:buClr>
                <a:schemeClr val="tx1"/>
              </a:buClr>
              <a:buFont typeface="Arial,Sans-Serif"/>
              <a:buChar char="•"/>
              <a:tabLst>
                <a:tab pos="169329" algn="l"/>
              </a:tabLst>
              <a:defRPr/>
            </a:pPr>
            <a:endParaRPr lang="en-IN" sz="1100">
              <a:latin typeface="Ubuntu"/>
              <a:cs typeface="Arial"/>
            </a:endParaRPr>
          </a:p>
          <a:p>
            <a:pPr marL="168910" lvl="0" indent="-151765">
              <a:buClr>
                <a:schemeClr val="tx1"/>
              </a:buClr>
              <a:buFont typeface="Arial"/>
              <a:buChar char="•"/>
              <a:tabLst>
                <a:tab pos="169329" algn="l"/>
              </a:tabLst>
              <a:defRPr/>
            </a:pPr>
            <a:endParaRPr lang="en-IN" sz="1100" b="0" i="0" u="none" strike="noStrike" kern="1200" cap="none" spc="0" normalizeH="0" baseline="0" noProof="0">
              <a:ln>
                <a:noFill/>
              </a:ln>
              <a:effectLst/>
              <a:uLnTx/>
              <a:uFillTx/>
              <a:latin typeface="Ubuntu"/>
              <a:cs typeface="Arial"/>
            </a:endParaRPr>
          </a:p>
        </p:txBody>
      </p:sp>
      <p:grpSp>
        <p:nvGrpSpPr>
          <p:cNvPr id="52" name="Group 51">
            <a:extLst>
              <a:ext uri="{FF2B5EF4-FFF2-40B4-BE49-F238E27FC236}">
                <a16:creationId xmlns:a16="http://schemas.microsoft.com/office/drawing/2014/main" id="{69310BBA-5FA6-D6AD-D8BD-0422D6286811}"/>
              </a:ext>
            </a:extLst>
          </p:cNvPr>
          <p:cNvGrpSpPr/>
          <p:nvPr/>
        </p:nvGrpSpPr>
        <p:grpSpPr>
          <a:xfrm>
            <a:off x="3988307" y="2413492"/>
            <a:ext cx="464929" cy="444035"/>
            <a:chOff x="3988307" y="2512348"/>
            <a:chExt cx="464929" cy="444035"/>
          </a:xfrm>
        </p:grpSpPr>
        <p:sp>
          <p:nvSpPr>
            <p:cNvPr id="20" name="object 14">
              <a:extLst>
                <a:ext uri="{FF2B5EF4-FFF2-40B4-BE49-F238E27FC236}">
                  <a16:creationId xmlns:a16="http://schemas.microsoft.com/office/drawing/2014/main" id="{E8F2D0B1-A73E-6500-7F57-0A07674538B4}"/>
                </a:ext>
              </a:extLst>
            </p:cNvPr>
            <p:cNvSpPr/>
            <p:nvPr/>
          </p:nvSpPr>
          <p:spPr>
            <a:xfrm>
              <a:off x="3988307" y="2512348"/>
              <a:ext cx="352082" cy="444035"/>
            </a:xfrm>
            <a:custGeom>
              <a:avLst/>
              <a:gdLst/>
              <a:ahLst/>
              <a:cxnLst/>
              <a:rect l="l" t="t" r="r" b="b"/>
              <a:pathLst>
                <a:path w="472439" h="489585">
                  <a:moveTo>
                    <a:pt x="0" y="0"/>
                  </a:moveTo>
                  <a:lnTo>
                    <a:pt x="0" y="489203"/>
                  </a:lnTo>
                  <a:lnTo>
                    <a:pt x="472440" y="244601"/>
                  </a:lnTo>
                  <a:lnTo>
                    <a:pt x="0"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600">
                <a:solidFill>
                  <a:schemeClr val="lt1"/>
                </a:solidFill>
              </a:endParaRPr>
            </a:p>
          </p:txBody>
        </p:sp>
        <p:sp>
          <p:nvSpPr>
            <p:cNvPr id="21" name="object 15">
              <a:extLst>
                <a:ext uri="{FF2B5EF4-FFF2-40B4-BE49-F238E27FC236}">
                  <a16:creationId xmlns:a16="http://schemas.microsoft.com/office/drawing/2014/main" id="{3DBA88B6-1090-3C36-1041-F6A89D8390FF}"/>
                </a:ext>
              </a:extLst>
            </p:cNvPr>
            <p:cNvSpPr/>
            <p:nvPr/>
          </p:nvSpPr>
          <p:spPr>
            <a:xfrm>
              <a:off x="4101153" y="2512348"/>
              <a:ext cx="352083" cy="444035"/>
            </a:xfrm>
            <a:custGeom>
              <a:avLst/>
              <a:gdLst/>
              <a:ahLst/>
              <a:cxnLst/>
              <a:rect l="l" t="t" r="r" b="b"/>
              <a:pathLst>
                <a:path w="472439" h="489585">
                  <a:moveTo>
                    <a:pt x="0" y="0"/>
                  </a:moveTo>
                  <a:lnTo>
                    <a:pt x="472440" y="244601"/>
                  </a:lnTo>
                  <a:lnTo>
                    <a:pt x="0" y="489203"/>
                  </a:lnTo>
                  <a:lnTo>
                    <a:pt x="0" y="0"/>
                  </a:lnTo>
                  <a:close/>
                </a:path>
              </a:pathLst>
            </a:custGeom>
            <a:solidFill>
              <a:schemeClr val="accent2"/>
            </a:solidFill>
            <a:ln w="3175">
              <a:solidFill>
                <a:srgbClr val="A7A9A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grpSp>
      <p:grpSp>
        <p:nvGrpSpPr>
          <p:cNvPr id="53" name="Group 52">
            <a:extLst>
              <a:ext uri="{FF2B5EF4-FFF2-40B4-BE49-F238E27FC236}">
                <a16:creationId xmlns:a16="http://schemas.microsoft.com/office/drawing/2014/main" id="{E7795EB6-A002-43E1-982E-CD7862C41A4E}"/>
              </a:ext>
            </a:extLst>
          </p:cNvPr>
          <p:cNvGrpSpPr/>
          <p:nvPr/>
        </p:nvGrpSpPr>
        <p:grpSpPr>
          <a:xfrm>
            <a:off x="7727001" y="2407152"/>
            <a:ext cx="464929" cy="444035"/>
            <a:chOff x="3988307" y="2512348"/>
            <a:chExt cx="464929" cy="444035"/>
          </a:xfrm>
        </p:grpSpPr>
        <p:sp>
          <p:nvSpPr>
            <p:cNvPr id="54" name="object 14">
              <a:extLst>
                <a:ext uri="{FF2B5EF4-FFF2-40B4-BE49-F238E27FC236}">
                  <a16:creationId xmlns:a16="http://schemas.microsoft.com/office/drawing/2014/main" id="{86DAF6D4-4E2C-C2A1-92F4-D37E82308EF0}"/>
                </a:ext>
              </a:extLst>
            </p:cNvPr>
            <p:cNvSpPr/>
            <p:nvPr/>
          </p:nvSpPr>
          <p:spPr>
            <a:xfrm>
              <a:off x="3988307" y="2512348"/>
              <a:ext cx="352082" cy="444035"/>
            </a:xfrm>
            <a:custGeom>
              <a:avLst/>
              <a:gdLst/>
              <a:ahLst/>
              <a:cxnLst/>
              <a:rect l="l" t="t" r="r" b="b"/>
              <a:pathLst>
                <a:path w="472439" h="489585">
                  <a:moveTo>
                    <a:pt x="0" y="0"/>
                  </a:moveTo>
                  <a:lnTo>
                    <a:pt x="0" y="489203"/>
                  </a:lnTo>
                  <a:lnTo>
                    <a:pt x="472440" y="244601"/>
                  </a:lnTo>
                  <a:lnTo>
                    <a:pt x="0"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600">
                <a:solidFill>
                  <a:schemeClr val="lt1"/>
                </a:solidFill>
              </a:endParaRPr>
            </a:p>
          </p:txBody>
        </p:sp>
        <p:sp>
          <p:nvSpPr>
            <p:cNvPr id="55" name="object 15">
              <a:extLst>
                <a:ext uri="{FF2B5EF4-FFF2-40B4-BE49-F238E27FC236}">
                  <a16:creationId xmlns:a16="http://schemas.microsoft.com/office/drawing/2014/main" id="{67236E3A-FBAC-FC96-0615-440BF60D722B}"/>
                </a:ext>
              </a:extLst>
            </p:cNvPr>
            <p:cNvSpPr/>
            <p:nvPr/>
          </p:nvSpPr>
          <p:spPr>
            <a:xfrm>
              <a:off x="4101153" y="2512348"/>
              <a:ext cx="352083" cy="444035"/>
            </a:xfrm>
            <a:custGeom>
              <a:avLst/>
              <a:gdLst/>
              <a:ahLst/>
              <a:cxnLst/>
              <a:rect l="l" t="t" r="r" b="b"/>
              <a:pathLst>
                <a:path w="472439" h="489585">
                  <a:moveTo>
                    <a:pt x="0" y="0"/>
                  </a:moveTo>
                  <a:lnTo>
                    <a:pt x="472440" y="244601"/>
                  </a:lnTo>
                  <a:lnTo>
                    <a:pt x="0" y="489203"/>
                  </a:lnTo>
                  <a:lnTo>
                    <a:pt x="0" y="0"/>
                  </a:lnTo>
                  <a:close/>
                </a:path>
              </a:pathLst>
            </a:custGeom>
            <a:solidFill>
              <a:schemeClr val="accent2"/>
            </a:solidFill>
            <a:ln w="3175">
              <a:solidFill>
                <a:srgbClr val="A7A9A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grpSp>
      <p:pic>
        <p:nvPicPr>
          <p:cNvPr id="23" name="Graphic 22" descr="Gears with solid fill">
            <a:extLst>
              <a:ext uri="{FF2B5EF4-FFF2-40B4-BE49-F238E27FC236}">
                <a16:creationId xmlns:a16="http://schemas.microsoft.com/office/drawing/2014/main" id="{D1958593-4ECE-7195-4A09-2AD8308EAD8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686474" y="5859483"/>
            <a:ext cx="540000" cy="540000"/>
          </a:xfrm>
          <a:prstGeom prst="rect">
            <a:avLst/>
          </a:prstGeom>
        </p:spPr>
      </p:pic>
      <p:pic>
        <p:nvPicPr>
          <p:cNvPr id="58" name="Graphic 57" descr="Presentation with org chart with solid fill">
            <a:extLst>
              <a:ext uri="{FF2B5EF4-FFF2-40B4-BE49-F238E27FC236}">
                <a16:creationId xmlns:a16="http://schemas.microsoft.com/office/drawing/2014/main" id="{2656AB1B-A938-03BB-8471-68611176FC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8098" y="5833693"/>
            <a:ext cx="540000" cy="540000"/>
          </a:xfrm>
          <a:prstGeom prst="rect">
            <a:avLst/>
          </a:prstGeom>
        </p:spPr>
      </p:pic>
      <p:pic>
        <p:nvPicPr>
          <p:cNvPr id="60" name="Graphic 59" descr="Boardroom with solid fill">
            <a:extLst>
              <a:ext uri="{FF2B5EF4-FFF2-40B4-BE49-F238E27FC236}">
                <a16:creationId xmlns:a16="http://schemas.microsoft.com/office/drawing/2014/main" id="{E35C91A2-D0B2-45DE-FF14-E65E122936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41778" y="5876454"/>
            <a:ext cx="540000" cy="540000"/>
          </a:xfrm>
          <a:prstGeom prst="rect">
            <a:avLst/>
          </a:prstGeom>
        </p:spPr>
      </p:pic>
      <p:pic>
        <p:nvPicPr>
          <p:cNvPr id="3" name="Picture 2">
            <a:extLst>
              <a:ext uri="{FF2B5EF4-FFF2-40B4-BE49-F238E27FC236}">
                <a16:creationId xmlns:a16="http://schemas.microsoft.com/office/drawing/2014/main" id="{3CE82FF8-6EBC-732A-95E9-3ED2950B3A35}"/>
              </a:ext>
            </a:extLst>
          </p:cNvPr>
          <p:cNvPicPr>
            <a:picLocks noChangeAspect="1"/>
          </p:cNvPicPr>
          <p:nvPr/>
        </p:nvPicPr>
        <p:blipFill>
          <a:blip r:embed="rId5"/>
          <a:stretch>
            <a:fillRect/>
          </a:stretch>
        </p:blipFill>
        <p:spPr>
          <a:xfrm>
            <a:off x="10595509" y="0"/>
            <a:ext cx="1237002" cy="696510"/>
          </a:xfrm>
          <a:prstGeom prst="rect">
            <a:avLst/>
          </a:prstGeom>
        </p:spPr>
      </p:pic>
      <p:sp>
        <p:nvSpPr>
          <p:cNvPr id="4" name="TextBox 3">
            <a:extLst>
              <a:ext uri="{FF2B5EF4-FFF2-40B4-BE49-F238E27FC236}">
                <a16:creationId xmlns:a16="http://schemas.microsoft.com/office/drawing/2014/main" id="{81CF9045-BCC3-9024-08BB-11539CF9EFBE}"/>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5" name="Date Placeholder 5">
            <a:extLst>
              <a:ext uri="{FF2B5EF4-FFF2-40B4-BE49-F238E27FC236}">
                <a16:creationId xmlns:a16="http://schemas.microsoft.com/office/drawing/2014/main" id="{2D1113AE-48AA-CEAB-AA8B-F172FE4D9863}"/>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6" name="Date Placeholder 5">
            <a:extLst>
              <a:ext uri="{FF2B5EF4-FFF2-40B4-BE49-F238E27FC236}">
                <a16:creationId xmlns:a16="http://schemas.microsoft.com/office/drawing/2014/main" id="{61D02804-A570-A25D-95AB-79C19D058A2E}"/>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14</a:t>
            </a:r>
          </a:p>
        </p:txBody>
      </p:sp>
    </p:spTree>
    <p:extLst>
      <p:ext uri="{BB962C8B-B14F-4D97-AF65-F5344CB8AC3E}">
        <p14:creationId xmlns:p14="http://schemas.microsoft.com/office/powerpoint/2010/main" val="2838609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Object 50" hidden="1">
            <a:extLst>
              <a:ext uri="{FF2B5EF4-FFF2-40B4-BE49-F238E27FC236}">
                <a16:creationId xmlns:a16="http://schemas.microsoft.com/office/drawing/2014/main" id="{D3A5E10A-4585-465C-B074-D7166082C77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51" name="Object 50" hidden="1">
                        <a:extLst>
                          <a:ext uri="{FF2B5EF4-FFF2-40B4-BE49-F238E27FC236}">
                            <a16:creationId xmlns:a16="http://schemas.microsoft.com/office/drawing/2014/main" id="{D3A5E10A-4585-465C-B074-D7166082C77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3BD6145-7FBB-4516-867C-812BF2A0D7E3}"/>
              </a:ext>
            </a:extLst>
          </p:cNvPr>
          <p:cNvSpPr>
            <a:spLocks noGrp="1"/>
          </p:cNvSpPr>
          <p:nvPr>
            <p:ph type="title"/>
          </p:nvPr>
        </p:nvSpPr>
        <p:spPr>
          <a:xfrm>
            <a:off x="543711" y="261613"/>
            <a:ext cx="10209170" cy="715962"/>
          </a:xfrm>
        </p:spPr>
        <p:txBody>
          <a:bodyPr vert="horz"/>
          <a:lstStyle/>
          <a:p>
            <a:r>
              <a:rPr lang="en-US" sz="2400"/>
              <a:t>Capgemini offers a unique set of assets &amp; capabilities to support the end to end development of innovative &amp; high value use cases</a:t>
            </a:r>
          </a:p>
        </p:txBody>
      </p:sp>
      <p:pic>
        <p:nvPicPr>
          <p:cNvPr id="5" name="Picture 4">
            <a:extLst>
              <a:ext uri="{FF2B5EF4-FFF2-40B4-BE49-F238E27FC236}">
                <a16:creationId xmlns:a16="http://schemas.microsoft.com/office/drawing/2014/main" id="{B46BD65E-3A9A-4F5D-A10F-441C60A55D43}"/>
              </a:ext>
            </a:extLst>
          </p:cNvPr>
          <p:cNvPicPr>
            <a:picLocks noChangeAspect="1"/>
          </p:cNvPicPr>
          <p:nvPr/>
        </p:nvPicPr>
        <p:blipFill>
          <a:blip r:embed="rId6">
            <a:extLst>
              <a:ext uri="{BEBA8EAE-BF5A-486C-A8C5-ECC9F3942E4B}">
                <a14:imgProps xmlns:a14="http://schemas.microsoft.com/office/drawing/2010/main">
                  <a14:imgLayer r:embed="rId7">
                    <a14:imgEffect>
                      <a14:colorTemperature colorTemp="4700"/>
                    </a14:imgEffect>
                  </a14:imgLayer>
                </a14:imgProps>
              </a:ext>
            </a:extLst>
          </a:blip>
          <a:stretch>
            <a:fillRect/>
          </a:stretch>
        </p:blipFill>
        <p:spPr>
          <a:xfrm>
            <a:off x="4786829" y="2661045"/>
            <a:ext cx="4614587" cy="1371719"/>
          </a:xfrm>
          <a:prstGeom prst="rect">
            <a:avLst/>
          </a:prstGeom>
          <a:solidFill>
            <a:srgbClr val="272936"/>
          </a:solidFill>
        </p:spPr>
      </p:pic>
      <p:sp>
        <p:nvSpPr>
          <p:cNvPr id="6" name="Arrow: Pentagon 5">
            <a:extLst>
              <a:ext uri="{FF2B5EF4-FFF2-40B4-BE49-F238E27FC236}">
                <a16:creationId xmlns:a16="http://schemas.microsoft.com/office/drawing/2014/main" id="{0104BFBE-9AD1-49E6-8BED-3DCABEA3DF53}"/>
              </a:ext>
            </a:extLst>
          </p:cNvPr>
          <p:cNvSpPr/>
          <p:nvPr/>
        </p:nvSpPr>
        <p:spPr>
          <a:xfrm>
            <a:off x="7290761" y="3023231"/>
            <a:ext cx="1171568" cy="512365"/>
          </a:xfrm>
          <a:prstGeom prst="homePlate">
            <a:avLst/>
          </a:prstGeom>
          <a:solidFill>
            <a:srgbClr val="272936"/>
          </a:solid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Ubuntu"/>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ysClr val="windowText" lastClr="000000"/>
              </a:solidFill>
              <a:effectLst/>
              <a:uLnTx/>
              <a:uFillTx/>
              <a:latin typeface="Ubuntu"/>
              <a:ea typeface="+mn-ea"/>
              <a:cs typeface="+mn-cs"/>
            </a:endParaRPr>
          </a:p>
        </p:txBody>
      </p:sp>
      <p:sp>
        <p:nvSpPr>
          <p:cNvPr id="7" name="Arrow: Pentagon 6">
            <a:extLst>
              <a:ext uri="{FF2B5EF4-FFF2-40B4-BE49-F238E27FC236}">
                <a16:creationId xmlns:a16="http://schemas.microsoft.com/office/drawing/2014/main" id="{F1E02E9E-E219-49F2-940C-D5365859EE7B}"/>
              </a:ext>
            </a:extLst>
          </p:cNvPr>
          <p:cNvSpPr/>
          <p:nvPr/>
        </p:nvSpPr>
        <p:spPr>
          <a:xfrm>
            <a:off x="404813" y="1752698"/>
            <a:ext cx="4309388" cy="259573"/>
          </a:xfrm>
          <a:prstGeom prst="homePlate">
            <a:avLst/>
          </a:prstGeom>
          <a:gradFill flip="none" rotWithShape="1">
            <a:gsLst>
              <a:gs pos="0">
                <a:schemeClr val="accent2"/>
              </a:gs>
              <a:gs pos="100000">
                <a:schemeClr val="accent1"/>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1 | Use cases ideation &amp; prioritization</a:t>
            </a:r>
          </a:p>
        </p:txBody>
      </p:sp>
      <p:sp>
        <p:nvSpPr>
          <p:cNvPr id="8" name="Arrow: Chevron 7">
            <a:extLst>
              <a:ext uri="{FF2B5EF4-FFF2-40B4-BE49-F238E27FC236}">
                <a16:creationId xmlns:a16="http://schemas.microsoft.com/office/drawing/2014/main" id="{068F0BB7-FC95-4A0A-8432-A7B71AE8DEF6}"/>
              </a:ext>
            </a:extLst>
          </p:cNvPr>
          <p:cNvSpPr/>
          <p:nvPr/>
        </p:nvSpPr>
        <p:spPr>
          <a:xfrm>
            <a:off x="4675415" y="1752698"/>
            <a:ext cx="5148000" cy="259573"/>
          </a:xfrm>
          <a:prstGeom prst="chevron">
            <a:avLst/>
          </a:prstGeom>
          <a:gradFill flip="none" rotWithShape="1">
            <a:gsLst>
              <a:gs pos="0">
                <a:schemeClr val="accent1"/>
              </a:gs>
              <a:gs pos="100000">
                <a:srgbClr val="00BFBF"/>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2 | Development &amp; test</a:t>
            </a:r>
          </a:p>
        </p:txBody>
      </p:sp>
      <p:sp>
        <p:nvSpPr>
          <p:cNvPr id="9" name="Arrow: Chevron 8">
            <a:extLst>
              <a:ext uri="{FF2B5EF4-FFF2-40B4-BE49-F238E27FC236}">
                <a16:creationId xmlns:a16="http://schemas.microsoft.com/office/drawing/2014/main" id="{AA608F0A-D555-47F8-85DE-86EB81710264}"/>
              </a:ext>
            </a:extLst>
          </p:cNvPr>
          <p:cNvSpPr/>
          <p:nvPr/>
        </p:nvSpPr>
        <p:spPr>
          <a:xfrm>
            <a:off x="9773748" y="1752698"/>
            <a:ext cx="2010265" cy="259573"/>
          </a:xfrm>
          <a:prstGeom prst="chevron">
            <a:avLst/>
          </a:prstGeom>
          <a:gradFill flip="none" rotWithShape="1">
            <a:gsLst>
              <a:gs pos="0">
                <a:srgbClr val="00BFBF"/>
              </a:gs>
              <a:gs pos="100000">
                <a:srgbClr val="33B569"/>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3 | Scale-up</a:t>
            </a:r>
          </a:p>
        </p:txBody>
      </p:sp>
      <p:grpSp>
        <p:nvGrpSpPr>
          <p:cNvPr id="10" name="Group 9">
            <a:extLst>
              <a:ext uri="{FF2B5EF4-FFF2-40B4-BE49-F238E27FC236}">
                <a16:creationId xmlns:a16="http://schemas.microsoft.com/office/drawing/2014/main" id="{A7EA9AD5-381D-47E5-8F93-8D77A0FE24CD}"/>
              </a:ext>
            </a:extLst>
          </p:cNvPr>
          <p:cNvGrpSpPr/>
          <p:nvPr/>
        </p:nvGrpSpPr>
        <p:grpSpPr>
          <a:xfrm>
            <a:off x="208596" y="2168470"/>
            <a:ext cx="4547756" cy="2294820"/>
            <a:chOff x="208596" y="2876172"/>
            <a:chExt cx="4547756" cy="1567392"/>
          </a:xfrm>
        </p:grpSpPr>
        <p:sp>
          <p:nvSpPr>
            <p:cNvPr id="11" name="Rectangle: Rounded Corners 10">
              <a:extLst>
                <a:ext uri="{FF2B5EF4-FFF2-40B4-BE49-F238E27FC236}">
                  <a16:creationId xmlns:a16="http://schemas.microsoft.com/office/drawing/2014/main" id="{F2D05F17-BF4C-45AA-91AD-BE9DA894E292}"/>
                </a:ext>
              </a:extLst>
            </p:cNvPr>
            <p:cNvSpPr/>
            <p:nvPr/>
          </p:nvSpPr>
          <p:spPr>
            <a:xfrm rot="16200000">
              <a:off x="1703693" y="3542043"/>
              <a:ext cx="1567392" cy="235649"/>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Use cases portfolio</a:t>
              </a:r>
            </a:p>
          </p:txBody>
        </p:sp>
        <p:sp>
          <p:nvSpPr>
            <p:cNvPr id="12" name="Flowchart: Manual Operation 11">
              <a:extLst>
                <a:ext uri="{FF2B5EF4-FFF2-40B4-BE49-F238E27FC236}">
                  <a16:creationId xmlns:a16="http://schemas.microsoft.com/office/drawing/2014/main" id="{E1E1A0F1-5920-4250-B161-5C6B2539C7D3}"/>
                </a:ext>
              </a:extLst>
            </p:cNvPr>
            <p:cNvSpPr/>
            <p:nvPr/>
          </p:nvSpPr>
          <p:spPr>
            <a:xfrm rot="16200000" flipV="1">
              <a:off x="1090096" y="3187701"/>
              <a:ext cx="341109" cy="2104109"/>
            </a:xfrm>
            <a:prstGeom prst="flowChartManualOperation">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36576" tIns="91440" rIns="36000" bIns="9144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fr-FR" sz="1000" b="1"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Discovery &amp; Ideation</a:t>
              </a:r>
            </a:p>
            <a:p>
              <a:pPr marL="114300" marR="0" lvl="0" indent="-114300" algn="l" defTabSz="914400" rtl="0" eaLnBrk="1" fontAlgn="auto" latinLnBrk="0" hangingPunct="1">
                <a:lnSpc>
                  <a:spcPct val="100000"/>
                </a:lnSpc>
                <a:spcBef>
                  <a:spcPts val="0"/>
                </a:spcBef>
                <a:spcAft>
                  <a:spcPts val="400"/>
                </a:spcAft>
                <a:buClrTx/>
                <a:buSzTx/>
                <a:buFont typeface="Wingdings" panose="05000000000000000000" pitchFamily="2" charset="2"/>
                <a:buChar char="§"/>
                <a:tabLst/>
                <a:defRPr/>
              </a:pPr>
              <a:r>
                <a:rPr kumimoji="0" lang="fr-FR" sz="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Process/</a:t>
              </a:r>
              <a:r>
                <a:rPr kumimoji="0" lang="fr-FR" sz="800" b="0" i="0" u="none" strike="noStrike" kern="1200" cap="none" spc="0" normalizeH="0" baseline="0" noProof="0" err="1">
                  <a:ln>
                    <a:noFill/>
                  </a:ln>
                  <a:solidFill>
                    <a:srgbClr val="FFFFFF"/>
                  </a:solidFill>
                  <a:effectLst/>
                  <a:uLnTx/>
                  <a:uFillTx/>
                  <a:latin typeface="Ubuntu Light" panose="020B0304030602030204" pitchFamily="34" charset="0"/>
                  <a:ea typeface="+mn-ea"/>
                  <a:cs typeface="+mn-cs"/>
                </a:rPr>
                <a:t>domain</a:t>
              </a:r>
              <a:r>
                <a:rPr kumimoji="0" lang="fr-FR" sz="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 </a:t>
              </a:r>
              <a:r>
                <a:rPr kumimoji="0" lang="fr-FR" sz="800" b="0" i="0" u="none" strike="noStrike" kern="1200" cap="none" spc="0" normalizeH="0" baseline="0" noProof="0" err="1">
                  <a:ln>
                    <a:noFill/>
                  </a:ln>
                  <a:solidFill>
                    <a:srgbClr val="FFFFFF"/>
                  </a:solidFill>
                  <a:effectLst/>
                  <a:uLnTx/>
                  <a:uFillTx/>
                  <a:latin typeface="Ubuntu Light" panose="020B0304030602030204" pitchFamily="34" charset="0"/>
                  <a:ea typeface="+mn-ea"/>
                  <a:cs typeface="+mn-cs"/>
                </a:rPr>
                <a:t>analysis</a:t>
              </a:r>
              <a:r>
                <a:rPr kumimoji="0" lang="fr-FR" sz="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 pain points &amp; transformation </a:t>
              </a:r>
              <a:r>
                <a:rPr kumimoji="0" lang="fr-FR" sz="800" b="0" i="0" u="none" strike="noStrike" kern="1200" cap="none" spc="0" normalizeH="0" baseline="0" noProof="0" err="1">
                  <a:ln>
                    <a:noFill/>
                  </a:ln>
                  <a:solidFill>
                    <a:srgbClr val="FFFFFF"/>
                  </a:solidFill>
                  <a:effectLst/>
                  <a:uLnTx/>
                  <a:uFillTx/>
                  <a:latin typeface="Ubuntu Light" panose="020B0304030602030204" pitchFamily="34" charset="0"/>
                  <a:ea typeface="+mn-ea"/>
                  <a:cs typeface="+mn-cs"/>
                </a:rPr>
                <a:t>priorities</a:t>
              </a:r>
              <a:endParaRPr kumimoji="0" lang="fr-FR" sz="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a:p>
              <a:pPr marL="114300" marR="0" lvl="0" indent="-114300" algn="l" defTabSz="914400" rtl="0" eaLnBrk="1" fontAlgn="auto" latinLnBrk="0" hangingPunct="1">
                <a:lnSpc>
                  <a:spcPct val="100000"/>
                </a:lnSpc>
                <a:spcBef>
                  <a:spcPts val="0"/>
                </a:spcBef>
                <a:spcAft>
                  <a:spcPts val="400"/>
                </a:spcAft>
                <a:buClrTx/>
                <a:buSzTx/>
                <a:buFont typeface="Wingdings" panose="05000000000000000000" pitchFamily="2" charset="2"/>
                <a:buChar char="§"/>
                <a:tabLst/>
                <a:defRPr/>
              </a:pPr>
              <a:r>
                <a:rPr kumimoji="0" lang="fr-FR" sz="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Design </a:t>
              </a:r>
              <a:r>
                <a:rPr kumimoji="0" lang="fr-FR" sz="800" b="0" i="0" u="none" strike="noStrike" kern="1200" cap="none" spc="0" normalizeH="0" baseline="0" noProof="0" err="1">
                  <a:ln>
                    <a:noFill/>
                  </a:ln>
                  <a:solidFill>
                    <a:srgbClr val="FFFFFF"/>
                  </a:solidFill>
                  <a:effectLst/>
                  <a:uLnTx/>
                  <a:uFillTx/>
                  <a:latin typeface="Ubuntu Light" panose="020B0304030602030204" pitchFamily="34" charset="0"/>
                  <a:ea typeface="+mn-ea"/>
                  <a:cs typeface="+mn-cs"/>
                </a:rPr>
                <a:t>thinking</a:t>
              </a:r>
              <a:r>
                <a:rPr kumimoji="0" lang="fr-FR" sz="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 workshops/</a:t>
              </a:r>
              <a:br>
                <a:rPr kumimoji="0" lang="fr-FR" sz="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br>
              <a:r>
                <a:rPr kumimoji="0" lang="fr-FR" sz="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in situ observation</a:t>
              </a:r>
            </a:p>
            <a:p>
              <a:pPr marL="114300" marR="0" lvl="0" indent="-114300" algn="l" defTabSz="914400" rtl="0" eaLnBrk="1" fontAlgn="auto" latinLnBrk="0" hangingPunct="1">
                <a:lnSpc>
                  <a:spcPct val="100000"/>
                </a:lnSpc>
                <a:spcBef>
                  <a:spcPts val="0"/>
                </a:spcBef>
                <a:spcAft>
                  <a:spcPts val="400"/>
                </a:spcAft>
                <a:buClrTx/>
                <a:buSzTx/>
                <a:buFont typeface="Wingdings" panose="05000000000000000000" pitchFamily="2" charset="2"/>
                <a:buChar char="§"/>
                <a:tabLst/>
                <a:defRPr/>
              </a:pPr>
              <a:r>
                <a:rPr kumimoji="0" lang="fr-FR" sz="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Benchmarks</a:t>
              </a:r>
            </a:p>
            <a:p>
              <a:pPr marL="114300" marR="0" lvl="0" indent="-114300" algn="l" defTabSz="914400" rtl="0" eaLnBrk="1" fontAlgn="auto" latinLnBrk="0" hangingPunct="1">
                <a:lnSpc>
                  <a:spcPct val="100000"/>
                </a:lnSpc>
                <a:spcBef>
                  <a:spcPts val="0"/>
                </a:spcBef>
                <a:spcAft>
                  <a:spcPts val="400"/>
                </a:spcAft>
                <a:buClrTx/>
                <a:buSzTx/>
                <a:buFont typeface="Wingdings" panose="05000000000000000000" pitchFamily="2" charset="2"/>
                <a:buChar char="§"/>
                <a:tabLst/>
                <a:defRPr/>
              </a:pPr>
              <a:r>
                <a:rPr kumimoji="0" lang="fr-FR" sz="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Identification of </a:t>
              </a:r>
              <a:r>
                <a:rPr kumimoji="0" lang="fr-FR" sz="800" b="0" i="0" u="none" strike="noStrike" kern="1200" cap="none" spc="0" normalizeH="0" baseline="0" noProof="0" err="1">
                  <a:ln>
                    <a:noFill/>
                  </a:ln>
                  <a:solidFill>
                    <a:srgbClr val="FFFFFF"/>
                  </a:solidFill>
                  <a:effectLst/>
                  <a:uLnTx/>
                  <a:uFillTx/>
                  <a:latin typeface="Ubuntu Light" panose="020B0304030602030204" pitchFamily="34" charset="0"/>
                  <a:ea typeface="+mn-ea"/>
                  <a:cs typeface="+mn-cs"/>
                </a:rPr>
                <a:t>opportunity</a:t>
              </a:r>
              <a:r>
                <a:rPr kumimoji="0" lang="fr-FR" sz="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 </a:t>
              </a:r>
              <a:r>
                <a:rPr kumimoji="0" lang="fr-FR" sz="800" b="0" i="0" u="none" strike="noStrike" kern="1200" cap="none" spc="0" normalizeH="0" baseline="0" noProof="0" err="1">
                  <a:ln>
                    <a:noFill/>
                  </a:ln>
                  <a:solidFill>
                    <a:srgbClr val="FFFFFF"/>
                  </a:solidFill>
                  <a:effectLst/>
                  <a:uLnTx/>
                  <a:uFillTx/>
                  <a:latin typeface="Ubuntu Light" panose="020B0304030602030204" pitchFamily="34" charset="0"/>
                  <a:ea typeface="+mn-ea"/>
                  <a:cs typeface="+mn-cs"/>
                </a:rPr>
                <a:t>territories</a:t>
              </a:r>
              <a:endParaRPr kumimoji="0" lang="fr-FR" sz="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a:p>
              <a:pPr marL="114300" marR="0" lvl="0" indent="-114300" algn="l" defTabSz="914400" rtl="0" eaLnBrk="1" fontAlgn="auto" latinLnBrk="0" hangingPunct="1">
                <a:lnSpc>
                  <a:spcPct val="100000"/>
                </a:lnSpc>
                <a:spcBef>
                  <a:spcPts val="0"/>
                </a:spcBef>
                <a:spcAft>
                  <a:spcPts val="400"/>
                </a:spcAft>
                <a:buClrTx/>
                <a:buSzTx/>
                <a:buFont typeface="Wingdings" panose="05000000000000000000" pitchFamily="2" charset="2"/>
                <a:buChar char="§"/>
                <a:tabLst/>
                <a:defRPr/>
              </a:pPr>
              <a:r>
                <a:rPr kumimoji="0" lang="fr-FR" sz="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Use cases collection &amp; ideation</a:t>
              </a:r>
            </a:p>
          </p:txBody>
        </p:sp>
        <p:sp>
          <p:nvSpPr>
            <p:cNvPr id="13" name="Flowchart: Manual Operation 12">
              <a:extLst>
                <a:ext uri="{FF2B5EF4-FFF2-40B4-BE49-F238E27FC236}">
                  <a16:creationId xmlns:a16="http://schemas.microsoft.com/office/drawing/2014/main" id="{9DD27481-6FD1-4D5A-ACE6-438031757C20}"/>
                </a:ext>
              </a:extLst>
            </p:cNvPr>
            <p:cNvSpPr/>
            <p:nvPr/>
          </p:nvSpPr>
          <p:spPr>
            <a:xfrm rot="5400000" flipH="1" flipV="1">
              <a:off x="2781723" y="2756521"/>
              <a:ext cx="1567392" cy="1806694"/>
            </a:xfrm>
            <a:prstGeom prst="flowChartManualOperation">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 lIns="36000" tIns="91440" rIns="3600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err="1">
                  <a:ln>
                    <a:noFill/>
                  </a:ln>
                  <a:solidFill>
                    <a:srgbClr val="FFFFFF"/>
                  </a:solidFill>
                  <a:effectLst/>
                  <a:uLnTx/>
                  <a:uFillTx/>
                  <a:latin typeface="Ubuntu"/>
                  <a:ea typeface="+mn-ea"/>
                  <a:cs typeface="+mn-cs"/>
                </a:rPr>
                <a:t>Priorization</a:t>
              </a:r>
              <a:r>
                <a:rPr kumimoji="0" lang="fr-FR" sz="1000" b="1" i="0" u="none" strike="noStrike" kern="1200" cap="none" spc="0" normalizeH="0" baseline="0" noProof="0">
                  <a:ln>
                    <a:noFill/>
                  </a:ln>
                  <a:solidFill>
                    <a:srgbClr val="FFFFFF"/>
                  </a:solidFill>
                  <a:effectLst/>
                  <a:uLnTx/>
                  <a:uFillTx/>
                  <a:latin typeface="Ubuntu"/>
                  <a:ea typeface="+mn-ea"/>
                  <a:cs typeface="+mn-cs"/>
                </a:rPr>
                <a:t> &amp; roadmap</a:t>
              </a:r>
            </a:p>
          </p:txBody>
        </p:sp>
        <p:sp>
          <p:nvSpPr>
            <p:cNvPr id="14" name="Rectangle: Rounded Corners 13">
              <a:extLst>
                <a:ext uri="{FF2B5EF4-FFF2-40B4-BE49-F238E27FC236}">
                  <a16:creationId xmlns:a16="http://schemas.microsoft.com/office/drawing/2014/main" id="{23C73FFA-108B-4366-A1C2-74B02703052F}"/>
                </a:ext>
              </a:extLst>
            </p:cNvPr>
            <p:cNvSpPr/>
            <p:nvPr/>
          </p:nvSpPr>
          <p:spPr>
            <a:xfrm rot="16200000">
              <a:off x="4119682" y="3542848"/>
              <a:ext cx="1037692" cy="23564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Use Cases prioritise</a:t>
              </a:r>
            </a:p>
          </p:txBody>
        </p:sp>
      </p:grpSp>
      <p:sp>
        <p:nvSpPr>
          <p:cNvPr id="16" name="Arrow: Pentagon 15">
            <a:extLst>
              <a:ext uri="{FF2B5EF4-FFF2-40B4-BE49-F238E27FC236}">
                <a16:creationId xmlns:a16="http://schemas.microsoft.com/office/drawing/2014/main" id="{223E279A-1F89-4E8C-935F-0E19687E02DA}"/>
              </a:ext>
            </a:extLst>
          </p:cNvPr>
          <p:cNvSpPr/>
          <p:nvPr/>
        </p:nvSpPr>
        <p:spPr>
          <a:xfrm>
            <a:off x="6683133" y="3023231"/>
            <a:ext cx="810174" cy="512365"/>
          </a:xfrm>
          <a:prstGeom prst="homePlate">
            <a:avLst/>
          </a:prstGeom>
          <a:solidFill>
            <a:srgbClr val="27293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FFFFFF"/>
              </a:solidFill>
              <a:effectLst/>
              <a:uLnTx/>
              <a:uFillTx/>
              <a:latin typeface="Ubuntu"/>
              <a:ea typeface="+mn-ea"/>
              <a:cs typeface="+mn-cs"/>
            </a:endParaRPr>
          </a:p>
        </p:txBody>
      </p:sp>
      <p:sp>
        <p:nvSpPr>
          <p:cNvPr id="17" name="Arrow: Pentagon 16">
            <a:extLst>
              <a:ext uri="{FF2B5EF4-FFF2-40B4-BE49-F238E27FC236}">
                <a16:creationId xmlns:a16="http://schemas.microsoft.com/office/drawing/2014/main" id="{A3B0153E-5B63-4609-8F3A-BFEA39B34496}"/>
              </a:ext>
            </a:extLst>
          </p:cNvPr>
          <p:cNvSpPr/>
          <p:nvPr/>
        </p:nvSpPr>
        <p:spPr>
          <a:xfrm>
            <a:off x="6075504" y="3023231"/>
            <a:ext cx="810174" cy="512365"/>
          </a:xfrm>
          <a:prstGeom prst="homePlate">
            <a:avLst/>
          </a:prstGeom>
          <a:solidFill>
            <a:srgbClr val="27293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FFFFFF"/>
              </a:solidFill>
              <a:effectLst/>
              <a:uLnTx/>
              <a:uFillTx/>
              <a:latin typeface="Ubuntu"/>
              <a:ea typeface="+mn-ea"/>
              <a:cs typeface="+mn-cs"/>
            </a:endParaRPr>
          </a:p>
        </p:txBody>
      </p:sp>
      <p:sp>
        <p:nvSpPr>
          <p:cNvPr id="18" name="Arrow: Pentagon 17">
            <a:extLst>
              <a:ext uri="{FF2B5EF4-FFF2-40B4-BE49-F238E27FC236}">
                <a16:creationId xmlns:a16="http://schemas.microsoft.com/office/drawing/2014/main" id="{C7D7F669-1252-4DF5-88C4-A82362E588B1}"/>
              </a:ext>
            </a:extLst>
          </p:cNvPr>
          <p:cNvSpPr/>
          <p:nvPr/>
        </p:nvSpPr>
        <p:spPr>
          <a:xfrm>
            <a:off x="5467875" y="3023231"/>
            <a:ext cx="810174" cy="512365"/>
          </a:xfrm>
          <a:prstGeom prst="homePlate">
            <a:avLst/>
          </a:prstGeom>
          <a:solidFill>
            <a:srgbClr val="27293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FFFFFF"/>
              </a:solidFill>
              <a:effectLst/>
              <a:uLnTx/>
              <a:uFillTx/>
              <a:latin typeface="Ubuntu"/>
              <a:ea typeface="+mn-ea"/>
              <a:cs typeface="+mn-cs"/>
            </a:endParaRPr>
          </a:p>
        </p:txBody>
      </p:sp>
      <p:sp>
        <p:nvSpPr>
          <p:cNvPr id="19" name="Arrow: Pentagon 18">
            <a:extLst>
              <a:ext uri="{FF2B5EF4-FFF2-40B4-BE49-F238E27FC236}">
                <a16:creationId xmlns:a16="http://schemas.microsoft.com/office/drawing/2014/main" id="{22FB8383-8180-4FE0-97CA-1D77EAC401C6}"/>
              </a:ext>
            </a:extLst>
          </p:cNvPr>
          <p:cNvSpPr/>
          <p:nvPr/>
        </p:nvSpPr>
        <p:spPr>
          <a:xfrm>
            <a:off x="4860246" y="3023231"/>
            <a:ext cx="810174" cy="512365"/>
          </a:xfrm>
          <a:prstGeom prst="homePlate">
            <a:avLst/>
          </a:prstGeom>
          <a:solidFill>
            <a:srgbClr val="27293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FFFFFF"/>
              </a:solidFill>
              <a:effectLst/>
              <a:uLnTx/>
              <a:uFillTx/>
              <a:latin typeface="Ubuntu"/>
              <a:ea typeface="+mn-ea"/>
              <a:cs typeface="+mn-cs"/>
            </a:endParaRPr>
          </a:p>
        </p:txBody>
      </p:sp>
      <p:pic>
        <p:nvPicPr>
          <p:cNvPr id="20" name="Picture 19">
            <a:extLst>
              <a:ext uri="{FF2B5EF4-FFF2-40B4-BE49-F238E27FC236}">
                <a16:creationId xmlns:a16="http://schemas.microsoft.com/office/drawing/2014/main" id="{98F5A1B8-5982-4298-8CD6-F0345E22A904}"/>
              </a:ext>
            </a:extLst>
          </p:cNvPr>
          <p:cNvPicPr>
            <a:picLocks noChangeAspect="1"/>
          </p:cNvPicPr>
          <p:nvPr/>
        </p:nvPicPr>
        <p:blipFill>
          <a:blip r:embed="rId8">
            <a:lum bright="70000" contrast="-70000"/>
            <a:extLst>
              <a:ext uri="{BEBA8EAE-BF5A-486C-A8C5-ECC9F3942E4B}">
                <a14:imgProps xmlns:a14="http://schemas.microsoft.com/office/drawing/2010/main">
                  <a14:imgLayer r:embed="rId9">
                    <a14:imgEffect>
                      <a14:artisticPhotocopy/>
                    </a14:imgEffect>
                  </a14:imgLayer>
                </a14:imgProps>
              </a:ext>
            </a:extLst>
          </a:blip>
          <a:stretch>
            <a:fillRect/>
          </a:stretch>
        </p:blipFill>
        <p:spPr>
          <a:xfrm>
            <a:off x="5043510" y="3371731"/>
            <a:ext cx="128350" cy="132016"/>
          </a:xfrm>
          <a:prstGeom prst="rect">
            <a:avLst/>
          </a:prstGeom>
        </p:spPr>
      </p:pic>
      <p:pic>
        <p:nvPicPr>
          <p:cNvPr id="21" name="Picture 20">
            <a:extLst>
              <a:ext uri="{FF2B5EF4-FFF2-40B4-BE49-F238E27FC236}">
                <a16:creationId xmlns:a16="http://schemas.microsoft.com/office/drawing/2014/main" id="{39CC7C45-1755-4805-8460-611B43240A8F}"/>
              </a:ext>
            </a:extLst>
          </p:cNvPr>
          <p:cNvPicPr>
            <a:picLocks noChangeAspect="1"/>
          </p:cNvPicPr>
          <p:nvPr/>
        </p:nvPicPr>
        <p:blipFill>
          <a:blip r:embed="rId10">
            <a:lum bright="70000" contrast="-70000"/>
          </a:blip>
          <a:stretch>
            <a:fillRect/>
          </a:stretch>
        </p:blipFill>
        <p:spPr>
          <a:xfrm>
            <a:off x="5770914" y="3371731"/>
            <a:ext cx="128350" cy="132016"/>
          </a:xfrm>
          <a:prstGeom prst="rect">
            <a:avLst/>
          </a:prstGeom>
        </p:spPr>
      </p:pic>
      <p:pic>
        <p:nvPicPr>
          <p:cNvPr id="22" name="Picture 21">
            <a:extLst>
              <a:ext uri="{FF2B5EF4-FFF2-40B4-BE49-F238E27FC236}">
                <a16:creationId xmlns:a16="http://schemas.microsoft.com/office/drawing/2014/main" id="{48B414AF-8281-408D-8840-06805EF51AE1}"/>
              </a:ext>
            </a:extLst>
          </p:cNvPr>
          <p:cNvPicPr>
            <a:picLocks noChangeAspect="1"/>
          </p:cNvPicPr>
          <p:nvPr/>
        </p:nvPicPr>
        <p:blipFill>
          <a:blip r:embed="rId10">
            <a:lum bright="70000" contrast="-70000"/>
          </a:blip>
          <a:stretch>
            <a:fillRect/>
          </a:stretch>
        </p:blipFill>
        <p:spPr>
          <a:xfrm>
            <a:off x="6491618" y="3371731"/>
            <a:ext cx="128350" cy="132016"/>
          </a:xfrm>
          <a:prstGeom prst="rect">
            <a:avLst/>
          </a:prstGeom>
        </p:spPr>
      </p:pic>
      <p:sp>
        <p:nvSpPr>
          <p:cNvPr id="23" name="TextBox 22">
            <a:extLst>
              <a:ext uri="{FF2B5EF4-FFF2-40B4-BE49-F238E27FC236}">
                <a16:creationId xmlns:a16="http://schemas.microsoft.com/office/drawing/2014/main" id="{DED2D476-1AF0-4011-84AF-5B15542B0523}"/>
              </a:ext>
            </a:extLst>
          </p:cNvPr>
          <p:cNvSpPr txBox="1"/>
          <p:nvPr/>
        </p:nvSpPr>
        <p:spPr>
          <a:xfrm>
            <a:off x="4966966" y="3068796"/>
            <a:ext cx="2137638" cy="256480"/>
          </a:xfrm>
          <a:prstGeom prst="rect">
            <a:avLst/>
          </a:prstGeom>
          <a:solidFill>
            <a:srgbClr val="272936"/>
          </a:solidFill>
        </p:spPr>
        <p:txBody>
          <a:bodyPr wrap="square" lIns="91440" tIns="0" rIns="0" bIns="0" rtlCol="0" anchor="ctr">
            <a:spAutoFit/>
          </a:bodyPr>
          <a:lstStyle/>
          <a:p>
            <a:pPr marL="0" marR="0" lvl="0" indent="0" algn="l" defTabSz="914400" rtl="0" eaLnBrk="1" fontAlgn="auto" latinLnBrk="0" hangingPunct="1">
              <a:lnSpc>
                <a:spcPts val="1000"/>
              </a:lnSpc>
              <a:spcBef>
                <a:spcPts val="0"/>
              </a:spcBef>
              <a:spcAft>
                <a:spcPts val="0"/>
              </a:spcAft>
              <a:buClrTx/>
              <a:buSzTx/>
              <a:buFontTx/>
              <a:buNone/>
              <a:tabLst/>
              <a:defRPr/>
            </a:pPr>
            <a:r>
              <a:rPr kumimoji="0" lang="fr-FR" sz="1000" b="0" i="0" u="none" strike="noStrike" kern="1200" cap="none" spc="0" normalizeH="0" baseline="0" noProof="0" err="1">
                <a:ln>
                  <a:noFill/>
                </a:ln>
                <a:solidFill>
                  <a:srgbClr val="FFFFFF"/>
                </a:solidFill>
                <a:effectLst/>
                <a:uLnTx/>
                <a:uFillTx/>
                <a:latin typeface="Ubuntu"/>
                <a:ea typeface="+mn-ea"/>
                <a:cs typeface="+mn-cs"/>
              </a:rPr>
              <a:t>Solutioning</a:t>
            </a:r>
            <a:r>
              <a:rPr kumimoji="0" lang="fr-FR" sz="1000" b="0" i="0" u="none" strike="noStrike" kern="1200" cap="none" spc="0" normalizeH="0" baseline="0" noProof="0">
                <a:ln>
                  <a:noFill/>
                </a:ln>
                <a:solidFill>
                  <a:srgbClr val="FFFFFF"/>
                </a:solidFill>
                <a:effectLst/>
                <a:uLnTx/>
                <a:uFillTx/>
                <a:latin typeface="Ubuntu"/>
                <a:ea typeface="+mn-ea"/>
                <a:cs typeface="+mn-cs"/>
              </a:rPr>
              <a:t>, </a:t>
            </a:r>
            <a:r>
              <a:rPr kumimoji="0" lang="fr-FR" sz="1000" b="0" i="0" u="none" strike="noStrike" kern="1200" cap="none" spc="0" normalizeH="0" baseline="0" noProof="0" err="1">
                <a:ln>
                  <a:noFill/>
                </a:ln>
                <a:solidFill>
                  <a:srgbClr val="FFFFFF"/>
                </a:solidFill>
                <a:effectLst/>
                <a:uLnTx/>
                <a:uFillTx/>
                <a:latin typeface="Ubuntu"/>
                <a:ea typeface="+mn-ea"/>
                <a:cs typeface="+mn-cs"/>
              </a:rPr>
              <a:t>partners</a:t>
            </a:r>
            <a:r>
              <a:rPr kumimoji="0" lang="fr-FR" sz="1000" b="0" i="0" u="none" strike="noStrike" kern="1200" cap="none" spc="0" normalizeH="0" baseline="0" noProof="0">
                <a:ln>
                  <a:noFill/>
                </a:ln>
                <a:solidFill>
                  <a:srgbClr val="FFFFFF"/>
                </a:solidFill>
                <a:effectLst/>
                <a:uLnTx/>
                <a:uFillTx/>
                <a:latin typeface="Ubuntu"/>
                <a:ea typeface="+mn-ea"/>
                <a:cs typeface="+mn-cs"/>
              </a:rPr>
              <a:t> </a:t>
            </a:r>
            <a:r>
              <a:rPr kumimoji="0" lang="fr-FR" sz="1000" b="0" i="0" u="none" strike="noStrike" kern="1200" cap="none" spc="0" normalizeH="0" baseline="0" noProof="0" err="1">
                <a:ln>
                  <a:noFill/>
                </a:ln>
                <a:solidFill>
                  <a:srgbClr val="FFFFFF"/>
                </a:solidFill>
                <a:effectLst/>
                <a:uLnTx/>
                <a:uFillTx/>
                <a:latin typeface="Ubuntu"/>
                <a:ea typeface="+mn-ea"/>
                <a:cs typeface="+mn-cs"/>
              </a:rPr>
              <a:t>selection</a:t>
            </a:r>
            <a:r>
              <a:rPr kumimoji="0" lang="fr-FR" sz="1000" b="0" i="0" u="none" strike="noStrike" kern="1200" cap="none" spc="0" normalizeH="0" baseline="0" noProof="0">
                <a:ln>
                  <a:noFill/>
                </a:ln>
                <a:solidFill>
                  <a:srgbClr val="FFFFFF"/>
                </a:solidFill>
                <a:effectLst/>
                <a:uLnTx/>
                <a:uFillTx/>
                <a:latin typeface="Ubuntu"/>
                <a:ea typeface="+mn-ea"/>
                <a:cs typeface="+mn-cs"/>
              </a:rPr>
              <a:t>, development, </a:t>
            </a:r>
            <a:r>
              <a:rPr kumimoji="0" lang="fr-FR" sz="1000" b="0" i="0" u="none" strike="noStrike" kern="1200" cap="none" spc="0" normalizeH="0" baseline="0" noProof="0" err="1">
                <a:ln>
                  <a:noFill/>
                </a:ln>
                <a:solidFill>
                  <a:srgbClr val="FFFFFF"/>
                </a:solidFill>
                <a:effectLst/>
                <a:uLnTx/>
                <a:uFillTx/>
                <a:latin typeface="Ubuntu"/>
                <a:ea typeface="+mn-ea"/>
                <a:cs typeface="+mn-cs"/>
              </a:rPr>
              <a:t>integration</a:t>
            </a:r>
            <a:endParaRPr kumimoji="0" lang="fr-FR" sz="1000" b="0" i="0" u="none" strike="noStrike" kern="1200" cap="none" spc="0" normalizeH="0" baseline="0" noProof="0">
              <a:ln>
                <a:noFill/>
              </a:ln>
              <a:solidFill>
                <a:srgbClr val="FFFFFF"/>
              </a:solidFill>
              <a:effectLst/>
              <a:uLnTx/>
              <a:uFillTx/>
              <a:latin typeface="Ubuntu"/>
              <a:ea typeface="+mn-ea"/>
              <a:cs typeface="+mn-cs"/>
            </a:endParaRPr>
          </a:p>
        </p:txBody>
      </p:sp>
      <p:pic>
        <p:nvPicPr>
          <p:cNvPr id="24" name="Picture 23">
            <a:extLst>
              <a:ext uri="{FF2B5EF4-FFF2-40B4-BE49-F238E27FC236}">
                <a16:creationId xmlns:a16="http://schemas.microsoft.com/office/drawing/2014/main" id="{2D1BD2CA-EAFE-44C4-802F-1276DD83ECEB}"/>
              </a:ext>
            </a:extLst>
          </p:cNvPr>
          <p:cNvPicPr>
            <a:picLocks noChangeAspect="1"/>
          </p:cNvPicPr>
          <p:nvPr/>
        </p:nvPicPr>
        <p:blipFill>
          <a:blip r:embed="rId10">
            <a:lum bright="70000" contrast="-70000"/>
          </a:blip>
          <a:stretch>
            <a:fillRect/>
          </a:stretch>
        </p:blipFill>
        <p:spPr>
          <a:xfrm>
            <a:off x="7137418" y="3371731"/>
            <a:ext cx="128350" cy="132016"/>
          </a:xfrm>
          <a:prstGeom prst="rect">
            <a:avLst/>
          </a:prstGeom>
        </p:spPr>
      </p:pic>
      <p:sp>
        <p:nvSpPr>
          <p:cNvPr id="25" name="Arrow: Pentagon 24">
            <a:extLst>
              <a:ext uri="{FF2B5EF4-FFF2-40B4-BE49-F238E27FC236}">
                <a16:creationId xmlns:a16="http://schemas.microsoft.com/office/drawing/2014/main" id="{950FAF6A-5B9E-4A1D-B662-4633A5094D2D}"/>
              </a:ext>
            </a:extLst>
          </p:cNvPr>
          <p:cNvSpPr/>
          <p:nvPr/>
        </p:nvSpPr>
        <p:spPr>
          <a:xfrm>
            <a:off x="6180135" y="3635613"/>
            <a:ext cx="3095073" cy="180000"/>
          </a:xfrm>
          <a:prstGeom prst="homePlate">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MVP </a:t>
            </a:r>
            <a:r>
              <a:rPr kumimoji="0" lang="fr-FR" sz="1000" b="1" i="0" u="none" strike="noStrike" kern="1200" cap="none" spc="0" normalizeH="0" baseline="0" noProof="0" err="1">
                <a:ln>
                  <a:noFill/>
                </a:ln>
                <a:solidFill>
                  <a:srgbClr val="FFFFFF"/>
                </a:solidFill>
                <a:effectLst/>
                <a:uLnTx/>
                <a:uFillTx/>
                <a:latin typeface="Ubuntu Light" panose="020B0304030602030204" pitchFamily="34" charset="0"/>
                <a:ea typeface="+mn-ea"/>
                <a:cs typeface="+mn-cs"/>
              </a:rPr>
              <a:t>testing</a:t>
            </a:r>
            <a:endParaRPr kumimoji="0" lang="fr-FR" sz="100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pic>
        <p:nvPicPr>
          <p:cNvPr id="26" name="Picture 25">
            <a:extLst>
              <a:ext uri="{FF2B5EF4-FFF2-40B4-BE49-F238E27FC236}">
                <a16:creationId xmlns:a16="http://schemas.microsoft.com/office/drawing/2014/main" id="{CC74F114-BFC4-4995-B527-89B8574CFD4B}"/>
              </a:ext>
            </a:extLst>
          </p:cNvPr>
          <p:cNvPicPr>
            <a:picLocks noChangeAspect="1"/>
          </p:cNvPicPr>
          <p:nvPr/>
        </p:nvPicPr>
        <p:blipFill>
          <a:blip r:embed="rId10">
            <a:lum bright="70000" contrast="-70000"/>
          </a:blip>
          <a:stretch>
            <a:fillRect/>
          </a:stretch>
        </p:blipFill>
        <p:spPr>
          <a:xfrm>
            <a:off x="7727729" y="3371731"/>
            <a:ext cx="128350" cy="132016"/>
          </a:xfrm>
          <a:prstGeom prst="rect">
            <a:avLst/>
          </a:prstGeom>
        </p:spPr>
      </p:pic>
      <p:sp>
        <p:nvSpPr>
          <p:cNvPr id="27" name="Arrow: Pentagon 26">
            <a:extLst>
              <a:ext uri="{FF2B5EF4-FFF2-40B4-BE49-F238E27FC236}">
                <a16:creationId xmlns:a16="http://schemas.microsoft.com/office/drawing/2014/main" id="{622E40FD-FF6C-4921-8924-0ACA336BCBFD}"/>
              </a:ext>
            </a:extLst>
          </p:cNvPr>
          <p:cNvSpPr/>
          <p:nvPr/>
        </p:nvSpPr>
        <p:spPr>
          <a:xfrm>
            <a:off x="8489446" y="3023231"/>
            <a:ext cx="785762" cy="512365"/>
          </a:xfrm>
          <a:prstGeom prst="homePlate">
            <a:avLst>
              <a:gd name="adj" fmla="val 33565"/>
            </a:avLst>
          </a:prstGeom>
          <a:solidFill>
            <a:srgbClr val="27293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err="1">
                <a:ln>
                  <a:noFill/>
                </a:ln>
                <a:solidFill>
                  <a:srgbClr val="FFFFFF"/>
                </a:solidFill>
                <a:effectLst/>
                <a:uLnTx/>
                <a:uFillTx/>
                <a:latin typeface="Ubuntu"/>
                <a:ea typeface="+mn-ea"/>
                <a:cs typeface="+mn-cs"/>
              </a:rPr>
              <a:t>Lessons</a:t>
            </a:r>
            <a:r>
              <a:rPr kumimoji="0" lang="fr-FR" sz="1100" b="0" i="0" u="none" strike="noStrike" kern="1200" cap="none" spc="0" normalizeH="0" baseline="0" noProof="0">
                <a:ln>
                  <a:noFill/>
                </a:ln>
                <a:solidFill>
                  <a:srgbClr val="FFFFFF"/>
                </a:solidFill>
                <a:effectLst/>
                <a:uLnTx/>
                <a:uFillTx/>
                <a:latin typeface="Ubuntu"/>
                <a:ea typeface="+mn-ea"/>
                <a:cs typeface="+mn-cs"/>
              </a:rPr>
              <a:t> </a:t>
            </a:r>
            <a:r>
              <a:rPr kumimoji="0" lang="fr-FR" sz="1100" b="0" i="0" u="none" strike="noStrike" kern="1200" cap="none" spc="0" normalizeH="0" baseline="0" noProof="0" err="1">
                <a:ln>
                  <a:noFill/>
                </a:ln>
                <a:solidFill>
                  <a:srgbClr val="FFFFFF"/>
                </a:solidFill>
                <a:effectLst/>
                <a:uLnTx/>
                <a:uFillTx/>
                <a:latin typeface="Ubuntu"/>
                <a:ea typeface="+mn-ea"/>
                <a:cs typeface="+mn-cs"/>
              </a:rPr>
              <a:t>learnt</a:t>
            </a:r>
            <a:endParaRPr kumimoji="0" lang="fr-FR" sz="900" b="0" i="0" u="none" strike="noStrike" kern="1200" cap="none" spc="0" normalizeH="0" baseline="0" noProof="0">
              <a:ln>
                <a:noFill/>
              </a:ln>
              <a:solidFill>
                <a:srgbClr val="FFFFFF"/>
              </a:solidFill>
              <a:effectLst/>
              <a:uLnTx/>
              <a:uFillTx/>
              <a:latin typeface="Ubuntu"/>
              <a:ea typeface="+mn-ea"/>
              <a:cs typeface="+mn-cs"/>
            </a:endParaRPr>
          </a:p>
        </p:txBody>
      </p:sp>
      <p:sp>
        <p:nvSpPr>
          <p:cNvPr id="28" name="Arrow: Pentagon 27">
            <a:extLst>
              <a:ext uri="{FF2B5EF4-FFF2-40B4-BE49-F238E27FC236}">
                <a16:creationId xmlns:a16="http://schemas.microsoft.com/office/drawing/2014/main" id="{7D0644D4-7EB8-49FE-B0D2-D48E91D3F6B0}"/>
              </a:ext>
            </a:extLst>
          </p:cNvPr>
          <p:cNvSpPr/>
          <p:nvPr/>
        </p:nvSpPr>
        <p:spPr>
          <a:xfrm>
            <a:off x="9749824" y="2880945"/>
            <a:ext cx="2034189" cy="955301"/>
          </a:xfrm>
          <a:prstGeom prst="homePlate">
            <a:avLst>
              <a:gd name="adj" fmla="val 21961"/>
            </a:avLst>
          </a:prstGeom>
          <a:solidFill>
            <a:srgbClr val="27293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Ubuntu"/>
                <a:ea typeface="+mn-ea"/>
                <a:cs typeface="+mn-cs"/>
              </a:rPr>
              <a:t>Scale-up</a:t>
            </a:r>
          </a:p>
        </p:txBody>
      </p:sp>
      <p:sp>
        <p:nvSpPr>
          <p:cNvPr id="29" name="TextBox 28">
            <a:extLst>
              <a:ext uri="{FF2B5EF4-FFF2-40B4-BE49-F238E27FC236}">
                <a16:creationId xmlns:a16="http://schemas.microsoft.com/office/drawing/2014/main" id="{533CC2E1-9027-4465-835D-2DDEAB85C4E5}"/>
              </a:ext>
            </a:extLst>
          </p:cNvPr>
          <p:cNvSpPr txBox="1"/>
          <p:nvPr/>
        </p:nvSpPr>
        <p:spPr>
          <a:xfrm>
            <a:off x="4860246" y="2788612"/>
            <a:ext cx="2123979"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Use cases development – </a:t>
            </a:r>
            <a:r>
              <a:rPr kumimoji="0" lang="fr-FR" sz="1100" b="1" i="0" u="none" strike="noStrike" kern="1200" cap="none" spc="0" normalizeH="0" baseline="0" noProof="0" err="1">
                <a:ln>
                  <a:noFill/>
                </a:ln>
                <a:solidFill>
                  <a:srgbClr val="FFFFFF"/>
                </a:solidFill>
                <a:effectLst/>
                <a:uLnTx/>
                <a:uFillTx/>
                <a:latin typeface="Ubuntu Light" panose="020B0304030602030204" pitchFamily="34" charset="0"/>
                <a:ea typeface="+mn-ea"/>
                <a:cs typeface="+mn-cs"/>
              </a:rPr>
              <a:t>wave</a:t>
            </a:r>
            <a:r>
              <a:rPr kumimoji="0" lang="fr-FR" sz="1100" b="1"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 1</a:t>
            </a:r>
          </a:p>
        </p:txBody>
      </p:sp>
      <p:sp>
        <p:nvSpPr>
          <p:cNvPr id="30" name="Arrow: Pentagon 29">
            <a:extLst>
              <a:ext uri="{FF2B5EF4-FFF2-40B4-BE49-F238E27FC236}">
                <a16:creationId xmlns:a16="http://schemas.microsoft.com/office/drawing/2014/main" id="{49626287-31F7-4EBC-9D51-32B9325643F8}"/>
              </a:ext>
            </a:extLst>
          </p:cNvPr>
          <p:cNvSpPr/>
          <p:nvPr/>
        </p:nvSpPr>
        <p:spPr>
          <a:xfrm>
            <a:off x="9823415" y="3206442"/>
            <a:ext cx="1620000" cy="349855"/>
          </a:xfrm>
          <a:prstGeom prst="homePlate">
            <a:avLst>
              <a:gd name="adj" fmla="val 33565"/>
            </a:avLst>
          </a:prstGeom>
          <a:solidFill>
            <a:srgbClr val="27293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Upgrades, </a:t>
            </a:r>
            <a:r>
              <a:rPr kumimoji="0" lang="fr-FR" sz="900" b="0" i="0" u="none" strike="noStrike" kern="1200" cap="none" spc="0" normalizeH="0" baseline="0" noProof="0" err="1">
                <a:ln>
                  <a:noFill/>
                </a:ln>
                <a:solidFill>
                  <a:srgbClr val="FFFFFF"/>
                </a:solidFill>
                <a:effectLst/>
                <a:uLnTx/>
                <a:uFillTx/>
                <a:latin typeface="Ubuntu Light" panose="020B0304030602030204" pitchFamily="34" charset="0"/>
                <a:ea typeface="+mn-ea"/>
                <a:cs typeface="+mn-cs"/>
              </a:rPr>
              <a:t>implementation</a:t>
            </a:r>
            <a:r>
              <a:rPr kumimoji="0" lang="fr-FR" sz="9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 &amp; change management</a:t>
            </a:r>
          </a:p>
        </p:txBody>
      </p:sp>
      <p:sp>
        <p:nvSpPr>
          <p:cNvPr id="31" name="Arrow: Pentagon 30">
            <a:extLst>
              <a:ext uri="{FF2B5EF4-FFF2-40B4-BE49-F238E27FC236}">
                <a16:creationId xmlns:a16="http://schemas.microsoft.com/office/drawing/2014/main" id="{A221A33B-325C-4A3F-9E85-49B737211F82}"/>
              </a:ext>
            </a:extLst>
          </p:cNvPr>
          <p:cNvSpPr/>
          <p:nvPr/>
        </p:nvSpPr>
        <p:spPr>
          <a:xfrm>
            <a:off x="9823415" y="3608492"/>
            <a:ext cx="1736125" cy="180000"/>
          </a:xfrm>
          <a:prstGeom prst="homePlate">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Ubuntu"/>
                <a:ea typeface="+mn-ea"/>
                <a:cs typeface="+mn-cs"/>
              </a:rPr>
              <a:t>Roll-out</a:t>
            </a:r>
          </a:p>
        </p:txBody>
      </p:sp>
      <p:grpSp>
        <p:nvGrpSpPr>
          <p:cNvPr id="32" name="Group 31">
            <a:extLst>
              <a:ext uri="{FF2B5EF4-FFF2-40B4-BE49-F238E27FC236}">
                <a16:creationId xmlns:a16="http://schemas.microsoft.com/office/drawing/2014/main" id="{DCCCD7BC-E6E0-415A-A5DD-E702E6B1A9FC}"/>
              </a:ext>
            </a:extLst>
          </p:cNvPr>
          <p:cNvGrpSpPr/>
          <p:nvPr/>
        </p:nvGrpSpPr>
        <p:grpSpPr>
          <a:xfrm>
            <a:off x="6075515" y="4034456"/>
            <a:ext cx="5708498" cy="385050"/>
            <a:chOff x="6096051" y="4645640"/>
            <a:chExt cx="5708498" cy="385050"/>
          </a:xfrm>
        </p:grpSpPr>
        <p:sp>
          <p:nvSpPr>
            <p:cNvPr id="33" name="Rectangle 32">
              <a:extLst>
                <a:ext uri="{FF2B5EF4-FFF2-40B4-BE49-F238E27FC236}">
                  <a16:creationId xmlns:a16="http://schemas.microsoft.com/office/drawing/2014/main" id="{C8258149-D887-4FBA-A496-833C5DF3B7EB}"/>
                </a:ext>
              </a:extLst>
            </p:cNvPr>
            <p:cNvSpPr/>
            <p:nvPr/>
          </p:nvSpPr>
          <p:spPr>
            <a:xfrm>
              <a:off x="6096051" y="4645640"/>
              <a:ext cx="5698336" cy="385050"/>
            </a:xfrm>
            <a:prstGeom prst="rect">
              <a:avLst/>
            </a:prstGeom>
            <a:solidFill>
              <a:srgbClr val="27293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34" name="TextBox 33">
              <a:extLst>
                <a:ext uri="{FF2B5EF4-FFF2-40B4-BE49-F238E27FC236}">
                  <a16:creationId xmlns:a16="http://schemas.microsoft.com/office/drawing/2014/main" id="{8899DA16-CED6-4CE6-93EB-30461349B4E9}"/>
                </a:ext>
              </a:extLst>
            </p:cNvPr>
            <p:cNvSpPr txBox="1"/>
            <p:nvPr/>
          </p:nvSpPr>
          <p:spPr>
            <a:xfrm>
              <a:off x="6188262" y="4877462"/>
              <a:ext cx="1769715" cy="128240"/>
            </a:xfrm>
            <a:prstGeom prst="rect">
              <a:avLst/>
            </a:prstGeom>
            <a:noFill/>
          </p:spPr>
          <p:txBody>
            <a:bodyPr wrap="none" lIns="0" tIns="0" rIns="0" bIns="0" rtlCol="0" anchor="ctr">
              <a:spAutoFit/>
            </a:bodyPr>
            <a:lstStyle/>
            <a:p>
              <a:pPr marL="0" marR="0" lvl="0" indent="0" algn="l" defTabSz="914400" rtl="0" eaLnBrk="1" fontAlgn="auto" latinLnBrk="0" hangingPunct="1">
                <a:lnSpc>
                  <a:spcPts val="1000"/>
                </a:lnSpc>
                <a:spcBef>
                  <a:spcPts val="0"/>
                </a:spcBef>
                <a:spcAft>
                  <a:spcPts val="0"/>
                </a:spcAft>
                <a:buClrTx/>
                <a:buSzTx/>
                <a:buFontTx/>
                <a:buNone/>
                <a:tabLst/>
                <a:defRPr/>
              </a:pPr>
              <a:r>
                <a:rPr kumimoji="0" lang="fr-FR" sz="900" b="0" i="0" u="none" strike="noStrike" kern="1200" cap="none" spc="0" normalizeH="0" baseline="0" noProof="0" err="1">
                  <a:ln>
                    <a:noFill/>
                  </a:ln>
                  <a:solidFill>
                    <a:srgbClr val="00BFBF"/>
                  </a:solidFill>
                  <a:effectLst/>
                  <a:uLnTx/>
                  <a:uFillTx/>
                  <a:latin typeface="Ubuntu"/>
                  <a:ea typeface="+mn-ea"/>
                  <a:cs typeface="+mn-cs"/>
                </a:rPr>
                <a:t>Lab</a:t>
              </a:r>
              <a:r>
                <a:rPr kumimoji="0" lang="fr-FR" sz="900" b="0" i="0" u="none" strike="noStrike" kern="1200" cap="none" spc="0" normalizeH="0" baseline="0" noProof="0">
                  <a:ln>
                    <a:noFill/>
                  </a:ln>
                  <a:solidFill>
                    <a:srgbClr val="00BFBF"/>
                  </a:solidFill>
                  <a:effectLst/>
                  <a:uLnTx/>
                  <a:uFillTx/>
                  <a:latin typeface="Ubuntu"/>
                  <a:ea typeface="+mn-ea"/>
                  <a:cs typeface="+mn-cs"/>
                </a:rPr>
                <a:t>/</a:t>
              </a:r>
              <a:r>
                <a:rPr kumimoji="0" lang="fr-FR" sz="900" b="0" i="0" u="none" strike="noStrike" kern="1200" cap="none" spc="0" normalizeH="0" baseline="0" noProof="0" err="1">
                  <a:ln>
                    <a:noFill/>
                  </a:ln>
                  <a:solidFill>
                    <a:srgbClr val="00BFBF"/>
                  </a:solidFill>
                  <a:effectLst/>
                  <a:uLnTx/>
                  <a:uFillTx/>
                  <a:latin typeface="Ubuntu"/>
                  <a:ea typeface="+mn-ea"/>
                  <a:cs typeface="+mn-cs"/>
                </a:rPr>
                <a:t>pre</a:t>
              </a:r>
              <a:r>
                <a:rPr kumimoji="0" lang="fr-FR" sz="900" b="0" i="0" u="none" strike="noStrike" kern="1200" cap="none" spc="0" normalizeH="0" baseline="0" noProof="0">
                  <a:ln>
                    <a:noFill/>
                  </a:ln>
                  <a:solidFill>
                    <a:srgbClr val="00BFBF"/>
                  </a:solidFill>
                  <a:effectLst/>
                  <a:uLnTx/>
                  <a:uFillTx/>
                  <a:latin typeface="Ubuntu"/>
                  <a:ea typeface="+mn-ea"/>
                  <a:cs typeface="+mn-cs"/>
                </a:rPr>
                <a:t>-production </a:t>
              </a:r>
              <a:r>
                <a:rPr kumimoji="0" lang="fr-FR" sz="900" b="0" i="0" u="none" strike="noStrike" kern="1200" cap="none" spc="0" normalizeH="0" baseline="0" noProof="0" err="1">
                  <a:ln>
                    <a:noFill/>
                  </a:ln>
                  <a:solidFill>
                    <a:srgbClr val="00BFBF"/>
                  </a:solidFill>
                  <a:effectLst/>
                  <a:uLnTx/>
                  <a:uFillTx/>
                  <a:latin typeface="Ubuntu"/>
                  <a:ea typeface="+mn-ea"/>
                  <a:cs typeface="+mn-cs"/>
                </a:rPr>
                <a:t>environment</a:t>
              </a:r>
              <a:endParaRPr kumimoji="0" lang="fr-FR" sz="900" b="0" i="0" u="none" strike="noStrike" kern="1200" cap="none" spc="0" normalizeH="0" baseline="0" noProof="0">
                <a:ln>
                  <a:noFill/>
                </a:ln>
                <a:solidFill>
                  <a:srgbClr val="00BFBF"/>
                </a:solidFill>
                <a:effectLst/>
                <a:uLnTx/>
                <a:uFillTx/>
                <a:latin typeface="Ubuntu"/>
                <a:ea typeface="+mn-ea"/>
                <a:cs typeface="+mn-cs"/>
              </a:endParaRPr>
            </a:p>
          </p:txBody>
        </p:sp>
        <p:cxnSp>
          <p:nvCxnSpPr>
            <p:cNvPr id="35" name="Straight Connector 34">
              <a:extLst>
                <a:ext uri="{FF2B5EF4-FFF2-40B4-BE49-F238E27FC236}">
                  <a16:creationId xmlns:a16="http://schemas.microsoft.com/office/drawing/2014/main" id="{DE89BB13-76EB-478C-BC21-6D610C97648B}"/>
                </a:ext>
              </a:extLst>
            </p:cNvPr>
            <p:cNvCxnSpPr>
              <a:cxnSpLocks/>
            </p:cNvCxnSpPr>
            <p:nvPr/>
          </p:nvCxnSpPr>
          <p:spPr>
            <a:xfrm>
              <a:off x="6188262" y="4809502"/>
              <a:ext cx="2137495" cy="0"/>
            </a:xfrm>
            <a:prstGeom prst="line">
              <a:avLst/>
            </a:prstGeom>
            <a:ln w="12700">
              <a:solidFill>
                <a:srgbClr val="00BFBF"/>
              </a:solidFill>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608905E-61E6-4FA3-94DA-C709EC469E2D}"/>
                </a:ext>
              </a:extLst>
            </p:cNvPr>
            <p:cNvCxnSpPr>
              <a:cxnSpLocks/>
            </p:cNvCxnSpPr>
            <p:nvPr/>
          </p:nvCxnSpPr>
          <p:spPr>
            <a:xfrm>
              <a:off x="8420549" y="4809502"/>
              <a:ext cx="3384000" cy="0"/>
            </a:xfrm>
            <a:prstGeom prst="line">
              <a:avLst/>
            </a:prstGeom>
            <a:ln w="12700">
              <a:solidFill>
                <a:srgbClr val="57CF80"/>
              </a:solidFill>
              <a:headEnd type="diamond"/>
              <a:tailEnd type="non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2A28A421-E27B-4762-A0F2-00FCC776C4B1}"/>
                </a:ext>
              </a:extLst>
            </p:cNvPr>
            <p:cNvSpPr txBox="1"/>
            <p:nvPr/>
          </p:nvSpPr>
          <p:spPr>
            <a:xfrm>
              <a:off x="8420549" y="4877462"/>
              <a:ext cx="1274388" cy="128240"/>
            </a:xfrm>
            <a:prstGeom prst="rect">
              <a:avLst/>
            </a:prstGeom>
            <a:noFill/>
          </p:spPr>
          <p:txBody>
            <a:bodyPr wrap="none" lIns="0" tIns="0" rIns="0" bIns="0" rtlCol="0" anchor="ctr">
              <a:spAutoFit/>
            </a:bodyPr>
            <a:lstStyle/>
            <a:p>
              <a:pPr marL="0" marR="0" lvl="0" indent="0" algn="l" defTabSz="914400" rtl="0" eaLnBrk="1" fontAlgn="auto" latinLnBrk="0" hangingPunct="1">
                <a:lnSpc>
                  <a:spcPts val="1000"/>
                </a:lnSpc>
                <a:spcBef>
                  <a:spcPts val="0"/>
                </a:spcBef>
                <a:spcAft>
                  <a:spcPts val="0"/>
                </a:spcAft>
                <a:buClrTx/>
                <a:buSzTx/>
                <a:buFontTx/>
                <a:buNone/>
                <a:tabLst/>
                <a:defRPr/>
              </a:pPr>
              <a:r>
                <a:rPr kumimoji="0" lang="fr-FR" sz="900" b="0" i="0" u="none" strike="noStrike" kern="1200" cap="none" spc="0" normalizeH="0" baseline="0" noProof="0">
                  <a:ln>
                    <a:noFill/>
                  </a:ln>
                  <a:solidFill>
                    <a:srgbClr val="57CF80"/>
                  </a:solidFill>
                  <a:effectLst/>
                  <a:uLnTx/>
                  <a:uFillTx/>
                  <a:latin typeface="Ubuntu"/>
                  <a:ea typeface="+mn-ea"/>
                  <a:cs typeface="+mn-cs"/>
                </a:rPr>
                <a:t>Production </a:t>
              </a:r>
              <a:r>
                <a:rPr kumimoji="0" lang="fr-FR" sz="900" b="0" i="0" u="none" strike="noStrike" kern="1200" cap="none" spc="0" normalizeH="0" baseline="0" noProof="0" err="1">
                  <a:ln>
                    <a:noFill/>
                  </a:ln>
                  <a:solidFill>
                    <a:srgbClr val="57CF80"/>
                  </a:solidFill>
                  <a:effectLst/>
                  <a:uLnTx/>
                  <a:uFillTx/>
                  <a:latin typeface="Ubuntu"/>
                  <a:ea typeface="+mn-ea"/>
                  <a:cs typeface="+mn-cs"/>
                </a:rPr>
                <a:t>environment</a:t>
              </a:r>
              <a:endParaRPr kumimoji="0" lang="fr-FR" sz="900" b="0" i="0" u="none" strike="noStrike" kern="1200" cap="none" spc="0" normalizeH="0" baseline="0" noProof="0">
                <a:ln>
                  <a:noFill/>
                </a:ln>
                <a:solidFill>
                  <a:srgbClr val="57CF80"/>
                </a:solidFill>
                <a:effectLst/>
                <a:uLnTx/>
                <a:uFillTx/>
                <a:latin typeface="Ubuntu"/>
                <a:ea typeface="+mn-ea"/>
                <a:cs typeface="+mn-cs"/>
              </a:endParaRPr>
            </a:p>
          </p:txBody>
        </p:sp>
        <p:sp>
          <p:nvSpPr>
            <p:cNvPr id="38" name="Arrow: Curved Down 37">
              <a:extLst>
                <a:ext uri="{FF2B5EF4-FFF2-40B4-BE49-F238E27FC236}">
                  <a16:creationId xmlns:a16="http://schemas.microsoft.com/office/drawing/2014/main" id="{EAF0340B-F3F0-4FB6-BB08-2D03EDD926B4}"/>
                </a:ext>
              </a:extLst>
            </p:cNvPr>
            <p:cNvSpPr/>
            <p:nvPr/>
          </p:nvSpPr>
          <p:spPr>
            <a:xfrm>
              <a:off x="8222457" y="4658320"/>
              <a:ext cx="321737" cy="132111"/>
            </a:xfrm>
            <a:prstGeom prst="curved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black"/>
                </a:solidFill>
                <a:effectLst/>
                <a:uLnTx/>
                <a:uFillTx/>
                <a:latin typeface="Ubuntu"/>
                <a:ea typeface="+mn-ea"/>
                <a:cs typeface="+mn-cs"/>
              </a:endParaRPr>
            </a:p>
          </p:txBody>
        </p:sp>
      </p:grpSp>
      <p:sp>
        <p:nvSpPr>
          <p:cNvPr id="39" name="Rectangle: Rounded Corners 38">
            <a:extLst>
              <a:ext uri="{FF2B5EF4-FFF2-40B4-BE49-F238E27FC236}">
                <a16:creationId xmlns:a16="http://schemas.microsoft.com/office/drawing/2014/main" id="{B1A4E706-4031-439B-91CA-61CAD26734D5}"/>
              </a:ext>
            </a:extLst>
          </p:cNvPr>
          <p:cNvSpPr/>
          <p:nvPr/>
        </p:nvSpPr>
        <p:spPr>
          <a:xfrm rot="16200000">
            <a:off x="9035034" y="3253590"/>
            <a:ext cx="1081172" cy="235649"/>
          </a:xfrm>
          <a:prstGeom prst="roundRect">
            <a:avLst>
              <a:gd name="adj" fmla="val 50000"/>
            </a:avLst>
          </a:prstGeom>
          <a:solidFill>
            <a:srgbClr val="33B56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Go/No Go</a:t>
            </a:r>
          </a:p>
        </p:txBody>
      </p:sp>
      <p:sp>
        <p:nvSpPr>
          <p:cNvPr id="40" name="Flowchart: Manual Operation 39">
            <a:extLst>
              <a:ext uri="{FF2B5EF4-FFF2-40B4-BE49-F238E27FC236}">
                <a16:creationId xmlns:a16="http://schemas.microsoft.com/office/drawing/2014/main" id="{48EA2860-53BE-4AD3-8155-F8B8C0DC3D74}"/>
              </a:ext>
            </a:extLst>
          </p:cNvPr>
          <p:cNvSpPr/>
          <p:nvPr/>
        </p:nvSpPr>
        <p:spPr>
          <a:xfrm rot="5400000" flipH="1" flipV="1">
            <a:off x="10135356" y="3358513"/>
            <a:ext cx="426625" cy="2871013"/>
          </a:xfrm>
          <a:prstGeom prst="flowChartManualOperation">
            <a:avLst/>
          </a:prstGeom>
          <a:noFill/>
          <a:ln>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vert="vert" lIns="36000" tIns="91440" r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Ubuntu"/>
                <a:ea typeface="+mn-ea"/>
                <a:cs typeface="+mn-cs"/>
              </a:rPr>
              <a:t>Use cases development – </a:t>
            </a:r>
            <a:r>
              <a:rPr kumimoji="0" lang="fr-FR" sz="1200" b="1" i="0" u="none" strike="noStrike" kern="1200" cap="none" spc="0" normalizeH="0" baseline="0" noProof="0" err="1">
                <a:ln>
                  <a:noFill/>
                </a:ln>
                <a:solidFill>
                  <a:srgbClr val="FFFFFF"/>
                </a:solidFill>
                <a:effectLst/>
                <a:uLnTx/>
                <a:uFillTx/>
                <a:latin typeface="Ubuntu"/>
                <a:ea typeface="+mn-ea"/>
                <a:cs typeface="+mn-cs"/>
              </a:rPr>
              <a:t>wave</a:t>
            </a:r>
            <a:r>
              <a:rPr kumimoji="0" lang="fr-FR" sz="1200" b="1" i="0" u="none" strike="noStrike" kern="1200" cap="none" spc="0" normalizeH="0" baseline="0" noProof="0">
                <a:ln>
                  <a:noFill/>
                </a:ln>
                <a:solidFill>
                  <a:srgbClr val="FFFFFF"/>
                </a:solidFill>
                <a:effectLst/>
                <a:uLnTx/>
                <a:uFillTx/>
                <a:latin typeface="Ubuntu"/>
                <a:ea typeface="+mn-ea"/>
                <a:cs typeface="+mn-cs"/>
              </a:rPr>
              <a:t> 2</a:t>
            </a:r>
          </a:p>
        </p:txBody>
      </p:sp>
      <p:sp>
        <p:nvSpPr>
          <p:cNvPr id="45" name="Isosceles Triangle 44">
            <a:extLst>
              <a:ext uri="{FF2B5EF4-FFF2-40B4-BE49-F238E27FC236}">
                <a16:creationId xmlns:a16="http://schemas.microsoft.com/office/drawing/2014/main" id="{76E9A0D9-5585-4B6D-AAFB-2D9D0BA1E0AD}"/>
              </a:ext>
            </a:extLst>
          </p:cNvPr>
          <p:cNvSpPr/>
          <p:nvPr/>
        </p:nvSpPr>
        <p:spPr>
          <a:xfrm>
            <a:off x="3101038" y="3136504"/>
            <a:ext cx="796000" cy="597000"/>
          </a:xfrm>
          <a:prstGeom prst="triangle">
            <a:avLst/>
          </a:prstGeom>
          <a:solidFill>
            <a:schemeClr val="accent1">
              <a:alpha val="30000"/>
            </a:schemeClr>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FFFFFF"/>
              </a:solidFill>
              <a:effectLst/>
              <a:uLnTx/>
              <a:uFillTx/>
              <a:latin typeface="Ubuntu"/>
              <a:ea typeface="+mn-ea"/>
              <a:cs typeface="+mn-cs"/>
            </a:endParaRPr>
          </a:p>
        </p:txBody>
      </p:sp>
      <p:sp>
        <p:nvSpPr>
          <p:cNvPr id="46" name="TextBox 45">
            <a:extLst>
              <a:ext uri="{FF2B5EF4-FFF2-40B4-BE49-F238E27FC236}">
                <a16:creationId xmlns:a16="http://schemas.microsoft.com/office/drawing/2014/main" id="{03B2EF17-9923-4564-A7A2-64176B70D975}"/>
              </a:ext>
            </a:extLst>
          </p:cNvPr>
          <p:cNvSpPr txBox="1"/>
          <p:nvPr/>
        </p:nvSpPr>
        <p:spPr>
          <a:xfrm rot="18225473">
            <a:off x="2706079" y="3243876"/>
            <a:ext cx="860303" cy="256480"/>
          </a:xfrm>
          <a:prstGeom prst="rect">
            <a:avLst/>
          </a:prstGeom>
          <a:solidFill>
            <a:srgbClr val="272936"/>
          </a:solidFill>
          <a:ln>
            <a:noFill/>
          </a:ln>
        </p:spPr>
        <p:txBody>
          <a:bodyPr wrap="square" lIns="0" tIns="0" rIns="0" bIns="0" rtlCol="0" anchor="ctr">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fr-FR" sz="900" b="0" i="0" u="none" strike="noStrike" kern="1200" cap="none" spc="0" normalizeH="0" baseline="0" noProof="0" err="1">
                <a:ln>
                  <a:noFill/>
                </a:ln>
                <a:solidFill>
                  <a:srgbClr val="FFFFFF"/>
                </a:solidFill>
                <a:effectLst/>
                <a:uLnTx/>
                <a:uFillTx/>
                <a:latin typeface="Ubuntu Light" panose="020B0304030602030204" pitchFamily="34" charset="0"/>
                <a:ea typeface="+mn-ea"/>
                <a:cs typeface="+mn-cs"/>
              </a:rPr>
              <a:t>Experience</a:t>
            </a:r>
            <a:br>
              <a:rPr kumimoji="0" lang="fr-FR" sz="9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br>
            <a:r>
              <a:rPr kumimoji="0" lang="fr-FR" sz="9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&amp; Operations</a:t>
            </a:r>
          </a:p>
        </p:txBody>
      </p:sp>
      <p:sp>
        <p:nvSpPr>
          <p:cNvPr id="47" name="TextBox 46">
            <a:extLst>
              <a:ext uri="{FF2B5EF4-FFF2-40B4-BE49-F238E27FC236}">
                <a16:creationId xmlns:a16="http://schemas.microsoft.com/office/drawing/2014/main" id="{78046EEC-C423-4489-BDB0-9FF24FD936D3}"/>
              </a:ext>
            </a:extLst>
          </p:cNvPr>
          <p:cNvSpPr txBox="1"/>
          <p:nvPr/>
        </p:nvSpPr>
        <p:spPr>
          <a:xfrm>
            <a:off x="3055212" y="3761434"/>
            <a:ext cx="860303" cy="256480"/>
          </a:xfrm>
          <a:prstGeom prst="rect">
            <a:avLst/>
          </a:prstGeom>
          <a:solidFill>
            <a:srgbClr val="272936"/>
          </a:solidFill>
          <a:ln>
            <a:noFill/>
          </a:ln>
        </p:spPr>
        <p:txBody>
          <a:bodyPr wrap="square" lIns="0" tIns="0" rIns="0" bIns="0" rtlCol="0" anchor="ctr">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fr-FR" sz="900" b="0" i="0" u="none" strike="noStrike" kern="1200" cap="none" spc="0" normalizeH="0" baseline="0" noProof="0" err="1">
                <a:ln>
                  <a:noFill/>
                </a:ln>
                <a:solidFill>
                  <a:srgbClr val="FFFFFF"/>
                </a:solidFill>
                <a:effectLst/>
                <a:uLnTx/>
                <a:uFillTx/>
                <a:latin typeface="Ubuntu Light" panose="020B0304030602030204" pitchFamily="34" charset="0"/>
                <a:ea typeface="+mn-ea"/>
                <a:cs typeface="+mn-cs"/>
              </a:rPr>
              <a:t>Technical</a:t>
            </a:r>
            <a:r>
              <a:rPr kumimoji="0" lang="fr-FR" sz="9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 </a:t>
            </a:r>
            <a:r>
              <a:rPr kumimoji="0" lang="fr-FR" sz="900" b="0" i="0" u="none" strike="noStrike" kern="1200" cap="none" spc="0" normalizeH="0" baseline="0" noProof="0" err="1">
                <a:ln>
                  <a:noFill/>
                </a:ln>
                <a:solidFill>
                  <a:srgbClr val="FFFFFF"/>
                </a:solidFill>
                <a:effectLst/>
                <a:uLnTx/>
                <a:uFillTx/>
                <a:latin typeface="Ubuntu Light" panose="020B0304030602030204" pitchFamily="34" charset="0"/>
                <a:ea typeface="+mn-ea"/>
                <a:cs typeface="+mn-cs"/>
              </a:rPr>
              <a:t>feasibility</a:t>
            </a:r>
            <a:endParaRPr kumimoji="0" lang="fr-FR" sz="9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48" name="TextBox 47">
            <a:extLst>
              <a:ext uri="{FF2B5EF4-FFF2-40B4-BE49-F238E27FC236}">
                <a16:creationId xmlns:a16="http://schemas.microsoft.com/office/drawing/2014/main" id="{4DF6EE86-AC6B-4E85-A059-9405A66FA74D}"/>
              </a:ext>
            </a:extLst>
          </p:cNvPr>
          <p:cNvSpPr txBox="1"/>
          <p:nvPr/>
        </p:nvSpPr>
        <p:spPr>
          <a:xfrm rot="3374527" flipH="1">
            <a:off x="3358696" y="3316462"/>
            <a:ext cx="860303" cy="128240"/>
          </a:xfrm>
          <a:prstGeom prst="rect">
            <a:avLst/>
          </a:prstGeom>
          <a:solidFill>
            <a:srgbClr val="272936"/>
          </a:solidFill>
          <a:ln>
            <a:noFill/>
          </a:ln>
        </p:spPr>
        <p:txBody>
          <a:bodyPr wrap="square" lIns="0" tIns="0" rIns="0" bIns="0" rtlCol="0" anchor="ctr">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fr-FR" sz="9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Business case</a:t>
            </a:r>
          </a:p>
        </p:txBody>
      </p:sp>
      <p:sp>
        <p:nvSpPr>
          <p:cNvPr id="67" name="TextBox 66">
            <a:extLst>
              <a:ext uri="{FF2B5EF4-FFF2-40B4-BE49-F238E27FC236}">
                <a16:creationId xmlns:a16="http://schemas.microsoft.com/office/drawing/2014/main" id="{B0DCDD0D-6F2A-40FF-B804-89FEE6618C39}"/>
              </a:ext>
            </a:extLst>
          </p:cNvPr>
          <p:cNvSpPr txBox="1"/>
          <p:nvPr/>
        </p:nvSpPr>
        <p:spPr>
          <a:xfrm>
            <a:off x="404813" y="5699928"/>
            <a:ext cx="3606757" cy="584775"/>
          </a:xfrm>
          <a:prstGeom prst="rect">
            <a:avLst/>
          </a:prstGeom>
          <a:noFill/>
        </p:spPr>
        <p:txBody>
          <a:bodyPr wrap="none" lIns="0" tIns="0" rIns="0" bIns="0" rtlCol="0">
            <a:spAutoFit/>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Vertical expertise: SMEs, benchmarks, client ecosystem</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Consulting services: design thinking, innovation, </a:t>
            </a:r>
            <a:b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b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business case, technology strategy</a:t>
            </a:r>
          </a:p>
        </p:txBody>
      </p:sp>
      <p:sp>
        <p:nvSpPr>
          <p:cNvPr id="68" name="TextBox 67">
            <a:extLst>
              <a:ext uri="{FF2B5EF4-FFF2-40B4-BE49-F238E27FC236}">
                <a16:creationId xmlns:a16="http://schemas.microsoft.com/office/drawing/2014/main" id="{54FB650D-9A0D-4D5A-A775-DDED6EE96352}"/>
              </a:ext>
            </a:extLst>
          </p:cNvPr>
          <p:cNvSpPr txBox="1"/>
          <p:nvPr/>
        </p:nvSpPr>
        <p:spPr>
          <a:xfrm>
            <a:off x="5363502" y="5699928"/>
            <a:ext cx="2535951" cy="661720"/>
          </a:xfrm>
          <a:prstGeom prst="rect">
            <a:avLst/>
          </a:prstGeom>
          <a:noFill/>
        </p:spPr>
        <p:txBody>
          <a:bodyPr wrap="none" lIns="0" tIns="0" rIns="0" bIns="0" rtlCol="0">
            <a:spAutoFit/>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Libraries of use cases &amp; micro-services</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5G &amp; Edge Labs &amp; Innovation Centers</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Application development </a:t>
            </a:r>
          </a:p>
        </p:txBody>
      </p:sp>
      <p:sp>
        <p:nvSpPr>
          <p:cNvPr id="69" name="TextBox 68">
            <a:extLst>
              <a:ext uri="{FF2B5EF4-FFF2-40B4-BE49-F238E27FC236}">
                <a16:creationId xmlns:a16="http://schemas.microsoft.com/office/drawing/2014/main" id="{0475E2F0-4DED-454E-B091-9028584312B2}"/>
              </a:ext>
            </a:extLst>
          </p:cNvPr>
          <p:cNvSpPr txBox="1"/>
          <p:nvPr/>
        </p:nvSpPr>
        <p:spPr>
          <a:xfrm>
            <a:off x="9251384" y="5699928"/>
            <a:ext cx="2345554" cy="661720"/>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Service enablement platform</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Network | IT | OT integration skills</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Digital factory model</a:t>
            </a:r>
          </a:p>
        </p:txBody>
      </p:sp>
      <p:grpSp>
        <p:nvGrpSpPr>
          <p:cNvPr id="4" name="Group 3">
            <a:extLst>
              <a:ext uri="{FF2B5EF4-FFF2-40B4-BE49-F238E27FC236}">
                <a16:creationId xmlns:a16="http://schemas.microsoft.com/office/drawing/2014/main" id="{5AAA43FB-83AE-1977-EFE5-702A663C61BD}"/>
              </a:ext>
            </a:extLst>
          </p:cNvPr>
          <p:cNvGrpSpPr/>
          <p:nvPr/>
        </p:nvGrpSpPr>
        <p:grpSpPr>
          <a:xfrm>
            <a:off x="4215859" y="5225012"/>
            <a:ext cx="3760282" cy="311782"/>
            <a:chOff x="4333340" y="5192899"/>
            <a:chExt cx="3760282" cy="311782"/>
          </a:xfrm>
        </p:grpSpPr>
        <p:sp>
          <p:nvSpPr>
            <p:cNvPr id="49" name="Rectangle 48">
              <a:extLst>
                <a:ext uri="{FF2B5EF4-FFF2-40B4-BE49-F238E27FC236}">
                  <a16:creationId xmlns:a16="http://schemas.microsoft.com/office/drawing/2014/main" id="{3A13FBA9-6794-4B95-BEFE-CD43E3B24C9A}"/>
                </a:ext>
              </a:extLst>
            </p:cNvPr>
            <p:cNvSpPr/>
            <p:nvPr/>
          </p:nvSpPr>
          <p:spPr>
            <a:xfrm>
              <a:off x="5899110" y="5192899"/>
              <a:ext cx="2194512" cy="246221"/>
            </a:xfrm>
            <a:prstGeom prst="rect">
              <a:avLst/>
            </a:prstGeom>
            <a:solidFill>
              <a:schemeClr val="tx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Expertise &amp; accelerators</a:t>
              </a:r>
            </a:p>
          </p:txBody>
        </p:sp>
        <p:pic>
          <p:nvPicPr>
            <p:cNvPr id="70" name="Graphique 4">
              <a:extLst>
                <a:ext uri="{FF2B5EF4-FFF2-40B4-BE49-F238E27FC236}">
                  <a16:creationId xmlns:a16="http://schemas.microsoft.com/office/drawing/2014/main" id="{BD2142F7-145E-4607-800B-860A45F763E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333340" y="5192899"/>
              <a:ext cx="1404759" cy="311782"/>
            </a:xfrm>
            <a:prstGeom prst="rect">
              <a:avLst/>
            </a:prstGeom>
          </p:spPr>
        </p:pic>
      </p:grpSp>
      <p:cxnSp>
        <p:nvCxnSpPr>
          <p:cNvPr id="42" name="Straight Connector 41">
            <a:extLst>
              <a:ext uri="{FF2B5EF4-FFF2-40B4-BE49-F238E27FC236}">
                <a16:creationId xmlns:a16="http://schemas.microsoft.com/office/drawing/2014/main" id="{11428DDC-AC93-3A40-1858-B97058652DF3}"/>
              </a:ext>
            </a:extLst>
          </p:cNvPr>
          <p:cNvCxnSpPr/>
          <p:nvPr/>
        </p:nvCxnSpPr>
        <p:spPr>
          <a:xfrm>
            <a:off x="4687536" y="5699928"/>
            <a:ext cx="0" cy="661720"/>
          </a:xfrm>
          <a:prstGeom prst="line">
            <a:avLst/>
          </a:prstGeom>
          <a:ln>
            <a:solidFill>
              <a:schemeClr val="tx2">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20982AA-A739-C948-F691-11DC4F20F374}"/>
              </a:ext>
            </a:extLst>
          </p:cNvPr>
          <p:cNvCxnSpPr/>
          <p:nvPr/>
        </p:nvCxnSpPr>
        <p:spPr>
          <a:xfrm>
            <a:off x="8575419" y="5699928"/>
            <a:ext cx="0" cy="661720"/>
          </a:xfrm>
          <a:prstGeom prst="line">
            <a:avLst/>
          </a:prstGeom>
          <a:ln>
            <a:solidFill>
              <a:schemeClr val="tx2">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7C2DD44-CF94-4F48-D091-FEEEB0116A33}"/>
              </a:ext>
            </a:extLst>
          </p:cNvPr>
          <p:cNvCxnSpPr>
            <a:cxnSpLocks/>
          </p:cNvCxnSpPr>
          <p:nvPr/>
        </p:nvCxnSpPr>
        <p:spPr>
          <a:xfrm>
            <a:off x="8315544" y="5380903"/>
            <a:ext cx="3468469"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464F5AC-7BAD-81D1-355B-B0373516AA31}"/>
              </a:ext>
            </a:extLst>
          </p:cNvPr>
          <p:cNvCxnSpPr>
            <a:cxnSpLocks/>
          </p:cNvCxnSpPr>
          <p:nvPr/>
        </p:nvCxnSpPr>
        <p:spPr>
          <a:xfrm>
            <a:off x="404813" y="5380903"/>
            <a:ext cx="3468469"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52BD9B0-570D-68E6-D28C-E55A6B789EA9}"/>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15" name="Date Placeholder 5">
            <a:extLst>
              <a:ext uri="{FF2B5EF4-FFF2-40B4-BE49-F238E27FC236}">
                <a16:creationId xmlns:a16="http://schemas.microsoft.com/office/drawing/2014/main" id="{76F54AD5-0AD1-6EF9-5EB6-38D0E6DA5488}"/>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41" name="Date Placeholder 5">
            <a:extLst>
              <a:ext uri="{FF2B5EF4-FFF2-40B4-BE49-F238E27FC236}">
                <a16:creationId xmlns:a16="http://schemas.microsoft.com/office/drawing/2014/main" id="{A58D56C7-B2C0-9726-0B6F-8FF9E848B40E}"/>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15</a:t>
            </a:r>
          </a:p>
        </p:txBody>
      </p:sp>
    </p:spTree>
    <p:extLst>
      <p:ext uri="{BB962C8B-B14F-4D97-AF65-F5344CB8AC3E}">
        <p14:creationId xmlns:p14="http://schemas.microsoft.com/office/powerpoint/2010/main" val="2765488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E38FD-661B-92B4-D700-BC92EF8DFC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BF1262-997B-F43C-1541-42BBB712391B}"/>
              </a:ext>
            </a:extLst>
          </p:cNvPr>
          <p:cNvSpPr>
            <a:spLocks noGrp="1"/>
          </p:cNvSpPr>
          <p:nvPr>
            <p:ph type="title"/>
          </p:nvPr>
        </p:nvSpPr>
        <p:spPr>
          <a:xfrm>
            <a:off x="571533" y="270305"/>
            <a:ext cx="9823751" cy="967939"/>
          </a:xfrm>
        </p:spPr>
        <p:txBody>
          <a:bodyPr/>
          <a:lstStyle/>
          <a:p>
            <a:r>
              <a:rPr lang="en-US"/>
              <a:t>Illustrating how data‑center connectivity can be monetized through a scalable wholesale model</a:t>
            </a:r>
          </a:p>
        </p:txBody>
      </p:sp>
      <p:sp>
        <p:nvSpPr>
          <p:cNvPr id="6" name="Rectangle 5">
            <a:extLst>
              <a:ext uri="{FF2B5EF4-FFF2-40B4-BE49-F238E27FC236}">
                <a16:creationId xmlns:a16="http://schemas.microsoft.com/office/drawing/2014/main" id="{93E85E0B-CBB5-BAD6-3FA9-5D416E8980A5}"/>
              </a:ext>
            </a:extLst>
          </p:cNvPr>
          <p:cNvSpPr/>
          <p:nvPr/>
        </p:nvSpPr>
        <p:spPr>
          <a:xfrm>
            <a:off x="2729139" y="1126075"/>
            <a:ext cx="2242313" cy="182850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bg1"/>
              </a:solidFill>
              <a:effectLst/>
              <a:uLnTx/>
              <a:uFillTx/>
              <a:latin typeface="Century Gothic" panose="020B0502020202020204" pitchFamily="34" charset="0"/>
              <a:ea typeface="ＭＳ Ｐゴシック"/>
              <a:cs typeface="+mn-cs"/>
            </a:endParaRPr>
          </a:p>
        </p:txBody>
      </p:sp>
      <p:sp>
        <p:nvSpPr>
          <p:cNvPr id="29" name="Rectangle 28">
            <a:extLst>
              <a:ext uri="{FF2B5EF4-FFF2-40B4-BE49-F238E27FC236}">
                <a16:creationId xmlns:a16="http://schemas.microsoft.com/office/drawing/2014/main" id="{8EB3E016-6570-0F11-1C24-E56AFB82C3A6}"/>
              </a:ext>
            </a:extLst>
          </p:cNvPr>
          <p:cNvSpPr/>
          <p:nvPr/>
        </p:nvSpPr>
        <p:spPr>
          <a:xfrm>
            <a:off x="2735922" y="3141644"/>
            <a:ext cx="2239567" cy="223676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bg1"/>
              </a:solidFill>
              <a:effectLst/>
              <a:uLnTx/>
              <a:uFillTx/>
              <a:latin typeface="Century Gothic" panose="020B0502020202020204" pitchFamily="34" charset="0"/>
              <a:ea typeface="ＭＳ Ｐゴシック"/>
              <a:cs typeface="+mn-cs"/>
            </a:endParaRPr>
          </a:p>
        </p:txBody>
      </p:sp>
      <p:grpSp>
        <p:nvGrpSpPr>
          <p:cNvPr id="98" name="Group 97">
            <a:extLst>
              <a:ext uri="{FF2B5EF4-FFF2-40B4-BE49-F238E27FC236}">
                <a16:creationId xmlns:a16="http://schemas.microsoft.com/office/drawing/2014/main" id="{E5C4D3ED-569F-C7FB-470A-2BDB3E485F38}"/>
              </a:ext>
            </a:extLst>
          </p:cNvPr>
          <p:cNvGrpSpPr/>
          <p:nvPr/>
        </p:nvGrpSpPr>
        <p:grpSpPr>
          <a:xfrm>
            <a:off x="7157454" y="2962247"/>
            <a:ext cx="2302013" cy="1815839"/>
            <a:chOff x="7157454" y="2811772"/>
            <a:chExt cx="2302013" cy="1815839"/>
          </a:xfrm>
        </p:grpSpPr>
        <p:sp>
          <p:nvSpPr>
            <p:cNvPr id="51" name="TextBox 50">
              <a:extLst>
                <a:ext uri="{FF2B5EF4-FFF2-40B4-BE49-F238E27FC236}">
                  <a16:creationId xmlns:a16="http://schemas.microsoft.com/office/drawing/2014/main" id="{8267D23A-DF18-F75D-B676-F14D2AEC704F}"/>
                </a:ext>
              </a:extLst>
            </p:cNvPr>
            <p:cNvSpPr txBox="1"/>
            <p:nvPr/>
          </p:nvSpPr>
          <p:spPr>
            <a:xfrm>
              <a:off x="7223940" y="2811772"/>
              <a:ext cx="2235527" cy="276999"/>
            </a:xfrm>
            <a:prstGeom prst="rect">
              <a:avLst/>
            </a:prstGeom>
            <a:solidFill>
              <a:schemeClr val="accent1">
                <a:alpha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Century Gothic" panose="020B0502020202020204" pitchFamily="34" charset="0"/>
                  <a:ea typeface="ＭＳ Ｐゴシック"/>
                  <a:cs typeface="+mn-cs"/>
                </a:rPr>
                <a:t>Channels</a:t>
              </a:r>
            </a:p>
          </p:txBody>
        </p:sp>
        <p:sp>
          <p:nvSpPr>
            <p:cNvPr id="63" name="TextBox 62">
              <a:extLst>
                <a:ext uri="{FF2B5EF4-FFF2-40B4-BE49-F238E27FC236}">
                  <a16:creationId xmlns:a16="http://schemas.microsoft.com/office/drawing/2014/main" id="{0F68C08A-BA8D-D67E-2EB1-8637C485304C}"/>
                </a:ext>
              </a:extLst>
            </p:cNvPr>
            <p:cNvSpPr txBox="1"/>
            <p:nvPr/>
          </p:nvSpPr>
          <p:spPr>
            <a:xfrm>
              <a:off x="7157454" y="3073339"/>
              <a:ext cx="2232000" cy="1554272"/>
            </a:xfrm>
            <a:prstGeom prst="rect">
              <a:avLst/>
            </a:prstGeom>
            <a:noFill/>
          </p:spPr>
          <p:txBody>
            <a:bodyPr wrap="square" rtlCol="0">
              <a:spAutoFit/>
            </a:bodyPr>
            <a:lstStyle>
              <a:defPPr>
                <a:defRPr lang="en-PL"/>
              </a:defPPr>
              <a:lvl1pPr marL="171450" lvl="0" indent="-171450">
                <a:buFont typeface="Arial" panose="020B0604020202020204" pitchFamily="34" charset="0"/>
                <a:buChar char="•"/>
                <a:defRPr sz="1100">
                  <a:solidFill>
                    <a:schemeClr val="bg1"/>
                  </a:solidFill>
                  <a:ea typeface="ＭＳ Ｐゴシック"/>
                  <a:cs typeface="Calibri" panose="020F0502020204030204" pitchFamily="34" charset="0"/>
                </a:defRPr>
              </a:lvl1pPr>
            </a:lstStyle>
            <a:p>
              <a:r>
                <a:rPr lang="en-IN" sz="1050"/>
                <a:t>Industry events (Capacity Asia, PTC, etc.)</a:t>
              </a:r>
            </a:p>
            <a:p>
              <a:r>
                <a:rPr lang="en-IN" sz="1050"/>
                <a:t>Direct enterprise &amp; carrier sales</a:t>
              </a:r>
            </a:p>
            <a:p>
              <a:r>
                <a:rPr lang="en-IN" sz="1050"/>
                <a:t>Strategic partnerships &amp; alliances</a:t>
              </a:r>
            </a:p>
            <a:p>
              <a:r>
                <a:rPr lang="en-IN" sz="1050"/>
                <a:t>Digital channels (thought leadership, targeted outreach)</a:t>
              </a:r>
            </a:p>
            <a:p>
              <a:r>
                <a:rPr lang="en-IN" sz="1050"/>
                <a:t>NOC / service desk interface</a:t>
              </a:r>
              <a:endParaRPr lang="en-MY" sz="1050"/>
            </a:p>
          </p:txBody>
        </p:sp>
      </p:grpSp>
      <p:grpSp>
        <p:nvGrpSpPr>
          <p:cNvPr id="93" name="Group 92">
            <a:extLst>
              <a:ext uri="{FF2B5EF4-FFF2-40B4-BE49-F238E27FC236}">
                <a16:creationId xmlns:a16="http://schemas.microsoft.com/office/drawing/2014/main" id="{FF694BC7-7DE6-0021-288C-87DEB616F5FC}"/>
              </a:ext>
            </a:extLst>
          </p:cNvPr>
          <p:cNvGrpSpPr/>
          <p:nvPr/>
        </p:nvGrpSpPr>
        <p:grpSpPr>
          <a:xfrm>
            <a:off x="473458" y="1126076"/>
            <a:ext cx="2262465" cy="2144804"/>
            <a:chOff x="473458" y="876745"/>
            <a:chExt cx="2262465" cy="2144804"/>
          </a:xfrm>
        </p:grpSpPr>
        <p:sp>
          <p:nvSpPr>
            <p:cNvPr id="57" name="TextBox 56">
              <a:extLst>
                <a:ext uri="{FF2B5EF4-FFF2-40B4-BE49-F238E27FC236}">
                  <a16:creationId xmlns:a16="http://schemas.microsoft.com/office/drawing/2014/main" id="{8E756B9B-3607-896D-1316-4C0BCB59027F}"/>
                </a:ext>
              </a:extLst>
            </p:cNvPr>
            <p:cNvSpPr txBox="1"/>
            <p:nvPr/>
          </p:nvSpPr>
          <p:spPr>
            <a:xfrm>
              <a:off x="473458" y="1151806"/>
              <a:ext cx="2232000" cy="1869743"/>
            </a:xfrm>
            <a:prstGeom prst="rect">
              <a:avLst/>
            </a:prstGeom>
            <a:noFill/>
          </p:spPr>
          <p:txBody>
            <a:bodyPr wrap="square" rtlCol="0">
              <a:spAutoFit/>
            </a:bodyPr>
            <a:lstStyle/>
            <a:p>
              <a:pPr marL="171450" lvl="0" indent="-171450">
                <a:buFont typeface="Arial" panose="020B0604020202020204" pitchFamily="34" charset="0"/>
                <a:buChar char="•"/>
                <a:defRPr/>
              </a:pPr>
              <a:r>
                <a:rPr lang="en-MY" sz="1050">
                  <a:solidFill>
                    <a:schemeClr val="bg1"/>
                  </a:solidFill>
                  <a:ea typeface="ＭＳ Ｐゴシック"/>
                  <a:cs typeface="Calibri" panose="020F0502020204030204" pitchFamily="34" charset="0"/>
                </a:rPr>
                <a:t>Subsea cable consortia &amp; regional carriers</a:t>
              </a:r>
            </a:p>
            <a:p>
              <a:pPr marL="171450" lvl="0" indent="-171450">
                <a:buFont typeface="Arial" panose="020B0604020202020204" pitchFamily="34" charset="0"/>
                <a:buChar char="•"/>
                <a:defRPr/>
              </a:pPr>
              <a:r>
                <a:rPr lang="en-MY" sz="1050">
                  <a:solidFill>
                    <a:schemeClr val="bg1"/>
                  </a:solidFill>
                  <a:ea typeface="ＭＳ Ｐゴシック"/>
                  <a:cs typeface="Calibri" panose="020F0502020204030204" pitchFamily="34" charset="0"/>
                </a:rPr>
                <a:t>Data centre operators (Equinix, Bridge Data Centres, PDG, etc.)</a:t>
              </a:r>
            </a:p>
            <a:p>
              <a:pPr marL="171450" lvl="0" indent="-171450">
                <a:buFont typeface="Arial" panose="020B0604020202020204" pitchFamily="34" charset="0"/>
                <a:buChar char="•"/>
                <a:defRPr/>
              </a:pPr>
              <a:r>
                <a:rPr lang="en-MY" sz="1050" err="1">
                  <a:solidFill>
                    <a:schemeClr val="bg1"/>
                  </a:solidFill>
                  <a:ea typeface="ＭＳ Ｐゴシック"/>
                  <a:cs typeface="Calibri" panose="020F0502020204030204" pitchFamily="34" charset="0"/>
                </a:rPr>
                <a:t>Hyperscalers</a:t>
              </a:r>
              <a:r>
                <a:rPr lang="en-MY" sz="1050">
                  <a:solidFill>
                    <a:schemeClr val="bg1"/>
                  </a:solidFill>
                  <a:ea typeface="ＭＳ Ｐゴシック"/>
                  <a:cs typeface="Calibri" panose="020F0502020204030204" pitchFamily="34" charset="0"/>
                </a:rPr>
                <a:t> (AWS, Microsoft, Google)</a:t>
              </a:r>
            </a:p>
            <a:p>
              <a:pPr marL="171450" lvl="0" indent="-171450">
                <a:buFont typeface="Arial" panose="020B0604020202020204" pitchFamily="34" charset="0"/>
                <a:buChar char="•"/>
                <a:defRPr/>
              </a:pPr>
              <a:r>
                <a:rPr lang="en-MY" sz="1050">
                  <a:solidFill>
                    <a:schemeClr val="bg1"/>
                  </a:solidFill>
                  <a:ea typeface="ＭＳ Ｐゴシック"/>
                  <a:cs typeface="Calibri" panose="020F0502020204030204" pitchFamily="34" charset="0"/>
                </a:rPr>
                <a:t>Cross-border partners (MY–SG, MY–TH routes)</a:t>
              </a:r>
            </a:p>
            <a:p>
              <a:pPr marL="171450" lvl="0" indent="-171450">
                <a:buFont typeface="Arial" panose="020B0604020202020204" pitchFamily="34" charset="0"/>
                <a:buChar char="•"/>
                <a:defRPr/>
              </a:pPr>
              <a:r>
                <a:rPr lang="en-MY" sz="1050">
                  <a:solidFill>
                    <a:schemeClr val="bg1"/>
                  </a:solidFill>
                  <a:ea typeface="ＭＳ Ｐゴシック"/>
                  <a:cs typeface="Calibri" panose="020F0502020204030204" pitchFamily="34" charset="0"/>
                </a:rPr>
                <a:t>Infrastructure &amp; fibre partners in Malaysia</a:t>
              </a:r>
              <a:endParaRPr kumimoji="0" lang="en-MY" sz="1050" i="0" u="none" strike="noStrike" kern="1200" cap="none" spc="0" normalizeH="0" baseline="0" noProof="0">
                <a:ln>
                  <a:noFill/>
                </a:ln>
                <a:solidFill>
                  <a:schemeClr val="bg1"/>
                </a:solidFill>
                <a:effectLst/>
                <a:uLnTx/>
                <a:uFillTx/>
                <a:ea typeface="ＭＳ Ｐゴシック"/>
                <a:cs typeface="Calibri" panose="020F0502020204030204" pitchFamily="34" charset="0"/>
              </a:endParaRPr>
            </a:p>
          </p:txBody>
        </p:sp>
        <p:sp>
          <p:nvSpPr>
            <p:cNvPr id="67" name="TextBox 66">
              <a:extLst>
                <a:ext uri="{FF2B5EF4-FFF2-40B4-BE49-F238E27FC236}">
                  <a16:creationId xmlns:a16="http://schemas.microsoft.com/office/drawing/2014/main" id="{0C21A2DA-695F-00FA-AAC8-991DF511C0F7}"/>
                </a:ext>
              </a:extLst>
            </p:cNvPr>
            <p:cNvSpPr txBox="1"/>
            <p:nvPr/>
          </p:nvSpPr>
          <p:spPr>
            <a:xfrm>
              <a:off x="500396" y="876745"/>
              <a:ext cx="2235527" cy="276999"/>
            </a:xfrm>
            <a:prstGeom prst="rect">
              <a:avLst/>
            </a:prstGeom>
            <a:solidFill>
              <a:schemeClr val="accent1">
                <a:alpha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Century Gothic" panose="020B0502020202020204" pitchFamily="34" charset="0"/>
                  <a:ea typeface="ＭＳ Ｐゴシック"/>
                  <a:cs typeface="+mn-cs"/>
                </a:rPr>
                <a:t>Key Partners</a:t>
              </a:r>
            </a:p>
          </p:txBody>
        </p:sp>
      </p:grpSp>
      <p:grpSp>
        <p:nvGrpSpPr>
          <p:cNvPr id="94" name="Group 93">
            <a:extLst>
              <a:ext uri="{FF2B5EF4-FFF2-40B4-BE49-F238E27FC236}">
                <a16:creationId xmlns:a16="http://schemas.microsoft.com/office/drawing/2014/main" id="{5F97F94A-86FF-3A96-9A8B-AE8D8C60895E}"/>
              </a:ext>
            </a:extLst>
          </p:cNvPr>
          <p:cNvGrpSpPr/>
          <p:nvPr/>
        </p:nvGrpSpPr>
        <p:grpSpPr>
          <a:xfrm>
            <a:off x="2731526" y="1126075"/>
            <a:ext cx="2243969" cy="1684988"/>
            <a:chOff x="2731526" y="876744"/>
            <a:chExt cx="2243969" cy="1684988"/>
          </a:xfrm>
        </p:grpSpPr>
        <p:sp>
          <p:nvSpPr>
            <p:cNvPr id="59" name="TextBox 58">
              <a:extLst>
                <a:ext uri="{FF2B5EF4-FFF2-40B4-BE49-F238E27FC236}">
                  <a16:creationId xmlns:a16="http://schemas.microsoft.com/office/drawing/2014/main" id="{86BD767E-4627-DF18-0974-CE6329F3A07D}"/>
                </a:ext>
              </a:extLst>
            </p:cNvPr>
            <p:cNvSpPr txBox="1"/>
            <p:nvPr/>
          </p:nvSpPr>
          <p:spPr>
            <a:xfrm>
              <a:off x="2731526" y="1176737"/>
              <a:ext cx="2232000" cy="1384995"/>
            </a:xfrm>
            <a:prstGeom prst="rect">
              <a:avLst/>
            </a:prstGeom>
            <a:noFill/>
          </p:spPr>
          <p:txBody>
            <a:bodyPr wrap="square" rtlCol="0">
              <a:spAutoFit/>
            </a:bodyPr>
            <a:lstStyle>
              <a:defPPr>
                <a:defRPr lang="en-PL"/>
              </a:defPPr>
              <a:lvl1pPr marL="171450" lvl="0" indent="-171450">
                <a:buFont typeface="Arial" panose="020B0604020202020204" pitchFamily="34" charset="0"/>
                <a:buChar char="•"/>
                <a:defRPr sz="1100">
                  <a:solidFill>
                    <a:schemeClr val="bg1"/>
                  </a:solidFill>
                  <a:ea typeface="ＭＳ Ｐゴシック"/>
                  <a:cs typeface="Calibri" panose="020F0502020204030204" pitchFamily="34" charset="0"/>
                </a:defRPr>
              </a:lvl1pPr>
            </a:lstStyle>
            <a:p>
              <a:r>
                <a:rPr lang="en-IN" sz="1050"/>
                <a:t>Pre – Market development, solution-led wholesale selling</a:t>
              </a:r>
            </a:p>
            <a:p>
              <a:r>
                <a:rPr lang="en-IN" sz="1050"/>
                <a:t>Mid – Account management, solution design, deal structuring (IRU / capacity)</a:t>
              </a:r>
            </a:p>
            <a:p>
              <a:r>
                <a:rPr lang="en-IN" sz="1050"/>
                <a:t>Post – Network operations, NOC monitoring, SLA-driven service management</a:t>
              </a:r>
              <a:endParaRPr lang="en-MY" sz="1050"/>
            </a:p>
          </p:txBody>
        </p:sp>
        <p:sp>
          <p:nvSpPr>
            <p:cNvPr id="70" name="TextBox 69">
              <a:extLst>
                <a:ext uri="{FF2B5EF4-FFF2-40B4-BE49-F238E27FC236}">
                  <a16:creationId xmlns:a16="http://schemas.microsoft.com/office/drawing/2014/main" id="{70C94B87-82BE-4B83-55FA-B5D4DCA16249}"/>
                </a:ext>
              </a:extLst>
            </p:cNvPr>
            <p:cNvSpPr txBox="1"/>
            <p:nvPr/>
          </p:nvSpPr>
          <p:spPr>
            <a:xfrm>
              <a:off x="2739968" y="876744"/>
              <a:ext cx="2235527" cy="276999"/>
            </a:xfrm>
            <a:prstGeom prst="rect">
              <a:avLst/>
            </a:prstGeom>
            <a:solidFill>
              <a:schemeClr val="accent1">
                <a:alpha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Century Gothic" panose="020B0502020202020204" pitchFamily="34" charset="0"/>
                  <a:ea typeface="ＭＳ Ｐゴシック"/>
                  <a:cs typeface="+mn-cs"/>
                </a:rPr>
                <a:t>Key Activities</a:t>
              </a:r>
            </a:p>
          </p:txBody>
        </p:sp>
      </p:grpSp>
      <p:grpSp>
        <p:nvGrpSpPr>
          <p:cNvPr id="101" name="Group 100">
            <a:extLst>
              <a:ext uri="{FF2B5EF4-FFF2-40B4-BE49-F238E27FC236}">
                <a16:creationId xmlns:a16="http://schemas.microsoft.com/office/drawing/2014/main" id="{C22BA281-3779-8300-859F-7C054D3FA99E}"/>
              </a:ext>
            </a:extLst>
          </p:cNvPr>
          <p:cNvGrpSpPr/>
          <p:nvPr/>
        </p:nvGrpSpPr>
        <p:grpSpPr>
          <a:xfrm>
            <a:off x="9456078" y="1112009"/>
            <a:ext cx="2249096" cy="4515729"/>
            <a:chOff x="9456078" y="1013153"/>
            <a:chExt cx="2249096" cy="4515729"/>
          </a:xfrm>
        </p:grpSpPr>
        <p:grpSp>
          <p:nvGrpSpPr>
            <p:cNvPr id="97" name="Group 96">
              <a:extLst>
                <a:ext uri="{FF2B5EF4-FFF2-40B4-BE49-F238E27FC236}">
                  <a16:creationId xmlns:a16="http://schemas.microsoft.com/office/drawing/2014/main" id="{2B5B7C9F-29B7-4461-BC22-E96D400B3F15}"/>
                </a:ext>
              </a:extLst>
            </p:cNvPr>
            <p:cNvGrpSpPr/>
            <p:nvPr/>
          </p:nvGrpSpPr>
          <p:grpSpPr>
            <a:xfrm>
              <a:off x="9456078" y="1013153"/>
              <a:ext cx="2245569" cy="4515729"/>
              <a:chOff x="9456078" y="862678"/>
              <a:chExt cx="2245569" cy="4515729"/>
            </a:xfrm>
          </p:grpSpPr>
          <p:sp>
            <p:nvSpPr>
              <p:cNvPr id="3" name="TextBox 2">
                <a:extLst>
                  <a:ext uri="{FF2B5EF4-FFF2-40B4-BE49-F238E27FC236}">
                    <a16:creationId xmlns:a16="http://schemas.microsoft.com/office/drawing/2014/main" id="{C985EDE2-76C4-F487-7D53-AF23B925F057}"/>
                  </a:ext>
                </a:extLst>
              </p:cNvPr>
              <p:cNvSpPr txBox="1"/>
              <p:nvPr/>
            </p:nvSpPr>
            <p:spPr>
              <a:xfrm>
                <a:off x="9469647" y="1096282"/>
                <a:ext cx="2232000" cy="2015936"/>
              </a:xfrm>
              <a:prstGeom prst="rect">
                <a:avLst/>
              </a:prstGeom>
              <a:noFill/>
            </p:spPr>
            <p:txBody>
              <a:bodyPr wrap="square" rtlCol="0">
                <a:spAutoFit/>
              </a:bodyPr>
              <a:lstStyle/>
              <a:p>
                <a:pPr marL="173038" lvl="1" indent="-173038">
                  <a:spcAft>
                    <a:spcPts val="600"/>
                  </a:spcAft>
                  <a:buFont typeface="Wingdings" panose="05000000000000000000" pitchFamily="2" charset="2"/>
                  <a:buChar char="§"/>
                  <a:defRPr/>
                </a:pPr>
                <a:r>
                  <a:rPr lang="en-MY" sz="1050" err="1">
                    <a:solidFill>
                      <a:schemeClr val="bg1"/>
                    </a:solidFill>
                    <a:ea typeface="ＭＳ Ｐゴシック"/>
                    <a:cs typeface="Calibri" panose="020F0502020204030204" pitchFamily="34" charset="0"/>
                  </a:rPr>
                  <a:t>Hyperscalers</a:t>
                </a:r>
                <a:r>
                  <a:rPr lang="en-MY" sz="1050">
                    <a:solidFill>
                      <a:schemeClr val="bg1"/>
                    </a:solidFill>
                    <a:ea typeface="ＭＳ Ｐゴシック"/>
                    <a:cs typeface="Calibri" panose="020F0502020204030204" pitchFamily="34" charset="0"/>
                  </a:rPr>
                  <a:t> (AWS, Microsoft, Google, ByteDance)</a:t>
                </a:r>
              </a:p>
              <a:p>
                <a:pPr marL="173038" lvl="1" indent="-173038">
                  <a:spcAft>
                    <a:spcPts val="600"/>
                  </a:spcAft>
                  <a:buFont typeface="Wingdings" panose="05000000000000000000" pitchFamily="2" charset="2"/>
                  <a:buChar char="§"/>
                  <a:defRPr/>
                </a:pPr>
                <a:r>
                  <a:rPr lang="en-MY" sz="1050">
                    <a:solidFill>
                      <a:schemeClr val="bg1"/>
                    </a:solidFill>
                    <a:ea typeface="ＭＳ Ｐゴシック"/>
                    <a:cs typeface="Calibri" panose="020F0502020204030204" pitchFamily="34" charset="0"/>
                  </a:rPr>
                  <a:t>Global &amp; regional carriers (NTT, Singtel, etc.)</a:t>
                </a:r>
              </a:p>
              <a:p>
                <a:pPr marL="173038" lvl="1" indent="-173038">
                  <a:spcAft>
                    <a:spcPts val="600"/>
                  </a:spcAft>
                  <a:buFont typeface="Wingdings" panose="05000000000000000000" pitchFamily="2" charset="2"/>
                  <a:buChar char="§"/>
                  <a:defRPr/>
                </a:pPr>
                <a:r>
                  <a:rPr lang="en-MY" sz="1050">
                    <a:solidFill>
                      <a:schemeClr val="bg1"/>
                    </a:solidFill>
                    <a:ea typeface="ＭＳ Ｐゴシック"/>
                    <a:cs typeface="Calibri" panose="020F0502020204030204" pitchFamily="34" charset="0"/>
                  </a:rPr>
                  <a:t>Data centre providers (Equinix, Vantage, PDG, Bridge)</a:t>
                </a:r>
              </a:p>
              <a:p>
                <a:pPr marL="173038" lvl="1" indent="-173038">
                  <a:spcAft>
                    <a:spcPts val="600"/>
                  </a:spcAft>
                  <a:buFont typeface="Wingdings" panose="05000000000000000000" pitchFamily="2" charset="2"/>
                  <a:buChar char="§"/>
                  <a:defRPr/>
                </a:pPr>
                <a:r>
                  <a:rPr lang="en-MY" sz="1050">
                    <a:solidFill>
                      <a:schemeClr val="bg1"/>
                    </a:solidFill>
                    <a:ea typeface="ＭＳ Ｐゴシック"/>
                    <a:cs typeface="Calibri" panose="020F0502020204030204" pitchFamily="34" charset="0"/>
                  </a:rPr>
                  <a:t>OTTs / content players</a:t>
                </a:r>
              </a:p>
              <a:p>
                <a:pPr marL="173038" lvl="1" indent="-173038">
                  <a:spcAft>
                    <a:spcPts val="600"/>
                  </a:spcAft>
                  <a:buFont typeface="Wingdings" panose="05000000000000000000" pitchFamily="2" charset="2"/>
                  <a:buChar char="§"/>
                  <a:defRPr/>
                </a:pPr>
                <a:r>
                  <a:rPr lang="en-MY" sz="1050">
                    <a:solidFill>
                      <a:schemeClr val="bg1"/>
                    </a:solidFill>
                    <a:ea typeface="ＭＳ Ｐゴシック"/>
                    <a:cs typeface="Calibri" panose="020F0502020204030204" pitchFamily="34" charset="0"/>
                  </a:rPr>
                  <a:t>MVNOs &amp; enterprise customers requiring DC connectivity</a:t>
                </a:r>
                <a:endParaRPr kumimoji="0" lang="en-MY" sz="1050" b="0" i="0" u="none" strike="noStrike" kern="1200" cap="none" spc="0" normalizeH="0" baseline="0" noProof="0">
                  <a:ln>
                    <a:noFill/>
                  </a:ln>
                  <a:solidFill>
                    <a:schemeClr val="bg1"/>
                  </a:solidFill>
                  <a:effectLst/>
                  <a:uLnTx/>
                  <a:uFillTx/>
                  <a:ea typeface="ＭＳ Ｐゴシック"/>
                  <a:cs typeface="Calibri" panose="020F0502020204030204" pitchFamily="34" charset="0"/>
                </a:endParaRPr>
              </a:p>
            </p:txBody>
          </p:sp>
          <p:sp>
            <p:nvSpPr>
              <p:cNvPr id="14" name="Rectangle 13">
                <a:extLst>
                  <a:ext uri="{FF2B5EF4-FFF2-40B4-BE49-F238E27FC236}">
                    <a16:creationId xmlns:a16="http://schemas.microsoft.com/office/drawing/2014/main" id="{F2E0281E-F3CD-DBAC-80A6-A15EAABA05AA}"/>
                  </a:ext>
                </a:extLst>
              </p:cNvPr>
              <p:cNvSpPr/>
              <p:nvPr/>
            </p:nvSpPr>
            <p:spPr>
              <a:xfrm>
                <a:off x="9456078" y="862678"/>
                <a:ext cx="2242313" cy="4515729"/>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bg1"/>
                  </a:solidFill>
                  <a:effectLst/>
                  <a:uLnTx/>
                  <a:uFillTx/>
                  <a:latin typeface="Century Gothic" panose="020B0502020202020204" pitchFamily="34" charset="0"/>
                  <a:ea typeface="ＭＳ Ｐゴシック"/>
                  <a:cs typeface="+mn-cs"/>
                </a:endParaRPr>
              </a:p>
            </p:txBody>
          </p:sp>
        </p:grpSp>
        <p:sp>
          <p:nvSpPr>
            <p:cNvPr id="73" name="TextBox 72">
              <a:extLst>
                <a:ext uri="{FF2B5EF4-FFF2-40B4-BE49-F238E27FC236}">
                  <a16:creationId xmlns:a16="http://schemas.microsoft.com/office/drawing/2014/main" id="{2564BB0E-18B1-41BF-34E8-02DB4153D4DE}"/>
                </a:ext>
              </a:extLst>
            </p:cNvPr>
            <p:cNvSpPr txBox="1"/>
            <p:nvPr/>
          </p:nvSpPr>
          <p:spPr>
            <a:xfrm>
              <a:off x="9469647" y="1029589"/>
              <a:ext cx="2235527" cy="276999"/>
            </a:xfrm>
            <a:prstGeom prst="rect">
              <a:avLst/>
            </a:prstGeom>
            <a:solidFill>
              <a:schemeClr val="accent1">
                <a:alpha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Century Gothic" panose="020B0502020202020204" pitchFamily="34" charset="0"/>
                  <a:ea typeface="ＭＳ Ｐゴシック"/>
                  <a:cs typeface="+mn-cs"/>
                </a:rPr>
                <a:t>Customer Segments</a:t>
              </a:r>
            </a:p>
          </p:txBody>
        </p:sp>
      </p:grpSp>
      <p:grpSp>
        <p:nvGrpSpPr>
          <p:cNvPr id="95" name="Group 94">
            <a:extLst>
              <a:ext uri="{FF2B5EF4-FFF2-40B4-BE49-F238E27FC236}">
                <a16:creationId xmlns:a16="http://schemas.microsoft.com/office/drawing/2014/main" id="{3C5A9D16-F1C7-FFDF-6888-69FF4E8ECE83}"/>
              </a:ext>
            </a:extLst>
          </p:cNvPr>
          <p:cNvGrpSpPr/>
          <p:nvPr/>
        </p:nvGrpSpPr>
        <p:grpSpPr>
          <a:xfrm>
            <a:off x="4976495" y="1131044"/>
            <a:ext cx="2242451" cy="2957816"/>
            <a:chOff x="4976495" y="875617"/>
            <a:chExt cx="2242451" cy="2957816"/>
          </a:xfrm>
        </p:grpSpPr>
        <p:sp>
          <p:nvSpPr>
            <p:cNvPr id="61" name="TextBox 60">
              <a:extLst>
                <a:ext uri="{FF2B5EF4-FFF2-40B4-BE49-F238E27FC236}">
                  <a16:creationId xmlns:a16="http://schemas.microsoft.com/office/drawing/2014/main" id="{0764A690-4CFC-7A7B-AA42-71139387178A}"/>
                </a:ext>
              </a:extLst>
            </p:cNvPr>
            <p:cNvSpPr txBox="1"/>
            <p:nvPr/>
          </p:nvSpPr>
          <p:spPr>
            <a:xfrm>
              <a:off x="4976495" y="1155777"/>
              <a:ext cx="2232000" cy="2677656"/>
            </a:xfrm>
            <a:prstGeom prst="rect">
              <a:avLst/>
            </a:prstGeom>
            <a:noFill/>
          </p:spPr>
          <p:txBody>
            <a:bodyPr wrap="square" rtlCol="0">
              <a:spAutoFit/>
            </a:bodyPr>
            <a:lstStyle>
              <a:defPPr>
                <a:defRPr lang="en-PL"/>
              </a:defPPr>
              <a:lvl1pPr marL="171450" lvl="0" indent="-171450">
                <a:buFont typeface="Arial" panose="020B0604020202020204" pitchFamily="34" charset="0"/>
                <a:buChar char="•"/>
                <a:defRPr sz="1100">
                  <a:solidFill>
                    <a:schemeClr val="bg1"/>
                  </a:solidFill>
                  <a:ea typeface="ＭＳ Ｐゴシック"/>
                  <a:cs typeface="Calibri" panose="020F0502020204030204" pitchFamily="34" charset="0"/>
                </a:defRPr>
              </a:lvl1pPr>
            </a:lstStyle>
            <a:p>
              <a:r>
                <a:rPr lang="en-MY" sz="1050"/>
                <a:t>High-capacity, low-latency connectivity across key routes (MY–SG, MY–TH, domestic backbone)</a:t>
              </a:r>
            </a:p>
            <a:p>
              <a:r>
                <a:rPr lang="en-MY" sz="1050"/>
                <a:t>Resilient, carrier-grade infrastructure (high availability, secure)</a:t>
              </a:r>
            </a:p>
            <a:p>
              <a:r>
                <a:rPr lang="en-MY" sz="1050"/>
                <a:t>Fast provisioning &amp; scalable capacity for </a:t>
              </a:r>
              <a:r>
                <a:rPr lang="en-MY" sz="1050" err="1"/>
                <a:t>hyperscaler</a:t>
              </a:r>
              <a:r>
                <a:rPr lang="en-MY" sz="1050"/>
                <a:t> workloads</a:t>
              </a:r>
            </a:p>
            <a:p>
              <a:r>
                <a:rPr lang="en-MY" sz="1050"/>
                <a:t>Integrated offerings: connectivity + DC interconnect + IP transit</a:t>
              </a:r>
            </a:p>
            <a:p>
              <a:r>
                <a:rPr lang="en-MY" sz="1050"/>
                <a:t>Dark fibre &amp; high-bandwidth solutions for AI / cloud demand</a:t>
              </a:r>
            </a:p>
          </p:txBody>
        </p:sp>
        <p:sp>
          <p:nvSpPr>
            <p:cNvPr id="79" name="TextBox 78">
              <a:extLst>
                <a:ext uri="{FF2B5EF4-FFF2-40B4-BE49-F238E27FC236}">
                  <a16:creationId xmlns:a16="http://schemas.microsoft.com/office/drawing/2014/main" id="{B2834ECB-0E69-D819-B0BE-A19569E3D0AD}"/>
                </a:ext>
              </a:extLst>
            </p:cNvPr>
            <p:cNvSpPr txBox="1"/>
            <p:nvPr/>
          </p:nvSpPr>
          <p:spPr>
            <a:xfrm>
              <a:off x="4983073" y="875617"/>
              <a:ext cx="2235873" cy="276189"/>
            </a:xfrm>
            <a:prstGeom prst="rect">
              <a:avLst/>
            </a:prstGeom>
            <a:solidFill>
              <a:schemeClr val="accent1">
                <a:alpha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Century Gothic" panose="020B0502020202020204" pitchFamily="34" charset="0"/>
                  <a:ea typeface="ＭＳ Ｐゴシック"/>
                  <a:cs typeface="+mn-cs"/>
                </a:rPr>
                <a:t>Value Proposition</a:t>
              </a:r>
            </a:p>
          </p:txBody>
        </p:sp>
      </p:grpSp>
      <p:grpSp>
        <p:nvGrpSpPr>
          <p:cNvPr id="92" name="Group 91">
            <a:extLst>
              <a:ext uri="{FF2B5EF4-FFF2-40B4-BE49-F238E27FC236}">
                <a16:creationId xmlns:a16="http://schemas.microsoft.com/office/drawing/2014/main" id="{856209B6-AAD0-5F16-E4AF-14ECBB94F5E8}"/>
              </a:ext>
            </a:extLst>
          </p:cNvPr>
          <p:cNvGrpSpPr/>
          <p:nvPr/>
        </p:nvGrpSpPr>
        <p:grpSpPr>
          <a:xfrm>
            <a:off x="6106480" y="5565591"/>
            <a:ext cx="5591911" cy="1181315"/>
            <a:chOff x="6106480" y="5392593"/>
            <a:chExt cx="5591911" cy="1181315"/>
          </a:xfrm>
        </p:grpSpPr>
        <p:sp>
          <p:nvSpPr>
            <p:cNvPr id="64" name="TextBox 63">
              <a:extLst>
                <a:ext uri="{FF2B5EF4-FFF2-40B4-BE49-F238E27FC236}">
                  <a16:creationId xmlns:a16="http://schemas.microsoft.com/office/drawing/2014/main" id="{516F8FD0-8525-D7A1-EEBB-FB9E990E0555}"/>
                </a:ext>
              </a:extLst>
            </p:cNvPr>
            <p:cNvSpPr txBox="1"/>
            <p:nvPr/>
          </p:nvSpPr>
          <p:spPr>
            <a:xfrm>
              <a:off x="6113266" y="5673662"/>
              <a:ext cx="5585125" cy="900246"/>
            </a:xfrm>
            <a:prstGeom prst="rect">
              <a:avLst/>
            </a:prstGeom>
            <a:noFill/>
          </p:spPr>
          <p:txBody>
            <a:bodyPr wrap="square" rtlCol="0">
              <a:spAutoFit/>
            </a:bodyPr>
            <a:lstStyle/>
            <a:p>
              <a:pPr marL="171450" lvl="1" indent="-171450">
                <a:buFont typeface="Wingdings" panose="05000000000000000000" pitchFamily="2" charset="2"/>
                <a:buChar char="§"/>
                <a:defRPr/>
              </a:pPr>
              <a:r>
                <a:rPr lang="en-IN" sz="1050">
                  <a:solidFill>
                    <a:schemeClr val="bg1"/>
                  </a:solidFill>
                  <a:ea typeface="ＭＳ Ｐゴシック"/>
                  <a:cs typeface="Calibri" panose="020F0502020204030204" pitchFamily="34" charset="0"/>
                </a:rPr>
                <a:t>Dark fibre &amp; capacity leasing (IRU / long-term leases)</a:t>
              </a:r>
            </a:p>
            <a:p>
              <a:pPr marL="171450" lvl="1" indent="-171450">
                <a:buFont typeface="Wingdings" panose="05000000000000000000" pitchFamily="2" charset="2"/>
                <a:buChar char="§"/>
                <a:defRPr/>
              </a:pPr>
              <a:r>
                <a:rPr lang="en-IN" sz="1050">
                  <a:solidFill>
                    <a:schemeClr val="bg1"/>
                  </a:solidFill>
                  <a:ea typeface="ＭＳ Ｐゴシック"/>
                  <a:cs typeface="Calibri" panose="020F0502020204030204" pitchFamily="34" charset="0"/>
                </a:rPr>
                <a:t>IP transit (usage-based pricing)</a:t>
              </a:r>
            </a:p>
            <a:p>
              <a:pPr marL="171450" lvl="1" indent="-171450">
                <a:buFont typeface="Wingdings" panose="05000000000000000000" pitchFamily="2" charset="2"/>
                <a:buChar char="§"/>
                <a:defRPr/>
              </a:pPr>
              <a:r>
                <a:rPr lang="en-IN" sz="1050">
                  <a:solidFill>
                    <a:schemeClr val="bg1"/>
                  </a:solidFill>
                  <a:ea typeface="ＭＳ Ｐゴシック"/>
                  <a:cs typeface="Calibri" panose="020F0502020204030204" pitchFamily="34" charset="0"/>
                </a:rPr>
                <a:t>DC interconnect &amp; cross-connect services</a:t>
              </a:r>
            </a:p>
            <a:p>
              <a:pPr marL="171450" lvl="1" indent="-171450">
                <a:buFont typeface="Wingdings" panose="05000000000000000000" pitchFamily="2" charset="2"/>
                <a:buChar char="§"/>
                <a:defRPr/>
              </a:pPr>
              <a:r>
                <a:rPr lang="en-IN" sz="1050">
                  <a:solidFill>
                    <a:schemeClr val="bg1"/>
                  </a:solidFill>
                  <a:ea typeface="ＭＳ Ｐゴシック"/>
                  <a:cs typeface="Calibri" panose="020F0502020204030204" pitchFamily="34" charset="0"/>
                </a:rPr>
                <a:t>Bundled wholesale offerings (connectivity + DC + IP)</a:t>
              </a:r>
            </a:p>
            <a:p>
              <a:pPr marL="171450" lvl="1" indent="-171450">
                <a:buFont typeface="Wingdings" panose="05000000000000000000" pitchFamily="2" charset="2"/>
                <a:buChar char="§"/>
                <a:defRPr/>
              </a:pPr>
              <a:r>
                <a:rPr lang="en-IN" sz="1050">
                  <a:solidFill>
                    <a:schemeClr val="bg1"/>
                  </a:solidFill>
                  <a:ea typeface="ＭＳ Ｐゴシック"/>
                  <a:cs typeface="Calibri" panose="020F0502020204030204" pitchFamily="34" charset="0"/>
                </a:rPr>
                <a:t>Premium pricing for low-latency, high-availability routes</a:t>
              </a:r>
              <a:endParaRPr kumimoji="0" lang="en-MY" sz="1050" b="0" i="0" u="none" strike="noStrike" kern="1200" cap="none" spc="0" normalizeH="0" baseline="0" noProof="0">
                <a:ln>
                  <a:noFill/>
                </a:ln>
                <a:solidFill>
                  <a:schemeClr val="bg1"/>
                </a:solidFill>
                <a:effectLst/>
                <a:uLnTx/>
                <a:uFillTx/>
                <a:ea typeface="ＭＳ Ｐゴシック"/>
                <a:cs typeface="Calibri" panose="020F0502020204030204" pitchFamily="34" charset="0"/>
              </a:endParaRPr>
            </a:p>
          </p:txBody>
        </p:sp>
        <p:sp>
          <p:nvSpPr>
            <p:cNvPr id="82" name="TextBox 81">
              <a:extLst>
                <a:ext uri="{FF2B5EF4-FFF2-40B4-BE49-F238E27FC236}">
                  <a16:creationId xmlns:a16="http://schemas.microsoft.com/office/drawing/2014/main" id="{8D89B475-8DB3-B281-3658-A2557DBA115C}"/>
                </a:ext>
              </a:extLst>
            </p:cNvPr>
            <p:cNvSpPr txBox="1"/>
            <p:nvPr/>
          </p:nvSpPr>
          <p:spPr>
            <a:xfrm>
              <a:off x="6106480" y="5392593"/>
              <a:ext cx="5585124" cy="276999"/>
            </a:xfrm>
            <a:prstGeom prst="rect">
              <a:avLst/>
            </a:prstGeom>
            <a:solidFill>
              <a:schemeClr val="accent1">
                <a:alpha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Century Gothic" panose="020B0502020202020204" pitchFamily="34" charset="0"/>
                  <a:ea typeface="ＭＳ Ｐゴシック"/>
                  <a:cs typeface="+mn-cs"/>
                </a:rPr>
                <a:t>Revenue Streams </a:t>
              </a:r>
            </a:p>
          </p:txBody>
        </p:sp>
      </p:grpSp>
      <p:grpSp>
        <p:nvGrpSpPr>
          <p:cNvPr id="91" name="Group 90">
            <a:extLst>
              <a:ext uri="{FF2B5EF4-FFF2-40B4-BE49-F238E27FC236}">
                <a16:creationId xmlns:a16="http://schemas.microsoft.com/office/drawing/2014/main" id="{7E767208-6CAD-8A24-1A02-ACE9CAF0A625}"/>
              </a:ext>
            </a:extLst>
          </p:cNvPr>
          <p:cNvGrpSpPr/>
          <p:nvPr/>
        </p:nvGrpSpPr>
        <p:grpSpPr>
          <a:xfrm>
            <a:off x="497708" y="5565473"/>
            <a:ext cx="5601381" cy="1053628"/>
            <a:chOff x="497708" y="5392475"/>
            <a:chExt cx="5601381" cy="1053628"/>
          </a:xfrm>
        </p:grpSpPr>
        <p:sp>
          <p:nvSpPr>
            <p:cNvPr id="65" name="TextBox 64">
              <a:extLst>
                <a:ext uri="{FF2B5EF4-FFF2-40B4-BE49-F238E27FC236}">
                  <a16:creationId xmlns:a16="http://schemas.microsoft.com/office/drawing/2014/main" id="{D3737043-6D66-8005-5B5A-56BEA75E9566}"/>
                </a:ext>
              </a:extLst>
            </p:cNvPr>
            <p:cNvSpPr txBox="1"/>
            <p:nvPr/>
          </p:nvSpPr>
          <p:spPr>
            <a:xfrm>
              <a:off x="497708" y="5676662"/>
              <a:ext cx="5534445" cy="769441"/>
            </a:xfrm>
            <a:prstGeom prst="rect">
              <a:avLst/>
            </a:prstGeom>
            <a:noFill/>
          </p:spPr>
          <p:txBody>
            <a:bodyPr wrap="square" rtlCol="0">
              <a:spAutoFit/>
            </a:bodyPr>
            <a:lstStyle>
              <a:defPPr>
                <a:defRPr lang="en-PL"/>
              </a:defPPr>
              <a:lvl1pPr marL="171450" lvl="0" indent="-171450">
                <a:buFont typeface="Arial" panose="020B0604020202020204" pitchFamily="34" charset="0"/>
                <a:buChar char="•"/>
                <a:defRPr sz="1100">
                  <a:solidFill>
                    <a:schemeClr val="bg1"/>
                  </a:solidFill>
                  <a:ea typeface="ＭＳ Ｐゴシック"/>
                  <a:cs typeface="Calibri" panose="020F0502020204030204" pitchFamily="34" charset="0"/>
                </a:defRPr>
              </a:lvl1pPr>
            </a:lstStyle>
            <a:p>
              <a:pPr>
                <a:buFont typeface="Wingdings" panose="05000000000000000000" pitchFamily="2" charset="2"/>
                <a:buChar char="§"/>
              </a:pPr>
              <a:r>
                <a:rPr lang="en-IN"/>
                <a:t>CAPEX: Fibre expansion, cross-border capacity, DC interconnect</a:t>
              </a:r>
            </a:p>
            <a:p>
              <a:pPr>
                <a:buFont typeface="Wingdings" panose="05000000000000000000" pitchFamily="2" charset="2"/>
                <a:buChar char="§"/>
              </a:pPr>
              <a:r>
                <a:rPr lang="en-IN"/>
                <a:t>Subsea &amp; infrastructure investments</a:t>
              </a:r>
            </a:p>
            <a:p>
              <a:pPr>
                <a:buFont typeface="Wingdings" panose="05000000000000000000" pitchFamily="2" charset="2"/>
                <a:buChar char="§"/>
              </a:pPr>
              <a:r>
                <a:rPr lang="en-IN"/>
                <a:t>OPEX: Network operations, maintenance, power, staffing</a:t>
              </a:r>
            </a:p>
            <a:p>
              <a:pPr>
                <a:buFont typeface="Wingdings" panose="05000000000000000000" pitchFamily="2" charset="2"/>
                <a:buChar char="§"/>
              </a:pPr>
              <a:r>
                <a:rPr lang="en-IN"/>
                <a:t>Sales &amp; partnership management costs</a:t>
              </a:r>
              <a:endParaRPr lang="en-MY"/>
            </a:p>
          </p:txBody>
        </p:sp>
        <p:sp>
          <p:nvSpPr>
            <p:cNvPr id="85" name="TextBox 84">
              <a:extLst>
                <a:ext uri="{FF2B5EF4-FFF2-40B4-BE49-F238E27FC236}">
                  <a16:creationId xmlns:a16="http://schemas.microsoft.com/office/drawing/2014/main" id="{63389F10-D6C7-1CBA-7C4D-A61D223D79C6}"/>
                </a:ext>
              </a:extLst>
            </p:cNvPr>
            <p:cNvSpPr txBox="1"/>
            <p:nvPr/>
          </p:nvSpPr>
          <p:spPr>
            <a:xfrm>
              <a:off x="513964" y="5392475"/>
              <a:ext cx="5585125" cy="276998"/>
            </a:xfrm>
            <a:prstGeom prst="rect">
              <a:avLst/>
            </a:prstGeom>
            <a:solidFill>
              <a:schemeClr val="accent1">
                <a:alpha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Century Gothic" panose="020B0502020202020204" pitchFamily="34" charset="0"/>
                  <a:ea typeface="ＭＳ Ｐゴシック"/>
                  <a:cs typeface="+mn-cs"/>
                </a:rPr>
                <a:t>Cost Structure </a:t>
              </a:r>
            </a:p>
          </p:txBody>
        </p:sp>
      </p:grpSp>
      <p:grpSp>
        <p:nvGrpSpPr>
          <p:cNvPr id="100" name="Group 99">
            <a:extLst>
              <a:ext uri="{FF2B5EF4-FFF2-40B4-BE49-F238E27FC236}">
                <a16:creationId xmlns:a16="http://schemas.microsoft.com/office/drawing/2014/main" id="{2C701BFB-805D-13E2-CDA6-0777B68D1FC0}"/>
              </a:ext>
            </a:extLst>
          </p:cNvPr>
          <p:cNvGrpSpPr/>
          <p:nvPr/>
        </p:nvGrpSpPr>
        <p:grpSpPr>
          <a:xfrm>
            <a:off x="7212519" y="1120036"/>
            <a:ext cx="2251059" cy="1850487"/>
            <a:chOff x="7212519" y="1021180"/>
            <a:chExt cx="2251059" cy="1850487"/>
          </a:xfrm>
        </p:grpSpPr>
        <p:sp>
          <p:nvSpPr>
            <p:cNvPr id="76" name="TextBox 75">
              <a:extLst>
                <a:ext uri="{FF2B5EF4-FFF2-40B4-BE49-F238E27FC236}">
                  <a16:creationId xmlns:a16="http://schemas.microsoft.com/office/drawing/2014/main" id="{CAB4BEED-3037-B2C3-B91F-C8A4CA585C48}"/>
                </a:ext>
              </a:extLst>
            </p:cNvPr>
            <p:cNvSpPr txBox="1"/>
            <p:nvPr/>
          </p:nvSpPr>
          <p:spPr>
            <a:xfrm>
              <a:off x="7234507" y="1026092"/>
              <a:ext cx="2222219" cy="287579"/>
            </a:xfrm>
            <a:prstGeom prst="rect">
              <a:avLst/>
            </a:prstGeom>
            <a:solidFill>
              <a:schemeClr val="accent1">
                <a:alpha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Century Gothic" panose="020B0502020202020204" pitchFamily="34" charset="0"/>
                  <a:ea typeface="ＭＳ Ｐゴシック"/>
                  <a:cs typeface="+mn-cs"/>
                </a:rPr>
                <a:t>Customer Relationship</a:t>
              </a:r>
            </a:p>
          </p:txBody>
        </p:sp>
        <p:grpSp>
          <p:nvGrpSpPr>
            <p:cNvPr id="96" name="Group 95">
              <a:extLst>
                <a:ext uri="{FF2B5EF4-FFF2-40B4-BE49-F238E27FC236}">
                  <a16:creationId xmlns:a16="http://schemas.microsoft.com/office/drawing/2014/main" id="{3C9ECFC3-1C91-1875-DC00-5359BEC778CA}"/>
                </a:ext>
              </a:extLst>
            </p:cNvPr>
            <p:cNvGrpSpPr/>
            <p:nvPr/>
          </p:nvGrpSpPr>
          <p:grpSpPr>
            <a:xfrm>
              <a:off x="7212519" y="1021180"/>
              <a:ext cx="2251059" cy="1850487"/>
              <a:chOff x="7212519" y="864609"/>
              <a:chExt cx="2251059" cy="1850487"/>
            </a:xfrm>
          </p:grpSpPr>
          <p:sp>
            <p:nvSpPr>
              <p:cNvPr id="62" name="TextBox 61">
                <a:extLst>
                  <a:ext uri="{FF2B5EF4-FFF2-40B4-BE49-F238E27FC236}">
                    <a16:creationId xmlns:a16="http://schemas.microsoft.com/office/drawing/2014/main" id="{F002C8AA-7662-709E-5B42-7DB90ED52FDF}"/>
                  </a:ext>
                </a:extLst>
              </p:cNvPr>
              <p:cNvSpPr txBox="1"/>
              <p:nvPr/>
            </p:nvSpPr>
            <p:spPr>
              <a:xfrm>
                <a:off x="7228051" y="1168519"/>
                <a:ext cx="2235527" cy="1546577"/>
              </a:xfrm>
              <a:prstGeom prst="rect">
                <a:avLst/>
              </a:prstGeom>
              <a:noFill/>
            </p:spPr>
            <p:txBody>
              <a:bodyPr wrap="square" rtlCol="0">
                <a:spAutoFit/>
              </a:bodyPr>
              <a:lstStyle>
                <a:defPPr>
                  <a:defRPr lang="en-PL"/>
                </a:defPPr>
                <a:lvl1pPr marL="171450" lvl="0" indent="-171450">
                  <a:buFont typeface="Arial" panose="020B0604020202020204" pitchFamily="34" charset="0"/>
                  <a:buChar char="•"/>
                  <a:defRPr sz="1100">
                    <a:solidFill>
                      <a:schemeClr val="bg1"/>
                    </a:solidFill>
                    <a:ea typeface="ＭＳ Ｐゴシック"/>
                    <a:cs typeface="Calibri" panose="020F0502020204030204" pitchFamily="34" charset="0"/>
                  </a:defRPr>
                </a:lvl1pPr>
              </a:lstStyle>
              <a:p>
                <a:pPr marL="0" indent="0">
                  <a:buNone/>
                </a:pPr>
                <a:r>
                  <a:rPr lang="en-IN" sz="1050"/>
                  <a:t>Pre-sales</a:t>
                </a:r>
              </a:p>
              <a:p>
                <a:r>
                  <a:rPr lang="en-IN" sz="1050"/>
                  <a:t>Strategic account mgmt. (</a:t>
                </a:r>
                <a:r>
                  <a:rPr lang="en-IN" sz="1050" err="1"/>
                  <a:t>hyperscalers</a:t>
                </a:r>
                <a:r>
                  <a:rPr lang="en-IN" sz="1050"/>
                  <a:t>, carriers)</a:t>
                </a:r>
              </a:p>
              <a:p>
                <a:r>
                  <a:rPr lang="en-IN" sz="1050"/>
                  <a:t>Solution engineering &amp; technical validation</a:t>
                </a:r>
              </a:p>
              <a:p>
                <a:pPr marL="0" indent="0">
                  <a:buNone/>
                </a:pPr>
                <a:r>
                  <a:rPr lang="en-IN" sz="1050"/>
                  <a:t>Post-sales</a:t>
                </a:r>
              </a:p>
              <a:p>
                <a:r>
                  <a:rPr lang="en-IN" sz="1050"/>
                  <a:t>Dedicated account manager</a:t>
                </a:r>
              </a:p>
              <a:p>
                <a:r>
                  <a:rPr lang="en-IN" sz="1050"/>
                  <a:t>SLA-driven service assurance &amp; escalation support</a:t>
                </a:r>
                <a:endParaRPr lang="en-MY" sz="1050"/>
              </a:p>
            </p:txBody>
          </p:sp>
          <p:sp>
            <p:nvSpPr>
              <p:cNvPr id="87" name="Rectangle 86">
                <a:extLst>
                  <a:ext uri="{FF2B5EF4-FFF2-40B4-BE49-F238E27FC236}">
                    <a16:creationId xmlns:a16="http://schemas.microsoft.com/office/drawing/2014/main" id="{93E7A2C3-02A3-0EDF-EE11-6EE0C79C2D7E}"/>
                  </a:ext>
                </a:extLst>
              </p:cNvPr>
              <p:cNvSpPr/>
              <p:nvPr/>
            </p:nvSpPr>
            <p:spPr>
              <a:xfrm>
                <a:off x="7212519" y="864609"/>
                <a:ext cx="2242313" cy="184221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bg1"/>
                  </a:solidFill>
                  <a:effectLst/>
                  <a:uLnTx/>
                  <a:uFillTx/>
                  <a:latin typeface="Century Gothic" panose="020B0502020202020204" pitchFamily="34" charset="0"/>
                  <a:ea typeface="ＭＳ Ｐゴシック"/>
                  <a:cs typeface="+mn-cs"/>
                </a:endParaRPr>
              </a:p>
            </p:txBody>
          </p:sp>
        </p:grpSp>
      </p:grpSp>
      <p:grpSp>
        <p:nvGrpSpPr>
          <p:cNvPr id="99" name="Group 98">
            <a:extLst>
              <a:ext uri="{FF2B5EF4-FFF2-40B4-BE49-F238E27FC236}">
                <a16:creationId xmlns:a16="http://schemas.microsoft.com/office/drawing/2014/main" id="{CD33DC4A-BE00-0934-0A7F-3F1CB8EF7CE5}"/>
              </a:ext>
            </a:extLst>
          </p:cNvPr>
          <p:cNvGrpSpPr/>
          <p:nvPr/>
        </p:nvGrpSpPr>
        <p:grpSpPr>
          <a:xfrm>
            <a:off x="2739967" y="2962692"/>
            <a:ext cx="2248443" cy="2643995"/>
            <a:chOff x="2739967" y="2812217"/>
            <a:chExt cx="2248443" cy="2643995"/>
          </a:xfrm>
        </p:grpSpPr>
        <p:sp>
          <p:nvSpPr>
            <p:cNvPr id="31" name="TextBox 30">
              <a:extLst>
                <a:ext uri="{FF2B5EF4-FFF2-40B4-BE49-F238E27FC236}">
                  <a16:creationId xmlns:a16="http://schemas.microsoft.com/office/drawing/2014/main" id="{B34D62F8-2522-6C40-CA3B-7FEA62AEC5FE}"/>
                </a:ext>
              </a:extLst>
            </p:cNvPr>
            <p:cNvSpPr txBox="1"/>
            <p:nvPr/>
          </p:nvSpPr>
          <p:spPr>
            <a:xfrm>
              <a:off x="2739967" y="2812217"/>
              <a:ext cx="2235527" cy="276999"/>
            </a:xfrm>
            <a:prstGeom prst="rect">
              <a:avLst/>
            </a:prstGeom>
            <a:solidFill>
              <a:schemeClr val="accent1">
                <a:alpha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Century Gothic" panose="020B0502020202020204" pitchFamily="34" charset="0"/>
                  <a:ea typeface="ＭＳ Ｐゴシック"/>
                  <a:cs typeface="+mn-cs"/>
                </a:rPr>
                <a:t>Key Resources</a:t>
              </a:r>
            </a:p>
          </p:txBody>
        </p:sp>
        <p:sp>
          <p:nvSpPr>
            <p:cNvPr id="88" name="TextBox 87">
              <a:extLst>
                <a:ext uri="{FF2B5EF4-FFF2-40B4-BE49-F238E27FC236}">
                  <a16:creationId xmlns:a16="http://schemas.microsoft.com/office/drawing/2014/main" id="{32341566-DE50-7848-F1DD-9C05F437EBC6}"/>
                </a:ext>
              </a:extLst>
            </p:cNvPr>
            <p:cNvSpPr txBox="1"/>
            <p:nvPr/>
          </p:nvSpPr>
          <p:spPr>
            <a:xfrm>
              <a:off x="2740763" y="3055555"/>
              <a:ext cx="2247647" cy="2400657"/>
            </a:xfrm>
            <a:prstGeom prst="rect">
              <a:avLst/>
            </a:prstGeom>
            <a:noFill/>
          </p:spPr>
          <p:txBody>
            <a:bodyPr wrap="square" rtlCol="0">
              <a:spAutoFit/>
            </a:bodyPr>
            <a:lstStyle>
              <a:defPPr>
                <a:defRPr lang="en-PL"/>
              </a:defPPr>
              <a:lvl1pPr marL="171450" lvl="0" indent="-171450">
                <a:buFont typeface="Arial" panose="020B0604020202020204" pitchFamily="34" charset="0"/>
                <a:buChar char="•"/>
                <a:defRPr sz="1100">
                  <a:solidFill>
                    <a:schemeClr val="bg1"/>
                  </a:solidFill>
                  <a:ea typeface="ＭＳ Ｐゴシック"/>
                  <a:cs typeface="Calibri" panose="020F0502020204030204" pitchFamily="34" charset="0"/>
                </a:defRPr>
              </a:lvl1pPr>
            </a:lstStyle>
            <a:p>
              <a:pPr marL="0" indent="0">
                <a:buNone/>
              </a:pPr>
              <a:r>
                <a:rPr lang="en-US" sz="1000"/>
                <a:t>Network</a:t>
              </a:r>
            </a:p>
            <a:p>
              <a:r>
                <a:rPr lang="en-US" sz="1000"/>
                <a:t>Domestic </a:t>
              </a:r>
              <a:r>
                <a:rPr lang="en-US" sz="1000" err="1"/>
                <a:t>fibre</a:t>
              </a:r>
              <a:r>
                <a:rPr lang="en-US" sz="1000"/>
                <a:t> backbone &amp; cross-border routes</a:t>
              </a:r>
            </a:p>
            <a:p>
              <a:r>
                <a:rPr lang="en-US" sz="1000"/>
                <a:t>Subsea cable access &amp; DC interconnect infrastructure</a:t>
              </a:r>
            </a:p>
            <a:p>
              <a:pPr marL="0" indent="0">
                <a:buNone/>
              </a:pPr>
              <a:r>
                <a:rPr lang="en-US" sz="1000"/>
                <a:t>Platforms / Systems</a:t>
              </a:r>
            </a:p>
            <a:p>
              <a:r>
                <a:rPr lang="en-US" sz="1000"/>
                <a:t>OSS / BSS for provisioning, billing, monitoring</a:t>
              </a:r>
            </a:p>
            <a:p>
              <a:r>
                <a:rPr lang="en-US" sz="1000"/>
                <a:t>Network analytics </a:t>
              </a:r>
            </a:p>
            <a:p>
              <a:pPr marL="0" indent="0">
                <a:buNone/>
              </a:pPr>
              <a:r>
                <a:rPr lang="en-US" sz="1000"/>
                <a:t>People</a:t>
              </a:r>
            </a:p>
            <a:p>
              <a:r>
                <a:rPr lang="en-US" sz="1000"/>
                <a:t>Wholesale sales &amp; solution teams</a:t>
              </a:r>
            </a:p>
            <a:p>
              <a:r>
                <a:rPr lang="en-US" sz="1000"/>
                <a:t>Network operations &amp; NOC</a:t>
              </a:r>
            </a:p>
            <a:p>
              <a:r>
                <a:rPr lang="en-US" sz="1000"/>
                <a:t>Partnerships &amp; ecosystem management</a:t>
              </a:r>
            </a:p>
          </p:txBody>
        </p:sp>
      </p:grpSp>
      <p:pic>
        <p:nvPicPr>
          <p:cNvPr id="4" name="Picture 3">
            <a:extLst>
              <a:ext uri="{FF2B5EF4-FFF2-40B4-BE49-F238E27FC236}">
                <a16:creationId xmlns:a16="http://schemas.microsoft.com/office/drawing/2014/main" id="{5D3107DC-1E2F-0942-1417-CED334AB0124}"/>
              </a:ext>
            </a:extLst>
          </p:cNvPr>
          <p:cNvPicPr>
            <a:picLocks noChangeAspect="1"/>
          </p:cNvPicPr>
          <p:nvPr/>
        </p:nvPicPr>
        <p:blipFill>
          <a:blip r:embed="rId2"/>
          <a:stretch>
            <a:fillRect/>
          </a:stretch>
        </p:blipFill>
        <p:spPr>
          <a:xfrm>
            <a:off x="10595509" y="0"/>
            <a:ext cx="1237002" cy="696510"/>
          </a:xfrm>
          <a:prstGeom prst="rect">
            <a:avLst/>
          </a:prstGeom>
        </p:spPr>
      </p:pic>
      <p:sp>
        <p:nvSpPr>
          <p:cNvPr id="5" name="Rectangle 4">
            <a:extLst>
              <a:ext uri="{FF2B5EF4-FFF2-40B4-BE49-F238E27FC236}">
                <a16:creationId xmlns:a16="http://schemas.microsoft.com/office/drawing/2014/main" id="{1810F856-D685-7A40-4836-B9C75F0C2062}"/>
              </a:ext>
            </a:extLst>
          </p:cNvPr>
          <p:cNvSpPr/>
          <p:nvPr/>
        </p:nvSpPr>
        <p:spPr>
          <a:xfrm>
            <a:off x="491906" y="1125538"/>
            <a:ext cx="2242313" cy="4252869"/>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bg1"/>
              </a:solidFill>
              <a:effectLst/>
              <a:uLnTx/>
              <a:uFillTx/>
              <a:latin typeface="Century Gothic" panose="020B0502020202020204" pitchFamily="34" charset="0"/>
              <a:ea typeface="ＭＳ Ｐゴシック"/>
              <a:cs typeface="+mn-cs"/>
            </a:endParaRPr>
          </a:p>
        </p:txBody>
      </p:sp>
      <p:sp>
        <p:nvSpPr>
          <p:cNvPr id="10" name="Rectangle 9">
            <a:extLst>
              <a:ext uri="{FF2B5EF4-FFF2-40B4-BE49-F238E27FC236}">
                <a16:creationId xmlns:a16="http://schemas.microsoft.com/office/drawing/2014/main" id="{7D3C3461-20E6-B661-4070-D0E9631163D5}"/>
              </a:ext>
            </a:extLst>
          </p:cNvPr>
          <p:cNvSpPr/>
          <p:nvPr/>
        </p:nvSpPr>
        <p:spPr>
          <a:xfrm>
            <a:off x="4971452" y="1118886"/>
            <a:ext cx="2242313" cy="4421571"/>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bg1"/>
              </a:solidFill>
              <a:effectLst/>
              <a:uLnTx/>
              <a:uFillTx/>
              <a:latin typeface="Century Gothic" panose="020B0502020202020204" pitchFamily="34" charset="0"/>
              <a:ea typeface="ＭＳ Ｐゴシック"/>
              <a:cs typeface="+mn-cs"/>
            </a:endParaRPr>
          </a:p>
        </p:txBody>
      </p:sp>
      <p:pic>
        <p:nvPicPr>
          <p:cNvPr id="103" name="Graphic 102" descr="Boardroom with solid fill">
            <a:extLst>
              <a:ext uri="{FF2B5EF4-FFF2-40B4-BE49-F238E27FC236}">
                <a16:creationId xmlns:a16="http://schemas.microsoft.com/office/drawing/2014/main" id="{5C26B41D-598C-E85C-6AFC-3A47D29C18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36654" y="1069016"/>
            <a:ext cx="396000" cy="396000"/>
          </a:xfrm>
          <a:prstGeom prst="rect">
            <a:avLst/>
          </a:prstGeom>
        </p:spPr>
      </p:pic>
      <p:pic>
        <p:nvPicPr>
          <p:cNvPr id="8" name="Graphic 7" descr="Briefcase with solid fill">
            <a:extLst>
              <a:ext uri="{FF2B5EF4-FFF2-40B4-BE49-F238E27FC236}">
                <a16:creationId xmlns:a16="http://schemas.microsoft.com/office/drawing/2014/main" id="{99546314-505B-35E4-8F48-34AAC4AC70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9216" y="1118616"/>
            <a:ext cx="288000" cy="288000"/>
          </a:xfrm>
          <a:prstGeom prst="rect">
            <a:avLst/>
          </a:prstGeom>
        </p:spPr>
      </p:pic>
      <p:pic>
        <p:nvPicPr>
          <p:cNvPr id="11" name="Graphic 10" descr="Diamond with solid fill">
            <a:extLst>
              <a:ext uri="{FF2B5EF4-FFF2-40B4-BE49-F238E27FC236}">
                <a16:creationId xmlns:a16="http://schemas.microsoft.com/office/drawing/2014/main" id="{AACA4396-9413-013E-73D5-F4C63250D81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55460" y="1117600"/>
            <a:ext cx="288000" cy="288000"/>
          </a:xfrm>
          <a:prstGeom prst="rect">
            <a:avLst/>
          </a:prstGeom>
        </p:spPr>
      </p:pic>
      <p:pic>
        <p:nvPicPr>
          <p:cNvPr id="13" name="Graphic 12" descr="Customer review with solid fill">
            <a:extLst>
              <a:ext uri="{FF2B5EF4-FFF2-40B4-BE49-F238E27FC236}">
                <a16:creationId xmlns:a16="http://schemas.microsoft.com/office/drawing/2014/main" id="{27848D8B-2943-7CA7-CDAC-4D706562033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23680" y="1132840"/>
            <a:ext cx="288000" cy="288000"/>
          </a:xfrm>
          <a:prstGeom prst="rect">
            <a:avLst/>
          </a:prstGeom>
        </p:spPr>
      </p:pic>
      <p:pic>
        <p:nvPicPr>
          <p:cNvPr id="16" name="Graphic 15" descr="Target Audience with solid fill">
            <a:extLst>
              <a:ext uri="{FF2B5EF4-FFF2-40B4-BE49-F238E27FC236}">
                <a16:creationId xmlns:a16="http://schemas.microsoft.com/office/drawing/2014/main" id="{5B0D5C76-D863-C1CA-5A27-2D57E1225E4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348720" y="1117600"/>
            <a:ext cx="324000" cy="324000"/>
          </a:xfrm>
          <a:prstGeom prst="rect">
            <a:avLst/>
          </a:prstGeom>
        </p:spPr>
      </p:pic>
      <p:pic>
        <p:nvPicPr>
          <p:cNvPr id="18" name="Graphic 17" descr="Box trolley with solid fill">
            <a:extLst>
              <a:ext uri="{FF2B5EF4-FFF2-40B4-BE49-F238E27FC236}">
                <a16:creationId xmlns:a16="http://schemas.microsoft.com/office/drawing/2014/main" id="{2173C94B-6210-0F1D-D468-9C502BE20DA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29491" y="2944038"/>
            <a:ext cx="288000" cy="288000"/>
          </a:xfrm>
          <a:prstGeom prst="rect">
            <a:avLst/>
          </a:prstGeom>
        </p:spPr>
      </p:pic>
      <p:pic>
        <p:nvPicPr>
          <p:cNvPr id="20" name="Graphic 19" descr="Truck with solid fill">
            <a:extLst>
              <a:ext uri="{FF2B5EF4-FFF2-40B4-BE49-F238E27FC236}">
                <a16:creationId xmlns:a16="http://schemas.microsoft.com/office/drawing/2014/main" id="{2CDAB370-3746-3B3A-7B31-1CCA8D5CA76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039336" y="2902746"/>
            <a:ext cx="396000" cy="396000"/>
          </a:xfrm>
          <a:prstGeom prst="rect">
            <a:avLst/>
          </a:prstGeom>
        </p:spPr>
      </p:pic>
      <p:pic>
        <p:nvPicPr>
          <p:cNvPr id="22" name="Graphic 21" descr="Money with solid fill">
            <a:extLst>
              <a:ext uri="{FF2B5EF4-FFF2-40B4-BE49-F238E27FC236}">
                <a16:creationId xmlns:a16="http://schemas.microsoft.com/office/drawing/2014/main" id="{01A457E3-FC51-AD9E-5C4C-183A49C975C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753100" y="5535930"/>
            <a:ext cx="324000" cy="324000"/>
          </a:xfrm>
          <a:prstGeom prst="rect">
            <a:avLst/>
          </a:prstGeom>
        </p:spPr>
      </p:pic>
      <p:pic>
        <p:nvPicPr>
          <p:cNvPr id="24" name="Graphic 23" descr="Dollar with solid fill">
            <a:extLst>
              <a:ext uri="{FF2B5EF4-FFF2-40B4-BE49-F238E27FC236}">
                <a16:creationId xmlns:a16="http://schemas.microsoft.com/office/drawing/2014/main" id="{16C3986D-85DD-953F-5B66-D88859286FB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338560" y="5547360"/>
            <a:ext cx="288000" cy="288000"/>
          </a:xfrm>
          <a:prstGeom prst="rect">
            <a:avLst/>
          </a:prstGeom>
        </p:spPr>
      </p:pic>
      <p:sp>
        <p:nvSpPr>
          <p:cNvPr id="25" name="TextBox 24">
            <a:extLst>
              <a:ext uri="{FF2B5EF4-FFF2-40B4-BE49-F238E27FC236}">
                <a16:creationId xmlns:a16="http://schemas.microsoft.com/office/drawing/2014/main" id="{F6A886B9-21CA-8778-8D1B-520F709F3691}"/>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26" name="Date Placeholder 5">
            <a:extLst>
              <a:ext uri="{FF2B5EF4-FFF2-40B4-BE49-F238E27FC236}">
                <a16:creationId xmlns:a16="http://schemas.microsoft.com/office/drawing/2014/main" id="{84B11455-73E7-FF08-097F-E988782E60A4}"/>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27" name="Date Placeholder 5">
            <a:extLst>
              <a:ext uri="{FF2B5EF4-FFF2-40B4-BE49-F238E27FC236}">
                <a16:creationId xmlns:a16="http://schemas.microsoft.com/office/drawing/2014/main" id="{40A80BF0-06B0-7761-8BEC-93AC6E20A67D}"/>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16</a:t>
            </a:r>
          </a:p>
        </p:txBody>
      </p:sp>
    </p:spTree>
    <p:extLst>
      <p:ext uri="{BB962C8B-B14F-4D97-AF65-F5344CB8AC3E}">
        <p14:creationId xmlns:p14="http://schemas.microsoft.com/office/powerpoint/2010/main" val="4204669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74053-0360-91F8-CD55-27470DBED0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5CA756-5161-4C61-3969-369E424DF9DC}"/>
              </a:ext>
            </a:extLst>
          </p:cNvPr>
          <p:cNvSpPr>
            <a:spLocks noGrp="1"/>
          </p:cNvSpPr>
          <p:nvPr>
            <p:ph type="title"/>
          </p:nvPr>
        </p:nvSpPr>
        <p:spPr>
          <a:xfrm>
            <a:off x="550339" y="3063874"/>
            <a:ext cx="11090275" cy="1079526"/>
          </a:xfrm>
        </p:spPr>
        <p:txBody>
          <a:bodyPr/>
          <a:lstStyle/>
          <a:p>
            <a:pPr algn="ctr"/>
            <a:r>
              <a:rPr lang="en-US"/>
              <a:t>STRATEGIC RESEARCH APPROACH &amp; METHODOLOGY</a:t>
            </a:r>
            <a:br>
              <a:rPr lang="en-US"/>
            </a:br>
            <a:r>
              <a:rPr lang="en-US" sz="1800"/>
              <a:t>Introducing the research engine underpinning our fact‑based insights</a:t>
            </a:r>
            <a:endParaRPr lang="en-IN"/>
          </a:p>
        </p:txBody>
      </p:sp>
      <p:pic>
        <p:nvPicPr>
          <p:cNvPr id="5" name="Picture 4">
            <a:extLst>
              <a:ext uri="{FF2B5EF4-FFF2-40B4-BE49-F238E27FC236}">
                <a16:creationId xmlns:a16="http://schemas.microsoft.com/office/drawing/2014/main" id="{16A677BF-D6EF-F9D3-B934-0AA9BEB92CF0}"/>
              </a:ext>
            </a:extLst>
          </p:cNvPr>
          <p:cNvPicPr>
            <a:picLocks noChangeAspect="1"/>
          </p:cNvPicPr>
          <p:nvPr/>
        </p:nvPicPr>
        <p:blipFill>
          <a:blip r:embed="rId2"/>
          <a:stretch>
            <a:fillRect/>
          </a:stretch>
        </p:blipFill>
        <p:spPr>
          <a:xfrm>
            <a:off x="10595509" y="0"/>
            <a:ext cx="1237002" cy="696510"/>
          </a:xfrm>
          <a:prstGeom prst="rect">
            <a:avLst/>
          </a:prstGeom>
        </p:spPr>
      </p:pic>
    </p:spTree>
    <p:extLst>
      <p:ext uri="{BB962C8B-B14F-4D97-AF65-F5344CB8AC3E}">
        <p14:creationId xmlns:p14="http://schemas.microsoft.com/office/powerpoint/2010/main" val="330233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0D907CD-6D5E-8940-DB96-CB61BC8D9A69}"/>
              </a:ext>
            </a:extLst>
          </p:cNvPr>
          <p:cNvCxnSpPr>
            <a:cxnSpLocks/>
            <a:stCxn id="202" idx="1"/>
            <a:endCxn id="204" idx="3"/>
          </p:cNvCxnSpPr>
          <p:nvPr/>
        </p:nvCxnSpPr>
        <p:spPr>
          <a:xfrm flipH="1">
            <a:off x="3874522" y="5232561"/>
            <a:ext cx="445660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4BC0934-4DD8-F328-1986-C2D9890D375F}"/>
              </a:ext>
            </a:extLst>
          </p:cNvPr>
          <p:cNvCxnSpPr>
            <a:cxnSpLocks/>
            <a:stCxn id="193" idx="1"/>
            <a:endCxn id="191" idx="3"/>
          </p:cNvCxnSpPr>
          <p:nvPr/>
        </p:nvCxnSpPr>
        <p:spPr>
          <a:xfrm flipH="1">
            <a:off x="3874523" y="2688662"/>
            <a:ext cx="445660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7BD78F7-A211-185F-EFB1-F08A5C97B3EB}"/>
              </a:ext>
            </a:extLst>
          </p:cNvPr>
          <p:cNvCxnSpPr>
            <a:cxnSpLocks/>
          </p:cNvCxnSpPr>
          <p:nvPr/>
        </p:nvCxnSpPr>
        <p:spPr>
          <a:xfrm flipH="1" flipV="1">
            <a:off x="485183" y="2688661"/>
            <a:ext cx="328230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3425211C-D069-58B8-4EAC-2B90000CF942}"/>
              </a:ext>
            </a:extLst>
          </p:cNvPr>
          <p:cNvSpPr>
            <a:spLocks noGrp="1"/>
          </p:cNvSpPr>
          <p:nvPr>
            <p:ph type="title"/>
          </p:nvPr>
        </p:nvSpPr>
        <p:spPr>
          <a:xfrm>
            <a:off x="529948" y="261694"/>
            <a:ext cx="10607654" cy="792163"/>
          </a:xfrm>
        </p:spPr>
        <p:txBody>
          <a:bodyPr>
            <a:noAutofit/>
          </a:bodyPr>
          <a:lstStyle/>
          <a:p>
            <a:r>
              <a:rPr lang="en-US"/>
              <a:t>Structured methodology and robust process to build high quality reports from a greenfield start state</a:t>
            </a:r>
          </a:p>
        </p:txBody>
      </p:sp>
      <p:sp>
        <p:nvSpPr>
          <p:cNvPr id="186" name="Rectangle 185">
            <a:extLst>
              <a:ext uri="{FF2B5EF4-FFF2-40B4-BE49-F238E27FC236}">
                <a16:creationId xmlns:a16="http://schemas.microsoft.com/office/drawing/2014/main" id="{DCAEBD50-CE42-1F55-C3C3-F0FFAF4C6E43}"/>
              </a:ext>
            </a:extLst>
          </p:cNvPr>
          <p:cNvSpPr/>
          <p:nvPr/>
        </p:nvSpPr>
        <p:spPr>
          <a:xfrm>
            <a:off x="421639" y="3016766"/>
            <a:ext cx="3452884" cy="553998"/>
          </a:xfrm>
          <a:prstGeom prst="rect">
            <a:avLst/>
          </a:prstGeom>
        </p:spPr>
        <p:txBody>
          <a:bodyPr wrap="square" lIns="0" tIns="0" rIns="0" bIns="0">
            <a:spAutoFit/>
          </a:bodyPr>
          <a:lstStyle/>
          <a:p>
            <a:pPr marL="182563" marR="0" lvl="0" indent="-182563"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bg1"/>
                </a:solidFill>
                <a:effectLst/>
                <a:uLnTx/>
                <a:uFillTx/>
                <a:latin typeface="Ubuntu"/>
                <a:ea typeface="+mn-ea"/>
                <a:cs typeface="+mn-cs"/>
              </a:rPr>
              <a:t>Understand the context,</a:t>
            </a:r>
          </a:p>
          <a:p>
            <a:pPr marL="182563" marR="0" lvl="0" indent="-182563"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bg1"/>
                </a:solidFill>
                <a:effectLst/>
                <a:uLnTx/>
                <a:uFillTx/>
                <a:latin typeface="Ubuntu"/>
                <a:ea typeface="+mn-ea"/>
                <a:cs typeface="+mn-cs"/>
              </a:rPr>
              <a:t>Identify the key questions to be addressed, </a:t>
            </a:r>
          </a:p>
          <a:p>
            <a:pPr marL="182563" marR="0" lvl="0" indent="-182563"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bg1"/>
                </a:solidFill>
                <a:effectLst/>
                <a:uLnTx/>
                <a:uFillTx/>
                <a:latin typeface="Ubuntu"/>
                <a:ea typeface="+mn-ea"/>
                <a:cs typeface="+mn-cs"/>
              </a:rPr>
              <a:t>Understand scope, coverage and timelines</a:t>
            </a:r>
          </a:p>
        </p:txBody>
      </p:sp>
      <p:sp>
        <p:nvSpPr>
          <p:cNvPr id="187" name="Arc 186">
            <a:extLst>
              <a:ext uri="{FF2B5EF4-FFF2-40B4-BE49-F238E27FC236}">
                <a16:creationId xmlns:a16="http://schemas.microsoft.com/office/drawing/2014/main" id="{C6C25EC0-EDE2-DB03-87F6-A61187143E24}"/>
              </a:ext>
            </a:extLst>
          </p:cNvPr>
          <p:cNvSpPr/>
          <p:nvPr/>
        </p:nvSpPr>
        <p:spPr>
          <a:xfrm flipH="1" flipV="1">
            <a:off x="271823" y="2261941"/>
            <a:ext cx="426720" cy="426720"/>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Ubuntu"/>
              <a:ea typeface="+mn-ea"/>
              <a:cs typeface="+mn-cs"/>
            </a:endParaRPr>
          </a:p>
        </p:txBody>
      </p:sp>
      <p:sp>
        <p:nvSpPr>
          <p:cNvPr id="191" name="Rectangle: Rounded Corners 190">
            <a:extLst>
              <a:ext uri="{FF2B5EF4-FFF2-40B4-BE49-F238E27FC236}">
                <a16:creationId xmlns:a16="http://schemas.microsoft.com/office/drawing/2014/main" id="{46AE5B94-DE0A-F56E-F2FE-F95A62FB923F}"/>
              </a:ext>
            </a:extLst>
          </p:cNvPr>
          <p:cNvSpPr/>
          <p:nvPr/>
        </p:nvSpPr>
        <p:spPr>
          <a:xfrm>
            <a:off x="421639" y="2447276"/>
            <a:ext cx="3452884" cy="482771"/>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Ubuntu"/>
                <a:ea typeface="+mn-ea"/>
                <a:cs typeface="+mn-cs"/>
              </a:rPr>
              <a:t>IDENTIFY THE NEEDS AND </a:t>
            </a:r>
            <a:br>
              <a:rPr kumimoji="0" lang="en-US" sz="1100" b="1" i="0" u="none" strike="noStrike" kern="1200" cap="none" spc="0" normalizeH="0" baseline="0" noProof="0">
                <a:ln>
                  <a:noFill/>
                </a:ln>
                <a:solidFill>
                  <a:schemeClr val="tx1"/>
                </a:solidFill>
                <a:effectLst/>
                <a:uLnTx/>
                <a:uFillTx/>
                <a:latin typeface="Ubuntu"/>
                <a:ea typeface="+mn-ea"/>
                <a:cs typeface="+mn-cs"/>
              </a:rPr>
            </a:br>
            <a:r>
              <a:rPr kumimoji="0" lang="en-US" sz="1100" b="1" i="0" u="none" strike="noStrike" kern="1200" cap="none" spc="0" normalizeH="0" baseline="0" noProof="0">
                <a:ln>
                  <a:noFill/>
                </a:ln>
                <a:solidFill>
                  <a:schemeClr val="tx1"/>
                </a:solidFill>
                <a:effectLst/>
                <a:uLnTx/>
                <a:uFillTx/>
                <a:latin typeface="Ubuntu"/>
                <a:ea typeface="+mn-ea"/>
                <a:cs typeface="+mn-cs"/>
              </a:rPr>
              <a:t>FORMULATE THE OBJECTIVES </a:t>
            </a:r>
          </a:p>
        </p:txBody>
      </p:sp>
      <p:sp>
        <p:nvSpPr>
          <p:cNvPr id="192" name="Rectangle: Rounded Corners 191">
            <a:extLst>
              <a:ext uri="{FF2B5EF4-FFF2-40B4-BE49-F238E27FC236}">
                <a16:creationId xmlns:a16="http://schemas.microsoft.com/office/drawing/2014/main" id="{CEF89EF0-A1ED-5508-8268-BF3A18CB70FA}"/>
              </a:ext>
            </a:extLst>
          </p:cNvPr>
          <p:cNvSpPr/>
          <p:nvPr/>
        </p:nvSpPr>
        <p:spPr>
          <a:xfrm>
            <a:off x="4376383" y="2447276"/>
            <a:ext cx="3452884" cy="482771"/>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bg1"/>
                </a:solidFill>
                <a:effectLst/>
                <a:uLnTx/>
                <a:uFillTx/>
                <a:latin typeface="Ubuntu"/>
                <a:ea typeface="+mn-ea"/>
                <a:cs typeface="+mn-cs"/>
              </a:rPr>
              <a:t>CHALK OUT THE PROJECT </a:t>
            </a:r>
            <a:br>
              <a:rPr kumimoji="0" lang="en-US" sz="1100" b="1" i="0" u="none" strike="noStrike" kern="1200" cap="none" spc="0" normalizeH="0" baseline="0" noProof="0">
                <a:ln>
                  <a:noFill/>
                </a:ln>
                <a:solidFill>
                  <a:schemeClr val="bg1"/>
                </a:solidFill>
                <a:effectLst/>
                <a:uLnTx/>
                <a:uFillTx/>
                <a:latin typeface="Ubuntu"/>
                <a:ea typeface="+mn-ea"/>
                <a:cs typeface="+mn-cs"/>
              </a:rPr>
            </a:br>
            <a:r>
              <a:rPr kumimoji="0" lang="en-US" sz="1100" b="1" i="0" u="none" strike="noStrike" kern="1200" cap="none" spc="0" normalizeH="0" baseline="0" noProof="0">
                <a:ln>
                  <a:noFill/>
                </a:ln>
                <a:solidFill>
                  <a:schemeClr val="bg1"/>
                </a:solidFill>
                <a:effectLst/>
                <a:uLnTx/>
                <a:uFillTx/>
                <a:latin typeface="Ubuntu"/>
                <a:ea typeface="+mn-ea"/>
                <a:cs typeface="+mn-cs"/>
              </a:rPr>
              <a:t>CHARTER </a:t>
            </a:r>
          </a:p>
        </p:txBody>
      </p:sp>
      <p:sp>
        <p:nvSpPr>
          <p:cNvPr id="193" name="Rectangle: Rounded Corners 192">
            <a:extLst>
              <a:ext uri="{FF2B5EF4-FFF2-40B4-BE49-F238E27FC236}">
                <a16:creationId xmlns:a16="http://schemas.microsoft.com/office/drawing/2014/main" id="{FF4C4467-BFBB-4DCC-D8C3-5DF16C6E995C}"/>
              </a:ext>
            </a:extLst>
          </p:cNvPr>
          <p:cNvSpPr/>
          <p:nvPr/>
        </p:nvSpPr>
        <p:spPr>
          <a:xfrm>
            <a:off x="8331128" y="2447276"/>
            <a:ext cx="3452884" cy="482771"/>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bg1"/>
                </a:solidFill>
                <a:effectLst/>
                <a:uLnTx/>
                <a:uFillTx/>
                <a:latin typeface="Ubuntu"/>
                <a:ea typeface="+mn-ea"/>
                <a:cs typeface="+mn-cs"/>
              </a:rPr>
              <a:t>BUILD THE RESEARCH </a:t>
            </a:r>
            <a:br>
              <a:rPr kumimoji="0" lang="en-US" sz="1100" b="1" i="0" u="none" strike="noStrike" kern="1200" cap="none" spc="0" normalizeH="0" baseline="0" noProof="0">
                <a:ln>
                  <a:noFill/>
                </a:ln>
                <a:solidFill>
                  <a:schemeClr val="bg1"/>
                </a:solidFill>
                <a:effectLst/>
                <a:uLnTx/>
                <a:uFillTx/>
                <a:latin typeface="Ubuntu"/>
                <a:ea typeface="+mn-ea"/>
                <a:cs typeface="+mn-cs"/>
              </a:rPr>
            </a:br>
            <a:r>
              <a:rPr kumimoji="0" lang="en-US" sz="1100" b="1" i="0" u="none" strike="noStrike" kern="1200" cap="none" spc="0" normalizeH="0" baseline="0" noProof="0">
                <a:ln>
                  <a:noFill/>
                </a:ln>
                <a:solidFill>
                  <a:schemeClr val="bg1"/>
                </a:solidFill>
                <a:effectLst/>
                <a:uLnTx/>
                <a:uFillTx/>
                <a:latin typeface="Ubuntu"/>
                <a:ea typeface="+mn-ea"/>
                <a:cs typeface="+mn-cs"/>
              </a:rPr>
              <a:t>DESIGN</a:t>
            </a:r>
          </a:p>
        </p:txBody>
      </p:sp>
      <p:sp>
        <p:nvSpPr>
          <p:cNvPr id="194" name="Arc 193">
            <a:extLst>
              <a:ext uri="{FF2B5EF4-FFF2-40B4-BE49-F238E27FC236}">
                <a16:creationId xmlns:a16="http://schemas.microsoft.com/office/drawing/2014/main" id="{15C118D6-7441-A9A6-1F6E-F70D821E623E}"/>
              </a:ext>
            </a:extLst>
          </p:cNvPr>
          <p:cNvSpPr/>
          <p:nvPr/>
        </p:nvSpPr>
        <p:spPr>
          <a:xfrm>
            <a:off x="11570653" y="2670000"/>
            <a:ext cx="426720" cy="426720"/>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Ubuntu"/>
              <a:ea typeface="+mn-ea"/>
              <a:cs typeface="+mn-cs"/>
            </a:endParaRPr>
          </a:p>
        </p:txBody>
      </p:sp>
      <p:sp>
        <p:nvSpPr>
          <p:cNvPr id="195" name="Rectangle 194">
            <a:extLst>
              <a:ext uri="{FF2B5EF4-FFF2-40B4-BE49-F238E27FC236}">
                <a16:creationId xmlns:a16="http://schemas.microsoft.com/office/drawing/2014/main" id="{6C8EC6F0-993E-8F4F-691D-ACFE0B584838}"/>
              </a:ext>
            </a:extLst>
          </p:cNvPr>
          <p:cNvSpPr/>
          <p:nvPr/>
        </p:nvSpPr>
        <p:spPr>
          <a:xfrm>
            <a:off x="4376382" y="3016766"/>
            <a:ext cx="3452884" cy="738664"/>
          </a:xfrm>
          <a:prstGeom prst="rect">
            <a:avLst/>
          </a:prstGeom>
        </p:spPr>
        <p:txBody>
          <a:bodyPr wrap="square" lIns="0" tIns="0" rIns="0" bIns="0">
            <a:spAutoFit/>
          </a:bodyPr>
          <a:lstStyle/>
          <a:p>
            <a:pPr marL="182563" marR="0" lvl="0" indent="-182563"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bg1"/>
                </a:solidFill>
                <a:effectLst/>
                <a:uLnTx/>
                <a:uFillTx/>
                <a:latin typeface="Ubuntu"/>
                <a:ea typeface="+mn-ea"/>
                <a:cs typeface="+mn-cs"/>
              </a:rPr>
              <a:t>Conduct preliminary analysis</a:t>
            </a:r>
          </a:p>
          <a:p>
            <a:pPr marL="182563" marR="0" lvl="0" indent="-182563"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bg1"/>
                </a:solidFill>
                <a:effectLst/>
                <a:uLnTx/>
                <a:uFillTx/>
                <a:latin typeface="Ubuntu"/>
                <a:ea typeface="+mn-ea"/>
                <a:cs typeface="+mn-cs"/>
              </a:rPr>
              <a:t>Initiate hypothesis testing</a:t>
            </a:r>
          </a:p>
          <a:p>
            <a:pPr marL="182563" marR="0" lvl="0" indent="-182563"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bg1"/>
                </a:solidFill>
                <a:effectLst/>
                <a:uLnTx/>
                <a:uFillTx/>
                <a:latin typeface="Ubuntu"/>
                <a:ea typeface="+mn-ea"/>
                <a:cs typeface="+mn-cs"/>
              </a:rPr>
              <a:t>Build the project charter </a:t>
            </a:r>
          </a:p>
          <a:p>
            <a:pPr marL="182563" marR="0" lvl="0" indent="-182563"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bg1"/>
                </a:solidFill>
                <a:effectLst/>
                <a:uLnTx/>
                <a:uFillTx/>
                <a:latin typeface="Ubuntu"/>
                <a:ea typeface="+mn-ea"/>
                <a:cs typeface="+mn-cs"/>
              </a:rPr>
              <a:t>Create the storyboard</a:t>
            </a:r>
          </a:p>
        </p:txBody>
      </p:sp>
      <p:sp>
        <p:nvSpPr>
          <p:cNvPr id="196" name="Rectangle 195">
            <a:extLst>
              <a:ext uri="{FF2B5EF4-FFF2-40B4-BE49-F238E27FC236}">
                <a16:creationId xmlns:a16="http://schemas.microsoft.com/office/drawing/2014/main" id="{24DC5A64-6951-B090-E41E-B8709C07DF63}"/>
              </a:ext>
            </a:extLst>
          </p:cNvPr>
          <p:cNvSpPr/>
          <p:nvPr/>
        </p:nvSpPr>
        <p:spPr>
          <a:xfrm>
            <a:off x="8331128" y="3016766"/>
            <a:ext cx="3452884" cy="1661993"/>
          </a:xfrm>
          <a:prstGeom prst="rect">
            <a:avLst/>
          </a:prstGeom>
        </p:spPr>
        <p:txBody>
          <a:bodyPr wrap="square" lIns="0" tIns="0" rIns="0" bIns="0">
            <a:spAutoFit/>
          </a:bodyPr>
          <a:lstStyle/>
          <a:p>
            <a:pPr marL="182563" marR="0" lvl="0" indent="-182563"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bg1"/>
                </a:solidFill>
                <a:effectLst/>
                <a:uLnTx/>
                <a:uFillTx/>
                <a:latin typeface="Ubuntu"/>
                <a:ea typeface="+mn-ea"/>
                <a:cs typeface="+mn-cs"/>
              </a:rPr>
              <a:t>Secondary research –Subscription research databases, analyst reports, industry association websites, Company annual reports/SEC filings, CXO briefings, free text search </a:t>
            </a:r>
          </a:p>
          <a:p>
            <a:pPr marL="182563" marR="0" lvl="0" indent="-182563"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bg1"/>
                </a:solidFill>
                <a:effectLst/>
                <a:uLnTx/>
                <a:uFillTx/>
                <a:latin typeface="Ubuntu"/>
                <a:ea typeface="+mn-ea"/>
                <a:cs typeface="+mn-cs"/>
              </a:rPr>
              <a:t>Qualitative research- In-depth interviews, Focus group discussions, Expert/SME interviews, Observatory research</a:t>
            </a:r>
          </a:p>
          <a:p>
            <a:pPr marL="182563" marR="0" lvl="0" indent="-182563"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bg1"/>
                </a:solidFill>
                <a:effectLst/>
                <a:uLnTx/>
                <a:uFillTx/>
                <a:latin typeface="Ubuntu"/>
                <a:ea typeface="+mn-ea"/>
                <a:cs typeface="+mn-cs"/>
              </a:rPr>
              <a:t>Quantitative research- Face to face surveys, telephonic surveys, online surveys</a:t>
            </a:r>
          </a:p>
        </p:txBody>
      </p:sp>
      <p:sp>
        <p:nvSpPr>
          <p:cNvPr id="197" name="TextBox 196">
            <a:extLst>
              <a:ext uri="{FF2B5EF4-FFF2-40B4-BE49-F238E27FC236}">
                <a16:creationId xmlns:a16="http://schemas.microsoft.com/office/drawing/2014/main" id="{40157072-0FFC-5119-BDCC-523160892E78}"/>
              </a:ext>
            </a:extLst>
          </p:cNvPr>
          <p:cNvSpPr txBox="1"/>
          <p:nvPr/>
        </p:nvSpPr>
        <p:spPr>
          <a:xfrm>
            <a:off x="485183" y="2194689"/>
            <a:ext cx="298173" cy="430887"/>
          </a:xfrm>
          <a:prstGeom prst="rect">
            <a:avLst/>
          </a:prstGeom>
          <a:noFill/>
          <a:ln>
            <a:solidFill>
              <a:schemeClr val="bg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a:ln>
                  <a:solidFill>
                    <a:srgbClr val="272936"/>
                  </a:solidFill>
                </a:ln>
                <a:solidFill>
                  <a:schemeClr val="bg1"/>
                </a:solidFill>
                <a:effectLst/>
                <a:uLnTx/>
                <a:uFillTx/>
                <a:latin typeface="Ubuntu"/>
                <a:ea typeface="+mn-ea"/>
                <a:cs typeface="+mn-cs"/>
              </a:rPr>
              <a:t>1</a:t>
            </a:r>
            <a:endParaRPr kumimoji="0" lang="en-US" sz="2800" b="1" i="0" u="none" strike="noStrike" kern="1200" cap="none" spc="0" normalizeH="0" baseline="0" noProof="0">
              <a:ln>
                <a:solidFill>
                  <a:srgbClr val="272936"/>
                </a:solidFill>
              </a:ln>
              <a:solidFill>
                <a:schemeClr val="bg1"/>
              </a:solidFill>
              <a:effectLst/>
              <a:uLnTx/>
              <a:uFillTx/>
              <a:latin typeface="Ubuntu"/>
              <a:ea typeface="+mn-ea"/>
              <a:cs typeface="+mn-cs"/>
            </a:endParaRPr>
          </a:p>
        </p:txBody>
      </p:sp>
      <p:sp>
        <p:nvSpPr>
          <p:cNvPr id="198" name="TextBox 197">
            <a:extLst>
              <a:ext uri="{FF2B5EF4-FFF2-40B4-BE49-F238E27FC236}">
                <a16:creationId xmlns:a16="http://schemas.microsoft.com/office/drawing/2014/main" id="{FA72CA1B-0FC8-26AD-9374-44C27D60A223}"/>
              </a:ext>
            </a:extLst>
          </p:cNvPr>
          <p:cNvSpPr txBox="1"/>
          <p:nvPr/>
        </p:nvSpPr>
        <p:spPr>
          <a:xfrm>
            <a:off x="4495800" y="2194689"/>
            <a:ext cx="298173" cy="430887"/>
          </a:xfrm>
          <a:prstGeom prst="rect">
            <a:avLst/>
          </a:prstGeom>
          <a:noFill/>
          <a:ln>
            <a:solidFill>
              <a:schemeClr val="bg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a:ln>
                  <a:solidFill>
                    <a:srgbClr val="272936"/>
                  </a:solidFill>
                </a:ln>
                <a:solidFill>
                  <a:schemeClr val="bg1"/>
                </a:solidFill>
                <a:effectLst/>
                <a:uLnTx/>
                <a:uFillTx/>
                <a:latin typeface="Ubuntu"/>
                <a:ea typeface="+mn-ea"/>
                <a:cs typeface="+mn-cs"/>
              </a:rPr>
              <a:t>2</a:t>
            </a:r>
            <a:endParaRPr kumimoji="0" lang="en-US" sz="2800" b="1" i="0" u="none" strike="noStrike" kern="1200" cap="none" spc="0" normalizeH="0" baseline="0" noProof="0">
              <a:ln>
                <a:solidFill>
                  <a:srgbClr val="272936"/>
                </a:solidFill>
              </a:ln>
              <a:solidFill>
                <a:schemeClr val="bg1"/>
              </a:solidFill>
              <a:effectLst/>
              <a:uLnTx/>
              <a:uFillTx/>
              <a:latin typeface="Ubuntu"/>
              <a:ea typeface="+mn-ea"/>
              <a:cs typeface="+mn-cs"/>
            </a:endParaRPr>
          </a:p>
        </p:txBody>
      </p:sp>
      <p:sp>
        <p:nvSpPr>
          <p:cNvPr id="199" name="TextBox 198">
            <a:extLst>
              <a:ext uri="{FF2B5EF4-FFF2-40B4-BE49-F238E27FC236}">
                <a16:creationId xmlns:a16="http://schemas.microsoft.com/office/drawing/2014/main" id="{FCF87F68-6D70-E658-14EB-01DA91853B11}"/>
              </a:ext>
            </a:extLst>
          </p:cNvPr>
          <p:cNvSpPr txBox="1"/>
          <p:nvPr/>
        </p:nvSpPr>
        <p:spPr>
          <a:xfrm>
            <a:off x="8506417" y="2194689"/>
            <a:ext cx="298173" cy="430887"/>
          </a:xfrm>
          <a:prstGeom prst="rect">
            <a:avLst/>
          </a:prstGeom>
          <a:noFill/>
          <a:ln>
            <a:solidFill>
              <a:schemeClr val="bg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a:ln>
                  <a:solidFill>
                    <a:srgbClr val="272936"/>
                  </a:solidFill>
                </a:ln>
                <a:solidFill>
                  <a:schemeClr val="bg1"/>
                </a:solidFill>
                <a:effectLst/>
                <a:uLnTx/>
                <a:uFillTx/>
                <a:latin typeface="Ubuntu"/>
                <a:ea typeface="+mn-ea"/>
                <a:cs typeface="+mn-cs"/>
              </a:rPr>
              <a:t>3</a:t>
            </a:r>
            <a:endParaRPr kumimoji="0" lang="en-US" sz="2800" b="1" i="0" u="none" strike="noStrike" kern="1200" cap="none" spc="0" normalizeH="0" baseline="0" noProof="0">
              <a:ln>
                <a:solidFill>
                  <a:srgbClr val="272936"/>
                </a:solidFill>
              </a:ln>
              <a:solidFill>
                <a:schemeClr val="bg1"/>
              </a:solidFill>
              <a:effectLst/>
              <a:uLnTx/>
              <a:uFillTx/>
              <a:latin typeface="Ubuntu"/>
              <a:ea typeface="+mn-ea"/>
              <a:cs typeface="+mn-cs"/>
            </a:endParaRPr>
          </a:p>
        </p:txBody>
      </p:sp>
      <p:pic>
        <p:nvPicPr>
          <p:cNvPr id="200" name="Graphic 199" descr="Scientist male outline">
            <a:extLst>
              <a:ext uri="{FF2B5EF4-FFF2-40B4-BE49-F238E27FC236}">
                <a16:creationId xmlns:a16="http://schemas.microsoft.com/office/drawing/2014/main" id="{B0E273B6-6C7F-F923-1062-0822F02369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219366" y="2487688"/>
            <a:ext cx="401945" cy="401947"/>
          </a:xfrm>
          <a:prstGeom prst="rect">
            <a:avLst/>
          </a:prstGeom>
        </p:spPr>
      </p:pic>
      <p:cxnSp>
        <p:nvCxnSpPr>
          <p:cNvPr id="201" name="Straight Connector 200">
            <a:extLst>
              <a:ext uri="{FF2B5EF4-FFF2-40B4-BE49-F238E27FC236}">
                <a16:creationId xmlns:a16="http://schemas.microsoft.com/office/drawing/2014/main" id="{16F7556A-160B-B4B7-50CF-854A019A8FE2}"/>
              </a:ext>
            </a:extLst>
          </p:cNvPr>
          <p:cNvCxnSpPr>
            <a:cxnSpLocks/>
            <a:stCxn id="194" idx="2"/>
            <a:endCxn id="205" idx="2"/>
          </p:cNvCxnSpPr>
          <p:nvPr/>
        </p:nvCxnSpPr>
        <p:spPr>
          <a:xfrm>
            <a:off x="11997373" y="2883360"/>
            <a:ext cx="0" cy="2104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2" name="Rectangle: Rounded Corners 201">
            <a:extLst>
              <a:ext uri="{FF2B5EF4-FFF2-40B4-BE49-F238E27FC236}">
                <a16:creationId xmlns:a16="http://schemas.microsoft.com/office/drawing/2014/main" id="{9716BB52-B859-499A-8EFB-A2F3F741FC3B}"/>
              </a:ext>
            </a:extLst>
          </p:cNvPr>
          <p:cNvSpPr/>
          <p:nvPr/>
        </p:nvSpPr>
        <p:spPr>
          <a:xfrm>
            <a:off x="8331129" y="4991175"/>
            <a:ext cx="3452883" cy="482771"/>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bg1"/>
                </a:solidFill>
                <a:effectLst/>
                <a:uLnTx/>
                <a:uFillTx/>
                <a:latin typeface="Ubuntu"/>
                <a:ea typeface="+mn-ea"/>
                <a:cs typeface="+mn-cs"/>
              </a:rPr>
              <a:t>ANALYZE THE DATA</a:t>
            </a:r>
          </a:p>
        </p:txBody>
      </p:sp>
      <p:sp>
        <p:nvSpPr>
          <p:cNvPr id="203" name="Rectangle: Rounded Corners 202">
            <a:extLst>
              <a:ext uri="{FF2B5EF4-FFF2-40B4-BE49-F238E27FC236}">
                <a16:creationId xmlns:a16="http://schemas.microsoft.com/office/drawing/2014/main" id="{5963E979-779C-EF0A-62CC-F44BD5EC4194}"/>
              </a:ext>
            </a:extLst>
          </p:cNvPr>
          <p:cNvSpPr/>
          <p:nvPr/>
        </p:nvSpPr>
        <p:spPr>
          <a:xfrm>
            <a:off x="4376383" y="4991175"/>
            <a:ext cx="3452883" cy="482771"/>
          </a:xfrm>
          <a:prstGeom prst="roundRect">
            <a:avLst>
              <a:gd name="adj" fmla="val 5000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bg1"/>
                </a:solidFill>
                <a:effectLst/>
                <a:uLnTx/>
                <a:uFillTx/>
                <a:latin typeface="Ubuntu"/>
                <a:ea typeface="+mn-ea"/>
                <a:cs typeface="+mn-cs"/>
              </a:rPr>
              <a:t>DRAW KEY INSIGHTS AND RECOMMENDATIONS</a:t>
            </a:r>
          </a:p>
        </p:txBody>
      </p:sp>
      <p:sp>
        <p:nvSpPr>
          <p:cNvPr id="204" name="Rectangle: Rounded Corners 203">
            <a:extLst>
              <a:ext uri="{FF2B5EF4-FFF2-40B4-BE49-F238E27FC236}">
                <a16:creationId xmlns:a16="http://schemas.microsoft.com/office/drawing/2014/main" id="{1442D066-EDEF-3E01-6770-17CDEF5F1744}"/>
              </a:ext>
            </a:extLst>
          </p:cNvPr>
          <p:cNvSpPr/>
          <p:nvPr/>
        </p:nvSpPr>
        <p:spPr>
          <a:xfrm>
            <a:off x="421639" y="4991175"/>
            <a:ext cx="3452883" cy="482771"/>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bg1"/>
                </a:solidFill>
                <a:effectLst/>
                <a:uLnTx/>
                <a:uFillTx/>
                <a:latin typeface="Ubuntu"/>
                <a:ea typeface="+mn-ea"/>
                <a:cs typeface="+mn-cs"/>
              </a:rPr>
              <a:t>REPORT BUILDING AND </a:t>
            </a:r>
            <a:br>
              <a:rPr kumimoji="0" lang="en-US" sz="1100" b="1" i="0" u="none" strike="noStrike" kern="1200" cap="none" spc="0" normalizeH="0" baseline="0" noProof="0">
                <a:ln>
                  <a:noFill/>
                </a:ln>
                <a:solidFill>
                  <a:schemeClr val="bg1"/>
                </a:solidFill>
                <a:effectLst/>
                <a:uLnTx/>
                <a:uFillTx/>
                <a:latin typeface="Ubuntu"/>
                <a:ea typeface="+mn-ea"/>
                <a:cs typeface="+mn-cs"/>
              </a:rPr>
            </a:br>
            <a:r>
              <a:rPr kumimoji="0" lang="en-US" sz="1100" b="1" i="0" u="none" strike="noStrike" kern="1200" cap="none" spc="0" normalizeH="0" baseline="0" noProof="0">
                <a:ln>
                  <a:noFill/>
                </a:ln>
                <a:solidFill>
                  <a:schemeClr val="bg1"/>
                </a:solidFill>
                <a:effectLst/>
                <a:uLnTx/>
                <a:uFillTx/>
                <a:latin typeface="Ubuntu"/>
                <a:ea typeface="+mn-ea"/>
                <a:cs typeface="+mn-cs"/>
              </a:rPr>
              <a:t>VISUALIZATION</a:t>
            </a:r>
          </a:p>
        </p:txBody>
      </p:sp>
      <p:sp>
        <p:nvSpPr>
          <p:cNvPr id="205" name="Arc 204">
            <a:extLst>
              <a:ext uri="{FF2B5EF4-FFF2-40B4-BE49-F238E27FC236}">
                <a16:creationId xmlns:a16="http://schemas.microsoft.com/office/drawing/2014/main" id="{CB105245-ADAA-7F13-DAD1-30D903312FC3}"/>
              </a:ext>
            </a:extLst>
          </p:cNvPr>
          <p:cNvSpPr/>
          <p:nvPr/>
        </p:nvSpPr>
        <p:spPr>
          <a:xfrm flipV="1">
            <a:off x="11570653" y="4774004"/>
            <a:ext cx="426720" cy="426720"/>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Ubuntu"/>
              <a:ea typeface="+mn-ea"/>
              <a:cs typeface="+mn-cs"/>
            </a:endParaRPr>
          </a:p>
        </p:txBody>
      </p:sp>
      <p:cxnSp>
        <p:nvCxnSpPr>
          <p:cNvPr id="206" name="Straight Connector 205">
            <a:extLst>
              <a:ext uri="{FF2B5EF4-FFF2-40B4-BE49-F238E27FC236}">
                <a16:creationId xmlns:a16="http://schemas.microsoft.com/office/drawing/2014/main" id="{22D000A7-1FF9-E927-2DED-902614F91C25}"/>
              </a:ext>
            </a:extLst>
          </p:cNvPr>
          <p:cNvCxnSpPr>
            <a:cxnSpLocks/>
            <a:stCxn id="207" idx="2"/>
            <a:endCxn id="208" idx="2"/>
          </p:cNvCxnSpPr>
          <p:nvPr/>
        </p:nvCxnSpPr>
        <p:spPr>
          <a:xfrm>
            <a:off x="194628" y="5445920"/>
            <a:ext cx="0" cy="8592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07" name="Arc 206">
            <a:extLst>
              <a:ext uri="{FF2B5EF4-FFF2-40B4-BE49-F238E27FC236}">
                <a16:creationId xmlns:a16="http://schemas.microsoft.com/office/drawing/2014/main" id="{7F96AD20-BB03-BBB9-A96C-A32B035DEBCF}"/>
              </a:ext>
            </a:extLst>
          </p:cNvPr>
          <p:cNvSpPr/>
          <p:nvPr/>
        </p:nvSpPr>
        <p:spPr>
          <a:xfrm flipH="1">
            <a:off x="194628" y="5232560"/>
            <a:ext cx="426720" cy="426720"/>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Ubuntu"/>
              <a:ea typeface="+mn-ea"/>
              <a:cs typeface="+mn-cs"/>
            </a:endParaRPr>
          </a:p>
        </p:txBody>
      </p:sp>
      <p:sp>
        <p:nvSpPr>
          <p:cNvPr id="208" name="Arc 207">
            <a:extLst>
              <a:ext uri="{FF2B5EF4-FFF2-40B4-BE49-F238E27FC236}">
                <a16:creationId xmlns:a16="http://schemas.microsoft.com/office/drawing/2014/main" id="{F641FEB5-271D-4F07-E53F-A78C46FE976A}"/>
              </a:ext>
            </a:extLst>
          </p:cNvPr>
          <p:cNvSpPr/>
          <p:nvPr/>
        </p:nvSpPr>
        <p:spPr>
          <a:xfrm flipV="1">
            <a:off x="-232092" y="6091782"/>
            <a:ext cx="426720" cy="426720"/>
          </a:xfrm>
          <a:prstGeom prst="arc">
            <a:avLst>
              <a:gd name="adj1" fmla="val 16525021"/>
              <a:gd name="adj2" fmla="val 0"/>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Ubuntu"/>
              <a:ea typeface="+mn-ea"/>
              <a:cs typeface="+mn-cs"/>
            </a:endParaRPr>
          </a:p>
        </p:txBody>
      </p:sp>
      <p:sp>
        <p:nvSpPr>
          <p:cNvPr id="209" name="Rectangle 208">
            <a:extLst>
              <a:ext uri="{FF2B5EF4-FFF2-40B4-BE49-F238E27FC236}">
                <a16:creationId xmlns:a16="http://schemas.microsoft.com/office/drawing/2014/main" id="{A3B6D0BE-C90A-8F22-81DD-268FF7CC4AD4}"/>
              </a:ext>
            </a:extLst>
          </p:cNvPr>
          <p:cNvSpPr/>
          <p:nvPr/>
        </p:nvSpPr>
        <p:spPr>
          <a:xfrm>
            <a:off x="421639" y="5551714"/>
            <a:ext cx="3452884" cy="923330"/>
          </a:xfrm>
          <a:prstGeom prst="rect">
            <a:avLst/>
          </a:prstGeom>
        </p:spPr>
        <p:txBody>
          <a:bodyPr wrap="square" lIns="0" tIns="0" rIns="0" bIns="0">
            <a:spAutoFit/>
          </a:bodyPr>
          <a:lstStyle/>
          <a:p>
            <a:pPr marL="182563" marR="0" lvl="0" indent="-182563"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bg1"/>
                </a:solidFill>
                <a:effectLst/>
                <a:uLnTx/>
                <a:uFillTx/>
                <a:latin typeface="Ubuntu"/>
                <a:ea typeface="+mn-ea"/>
                <a:cs typeface="+mn-cs"/>
              </a:rPr>
              <a:t>Build and design the concise PDF or PPT report </a:t>
            </a:r>
          </a:p>
          <a:p>
            <a:pPr marL="182563" marR="0" lvl="0" indent="-182563"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bg1"/>
                </a:solidFill>
                <a:effectLst/>
                <a:uLnTx/>
                <a:uFillTx/>
                <a:latin typeface="Ubuntu"/>
                <a:ea typeface="+mn-ea"/>
                <a:cs typeface="+mn-cs"/>
              </a:rPr>
              <a:t>Visualization of key metrices</a:t>
            </a:r>
            <a:br>
              <a:rPr kumimoji="0" lang="en-US" sz="1200" b="0" i="0" u="none" strike="noStrike" kern="1200" cap="none" spc="0" normalizeH="0" baseline="0" noProof="0">
                <a:ln>
                  <a:noFill/>
                </a:ln>
                <a:solidFill>
                  <a:schemeClr val="bg1"/>
                </a:solidFill>
                <a:effectLst/>
                <a:uLnTx/>
                <a:uFillTx/>
                <a:latin typeface="Ubuntu"/>
                <a:ea typeface="+mn-ea"/>
                <a:cs typeface="+mn-cs"/>
              </a:rPr>
            </a:br>
            <a:r>
              <a:rPr kumimoji="0" lang="en-US" sz="1200" b="0" i="0" u="none" strike="noStrike" kern="1200" cap="none" spc="0" normalizeH="0" baseline="0" noProof="0">
                <a:ln>
                  <a:noFill/>
                </a:ln>
                <a:solidFill>
                  <a:schemeClr val="bg1"/>
                </a:solidFill>
                <a:effectLst/>
                <a:uLnTx/>
                <a:uFillTx/>
                <a:latin typeface="Ubuntu"/>
                <a:ea typeface="+mn-ea"/>
                <a:cs typeface="+mn-cs"/>
              </a:rPr>
              <a:t>/findings/recommendation through presentations, dashboards and infographic as applicable.</a:t>
            </a:r>
          </a:p>
        </p:txBody>
      </p:sp>
      <p:sp>
        <p:nvSpPr>
          <p:cNvPr id="210" name="Rectangle 209">
            <a:extLst>
              <a:ext uri="{FF2B5EF4-FFF2-40B4-BE49-F238E27FC236}">
                <a16:creationId xmlns:a16="http://schemas.microsoft.com/office/drawing/2014/main" id="{890FD30B-C72F-9B2A-9221-6095409B3E2D}"/>
              </a:ext>
            </a:extLst>
          </p:cNvPr>
          <p:cNvSpPr/>
          <p:nvPr/>
        </p:nvSpPr>
        <p:spPr>
          <a:xfrm>
            <a:off x="4376382" y="5551714"/>
            <a:ext cx="3452884" cy="553998"/>
          </a:xfrm>
          <a:prstGeom prst="rect">
            <a:avLst/>
          </a:prstGeom>
        </p:spPr>
        <p:txBody>
          <a:bodyPr wrap="square" lIns="0" tIns="0" rIns="0" bIns="0">
            <a:spAutoFit/>
          </a:bodyPr>
          <a:lstStyle/>
          <a:p>
            <a:pPr marL="182563" marR="0" lvl="0" indent="-182563"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bg1"/>
                </a:solidFill>
                <a:effectLst/>
                <a:uLnTx/>
                <a:uFillTx/>
                <a:latin typeface="Ubuntu"/>
                <a:ea typeface="+mn-ea"/>
                <a:cs typeface="+mn-cs"/>
              </a:rPr>
              <a:t>Build the key messages and so-what takeaways,</a:t>
            </a:r>
          </a:p>
          <a:p>
            <a:pPr marL="182563" marR="0" lvl="0" indent="-182563"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bg1"/>
                </a:solidFill>
                <a:effectLst/>
                <a:uLnTx/>
                <a:uFillTx/>
                <a:latin typeface="Ubuntu"/>
                <a:ea typeface="+mn-ea"/>
                <a:cs typeface="+mn-cs"/>
              </a:rPr>
              <a:t>Draw the final recommendations</a:t>
            </a:r>
          </a:p>
        </p:txBody>
      </p:sp>
      <p:sp>
        <p:nvSpPr>
          <p:cNvPr id="211" name="Rectangle 210">
            <a:extLst>
              <a:ext uri="{FF2B5EF4-FFF2-40B4-BE49-F238E27FC236}">
                <a16:creationId xmlns:a16="http://schemas.microsoft.com/office/drawing/2014/main" id="{93611C10-A739-C546-9884-4669299D213D}"/>
              </a:ext>
            </a:extLst>
          </p:cNvPr>
          <p:cNvSpPr/>
          <p:nvPr/>
        </p:nvSpPr>
        <p:spPr>
          <a:xfrm>
            <a:off x="8331128" y="5551714"/>
            <a:ext cx="3452884" cy="553998"/>
          </a:xfrm>
          <a:prstGeom prst="rect">
            <a:avLst/>
          </a:prstGeom>
        </p:spPr>
        <p:txBody>
          <a:bodyPr wrap="square" lIns="0" tIns="0" rIns="0" bIns="0">
            <a:spAutoFit/>
          </a:bodyPr>
          <a:lstStyle/>
          <a:p>
            <a:pPr marL="182563" marR="0" lvl="0" indent="-182563"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bg1"/>
                </a:solidFill>
                <a:effectLst/>
                <a:uLnTx/>
                <a:uFillTx/>
                <a:latin typeface="Ubuntu"/>
                <a:ea typeface="+mn-ea"/>
                <a:cs typeface="+mn-cs"/>
              </a:rPr>
              <a:t>Statistical analysis, </a:t>
            </a:r>
          </a:p>
          <a:p>
            <a:pPr marL="182563" marR="0" lvl="0" indent="-182563"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bg1"/>
                </a:solidFill>
                <a:effectLst/>
                <a:uLnTx/>
                <a:uFillTx/>
                <a:latin typeface="Ubuntu"/>
                <a:ea typeface="+mn-ea"/>
                <a:cs typeface="+mn-cs"/>
              </a:rPr>
              <a:t>Key driver or Root Cause analysis </a:t>
            </a:r>
          </a:p>
          <a:p>
            <a:pPr marL="182563" marR="0" lvl="0" indent="-182563"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
              <a:tabLst/>
              <a:defRPr/>
            </a:pPr>
            <a:r>
              <a:rPr kumimoji="0" lang="en-US" sz="1200" b="0" i="0" u="none" strike="noStrike" kern="1200" cap="none" spc="0" normalizeH="0" baseline="0" noProof="0">
                <a:ln>
                  <a:noFill/>
                </a:ln>
                <a:solidFill>
                  <a:schemeClr val="bg1"/>
                </a:solidFill>
                <a:effectLst/>
                <a:uLnTx/>
                <a:uFillTx/>
                <a:latin typeface="Ubuntu"/>
                <a:ea typeface="+mn-ea"/>
                <a:cs typeface="+mn-cs"/>
              </a:rPr>
              <a:t>Predictive data analytics</a:t>
            </a:r>
          </a:p>
        </p:txBody>
      </p:sp>
      <p:sp>
        <p:nvSpPr>
          <p:cNvPr id="212" name="TextBox 211">
            <a:extLst>
              <a:ext uri="{FF2B5EF4-FFF2-40B4-BE49-F238E27FC236}">
                <a16:creationId xmlns:a16="http://schemas.microsoft.com/office/drawing/2014/main" id="{010D3D47-CD89-533C-65FD-43977507C638}"/>
              </a:ext>
            </a:extLst>
          </p:cNvPr>
          <p:cNvSpPr txBox="1"/>
          <p:nvPr/>
        </p:nvSpPr>
        <p:spPr>
          <a:xfrm>
            <a:off x="485183" y="4782467"/>
            <a:ext cx="298173" cy="430887"/>
          </a:xfrm>
          <a:prstGeom prst="rect">
            <a:avLst/>
          </a:prstGeom>
          <a:noFill/>
          <a:ln>
            <a:solidFill>
              <a:schemeClr val="bg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a:ln>
                  <a:solidFill>
                    <a:srgbClr val="272936"/>
                  </a:solidFill>
                </a:ln>
                <a:solidFill>
                  <a:schemeClr val="bg1"/>
                </a:solidFill>
                <a:effectLst/>
                <a:uLnTx/>
                <a:uFillTx/>
                <a:latin typeface="Ubuntu"/>
                <a:ea typeface="+mn-ea"/>
                <a:cs typeface="+mn-cs"/>
              </a:rPr>
              <a:t>6</a:t>
            </a:r>
            <a:endParaRPr kumimoji="0" lang="en-US" sz="2800" b="1" i="0" u="none" strike="noStrike" kern="1200" cap="none" spc="0" normalizeH="0" baseline="0" noProof="0">
              <a:ln>
                <a:solidFill>
                  <a:srgbClr val="272936"/>
                </a:solidFill>
              </a:ln>
              <a:solidFill>
                <a:schemeClr val="bg1"/>
              </a:solidFill>
              <a:effectLst/>
              <a:uLnTx/>
              <a:uFillTx/>
              <a:latin typeface="Ubuntu"/>
              <a:ea typeface="+mn-ea"/>
              <a:cs typeface="+mn-cs"/>
            </a:endParaRPr>
          </a:p>
        </p:txBody>
      </p:sp>
      <p:sp>
        <p:nvSpPr>
          <p:cNvPr id="213" name="TextBox 212">
            <a:extLst>
              <a:ext uri="{FF2B5EF4-FFF2-40B4-BE49-F238E27FC236}">
                <a16:creationId xmlns:a16="http://schemas.microsoft.com/office/drawing/2014/main" id="{268DFC56-22AF-9007-2E51-86270BCF8CE6}"/>
              </a:ext>
            </a:extLst>
          </p:cNvPr>
          <p:cNvSpPr txBox="1"/>
          <p:nvPr/>
        </p:nvSpPr>
        <p:spPr>
          <a:xfrm>
            <a:off x="4495800" y="4782467"/>
            <a:ext cx="298173" cy="430887"/>
          </a:xfrm>
          <a:prstGeom prst="rect">
            <a:avLst/>
          </a:prstGeom>
          <a:noFill/>
          <a:ln>
            <a:solidFill>
              <a:schemeClr val="bg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a:ln>
                  <a:solidFill>
                    <a:srgbClr val="272936"/>
                  </a:solidFill>
                </a:ln>
                <a:solidFill>
                  <a:schemeClr val="bg1"/>
                </a:solidFill>
                <a:effectLst/>
                <a:uLnTx/>
                <a:uFillTx/>
                <a:latin typeface="Ubuntu"/>
                <a:ea typeface="+mn-ea"/>
                <a:cs typeface="+mn-cs"/>
              </a:rPr>
              <a:t>5</a:t>
            </a:r>
            <a:endParaRPr kumimoji="0" lang="en-US" sz="2800" b="1" i="0" u="none" strike="noStrike" kern="1200" cap="none" spc="0" normalizeH="0" baseline="0" noProof="0">
              <a:ln>
                <a:solidFill>
                  <a:srgbClr val="272936"/>
                </a:solidFill>
              </a:ln>
              <a:solidFill>
                <a:schemeClr val="bg1"/>
              </a:solidFill>
              <a:effectLst/>
              <a:uLnTx/>
              <a:uFillTx/>
              <a:latin typeface="Ubuntu"/>
              <a:ea typeface="+mn-ea"/>
              <a:cs typeface="+mn-cs"/>
            </a:endParaRPr>
          </a:p>
        </p:txBody>
      </p:sp>
      <p:sp>
        <p:nvSpPr>
          <p:cNvPr id="214" name="TextBox 213">
            <a:extLst>
              <a:ext uri="{FF2B5EF4-FFF2-40B4-BE49-F238E27FC236}">
                <a16:creationId xmlns:a16="http://schemas.microsoft.com/office/drawing/2014/main" id="{B94FBCA6-28A5-91E5-30AF-6CEB6D3B546C}"/>
              </a:ext>
            </a:extLst>
          </p:cNvPr>
          <p:cNvSpPr txBox="1"/>
          <p:nvPr/>
        </p:nvSpPr>
        <p:spPr>
          <a:xfrm>
            <a:off x="8506417" y="4782467"/>
            <a:ext cx="298173" cy="430887"/>
          </a:xfrm>
          <a:prstGeom prst="rect">
            <a:avLst/>
          </a:prstGeom>
          <a:noFill/>
          <a:ln>
            <a:solidFill>
              <a:schemeClr val="bg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a:ln>
                  <a:solidFill>
                    <a:srgbClr val="272936"/>
                  </a:solidFill>
                </a:ln>
                <a:solidFill>
                  <a:schemeClr val="bg1"/>
                </a:solidFill>
                <a:effectLst/>
                <a:uLnTx/>
                <a:uFillTx/>
                <a:latin typeface="Ubuntu"/>
                <a:ea typeface="+mn-ea"/>
                <a:cs typeface="+mn-cs"/>
              </a:rPr>
              <a:t>4</a:t>
            </a:r>
            <a:endParaRPr kumimoji="0" lang="en-US" sz="2800" b="1" i="0" u="none" strike="noStrike" kern="1200" cap="none" spc="0" normalizeH="0" baseline="0" noProof="0">
              <a:ln>
                <a:solidFill>
                  <a:srgbClr val="272936"/>
                </a:solidFill>
              </a:ln>
              <a:solidFill>
                <a:schemeClr val="bg1"/>
              </a:solidFill>
              <a:effectLst/>
              <a:uLnTx/>
              <a:uFillTx/>
              <a:latin typeface="Ubuntu"/>
              <a:ea typeface="+mn-ea"/>
              <a:cs typeface="+mn-cs"/>
            </a:endParaRPr>
          </a:p>
        </p:txBody>
      </p:sp>
      <p:pic>
        <p:nvPicPr>
          <p:cNvPr id="215" name="Graphic 214" descr="Server outline">
            <a:extLst>
              <a:ext uri="{FF2B5EF4-FFF2-40B4-BE49-F238E27FC236}">
                <a16:creationId xmlns:a16="http://schemas.microsoft.com/office/drawing/2014/main" id="{C56D8A9C-4DB5-8DB6-268B-B7EE290D6E4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44140" y="2487689"/>
            <a:ext cx="401946" cy="401946"/>
          </a:xfrm>
          <a:prstGeom prst="rect">
            <a:avLst/>
          </a:prstGeom>
        </p:spPr>
      </p:pic>
      <p:pic>
        <p:nvPicPr>
          <p:cNvPr id="216" name="Graphic 215" descr="Illustrator outline">
            <a:extLst>
              <a:ext uri="{FF2B5EF4-FFF2-40B4-BE49-F238E27FC236}">
                <a16:creationId xmlns:a16="http://schemas.microsoft.com/office/drawing/2014/main" id="{B1A484D1-23F7-D717-42A0-6F358963B9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37604" y="2487688"/>
            <a:ext cx="401946" cy="401946"/>
          </a:xfrm>
          <a:prstGeom prst="rect">
            <a:avLst/>
          </a:prstGeom>
        </p:spPr>
      </p:pic>
      <p:pic>
        <p:nvPicPr>
          <p:cNvPr id="217" name="Graphic 216" descr="Document outline">
            <a:extLst>
              <a:ext uri="{FF2B5EF4-FFF2-40B4-BE49-F238E27FC236}">
                <a16:creationId xmlns:a16="http://schemas.microsoft.com/office/drawing/2014/main" id="{4674CD8D-5550-2F91-3081-8B824FD5E76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19366" y="5031587"/>
            <a:ext cx="401946" cy="401946"/>
          </a:xfrm>
          <a:prstGeom prst="rect">
            <a:avLst/>
          </a:prstGeom>
        </p:spPr>
      </p:pic>
      <p:pic>
        <p:nvPicPr>
          <p:cNvPr id="218" name="Graphic 217" descr="Blueprint outline">
            <a:extLst>
              <a:ext uri="{FF2B5EF4-FFF2-40B4-BE49-F238E27FC236}">
                <a16:creationId xmlns:a16="http://schemas.microsoft.com/office/drawing/2014/main" id="{F256D651-49FE-58FE-C2CE-B40F122BAE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44141" y="5031587"/>
            <a:ext cx="401946" cy="401946"/>
          </a:xfrm>
          <a:prstGeom prst="rect">
            <a:avLst/>
          </a:prstGeom>
        </p:spPr>
      </p:pic>
      <p:pic>
        <p:nvPicPr>
          <p:cNvPr id="219" name="Graphic 218" descr="Research outline">
            <a:extLst>
              <a:ext uri="{FF2B5EF4-FFF2-40B4-BE49-F238E27FC236}">
                <a16:creationId xmlns:a16="http://schemas.microsoft.com/office/drawing/2014/main" id="{2B631375-8379-048B-A440-EADD67BD478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137604" y="5031588"/>
            <a:ext cx="401946" cy="401946"/>
          </a:xfrm>
          <a:prstGeom prst="rect">
            <a:avLst/>
          </a:prstGeom>
        </p:spPr>
      </p:pic>
      <p:cxnSp>
        <p:nvCxnSpPr>
          <p:cNvPr id="222" name="Straight Connector 221">
            <a:extLst>
              <a:ext uri="{FF2B5EF4-FFF2-40B4-BE49-F238E27FC236}">
                <a16:creationId xmlns:a16="http://schemas.microsoft.com/office/drawing/2014/main" id="{818BBA8A-9451-0A7C-1529-3D36E12CF0BD}"/>
              </a:ext>
            </a:extLst>
          </p:cNvPr>
          <p:cNvCxnSpPr>
            <a:cxnSpLocks/>
          </p:cNvCxnSpPr>
          <p:nvPr/>
        </p:nvCxnSpPr>
        <p:spPr>
          <a:xfrm>
            <a:off x="271823" y="9144"/>
            <a:ext cx="0" cy="24753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95" name="Picture 394">
            <a:extLst>
              <a:ext uri="{FF2B5EF4-FFF2-40B4-BE49-F238E27FC236}">
                <a16:creationId xmlns:a16="http://schemas.microsoft.com/office/drawing/2014/main" id="{A81B235A-4739-1997-F615-1701545747A3}"/>
              </a:ext>
            </a:extLst>
          </p:cNvPr>
          <p:cNvPicPr>
            <a:picLocks noChangeAspect="1"/>
          </p:cNvPicPr>
          <p:nvPr/>
        </p:nvPicPr>
        <p:blipFill>
          <a:blip r:embed="rId8"/>
          <a:stretch>
            <a:fillRect/>
          </a:stretch>
        </p:blipFill>
        <p:spPr>
          <a:xfrm>
            <a:off x="10595509" y="0"/>
            <a:ext cx="1237002" cy="696510"/>
          </a:xfrm>
          <a:prstGeom prst="rect">
            <a:avLst/>
          </a:prstGeom>
        </p:spPr>
      </p:pic>
      <p:sp>
        <p:nvSpPr>
          <p:cNvPr id="2" name="TextBox 1">
            <a:extLst>
              <a:ext uri="{FF2B5EF4-FFF2-40B4-BE49-F238E27FC236}">
                <a16:creationId xmlns:a16="http://schemas.microsoft.com/office/drawing/2014/main" id="{3C32291E-D34F-CE18-3075-63A1DB3388EB}"/>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3" name="Date Placeholder 5">
            <a:extLst>
              <a:ext uri="{FF2B5EF4-FFF2-40B4-BE49-F238E27FC236}">
                <a16:creationId xmlns:a16="http://schemas.microsoft.com/office/drawing/2014/main" id="{2029F71D-C9BA-9DE2-28E3-FA0F6280AB2A}"/>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4" name="Date Placeholder 5">
            <a:extLst>
              <a:ext uri="{FF2B5EF4-FFF2-40B4-BE49-F238E27FC236}">
                <a16:creationId xmlns:a16="http://schemas.microsoft.com/office/drawing/2014/main" id="{2728EAFD-D137-886F-AA03-CAFCE286E45F}"/>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18</a:t>
            </a:r>
          </a:p>
        </p:txBody>
      </p:sp>
    </p:spTree>
    <p:extLst>
      <p:ext uri="{BB962C8B-B14F-4D97-AF65-F5344CB8AC3E}">
        <p14:creationId xmlns:p14="http://schemas.microsoft.com/office/powerpoint/2010/main" val="1618424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A7AB7DA4-C01A-34F6-012A-D200DCA03D99}"/>
              </a:ext>
            </a:extLst>
          </p:cNvPr>
          <p:cNvSpPr/>
          <p:nvPr/>
        </p:nvSpPr>
        <p:spPr>
          <a:xfrm>
            <a:off x="1717705" y="2948753"/>
            <a:ext cx="345864" cy="338134"/>
          </a:xfrm>
          <a:prstGeom prst="ellipse">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576" tIns="18288" rIns="36576"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bg1"/>
              </a:solidFill>
              <a:effectLst/>
              <a:uLnTx/>
              <a:uFillTx/>
              <a:latin typeface="Ubuntu"/>
              <a:ea typeface="+mn-ea"/>
              <a:cs typeface="+mn-cs"/>
            </a:endParaRPr>
          </a:p>
        </p:txBody>
      </p:sp>
      <p:sp>
        <p:nvSpPr>
          <p:cNvPr id="4" name="Oval 3">
            <a:extLst>
              <a:ext uri="{FF2B5EF4-FFF2-40B4-BE49-F238E27FC236}">
                <a16:creationId xmlns:a16="http://schemas.microsoft.com/office/drawing/2014/main" id="{94FC37A1-34BE-2698-5C40-6489E3FF3CA1}"/>
              </a:ext>
            </a:extLst>
          </p:cNvPr>
          <p:cNvSpPr/>
          <p:nvPr/>
        </p:nvSpPr>
        <p:spPr>
          <a:xfrm>
            <a:off x="3361111" y="2975698"/>
            <a:ext cx="345864" cy="338134"/>
          </a:xfrm>
          <a:prstGeom prst="ellipse">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576" tIns="18288" rIns="36576"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bg1"/>
              </a:solidFill>
              <a:effectLst/>
              <a:uLnTx/>
              <a:uFillTx/>
              <a:latin typeface="Ubuntu"/>
              <a:ea typeface="+mn-ea"/>
              <a:cs typeface="+mn-cs"/>
            </a:endParaRPr>
          </a:p>
        </p:txBody>
      </p:sp>
      <p:sp>
        <p:nvSpPr>
          <p:cNvPr id="5" name="Oval 4">
            <a:extLst>
              <a:ext uri="{FF2B5EF4-FFF2-40B4-BE49-F238E27FC236}">
                <a16:creationId xmlns:a16="http://schemas.microsoft.com/office/drawing/2014/main" id="{A454CF32-4E5A-ED3A-0619-D591D524CAE0}"/>
              </a:ext>
            </a:extLst>
          </p:cNvPr>
          <p:cNvSpPr/>
          <p:nvPr/>
        </p:nvSpPr>
        <p:spPr>
          <a:xfrm>
            <a:off x="5097606" y="2967018"/>
            <a:ext cx="345864" cy="338134"/>
          </a:xfrm>
          <a:prstGeom prst="ellipse">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576" tIns="18288" rIns="36576"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bg1"/>
              </a:solidFill>
              <a:effectLst/>
              <a:uLnTx/>
              <a:uFillTx/>
              <a:latin typeface="Ubuntu"/>
              <a:ea typeface="+mn-ea"/>
              <a:cs typeface="+mn-cs"/>
            </a:endParaRPr>
          </a:p>
        </p:txBody>
      </p:sp>
      <p:sp>
        <p:nvSpPr>
          <p:cNvPr id="6" name="Title 2">
            <a:extLst>
              <a:ext uri="{FF2B5EF4-FFF2-40B4-BE49-F238E27FC236}">
                <a16:creationId xmlns:a16="http://schemas.microsoft.com/office/drawing/2014/main" id="{7D2A8BCB-69E1-EB88-C1A2-D232930DC2B9}"/>
              </a:ext>
            </a:extLst>
          </p:cNvPr>
          <p:cNvSpPr>
            <a:spLocks noGrp="1"/>
          </p:cNvSpPr>
          <p:nvPr>
            <p:ph type="title"/>
          </p:nvPr>
        </p:nvSpPr>
        <p:spPr>
          <a:xfrm>
            <a:off x="577018" y="271926"/>
            <a:ext cx="10665129" cy="792163"/>
          </a:xfrm>
        </p:spPr>
        <p:txBody>
          <a:bodyPr/>
          <a:lstStyle/>
          <a:p>
            <a:r>
              <a:rPr lang="en-US">
                <a:solidFill>
                  <a:schemeClr val="bg1"/>
                </a:solidFill>
              </a:rPr>
              <a:t>A ‘</a:t>
            </a:r>
            <a:r>
              <a:rPr lang="en-US" err="1">
                <a:solidFill>
                  <a:schemeClr val="bg1"/>
                </a:solidFill>
              </a:rPr>
              <a:t>solutionized</a:t>
            </a:r>
            <a:r>
              <a:rPr lang="en-US">
                <a:solidFill>
                  <a:schemeClr val="bg1"/>
                </a:solidFill>
              </a:rPr>
              <a:t>’ benchmarking approach using advanced analytics and automation to provide actionable insights</a:t>
            </a:r>
          </a:p>
        </p:txBody>
      </p:sp>
      <p:sp>
        <p:nvSpPr>
          <p:cNvPr id="7" name="TextBox 6">
            <a:extLst>
              <a:ext uri="{FF2B5EF4-FFF2-40B4-BE49-F238E27FC236}">
                <a16:creationId xmlns:a16="http://schemas.microsoft.com/office/drawing/2014/main" id="{F3BB9475-DAD4-6A8A-5EF4-A03473F60BED}"/>
              </a:ext>
            </a:extLst>
          </p:cNvPr>
          <p:cNvSpPr txBox="1"/>
          <p:nvPr/>
        </p:nvSpPr>
        <p:spPr>
          <a:xfrm>
            <a:off x="541442" y="1513290"/>
            <a:ext cx="1689780" cy="300225"/>
          </a:xfrm>
          <a:prstGeom prst="parallelogram">
            <a:avLst>
              <a:gd name="adj" fmla="val 45805"/>
            </a:avLst>
          </a:prstGeom>
          <a:solidFill>
            <a:schemeClr val="accent2"/>
          </a:solid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Ubuntu"/>
                <a:ea typeface="+mn-ea"/>
                <a:cs typeface="+mn-cs"/>
              </a:rPr>
              <a:t>Solution overview</a:t>
            </a:r>
          </a:p>
        </p:txBody>
      </p:sp>
      <p:grpSp>
        <p:nvGrpSpPr>
          <p:cNvPr id="8" name="Group 7">
            <a:extLst>
              <a:ext uri="{FF2B5EF4-FFF2-40B4-BE49-F238E27FC236}">
                <a16:creationId xmlns:a16="http://schemas.microsoft.com/office/drawing/2014/main" id="{211020E9-2C1D-B444-C930-6E72BAA51D0E}"/>
              </a:ext>
            </a:extLst>
          </p:cNvPr>
          <p:cNvGrpSpPr/>
          <p:nvPr/>
        </p:nvGrpSpPr>
        <p:grpSpPr>
          <a:xfrm>
            <a:off x="555596" y="3518321"/>
            <a:ext cx="5435391" cy="608269"/>
            <a:chOff x="3898182" y="3541117"/>
            <a:chExt cx="5160695" cy="608269"/>
          </a:xfrm>
        </p:grpSpPr>
        <p:sp>
          <p:nvSpPr>
            <p:cNvPr id="9" name="Rectangle: Rounded Corners 8">
              <a:extLst>
                <a:ext uri="{FF2B5EF4-FFF2-40B4-BE49-F238E27FC236}">
                  <a16:creationId xmlns:a16="http://schemas.microsoft.com/office/drawing/2014/main" id="{1841740E-A0AA-0DD0-6E27-3DEF3AD396DC}"/>
                </a:ext>
              </a:extLst>
            </p:cNvPr>
            <p:cNvSpPr/>
            <p:nvPr/>
          </p:nvSpPr>
          <p:spPr>
            <a:xfrm>
              <a:off x="3898182" y="3541117"/>
              <a:ext cx="1637641" cy="608268"/>
            </a:xfrm>
            <a:prstGeom prst="roundRect">
              <a:avLst/>
            </a:prstGeom>
            <a:solidFill>
              <a:schemeClr val="accent2">
                <a:lumMod val="20000"/>
                <a:lumOff val="8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36576" bIns="1828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Ubuntu"/>
                  <a:ea typeface="+mn-ea"/>
                  <a:cs typeface="+mn-cs"/>
                </a:rPr>
                <a:t>SMEs from various industries/ functions with deep expertise in their domains / markets</a:t>
              </a:r>
            </a:p>
          </p:txBody>
        </p:sp>
        <p:sp>
          <p:nvSpPr>
            <p:cNvPr id="10" name="Rectangle: Rounded Corners 9">
              <a:extLst>
                <a:ext uri="{FF2B5EF4-FFF2-40B4-BE49-F238E27FC236}">
                  <a16:creationId xmlns:a16="http://schemas.microsoft.com/office/drawing/2014/main" id="{15E025C5-FC6C-0771-589F-FCC437DD04F0}"/>
                </a:ext>
              </a:extLst>
            </p:cNvPr>
            <p:cNvSpPr/>
            <p:nvPr/>
          </p:nvSpPr>
          <p:spPr>
            <a:xfrm>
              <a:off x="7421236" y="3541118"/>
              <a:ext cx="1637641" cy="608268"/>
            </a:xfrm>
            <a:prstGeom prst="roundRect">
              <a:avLst/>
            </a:prstGeom>
            <a:solidFill>
              <a:schemeClr val="accent2">
                <a:lumMod val="20000"/>
                <a:lumOff val="8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36576" bIns="1828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Ubuntu"/>
                  <a:ea typeface="+mn-ea"/>
                  <a:cs typeface="+mn-cs"/>
                </a:rPr>
                <a:t>Survey design and publicly available information related to regional stats, industry benchmarks, key trends etc.</a:t>
              </a:r>
            </a:p>
          </p:txBody>
        </p:sp>
        <p:sp>
          <p:nvSpPr>
            <p:cNvPr id="11" name="Rectangle: Rounded Corners 10">
              <a:extLst>
                <a:ext uri="{FF2B5EF4-FFF2-40B4-BE49-F238E27FC236}">
                  <a16:creationId xmlns:a16="http://schemas.microsoft.com/office/drawing/2014/main" id="{623E9BF5-DA7F-94D8-B958-83E025A6B4D3}"/>
                </a:ext>
              </a:extLst>
            </p:cNvPr>
            <p:cNvSpPr/>
            <p:nvPr/>
          </p:nvSpPr>
          <p:spPr>
            <a:xfrm>
              <a:off x="5659709" y="3541117"/>
              <a:ext cx="1637641" cy="608268"/>
            </a:xfrm>
            <a:prstGeom prst="roundRect">
              <a:avLst/>
            </a:prstGeom>
            <a:solidFill>
              <a:schemeClr val="accent2">
                <a:lumMod val="20000"/>
                <a:lumOff val="8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36576" bIns="1828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Ubuntu"/>
                  <a:ea typeface="+mn-ea"/>
                  <a:cs typeface="+mn-cs"/>
                </a:rPr>
                <a:t>Access to market databases that provide a range of economic, operational, demographical, and other related intelligence</a:t>
              </a:r>
            </a:p>
          </p:txBody>
        </p:sp>
      </p:grpSp>
      <p:sp>
        <p:nvSpPr>
          <p:cNvPr id="12" name="Speech Bubble: Rectangle with Corners Rounded 11">
            <a:extLst>
              <a:ext uri="{FF2B5EF4-FFF2-40B4-BE49-F238E27FC236}">
                <a16:creationId xmlns:a16="http://schemas.microsoft.com/office/drawing/2014/main" id="{01EB7781-C3D1-BB9F-A262-C7CA43AAC832}"/>
              </a:ext>
            </a:extLst>
          </p:cNvPr>
          <p:cNvSpPr/>
          <p:nvPr/>
        </p:nvSpPr>
        <p:spPr>
          <a:xfrm>
            <a:off x="6182436" y="2789487"/>
            <a:ext cx="1585672" cy="1347831"/>
          </a:xfrm>
          <a:prstGeom prst="wedgeRoundRectCallout">
            <a:avLst>
              <a:gd name="adj1" fmla="val -68404"/>
              <a:gd name="adj2" fmla="val -32823"/>
              <a:gd name="adj3" fmla="val 16667"/>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36576" bIns="18288"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Large-scale cross industry benchmarking exercise can provide seed data for new sales opportunity to clients. E.g. Benchmark GenAI adoption status/ readiness </a:t>
            </a:r>
            <a:endParaRPr kumimoji="0" lang="en-IN" sz="900" b="0" i="0" u="none" strike="noStrike" kern="1200" cap="none" spc="0" normalizeH="0" baseline="0" noProof="0">
              <a:ln>
                <a:noFill/>
              </a:ln>
              <a:solidFill>
                <a:schemeClr val="tx1"/>
              </a:solidFill>
              <a:effectLst/>
              <a:uLnTx/>
              <a:uFillTx/>
              <a:latin typeface="Ubuntu"/>
              <a:ea typeface="+mn-ea"/>
              <a:cs typeface="+mn-cs"/>
            </a:endParaRPr>
          </a:p>
        </p:txBody>
      </p:sp>
      <p:grpSp>
        <p:nvGrpSpPr>
          <p:cNvPr id="13" name="Group 12">
            <a:extLst>
              <a:ext uri="{FF2B5EF4-FFF2-40B4-BE49-F238E27FC236}">
                <a16:creationId xmlns:a16="http://schemas.microsoft.com/office/drawing/2014/main" id="{AE13FC51-1232-4148-CE7F-C12766AF733B}"/>
              </a:ext>
            </a:extLst>
          </p:cNvPr>
          <p:cNvGrpSpPr/>
          <p:nvPr/>
        </p:nvGrpSpPr>
        <p:grpSpPr>
          <a:xfrm>
            <a:off x="555593" y="1909341"/>
            <a:ext cx="6966862" cy="553998"/>
            <a:chOff x="3347773" y="1932137"/>
            <a:chExt cx="6816518" cy="553998"/>
          </a:xfrm>
        </p:grpSpPr>
        <p:sp>
          <p:nvSpPr>
            <p:cNvPr id="14" name="Rectangle 13">
              <a:extLst>
                <a:ext uri="{FF2B5EF4-FFF2-40B4-BE49-F238E27FC236}">
                  <a16:creationId xmlns:a16="http://schemas.microsoft.com/office/drawing/2014/main" id="{928732EF-F3AD-49D6-AB4A-85C1DC75B29A}"/>
                </a:ext>
              </a:extLst>
            </p:cNvPr>
            <p:cNvSpPr/>
            <p:nvPr/>
          </p:nvSpPr>
          <p:spPr>
            <a:xfrm>
              <a:off x="4538159" y="1932137"/>
              <a:ext cx="744850" cy="55399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Benchmarking objective and parameters finalization</a:t>
              </a:r>
              <a:endParaRPr kumimoji="0" lang="en-IN" sz="900" b="0" i="0" u="none" strike="noStrike" kern="1200" cap="none" spc="0" normalizeH="0" baseline="0" noProof="0">
                <a:ln>
                  <a:noFill/>
                </a:ln>
                <a:solidFill>
                  <a:schemeClr val="bg1"/>
                </a:solidFill>
                <a:effectLst/>
                <a:uLnTx/>
                <a:uFillTx/>
                <a:latin typeface="Ubuntu"/>
                <a:ea typeface="+mn-ea"/>
                <a:cs typeface="+mn-cs"/>
              </a:endParaRPr>
            </a:p>
          </p:txBody>
        </p:sp>
        <p:cxnSp>
          <p:nvCxnSpPr>
            <p:cNvPr id="15" name="Straight Arrow Connector 14">
              <a:extLst>
                <a:ext uri="{FF2B5EF4-FFF2-40B4-BE49-F238E27FC236}">
                  <a16:creationId xmlns:a16="http://schemas.microsoft.com/office/drawing/2014/main" id="{CF4D0503-B3F6-FD7E-8E1B-7AC71233C292}"/>
                </a:ext>
              </a:extLst>
            </p:cNvPr>
            <p:cNvCxnSpPr>
              <a:cxnSpLocks/>
            </p:cNvCxnSpPr>
            <p:nvPr/>
          </p:nvCxnSpPr>
          <p:spPr>
            <a:xfrm>
              <a:off x="5278507" y="2209135"/>
              <a:ext cx="476352" cy="0"/>
            </a:xfrm>
            <a:prstGeom prst="straightConnector1">
              <a:avLst/>
            </a:prstGeom>
            <a:ln w="5080">
              <a:solidFill>
                <a:schemeClr val="tx2"/>
              </a:solidFill>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BC1F46ED-1CBA-008D-8A33-7391B6890143}"/>
                </a:ext>
              </a:extLst>
            </p:cNvPr>
            <p:cNvSpPr/>
            <p:nvPr/>
          </p:nvSpPr>
          <p:spPr>
            <a:xfrm>
              <a:off x="6177989" y="2070636"/>
              <a:ext cx="613879" cy="27699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a:ln>
                    <a:noFill/>
                  </a:ln>
                  <a:solidFill>
                    <a:schemeClr val="bg1"/>
                  </a:solidFill>
                  <a:effectLst/>
                  <a:uLnTx/>
                  <a:uFillTx/>
                  <a:latin typeface="Ubuntu"/>
                  <a:ea typeface="+mn-ea"/>
                  <a:cs typeface="+mn-cs"/>
                </a:rPr>
                <a:t>Data Collection </a:t>
              </a:r>
            </a:p>
          </p:txBody>
        </p:sp>
        <p:cxnSp>
          <p:nvCxnSpPr>
            <p:cNvPr id="17" name="Straight Arrow Connector 16">
              <a:extLst>
                <a:ext uri="{FF2B5EF4-FFF2-40B4-BE49-F238E27FC236}">
                  <a16:creationId xmlns:a16="http://schemas.microsoft.com/office/drawing/2014/main" id="{290999E6-3A9A-755B-15EB-CCC130E8B053}"/>
                </a:ext>
              </a:extLst>
            </p:cNvPr>
            <p:cNvCxnSpPr>
              <a:cxnSpLocks/>
            </p:cNvCxnSpPr>
            <p:nvPr/>
          </p:nvCxnSpPr>
          <p:spPr>
            <a:xfrm>
              <a:off x="6691462" y="2209135"/>
              <a:ext cx="476352" cy="0"/>
            </a:xfrm>
            <a:prstGeom prst="straightConnector1">
              <a:avLst/>
            </a:prstGeom>
            <a:ln w="5080">
              <a:solidFill>
                <a:schemeClr val="tx2"/>
              </a:solidFill>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8D5DFDE-1AA3-78B4-3D04-81DD38302DEC}"/>
                </a:ext>
              </a:extLst>
            </p:cNvPr>
            <p:cNvSpPr/>
            <p:nvPr/>
          </p:nvSpPr>
          <p:spPr>
            <a:xfrm>
              <a:off x="7590944" y="2001386"/>
              <a:ext cx="635784" cy="41549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Data analysis and draft report</a:t>
              </a:r>
            </a:p>
          </p:txBody>
        </p:sp>
        <p:cxnSp>
          <p:nvCxnSpPr>
            <p:cNvPr id="19" name="Straight Arrow Connector 18">
              <a:extLst>
                <a:ext uri="{FF2B5EF4-FFF2-40B4-BE49-F238E27FC236}">
                  <a16:creationId xmlns:a16="http://schemas.microsoft.com/office/drawing/2014/main" id="{A86651AD-03EA-80E4-6924-C0F581B420E8}"/>
                </a:ext>
              </a:extLst>
            </p:cNvPr>
            <p:cNvCxnSpPr>
              <a:cxnSpLocks/>
            </p:cNvCxnSpPr>
            <p:nvPr/>
          </p:nvCxnSpPr>
          <p:spPr>
            <a:xfrm>
              <a:off x="8269093" y="2209135"/>
              <a:ext cx="476352" cy="0"/>
            </a:xfrm>
            <a:prstGeom prst="straightConnector1">
              <a:avLst/>
            </a:prstGeom>
            <a:ln w="5080">
              <a:solidFill>
                <a:schemeClr val="tx2"/>
              </a:solidFill>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CFA74FCE-AF7B-7154-B825-9AEC22764240}"/>
                </a:ext>
              </a:extLst>
            </p:cNvPr>
            <p:cNvSpPr/>
            <p:nvPr/>
          </p:nvSpPr>
          <p:spPr>
            <a:xfrm>
              <a:off x="3347773" y="2068250"/>
              <a:ext cx="767256" cy="28177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a:ln>
                    <a:noFill/>
                  </a:ln>
                  <a:solidFill>
                    <a:schemeClr val="bg1"/>
                  </a:solidFill>
                  <a:effectLst/>
                  <a:uLnTx/>
                  <a:uFillTx/>
                  <a:latin typeface="Ubuntu"/>
                  <a:ea typeface="+mn-ea"/>
                  <a:cs typeface="+mn-cs"/>
                </a:rPr>
                <a:t>Benchmarking Approach</a:t>
              </a:r>
            </a:p>
          </p:txBody>
        </p:sp>
        <p:sp>
          <p:nvSpPr>
            <p:cNvPr id="21" name="Rectangle 20">
              <a:extLst>
                <a:ext uri="{FF2B5EF4-FFF2-40B4-BE49-F238E27FC236}">
                  <a16:creationId xmlns:a16="http://schemas.microsoft.com/office/drawing/2014/main" id="{3829FDB1-8073-0E9F-D7C9-BA100F5A7BE4}"/>
                </a:ext>
              </a:extLst>
            </p:cNvPr>
            <p:cNvSpPr/>
            <p:nvPr/>
          </p:nvSpPr>
          <p:spPr>
            <a:xfrm>
              <a:off x="9168576" y="2070636"/>
              <a:ext cx="995715" cy="27699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Key insights and recommendations </a:t>
              </a:r>
            </a:p>
          </p:txBody>
        </p:sp>
        <p:grpSp>
          <p:nvGrpSpPr>
            <p:cNvPr id="22" name="Group 21">
              <a:extLst>
                <a:ext uri="{FF2B5EF4-FFF2-40B4-BE49-F238E27FC236}">
                  <a16:creationId xmlns:a16="http://schemas.microsoft.com/office/drawing/2014/main" id="{FF120CEA-7A8D-8526-3D5F-CEDFCE6C84FB}"/>
                </a:ext>
              </a:extLst>
            </p:cNvPr>
            <p:cNvGrpSpPr/>
            <p:nvPr/>
          </p:nvGrpSpPr>
          <p:grpSpPr>
            <a:xfrm>
              <a:off x="8787810" y="2040069"/>
              <a:ext cx="338400" cy="338134"/>
              <a:chOff x="8849634" y="2363919"/>
              <a:chExt cx="263408" cy="338134"/>
            </a:xfrm>
          </p:grpSpPr>
          <p:sp>
            <p:nvSpPr>
              <p:cNvPr id="32" name="Oval 31">
                <a:extLst>
                  <a:ext uri="{FF2B5EF4-FFF2-40B4-BE49-F238E27FC236}">
                    <a16:creationId xmlns:a16="http://schemas.microsoft.com/office/drawing/2014/main" id="{0F271266-65F9-C712-2676-0F0252E86BEB}"/>
                  </a:ext>
                </a:extLst>
              </p:cNvPr>
              <p:cNvSpPr/>
              <p:nvPr/>
            </p:nvSpPr>
            <p:spPr>
              <a:xfrm>
                <a:off x="8849634" y="2363919"/>
                <a:ext cx="263408" cy="338134"/>
              </a:xfrm>
              <a:prstGeom prst="ellipse">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576" tIns="18288" rIns="36576"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bg1"/>
                  </a:solidFill>
                  <a:effectLst/>
                  <a:uLnTx/>
                  <a:uFillTx/>
                  <a:latin typeface="Ubuntu"/>
                  <a:ea typeface="+mn-ea"/>
                  <a:cs typeface="+mn-cs"/>
                </a:endParaRPr>
              </a:p>
            </p:txBody>
          </p:sp>
          <p:pic>
            <p:nvPicPr>
              <p:cNvPr id="33" name="Graphic 32" descr="Lights On outline">
                <a:extLst>
                  <a:ext uri="{FF2B5EF4-FFF2-40B4-BE49-F238E27FC236}">
                    <a16:creationId xmlns:a16="http://schemas.microsoft.com/office/drawing/2014/main" id="{8794DC88-6E29-CBBF-C1B9-38A8E68B355C}"/>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8901945" y="2431071"/>
                <a:ext cx="158784" cy="203830"/>
              </a:xfrm>
              <a:prstGeom prst="rect">
                <a:avLst/>
              </a:prstGeom>
            </p:spPr>
          </p:pic>
        </p:grpSp>
        <p:grpSp>
          <p:nvGrpSpPr>
            <p:cNvPr id="23" name="Group 22">
              <a:extLst>
                <a:ext uri="{FF2B5EF4-FFF2-40B4-BE49-F238E27FC236}">
                  <a16:creationId xmlns:a16="http://schemas.microsoft.com/office/drawing/2014/main" id="{B1794A37-C6D9-A08E-4BBF-629B9CF7A31C}"/>
                </a:ext>
              </a:extLst>
            </p:cNvPr>
            <p:cNvGrpSpPr/>
            <p:nvPr/>
          </p:nvGrpSpPr>
          <p:grpSpPr>
            <a:xfrm>
              <a:off x="7210179" y="2040069"/>
              <a:ext cx="338400" cy="338134"/>
              <a:chOff x="7332023" y="2363919"/>
              <a:chExt cx="263408" cy="338134"/>
            </a:xfrm>
          </p:grpSpPr>
          <p:sp>
            <p:nvSpPr>
              <p:cNvPr id="30" name="Oval 29">
                <a:extLst>
                  <a:ext uri="{FF2B5EF4-FFF2-40B4-BE49-F238E27FC236}">
                    <a16:creationId xmlns:a16="http://schemas.microsoft.com/office/drawing/2014/main" id="{854BC678-0A57-A013-9CCB-2B421E3E6EFE}"/>
                  </a:ext>
                </a:extLst>
              </p:cNvPr>
              <p:cNvSpPr/>
              <p:nvPr/>
            </p:nvSpPr>
            <p:spPr>
              <a:xfrm>
                <a:off x="7332023" y="2363919"/>
                <a:ext cx="263408" cy="338134"/>
              </a:xfrm>
              <a:prstGeom prst="ellipse">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576" tIns="18288" rIns="36576"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bg1"/>
                  </a:solidFill>
                  <a:effectLst/>
                  <a:uLnTx/>
                  <a:uFillTx/>
                  <a:latin typeface="Ubuntu"/>
                  <a:ea typeface="+mn-ea"/>
                  <a:cs typeface="+mn-cs"/>
                </a:endParaRPr>
              </a:p>
            </p:txBody>
          </p:sp>
          <p:pic>
            <p:nvPicPr>
              <p:cNvPr id="31" name="Graphic 30" descr="Server outline">
                <a:extLst>
                  <a:ext uri="{FF2B5EF4-FFF2-40B4-BE49-F238E27FC236}">
                    <a16:creationId xmlns:a16="http://schemas.microsoft.com/office/drawing/2014/main" id="{DAEA3016-AB17-E9EB-B968-BC83FBEC0902}"/>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84335" y="2431072"/>
                <a:ext cx="158784" cy="203830"/>
              </a:xfrm>
              <a:prstGeom prst="rect">
                <a:avLst/>
              </a:prstGeom>
            </p:spPr>
          </p:pic>
        </p:grpSp>
        <p:grpSp>
          <p:nvGrpSpPr>
            <p:cNvPr id="24" name="Group 23">
              <a:extLst>
                <a:ext uri="{FF2B5EF4-FFF2-40B4-BE49-F238E27FC236}">
                  <a16:creationId xmlns:a16="http://schemas.microsoft.com/office/drawing/2014/main" id="{05BB3808-EB24-F6D1-598D-0C5EB21C662B}"/>
                </a:ext>
              </a:extLst>
            </p:cNvPr>
            <p:cNvGrpSpPr/>
            <p:nvPr/>
          </p:nvGrpSpPr>
          <p:grpSpPr>
            <a:xfrm>
              <a:off x="5797224" y="2040069"/>
              <a:ext cx="338400" cy="338134"/>
              <a:chOff x="5782199" y="2363919"/>
              <a:chExt cx="263408" cy="338134"/>
            </a:xfrm>
          </p:grpSpPr>
          <p:sp>
            <p:nvSpPr>
              <p:cNvPr id="28" name="Oval 27">
                <a:extLst>
                  <a:ext uri="{FF2B5EF4-FFF2-40B4-BE49-F238E27FC236}">
                    <a16:creationId xmlns:a16="http://schemas.microsoft.com/office/drawing/2014/main" id="{C26235BC-77A4-9384-D269-8CD832B5899A}"/>
                  </a:ext>
                </a:extLst>
              </p:cNvPr>
              <p:cNvSpPr/>
              <p:nvPr/>
            </p:nvSpPr>
            <p:spPr>
              <a:xfrm>
                <a:off x="5782199" y="2363919"/>
                <a:ext cx="263408" cy="338134"/>
              </a:xfrm>
              <a:prstGeom prst="ellipse">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576" tIns="18288" rIns="36576"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bg1"/>
                  </a:solidFill>
                  <a:effectLst/>
                  <a:uLnTx/>
                  <a:uFillTx/>
                  <a:latin typeface="Ubuntu"/>
                  <a:ea typeface="+mn-ea"/>
                  <a:cs typeface="+mn-cs"/>
                </a:endParaRPr>
              </a:p>
            </p:txBody>
          </p:sp>
          <p:pic>
            <p:nvPicPr>
              <p:cNvPr id="29" name="Graphic 28" descr="Database outline">
                <a:extLst>
                  <a:ext uri="{FF2B5EF4-FFF2-40B4-BE49-F238E27FC236}">
                    <a16:creationId xmlns:a16="http://schemas.microsoft.com/office/drawing/2014/main" id="{77473E93-9059-3F3E-909B-8D9394061254}"/>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834511" y="2431071"/>
                <a:ext cx="158784" cy="203830"/>
              </a:xfrm>
              <a:prstGeom prst="rect">
                <a:avLst/>
              </a:prstGeom>
            </p:spPr>
          </p:pic>
        </p:grpSp>
        <p:grpSp>
          <p:nvGrpSpPr>
            <p:cNvPr id="25" name="Group 24">
              <a:extLst>
                <a:ext uri="{FF2B5EF4-FFF2-40B4-BE49-F238E27FC236}">
                  <a16:creationId xmlns:a16="http://schemas.microsoft.com/office/drawing/2014/main" id="{7CDD75EF-1A4A-7CEB-7E15-E4822978A897}"/>
                </a:ext>
              </a:extLst>
            </p:cNvPr>
            <p:cNvGrpSpPr/>
            <p:nvPr/>
          </p:nvGrpSpPr>
          <p:grpSpPr>
            <a:xfrm>
              <a:off x="4157394" y="2040069"/>
              <a:ext cx="338400" cy="338134"/>
              <a:chOff x="4180446" y="2363919"/>
              <a:chExt cx="258712" cy="338134"/>
            </a:xfrm>
          </p:grpSpPr>
          <p:sp>
            <p:nvSpPr>
              <p:cNvPr id="26" name="Oval 25">
                <a:extLst>
                  <a:ext uri="{FF2B5EF4-FFF2-40B4-BE49-F238E27FC236}">
                    <a16:creationId xmlns:a16="http://schemas.microsoft.com/office/drawing/2014/main" id="{23F49F6A-CCC4-A32A-3BC7-C26F5B7307FA}"/>
                  </a:ext>
                </a:extLst>
              </p:cNvPr>
              <p:cNvSpPr/>
              <p:nvPr/>
            </p:nvSpPr>
            <p:spPr>
              <a:xfrm>
                <a:off x="4180446" y="2363919"/>
                <a:ext cx="258712" cy="338134"/>
              </a:xfrm>
              <a:prstGeom prst="ellipse">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576" tIns="18288" rIns="36576"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bg1"/>
                  </a:solidFill>
                  <a:effectLst/>
                  <a:uLnTx/>
                  <a:uFillTx/>
                  <a:latin typeface="Ubuntu"/>
                  <a:ea typeface="+mn-ea"/>
                  <a:cs typeface="+mn-cs"/>
                </a:endParaRPr>
              </a:p>
            </p:txBody>
          </p:sp>
          <p:pic>
            <p:nvPicPr>
              <p:cNvPr id="27" name="Graphic 26" descr="Bullseye outline">
                <a:extLst>
                  <a:ext uri="{FF2B5EF4-FFF2-40B4-BE49-F238E27FC236}">
                    <a16:creationId xmlns:a16="http://schemas.microsoft.com/office/drawing/2014/main" id="{DA83D2A7-0243-664E-2C3B-9E60B2569EFE}"/>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230410" y="2431071"/>
                <a:ext cx="158784" cy="203830"/>
              </a:xfrm>
              <a:prstGeom prst="rect">
                <a:avLst/>
              </a:prstGeom>
            </p:spPr>
          </p:pic>
        </p:grpSp>
      </p:grpSp>
      <p:grpSp>
        <p:nvGrpSpPr>
          <p:cNvPr id="34" name="Group 33">
            <a:extLst>
              <a:ext uri="{FF2B5EF4-FFF2-40B4-BE49-F238E27FC236}">
                <a16:creationId xmlns:a16="http://schemas.microsoft.com/office/drawing/2014/main" id="{704E0528-0F18-336E-9D83-996B4F10DBE3}"/>
              </a:ext>
            </a:extLst>
          </p:cNvPr>
          <p:cNvGrpSpPr/>
          <p:nvPr/>
        </p:nvGrpSpPr>
        <p:grpSpPr>
          <a:xfrm>
            <a:off x="541442" y="2605030"/>
            <a:ext cx="5313971" cy="667594"/>
            <a:chOff x="3332900" y="2597346"/>
            <a:chExt cx="5583525" cy="667594"/>
          </a:xfrm>
        </p:grpSpPr>
        <p:sp>
          <p:nvSpPr>
            <p:cNvPr id="35" name="Isosceles Triangle 34">
              <a:extLst>
                <a:ext uri="{FF2B5EF4-FFF2-40B4-BE49-F238E27FC236}">
                  <a16:creationId xmlns:a16="http://schemas.microsoft.com/office/drawing/2014/main" id="{A2888CD8-BE98-0E1D-88F4-509B1AC2E8C5}"/>
                </a:ext>
              </a:extLst>
            </p:cNvPr>
            <p:cNvSpPr/>
            <p:nvPr/>
          </p:nvSpPr>
          <p:spPr>
            <a:xfrm rot="10800000">
              <a:off x="5710388" y="2597346"/>
              <a:ext cx="898797" cy="74508"/>
            </a:xfrm>
            <a:prstGeom prst="triangle">
              <a:avLst/>
            </a:prstGeom>
            <a:solidFill>
              <a:schemeClr val="bg1"/>
            </a:solidFill>
            <a:ln w="952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36576" bIns="1828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800" b="0" i="0" u="none" strike="noStrike" kern="1200" cap="none" spc="0" normalizeH="0" baseline="0" noProof="0">
                <a:ln>
                  <a:noFill/>
                </a:ln>
                <a:solidFill>
                  <a:schemeClr val="tx1"/>
                </a:solidFill>
                <a:effectLst/>
                <a:uLnTx/>
                <a:uFillTx/>
                <a:latin typeface="Ubuntu"/>
                <a:ea typeface="+mn-ea"/>
                <a:cs typeface="+mn-cs"/>
              </a:endParaRPr>
            </a:p>
          </p:txBody>
        </p:sp>
        <p:cxnSp>
          <p:nvCxnSpPr>
            <p:cNvPr id="36" name="Connector: Elbow 35">
              <a:extLst>
                <a:ext uri="{FF2B5EF4-FFF2-40B4-BE49-F238E27FC236}">
                  <a16:creationId xmlns:a16="http://schemas.microsoft.com/office/drawing/2014/main" id="{30D22C89-37FA-DA52-C809-19E2C3AD8765}"/>
                </a:ext>
              </a:extLst>
            </p:cNvPr>
            <p:cNvCxnSpPr>
              <a:cxnSpLocks/>
              <a:stCxn id="35" idx="0"/>
            </p:cNvCxnSpPr>
            <p:nvPr/>
          </p:nvCxnSpPr>
          <p:spPr>
            <a:xfrm rot="5400000">
              <a:off x="5062857" y="1989795"/>
              <a:ext cx="414869" cy="1778990"/>
            </a:xfrm>
            <a:prstGeom prst="bentConnector4">
              <a:avLst>
                <a:gd name="adj1" fmla="val 14785"/>
                <a:gd name="adj2" fmla="val 126722"/>
              </a:avLst>
            </a:prstGeom>
            <a:ln w="1270">
              <a:solidFill>
                <a:schemeClr val="bg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FB4A250-0B1F-4075-587E-0250DAD4F062}"/>
                </a:ext>
              </a:extLst>
            </p:cNvPr>
            <p:cNvSpPr/>
            <p:nvPr/>
          </p:nvSpPr>
          <p:spPr>
            <a:xfrm>
              <a:off x="3332900" y="2687974"/>
              <a:ext cx="526001" cy="44594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36576" bIns="1828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schemeClr val="bg1"/>
                  </a:solidFill>
                  <a:effectLst/>
                  <a:uLnTx/>
                  <a:uFillTx/>
                  <a:latin typeface="Ubuntu"/>
                  <a:ea typeface="+mn-ea"/>
                  <a:cs typeface="+mn-cs"/>
                </a:rPr>
                <a:t>Insights/</a:t>
              </a:r>
              <a:br>
                <a:rPr kumimoji="0" lang="en-IN" sz="800" b="0" i="0" u="none" strike="noStrike" kern="1200" cap="none" spc="0" normalizeH="0" baseline="0" noProof="0">
                  <a:ln>
                    <a:noFill/>
                  </a:ln>
                  <a:solidFill>
                    <a:schemeClr val="bg1"/>
                  </a:solidFill>
                  <a:effectLst/>
                  <a:uLnTx/>
                  <a:uFillTx/>
                  <a:latin typeface="Ubuntu"/>
                  <a:ea typeface="+mn-ea"/>
                  <a:cs typeface="+mn-cs"/>
                </a:rPr>
              </a:br>
              <a:r>
                <a:rPr kumimoji="0" lang="en-IN" sz="800" b="0" i="0" u="none" strike="noStrike" kern="1200" cap="none" spc="0" normalizeH="0" baseline="0" noProof="0">
                  <a:ln>
                    <a:noFill/>
                  </a:ln>
                  <a:solidFill>
                    <a:schemeClr val="bg1"/>
                  </a:solidFill>
                  <a:effectLst/>
                  <a:uLnTx/>
                  <a:uFillTx/>
                  <a:latin typeface="Ubuntu"/>
                  <a:ea typeface="+mn-ea"/>
                  <a:cs typeface="+mn-cs"/>
                </a:rPr>
                <a:t>Data sources</a:t>
              </a:r>
            </a:p>
          </p:txBody>
        </p:sp>
        <p:sp>
          <p:nvSpPr>
            <p:cNvPr id="38" name="Rectangle 37">
              <a:extLst>
                <a:ext uri="{FF2B5EF4-FFF2-40B4-BE49-F238E27FC236}">
                  <a16:creationId xmlns:a16="http://schemas.microsoft.com/office/drawing/2014/main" id="{06F6FC37-50BD-4BCC-B4CA-842F6596509D}"/>
                </a:ext>
              </a:extLst>
            </p:cNvPr>
            <p:cNvSpPr/>
            <p:nvPr/>
          </p:nvSpPr>
          <p:spPr>
            <a:xfrm>
              <a:off x="5932383" y="2817935"/>
              <a:ext cx="1003854" cy="12311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Ubuntu"/>
                  <a:ea typeface="+mn-ea"/>
                  <a:cs typeface="+mn-cs"/>
                </a:rPr>
                <a:t>Premium databases</a:t>
              </a:r>
            </a:p>
          </p:txBody>
        </p:sp>
        <p:sp>
          <p:nvSpPr>
            <p:cNvPr id="39" name="Rectangle 38">
              <a:extLst>
                <a:ext uri="{FF2B5EF4-FFF2-40B4-BE49-F238E27FC236}">
                  <a16:creationId xmlns:a16="http://schemas.microsoft.com/office/drawing/2014/main" id="{4CC9A0BC-AD8C-2527-D5EB-AB66163E4185}"/>
                </a:ext>
              </a:extLst>
            </p:cNvPr>
            <p:cNvSpPr/>
            <p:nvPr/>
          </p:nvSpPr>
          <p:spPr>
            <a:xfrm>
              <a:off x="7739087" y="2817935"/>
              <a:ext cx="1177338" cy="12311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Ubuntu"/>
                  <a:ea typeface="+mn-ea"/>
                  <a:cs typeface="+mn-cs"/>
                </a:rPr>
                <a:t>Public sources / survey</a:t>
              </a:r>
            </a:p>
          </p:txBody>
        </p:sp>
        <p:sp>
          <p:nvSpPr>
            <p:cNvPr id="40" name="Rectangle 39">
              <a:extLst>
                <a:ext uri="{FF2B5EF4-FFF2-40B4-BE49-F238E27FC236}">
                  <a16:creationId xmlns:a16="http://schemas.microsoft.com/office/drawing/2014/main" id="{35EA087F-7B8D-1719-C768-6376C4D72119}"/>
                </a:ext>
              </a:extLst>
            </p:cNvPr>
            <p:cNvSpPr/>
            <p:nvPr/>
          </p:nvSpPr>
          <p:spPr>
            <a:xfrm>
              <a:off x="4170808" y="2817935"/>
              <a:ext cx="1042592" cy="12311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Ubuntu"/>
                  <a:ea typeface="+mn-ea"/>
                  <a:cs typeface="+mn-cs"/>
                </a:rPr>
                <a:t>Internal intelligence</a:t>
              </a:r>
            </a:p>
          </p:txBody>
        </p:sp>
        <p:sp>
          <p:nvSpPr>
            <p:cNvPr id="41" name="Arrow: Left-Right 40">
              <a:extLst>
                <a:ext uri="{FF2B5EF4-FFF2-40B4-BE49-F238E27FC236}">
                  <a16:creationId xmlns:a16="http://schemas.microsoft.com/office/drawing/2014/main" id="{BEA86E65-E878-4D06-5953-B2F76274AE85}"/>
                </a:ext>
              </a:extLst>
            </p:cNvPr>
            <p:cNvSpPr/>
            <p:nvPr/>
          </p:nvSpPr>
          <p:spPr>
            <a:xfrm>
              <a:off x="5386619" y="3033969"/>
              <a:ext cx="211713" cy="169858"/>
            </a:xfrm>
            <a:prstGeom prst="leftRightArrow">
              <a:avLst/>
            </a:prstGeom>
            <a:solidFill>
              <a:schemeClr val="bg1"/>
            </a:solidFill>
            <a:ln w="508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576" tIns="18288" rIns="36576"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tx1"/>
                </a:solidFill>
                <a:effectLst/>
                <a:uLnTx/>
                <a:uFillTx/>
                <a:latin typeface="Ubuntu"/>
                <a:ea typeface="+mn-ea"/>
                <a:cs typeface="+mn-cs"/>
              </a:endParaRPr>
            </a:p>
          </p:txBody>
        </p:sp>
        <p:sp>
          <p:nvSpPr>
            <p:cNvPr id="42" name="Arrow: Left-Right 41">
              <a:extLst>
                <a:ext uri="{FF2B5EF4-FFF2-40B4-BE49-F238E27FC236}">
                  <a16:creationId xmlns:a16="http://schemas.microsoft.com/office/drawing/2014/main" id="{EC8840A4-6442-E405-CD04-976B04F823D7}"/>
                </a:ext>
              </a:extLst>
            </p:cNvPr>
            <p:cNvSpPr/>
            <p:nvPr/>
          </p:nvSpPr>
          <p:spPr>
            <a:xfrm>
              <a:off x="7277908" y="3033969"/>
              <a:ext cx="211713" cy="169858"/>
            </a:xfrm>
            <a:prstGeom prst="leftRightArrow">
              <a:avLst/>
            </a:prstGeom>
            <a:solidFill>
              <a:schemeClr val="bg1"/>
            </a:solidFill>
            <a:ln w="508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576" tIns="18288" rIns="36576"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tx1"/>
                </a:solidFill>
                <a:effectLst/>
                <a:uLnTx/>
                <a:uFillTx/>
                <a:latin typeface="Ubuntu"/>
                <a:ea typeface="+mn-ea"/>
                <a:cs typeface="+mn-cs"/>
              </a:endParaRPr>
            </a:p>
          </p:txBody>
        </p:sp>
        <p:pic>
          <p:nvPicPr>
            <p:cNvPr id="43" name="Graphic 42" descr="Disk outline">
              <a:extLst>
                <a:ext uri="{FF2B5EF4-FFF2-40B4-BE49-F238E27FC236}">
                  <a16:creationId xmlns:a16="http://schemas.microsoft.com/office/drawing/2014/main" id="{906F1860-F6C9-5779-C508-16CAF537783F}"/>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328640" y="2993642"/>
              <a:ext cx="285520" cy="271298"/>
            </a:xfrm>
            <a:prstGeom prst="rect">
              <a:avLst/>
            </a:prstGeom>
          </p:spPr>
        </p:pic>
        <p:pic>
          <p:nvPicPr>
            <p:cNvPr id="44" name="Graphic 43" descr="Presentation with pie chart outline">
              <a:extLst>
                <a:ext uri="{FF2B5EF4-FFF2-40B4-BE49-F238E27FC236}">
                  <a16:creationId xmlns:a16="http://schemas.microsoft.com/office/drawing/2014/main" id="{A970E4CD-9382-0BF4-089A-D55689FAEE26}"/>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164436" y="2993642"/>
              <a:ext cx="285520" cy="271298"/>
            </a:xfrm>
            <a:prstGeom prst="rect">
              <a:avLst/>
            </a:prstGeom>
          </p:spPr>
        </p:pic>
        <p:pic>
          <p:nvPicPr>
            <p:cNvPr id="45" name="Graphic 44" descr="Users outline">
              <a:extLst>
                <a:ext uri="{FF2B5EF4-FFF2-40B4-BE49-F238E27FC236}">
                  <a16:creationId xmlns:a16="http://schemas.microsoft.com/office/drawing/2014/main" id="{11C91A53-9281-8624-9DBB-636174BB447C}"/>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586433" y="2993642"/>
              <a:ext cx="285520" cy="271298"/>
            </a:xfrm>
            <a:prstGeom prst="rect">
              <a:avLst/>
            </a:prstGeom>
          </p:spPr>
        </p:pic>
      </p:grpSp>
      <p:grpSp>
        <p:nvGrpSpPr>
          <p:cNvPr id="46" name="Group 45">
            <a:extLst>
              <a:ext uri="{FF2B5EF4-FFF2-40B4-BE49-F238E27FC236}">
                <a16:creationId xmlns:a16="http://schemas.microsoft.com/office/drawing/2014/main" id="{AE45C714-4975-7E59-DBBF-DE539EE2CB52}"/>
              </a:ext>
            </a:extLst>
          </p:cNvPr>
          <p:cNvGrpSpPr/>
          <p:nvPr/>
        </p:nvGrpSpPr>
        <p:grpSpPr>
          <a:xfrm>
            <a:off x="8474433" y="1273497"/>
            <a:ext cx="3364300" cy="3021962"/>
            <a:chOff x="304801" y="1358627"/>
            <a:chExt cx="5301234" cy="4950693"/>
          </a:xfrm>
        </p:grpSpPr>
        <p:sp>
          <p:nvSpPr>
            <p:cNvPr id="47" name="Freeform 90">
              <a:extLst>
                <a:ext uri="{FF2B5EF4-FFF2-40B4-BE49-F238E27FC236}">
                  <a16:creationId xmlns:a16="http://schemas.microsoft.com/office/drawing/2014/main" id="{700AC2CE-533A-5322-F86E-5FEC67D6A5B8}"/>
                </a:ext>
              </a:extLst>
            </p:cNvPr>
            <p:cNvSpPr/>
            <p:nvPr/>
          </p:nvSpPr>
          <p:spPr>
            <a:xfrm rot="10800000">
              <a:off x="1487488" y="3450608"/>
              <a:ext cx="2923145" cy="1130519"/>
            </a:xfrm>
            <a:custGeom>
              <a:avLst/>
              <a:gdLst>
                <a:gd name="connsiteX0" fmla="*/ 3317727 w 3317727"/>
                <a:gd name="connsiteY0" fmla="*/ 1424642 h 1424642"/>
                <a:gd name="connsiteX1" fmla="*/ 3313856 w 3317727"/>
                <a:gd name="connsiteY1" fmla="*/ 1424642 h 1424642"/>
                <a:gd name="connsiteX2" fmla="*/ 3280303 w 3317727"/>
                <a:gd name="connsiteY2" fmla="*/ 1351086 h 1424642"/>
                <a:gd name="connsiteX3" fmla="*/ 1658864 w 3317727"/>
                <a:gd name="connsiteY3" fmla="*/ 1059040 h 1424642"/>
                <a:gd name="connsiteX4" fmla="*/ 37425 w 3317727"/>
                <a:gd name="connsiteY4" fmla="*/ 1351086 h 1424642"/>
                <a:gd name="connsiteX5" fmla="*/ 3872 w 3317727"/>
                <a:gd name="connsiteY5" fmla="*/ 1424642 h 1424642"/>
                <a:gd name="connsiteX6" fmla="*/ 0 w 3317727"/>
                <a:gd name="connsiteY6" fmla="*/ 1424642 h 1424642"/>
                <a:gd name="connsiteX7" fmla="*/ 62339 w 3317727"/>
                <a:gd name="connsiteY7" fmla="*/ 1288892 h 1424642"/>
                <a:gd name="connsiteX8" fmla="*/ 372798 w 3317727"/>
                <a:gd name="connsiteY8" fmla="*/ 494048 h 1424642"/>
                <a:gd name="connsiteX9" fmla="*/ 425436 w 3317727"/>
                <a:gd name="connsiteY9" fmla="*/ 331991 h 1424642"/>
                <a:gd name="connsiteX10" fmla="*/ 429418 w 3317727"/>
                <a:gd name="connsiteY10" fmla="*/ 331991 h 1424642"/>
                <a:gd name="connsiteX11" fmla="*/ 449503 w 3317727"/>
                <a:gd name="connsiteY11" fmla="*/ 276167 h 1424642"/>
                <a:gd name="connsiteX12" fmla="*/ 1658864 w 3317727"/>
                <a:gd name="connsiteY12" fmla="*/ 0 h 1424642"/>
                <a:gd name="connsiteX13" fmla="*/ 2868224 w 3317727"/>
                <a:gd name="connsiteY13" fmla="*/ 276167 h 1424642"/>
                <a:gd name="connsiteX14" fmla="*/ 2888310 w 3317727"/>
                <a:gd name="connsiteY14" fmla="*/ 331991 h 1424642"/>
                <a:gd name="connsiteX15" fmla="*/ 2892290 w 3317727"/>
                <a:gd name="connsiteY15" fmla="*/ 331991 h 1424642"/>
                <a:gd name="connsiteX16" fmla="*/ 2944928 w 3317727"/>
                <a:gd name="connsiteY16" fmla="*/ 494048 h 1424642"/>
                <a:gd name="connsiteX17" fmla="*/ 3255388 w 3317727"/>
                <a:gd name="connsiteY17" fmla="*/ 1288892 h 142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317727" h="1424642">
                  <a:moveTo>
                    <a:pt x="3317727" y="1424642"/>
                  </a:moveTo>
                  <a:lnTo>
                    <a:pt x="3313856" y="1424642"/>
                  </a:lnTo>
                  <a:lnTo>
                    <a:pt x="3280303" y="1351086"/>
                  </a:lnTo>
                  <a:cubicBezTo>
                    <a:pt x="3125974" y="1184416"/>
                    <a:pt x="2458672" y="1059040"/>
                    <a:pt x="1658864" y="1059040"/>
                  </a:cubicBezTo>
                  <a:cubicBezTo>
                    <a:pt x="859055" y="1059040"/>
                    <a:pt x="191753" y="1184416"/>
                    <a:pt x="37425" y="1351086"/>
                  </a:cubicBezTo>
                  <a:lnTo>
                    <a:pt x="3872" y="1424642"/>
                  </a:lnTo>
                  <a:lnTo>
                    <a:pt x="0" y="1424642"/>
                  </a:lnTo>
                  <a:lnTo>
                    <a:pt x="62339" y="1288892"/>
                  </a:lnTo>
                  <a:cubicBezTo>
                    <a:pt x="171966" y="1040442"/>
                    <a:pt x="276210" y="774367"/>
                    <a:pt x="372798" y="494048"/>
                  </a:cubicBezTo>
                  <a:lnTo>
                    <a:pt x="425436" y="331991"/>
                  </a:lnTo>
                  <a:lnTo>
                    <a:pt x="429418" y="331991"/>
                  </a:lnTo>
                  <a:lnTo>
                    <a:pt x="449503" y="276167"/>
                  </a:lnTo>
                  <a:cubicBezTo>
                    <a:pt x="564610" y="118558"/>
                    <a:pt x="1062322" y="0"/>
                    <a:pt x="1658864" y="0"/>
                  </a:cubicBezTo>
                  <a:cubicBezTo>
                    <a:pt x="2255406" y="0"/>
                    <a:pt x="2753117" y="118558"/>
                    <a:pt x="2868224" y="276167"/>
                  </a:cubicBezTo>
                  <a:lnTo>
                    <a:pt x="2888310" y="331991"/>
                  </a:lnTo>
                  <a:lnTo>
                    <a:pt x="2892290" y="331991"/>
                  </a:lnTo>
                  <a:lnTo>
                    <a:pt x="2944928" y="494048"/>
                  </a:lnTo>
                  <a:cubicBezTo>
                    <a:pt x="3041516" y="774367"/>
                    <a:pt x="3145761" y="1040442"/>
                    <a:pt x="3255388" y="1288892"/>
                  </a:cubicBezTo>
                  <a:close/>
                </a:path>
              </a:pathLst>
            </a:custGeom>
            <a:solidFill>
              <a:schemeClr val="accent3">
                <a:lumMod val="50000"/>
                <a:lumOff val="50000"/>
              </a:schemeClr>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48" name="Freeform 87">
              <a:extLst>
                <a:ext uri="{FF2B5EF4-FFF2-40B4-BE49-F238E27FC236}">
                  <a16:creationId xmlns:a16="http://schemas.microsoft.com/office/drawing/2014/main" id="{FDA2D1EE-3AC0-6A6B-6764-862F7EE6BD64}"/>
                </a:ext>
              </a:extLst>
            </p:cNvPr>
            <p:cNvSpPr/>
            <p:nvPr/>
          </p:nvSpPr>
          <p:spPr>
            <a:xfrm rot="10800000">
              <a:off x="1858378" y="4334728"/>
              <a:ext cx="2194082" cy="1816393"/>
            </a:xfrm>
            <a:custGeom>
              <a:avLst/>
              <a:gdLst>
                <a:gd name="connsiteX0" fmla="*/ 249718 w 1877126"/>
                <a:gd name="connsiteY0" fmla="*/ 27848 h 2151276"/>
                <a:gd name="connsiteX1" fmla="*/ 248598 w 1877126"/>
                <a:gd name="connsiteY1" fmla="*/ 1 h 2151276"/>
                <a:gd name="connsiteX2" fmla="*/ 248598 w 1877126"/>
                <a:gd name="connsiteY2" fmla="*/ 0 h 2151276"/>
                <a:gd name="connsiteX3" fmla="*/ 238214 w 1877126"/>
                <a:gd name="connsiteY3" fmla="*/ 507182 h 2151276"/>
                <a:gd name="connsiteX4" fmla="*/ 242944 w 1877126"/>
                <a:gd name="connsiteY4" fmla="*/ 409270 h 2151276"/>
                <a:gd name="connsiteX5" fmla="*/ 242072 w 1877126"/>
                <a:gd name="connsiteY5" fmla="*/ 456825 h 2151276"/>
                <a:gd name="connsiteX6" fmla="*/ 1638913 w 1877126"/>
                <a:gd name="connsiteY6" fmla="*/ 507183 h 2151276"/>
                <a:gd name="connsiteX7" fmla="*/ 1635054 w 1877126"/>
                <a:gd name="connsiteY7" fmla="*/ 456825 h 2151276"/>
                <a:gd name="connsiteX8" fmla="*/ 1634182 w 1877126"/>
                <a:gd name="connsiteY8" fmla="*/ 409270 h 2151276"/>
                <a:gd name="connsiteX9" fmla="*/ 1877126 w 1877126"/>
                <a:gd name="connsiteY9" fmla="*/ 2151276 h 2151276"/>
                <a:gd name="connsiteX10" fmla="*/ 1875772 w 1877126"/>
                <a:gd name="connsiteY10" fmla="*/ 2151276 h 2151276"/>
                <a:gd name="connsiteX11" fmla="*/ 1875824 w 1877126"/>
                <a:gd name="connsiteY11" fmla="*/ 2151120 h 2151276"/>
                <a:gd name="connsiteX12" fmla="*/ 938564 w 1877126"/>
                <a:gd name="connsiteY12" fmla="*/ 1866284 h 2151276"/>
                <a:gd name="connsiteX13" fmla="*/ 1304 w 1877126"/>
                <a:gd name="connsiteY13" fmla="*/ 2151120 h 2151276"/>
                <a:gd name="connsiteX14" fmla="*/ 1356 w 1877126"/>
                <a:gd name="connsiteY14" fmla="*/ 2151276 h 2151276"/>
                <a:gd name="connsiteX15" fmla="*/ 0 w 1877126"/>
                <a:gd name="connsiteY15" fmla="*/ 2151276 h 2151276"/>
                <a:gd name="connsiteX16" fmla="*/ 87655 w 1877126"/>
                <a:gd name="connsiteY16" fmla="*/ 1728827 h 2151276"/>
                <a:gd name="connsiteX17" fmla="*/ 207125 w 1877126"/>
                <a:gd name="connsiteY17" fmla="*/ 912947 h 2151276"/>
                <a:gd name="connsiteX18" fmla="*/ 207127 w 1877126"/>
                <a:gd name="connsiteY18" fmla="*/ 912926 h 2151276"/>
                <a:gd name="connsiteX19" fmla="*/ 207125 w 1877126"/>
                <a:gd name="connsiteY19" fmla="*/ 912948 h 2151276"/>
                <a:gd name="connsiteX20" fmla="*/ 187629 w 1877126"/>
                <a:gd name="connsiteY20" fmla="*/ 1074256 h 2151276"/>
                <a:gd name="connsiteX21" fmla="*/ 188803 w 1877126"/>
                <a:gd name="connsiteY21" fmla="*/ 1074256 h 2151276"/>
                <a:gd name="connsiteX22" fmla="*/ 188756 w 1877126"/>
                <a:gd name="connsiteY22" fmla="*/ 1074105 h 2151276"/>
                <a:gd name="connsiteX23" fmla="*/ 938564 w 1877126"/>
                <a:gd name="connsiteY23" fmla="*/ 829960 h 2151276"/>
                <a:gd name="connsiteX24" fmla="*/ 1688372 w 1877126"/>
                <a:gd name="connsiteY24" fmla="*/ 1074105 h 2151276"/>
                <a:gd name="connsiteX25" fmla="*/ 1688325 w 1877126"/>
                <a:gd name="connsiteY25" fmla="*/ 1074256 h 2151276"/>
                <a:gd name="connsiteX26" fmla="*/ 1689497 w 1877126"/>
                <a:gd name="connsiteY26" fmla="*/ 1074256 h 2151276"/>
                <a:gd name="connsiteX27" fmla="*/ 1670001 w 1877126"/>
                <a:gd name="connsiteY27" fmla="*/ 912948 h 2151276"/>
                <a:gd name="connsiteX28" fmla="*/ 1669999 w 1877126"/>
                <a:gd name="connsiteY28" fmla="*/ 912919 h 2151276"/>
                <a:gd name="connsiteX29" fmla="*/ 1670001 w 1877126"/>
                <a:gd name="connsiteY29" fmla="*/ 912947 h 2151276"/>
                <a:gd name="connsiteX30" fmla="*/ 1789472 w 1877126"/>
                <a:gd name="connsiteY30" fmla="*/ 1728827 h 215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877126" h="2151276">
                  <a:moveTo>
                    <a:pt x="249718" y="27848"/>
                  </a:moveTo>
                  <a:lnTo>
                    <a:pt x="248598" y="1"/>
                  </a:lnTo>
                  <a:lnTo>
                    <a:pt x="248598" y="0"/>
                  </a:lnTo>
                  <a:close/>
                  <a:moveTo>
                    <a:pt x="238214" y="507182"/>
                  </a:moveTo>
                  <a:lnTo>
                    <a:pt x="242944" y="409270"/>
                  </a:lnTo>
                  <a:lnTo>
                    <a:pt x="242072" y="456825"/>
                  </a:lnTo>
                  <a:close/>
                  <a:moveTo>
                    <a:pt x="1638913" y="507183"/>
                  </a:moveTo>
                  <a:lnTo>
                    <a:pt x="1635054" y="456825"/>
                  </a:lnTo>
                  <a:lnTo>
                    <a:pt x="1634182" y="409270"/>
                  </a:lnTo>
                  <a:close/>
                  <a:moveTo>
                    <a:pt x="1877126" y="2151276"/>
                  </a:moveTo>
                  <a:lnTo>
                    <a:pt x="1875772" y="2151276"/>
                  </a:lnTo>
                  <a:lnTo>
                    <a:pt x="1875824" y="2151120"/>
                  </a:lnTo>
                  <a:cubicBezTo>
                    <a:pt x="1875824" y="1993809"/>
                    <a:pt x="1456198" y="1866284"/>
                    <a:pt x="938564" y="1866284"/>
                  </a:cubicBezTo>
                  <a:cubicBezTo>
                    <a:pt x="420930" y="1866284"/>
                    <a:pt x="1304" y="1993809"/>
                    <a:pt x="1304" y="2151120"/>
                  </a:cubicBezTo>
                  <a:lnTo>
                    <a:pt x="1356" y="2151276"/>
                  </a:lnTo>
                  <a:lnTo>
                    <a:pt x="0" y="2151276"/>
                  </a:lnTo>
                  <a:lnTo>
                    <a:pt x="87655" y="1728827"/>
                  </a:lnTo>
                  <a:cubicBezTo>
                    <a:pt x="140370" y="1447260"/>
                    <a:pt x="180108" y="1174056"/>
                    <a:pt x="207125" y="912947"/>
                  </a:cubicBezTo>
                  <a:lnTo>
                    <a:pt x="207127" y="912926"/>
                  </a:lnTo>
                  <a:lnTo>
                    <a:pt x="207125" y="912948"/>
                  </a:lnTo>
                  <a:lnTo>
                    <a:pt x="187629" y="1074256"/>
                  </a:lnTo>
                  <a:lnTo>
                    <a:pt x="188803" y="1074256"/>
                  </a:lnTo>
                  <a:lnTo>
                    <a:pt x="188756" y="1074105"/>
                  </a:lnTo>
                  <a:cubicBezTo>
                    <a:pt x="188756" y="939267"/>
                    <a:pt x="524456" y="829960"/>
                    <a:pt x="938564" y="829960"/>
                  </a:cubicBezTo>
                  <a:cubicBezTo>
                    <a:pt x="1352672" y="829960"/>
                    <a:pt x="1688372" y="939267"/>
                    <a:pt x="1688372" y="1074105"/>
                  </a:cubicBezTo>
                  <a:lnTo>
                    <a:pt x="1688325" y="1074256"/>
                  </a:lnTo>
                  <a:lnTo>
                    <a:pt x="1689497" y="1074256"/>
                  </a:lnTo>
                  <a:lnTo>
                    <a:pt x="1670001" y="912948"/>
                  </a:lnTo>
                  <a:lnTo>
                    <a:pt x="1669999" y="912919"/>
                  </a:lnTo>
                  <a:lnTo>
                    <a:pt x="1670001" y="912947"/>
                  </a:lnTo>
                  <a:cubicBezTo>
                    <a:pt x="1697018" y="1174056"/>
                    <a:pt x="1736756" y="1447260"/>
                    <a:pt x="1789472" y="1728827"/>
                  </a:cubicBezTo>
                  <a:close/>
                </a:path>
              </a:pathLst>
            </a:custGeom>
            <a:solidFill>
              <a:schemeClr val="accent1"/>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49" name="Freeform 88">
              <a:extLst>
                <a:ext uri="{FF2B5EF4-FFF2-40B4-BE49-F238E27FC236}">
                  <a16:creationId xmlns:a16="http://schemas.microsoft.com/office/drawing/2014/main" id="{E6CB5A4D-EF2C-FB63-B596-133D07532147}"/>
                </a:ext>
              </a:extLst>
            </p:cNvPr>
            <p:cNvSpPr/>
            <p:nvPr/>
          </p:nvSpPr>
          <p:spPr>
            <a:xfrm rot="10800000">
              <a:off x="2077477" y="5229722"/>
              <a:ext cx="1755459" cy="1079597"/>
            </a:xfrm>
            <a:custGeom>
              <a:avLst/>
              <a:gdLst>
                <a:gd name="connsiteX0" fmla="*/ 1501868 w 1501868"/>
                <a:gd name="connsiteY0" fmla="*/ 1278640 h 1278640"/>
                <a:gd name="connsiteX1" fmla="*/ 1500696 w 1501868"/>
                <a:gd name="connsiteY1" fmla="*/ 1278640 h 1278640"/>
                <a:gd name="connsiteX2" fmla="*/ 1500743 w 1501868"/>
                <a:gd name="connsiteY2" fmla="*/ 1278489 h 1278640"/>
                <a:gd name="connsiteX3" fmla="*/ 750935 w 1501868"/>
                <a:gd name="connsiteY3" fmla="*/ 1034344 h 1278640"/>
                <a:gd name="connsiteX4" fmla="*/ 1127 w 1501868"/>
                <a:gd name="connsiteY4" fmla="*/ 1278489 h 1278640"/>
                <a:gd name="connsiteX5" fmla="*/ 1174 w 1501868"/>
                <a:gd name="connsiteY5" fmla="*/ 1278640 h 1278640"/>
                <a:gd name="connsiteX6" fmla="*/ 0 w 1501868"/>
                <a:gd name="connsiteY6" fmla="*/ 1278640 h 1278640"/>
                <a:gd name="connsiteX7" fmla="*/ 19496 w 1501868"/>
                <a:gd name="connsiteY7" fmla="*/ 1117332 h 1278640"/>
                <a:gd name="connsiteX8" fmla="*/ 62243 w 1501868"/>
                <a:gd name="connsiteY8" fmla="*/ 236055 h 1278640"/>
                <a:gd name="connsiteX9" fmla="*/ 60969 w 1501868"/>
                <a:gd name="connsiteY9" fmla="*/ 204385 h 1278640"/>
                <a:gd name="connsiteX10" fmla="*/ 60563 w 1501868"/>
                <a:gd name="connsiteY10" fmla="*/ 203200 h 1278640"/>
                <a:gd name="connsiteX11" fmla="*/ 750935 w 1501868"/>
                <a:gd name="connsiteY11" fmla="*/ 0 h 1278640"/>
                <a:gd name="connsiteX12" fmla="*/ 1441307 w 1501868"/>
                <a:gd name="connsiteY12" fmla="*/ 203200 h 1278640"/>
                <a:gd name="connsiteX13" fmla="*/ 1440899 w 1501868"/>
                <a:gd name="connsiteY13" fmla="*/ 204391 h 1278640"/>
                <a:gd name="connsiteX14" fmla="*/ 1439625 w 1501868"/>
                <a:gd name="connsiteY14" fmla="*/ 236055 h 1278640"/>
                <a:gd name="connsiteX15" fmla="*/ 1482372 w 1501868"/>
                <a:gd name="connsiteY15" fmla="*/ 1117332 h 127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1868" h="1278640">
                  <a:moveTo>
                    <a:pt x="1501868" y="1278640"/>
                  </a:moveTo>
                  <a:lnTo>
                    <a:pt x="1500696" y="1278640"/>
                  </a:lnTo>
                  <a:lnTo>
                    <a:pt x="1500743" y="1278489"/>
                  </a:lnTo>
                  <a:cubicBezTo>
                    <a:pt x="1500743" y="1143651"/>
                    <a:pt x="1165043" y="1034344"/>
                    <a:pt x="750935" y="1034344"/>
                  </a:cubicBezTo>
                  <a:cubicBezTo>
                    <a:pt x="336827" y="1034344"/>
                    <a:pt x="1127" y="1143651"/>
                    <a:pt x="1127" y="1278489"/>
                  </a:cubicBezTo>
                  <a:lnTo>
                    <a:pt x="1174" y="1278640"/>
                  </a:lnTo>
                  <a:lnTo>
                    <a:pt x="0" y="1278640"/>
                  </a:lnTo>
                  <a:lnTo>
                    <a:pt x="19496" y="1117332"/>
                  </a:lnTo>
                  <a:cubicBezTo>
                    <a:pt x="51916" y="804003"/>
                    <a:pt x="66018" y="508092"/>
                    <a:pt x="62243" y="236055"/>
                  </a:cubicBezTo>
                  <a:lnTo>
                    <a:pt x="60969" y="204385"/>
                  </a:lnTo>
                  <a:lnTo>
                    <a:pt x="60563" y="203200"/>
                  </a:lnTo>
                  <a:cubicBezTo>
                    <a:pt x="60563" y="90976"/>
                    <a:pt x="369653" y="0"/>
                    <a:pt x="750935" y="0"/>
                  </a:cubicBezTo>
                  <a:cubicBezTo>
                    <a:pt x="1132217" y="0"/>
                    <a:pt x="1441307" y="90976"/>
                    <a:pt x="1441307" y="203200"/>
                  </a:cubicBezTo>
                  <a:lnTo>
                    <a:pt x="1440899" y="204391"/>
                  </a:lnTo>
                  <a:lnTo>
                    <a:pt x="1439625" y="236055"/>
                  </a:lnTo>
                  <a:cubicBezTo>
                    <a:pt x="1435850" y="508092"/>
                    <a:pt x="1449952" y="804003"/>
                    <a:pt x="1482372" y="1117332"/>
                  </a:cubicBezTo>
                  <a:close/>
                </a:path>
              </a:pathLst>
            </a:custGeom>
            <a:solidFill>
              <a:srgbClr val="B3AEE4"/>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50" name="Freeform 90">
              <a:extLst>
                <a:ext uri="{FF2B5EF4-FFF2-40B4-BE49-F238E27FC236}">
                  <a16:creationId xmlns:a16="http://schemas.microsoft.com/office/drawing/2014/main" id="{1A22840C-B33E-FC0C-0B4A-F03AF4485A67}"/>
                </a:ext>
              </a:extLst>
            </p:cNvPr>
            <p:cNvSpPr/>
            <p:nvPr/>
          </p:nvSpPr>
          <p:spPr>
            <a:xfrm rot="10800000">
              <a:off x="1016455" y="2607241"/>
              <a:ext cx="3877928" cy="1130519"/>
            </a:xfrm>
            <a:custGeom>
              <a:avLst/>
              <a:gdLst>
                <a:gd name="connsiteX0" fmla="*/ 3317727 w 3317727"/>
                <a:gd name="connsiteY0" fmla="*/ 1424642 h 1424642"/>
                <a:gd name="connsiteX1" fmla="*/ 3313856 w 3317727"/>
                <a:gd name="connsiteY1" fmla="*/ 1424642 h 1424642"/>
                <a:gd name="connsiteX2" fmla="*/ 3280303 w 3317727"/>
                <a:gd name="connsiteY2" fmla="*/ 1351086 h 1424642"/>
                <a:gd name="connsiteX3" fmla="*/ 1658864 w 3317727"/>
                <a:gd name="connsiteY3" fmla="*/ 1059040 h 1424642"/>
                <a:gd name="connsiteX4" fmla="*/ 37425 w 3317727"/>
                <a:gd name="connsiteY4" fmla="*/ 1351086 h 1424642"/>
                <a:gd name="connsiteX5" fmla="*/ 3872 w 3317727"/>
                <a:gd name="connsiteY5" fmla="*/ 1424642 h 1424642"/>
                <a:gd name="connsiteX6" fmla="*/ 0 w 3317727"/>
                <a:gd name="connsiteY6" fmla="*/ 1424642 h 1424642"/>
                <a:gd name="connsiteX7" fmla="*/ 62339 w 3317727"/>
                <a:gd name="connsiteY7" fmla="*/ 1288892 h 1424642"/>
                <a:gd name="connsiteX8" fmla="*/ 372798 w 3317727"/>
                <a:gd name="connsiteY8" fmla="*/ 494048 h 1424642"/>
                <a:gd name="connsiteX9" fmla="*/ 425436 w 3317727"/>
                <a:gd name="connsiteY9" fmla="*/ 331991 h 1424642"/>
                <a:gd name="connsiteX10" fmla="*/ 429418 w 3317727"/>
                <a:gd name="connsiteY10" fmla="*/ 331991 h 1424642"/>
                <a:gd name="connsiteX11" fmla="*/ 449503 w 3317727"/>
                <a:gd name="connsiteY11" fmla="*/ 276167 h 1424642"/>
                <a:gd name="connsiteX12" fmla="*/ 1658864 w 3317727"/>
                <a:gd name="connsiteY12" fmla="*/ 0 h 1424642"/>
                <a:gd name="connsiteX13" fmla="*/ 2868224 w 3317727"/>
                <a:gd name="connsiteY13" fmla="*/ 276167 h 1424642"/>
                <a:gd name="connsiteX14" fmla="*/ 2888310 w 3317727"/>
                <a:gd name="connsiteY14" fmla="*/ 331991 h 1424642"/>
                <a:gd name="connsiteX15" fmla="*/ 2892290 w 3317727"/>
                <a:gd name="connsiteY15" fmla="*/ 331991 h 1424642"/>
                <a:gd name="connsiteX16" fmla="*/ 2944928 w 3317727"/>
                <a:gd name="connsiteY16" fmla="*/ 494048 h 1424642"/>
                <a:gd name="connsiteX17" fmla="*/ 3255388 w 3317727"/>
                <a:gd name="connsiteY17" fmla="*/ 1288892 h 142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317727" h="1424642">
                  <a:moveTo>
                    <a:pt x="3317727" y="1424642"/>
                  </a:moveTo>
                  <a:lnTo>
                    <a:pt x="3313856" y="1424642"/>
                  </a:lnTo>
                  <a:lnTo>
                    <a:pt x="3280303" y="1351086"/>
                  </a:lnTo>
                  <a:cubicBezTo>
                    <a:pt x="3125974" y="1184416"/>
                    <a:pt x="2458672" y="1059040"/>
                    <a:pt x="1658864" y="1059040"/>
                  </a:cubicBezTo>
                  <a:cubicBezTo>
                    <a:pt x="859055" y="1059040"/>
                    <a:pt x="191753" y="1184416"/>
                    <a:pt x="37425" y="1351086"/>
                  </a:cubicBezTo>
                  <a:lnTo>
                    <a:pt x="3872" y="1424642"/>
                  </a:lnTo>
                  <a:lnTo>
                    <a:pt x="0" y="1424642"/>
                  </a:lnTo>
                  <a:lnTo>
                    <a:pt x="62339" y="1288892"/>
                  </a:lnTo>
                  <a:cubicBezTo>
                    <a:pt x="171966" y="1040442"/>
                    <a:pt x="276210" y="774367"/>
                    <a:pt x="372798" y="494048"/>
                  </a:cubicBezTo>
                  <a:lnTo>
                    <a:pt x="425436" y="331991"/>
                  </a:lnTo>
                  <a:lnTo>
                    <a:pt x="429418" y="331991"/>
                  </a:lnTo>
                  <a:lnTo>
                    <a:pt x="449503" y="276167"/>
                  </a:lnTo>
                  <a:cubicBezTo>
                    <a:pt x="564610" y="118558"/>
                    <a:pt x="1062322" y="0"/>
                    <a:pt x="1658864" y="0"/>
                  </a:cubicBezTo>
                  <a:cubicBezTo>
                    <a:pt x="2255406" y="0"/>
                    <a:pt x="2753117" y="118558"/>
                    <a:pt x="2868224" y="276167"/>
                  </a:cubicBezTo>
                  <a:lnTo>
                    <a:pt x="2888310" y="331991"/>
                  </a:lnTo>
                  <a:lnTo>
                    <a:pt x="2892290" y="331991"/>
                  </a:lnTo>
                  <a:lnTo>
                    <a:pt x="2944928" y="494048"/>
                  </a:lnTo>
                  <a:cubicBezTo>
                    <a:pt x="3041516" y="774367"/>
                    <a:pt x="3145761" y="1040442"/>
                    <a:pt x="3255388" y="1288892"/>
                  </a:cubicBezTo>
                  <a:close/>
                </a:path>
              </a:pathLst>
            </a:custGeom>
            <a:solidFill>
              <a:schemeClr val="accent3">
                <a:lumMod val="20000"/>
                <a:lumOff val="80000"/>
              </a:schemeClr>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51" name="Oval 50">
              <a:extLst>
                <a:ext uri="{FF2B5EF4-FFF2-40B4-BE49-F238E27FC236}">
                  <a16:creationId xmlns:a16="http://schemas.microsoft.com/office/drawing/2014/main" id="{911FA7AE-6C54-D3F9-FB01-1C03653F0B0D}"/>
                </a:ext>
              </a:extLst>
            </p:cNvPr>
            <p:cNvSpPr/>
            <p:nvPr/>
          </p:nvSpPr>
          <p:spPr>
            <a:xfrm>
              <a:off x="304801" y="1358627"/>
              <a:ext cx="5301234" cy="686273"/>
            </a:xfrm>
            <a:prstGeom prst="ellipse">
              <a:avLst/>
            </a:prstGeom>
            <a:solidFill>
              <a:schemeClr val="accent2">
                <a:lumMod val="60000"/>
                <a:lumOff val="40000"/>
              </a:schemeClr>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52" name="Oval 51">
              <a:extLst>
                <a:ext uri="{FF2B5EF4-FFF2-40B4-BE49-F238E27FC236}">
                  <a16:creationId xmlns:a16="http://schemas.microsoft.com/office/drawing/2014/main" id="{DC38B590-40C6-0CCA-6208-9A30653F0709}"/>
                </a:ext>
              </a:extLst>
            </p:cNvPr>
            <p:cNvSpPr/>
            <p:nvPr/>
          </p:nvSpPr>
          <p:spPr>
            <a:xfrm>
              <a:off x="1080119" y="1773413"/>
              <a:ext cx="3750178" cy="576155"/>
            </a:xfrm>
            <a:prstGeom prst="ellipse">
              <a:avLst/>
            </a:prstGeom>
            <a:solidFill>
              <a:srgbClr val="CDF0FB"/>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53" name="Freeform 93">
              <a:extLst>
                <a:ext uri="{FF2B5EF4-FFF2-40B4-BE49-F238E27FC236}">
                  <a16:creationId xmlns:a16="http://schemas.microsoft.com/office/drawing/2014/main" id="{6052312D-283E-B9D2-1DF6-5CD420540452}"/>
                </a:ext>
              </a:extLst>
            </p:cNvPr>
            <p:cNvSpPr/>
            <p:nvPr/>
          </p:nvSpPr>
          <p:spPr>
            <a:xfrm rot="10800000">
              <a:off x="378741" y="1788948"/>
              <a:ext cx="5158800" cy="1138416"/>
            </a:xfrm>
            <a:custGeom>
              <a:avLst/>
              <a:gdLst>
                <a:gd name="connsiteX0" fmla="*/ 3685105 w 4413566"/>
                <a:gd name="connsiteY0" fmla="*/ 52497 h 1455510"/>
                <a:gd name="connsiteX1" fmla="*/ 3663298 w 4413566"/>
                <a:gd name="connsiteY1" fmla="*/ 0 h 1455510"/>
                <a:gd name="connsiteX2" fmla="*/ 3663734 w 4413566"/>
                <a:gd name="connsiteY2" fmla="*/ 0 h 1455510"/>
                <a:gd name="connsiteX3" fmla="*/ 728457 w 4413566"/>
                <a:gd name="connsiteY3" fmla="*/ 52508 h 1455510"/>
                <a:gd name="connsiteX4" fmla="*/ 749832 w 4413566"/>
                <a:gd name="connsiteY4" fmla="*/ 0 h 1455510"/>
                <a:gd name="connsiteX5" fmla="*/ 750268 w 4413566"/>
                <a:gd name="connsiteY5" fmla="*/ 0 h 1455510"/>
                <a:gd name="connsiteX6" fmla="*/ 0 w 4413566"/>
                <a:gd name="connsiteY6" fmla="*/ 1455510 h 1455510"/>
                <a:gd name="connsiteX7" fmla="*/ 27790 w 4413566"/>
                <a:gd name="connsiteY7" fmla="*/ 1416784 h 1455510"/>
                <a:gd name="connsiteX8" fmla="*/ 498921 w 4413566"/>
                <a:gd name="connsiteY8" fmla="*/ 579507 h 1455510"/>
                <a:gd name="connsiteX9" fmla="*/ 626561 w 4413566"/>
                <a:gd name="connsiteY9" fmla="*/ 297814 h 1455510"/>
                <a:gd name="connsiteX10" fmla="*/ 610259 w 4413566"/>
                <a:gd name="connsiteY10" fmla="*/ 337058 h 1455510"/>
                <a:gd name="connsiteX11" fmla="*/ 547920 w 4413566"/>
                <a:gd name="connsiteY11" fmla="*/ 472808 h 1455510"/>
                <a:gd name="connsiteX12" fmla="*/ 551792 w 4413566"/>
                <a:gd name="connsiteY12" fmla="*/ 472808 h 1455510"/>
                <a:gd name="connsiteX13" fmla="*/ 585345 w 4413566"/>
                <a:gd name="connsiteY13" fmla="*/ 399252 h 1455510"/>
                <a:gd name="connsiteX14" fmla="*/ 2206784 w 4413566"/>
                <a:gd name="connsiteY14" fmla="*/ 107206 h 1455510"/>
                <a:gd name="connsiteX15" fmla="*/ 3828223 w 4413566"/>
                <a:gd name="connsiteY15" fmla="*/ 399252 h 1455510"/>
                <a:gd name="connsiteX16" fmla="*/ 3861776 w 4413566"/>
                <a:gd name="connsiteY16" fmla="*/ 472808 h 1455510"/>
                <a:gd name="connsiteX17" fmla="*/ 3865647 w 4413566"/>
                <a:gd name="connsiteY17" fmla="*/ 472808 h 1455510"/>
                <a:gd name="connsiteX18" fmla="*/ 3803308 w 4413566"/>
                <a:gd name="connsiteY18" fmla="*/ 337058 h 1455510"/>
                <a:gd name="connsiteX19" fmla="*/ 3787016 w 4413566"/>
                <a:gd name="connsiteY19" fmla="*/ 297836 h 1455510"/>
                <a:gd name="connsiteX20" fmla="*/ 3914645 w 4413566"/>
                <a:gd name="connsiteY20" fmla="*/ 579507 h 1455510"/>
                <a:gd name="connsiteX21" fmla="*/ 4385777 w 4413566"/>
                <a:gd name="connsiteY21" fmla="*/ 1416784 h 1455510"/>
                <a:gd name="connsiteX22" fmla="*/ 4413566 w 4413566"/>
                <a:gd name="connsiteY22" fmla="*/ 1455508 h 1455510"/>
                <a:gd name="connsiteX23" fmla="*/ 4372544 w 4413566"/>
                <a:gd name="connsiteY23" fmla="*/ 1426917 h 1455510"/>
                <a:gd name="connsiteX24" fmla="*/ 2206784 w 4413566"/>
                <a:gd name="connsiteY24" fmla="*/ 1141368 h 1455510"/>
                <a:gd name="connsiteX25" fmla="*/ 41024 w 4413566"/>
                <a:gd name="connsiteY25" fmla="*/ 1426917 h 1455510"/>
                <a:gd name="connsiteX0" fmla="*/ 3685105 w 4413566"/>
                <a:gd name="connsiteY0" fmla="*/ 52497 h 1455510"/>
                <a:gd name="connsiteX1" fmla="*/ 3663298 w 4413566"/>
                <a:gd name="connsiteY1" fmla="*/ 0 h 1455510"/>
                <a:gd name="connsiteX2" fmla="*/ 3685105 w 4413566"/>
                <a:gd name="connsiteY2" fmla="*/ 52497 h 1455510"/>
                <a:gd name="connsiteX3" fmla="*/ 728457 w 4413566"/>
                <a:gd name="connsiteY3" fmla="*/ 52508 h 1455510"/>
                <a:gd name="connsiteX4" fmla="*/ 749832 w 4413566"/>
                <a:gd name="connsiteY4" fmla="*/ 0 h 1455510"/>
                <a:gd name="connsiteX5" fmla="*/ 750268 w 4413566"/>
                <a:gd name="connsiteY5" fmla="*/ 0 h 1455510"/>
                <a:gd name="connsiteX6" fmla="*/ 728457 w 4413566"/>
                <a:gd name="connsiteY6" fmla="*/ 52508 h 1455510"/>
                <a:gd name="connsiteX7" fmla="*/ 0 w 4413566"/>
                <a:gd name="connsiteY7" fmla="*/ 1455510 h 1455510"/>
                <a:gd name="connsiteX8" fmla="*/ 27790 w 4413566"/>
                <a:gd name="connsiteY8" fmla="*/ 1416784 h 1455510"/>
                <a:gd name="connsiteX9" fmla="*/ 498921 w 4413566"/>
                <a:gd name="connsiteY9" fmla="*/ 579507 h 1455510"/>
                <a:gd name="connsiteX10" fmla="*/ 626561 w 4413566"/>
                <a:gd name="connsiteY10" fmla="*/ 297814 h 1455510"/>
                <a:gd name="connsiteX11" fmla="*/ 610259 w 4413566"/>
                <a:gd name="connsiteY11" fmla="*/ 337058 h 1455510"/>
                <a:gd name="connsiteX12" fmla="*/ 547920 w 4413566"/>
                <a:gd name="connsiteY12" fmla="*/ 472808 h 1455510"/>
                <a:gd name="connsiteX13" fmla="*/ 551792 w 4413566"/>
                <a:gd name="connsiteY13" fmla="*/ 472808 h 1455510"/>
                <a:gd name="connsiteX14" fmla="*/ 585345 w 4413566"/>
                <a:gd name="connsiteY14" fmla="*/ 399252 h 1455510"/>
                <a:gd name="connsiteX15" fmla="*/ 2206784 w 4413566"/>
                <a:gd name="connsiteY15" fmla="*/ 107206 h 1455510"/>
                <a:gd name="connsiteX16" fmla="*/ 3828223 w 4413566"/>
                <a:gd name="connsiteY16" fmla="*/ 399252 h 1455510"/>
                <a:gd name="connsiteX17" fmla="*/ 3861776 w 4413566"/>
                <a:gd name="connsiteY17" fmla="*/ 472808 h 1455510"/>
                <a:gd name="connsiteX18" fmla="*/ 3865647 w 4413566"/>
                <a:gd name="connsiteY18" fmla="*/ 472808 h 1455510"/>
                <a:gd name="connsiteX19" fmla="*/ 3803308 w 4413566"/>
                <a:gd name="connsiteY19" fmla="*/ 337058 h 1455510"/>
                <a:gd name="connsiteX20" fmla="*/ 3787016 w 4413566"/>
                <a:gd name="connsiteY20" fmla="*/ 297836 h 1455510"/>
                <a:gd name="connsiteX21" fmla="*/ 3914645 w 4413566"/>
                <a:gd name="connsiteY21" fmla="*/ 579507 h 1455510"/>
                <a:gd name="connsiteX22" fmla="*/ 4385777 w 4413566"/>
                <a:gd name="connsiteY22" fmla="*/ 1416784 h 1455510"/>
                <a:gd name="connsiteX23" fmla="*/ 4413566 w 4413566"/>
                <a:gd name="connsiteY23" fmla="*/ 1455508 h 1455510"/>
                <a:gd name="connsiteX24" fmla="*/ 4372544 w 4413566"/>
                <a:gd name="connsiteY24" fmla="*/ 1426917 h 1455510"/>
                <a:gd name="connsiteX25" fmla="*/ 2206784 w 4413566"/>
                <a:gd name="connsiteY25" fmla="*/ 1141368 h 1455510"/>
                <a:gd name="connsiteX26" fmla="*/ 41024 w 4413566"/>
                <a:gd name="connsiteY26" fmla="*/ 1426917 h 1455510"/>
                <a:gd name="connsiteX27" fmla="*/ 0 w 4413566"/>
                <a:gd name="connsiteY27" fmla="*/ 1455510 h 1455510"/>
                <a:gd name="connsiteX0" fmla="*/ 728457 w 4413566"/>
                <a:gd name="connsiteY0" fmla="*/ 52508 h 1455510"/>
                <a:gd name="connsiteX1" fmla="*/ 749832 w 4413566"/>
                <a:gd name="connsiteY1" fmla="*/ 0 h 1455510"/>
                <a:gd name="connsiteX2" fmla="*/ 750268 w 4413566"/>
                <a:gd name="connsiteY2" fmla="*/ 0 h 1455510"/>
                <a:gd name="connsiteX3" fmla="*/ 728457 w 4413566"/>
                <a:gd name="connsiteY3" fmla="*/ 52508 h 1455510"/>
                <a:gd name="connsiteX4" fmla="*/ 0 w 4413566"/>
                <a:gd name="connsiteY4" fmla="*/ 1455510 h 1455510"/>
                <a:gd name="connsiteX5" fmla="*/ 27790 w 4413566"/>
                <a:gd name="connsiteY5" fmla="*/ 1416784 h 1455510"/>
                <a:gd name="connsiteX6" fmla="*/ 498921 w 4413566"/>
                <a:gd name="connsiteY6" fmla="*/ 579507 h 1455510"/>
                <a:gd name="connsiteX7" fmla="*/ 626561 w 4413566"/>
                <a:gd name="connsiteY7" fmla="*/ 297814 h 1455510"/>
                <a:gd name="connsiteX8" fmla="*/ 610259 w 4413566"/>
                <a:gd name="connsiteY8" fmla="*/ 337058 h 1455510"/>
                <a:gd name="connsiteX9" fmla="*/ 547920 w 4413566"/>
                <a:gd name="connsiteY9" fmla="*/ 472808 h 1455510"/>
                <a:gd name="connsiteX10" fmla="*/ 551792 w 4413566"/>
                <a:gd name="connsiteY10" fmla="*/ 472808 h 1455510"/>
                <a:gd name="connsiteX11" fmla="*/ 585345 w 4413566"/>
                <a:gd name="connsiteY11" fmla="*/ 399252 h 1455510"/>
                <a:gd name="connsiteX12" fmla="*/ 2206784 w 4413566"/>
                <a:gd name="connsiteY12" fmla="*/ 107206 h 1455510"/>
                <a:gd name="connsiteX13" fmla="*/ 3828223 w 4413566"/>
                <a:gd name="connsiteY13" fmla="*/ 399252 h 1455510"/>
                <a:gd name="connsiteX14" fmla="*/ 3861776 w 4413566"/>
                <a:gd name="connsiteY14" fmla="*/ 472808 h 1455510"/>
                <a:gd name="connsiteX15" fmla="*/ 3865647 w 4413566"/>
                <a:gd name="connsiteY15" fmla="*/ 472808 h 1455510"/>
                <a:gd name="connsiteX16" fmla="*/ 3803308 w 4413566"/>
                <a:gd name="connsiteY16" fmla="*/ 337058 h 1455510"/>
                <a:gd name="connsiteX17" fmla="*/ 3787016 w 4413566"/>
                <a:gd name="connsiteY17" fmla="*/ 297836 h 1455510"/>
                <a:gd name="connsiteX18" fmla="*/ 3914645 w 4413566"/>
                <a:gd name="connsiteY18" fmla="*/ 579507 h 1455510"/>
                <a:gd name="connsiteX19" fmla="*/ 4385777 w 4413566"/>
                <a:gd name="connsiteY19" fmla="*/ 1416784 h 1455510"/>
                <a:gd name="connsiteX20" fmla="*/ 4413566 w 4413566"/>
                <a:gd name="connsiteY20" fmla="*/ 1455508 h 1455510"/>
                <a:gd name="connsiteX21" fmla="*/ 4372544 w 4413566"/>
                <a:gd name="connsiteY21" fmla="*/ 1426917 h 1455510"/>
                <a:gd name="connsiteX22" fmla="*/ 2206784 w 4413566"/>
                <a:gd name="connsiteY22" fmla="*/ 1141368 h 1455510"/>
                <a:gd name="connsiteX23" fmla="*/ 41024 w 4413566"/>
                <a:gd name="connsiteY23" fmla="*/ 1426917 h 1455510"/>
                <a:gd name="connsiteX24" fmla="*/ 0 w 4413566"/>
                <a:gd name="connsiteY24" fmla="*/ 1455510 h 1455510"/>
                <a:gd name="connsiteX0" fmla="*/ 728457 w 4413566"/>
                <a:gd name="connsiteY0" fmla="*/ 52508 h 1455510"/>
                <a:gd name="connsiteX1" fmla="*/ 749832 w 4413566"/>
                <a:gd name="connsiteY1" fmla="*/ 0 h 1455510"/>
                <a:gd name="connsiteX2" fmla="*/ 728457 w 4413566"/>
                <a:gd name="connsiteY2" fmla="*/ 52508 h 1455510"/>
                <a:gd name="connsiteX3" fmla="*/ 0 w 4413566"/>
                <a:gd name="connsiteY3" fmla="*/ 1455510 h 1455510"/>
                <a:gd name="connsiteX4" fmla="*/ 27790 w 4413566"/>
                <a:gd name="connsiteY4" fmla="*/ 1416784 h 1455510"/>
                <a:gd name="connsiteX5" fmla="*/ 498921 w 4413566"/>
                <a:gd name="connsiteY5" fmla="*/ 579507 h 1455510"/>
                <a:gd name="connsiteX6" fmla="*/ 626561 w 4413566"/>
                <a:gd name="connsiteY6" fmla="*/ 297814 h 1455510"/>
                <a:gd name="connsiteX7" fmla="*/ 610259 w 4413566"/>
                <a:gd name="connsiteY7" fmla="*/ 337058 h 1455510"/>
                <a:gd name="connsiteX8" fmla="*/ 547920 w 4413566"/>
                <a:gd name="connsiteY8" fmla="*/ 472808 h 1455510"/>
                <a:gd name="connsiteX9" fmla="*/ 551792 w 4413566"/>
                <a:gd name="connsiteY9" fmla="*/ 472808 h 1455510"/>
                <a:gd name="connsiteX10" fmla="*/ 585345 w 4413566"/>
                <a:gd name="connsiteY10" fmla="*/ 399252 h 1455510"/>
                <a:gd name="connsiteX11" fmla="*/ 2206784 w 4413566"/>
                <a:gd name="connsiteY11" fmla="*/ 107206 h 1455510"/>
                <a:gd name="connsiteX12" fmla="*/ 3828223 w 4413566"/>
                <a:gd name="connsiteY12" fmla="*/ 399252 h 1455510"/>
                <a:gd name="connsiteX13" fmla="*/ 3861776 w 4413566"/>
                <a:gd name="connsiteY13" fmla="*/ 472808 h 1455510"/>
                <a:gd name="connsiteX14" fmla="*/ 3865647 w 4413566"/>
                <a:gd name="connsiteY14" fmla="*/ 472808 h 1455510"/>
                <a:gd name="connsiteX15" fmla="*/ 3803308 w 4413566"/>
                <a:gd name="connsiteY15" fmla="*/ 337058 h 1455510"/>
                <a:gd name="connsiteX16" fmla="*/ 3787016 w 4413566"/>
                <a:gd name="connsiteY16" fmla="*/ 297836 h 1455510"/>
                <a:gd name="connsiteX17" fmla="*/ 3914645 w 4413566"/>
                <a:gd name="connsiteY17" fmla="*/ 579507 h 1455510"/>
                <a:gd name="connsiteX18" fmla="*/ 4385777 w 4413566"/>
                <a:gd name="connsiteY18" fmla="*/ 1416784 h 1455510"/>
                <a:gd name="connsiteX19" fmla="*/ 4413566 w 4413566"/>
                <a:gd name="connsiteY19" fmla="*/ 1455508 h 1455510"/>
                <a:gd name="connsiteX20" fmla="*/ 4372544 w 4413566"/>
                <a:gd name="connsiteY20" fmla="*/ 1426917 h 1455510"/>
                <a:gd name="connsiteX21" fmla="*/ 2206784 w 4413566"/>
                <a:gd name="connsiteY21" fmla="*/ 1141368 h 1455510"/>
                <a:gd name="connsiteX22" fmla="*/ 41024 w 4413566"/>
                <a:gd name="connsiteY22" fmla="*/ 1426917 h 1455510"/>
                <a:gd name="connsiteX23" fmla="*/ 0 w 4413566"/>
                <a:gd name="connsiteY23" fmla="*/ 1455510 h 1455510"/>
                <a:gd name="connsiteX0" fmla="*/ 0 w 4413566"/>
                <a:gd name="connsiteY0" fmla="*/ 1348304 h 1348304"/>
                <a:gd name="connsiteX1" fmla="*/ 27790 w 4413566"/>
                <a:gd name="connsiteY1" fmla="*/ 1309578 h 1348304"/>
                <a:gd name="connsiteX2" fmla="*/ 498921 w 4413566"/>
                <a:gd name="connsiteY2" fmla="*/ 472301 h 1348304"/>
                <a:gd name="connsiteX3" fmla="*/ 626561 w 4413566"/>
                <a:gd name="connsiteY3" fmla="*/ 190608 h 1348304"/>
                <a:gd name="connsiteX4" fmla="*/ 610259 w 4413566"/>
                <a:gd name="connsiteY4" fmla="*/ 229852 h 1348304"/>
                <a:gd name="connsiteX5" fmla="*/ 547920 w 4413566"/>
                <a:gd name="connsiteY5" fmla="*/ 365602 h 1348304"/>
                <a:gd name="connsiteX6" fmla="*/ 551792 w 4413566"/>
                <a:gd name="connsiteY6" fmla="*/ 365602 h 1348304"/>
                <a:gd name="connsiteX7" fmla="*/ 585345 w 4413566"/>
                <a:gd name="connsiteY7" fmla="*/ 292046 h 1348304"/>
                <a:gd name="connsiteX8" fmla="*/ 2206784 w 4413566"/>
                <a:gd name="connsiteY8" fmla="*/ 0 h 1348304"/>
                <a:gd name="connsiteX9" fmla="*/ 3828223 w 4413566"/>
                <a:gd name="connsiteY9" fmla="*/ 292046 h 1348304"/>
                <a:gd name="connsiteX10" fmla="*/ 3861776 w 4413566"/>
                <a:gd name="connsiteY10" fmla="*/ 365602 h 1348304"/>
                <a:gd name="connsiteX11" fmla="*/ 3865647 w 4413566"/>
                <a:gd name="connsiteY11" fmla="*/ 365602 h 1348304"/>
                <a:gd name="connsiteX12" fmla="*/ 3803308 w 4413566"/>
                <a:gd name="connsiteY12" fmla="*/ 229852 h 1348304"/>
                <a:gd name="connsiteX13" fmla="*/ 3787016 w 4413566"/>
                <a:gd name="connsiteY13" fmla="*/ 190630 h 1348304"/>
                <a:gd name="connsiteX14" fmla="*/ 3914645 w 4413566"/>
                <a:gd name="connsiteY14" fmla="*/ 472301 h 1348304"/>
                <a:gd name="connsiteX15" fmla="*/ 4385777 w 4413566"/>
                <a:gd name="connsiteY15" fmla="*/ 1309578 h 1348304"/>
                <a:gd name="connsiteX16" fmla="*/ 4413566 w 4413566"/>
                <a:gd name="connsiteY16" fmla="*/ 1348302 h 1348304"/>
                <a:gd name="connsiteX17" fmla="*/ 4372544 w 4413566"/>
                <a:gd name="connsiteY17" fmla="*/ 1319711 h 1348304"/>
                <a:gd name="connsiteX18" fmla="*/ 2206784 w 4413566"/>
                <a:gd name="connsiteY18" fmla="*/ 1034162 h 1348304"/>
                <a:gd name="connsiteX19" fmla="*/ 41024 w 4413566"/>
                <a:gd name="connsiteY19" fmla="*/ 1319711 h 1348304"/>
                <a:gd name="connsiteX20" fmla="*/ 0 w 4413566"/>
                <a:gd name="connsiteY20"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610259 w 4413566"/>
                <a:gd name="connsiteY3" fmla="*/ 229852 h 1348304"/>
                <a:gd name="connsiteX4" fmla="*/ 547920 w 4413566"/>
                <a:gd name="connsiteY4" fmla="*/ 365602 h 1348304"/>
                <a:gd name="connsiteX5" fmla="*/ 551792 w 4413566"/>
                <a:gd name="connsiteY5" fmla="*/ 365602 h 1348304"/>
                <a:gd name="connsiteX6" fmla="*/ 585345 w 4413566"/>
                <a:gd name="connsiteY6" fmla="*/ 292046 h 1348304"/>
                <a:gd name="connsiteX7" fmla="*/ 2206784 w 4413566"/>
                <a:gd name="connsiteY7" fmla="*/ 0 h 1348304"/>
                <a:gd name="connsiteX8" fmla="*/ 3828223 w 4413566"/>
                <a:gd name="connsiteY8" fmla="*/ 292046 h 1348304"/>
                <a:gd name="connsiteX9" fmla="*/ 3861776 w 4413566"/>
                <a:gd name="connsiteY9" fmla="*/ 365602 h 1348304"/>
                <a:gd name="connsiteX10" fmla="*/ 3865647 w 4413566"/>
                <a:gd name="connsiteY10" fmla="*/ 365602 h 1348304"/>
                <a:gd name="connsiteX11" fmla="*/ 3803308 w 4413566"/>
                <a:gd name="connsiteY11" fmla="*/ 229852 h 1348304"/>
                <a:gd name="connsiteX12" fmla="*/ 3787016 w 4413566"/>
                <a:gd name="connsiteY12" fmla="*/ 190630 h 1348304"/>
                <a:gd name="connsiteX13" fmla="*/ 3914645 w 4413566"/>
                <a:gd name="connsiteY13" fmla="*/ 472301 h 1348304"/>
                <a:gd name="connsiteX14" fmla="*/ 4385777 w 4413566"/>
                <a:gd name="connsiteY14" fmla="*/ 1309578 h 1348304"/>
                <a:gd name="connsiteX15" fmla="*/ 4413566 w 4413566"/>
                <a:gd name="connsiteY15" fmla="*/ 1348302 h 1348304"/>
                <a:gd name="connsiteX16" fmla="*/ 4372544 w 4413566"/>
                <a:gd name="connsiteY16" fmla="*/ 1319711 h 1348304"/>
                <a:gd name="connsiteX17" fmla="*/ 2206784 w 4413566"/>
                <a:gd name="connsiteY17" fmla="*/ 1034162 h 1348304"/>
                <a:gd name="connsiteX18" fmla="*/ 41024 w 4413566"/>
                <a:gd name="connsiteY18" fmla="*/ 1319711 h 1348304"/>
                <a:gd name="connsiteX19" fmla="*/ 0 w 4413566"/>
                <a:gd name="connsiteY19"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51792 w 4413566"/>
                <a:gd name="connsiteY4" fmla="*/ 365602 h 1348304"/>
                <a:gd name="connsiteX5" fmla="*/ 585345 w 4413566"/>
                <a:gd name="connsiteY5" fmla="*/ 292046 h 1348304"/>
                <a:gd name="connsiteX6" fmla="*/ 2206784 w 4413566"/>
                <a:gd name="connsiteY6" fmla="*/ 0 h 1348304"/>
                <a:gd name="connsiteX7" fmla="*/ 3828223 w 4413566"/>
                <a:gd name="connsiteY7" fmla="*/ 292046 h 1348304"/>
                <a:gd name="connsiteX8" fmla="*/ 3861776 w 4413566"/>
                <a:gd name="connsiteY8" fmla="*/ 365602 h 1348304"/>
                <a:gd name="connsiteX9" fmla="*/ 3865647 w 4413566"/>
                <a:gd name="connsiteY9" fmla="*/ 365602 h 1348304"/>
                <a:gd name="connsiteX10" fmla="*/ 3803308 w 4413566"/>
                <a:gd name="connsiteY10" fmla="*/ 229852 h 1348304"/>
                <a:gd name="connsiteX11" fmla="*/ 3787016 w 4413566"/>
                <a:gd name="connsiteY11" fmla="*/ 190630 h 1348304"/>
                <a:gd name="connsiteX12" fmla="*/ 3914645 w 4413566"/>
                <a:gd name="connsiteY12" fmla="*/ 472301 h 1348304"/>
                <a:gd name="connsiteX13" fmla="*/ 4385777 w 4413566"/>
                <a:gd name="connsiteY13" fmla="*/ 1309578 h 1348304"/>
                <a:gd name="connsiteX14" fmla="*/ 4413566 w 4413566"/>
                <a:gd name="connsiteY14" fmla="*/ 1348302 h 1348304"/>
                <a:gd name="connsiteX15" fmla="*/ 4372544 w 4413566"/>
                <a:gd name="connsiteY15" fmla="*/ 1319711 h 1348304"/>
                <a:gd name="connsiteX16" fmla="*/ 2206784 w 4413566"/>
                <a:gd name="connsiteY16" fmla="*/ 1034162 h 1348304"/>
                <a:gd name="connsiteX17" fmla="*/ 41024 w 4413566"/>
                <a:gd name="connsiteY17" fmla="*/ 1319711 h 1348304"/>
                <a:gd name="connsiteX18" fmla="*/ 0 w 4413566"/>
                <a:gd name="connsiteY18"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865647 w 4413566"/>
                <a:gd name="connsiteY8" fmla="*/ 365602 h 1348304"/>
                <a:gd name="connsiteX9" fmla="*/ 3803308 w 4413566"/>
                <a:gd name="connsiteY9" fmla="*/ 229852 h 1348304"/>
                <a:gd name="connsiteX10" fmla="*/ 3787016 w 4413566"/>
                <a:gd name="connsiteY10" fmla="*/ 190630 h 1348304"/>
                <a:gd name="connsiteX11" fmla="*/ 3914645 w 4413566"/>
                <a:gd name="connsiteY11" fmla="*/ 472301 h 1348304"/>
                <a:gd name="connsiteX12" fmla="*/ 4385777 w 4413566"/>
                <a:gd name="connsiteY12" fmla="*/ 1309578 h 1348304"/>
                <a:gd name="connsiteX13" fmla="*/ 4413566 w 4413566"/>
                <a:gd name="connsiteY13" fmla="*/ 1348302 h 1348304"/>
                <a:gd name="connsiteX14" fmla="*/ 4372544 w 4413566"/>
                <a:gd name="connsiteY14" fmla="*/ 1319711 h 1348304"/>
                <a:gd name="connsiteX15" fmla="*/ 2206784 w 4413566"/>
                <a:gd name="connsiteY15" fmla="*/ 1034162 h 1348304"/>
                <a:gd name="connsiteX16" fmla="*/ 41024 w 4413566"/>
                <a:gd name="connsiteY16" fmla="*/ 1319711 h 1348304"/>
                <a:gd name="connsiteX17" fmla="*/ 0 w 4413566"/>
                <a:gd name="connsiteY17"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865647 w 4413566"/>
                <a:gd name="connsiteY8" fmla="*/ 365602 h 1348304"/>
                <a:gd name="connsiteX9" fmla="*/ 3803308 w 4413566"/>
                <a:gd name="connsiteY9" fmla="*/ 229852 h 1348304"/>
                <a:gd name="connsiteX10" fmla="*/ 3914645 w 4413566"/>
                <a:gd name="connsiteY10" fmla="*/ 472301 h 1348304"/>
                <a:gd name="connsiteX11" fmla="*/ 4385777 w 4413566"/>
                <a:gd name="connsiteY11" fmla="*/ 1309578 h 1348304"/>
                <a:gd name="connsiteX12" fmla="*/ 4413566 w 4413566"/>
                <a:gd name="connsiteY12" fmla="*/ 1348302 h 1348304"/>
                <a:gd name="connsiteX13" fmla="*/ 4372544 w 4413566"/>
                <a:gd name="connsiteY13" fmla="*/ 1319711 h 1348304"/>
                <a:gd name="connsiteX14" fmla="*/ 2206784 w 4413566"/>
                <a:gd name="connsiteY14" fmla="*/ 1034162 h 1348304"/>
                <a:gd name="connsiteX15" fmla="*/ 41024 w 4413566"/>
                <a:gd name="connsiteY15" fmla="*/ 1319711 h 1348304"/>
                <a:gd name="connsiteX16" fmla="*/ 0 w 4413566"/>
                <a:gd name="connsiteY16"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865647 w 4413566"/>
                <a:gd name="connsiteY8" fmla="*/ 365602 h 1348304"/>
                <a:gd name="connsiteX9" fmla="*/ 3914645 w 4413566"/>
                <a:gd name="connsiteY9" fmla="*/ 472301 h 1348304"/>
                <a:gd name="connsiteX10" fmla="*/ 4385777 w 4413566"/>
                <a:gd name="connsiteY10" fmla="*/ 1309578 h 1348304"/>
                <a:gd name="connsiteX11" fmla="*/ 4413566 w 4413566"/>
                <a:gd name="connsiteY11" fmla="*/ 1348302 h 1348304"/>
                <a:gd name="connsiteX12" fmla="*/ 4372544 w 4413566"/>
                <a:gd name="connsiteY12" fmla="*/ 1319711 h 1348304"/>
                <a:gd name="connsiteX13" fmla="*/ 2206784 w 4413566"/>
                <a:gd name="connsiteY13" fmla="*/ 1034162 h 1348304"/>
                <a:gd name="connsiteX14" fmla="*/ 41024 w 4413566"/>
                <a:gd name="connsiteY14" fmla="*/ 1319711 h 1348304"/>
                <a:gd name="connsiteX15" fmla="*/ 0 w 4413566"/>
                <a:gd name="connsiteY15"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914645 w 4413566"/>
                <a:gd name="connsiteY8" fmla="*/ 472301 h 1348304"/>
                <a:gd name="connsiteX9" fmla="*/ 4385777 w 4413566"/>
                <a:gd name="connsiteY9" fmla="*/ 1309578 h 1348304"/>
                <a:gd name="connsiteX10" fmla="*/ 4413566 w 4413566"/>
                <a:gd name="connsiteY10" fmla="*/ 1348302 h 1348304"/>
                <a:gd name="connsiteX11" fmla="*/ 4372544 w 4413566"/>
                <a:gd name="connsiteY11" fmla="*/ 1319711 h 1348304"/>
                <a:gd name="connsiteX12" fmla="*/ 2206784 w 4413566"/>
                <a:gd name="connsiteY12" fmla="*/ 1034162 h 1348304"/>
                <a:gd name="connsiteX13" fmla="*/ 41024 w 4413566"/>
                <a:gd name="connsiteY13" fmla="*/ 1319711 h 1348304"/>
                <a:gd name="connsiteX14" fmla="*/ 0 w 4413566"/>
                <a:gd name="connsiteY14" fmla="*/ 1348304 h 13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13566" h="1348304">
                  <a:moveTo>
                    <a:pt x="0" y="1348304"/>
                  </a:moveTo>
                  <a:lnTo>
                    <a:pt x="27790" y="1309578"/>
                  </a:lnTo>
                  <a:cubicBezTo>
                    <a:pt x="189464" y="1069164"/>
                    <a:pt x="348304" y="787401"/>
                    <a:pt x="498921" y="472301"/>
                  </a:cubicBezTo>
                  <a:lnTo>
                    <a:pt x="547920" y="365602"/>
                  </a:lnTo>
                  <a:lnTo>
                    <a:pt x="585345" y="292046"/>
                  </a:lnTo>
                  <a:cubicBezTo>
                    <a:pt x="739673" y="125376"/>
                    <a:pt x="1406975" y="0"/>
                    <a:pt x="2206784" y="0"/>
                  </a:cubicBezTo>
                  <a:cubicBezTo>
                    <a:pt x="3006592" y="0"/>
                    <a:pt x="3673894" y="125376"/>
                    <a:pt x="3828223" y="292046"/>
                  </a:cubicBezTo>
                  <a:lnTo>
                    <a:pt x="3861776" y="365602"/>
                  </a:lnTo>
                  <a:lnTo>
                    <a:pt x="3914645" y="472301"/>
                  </a:lnTo>
                  <a:cubicBezTo>
                    <a:pt x="4065263" y="787401"/>
                    <a:pt x="4224103" y="1069164"/>
                    <a:pt x="4385777" y="1309578"/>
                  </a:cubicBezTo>
                  <a:lnTo>
                    <a:pt x="4413566" y="1348302"/>
                  </a:lnTo>
                  <a:lnTo>
                    <a:pt x="4372544" y="1319711"/>
                  </a:lnTo>
                  <a:cubicBezTo>
                    <a:pt x="4085426" y="1154278"/>
                    <a:pt x="3224378" y="1034162"/>
                    <a:pt x="2206784" y="1034162"/>
                  </a:cubicBezTo>
                  <a:cubicBezTo>
                    <a:pt x="1189190" y="1034162"/>
                    <a:pt x="328142" y="1154278"/>
                    <a:pt x="41024" y="1319711"/>
                  </a:cubicBezTo>
                  <a:lnTo>
                    <a:pt x="0" y="1348304"/>
                  </a:lnTo>
                  <a:close/>
                </a:path>
              </a:pathLst>
            </a:custGeom>
            <a:solidFill>
              <a:schemeClr val="accent2"/>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54" name="Freeform 94">
              <a:extLst>
                <a:ext uri="{FF2B5EF4-FFF2-40B4-BE49-F238E27FC236}">
                  <a16:creationId xmlns:a16="http://schemas.microsoft.com/office/drawing/2014/main" id="{CB48F606-6511-22A7-9897-555C56F8C144}"/>
                </a:ext>
              </a:extLst>
            </p:cNvPr>
            <p:cNvSpPr/>
            <p:nvPr/>
          </p:nvSpPr>
          <p:spPr>
            <a:xfrm rot="10800000">
              <a:off x="3437081" y="1902454"/>
              <a:ext cx="1611726" cy="4372621"/>
            </a:xfrm>
            <a:custGeom>
              <a:avLst/>
              <a:gdLst>
                <a:gd name="connsiteX0" fmla="*/ 0 w 1281597"/>
                <a:gd name="connsiteY0" fmla="*/ 3950208 h 3950208"/>
                <a:gd name="connsiteX1" fmla="*/ 23800 w 1281597"/>
                <a:gd name="connsiteY1" fmla="*/ 3915114 h 3950208"/>
                <a:gd name="connsiteX2" fmla="*/ 845709 w 1281597"/>
                <a:gd name="connsiteY2" fmla="*/ 2020018 h 3950208"/>
                <a:gd name="connsiteX3" fmla="*/ 1148433 w 1281597"/>
                <a:gd name="connsiteY3" fmla="*/ 216635 h 3950208"/>
                <a:gd name="connsiteX4" fmla="*/ 1150014 w 1281597"/>
                <a:gd name="connsiteY4" fmla="*/ 29285 h 3950208"/>
                <a:gd name="connsiteX5" fmla="*/ 1197630 w 1281597"/>
                <a:gd name="connsiteY5" fmla="*/ 15976 h 3950208"/>
                <a:gd name="connsiteX6" fmla="*/ 1281597 w 1281597"/>
                <a:gd name="connsiteY6" fmla="*/ 0 h 3950208"/>
                <a:gd name="connsiteX7" fmla="*/ 1280401 w 1281597"/>
                <a:gd name="connsiteY7" fmla="*/ 216638 h 3950208"/>
                <a:gd name="connsiteX8" fmla="*/ 1082251 w 1281597"/>
                <a:gd name="connsiteY8" fmla="*/ 2020020 h 3950208"/>
                <a:gd name="connsiteX9" fmla="*/ 620772 w 1281597"/>
                <a:gd name="connsiteY9" fmla="*/ 3722907 h 3950208"/>
                <a:gd name="connsiteX10" fmla="*/ 558334 w 1281597"/>
                <a:gd name="connsiteY10" fmla="*/ 3879775 h 3950208"/>
                <a:gd name="connsiteX11" fmla="*/ 478754 w 1281597"/>
                <a:gd name="connsiteY11" fmla="*/ 3886758 h 3950208"/>
                <a:gd name="connsiteX12" fmla="*/ 166821 w 1281597"/>
                <a:gd name="connsiteY12" fmla="*/ 3923927 h 3950208"/>
                <a:gd name="connsiteX13" fmla="*/ 51318 w 1281597"/>
                <a:gd name="connsiteY13" fmla="*/ 3942280 h 3950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81597" h="3950208">
                  <a:moveTo>
                    <a:pt x="0" y="3950208"/>
                  </a:moveTo>
                  <a:lnTo>
                    <a:pt x="23800" y="3915114"/>
                  </a:lnTo>
                  <a:cubicBezTo>
                    <a:pt x="338454" y="3422927"/>
                    <a:pt x="631755" y="2764428"/>
                    <a:pt x="845709" y="2020018"/>
                  </a:cubicBezTo>
                  <a:cubicBezTo>
                    <a:pt x="1032919" y="1368659"/>
                    <a:pt x="1132240" y="745947"/>
                    <a:pt x="1148433" y="216635"/>
                  </a:cubicBezTo>
                  <a:lnTo>
                    <a:pt x="1150014" y="29285"/>
                  </a:lnTo>
                  <a:lnTo>
                    <a:pt x="1197630" y="15976"/>
                  </a:lnTo>
                  <a:lnTo>
                    <a:pt x="1281597" y="0"/>
                  </a:lnTo>
                  <a:lnTo>
                    <a:pt x="1280401" y="216638"/>
                  </a:lnTo>
                  <a:cubicBezTo>
                    <a:pt x="1269802" y="745949"/>
                    <a:pt x="1204791" y="1368662"/>
                    <a:pt x="1082251" y="2020020"/>
                  </a:cubicBezTo>
                  <a:cubicBezTo>
                    <a:pt x="959713" y="2671379"/>
                    <a:pt x="797410" y="3256962"/>
                    <a:pt x="620772" y="3722907"/>
                  </a:cubicBezTo>
                  <a:lnTo>
                    <a:pt x="558334" y="3879775"/>
                  </a:lnTo>
                  <a:lnTo>
                    <a:pt x="478754" y="3886758"/>
                  </a:lnTo>
                  <a:cubicBezTo>
                    <a:pt x="366624" y="3897698"/>
                    <a:pt x="262175" y="3910156"/>
                    <a:pt x="166821" y="3923927"/>
                  </a:cubicBezTo>
                  <a:lnTo>
                    <a:pt x="51318" y="3942280"/>
                  </a:lnTo>
                  <a:close/>
                </a:path>
              </a:pathLst>
            </a:custGeom>
            <a:solidFill>
              <a:schemeClr val="bg1">
                <a:alpha val="28000"/>
              </a:schemeClr>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Ubuntu" panose="020B0504030602030204" pitchFamily="34" charset="0"/>
                <a:ea typeface="+mn-ea"/>
                <a:cs typeface="+mn-cs"/>
              </a:endParaRPr>
            </a:p>
          </p:txBody>
        </p:sp>
        <p:sp>
          <p:nvSpPr>
            <p:cNvPr id="55" name="TextBox 54">
              <a:extLst>
                <a:ext uri="{FF2B5EF4-FFF2-40B4-BE49-F238E27FC236}">
                  <a16:creationId xmlns:a16="http://schemas.microsoft.com/office/drawing/2014/main" id="{C64EBB57-B7A1-5EE4-4B99-4E5339465BF1}"/>
                </a:ext>
              </a:extLst>
            </p:cNvPr>
            <p:cNvSpPr txBox="1"/>
            <p:nvPr/>
          </p:nvSpPr>
          <p:spPr>
            <a:xfrm>
              <a:off x="2006266" y="5409303"/>
              <a:ext cx="1942065" cy="900017"/>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effectLst/>
                  <a:uLnTx/>
                  <a:uFillTx/>
                  <a:latin typeface="Ubuntu"/>
                  <a:ea typeface="+mn-ea"/>
                  <a:cs typeface="Arial" pitchFamily="34" charset="0"/>
                </a:rPr>
                <a:t>Perform opportunity analysis</a:t>
              </a:r>
            </a:p>
          </p:txBody>
        </p:sp>
        <p:sp>
          <p:nvSpPr>
            <p:cNvPr id="56" name="TextBox 55">
              <a:extLst>
                <a:ext uri="{FF2B5EF4-FFF2-40B4-BE49-F238E27FC236}">
                  <a16:creationId xmlns:a16="http://schemas.microsoft.com/office/drawing/2014/main" id="{188163D9-8D48-4138-8191-73C6B64CC917}"/>
                </a:ext>
              </a:extLst>
            </p:cNvPr>
            <p:cNvSpPr txBox="1"/>
            <p:nvPr/>
          </p:nvSpPr>
          <p:spPr>
            <a:xfrm>
              <a:off x="1804575" y="4653140"/>
              <a:ext cx="2345447" cy="70589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Ubuntu"/>
                  <a:ea typeface="+mn-ea"/>
                  <a:cs typeface="Arial" pitchFamily="34" charset="0"/>
                </a:rPr>
                <a:t>Identify KPIs / metrics</a:t>
              </a:r>
            </a:p>
          </p:txBody>
        </p:sp>
        <p:sp>
          <p:nvSpPr>
            <p:cNvPr id="57" name="TextBox 56">
              <a:extLst>
                <a:ext uri="{FF2B5EF4-FFF2-40B4-BE49-F238E27FC236}">
                  <a16:creationId xmlns:a16="http://schemas.microsoft.com/office/drawing/2014/main" id="{74F75374-4710-1760-E06C-ED13DD0B55AC}"/>
                </a:ext>
              </a:extLst>
            </p:cNvPr>
            <p:cNvSpPr txBox="1"/>
            <p:nvPr/>
          </p:nvSpPr>
          <p:spPr>
            <a:xfrm>
              <a:off x="1273378" y="3754758"/>
              <a:ext cx="3407841" cy="70589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effectLst/>
                  <a:uLnTx/>
                  <a:uFillTx/>
                  <a:latin typeface="Ubuntu"/>
                  <a:ea typeface="+mn-ea"/>
                  <a:cs typeface="Arial" pitchFamily="34" charset="0"/>
                </a:rPr>
                <a:t>Identify best practices, generate hypothesis</a:t>
              </a:r>
            </a:p>
          </p:txBody>
        </p:sp>
        <p:sp>
          <p:nvSpPr>
            <p:cNvPr id="58" name="TextBox 57">
              <a:extLst>
                <a:ext uri="{FF2B5EF4-FFF2-40B4-BE49-F238E27FC236}">
                  <a16:creationId xmlns:a16="http://schemas.microsoft.com/office/drawing/2014/main" id="{BDD608CF-4770-C191-C5F7-0B16C21F52A9}"/>
                </a:ext>
              </a:extLst>
            </p:cNvPr>
            <p:cNvSpPr txBox="1"/>
            <p:nvPr/>
          </p:nvSpPr>
          <p:spPr>
            <a:xfrm>
              <a:off x="1297693" y="3012857"/>
              <a:ext cx="3359210" cy="70589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effectLst/>
                  <a:uLnTx/>
                  <a:uFillTx/>
                  <a:latin typeface="Ubuntu"/>
                  <a:ea typeface="+mn-ea"/>
                  <a:cs typeface="Arial" pitchFamily="34" charset="0"/>
                </a:rPr>
                <a:t>Finalizing a smaller peer set for comparison</a:t>
              </a:r>
            </a:p>
          </p:txBody>
        </p:sp>
        <p:sp>
          <p:nvSpPr>
            <p:cNvPr id="59" name="Rectangle 58">
              <a:extLst>
                <a:ext uri="{FF2B5EF4-FFF2-40B4-BE49-F238E27FC236}">
                  <a16:creationId xmlns:a16="http://schemas.microsoft.com/office/drawing/2014/main" id="{06078F24-5656-5E63-22AA-501B9358E428}"/>
                </a:ext>
              </a:extLst>
            </p:cNvPr>
            <p:cNvSpPr/>
            <p:nvPr/>
          </p:nvSpPr>
          <p:spPr>
            <a:xfrm>
              <a:off x="1186411" y="2191080"/>
              <a:ext cx="3581776" cy="70589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Ubuntu"/>
                  <a:ea typeface="+mn-ea"/>
                  <a:cs typeface="+mn-cs"/>
                </a:rPr>
                <a:t>Identify long-list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Ubuntu"/>
                  <a:ea typeface="+mn-ea"/>
                  <a:cs typeface="+mn-cs"/>
                </a:rPr>
                <a:t>Of peers</a:t>
              </a:r>
            </a:p>
          </p:txBody>
        </p:sp>
      </p:grpSp>
      <p:cxnSp>
        <p:nvCxnSpPr>
          <p:cNvPr id="60" name="Straight Connector 59">
            <a:extLst>
              <a:ext uri="{FF2B5EF4-FFF2-40B4-BE49-F238E27FC236}">
                <a16:creationId xmlns:a16="http://schemas.microsoft.com/office/drawing/2014/main" id="{3499872D-4909-BF4E-0E62-3245E6527336}"/>
              </a:ext>
            </a:extLst>
          </p:cNvPr>
          <p:cNvCxnSpPr>
            <a:cxnSpLocks/>
          </p:cNvCxnSpPr>
          <p:nvPr/>
        </p:nvCxnSpPr>
        <p:spPr>
          <a:xfrm flipV="1">
            <a:off x="6034512" y="4863812"/>
            <a:ext cx="27205" cy="1751767"/>
          </a:xfrm>
          <a:prstGeom prst="line">
            <a:avLst/>
          </a:prstGeom>
          <a:ln w="3175">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sp>
        <p:nvSpPr>
          <p:cNvPr id="61" name="Rectangle: Rounded Corners 60">
            <a:extLst>
              <a:ext uri="{FF2B5EF4-FFF2-40B4-BE49-F238E27FC236}">
                <a16:creationId xmlns:a16="http://schemas.microsoft.com/office/drawing/2014/main" id="{B47A810C-9359-4ED0-1F9F-77CB3E0F7914}"/>
              </a:ext>
            </a:extLst>
          </p:cNvPr>
          <p:cNvSpPr/>
          <p:nvPr/>
        </p:nvSpPr>
        <p:spPr>
          <a:xfrm>
            <a:off x="210901" y="5926917"/>
            <a:ext cx="1598849" cy="385055"/>
          </a:xfrm>
          <a:prstGeom prst="roundRect">
            <a:avLst>
              <a:gd name="adj" fmla="val 9349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Ubuntu"/>
                <a:ea typeface="+mn-ea"/>
                <a:cs typeface="+mn-cs"/>
              </a:rPr>
              <a:t>BENCHMARKING</a:t>
            </a:r>
            <a:br>
              <a:rPr kumimoji="0" lang="en-US" sz="1000" b="1" i="0" u="none" strike="noStrike" kern="1200" cap="none" spc="0" normalizeH="0" baseline="0" noProof="0">
                <a:ln>
                  <a:noFill/>
                </a:ln>
                <a:solidFill>
                  <a:srgbClr val="FFFFFF"/>
                </a:solidFill>
                <a:effectLst/>
                <a:uLnTx/>
                <a:uFillTx/>
                <a:latin typeface="Ubuntu"/>
                <a:ea typeface="+mn-ea"/>
                <a:cs typeface="+mn-cs"/>
              </a:rPr>
            </a:br>
            <a:r>
              <a:rPr kumimoji="0" lang="en-US" sz="1000" b="1" i="0" u="none" strike="noStrike" kern="1200" cap="none" spc="0" normalizeH="0" baseline="0" noProof="0">
                <a:ln>
                  <a:noFill/>
                </a:ln>
                <a:solidFill>
                  <a:srgbClr val="FFFFFF"/>
                </a:solidFill>
                <a:effectLst/>
                <a:uLnTx/>
                <a:uFillTx/>
                <a:latin typeface="Ubuntu"/>
                <a:ea typeface="+mn-ea"/>
                <a:cs typeface="+mn-cs"/>
              </a:rPr>
              <a:t>SOLUTION</a:t>
            </a:r>
          </a:p>
        </p:txBody>
      </p:sp>
      <p:sp>
        <p:nvSpPr>
          <p:cNvPr id="62" name="Rectangle: Rounded Corners 61">
            <a:extLst>
              <a:ext uri="{FF2B5EF4-FFF2-40B4-BE49-F238E27FC236}">
                <a16:creationId xmlns:a16="http://schemas.microsoft.com/office/drawing/2014/main" id="{2CD0E85F-B673-630B-6CC6-8E5B88F286F5}"/>
              </a:ext>
            </a:extLst>
          </p:cNvPr>
          <p:cNvSpPr/>
          <p:nvPr/>
        </p:nvSpPr>
        <p:spPr>
          <a:xfrm>
            <a:off x="210901" y="5076230"/>
            <a:ext cx="1598849" cy="385055"/>
          </a:xfrm>
          <a:prstGeom prst="roundRect">
            <a:avLst>
              <a:gd name="adj" fmla="val 9349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Ubuntu"/>
                <a:ea typeface="+mn-ea"/>
                <a:cs typeface="+mn-cs"/>
              </a:rPr>
              <a:t>BUSINESS </a:t>
            </a:r>
            <a:br>
              <a:rPr kumimoji="0" lang="en-US" sz="1000" b="1" i="0" u="none" strike="noStrike" kern="1200" cap="none" spc="0" normalizeH="0" baseline="0" noProof="0">
                <a:ln>
                  <a:noFill/>
                </a:ln>
                <a:solidFill>
                  <a:srgbClr val="FFFFFF"/>
                </a:solidFill>
                <a:effectLst/>
                <a:uLnTx/>
                <a:uFillTx/>
                <a:latin typeface="Ubuntu"/>
                <a:ea typeface="+mn-ea"/>
                <a:cs typeface="+mn-cs"/>
              </a:rPr>
            </a:br>
            <a:r>
              <a:rPr kumimoji="0" lang="en-US" sz="1000" b="1" i="0" u="none" strike="noStrike" kern="1200" cap="none" spc="0" normalizeH="0" baseline="0" noProof="0">
                <a:ln>
                  <a:noFill/>
                </a:ln>
                <a:solidFill>
                  <a:srgbClr val="FFFFFF"/>
                </a:solidFill>
                <a:effectLst/>
                <a:uLnTx/>
                <a:uFillTx/>
                <a:latin typeface="Ubuntu"/>
                <a:ea typeface="+mn-ea"/>
                <a:cs typeface="+mn-cs"/>
              </a:rPr>
              <a:t>QUESTION/ PROBLEM</a:t>
            </a:r>
          </a:p>
        </p:txBody>
      </p:sp>
      <p:sp>
        <p:nvSpPr>
          <p:cNvPr id="63" name="Rectangle: Rounded Corners 62">
            <a:extLst>
              <a:ext uri="{FF2B5EF4-FFF2-40B4-BE49-F238E27FC236}">
                <a16:creationId xmlns:a16="http://schemas.microsoft.com/office/drawing/2014/main" id="{8F920AC7-2D00-B86B-A744-60E27BE3A243}"/>
              </a:ext>
            </a:extLst>
          </p:cNvPr>
          <p:cNvSpPr/>
          <p:nvPr/>
        </p:nvSpPr>
        <p:spPr>
          <a:xfrm>
            <a:off x="6112091" y="5779478"/>
            <a:ext cx="1355509" cy="627418"/>
          </a:xfrm>
          <a:prstGeom prst="roundRect">
            <a:avLst>
              <a:gd name="adj" fmla="val 9754"/>
            </a:avLst>
          </a:prstGeom>
          <a:solidFill>
            <a:schemeClr val="bg1">
              <a:alpha val="1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440" tIns="45720" rIns="37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900" b="0" i="0" u="none" strike="noStrike" kern="1200" cap="none" spc="0" normalizeH="0" baseline="0" noProof="0">
                <a:ln>
                  <a:noFill/>
                </a:ln>
                <a:solidFill>
                  <a:schemeClr val="bg1"/>
                </a:solidFill>
                <a:effectLst/>
                <a:uLnTx/>
                <a:uFillTx/>
                <a:latin typeface="Ubuntu"/>
                <a:ea typeface="+mn-ea"/>
                <a:cs typeface="+mn-cs"/>
              </a:rPr>
              <a:t>Analysing risks and dependencies to derisk supply chains</a:t>
            </a:r>
            <a:endParaRPr kumimoji="0" lang="en-US" sz="900" b="0" i="0" u="none" strike="noStrike" kern="1200" cap="none" spc="0" normalizeH="0" baseline="0" noProof="0">
              <a:ln>
                <a:noFill/>
              </a:ln>
              <a:solidFill>
                <a:schemeClr val="bg1"/>
              </a:solidFill>
              <a:effectLst/>
              <a:uLnTx/>
              <a:uFillTx/>
              <a:latin typeface="Ubuntu"/>
              <a:ea typeface="+mn-ea"/>
              <a:cs typeface="+mn-cs"/>
            </a:endParaRPr>
          </a:p>
        </p:txBody>
      </p:sp>
      <p:sp>
        <p:nvSpPr>
          <p:cNvPr id="64" name="Rectangle: Rounded Corners 63">
            <a:extLst>
              <a:ext uri="{FF2B5EF4-FFF2-40B4-BE49-F238E27FC236}">
                <a16:creationId xmlns:a16="http://schemas.microsoft.com/office/drawing/2014/main" id="{BF001DB4-CCF6-5792-FDEA-E24DB4B513A6}"/>
              </a:ext>
            </a:extLst>
          </p:cNvPr>
          <p:cNvSpPr/>
          <p:nvPr/>
        </p:nvSpPr>
        <p:spPr>
          <a:xfrm>
            <a:off x="1981200" y="5779478"/>
            <a:ext cx="1355509" cy="627418"/>
          </a:xfrm>
          <a:prstGeom prst="roundRect">
            <a:avLst>
              <a:gd name="adj" fmla="val 9754"/>
            </a:avLst>
          </a:prstGeom>
          <a:solidFill>
            <a:schemeClr val="bg1">
              <a:alpha val="1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440" tIns="45720" rIns="37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900" b="1" i="0" u="none" strike="noStrike" kern="1200" cap="none" spc="0" normalizeH="0" baseline="0" noProof="0">
                <a:ln>
                  <a:noFill/>
                </a:ln>
                <a:solidFill>
                  <a:schemeClr val="bg1"/>
                </a:solidFill>
                <a:effectLst/>
                <a:uLnTx/>
                <a:uFillTx/>
                <a:latin typeface="Ubuntu"/>
                <a:ea typeface="+mn-ea"/>
                <a:cs typeface="+mn-cs"/>
              </a:rPr>
              <a:t>Process benchmarking </a:t>
            </a:r>
            <a:r>
              <a:rPr kumimoji="0" lang="en-US" sz="900" b="0" i="0" u="none" strike="noStrike" kern="1200" cap="none" spc="0" normalizeH="0" baseline="0" noProof="0">
                <a:ln>
                  <a:noFill/>
                </a:ln>
                <a:solidFill>
                  <a:schemeClr val="bg1"/>
                </a:solidFill>
                <a:effectLst/>
                <a:uLnTx/>
                <a:uFillTx/>
                <a:latin typeface="Ubuntu"/>
                <a:ea typeface="+mn-ea"/>
                <a:cs typeface="+mn-cs"/>
              </a:rPr>
              <a:t>to identify gaps and optimize workflows</a:t>
            </a:r>
          </a:p>
        </p:txBody>
      </p:sp>
      <p:sp>
        <p:nvSpPr>
          <p:cNvPr id="65" name="Rectangle: Rounded Corners 64">
            <a:extLst>
              <a:ext uri="{FF2B5EF4-FFF2-40B4-BE49-F238E27FC236}">
                <a16:creationId xmlns:a16="http://schemas.microsoft.com/office/drawing/2014/main" id="{B66A6A1B-C3CD-4D34-F62D-DD8DAD966E9B}"/>
              </a:ext>
            </a:extLst>
          </p:cNvPr>
          <p:cNvSpPr/>
          <p:nvPr/>
        </p:nvSpPr>
        <p:spPr>
          <a:xfrm>
            <a:off x="3292691" y="5779478"/>
            <a:ext cx="1355509" cy="627418"/>
          </a:xfrm>
          <a:prstGeom prst="roundRect">
            <a:avLst>
              <a:gd name="adj" fmla="val 9754"/>
            </a:avLst>
          </a:prstGeom>
          <a:solidFill>
            <a:schemeClr val="bg1">
              <a:alpha val="1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440" tIns="45720" rIns="37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900" b="1" i="0" u="none" strike="noStrike" kern="1200" cap="none" spc="0" normalizeH="0" baseline="0" noProof="0">
                <a:ln>
                  <a:noFill/>
                </a:ln>
                <a:solidFill>
                  <a:schemeClr val="bg1"/>
                </a:solidFill>
                <a:effectLst/>
                <a:uLnTx/>
                <a:uFillTx/>
                <a:latin typeface="Ubuntu"/>
                <a:ea typeface="+mn-ea"/>
                <a:cs typeface="+mn-cs"/>
              </a:rPr>
              <a:t>Time and motion studies </a:t>
            </a:r>
            <a:r>
              <a:rPr kumimoji="0" lang="en-US" sz="900" b="0" i="0" u="none" strike="noStrike" kern="1200" cap="none" spc="0" normalizeH="0" baseline="0" noProof="0">
                <a:ln>
                  <a:noFill/>
                </a:ln>
                <a:solidFill>
                  <a:schemeClr val="bg1"/>
                </a:solidFill>
                <a:effectLst/>
                <a:uLnTx/>
                <a:uFillTx/>
                <a:latin typeface="Ubuntu"/>
                <a:ea typeface="+mn-ea"/>
                <a:cs typeface="+mn-cs"/>
              </a:rPr>
              <a:t>to stream-line operations</a:t>
            </a:r>
          </a:p>
        </p:txBody>
      </p:sp>
      <p:sp>
        <p:nvSpPr>
          <p:cNvPr id="66" name="Rectangle: Rounded Corners 65">
            <a:extLst>
              <a:ext uri="{FF2B5EF4-FFF2-40B4-BE49-F238E27FC236}">
                <a16:creationId xmlns:a16="http://schemas.microsoft.com/office/drawing/2014/main" id="{E0E9EEE1-9E23-B6A3-45EE-9E843F0F654E}"/>
              </a:ext>
            </a:extLst>
          </p:cNvPr>
          <p:cNvSpPr/>
          <p:nvPr/>
        </p:nvSpPr>
        <p:spPr>
          <a:xfrm>
            <a:off x="6112091" y="4941278"/>
            <a:ext cx="1355509" cy="627418"/>
          </a:xfrm>
          <a:prstGeom prst="roundRect">
            <a:avLst>
              <a:gd name="adj" fmla="val 9754"/>
            </a:avLst>
          </a:prstGeom>
          <a:solidFill>
            <a:schemeClr val="bg1">
              <a:alpha val="1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440" tIns="45720" rIns="37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How to assess supplier/vendor  concentration</a:t>
            </a:r>
          </a:p>
        </p:txBody>
      </p:sp>
      <p:sp>
        <p:nvSpPr>
          <p:cNvPr id="67" name="Rectangle: Rounded Corners 66">
            <a:extLst>
              <a:ext uri="{FF2B5EF4-FFF2-40B4-BE49-F238E27FC236}">
                <a16:creationId xmlns:a16="http://schemas.microsoft.com/office/drawing/2014/main" id="{A7D39658-2021-0FEF-006F-E5951E92E8AC}"/>
              </a:ext>
            </a:extLst>
          </p:cNvPr>
          <p:cNvSpPr/>
          <p:nvPr/>
        </p:nvSpPr>
        <p:spPr>
          <a:xfrm>
            <a:off x="1981200" y="4941278"/>
            <a:ext cx="1355509" cy="627418"/>
          </a:xfrm>
          <a:prstGeom prst="roundRect">
            <a:avLst>
              <a:gd name="adj" fmla="val 9987"/>
            </a:avLst>
          </a:prstGeom>
          <a:solidFill>
            <a:schemeClr val="bg1">
              <a:alpha val="1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440" tIns="45720" rIns="37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900" b="0" i="0" u="none" strike="noStrike" kern="1200" cap="none" spc="0" normalizeH="0" baseline="0" noProof="0">
                <a:ln>
                  <a:noFill/>
                </a:ln>
                <a:solidFill>
                  <a:schemeClr val="bg1"/>
                </a:solidFill>
                <a:effectLst/>
                <a:uLnTx/>
                <a:uFillTx/>
                <a:latin typeface="Ubuntu"/>
                <a:ea typeface="+mn-ea"/>
                <a:cs typeface="+mn-cs"/>
              </a:rPr>
              <a:t>How do my processes compare to industry standards? </a:t>
            </a:r>
          </a:p>
        </p:txBody>
      </p:sp>
      <p:sp>
        <p:nvSpPr>
          <p:cNvPr id="68" name="Rectangle: Rounded Corners 67">
            <a:extLst>
              <a:ext uri="{FF2B5EF4-FFF2-40B4-BE49-F238E27FC236}">
                <a16:creationId xmlns:a16="http://schemas.microsoft.com/office/drawing/2014/main" id="{EF441165-403C-E901-09DD-0208FC8992B4}"/>
              </a:ext>
            </a:extLst>
          </p:cNvPr>
          <p:cNvSpPr/>
          <p:nvPr/>
        </p:nvSpPr>
        <p:spPr>
          <a:xfrm>
            <a:off x="3292691" y="4941278"/>
            <a:ext cx="1355509" cy="627418"/>
          </a:xfrm>
          <a:prstGeom prst="roundRect">
            <a:avLst>
              <a:gd name="adj" fmla="val 9754"/>
            </a:avLst>
          </a:prstGeom>
          <a:solidFill>
            <a:schemeClr val="bg1">
              <a:alpha val="1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440" tIns="45720" rIns="37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What best practices can improve productivity and reduce costs?</a:t>
            </a:r>
          </a:p>
        </p:txBody>
      </p:sp>
      <p:sp>
        <p:nvSpPr>
          <p:cNvPr id="69" name="Rectangle: Rounded Corners 68">
            <a:extLst>
              <a:ext uri="{FF2B5EF4-FFF2-40B4-BE49-F238E27FC236}">
                <a16:creationId xmlns:a16="http://schemas.microsoft.com/office/drawing/2014/main" id="{5F06EA48-925E-D0F8-856D-3BBB0F61CFB8}"/>
              </a:ext>
            </a:extLst>
          </p:cNvPr>
          <p:cNvSpPr/>
          <p:nvPr/>
        </p:nvSpPr>
        <p:spPr>
          <a:xfrm>
            <a:off x="4612860" y="4941278"/>
            <a:ext cx="1355509" cy="627418"/>
          </a:xfrm>
          <a:prstGeom prst="roundRect">
            <a:avLst>
              <a:gd name="adj" fmla="val 9754"/>
            </a:avLst>
          </a:prstGeom>
          <a:solidFill>
            <a:schemeClr val="bg1">
              <a:alpha val="1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440" tIns="45720" rIns="37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What are the industry benchmarks for inventory turnover?</a:t>
            </a:r>
          </a:p>
        </p:txBody>
      </p:sp>
      <p:sp>
        <p:nvSpPr>
          <p:cNvPr id="70" name="Rectangle: Rounded Corners 69">
            <a:extLst>
              <a:ext uri="{FF2B5EF4-FFF2-40B4-BE49-F238E27FC236}">
                <a16:creationId xmlns:a16="http://schemas.microsoft.com/office/drawing/2014/main" id="{A62BCDA7-D106-847D-AEF5-B2E25A1A83B1}"/>
              </a:ext>
            </a:extLst>
          </p:cNvPr>
          <p:cNvSpPr/>
          <p:nvPr/>
        </p:nvSpPr>
        <p:spPr>
          <a:xfrm>
            <a:off x="4612860" y="5779478"/>
            <a:ext cx="1355509" cy="627418"/>
          </a:xfrm>
          <a:prstGeom prst="roundRect">
            <a:avLst>
              <a:gd name="adj" fmla="val 9754"/>
            </a:avLst>
          </a:prstGeom>
          <a:solidFill>
            <a:schemeClr val="bg1">
              <a:alpha val="1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440" tIns="45720" rIns="37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900" b="0" i="0" u="none" strike="noStrike" kern="1200" cap="none" spc="0" normalizeH="0" baseline="0" noProof="0">
                <a:ln>
                  <a:noFill/>
                </a:ln>
                <a:solidFill>
                  <a:schemeClr val="bg1"/>
                </a:solidFill>
                <a:effectLst/>
                <a:uLnTx/>
                <a:uFillTx/>
                <a:latin typeface="Ubuntu"/>
                <a:ea typeface="+mn-ea"/>
                <a:cs typeface="+mn-cs"/>
              </a:rPr>
              <a:t>Benchmarking inventory metrics for </a:t>
            </a:r>
            <a:r>
              <a:rPr kumimoji="0" lang="en-IN" sz="900" b="1" i="0" u="none" strike="noStrike" kern="1200" cap="none" spc="0" normalizeH="0" baseline="0" noProof="0">
                <a:ln>
                  <a:noFill/>
                </a:ln>
                <a:solidFill>
                  <a:schemeClr val="bg1"/>
                </a:solidFill>
                <a:effectLst/>
                <a:uLnTx/>
                <a:uFillTx/>
                <a:latin typeface="Ubuntu"/>
                <a:ea typeface="+mn-ea"/>
                <a:cs typeface="+mn-cs"/>
              </a:rPr>
              <a:t>industry &amp; competitor </a:t>
            </a:r>
            <a:endParaRPr kumimoji="0" lang="en-US" sz="900" b="1" i="0" u="none" strike="noStrike" kern="1200" cap="none" spc="0" normalizeH="0" baseline="0" noProof="0">
              <a:ln>
                <a:noFill/>
              </a:ln>
              <a:solidFill>
                <a:schemeClr val="bg1"/>
              </a:solidFill>
              <a:effectLst/>
              <a:uLnTx/>
              <a:uFillTx/>
              <a:latin typeface="Ubuntu"/>
              <a:ea typeface="+mn-ea"/>
              <a:cs typeface="+mn-cs"/>
            </a:endParaRPr>
          </a:p>
        </p:txBody>
      </p:sp>
      <p:cxnSp>
        <p:nvCxnSpPr>
          <p:cNvPr id="71" name="Straight Connector 70">
            <a:extLst>
              <a:ext uri="{FF2B5EF4-FFF2-40B4-BE49-F238E27FC236}">
                <a16:creationId xmlns:a16="http://schemas.microsoft.com/office/drawing/2014/main" id="{37A69B71-BE34-1E49-7275-DCE807237690}"/>
              </a:ext>
            </a:extLst>
          </p:cNvPr>
          <p:cNvCxnSpPr>
            <a:cxnSpLocks/>
          </p:cNvCxnSpPr>
          <p:nvPr/>
        </p:nvCxnSpPr>
        <p:spPr>
          <a:xfrm flipV="1">
            <a:off x="7473448" y="4885729"/>
            <a:ext cx="27205" cy="1751767"/>
          </a:xfrm>
          <a:prstGeom prst="line">
            <a:avLst/>
          </a:prstGeom>
          <a:ln w="3175">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sp>
        <p:nvSpPr>
          <p:cNvPr id="72" name="Rectangle: Rounded Corners 71">
            <a:extLst>
              <a:ext uri="{FF2B5EF4-FFF2-40B4-BE49-F238E27FC236}">
                <a16:creationId xmlns:a16="http://schemas.microsoft.com/office/drawing/2014/main" id="{2F4624FC-F37F-3F0C-FABA-4A04F45C2FE8}"/>
              </a:ext>
            </a:extLst>
          </p:cNvPr>
          <p:cNvSpPr/>
          <p:nvPr/>
        </p:nvSpPr>
        <p:spPr>
          <a:xfrm>
            <a:off x="7620000" y="4941278"/>
            <a:ext cx="1355509" cy="627418"/>
          </a:xfrm>
          <a:prstGeom prst="roundRect">
            <a:avLst>
              <a:gd name="adj" fmla="val 9754"/>
            </a:avLst>
          </a:prstGeom>
          <a:solidFill>
            <a:schemeClr val="bg1">
              <a:alpha val="1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440" tIns="45720" rIns="37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What factors drive customer loyalty for top performing companies?</a:t>
            </a:r>
          </a:p>
        </p:txBody>
      </p:sp>
      <p:sp>
        <p:nvSpPr>
          <p:cNvPr id="73" name="Rectangle: Rounded Corners 72">
            <a:extLst>
              <a:ext uri="{FF2B5EF4-FFF2-40B4-BE49-F238E27FC236}">
                <a16:creationId xmlns:a16="http://schemas.microsoft.com/office/drawing/2014/main" id="{7D822D3F-2E84-ADCC-A851-A04D685444AD}"/>
              </a:ext>
            </a:extLst>
          </p:cNvPr>
          <p:cNvSpPr/>
          <p:nvPr/>
        </p:nvSpPr>
        <p:spPr>
          <a:xfrm>
            <a:off x="7620000" y="5779478"/>
            <a:ext cx="1355509" cy="627418"/>
          </a:xfrm>
          <a:prstGeom prst="roundRect">
            <a:avLst>
              <a:gd name="adj" fmla="val 9754"/>
            </a:avLst>
          </a:prstGeom>
          <a:solidFill>
            <a:schemeClr val="bg1">
              <a:alpha val="1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440" tIns="45720" rIns="37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900" b="0" i="0" u="none" strike="noStrike" kern="1200" cap="none" spc="0" normalizeH="0" baseline="0" noProof="0">
                <a:ln>
                  <a:noFill/>
                </a:ln>
                <a:solidFill>
                  <a:schemeClr val="bg1"/>
                </a:solidFill>
                <a:effectLst/>
                <a:uLnTx/>
                <a:uFillTx/>
                <a:latin typeface="Ubuntu"/>
                <a:ea typeface="+mn-ea"/>
                <a:cs typeface="+mn-cs"/>
              </a:rPr>
              <a:t>Comparative analysis of loyalty programs and effectiveness</a:t>
            </a:r>
            <a:endParaRPr kumimoji="0" lang="en-US" sz="900" b="0" i="0" u="none" strike="noStrike" kern="1200" cap="none" spc="0" normalizeH="0" baseline="0" noProof="0">
              <a:ln>
                <a:noFill/>
              </a:ln>
              <a:solidFill>
                <a:schemeClr val="bg1"/>
              </a:solidFill>
              <a:effectLst/>
              <a:uLnTx/>
              <a:uFillTx/>
              <a:latin typeface="Ubuntu"/>
              <a:ea typeface="+mn-ea"/>
              <a:cs typeface="+mn-cs"/>
            </a:endParaRPr>
          </a:p>
        </p:txBody>
      </p:sp>
      <p:cxnSp>
        <p:nvCxnSpPr>
          <p:cNvPr id="74" name="Straight Connector 73">
            <a:extLst>
              <a:ext uri="{FF2B5EF4-FFF2-40B4-BE49-F238E27FC236}">
                <a16:creationId xmlns:a16="http://schemas.microsoft.com/office/drawing/2014/main" id="{99A4511A-5D57-3927-9602-11D5E8E9F7AC}"/>
              </a:ext>
            </a:extLst>
          </p:cNvPr>
          <p:cNvCxnSpPr>
            <a:cxnSpLocks/>
          </p:cNvCxnSpPr>
          <p:nvPr/>
        </p:nvCxnSpPr>
        <p:spPr>
          <a:xfrm flipV="1">
            <a:off x="9067800" y="4928179"/>
            <a:ext cx="27205" cy="1751767"/>
          </a:xfrm>
          <a:prstGeom prst="line">
            <a:avLst/>
          </a:prstGeom>
          <a:ln w="3175">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sp>
        <p:nvSpPr>
          <p:cNvPr id="75" name="Rectangle: Rounded Corners 74">
            <a:extLst>
              <a:ext uri="{FF2B5EF4-FFF2-40B4-BE49-F238E27FC236}">
                <a16:creationId xmlns:a16="http://schemas.microsoft.com/office/drawing/2014/main" id="{F11B5567-DEDE-E12E-D134-D29E14B38CA4}"/>
              </a:ext>
            </a:extLst>
          </p:cNvPr>
          <p:cNvSpPr/>
          <p:nvPr/>
        </p:nvSpPr>
        <p:spPr>
          <a:xfrm>
            <a:off x="9160091" y="4941278"/>
            <a:ext cx="1355509" cy="627418"/>
          </a:xfrm>
          <a:prstGeom prst="roundRect">
            <a:avLst>
              <a:gd name="adj" fmla="val 9754"/>
            </a:avLst>
          </a:prstGeom>
          <a:solidFill>
            <a:schemeClr val="bg1">
              <a:alpha val="1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440" tIns="45720" rIns="37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How advanced is my tech stack compared to my competitors? </a:t>
            </a:r>
          </a:p>
        </p:txBody>
      </p:sp>
      <p:sp>
        <p:nvSpPr>
          <p:cNvPr id="76" name="Rectangle: Rounded Corners 75">
            <a:extLst>
              <a:ext uri="{FF2B5EF4-FFF2-40B4-BE49-F238E27FC236}">
                <a16:creationId xmlns:a16="http://schemas.microsoft.com/office/drawing/2014/main" id="{EC0C64F1-1B9A-22FB-7EB1-0CFB40D0DA82}"/>
              </a:ext>
            </a:extLst>
          </p:cNvPr>
          <p:cNvSpPr/>
          <p:nvPr/>
        </p:nvSpPr>
        <p:spPr>
          <a:xfrm>
            <a:off x="9160091" y="5779478"/>
            <a:ext cx="1355509" cy="627418"/>
          </a:xfrm>
          <a:prstGeom prst="roundRect">
            <a:avLst>
              <a:gd name="adj" fmla="val 9754"/>
            </a:avLst>
          </a:prstGeom>
          <a:solidFill>
            <a:schemeClr val="bg1">
              <a:alpha val="1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440" tIns="45720" rIns="37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900" b="1" i="0" u="none" strike="noStrike" kern="1200" cap="none" spc="0" normalizeH="0" baseline="0" noProof="0">
                <a:ln>
                  <a:noFill/>
                </a:ln>
                <a:solidFill>
                  <a:schemeClr val="bg1"/>
                </a:solidFill>
                <a:effectLst/>
                <a:uLnTx/>
                <a:uFillTx/>
                <a:latin typeface="Ubuntu"/>
                <a:ea typeface="+mn-ea"/>
                <a:cs typeface="+mn-cs"/>
              </a:rPr>
              <a:t>Tech benchmarking </a:t>
            </a:r>
            <a:r>
              <a:rPr kumimoji="0" lang="en-IN" sz="900" b="0" i="0" u="none" strike="noStrike" kern="1200" cap="none" spc="0" normalizeH="0" baseline="0" noProof="0">
                <a:ln>
                  <a:noFill/>
                </a:ln>
                <a:solidFill>
                  <a:schemeClr val="bg1"/>
                </a:solidFill>
                <a:effectLst/>
                <a:uLnTx/>
                <a:uFillTx/>
                <a:latin typeface="Ubuntu"/>
                <a:ea typeface="+mn-ea"/>
                <a:cs typeface="+mn-cs"/>
              </a:rPr>
              <a:t>for software, tools and IT infrastructure</a:t>
            </a:r>
            <a:endParaRPr kumimoji="0" lang="en-US" sz="900" b="0" i="0" u="none" strike="noStrike" kern="1200" cap="none" spc="0" normalizeH="0" baseline="0" noProof="0">
              <a:ln>
                <a:noFill/>
              </a:ln>
              <a:solidFill>
                <a:schemeClr val="bg1"/>
              </a:solidFill>
              <a:effectLst/>
              <a:uLnTx/>
              <a:uFillTx/>
              <a:latin typeface="Ubuntu"/>
              <a:ea typeface="+mn-ea"/>
              <a:cs typeface="+mn-cs"/>
            </a:endParaRPr>
          </a:p>
        </p:txBody>
      </p:sp>
      <p:sp>
        <p:nvSpPr>
          <p:cNvPr id="77" name="Rectangle: Rounded Corners 76">
            <a:extLst>
              <a:ext uri="{FF2B5EF4-FFF2-40B4-BE49-F238E27FC236}">
                <a16:creationId xmlns:a16="http://schemas.microsoft.com/office/drawing/2014/main" id="{A001E4F0-4716-BEAA-6083-90234090D24C}"/>
              </a:ext>
            </a:extLst>
          </p:cNvPr>
          <p:cNvSpPr/>
          <p:nvPr/>
        </p:nvSpPr>
        <p:spPr>
          <a:xfrm>
            <a:off x="10591800" y="4941278"/>
            <a:ext cx="1355509" cy="627418"/>
          </a:xfrm>
          <a:prstGeom prst="roundRect">
            <a:avLst>
              <a:gd name="adj" fmla="val 9754"/>
            </a:avLst>
          </a:prstGeom>
          <a:solidFill>
            <a:schemeClr val="bg1">
              <a:alpha val="1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440" tIns="45720" rIns="37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What is the </a:t>
            </a:r>
            <a:r>
              <a:rPr kumimoji="0" lang="en-US" sz="900" b="1" i="0" u="none" strike="noStrike" kern="1200" cap="none" spc="0" normalizeH="0" baseline="0" noProof="0">
                <a:ln>
                  <a:noFill/>
                </a:ln>
                <a:solidFill>
                  <a:schemeClr val="bg1"/>
                </a:solidFill>
                <a:effectLst/>
                <a:uLnTx/>
                <a:uFillTx/>
                <a:latin typeface="Ubuntu"/>
                <a:ea typeface="+mn-ea"/>
                <a:cs typeface="+mn-cs"/>
              </a:rPr>
              <a:t>AI</a:t>
            </a:r>
            <a:r>
              <a:rPr kumimoji="0" lang="en-US" sz="900" b="0" i="0" u="none" strike="noStrike" kern="1200" cap="none" spc="0" normalizeH="0" baseline="0" noProof="0">
                <a:ln>
                  <a:noFill/>
                </a:ln>
                <a:solidFill>
                  <a:schemeClr val="bg1"/>
                </a:solidFill>
                <a:effectLst/>
                <a:uLnTx/>
                <a:uFillTx/>
                <a:latin typeface="Ubuntu"/>
                <a:ea typeface="+mn-ea"/>
                <a:cs typeface="+mn-cs"/>
              </a:rPr>
              <a:t> strategy/ digital maturity of my peers?</a:t>
            </a:r>
          </a:p>
        </p:txBody>
      </p:sp>
      <p:sp>
        <p:nvSpPr>
          <p:cNvPr id="78" name="Rectangle: Rounded Corners 77">
            <a:extLst>
              <a:ext uri="{FF2B5EF4-FFF2-40B4-BE49-F238E27FC236}">
                <a16:creationId xmlns:a16="http://schemas.microsoft.com/office/drawing/2014/main" id="{60DC61E3-18A2-59A2-A76D-B570FC083D9E}"/>
              </a:ext>
            </a:extLst>
          </p:cNvPr>
          <p:cNvSpPr/>
          <p:nvPr/>
        </p:nvSpPr>
        <p:spPr>
          <a:xfrm>
            <a:off x="10591800" y="5779478"/>
            <a:ext cx="1355509" cy="627418"/>
          </a:xfrm>
          <a:prstGeom prst="roundRect">
            <a:avLst>
              <a:gd name="adj" fmla="val 9754"/>
            </a:avLst>
          </a:prstGeom>
          <a:solidFill>
            <a:schemeClr val="bg1">
              <a:alpha val="1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440" tIns="45720" rIns="37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Identify gaps and establish long-term strategy/digital maturity</a:t>
            </a:r>
          </a:p>
        </p:txBody>
      </p:sp>
      <p:sp>
        <p:nvSpPr>
          <p:cNvPr id="79" name="Rectangle 78">
            <a:extLst>
              <a:ext uri="{FF2B5EF4-FFF2-40B4-BE49-F238E27FC236}">
                <a16:creationId xmlns:a16="http://schemas.microsoft.com/office/drawing/2014/main" id="{A3CE44B4-11B4-4B45-ED49-B48E2672D6FD}"/>
              </a:ext>
            </a:extLst>
          </p:cNvPr>
          <p:cNvSpPr/>
          <p:nvPr/>
        </p:nvSpPr>
        <p:spPr>
          <a:xfrm>
            <a:off x="8125277" y="4654296"/>
            <a:ext cx="332923"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Ubuntu"/>
                <a:ea typeface="+mn-lt"/>
                <a:cs typeface="+mn-lt"/>
              </a:rPr>
              <a:t>CX</a:t>
            </a:r>
          </a:p>
        </p:txBody>
      </p:sp>
      <p:sp>
        <p:nvSpPr>
          <p:cNvPr id="80" name="Rectangle 79">
            <a:extLst>
              <a:ext uri="{FF2B5EF4-FFF2-40B4-BE49-F238E27FC236}">
                <a16:creationId xmlns:a16="http://schemas.microsoft.com/office/drawing/2014/main" id="{04592897-C243-904B-43FD-1D20D16497B9}"/>
              </a:ext>
            </a:extLst>
          </p:cNvPr>
          <p:cNvSpPr/>
          <p:nvPr/>
        </p:nvSpPr>
        <p:spPr>
          <a:xfrm>
            <a:off x="6125194" y="4654296"/>
            <a:ext cx="1197000"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Ubuntu"/>
                <a:ea typeface="+mn-lt"/>
                <a:cs typeface="+mn-lt"/>
              </a:rPr>
              <a:t>SUPPLY CHAIN</a:t>
            </a:r>
          </a:p>
        </p:txBody>
      </p:sp>
      <p:sp>
        <p:nvSpPr>
          <p:cNvPr id="81" name="Rectangle 80">
            <a:extLst>
              <a:ext uri="{FF2B5EF4-FFF2-40B4-BE49-F238E27FC236}">
                <a16:creationId xmlns:a16="http://schemas.microsoft.com/office/drawing/2014/main" id="{C396B17B-AC05-248F-7E07-E18F0E10881D}"/>
              </a:ext>
            </a:extLst>
          </p:cNvPr>
          <p:cNvSpPr/>
          <p:nvPr/>
        </p:nvSpPr>
        <p:spPr>
          <a:xfrm>
            <a:off x="2106667" y="4654296"/>
            <a:ext cx="380860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Ubuntu"/>
                <a:ea typeface="+mn-lt"/>
                <a:cs typeface="+mn-lt"/>
              </a:rPr>
              <a:t>FINANCIAL PERFORMANCE AND OPERATIONAL EFFICIENCY</a:t>
            </a:r>
          </a:p>
        </p:txBody>
      </p:sp>
      <p:sp>
        <p:nvSpPr>
          <p:cNvPr id="82" name="Rectangle 81">
            <a:extLst>
              <a:ext uri="{FF2B5EF4-FFF2-40B4-BE49-F238E27FC236}">
                <a16:creationId xmlns:a16="http://schemas.microsoft.com/office/drawing/2014/main" id="{3464C4C6-4146-C764-8017-9AA2F745B6B4}"/>
              </a:ext>
            </a:extLst>
          </p:cNvPr>
          <p:cNvSpPr/>
          <p:nvPr/>
        </p:nvSpPr>
        <p:spPr>
          <a:xfrm>
            <a:off x="9677400" y="4654296"/>
            <a:ext cx="1791565"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Ubuntu"/>
                <a:ea typeface="+mn-lt"/>
                <a:cs typeface="+mn-lt"/>
              </a:rPr>
              <a:t>TECHNOLOGY ADOPTION</a:t>
            </a:r>
          </a:p>
        </p:txBody>
      </p:sp>
      <p:cxnSp>
        <p:nvCxnSpPr>
          <p:cNvPr id="83" name="Straight Connector 82">
            <a:extLst>
              <a:ext uri="{FF2B5EF4-FFF2-40B4-BE49-F238E27FC236}">
                <a16:creationId xmlns:a16="http://schemas.microsoft.com/office/drawing/2014/main" id="{25F5C2C7-9F1E-E532-5070-F9BCB11ACE14}"/>
              </a:ext>
            </a:extLst>
          </p:cNvPr>
          <p:cNvCxnSpPr>
            <a:cxnSpLocks/>
          </p:cNvCxnSpPr>
          <p:nvPr/>
        </p:nvCxnSpPr>
        <p:spPr>
          <a:xfrm flipV="1">
            <a:off x="1890864" y="4721835"/>
            <a:ext cx="27205" cy="1751767"/>
          </a:xfrm>
          <a:prstGeom prst="line">
            <a:avLst/>
          </a:prstGeom>
          <a:ln w="3175">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85808D89-6D77-3D64-5788-BB8E3B157379}"/>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85" name="Date Placeholder 5">
            <a:extLst>
              <a:ext uri="{FF2B5EF4-FFF2-40B4-BE49-F238E27FC236}">
                <a16:creationId xmlns:a16="http://schemas.microsoft.com/office/drawing/2014/main" id="{BB0B0DB8-E446-D1A9-CD1B-01BA25AE75BE}"/>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86" name="Date Placeholder 5">
            <a:extLst>
              <a:ext uri="{FF2B5EF4-FFF2-40B4-BE49-F238E27FC236}">
                <a16:creationId xmlns:a16="http://schemas.microsoft.com/office/drawing/2014/main" id="{A90F2219-F110-21CA-9C55-10A03E89B76A}"/>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19</a:t>
            </a:r>
          </a:p>
        </p:txBody>
      </p:sp>
    </p:spTree>
    <p:extLst>
      <p:ext uri="{BB962C8B-B14F-4D97-AF65-F5344CB8AC3E}">
        <p14:creationId xmlns:p14="http://schemas.microsoft.com/office/powerpoint/2010/main" val="2869296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Rectangle 106">
            <a:extLst>
              <a:ext uri="{FF2B5EF4-FFF2-40B4-BE49-F238E27FC236}">
                <a16:creationId xmlns:a16="http://schemas.microsoft.com/office/drawing/2014/main" id="{35753C29-46DB-6F87-A4AF-3FF166F3936E}"/>
              </a:ext>
            </a:extLst>
          </p:cNvPr>
          <p:cNvSpPr/>
          <p:nvPr/>
        </p:nvSpPr>
        <p:spPr bwMode="auto">
          <a:xfrm>
            <a:off x="1275261" y="5052187"/>
            <a:ext cx="232579" cy="232579"/>
          </a:xfrm>
          <a:prstGeom prst="rect">
            <a:avLst/>
          </a:prstGeom>
          <a:no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Arial" charset="0"/>
            </a:endParaRPr>
          </a:p>
        </p:txBody>
      </p:sp>
      <p:cxnSp>
        <p:nvCxnSpPr>
          <p:cNvPr id="108" name="Elbow Connector 3">
            <a:extLst>
              <a:ext uri="{FF2B5EF4-FFF2-40B4-BE49-F238E27FC236}">
                <a16:creationId xmlns:a16="http://schemas.microsoft.com/office/drawing/2014/main" id="{9E94775A-9C7A-0E0F-D7F4-7CA4BF3C8B35}"/>
              </a:ext>
            </a:extLst>
          </p:cNvPr>
          <p:cNvCxnSpPr>
            <a:cxnSpLocks/>
            <a:endCxn id="134" idx="6"/>
          </p:cNvCxnSpPr>
          <p:nvPr/>
        </p:nvCxnSpPr>
        <p:spPr>
          <a:xfrm>
            <a:off x="3631033" y="3615342"/>
            <a:ext cx="636901" cy="1"/>
          </a:xfrm>
          <a:prstGeom prst="straightConnector1">
            <a:avLst/>
          </a:prstGeom>
          <a:ln w="19050">
            <a:solidFill>
              <a:srgbClr val="00B2A2"/>
            </a:solidFill>
            <a:prstDash val="solid"/>
          </a:ln>
        </p:spPr>
        <p:style>
          <a:lnRef idx="1">
            <a:schemeClr val="accent1"/>
          </a:lnRef>
          <a:fillRef idx="0">
            <a:schemeClr val="accent1"/>
          </a:fillRef>
          <a:effectRef idx="0">
            <a:schemeClr val="accent1"/>
          </a:effectRef>
          <a:fontRef idx="minor">
            <a:schemeClr val="tx1"/>
          </a:fontRef>
        </p:style>
      </p:cxnSp>
      <p:sp>
        <p:nvSpPr>
          <p:cNvPr id="109" name="Rectangle 108">
            <a:extLst>
              <a:ext uri="{FF2B5EF4-FFF2-40B4-BE49-F238E27FC236}">
                <a16:creationId xmlns:a16="http://schemas.microsoft.com/office/drawing/2014/main" id="{5492E456-3F34-876D-DC27-607E89C168AD}"/>
              </a:ext>
            </a:extLst>
          </p:cNvPr>
          <p:cNvSpPr/>
          <p:nvPr/>
        </p:nvSpPr>
        <p:spPr>
          <a:xfrm>
            <a:off x="4557729" y="1373155"/>
            <a:ext cx="2710910" cy="892552"/>
          </a:xfrm>
          <a:prstGeom prst="rect">
            <a:avLst/>
          </a:prstGeom>
          <a:noFill/>
          <a:effectLst/>
        </p:spPr>
        <p:txBody>
          <a:bodyPr wrap="square">
            <a:spAutoFit/>
          </a:bodyPr>
          <a:lstStyle/>
          <a:p>
            <a:pPr marL="0" marR="0" lvl="0" indent="0" algn="l" defTabSz="914400" rtl="0" eaLnBrk="0" fontAlgn="auto" latinLnBrk="0" hangingPunct="0">
              <a:lnSpc>
                <a:spcPct val="100000"/>
              </a:lnSpc>
              <a:spcBef>
                <a:spcPts val="0"/>
              </a:spcBef>
              <a:spcAft>
                <a:spcPts val="0"/>
              </a:spcAft>
              <a:buClr>
                <a:srgbClr val="14596B">
                  <a:lumMod val="75000"/>
                </a:srgbClr>
              </a:buClr>
              <a:buSzTx/>
              <a:buFontTx/>
              <a:buNone/>
              <a:tabLst/>
              <a:defRPr/>
            </a:pPr>
            <a:r>
              <a:rPr kumimoji="0" lang="en-US" sz="1600" b="1" i="0" u="none" strike="noStrike" kern="1200" cap="none" spc="0" normalizeH="0" baseline="0" noProof="0">
                <a:ln>
                  <a:noFill/>
                </a:ln>
                <a:solidFill>
                  <a:srgbClr val="0F999C"/>
                </a:solidFill>
                <a:effectLst/>
                <a:uLnTx/>
                <a:uFillTx/>
                <a:latin typeface="Ubuntu" panose="020B0504030602030204" pitchFamily="34" charset="0"/>
                <a:ea typeface="Verdana" panose="020B0604030504040204" pitchFamily="34" charset="0"/>
                <a:cs typeface="+mn-cs"/>
              </a:rPr>
              <a:t>INTERNAL INTELLIGENCE</a:t>
            </a:r>
          </a:p>
          <a:p>
            <a:pPr marL="0" marR="0" lvl="0" indent="0" algn="l" defTabSz="914400" rtl="0" eaLnBrk="0" fontAlgn="auto" latinLnBrk="0" hangingPunct="0">
              <a:lnSpc>
                <a:spcPct val="100000"/>
              </a:lnSpc>
              <a:spcBef>
                <a:spcPts val="0"/>
              </a:spcBef>
              <a:spcAft>
                <a:spcPts val="0"/>
              </a:spcAft>
              <a:buClr>
                <a:srgbClr val="14596B">
                  <a:lumMod val="75000"/>
                </a:srgbClr>
              </a:buClr>
              <a:buSzTx/>
              <a:buFontTx/>
              <a:buNone/>
              <a:tabLst/>
              <a:defRPr/>
            </a:pPr>
            <a:r>
              <a:rPr kumimoji="0" lang="en-US" sz="1200" b="0" i="0" u="none" strike="noStrike" kern="1200" cap="none" spc="0" normalizeH="0" baseline="0" noProof="0">
                <a:ln>
                  <a:noFill/>
                </a:ln>
                <a:solidFill>
                  <a:srgbClr val="FFFFFF"/>
                </a:solidFill>
                <a:effectLst/>
                <a:uLnTx/>
                <a:uFillTx/>
                <a:latin typeface="Ubuntu" panose="020B0504030602030204" pitchFamily="34" charset="0"/>
                <a:ea typeface="Verdana" panose="020B0604030504040204" pitchFamily="34" charset="0"/>
                <a:cs typeface="+mn-cs"/>
              </a:rPr>
              <a:t>Industry SMEs and functional experts with experience in Asia and other global markets</a:t>
            </a:r>
          </a:p>
        </p:txBody>
      </p:sp>
      <p:sp>
        <p:nvSpPr>
          <p:cNvPr id="110" name="Oval 109">
            <a:extLst>
              <a:ext uri="{FF2B5EF4-FFF2-40B4-BE49-F238E27FC236}">
                <a16:creationId xmlns:a16="http://schemas.microsoft.com/office/drawing/2014/main" id="{01378510-0AE3-36A0-3920-09C18EA1930C}"/>
              </a:ext>
            </a:extLst>
          </p:cNvPr>
          <p:cNvSpPr/>
          <p:nvPr/>
        </p:nvSpPr>
        <p:spPr bwMode="auto">
          <a:xfrm flipH="1">
            <a:off x="4267934" y="1722582"/>
            <a:ext cx="223033" cy="223033"/>
          </a:xfrm>
          <a:prstGeom prst="ellipse">
            <a:avLst/>
          </a:prstGeom>
          <a:solidFill>
            <a:srgbClr val="0F999C"/>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Arial" charset="0"/>
            </a:endParaRPr>
          </a:p>
        </p:txBody>
      </p:sp>
      <p:cxnSp>
        <p:nvCxnSpPr>
          <p:cNvPr id="111" name="Elbow Connector 19">
            <a:extLst>
              <a:ext uri="{FF2B5EF4-FFF2-40B4-BE49-F238E27FC236}">
                <a16:creationId xmlns:a16="http://schemas.microsoft.com/office/drawing/2014/main" id="{6CEF00B6-5BA8-BF73-6C42-BD82D5913E72}"/>
              </a:ext>
            </a:extLst>
          </p:cNvPr>
          <p:cNvCxnSpPr>
            <a:stCxn id="112" idx="0"/>
            <a:endCxn id="110" idx="6"/>
          </p:cNvCxnSpPr>
          <p:nvPr/>
        </p:nvCxnSpPr>
        <p:spPr>
          <a:xfrm rot="5400000" flipH="1" flipV="1">
            <a:off x="2632001" y="593649"/>
            <a:ext cx="395482" cy="2876382"/>
          </a:xfrm>
          <a:prstGeom prst="bentConnector2">
            <a:avLst/>
          </a:prstGeom>
          <a:ln w="19050">
            <a:solidFill>
              <a:srgbClr val="0F999C"/>
            </a:solidFill>
            <a:prstDash val="solid"/>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A352B4D7-0653-40BD-812C-FAE6DA76DFCF}"/>
              </a:ext>
            </a:extLst>
          </p:cNvPr>
          <p:cNvSpPr/>
          <p:nvPr/>
        </p:nvSpPr>
        <p:spPr bwMode="auto">
          <a:xfrm>
            <a:off x="1275261" y="2229581"/>
            <a:ext cx="232579" cy="232579"/>
          </a:xfrm>
          <a:prstGeom prst="rect">
            <a:avLst/>
          </a:prstGeom>
          <a:no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Arial" charset="0"/>
            </a:endParaRPr>
          </a:p>
        </p:txBody>
      </p:sp>
      <p:grpSp>
        <p:nvGrpSpPr>
          <p:cNvPr id="113" name="Group 112">
            <a:extLst>
              <a:ext uri="{FF2B5EF4-FFF2-40B4-BE49-F238E27FC236}">
                <a16:creationId xmlns:a16="http://schemas.microsoft.com/office/drawing/2014/main" id="{0B41F113-4573-2BE3-249E-DD2F26E2A234}"/>
              </a:ext>
            </a:extLst>
          </p:cNvPr>
          <p:cNvGrpSpPr/>
          <p:nvPr/>
        </p:nvGrpSpPr>
        <p:grpSpPr>
          <a:xfrm>
            <a:off x="493341" y="1752672"/>
            <a:ext cx="3705024" cy="3865224"/>
            <a:chOff x="214074" y="1863934"/>
            <a:chExt cx="3429615" cy="3577907"/>
          </a:xfrm>
        </p:grpSpPr>
        <p:grpSp>
          <p:nvGrpSpPr>
            <p:cNvPr id="114" name="Group 113">
              <a:extLst>
                <a:ext uri="{FF2B5EF4-FFF2-40B4-BE49-F238E27FC236}">
                  <a16:creationId xmlns:a16="http://schemas.microsoft.com/office/drawing/2014/main" id="{9BFF4B50-E43D-BBF2-CF11-17B794D032C1}"/>
                </a:ext>
              </a:extLst>
            </p:cNvPr>
            <p:cNvGrpSpPr/>
            <p:nvPr/>
          </p:nvGrpSpPr>
          <p:grpSpPr>
            <a:xfrm>
              <a:off x="214074" y="1863934"/>
              <a:ext cx="3429615" cy="3577907"/>
              <a:chOff x="198258" y="1720900"/>
              <a:chExt cx="3429615" cy="3577907"/>
            </a:xfrm>
          </p:grpSpPr>
          <p:sp>
            <p:nvSpPr>
              <p:cNvPr id="118" name="Freeform 5">
                <a:extLst>
                  <a:ext uri="{FF2B5EF4-FFF2-40B4-BE49-F238E27FC236}">
                    <a16:creationId xmlns:a16="http://schemas.microsoft.com/office/drawing/2014/main" id="{EBC3EE98-0BBB-3DB1-D656-3ED5D9A516E4}"/>
                  </a:ext>
                </a:extLst>
              </p:cNvPr>
              <p:cNvSpPr>
                <a:spLocks noEditPoints="1"/>
              </p:cNvSpPr>
              <p:nvPr/>
            </p:nvSpPr>
            <p:spPr bwMode="auto">
              <a:xfrm>
                <a:off x="329549" y="2085491"/>
                <a:ext cx="2929010" cy="2929954"/>
              </a:xfrm>
              <a:custGeom>
                <a:avLst/>
                <a:gdLst>
                  <a:gd name="T0" fmla="*/ 1283 w 1310"/>
                  <a:gd name="T1" fmla="*/ 606 h 1310"/>
                  <a:gd name="T2" fmla="*/ 704 w 1310"/>
                  <a:gd name="T3" fmla="*/ 1283 h 1310"/>
                  <a:gd name="T4" fmla="*/ 27 w 1310"/>
                  <a:gd name="T5" fmla="*/ 704 h 1310"/>
                  <a:gd name="T6" fmla="*/ 606 w 1310"/>
                  <a:gd name="T7" fmla="*/ 27 h 1310"/>
                  <a:gd name="T8" fmla="*/ 1283 w 1310"/>
                  <a:gd name="T9" fmla="*/ 606 h 1310"/>
                  <a:gd name="T10" fmla="*/ 1051 w 1310"/>
                  <a:gd name="T11" fmla="*/ 624 h 1310"/>
                  <a:gd name="T12" fmla="*/ 624 w 1310"/>
                  <a:gd name="T13" fmla="*/ 260 h 1310"/>
                  <a:gd name="T14" fmla="*/ 260 w 1310"/>
                  <a:gd name="T15" fmla="*/ 686 h 1310"/>
                  <a:gd name="T16" fmla="*/ 686 w 1310"/>
                  <a:gd name="T17" fmla="*/ 1050 h 1310"/>
                  <a:gd name="T18" fmla="*/ 1051 w 1310"/>
                  <a:gd name="T19" fmla="*/ 624 h 1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0" h="1310">
                    <a:moveTo>
                      <a:pt x="1283" y="606"/>
                    </a:moveTo>
                    <a:cubicBezTo>
                      <a:pt x="1310" y="953"/>
                      <a:pt x="1051" y="1256"/>
                      <a:pt x="704" y="1283"/>
                    </a:cubicBezTo>
                    <a:cubicBezTo>
                      <a:pt x="357" y="1310"/>
                      <a:pt x="54" y="1051"/>
                      <a:pt x="27" y="704"/>
                    </a:cubicBezTo>
                    <a:cubicBezTo>
                      <a:pt x="0" y="357"/>
                      <a:pt x="259" y="54"/>
                      <a:pt x="606" y="27"/>
                    </a:cubicBezTo>
                    <a:cubicBezTo>
                      <a:pt x="953" y="0"/>
                      <a:pt x="1256" y="259"/>
                      <a:pt x="1283" y="606"/>
                    </a:cubicBezTo>
                    <a:close/>
                    <a:moveTo>
                      <a:pt x="1051" y="624"/>
                    </a:moveTo>
                    <a:cubicBezTo>
                      <a:pt x="1034" y="406"/>
                      <a:pt x="843" y="243"/>
                      <a:pt x="624" y="260"/>
                    </a:cubicBezTo>
                    <a:cubicBezTo>
                      <a:pt x="406" y="277"/>
                      <a:pt x="243" y="467"/>
                      <a:pt x="260" y="686"/>
                    </a:cubicBezTo>
                    <a:cubicBezTo>
                      <a:pt x="277" y="904"/>
                      <a:pt x="467" y="1067"/>
                      <a:pt x="686" y="1050"/>
                    </a:cubicBezTo>
                    <a:cubicBezTo>
                      <a:pt x="904" y="1034"/>
                      <a:pt x="1067" y="843"/>
                      <a:pt x="1051" y="62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mn-cs"/>
                </a:endParaRPr>
              </a:p>
            </p:txBody>
          </p:sp>
          <p:sp>
            <p:nvSpPr>
              <p:cNvPr id="119" name="Freeform 6">
                <a:extLst>
                  <a:ext uri="{FF2B5EF4-FFF2-40B4-BE49-F238E27FC236}">
                    <a16:creationId xmlns:a16="http://schemas.microsoft.com/office/drawing/2014/main" id="{492C79F6-91AD-D2BF-BAE6-C1A84CADA11E}"/>
                  </a:ext>
                </a:extLst>
              </p:cNvPr>
              <p:cNvSpPr>
                <a:spLocks/>
              </p:cNvSpPr>
              <p:nvPr/>
            </p:nvSpPr>
            <p:spPr bwMode="auto">
              <a:xfrm>
                <a:off x="282322" y="1720900"/>
                <a:ext cx="2061925" cy="1569821"/>
              </a:xfrm>
              <a:custGeom>
                <a:avLst/>
                <a:gdLst>
                  <a:gd name="T0" fmla="*/ 0 w 922"/>
                  <a:gd name="T1" fmla="*/ 547 h 702"/>
                  <a:gd name="T2" fmla="*/ 922 w 922"/>
                  <a:gd name="T3" fmla="*/ 133 h 702"/>
                  <a:gd name="T4" fmla="*/ 782 w 922"/>
                  <a:gd name="T5" fmla="*/ 526 h 702"/>
                  <a:gd name="T6" fmla="*/ 388 w 922"/>
                  <a:gd name="T7" fmla="*/ 702 h 702"/>
                  <a:gd name="T8" fmla="*/ 0 w 922"/>
                  <a:gd name="T9" fmla="*/ 547 h 702"/>
                </a:gdLst>
                <a:ahLst/>
                <a:cxnLst>
                  <a:cxn ang="0">
                    <a:pos x="T0" y="T1"/>
                  </a:cxn>
                  <a:cxn ang="0">
                    <a:pos x="T2" y="T3"/>
                  </a:cxn>
                  <a:cxn ang="0">
                    <a:pos x="T4" y="T5"/>
                  </a:cxn>
                  <a:cxn ang="0">
                    <a:pos x="T6" y="T7"/>
                  </a:cxn>
                  <a:cxn ang="0">
                    <a:pos x="T8" y="T9"/>
                  </a:cxn>
                </a:cxnLst>
                <a:rect l="0" t="0" r="r" b="b"/>
                <a:pathLst>
                  <a:path w="922" h="702">
                    <a:moveTo>
                      <a:pt x="0" y="547"/>
                    </a:moveTo>
                    <a:cubicBezTo>
                      <a:pt x="147" y="181"/>
                      <a:pt x="554" y="0"/>
                      <a:pt x="922" y="133"/>
                    </a:cubicBezTo>
                    <a:cubicBezTo>
                      <a:pt x="782" y="526"/>
                      <a:pt x="782" y="526"/>
                      <a:pt x="782" y="526"/>
                    </a:cubicBezTo>
                    <a:cubicBezTo>
                      <a:pt x="626" y="470"/>
                      <a:pt x="450" y="550"/>
                      <a:pt x="388" y="702"/>
                    </a:cubicBezTo>
                    <a:cubicBezTo>
                      <a:pt x="0" y="547"/>
                      <a:pt x="0" y="547"/>
                      <a:pt x="0" y="547"/>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mn-cs"/>
                </a:endParaRPr>
              </a:p>
            </p:txBody>
          </p:sp>
          <p:sp>
            <p:nvSpPr>
              <p:cNvPr id="120" name="Freeform 7">
                <a:extLst>
                  <a:ext uri="{FF2B5EF4-FFF2-40B4-BE49-F238E27FC236}">
                    <a16:creationId xmlns:a16="http://schemas.microsoft.com/office/drawing/2014/main" id="{E6728B6F-B1EC-4B93-900C-BF2907698C92}"/>
                  </a:ext>
                </a:extLst>
              </p:cNvPr>
              <p:cNvSpPr>
                <a:spLocks/>
              </p:cNvSpPr>
              <p:nvPr/>
            </p:nvSpPr>
            <p:spPr bwMode="auto">
              <a:xfrm>
                <a:off x="282322" y="2944075"/>
                <a:ext cx="204020" cy="248414"/>
              </a:xfrm>
              <a:custGeom>
                <a:avLst/>
                <a:gdLst>
                  <a:gd name="T0" fmla="*/ 0 w 91"/>
                  <a:gd name="T1" fmla="*/ 0 h 111"/>
                  <a:gd name="T2" fmla="*/ 67 w 91"/>
                  <a:gd name="T3" fmla="*/ 111 h 111"/>
                  <a:gd name="T4" fmla="*/ 91 w 91"/>
                  <a:gd name="T5" fmla="*/ 36 h 111"/>
                  <a:gd name="T6" fmla="*/ 0 w 91"/>
                  <a:gd name="T7" fmla="*/ 0 h 111"/>
                </a:gdLst>
                <a:ahLst/>
                <a:cxnLst>
                  <a:cxn ang="0">
                    <a:pos x="T0" y="T1"/>
                  </a:cxn>
                  <a:cxn ang="0">
                    <a:pos x="T2" y="T3"/>
                  </a:cxn>
                  <a:cxn ang="0">
                    <a:pos x="T4" y="T5"/>
                  </a:cxn>
                  <a:cxn ang="0">
                    <a:pos x="T6" y="T7"/>
                  </a:cxn>
                </a:cxnLst>
                <a:rect l="0" t="0" r="r" b="b"/>
                <a:pathLst>
                  <a:path w="91" h="111">
                    <a:moveTo>
                      <a:pt x="0" y="0"/>
                    </a:moveTo>
                    <a:cubicBezTo>
                      <a:pt x="67" y="111"/>
                      <a:pt x="67" y="111"/>
                      <a:pt x="67" y="111"/>
                    </a:cubicBezTo>
                    <a:cubicBezTo>
                      <a:pt x="73" y="86"/>
                      <a:pt x="82" y="61"/>
                      <a:pt x="91" y="36"/>
                    </a:cubicBezTo>
                    <a:cubicBezTo>
                      <a:pt x="0" y="0"/>
                      <a:pt x="0" y="0"/>
                      <a:pt x="0" y="0"/>
                    </a:cubicBezTo>
                    <a:close/>
                  </a:path>
                </a:pathLst>
              </a:custGeom>
              <a:solidFill>
                <a:srgbClr val="15636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mn-cs"/>
                </a:endParaRPr>
              </a:p>
            </p:txBody>
          </p:sp>
          <p:sp>
            <p:nvSpPr>
              <p:cNvPr id="121" name="Freeform 8">
                <a:extLst>
                  <a:ext uri="{FF2B5EF4-FFF2-40B4-BE49-F238E27FC236}">
                    <a16:creationId xmlns:a16="http://schemas.microsoft.com/office/drawing/2014/main" id="{2ECA203F-81F0-2A19-EACA-1B19E18F75CA}"/>
                  </a:ext>
                </a:extLst>
              </p:cNvPr>
              <p:cNvSpPr>
                <a:spLocks/>
              </p:cNvSpPr>
              <p:nvPr/>
            </p:nvSpPr>
            <p:spPr bwMode="auto">
              <a:xfrm>
                <a:off x="2270573" y="2018429"/>
                <a:ext cx="163405" cy="274861"/>
              </a:xfrm>
              <a:custGeom>
                <a:avLst/>
                <a:gdLst>
                  <a:gd name="T0" fmla="*/ 33 w 73"/>
                  <a:gd name="T1" fmla="*/ 0 h 123"/>
                  <a:gd name="T2" fmla="*/ 73 w 73"/>
                  <a:gd name="T3" fmla="*/ 123 h 123"/>
                  <a:gd name="T4" fmla="*/ 0 w 73"/>
                  <a:gd name="T5" fmla="*/ 93 h 123"/>
                  <a:gd name="T6" fmla="*/ 33 w 73"/>
                  <a:gd name="T7" fmla="*/ 0 h 123"/>
                </a:gdLst>
                <a:ahLst/>
                <a:cxnLst>
                  <a:cxn ang="0">
                    <a:pos x="T0" y="T1"/>
                  </a:cxn>
                  <a:cxn ang="0">
                    <a:pos x="T2" y="T3"/>
                  </a:cxn>
                  <a:cxn ang="0">
                    <a:pos x="T4" y="T5"/>
                  </a:cxn>
                  <a:cxn ang="0">
                    <a:pos x="T6" y="T7"/>
                  </a:cxn>
                </a:cxnLst>
                <a:rect l="0" t="0" r="r" b="b"/>
                <a:pathLst>
                  <a:path w="73" h="123">
                    <a:moveTo>
                      <a:pt x="33" y="0"/>
                    </a:moveTo>
                    <a:cubicBezTo>
                      <a:pt x="73" y="123"/>
                      <a:pt x="73" y="123"/>
                      <a:pt x="73" y="123"/>
                    </a:cubicBezTo>
                    <a:cubicBezTo>
                      <a:pt x="49" y="112"/>
                      <a:pt x="25" y="102"/>
                      <a:pt x="0" y="93"/>
                    </a:cubicBezTo>
                    <a:cubicBezTo>
                      <a:pt x="33" y="0"/>
                      <a:pt x="33" y="0"/>
                      <a:pt x="33" y="0"/>
                    </a:cubicBezTo>
                    <a:close/>
                  </a:path>
                </a:pathLst>
              </a:custGeom>
              <a:solidFill>
                <a:srgbClr val="15636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mn-cs"/>
                </a:endParaRPr>
              </a:p>
            </p:txBody>
          </p:sp>
          <p:sp>
            <p:nvSpPr>
              <p:cNvPr id="122" name="Freeform 9">
                <a:extLst>
                  <a:ext uri="{FF2B5EF4-FFF2-40B4-BE49-F238E27FC236}">
                    <a16:creationId xmlns:a16="http://schemas.microsoft.com/office/drawing/2014/main" id="{04611913-D86C-9D2E-64D2-5FFAFC37CAA6}"/>
                  </a:ext>
                </a:extLst>
              </p:cNvPr>
              <p:cNvSpPr>
                <a:spLocks/>
              </p:cNvSpPr>
              <p:nvPr/>
            </p:nvSpPr>
            <p:spPr bwMode="auto">
              <a:xfrm>
                <a:off x="931219" y="3219880"/>
                <a:ext cx="219133" cy="129402"/>
              </a:xfrm>
              <a:custGeom>
                <a:avLst/>
                <a:gdLst>
                  <a:gd name="T0" fmla="*/ 98 w 98"/>
                  <a:gd name="T1" fmla="*/ 32 h 58"/>
                  <a:gd name="T2" fmla="*/ 0 w 98"/>
                  <a:gd name="T3" fmla="*/ 58 h 58"/>
                  <a:gd name="T4" fmla="*/ 18 w 98"/>
                  <a:gd name="T5" fmla="*/ 0 h 58"/>
                  <a:gd name="T6" fmla="*/ 98 w 98"/>
                  <a:gd name="T7" fmla="*/ 32 h 58"/>
                </a:gdLst>
                <a:ahLst/>
                <a:cxnLst>
                  <a:cxn ang="0">
                    <a:pos x="T0" y="T1"/>
                  </a:cxn>
                  <a:cxn ang="0">
                    <a:pos x="T2" y="T3"/>
                  </a:cxn>
                  <a:cxn ang="0">
                    <a:pos x="T4" y="T5"/>
                  </a:cxn>
                  <a:cxn ang="0">
                    <a:pos x="T6" y="T7"/>
                  </a:cxn>
                </a:cxnLst>
                <a:rect l="0" t="0" r="r" b="b"/>
                <a:pathLst>
                  <a:path w="98" h="58">
                    <a:moveTo>
                      <a:pt x="98" y="32"/>
                    </a:moveTo>
                    <a:cubicBezTo>
                      <a:pt x="0" y="58"/>
                      <a:pt x="0" y="58"/>
                      <a:pt x="0" y="58"/>
                    </a:cubicBezTo>
                    <a:cubicBezTo>
                      <a:pt x="4" y="38"/>
                      <a:pt x="10" y="19"/>
                      <a:pt x="18" y="0"/>
                    </a:cubicBezTo>
                    <a:cubicBezTo>
                      <a:pt x="98" y="32"/>
                      <a:pt x="98" y="32"/>
                      <a:pt x="98" y="32"/>
                    </a:cubicBezTo>
                    <a:close/>
                  </a:path>
                </a:pathLst>
              </a:custGeom>
              <a:solidFill>
                <a:srgbClr val="15636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mn-cs"/>
                </a:endParaRPr>
              </a:p>
            </p:txBody>
          </p:sp>
          <p:sp>
            <p:nvSpPr>
              <p:cNvPr id="123" name="Freeform 10">
                <a:extLst>
                  <a:ext uri="{FF2B5EF4-FFF2-40B4-BE49-F238E27FC236}">
                    <a16:creationId xmlns:a16="http://schemas.microsoft.com/office/drawing/2014/main" id="{511E4182-381E-00C2-57E0-4415BE1C34D3}"/>
                  </a:ext>
                </a:extLst>
              </p:cNvPr>
              <p:cNvSpPr>
                <a:spLocks/>
              </p:cNvSpPr>
              <p:nvPr/>
            </p:nvSpPr>
            <p:spPr bwMode="auto">
              <a:xfrm>
                <a:off x="2031605" y="2716442"/>
                <a:ext cx="185129" cy="181351"/>
              </a:xfrm>
              <a:custGeom>
                <a:avLst/>
                <a:gdLst>
                  <a:gd name="T0" fmla="*/ 0 w 83"/>
                  <a:gd name="T1" fmla="*/ 81 h 81"/>
                  <a:gd name="T2" fmla="*/ 83 w 83"/>
                  <a:gd name="T3" fmla="*/ 25 h 81"/>
                  <a:gd name="T4" fmla="*/ 29 w 83"/>
                  <a:gd name="T5" fmla="*/ 0 h 81"/>
                  <a:gd name="T6" fmla="*/ 0 w 83"/>
                  <a:gd name="T7" fmla="*/ 81 h 81"/>
                </a:gdLst>
                <a:ahLst/>
                <a:cxnLst>
                  <a:cxn ang="0">
                    <a:pos x="T0" y="T1"/>
                  </a:cxn>
                  <a:cxn ang="0">
                    <a:pos x="T2" y="T3"/>
                  </a:cxn>
                  <a:cxn ang="0">
                    <a:pos x="T4" y="T5"/>
                  </a:cxn>
                  <a:cxn ang="0">
                    <a:pos x="T6" y="T7"/>
                  </a:cxn>
                </a:cxnLst>
                <a:rect l="0" t="0" r="r" b="b"/>
                <a:pathLst>
                  <a:path w="83" h="81">
                    <a:moveTo>
                      <a:pt x="0" y="81"/>
                    </a:moveTo>
                    <a:cubicBezTo>
                      <a:pt x="83" y="25"/>
                      <a:pt x="83" y="25"/>
                      <a:pt x="83" y="25"/>
                    </a:cubicBezTo>
                    <a:cubicBezTo>
                      <a:pt x="65" y="15"/>
                      <a:pt x="48" y="6"/>
                      <a:pt x="29" y="0"/>
                    </a:cubicBezTo>
                    <a:cubicBezTo>
                      <a:pt x="0" y="81"/>
                      <a:pt x="0" y="81"/>
                      <a:pt x="0" y="81"/>
                    </a:cubicBezTo>
                    <a:close/>
                  </a:path>
                </a:pathLst>
              </a:custGeom>
              <a:solidFill>
                <a:srgbClr val="15636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mn-cs"/>
                </a:endParaRPr>
              </a:p>
            </p:txBody>
          </p:sp>
          <p:sp>
            <p:nvSpPr>
              <p:cNvPr id="124" name="Freeform 11">
                <a:extLst>
                  <a:ext uri="{FF2B5EF4-FFF2-40B4-BE49-F238E27FC236}">
                    <a16:creationId xmlns:a16="http://schemas.microsoft.com/office/drawing/2014/main" id="{C0626279-00F6-E6C2-5536-70139CB9FAE1}"/>
                  </a:ext>
                </a:extLst>
              </p:cNvPr>
              <p:cNvSpPr>
                <a:spLocks/>
              </p:cNvSpPr>
              <p:nvPr/>
            </p:nvSpPr>
            <p:spPr bwMode="auto">
              <a:xfrm>
                <a:off x="2228069" y="2577595"/>
                <a:ext cx="1399804" cy="2243276"/>
              </a:xfrm>
              <a:custGeom>
                <a:avLst/>
                <a:gdLst>
                  <a:gd name="T0" fmla="*/ 391 w 626"/>
                  <a:gd name="T1" fmla="*/ 0 h 1003"/>
                  <a:gd name="T2" fmla="*/ 261 w 626"/>
                  <a:gd name="T3" fmla="*/ 1003 h 1003"/>
                  <a:gd name="T4" fmla="*/ 0 w 626"/>
                  <a:gd name="T5" fmla="*/ 677 h 1003"/>
                  <a:gd name="T6" fmla="*/ 55 w 626"/>
                  <a:gd name="T7" fmla="*/ 250 h 1003"/>
                  <a:gd name="T8" fmla="*/ 391 w 626"/>
                  <a:gd name="T9" fmla="*/ 0 h 1003"/>
                </a:gdLst>
                <a:ahLst/>
                <a:cxnLst>
                  <a:cxn ang="0">
                    <a:pos x="T0" y="T1"/>
                  </a:cxn>
                  <a:cxn ang="0">
                    <a:pos x="T2" y="T3"/>
                  </a:cxn>
                  <a:cxn ang="0">
                    <a:pos x="T4" y="T5"/>
                  </a:cxn>
                  <a:cxn ang="0">
                    <a:pos x="T6" y="T7"/>
                  </a:cxn>
                  <a:cxn ang="0">
                    <a:pos x="T8" y="T9"/>
                  </a:cxn>
                </a:cxnLst>
                <a:rect l="0" t="0" r="r" b="b"/>
                <a:pathLst>
                  <a:path w="626" h="1003">
                    <a:moveTo>
                      <a:pt x="391" y="0"/>
                    </a:moveTo>
                    <a:cubicBezTo>
                      <a:pt x="626" y="316"/>
                      <a:pt x="567" y="758"/>
                      <a:pt x="261" y="1003"/>
                    </a:cubicBezTo>
                    <a:cubicBezTo>
                      <a:pt x="0" y="677"/>
                      <a:pt x="0" y="677"/>
                      <a:pt x="0" y="677"/>
                    </a:cubicBezTo>
                    <a:cubicBezTo>
                      <a:pt x="129" y="574"/>
                      <a:pt x="153" y="382"/>
                      <a:pt x="55" y="250"/>
                    </a:cubicBezTo>
                    <a:cubicBezTo>
                      <a:pt x="391" y="0"/>
                      <a:pt x="391" y="0"/>
                      <a:pt x="391" y="0"/>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mn-cs"/>
                </a:endParaRPr>
              </a:p>
            </p:txBody>
          </p:sp>
          <p:sp>
            <p:nvSpPr>
              <p:cNvPr id="125" name="Freeform 12">
                <a:extLst>
                  <a:ext uri="{FF2B5EF4-FFF2-40B4-BE49-F238E27FC236}">
                    <a16:creationId xmlns:a16="http://schemas.microsoft.com/office/drawing/2014/main" id="{0782DED7-775C-D43E-6CDA-92AF9F9F6860}"/>
                  </a:ext>
                </a:extLst>
              </p:cNvPr>
              <p:cNvSpPr>
                <a:spLocks/>
              </p:cNvSpPr>
              <p:nvPr/>
            </p:nvSpPr>
            <p:spPr bwMode="auto">
              <a:xfrm>
                <a:off x="2811793" y="2572873"/>
                <a:ext cx="290917" cy="136958"/>
              </a:xfrm>
              <a:custGeom>
                <a:avLst/>
                <a:gdLst>
                  <a:gd name="T0" fmla="*/ 130 w 130"/>
                  <a:gd name="T1" fmla="*/ 2 h 61"/>
                  <a:gd name="T2" fmla="*/ 0 w 130"/>
                  <a:gd name="T3" fmla="*/ 0 h 61"/>
                  <a:gd name="T4" fmla="*/ 51 w 130"/>
                  <a:gd name="T5" fmla="*/ 61 h 61"/>
                  <a:gd name="T6" fmla="*/ 130 w 130"/>
                  <a:gd name="T7" fmla="*/ 2 h 61"/>
                </a:gdLst>
                <a:ahLst/>
                <a:cxnLst>
                  <a:cxn ang="0">
                    <a:pos x="T0" y="T1"/>
                  </a:cxn>
                  <a:cxn ang="0">
                    <a:pos x="T2" y="T3"/>
                  </a:cxn>
                  <a:cxn ang="0">
                    <a:pos x="T4" y="T5"/>
                  </a:cxn>
                  <a:cxn ang="0">
                    <a:pos x="T6" y="T7"/>
                  </a:cxn>
                </a:cxnLst>
                <a:rect l="0" t="0" r="r" b="b"/>
                <a:pathLst>
                  <a:path w="130" h="61">
                    <a:moveTo>
                      <a:pt x="130" y="2"/>
                    </a:moveTo>
                    <a:cubicBezTo>
                      <a:pt x="0" y="0"/>
                      <a:pt x="0" y="0"/>
                      <a:pt x="0" y="0"/>
                    </a:cubicBezTo>
                    <a:cubicBezTo>
                      <a:pt x="0" y="1"/>
                      <a:pt x="45" y="53"/>
                      <a:pt x="51" y="61"/>
                    </a:cubicBezTo>
                    <a:cubicBezTo>
                      <a:pt x="130" y="2"/>
                      <a:pt x="130" y="2"/>
                      <a:pt x="130" y="2"/>
                    </a:cubicBezTo>
                    <a:close/>
                  </a:path>
                </a:pathLst>
              </a:custGeom>
              <a:solidFill>
                <a:srgbClr val="00D5D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mn-cs"/>
                </a:endParaRPr>
              </a:p>
            </p:txBody>
          </p:sp>
          <p:sp>
            <p:nvSpPr>
              <p:cNvPr id="126" name="Freeform 13">
                <a:extLst>
                  <a:ext uri="{FF2B5EF4-FFF2-40B4-BE49-F238E27FC236}">
                    <a16:creationId xmlns:a16="http://schemas.microsoft.com/office/drawing/2014/main" id="{139A6D3A-BCA0-3DEA-36BC-C71E085FF9D2}"/>
                  </a:ext>
                </a:extLst>
              </p:cNvPr>
              <p:cNvSpPr>
                <a:spLocks/>
              </p:cNvSpPr>
              <p:nvPr/>
            </p:nvSpPr>
            <p:spPr bwMode="auto">
              <a:xfrm>
                <a:off x="2532210" y="4648021"/>
                <a:ext cx="279583" cy="172851"/>
              </a:xfrm>
              <a:custGeom>
                <a:avLst/>
                <a:gdLst>
                  <a:gd name="T0" fmla="*/ 125 w 125"/>
                  <a:gd name="T1" fmla="*/ 77 h 77"/>
                  <a:gd name="T2" fmla="*/ 0 w 125"/>
                  <a:gd name="T3" fmla="*/ 46 h 77"/>
                  <a:gd name="T4" fmla="*/ 63 w 125"/>
                  <a:gd name="T5" fmla="*/ 0 h 77"/>
                  <a:gd name="T6" fmla="*/ 125 w 125"/>
                  <a:gd name="T7" fmla="*/ 77 h 77"/>
                </a:gdLst>
                <a:ahLst/>
                <a:cxnLst>
                  <a:cxn ang="0">
                    <a:pos x="T0" y="T1"/>
                  </a:cxn>
                  <a:cxn ang="0">
                    <a:pos x="T2" y="T3"/>
                  </a:cxn>
                  <a:cxn ang="0">
                    <a:pos x="T4" y="T5"/>
                  </a:cxn>
                  <a:cxn ang="0">
                    <a:pos x="T6" y="T7"/>
                  </a:cxn>
                </a:cxnLst>
                <a:rect l="0" t="0" r="r" b="b"/>
                <a:pathLst>
                  <a:path w="125" h="77">
                    <a:moveTo>
                      <a:pt x="125" y="77"/>
                    </a:moveTo>
                    <a:cubicBezTo>
                      <a:pt x="0" y="46"/>
                      <a:pt x="0" y="46"/>
                      <a:pt x="0" y="46"/>
                    </a:cubicBezTo>
                    <a:cubicBezTo>
                      <a:pt x="22" y="32"/>
                      <a:pt x="43" y="16"/>
                      <a:pt x="63" y="0"/>
                    </a:cubicBezTo>
                    <a:cubicBezTo>
                      <a:pt x="125" y="77"/>
                      <a:pt x="125" y="77"/>
                      <a:pt x="125" y="77"/>
                    </a:cubicBezTo>
                    <a:close/>
                  </a:path>
                </a:pathLst>
              </a:custGeom>
              <a:solidFill>
                <a:srgbClr val="00D5D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mn-cs"/>
                </a:endParaRPr>
              </a:p>
            </p:txBody>
          </p:sp>
          <p:sp>
            <p:nvSpPr>
              <p:cNvPr id="127" name="Freeform 14">
                <a:extLst>
                  <a:ext uri="{FF2B5EF4-FFF2-40B4-BE49-F238E27FC236}">
                    <a16:creationId xmlns:a16="http://schemas.microsoft.com/office/drawing/2014/main" id="{FFCB4258-A403-C45D-FAA8-829298553099}"/>
                  </a:ext>
                </a:extLst>
              </p:cNvPr>
              <p:cNvSpPr>
                <a:spLocks/>
              </p:cNvSpPr>
              <p:nvPr/>
            </p:nvSpPr>
            <p:spPr bwMode="auto">
              <a:xfrm>
                <a:off x="2350859" y="2917628"/>
                <a:ext cx="154904" cy="219133"/>
              </a:xfrm>
              <a:custGeom>
                <a:avLst/>
                <a:gdLst>
                  <a:gd name="T0" fmla="*/ 0 w 69"/>
                  <a:gd name="T1" fmla="*/ 98 h 98"/>
                  <a:gd name="T2" fmla="*/ 30 w 69"/>
                  <a:gd name="T3" fmla="*/ 0 h 98"/>
                  <a:gd name="T4" fmla="*/ 69 w 69"/>
                  <a:gd name="T5" fmla="*/ 46 h 98"/>
                  <a:gd name="T6" fmla="*/ 0 w 69"/>
                  <a:gd name="T7" fmla="*/ 98 h 98"/>
                </a:gdLst>
                <a:ahLst/>
                <a:cxnLst>
                  <a:cxn ang="0">
                    <a:pos x="T0" y="T1"/>
                  </a:cxn>
                  <a:cxn ang="0">
                    <a:pos x="T2" y="T3"/>
                  </a:cxn>
                  <a:cxn ang="0">
                    <a:pos x="T4" y="T5"/>
                  </a:cxn>
                  <a:cxn ang="0">
                    <a:pos x="T6" y="T7"/>
                  </a:cxn>
                </a:cxnLst>
                <a:rect l="0" t="0" r="r" b="b"/>
                <a:pathLst>
                  <a:path w="69" h="98">
                    <a:moveTo>
                      <a:pt x="0" y="98"/>
                    </a:moveTo>
                    <a:cubicBezTo>
                      <a:pt x="30" y="0"/>
                      <a:pt x="30" y="0"/>
                      <a:pt x="30" y="0"/>
                    </a:cubicBezTo>
                    <a:cubicBezTo>
                      <a:pt x="44" y="14"/>
                      <a:pt x="57" y="30"/>
                      <a:pt x="69" y="46"/>
                    </a:cubicBezTo>
                    <a:cubicBezTo>
                      <a:pt x="0" y="98"/>
                      <a:pt x="0" y="98"/>
                      <a:pt x="0" y="98"/>
                    </a:cubicBezTo>
                    <a:close/>
                  </a:path>
                </a:pathLst>
              </a:custGeom>
              <a:solidFill>
                <a:srgbClr val="00D5D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mn-cs"/>
                </a:endParaRPr>
              </a:p>
            </p:txBody>
          </p:sp>
          <p:sp>
            <p:nvSpPr>
              <p:cNvPr id="128" name="Freeform 15">
                <a:extLst>
                  <a:ext uri="{FF2B5EF4-FFF2-40B4-BE49-F238E27FC236}">
                    <a16:creationId xmlns:a16="http://schemas.microsoft.com/office/drawing/2014/main" id="{2F916C57-C54A-7980-87F9-A33F1BABDD15}"/>
                  </a:ext>
                </a:extLst>
              </p:cNvPr>
              <p:cNvSpPr>
                <a:spLocks/>
              </p:cNvSpPr>
              <p:nvPr/>
            </p:nvSpPr>
            <p:spPr bwMode="auto">
              <a:xfrm>
                <a:off x="2228069" y="4091688"/>
                <a:ext cx="120901" cy="227634"/>
              </a:xfrm>
              <a:custGeom>
                <a:avLst/>
                <a:gdLst>
                  <a:gd name="T0" fmla="*/ 0 w 54"/>
                  <a:gd name="T1" fmla="*/ 0 h 102"/>
                  <a:gd name="T2" fmla="*/ 3 w 54"/>
                  <a:gd name="T3" fmla="*/ 102 h 102"/>
                  <a:gd name="T4" fmla="*/ 54 w 54"/>
                  <a:gd name="T5" fmla="*/ 67 h 102"/>
                  <a:gd name="T6" fmla="*/ 0 w 54"/>
                  <a:gd name="T7" fmla="*/ 0 h 102"/>
                </a:gdLst>
                <a:ahLst/>
                <a:cxnLst>
                  <a:cxn ang="0">
                    <a:pos x="T0" y="T1"/>
                  </a:cxn>
                  <a:cxn ang="0">
                    <a:pos x="T2" y="T3"/>
                  </a:cxn>
                  <a:cxn ang="0">
                    <a:pos x="T4" y="T5"/>
                  </a:cxn>
                  <a:cxn ang="0">
                    <a:pos x="T6" y="T7"/>
                  </a:cxn>
                </a:cxnLst>
                <a:rect l="0" t="0" r="r" b="b"/>
                <a:pathLst>
                  <a:path w="54" h="102">
                    <a:moveTo>
                      <a:pt x="0" y="0"/>
                    </a:moveTo>
                    <a:cubicBezTo>
                      <a:pt x="3" y="102"/>
                      <a:pt x="3" y="102"/>
                      <a:pt x="3" y="102"/>
                    </a:cubicBezTo>
                    <a:cubicBezTo>
                      <a:pt x="21" y="92"/>
                      <a:pt x="38" y="80"/>
                      <a:pt x="54" y="67"/>
                    </a:cubicBezTo>
                    <a:cubicBezTo>
                      <a:pt x="0" y="0"/>
                      <a:pt x="0" y="0"/>
                      <a:pt x="0" y="0"/>
                    </a:cubicBezTo>
                    <a:close/>
                  </a:path>
                </a:pathLst>
              </a:custGeom>
              <a:solidFill>
                <a:srgbClr val="00D5D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mn-cs"/>
                </a:endParaRPr>
              </a:p>
            </p:txBody>
          </p:sp>
          <p:sp>
            <p:nvSpPr>
              <p:cNvPr id="129" name="Freeform 16">
                <a:extLst>
                  <a:ext uri="{FF2B5EF4-FFF2-40B4-BE49-F238E27FC236}">
                    <a16:creationId xmlns:a16="http://schemas.microsoft.com/office/drawing/2014/main" id="{4B4BB41B-4550-0F87-5EAC-F448E13DA072}"/>
                  </a:ext>
                </a:extLst>
              </p:cNvPr>
              <p:cNvSpPr>
                <a:spLocks/>
              </p:cNvSpPr>
              <p:nvPr/>
            </p:nvSpPr>
            <p:spPr bwMode="auto">
              <a:xfrm>
                <a:off x="198258" y="3684593"/>
                <a:ext cx="1855071" cy="1614214"/>
              </a:xfrm>
              <a:custGeom>
                <a:avLst/>
                <a:gdLst>
                  <a:gd name="T0" fmla="*/ 830 w 830"/>
                  <a:gd name="T1" fmla="*/ 659 h 722"/>
                  <a:gd name="T2" fmla="*/ 0 w 830"/>
                  <a:gd name="T3" fmla="*/ 82 h 722"/>
                  <a:gd name="T4" fmla="*/ 410 w 830"/>
                  <a:gd name="T5" fmla="*/ 0 h 722"/>
                  <a:gd name="T6" fmla="*/ 763 w 830"/>
                  <a:gd name="T7" fmla="*/ 246 h 722"/>
                  <a:gd name="T8" fmla="*/ 830 w 830"/>
                  <a:gd name="T9" fmla="*/ 659 h 722"/>
                </a:gdLst>
                <a:ahLst/>
                <a:cxnLst>
                  <a:cxn ang="0">
                    <a:pos x="T0" y="T1"/>
                  </a:cxn>
                  <a:cxn ang="0">
                    <a:pos x="T2" y="T3"/>
                  </a:cxn>
                  <a:cxn ang="0">
                    <a:pos x="T4" y="T5"/>
                  </a:cxn>
                  <a:cxn ang="0">
                    <a:pos x="T6" y="T7"/>
                  </a:cxn>
                  <a:cxn ang="0">
                    <a:pos x="T8" y="T9"/>
                  </a:cxn>
                </a:cxnLst>
                <a:rect l="0" t="0" r="r" b="b"/>
                <a:pathLst>
                  <a:path w="830" h="722">
                    <a:moveTo>
                      <a:pt x="830" y="659"/>
                    </a:moveTo>
                    <a:cubicBezTo>
                      <a:pt x="441" y="722"/>
                      <a:pt x="76" y="466"/>
                      <a:pt x="0" y="82"/>
                    </a:cubicBezTo>
                    <a:cubicBezTo>
                      <a:pt x="410" y="0"/>
                      <a:pt x="410" y="0"/>
                      <a:pt x="410" y="0"/>
                    </a:cubicBezTo>
                    <a:cubicBezTo>
                      <a:pt x="442" y="162"/>
                      <a:pt x="601" y="272"/>
                      <a:pt x="763" y="246"/>
                    </a:cubicBezTo>
                    <a:cubicBezTo>
                      <a:pt x="830" y="659"/>
                      <a:pt x="830" y="659"/>
                      <a:pt x="830" y="659"/>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Ubuntu" panose="020B0504030602030204" pitchFamily="34" charset="0"/>
                  <a:ea typeface="Verdana" panose="020B0604030504040204" pitchFamily="34" charset="0"/>
                  <a:cs typeface="+mn-cs"/>
                </a:endParaRPr>
              </a:p>
            </p:txBody>
          </p:sp>
          <p:sp>
            <p:nvSpPr>
              <p:cNvPr id="130" name="Freeform 17">
                <a:extLst>
                  <a:ext uri="{FF2B5EF4-FFF2-40B4-BE49-F238E27FC236}">
                    <a16:creationId xmlns:a16="http://schemas.microsoft.com/office/drawing/2014/main" id="{90B5E832-1FFB-A2F9-BBE5-3098682D8F8D}"/>
                  </a:ext>
                </a:extLst>
              </p:cNvPr>
              <p:cNvSpPr>
                <a:spLocks/>
              </p:cNvSpPr>
              <p:nvPr/>
            </p:nvSpPr>
            <p:spPr bwMode="auto">
              <a:xfrm>
                <a:off x="2018382" y="4903046"/>
                <a:ext cx="171906" cy="255025"/>
              </a:xfrm>
              <a:custGeom>
                <a:avLst/>
                <a:gdLst>
                  <a:gd name="T0" fmla="*/ 16 w 77"/>
                  <a:gd name="T1" fmla="*/ 114 h 114"/>
                  <a:gd name="T2" fmla="*/ 77 w 77"/>
                  <a:gd name="T3" fmla="*/ 0 h 114"/>
                  <a:gd name="T4" fmla="*/ 0 w 77"/>
                  <a:gd name="T5" fmla="*/ 17 h 114"/>
                  <a:gd name="T6" fmla="*/ 16 w 77"/>
                  <a:gd name="T7" fmla="*/ 114 h 114"/>
                </a:gdLst>
                <a:ahLst/>
                <a:cxnLst>
                  <a:cxn ang="0">
                    <a:pos x="T0" y="T1"/>
                  </a:cxn>
                  <a:cxn ang="0">
                    <a:pos x="T2" y="T3"/>
                  </a:cxn>
                  <a:cxn ang="0">
                    <a:pos x="T4" y="T5"/>
                  </a:cxn>
                  <a:cxn ang="0">
                    <a:pos x="T6" y="T7"/>
                  </a:cxn>
                </a:cxnLst>
                <a:rect l="0" t="0" r="r" b="b"/>
                <a:pathLst>
                  <a:path w="77" h="114">
                    <a:moveTo>
                      <a:pt x="16" y="114"/>
                    </a:moveTo>
                    <a:cubicBezTo>
                      <a:pt x="77" y="0"/>
                      <a:pt x="77" y="0"/>
                      <a:pt x="77" y="0"/>
                    </a:cubicBezTo>
                    <a:cubicBezTo>
                      <a:pt x="76" y="0"/>
                      <a:pt x="10" y="16"/>
                      <a:pt x="0" y="17"/>
                    </a:cubicBezTo>
                    <a:cubicBezTo>
                      <a:pt x="16" y="114"/>
                      <a:pt x="16" y="114"/>
                      <a:pt x="16" y="114"/>
                    </a:cubicBezTo>
                    <a:close/>
                  </a:path>
                </a:pathLst>
              </a:custGeom>
              <a:solidFill>
                <a:srgbClr val="00B2A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mn-cs"/>
                </a:endParaRPr>
              </a:p>
            </p:txBody>
          </p:sp>
          <p:sp>
            <p:nvSpPr>
              <p:cNvPr id="131" name="Freeform 18">
                <a:extLst>
                  <a:ext uri="{FF2B5EF4-FFF2-40B4-BE49-F238E27FC236}">
                    <a16:creationId xmlns:a16="http://schemas.microsoft.com/office/drawing/2014/main" id="{7650CE8E-8CE2-77C1-5BE6-91CE7C228417}"/>
                  </a:ext>
                </a:extLst>
              </p:cNvPr>
              <p:cNvSpPr>
                <a:spLocks/>
              </p:cNvSpPr>
              <p:nvPr/>
            </p:nvSpPr>
            <p:spPr bwMode="auto">
              <a:xfrm>
                <a:off x="198258" y="3648700"/>
                <a:ext cx="216299" cy="219133"/>
              </a:xfrm>
              <a:custGeom>
                <a:avLst/>
                <a:gdLst>
                  <a:gd name="T0" fmla="*/ 0 w 97"/>
                  <a:gd name="T1" fmla="*/ 98 h 98"/>
                  <a:gd name="T2" fmla="*/ 86 w 97"/>
                  <a:gd name="T3" fmla="*/ 0 h 98"/>
                  <a:gd name="T4" fmla="*/ 97 w 97"/>
                  <a:gd name="T5" fmla="*/ 78 h 98"/>
                  <a:gd name="T6" fmla="*/ 0 w 97"/>
                  <a:gd name="T7" fmla="*/ 98 h 98"/>
                </a:gdLst>
                <a:ahLst/>
                <a:cxnLst>
                  <a:cxn ang="0">
                    <a:pos x="T0" y="T1"/>
                  </a:cxn>
                  <a:cxn ang="0">
                    <a:pos x="T2" y="T3"/>
                  </a:cxn>
                  <a:cxn ang="0">
                    <a:pos x="T4" y="T5"/>
                  </a:cxn>
                  <a:cxn ang="0">
                    <a:pos x="T6" y="T7"/>
                  </a:cxn>
                </a:cxnLst>
                <a:rect l="0" t="0" r="r" b="b"/>
                <a:pathLst>
                  <a:path w="97" h="98">
                    <a:moveTo>
                      <a:pt x="0" y="98"/>
                    </a:moveTo>
                    <a:cubicBezTo>
                      <a:pt x="86" y="0"/>
                      <a:pt x="86" y="0"/>
                      <a:pt x="86" y="0"/>
                    </a:cubicBezTo>
                    <a:cubicBezTo>
                      <a:pt x="88" y="27"/>
                      <a:pt x="92" y="53"/>
                      <a:pt x="97" y="78"/>
                    </a:cubicBezTo>
                    <a:cubicBezTo>
                      <a:pt x="0" y="98"/>
                      <a:pt x="0" y="98"/>
                      <a:pt x="0" y="98"/>
                    </a:cubicBezTo>
                    <a:close/>
                  </a:path>
                </a:pathLst>
              </a:custGeom>
              <a:solidFill>
                <a:srgbClr val="00B2A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mn-cs"/>
                </a:endParaRPr>
              </a:p>
            </p:txBody>
          </p:sp>
          <p:sp>
            <p:nvSpPr>
              <p:cNvPr id="132" name="Freeform 19">
                <a:extLst>
                  <a:ext uri="{FF2B5EF4-FFF2-40B4-BE49-F238E27FC236}">
                    <a16:creationId xmlns:a16="http://schemas.microsoft.com/office/drawing/2014/main" id="{B88D2E0D-191B-926D-23C0-3774CAF9009C}"/>
                  </a:ext>
                </a:extLst>
              </p:cNvPr>
              <p:cNvSpPr>
                <a:spLocks/>
              </p:cNvSpPr>
              <p:nvPr/>
            </p:nvSpPr>
            <p:spPr bwMode="auto">
              <a:xfrm>
                <a:off x="1904092" y="4234313"/>
                <a:ext cx="163405" cy="192686"/>
              </a:xfrm>
              <a:custGeom>
                <a:avLst/>
                <a:gdLst>
                  <a:gd name="T0" fmla="*/ 0 w 73"/>
                  <a:gd name="T1" fmla="*/ 0 h 86"/>
                  <a:gd name="T2" fmla="*/ 73 w 73"/>
                  <a:gd name="T3" fmla="*/ 72 h 86"/>
                  <a:gd name="T4" fmla="*/ 14 w 73"/>
                  <a:gd name="T5" fmla="*/ 86 h 86"/>
                  <a:gd name="T6" fmla="*/ 0 w 73"/>
                  <a:gd name="T7" fmla="*/ 0 h 86"/>
                </a:gdLst>
                <a:ahLst/>
                <a:cxnLst>
                  <a:cxn ang="0">
                    <a:pos x="T0" y="T1"/>
                  </a:cxn>
                  <a:cxn ang="0">
                    <a:pos x="T2" y="T3"/>
                  </a:cxn>
                  <a:cxn ang="0">
                    <a:pos x="T4" y="T5"/>
                  </a:cxn>
                  <a:cxn ang="0">
                    <a:pos x="T6" y="T7"/>
                  </a:cxn>
                </a:cxnLst>
                <a:rect l="0" t="0" r="r" b="b"/>
                <a:pathLst>
                  <a:path w="73" h="86">
                    <a:moveTo>
                      <a:pt x="0" y="0"/>
                    </a:moveTo>
                    <a:cubicBezTo>
                      <a:pt x="73" y="72"/>
                      <a:pt x="73" y="72"/>
                      <a:pt x="73" y="72"/>
                    </a:cubicBezTo>
                    <a:cubicBezTo>
                      <a:pt x="54" y="78"/>
                      <a:pt x="34" y="82"/>
                      <a:pt x="14" y="86"/>
                    </a:cubicBezTo>
                    <a:cubicBezTo>
                      <a:pt x="0" y="0"/>
                      <a:pt x="0" y="0"/>
                      <a:pt x="0" y="0"/>
                    </a:cubicBezTo>
                    <a:close/>
                  </a:path>
                </a:pathLst>
              </a:custGeom>
              <a:solidFill>
                <a:srgbClr val="00B2A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mn-cs"/>
                </a:endParaRPr>
              </a:p>
            </p:txBody>
          </p:sp>
          <p:sp>
            <p:nvSpPr>
              <p:cNvPr id="133" name="Freeform 20">
                <a:extLst>
                  <a:ext uri="{FF2B5EF4-FFF2-40B4-BE49-F238E27FC236}">
                    <a16:creationId xmlns:a16="http://schemas.microsoft.com/office/drawing/2014/main" id="{3E5B95C8-D0A8-5404-E97E-B41CDFDFC550}"/>
                  </a:ext>
                </a:extLst>
              </p:cNvPr>
              <p:cNvSpPr>
                <a:spLocks/>
              </p:cNvSpPr>
              <p:nvPr/>
            </p:nvSpPr>
            <p:spPr bwMode="auto">
              <a:xfrm>
                <a:off x="908549" y="3588250"/>
                <a:ext cx="205909" cy="134124"/>
              </a:xfrm>
              <a:custGeom>
                <a:avLst/>
                <a:gdLst>
                  <a:gd name="T0" fmla="*/ 92 w 92"/>
                  <a:gd name="T1" fmla="*/ 43 h 60"/>
                  <a:gd name="T2" fmla="*/ 0 w 92"/>
                  <a:gd name="T3" fmla="*/ 0 h 60"/>
                  <a:gd name="T4" fmla="*/ 7 w 92"/>
                  <a:gd name="T5" fmla="*/ 60 h 60"/>
                  <a:gd name="T6" fmla="*/ 92 w 92"/>
                  <a:gd name="T7" fmla="*/ 43 h 60"/>
                </a:gdLst>
                <a:ahLst/>
                <a:cxnLst>
                  <a:cxn ang="0">
                    <a:pos x="T0" y="T1"/>
                  </a:cxn>
                  <a:cxn ang="0">
                    <a:pos x="T2" y="T3"/>
                  </a:cxn>
                  <a:cxn ang="0">
                    <a:pos x="T4" y="T5"/>
                  </a:cxn>
                  <a:cxn ang="0">
                    <a:pos x="T6" y="T7"/>
                  </a:cxn>
                </a:cxnLst>
                <a:rect l="0" t="0" r="r" b="b"/>
                <a:pathLst>
                  <a:path w="92" h="60">
                    <a:moveTo>
                      <a:pt x="92" y="43"/>
                    </a:moveTo>
                    <a:cubicBezTo>
                      <a:pt x="0" y="0"/>
                      <a:pt x="0" y="0"/>
                      <a:pt x="0" y="0"/>
                    </a:cubicBezTo>
                    <a:cubicBezTo>
                      <a:pt x="1" y="20"/>
                      <a:pt x="3" y="40"/>
                      <a:pt x="7" y="60"/>
                    </a:cubicBezTo>
                    <a:cubicBezTo>
                      <a:pt x="92" y="43"/>
                      <a:pt x="92" y="43"/>
                      <a:pt x="92" y="43"/>
                    </a:cubicBezTo>
                    <a:close/>
                  </a:path>
                </a:pathLst>
              </a:custGeom>
              <a:solidFill>
                <a:srgbClr val="00B2A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mn-cs"/>
                </a:endParaRPr>
              </a:p>
            </p:txBody>
          </p:sp>
        </p:grpSp>
        <p:sp>
          <p:nvSpPr>
            <p:cNvPr id="115" name="Text Box 7">
              <a:extLst>
                <a:ext uri="{FF2B5EF4-FFF2-40B4-BE49-F238E27FC236}">
                  <a16:creationId xmlns:a16="http://schemas.microsoft.com/office/drawing/2014/main" id="{BCC2BE6E-9206-791F-EC63-6315E0978995}"/>
                </a:ext>
              </a:extLst>
            </p:cNvPr>
            <p:cNvSpPr txBox="1">
              <a:spLocks noChangeArrowheads="1"/>
            </p:cNvSpPr>
            <p:nvPr/>
          </p:nvSpPr>
          <p:spPr bwMode="gray">
            <a:xfrm rot="5871850">
              <a:off x="1756443" y="3440818"/>
              <a:ext cx="1044548" cy="673901"/>
            </a:xfrm>
            <a:prstGeom prst="rect">
              <a:avLst/>
            </a:prstGeom>
            <a:noFill/>
            <a:ln w="9525" algn="ctr">
              <a:noFill/>
              <a:miter lim="800000"/>
              <a:headEnd/>
              <a:tailEnd/>
            </a:ln>
          </p:spPr>
          <p:txBody>
            <a:bodyPr wrap="none" lIns="89852" tIns="89852" rIns="89852" bIns="89852">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Ubuntu" panose="020B0504030602030204" pitchFamily="34" charset="0"/>
                  <a:ea typeface="Verdana" panose="020B0604030504040204" pitchFamily="34" charset="0"/>
                  <a:cs typeface="+mn-cs"/>
                </a:rPr>
                <a:t>Subscribed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Ubuntu" panose="020B0504030602030204" pitchFamily="34" charset="0"/>
                  <a:ea typeface="Verdana" panose="020B0604030504040204" pitchFamily="34" charset="0"/>
                  <a:cs typeface="+mn-cs"/>
                </a:rPr>
                <a:t>Reports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FFFFFF"/>
                </a:solidFill>
                <a:effectLst/>
                <a:uLnTx/>
                <a:uFillTx/>
                <a:latin typeface="Ubuntu" panose="020B0504030602030204" pitchFamily="34" charset="0"/>
                <a:ea typeface="Verdana" panose="020B0604030504040204" pitchFamily="34" charset="0"/>
                <a:cs typeface="+mn-cs"/>
              </a:endParaRPr>
            </a:p>
          </p:txBody>
        </p:sp>
        <p:sp>
          <p:nvSpPr>
            <p:cNvPr id="116" name="Text Box 8">
              <a:extLst>
                <a:ext uri="{FF2B5EF4-FFF2-40B4-BE49-F238E27FC236}">
                  <a16:creationId xmlns:a16="http://schemas.microsoft.com/office/drawing/2014/main" id="{DF6C1CB8-3891-A847-33EE-88C6A0E7EC6A}"/>
                </a:ext>
              </a:extLst>
            </p:cNvPr>
            <p:cNvSpPr txBox="1">
              <a:spLocks noChangeArrowheads="1"/>
            </p:cNvSpPr>
            <p:nvPr/>
          </p:nvSpPr>
          <p:spPr bwMode="gray">
            <a:xfrm rot="2248597">
              <a:off x="812393" y="3439284"/>
              <a:ext cx="1535194" cy="1202136"/>
            </a:xfrm>
            <a:prstGeom prst="rect">
              <a:avLst/>
            </a:prstGeom>
            <a:noFill/>
            <a:ln w="9525" algn="ctr">
              <a:noFill/>
              <a:miter lim="800000"/>
              <a:headEnd/>
              <a:tailEnd/>
            </a:ln>
          </p:spPr>
          <p:txBody>
            <a:bodyPr lIns="89852" tIns="89852" rIns="89852" bIns="89852">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Ubuntu" panose="020B0504030602030204" pitchFamily="34" charset="0"/>
                  <a:ea typeface="Verdana" panose="020B0604030504040204" pitchFamily="34" charset="0"/>
                  <a:cs typeface="+mn-cs"/>
                </a:rPr>
                <a:t>Verified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Ubuntu" panose="020B0504030602030204" pitchFamily="34" charset="0"/>
                  <a:ea typeface="Verdana" panose="020B0604030504040204" pitchFamily="34" charset="0"/>
                  <a:cs typeface="+mn-cs"/>
                </a:rPr>
                <a:t>Public Information </a:t>
              </a:r>
            </a:p>
          </p:txBody>
        </p:sp>
        <p:sp>
          <p:nvSpPr>
            <p:cNvPr id="117" name="Text Box 6">
              <a:extLst>
                <a:ext uri="{FF2B5EF4-FFF2-40B4-BE49-F238E27FC236}">
                  <a16:creationId xmlns:a16="http://schemas.microsoft.com/office/drawing/2014/main" id="{72411D9C-D217-C5B1-7595-13103D12C1DB}"/>
                </a:ext>
              </a:extLst>
            </p:cNvPr>
            <p:cNvSpPr txBox="1">
              <a:spLocks noChangeArrowheads="1"/>
            </p:cNvSpPr>
            <p:nvPr/>
          </p:nvSpPr>
          <p:spPr bwMode="gray">
            <a:xfrm rot="20443401">
              <a:off x="1206121" y="2890495"/>
              <a:ext cx="820621" cy="920123"/>
            </a:xfrm>
            <a:prstGeom prst="rect">
              <a:avLst/>
            </a:prstGeom>
            <a:noFill/>
            <a:ln w="9525" algn="ctr">
              <a:noFill/>
              <a:miter lim="800000"/>
              <a:headEnd/>
              <a:tailEnd/>
            </a:ln>
          </p:spPr>
          <p:txBody>
            <a:bodyPr wrap="none" lIns="89852" tIns="89852" rIns="89852" bIns="89852">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Ubuntu" panose="020B0504030602030204" pitchFamily="34" charset="0"/>
                  <a:ea typeface="Verdana" panose="020B0604030504040204" pitchFamily="34" charset="0"/>
                  <a:cs typeface="+mn-cs"/>
                </a:rPr>
                <a:t>In-house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Ubuntu" panose="020B0504030602030204" pitchFamily="34" charset="0"/>
                  <a:ea typeface="Verdana" panose="020B0604030504040204" pitchFamily="34" charset="0"/>
                  <a:cs typeface="+mn-cs"/>
                </a:rPr>
                <a:t>Knowledge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FFFFFF"/>
                </a:solidFill>
                <a:effectLst/>
                <a:uLnTx/>
                <a:uFillTx/>
                <a:latin typeface="Ubuntu" panose="020B0504030602030204" pitchFamily="34" charset="0"/>
                <a:ea typeface="Verdana" panose="020B0604030504040204" pitchFamily="34" charset="0"/>
                <a:cs typeface="+mn-cs"/>
              </a:endParaRPr>
            </a:p>
          </p:txBody>
        </p:sp>
      </p:grpSp>
      <p:sp>
        <p:nvSpPr>
          <p:cNvPr id="134" name="Oval 133">
            <a:extLst>
              <a:ext uri="{FF2B5EF4-FFF2-40B4-BE49-F238E27FC236}">
                <a16:creationId xmlns:a16="http://schemas.microsoft.com/office/drawing/2014/main" id="{D44A2477-2742-1C2C-42AC-97FA14F44E8E}"/>
              </a:ext>
            </a:extLst>
          </p:cNvPr>
          <p:cNvSpPr/>
          <p:nvPr/>
        </p:nvSpPr>
        <p:spPr bwMode="auto">
          <a:xfrm flipH="1">
            <a:off x="4267934" y="3503826"/>
            <a:ext cx="223033" cy="223033"/>
          </a:xfrm>
          <a:prstGeom prst="ellipse">
            <a:avLst/>
          </a:prstGeom>
          <a:solidFill>
            <a:srgbClr val="00B2A2"/>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Arial" charset="0"/>
            </a:endParaRPr>
          </a:p>
        </p:txBody>
      </p:sp>
      <p:sp>
        <p:nvSpPr>
          <p:cNvPr id="135" name="Oval 134">
            <a:extLst>
              <a:ext uri="{FF2B5EF4-FFF2-40B4-BE49-F238E27FC236}">
                <a16:creationId xmlns:a16="http://schemas.microsoft.com/office/drawing/2014/main" id="{AC75600A-BFB7-3CFA-75B1-FA11DEE8AFF2}"/>
              </a:ext>
            </a:extLst>
          </p:cNvPr>
          <p:cNvSpPr/>
          <p:nvPr/>
        </p:nvSpPr>
        <p:spPr bwMode="auto">
          <a:xfrm flipH="1">
            <a:off x="4267934" y="5617030"/>
            <a:ext cx="223033" cy="223033"/>
          </a:xfrm>
          <a:prstGeom prst="ellipse">
            <a:avLst/>
          </a:prstGeom>
          <a:solidFill>
            <a:srgbClr val="00E0CB"/>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Arial" charset="0"/>
            </a:endParaRPr>
          </a:p>
        </p:txBody>
      </p:sp>
      <p:cxnSp>
        <p:nvCxnSpPr>
          <p:cNvPr id="136" name="Elbow Connector 69">
            <a:extLst>
              <a:ext uri="{FF2B5EF4-FFF2-40B4-BE49-F238E27FC236}">
                <a16:creationId xmlns:a16="http://schemas.microsoft.com/office/drawing/2014/main" id="{768BD935-E3C2-BCAD-CCD0-1F0B83DFBDB2}"/>
              </a:ext>
            </a:extLst>
          </p:cNvPr>
          <p:cNvCxnSpPr>
            <a:stCxn id="107" idx="2"/>
            <a:endCxn id="135" idx="6"/>
          </p:cNvCxnSpPr>
          <p:nvPr/>
        </p:nvCxnSpPr>
        <p:spPr>
          <a:xfrm rot="16200000" flipH="1">
            <a:off x="2607852" y="4068465"/>
            <a:ext cx="443780" cy="2876382"/>
          </a:xfrm>
          <a:prstGeom prst="bentConnector2">
            <a:avLst/>
          </a:prstGeom>
          <a:ln w="19050">
            <a:solidFill>
              <a:srgbClr val="00E0CB"/>
            </a:solidFill>
            <a:prstDash val="solid"/>
          </a:ln>
        </p:spPr>
        <p:style>
          <a:lnRef idx="1">
            <a:schemeClr val="accent1"/>
          </a:lnRef>
          <a:fillRef idx="0">
            <a:schemeClr val="accent1"/>
          </a:fillRef>
          <a:effectRef idx="0">
            <a:schemeClr val="accent1"/>
          </a:effectRef>
          <a:fontRef idx="minor">
            <a:schemeClr val="tx1"/>
          </a:fontRef>
        </p:style>
      </p:cxnSp>
      <p:sp>
        <p:nvSpPr>
          <p:cNvPr id="137" name="Rectangle 136">
            <a:extLst>
              <a:ext uri="{FF2B5EF4-FFF2-40B4-BE49-F238E27FC236}">
                <a16:creationId xmlns:a16="http://schemas.microsoft.com/office/drawing/2014/main" id="{FA7F7C75-2B50-B84D-A33F-F782125E8710}"/>
              </a:ext>
            </a:extLst>
          </p:cNvPr>
          <p:cNvSpPr/>
          <p:nvPr/>
        </p:nvSpPr>
        <p:spPr>
          <a:xfrm>
            <a:off x="4557729" y="3107457"/>
            <a:ext cx="2710910" cy="1077218"/>
          </a:xfrm>
          <a:prstGeom prst="rect">
            <a:avLst/>
          </a:prstGeom>
          <a:noFill/>
          <a:effectLst/>
        </p:spPr>
        <p:txBody>
          <a:bodyPr wrap="square">
            <a:spAutoFit/>
          </a:bodyPr>
          <a:lstStyle/>
          <a:p>
            <a:pPr marL="0" marR="0" lvl="0" indent="0" algn="l" defTabSz="914400" rtl="0" eaLnBrk="0" fontAlgn="auto" latinLnBrk="0" hangingPunct="0">
              <a:lnSpc>
                <a:spcPct val="100000"/>
              </a:lnSpc>
              <a:spcBef>
                <a:spcPts val="0"/>
              </a:spcBef>
              <a:spcAft>
                <a:spcPts val="0"/>
              </a:spcAft>
              <a:buClr>
                <a:srgbClr val="14596B">
                  <a:lumMod val="75000"/>
                </a:srgbClr>
              </a:buClr>
              <a:buSzTx/>
              <a:buFontTx/>
              <a:buNone/>
              <a:tabLst/>
              <a:defRPr/>
            </a:pPr>
            <a:r>
              <a:rPr kumimoji="0" lang="en-US" sz="1600" b="1" i="0" u="none" strike="noStrike" kern="1200" cap="none" spc="0" normalizeH="0" baseline="0" noProof="0">
                <a:ln>
                  <a:noFill/>
                </a:ln>
                <a:solidFill>
                  <a:srgbClr val="00B2A2"/>
                </a:solidFill>
                <a:effectLst/>
                <a:uLnTx/>
                <a:uFillTx/>
                <a:latin typeface="Ubuntu" panose="020B0504030602030204" pitchFamily="34" charset="0"/>
                <a:ea typeface="Verdana" panose="020B0604030504040204" pitchFamily="34" charset="0"/>
                <a:cs typeface="+mn-cs"/>
              </a:rPr>
              <a:t>PREMIUM DATABASES</a:t>
            </a:r>
          </a:p>
          <a:p>
            <a:pPr marL="0" marR="0" lvl="0" indent="0" algn="l" defTabSz="914400" rtl="0" eaLnBrk="1" fontAlgn="base" latinLnBrk="0" hangingPunct="1">
              <a:lnSpc>
                <a:spcPct val="100000"/>
              </a:lnSpc>
              <a:spcBef>
                <a:spcPts val="0"/>
              </a:spcBef>
              <a:spcAft>
                <a:spcPts val="450"/>
              </a:spcAft>
              <a:buClrTx/>
              <a:buSzTx/>
              <a:buFontTx/>
              <a:buNone/>
              <a:tabLst/>
              <a:defRPr/>
            </a:pPr>
            <a:r>
              <a:rPr kumimoji="0" lang="en-GB" sz="1200" b="0" i="0" u="none" strike="noStrike" kern="1200" cap="none" spc="0" normalizeH="0" baseline="0" noProof="0">
                <a:ln>
                  <a:noFill/>
                </a:ln>
                <a:solidFill>
                  <a:srgbClr val="FFFFFF"/>
                </a:solidFill>
                <a:effectLst/>
                <a:uLnTx/>
                <a:uFillTx/>
                <a:latin typeface="Ubuntu" panose="020B0504030602030204" pitchFamily="34" charset="0"/>
                <a:ea typeface="Verdana" panose="020B0604030504040204" pitchFamily="34" charset="0"/>
                <a:cs typeface="+mn-cs"/>
              </a:rPr>
              <a:t>Access to market databases that provide a range of economic, operational, demographic, and other related intelligence</a:t>
            </a:r>
            <a:endParaRPr kumimoji="0" lang="en-US" sz="1200" b="0" i="0" u="none" strike="noStrike" kern="1200" cap="none" spc="0" normalizeH="0" baseline="0" noProof="0">
              <a:ln>
                <a:noFill/>
              </a:ln>
              <a:solidFill>
                <a:srgbClr val="FFFFFF"/>
              </a:solidFill>
              <a:effectLst/>
              <a:uLnTx/>
              <a:uFillTx/>
              <a:latin typeface="Ubuntu" panose="020B0504030602030204" pitchFamily="34" charset="0"/>
              <a:ea typeface="Verdana" panose="020B0604030504040204" pitchFamily="34" charset="0"/>
              <a:cs typeface="+mn-cs"/>
            </a:endParaRPr>
          </a:p>
        </p:txBody>
      </p:sp>
      <p:sp>
        <p:nvSpPr>
          <p:cNvPr id="138" name="Rectangle 137">
            <a:extLst>
              <a:ext uri="{FF2B5EF4-FFF2-40B4-BE49-F238E27FC236}">
                <a16:creationId xmlns:a16="http://schemas.microsoft.com/office/drawing/2014/main" id="{ADC9DFA3-EF18-C04B-0141-D806299F01B6}"/>
              </a:ext>
            </a:extLst>
          </p:cNvPr>
          <p:cNvSpPr/>
          <p:nvPr/>
        </p:nvSpPr>
        <p:spPr>
          <a:xfrm>
            <a:off x="4557729" y="5186256"/>
            <a:ext cx="2710910" cy="892552"/>
          </a:xfrm>
          <a:prstGeom prst="rect">
            <a:avLst/>
          </a:prstGeom>
          <a:noFill/>
          <a:effectLst/>
        </p:spPr>
        <p:txBody>
          <a:bodyPr wrap="square">
            <a:spAutoFit/>
          </a:bodyPr>
          <a:lstStyle/>
          <a:p>
            <a:pPr marL="0" marR="0" lvl="0" indent="0" algn="l" defTabSz="914400" rtl="0" eaLnBrk="0" fontAlgn="auto" latinLnBrk="0" hangingPunct="0">
              <a:lnSpc>
                <a:spcPct val="100000"/>
              </a:lnSpc>
              <a:spcBef>
                <a:spcPts val="0"/>
              </a:spcBef>
              <a:spcAft>
                <a:spcPts val="0"/>
              </a:spcAft>
              <a:buClr>
                <a:srgbClr val="14596B">
                  <a:lumMod val="75000"/>
                </a:srgbClr>
              </a:buClr>
              <a:buSzTx/>
              <a:buFontTx/>
              <a:buNone/>
              <a:tabLst/>
              <a:defRPr/>
            </a:pPr>
            <a:r>
              <a:rPr kumimoji="0" lang="en-US" sz="1600" b="1" i="0" u="none" strike="noStrike" kern="1200" cap="none" spc="0" normalizeH="0" baseline="0" noProof="0">
                <a:ln>
                  <a:noFill/>
                </a:ln>
                <a:solidFill>
                  <a:srgbClr val="00E0CB"/>
                </a:solidFill>
                <a:effectLst/>
                <a:uLnTx/>
                <a:uFillTx/>
                <a:latin typeface="Ubuntu" panose="020B0504030602030204" pitchFamily="34" charset="0"/>
                <a:ea typeface="Verdana" panose="020B0604030504040204" pitchFamily="34" charset="0"/>
                <a:cs typeface="+mn-cs"/>
              </a:rPr>
              <a:t>PUBLIC SOURCES</a:t>
            </a:r>
          </a:p>
          <a:p>
            <a:pPr marL="0" marR="0" lvl="0" indent="0" algn="l" defTabSz="914400" rtl="0" eaLnBrk="1" fontAlgn="base" latinLnBrk="0" hangingPunct="1">
              <a:lnSpc>
                <a:spcPct val="100000"/>
              </a:lnSpc>
              <a:spcBef>
                <a:spcPts val="0"/>
              </a:spcBef>
              <a:spcAft>
                <a:spcPts val="45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panose="020B0504030602030204" pitchFamily="34" charset="0"/>
                <a:ea typeface="Verdana" panose="020B0604030504040204" pitchFamily="34" charset="0"/>
                <a:cs typeface="+mn-cs"/>
              </a:rPr>
              <a:t>Publicly available information related to regional stats, industry benchmarks, key trends, etc.</a:t>
            </a:r>
          </a:p>
        </p:txBody>
      </p:sp>
      <p:grpSp>
        <p:nvGrpSpPr>
          <p:cNvPr id="139" name="Group 138">
            <a:extLst>
              <a:ext uri="{FF2B5EF4-FFF2-40B4-BE49-F238E27FC236}">
                <a16:creationId xmlns:a16="http://schemas.microsoft.com/office/drawing/2014/main" id="{8F363BDF-1B76-0B48-744D-6C1BE79C5D4E}"/>
              </a:ext>
            </a:extLst>
          </p:cNvPr>
          <p:cNvGrpSpPr/>
          <p:nvPr/>
        </p:nvGrpSpPr>
        <p:grpSpPr>
          <a:xfrm>
            <a:off x="8026971" y="1304939"/>
            <a:ext cx="3628764" cy="338554"/>
            <a:chOff x="7407735" y="1074685"/>
            <a:chExt cx="4248000" cy="338554"/>
          </a:xfrm>
        </p:grpSpPr>
        <p:sp>
          <p:nvSpPr>
            <p:cNvPr id="140" name="TextBox 139">
              <a:extLst>
                <a:ext uri="{FF2B5EF4-FFF2-40B4-BE49-F238E27FC236}">
                  <a16:creationId xmlns:a16="http://schemas.microsoft.com/office/drawing/2014/main" id="{5DC1BBDD-80CA-929B-0E42-E270BCC26CE9}"/>
                </a:ext>
              </a:extLst>
            </p:cNvPr>
            <p:cNvSpPr txBox="1"/>
            <p:nvPr/>
          </p:nvSpPr>
          <p:spPr>
            <a:xfrm>
              <a:off x="7536950" y="1074685"/>
              <a:ext cx="398957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REPRESENTATIVE SETS</a:t>
              </a:r>
            </a:p>
          </p:txBody>
        </p:sp>
        <p:cxnSp>
          <p:nvCxnSpPr>
            <p:cNvPr id="141" name="Straight Connector 140">
              <a:extLst>
                <a:ext uri="{FF2B5EF4-FFF2-40B4-BE49-F238E27FC236}">
                  <a16:creationId xmlns:a16="http://schemas.microsoft.com/office/drawing/2014/main" id="{1C2F6463-B280-50ED-D6EE-AB71352E1E42}"/>
                </a:ext>
              </a:extLst>
            </p:cNvPr>
            <p:cNvCxnSpPr>
              <a:cxnSpLocks/>
            </p:cNvCxnSpPr>
            <p:nvPr/>
          </p:nvCxnSpPr>
          <p:spPr>
            <a:xfrm>
              <a:off x="7407735" y="1413239"/>
              <a:ext cx="4248000" cy="0"/>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143" name="Isosceles Triangle 142">
            <a:extLst>
              <a:ext uri="{FF2B5EF4-FFF2-40B4-BE49-F238E27FC236}">
                <a16:creationId xmlns:a16="http://schemas.microsoft.com/office/drawing/2014/main" id="{D7761EED-83BA-C1BF-78B5-2DB252A0FD29}"/>
              </a:ext>
            </a:extLst>
          </p:cNvPr>
          <p:cNvSpPr/>
          <p:nvPr/>
        </p:nvSpPr>
        <p:spPr>
          <a:xfrm rot="5400000">
            <a:off x="6770452" y="3376490"/>
            <a:ext cx="1122236" cy="334212"/>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srgbClr val="FFFFFF"/>
              </a:solidFill>
              <a:effectLst/>
              <a:uLnTx/>
              <a:uFillTx/>
              <a:latin typeface="Ubuntu"/>
              <a:ea typeface="+mn-ea"/>
              <a:cs typeface="+mn-cs"/>
            </a:endParaRPr>
          </a:p>
        </p:txBody>
      </p:sp>
      <p:grpSp>
        <p:nvGrpSpPr>
          <p:cNvPr id="144" name="Group 143">
            <a:extLst>
              <a:ext uri="{FF2B5EF4-FFF2-40B4-BE49-F238E27FC236}">
                <a16:creationId xmlns:a16="http://schemas.microsoft.com/office/drawing/2014/main" id="{5CFC6AAA-B58C-D2EE-8655-D1DBEEDAFF9E}"/>
              </a:ext>
            </a:extLst>
          </p:cNvPr>
          <p:cNvGrpSpPr/>
          <p:nvPr/>
        </p:nvGrpSpPr>
        <p:grpSpPr>
          <a:xfrm>
            <a:off x="7709550" y="1764337"/>
            <a:ext cx="3964387" cy="1065578"/>
            <a:chOff x="7883175" y="1648587"/>
            <a:chExt cx="3964387" cy="1065578"/>
          </a:xfrm>
        </p:grpSpPr>
        <p:grpSp>
          <p:nvGrpSpPr>
            <p:cNvPr id="145" name="Group 144">
              <a:extLst>
                <a:ext uri="{FF2B5EF4-FFF2-40B4-BE49-F238E27FC236}">
                  <a16:creationId xmlns:a16="http://schemas.microsoft.com/office/drawing/2014/main" id="{148E5AF2-4FEB-2CD1-AC6F-C9DF6AC46AC0}"/>
                </a:ext>
              </a:extLst>
            </p:cNvPr>
            <p:cNvGrpSpPr/>
            <p:nvPr/>
          </p:nvGrpSpPr>
          <p:grpSpPr>
            <a:xfrm>
              <a:off x="9237892" y="1648587"/>
              <a:ext cx="1350216" cy="1048196"/>
              <a:chOff x="7775160" y="1659631"/>
              <a:chExt cx="1350216" cy="1048196"/>
            </a:xfrm>
          </p:grpSpPr>
          <p:sp>
            <p:nvSpPr>
              <p:cNvPr id="179" name="TextBox 178">
                <a:extLst>
                  <a:ext uri="{FF2B5EF4-FFF2-40B4-BE49-F238E27FC236}">
                    <a16:creationId xmlns:a16="http://schemas.microsoft.com/office/drawing/2014/main" id="{FB92390A-E04E-1610-9FBA-46D6C04D682A}"/>
                  </a:ext>
                </a:extLst>
              </p:cNvPr>
              <p:cNvSpPr txBox="1"/>
              <p:nvPr/>
            </p:nvSpPr>
            <p:spPr>
              <a:xfrm>
                <a:off x="7775160" y="2307717"/>
                <a:ext cx="1350216"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Accelerators &amp; Frameworks</a:t>
                </a:r>
              </a:p>
            </p:txBody>
          </p:sp>
          <p:grpSp>
            <p:nvGrpSpPr>
              <p:cNvPr id="180" name="Group 179">
                <a:extLst>
                  <a:ext uri="{FF2B5EF4-FFF2-40B4-BE49-F238E27FC236}">
                    <a16:creationId xmlns:a16="http://schemas.microsoft.com/office/drawing/2014/main" id="{4A76ABE1-492F-9913-0D2E-2CD22D58CA31}"/>
                  </a:ext>
                </a:extLst>
              </p:cNvPr>
              <p:cNvGrpSpPr/>
              <p:nvPr/>
            </p:nvGrpSpPr>
            <p:grpSpPr>
              <a:xfrm>
                <a:off x="8101652" y="1659631"/>
                <a:ext cx="725690" cy="683404"/>
                <a:chOff x="8166850" y="1659631"/>
                <a:chExt cx="725690" cy="683404"/>
              </a:xfrm>
            </p:grpSpPr>
            <p:sp>
              <p:nvSpPr>
                <p:cNvPr id="181" name="Freeform 124">
                  <a:extLst>
                    <a:ext uri="{FF2B5EF4-FFF2-40B4-BE49-F238E27FC236}">
                      <a16:creationId xmlns:a16="http://schemas.microsoft.com/office/drawing/2014/main" id="{194178FB-29F6-99EF-A7FD-D1EC2AD2951F}"/>
                    </a:ext>
                  </a:extLst>
                </p:cNvPr>
                <p:cNvSpPr>
                  <a:spLocks/>
                </p:cNvSpPr>
                <p:nvPr/>
              </p:nvSpPr>
              <p:spPr bwMode="auto">
                <a:xfrm>
                  <a:off x="8166850" y="1659631"/>
                  <a:ext cx="725690" cy="683404"/>
                </a:xfrm>
                <a:custGeom>
                  <a:avLst/>
                  <a:gdLst>
                    <a:gd name="T0" fmla="*/ 63 w 438"/>
                    <a:gd name="T1" fmla="*/ 320 h 410"/>
                    <a:gd name="T2" fmla="*/ 105 w 438"/>
                    <a:gd name="T3" fmla="*/ 61 h 410"/>
                    <a:gd name="T4" fmla="*/ 375 w 438"/>
                    <a:gd name="T5" fmla="*/ 99 h 410"/>
                    <a:gd name="T6" fmla="*/ 326 w 438"/>
                    <a:gd name="T7" fmla="*/ 348 h 410"/>
                    <a:gd name="T8" fmla="*/ 63 w 438"/>
                    <a:gd name="T9" fmla="*/ 320 h 410"/>
                  </a:gdLst>
                  <a:ahLst/>
                  <a:cxnLst>
                    <a:cxn ang="0">
                      <a:pos x="T0" y="T1"/>
                    </a:cxn>
                    <a:cxn ang="0">
                      <a:pos x="T2" y="T3"/>
                    </a:cxn>
                    <a:cxn ang="0">
                      <a:pos x="T4" y="T5"/>
                    </a:cxn>
                    <a:cxn ang="0">
                      <a:pos x="T6" y="T7"/>
                    </a:cxn>
                    <a:cxn ang="0">
                      <a:pos x="T8" y="T9"/>
                    </a:cxn>
                  </a:cxnLst>
                  <a:rect l="0" t="0" r="r" b="b"/>
                  <a:pathLst>
                    <a:path w="438" h="410">
                      <a:moveTo>
                        <a:pt x="63" y="320"/>
                      </a:moveTo>
                      <a:cubicBezTo>
                        <a:pt x="0" y="238"/>
                        <a:pt x="19" y="122"/>
                        <a:pt x="105" y="61"/>
                      </a:cubicBezTo>
                      <a:cubicBezTo>
                        <a:pt x="191" y="0"/>
                        <a:pt x="312" y="17"/>
                        <a:pt x="375" y="99"/>
                      </a:cubicBezTo>
                      <a:cubicBezTo>
                        <a:pt x="438" y="181"/>
                        <a:pt x="412" y="287"/>
                        <a:pt x="326" y="348"/>
                      </a:cubicBezTo>
                      <a:cubicBezTo>
                        <a:pt x="240" y="410"/>
                        <a:pt x="126" y="402"/>
                        <a:pt x="63" y="320"/>
                      </a:cubicBezTo>
                    </a:path>
                  </a:pathLst>
                </a:custGeom>
                <a:solidFill>
                  <a:schemeClr val="tx2"/>
                </a:solidFill>
                <a:ln>
                  <a:noFill/>
                </a:ln>
              </p:spPr>
              <p:txBody>
                <a:bodyPr vert="horz" wrap="square" lIns="74295" tIns="37148" rIns="74295" bIns="37148" numCol="1" anchor="t" anchorCtr="0" compatLnSpc="1">
                  <a:prstTxWarp prst="textNoShape">
                    <a:avLst/>
                  </a:prstTxWarp>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Medium"/>
                    <a:ea typeface="+mn-ea"/>
                    <a:cs typeface="+mn-cs"/>
                  </a:endParaRPr>
                </a:p>
              </p:txBody>
            </p:sp>
            <p:grpSp>
              <p:nvGrpSpPr>
                <p:cNvPr id="182" name="Group 181">
                  <a:extLst>
                    <a:ext uri="{FF2B5EF4-FFF2-40B4-BE49-F238E27FC236}">
                      <a16:creationId xmlns:a16="http://schemas.microsoft.com/office/drawing/2014/main" id="{30EE4E8C-C890-9B53-7F16-F6AEC3DD071B}"/>
                    </a:ext>
                  </a:extLst>
                </p:cNvPr>
                <p:cNvGrpSpPr/>
                <p:nvPr/>
              </p:nvGrpSpPr>
              <p:grpSpPr>
                <a:xfrm>
                  <a:off x="8305235" y="1791576"/>
                  <a:ext cx="448919" cy="419502"/>
                  <a:chOff x="-865188" y="2224088"/>
                  <a:chExt cx="1477964" cy="1381125"/>
                </a:xfrm>
                <a:solidFill>
                  <a:schemeClr val="bg1"/>
                </a:solidFill>
              </p:grpSpPr>
              <p:sp>
                <p:nvSpPr>
                  <p:cNvPr id="183" name="Freeform 18">
                    <a:extLst>
                      <a:ext uri="{FF2B5EF4-FFF2-40B4-BE49-F238E27FC236}">
                        <a16:creationId xmlns:a16="http://schemas.microsoft.com/office/drawing/2014/main" id="{1C466693-CB0E-0297-833C-D347639B3FB9}"/>
                      </a:ext>
                    </a:extLst>
                  </p:cNvPr>
                  <p:cNvSpPr>
                    <a:spLocks/>
                  </p:cNvSpPr>
                  <p:nvPr/>
                </p:nvSpPr>
                <p:spPr bwMode="auto">
                  <a:xfrm>
                    <a:off x="-112712" y="2224088"/>
                    <a:ext cx="542925" cy="236538"/>
                  </a:xfrm>
                  <a:custGeom>
                    <a:avLst/>
                    <a:gdLst>
                      <a:gd name="T0" fmla="*/ 11 w 280"/>
                      <a:gd name="T1" fmla="*/ 82 h 122"/>
                      <a:gd name="T2" fmla="*/ 140 w 280"/>
                      <a:gd name="T3" fmla="*/ 122 h 122"/>
                      <a:gd name="T4" fmla="*/ 280 w 280"/>
                      <a:gd name="T5" fmla="*/ 61 h 122"/>
                      <a:gd name="T6" fmla="*/ 140 w 280"/>
                      <a:gd name="T7" fmla="*/ 0 h 122"/>
                      <a:gd name="T8" fmla="*/ 0 w 280"/>
                      <a:gd name="T9" fmla="*/ 61 h 122"/>
                      <a:gd name="T10" fmla="*/ 0 w 280"/>
                      <a:gd name="T11" fmla="*/ 61 h 122"/>
                      <a:gd name="T12" fmla="*/ 11 w 280"/>
                      <a:gd name="T13" fmla="*/ 82 h 122"/>
                    </a:gdLst>
                    <a:ahLst/>
                    <a:cxnLst>
                      <a:cxn ang="0">
                        <a:pos x="T0" y="T1"/>
                      </a:cxn>
                      <a:cxn ang="0">
                        <a:pos x="T2" y="T3"/>
                      </a:cxn>
                      <a:cxn ang="0">
                        <a:pos x="T4" y="T5"/>
                      </a:cxn>
                      <a:cxn ang="0">
                        <a:pos x="T6" y="T7"/>
                      </a:cxn>
                      <a:cxn ang="0">
                        <a:pos x="T8" y="T9"/>
                      </a:cxn>
                      <a:cxn ang="0">
                        <a:pos x="T10" y="T11"/>
                      </a:cxn>
                      <a:cxn ang="0">
                        <a:pos x="T12" y="T13"/>
                      </a:cxn>
                    </a:cxnLst>
                    <a:rect l="0" t="0" r="r" b="b"/>
                    <a:pathLst>
                      <a:path w="280" h="122">
                        <a:moveTo>
                          <a:pt x="11" y="82"/>
                        </a:moveTo>
                        <a:cubicBezTo>
                          <a:pt x="31" y="104"/>
                          <a:pt x="80" y="122"/>
                          <a:pt x="140" y="122"/>
                        </a:cubicBezTo>
                        <a:cubicBezTo>
                          <a:pt x="220" y="122"/>
                          <a:pt x="280" y="90"/>
                          <a:pt x="280" y="61"/>
                        </a:cubicBezTo>
                        <a:cubicBezTo>
                          <a:pt x="280" y="35"/>
                          <a:pt x="227" y="0"/>
                          <a:pt x="140" y="0"/>
                        </a:cubicBezTo>
                        <a:cubicBezTo>
                          <a:pt x="53" y="0"/>
                          <a:pt x="0" y="35"/>
                          <a:pt x="0" y="61"/>
                        </a:cubicBezTo>
                        <a:cubicBezTo>
                          <a:pt x="0" y="61"/>
                          <a:pt x="0" y="61"/>
                          <a:pt x="0" y="61"/>
                        </a:cubicBezTo>
                        <a:cubicBezTo>
                          <a:pt x="0" y="68"/>
                          <a:pt x="4" y="75"/>
                          <a:pt x="11" y="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84" name="Freeform 19">
                    <a:extLst>
                      <a:ext uri="{FF2B5EF4-FFF2-40B4-BE49-F238E27FC236}">
                        <a16:creationId xmlns:a16="http://schemas.microsoft.com/office/drawing/2014/main" id="{651AEC90-C701-64E6-6119-7FE5B220D4DA}"/>
                      </a:ext>
                    </a:extLst>
                  </p:cNvPr>
                  <p:cNvSpPr>
                    <a:spLocks/>
                  </p:cNvSpPr>
                  <p:nvPr/>
                </p:nvSpPr>
                <p:spPr bwMode="auto">
                  <a:xfrm>
                    <a:off x="-112712" y="2492375"/>
                    <a:ext cx="542925" cy="242888"/>
                  </a:xfrm>
                  <a:custGeom>
                    <a:avLst/>
                    <a:gdLst>
                      <a:gd name="T0" fmla="*/ 140 w 280"/>
                      <a:gd name="T1" fmla="*/ 35 h 125"/>
                      <a:gd name="T2" fmla="*/ 140 w 280"/>
                      <a:gd name="T3" fmla="*/ 35 h 125"/>
                      <a:gd name="T4" fmla="*/ 140 w 280"/>
                      <a:gd name="T5" fmla="*/ 35 h 125"/>
                      <a:gd name="T6" fmla="*/ 0 w 280"/>
                      <a:gd name="T7" fmla="*/ 0 h 125"/>
                      <a:gd name="T8" fmla="*/ 0 w 280"/>
                      <a:gd name="T9" fmla="*/ 64 h 125"/>
                      <a:gd name="T10" fmla="*/ 140 w 280"/>
                      <a:gd name="T11" fmla="*/ 125 h 125"/>
                      <a:gd name="T12" fmla="*/ 280 w 280"/>
                      <a:gd name="T13" fmla="*/ 64 h 125"/>
                      <a:gd name="T14" fmla="*/ 280 w 280"/>
                      <a:gd name="T15" fmla="*/ 63 h 125"/>
                      <a:gd name="T16" fmla="*/ 280 w 280"/>
                      <a:gd name="T17" fmla="*/ 0 h 125"/>
                      <a:gd name="T18" fmla="*/ 279 w 280"/>
                      <a:gd name="T19" fmla="*/ 1 h 125"/>
                      <a:gd name="T20" fmla="*/ 140 w 280"/>
                      <a:gd name="T21" fmla="*/ 3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0" h="125">
                        <a:moveTo>
                          <a:pt x="140" y="35"/>
                        </a:moveTo>
                        <a:cubicBezTo>
                          <a:pt x="140" y="35"/>
                          <a:pt x="140" y="35"/>
                          <a:pt x="140" y="35"/>
                        </a:cubicBezTo>
                        <a:cubicBezTo>
                          <a:pt x="140" y="35"/>
                          <a:pt x="140" y="35"/>
                          <a:pt x="140" y="35"/>
                        </a:cubicBezTo>
                        <a:cubicBezTo>
                          <a:pt x="93" y="34"/>
                          <a:pt x="40" y="25"/>
                          <a:pt x="0" y="0"/>
                        </a:cubicBezTo>
                        <a:cubicBezTo>
                          <a:pt x="0" y="64"/>
                          <a:pt x="0" y="64"/>
                          <a:pt x="0" y="64"/>
                        </a:cubicBezTo>
                        <a:cubicBezTo>
                          <a:pt x="0" y="93"/>
                          <a:pt x="60" y="125"/>
                          <a:pt x="140" y="125"/>
                        </a:cubicBezTo>
                        <a:cubicBezTo>
                          <a:pt x="220" y="125"/>
                          <a:pt x="280" y="92"/>
                          <a:pt x="280" y="64"/>
                        </a:cubicBezTo>
                        <a:cubicBezTo>
                          <a:pt x="280" y="64"/>
                          <a:pt x="280" y="63"/>
                          <a:pt x="280" y="63"/>
                        </a:cubicBezTo>
                        <a:cubicBezTo>
                          <a:pt x="280" y="0"/>
                          <a:pt x="280" y="0"/>
                          <a:pt x="280" y="0"/>
                        </a:cubicBezTo>
                        <a:cubicBezTo>
                          <a:pt x="280" y="1"/>
                          <a:pt x="279" y="1"/>
                          <a:pt x="279" y="1"/>
                        </a:cubicBezTo>
                        <a:cubicBezTo>
                          <a:pt x="239" y="25"/>
                          <a:pt x="187" y="34"/>
                          <a:pt x="14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85" name="Freeform 20">
                    <a:extLst>
                      <a:ext uri="{FF2B5EF4-FFF2-40B4-BE49-F238E27FC236}">
                        <a16:creationId xmlns:a16="http://schemas.microsoft.com/office/drawing/2014/main" id="{393EFB67-8F0C-4947-6C89-2C9105857805}"/>
                      </a:ext>
                    </a:extLst>
                  </p:cNvPr>
                  <p:cNvSpPr>
                    <a:spLocks/>
                  </p:cNvSpPr>
                  <p:nvPr/>
                </p:nvSpPr>
                <p:spPr bwMode="auto">
                  <a:xfrm>
                    <a:off x="-600075" y="3362325"/>
                    <a:ext cx="542925" cy="242888"/>
                  </a:xfrm>
                  <a:custGeom>
                    <a:avLst/>
                    <a:gdLst>
                      <a:gd name="T0" fmla="*/ 0 w 280"/>
                      <a:gd name="T1" fmla="*/ 0 h 125"/>
                      <a:gd name="T2" fmla="*/ 0 w 280"/>
                      <a:gd name="T3" fmla="*/ 64 h 125"/>
                      <a:gd name="T4" fmla="*/ 140 w 280"/>
                      <a:gd name="T5" fmla="*/ 125 h 125"/>
                      <a:gd name="T6" fmla="*/ 280 w 280"/>
                      <a:gd name="T7" fmla="*/ 64 h 125"/>
                      <a:gd name="T8" fmla="*/ 280 w 280"/>
                      <a:gd name="T9" fmla="*/ 0 h 125"/>
                      <a:gd name="T10" fmla="*/ 140 w 280"/>
                      <a:gd name="T11" fmla="*/ 35 h 125"/>
                      <a:gd name="T12" fmla="*/ 0 w 280"/>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280" h="125">
                        <a:moveTo>
                          <a:pt x="0" y="0"/>
                        </a:moveTo>
                        <a:cubicBezTo>
                          <a:pt x="0" y="64"/>
                          <a:pt x="0" y="64"/>
                          <a:pt x="0" y="64"/>
                        </a:cubicBezTo>
                        <a:cubicBezTo>
                          <a:pt x="0" y="93"/>
                          <a:pt x="59" y="125"/>
                          <a:pt x="140" y="125"/>
                        </a:cubicBezTo>
                        <a:cubicBezTo>
                          <a:pt x="219" y="125"/>
                          <a:pt x="279" y="93"/>
                          <a:pt x="280" y="64"/>
                        </a:cubicBezTo>
                        <a:cubicBezTo>
                          <a:pt x="280" y="0"/>
                          <a:pt x="280" y="0"/>
                          <a:pt x="280" y="0"/>
                        </a:cubicBezTo>
                        <a:cubicBezTo>
                          <a:pt x="245" y="22"/>
                          <a:pt x="196" y="35"/>
                          <a:pt x="140" y="35"/>
                        </a:cubicBezTo>
                        <a:cubicBezTo>
                          <a:pt x="83" y="35"/>
                          <a:pt x="34" y="2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86" name="Freeform 21">
                    <a:extLst>
                      <a:ext uri="{FF2B5EF4-FFF2-40B4-BE49-F238E27FC236}">
                        <a16:creationId xmlns:a16="http://schemas.microsoft.com/office/drawing/2014/main" id="{B88748BF-3F23-7C7F-03CD-9879E691F16E}"/>
                      </a:ext>
                    </a:extLst>
                  </p:cNvPr>
                  <p:cNvSpPr>
                    <a:spLocks/>
                  </p:cNvSpPr>
                  <p:nvPr/>
                </p:nvSpPr>
                <p:spPr bwMode="auto">
                  <a:xfrm>
                    <a:off x="-865188" y="2516188"/>
                    <a:ext cx="808038" cy="541338"/>
                  </a:xfrm>
                  <a:custGeom>
                    <a:avLst/>
                    <a:gdLst>
                      <a:gd name="T0" fmla="*/ 277 w 417"/>
                      <a:gd name="T1" fmla="*/ 157 h 279"/>
                      <a:gd name="T2" fmla="*/ 228 w 417"/>
                      <a:gd name="T3" fmla="*/ 162 h 279"/>
                      <a:gd name="T4" fmla="*/ 228 w 417"/>
                      <a:gd name="T5" fmla="*/ 12 h 279"/>
                      <a:gd name="T6" fmla="*/ 216 w 417"/>
                      <a:gd name="T7" fmla="*/ 0 h 279"/>
                      <a:gd name="T8" fmla="*/ 13 w 417"/>
                      <a:gd name="T9" fmla="*/ 0 h 279"/>
                      <a:gd name="T10" fmla="*/ 0 w 417"/>
                      <a:gd name="T11" fmla="*/ 12 h 279"/>
                      <a:gd name="T12" fmla="*/ 13 w 417"/>
                      <a:gd name="T13" fmla="*/ 25 h 279"/>
                      <a:gd name="T14" fmla="*/ 203 w 417"/>
                      <a:gd name="T15" fmla="*/ 25 h 279"/>
                      <a:gd name="T16" fmla="*/ 203 w 417"/>
                      <a:gd name="T17" fmla="*/ 167 h 279"/>
                      <a:gd name="T18" fmla="*/ 137 w 417"/>
                      <a:gd name="T19" fmla="*/ 218 h 279"/>
                      <a:gd name="T20" fmla="*/ 277 w 417"/>
                      <a:gd name="T21" fmla="*/ 279 h 279"/>
                      <a:gd name="T22" fmla="*/ 417 w 417"/>
                      <a:gd name="T23" fmla="*/ 218 h 279"/>
                      <a:gd name="T24" fmla="*/ 277 w 417"/>
                      <a:gd name="T25" fmla="*/ 157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7" h="279">
                        <a:moveTo>
                          <a:pt x="277" y="157"/>
                        </a:moveTo>
                        <a:cubicBezTo>
                          <a:pt x="259" y="157"/>
                          <a:pt x="243" y="159"/>
                          <a:pt x="228" y="162"/>
                        </a:cubicBezTo>
                        <a:cubicBezTo>
                          <a:pt x="228" y="12"/>
                          <a:pt x="228" y="12"/>
                          <a:pt x="228" y="12"/>
                        </a:cubicBezTo>
                        <a:cubicBezTo>
                          <a:pt x="228" y="5"/>
                          <a:pt x="223" y="0"/>
                          <a:pt x="216" y="0"/>
                        </a:cubicBezTo>
                        <a:cubicBezTo>
                          <a:pt x="13" y="0"/>
                          <a:pt x="13" y="0"/>
                          <a:pt x="13" y="0"/>
                        </a:cubicBezTo>
                        <a:cubicBezTo>
                          <a:pt x="6" y="0"/>
                          <a:pt x="0" y="5"/>
                          <a:pt x="0" y="12"/>
                        </a:cubicBezTo>
                        <a:cubicBezTo>
                          <a:pt x="0" y="19"/>
                          <a:pt x="6" y="25"/>
                          <a:pt x="13" y="25"/>
                        </a:cubicBezTo>
                        <a:cubicBezTo>
                          <a:pt x="203" y="25"/>
                          <a:pt x="203" y="25"/>
                          <a:pt x="203" y="25"/>
                        </a:cubicBezTo>
                        <a:cubicBezTo>
                          <a:pt x="203" y="167"/>
                          <a:pt x="203" y="167"/>
                          <a:pt x="203" y="167"/>
                        </a:cubicBezTo>
                        <a:cubicBezTo>
                          <a:pt x="161" y="180"/>
                          <a:pt x="137" y="201"/>
                          <a:pt x="137" y="218"/>
                        </a:cubicBezTo>
                        <a:cubicBezTo>
                          <a:pt x="137" y="247"/>
                          <a:pt x="196" y="279"/>
                          <a:pt x="277" y="279"/>
                        </a:cubicBezTo>
                        <a:cubicBezTo>
                          <a:pt x="357" y="279"/>
                          <a:pt x="417" y="247"/>
                          <a:pt x="417" y="218"/>
                        </a:cubicBezTo>
                        <a:cubicBezTo>
                          <a:pt x="417" y="193"/>
                          <a:pt x="363" y="157"/>
                          <a:pt x="277" y="1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87" name="Freeform 22">
                    <a:extLst>
                      <a:ext uri="{FF2B5EF4-FFF2-40B4-BE49-F238E27FC236}">
                        <a16:creationId xmlns:a16="http://schemas.microsoft.com/office/drawing/2014/main" id="{85838892-0C58-DD92-B373-7CB19C2BC44B}"/>
                      </a:ext>
                    </a:extLst>
                  </p:cNvPr>
                  <p:cNvSpPr>
                    <a:spLocks/>
                  </p:cNvSpPr>
                  <p:nvPr/>
                </p:nvSpPr>
                <p:spPr bwMode="auto">
                  <a:xfrm>
                    <a:off x="-600075" y="3090863"/>
                    <a:ext cx="542925" cy="241300"/>
                  </a:xfrm>
                  <a:custGeom>
                    <a:avLst/>
                    <a:gdLst>
                      <a:gd name="T0" fmla="*/ 140 w 280"/>
                      <a:gd name="T1" fmla="*/ 34 h 124"/>
                      <a:gd name="T2" fmla="*/ 0 w 280"/>
                      <a:gd name="T3" fmla="*/ 0 h 124"/>
                      <a:gd name="T4" fmla="*/ 0 w 280"/>
                      <a:gd name="T5" fmla="*/ 63 h 124"/>
                      <a:gd name="T6" fmla="*/ 140 w 280"/>
                      <a:gd name="T7" fmla="*/ 124 h 124"/>
                      <a:gd name="T8" fmla="*/ 267 w 280"/>
                      <a:gd name="T9" fmla="*/ 86 h 124"/>
                      <a:gd name="T10" fmla="*/ 268 w 280"/>
                      <a:gd name="T11" fmla="*/ 85 h 124"/>
                      <a:gd name="T12" fmla="*/ 280 w 280"/>
                      <a:gd name="T13" fmla="*/ 64 h 124"/>
                      <a:gd name="T14" fmla="*/ 280 w 280"/>
                      <a:gd name="T15" fmla="*/ 63 h 124"/>
                      <a:gd name="T16" fmla="*/ 280 w 280"/>
                      <a:gd name="T17" fmla="*/ 63 h 124"/>
                      <a:gd name="T18" fmla="*/ 280 w 280"/>
                      <a:gd name="T19" fmla="*/ 0 h 124"/>
                      <a:gd name="T20" fmla="*/ 140 w 280"/>
                      <a:gd name="T21" fmla="*/ 3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0" h="124">
                        <a:moveTo>
                          <a:pt x="140" y="34"/>
                        </a:moveTo>
                        <a:cubicBezTo>
                          <a:pt x="93" y="34"/>
                          <a:pt x="39" y="25"/>
                          <a:pt x="0" y="0"/>
                        </a:cubicBezTo>
                        <a:cubicBezTo>
                          <a:pt x="0" y="63"/>
                          <a:pt x="0" y="63"/>
                          <a:pt x="0" y="63"/>
                        </a:cubicBezTo>
                        <a:cubicBezTo>
                          <a:pt x="0" y="92"/>
                          <a:pt x="59" y="124"/>
                          <a:pt x="140" y="124"/>
                        </a:cubicBezTo>
                        <a:cubicBezTo>
                          <a:pt x="198" y="124"/>
                          <a:pt x="246" y="107"/>
                          <a:pt x="267" y="86"/>
                        </a:cubicBezTo>
                        <a:cubicBezTo>
                          <a:pt x="268" y="86"/>
                          <a:pt x="268" y="86"/>
                          <a:pt x="268" y="85"/>
                        </a:cubicBezTo>
                        <a:cubicBezTo>
                          <a:pt x="275" y="78"/>
                          <a:pt x="279" y="71"/>
                          <a:pt x="280" y="64"/>
                        </a:cubicBezTo>
                        <a:cubicBezTo>
                          <a:pt x="280" y="63"/>
                          <a:pt x="280" y="63"/>
                          <a:pt x="280" y="63"/>
                        </a:cubicBezTo>
                        <a:cubicBezTo>
                          <a:pt x="280" y="63"/>
                          <a:pt x="280" y="63"/>
                          <a:pt x="280" y="63"/>
                        </a:cubicBezTo>
                        <a:cubicBezTo>
                          <a:pt x="280" y="0"/>
                          <a:pt x="280" y="0"/>
                          <a:pt x="280" y="0"/>
                        </a:cubicBezTo>
                        <a:cubicBezTo>
                          <a:pt x="248" y="19"/>
                          <a:pt x="199" y="34"/>
                          <a:pt x="14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88" name="Freeform 23">
                    <a:extLst>
                      <a:ext uri="{FF2B5EF4-FFF2-40B4-BE49-F238E27FC236}">
                        <a16:creationId xmlns:a16="http://schemas.microsoft.com/office/drawing/2014/main" id="{06FAEDD6-6817-51E5-3CA8-FF4FF5520BC5}"/>
                      </a:ext>
                    </a:extLst>
                  </p:cNvPr>
                  <p:cNvSpPr>
                    <a:spLocks/>
                  </p:cNvSpPr>
                  <p:nvPr/>
                </p:nvSpPr>
                <p:spPr bwMode="auto">
                  <a:xfrm>
                    <a:off x="-39687" y="2767013"/>
                    <a:ext cx="469900" cy="242888"/>
                  </a:xfrm>
                  <a:custGeom>
                    <a:avLst/>
                    <a:gdLst>
                      <a:gd name="T0" fmla="*/ 41 w 242"/>
                      <a:gd name="T1" fmla="*/ 118 h 125"/>
                      <a:gd name="T2" fmla="*/ 102 w 242"/>
                      <a:gd name="T3" fmla="*/ 125 h 125"/>
                      <a:gd name="T4" fmla="*/ 242 w 242"/>
                      <a:gd name="T5" fmla="*/ 63 h 125"/>
                      <a:gd name="T6" fmla="*/ 242 w 242"/>
                      <a:gd name="T7" fmla="*/ 0 h 125"/>
                      <a:gd name="T8" fmla="*/ 102 w 242"/>
                      <a:gd name="T9" fmla="*/ 34 h 125"/>
                      <a:gd name="T10" fmla="*/ 0 w 242"/>
                      <a:gd name="T11" fmla="*/ 18 h 125"/>
                      <a:gd name="T12" fmla="*/ 41 w 242"/>
                      <a:gd name="T13" fmla="*/ 89 h 125"/>
                      <a:gd name="T14" fmla="*/ 41 w 242"/>
                      <a:gd name="T15" fmla="*/ 118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2" h="125">
                        <a:moveTo>
                          <a:pt x="41" y="118"/>
                        </a:moveTo>
                        <a:cubicBezTo>
                          <a:pt x="60" y="122"/>
                          <a:pt x="81" y="125"/>
                          <a:pt x="102" y="125"/>
                        </a:cubicBezTo>
                        <a:cubicBezTo>
                          <a:pt x="182" y="125"/>
                          <a:pt x="242" y="92"/>
                          <a:pt x="242" y="63"/>
                        </a:cubicBezTo>
                        <a:cubicBezTo>
                          <a:pt x="242" y="0"/>
                          <a:pt x="242" y="0"/>
                          <a:pt x="242" y="0"/>
                        </a:cubicBezTo>
                        <a:cubicBezTo>
                          <a:pt x="208" y="21"/>
                          <a:pt x="159" y="34"/>
                          <a:pt x="102" y="34"/>
                        </a:cubicBezTo>
                        <a:cubicBezTo>
                          <a:pt x="64" y="34"/>
                          <a:pt x="29" y="28"/>
                          <a:pt x="0" y="18"/>
                        </a:cubicBezTo>
                        <a:cubicBezTo>
                          <a:pt x="26" y="37"/>
                          <a:pt x="41" y="62"/>
                          <a:pt x="41" y="89"/>
                        </a:cubicBezTo>
                        <a:lnTo>
                          <a:pt x="41" y="1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89" name="Freeform 24">
                    <a:extLst>
                      <a:ext uri="{FF2B5EF4-FFF2-40B4-BE49-F238E27FC236}">
                        <a16:creationId xmlns:a16="http://schemas.microsoft.com/office/drawing/2014/main" id="{ACCBC9D6-2B4D-1E30-7974-7159FC8D6C7E}"/>
                      </a:ext>
                    </a:extLst>
                  </p:cNvPr>
                  <p:cNvSpPr>
                    <a:spLocks/>
                  </p:cNvSpPr>
                  <p:nvPr/>
                </p:nvSpPr>
                <p:spPr bwMode="auto">
                  <a:xfrm>
                    <a:off x="39688" y="3040063"/>
                    <a:ext cx="573088" cy="544513"/>
                  </a:xfrm>
                  <a:custGeom>
                    <a:avLst/>
                    <a:gdLst>
                      <a:gd name="T0" fmla="*/ 282 w 295"/>
                      <a:gd name="T1" fmla="*/ 255 h 280"/>
                      <a:gd name="T2" fmla="*/ 92 w 295"/>
                      <a:gd name="T3" fmla="*/ 255 h 280"/>
                      <a:gd name="T4" fmla="*/ 92 w 295"/>
                      <a:gd name="T5" fmla="*/ 123 h 280"/>
                      <a:gd name="T6" fmla="*/ 201 w 295"/>
                      <a:gd name="T7" fmla="*/ 63 h 280"/>
                      <a:gd name="T8" fmla="*/ 201 w 295"/>
                      <a:gd name="T9" fmla="*/ 0 h 280"/>
                      <a:gd name="T10" fmla="*/ 61 w 295"/>
                      <a:gd name="T11" fmla="*/ 34 h 280"/>
                      <a:gd name="T12" fmla="*/ 0 w 295"/>
                      <a:gd name="T13" fmla="*/ 29 h 280"/>
                      <a:gd name="T14" fmla="*/ 0 w 295"/>
                      <a:gd name="T15" fmla="*/ 118 h 280"/>
                      <a:gd name="T16" fmla="*/ 61 w 295"/>
                      <a:gd name="T17" fmla="*/ 124 h 280"/>
                      <a:gd name="T18" fmla="*/ 67 w 295"/>
                      <a:gd name="T19" fmla="*/ 124 h 280"/>
                      <a:gd name="T20" fmla="*/ 67 w 295"/>
                      <a:gd name="T21" fmla="*/ 267 h 280"/>
                      <a:gd name="T22" fmla="*/ 79 w 295"/>
                      <a:gd name="T23" fmla="*/ 280 h 280"/>
                      <a:gd name="T24" fmla="*/ 282 w 295"/>
                      <a:gd name="T25" fmla="*/ 280 h 280"/>
                      <a:gd name="T26" fmla="*/ 295 w 295"/>
                      <a:gd name="T27" fmla="*/ 267 h 280"/>
                      <a:gd name="T28" fmla="*/ 282 w 295"/>
                      <a:gd name="T29" fmla="*/ 255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5" h="280">
                        <a:moveTo>
                          <a:pt x="282" y="255"/>
                        </a:moveTo>
                        <a:cubicBezTo>
                          <a:pt x="92" y="255"/>
                          <a:pt x="92" y="255"/>
                          <a:pt x="92" y="255"/>
                        </a:cubicBezTo>
                        <a:cubicBezTo>
                          <a:pt x="92" y="123"/>
                          <a:pt x="92" y="123"/>
                          <a:pt x="92" y="123"/>
                        </a:cubicBezTo>
                        <a:cubicBezTo>
                          <a:pt x="156" y="116"/>
                          <a:pt x="201" y="88"/>
                          <a:pt x="201" y="63"/>
                        </a:cubicBezTo>
                        <a:cubicBezTo>
                          <a:pt x="201" y="0"/>
                          <a:pt x="201" y="0"/>
                          <a:pt x="201" y="0"/>
                        </a:cubicBezTo>
                        <a:cubicBezTo>
                          <a:pt x="167" y="21"/>
                          <a:pt x="118" y="34"/>
                          <a:pt x="61" y="34"/>
                        </a:cubicBezTo>
                        <a:cubicBezTo>
                          <a:pt x="40" y="34"/>
                          <a:pt x="20" y="32"/>
                          <a:pt x="0" y="29"/>
                        </a:cubicBezTo>
                        <a:cubicBezTo>
                          <a:pt x="0" y="118"/>
                          <a:pt x="0" y="118"/>
                          <a:pt x="0" y="118"/>
                        </a:cubicBezTo>
                        <a:cubicBezTo>
                          <a:pt x="19" y="122"/>
                          <a:pt x="40" y="124"/>
                          <a:pt x="61" y="124"/>
                        </a:cubicBezTo>
                        <a:cubicBezTo>
                          <a:pt x="63" y="124"/>
                          <a:pt x="65" y="124"/>
                          <a:pt x="67" y="124"/>
                        </a:cubicBezTo>
                        <a:cubicBezTo>
                          <a:pt x="67" y="267"/>
                          <a:pt x="67" y="267"/>
                          <a:pt x="67" y="267"/>
                        </a:cubicBezTo>
                        <a:cubicBezTo>
                          <a:pt x="67" y="274"/>
                          <a:pt x="72" y="280"/>
                          <a:pt x="79" y="280"/>
                        </a:cubicBezTo>
                        <a:cubicBezTo>
                          <a:pt x="282" y="280"/>
                          <a:pt x="282" y="280"/>
                          <a:pt x="282" y="280"/>
                        </a:cubicBezTo>
                        <a:cubicBezTo>
                          <a:pt x="289" y="280"/>
                          <a:pt x="295" y="274"/>
                          <a:pt x="295" y="267"/>
                        </a:cubicBezTo>
                        <a:cubicBezTo>
                          <a:pt x="295" y="260"/>
                          <a:pt x="289" y="255"/>
                          <a:pt x="28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90" name="Freeform 25">
                    <a:extLst>
                      <a:ext uri="{FF2B5EF4-FFF2-40B4-BE49-F238E27FC236}">
                        <a16:creationId xmlns:a16="http://schemas.microsoft.com/office/drawing/2014/main" id="{D093EF70-CDD8-4796-B797-1ABAD3FEA6B8}"/>
                      </a:ext>
                    </a:extLst>
                  </p:cNvPr>
                  <p:cNvSpPr>
                    <a:spLocks/>
                  </p:cNvSpPr>
                  <p:nvPr/>
                </p:nvSpPr>
                <p:spPr bwMode="auto">
                  <a:xfrm>
                    <a:off x="317500" y="3436938"/>
                    <a:ext cx="295275" cy="47625"/>
                  </a:xfrm>
                  <a:custGeom>
                    <a:avLst/>
                    <a:gdLst>
                      <a:gd name="T0" fmla="*/ 0 w 152"/>
                      <a:gd name="T1" fmla="*/ 13 h 25"/>
                      <a:gd name="T2" fmla="*/ 12 w 152"/>
                      <a:gd name="T3" fmla="*/ 25 h 25"/>
                      <a:gd name="T4" fmla="*/ 139 w 152"/>
                      <a:gd name="T5" fmla="*/ 25 h 25"/>
                      <a:gd name="T6" fmla="*/ 152 w 152"/>
                      <a:gd name="T7" fmla="*/ 13 h 25"/>
                      <a:gd name="T8" fmla="*/ 139 w 152"/>
                      <a:gd name="T9" fmla="*/ 0 h 25"/>
                      <a:gd name="T10" fmla="*/ 12 w 152"/>
                      <a:gd name="T11" fmla="*/ 0 h 25"/>
                      <a:gd name="T12" fmla="*/ 0 w 152"/>
                      <a:gd name="T13" fmla="*/ 13 h 25"/>
                    </a:gdLst>
                    <a:ahLst/>
                    <a:cxnLst>
                      <a:cxn ang="0">
                        <a:pos x="T0" y="T1"/>
                      </a:cxn>
                      <a:cxn ang="0">
                        <a:pos x="T2" y="T3"/>
                      </a:cxn>
                      <a:cxn ang="0">
                        <a:pos x="T4" y="T5"/>
                      </a:cxn>
                      <a:cxn ang="0">
                        <a:pos x="T6" y="T7"/>
                      </a:cxn>
                      <a:cxn ang="0">
                        <a:pos x="T8" y="T9"/>
                      </a:cxn>
                      <a:cxn ang="0">
                        <a:pos x="T10" y="T11"/>
                      </a:cxn>
                      <a:cxn ang="0">
                        <a:pos x="T12" y="T13"/>
                      </a:cxn>
                    </a:cxnLst>
                    <a:rect l="0" t="0" r="r" b="b"/>
                    <a:pathLst>
                      <a:path w="152" h="25">
                        <a:moveTo>
                          <a:pt x="0" y="13"/>
                        </a:moveTo>
                        <a:cubicBezTo>
                          <a:pt x="0" y="20"/>
                          <a:pt x="5" y="25"/>
                          <a:pt x="12" y="25"/>
                        </a:cubicBezTo>
                        <a:cubicBezTo>
                          <a:pt x="139" y="25"/>
                          <a:pt x="139" y="25"/>
                          <a:pt x="139" y="25"/>
                        </a:cubicBezTo>
                        <a:cubicBezTo>
                          <a:pt x="146" y="25"/>
                          <a:pt x="152" y="20"/>
                          <a:pt x="152" y="13"/>
                        </a:cubicBezTo>
                        <a:cubicBezTo>
                          <a:pt x="152" y="6"/>
                          <a:pt x="146" y="0"/>
                          <a:pt x="139" y="0"/>
                        </a:cubicBezTo>
                        <a:cubicBezTo>
                          <a:pt x="12" y="0"/>
                          <a:pt x="12" y="0"/>
                          <a:pt x="12" y="0"/>
                        </a:cubicBezTo>
                        <a:cubicBezTo>
                          <a:pt x="5" y="0"/>
                          <a:pt x="0" y="6"/>
                          <a:pt x="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91" name="Freeform 26">
                    <a:extLst>
                      <a:ext uri="{FF2B5EF4-FFF2-40B4-BE49-F238E27FC236}">
                        <a16:creationId xmlns:a16="http://schemas.microsoft.com/office/drawing/2014/main" id="{94569D3B-D782-6D5E-1D9D-66A1E04F4126}"/>
                      </a:ext>
                    </a:extLst>
                  </p:cNvPr>
                  <p:cNvSpPr>
                    <a:spLocks/>
                  </p:cNvSpPr>
                  <p:nvPr/>
                </p:nvSpPr>
                <p:spPr bwMode="auto">
                  <a:xfrm>
                    <a:off x="-865188" y="2614613"/>
                    <a:ext cx="296863" cy="49213"/>
                  </a:xfrm>
                  <a:custGeom>
                    <a:avLst/>
                    <a:gdLst>
                      <a:gd name="T0" fmla="*/ 153 w 153"/>
                      <a:gd name="T1" fmla="*/ 12 h 25"/>
                      <a:gd name="T2" fmla="*/ 140 w 153"/>
                      <a:gd name="T3" fmla="*/ 0 h 25"/>
                      <a:gd name="T4" fmla="*/ 13 w 153"/>
                      <a:gd name="T5" fmla="*/ 0 h 25"/>
                      <a:gd name="T6" fmla="*/ 0 w 153"/>
                      <a:gd name="T7" fmla="*/ 12 h 25"/>
                      <a:gd name="T8" fmla="*/ 13 w 153"/>
                      <a:gd name="T9" fmla="*/ 25 h 25"/>
                      <a:gd name="T10" fmla="*/ 140 w 153"/>
                      <a:gd name="T11" fmla="*/ 25 h 25"/>
                      <a:gd name="T12" fmla="*/ 153 w 153"/>
                      <a:gd name="T13" fmla="*/ 12 h 25"/>
                    </a:gdLst>
                    <a:ahLst/>
                    <a:cxnLst>
                      <a:cxn ang="0">
                        <a:pos x="T0" y="T1"/>
                      </a:cxn>
                      <a:cxn ang="0">
                        <a:pos x="T2" y="T3"/>
                      </a:cxn>
                      <a:cxn ang="0">
                        <a:pos x="T4" y="T5"/>
                      </a:cxn>
                      <a:cxn ang="0">
                        <a:pos x="T6" y="T7"/>
                      </a:cxn>
                      <a:cxn ang="0">
                        <a:pos x="T8" y="T9"/>
                      </a:cxn>
                      <a:cxn ang="0">
                        <a:pos x="T10" y="T11"/>
                      </a:cxn>
                      <a:cxn ang="0">
                        <a:pos x="T12" y="T13"/>
                      </a:cxn>
                    </a:cxnLst>
                    <a:rect l="0" t="0" r="r" b="b"/>
                    <a:pathLst>
                      <a:path w="153" h="25">
                        <a:moveTo>
                          <a:pt x="153" y="12"/>
                        </a:moveTo>
                        <a:cubicBezTo>
                          <a:pt x="153" y="5"/>
                          <a:pt x="147" y="0"/>
                          <a:pt x="140" y="0"/>
                        </a:cubicBezTo>
                        <a:cubicBezTo>
                          <a:pt x="13" y="0"/>
                          <a:pt x="13" y="0"/>
                          <a:pt x="13" y="0"/>
                        </a:cubicBezTo>
                        <a:cubicBezTo>
                          <a:pt x="6" y="0"/>
                          <a:pt x="0" y="5"/>
                          <a:pt x="0" y="12"/>
                        </a:cubicBezTo>
                        <a:cubicBezTo>
                          <a:pt x="0" y="19"/>
                          <a:pt x="6" y="25"/>
                          <a:pt x="13" y="25"/>
                        </a:cubicBezTo>
                        <a:cubicBezTo>
                          <a:pt x="140" y="25"/>
                          <a:pt x="140" y="25"/>
                          <a:pt x="140" y="25"/>
                        </a:cubicBezTo>
                        <a:cubicBezTo>
                          <a:pt x="147" y="25"/>
                          <a:pt x="153" y="19"/>
                          <a:pt x="15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grpSp>
        </p:grpSp>
        <p:grpSp>
          <p:nvGrpSpPr>
            <p:cNvPr id="146" name="Group 145">
              <a:extLst>
                <a:ext uri="{FF2B5EF4-FFF2-40B4-BE49-F238E27FC236}">
                  <a16:creationId xmlns:a16="http://schemas.microsoft.com/office/drawing/2014/main" id="{81EAB3E2-5630-6158-A981-DFFA012E282A}"/>
                </a:ext>
              </a:extLst>
            </p:cNvPr>
            <p:cNvGrpSpPr/>
            <p:nvPr/>
          </p:nvGrpSpPr>
          <p:grpSpPr>
            <a:xfrm>
              <a:off x="7883175" y="1648587"/>
              <a:ext cx="1449436" cy="911689"/>
              <a:chOff x="9098024" y="1659631"/>
              <a:chExt cx="1449436" cy="911689"/>
            </a:xfrm>
          </p:grpSpPr>
          <p:sp>
            <p:nvSpPr>
              <p:cNvPr id="169" name="TextBox 168">
                <a:extLst>
                  <a:ext uri="{FF2B5EF4-FFF2-40B4-BE49-F238E27FC236}">
                    <a16:creationId xmlns:a16="http://schemas.microsoft.com/office/drawing/2014/main" id="{DC646FE9-BE56-26BD-DDB8-479E254FF441}"/>
                  </a:ext>
                </a:extLst>
              </p:cNvPr>
              <p:cNvSpPr txBox="1"/>
              <p:nvPr/>
            </p:nvSpPr>
            <p:spPr>
              <a:xfrm>
                <a:off x="9098024" y="2325099"/>
                <a:ext cx="1449436"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In-house SME insights</a:t>
                </a:r>
              </a:p>
            </p:txBody>
          </p:sp>
          <p:grpSp>
            <p:nvGrpSpPr>
              <p:cNvPr id="170" name="Group 169">
                <a:extLst>
                  <a:ext uri="{FF2B5EF4-FFF2-40B4-BE49-F238E27FC236}">
                    <a16:creationId xmlns:a16="http://schemas.microsoft.com/office/drawing/2014/main" id="{2A15FCC2-7E6D-C3FE-F01A-C3B3D6792C79}"/>
                  </a:ext>
                </a:extLst>
              </p:cNvPr>
              <p:cNvGrpSpPr/>
              <p:nvPr/>
            </p:nvGrpSpPr>
            <p:grpSpPr>
              <a:xfrm>
                <a:off x="9459896" y="1659631"/>
                <a:ext cx="725690" cy="683404"/>
                <a:chOff x="9459896" y="1659631"/>
                <a:chExt cx="725690" cy="683404"/>
              </a:xfrm>
            </p:grpSpPr>
            <p:sp>
              <p:nvSpPr>
                <p:cNvPr id="171" name="Freeform 124">
                  <a:extLst>
                    <a:ext uri="{FF2B5EF4-FFF2-40B4-BE49-F238E27FC236}">
                      <a16:creationId xmlns:a16="http://schemas.microsoft.com/office/drawing/2014/main" id="{676B9A43-D66F-5CFD-9473-35421CDD5F04}"/>
                    </a:ext>
                  </a:extLst>
                </p:cNvPr>
                <p:cNvSpPr>
                  <a:spLocks/>
                </p:cNvSpPr>
                <p:nvPr/>
              </p:nvSpPr>
              <p:spPr bwMode="auto">
                <a:xfrm>
                  <a:off x="9459896" y="1659631"/>
                  <a:ext cx="725690" cy="683404"/>
                </a:xfrm>
                <a:custGeom>
                  <a:avLst/>
                  <a:gdLst>
                    <a:gd name="T0" fmla="*/ 63 w 438"/>
                    <a:gd name="T1" fmla="*/ 320 h 410"/>
                    <a:gd name="T2" fmla="*/ 105 w 438"/>
                    <a:gd name="T3" fmla="*/ 61 h 410"/>
                    <a:gd name="T4" fmla="*/ 375 w 438"/>
                    <a:gd name="T5" fmla="*/ 99 h 410"/>
                    <a:gd name="T6" fmla="*/ 326 w 438"/>
                    <a:gd name="T7" fmla="*/ 348 h 410"/>
                    <a:gd name="T8" fmla="*/ 63 w 438"/>
                    <a:gd name="T9" fmla="*/ 320 h 410"/>
                  </a:gdLst>
                  <a:ahLst/>
                  <a:cxnLst>
                    <a:cxn ang="0">
                      <a:pos x="T0" y="T1"/>
                    </a:cxn>
                    <a:cxn ang="0">
                      <a:pos x="T2" y="T3"/>
                    </a:cxn>
                    <a:cxn ang="0">
                      <a:pos x="T4" y="T5"/>
                    </a:cxn>
                    <a:cxn ang="0">
                      <a:pos x="T6" y="T7"/>
                    </a:cxn>
                    <a:cxn ang="0">
                      <a:pos x="T8" y="T9"/>
                    </a:cxn>
                  </a:cxnLst>
                  <a:rect l="0" t="0" r="r" b="b"/>
                  <a:pathLst>
                    <a:path w="438" h="410">
                      <a:moveTo>
                        <a:pt x="63" y="320"/>
                      </a:moveTo>
                      <a:cubicBezTo>
                        <a:pt x="0" y="238"/>
                        <a:pt x="19" y="122"/>
                        <a:pt x="105" y="61"/>
                      </a:cubicBezTo>
                      <a:cubicBezTo>
                        <a:pt x="191" y="0"/>
                        <a:pt x="312" y="17"/>
                        <a:pt x="375" y="99"/>
                      </a:cubicBezTo>
                      <a:cubicBezTo>
                        <a:pt x="438" y="181"/>
                        <a:pt x="412" y="287"/>
                        <a:pt x="326" y="348"/>
                      </a:cubicBezTo>
                      <a:cubicBezTo>
                        <a:pt x="240" y="410"/>
                        <a:pt x="126" y="402"/>
                        <a:pt x="63" y="320"/>
                      </a:cubicBezTo>
                    </a:path>
                  </a:pathLst>
                </a:custGeom>
                <a:solidFill>
                  <a:schemeClr val="tx2"/>
                </a:solidFill>
                <a:ln>
                  <a:noFill/>
                </a:ln>
              </p:spPr>
              <p:txBody>
                <a:bodyPr vert="horz" wrap="square" lIns="74295" tIns="37148" rIns="74295" bIns="37148" numCol="1" anchor="t" anchorCtr="0" compatLnSpc="1">
                  <a:prstTxWarp prst="textNoShape">
                    <a:avLst/>
                  </a:prstTxWarp>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Medium"/>
                    <a:ea typeface="+mn-ea"/>
                    <a:cs typeface="+mn-cs"/>
                  </a:endParaRPr>
                </a:p>
              </p:txBody>
            </p:sp>
            <p:grpSp>
              <p:nvGrpSpPr>
                <p:cNvPr id="172" name="Groupe 364">
                  <a:extLst>
                    <a:ext uri="{FF2B5EF4-FFF2-40B4-BE49-F238E27FC236}">
                      <a16:creationId xmlns:a16="http://schemas.microsoft.com/office/drawing/2014/main" id="{FA3D4A77-F25D-9BA8-F3A6-2901B372DCB0}"/>
                    </a:ext>
                  </a:extLst>
                </p:cNvPr>
                <p:cNvGrpSpPr/>
                <p:nvPr/>
              </p:nvGrpSpPr>
              <p:grpSpPr>
                <a:xfrm>
                  <a:off x="9585229" y="1871067"/>
                  <a:ext cx="471169" cy="289124"/>
                  <a:chOff x="3092451" y="3854450"/>
                  <a:chExt cx="450850" cy="327025"/>
                </a:xfrm>
                <a:solidFill>
                  <a:schemeClr val="bg1"/>
                </a:solidFill>
              </p:grpSpPr>
              <p:sp>
                <p:nvSpPr>
                  <p:cNvPr id="173" name="Freeform 286">
                    <a:extLst>
                      <a:ext uri="{FF2B5EF4-FFF2-40B4-BE49-F238E27FC236}">
                        <a16:creationId xmlns:a16="http://schemas.microsoft.com/office/drawing/2014/main" id="{4822F8DF-E7C8-923A-ED75-68263D58D581}"/>
                      </a:ext>
                    </a:extLst>
                  </p:cNvPr>
                  <p:cNvSpPr>
                    <a:spLocks/>
                  </p:cNvSpPr>
                  <p:nvPr/>
                </p:nvSpPr>
                <p:spPr bwMode="auto">
                  <a:xfrm>
                    <a:off x="3092451" y="3968750"/>
                    <a:ext cx="168275" cy="123825"/>
                  </a:xfrm>
                  <a:custGeom>
                    <a:avLst/>
                    <a:gdLst>
                      <a:gd name="T0" fmla="*/ 29 w 45"/>
                      <a:gd name="T1" fmla="*/ 0 h 33"/>
                      <a:gd name="T2" fmla="*/ 42 w 45"/>
                      <a:gd name="T3" fmla="*/ 12 h 33"/>
                      <a:gd name="T4" fmla="*/ 40 w 45"/>
                      <a:gd name="T5" fmla="*/ 30 h 33"/>
                      <a:gd name="T6" fmla="*/ 30 w 45"/>
                      <a:gd name="T7" fmla="*/ 33 h 33"/>
                      <a:gd name="T8" fmla="*/ 11 w 45"/>
                      <a:gd name="T9" fmla="*/ 32 h 33"/>
                      <a:gd name="T10" fmla="*/ 0 w 45"/>
                      <a:gd name="T11" fmla="*/ 30 h 33"/>
                      <a:gd name="T12" fmla="*/ 0 w 45"/>
                      <a:gd name="T13" fmla="*/ 29 h 33"/>
                      <a:gd name="T14" fmla="*/ 0 w 45"/>
                      <a:gd name="T15" fmla="*/ 21 h 33"/>
                      <a:gd name="T16" fmla="*/ 14 w 45"/>
                      <a:gd name="T17" fmla="*/ 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33">
                        <a:moveTo>
                          <a:pt x="29" y="0"/>
                        </a:moveTo>
                        <a:cubicBezTo>
                          <a:pt x="35" y="2"/>
                          <a:pt x="39" y="7"/>
                          <a:pt x="42" y="12"/>
                        </a:cubicBezTo>
                        <a:cubicBezTo>
                          <a:pt x="44" y="18"/>
                          <a:pt x="45" y="25"/>
                          <a:pt x="40" y="30"/>
                        </a:cubicBezTo>
                        <a:cubicBezTo>
                          <a:pt x="37" y="32"/>
                          <a:pt x="33" y="33"/>
                          <a:pt x="30" y="33"/>
                        </a:cubicBezTo>
                        <a:cubicBezTo>
                          <a:pt x="23" y="33"/>
                          <a:pt x="17" y="33"/>
                          <a:pt x="11" y="32"/>
                        </a:cubicBezTo>
                        <a:cubicBezTo>
                          <a:pt x="9" y="32"/>
                          <a:pt x="1" y="30"/>
                          <a:pt x="0" y="30"/>
                        </a:cubicBezTo>
                        <a:cubicBezTo>
                          <a:pt x="0" y="30"/>
                          <a:pt x="0" y="29"/>
                          <a:pt x="0" y="29"/>
                        </a:cubicBezTo>
                        <a:cubicBezTo>
                          <a:pt x="0" y="21"/>
                          <a:pt x="0" y="21"/>
                          <a:pt x="0" y="21"/>
                        </a:cubicBezTo>
                        <a:cubicBezTo>
                          <a:pt x="0" y="13"/>
                          <a:pt x="5" y="4"/>
                          <a:pt x="14"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174" name="Oval 287">
                    <a:extLst>
                      <a:ext uri="{FF2B5EF4-FFF2-40B4-BE49-F238E27FC236}">
                        <a16:creationId xmlns:a16="http://schemas.microsoft.com/office/drawing/2014/main" id="{B01FC7C8-825E-4D80-3F35-00E7B69B43B0}"/>
                      </a:ext>
                    </a:extLst>
                  </p:cNvPr>
                  <p:cNvSpPr>
                    <a:spLocks noChangeArrowheads="1"/>
                  </p:cNvSpPr>
                  <p:nvPr/>
                </p:nvSpPr>
                <p:spPr bwMode="auto">
                  <a:xfrm>
                    <a:off x="3125788" y="3867150"/>
                    <a:ext cx="90488" cy="11271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175" name="Freeform 288">
                    <a:extLst>
                      <a:ext uri="{FF2B5EF4-FFF2-40B4-BE49-F238E27FC236}">
                        <a16:creationId xmlns:a16="http://schemas.microsoft.com/office/drawing/2014/main" id="{93AA375F-3D73-B29E-CDC3-079C99ECD064}"/>
                      </a:ext>
                    </a:extLst>
                  </p:cNvPr>
                  <p:cNvSpPr>
                    <a:spLocks/>
                  </p:cNvSpPr>
                  <p:nvPr/>
                </p:nvSpPr>
                <p:spPr bwMode="auto">
                  <a:xfrm>
                    <a:off x="3373438" y="3956050"/>
                    <a:ext cx="169863" cy="125413"/>
                  </a:xfrm>
                  <a:custGeom>
                    <a:avLst/>
                    <a:gdLst>
                      <a:gd name="T0" fmla="*/ 29 w 45"/>
                      <a:gd name="T1" fmla="*/ 0 h 33"/>
                      <a:gd name="T2" fmla="*/ 42 w 45"/>
                      <a:gd name="T3" fmla="*/ 12 h 33"/>
                      <a:gd name="T4" fmla="*/ 40 w 45"/>
                      <a:gd name="T5" fmla="*/ 30 h 33"/>
                      <a:gd name="T6" fmla="*/ 30 w 45"/>
                      <a:gd name="T7" fmla="*/ 33 h 33"/>
                      <a:gd name="T8" fmla="*/ 11 w 45"/>
                      <a:gd name="T9" fmla="*/ 32 h 33"/>
                      <a:gd name="T10" fmla="*/ 0 w 45"/>
                      <a:gd name="T11" fmla="*/ 31 h 33"/>
                      <a:gd name="T12" fmla="*/ 0 w 45"/>
                      <a:gd name="T13" fmla="*/ 29 h 33"/>
                      <a:gd name="T14" fmla="*/ 0 w 45"/>
                      <a:gd name="T15" fmla="*/ 21 h 33"/>
                      <a:gd name="T16" fmla="*/ 14 w 45"/>
                      <a:gd name="T17" fmla="*/ 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33">
                        <a:moveTo>
                          <a:pt x="29" y="0"/>
                        </a:moveTo>
                        <a:cubicBezTo>
                          <a:pt x="35" y="2"/>
                          <a:pt x="40" y="7"/>
                          <a:pt x="42" y="12"/>
                        </a:cubicBezTo>
                        <a:cubicBezTo>
                          <a:pt x="45" y="18"/>
                          <a:pt x="45" y="25"/>
                          <a:pt x="40" y="30"/>
                        </a:cubicBezTo>
                        <a:cubicBezTo>
                          <a:pt x="37" y="32"/>
                          <a:pt x="34" y="33"/>
                          <a:pt x="30" y="33"/>
                        </a:cubicBezTo>
                        <a:cubicBezTo>
                          <a:pt x="24" y="33"/>
                          <a:pt x="17" y="33"/>
                          <a:pt x="11" y="32"/>
                        </a:cubicBezTo>
                        <a:cubicBezTo>
                          <a:pt x="9" y="32"/>
                          <a:pt x="1" y="30"/>
                          <a:pt x="0" y="31"/>
                        </a:cubicBezTo>
                        <a:cubicBezTo>
                          <a:pt x="0" y="30"/>
                          <a:pt x="0" y="29"/>
                          <a:pt x="0" y="29"/>
                        </a:cubicBezTo>
                        <a:cubicBezTo>
                          <a:pt x="0" y="21"/>
                          <a:pt x="0" y="21"/>
                          <a:pt x="0" y="21"/>
                        </a:cubicBezTo>
                        <a:cubicBezTo>
                          <a:pt x="0" y="13"/>
                          <a:pt x="6" y="4"/>
                          <a:pt x="14"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176" name="Oval 289">
                    <a:extLst>
                      <a:ext uri="{FF2B5EF4-FFF2-40B4-BE49-F238E27FC236}">
                        <a16:creationId xmlns:a16="http://schemas.microsoft.com/office/drawing/2014/main" id="{E10E7BD8-BBFF-D775-50B0-F3D70D7FE8FB}"/>
                      </a:ext>
                    </a:extLst>
                  </p:cNvPr>
                  <p:cNvSpPr>
                    <a:spLocks noChangeArrowheads="1"/>
                  </p:cNvSpPr>
                  <p:nvPr/>
                </p:nvSpPr>
                <p:spPr bwMode="auto">
                  <a:xfrm>
                    <a:off x="3411538" y="3854450"/>
                    <a:ext cx="90488" cy="1143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177" name="Freeform 290">
                    <a:extLst>
                      <a:ext uri="{FF2B5EF4-FFF2-40B4-BE49-F238E27FC236}">
                        <a16:creationId xmlns:a16="http://schemas.microsoft.com/office/drawing/2014/main" id="{F8ED5B93-971D-542F-6E7E-A644C91BAF8B}"/>
                      </a:ext>
                    </a:extLst>
                  </p:cNvPr>
                  <p:cNvSpPr>
                    <a:spLocks/>
                  </p:cNvSpPr>
                  <p:nvPr/>
                </p:nvSpPr>
                <p:spPr bwMode="auto">
                  <a:xfrm>
                    <a:off x="3205163" y="4013200"/>
                    <a:ext cx="225425" cy="168275"/>
                  </a:xfrm>
                  <a:custGeom>
                    <a:avLst/>
                    <a:gdLst>
                      <a:gd name="T0" fmla="*/ 39 w 60"/>
                      <a:gd name="T1" fmla="*/ 0 h 45"/>
                      <a:gd name="T2" fmla="*/ 56 w 60"/>
                      <a:gd name="T3" fmla="*/ 16 h 45"/>
                      <a:gd name="T4" fmla="*/ 53 w 60"/>
                      <a:gd name="T5" fmla="*/ 39 h 45"/>
                      <a:gd name="T6" fmla="*/ 40 w 60"/>
                      <a:gd name="T7" fmla="*/ 44 h 45"/>
                      <a:gd name="T8" fmla="*/ 15 w 60"/>
                      <a:gd name="T9" fmla="*/ 43 h 45"/>
                      <a:gd name="T10" fmla="*/ 0 w 60"/>
                      <a:gd name="T11" fmla="*/ 41 h 45"/>
                      <a:gd name="T12" fmla="*/ 0 w 60"/>
                      <a:gd name="T13" fmla="*/ 39 h 45"/>
                      <a:gd name="T14" fmla="*/ 0 w 60"/>
                      <a:gd name="T15" fmla="*/ 29 h 45"/>
                      <a:gd name="T16" fmla="*/ 19 w 60"/>
                      <a:gd name="T17" fmla="*/ 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45">
                        <a:moveTo>
                          <a:pt x="39" y="0"/>
                        </a:moveTo>
                        <a:cubicBezTo>
                          <a:pt x="46" y="3"/>
                          <a:pt x="53" y="9"/>
                          <a:pt x="56" y="16"/>
                        </a:cubicBezTo>
                        <a:cubicBezTo>
                          <a:pt x="59" y="24"/>
                          <a:pt x="60" y="34"/>
                          <a:pt x="53" y="39"/>
                        </a:cubicBezTo>
                        <a:cubicBezTo>
                          <a:pt x="50" y="42"/>
                          <a:pt x="45" y="44"/>
                          <a:pt x="40" y="44"/>
                        </a:cubicBezTo>
                        <a:cubicBezTo>
                          <a:pt x="32" y="45"/>
                          <a:pt x="23" y="44"/>
                          <a:pt x="15" y="43"/>
                        </a:cubicBezTo>
                        <a:cubicBezTo>
                          <a:pt x="12" y="42"/>
                          <a:pt x="2" y="40"/>
                          <a:pt x="0" y="41"/>
                        </a:cubicBezTo>
                        <a:cubicBezTo>
                          <a:pt x="0" y="40"/>
                          <a:pt x="0" y="39"/>
                          <a:pt x="0" y="39"/>
                        </a:cubicBezTo>
                        <a:cubicBezTo>
                          <a:pt x="0" y="29"/>
                          <a:pt x="0" y="29"/>
                          <a:pt x="0" y="29"/>
                        </a:cubicBezTo>
                        <a:cubicBezTo>
                          <a:pt x="0" y="17"/>
                          <a:pt x="7" y="5"/>
                          <a:pt x="19"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178" name="Freeform 291">
                    <a:extLst>
                      <a:ext uri="{FF2B5EF4-FFF2-40B4-BE49-F238E27FC236}">
                        <a16:creationId xmlns:a16="http://schemas.microsoft.com/office/drawing/2014/main" id="{9CE47674-B41D-8786-6C0D-E552F30AA407}"/>
                      </a:ext>
                    </a:extLst>
                  </p:cNvPr>
                  <p:cNvSpPr>
                    <a:spLocks/>
                  </p:cNvSpPr>
                  <p:nvPr/>
                </p:nvSpPr>
                <p:spPr bwMode="auto">
                  <a:xfrm>
                    <a:off x="3254376" y="3878263"/>
                    <a:ext cx="119063" cy="149225"/>
                  </a:xfrm>
                  <a:custGeom>
                    <a:avLst/>
                    <a:gdLst>
                      <a:gd name="T0" fmla="*/ 32 w 32"/>
                      <a:gd name="T1" fmla="*/ 20 h 40"/>
                      <a:gd name="T2" fmla="*/ 16 w 32"/>
                      <a:gd name="T3" fmla="*/ 40 h 40"/>
                      <a:gd name="T4" fmla="*/ 0 w 32"/>
                      <a:gd name="T5" fmla="*/ 20 h 40"/>
                      <a:gd name="T6" fmla="*/ 16 w 32"/>
                      <a:gd name="T7" fmla="*/ 0 h 40"/>
                      <a:gd name="T8" fmla="*/ 32 w 32"/>
                      <a:gd name="T9" fmla="*/ 20 h 40"/>
                    </a:gdLst>
                    <a:ahLst/>
                    <a:cxnLst>
                      <a:cxn ang="0">
                        <a:pos x="T0" y="T1"/>
                      </a:cxn>
                      <a:cxn ang="0">
                        <a:pos x="T2" y="T3"/>
                      </a:cxn>
                      <a:cxn ang="0">
                        <a:pos x="T4" y="T5"/>
                      </a:cxn>
                      <a:cxn ang="0">
                        <a:pos x="T6" y="T7"/>
                      </a:cxn>
                      <a:cxn ang="0">
                        <a:pos x="T8" y="T9"/>
                      </a:cxn>
                    </a:cxnLst>
                    <a:rect l="0" t="0" r="r" b="b"/>
                    <a:pathLst>
                      <a:path w="32" h="40">
                        <a:moveTo>
                          <a:pt x="32" y="20"/>
                        </a:moveTo>
                        <a:cubicBezTo>
                          <a:pt x="32" y="31"/>
                          <a:pt x="25" y="40"/>
                          <a:pt x="16" y="40"/>
                        </a:cubicBezTo>
                        <a:cubicBezTo>
                          <a:pt x="7" y="40"/>
                          <a:pt x="0" y="31"/>
                          <a:pt x="0" y="20"/>
                        </a:cubicBezTo>
                        <a:cubicBezTo>
                          <a:pt x="0" y="9"/>
                          <a:pt x="7" y="0"/>
                          <a:pt x="16" y="0"/>
                        </a:cubicBezTo>
                        <a:cubicBezTo>
                          <a:pt x="24" y="0"/>
                          <a:pt x="32" y="9"/>
                          <a:pt x="3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grpSp>
          </p:grpSp>
        </p:grpSp>
        <p:grpSp>
          <p:nvGrpSpPr>
            <p:cNvPr id="147" name="Group 146">
              <a:extLst>
                <a:ext uri="{FF2B5EF4-FFF2-40B4-BE49-F238E27FC236}">
                  <a16:creationId xmlns:a16="http://schemas.microsoft.com/office/drawing/2014/main" id="{14CFBFF6-BC73-BFCF-E8C2-5691F1DE9614}"/>
                </a:ext>
              </a:extLst>
            </p:cNvPr>
            <p:cNvGrpSpPr/>
            <p:nvPr/>
          </p:nvGrpSpPr>
          <p:grpSpPr>
            <a:xfrm>
              <a:off x="10587562" y="1648587"/>
              <a:ext cx="1260000" cy="1065578"/>
              <a:chOff x="10490026" y="1659631"/>
              <a:chExt cx="1260000" cy="1065578"/>
            </a:xfrm>
          </p:grpSpPr>
          <p:sp>
            <p:nvSpPr>
              <p:cNvPr id="148" name="TextBox 147">
                <a:extLst>
                  <a:ext uri="{FF2B5EF4-FFF2-40B4-BE49-F238E27FC236}">
                    <a16:creationId xmlns:a16="http://schemas.microsoft.com/office/drawing/2014/main" id="{A4B35520-6252-3F7B-A09E-18D4C1740F5A}"/>
                  </a:ext>
                </a:extLst>
              </p:cNvPr>
              <p:cNvSpPr txBox="1"/>
              <p:nvPr/>
            </p:nvSpPr>
            <p:spPr>
              <a:xfrm>
                <a:off x="10490026" y="2325099"/>
                <a:ext cx="1260000"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Insights from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previous research</a:t>
                </a:r>
              </a:p>
            </p:txBody>
          </p:sp>
          <p:grpSp>
            <p:nvGrpSpPr>
              <p:cNvPr id="149" name="Group 148">
                <a:extLst>
                  <a:ext uri="{FF2B5EF4-FFF2-40B4-BE49-F238E27FC236}">
                    <a16:creationId xmlns:a16="http://schemas.microsoft.com/office/drawing/2014/main" id="{D8A5760F-CB85-028B-843A-2F8F4E5C58E8}"/>
                  </a:ext>
                </a:extLst>
              </p:cNvPr>
              <p:cNvGrpSpPr/>
              <p:nvPr/>
            </p:nvGrpSpPr>
            <p:grpSpPr>
              <a:xfrm>
                <a:off x="10757181" y="1659631"/>
                <a:ext cx="725690" cy="683404"/>
                <a:chOff x="10757181" y="1659631"/>
                <a:chExt cx="725690" cy="683404"/>
              </a:xfrm>
            </p:grpSpPr>
            <p:sp>
              <p:nvSpPr>
                <p:cNvPr id="150" name="Freeform 124">
                  <a:extLst>
                    <a:ext uri="{FF2B5EF4-FFF2-40B4-BE49-F238E27FC236}">
                      <a16:creationId xmlns:a16="http://schemas.microsoft.com/office/drawing/2014/main" id="{10795CE6-9964-04A8-B7EF-0218F45729D5}"/>
                    </a:ext>
                  </a:extLst>
                </p:cNvPr>
                <p:cNvSpPr>
                  <a:spLocks/>
                </p:cNvSpPr>
                <p:nvPr/>
              </p:nvSpPr>
              <p:spPr bwMode="auto">
                <a:xfrm>
                  <a:off x="10757181" y="1659631"/>
                  <a:ext cx="725690" cy="683404"/>
                </a:xfrm>
                <a:custGeom>
                  <a:avLst/>
                  <a:gdLst>
                    <a:gd name="T0" fmla="*/ 63 w 438"/>
                    <a:gd name="T1" fmla="*/ 320 h 410"/>
                    <a:gd name="T2" fmla="*/ 105 w 438"/>
                    <a:gd name="T3" fmla="*/ 61 h 410"/>
                    <a:gd name="T4" fmla="*/ 375 w 438"/>
                    <a:gd name="T5" fmla="*/ 99 h 410"/>
                    <a:gd name="T6" fmla="*/ 326 w 438"/>
                    <a:gd name="T7" fmla="*/ 348 h 410"/>
                    <a:gd name="T8" fmla="*/ 63 w 438"/>
                    <a:gd name="T9" fmla="*/ 320 h 410"/>
                  </a:gdLst>
                  <a:ahLst/>
                  <a:cxnLst>
                    <a:cxn ang="0">
                      <a:pos x="T0" y="T1"/>
                    </a:cxn>
                    <a:cxn ang="0">
                      <a:pos x="T2" y="T3"/>
                    </a:cxn>
                    <a:cxn ang="0">
                      <a:pos x="T4" y="T5"/>
                    </a:cxn>
                    <a:cxn ang="0">
                      <a:pos x="T6" y="T7"/>
                    </a:cxn>
                    <a:cxn ang="0">
                      <a:pos x="T8" y="T9"/>
                    </a:cxn>
                  </a:cxnLst>
                  <a:rect l="0" t="0" r="r" b="b"/>
                  <a:pathLst>
                    <a:path w="438" h="410">
                      <a:moveTo>
                        <a:pt x="63" y="320"/>
                      </a:moveTo>
                      <a:cubicBezTo>
                        <a:pt x="0" y="238"/>
                        <a:pt x="19" y="122"/>
                        <a:pt x="105" y="61"/>
                      </a:cubicBezTo>
                      <a:cubicBezTo>
                        <a:pt x="191" y="0"/>
                        <a:pt x="312" y="17"/>
                        <a:pt x="375" y="99"/>
                      </a:cubicBezTo>
                      <a:cubicBezTo>
                        <a:pt x="438" y="181"/>
                        <a:pt x="412" y="287"/>
                        <a:pt x="326" y="348"/>
                      </a:cubicBezTo>
                      <a:cubicBezTo>
                        <a:pt x="240" y="410"/>
                        <a:pt x="126" y="402"/>
                        <a:pt x="63" y="320"/>
                      </a:cubicBezTo>
                    </a:path>
                  </a:pathLst>
                </a:custGeom>
                <a:solidFill>
                  <a:schemeClr val="tx2"/>
                </a:solidFill>
                <a:ln>
                  <a:noFill/>
                </a:ln>
              </p:spPr>
              <p:txBody>
                <a:bodyPr vert="horz" wrap="square" lIns="74295" tIns="37148" rIns="74295" bIns="37148" numCol="1" anchor="t" anchorCtr="0" compatLnSpc="1">
                  <a:prstTxWarp prst="textNoShape">
                    <a:avLst/>
                  </a:prstTxWarp>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Medium"/>
                    <a:ea typeface="+mn-ea"/>
                    <a:cs typeface="+mn-cs"/>
                  </a:endParaRPr>
                </a:p>
              </p:txBody>
            </p:sp>
            <p:grpSp>
              <p:nvGrpSpPr>
                <p:cNvPr id="151" name="Group 150">
                  <a:extLst>
                    <a:ext uri="{FF2B5EF4-FFF2-40B4-BE49-F238E27FC236}">
                      <a16:creationId xmlns:a16="http://schemas.microsoft.com/office/drawing/2014/main" id="{32505DAA-A4CB-5FA8-0205-E802A7E74836}"/>
                    </a:ext>
                  </a:extLst>
                </p:cNvPr>
                <p:cNvGrpSpPr/>
                <p:nvPr/>
              </p:nvGrpSpPr>
              <p:grpSpPr>
                <a:xfrm>
                  <a:off x="10979206" y="1838694"/>
                  <a:ext cx="281590" cy="325265"/>
                  <a:chOff x="9148763" y="1882775"/>
                  <a:chExt cx="777874" cy="898525"/>
                </a:xfrm>
                <a:solidFill>
                  <a:schemeClr val="bg1"/>
                </a:solidFill>
              </p:grpSpPr>
              <p:sp>
                <p:nvSpPr>
                  <p:cNvPr id="152" name="Freeform 68">
                    <a:extLst>
                      <a:ext uri="{FF2B5EF4-FFF2-40B4-BE49-F238E27FC236}">
                        <a16:creationId xmlns:a16="http://schemas.microsoft.com/office/drawing/2014/main" id="{02D3D319-81A2-C5F5-D550-849ECBF73F52}"/>
                      </a:ext>
                    </a:extLst>
                  </p:cNvPr>
                  <p:cNvSpPr>
                    <a:spLocks noEditPoints="1"/>
                  </p:cNvSpPr>
                  <p:nvPr/>
                </p:nvSpPr>
                <p:spPr bwMode="auto">
                  <a:xfrm>
                    <a:off x="9458325" y="2117725"/>
                    <a:ext cx="468312" cy="466725"/>
                  </a:xfrm>
                  <a:custGeom>
                    <a:avLst/>
                    <a:gdLst>
                      <a:gd name="T0" fmla="*/ 498 w 606"/>
                      <a:gd name="T1" fmla="*/ 108 h 606"/>
                      <a:gd name="T2" fmla="*/ 108 w 606"/>
                      <a:gd name="T3" fmla="*/ 108 h 606"/>
                      <a:gd name="T4" fmla="*/ 108 w 606"/>
                      <a:gd name="T5" fmla="*/ 498 h 606"/>
                      <a:gd name="T6" fmla="*/ 498 w 606"/>
                      <a:gd name="T7" fmla="*/ 498 h 606"/>
                      <a:gd name="T8" fmla="*/ 498 w 606"/>
                      <a:gd name="T9" fmla="*/ 108 h 606"/>
                      <a:gd name="T10" fmla="*/ 464 w 606"/>
                      <a:gd name="T11" fmla="*/ 464 h 606"/>
                      <a:gd name="T12" fmla="*/ 142 w 606"/>
                      <a:gd name="T13" fmla="*/ 464 h 606"/>
                      <a:gd name="T14" fmla="*/ 142 w 606"/>
                      <a:gd name="T15" fmla="*/ 142 h 606"/>
                      <a:gd name="T16" fmla="*/ 464 w 606"/>
                      <a:gd name="T17" fmla="*/ 142 h 606"/>
                      <a:gd name="T18" fmla="*/ 464 w 606"/>
                      <a:gd name="T19" fmla="*/ 464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6" h="606">
                        <a:moveTo>
                          <a:pt x="498" y="108"/>
                        </a:moveTo>
                        <a:cubicBezTo>
                          <a:pt x="391" y="0"/>
                          <a:pt x="215" y="0"/>
                          <a:pt x="108" y="108"/>
                        </a:cubicBezTo>
                        <a:cubicBezTo>
                          <a:pt x="0" y="215"/>
                          <a:pt x="0" y="391"/>
                          <a:pt x="108" y="498"/>
                        </a:cubicBezTo>
                        <a:cubicBezTo>
                          <a:pt x="215" y="606"/>
                          <a:pt x="391" y="606"/>
                          <a:pt x="498" y="498"/>
                        </a:cubicBezTo>
                        <a:cubicBezTo>
                          <a:pt x="606" y="391"/>
                          <a:pt x="606" y="215"/>
                          <a:pt x="498" y="108"/>
                        </a:cubicBezTo>
                        <a:close/>
                        <a:moveTo>
                          <a:pt x="464" y="464"/>
                        </a:moveTo>
                        <a:cubicBezTo>
                          <a:pt x="375" y="553"/>
                          <a:pt x="231" y="553"/>
                          <a:pt x="142" y="464"/>
                        </a:cubicBezTo>
                        <a:cubicBezTo>
                          <a:pt x="54" y="375"/>
                          <a:pt x="54" y="231"/>
                          <a:pt x="142" y="142"/>
                        </a:cubicBezTo>
                        <a:cubicBezTo>
                          <a:pt x="231" y="53"/>
                          <a:pt x="375" y="53"/>
                          <a:pt x="464" y="142"/>
                        </a:cubicBezTo>
                        <a:cubicBezTo>
                          <a:pt x="553" y="231"/>
                          <a:pt x="553" y="375"/>
                          <a:pt x="464" y="4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53" name="Freeform 69">
                    <a:extLst>
                      <a:ext uri="{FF2B5EF4-FFF2-40B4-BE49-F238E27FC236}">
                        <a16:creationId xmlns:a16="http://schemas.microsoft.com/office/drawing/2014/main" id="{96889C99-D3AD-5923-2401-0E58CA5EB57E}"/>
                      </a:ext>
                    </a:extLst>
                  </p:cNvPr>
                  <p:cNvSpPr>
                    <a:spLocks/>
                  </p:cNvSpPr>
                  <p:nvPr/>
                </p:nvSpPr>
                <p:spPr bwMode="auto">
                  <a:xfrm>
                    <a:off x="9569450" y="2238375"/>
                    <a:ext cx="231775" cy="228600"/>
                  </a:xfrm>
                  <a:custGeom>
                    <a:avLst/>
                    <a:gdLst>
                      <a:gd name="T0" fmla="*/ 60 w 146"/>
                      <a:gd name="T1" fmla="*/ 106 h 144"/>
                      <a:gd name="T2" fmla="*/ 16 w 146"/>
                      <a:gd name="T3" fmla="*/ 67 h 144"/>
                      <a:gd name="T4" fmla="*/ 0 w 146"/>
                      <a:gd name="T5" fmla="*/ 88 h 144"/>
                      <a:gd name="T6" fmla="*/ 67 w 146"/>
                      <a:gd name="T7" fmla="*/ 144 h 144"/>
                      <a:gd name="T8" fmla="*/ 146 w 146"/>
                      <a:gd name="T9" fmla="*/ 14 h 144"/>
                      <a:gd name="T10" fmla="*/ 124 w 146"/>
                      <a:gd name="T11" fmla="*/ 0 h 144"/>
                      <a:gd name="T12" fmla="*/ 60 w 146"/>
                      <a:gd name="T13" fmla="*/ 106 h 144"/>
                    </a:gdLst>
                    <a:ahLst/>
                    <a:cxnLst>
                      <a:cxn ang="0">
                        <a:pos x="T0" y="T1"/>
                      </a:cxn>
                      <a:cxn ang="0">
                        <a:pos x="T2" y="T3"/>
                      </a:cxn>
                      <a:cxn ang="0">
                        <a:pos x="T4" y="T5"/>
                      </a:cxn>
                      <a:cxn ang="0">
                        <a:pos x="T6" y="T7"/>
                      </a:cxn>
                      <a:cxn ang="0">
                        <a:pos x="T8" y="T9"/>
                      </a:cxn>
                      <a:cxn ang="0">
                        <a:pos x="T10" y="T11"/>
                      </a:cxn>
                      <a:cxn ang="0">
                        <a:pos x="T12" y="T13"/>
                      </a:cxn>
                    </a:cxnLst>
                    <a:rect l="0" t="0" r="r" b="b"/>
                    <a:pathLst>
                      <a:path w="146" h="144">
                        <a:moveTo>
                          <a:pt x="60" y="106"/>
                        </a:moveTo>
                        <a:lnTo>
                          <a:pt x="16" y="67"/>
                        </a:lnTo>
                        <a:lnTo>
                          <a:pt x="0" y="88"/>
                        </a:lnTo>
                        <a:lnTo>
                          <a:pt x="67" y="144"/>
                        </a:lnTo>
                        <a:lnTo>
                          <a:pt x="146" y="14"/>
                        </a:lnTo>
                        <a:lnTo>
                          <a:pt x="124" y="0"/>
                        </a:lnTo>
                        <a:lnTo>
                          <a:pt x="6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54" name="Rectangle 70">
                    <a:extLst>
                      <a:ext uri="{FF2B5EF4-FFF2-40B4-BE49-F238E27FC236}">
                        <a16:creationId xmlns:a16="http://schemas.microsoft.com/office/drawing/2014/main" id="{BC6FCD7F-CB5F-3270-4AB2-574087D32C40}"/>
                      </a:ext>
                    </a:extLst>
                  </p:cNvPr>
                  <p:cNvSpPr>
                    <a:spLocks noChangeArrowheads="1"/>
                  </p:cNvSpPr>
                  <p:nvPr/>
                </p:nvSpPr>
                <p:spPr bwMode="auto">
                  <a:xfrm>
                    <a:off x="9394825" y="2054225"/>
                    <a:ext cx="257175" cy="174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55" name="Rectangle 71">
                    <a:extLst>
                      <a:ext uri="{FF2B5EF4-FFF2-40B4-BE49-F238E27FC236}">
                        <a16:creationId xmlns:a16="http://schemas.microsoft.com/office/drawing/2014/main" id="{90BA884E-7A34-45BA-D9DD-D5C750BD9DBD}"/>
                      </a:ext>
                    </a:extLst>
                  </p:cNvPr>
                  <p:cNvSpPr>
                    <a:spLocks noChangeArrowheads="1"/>
                  </p:cNvSpPr>
                  <p:nvPr/>
                </p:nvSpPr>
                <p:spPr bwMode="auto">
                  <a:xfrm>
                    <a:off x="9394825" y="2114550"/>
                    <a:ext cx="190500" cy="174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56" name="Freeform 72">
                    <a:extLst>
                      <a:ext uri="{FF2B5EF4-FFF2-40B4-BE49-F238E27FC236}">
                        <a16:creationId xmlns:a16="http://schemas.microsoft.com/office/drawing/2014/main" id="{2474FC2E-F452-A632-4E98-D71A6AC714CE}"/>
                      </a:ext>
                    </a:extLst>
                  </p:cNvPr>
                  <p:cNvSpPr>
                    <a:spLocks/>
                  </p:cNvSpPr>
                  <p:nvPr/>
                </p:nvSpPr>
                <p:spPr bwMode="auto">
                  <a:xfrm>
                    <a:off x="9394825" y="2230438"/>
                    <a:ext cx="95250" cy="17463"/>
                  </a:xfrm>
                  <a:custGeom>
                    <a:avLst/>
                    <a:gdLst>
                      <a:gd name="T0" fmla="*/ 124 w 124"/>
                      <a:gd name="T1" fmla="*/ 0 h 23"/>
                      <a:gd name="T2" fmla="*/ 0 w 124"/>
                      <a:gd name="T3" fmla="*/ 0 h 23"/>
                      <a:gd name="T4" fmla="*/ 0 w 124"/>
                      <a:gd name="T5" fmla="*/ 23 h 23"/>
                      <a:gd name="T6" fmla="*/ 111 w 124"/>
                      <a:gd name="T7" fmla="*/ 23 h 23"/>
                      <a:gd name="T8" fmla="*/ 124 w 124"/>
                      <a:gd name="T9" fmla="*/ 0 h 23"/>
                    </a:gdLst>
                    <a:ahLst/>
                    <a:cxnLst>
                      <a:cxn ang="0">
                        <a:pos x="T0" y="T1"/>
                      </a:cxn>
                      <a:cxn ang="0">
                        <a:pos x="T2" y="T3"/>
                      </a:cxn>
                      <a:cxn ang="0">
                        <a:pos x="T4" y="T5"/>
                      </a:cxn>
                      <a:cxn ang="0">
                        <a:pos x="T6" y="T7"/>
                      </a:cxn>
                      <a:cxn ang="0">
                        <a:pos x="T8" y="T9"/>
                      </a:cxn>
                    </a:cxnLst>
                    <a:rect l="0" t="0" r="r" b="b"/>
                    <a:pathLst>
                      <a:path w="124" h="23">
                        <a:moveTo>
                          <a:pt x="124" y="0"/>
                        </a:moveTo>
                        <a:cubicBezTo>
                          <a:pt x="0" y="0"/>
                          <a:pt x="0" y="0"/>
                          <a:pt x="0" y="0"/>
                        </a:cubicBezTo>
                        <a:cubicBezTo>
                          <a:pt x="0" y="23"/>
                          <a:pt x="0" y="23"/>
                          <a:pt x="0" y="23"/>
                        </a:cubicBezTo>
                        <a:cubicBezTo>
                          <a:pt x="111" y="23"/>
                          <a:pt x="111" y="23"/>
                          <a:pt x="111" y="23"/>
                        </a:cubicBezTo>
                        <a:cubicBezTo>
                          <a:pt x="115" y="15"/>
                          <a:pt x="119" y="7"/>
                          <a:pt x="1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57" name="Rectangle 73">
                    <a:extLst>
                      <a:ext uri="{FF2B5EF4-FFF2-40B4-BE49-F238E27FC236}">
                        <a16:creationId xmlns:a16="http://schemas.microsoft.com/office/drawing/2014/main" id="{EAC9E17C-95AF-3398-C0EE-57AA55704EBE}"/>
                      </a:ext>
                    </a:extLst>
                  </p:cNvPr>
                  <p:cNvSpPr>
                    <a:spLocks noChangeArrowheads="1"/>
                  </p:cNvSpPr>
                  <p:nvPr/>
                </p:nvSpPr>
                <p:spPr bwMode="auto">
                  <a:xfrm>
                    <a:off x="9394825" y="2643188"/>
                    <a:ext cx="190500" cy="174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58" name="Freeform 74">
                    <a:extLst>
                      <a:ext uri="{FF2B5EF4-FFF2-40B4-BE49-F238E27FC236}">
                        <a16:creationId xmlns:a16="http://schemas.microsoft.com/office/drawing/2014/main" id="{CD4E59F6-1E29-D260-774D-8C12C5489B3C}"/>
                      </a:ext>
                    </a:extLst>
                  </p:cNvPr>
                  <p:cNvSpPr>
                    <a:spLocks/>
                  </p:cNvSpPr>
                  <p:nvPr/>
                </p:nvSpPr>
                <p:spPr bwMode="auto">
                  <a:xfrm>
                    <a:off x="9394825" y="2290763"/>
                    <a:ext cx="69850" cy="19050"/>
                  </a:xfrm>
                  <a:custGeom>
                    <a:avLst/>
                    <a:gdLst>
                      <a:gd name="T0" fmla="*/ 0 w 91"/>
                      <a:gd name="T1" fmla="*/ 0 h 24"/>
                      <a:gd name="T2" fmla="*/ 0 w 91"/>
                      <a:gd name="T3" fmla="*/ 24 h 24"/>
                      <a:gd name="T4" fmla="*/ 85 w 91"/>
                      <a:gd name="T5" fmla="*/ 24 h 24"/>
                      <a:gd name="T6" fmla="*/ 91 w 91"/>
                      <a:gd name="T7" fmla="*/ 0 h 24"/>
                      <a:gd name="T8" fmla="*/ 0 w 91"/>
                      <a:gd name="T9" fmla="*/ 0 h 24"/>
                    </a:gdLst>
                    <a:ahLst/>
                    <a:cxnLst>
                      <a:cxn ang="0">
                        <a:pos x="T0" y="T1"/>
                      </a:cxn>
                      <a:cxn ang="0">
                        <a:pos x="T2" y="T3"/>
                      </a:cxn>
                      <a:cxn ang="0">
                        <a:pos x="T4" y="T5"/>
                      </a:cxn>
                      <a:cxn ang="0">
                        <a:pos x="T6" y="T7"/>
                      </a:cxn>
                      <a:cxn ang="0">
                        <a:pos x="T8" y="T9"/>
                      </a:cxn>
                    </a:cxnLst>
                    <a:rect l="0" t="0" r="r" b="b"/>
                    <a:pathLst>
                      <a:path w="91" h="24">
                        <a:moveTo>
                          <a:pt x="0" y="0"/>
                        </a:moveTo>
                        <a:cubicBezTo>
                          <a:pt x="0" y="24"/>
                          <a:pt x="0" y="24"/>
                          <a:pt x="0" y="24"/>
                        </a:cubicBezTo>
                        <a:cubicBezTo>
                          <a:pt x="85" y="24"/>
                          <a:pt x="85" y="24"/>
                          <a:pt x="85" y="24"/>
                        </a:cubicBezTo>
                        <a:cubicBezTo>
                          <a:pt x="87" y="16"/>
                          <a:pt x="89" y="8"/>
                          <a:pt x="9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59" name="Freeform 75">
                    <a:extLst>
                      <a:ext uri="{FF2B5EF4-FFF2-40B4-BE49-F238E27FC236}">
                        <a16:creationId xmlns:a16="http://schemas.microsoft.com/office/drawing/2014/main" id="{53213C79-6C2F-36D8-D52E-ACAF8E7BD50D}"/>
                      </a:ext>
                    </a:extLst>
                  </p:cNvPr>
                  <p:cNvSpPr>
                    <a:spLocks/>
                  </p:cNvSpPr>
                  <p:nvPr/>
                </p:nvSpPr>
                <p:spPr bwMode="auto">
                  <a:xfrm>
                    <a:off x="9394825" y="2582863"/>
                    <a:ext cx="257175" cy="17463"/>
                  </a:xfrm>
                  <a:custGeom>
                    <a:avLst/>
                    <a:gdLst>
                      <a:gd name="T0" fmla="*/ 333 w 333"/>
                      <a:gd name="T1" fmla="*/ 1 h 23"/>
                      <a:gd name="T2" fmla="*/ 325 w 333"/>
                      <a:gd name="T3" fmla="*/ 0 h 23"/>
                      <a:gd name="T4" fmla="*/ 0 w 333"/>
                      <a:gd name="T5" fmla="*/ 0 h 23"/>
                      <a:gd name="T6" fmla="*/ 0 w 333"/>
                      <a:gd name="T7" fmla="*/ 23 h 23"/>
                      <a:gd name="T8" fmla="*/ 333 w 333"/>
                      <a:gd name="T9" fmla="*/ 23 h 23"/>
                      <a:gd name="T10" fmla="*/ 333 w 333"/>
                      <a:gd name="T11" fmla="*/ 1 h 23"/>
                    </a:gdLst>
                    <a:ahLst/>
                    <a:cxnLst>
                      <a:cxn ang="0">
                        <a:pos x="T0" y="T1"/>
                      </a:cxn>
                      <a:cxn ang="0">
                        <a:pos x="T2" y="T3"/>
                      </a:cxn>
                      <a:cxn ang="0">
                        <a:pos x="T4" y="T5"/>
                      </a:cxn>
                      <a:cxn ang="0">
                        <a:pos x="T6" y="T7"/>
                      </a:cxn>
                      <a:cxn ang="0">
                        <a:pos x="T8" y="T9"/>
                      </a:cxn>
                      <a:cxn ang="0">
                        <a:pos x="T10" y="T11"/>
                      </a:cxn>
                    </a:cxnLst>
                    <a:rect l="0" t="0" r="r" b="b"/>
                    <a:pathLst>
                      <a:path w="333" h="23">
                        <a:moveTo>
                          <a:pt x="333" y="1"/>
                        </a:moveTo>
                        <a:cubicBezTo>
                          <a:pt x="330" y="1"/>
                          <a:pt x="328" y="0"/>
                          <a:pt x="325" y="0"/>
                        </a:cubicBezTo>
                        <a:cubicBezTo>
                          <a:pt x="0" y="0"/>
                          <a:pt x="0" y="0"/>
                          <a:pt x="0" y="0"/>
                        </a:cubicBezTo>
                        <a:cubicBezTo>
                          <a:pt x="0" y="23"/>
                          <a:pt x="0" y="23"/>
                          <a:pt x="0" y="23"/>
                        </a:cubicBezTo>
                        <a:cubicBezTo>
                          <a:pt x="333" y="23"/>
                          <a:pt x="333" y="23"/>
                          <a:pt x="333" y="23"/>
                        </a:cubicBezTo>
                        <a:lnTo>
                          <a:pt x="333"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60" name="Freeform 76">
                    <a:extLst>
                      <a:ext uri="{FF2B5EF4-FFF2-40B4-BE49-F238E27FC236}">
                        <a16:creationId xmlns:a16="http://schemas.microsoft.com/office/drawing/2014/main" id="{799EEBCE-FA85-FCAE-15AA-94CED8B8ABCA}"/>
                      </a:ext>
                    </a:extLst>
                  </p:cNvPr>
                  <p:cNvSpPr>
                    <a:spLocks/>
                  </p:cNvSpPr>
                  <p:nvPr/>
                </p:nvSpPr>
                <p:spPr bwMode="auto">
                  <a:xfrm>
                    <a:off x="9239250" y="2051050"/>
                    <a:ext cx="93662" cy="93663"/>
                  </a:xfrm>
                  <a:custGeom>
                    <a:avLst/>
                    <a:gdLst>
                      <a:gd name="T0" fmla="*/ 121 w 121"/>
                      <a:gd name="T1" fmla="*/ 6 h 120"/>
                      <a:gd name="T2" fmla="*/ 115 w 121"/>
                      <a:gd name="T3" fmla="*/ 0 h 120"/>
                      <a:gd name="T4" fmla="*/ 6 w 121"/>
                      <a:gd name="T5" fmla="*/ 0 h 120"/>
                      <a:gd name="T6" fmla="*/ 0 w 121"/>
                      <a:gd name="T7" fmla="*/ 6 h 120"/>
                      <a:gd name="T8" fmla="*/ 0 w 121"/>
                      <a:gd name="T9" fmla="*/ 115 h 120"/>
                      <a:gd name="T10" fmla="*/ 6 w 121"/>
                      <a:gd name="T11" fmla="*/ 120 h 120"/>
                      <a:gd name="T12" fmla="*/ 115 w 121"/>
                      <a:gd name="T13" fmla="*/ 120 h 120"/>
                      <a:gd name="T14" fmla="*/ 121 w 121"/>
                      <a:gd name="T15" fmla="*/ 115 h 120"/>
                      <a:gd name="T16" fmla="*/ 121 w 121"/>
                      <a:gd name="T17" fmla="*/ 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 h="120">
                        <a:moveTo>
                          <a:pt x="121" y="6"/>
                        </a:moveTo>
                        <a:cubicBezTo>
                          <a:pt x="121" y="2"/>
                          <a:pt x="118" y="0"/>
                          <a:pt x="115" y="0"/>
                        </a:cubicBezTo>
                        <a:cubicBezTo>
                          <a:pt x="6" y="0"/>
                          <a:pt x="6" y="0"/>
                          <a:pt x="6" y="0"/>
                        </a:cubicBezTo>
                        <a:cubicBezTo>
                          <a:pt x="3" y="0"/>
                          <a:pt x="0" y="2"/>
                          <a:pt x="0" y="6"/>
                        </a:cubicBezTo>
                        <a:cubicBezTo>
                          <a:pt x="0" y="115"/>
                          <a:pt x="0" y="115"/>
                          <a:pt x="0" y="115"/>
                        </a:cubicBezTo>
                        <a:cubicBezTo>
                          <a:pt x="0" y="118"/>
                          <a:pt x="3" y="120"/>
                          <a:pt x="6" y="120"/>
                        </a:cubicBezTo>
                        <a:cubicBezTo>
                          <a:pt x="115" y="120"/>
                          <a:pt x="115" y="120"/>
                          <a:pt x="115" y="120"/>
                        </a:cubicBezTo>
                        <a:cubicBezTo>
                          <a:pt x="118" y="120"/>
                          <a:pt x="121" y="118"/>
                          <a:pt x="121" y="115"/>
                        </a:cubicBezTo>
                        <a:lnTo>
                          <a:pt x="121"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61" name="Freeform 77">
                    <a:extLst>
                      <a:ext uri="{FF2B5EF4-FFF2-40B4-BE49-F238E27FC236}">
                        <a16:creationId xmlns:a16="http://schemas.microsoft.com/office/drawing/2014/main" id="{53536E8C-9162-00AD-2457-B9CC5A8F7B1C}"/>
                      </a:ext>
                    </a:extLst>
                  </p:cNvPr>
                  <p:cNvSpPr>
                    <a:spLocks/>
                  </p:cNvSpPr>
                  <p:nvPr/>
                </p:nvSpPr>
                <p:spPr bwMode="auto">
                  <a:xfrm>
                    <a:off x="9239250" y="2227263"/>
                    <a:ext cx="93662" cy="93663"/>
                  </a:xfrm>
                  <a:custGeom>
                    <a:avLst/>
                    <a:gdLst>
                      <a:gd name="T0" fmla="*/ 121 w 121"/>
                      <a:gd name="T1" fmla="*/ 6 h 121"/>
                      <a:gd name="T2" fmla="*/ 115 w 121"/>
                      <a:gd name="T3" fmla="*/ 0 h 121"/>
                      <a:gd name="T4" fmla="*/ 6 w 121"/>
                      <a:gd name="T5" fmla="*/ 0 h 121"/>
                      <a:gd name="T6" fmla="*/ 0 w 121"/>
                      <a:gd name="T7" fmla="*/ 6 h 121"/>
                      <a:gd name="T8" fmla="*/ 0 w 121"/>
                      <a:gd name="T9" fmla="*/ 115 h 121"/>
                      <a:gd name="T10" fmla="*/ 6 w 121"/>
                      <a:gd name="T11" fmla="*/ 121 h 121"/>
                      <a:gd name="T12" fmla="*/ 115 w 121"/>
                      <a:gd name="T13" fmla="*/ 121 h 121"/>
                      <a:gd name="T14" fmla="*/ 121 w 121"/>
                      <a:gd name="T15" fmla="*/ 115 h 121"/>
                      <a:gd name="T16" fmla="*/ 121 w 121"/>
                      <a:gd name="T17" fmla="*/ 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 h="121">
                        <a:moveTo>
                          <a:pt x="121" y="6"/>
                        </a:moveTo>
                        <a:cubicBezTo>
                          <a:pt x="121" y="3"/>
                          <a:pt x="118" y="0"/>
                          <a:pt x="115" y="0"/>
                        </a:cubicBezTo>
                        <a:cubicBezTo>
                          <a:pt x="6" y="0"/>
                          <a:pt x="6" y="0"/>
                          <a:pt x="6" y="0"/>
                        </a:cubicBezTo>
                        <a:cubicBezTo>
                          <a:pt x="3" y="0"/>
                          <a:pt x="0" y="3"/>
                          <a:pt x="0" y="6"/>
                        </a:cubicBezTo>
                        <a:cubicBezTo>
                          <a:pt x="0" y="115"/>
                          <a:pt x="0" y="115"/>
                          <a:pt x="0" y="115"/>
                        </a:cubicBezTo>
                        <a:cubicBezTo>
                          <a:pt x="0" y="118"/>
                          <a:pt x="3" y="121"/>
                          <a:pt x="6" y="121"/>
                        </a:cubicBezTo>
                        <a:cubicBezTo>
                          <a:pt x="115" y="121"/>
                          <a:pt x="115" y="121"/>
                          <a:pt x="115" y="121"/>
                        </a:cubicBezTo>
                        <a:cubicBezTo>
                          <a:pt x="118" y="121"/>
                          <a:pt x="121" y="118"/>
                          <a:pt x="121" y="115"/>
                        </a:cubicBezTo>
                        <a:lnTo>
                          <a:pt x="121"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62" name="Freeform 78">
                    <a:extLst>
                      <a:ext uri="{FF2B5EF4-FFF2-40B4-BE49-F238E27FC236}">
                        <a16:creationId xmlns:a16="http://schemas.microsoft.com/office/drawing/2014/main" id="{3D5CEAEB-7B77-3F5A-FE75-BA6F93F90DEF}"/>
                      </a:ext>
                    </a:extLst>
                  </p:cNvPr>
                  <p:cNvSpPr>
                    <a:spLocks/>
                  </p:cNvSpPr>
                  <p:nvPr/>
                </p:nvSpPr>
                <p:spPr bwMode="auto">
                  <a:xfrm>
                    <a:off x="9239250" y="2579688"/>
                    <a:ext cx="93662" cy="93663"/>
                  </a:xfrm>
                  <a:custGeom>
                    <a:avLst/>
                    <a:gdLst>
                      <a:gd name="T0" fmla="*/ 115 w 121"/>
                      <a:gd name="T1" fmla="*/ 0 h 121"/>
                      <a:gd name="T2" fmla="*/ 6 w 121"/>
                      <a:gd name="T3" fmla="*/ 0 h 121"/>
                      <a:gd name="T4" fmla="*/ 0 w 121"/>
                      <a:gd name="T5" fmla="*/ 6 h 121"/>
                      <a:gd name="T6" fmla="*/ 0 w 121"/>
                      <a:gd name="T7" fmla="*/ 115 h 121"/>
                      <a:gd name="T8" fmla="*/ 6 w 121"/>
                      <a:gd name="T9" fmla="*/ 121 h 121"/>
                      <a:gd name="T10" fmla="*/ 115 w 121"/>
                      <a:gd name="T11" fmla="*/ 121 h 121"/>
                      <a:gd name="T12" fmla="*/ 121 w 121"/>
                      <a:gd name="T13" fmla="*/ 115 h 121"/>
                      <a:gd name="T14" fmla="*/ 121 w 121"/>
                      <a:gd name="T15" fmla="*/ 6 h 121"/>
                      <a:gd name="T16" fmla="*/ 115 w 121"/>
                      <a:gd name="T1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 h="121">
                        <a:moveTo>
                          <a:pt x="115" y="0"/>
                        </a:moveTo>
                        <a:cubicBezTo>
                          <a:pt x="6" y="0"/>
                          <a:pt x="6" y="0"/>
                          <a:pt x="6" y="0"/>
                        </a:cubicBezTo>
                        <a:cubicBezTo>
                          <a:pt x="3" y="0"/>
                          <a:pt x="0" y="3"/>
                          <a:pt x="0" y="6"/>
                        </a:cubicBezTo>
                        <a:cubicBezTo>
                          <a:pt x="0" y="115"/>
                          <a:pt x="0" y="115"/>
                          <a:pt x="0" y="115"/>
                        </a:cubicBezTo>
                        <a:cubicBezTo>
                          <a:pt x="0" y="118"/>
                          <a:pt x="3" y="121"/>
                          <a:pt x="6" y="121"/>
                        </a:cubicBezTo>
                        <a:cubicBezTo>
                          <a:pt x="115" y="121"/>
                          <a:pt x="115" y="121"/>
                          <a:pt x="115" y="121"/>
                        </a:cubicBezTo>
                        <a:cubicBezTo>
                          <a:pt x="118" y="121"/>
                          <a:pt x="121" y="118"/>
                          <a:pt x="121" y="115"/>
                        </a:cubicBezTo>
                        <a:cubicBezTo>
                          <a:pt x="121" y="6"/>
                          <a:pt x="121" y="6"/>
                          <a:pt x="121" y="6"/>
                        </a:cubicBezTo>
                        <a:cubicBezTo>
                          <a:pt x="121" y="3"/>
                          <a:pt x="118" y="0"/>
                          <a:pt x="1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63" name="Freeform 79">
                    <a:extLst>
                      <a:ext uri="{FF2B5EF4-FFF2-40B4-BE49-F238E27FC236}">
                        <a16:creationId xmlns:a16="http://schemas.microsoft.com/office/drawing/2014/main" id="{1EEFBB2E-112F-011A-F762-515BB11A09A3}"/>
                      </a:ext>
                    </a:extLst>
                  </p:cNvPr>
                  <p:cNvSpPr>
                    <a:spLocks/>
                  </p:cNvSpPr>
                  <p:nvPr/>
                </p:nvSpPr>
                <p:spPr bwMode="auto">
                  <a:xfrm>
                    <a:off x="9239250" y="2403475"/>
                    <a:ext cx="93662" cy="92075"/>
                  </a:xfrm>
                  <a:custGeom>
                    <a:avLst/>
                    <a:gdLst>
                      <a:gd name="T0" fmla="*/ 121 w 121"/>
                      <a:gd name="T1" fmla="*/ 6 h 120"/>
                      <a:gd name="T2" fmla="*/ 115 w 121"/>
                      <a:gd name="T3" fmla="*/ 0 h 120"/>
                      <a:gd name="T4" fmla="*/ 6 w 121"/>
                      <a:gd name="T5" fmla="*/ 0 h 120"/>
                      <a:gd name="T6" fmla="*/ 0 w 121"/>
                      <a:gd name="T7" fmla="*/ 6 h 120"/>
                      <a:gd name="T8" fmla="*/ 0 w 121"/>
                      <a:gd name="T9" fmla="*/ 114 h 120"/>
                      <a:gd name="T10" fmla="*/ 6 w 121"/>
                      <a:gd name="T11" fmla="*/ 120 h 120"/>
                      <a:gd name="T12" fmla="*/ 115 w 121"/>
                      <a:gd name="T13" fmla="*/ 120 h 120"/>
                      <a:gd name="T14" fmla="*/ 121 w 121"/>
                      <a:gd name="T15" fmla="*/ 114 h 120"/>
                      <a:gd name="T16" fmla="*/ 121 w 121"/>
                      <a:gd name="T17" fmla="*/ 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 h="120">
                        <a:moveTo>
                          <a:pt x="121" y="6"/>
                        </a:moveTo>
                        <a:cubicBezTo>
                          <a:pt x="121" y="2"/>
                          <a:pt x="118" y="0"/>
                          <a:pt x="115" y="0"/>
                        </a:cubicBezTo>
                        <a:cubicBezTo>
                          <a:pt x="6" y="0"/>
                          <a:pt x="6" y="0"/>
                          <a:pt x="6" y="0"/>
                        </a:cubicBezTo>
                        <a:cubicBezTo>
                          <a:pt x="3" y="0"/>
                          <a:pt x="0" y="2"/>
                          <a:pt x="0" y="6"/>
                        </a:cubicBezTo>
                        <a:cubicBezTo>
                          <a:pt x="0" y="114"/>
                          <a:pt x="0" y="114"/>
                          <a:pt x="0" y="114"/>
                        </a:cubicBezTo>
                        <a:cubicBezTo>
                          <a:pt x="0" y="118"/>
                          <a:pt x="3" y="120"/>
                          <a:pt x="6" y="120"/>
                        </a:cubicBezTo>
                        <a:cubicBezTo>
                          <a:pt x="115" y="120"/>
                          <a:pt x="115" y="120"/>
                          <a:pt x="115" y="120"/>
                        </a:cubicBezTo>
                        <a:cubicBezTo>
                          <a:pt x="118" y="120"/>
                          <a:pt x="121" y="118"/>
                          <a:pt x="121" y="114"/>
                        </a:cubicBezTo>
                        <a:lnTo>
                          <a:pt x="121"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64" name="Freeform 80">
                    <a:extLst>
                      <a:ext uri="{FF2B5EF4-FFF2-40B4-BE49-F238E27FC236}">
                        <a16:creationId xmlns:a16="http://schemas.microsoft.com/office/drawing/2014/main" id="{0AAD0275-1107-E10A-0694-E03889BEACB2}"/>
                      </a:ext>
                    </a:extLst>
                  </p:cNvPr>
                  <p:cNvSpPr>
                    <a:spLocks/>
                  </p:cNvSpPr>
                  <p:nvPr/>
                </p:nvSpPr>
                <p:spPr bwMode="auto">
                  <a:xfrm>
                    <a:off x="9148763" y="1920875"/>
                    <a:ext cx="592137" cy="860425"/>
                  </a:xfrm>
                  <a:custGeom>
                    <a:avLst/>
                    <a:gdLst>
                      <a:gd name="T0" fmla="*/ 739 w 767"/>
                      <a:gd name="T1" fmla="*/ 1087 h 1115"/>
                      <a:gd name="T2" fmla="*/ 603 w 767"/>
                      <a:gd name="T3" fmla="*/ 1087 h 1115"/>
                      <a:gd name="T4" fmla="*/ 566 w 767"/>
                      <a:gd name="T5" fmla="*/ 1087 h 1115"/>
                      <a:gd name="T6" fmla="*/ 28 w 767"/>
                      <a:gd name="T7" fmla="*/ 1087 h 1115"/>
                      <a:gd name="T8" fmla="*/ 28 w 767"/>
                      <a:gd name="T9" fmla="*/ 28 h 1115"/>
                      <a:gd name="T10" fmla="*/ 148 w 767"/>
                      <a:gd name="T11" fmla="*/ 28 h 1115"/>
                      <a:gd name="T12" fmla="*/ 138 w 767"/>
                      <a:gd name="T13" fmla="*/ 0 h 1115"/>
                      <a:gd name="T14" fmla="*/ 14 w 767"/>
                      <a:gd name="T15" fmla="*/ 0 h 1115"/>
                      <a:gd name="T16" fmla="*/ 0 w 767"/>
                      <a:gd name="T17" fmla="*/ 14 h 1115"/>
                      <a:gd name="T18" fmla="*/ 0 w 767"/>
                      <a:gd name="T19" fmla="*/ 1101 h 1115"/>
                      <a:gd name="T20" fmla="*/ 14 w 767"/>
                      <a:gd name="T21" fmla="*/ 1115 h 1115"/>
                      <a:gd name="T22" fmla="*/ 556 w 767"/>
                      <a:gd name="T23" fmla="*/ 1115 h 1115"/>
                      <a:gd name="T24" fmla="*/ 613 w 767"/>
                      <a:gd name="T25" fmla="*/ 1115 h 1115"/>
                      <a:gd name="T26" fmla="*/ 753 w 767"/>
                      <a:gd name="T27" fmla="*/ 1115 h 1115"/>
                      <a:gd name="T28" fmla="*/ 767 w 767"/>
                      <a:gd name="T29" fmla="*/ 1101 h 1115"/>
                      <a:gd name="T30" fmla="*/ 767 w 767"/>
                      <a:gd name="T31" fmla="*/ 857 h 1115"/>
                      <a:gd name="T32" fmla="*/ 739 w 767"/>
                      <a:gd name="T33" fmla="*/ 862 h 1115"/>
                      <a:gd name="T34" fmla="*/ 739 w 767"/>
                      <a:gd name="T35" fmla="*/ 1087 h 1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7" h="1115">
                        <a:moveTo>
                          <a:pt x="739" y="1087"/>
                        </a:moveTo>
                        <a:cubicBezTo>
                          <a:pt x="603" y="1087"/>
                          <a:pt x="603" y="1087"/>
                          <a:pt x="603" y="1087"/>
                        </a:cubicBezTo>
                        <a:cubicBezTo>
                          <a:pt x="566" y="1087"/>
                          <a:pt x="566" y="1087"/>
                          <a:pt x="566" y="1087"/>
                        </a:cubicBezTo>
                        <a:cubicBezTo>
                          <a:pt x="28" y="1087"/>
                          <a:pt x="28" y="1087"/>
                          <a:pt x="28" y="1087"/>
                        </a:cubicBezTo>
                        <a:cubicBezTo>
                          <a:pt x="28" y="28"/>
                          <a:pt x="28" y="28"/>
                          <a:pt x="28" y="28"/>
                        </a:cubicBezTo>
                        <a:cubicBezTo>
                          <a:pt x="148" y="28"/>
                          <a:pt x="148" y="28"/>
                          <a:pt x="148" y="28"/>
                        </a:cubicBezTo>
                        <a:cubicBezTo>
                          <a:pt x="144" y="20"/>
                          <a:pt x="140" y="10"/>
                          <a:pt x="138" y="0"/>
                        </a:cubicBezTo>
                        <a:cubicBezTo>
                          <a:pt x="14" y="0"/>
                          <a:pt x="14" y="0"/>
                          <a:pt x="14" y="0"/>
                        </a:cubicBezTo>
                        <a:cubicBezTo>
                          <a:pt x="6" y="0"/>
                          <a:pt x="0" y="7"/>
                          <a:pt x="0" y="14"/>
                        </a:cubicBezTo>
                        <a:cubicBezTo>
                          <a:pt x="0" y="1101"/>
                          <a:pt x="0" y="1101"/>
                          <a:pt x="0" y="1101"/>
                        </a:cubicBezTo>
                        <a:cubicBezTo>
                          <a:pt x="0" y="1109"/>
                          <a:pt x="6" y="1115"/>
                          <a:pt x="14" y="1115"/>
                        </a:cubicBezTo>
                        <a:cubicBezTo>
                          <a:pt x="556" y="1115"/>
                          <a:pt x="556" y="1115"/>
                          <a:pt x="556" y="1115"/>
                        </a:cubicBezTo>
                        <a:cubicBezTo>
                          <a:pt x="613" y="1115"/>
                          <a:pt x="613" y="1115"/>
                          <a:pt x="613" y="1115"/>
                        </a:cubicBezTo>
                        <a:cubicBezTo>
                          <a:pt x="753" y="1115"/>
                          <a:pt x="753" y="1115"/>
                          <a:pt x="753" y="1115"/>
                        </a:cubicBezTo>
                        <a:cubicBezTo>
                          <a:pt x="761" y="1115"/>
                          <a:pt x="767" y="1109"/>
                          <a:pt x="767" y="1101"/>
                        </a:cubicBezTo>
                        <a:cubicBezTo>
                          <a:pt x="767" y="857"/>
                          <a:pt x="767" y="857"/>
                          <a:pt x="767" y="857"/>
                        </a:cubicBezTo>
                        <a:cubicBezTo>
                          <a:pt x="758" y="859"/>
                          <a:pt x="749" y="860"/>
                          <a:pt x="739" y="862"/>
                        </a:cubicBezTo>
                        <a:lnTo>
                          <a:pt x="739" y="10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65" name="Freeform 81">
                    <a:extLst>
                      <a:ext uri="{FF2B5EF4-FFF2-40B4-BE49-F238E27FC236}">
                        <a16:creationId xmlns:a16="http://schemas.microsoft.com/office/drawing/2014/main" id="{2102939B-A924-CA2F-3642-4470AFC7B4B3}"/>
                      </a:ext>
                    </a:extLst>
                  </p:cNvPr>
                  <p:cNvSpPr>
                    <a:spLocks/>
                  </p:cNvSpPr>
                  <p:nvPr/>
                </p:nvSpPr>
                <p:spPr bwMode="auto">
                  <a:xfrm>
                    <a:off x="9282113" y="1882775"/>
                    <a:ext cx="328612" cy="100013"/>
                  </a:xfrm>
                  <a:custGeom>
                    <a:avLst/>
                    <a:gdLst>
                      <a:gd name="T0" fmla="*/ 96 w 426"/>
                      <a:gd name="T1" fmla="*/ 129 h 129"/>
                      <a:gd name="T2" fmla="*/ 331 w 426"/>
                      <a:gd name="T3" fmla="*/ 129 h 129"/>
                      <a:gd name="T4" fmla="*/ 426 w 426"/>
                      <a:gd name="T5" fmla="*/ 33 h 129"/>
                      <a:gd name="T6" fmla="*/ 426 w 426"/>
                      <a:gd name="T7" fmla="*/ 15 h 129"/>
                      <a:gd name="T8" fmla="*/ 412 w 426"/>
                      <a:gd name="T9" fmla="*/ 0 h 129"/>
                      <a:gd name="T10" fmla="*/ 15 w 426"/>
                      <a:gd name="T11" fmla="*/ 0 h 129"/>
                      <a:gd name="T12" fmla="*/ 0 w 426"/>
                      <a:gd name="T13" fmla="*/ 15 h 129"/>
                      <a:gd name="T14" fmla="*/ 0 w 426"/>
                      <a:gd name="T15" fmla="*/ 33 h 129"/>
                      <a:gd name="T16" fmla="*/ 96 w 426"/>
                      <a:gd name="T17" fmla="*/ 12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9">
                        <a:moveTo>
                          <a:pt x="96" y="129"/>
                        </a:moveTo>
                        <a:cubicBezTo>
                          <a:pt x="331" y="129"/>
                          <a:pt x="331" y="129"/>
                          <a:pt x="331" y="129"/>
                        </a:cubicBezTo>
                        <a:cubicBezTo>
                          <a:pt x="383" y="129"/>
                          <a:pt x="426" y="86"/>
                          <a:pt x="426" y="33"/>
                        </a:cubicBezTo>
                        <a:cubicBezTo>
                          <a:pt x="426" y="15"/>
                          <a:pt x="426" y="15"/>
                          <a:pt x="426" y="15"/>
                        </a:cubicBezTo>
                        <a:cubicBezTo>
                          <a:pt x="426" y="7"/>
                          <a:pt x="420" y="0"/>
                          <a:pt x="412" y="0"/>
                        </a:cubicBezTo>
                        <a:cubicBezTo>
                          <a:pt x="15" y="0"/>
                          <a:pt x="15" y="0"/>
                          <a:pt x="15" y="0"/>
                        </a:cubicBezTo>
                        <a:cubicBezTo>
                          <a:pt x="7" y="0"/>
                          <a:pt x="0" y="7"/>
                          <a:pt x="0" y="15"/>
                        </a:cubicBezTo>
                        <a:cubicBezTo>
                          <a:pt x="0" y="33"/>
                          <a:pt x="0" y="33"/>
                          <a:pt x="0" y="33"/>
                        </a:cubicBezTo>
                        <a:cubicBezTo>
                          <a:pt x="0" y="86"/>
                          <a:pt x="43" y="129"/>
                          <a:pt x="96" y="1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66" name="Freeform 82">
                    <a:extLst>
                      <a:ext uri="{FF2B5EF4-FFF2-40B4-BE49-F238E27FC236}">
                        <a16:creationId xmlns:a16="http://schemas.microsoft.com/office/drawing/2014/main" id="{20519574-26E9-25C2-089B-72C1E02DFCED}"/>
                      </a:ext>
                    </a:extLst>
                  </p:cNvPr>
                  <p:cNvSpPr>
                    <a:spLocks/>
                  </p:cNvSpPr>
                  <p:nvPr/>
                </p:nvSpPr>
                <p:spPr bwMode="auto">
                  <a:xfrm>
                    <a:off x="9394825" y="2466975"/>
                    <a:ext cx="103187" cy="17463"/>
                  </a:xfrm>
                  <a:custGeom>
                    <a:avLst/>
                    <a:gdLst>
                      <a:gd name="T0" fmla="*/ 0 w 134"/>
                      <a:gd name="T1" fmla="*/ 0 h 24"/>
                      <a:gd name="T2" fmla="*/ 0 w 134"/>
                      <a:gd name="T3" fmla="*/ 24 h 24"/>
                      <a:gd name="T4" fmla="*/ 134 w 134"/>
                      <a:gd name="T5" fmla="*/ 24 h 24"/>
                      <a:gd name="T6" fmla="*/ 119 w 134"/>
                      <a:gd name="T7" fmla="*/ 0 h 24"/>
                      <a:gd name="T8" fmla="*/ 0 w 134"/>
                      <a:gd name="T9" fmla="*/ 0 h 24"/>
                    </a:gdLst>
                    <a:ahLst/>
                    <a:cxnLst>
                      <a:cxn ang="0">
                        <a:pos x="T0" y="T1"/>
                      </a:cxn>
                      <a:cxn ang="0">
                        <a:pos x="T2" y="T3"/>
                      </a:cxn>
                      <a:cxn ang="0">
                        <a:pos x="T4" y="T5"/>
                      </a:cxn>
                      <a:cxn ang="0">
                        <a:pos x="T6" y="T7"/>
                      </a:cxn>
                      <a:cxn ang="0">
                        <a:pos x="T8" y="T9"/>
                      </a:cxn>
                    </a:cxnLst>
                    <a:rect l="0" t="0" r="r" b="b"/>
                    <a:pathLst>
                      <a:path w="134" h="24">
                        <a:moveTo>
                          <a:pt x="0" y="0"/>
                        </a:moveTo>
                        <a:cubicBezTo>
                          <a:pt x="0" y="24"/>
                          <a:pt x="0" y="24"/>
                          <a:pt x="0" y="24"/>
                        </a:cubicBezTo>
                        <a:cubicBezTo>
                          <a:pt x="134" y="24"/>
                          <a:pt x="134" y="24"/>
                          <a:pt x="134" y="24"/>
                        </a:cubicBezTo>
                        <a:cubicBezTo>
                          <a:pt x="129" y="16"/>
                          <a:pt x="124" y="8"/>
                          <a:pt x="119"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67" name="Freeform 83">
                    <a:extLst>
                      <a:ext uri="{FF2B5EF4-FFF2-40B4-BE49-F238E27FC236}">
                        <a16:creationId xmlns:a16="http://schemas.microsoft.com/office/drawing/2014/main" id="{93C5A29C-9B1F-9C8D-3EBE-3AE42B3D8FB2}"/>
                      </a:ext>
                    </a:extLst>
                  </p:cNvPr>
                  <p:cNvSpPr>
                    <a:spLocks/>
                  </p:cNvSpPr>
                  <p:nvPr/>
                </p:nvSpPr>
                <p:spPr bwMode="auto">
                  <a:xfrm>
                    <a:off x="9394825" y="2406650"/>
                    <a:ext cx="73025" cy="17463"/>
                  </a:xfrm>
                  <a:custGeom>
                    <a:avLst/>
                    <a:gdLst>
                      <a:gd name="T0" fmla="*/ 0 w 95"/>
                      <a:gd name="T1" fmla="*/ 0 h 24"/>
                      <a:gd name="T2" fmla="*/ 0 w 95"/>
                      <a:gd name="T3" fmla="*/ 24 h 24"/>
                      <a:gd name="T4" fmla="*/ 95 w 95"/>
                      <a:gd name="T5" fmla="*/ 24 h 24"/>
                      <a:gd name="T6" fmla="*/ 89 w 95"/>
                      <a:gd name="T7" fmla="*/ 0 h 24"/>
                      <a:gd name="T8" fmla="*/ 0 w 95"/>
                      <a:gd name="T9" fmla="*/ 0 h 24"/>
                    </a:gdLst>
                    <a:ahLst/>
                    <a:cxnLst>
                      <a:cxn ang="0">
                        <a:pos x="T0" y="T1"/>
                      </a:cxn>
                      <a:cxn ang="0">
                        <a:pos x="T2" y="T3"/>
                      </a:cxn>
                      <a:cxn ang="0">
                        <a:pos x="T4" y="T5"/>
                      </a:cxn>
                      <a:cxn ang="0">
                        <a:pos x="T6" y="T7"/>
                      </a:cxn>
                      <a:cxn ang="0">
                        <a:pos x="T8" y="T9"/>
                      </a:cxn>
                    </a:cxnLst>
                    <a:rect l="0" t="0" r="r" b="b"/>
                    <a:pathLst>
                      <a:path w="95" h="24">
                        <a:moveTo>
                          <a:pt x="0" y="0"/>
                        </a:moveTo>
                        <a:cubicBezTo>
                          <a:pt x="0" y="24"/>
                          <a:pt x="0" y="24"/>
                          <a:pt x="0" y="24"/>
                        </a:cubicBezTo>
                        <a:cubicBezTo>
                          <a:pt x="95" y="24"/>
                          <a:pt x="95" y="24"/>
                          <a:pt x="95" y="24"/>
                        </a:cubicBezTo>
                        <a:cubicBezTo>
                          <a:pt x="93" y="16"/>
                          <a:pt x="91" y="8"/>
                          <a:pt x="89"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68" name="Freeform 84">
                    <a:extLst>
                      <a:ext uri="{FF2B5EF4-FFF2-40B4-BE49-F238E27FC236}">
                        <a16:creationId xmlns:a16="http://schemas.microsoft.com/office/drawing/2014/main" id="{9C111E72-9FCF-E16F-4733-F3AB0BB5FB00}"/>
                      </a:ext>
                    </a:extLst>
                  </p:cNvPr>
                  <p:cNvSpPr>
                    <a:spLocks/>
                  </p:cNvSpPr>
                  <p:nvPr/>
                </p:nvSpPr>
                <p:spPr bwMode="auto">
                  <a:xfrm>
                    <a:off x="9628188" y="1920875"/>
                    <a:ext cx="112712" cy="200025"/>
                  </a:xfrm>
                  <a:custGeom>
                    <a:avLst/>
                    <a:gdLst>
                      <a:gd name="T0" fmla="*/ 119 w 147"/>
                      <a:gd name="T1" fmla="*/ 254 h 259"/>
                      <a:gd name="T2" fmla="*/ 147 w 147"/>
                      <a:gd name="T3" fmla="*/ 259 h 259"/>
                      <a:gd name="T4" fmla="*/ 147 w 147"/>
                      <a:gd name="T5" fmla="*/ 14 h 259"/>
                      <a:gd name="T6" fmla="*/ 133 w 147"/>
                      <a:gd name="T7" fmla="*/ 0 h 259"/>
                      <a:gd name="T8" fmla="*/ 10 w 147"/>
                      <a:gd name="T9" fmla="*/ 0 h 259"/>
                      <a:gd name="T10" fmla="*/ 0 w 147"/>
                      <a:gd name="T11" fmla="*/ 28 h 259"/>
                      <a:gd name="T12" fmla="*/ 119 w 147"/>
                      <a:gd name="T13" fmla="*/ 28 h 259"/>
                      <a:gd name="T14" fmla="*/ 119 w 147"/>
                      <a:gd name="T15" fmla="*/ 254 h 2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 h="259">
                        <a:moveTo>
                          <a:pt x="119" y="254"/>
                        </a:moveTo>
                        <a:cubicBezTo>
                          <a:pt x="129" y="255"/>
                          <a:pt x="138" y="257"/>
                          <a:pt x="147" y="259"/>
                        </a:cubicBezTo>
                        <a:cubicBezTo>
                          <a:pt x="147" y="14"/>
                          <a:pt x="147" y="14"/>
                          <a:pt x="147" y="14"/>
                        </a:cubicBezTo>
                        <a:cubicBezTo>
                          <a:pt x="147" y="7"/>
                          <a:pt x="141" y="0"/>
                          <a:pt x="133" y="0"/>
                        </a:cubicBezTo>
                        <a:cubicBezTo>
                          <a:pt x="10" y="0"/>
                          <a:pt x="10" y="0"/>
                          <a:pt x="10" y="0"/>
                        </a:cubicBezTo>
                        <a:cubicBezTo>
                          <a:pt x="8" y="10"/>
                          <a:pt x="5" y="20"/>
                          <a:pt x="0" y="28"/>
                        </a:cubicBezTo>
                        <a:cubicBezTo>
                          <a:pt x="119" y="28"/>
                          <a:pt x="119" y="28"/>
                          <a:pt x="119" y="28"/>
                        </a:cubicBezTo>
                        <a:lnTo>
                          <a:pt x="119" y="2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grpSp>
        </p:grpSp>
      </p:grpSp>
      <p:grpSp>
        <p:nvGrpSpPr>
          <p:cNvPr id="192" name="Group 191">
            <a:extLst>
              <a:ext uri="{FF2B5EF4-FFF2-40B4-BE49-F238E27FC236}">
                <a16:creationId xmlns:a16="http://schemas.microsoft.com/office/drawing/2014/main" id="{BC1DAF09-E76E-2BB7-470B-460D82581087}"/>
              </a:ext>
            </a:extLst>
          </p:cNvPr>
          <p:cNvGrpSpPr/>
          <p:nvPr/>
        </p:nvGrpSpPr>
        <p:grpSpPr>
          <a:xfrm>
            <a:off x="7626512" y="5116086"/>
            <a:ext cx="4320106" cy="1109584"/>
            <a:chOff x="7788562" y="4921889"/>
            <a:chExt cx="4320106" cy="1109584"/>
          </a:xfrm>
        </p:grpSpPr>
        <p:sp>
          <p:nvSpPr>
            <p:cNvPr id="193" name="Rectangle 192">
              <a:extLst>
                <a:ext uri="{FF2B5EF4-FFF2-40B4-BE49-F238E27FC236}">
                  <a16:creationId xmlns:a16="http://schemas.microsoft.com/office/drawing/2014/main" id="{9559E5F8-144C-6784-BEAB-B9A239091565}"/>
                </a:ext>
              </a:extLst>
            </p:cNvPr>
            <p:cNvSpPr/>
            <p:nvPr/>
          </p:nvSpPr>
          <p:spPr>
            <a:xfrm>
              <a:off x="7788562" y="4921889"/>
              <a:ext cx="4320106" cy="1109584"/>
            </a:xfrm>
            <a:prstGeom prst="rect">
              <a:avLst/>
            </a:prstGeom>
            <a:solidFill>
              <a:schemeClr val="bg1">
                <a:alpha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pic>
          <p:nvPicPr>
            <p:cNvPr id="194" name="Picture 2" descr="File:The World Bank logo.svg - Wikimedia Commons">
              <a:extLst>
                <a:ext uri="{FF2B5EF4-FFF2-40B4-BE49-F238E27FC236}">
                  <a16:creationId xmlns:a16="http://schemas.microsoft.com/office/drawing/2014/main" id="{9DEF3B4E-A509-3423-5332-A46617218477}"/>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7895808" y="5114249"/>
              <a:ext cx="1375026" cy="341034"/>
            </a:xfrm>
            <a:prstGeom prst="rect">
              <a:avLst/>
            </a:prstGeom>
            <a:extLst>
              <a:ext uri="{909E8E84-426E-40DD-AFC4-6F175D3DCCD1}">
                <a14:hiddenFill xmlns:a14="http://schemas.microsoft.com/office/drawing/2010/main">
                  <a:solidFill>
                    <a:srgbClr val="FFFFFF"/>
                  </a:solidFill>
                </a14:hiddenFill>
              </a:ext>
            </a:extLst>
          </p:spPr>
        </p:pic>
        <p:pic>
          <p:nvPicPr>
            <p:cNvPr id="195" name="Picture 4" descr="International Monetary Fund - Wikipedia">
              <a:extLst>
                <a:ext uri="{FF2B5EF4-FFF2-40B4-BE49-F238E27FC236}">
                  <a16:creationId xmlns:a16="http://schemas.microsoft.com/office/drawing/2014/main" id="{A5E31DF2-167B-3BB7-6184-D695C630C30D}"/>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587292" y="5083725"/>
              <a:ext cx="780649" cy="795612"/>
            </a:xfrm>
            <a:prstGeom prst="rect">
              <a:avLst/>
            </a:prstGeom>
            <a:noFill/>
            <a:extLst>
              <a:ext uri="{909E8E84-426E-40DD-AFC4-6F175D3DCCD1}">
                <a14:hiddenFill xmlns:a14="http://schemas.microsoft.com/office/drawing/2010/main">
                  <a:solidFill>
                    <a:srgbClr val="FFFFFF"/>
                  </a:solidFill>
                </a14:hiddenFill>
              </a:ext>
            </a:extLst>
          </p:spPr>
        </p:pic>
        <p:pic>
          <p:nvPicPr>
            <p:cNvPr id="196" name="Picture 6" descr="File:World Economic Forum logo.svg - Wikimedia Commons">
              <a:extLst>
                <a:ext uri="{FF2B5EF4-FFF2-40B4-BE49-F238E27FC236}">
                  <a16:creationId xmlns:a16="http://schemas.microsoft.com/office/drawing/2014/main" id="{2E2ED86F-F160-ABEF-8D61-659481D424E1}"/>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10721226" y="5063104"/>
              <a:ext cx="1075425" cy="664579"/>
            </a:xfrm>
            <a:prstGeom prst="rect">
              <a:avLst/>
            </a:prstGeom>
            <a:noFill/>
            <a:extLst>
              <a:ext uri="{909E8E84-426E-40DD-AFC4-6F175D3DCCD1}">
                <a14:hiddenFill xmlns:a14="http://schemas.microsoft.com/office/drawing/2010/main">
                  <a:solidFill>
                    <a:srgbClr val="FFFFFF"/>
                  </a:solidFill>
                </a14:hiddenFill>
              </a:ext>
            </a:extLst>
          </p:spPr>
        </p:pic>
        <p:pic>
          <p:nvPicPr>
            <p:cNvPr id="197" name="Picture 8" descr="File:Eurostat Newlogo.png - Wikimedia Commons">
              <a:extLst>
                <a:ext uri="{FF2B5EF4-FFF2-40B4-BE49-F238E27FC236}">
                  <a16:creationId xmlns:a16="http://schemas.microsoft.com/office/drawing/2014/main" id="{02E20E4F-D3AD-D757-E5B4-2DBD50D75902}"/>
                </a:ext>
              </a:extLst>
            </p:cNvPr>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7883175" y="5465858"/>
              <a:ext cx="1417847" cy="46744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8" name="Group 197">
            <a:extLst>
              <a:ext uri="{FF2B5EF4-FFF2-40B4-BE49-F238E27FC236}">
                <a16:creationId xmlns:a16="http://schemas.microsoft.com/office/drawing/2014/main" id="{DD85B2FA-96BF-120E-46E8-19EA785F14B5}"/>
              </a:ext>
            </a:extLst>
          </p:cNvPr>
          <p:cNvGrpSpPr/>
          <p:nvPr/>
        </p:nvGrpSpPr>
        <p:grpSpPr>
          <a:xfrm>
            <a:off x="7626512" y="2866317"/>
            <a:ext cx="4320106" cy="1979094"/>
            <a:chOff x="7788562" y="2704267"/>
            <a:chExt cx="4320106" cy="1979094"/>
          </a:xfrm>
        </p:grpSpPr>
        <p:sp>
          <p:nvSpPr>
            <p:cNvPr id="199" name="Rectangle 198">
              <a:extLst>
                <a:ext uri="{FF2B5EF4-FFF2-40B4-BE49-F238E27FC236}">
                  <a16:creationId xmlns:a16="http://schemas.microsoft.com/office/drawing/2014/main" id="{A69E2DA7-0D7D-F279-3422-7F5DA452CCE3}"/>
                </a:ext>
              </a:extLst>
            </p:cNvPr>
            <p:cNvSpPr/>
            <p:nvPr/>
          </p:nvSpPr>
          <p:spPr>
            <a:xfrm>
              <a:off x="7788562" y="2704267"/>
              <a:ext cx="4320106" cy="1971812"/>
            </a:xfrm>
            <a:prstGeom prst="rect">
              <a:avLst/>
            </a:prstGeom>
            <a:solidFill>
              <a:schemeClr val="bg1">
                <a:alpha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pic>
          <p:nvPicPr>
            <p:cNvPr id="200" name="Picture 2" descr="Home - GlobalData">
              <a:hlinkClick r:id="rId6"/>
              <a:extLst>
                <a:ext uri="{FF2B5EF4-FFF2-40B4-BE49-F238E27FC236}">
                  <a16:creationId xmlns:a16="http://schemas.microsoft.com/office/drawing/2014/main" id="{66EC9FD5-CCB5-FF5F-520F-A706F7ABE04F}"/>
                </a:ext>
              </a:extLst>
            </p:cNvPr>
            <p:cNvPicPr>
              <a:picLocks noChangeAspect="1" noChangeArrowheads="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7909538" y="2950077"/>
              <a:ext cx="1512592" cy="300118"/>
            </a:xfrm>
            <a:prstGeom prst="rect">
              <a:avLst/>
            </a:prstGeom>
            <a:noFill/>
            <a:extLst>
              <a:ext uri="{909E8E84-426E-40DD-AFC4-6F175D3DCCD1}">
                <a14:hiddenFill xmlns:a14="http://schemas.microsoft.com/office/drawing/2010/main">
                  <a:solidFill>
                    <a:srgbClr val="FFFFFF"/>
                  </a:solidFill>
                </a14:hiddenFill>
              </a:ext>
            </a:extLst>
          </p:spPr>
        </p:pic>
        <p:pic>
          <p:nvPicPr>
            <p:cNvPr id="201" name="Picture 10">
              <a:hlinkClick r:id="rId8"/>
              <a:extLst>
                <a:ext uri="{FF2B5EF4-FFF2-40B4-BE49-F238E27FC236}">
                  <a16:creationId xmlns:a16="http://schemas.microsoft.com/office/drawing/2014/main" id="{0E956037-052F-F874-1048-BFE02B4DA4B4}"/>
                </a:ext>
              </a:extLst>
            </p:cNvPr>
            <p:cNvPicPr>
              <a:picLocks noChangeAspect="1" noChangeArrowheads="1"/>
            </p:cNvPicPr>
            <p:nvPr/>
          </p:nvPicPr>
          <p:blipFill>
            <a:blip r:embed="rId9" cstate="hqprint">
              <a:extLst>
                <a:ext uri="{28A0092B-C50C-407E-A947-70E740481C1C}">
                  <a14:useLocalDpi xmlns:a14="http://schemas.microsoft.com/office/drawing/2010/main" val="0"/>
                </a:ext>
              </a:extLst>
            </a:blip>
            <a:srcRect/>
            <a:stretch>
              <a:fillRect/>
            </a:stretch>
          </p:blipFill>
          <p:spPr bwMode="auto">
            <a:xfrm>
              <a:off x="10195331" y="3384644"/>
              <a:ext cx="1228053" cy="212862"/>
            </a:xfrm>
            <a:prstGeom prst="rect">
              <a:avLst/>
            </a:prstGeom>
            <a:noFill/>
            <a:extLst>
              <a:ext uri="{909E8E84-426E-40DD-AFC4-6F175D3DCCD1}">
                <a14:hiddenFill xmlns:a14="http://schemas.microsoft.com/office/drawing/2010/main">
                  <a:solidFill>
                    <a:srgbClr val="FFFFFF"/>
                  </a:solidFill>
                </a14:hiddenFill>
              </a:ext>
            </a:extLst>
          </p:spPr>
        </p:pic>
        <p:pic>
          <p:nvPicPr>
            <p:cNvPr id="202" name="Picture 14" descr="The Business Research Company (TBRC) Market Briefs - Industry Research  Reports">
              <a:hlinkClick r:id="rId10"/>
              <a:extLst>
                <a:ext uri="{FF2B5EF4-FFF2-40B4-BE49-F238E27FC236}">
                  <a16:creationId xmlns:a16="http://schemas.microsoft.com/office/drawing/2014/main" id="{5A2674E8-1C44-9A43-45B4-A4DA4B98576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92344" y="4157428"/>
              <a:ext cx="1263024" cy="370486"/>
            </a:xfrm>
            <a:prstGeom prst="rect">
              <a:avLst/>
            </a:prstGeom>
            <a:noFill/>
            <a:extLst>
              <a:ext uri="{909E8E84-426E-40DD-AFC4-6F175D3DCCD1}">
                <a14:hiddenFill xmlns:a14="http://schemas.microsoft.com/office/drawing/2010/main">
                  <a:solidFill>
                    <a:srgbClr val="FFFFFF"/>
                  </a:solidFill>
                </a14:hiddenFill>
              </a:ext>
            </a:extLst>
          </p:spPr>
        </p:pic>
        <p:pic>
          <p:nvPicPr>
            <p:cNvPr id="203" name="Picture 6" descr="Watch: Integrate Capital IQ data">
              <a:extLst>
                <a:ext uri="{FF2B5EF4-FFF2-40B4-BE49-F238E27FC236}">
                  <a16:creationId xmlns:a16="http://schemas.microsoft.com/office/drawing/2014/main" id="{D5EF0D75-92B1-ACE8-CA25-ED2CAD157C0D}"/>
                </a:ext>
              </a:extLst>
            </p:cNvPr>
            <p:cNvPicPr>
              <a:picLocks noChangeAspect="1" noChangeArrowheads="1"/>
            </p:cNvPicPr>
            <p:nvPr/>
          </p:nvPicPr>
          <p:blipFill>
            <a:blip r:embed="rId12" cstate="hqprint">
              <a:extLst>
                <a:ext uri="{28A0092B-C50C-407E-A947-70E740481C1C}">
                  <a14:useLocalDpi xmlns:a14="http://schemas.microsoft.com/office/drawing/2010/main" val="0"/>
                </a:ext>
              </a:extLst>
            </a:blip>
            <a:srcRect/>
            <a:stretch>
              <a:fillRect/>
            </a:stretch>
          </p:blipFill>
          <p:spPr bwMode="auto">
            <a:xfrm>
              <a:off x="8035869" y="3264375"/>
              <a:ext cx="942706" cy="517994"/>
            </a:xfrm>
            <a:prstGeom prst="rect">
              <a:avLst/>
            </a:prstGeom>
            <a:noFill/>
            <a:extLst>
              <a:ext uri="{909E8E84-426E-40DD-AFC4-6F175D3DCCD1}">
                <a14:hiddenFill xmlns:a14="http://schemas.microsoft.com/office/drawing/2010/main">
                  <a:solidFill>
                    <a:srgbClr val="FFFFFF"/>
                  </a:solidFill>
                </a14:hiddenFill>
              </a:ext>
            </a:extLst>
          </p:spPr>
        </p:pic>
        <p:pic>
          <p:nvPicPr>
            <p:cNvPr id="204" name="Picture 203">
              <a:extLst>
                <a:ext uri="{FF2B5EF4-FFF2-40B4-BE49-F238E27FC236}">
                  <a16:creationId xmlns:a16="http://schemas.microsoft.com/office/drawing/2014/main" id="{EE8610B6-A11E-7D2D-22D0-993AD136A586}"/>
                </a:ext>
              </a:extLst>
            </p:cNvPr>
            <p:cNvPicPr>
              <a:picLocks noChangeAspect="1"/>
            </p:cNvPicPr>
            <p:nvPr/>
          </p:nvPicPr>
          <p:blipFill>
            <a:blip r:embed="rId13"/>
            <a:stretch>
              <a:fillRect/>
            </a:stretch>
          </p:blipFill>
          <p:spPr>
            <a:xfrm>
              <a:off x="9243495" y="3419354"/>
              <a:ext cx="734121" cy="222461"/>
            </a:xfrm>
            <a:prstGeom prst="rect">
              <a:avLst/>
            </a:prstGeom>
          </p:spPr>
        </p:pic>
        <p:pic>
          <p:nvPicPr>
            <p:cNvPr id="205" name="Picture 204">
              <a:extLst>
                <a:ext uri="{FF2B5EF4-FFF2-40B4-BE49-F238E27FC236}">
                  <a16:creationId xmlns:a16="http://schemas.microsoft.com/office/drawing/2014/main" id="{5D461FCF-7CC7-2E79-1DD0-79C03B480D9F}"/>
                </a:ext>
              </a:extLst>
            </p:cNvPr>
            <p:cNvPicPr>
              <a:picLocks noChangeAspect="1"/>
            </p:cNvPicPr>
            <p:nvPr/>
          </p:nvPicPr>
          <p:blipFill>
            <a:blip r:embed="rId14">
              <a:clrChange>
                <a:clrFrom>
                  <a:srgbClr val="FFFFFF"/>
                </a:clrFrom>
                <a:clrTo>
                  <a:srgbClr val="FFFFFF">
                    <a:alpha val="0"/>
                  </a:srgbClr>
                </a:clrTo>
              </a:clrChange>
            </a:blip>
            <a:stretch>
              <a:fillRect/>
            </a:stretch>
          </p:blipFill>
          <p:spPr>
            <a:xfrm>
              <a:off x="8052190" y="3787125"/>
              <a:ext cx="1218644" cy="232802"/>
            </a:xfrm>
            <a:prstGeom prst="rect">
              <a:avLst/>
            </a:prstGeom>
          </p:spPr>
        </p:pic>
        <p:pic>
          <p:nvPicPr>
            <p:cNvPr id="206" name="Picture 205">
              <a:extLst>
                <a:ext uri="{FF2B5EF4-FFF2-40B4-BE49-F238E27FC236}">
                  <a16:creationId xmlns:a16="http://schemas.microsoft.com/office/drawing/2014/main" id="{081797FD-2807-D4E8-6CAB-294A6DC29E32}"/>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10120648" y="2878858"/>
              <a:ext cx="1201156" cy="298955"/>
            </a:xfrm>
            <a:prstGeom prst="rect">
              <a:avLst/>
            </a:prstGeom>
          </p:spPr>
        </p:pic>
        <p:pic>
          <p:nvPicPr>
            <p:cNvPr id="207" name="Picture 206">
              <a:extLst>
                <a:ext uri="{FF2B5EF4-FFF2-40B4-BE49-F238E27FC236}">
                  <a16:creationId xmlns:a16="http://schemas.microsoft.com/office/drawing/2014/main" id="{5A448AB9-3209-127F-34D9-8544844B538E}"/>
                </a:ext>
              </a:extLst>
            </p:cNvPr>
            <p:cNvPicPr>
              <a:picLocks noChangeAspect="1"/>
            </p:cNvPicPr>
            <p:nvPr/>
          </p:nvPicPr>
          <p:blipFill>
            <a:blip r:embed="rId16">
              <a:clrChange>
                <a:clrFrom>
                  <a:srgbClr val="FFFFFF"/>
                </a:clrFrom>
                <a:clrTo>
                  <a:srgbClr val="FFFFFF">
                    <a:alpha val="0"/>
                  </a:srgbClr>
                </a:clrTo>
              </a:clrChange>
            </a:blip>
            <a:stretch>
              <a:fillRect/>
            </a:stretch>
          </p:blipFill>
          <p:spPr>
            <a:xfrm>
              <a:off x="10146719" y="4232745"/>
              <a:ext cx="1685925" cy="450616"/>
            </a:xfrm>
            <a:prstGeom prst="rect">
              <a:avLst/>
            </a:prstGeom>
          </p:spPr>
        </p:pic>
        <p:pic>
          <p:nvPicPr>
            <p:cNvPr id="208" name="Picture 207">
              <a:extLst>
                <a:ext uri="{FF2B5EF4-FFF2-40B4-BE49-F238E27FC236}">
                  <a16:creationId xmlns:a16="http://schemas.microsoft.com/office/drawing/2014/main" id="{F73418F8-9189-5EE2-1B3E-4ABAFBFE1161}"/>
                </a:ext>
              </a:extLst>
            </p:cNvPr>
            <p:cNvPicPr>
              <a:picLocks noChangeAspect="1"/>
            </p:cNvPicPr>
            <p:nvPr/>
          </p:nvPicPr>
          <p:blipFill>
            <a:blip r:embed="rId17">
              <a:clrChange>
                <a:clrFrom>
                  <a:srgbClr val="FFFFFF"/>
                </a:clrFrom>
                <a:clrTo>
                  <a:srgbClr val="FFFFFF">
                    <a:alpha val="0"/>
                  </a:srgbClr>
                </a:clrTo>
              </a:clrChange>
            </a:blip>
            <a:stretch>
              <a:fillRect/>
            </a:stretch>
          </p:blipFill>
          <p:spPr>
            <a:xfrm>
              <a:off x="9859150" y="3800439"/>
              <a:ext cx="1371600" cy="374073"/>
            </a:xfrm>
            <a:prstGeom prst="rect">
              <a:avLst/>
            </a:prstGeom>
          </p:spPr>
        </p:pic>
      </p:grpSp>
      <p:sp>
        <p:nvSpPr>
          <p:cNvPr id="211" name="Title 3">
            <a:extLst>
              <a:ext uri="{FF2B5EF4-FFF2-40B4-BE49-F238E27FC236}">
                <a16:creationId xmlns:a16="http://schemas.microsoft.com/office/drawing/2014/main" id="{E7B3C5D7-C990-D3E1-1CDD-25454204DF4C}"/>
              </a:ext>
            </a:extLst>
          </p:cNvPr>
          <p:cNvSpPr txBox="1">
            <a:spLocks/>
          </p:cNvSpPr>
          <p:nvPr/>
        </p:nvSpPr>
        <p:spPr>
          <a:xfrm>
            <a:off x="565446" y="271926"/>
            <a:ext cx="10702208" cy="792163"/>
          </a:xfrm>
          <a:prstGeom prst="rect">
            <a:avLst/>
          </a:prstGeom>
        </p:spPr>
        <p:txBody>
          <a:bodyPr vert="horz" lIns="0" tIns="0" rIns="0" bIns="180000" rtlCol="0" anchor="t" anchorCtr="0">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400" b="0" i="0" u="none" strike="noStrike" kern="1200" cap="none" spc="0" normalizeH="0" baseline="0" noProof="0">
                <a:ln>
                  <a:noFill/>
                </a:ln>
                <a:solidFill>
                  <a:schemeClr val="tx1"/>
                </a:solidFill>
                <a:effectLst/>
                <a:uLnTx/>
                <a:uFillTx/>
                <a:latin typeface="+mj-lt"/>
                <a:ea typeface="+mj-ea"/>
                <a:cs typeface="+mj-cs"/>
              </a:defRPr>
            </a:lvl1pPr>
          </a:lstStyle>
          <a:p>
            <a:r>
              <a:rPr lang="en-US">
                <a:solidFill>
                  <a:schemeClr val="bg1"/>
                </a:solidFill>
              </a:rPr>
              <a:t>Access to Premium Research Databases to validate information and generate reliable and value-added insights</a:t>
            </a:r>
          </a:p>
        </p:txBody>
      </p:sp>
      <p:sp>
        <p:nvSpPr>
          <p:cNvPr id="209" name="TextBox 208">
            <a:extLst>
              <a:ext uri="{FF2B5EF4-FFF2-40B4-BE49-F238E27FC236}">
                <a16:creationId xmlns:a16="http://schemas.microsoft.com/office/drawing/2014/main" id="{28BE0630-772C-DEE5-7DC8-9CFF1AEE821D}"/>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212" name="Date Placeholder 5">
            <a:extLst>
              <a:ext uri="{FF2B5EF4-FFF2-40B4-BE49-F238E27FC236}">
                <a16:creationId xmlns:a16="http://schemas.microsoft.com/office/drawing/2014/main" id="{67C1C29D-7F12-663A-FB44-55CDD4EBAE05}"/>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213" name="Date Placeholder 5">
            <a:extLst>
              <a:ext uri="{FF2B5EF4-FFF2-40B4-BE49-F238E27FC236}">
                <a16:creationId xmlns:a16="http://schemas.microsoft.com/office/drawing/2014/main" id="{B9B77A84-C3DF-DFA3-9256-BD03C019DF61}"/>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a:t>
            </a:r>
          </a:p>
        </p:txBody>
      </p:sp>
    </p:spTree>
    <p:extLst>
      <p:ext uri="{BB962C8B-B14F-4D97-AF65-F5344CB8AC3E}">
        <p14:creationId xmlns:p14="http://schemas.microsoft.com/office/powerpoint/2010/main" val="1906083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826F7-1A57-0EB8-FE61-5C8B2BF60C4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853774-1EAA-0563-93CC-23C9D297BB33}"/>
              </a:ext>
            </a:extLst>
          </p:cNvPr>
          <p:cNvSpPr>
            <a:spLocks noGrp="1"/>
          </p:cNvSpPr>
          <p:nvPr>
            <p:ph type="sldNum" sz="quarter" idx="4294967295"/>
          </p:nvPr>
        </p:nvSpPr>
        <p:spPr>
          <a:xfrm>
            <a:off x="11778341" y="6650661"/>
            <a:ext cx="232665" cy="123111"/>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1800" b="0" i="0" u="none" strike="noStrike" kern="1200" cap="none" spc="0" normalizeH="0" baseline="0" noProof="0" smtClean="0">
                <a:ln>
                  <a:noFill/>
                </a:ln>
                <a:solidFill>
                  <a:srgbClr val="000000"/>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pic>
        <p:nvPicPr>
          <p:cNvPr id="5" name="Picture 4">
            <a:extLst>
              <a:ext uri="{FF2B5EF4-FFF2-40B4-BE49-F238E27FC236}">
                <a16:creationId xmlns:a16="http://schemas.microsoft.com/office/drawing/2014/main" id="{66442BF0-C472-CE9B-FC95-30188368D13D}"/>
              </a:ext>
            </a:extLst>
          </p:cNvPr>
          <p:cNvPicPr>
            <a:picLocks noChangeAspect="1"/>
          </p:cNvPicPr>
          <p:nvPr/>
        </p:nvPicPr>
        <p:blipFill>
          <a:blip r:embed="rId2"/>
          <a:stretch>
            <a:fillRect/>
          </a:stretch>
        </p:blipFill>
        <p:spPr>
          <a:xfrm>
            <a:off x="10595509" y="0"/>
            <a:ext cx="1237002" cy="696510"/>
          </a:xfrm>
          <a:prstGeom prst="rect">
            <a:avLst/>
          </a:prstGeom>
        </p:spPr>
      </p:pic>
      <p:sp>
        <p:nvSpPr>
          <p:cNvPr id="8" name="Title 1">
            <a:extLst>
              <a:ext uri="{FF2B5EF4-FFF2-40B4-BE49-F238E27FC236}">
                <a16:creationId xmlns:a16="http://schemas.microsoft.com/office/drawing/2014/main" id="{717118BB-87BA-EB4C-AE3E-CA7BED39EC1D}"/>
              </a:ext>
            </a:extLst>
          </p:cNvPr>
          <p:cNvSpPr>
            <a:spLocks noGrp="1"/>
          </p:cNvSpPr>
          <p:nvPr>
            <p:ph type="title"/>
          </p:nvPr>
        </p:nvSpPr>
        <p:spPr>
          <a:xfrm>
            <a:off x="550339" y="3063874"/>
            <a:ext cx="11090275" cy="1079526"/>
          </a:xfrm>
        </p:spPr>
        <p:txBody>
          <a:bodyPr/>
          <a:lstStyle/>
          <a:p>
            <a:pPr algn="ctr"/>
            <a:r>
              <a:rPr lang="en-US"/>
              <a:t>CAPABILITIES AND ENABLERS</a:t>
            </a:r>
            <a:br>
              <a:rPr lang="en-US"/>
            </a:br>
            <a:r>
              <a:rPr lang="en-US" sz="1800"/>
              <a:t>Driving strategy and execution through Capgemini’s integrated research and consulting capabilities</a:t>
            </a:r>
            <a:endParaRPr lang="en-IN" sz="1800"/>
          </a:p>
        </p:txBody>
      </p:sp>
    </p:spTree>
    <p:extLst>
      <p:ext uri="{BB962C8B-B14F-4D97-AF65-F5344CB8AC3E}">
        <p14:creationId xmlns:p14="http://schemas.microsoft.com/office/powerpoint/2010/main" val="121084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A2557-C4FB-07CB-9311-994EB5B3DCB4}"/>
              </a:ext>
            </a:extLst>
          </p:cNvPr>
          <p:cNvSpPr>
            <a:spLocks noGrp="1"/>
          </p:cNvSpPr>
          <p:nvPr>
            <p:ph type="title"/>
          </p:nvPr>
        </p:nvSpPr>
        <p:spPr>
          <a:xfrm>
            <a:off x="550863" y="271480"/>
            <a:ext cx="10134823" cy="1079526"/>
          </a:xfrm>
        </p:spPr>
        <p:txBody>
          <a:bodyPr/>
          <a:lstStyle/>
          <a:p>
            <a:r>
              <a:rPr lang="en-US"/>
              <a:t>We have a comprehensive suite of research and insight offerings to support strategic decision‑making</a:t>
            </a:r>
          </a:p>
        </p:txBody>
      </p:sp>
      <p:sp>
        <p:nvSpPr>
          <p:cNvPr id="4" name="Rectangle 3">
            <a:extLst>
              <a:ext uri="{FF2B5EF4-FFF2-40B4-BE49-F238E27FC236}">
                <a16:creationId xmlns:a16="http://schemas.microsoft.com/office/drawing/2014/main" id="{8CB0318F-0F4A-C5AC-0953-E0797BAA8CD5}"/>
              </a:ext>
            </a:extLst>
          </p:cNvPr>
          <p:cNvSpPr/>
          <p:nvPr/>
        </p:nvSpPr>
        <p:spPr>
          <a:xfrm>
            <a:off x="-2" y="1597794"/>
            <a:ext cx="2571752" cy="46008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7" name="Rectangle 6">
            <a:extLst>
              <a:ext uri="{FF2B5EF4-FFF2-40B4-BE49-F238E27FC236}">
                <a16:creationId xmlns:a16="http://schemas.microsoft.com/office/drawing/2014/main" id="{3FD1AB35-0614-E0BD-5132-A81AC13387FA}"/>
              </a:ext>
            </a:extLst>
          </p:cNvPr>
          <p:cNvSpPr/>
          <p:nvPr/>
        </p:nvSpPr>
        <p:spPr>
          <a:xfrm rot="5400000">
            <a:off x="717414" y="1271992"/>
            <a:ext cx="215444" cy="12256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bg1">
                    <a:lumMod val="50000"/>
                  </a:schemeClr>
                </a:solidFill>
                <a:effectLst/>
                <a:uLnTx/>
                <a:uFillTx/>
                <a:latin typeface="Ubuntu"/>
                <a:ea typeface="+mn-ea"/>
                <a:cs typeface="+mn-cs"/>
              </a:rPr>
              <a:t>TEAM</a:t>
            </a:r>
          </a:p>
        </p:txBody>
      </p:sp>
      <p:sp>
        <p:nvSpPr>
          <p:cNvPr id="8" name="Rectangle 7">
            <a:extLst>
              <a:ext uri="{FF2B5EF4-FFF2-40B4-BE49-F238E27FC236}">
                <a16:creationId xmlns:a16="http://schemas.microsoft.com/office/drawing/2014/main" id="{F193A4BB-4E8D-FE66-FD47-F1D77876C05B}"/>
              </a:ext>
            </a:extLst>
          </p:cNvPr>
          <p:cNvSpPr/>
          <p:nvPr/>
        </p:nvSpPr>
        <p:spPr>
          <a:xfrm>
            <a:off x="212312" y="2117304"/>
            <a:ext cx="1900238" cy="492443"/>
          </a:xfrm>
          <a:prstGeom prst="rect">
            <a:avLst/>
          </a:prstGeom>
          <a:ln>
            <a:noFill/>
          </a:ln>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0070AD"/>
                </a:solidFill>
                <a:effectLst/>
                <a:uLnTx/>
                <a:uFillTx/>
                <a:latin typeface="Ubuntu"/>
                <a:ea typeface="+mn-ea"/>
                <a:cs typeface="+mn-cs"/>
              </a:rPr>
              <a:t>200+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member strong</a:t>
            </a:r>
            <a:b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b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delivery team </a:t>
            </a:r>
          </a:p>
        </p:txBody>
      </p:sp>
      <p:sp>
        <p:nvSpPr>
          <p:cNvPr id="9" name="Rectangle 8">
            <a:extLst>
              <a:ext uri="{FF2B5EF4-FFF2-40B4-BE49-F238E27FC236}">
                <a16:creationId xmlns:a16="http://schemas.microsoft.com/office/drawing/2014/main" id="{30C46BEA-56D9-242E-E6E7-FEF34A7B040D}"/>
              </a:ext>
            </a:extLst>
          </p:cNvPr>
          <p:cNvSpPr/>
          <p:nvPr/>
        </p:nvSpPr>
        <p:spPr>
          <a:xfrm>
            <a:off x="212312" y="2836194"/>
            <a:ext cx="1900238" cy="353943"/>
          </a:xfrm>
          <a:prstGeom prst="rect">
            <a:avLst/>
          </a:prstGeom>
          <a:ln>
            <a:noFill/>
          </a:ln>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0070AD"/>
                </a:solidFill>
                <a:effectLst/>
                <a:uLnTx/>
                <a:uFillTx/>
                <a:latin typeface="Ubuntu"/>
                <a:ea typeface="+mn-ea"/>
                <a:cs typeface="+mn-cs"/>
              </a:rPr>
              <a:t>18+ years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0" cap="none" spc="0" normalizeH="0" baseline="0" noProof="0">
                <a:ln>
                  <a:noFill/>
                </a:ln>
                <a:solidFill>
                  <a:schemeClr val="bg1">
                    <a:lumMod val="50000"/>
                  </a:schemeClr>
                </a:solidFill>
                <a:effectLst/>
                <a:uLnTx/>
                <a:uFillTx/>
                <a:latin typeface="Ubuntu"/>
                <a:ea typeface="+mn-ea"/>
                <a:cs typeface="+mn-cs"/>
              </a:rPr>
              <a:t>of experience in market research</a:t>
            </a:r>
          </a:p>
        </p:txBody>
      </p:sp>
      <p:sp>
        <p:nvSpPr>
          <p:cNvPr id="10" name="Rectangle 9">
            <a:extLst>
              <a:ext uri="{FF2B5EF4-FFF2-40B4-BE49-F238E27FC236}">
                <a16:creationId xmlns:a16="http://schemas.microsoft.com/office/drawing/2014/main" id="{0E7DBD08-91B4-8719-F8E1-6464E9B2A418}"/>
              </a:ext>
            </a:extLst>
          </p:cNvPr>
          <p:cNvSpPr/>
          <p:nvPr/>
        </p:nvSpPr>
        <p:spPr>
          <a:xfrm>
            <a:off x="212312" y="3485834"/>
            <a:ext cx="1900238" cy="353943"/>
          </a:xfrm>
          <a:prstGeom prst="rect">
            <a:avLst/>
          </a:prstGeom>
          <a:ln>
            <a:noFill/>
          </a:ln>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Exposure to working with clients 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0070AD"/>
                </a:solidFill>
                <a:effectLst/>
                <a:uLnTx/>
                <a:uFillTx/>
                <a:latin typeface="Ubuntu"/>
                <a:ea typeface="+mn-ea"/>
                <a:cs typeface="+mn-cs"/>
              </a:rPr>
              <a:t>20+ Countries</a:t>
            </a:r>
          </a:p>
        </p:txBody>
      </p:sp>
      <p:sp>
        <p:nvSpPr>
          <p:cNvPr id="11" name="Rectangle 10">
            <a:extLst>
              <a:ext uri="{FF2B5EF4-FFF2-40B4-BE49-F238E27FC236}">
                <a16:creationId xmlns:a16="http://schemas.microsoft.com/office/drawing/2014/main" id="{8C9C302E-5203-A507-ABF5-3BEB88574B67}"/>
              </a:ext>
            </a:extLst>
          </p:cNvPr>
          <p:cNvSpPr/>
          <p:nvPr/>
        </p:nvSpPr>
        <p:spPr>
          <a:xfrm>
            <a:off x="212312" y="4050835"/>
            <a:ext cx="1900238" cy="584775"/>
          </a:xfrm>
          <a:prstGeom prst="rect">
            <a:avLst/>
          </a:prstGeom>
          <a:ln>
            <a:noFill/>
          </a:ln>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Specialists across 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majority of </a:t>
            </a:r>
            <a:r>
              <a:rPr kumimoji="0" lang="en-IN" sz="1400" b="1" i="0" u="none" strike="noStrike" kern="1200" cap="none" spc="0" normalizeH="0" baseline="0" noProof="0">
                <a:ln>
                  <a:noFill/>
                </a:ln>
                <a:solidFill>
                  <a:srgbClr val="0070AD"/>
                </a:solidFill>
                <a:effectLst/>
                <a:uLnTx/>
                <a:uFillTx/>
                <a:latin typeface="Ubuntu"/>
                <a:ea typeface="+mn-ea"/>
                <a:cs typeface="+mn-cs"/>
              </a:rPr>
              <a:t>Industries </a:t>
            </a:r>
            <a:br>
              <a:rPr kumimoji="0" lang="en-IN" sz="1400" b="1" i="0" u="none" strike="noStrike" kern="1200" cap="none" spc="0" normalizeH="0" baseline="0" noProof="0">
                <a:ln>
                  <a:noFill/>
                </a:ln>
                <a:solidFill>
                  <a:srgbClr val="0070AD"/>
                </a:solidFill>
                <a:effectLst/>
                <a:uLnTx/>
                <a:uFillTx/>
                <a:latin typeface="Ubuntu"/>
                <a:ea typeface="+mn-ea"/>
                <a:cs typeface="+mn-cs"/>
              </a:rPr>
            </a:br>
            <a:r>
              <a:rPr kumimoji="0" lang="en-IN" sz="1400" b="1" i="0" u="none" strike="noStrike" kern="1200" cap="none" spc="0" normalizeH="0" baseline="0" noProof="0">
                <a:ln>
                  <a:noFill/>
                </a:ln>
                <a:solidFill>
                  <a:srgbClr val="0070AD"/>
                </a:solidFill>
                <a:effectLst/>
                <a:uLnTx/>
                <a:uFillTx/>
                <a:latin typeface="Ubuntu"/>
                <a:ea typeface="+mn-ea"/>
                <a:cs typeface="+mn-cs"/>
              </a:rPr>
              <a:t>&amp; functions</a:t>
            </a:r>
          </a:p>
        </p:txBody>
      </p:sp>
      <p:sp>
        <p:nvSpPr>
          <p:cNvPr id="12" name="Rectangle 11">
            <a:extLst>
              <a:ext uri="{FF2B5EF4-FFF2-40B4-BE49-F238E27FC236}">
                <a16:creationId xmlns:a16="http://schemas.microsoft.com/office/drawing/2014/main" id="{E346F3CD-2C34-F7D1-A4CB-13F651AF1346}"/>
              </a:ext>
            </a:extLst>
          </p:cNvPr>
          <p:cNvSpPr/>
          <p:nvPr/>
        </p:nvSpPr>
        <p:spPr>
          <a:xfrm>
            <a:off x="212311" y="4762030"/>
            <a:ext cx="1116000" cy="692497"/>
          </a:xfrm>
          <a:prstGeom prst="rect">
            <a:avLst/>
          </a:prstGeom>
        </p:spPr>
        <p:txBody>
          <a:bodyPr wrap="square" lIns="0" tIns="0" rIns="0" bIns="0" numCol="1">
            <a:spAutoFit/>
          </a:bodyPr>
          <a:lstStyle/>
          <a:p>
            <a:pPr marL="180000" marR="0" lvl="0" indent="-177800" algn="l" defTabSz="914400" rtl="0" eaLnBrk="1" fontAlgn="auto" latinLnBrk="0" hangingPunct="1">
              <a:lnSpc>
                <a:spcPct val="100000"/>
              </a:lnSpc>
              <a:spcBef>
                <a:spcPts val="0"/>
              </a:spcBef>
              <a:spcAft>
                <a:spcPts val="0"/>
              </a:spcAft>
              <a:buClr>
                <a:schemeClr val="tx1">
                  <a:lumMod val="50000"/>
                  <a:lumOff val="50000"/>
                </a:schemeClr>
              </a:buClr>
              <a:buSzTx/>
              <a:buFont typeface="Wingdings" panose="05000000000000000000" pitchFamily="2" charset="2"/>
              <a:buChar char="§"/>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Automotive</a:t>
            </a:r>
          </a:p>
          <a:p>
            <a:pPr marL="180000" marR="0" lvl="0" indent="-177800" algn="l" defTabSz="914400" rtl="0" eaLnBrk="1" fontAlgn="auto" latinLnBrk="0" hangingPunct="1">
              <a:lnSpc>
                <a:spcPct val="100000"/>
              </a:lnSpc>
              <a:spcBef>
                <a:spcPts val="0"/>
              </a:spcBef>
              <a:spcAft>
                <a:spcPts val="0"/>
              </a:spcAft>
              <a:buClr>
                <a:schemeClr val="tx1">
                  <a:lumMod val="50000"/>
                  <a:lumOff val="50000"/>
                </a:schemeClr>
              </a:buClr>
              <a:buSzTx/>
              <a:buFont typeface="Wingdings" panose="05000000000000000000" pitchFamily="2" charset="2"/>
              <a:buChar char="§"/>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Manufacturing</a:t>
            </a:r>
          </a:p>
          <a:p>
            <a:pPr marL="180000" marR="0" lvl="0" indent="-177800" algn="l" defTabSz="914400" rtl="0" eaLnBrk="1" fontAlgn="auto" latinLnBrk="0" hangingPunct="1">
              <a:lnSpc>
                <a:spcPct val="100000"/>
              </a:lnSpc>
              <a:spcBef>
                <a:spcPts val="0"/>
              </a:spcBef>
              <a:spcAft>
                <a:spcPts val="0"/>
              </a:spcAft>
              <a:buClr>
                <a:schemeClr val="tx1">
                  <a:lumMod val="50000"/>
                  <a:lumOff val="50000"/>
                </a:schemeClr>
              </a:buClr>
              <a:buSzTx/>
              <a:buFont typeface="Wingdings" panose="05000000000000000000" pitchFamily="2" charset="2"/>
              <a:buChar char="§"/>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Financial Services</a:t>
            </a:r>
          </a:p>
          <a:p>
            <a:pPr marL="180000" marR="0" lvl="0" indent="-177800" algn="l" defTabSz="914400" rtl="0" eaLnBrk="1" fontAlgn="auto" latinLnBrk="0" hangingPunct="1">
              <a:lnSpc>
                <a:spcPct val="100000"/>
              </a:lnSpc>
              <a:spcBef>
                <a:spcPts val="0"/>
              </a:spcBef>
              <a:spcAft>
                <a:spcPts val="0"/>
              </a:spcAft>
              <a:buClr>
                <a:schemeClr val="tx1">
                  <a:lumMod val="50000"/>
                  <a:lumOff val="50000"/>
                </a:schemeClr>
              </a:buClr>
              <a:buSzTx/>
              <a:buFont typeface="Wingdings" panose="05000000000000000000" pitchFamily="2" charset="2"/>
              <a:buChar char="§"/>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Consumer Products &amp; Retail</a:t>
            </a:r>
          </a:p>
        </p:txBody>
      </p:sp>
      <p:sp>
        <p:nvSpPr>
          <p:cNvPr id="13" name="Rectangle 12">
            <a:extLst>
              <a:ext uri="{FF2B5EF4-FFF2-40B4-BE49-F238E27FC236}">
                <a16:creationId xmlns:a16="http://schemas.microsoft.com/office/drawing/2014/main" id="{599771BE-33A7-7BA1-5A1A-1938E79BE2D6}"/>
              </a:ext>
            </a:extLst>
          </p:cNvPr>
          <p:cNvSpPr/>
          <p:nvPr/>
        </p:nvSpPr>
        <p:spPr>
          <a:xfrm>
            <a:off x="1432782" y="4773940"/>
            <a:ext cx="1080000" cy="692497"/>
          </a:xfrm>
          <a:prstGeom prst="rect">
            <a:avLst/>
          </a:prstGeom>
        </p:spPr>
        <p:txBody>
          <a:bodyPr wrap="square" lIns="0" tIns="0" rIns="0" bIns="0" numCol="1">
            <a:spAutoFit/>
          </a:bodyPr>
          <a:lstStyle/>
          <a:p>
            <a:pPr marL="180000" marR="0" lvl="0" indent="-177800" algn="l" defTabSz="914400" rtl="0" eaLnBrk="1" fontAlgn="auto" latinLnBrk="0" hangingPunct="1">
              <a:lnSpc>
                <a:spcPct val="100000"/>
              </a:lnSpc>
              <a:spcBef>
                <a:spcPts val="0"/>
              </a:spcBef>
              <a:spcAft>
                <a:spcPts val="0"/>
              </a:spcAft>
              <a:buClr>
                <a:schemeClr val="tx1">
                  <a:lumMod val="50000"/>
                  <a:lumOff val="50000"/>
                </a:schemeClr>
              </a:buClr>
              <a:buSzTx/>
              <a:buFont typeface="Wingdings" panose="05000000000000000000" pitchFamily="2" charset="2"/>
              <a:buChar char="§"/>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Life Sciences</a:t>
            </a:r>
          </a:p>
          <a:p>
            <a:pPr marL="180000" marR="0" lvl="0" indent="-177800" algn="l" defTabSz="914400" rtl="0" eaLnBrk="1" fontAlgn="auto" latinLnBrk="0" hangingPunct="1">
              <a:lnSpc>
                <a:spcPct val="100000"/>
              </a:lnSpc>
              <a:spcBef>
                <a:spcPts val="0"/>
              </a:spcBef>
              <a:spcAft>
                <a:spcPts val="0"/>
              </a:spcAft>
              <a:buClr>
                <a:schemeClr val="tx1">
                  <a:lumMod val="50000"/>
                  <a:lumOff val="50000"/>
                </a:schemeClr>
              </a:buClr>
              <a:buSzTx/>
              <a:buFont typeface="Wingdings" panose="05000000000000000000" pitchFamily="2" charset="2"/>
              <a:buChar char="§"/>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Telecom </a:t>
            </a:r>
          </a:p>
          <a:p>
            <a:pPr marL="180000" marR="0" lvl="0" indent="-177800" algn="l" defTabSz="914400" rtl="0" eaLnBrk="1" fontAlgn="auto" latinLnBrk="0" hangingPunct="1">
              <a:lnSpc>
                <a:spcPct val="100000"/>
              </a:lnSpc>
              <a:spcBef>
                <a:spcPts val="0"/>
              </a:spcBef>
              <a:spcAft>
                <a:spcPts val="0"/>
              </a:spcAft>
              <a:buClr>
                <a:schemeClr val="tx1">
                  <a:lumMod val="50000"/>
                  <a:lumOff val="50000"/>
                </a:schemeClr>
              </a:buClr>
              <a:buSzTx/>
              <a:buFont typeface="Wingdings" panose="05000000000000000000" pitchFamily="2" charset="2"/>
              <a:buChar char="§"/>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Media &amp; Tech</a:t>
            </a:r>
          </a:p>
          <a:p>
            <a:pPr marL="180000" marR="0" lvl="0" indent="-177800" algn="l" defTabSz="914400" rtl="0" eaLnBrk="1" fontAlgn="auto" latinLnBrk="0" hangingPunct="1">
              <a:lnSpc>
                <a:spcPct val="100000"/>
              </a:lnSpc>
              <a:spcBef>
                <a:spcPts val="0"/>
              </a:spcBef>
              <a:spcAft>
                <a:spcPts val="0"/>
              </a:spcAft>
              <a:buClr>
                <a:schemeClr val="tx1">
                  <a:lumMod val="50000"/>
                  <a:lumOff val="50000"/>
                </a:schemeClr>
              </a:buClr>
              <a:buSzTx/>
              <a:buFont typeface="Wingdings" panose="05000000000000000000" pitchFamily="2" charset="2"/>
              <a:buChar char="§"/>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Energy &amp; Utilities</a:t>
            </a:r>
          </a:p>
          <a:p>
            <a:pPr marL="180000" marR="0" lvl="0" indent="-177800" algn="l" defTabSz="914400" rtl="0" eaLnBrk="1" fontAlgn="auto" latinLnBrk="0" hangingPunct="1">
              <a:lnSpc>
                <a:spcPct val="100000"/>
              </a:lnSpc>
              <a:spcBef>
                <a:spcPts val="0"/>
              </a:spcBef>
              <a:spcAft>
                <a:spcPts val="0"/>
              </a:spcAft>
              <a:buClr>
                <a:schemeClr val="tx1">
                  <a:lumMod val="50000"/>
                  <a:lumOff val="50000"/>
                </a:schemeClr>
              </a:buClr>
              <a:buSzTx/>
              <a:buFont typeface="Wingdings" panose="05000000000000000000" pitchFamily="2" charset="2"/>
              <a:buChar char="§"/>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Public Services</a:t>
            </a:r>
          </a:p>
        </p:txBody>
      </p:sp>
      <p:sp>
        <p:nvSpPr>
          <p:cNvPr id="14" name="Rectangle 13">
            <a:extLst>
              <a:ext uri="{FF2B5EF4-FFF2-40B4-BE49-F238E27FC236}">
                <a16:creationId xmlns:a16="http://schemas.microsoft.com/office/drawing/2014/main" id="{1F1EA92F-8AF6-B9E9-E932-4CC8219E2FDA}"/>
              </a:ext>
            </a:extLst>
          </p:cNvPr>
          <p:cNvSpPr/>
          <p:nvPr/>
        </p:nvSpPr>
        <p:spPr>
          <a:xfrm>
            <a:off x="212312" y="5571425"/>
            <a:ext cx="967551" cy="553998"/>
          </a:xfrm>
          <a:prstGeom prst="rect">
            <a:avLst/>
          </a:prstGeom>
        </p:spPr>
        <p:txBody>
          <a:bodyPr wrap="square" lIns="0" tIns="0" rIns="0" bIns="0" numCol="1">
            <a:spAutoFit/>
          </a:bodyPr>
          <a:lstStyle/>
          <a:p>
            <a:pPr marL="180000" marR="0" lvl="0" indent="-177800" algn="l" defTabSz="914400" rtl="0" eaLnBrk="1" fontAlgn="auto" latinLnBrk="0" hangingPunct="1">
              <a:lnSpc>
                <a:spcPct val="100000"/>
              </a:lnSpc>
              <a:spcBef>
                <a:spcPts val="0"/>
              </a:spcBef>
              <a:spcAft>
                <a:spcPts val="0"/>
              </a:spcAft>
              <a:buClr>
                <a:schemeClr val="tx1">
                  <a:lumMod val="50000"/>
                  <a:lumOff val="50000"/>
                </a:schemeClr>
              </a:buClr>
              <a:buSzTx/>
              <a:buFont typeface="Wingdings" panose="05000000000000000000" pitchFamily="2" charset="2"/>
              <a:buChar char="§"/>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GenAI</a:t>
            </a:r>
          </a:p>
          <a:p>
            <a:pPr marL="180000" marR="0" lvl="0" indent="-177800" algn="l" defTabSz="914400" rtl="0" eaLnBrk="1" fontAlgn="auto" latinLnBrk="0" hangingPunct="1">
              <a:lnSpc>
                <a:spcPct val="100000"/>
              </a:lnSpc>
              <a:spcBef>
                <a:spcPts val="0"/>
              </a:spcBef>
              <a:spcAft>
                <a:spcPts val="0"/>
              </a:spcAft>
              <a:buClr>
                <a:schemeClr val="tx1">
                  <a:lumMod val="50000"/>
                  <a:lumOff val="50000"/>
                </a:schemeClr>
              </a:buClr>
              <a:buSzTx/>
              <a:buFont typeface="Wingdings" panose="05000000000000000000" pitchFamily="2" charset="2"/>
              <a:buChar char="§"/>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Digital CX</a:t>
            </a:r>
          </a:p>
          <a:p>
            <a:pPr marL="180000" marR="0" lvl="0" indent="-177800" algn="l" defTabSz="914400" rtl="0" eaLnBrk="1" fontAlgn="auto" latinLnBrk="0" hangingPunct="1">
              <a:lnSpc>
                <a:spcPct val="100000"/>
              </a:lnSpc>
              <a:spcBef>
                <a:spcPts val="0"/>
              </a:spcBef>
              <a:spcAft>
                <a:spcPts val="0"/>
              </a:spcAft>
              <a:buClr>
                <a:schemeClr val="tx1">
                  <a:lumMod val="50000"/>
                  <a:lumOff val="50000"/>
                </a:schemeClr>
              </a:buClr>
              <a:buSzTx/>
              <a:buFont typeface="Wingdings" panose="05000000000000000000" pitchFamily="2" charset="2"/>
              <a:buChar char="§"/>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Metaverse</a:t>
            </a:r>
          </a:p>
          <a:p>
            <a:pPr marL="180000" marR="0" lvl="0" indent="-177800" algn="l" defTabSz="914400" rtl="0" eaLnBrk="1" fontAlgn="auto" latinLnBrk="0" hangingPunct="1">
              <a:lnSpc>
                <a:spcPct val="100000"/>
              </a:lnSpc>
              <a:spcBef>
                <a:spcPts val="0"/>
              </a:spcBef>
              <a:spcAft>
                <a:spcPts val="0"/>
              </a:spcAft>
              <a:buClr>
                <a:schemeClr val="tx1">
                  <a:lumMod val="50000"/>
                  <a:lumOff val="50000"/>
                </a:schemeClr>
              </a:buClr>
              <a:buSzTx/>
              <a:buFont typeface="Wingdings" panose="05000000000000000000" pitchFamily="2" charset="2"/>
              <a:buChar char="§"/>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Industry 4.0</a:t>
            </a:r>
          </a:p>
        </p:txBody>
      </p:sp>
      <p:sp>
        <p:nvSpPr>
          <p:cNvPr id="15" name="Rectangle 14">
            <a:extLst>
              <a:ext uri="{FF2B5EF4-FFF2-40B4-BE49-F238E27FC236}">
                <a16:creationId xmlns:a16="http://schemas.microsoft.com/office/drawing/2014/main" id="{9E743274-5E04-4F4B-E4FE-3415970EC20D}"/>
              </a:ext>
            </a:extLst>
          </p:cNvPr>
          <p:cNvSpPr/>
          <p:nvPr/>
        </p:nvSpPr>
        <p:spPr>
          <a:xfrm>
            <a:off x="1432783" y="5571425"/>
            <a:ext cx="858618" cy="553998"/>
          </a:xfrm>
          <a:prstGeom prst="rect">
            <a:avLst/>
          </a:prstGeom>
        </p:spPr>
        <p:txBody>
          <a:bodyPr wrap="square" lIns="0" tIns="0" rIns="0" bIns="0" numCol="1">
            <a:spAutoFit/>
          </a:bodyPr>
          <a:lstStyle/>
          <a:p>
            <a:pPr marL="180000" marR="0" lvl="0" indent="-177800" algn="l" defTabSz="914400" rtl="0" eaLnBrk="1" fontAlgn="auto" latinLnBrk="0" hangingPunct="1">
              <a:lnSpc>
                <a:spcPct val="100000"/>
              </a:lnSpc>
              <a:spcBef>
                <a:spcPts val="0"/>
              </a:spcBef>
              <a:spcAft>
                <a:spcPts val="0"/>
              </a:spcAft>
              <a:buClr>
                <a:schemeClr val="tx1">
                  <a:lumMod val="50000"/>
                  <a:lumOff val="50000"/>
                </a:schemeClr>
              </a:buClr>
              <a:buSzTx/>
              <a:buFont typeface="Wingdings" panose="05000000000000000000" pitchFamily="2" charset="2"/>
              <a:buChar char="§"/>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5G</a:t>
            </a:r>
          </a:p>
          <a:p>
            <a:pPr marL="180000" marR="0" lvl="0" indent="-177800" algn="l" defTabSz="914400" rtl="0" eaLnBrk="1" fontAlgn="auto" latinLnBrk="0" hangingPunct="1">
              <a:lnSpc>
                <a:spcPct val="100000"/>
              </a:lnSpc>
              <a:spcBef>
                <a:spcPts val="0"/>
              </a:spcBef>
              <a:spcAft>
                <a:spcPts val="0"/>
              </a:spcAft>
              <a:buClr>
                <a:schemeClr val="tx1">
                  <a:lumMod val="50000"/>
                  <a:lumOff val="50000"/>
                </a:schemeClr>
              </a:buClr>
              <a:buSzTx/>
              <a:buFont typeface="Wingdings" panose="05000000000000000000" pitchFamily="2" charset="2"/>
              <a:buChar char="§"/>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Captives </a:t>
            </a:r>
          </a:p>
          <a:p>
            <a:pPr marL="180000" marR="0" lvl="0" indent="-177800" algn="l" defTabSz="914400" rtl="0" eaLnBrk="1" fontAlgn="auto" latinLnBrk="0" hangingPunct="1">
              <a:lnSpc>
                <a:spcPct val="100000"/>
              </a:lnSpc>
              <a:spcBef>
                <a:spcPts val="0"/>
              </a:spcBef>
              <a:spcAft>
                <a:spcPts val="0"/>
              </a:spcAft>
              <a:buClr>
                <a:schemeClr val="tx1">
                  <a:lumMod val="50000"/>
                  <a:lumOff val="50000"/>
                </a:schemeClr>
              </a:buClr>
              <a:buSzTx/>
              <a:buFont typeface="Wingdings" panose="05000000000000000000" pitchFamily="2" charset="2"/>
              <a:buChar char="§"/>
              <a:tabLst/>
              <a:defRPr/>
            </a:pPr>
            <a:r>
              <a:rPr kumimoji="0" lang="en-IN" sz="900" b="0" i="0" u="none" strike="noStrike" kern="1200" cap="none" spc="0" normalizeH="0" baseline="0" noProof="0">
                <a:ln>
                  <a:noFill/>
                </a:ln>
                <a:solidFill>
                  <a:schemeClr val="bg1">
                    <a:lumMod val="50000"/>
                  </a:schemeClr>
                </a:solidFill>
                <a:effectLst/>
                <a:uLnTx/>
                <a:uFillTx/>
                <a:latin typeface="Ubuntu"/>
                <a:ea typeface="+mn-ea"/>
                <a:cs typeface="+mn-cs"/>
              </a:rPr>
              <a:t>Acquisition scouting</a:t>
            </a:r>
          </a:p>
        </p:txBody>
      </p:sp>
      <p:cxnSp>
        <p:nvCxnSpPr>
          <p:cNvPr id="16" name="Straight Connector 15">
            <a:extLst>
              <a:ext uri="{FF2B5EF4-FFF2-40B4-BE49-F238E27FC236}">
                <a16:creationId xmlns:a16="http://schemas.microsoft.com/office/drawing/2014/main" id="{FF87A348-19AA-2E3F-B58E-060085B23EC1}"/>
              </a:ext>
            </a:extLst>
          </p:cNvPr>
          <p:cNvCxnSpPr/>
          <p:nvPr/>
        </p:nvCxnSpPr>
        <p:spPr>
          <a:xfrm>
            <a:off x="212312" y="2688345"/>
            <a:ext cx="208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65C113F-23CF-2E3D-6F56-757E3FDE7819}"/>
              </a:ext>
            </a:extLst>
          </p:cNvPr>
          <p:cNvCxnSpPr/>
          <p:nvPr/>
        </p:nvCxnSpPr>
        <p:spPr>
          <a:xfrm>
            <a:off x="212312" y="3337985"/>
            <a:ext cx="208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46FD44A-99D5-679C-9C14-F60FCE749578}"/>
              </a:ext>
            </a:extLst>
          </p:cNvPr>
          <p:cNvCxnSpPr/>
          <p:nvPr/>
        </p:nvCxnSpPr>
        <p:spPr>
          <a:xfrm>
            <a:off x="212312" y="3987625"/>
            <a:ext cx="208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49276B5-0A7E-2E3C-E42A-6FB97A1887E2}"/>
              </a:ext>
            </a:extLst>
          </p:cNvPr>
          <p:cNvCxnSpPr/>
          <p:nvPr/>
        </p:nvCxnSpPr>
        <p:spPr>
          <a:xfrm>
            <a:off x="212312" y="4698820"/>
            <a:ext cx="208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2381E419-BADC-913B-43EF-CCE986BDF733}"/>
              </a:ext>
            </a:extLst>
          </p:cNvPr>
          <p:cNvSpPr/>
          <p:nvPr/>
        </p:nvSpPr>
        <p:spPr>
          <a:xfrm>
            <a:off x="2667001" y="1597794"/>
            <a:ext cx="9116364" cy="277656"/>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HOW WE CAN HELP</a:t>
            </a:r>
          </a:p>
        </p:txBody>
      </p:sp>
      <p:sp>
        <p:nvSpPr>
          <p:cNvPr id="21" name="Freeform 16">
            <a:extLst>
              <a:ext uri="{FF2B5EF4-FFF2-40B4-BE49-F238E27FC236}">
                <a16:creationId xmlns:a16="http://schemas.microsoft.com/office/drawing/2014/main" id="{6AB8B0FD-DA7C-A0E0-A393-29BAFB82CD9A}"/>
              </a:ext>
            </a:extLst>
          </p:cNvPr>
          <p:cNvSpPr>
            <a:spLocks/>
          </p:cNvSpPr>
          <p:nvPr/>
        </p:nvSpPr>
        <p:spPr bwMode="auto">
          <a:xfrm>
            <a:off x="2667001" y="1975758"/>
            <a:ext cx="1371600" cy="373723"/>
          </a:xfrm>
          <a:prstGeom prst="roundRect">
            <a:avLst>
              <a:gd name="adj" fmla="val 110777"/>
            </a:avLst>
          </a:prstGeom>
          <a:solidFill>
            <a:schemeClr val="accent1">
              <a:lumMod val="75000"/>
            </a:schemeClr>
          </a:solid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MARKET LANDSCAPE</a:t>
            </a:r>
          </a:p>
        </p:txBody>
      </p:sp>
      <p:sp>
        <p:nvSpPr>
          <p:cNvPr id="22" name="Freeform 19">
            <a:extLst>
              <a:ext uri="{FF2B5EF4-FFF2-40B4-BE49-F238E27FC236}">
                <a16:creationId xmlns:a16="http://schemas.microsoft.com/office/drawing/2014/main" id="{809B5A26-B9F1-1A46-4432-851C1481FE3A}"/>
              </a:ext>
            </a:extLst>
          </p:cNvPr>
          <p:cNvSpPr>
            <a:spLocks/>
          </p:cNvSpPr>
          <p:nvPr/>
        </p:nvSpPr>
        <p:spPr bwMode="auto">
          <a:xfrm>
            <a:off x="10407000" y="1975758"/>
            <a:ext cx="1371600" cy="373723"/>
          </a:xfrm>
          <a:prstGeom prst="roundRect">
            <a:avLst>
              <a:gd name="adj" fmla="val 110777"/>
            </a:avLst>
          </a:prstGeom>
          <a:solidFill>
            <a:schemeClr val="accent1">
              <a:lumMod val="75000"/>
            </a:schemeClr>
          </a:solid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LOCATION ASSESSMENT</a:t>
            </a:r>
          </a:p>
        </p:txBody>
      </p:sp>
      <p:sp>
        <p:nvSpPr>
          <p:cNvPr id="23" name="Freeform 19">
            <a:extLst>
              <a:ext uri="{FF2B5EF4-FFF2-40B4-BE49-F238E27FC236}">
                <a16:creationId xmlns:a16="http://schemas.microsoft.com/office/drawing/2014/main" id="{B8569FA2-CD0F-998D-F86A-2748E85C9A28}"/>
              </a:ext>
            </a:extLst>
          </p:cNvPr>
          <p:cNvSpPr>
            <a:spLocks/>
          </p:cNvSpPr>
          <p:nvPr/>
        </p:nvSpPr>
        <p:spPr bwMode="auto">
          <a:xfrm>
            <a:off x="8887765" y="1975758"/>
            <a:ext cx="1371600" cy="373723"/>
          </a:xfrm>
          <a:prstGeom prst="roundRect">
            <a:avLst>
              <a:gd name="adj" fmla="val 110777"/>
            </a:avLst>
          </a:prstGeom>
          <a:solidFill>
            <a:schemeClr val="accent1">
              <a:lumMod val="75000"/>
            </a:schemeClr>
          </a:solid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CONSUMER RESEARCH</a:t>
            </a:r>
          </a:p>
        </p:txBody>
      </p:sp>
      <p:sp>
        <p:nvSpPr>
          <p:cNvPr id="24" name="Rectangle 23">
            <a:extLst>
              <a:ext uri="{FF2B5EF4-FFF2-40B4-BE49-F238E27FC236}">
                <a16:creationId xmlns:a16="http://schemas.microsoft.com/office/drawing/2014/main" id="{71736B21-9B87-A659-161D-5BFD39093029}"/>
              </a:ext>
            </a:extLst>
          </p:cNvPr>
          <p:cNvSpPr/>
          <p:nvPr/>
        </p:nvSpPr>
        <p:spPr>
          <a:xfrm>
            <a:off x="2667001" y="2490303"/>
            <a:ext cx="1311250" cy="830997"/>
          </a:xfrm>
          <a:prstGeom prst="rect">
            <a:avLst/>
          </a:prstGeom>
        </p:spPr>
        <p:txBody>
          <a:bodyPr wrap="square" lIns="0" tIns="0" rIns="0" bIns="0" numCol="1">
            <a:spAutoFit/>
          </a:bodyPr>
          <a:lstStyle/>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Market Opportunity Assessment</a:t>
            </a:r>
          </a:p>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Product Opportunity Assessment</a:t>
            </a:r>
          </a:p>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Current Sector Dynamics</a:t>
            </a:r>
          </a:p>
        </p:txBody>
      </p:sp>
      <p:sp>
        <p:nvSpPr>
          <p:cNvPr id="25" name="Freeform 16">
            <a:extLst>
              <a:ext uri="{FF2B5EF4-FFF2-40B4-BE49-F238E27FC236}">
                <a16:creationId xmlns:a16="http://schemas.microsoft.com/office/drawing/2014/main" id="{4E85F43D-4D9B-AE17-8E39-0476DC046E29}"/>
              </a:ext>
            </a:extLst>
          </p:cNvPr>
          <p:cNvSpPr>
            <a:spLocks/>
          </p:cNvSpPr>
          <p:nvPr/>
        </p:nvSpPr>
        <p:spPr bwMode="auto">
          <a:xfrm>
            <a:off x="4215954" y="1975758"/>
            <a:ext cx="1371600" cy="373723"/>
          </a:xfrm>
          <a:prstGeom prst="roundRect">
            <a:avLst>
              <a:gd name="adj" fmla="val 110777"/>
            </a:avLst>
          </a:prstGeom>
          <a:solidFill>
            <a:schemeClr val="accent1">
              <a:lumMod val="75000"/>
            </a:schemeClr>
          </a:solid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BENCHMARKING</a:t>
            </a:r>
          </a:p>
        </p:txBody>
      </p:sp>
      <p:sp>
        <p:nvSpPr>
          <p:cNvPr id="26" name="Rectangle 25">
            <a:extLst>
              <a:ext uri="{FF2B5EF4-FFF2-40B4-BE49-F238E27FC236}">
                <a16:creationId xmlns:a16="http://schemas.microsoft.com/office/drawing/2014/main" id="{597A7C41-F801-6A4F-BC10-02C3EDBFB847}"/>
              </a:ext>
            </a:extLst>
          </p:cNvPr>
          <p:cNvSpPr/>
          <p:nvPr/>
        </p:nvSpPr>
        <p:spPr>
          <a:xfrm>
            <a:off x="4215954" y="2490303"/>
            <a:ext cx="1419350" cy="830997"/>
          </a:xfrm>
          <a:prstGeom prst="rect">
            <a:avLst/>
          </a:prstGeom>
        </p:spPr>
        <p:txBody>
          <a:bodyPr wrap="square" lIns="0" tIns="0" rIns="0" bIns="0" numCol="1">
            <a:spAutoFit/>
          </a:bodyPr>
          <a:lstStyle/>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Best Practices</a:t>
            </a:r>
          </a:p>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Operational Benchmarking</a:t>
            </a:r>
          </a:p>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Vendor and Competitor</a:t>
            </a:r>
            <a:br>
              <a:rPr kumimoji="0" lang="en-US" sz="900" b="0" i="0" u="none" strike="noStrike" kern="1200" cap="none" spc="0" normalizeH="0" baseline="0" noProof="0">
                <a:ln>
                  <a:noFill/>
                </a:ln>
                <a:solidFill>
                  <a:schemeClr val="bg1"/>
                </a:solidFill>
                <a:effectLst/>
                <a:uLnTx/>
                <a:uFillTx/>
                <a:latin typeface="Ubuntu"/>
                <a:ea typeface="+mn-ea"/>
                <a:cs typeface="+mn-cs"/>
              </a:rPr>
            </a:br>
            <a:r>
              <a:rPr kumimoji="0" lang="en-US" sz="900" b="0" i="0" u="none" strike="noStrike" kern="1200" cap="none" spc="0" normalizeH="0" baseline="0" noProof="0">
                <a:ln>
                  <a:noFill/>
                </a:ln>
                <a:solidFill>
                  <a:schemeClr val="bg1"/>
                </a:solidFill>
                <a:effectLst/>
                <a:uLnTx/>
                <a:uFillTx/>
                <a:latin typeface="Ubuntu"/>
                <a:ea typeface="+mn-ea"/>
                <a:cs typeface="+mn-cs"/>
              </a:rPr>
              <a:t>Benchmarking</a:t>
            </a:r>
          </a:p>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Maturity Assessment</a:t>
            </a:r>
          </a:p>
        </p:txBody>
      </p:sp>
      <p:sp>
        <p:nvSpPr>
          <p:cNvPr id="27" name="Rectangle 26">
            <a:extLst>
              <a:ext uri="{FF2B5EF4-FFF2-40B4-BE49-F238E27FC236}">
                <a16:creationId xmlns:a16="http://schemas.microsoft.com/office/drawing/2014/main" id="{6BEBEC05-FA04-E504-25BA-FCCEFBA3F257}"/>
              </a:ext>
            </a:extLst>
          </p:cNvPr>
          <p:cNvSpPr/>
          <p:nvPr/>
        </p:nvSpPr>
        <p:spPr>
          <a:xfrm>
            <a:off x="10407000" y="2490303"/>
            <a:ext cx="1404000" cy="692497"/>
          </a:xfrm>
          <a:prstGeom prst="rect">
            <a:avLst/>
          </a:prstGeom>
        </p:spPr>
        <p:txBody>
          <a:bodyPr wrap="square" lIns="0" tIns="0" rIns="0" bIns="0" numCol="1">
            <a:spAutoFit/>
          </a:bodyPr>
          <a:lstStyle/>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Market Entry Strategy</a:t>
            </a:r>
          </a:p>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Target Location Analysis</a:t>
            </a:r>
          </a:p>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Micro and Macro-economic Assessments</a:t>
            </a:r>
          </a:p>
        </p:txBody>
      </p:sp>
      <p:sp>
        <p:nvSpPr>
          <p:cNvPr id="28" name="Rectangle 27">
            <a:extLst>
              <a:ext uri="{FF2B5EF4-FFF2-40B4-BE49-F238E27FC236}">
                <a16:creationId xmlns:a16="http://schemas.microsoft.com/office/drawing/2014/main" id="{04AA4765-C378-F753-6AC9-F6372472CE8D}"/>
              </a:ext>
            </a:extLst>
          </p:cNvPr>
          <p:cNvSpPr/>
          <p:nvPr/>
        </p:nvSpPr>
        <p:spPr>
          <a:xfrm>
            <a:off x="8887765" y="2490303"/>
            <a:ext cx="1371600" cy="692497"/>
          </a:xfrm>
          <a:prstGeom prst="rect">
            <a:avLst/>
          </a:prstGeom>
        </p:spPr>
        <p:txBody>
          <a:bodyPr wrap="square" lIns="0" tIns="0" rIns="0" bIns="0" numCol="1">
            <a:spAutoFit/>
          </a:bodyPr>
          <a:lstStyle/>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Usage &amp; Attitude</a:t>
            </a:r>
          </a:p>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Customer Satisfaction</a:t>
            </a:r>
          </a:p>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Shopper Research</a:t>
            </a:r>
          </a:p>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Customer Experience Management</a:t>
            </a:r>
          </a:p>
        </p:txBody>
      </p:sp>
      <p:cxnSp>
        <p:nvCxnSpPr>
          <p:cNvPr id="29" name="Straight Connector 28">
            <a:extLst>
              <a:ext uri="{FF2B5EF4-FFF2-40B4-BE49-F238E27FC236}">
                <a16:creationId xmlns:a16="http://schemas.microsoft.com/office/drawing/2014/main" id="{ABE1B0A8-8C23-559C-C079-0BACE0A1DC42}"/>
              </a:ext>
            </a:extLst>
          </p:cNvPr>
          <p:cNvCxnSpPr>
            <a:cxnSpLocks/>
          </p:cNvCxnSpPr>
          <p:nvPr/>
        </p:nvCxnSpPr>
        <p:spPr>
          <a:xfrm rot="5400000">
            <a:off x="3350037" y="2788168"/>
            <a:ext cx="15544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2FE2C75-D8BB-2264-C1C6-8132028C7F91}"/>
              </a:ext>
            </a:extLst>
          </p:cNvPr>
          <p:cNvCxnSpPr>
            <a:cxnSpLocks/>
          </p:cNvCxnSpPr>
          <p:nvPr/>
        </p:nvCxnSpPr>
        <p:spPr>
          <a:xfrm rot="5400000">
            <a:off x="9541082" y="2788168"/>
            <a:ext cx="15544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1A1E501-FB8C-62EB-AF07-7E5E88A2BCA7}"/>
              </a:ext>
            </a:extLst>
          </p:cNvPr>
          <p:cNvCxnSpPr>
            <a:cxnSpLocks/>
          </p:cNvCxnSpPr>
          <p:nvPr/>
        </p:nvCxnSpPr>
        <p:spPr>
          <a:xfrm rot="5400000">
            <a:off x="4923942" y="2788169"/>
            <a:ext cx="15544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2" name="Rectangle: Rounded Corners 31">
            <a:extLst>
              <a:ext uri="{FF2B5EF4-FFF2-40B4-BE49-F238E27FC236}">
                <a16:creationId xmlns:a16="http://schemas.microsoft.com/office/drawing/2014/main" id="{C33A7225-0685-36CD-98DA-FBB29447F837}"/>
              </a:ext>
            </a:extLst>
          </p:cNvPr>
          <p:cNvSpPr/>
          <p:nvPr/>
        </p:nvSpPr>
        <p:spPr>
          <a:xfrm>
            <a:off x="2667001" y="3848797"/>
            <a:ext cx="3574439" cy="277656"/>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Ubuntu"/>
                <a:ea typeface="+mn-ea"/>
                <a:cs typeface="+mn-cs"/>
              </a:rPr>
              <a:t>PANELIST REACH</a:t>
            </a:r>
          </a:p>
        </p:txBody>
      </p:sp>
      <p:sp>
        <p:nvSpPr>
          <p:cNvPr id="33" name="Rectangle: Rounded Corners 32">
            <a:extLst>
              <a:ext uri="{FF2B5EF4-FFF2-40B4-BE49-F238E27FC236}">
                <a16:creationId xmlns:a16="http://schemas.microsoft.com/office/drawing/2014/main" id="{29DF2C56-19BC-7A5C-B612-DF7520193C0E}"/>
              </a:ext>
            </a:extLst>
          </p:cNvPr>
          <p:cNvSpPr/>
          <p:nvPr/>
        </p:nvSpPr>
        <p:spPr>
          <a:xfrm>
            <a:off x="9276128" y="3848797"/>
            <a:ext cx="2507239" cy="277656"/>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CLIENTS</a:t>
            </a:r>
          </a:p>
        </p:txBody>
      </p:sp>
      <p:pic>
        <p:nvPicPr>
          <p:cNvPr id="34" name="Picture 8">
            <a:extLst>
              <a:ext uri="{FF2B5EF4-FFF2-40B4-BE49-F238E27FC236}">
                <a16:creationId xmlns:a16="http://schemas.microsoft.com/office/drawing/2014/main" id="{51E77E78-B89B-79E6-998A-F3232E40C985}"/>
              </a:ext>
            </a:extLst>
          </p:cNvPr>
          <p:cNvPicPr>
            <a:picLocks noChangeAspect="1" noChangeArrowheads="1"/>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456976" y="4479299"/>
            <a:ext cx="481968" cy="309837"/>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Rounded Corners 34">
            <a:extLst>
              <a:ext uri="{FF2B5EF4-FFF2-40B4-BE49-F238E27FC236}">
                <a16:creationId xmlns:a16="http://schemas.microsoft.com/office/drawing/2014/main" id="{72609094-CB7F-A6BF-0BF0-DF50077972B3}"/>
              </a:ext>
            </a:extLst>
          </p:cNvPr>
          <p:cNvSpPr/>
          <p:nvPr/>
        </p:nvSpPr>
        <p:spPr>
          <a:xfrm>
            <a:off x="6505164" y="3848797"/>
            <a:ext cx="2507239" cy="27765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DATABASES</a:t>
            </a:r>
          </a:p>
        </p:txBody>
      </p:sp>
      <p:cxnSp>
        <p:nvCxnSpPr>
          <p:cNvPr id="36" name="Straight Connector 35">
            <a:extLst>
              <a:ext uri="{FF2B5EF4-FFF2-40B4-BE49-F238E27FC236}">
                <a16:creationId xmlns:a16="http://schemas.microsoft.com/office/drawing/2014/main" id="{41A6025A-CA9E-6FCA-AB1B-4086FA838F89}"/>
              </a:ext>
            </a:extLst>
          </p:cNvPr>
          <p:cNvCxnSpPr>
            <a:cxnSpLocks/>
          </p:cNvCxnSpPr>
          <p:nvPr/>
        </p:nvCxnSpPr>
        <p:spPr>
          <a:xfrm rot="5400000">
            <a:off x="5204254" y="5147525"/>
            <a:ext cx="2597451"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329C468-967F-6DB0-0C67-65D88841845D}"/>
              </a:ext>
            </a:extLst>
          </p:cNvPr>
          <p:cNvCxnSpPr>
            <a:cxnSpLocks/>
          </p:cNvCxnSpPr>
          <p:nvPr/>
        </p:nvCxnSpPr>
        <p:spPr>
          <a:xfrm rot="5400000">
            <a:off x="7905352" y="5147525"/>
            <a:ext cx="2597451"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pic>
        <p:nvPicPr>
          <p:cNvPr id="38" name="Picture 37">
            <a:extLst>
              <a:ext uri="{FF2B5EF4-FFF2-40B4-BE49-F238E27FC236}">
                <a16:creationId xmlns:a16="http://schemas.microsoft.com/office/drawing/2014/main" id="{6BB7A521-0F2B-D357-2ED3-975B421C574D}"/>
              </a:ext>
            </a:extLst>
          </p:cNvPr>
          <p:cNvPicPr>
            <a:picLocks noChangeAspect="1"/>
          </p:cNvPicPr>
          <p:nvPr/>
        </p:nvPicPr>
        <p:blipFill>
          <a:blip r:embed="rId3">
            <a:lum bright="70000" contrast="-70000"/>
          </a:blip>
          <a:stretch>
            <a:fillRect/>
          </a:stretch>
        </p:blipFill>
        <p:spPr>
          <a:xfrm>
            <a:off x="2667001" y="4286335"/>
            <a:ext cx="3574439" cy="2121563"/>
          </a:xfrm>
          <a:prstGeom prst="rect">
            <a:avLst/>
          </a:prstGeom>
        </p:spPr>
      </p:pic>
      <p:sp>
        <p:nvSpPr>
          <p:cNvPr id="39" name="Freeform 19">
            <a:extLst>
              <a:ext uri="{FF2B5EF4-FFF2-40B4-BE49-F238E27FC236}">
                <a16:creationId xmlns:a16="http://schemas.microsoft.com/office/drawing/2014/main" id="{A2A0022B-1A0F-1F7D-134C-5B305C63E247}"/>
              </a:ext>
            </a:extLst>
          </p:cNvPr>
          <p:cNvSpPr>
            <a:spLocks/>
          </p:cNvSpPr>
          <p:nvPr/>
        </p:nvSpPr>
        <p:spPr bwMode="auto">
          <a:xfrm>
            <a:off x="5789860" y="1975758"/>
            <a:ext cx="1371600" cy="373723"/>
          </a:xfrm>
          <a:prstGeom prst="roundRect">
            <a:avLst>
              <a:gd name="adj" fmla="val 110777"/>
            </a:avLst>
          </a:prstGeom>
          <a:solidFill>
            <a:schemeClr val="accent1">
              <a:lumMod val="75000"/>
            </a:schemeClr>
          </a:solid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WATCHTOWER / INSIGHTS CENTRE</a:t>
            </a:r>
          </a:p>
        </p:txBody>
      </p:sp>
      <p:sp>
        <p:nvSpPr>
          <p:cNvPr id="40" name="Rectangle 39">
            <a:extLst>
              <a:ext uri="{FF2B5EF4-FFF2-40B4-BE49-F238E27FC236}">
                <a16:creationId xmlns:a16="http://schemas.microsoft.com/office/drawing/2014/main" id="{606B645A-73C0-C628-647B-9A74792A50D9}"/>
              </a:ext>
            </a:extLst>
          </p:cNvPr>
          <p:cNvSpPr/>
          <p:nvPr/>
        </p:nvSpPr>
        <p:spPr>
          <a:xfrm>
            <a:off x="5789860" y="2490303"/>
            <a:ext cx="1399926" cy="1246495"/>
          </a:xfrm>
          <a:prstGeom prst="rect">
            <a:avLst/>
          </a:prstGeom>
        </p:spPr>
        <p:txBody>
          <a:bodyPr wrap="square" lIns="0" tIns="0" rIns="0" bIns="0" numCol="1">
            <a:spAutoFit/>
          </a:bodyPr>
          <a:lstStyle/>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POVs on Emerging Tech Areas and Business</a:t>
            </a:r>
          </a:p>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Periodic Customized Research</a:t>
            </a:r>
          </a:p>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Bespoke Newsletters and Articles</a:t>
            </a:r>
          </a:p>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Dashboards and Syndicated Reports</a:t>
            </a:r>
          </a:p>
        </p:txBody>
      </p:sp>
      <p:sp>
        <p:nvSpPr>
          <p:cNvPr id="41" name="Freeform 19">
            <a:extLst>
              <a:ext uri="{FF2B5EF4-FFF2-40B4-BE49-F238E27FC236}">
                <a16:creationId xmlns:a16="http://schemas.microsoft.com/office/drawing/2014/main" id="{8EC8617A-AB87-4D9B-E94F-75C7F017F972}"/>
              </a:ext>
            </a:extLst>
          </p:cNvPr>
          <p:cNvSpPr>
            <a:spLocks/>
          </p:cNvSpPr>
          <p:nvPr/>
        </p:nvSpPr>
        <p:spPr bwMode="auto">
          <a:xfrm>
            <a:off x="7338813" y="1975758"/>
            <a:ext cx="1371600" cy="373723"/>
          </a:xfrm>
          <a:prstGeom prst="roundRect">
            <a:avLst>
              <a:gd name="adj" fmla="val 110777"/>
            </a:avLst>
          </a:prstGeom>
          <a:solidFill>
            <a:schemeClr val="accent1">
              <a:lumMod val="75000"/>
            </a:schemeClr>
          </a:solid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ACQUISITIONS / JV</a:t>
            </a:r>
          </a:p>
        </p:txBody>
      </p:sp>
      <p:sp>
        <p:nvSpPr>
          <p:cNvPr id="42" name="Rectangle 41">
            <a:extLst>
              <a:ext uri="{FF2B5EF4-FFF2-40B4-BE49-F238E27FC236}">
                <a16:creationId xmlns:a16="http://schemas.microsoft.com/office/drawing/2014/main" id="{3E429A4B-A8C5-E46F-D0DC-2311A08A5495}"/>
              </a:ext>
            </a:extLst>
          </p:cNvPr>
          <p:cNvSpPr/>
          <p:nvPr/>
        </p:nvSpPr>
        <p:spPr>
          <a:xfrm>
            <a:off x="7338813" y="2490303"/>
            <a:ext cx="1371600" cy="830997"/>
          </a:xfrm>
          <a:prstGeom prst="rect">
            <a:avLst/>
          </a:prstGeom>
        </p:spPr>
        <p:txBody>
          <a:bodyPr wrap="square" lIns="0" tIns="0" rIns="0" bIns="0" numCol="1">
            <a:spAutoFit/>
          </a:bodyPr>
          <a:lstStyle/>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Acquisition Target Scouting</a:t>
            </a:r>
          </a:p>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Partnerships Opportunity Assessments</a:t>
            </a:r>
          </a:p>
          <a:p>
            <a:pPr marL="180000" marR="0" lvl="0" indent="-17780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Financial Analysis</a:t>
            </a:r>
          </a:p>
        </p:txBody>
      </p:sp>
      <p:cxnSp>
        <p:nvCxnSpPr>
          <p:cNvPr id="43" name="Straight Connector 42">
            <a:extLst>
              <a:ext uri="{FF2B5EF4-FFF2-40B4-BE49-F238E27FC236}">
                <a16:creationId xmlns:a16="http://schemas.microsoft.com/office/drawing/2014/main" id="{AEAEBA67-2ECB-9342-00FD-238C92832605}"/>
              </a:ext>
            </a:extLst>
          </p:cNvPr>
          <p:cNvCxnSpPr>
            <a:cxnSpLocks/>
          </p:cNvCxnSpPr>
          <p:nvPr/>
        </p:nvCxnSpPr>
        <p:spPr>
          <a:xfrm rot="5400000">
            <a:off x="6472896" y="2788169"/>
            <a:ext cx="15544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25B59A0-E0EF-DB5A-CBE1-D2252D3457A7}"/>
              </a:ext>
            </a:extLst>
          </p:cNvPr>
          <p:cNvCxnSpPr>
            <a:cxnSpLocks/>
          </p:cNvCxnSpPr>
          <p:nvPr/>
        </p:nvCxnSpPr>
        <p:spPr>
          <a:xfrm rot="5400000">
            <a:off x="8021848" y="2788169"/>
            <a:ext cx="15544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59A11A7B-9BCE-DCDA-14C5-771852940BD3}"/>
              </a:ext>
            </a:extLst>
          </p:cNvPr>
          <p:cNvPicPr>
            <a:picLocks noChangeAspect="1"/>
          </p:cNvPicPr>
          <p:nvPr/>
        </p:nvPicPr>
        <p:blipFill rotWithShape="1">
          <a:blip r:embed="rId4">
            <a:clrChange>
              <a:clrFrom>
                <a:srgbClr val="FFFFFF"/>
              </a:clrFrom>
              <a:clrTo>
                <a:srgbClr val="FFFFFF">
                  <a:alpha val="0"/>
                </a:srgbClr>
              </a:clrTo>
            </a:clrChange>
          </a:blip>
          <a:srcRect t="22794" b="22794"/>
          <a:stretch/>
        </p:blipFill>
        <p:spPr>
          <a:xfrm>
            <a:off x="9303514" y="5939755"/>
            <a:ext cx="900000" cy="255910"/>
          </a:xfrm>
          <a:prstGeom prst="rect">
            <a:avLst/>
          </a:prstGeom>
        </p:spPr>
      </p:pic>
      <p:pic>
        <p:nvPicPr>
          <p:cNvPr id="46" name="Picture 45">
            <a:extLst>
              <a:ext uri="{FF2B5EF4-FFF2-40B4-BE49-F238E27FC236}">
                <a16:creationId xmlns:a16="http://schemas.microsoft.com/office/drawing/2014/main" id="{BC7DBEB5-1000-8D3C-28D7-B7972E6978A2}"/>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9290393" y="5586444"/>
            <a:ext cx="547058" cy="232181"/>
          </a:xfrm>
          <a:prstGeom prst="rect">
            <a:avLst/>
          </a:prstGeom>
        </p:spPr>
      </p:pic>
      <p:pic>
        <p:nvPicPr>
          <p:cNvPr id="53" name="Picture 44">
            <a:extLst>
              <a:ext uri="{FF2B5EF4-FFF2-40B4-BE49-F238E27FC236}">
                <a16:creationId xmlns:a16="http://schemas.microsoft.com/office/drawing/2014/main" id="{64F9F778-2C04-65A1-AE74-2670CD8441AA}"/>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373337" y="4268066"/>
            <a:ext cx="1003014" cy="231959"/>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46">
            <a:extLst>
              <a:ext uri="{FF2B5EF4-FFF2-40B4-BE49-F238E27FC236}">
                <a16:creationId xmlns:a16="http://schemas.microsoft.com/office/drawing/2014/main" id="{DE3012F0-53A6-F841-8D70-C2BFB44D53D3}"/>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9960490" y="5641534"/>
            <a:ext cx="725196" cy="218091"/>
          </a:xfrm>
          <a:prstGeom prst="rect">
            <a:avLst/>
          </a:prstGeom>
          <a:noFill/>
          <a:extLst>
            <a:ext uri="{909E8E84-426E-40DD-AFC4-6F175D3DCCD1}">
              <a14:hiddenFill xmlns:a14="http://schemas.microsoft.com/office/drawing/2010/main">
                <a:solidFill>
                  <a:srgbClr val="FFFFFF"/>
                </a:solidFill>
              </a14:hiddenFill>
            </a:ext>
          </a:extLst>
        </p:spPr>
      </p:pic>
      <p:sp>
        <p:nvSpPr>
          <p:cNvPr id="55" name="object 17">
            <a:extLst>
              <a:ext uri="{FF2B5EF4-FFF2-40B4-BE49-F238E27FC236}">
                <a16:creationId xmlns:a16="http://schemas.microsoft.com/office/drawing/2014/main" id="{4506A51F-3A45-0DEA-0D46-FFD966F9773F}"/>
              </a:ext>
            </a:extLst>
          </p:cNvPr>
          <p:cNvSpPr/>
          <p:nvPr/>
        </p:nvSpPr>
        <p:spPr>
          <a:xfrm>
            <a:off x="10495999" y="4226296"/>
            <a:ext cx="1080000" cy="200776"/>
          </a:xfrm>
          <a:prstGeom prst="rect">
            <a:avLst/>
          </a:prstGeom>
          <a:blipFill>
            <a:blip r:embed="rId8" cstate="print"/>
            <a:stretch>
              <a:fillRect/>
            </a:stretch>
          </a:blipFill>
          <a:ln>
            <a:no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pic>
        <p:nvPicPr>
          <p:cNvPr id="56" name="Picture 55" descr="A picture containing bottle, table, sitting, glass&#10;&#10;Description automatically generated">
            <a:extLst>
              <a:ext uri="{FF2B5EF4-FFF2-40B4-BE49-F238E27FC236}">
                <a16:creationId xmlns:a16="http://schemas.microsoft.com/office/drawing/2014/main" id="{6391F9E8-13D1-8433-0382-6F9A2A6968D9}"/>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0699710" y="5029200"/>
            <a:ext cx="830360" cy="383513"/>
          </a:xfrm>
          <a:prstGeom prst="rect">
            <a:avLst/>
          </a:prstGeom>
        </p:spPr>
      </p:pic>
      <p:pic>
        <p:nvPicPr>
          <p:cNvPr id="57" name="Picture 56">
            <a:extLst>
              <a:ext uri="{FF2B5EF4-FFF2-40B4-BE49-F238E27FC236}">
                <a16:creationId xmlns:a16="http://schemas.microsoft.com/office/drawing/2014/main" id="{E59785E1-9D55-888C-B00F-78909108980F}"/>
              </a:ext>
            </a:extLst>
          </p:cNvPr>
          <p:cNvPicPr>
            <a:picLocks noChangeAspect="1"/>
          </p:cNvPicPr>
          <p:nvPr/>
        </p:nvPicPr>
        <p:blipFill>
          <a:blip r:embed="rId10">
            <a:clrChange>
              <a:clrFrom>
                <a:srgbClr val="FFFFFF"/>
              </a:clrFrom>
              <a:clrTo>
                <a:srgbClr val="FFFFFF">
                  <a:alpha val="0"/>
                </a:srgbClr>
              </a:clrTo>
            </a:clrChange>
          </a:blip>
          <a:stretch>
            <a:fillRect/>
          </a:stretch>
        </p:blipFill>
        <p:spPr>
          <a:xfrm>
            <a:off x="10055041" y="5060896"/>
            <a:ext cx="420452" cy="389773"/>
          </a:xfrm>
          <a:prstGeom prst="rect">
            <a:avLst/>
          </a:prstGeom>
        </p:spPr>
      </p:pic>
      <p:pic>
        <p:nvPicPr>
          <p:cNvPr id="58" name="Picture 57">
            <a:extLst>
              <a:ext uri="{FF2B5EF4-FFF2-40B4-BE49-F238E27FC236}">
                <a16:creationId xmlns:a16="http://schemas.microsoft.com/office/drawing/2014/main" id="{E8CB02E0-9EF6-C9F1-37AB-B0C36CA1EE85}"/>
              </a:ext>
            </a:extLst>
          </p:cNvPr>
          <p:cNvPicPr>
            <a:picLocks noChangeAspect="1"/>
          </p:cNvPicPr>
          <p:nvPr/>
        </p:nvPicPr>
        <p:blipFill>
          <a:blip r:embed="rId11">
            <a:clrChange>
              <a:clrFrom>
                <a:srgbClr val="000000"/>
              </a:clrFrom>
              <a:clrTo>
                <a:srgbClr val="000000">
                  <a:alpha val="0"/>
                </a:srgbClr>
              </a:clrTo>
            </a:clrChange>
          </a:blip>
          <a:stretch>
            <a:fillRect/>
          </a:stretch>
        </p:blipFill>
        <p:spPr>
          <a:xfrm>
            <a:off x="9340280" y="5102481"/>
            <a:ext cx="486566" cy="355569"/>
          </a:xfrm>
          <a:prstGeom prst="rect">
            <a:avLst/>
          </a:prstGeom>
        </p:spPr>
      </p:pic>
      <p:pic>
        <p:nvPicPr>
          <p:cNvPr id="64" name="Picture 63">
            <a:extLst>
              <a:ext uri="{FF2B5EF4-FFF2-40B4-BE49-F238E27FC236}">
                <a16:creationId xmlns:a16="http://schemas.microsoft.com/office/drawing/2014/main" id="{9AA9066C-44D0-66B7-5DB0-859680E16025}"/>
              </a:ext>
            </a:extLst>
          </p:cNvPr>
          <p:cNvPicPr>
            <a:picLocks noChangeAspect="1"/>
          </p:cNvPicPr>
          <p:nvPr/>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9765225" y="4705196"/>
            <a:ext cx="612000" cy="144972"/>
          </a:xfrm>
          <a:prstGeom prst="rect">
            <a:avLst/>
          </a:prstGeom>
        </p:spPr>
      </p:pic>
      <p:pic>
        <p:nvPicPr>
          <p:cNvPr id="65" name="Picture 64">
            <a:extLst>
              <a:ext uri="{FF2B5EF4-FFF2-40B4-BE49-F238E27FC236}">
                <a16:creationId xmlns:a16="http://schemas.microsoft.com/office/drawing/2014/main" id="{6E9A5D75-CBA3-57D1-D7B4-718CC1C50FB8}"/>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9340280" y="4600030"/>
            <a:ext cx="324000" cy="324000"/>
          </a:xfrm>
          <a:prstGeom prst="rect">
            <a:avLst/>
          </a:prstGeom>
        </p:spPr>
      </p:pic>
      <p:pic>
        <p:nvPicPr>
          <p:cNvPr id="66" name="Picture 65">
            <a:extLst>
              <a:ext uri="{FF2B5EF4-FFF2-40B4-BE49-F238E27FC236}">
                <a16:creationId xmlns:a16="http://schemas.microsoft.com/office/drawing/2014/main" id="{898D6716-B435-D598-5318-39FC8DFD0BFD}"/>
              </a:ext>
            </a:extLst>
          </p:cNvPr>
          <p:cNvPicPr>
            <a:picLocks noChangeAspect="1"/>
          </p:cNvPicPr>
          <p:nvPr/>
        </p:nvPicPr>
        <p:blipFill rotWithShape="1">
          <a:blip r:embed="rId14" cstate="screen">
            <a:extLst>
              <a:ext uri="{28A0092B-C50C-407E-A947-70E740481C1C}">
                <a14:useLocalDpi xmlns:a14="http://schemas.microsoft.com/office/drawing/2010/main"/>
              </a:ext>
            </a:extLst>
          </a:blip>
          <a:srcRect l="2154" t="4839" r="2366" b="7611"/>
          <a:stretch/>
        </p:blipFill>
        <p:spPr>
          <a:xfrm>
            <a:off x="10595509" y="6276332"/>
            <a:ext cx="432000" cy="153108"/>
          </a:xfrm>
          <a:prstGeom prst="rect">
            <a:avLst/>
          </a:prstGeom>
        </p:spPr>
      </p:pic>
      <p:pic>
        <p:nvPicPr>
          <p:cNvPr id="67" name="Picture 66">
            <a:extLst>
              <a:ext uri="{FF2B5EF4-FFF2-40B4-BE49-F238E27FC236}">
                <a16:creationId xmlns:a16="http://schemas.microsoft.com/office/drawing/2014/main" id="{8999C9CC-2D43-35E2-2424-20A730C7D356}"/>
              </a:ext>
            </a:extLst>
          </p:cNvPr>
          <p:cNvPicPr>
            <a:picLocks noChangeAspect="1"/>
          </p:cNvPicPr>
          <p:nvPr/>
        </p:nvPicPr>
        <p:blipFill rotWithShape="1">
          <a:blip r:embed="rId15" cstate="screen">
            <a:clrChange>
              <a:clrFrom>
                <a:srgbClr val="FFFFFF"/>
              </a:clrFrom>
              <a:clrTo>
                <a:srgbClr val="FFFFFF">
                  <a:alpha val="0"/>
                </a:srgbClr>
              </a:clrTo>
            </a:clrChange>
            <a:extLst>
              <a:ext uri="{28A0092B-C50C-407E-A947-70E740481C1C}">
                <a14:useLocalDpi xmlns:a14="http://schemas.microsoft.com/office/drawing/2010/main"/>
              </a:ext>
            </a:extLst>
          </a:blip>
          <a:srcRect l="18021" t="38836" r="19681" b="40199"/>
          <a:stretch/>
        </p:blipFill>
        <p:spPr>
          <a:xfrm>
            <a:off x="10607718" y="6018167"/>
            <a:ext cx="756000" cy="193834"/>
          </a:xfrm>
          <a:prstGeom prst="rect">
            <a:avLst/>
          </a:prstGeom>
        </p:spPr>
      </p:pic>
      <p:pic>
        <p:nvPicPr>
          <p:cNvPr id="68" name="Picture 2" descr="Jlr Logo New - Land Rover Halifax">
            <a:extLst>
              <a:ext uri="{FF2B5EF4-FFF2-40B4-BE49-F238E27FC236}">
                <a16:creationId xmlns:a16="http://schemas.microsoft.com/office/drawing/2014/main" id="{A4326152-5F24-BF8A-728A-5B927D921362}"/>
              </a:ext>
            </a:extLst>
          </p:cNvPr>
          <p:cNvPicPr>
            <a:picLocks noChangeAspect="1" noChangeArrowheads="1"/>
          </p:cNvPicPr>
          <p:nvPr/>
        </p:nvPicPr>
        <p:blipFill>
          <a:blip r:embed="rId16"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833002" y="5651279"/>
            <a:ext cx="808135" cy="216000"/>
          </a:xfrm>
          <a:prstGeom prst="rect">
            <a:avLst/>
          </a:prstGeom>
          <a:noFill/>
          <a:extLst>
            <a:ext uri="{909E8E84-426E-40DD-AFC4-6F175D3DCCD1}">
              <a14:hiddenFill xmlns:a14="http://schemas.microsoft.com/office/drawing/2010/main">
                <a:solidFill>
                  <a:srgbClr val="FFFFFF"/>
                </a:solidFill>
              </a14:hiddenFill>
            </a:ext>
          </a:extLst>
        </p:spPr>
      </p:pic>
      <p:sp>
        <p:nvSpPr>
          <p:cNvPr id="69" name="object 18">
            <a:extLst>
              <a:ext uri="{FF2B5EF4-FFF2-40B4-BE49-F238E27FC236}">
                <a16:creationId xmlns:a16="http://schemas.microsoft.com/office/drawing/2014/main" id="{F2A6EF9A-52AC-6659-E267-8C8835038F64}"/>
              </a:ext>
            </a:extLst>
          </p:cNvPr>
          <p:cNvSpPr/>
          <p:nvPr/>
        </p:nvSpPr>
        <p:spPr>
          <a:xfrm>
            <a:off x="10985718" y="4639062"/>
            <a:ext cx="607493" cy="231457"/>
          </a:xfrm>
          <a:prstGeom prst="rect">
            <a:avLst/>
          </a:prstGeom>
          <a:blipFill>
            <a:blip r:embed="rId17" cstate="print">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71" name="Rectangle 70">
            <a:extLst>
              <a:ext uri="{FF2B5EF4-FFF2-40B4-BE49-F238E27FC236}">
                <a16:creationId xmlns:a16="http://schemas.microsoft.com/office/drawing/2014/main" id="{A05DF011-7DF6-D371-3053-4F4AD4629836}"/>
              </a:ext>
            </a:extLst>
          </p:cNvPr>
          <p:cNvSpPr/>
          <p:nvPr/>
        </p:nvSpPr>
        <p:spPr>
          <a:xfrm>
            <a:off x="6561184" y="4226296"/>
            <a:ext cx="2557020" cy="2219955"/>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70" name="Group 69">
            <a:extLst>
              <a:ext uri="{FF2B5EF4-FFF2-40B4-BE49-F238E27FC236}">
                <a16:creationId xmlns:a16="http://schemas.microsoft.com/office/drawing/2014/main" id="{D521E029-1096-FE31-85B9-4704723579FC}"/>
              </a:ext>
            </a:extLst>
          </p:cNvPr>
          <p:cNvGrpSpPr/>
          <p:nvPr/>
        </p:nvGrpSpPr>
        <p:grpSpPr>
          <a:xfrm>
            <a:off x="6707726" y="4368930"/>
            <a:ext cx="2327092" cy="1859795"/>
            <a:chOff x="6607611" y="4302780"/>
            <a:chExt cx="2327092" cy="1859795"/>
          </a:xfrm>
        </p:grpSpPr>
        <p:pic>
          <p:nvPicPr>
            <p:cNvPr id="47" name="Picture 117">
              <a:hlinkClick r:id="rId18"/>
              <a:extLst>
                <a:ext uri="{FF2B5EF4-FFF2-40B4-BE49-F238E27FC236}">
                  <a16:creationId xmlns:a16="http://schemas.microsoft.com/office/drawing/2014/main" id="{03B2FAC3-B81D-D71D-9644-ED062E6D8B04}"/>
                </a:ext>
              </a:extLst>
            </p:cNvPr>
            <p:cNvPicPr>
              <a:picLocks noChangeAspect="1" noChangeArrowheads="1"/>
            </p:cNvPicPr>
            <p:nvPr/>
          </p:nvPicPr>
          <p:blipFill rotWithShape="1">
            <a:blip r:embed="rId19" cstate="email">
              <a:clrChange>
                <a:clrFrom>
                  <a:srgbClr val="FFFFFF"/>
                </a:clrFrom>
                <a:clrTo>
                  <a:srgbClr val="FFFFFF">
                    <a:alpha val="0"/>
                  </a:srgbClr>
                </a:clrTo>
              </a:clrChange>
              <a:extLst>
                <a:ext uri="{28A0092B-C50C-407E-A947-70E740481C1C}">
                  <a14:useLocalDpi xmlns:a14="http://schemas.microsoft.com/office/drawing/2010/main"/>
                </a:ext>
              </a:extLst>
            </a:blip>
            <a:srcRect t="25994" b="25994"/>
            <a:stretch/>
          </p:blipFill>
          <p:spPr bwMode="auto">
            <a:xfrm>
              <a:off x="7225182" y="5404006"/>
              <a:ext cx="1204749" cy="264962"/>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109" descr="eResources | National Library Board Singapore">
              <a:hlinkClick r:id="rId20"/>
              <a:extLst>
                <a:ext uri="{FF2B5EF4-FFF2-40B4-BE49-F238E27FC236}">
                  <a16:creationId xmlns:a16="http://schemas.microsoft.com/office/drawing/2014/main" id="{21233FC8-B6DB-C4B4-488C-BBEB466D6F6B}"/>
                </a:ext>
              </a:extLst>
            </p:cNvPr>
            <p:cNvPicPr>
              <a:picLocks noChangeAspect="1" noChangeArrowheads="1"/>
            </p:cNvPicPr>
            <p:nvPr/>
          </p:nvPicPr>
          <p:blipFill rotWithShape="1">
            <a:blip r:embed="rId21"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7981510" y="5146778"/>
              <a:ext cx="843817" cy="221952"/>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a:extLst>
                <a:ext uri="{FF2B5EF4-FFF2-40B4-BE49-F238E27FC236}">
                  <a16:creationId xmlns:a16="http://schemas.microsoft.com/office/drawing/2014/main" id="{7FF89AF6-C3EC-B954-7710-E4B1DBAE36FD}"/>
                </a:ext>
              </a:extLst>
            </p:cNvPr>
            <p:cNvPicPr>
              <a:picLocks noChangeAspect="1"/>
            </p:cNvPicPr>
            <p:nvPr/>
          </p:nvPicPr>
          <p:blipFill>
            <a:blip r:embed="rId22"/>
            <a:stretch>
              <a:fillRect/>
            </a:stretch>
          </p:blipFill>
          <p:spPr>
            <a:xfrm>
              <a:off x="7922938" y="5838934"/>
              <a:ext cx="1011765" cy="157798"/>
            </a:xfrm>
            <a:prstGeom prst="rect">
              <a:avLst/>
            </a:prstGeom>
          </p:spPr>
        </p:pic>
        <p:grpSp>
          <p:nvGrpSpPr>
            <p:cNvPr id="50" name="Group 49">
              <a:extLst>
                <a:ext uri="{FF2B5EF4-FFF2-40B4-BE49-F238E27FC236}">
                  <a16:creationId xmlns:a16="http://schemas.microsoft.com/office/drawing/2014/main" id="{32753DEF-50C5-13AF-8ADE-26BBB51D80C7}"/>
                </a:ext>
              </a:extLst>
            </p:cNvPr>
            <p:cNvGrpSpPr/>
            <p:nvPr/>
          </p:nvGrpSpPr>
          <p:grpSpPr>
            <a:xfrm>
              <a:off x="6607611" y="5706453"/>
              <a:ext cx="1174264" cy="456122"/>
              <a:chOff x="-1532805" y="3722663"/>
              <a:chExt cx="1174264" cy="456122"/>
            </a:xfrm>
          </p:grpSpPr>
          <p:pic>
            <p:nvPicPr>
              <p:cNvPr id="51" name="Picture 50">
                <a:extLst>
                  <a:ext uri="{FF2B5EF4-FFF2-40B4-BE49-F238E27FC236}">
                    <a16:creationId xmlns:a16="http://schemas.microsoft.com/office/drawing/2014/main" id="{FF54859F-D5FA-E3C7-63B4-577CDDFF8752}"/>
                  </a:ext>
                </a:extLst>
              </p:cNvPr>
              <p:cNvPicPr>
                <a:picLocks noChangeAspect="1"/>
              </p:cNvPicPr>
              <p:nvPr/>
            </p:nvPicPr>
            <p:blipFill>
              <a:blip r:embed="rId23"/>
              <a:stretch>
                <a:fillRect/>
              </a:stretch>
            </p:blipFill>
            <p:spPr>
              <a:xfrm>
                <a:off x="-1532805" y="3722663"/>
                <a:ext cx="1174264" cy="264962"/>
              </a:xfrm>
              <a:prstGeom prst="rect">
                <a:avLst/>
              </a:prstGeom>
            </p:spPr>
          </p:pic>
          <p:pic>
            <p:nvPicPr>
              <p:cNvPr id="52" name="Picture 51">
                <a:extLst>
                  <a:ext uri="{FF2B5EF4-FFF2-40B4-BE49-F238E27FC236}">
                    <a16:creationId xmlns:a16="http://schemas.microsoft.com/office/drawing/2014/main" id="{02711BC4-8203-BC92-C6AB-A9E306A26375}"/>
                  </a:ext>
                </a:extLst>
              </p:cNvPr>
              <p:cNvPicPr>
                <a:picLocks noChangeAspect="1"/>
              </p:cNvPicPr>
              <p:nvPr/>
            </p:nvPicPr>
            <p:blipFill>
              <a:blip r:embed="rId24"/>
              <a:stretch>
                <a:fillRect/>
              </a:stretch>
            </p:blipFill>
            <p:spPr>
              <a:xfrm>
                <a:off x="-1434353" y="3986940"/>
                <a:ext cx="946146" cy="191845"/>
              </a:xfrm>
              <a:prstGeom prst="rect">
                <a:avLst/>
              </a:prstGeom>
            </p:spPr>
          </p:pic>
        </p:grpSp>
        <p:pic>
          <p:nvPicPr>
            <p:cNvPr id="59" name="Picture 58">
              <a:extLst>
                <a:ext uri="{FF2B5EF4-FFF2-40B4-BE49-F238E27FC236}">
                  <a16:creationId xmlns:a16="http://schemas.microsoft.com/office/drawing/2014/main" id="{A132832F-EF71-FB24-CF46-53138F1F254B}"/>
                </a:ext>
              </a:extLst>
            </p:cNvPr>
            <p:cNvPicPr>
              <a:picLocks noChangeAspect="1"/>
            </p:cNvPicPr>
            <p:nvPr/>
          </p:nvPicPr>
          <p:blipFill>
            <a:blip r:embed="rId25" cstate="print">
              <a:extLst>
                <a:ext uri="{28A0092B-C50C-407E-A947-70E740481C1C}">
                  <a14:useLocalDpi xmlns:a14="http://schemas.microsoft.com/office/drawing/2010/main"/>
                </a:ext>
              </a:extLst>
            </a:blip>
            <a:stretch>
              <a:fillRect/>
            </a:stretch>
          </p:blipFill>
          <p:spPr>
            <a:xfrm>
              <a:off x="8032976" y="4302780"/>
              <a:ext cx="728366" cy="282242"/>
            </a:xfrm>
            <a:prstGeom prst="rect">
              <a:avLst/>
            </a:prstGeom>
          </p:spPr>
        </p:pic>
        <p:pic>
          <p:nvPicPr>
            <p:cNvPr id="60" name="Picture 59">
              <a:hlinkClick r:id="rId26"/>
              <a:extLst>
                <a:ext uri="{FF2B5EF4-FFF2-40B4-BE49-F238E27FC236}">
                  <a16:creationId xmlns:a16="http://schemas.microsoft.com/office/drawing/2014/main" id="{2DDD5508-AC9B-CC85-8935-BCB090461301}"/>
                </a:ext>
              </a:extLst>
            </p:cNvPr>
            <p:cNvPicPr>
              <a:picLocks noChangeAspect="1"/>
            </p:cNvPicPr>
            <p:nvPr/>
          </p:nvPicPr>
          <p:blipFill>
            <a:blip r:embed="rId27"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650171" y="4777682"/>
              <a:ext cx="621780" cy="188418"/>
            </a:xfrm>
            <a:prstGeom prst="rect">
              <a:avLst/>
            </a:prstGeom>
          </p:spPr>
        </p:pic>
        <p:pic>
          <p:nvPicPr>
            <p:cNvPr id="61" name="Picture 60">
              <a:extLst>
                <a:ext uri="{FF2B5EF4-FFF2-40B4-BE49-F238E27FC236}">
                  <a16:creationId xmlns:a16="http://schemas.microsoft.com/office/drawing/2014/main" id="{8B60A3C3-DCCA-D917-B62C-54E522A869B1}"/>
                </a:ext>
              </a:extLst>
            </p:cNvPr>
            <p:cNvPicPr>
              <a:picLocks noChangeAspect="1"/>
            </p:cNvPicPr>
            <p:nvPr/>
          </p:nvPicPr>
          <p:blipFill>
            <a:blip r:embed="rId28" cstate="print">
              <a:extLst>
                <a:ext uri="{28A0092B-C50C-407E-A947-70E740481C1C}">
                  <a14:useLocalDpi xmlns:a14="http://schemas.microsoft.com/office/drawing/2010/main"/>
                </a:ext>
              </a:extLst>
            </a:blip>
            <a:stretch>
              <a:fillRect/>
            </a:stretch>
          </p:blipFill>
          <p:spPr>
            <a:xfrm>
              <a:off x="7582722" y="4663445"/>
              <a:ext cx="1014376" cy="314060"/>
            </a:xfrm>
            <a:prstGeom prst="rect">
              <a:avLst/>
            </a:prstGeom>
          </p:spPr>
        </p:pic>
        <p:pic>
          <p:nvPicPr>
            <p:cNvPr id="62" name="Picture 61">
              <a:extLst>
                <a:ext uri="{FF2B5EF4-FFF2-40B4-BE49-F238E27FC236}">
                  <a16:creationId xmlns:a16="http://schemas.microsoft.com/office/drawing/2014/main" id="{C3B709F8-9657-8492-0C26-A5630A504A84}"/>
                </a:ext>
              </a:extLst>
            </p:cNvPr>
            <p:cNvPicPr>
              <a:picLocks noChangeAspect="1"/>
            </p:cNvPicPr>
            <p:nvPr/>
          </p:nvPicPr>
          <p:blipFill rotWithShape="1">
            <a:blip r:embed="rId29" cstate="print">
              <a:extLst>
                <a:ext uri="{28A0092B-C50C-407E-A947-70E740481C1C}">
                  <a14:useLocalDpi xmlns:a14="http://schemas.microsoft.com/office/drawing/2010/main"/>
                </a:ext>
              </a:extLst>
            </a:blip>
            <a:srcRect l="6493" t="38634" r="4851" b="38675"/>
            <a:stretch/>
          </p:blipFill>
          <p:spPr>
            <a:xfrm>
              <a:off x="6667576" y="4302780"/>
              <a:ext cx="1069496" cy="273731"/>
            </a:xfrm>
            <a:prstGeom prst="rect">
              <a:avLst/>
            </a:prstGeom>
          </p:spPr>
        </p:pic>
        <p:pic>
          <p:nvPicPr>
            <p:cNvPr id="63" name="Picture 98" descr="Forrester - Forrester on Tech">
              <a:hlinkClick r:id="rId30"/>
              <a:extLst>
                <a:ext uri="{FF2B5EF4-FFF2-40B4-BE49-F238E27FC236}">
                  <a16:creationId xmlns:a16="http://schemas.microsoft.com/office/drawing/2014/main" id="{D43F75D3-8732-92BE-3EF2-34B98C44B034}"/>
                </a:ext>
              </a:extLst>
            </p:cNvPr>
            <p:cNvPicPr>
              <a:picLocks noChangeAspect="1" noChangeArrowheads="1"/>
            </p:cNvPicPr>
            <p:nvPr/>
          </p:nvPicPr>
          <p:blipFill rotWithShape="1">
            <a:blip r:embed="rId31">
              <a:clrChange>
                <a:clrFrom>
                  <a:srgbClr val="FFFFFF"/>
                </a:clrFrom>
                <a:clrTo>
                  <a:srgbClr val="FFFFFF">
                    <a:alpha val="0"/>
                  </a:srgbClr>
                </a:clrTo>
              </a:clrChange>
              <a:extLst>
                <a:ext uri="{28A0092B-C50C-407E-A947-70E740481C1C}">
                  <a14:useLocalDpi xmlns:a14="http://schemas.microsoft.com/office/drawing/2010/main" val="0"/>
                </a:ext>
              </a:extLst>
            </a:blip>
            <a:srcRect l="10448" t="36900" r="8288" b="41712"/>
            <a:stretch>
              <a:fillRect/>
            </a:stretch>
          </p:blipFill>
          <p:spPr bwMode="auto">
            <a:xfrm>
              <a:off x="6727399" y="5146778"/>
              <a:ext cx="981046" cy="168079"/>
            </a:xfrm>
            <a:prstGeom prst="rect">
              <a:avLst/>
            </a:prstGeom>
            <a:noFill/>
            <a:extLst>
              <a:ext uri="{909E8E84-426E-40DD-AFC4-6F175D3DCCD1}">
                <a14:hiddenFill xmlns:a14="http://schemas.microsoft.com/office/drawing/2010/main">
                  <a:solidFill>
                    <a:srgbClr val="FFFFFF"/>
                  </a:solidFill>
                </a14:hiddenFill>
              </a:ext>
            </a:extLst>
          </p:spPr>
        </p:pic>
      </p:grpSp>
      <p:pic>
        <p:nvPicPr>
          <p:cNvPr id="82" name="Picture 81">
            <a:extLst>
              <a:ext uri="{FF2B5EF4-FFF2-40B4-BE49-F238E27FC236}">
                <a16:creationId xmlns:a16="http://schemas.microsoft.com/office/drawing/2014/main" id="{6FB89366-9900-9890-779A-815390D0D428}"/>
              </a:ext>
            </a:extLst>
          </p:cNvPr>
          <p:cNvPicPr>
            <a:picLocks noChangeAspect="1"/>
          </p:cNvPicPr>
          <p:nvPr/>
        </p:nvPicPr>
        <p:blipFill>
          <a:blip r:embed="rId32"/>
          <a:stretch>
            <a:fillRect/>
          </a:stretch>
        </p:blipFill>
        <p:spPr>
          <a:xfrm>
            <a:off x="10595509" y="0"/>
            <a:ext cx="1237002" cy="696510"/>
          </a:xfrm>
          <a:prstGeom prst="rect">
            <a:avLst/>
          </a:prstGeom>
        </p:spPr>
      </p:pic>
      <p:sp>
        <p:nvSpPr>
          <p:cNvPr id="6" name="TextBox 5">
            <a:extLst>
              <a:ext uri="{FF2B5EF4-FFF2-40B4-BE49-F238E27FC236}">
                <a16:creationId xmlns:a16="http://schemas.microsoft.com/office/drawing/2014/main" id="{5CBE3610-9EBA-023F-FB8B-4D287202FC2F}"/>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72" name="Date Placeholder 5">
            <a:extLst>
              <a:ext uri="{FF2B5EF4-FFF2-40B4-BE49-F238E27FC236}">
                <a16:creationId xmlns:a16="http://schemas.microsoft.com/office/drawing/2014/main" id="{DAB934E2-9EA3-AF15-6513-4E10305F471E}"/>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pic>
        <p:nvPicPr>
          <p:cNvPr id="74" name="Picture 73">
            <a:extLst>
              <a:ext uri="{FF2B5EF4-FFF2-40B4-BE49-F238E27FC236}">
                <a16:creationId xmlns:a16="http://schemas.microsoft.com/office/drawing/2014/main" id="{57B9F287-47DD-DB74-DF8F-DC90BA77E5DE}"/>
              </a:ext>
            </a:extLst>
          </p:cNvPr>
          <p:cNvPicPr>
            <a:picLocks noChangeAspect="1"/>
          </p:cNvPicPr>
          <p:nvPr/>
        </p:nvPicPr>
        <p:blipFill>
          <a:blip r:embed="rId33"/>
          <a:stretch>
            <a:fillRect/>
          </a:stretch>
        </p:blipFill>
        <p:spPr>
          <a:xfrm>
            <a:off x="9429532" y="6297024"/>
            <a:ext cx="872975" cy="149227"/>
          </a:xfrm>
          <a:prstGeom prst="rect">
            <a:avLst/>
          </a:prstGeom>
        </p:spPr>
      </p:pic>
      <p:sp>
        <p:nvSpPr>
          <p:cNvPr id="73" name="Date Placeholder 5">
            <a:extLst>
              <a:ext uri="{FF2B5EF4-FFF2-40B4-BE49-F238E27FC236}">
                <a16:creationId xmlns:a16="http://schemas.microsoft.com/office/drawing/2014/main" id="{3926026F-EFBA-9A1A-505F-30685FEF4F4C}"/>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22</a:t>
            </a:r>
          </a:p>
        </p:txBody>
      </p:sp>
    </p:spTree>
    <p:extLst>
      <p:ext uri="{BB962C8B-B14F-4D97-AF65-F5344CB8AC3E}">
        <p14:creationId xmlns:p14="http://schemas.microsoft.com/office/powerpoint/2010/main" val="2153044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2BE9A80-5E49-1163-1F91-1CB35D13AC79}"/>
              </a:ext>
            </a:extLst>
          </p:cNvPr>
          <p:cNvSpPr txBox="1"/>
          <p:nvPr/>
        </p:nvSpPr>
        <p:spPr>
          <a:xfrm>
            <a:off x="572219" y="265802"/>
            <a:ext cx="10400197" cy="664797"/>
          </a:xfrm>
          <a:prstGeom prst="rect">
            <a:avLst/>
          </a:prstGeom>
        </p:spPr>
        <p:txBody>
          <a:bodyPr vert="horz" wrap="square" lIns="0" tIns="0" rIns="0" bIns="0" rtlCol="0" anchor="ctr" anchorCtr="0">
            <a:spAutoFit/>
          </a:bodyPr>
          <a:lstStyle>
            <a:defPPr>
              <a:defRPr lang="en-US"/>
            </a:defPPr>
            <a:lvl1pPr marR="0" lvl="0" indent="0" fontAlgn="auto">
              <a:lnSpc>
                <a:spcPct val="90000"/>
              </a:lnSpc>
              <a:spcBef>
                <a:spcPct val="0"/>
              </a:spcBef>
              <a:spcAft>
                <a:spcPts val="0"/>
              </a:spcAft>
              <a:buClrTx/>
              <a:buSzTx/>
              <a:buFontTx/>
              <a:buNone/>
              <a:tabLst/>
              <a:defRPr kumimoji="0" sz="2000" b="0" i="0" u="none" strike="noStrike" cap="none" spc="0" normalizeH="0" baseline="0">
                <a:ln>
                  <a:noFill/>
                </a:ln>
                <a:effectLst/>
                <a:uLnTx/>
                <a:uFillTx/>
                <a:latin typeface="Ubuntu Medium"/>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chemeClr val="bg1"/>
                </a:solidFill>
                <a:effectLst/>
                <a:uLnTx/>
                <a:uFillTx/>
                <a:latin typeface="Ubuntu Medium"/>
                <a:ea typeface="+mj-ea"/>
                <a:cs typeface="+mj-cs"/>
              </a:rPr>
              <a:t>Our end‑to‑end Telecom Consulting capabilities will enable effective strategic execution</a:t>
            </a:r>
            <a:endParaRPr kumimoji="0" lang="en-IN" sz="2400" b="0" i="0" u="none" strike="noStrike" kern="1200" cap="none" spc="0" normalizeH="0" baseline="0" noProof="0">
              <a:ln>
                <a:noFill/>
              </a:ln>
              <a:solidFill>
                <a:schemeClr val="bg1"/>
              </a:solidFill>
              <a:effectLst/>
              <a:uLnTx/>
              <a:uFillTx/>
              <a:latin typeface="Ubuntu Medium"/>
              <a:ea typeface="+mj-ea"/>
              <a:cs typeface="+mj-cs"/>
            </a:endParaRPr>
          </a:p>
        </p:txBody>
      </p:sp>
      <p:sp>
        <p:nvSpPr>
          <p:cNvPr id="2" name="Rectangle 1">
            <a:hlinkClick r:id="" action="ppaction://noaction"/>
            <a:extLst>
              <a:ext uri="{FF2B5EF4-FFF2-40B4-BE49-F238E27FC236}">
                <a16:creationId xmlns:a16="http://schemas.microsoft.com/office/drawing/2014/main" id="{BDF8F12A-EF13-6B0C-46CC-7DE8D2F07E1B}"/>
              </a:ext>
            </a:extLst>
          </p:cNvPr>
          <p:cNvSpPr/>
          <p:nvPr/>
        </p:nvSpPr>
        <p:spPr>
          <a:xfrm>
            <a:off x="1378010" y="2655820"/>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Cloud</a:t>
            </a:r>
          </a:p>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Transformation</a:t>
            </a:r>
          </a:p>
        </p:txBody>
      </p:sp>
      <p:sp>
        <p:nvSpPr>
          <p:cNvPr id="3" name="Rectangle 2">
            <a:hlinkClick r:id="" action="ppaction://noaction"/>
            <a:extLst>
              <a:ext uri="{FF2B5EF4-FFF2-40B4-BE49-F238E27FC236}">
                <a16:creationId xmlns:a16="http://schemas.microsoft.com/office/drawing/2014/main" id="{5A85B53E-22A7-7EB1-A374-14CAFD4310CE}"/>
              </a:ext>
            </a:extLst>
          </p:cNvPr>
          <p:cNvSpPr/>
          <p:nvPr/>
        </p:nvSpPr>
        <p:spPr>
          <a:xfrm>
            <a:off x="2647250" y="2655820"/>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Agile Advisory &amp; </a:t>
            </a:r>
            <a:r>
              <a:rPr kumimoji="0" lang="en-US" sz="700" b="0" i="0" u="none" strike="noStrike" kern="0" cap="none" spc="0" normalizeH="0" baseline="0" noProof="0" err="1">
                <a:ln>
                  <a:noFill/>
                </a:ln>
                <a:solidFill>
                  <a:srgbClr val="FFFFFF"/>
                </a:solidFill>
                <a:effectLst/>
                <a:uLnTx/>
                <a:uFillTx/>
                <a:latin typeface="Ubuntu Medium"/>
                <a:ea typeface="+mn-ea"/>
                <a:cs typeface="+mn-cs"/>
              </a:rPr>
              <a:t>BIzOps</a:t>
            </a:r>
            <a:endParaRPr kumimoji="0" lang="en-US" sz="700" b="0" i="0" u="none" strike="noStrike" kern="0" cap="none" spc="0" normalizeH="0" baseline="0" noProof="0">
              <a:ln>
                <a:noFill/>
              </a:ln>
              <a:solidFill>
                <a:srgbClr val="FFFFFF"/>
              </a:solidFill>
              <a:effectLst/>
              <a:uLnTx/>
              <a:uFillTx/>
              <a:latin typeface="Ubuntu Medium"/>
              <a:ea typeface="+mn-ea"/>
              <a:cs typeface="+mn-cs"/>
            </a:endParaRPr>
          </a:p>
        </p:txBody>
      </p:sp>
      <p:sp>
        <p:nvSpPr>
          <p:cNvPr id="4" name="Rectangle 3">
            <a:hlinkClick r:id="" action="ppaction://noaction"/>
            <a:extLst>
              <a:ext uri="{FF2B5EF4-FFF2-40B4-BE49-F238E27FC236}">
                <a16:creationId xmlns:a16="http://schemas.microsoft.com/office/drawing/2014/main" id="{66F95560-5EF4-109D-45C6-B94CEE267F3B}"/>
              </a:ext>
            </a:extLst>
          </p:cNvPr>
          <p:cNvSpPr/>
          <p:nvPr/>
        </p:nvSpPr>
        <p:spPr>
          <a:xfrm>
            <a:off x="3907579" y="2655820"/>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Product Management </a:t>
            </a:r>
            <a:br>
              <a:rPr kumimoji="0" lang="en-US" sz="700" b="0" i="0" u="none" strike="noStrike" kern="0" cap="none" spc="0" normalizeH="0" baseline="0" noProof="0">
                <a:ln>
                  <a:noFill/>
                </a:ln>
                <a:solidFill>
                  <a:srgbClr val="FFFFFF"/>
                </a:solidFill>
                <a:effectLst/>
                <a:uLnTx/>
                <a:uFillTx/>
                <a:latin typeface="Ubuntu Medium"/>
                <a:ea typeface="+mn-ea"/>
                <a:cs typeface="+mn-cs"/>
              </a:rPr>
            </a:br>
            <a:r>
              <a:rPr kumimoji="0" lang="en-US" sz="700" b="0" i="0" u="none" strike="noStrike" kern="0" cap="none" spc="0" normalizeH="0" baseline="0" noProof="0">
                <a:ln>
                  <a:noFill/>
                </a:ln>
                <a:solidFill>
                  <a:srgbClr val="FFFFFF"/>
                </a:solidFill>
                <a:effectLst/>
                <a:uLnTx/>
                <a:uFillTx/>
                <a:latin typeface="Ubuntu Medium"/>
                <a:ea typeface="+mn-ea"/>
                <a:cs typeface="+mn-cs"/>
              </a:rPr>
              <a:t>using Digital Factory</a:t>
            </a:r>
          </a:p>
        </p:txBody>
      </p:sp>
      <p:sp>
        <p:nvSpPr>
          <p:cNvPr id="5" name="Rectangle 4">
            <a:hlinkClick r:id="" action="ppaction://noaction"/>
            <a:extLst>
              <a:ext uri="{FF2B5EF4-FFF2-40B4-BE49-F238E27FC236}">
                <a16:creationId xmlns:a16="http://schemas.microsoft.com/office/drawing/2014/main" id="{0A7FC0F3-B052-0127-E3F5-5004ADBADCCC}"/>
              </a:ext>
            </a:extLst>
          </p:cNvPr>
          <p:cNvSpPr/>
          <p:nvPr/>
        </p:nvSpPr>
        <p:spPr>
          <a:xfrm>
            <a:off x="5184329" y="2655820"/>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IT Strategy &amp; ITOM </a:t>
            </a:r>
          </a:p>
        </p:txBody>
      </p:sp>
      <p:sp>
        <p:nvSpPr>
          <p:cNvPr id="6" name="Rectangle 5">
            <a:hlinkClick r:id="" action="ppaction://noaction"/>
            <a:extLst>
              <a:ext uri="{FF2B5EF4-FFF2-40B4-BE49-F238E27FC236}">
                <a16:creationId xmlns:a16="http://schemas.microsoft.com/office/drawing/2014/main" id="{7D5DBF15-4533-F1B4-6E30-19CB19225416}"/>
              </a:ext>
            </a:extLst>
          </p:cNvPr>
          <p:cNvSpPr/>
          <p:nvPr/>
        </p:nvSpPr>
        <p:spPr>
          <a:xfrm>
            <a:off x="6445078" y="2655820"/>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IT M&amp;A, IT Cost </a:t>
            </a:r>
          </a:p>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Optimization &amp; </a:t>
            </a:r>
            <a:br>
              <a:rPr kumimoji="0" lang="en-US" sz="700" b="0" i="0" u="none" strike="noStrike" kern="0" cap="none" spc="0" normalizeH="0" baseline="0" noProof="0">
                <a:ln>
                  <a:noFill/>
                </a:ln>
                <a:solidFill>
                  <a:srgbClr val="FFFFFF"/>
                </a:solidFill>
                <a:effectLst/>
                <a:uLnTx/>
                <a:uFillTx/>
                <a:latin typeface="Ubuntu Medium"/>
                <a:ea typeface="+mn-ea"/>
                <a:cs typeface="+mn-cs"/>
              </a:rPr>
            </a:br>
            <a:r>
              <a:rPr kumimoji="0" lang="en-US" sz="700" b="0" i="0" u="none" strike="noStrike" kern="0" cap="none" spc="0" normalizeH="0" baseline="0" noProof="0">
                <a:ln>
                  <a:noFill/>
                </a:ln>
                <a:solidFill>
                  <a:srgbClr val="FFFFFF"/>
                </a:solidFill>
                <a:effectLst/>
                <a:uLnTx/>
                <a:uFillTx/>
                <a:latin typeface="Ubuntu Medium"/>
                <a:ea typeface="+mn-ea"/>
                <a:cs typeface="+mn-cs"/>
              </a:rPr>
              <a:t>Business Case </a:t>
            </a:r>
          </a:p>
        </p:txBody>
      </p:sp>
      <p:cxnSp>
        <p:nvCxnSpPr>
          <p:cNvPr id="14" name="Straight Connector 13">
            <a:extLst>
              <a:ext uri="{FF2B5EF4-FFF2-40B4-BE49-F238E27FC236}">
                <a16:creationId xmlns:a16="http://schemas.microsoft.com/office/drawing/2014/main" id="{3048592A-E576-761A-FACB-8749E3B31383}"/>
              </a:ext>
            </a:extLst>
          </p:cNvPr>
          <p:cNvCxnSpPr>
            <a:cxnSpLocks/>
          </p:cNvCxnSpPr>
          <p:nvPr/>
        </p:nvCxnSpPr>
        <p:spPr>
          <a:xfrm>
            <a:off x="1261744" y="3114387"/>
            <a:ext cx="1054800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3" name="Rectangle 22">
            <a:hlinkClick r:id="" action="ppaction://noaction"/>
            <a:extLst>
              <a:ext uri="{FF2B5EF4-FFF2-40B4-BE49-F238E27FC236}">
                <a16:creationId xmlns:a16="http://schemas.microsoft.com/office/drawing/2014/main" id="{0F362C5E-3843-FE4E-C0A2-56349E481AFF}"/>
              </a:ext>
            </a:extLst>
          </p:cNvPr>
          <p:cNvSpPr/>
          <p:nvPr/>
        </p:nvSpPr>
        <p:spPr>
          <a:xfrm>
            <a:off x="1378010" y="3660478"/>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CM</a:t>
            </a:r>
            <a:br>
              <a:rPr kumimoji="0" lang="en-US" sz="700" b="0" i="0" u="none" strike="noStrike" kern="0" cap="none" spc="0" normalizeH="0" baseline="0" noProof="0">
                <a:ln>
                  <a:noFill/>
                </a:ln>
                <a:solidFill>
                  <a:srgbClr val="FFFFFF"/>
                </a:solidFill>
                <a:effectLst/>
                <a:uLnTx/>
                <a:uFillTx/>
                <a:latin typeface="Ubuntu Medium"/>
                <a:ea typeface="+mn-ea"/>
                <a:cs typeface="+mn-cs"/>
              </a:rPr>
            </a:br>
            <a:r>
              <a:rPr kumimoji="0" lang="en-US" sz="700" b="0" i="0" u="none" strike="noStrike" kern="0" cap="none" spc="0" normalizeH="0" baseline="0" noProof="0">
                <a:ln>
                  <a:noFill/>
                </a:ln>
                <a:solidFill>
                  <a:srgbClr val="FFFFFF"/>
                </a:solidFill>
                <a:effectLst/>
                <a:uLnTx/>
                <a:uFillTx/>
                <a:latin typeface="Ubuntu Medium"/>
                <a:ea typeface="+mn-ea"/>
                <a:cs typeface="+mn-cs"/>
              </a:rPr>
              <a:t>for Tech Implementation​</a:t>
            </a:r>
          </a:p>
        </p:txBody>
      </p:sp>
      <p:sp>
        <p:nvSpPr>
          <p:cNvPr id="24" name="Rectangle 23">
            <a:hlinkClick r:id="" action="ppaction://noaction"/>
            <a:extLst>
              <a:ext uri="{FF2B5EF4-FFF2-40B4-BE49-F238E27FC236}">
                <a16:creationId xmlns:a16="http://schemas.microsoft.com/office/drawing/2014/main" id="{57E96B56-3F71-F340-285B-3E151F261E1E}"/>
              </a:ext>
            </a:extLst>
          </p:cNvPr>
          <p:cNvSpPr/>
          <p:nvPr/>
        </p:nvSpPr>
        <p:spPr>
          <a:xfrm>
            <a:off x="2647250" y="3660478"/>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HR Transformation</a:t>
            </a:r>
          </a:p>
        </p:txBody>
      </p:sp>
      <p:sp>
        <p:nvSpPr>
          <p:cNvPr id="25" name="Rectangle 24">
            <a:hlinkClick r:id="" action="ppaction://noaction"/>
            <a:extLst>
              <a:ext uri="{FF2B5EF4-FFF2-40B4-BE49-F238E27FC236}">
                <a16:creationId xmlns:a16="http://schemas.microsoft.com/office/drawing/2014/main" id="{D28A6DD1-55FC-0D4D-401D-C40C80BEE0C1}"/>
              </a:ext>
            </a:extLst>
          </p:cNvPr>
          <p:cNvSpPr/>
          <p:nvPr/>
        </p:nvSpPr>
        <p:spPr>
          <a:xfrm>
            <a:off x="3907579" y="3660478"/>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IN" sz="700" b="0" i="0" u="none" strike="noStrike" kern="0" cap="none" spc="0" normalizeH="0" baseline="0" noProof="0">
                <a:ln>
                  <a:noFill/>
                </a:ln>
                <a:solidFill>
                  <a:srgbClr val="FFFFFF"/>
                </a:solidFill>
                <a:effectLst/>
                <a:uLnTx/>
                <a:uFillTx/>
                <a:latin typeface="Ubuntu Medium"/>
                <a:ea typeface="+mn-ea"/>
                <a:cs typeface="+mn-cs"/>
              </a:rPr>
              <a:t>Workforce strategy</a:t>
            </a:r>
          </a:p>
        </p:txBody>
      </p:sp>
      <p:sp>
        <p:nvSpPr>
          <p:cNvPr id="26" name="Rectangle 25">
            <a:hlinkClick r:id="" action="ppaction://noaction"/>
            <a:extLst>
              <a:ext uri="{FF2B5EF4-FFF2-40B4-BE49-F238E27FC236}">
                <a16:creationId xmlns:a16="http://schemas.microsoft.com/office/drawing/2014/main" id="{0D4362F4-2942-DC23-061E-4513D66F2261}"/>
              </a:ext>
            </a:extLst>
          </p:cNvPr>
          <p:cNvSpPr/>
          <p:nvPr/>
        </p:nvSpPr>
        <p:spPr>
          <a:xfrm>
            <a:off x="5184329" y="3660478"/>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IN" sz="700" b="0" i="0" u="none" strike="noStrike" kern="0" cap="none" spc="0" normalizeH="0" baseline="0" noProof="0">
                <a:ln>
                  <a:noFill/>
                </a:ln>
                <a:solidFill>
                  <a:srgbClr val="FFFFFF"/>
                </a:solidFill>
                <a:effectLst/>
                <a:uLnTx/>
                <a:uFillTx/>
                <a:latin typeface="Ubuntu Medium"/>
                <a:ea typeface="+mn-ea"/>
                <a:cs typeface="+mn-cs"/>
              </a:rPr>
              <a:t>Agile Organization</a:t>
            </a:r>
          </a:p>
        </p:txBody>
      </p:sp>
      <p:sp>
        <p:nvSpPr>
          <p:cNvPr id="29" name="Rectangle 28">
            <a:hlinkClick r:id="" action="ppaction://noaction"/>
            <a:extLst>
              <a:ext uri="{FF2B5EF4-FFF2-40B4-BE49-F238E27FC236}">
                <a16:creationId xmlns:a16="http://schemas.microsoft.com/office/drawing/2014/main" id="{C7D8F61C-0613-EEFE-A741-E9C336BFA9A6}"/>
              </a:ext>
            </a:extLst>
          </p:cNvPr>
          <p:cNvSpPr/>
          <p:nvPr/>
        </p:nvSpPr>
        <p:spPr>
          <a:xfrm>
            <a:off x="1378010" y="4179539"/>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Sustainable Business Strategy</a:t>
            </a:r>
          </a:p>
        </p:txBody>
      </p:sp>
      <p:sp>
        <p:nvSpPr>
          <p:cNvPr id="30" name="Rectangle 29">
            <a:hlinkClick r:id="" action="ppaction://noaction"/>
            <a:extLst>
              <a:ext uri="{FF2B5EF4-FFF2-40B4-BE49-F238E27FC236}">
                <a16:creationId xmlns:a16="http://schemas.microsoft.com/office/drawing/2014/main" id="{57B8CF3E-D93A-5591-BBA1-A009A8844CFD}"/>
              </a:ext>
            </a:extLst>
          </p:cNvPr>
          <p:cNvSpPr/>
          <p:nvPr/>
        </p:nvSpPr>
        <p:spPr>
          <a:xfrm>
            <a:off x="2647250" y="4179539"/>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Sustainable Performance &amp; Reporting</a:t>
            </a:r>
          </a:p>
        </p:txBody>
      </p:sp>
      <p:sp>
        <p:nvSpPr>
          <p:cNvPr id="31" name="Rectangle 30">
            <a:hlinkClick r:id="" action="ppaction://noaction"/>
            <a:extLst>
              <a:ext uri="{FF2B5EF4-FFF2-40B4-BE49-F238E27FC236}">
                <a16:creationId xmlns:a16="http://schemas.microsoft.com/office/drawing/2014/main" id="{B6DB1F7A-EA0A-51FA-3294-800DA752FC65}"/>
              </a:ext>
            </a:extLst>
          </p:cNvPr>
          <p:cNvSpPr/>
          <p:nvPr/>
        </p:nvSpPr>
        <p:spPr>
          <a:xfrm>
            <a:off x="3907579" y="4179539"/>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IN" sz="700" b="0" i="0" u="none" strike="noStrike" kern="0" cap="none" spc="0" normalizeH="0" baseline="0" noProof="0">
                <a:ln>
                  <a:noFill/>
                </a:ln>
                <a:solidFill>
                  <a:srgbClr val="FFFFFF"/>
                </a:solidFill>
                <a:effectLst/>
                <a:uLnTx/>
                <a:uFillTx/>
                <a:latin typeface="Ubuntu Medium"/>
                <a:ea typeface="+mn-ea"/>
                <a:cs typeface="+mn-cs"/>
              </a:rPr>
              <a:t>Sustainability Leadership &amp; Organisation</a:t>
            </a:r>
          </a:p>
        </p:txBody>
      </p:sp>
      <p:sp>
        <p:nvSpPr>
          <p:cNvPr id="36" name="Rectangle 35">
            <a:hlinkClick r:id="" action="ppaction://noaction"/>
            <a:extLst>
              <a:ext uri="{FF2B5EF4-FFF2-40B4-BE49-F238E27FC236}">
                <a16:creationId xmlns:a16="http://schemas.microsoft.com/office/drawing/2014/main" id="{4691440C-6551-F3E3-1110-D2B401A9523F}"/>
              </a:ext>
            </a:extLst>
          </p:cNvPr>
          <p:cNvSpPr/>
          <p:nvPr/>
        </p:nvSpPr>
        <p:spPr>
          <a:xfrm>
            <a:off x="1378010" y="4703461"/>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Design Innovation &amp; Strategy</a:t>
            </a:r>
          </a:p>
        </p:txBody>
      </p:sp>
      <p:sp>
        <p:nvSpPr>
          <p:cNvPr id="37" name="Rectangle 36">
            <a:hlinkClick r:id="" action="ppaction://noaction"/>
            <a:extLst>
              <a:ext uri="{FF2B5EF4-FFF2-40B4-BE49-F238E27FC236}">
                <a16:creationId xmlns:a16="http://schemas.microsoft.com/office/drawing/2014/main" id="{6E1DBC25-C5C7-E0FF-933C-D19489C37ADF}"/>
              </a:ext>
            </a:extLst>
          </p:cNvPr>
          <p:cNvSpPr/>
          <p:nvPr/>
        </p:nvSpPr>
        <p:spPr>
          <a:xfrm>
            <a:off x="2647250" y="4703461"/>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Brand &amp; Content</a:t>
            </a:r>
          </a:p>
        </p:txBody>
      </p:sp>
      <p:sp>
        <p:nvSpPr>
          <p:cNvPr id="38" name="Rectangle 37">
            <a:hlinkClick r:id="" action="ppaction://noaction"/>
            <a:extLst>
              <a:ext uri="{FF2B5EF4-FFF2-40B4-BE49-F238E27FC236}">
                <a16:creationId xmlns:a16="http://schemas.microsoft.com/office/drawing/2014/main" id="{AEC1BA2B-6FC4-728A-A88A-AD62918460A0}"/>
              </a:ext>
            </a:extLst>
          </p:cNvPr>
          <p:cNvSpPr/>
          <p:nvPr/>
        </p:nvSpPr>
        <p:spPr>
          <a:xfrm>
            <a:off x="3907579" y="4703461"/>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IN" sz="700" b="0" i="0" u="none" strike="noStrike" kern="0" cap="none" spc="0" normalizeH="0" baseline="0" noProof="0">
                <a:ln>
                  <a:noFill/>
                </a:ln>
                <a:solidFill>
                  <a:srgbClr val="FFFFFF"/>
                </a:solidFill>
                <a:effectLst/>
                <a:uLnTx/>
                <a:uFillTx/>
                <a:latin typeface="Ubuntu Medium"/>
                <a:ea typeface="+mn-ea"/>
                <a:cs typeface="+mn-cs"/>
              </a:rPr>
              <a:t>Customer Transformation</a:t>
            </a:r>
          </a:p>
        </p:txBody>
      </p:sp>
      <p:sp>
        <p:nvSpPr>
          <p:cNvPr id="42" name="Rectangle 41">
            <a:hlinkClick r:id="" action="ppaction://noaction"/>
            <a:extLst>
              <a:ext uri="{FF2B5EF4-FFF2-40B4-BE49-F238E27FC236}">
                <a16:creationId xmlns:a16="http://schemas.microsoft.com/office/drawing/2014/main" id="{A15B45DE-88F1-B9AA-9AAF-F46E0BAFB766}"/>
              </a:ext>
            </a:extLst>
          </p:cNvPr>
          <p:cNvSpPr/>
          <p:nvPr/>
        </p:nvSpPr>
        <p:spPr>
          <a:xfrm>
            <a:off x="1378010" y="5201628"/>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Supply Chain Transformation</a:t>
            </a:r>
          </a:p>
        </p:txBody>
      </p:sp>
      <p:sp>
        <p:nvSpPr>
          <p:cNvPr id="43" name="Rectangle 42">
            <a:hlinkClick r:id="" action="ppaction://noaction"/>
            <a:extLst>
              <a:ext uri="{FF2B5EF4-FFF2-40B4-BE49-F238E27FC236}">
                <a16:creationId xmlns:a16="http://schemas.microsoft.com/office/drawing/2014/main" id="{3AB48E40-8497-4C00-7E2D-7D92AA16430D}"/>
              </a:ext>
            </a:extLst>
          </p:cNvPr>
          <p:cNvSpPr/>
          <p:nvPr/>
        </p:nvSpPr>
        <p:spPr>
          <a:xfrm>
            <a:off x="2647250" y="5187816"/>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Digital Core</a:t>
            </a:r>
          </a:p>
        </p:txBody>
      </p:sp>
      <p:sp>
        <p:nvSpPr>
          <p:cNvPr id="44" name="Rectangle 43">
            <a:hlinkClick r:id="" action="ppaction://noaction"/>
            <a:extLst>
              <a:ext uri="{FF2B5EF4-FFF2-40B4-BE49-F238E27FC236}">
                <a16:creationId xmlns:a16="http://schemas.microsoft.com/office/drawing/2014/main" id="{905D5B45-3BA1-BDA2-0DE8-18EBBDE76958}"/>
              </a:ext>
            </a:extLst>
          </p:cNvPr>
          <p:cNvSpPr/>
          <p:nvPr/>
        </p:nvSpPr>
        <p:spPr>
          <a:xfrm>
            <a:off x="3907579" y="5201628"/>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Digital Engineering</a:t>
            </a:r>
          </a:p>
        </p:txBody>
      </p:sp>
      <p:sp>
        <p:nvSpPr>
          <p:cNvPr id="45" name="Rectangle 44">
            <a:hlinkClick r:id="" action="ppaction://noaction"/>
            <a:extLst>
              <a:ext uri="{FF2B5EF4-FFF2-40B4-BE49-F238E27FC236}">
                <a16:creationId xmlns:a16="http://schemas.microsoft.com/office/drawing/2014/main" id="{BAE17DC7-6AF7-6A3D-2934-CA4A049269CB}"/>
              </a:ext>
            </a:extLst>
          </p:cNvPr>
          <p:cNvSpPr/>
          <p:nvPr/>
        </p:nvSpPr>
        <p:spPr>
          <a:xfrm>
            <a:off x="5184329" y="5193059"/>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IN" sz="700" b="0" i="0" u="none" strike="noStrike" kern="0" cap="none" spc="0" normalizeH="0" baseline="0" noProof="0">
                <a:ln>
                  <a:noFill/>
                </a:ln>
                <a:solidFill>
                  <a:srgbClr val="FFFFFF"/>
                </a:solidFill>
                <a:effectLst/>
                <a:uLnTx/>
                <a:uFillTx/>
                <a:latin typeface="Ubuntu Medium"/>
                <a:ea typeface="+mn-ea"/>
                <a:cs typeface="+mn-cs"/>
              </a:rPr>
              <a:t>Insights for Intelligent Industry</a:t>
            </a:r>
          </a:p>
        </p:txBody>
      </p:sp>
      <p:sp>
        <p:nvSpPr>
          <p:cNvPr id="53" name="Rectangle 52">
            <a:hlinkClick r:id="" action="ppaction://noaction"/>
            <a:extLst>
              <a:ext uri="{FF2B5EF4-FFF2-40B4-BE49-F238E27FC236}">
                <a16:creationId xmlns:a16="http://schemas.microsoft.com/office/drawing/2014/main" id="{A690D701-396B-ED45-3B6D-8B41D210589C}"/>
              </a:ext>
            </a:extLst>
          </p:cNvPr>
          <p:cNvSpPr/>
          <p:nvPr/>
        </p:nvSpPr>
        <p:spPr>
          <a:xfrm>
            <a:off x="1378010" y="6228502"/>
            <a:ext cx="1184506" cy="326282"/>
          </a:xfrm>
          <a:prstGeom prst="rect">
            <a:avLst/>
          </a:prstGeom>
          <a:solidFill>
            <a:schemeClr val="tx2">
              <a:lumMod val="7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IN" sz="800" b="0" i="0" u="none" strike="noStrike" kern="0" cap="none" spc="0" normalizeH="0" baseline="0" noProof="0">
                <a:ln>
                  <a:noFill/>
                </a:ln>
                <a:solidFill>
                  <a:srgbClr val="FFFFFF"/>
                </a:solidFill>
                <a:effectLst/>
                <a:uLnTx/>
                <a:uFillTx/>
                <a:latin typeface="Ubuntu Medium"/>
                <a:ea typeface="+mn-ea"/>
                <a:cs typeface="+mn-cs"/>
              </a:rPr>
              <a:t>People Analytics Advisory</a:t>
            </a:r>
          </a:p>
        </p:txBody>
      </p:sp>
      <p:sp>
        <p:nvSpPr>
          <p:cNvPr id="54" name="Rectangle 53">
            <a:hlinkClick r:id="" action="ppaction://noaction"/>
            <a:extLst>
              <a:ext uri="{FF2B5EF4-FFF2-40B4-BE49-F238E27FC236}">
                <a16:creationId xmlns:a16="http://schemas.microsoft.com/office/drawing/2014/main" id="{21F57A4D-42BB-10BB-F08A-B61313E47E7E}"/>
              </a:ext>
            </a:extLst>
          </p:cNvPr>
          <p:cNvSpPr/>
          <p:nvPr/>
        </p:nvSpPr>
        <p:spPr>
          <a:xfrm>
            <a:off x="2647250" y="6228502"/>
            <a:ext cx="1184506" cy="326282"/>
          </a:xfrm>
          <a:prstGeom prst="rect">
            <a:avLst/>
          </a:prstGeom>
          <a:solidFill>
            <a:schemeClr val="tx2">
              <a:lumMod val="7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IN" sz="800" b="0" i="0" u="none" strike="noStrike" kern="0" cap="none" spc="0" normalizeH="0" baseline="0" noProof="0">
                <a:ln>
                  <a:noFill/>
                </a:ln>
                <a:solidFill>
                  <a:srgbClr val="FFFFFF"/>
                </a:solidFill>
                <a:effectLst/>
                <a:uLnTx/>
                <a:uFillTx/>
                <a:latin typeface="Ubuntu Medium"/>
                <a:ea typeface="+mn-ea"/>
                <a:cs typeface="+mn-cs"/>
              </a:rPr>
              <a:t>Strategic Workforce Planning</a:t>
            </a:r>
            <a:endParaRPr kumimoji="0" lang="en-US" sz="800" b="0" i="0" u="none" strike="noStrike" kern="0" cap="none" spc="0" normalizeH="0" baseline="0" noProof="0">
              <a:ln>
                <a:noFill/>
              </a:ln>
              <a:solidFill>
                <a:srgbClr val="FFFFFF"/>
              </a:solidFill>
              <a:effectLst/>
              <a:uLnTx/>
              <a:uFillTx/>
              <a:latin typeface="Ubuntu Medium"/>
              <a:ea typeface="+mn-ea"/>
              <a:cs typeface="+mn-cs"/>
            </a:endParaRPr>
          </a:p>
        </p:txBody>
      </p:sp>
      <p:sp>
        <p:nvSpPr>
          <p:cNvPr id="55" name="Rectangle 54">
            <a:hlinkClick r:id="" action="ppaction://noaction"/>
            <a:extLst>
              <a:ext uri="{FF2B5EF4-FFF2-40B4-BE49-F238E27FC236}">
                <a16:creationId xmlns:a16="http://schemas.microsoft.com/office/drawing/2014/main" id="{AB9AF0D1-4C47-744D-EBD7-337F1F53C16D}"/>
              </a:ext>
            </a:extLst>
          </p:cNvPr>
          <p:cNvSpPr/>
          <p:nvPr/>
        </p:nvSpPr>
        <p:spPr>
          <a:xfrm>
            <a:off x="3907579" y="6228502"/>
            <a:ext cx="1184506" cy="326282"/>
          </a:xfrm>
          <a:prstGeom prst="rect">
            <a:avLst/>
          </a:prstGeom>
          <a:solidFill>
            <a:schemeClr val="tx2">
              <a:lumMod val="7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5775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Ubuntu Medium"/>
                <a:ea typeface="+mn-ea"/>
                <a:cs typeface="+mn-cs"/>
              </a:rPr>
              <a:t>People BI Solutions</a:t>
            </a:r>
            <a:endParaRPr kumimoji="0" lang="en-US" sz="800" b="0" i="0" u="none" strike="noStrike" kern="1200" cap="none" spc="0" normalizeH="0" baseline="0" noProof="0">
              <a:ln>
                <a:noFill/>
              </a:ln>
              <a:solidFill>
                <a:srgbClr val="FFFFFF"/>
              </a:solidFill>
              <a:effectLst/>
              <a:uLnTx/>
              <a:uFillTx/>
              <a:latin typeface="Ubuntu Medium"/>
              <a:ea typeface="+mn-ea"/>
              <a:cs typeface="+mn-cs"/>
            </a:endParaRPr>
          </a:p>
        </p:txBody>
      </p:sp>
      <p:cxnSp>
        <p:nvCxnSpPr>
          <p:cNvPr id="58" name="Straight Connector 57">
            <a:extLst>
              <a:ext uri="{FF2B5EF4-FFF2-40B4-BE49-F238E27FC236}">
                <a16:creationId xmlns:a16="http://schemas.microsoft.com/office/drawing/2014/main" id="{EE1CF0E3-950C-5157-5317-F01B4132D208}"/>
              </a:ext>
            </a:extLst>
          </p:cNvPr>
          <p:cNvCxnSpPr>
            <a:cxnSpLocks/>
          </p:cNvCxnSpPr>
          <p:nvPr/>
        </p:nvCxnSpPr>
        <p:spPr>
          <a:xfrm>
            <a:off x="1261744" y="3590208"/>
            <a:ext cx="1054800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F0D7A63-516F-53E4-B7A8-3A969C74B910}"/>
              </a:ext>
            </a:extLst>
          </p:cNvPr>
          <p:cNvCxnSpPr>
            <a:cxnSpLocks/>
          </p:cNvCxnSpPr>
          <p:nvPr/>
        </p:nvCxnSpPr>
        <p:spPr>
          <a:xfrm>
            <a:off x="1261744" y="4094996"/>
            <a:ext cx="1054800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BFA74D0-430A-BC47-B05A-B3B5C685B2A4}"/>
              </a:ext>
            </a:extLst>
          </p:cNvPr>
          <p:cNvCxnSpPr>
            <a:cxnSpLocks/>
          </p:cNvCxnSpPr>
          <p:nvPr/>
        </p:nvCxnSpPr>
        <p:spPr>
          <a:xfrm>
            <a:off x="1261744" y="5119642"/>
            <a:ext cx="1054800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8FCFBCB-3921-1B85-5D1F-37A7F10A87D8}"/>
              </a:ext>
            </a:extLst>
          </p:cNvPr>
          <p:cNvCxnSpPr>
            <a:cxnSpLocks/>
          </p:cNvCxnSpPr>
          <p:nvPr/>
        </p:nvCxnSpPr>
        <p:spPr>
          <a:xfrm>
            <a:off x="1261744" y="5645917"/>
            <a:ext cx="1054800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7B47F02-EFDD-0156-EC66-92B791C002A8}"/>
              </a:ext>
            </a:extLst>
          </p:cNvPr>
          <p:cNvCxnSpPr>
            <a:cxnSpLocks/>
          </p:cNvCxnSpPr>
          <p:nvPr/>
        </p:nvCxnSpPr>
        <p:spPr>
          <a:xfrm>
            <a:off x="1261744" y="6166890"/>
            <a:ext cx="1054800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C5BCBCD4-A950-2196-85EC-FE611BFC8C7D}"/>
              </a:ext>
            </a:extLst>
          </p:cNvPr>
          <p:cNvPicPr>
            <a:picLocks noChangeAspect="1"/>
          </p:cNvPicPr>
          <p:nvPr/>
        </p:nvPicPr>
        <p:blipFill rotWithShape="1">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ackgroundRemoval t="32593" b="66667" l="5051" r="95455">
                        <a14:foregroundMark x1="13131" y1="51111" x2="13131" y2="51111"/>
                        <a14:foregroundMark x1="5051" y1="57037" x2="5051" y2="57037"/>
                        <a14:foregroundMark x1="16667" y1="49630" x2="16667" y2="49630"/>
                        <a14:foregroundMark x1="23232" y1="52593" x2="23232" y2="52593"/>
                        <a14:foregroundMark x1="54545" y1="50370" x2="54545" y2="50370"/>
                        <a14:foregroundMark x1="59091" y1="50370" x2="59091" y2="50370"/>
                        <a14:foregroundMark x1="80303" y1="56296" x2="80303" y2="56296"/>
                        <a14:foregroundMark x1="90909" y1="48889" x2="90909" y2="48889"/>
                        <a14:foregroundMark x1="95455" y1="51111" x2="95455" y2="51111"/>
                        <a14:foregroundMark x1="39899" y1="56296" x2="39899" y2="56296"/>
                        <a14:backgroundMark x1="48485" y1="40000" x2="48485" y2="40000"/>
                        <a14:backgroundMark x1="48485" y1="60000" x2="48485" y2="60000"/>
                        <a14:backgroundMark x1="36364" y1="60000" x2="36364" y2="60000"/>
                        <a14:backgroundMark x1="41919" y1="49630" x2="41919" y2="49630"/>
                        <a14:backgroundMark x1="11616" y1="38519" x2="11616" y2="38519"/>
                        <a14:backgroundMark x1="14646" y1="37778" x2="14646" y2="37778"/>
                        <a14:backgroundMark x1="14646" y1="37778" x2="14646" y2="37778"/>
                        <a14:backgroundMark x1="14646" y1="37778" x2="14646" y2="37778"/>
                        <a14:backgroundMark x1="14646" y1="37778" x2="14646" y2="37778"/>
                        <a14:backgroundMark x1="14646" y1="37778" x2="14646" y2="37778"/>
                      </a14:backgroundRemoval>
                    </a14:imgEffect>
                  </a14:imgLayer>
                </a14:imgProps>
              </a:ext>
              <a:ext uri="{28A0092B-C50C-407E-A947-70E740481C1C}">
                <a14:useLocalDpi xmlns:a14="http://schemas.microsoft.com/office/drawing/2010/main"/>
              </a:ext>
            </a:extLst>
          </a:blip>
          <a:srcRect t="29114" b="28644"/>
          <a:stretch/>
        </p:blipFill>
        <p:spPr>
          <a:xfrm>
            <a:off x="10797491" y="3728245"/>
            <a:ext cx="1050520" cy="254791"/>
          </a:xfrm>
          <a:prstGeom prst="rect">
            <a:avLst/>
          </a:prstGeom>
          <a:solidFill>
            <a:schemeClr val="accent1">
              <a:lumMod val="20000"/>
              <a:lumOff val="80000"/>
            </a:schemeClr>
          </a:solidFill>
        </p:spPr>
      </p:pic>
      <p:pic>
        <p:nvPicPr>
          <p:cNvPr id="17" name="Picture 16">
            <a:extLst>
              <a:ext uri="{FF2B5EF4-FFF2-40B4-BE49-F238E27FC236}">
                <a16:creationId xmlns:a16="http://schemas.microsoft.com/office/drawing/2014/main" id="{9D464F2A-6A53-1FD9-9234-6BEE0CC25844}"/>
              </a:ext>
            </a:extLst>
          </p:cNvPr>
          <p:cNvPicPr>
            <a:picLocks noChangeAspect="1"/>
          </p:cNvPicPr>
          <p:nvPr/>
        </p:nvPicPr>
        <p:blipFill rotWithShape="1">
          <a:blip r:embed="rId5" cstate="print">
            <a:duotone>
              <a:srgbClr val="FFFFFF">
                <a:shade val="45000"/>
                <a:satMod val="135000"/>
              </a:srgbClr>
              <a:prstClr val="white"/>
            </a:duotone>
            <a:extLst>
              <a:ext uri="{BEBA8EAE-BF5A-486C-A8C5-ECC9F3942E4B}">
                <a14:imgProps xmlns:a14="http://schemas.microsoft.com/office/drawing/2010/main">
                  <a14:imgLayer r:embed="rId6">
                    <a14:imgEffect>
                      <a14:backgroundRemoval t="30000" b="67500" l="2703" r="95495">
                        <a14:foregroundMark x1="18018" y1="42500" x2="18018" y2="42500"/>
                        <a14:foregroundMark x1="25225" y1="40833" x2="25225" y2="40833"/>
                        <a14:foregroundMark x1="25225" y1="40833" x2="25225" y2="40833"/>
                        <a14:foregroundMark x1="25225" y1="40833" x2="25225" y2="40833"/>
                        <a14:foregroundMark x1="48649" y1="42500" x2="48649" y2="42500"/>
                        <a14:foregroundMark x1="58559" y1="56667" x2="58559" y2="56667"/>
                        <a14:foregroundMark x1="74775" y1="50833" x2="74775" y2="50833"/>
                        <a14:foregroundMark x1="81982" y1="53333" x2="81982" y2="53333"/>
                        <a14:foregroundMark x1="81982" y1="43333" x2="81982" y2="43333"/>
                        <a14:foregroundMark x1="86486" y1="53333" x2="86486" y2="53333"/>
                        <a14:foregroundMark x1="97297" y1="55000" x2="97297" y2="55000"/>
                        <a14:foregroundMark x1="31532" y1="51667" x2="31532" y2="51667"/>
                        <a14:foregroundMark x1="6306" y1="59167" x2="6306" y2="59167"/>
                        <a14:foregroundMark x1="9910" y1="40000" x2="9910" y2="40000"/>
                        <a14:foregroundMark x1="21622" y1="66667" x2="21622" y2="66667"/>
                        <a14:foregroundMark x1="2703" y1="45833" x2="2703" y2="45833"/>
                        <a14:backgroundMark x1="33333" y1="44167" x2="33333" y2="44167"/>
                        <a14:backgroundMark x1="25225" y1="60833" x2="25225" y2="60833"/>
                        <a14:backgroundMark x1="5405" y1="60000" x2="5405" y2="60000"/>
                        <a14:backgroundMark x1="84685" y1="53333" x2="84685" y2="53333"/>
                      </a14:backgroundRemoval>
                    </a14:imgEffect>
                  </a14:imgLayer>
                </a14:imgProps>
              </a:ext>
              <a:ext uri="{28A0092B-C50C-407E-A947-70E740481C1C}">
                <a14:useLocalDpi xmlns:a14="http://schemas.microsoft.com/office/drawing/2010/main"/>
              </a:ext>
            </a:extLst>
          </a:blip>
          <a:srcRect t="25447" b="27723"/>
          <a:stretch/>
        </p:blipFill>
        <p:spPr>
          <a:xfrm>
            <a:off x="10037305" y="2729807"/>
            <a:ext cx="447157" cy="192918"/>
          </a:xfrm>
          <a:prstGeom prst="rect">
            <a:avLst/>
          </a:prstGeom>
        </p:spPr>
      </p:pic>
      <p:pic>
        <p:nvPicPr>
          <p:cNvPr id="39" name="Picture 38" descr="Text&#10;&#10;Description automatically generated with medium confidence">
            <a:extLst>
              <a:ext uri="{FF2B5EF4-FFF2-40B4-BE49-F238E27FC236}">
                <a16:creationId xmlns:a16="http://schemas.microsoft.com/office/drawing/2014/main" id="{FE7A4960-D816-7F17-1EBA-245EBC487025}"/>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8847655" y="2740202"/>
            <a:ext cx="233170" cy="198525"/>
          </a:xfrm>
          <a:prstGeom prst="rect">
            <a:avLst/>
          </a:prstGeom>
          <a:solidFill>
            <a:schemeClr val="tx2">
              <a:lumMod val="75000"/>
            </a:schemeClr>
          </a:solidFill>
        </p:spPr>
      </p:pic>
      <p:pic>
        <p:nvPicPr>
          <p:cNvPr id="66" name="object 35">
            <a:extLst>
              <a:ext uri="{FF2B5EF4-FFF2-40B4-BE49-F238E27FC236}">
                <a16:creationId xmlns:a16="http://schemas.microsoft.com/office/drawing/2014/main" id="{34619849-7E8B-7D63-A8A7-69B47707CCAC}"/>
              </a:ext>
            </a:extLst>
          </p:cNvPr>
          <p:cNvPicPr/>
          <p:nvPr/>
        </p:nvPicPr>
        <p:blipFill>
          <a:blip r:embed="rId8" cstate="print"/>
          <a:stretch>
            <a:fillRect/>
          </a:stretch>
        </p:blipFill>
        <p:spPr>
          <a:xfrm>
            <a:off x="10352907" y="4635804"/>
            <a:ext cx="430057" cy="399185"/>
          </a:xfrm>
          <a:prstGeom prst="rect">
            <a:avLst/>
          </a:prstGeom>
        </p:spPr>
      </p:pic>
      <p:pic>
        <p:nvPicPr>
          <p:cNvPr id="68" name="Picture 67">
            <a:extLst>
              <a:ext uri="{FF2B5EF4-FFF2-40B4-BE49-F238E27FC236}">
                <a16:creationId xmlns:a16="http://schemas.microsoft.com/office/drawing/2014/main" id="{91010992-8B62-BA4A-C87C-EB7914EFF1AF}"/>
              </a:ext>
            </a:extLst>
          </p:cNvPr>
          <p:cNvPicPr>
            <a:picLocks noChangeAspect="1"/>
          </p:cNvPicPr>
          <p:nvPr/>
        </p:nvPicPr>
        <p:blipFill rotWithShape="1">
          <a:blip r:embed="rId9" cstate="print">
            <a:duotone>
              <a:prstClr val="black"/>
              <a:schemeClr val="tx2">
                <a:tint val="45000"/>
                <a:satMod val="400000"/>
              </a:schemeClr>
            </a:duotone>
            <a:extLst>
              <a:ext uri="{28A0092B-C50C-407E-A947-70E740481C1C}">
                <a14:useLocalDpi xmlns:a14="http://schemas.microsoft.com/office/drawing/2010/main"/>
              </a:ext>
            </a:extLst>
          </a:blip>
          <a:srcRect t="29114" b="28644"/>
          <a:stretch/>
        </p:blipFill>
        <p:spPr>
          <a:xfrm>
            <a:off x="9148903" y="2751177"/>
            <a:ext cx="795411" cy="192918"/>
          </a:xfrm>
          <a:prstGeom prst="rect">
            <a:avLst/>
          </a:prstGeom>
          <a:solidFill>
            <a:schemeClr val="accent1">
              <a:lumMod val="20000"/>
              <a:lumOff val="80000"/>
            </a:schemeClr>
          </a:solidFill>
        </p:spPr>
      </p:pic>
      <p:pic>
        <p:nvPicPr>
          <p:cNvPr id="2050" name="Picture 2">
            <a:extLst>
              <a:ext uri="{FF2B5EF4-FFF2-40B4-BE49-F238E27FC236}">
                <a16:creationId xmlns:a16="http://schemas.microsoft.com/office/drawing/2014/main" id="{323FBAC9-A516-8C0F-70B6-6274F5C93FAF}"/>
              </a:ext>
            </a:extLst>
          </p:cNvPr>
          <p:cNvPicPr>
            <a:picLocks noChangeAspect="1" noChangeArrowheads="1"/>
          </p:cNvPicPr>
          <p:nvPr/>
        </p:nvPicPr>
        <p:blipFill>
          <a:blip r:embed="rId10">
            <a:extLst>
              <a:ext uri="{BEBA8EAE-BF5A-486C-A8C5-ECC9F3942E4B}">
                <a14:imgProps xmlns:a14="http://schemas.microsoft.com/office/drawing/2010/main">
                  <a14:imgLayer r:embed="rId11">
                    <a14:imgEffect>
                      <a14:backgroundRemoval t="10000" b="93871" l="9607" r="89520">
                        <a14:foregroundMark x1="48472" y1="54516" x2="48472" y2="54516"/>
                        <a14:foregroundMark x1="53712" y1="42581" x2="50218" y2="20968"/>
                        <a14:foregroundMark x1="46288" y1="47419" x2="42358" y2="56774"/>
                        <a14:foregroundMark x1="51092" y1="45806" x2="63319" y2="43871"/>
                        <a14:foregroundMark x1="21834" y1="82258" x2="21834" y2="82258"/>
                        <a14:foregroundMark x1="21397" y1="73871" x2="21397" y2="73871"/>
                        <a14:foregroundMark x1="26638" y1="79677" x2="26638" y2="79677"/>
                        <a14:foregroundMark x1="41921" y1="82258" x2="41921" y2="82258"/>
                        <a14:foregroundMark x1="59825" y1="82258" x2="59825" y2="82258"/>
                        <a14:foregroundMark x1="77729" y1="82258" x2="77729" y2="82258"/>
                        <a14:foregroundMark x1="75546" y1="90323" x2="75546" y2="90323"/>
                        <a14:foregroundMark x1="52838" y1="54516" x2="52838" y2="54516"/>
                        <a14:foregroundMark x1="61572" y1="39677" x2="61572" y2="39677"/>
                        <a14:foregroundMark x1="79476" y1="92581" x2="79476" y2="92581"/>
                        <a14:foregroundMark x1="68122" y1="92581" x2="68122" y2="92581"/>
                        <a14:foregroundMark x1="57205" y1="91613" x2="57205" y2="91613"/>
                        <a14:foregroundMark x1="50655" y1="93871" x2="50655" y2="93871"/>
                        <a14:foregroundMark x1="37555" y1="93548" x2="37555" y2="93548"/>
                        <a14:foregroundMark x1="22707" y1="89355" x2="22707" y2="89355"/>
                      </a14:backgroundRemoval>
                    </a14:imgEffect>
                  </a14:imgLayer>
                </a14:imgProps>
              </a:ext>
              <a:ext uri="{28A0092B-C50C-407E-A947-70E740481C1C}">
                <a14:useLocalDpi xmlns:a14="http://schemas.microsoft.com/office/drawing/2010/main" val="0"/>
              </a:ext>
            </a:extLst>
          </a:blip>
          <a:srcRect/>
          <a:stretch>
            <a:fillRect/>
          </a:stretch>
        </p:blipFill>
        <p:spPr bwMode="auto">
          <a:xfrm>
            <a:off x="10513567" y="4121508"/>
            <a:ext cx="369374" cy="431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 name="Picture 12" descr="T-Mobile 5G Introduction, Coverage Maps ...">
            <a:extLst>
              <a:ext uri="{FF2B5EF4-FFF2-40B4-BE49-F238E27FC236}">
                <a16:creationId xmlns:a16="http://schemas.microsoft.com/office/drawing/2014/main" id="{074CF601-7671-0326-C65E-7C87A47A6CB5}"/>
              </a:ext>
            </a:extLst>
          </p:cNvPr>
          <p:cNvPicPr>
            <a:picLocks noChangeAspect="1" noChangeArrowheads="1"/>
          </p:cNvPicPr>
          <p:nvPr/>
        </p:nvPicPr>
        <p:blipFill rotWithShape="1">
          <a:blip r:embed="rId12" cstate="print">
            <a:duotone>
              <a:schemeClr val="bg2">
                <a:shade val="45000"/>
                <a:satMod val="135000"/>
              </a:schemeClr>
              <a:prstClr val="white"/>
            </a:duotone>
            <a:extLst>
              <a:ext uri="{BEBA8EAE-BF5A-486C-A8C5-ECC9F3942E4B}">
                <a14:imgProps xmlns:a14="http://schemas.microsoft.com/office/drawing/2010/main">
                  <a14:imgLayer r:embed="rId13">
                    <a14:imgEffect>
                      <a14:backgroundRemoval t="33129" b="65031" l="5806" r="94516">
                        <a14:foregroundMark x1="10645" y1="50920" x2="10645" y2="50920"/>
                        <a14:foregroundMark x1="6129" y1="39264" x2="6129" y2="39264"/>
                        <a14:foregroundMark x1="6774" y1="50307" x2="6774" y2="50307"/>
                        <a14:foregroundMark x1="16129" y1="51534" x2="16129" y2="51534"/>
                        <a14:foregroundMark x1="24839" y1="50920" x2="24839" y2="50920"/>
                        <a14:foregroundMark x1="34839" y1="51534" x2="34839" y2="51534"/>
                        <a14:foregroundMark x1="52581" y1="56442" x2="52581" y2="56442"/>
                        <a14:foregroundMark x1="63871" y1="52147" x2="63871" y2="52147"/>
                        <a14:foregroundMark x1="74194" y1="52761" x2="74194" y2="52761"/>
                        <a14:foregroundMark x1="74194" y1="38037" x2="74194" y2="38037"/>
                        <a14:foregroundMark x1="79677" y1="47239" x2="79677" y2="47239"/>
                        <a14:foregroundMark x1="83226" y1="53374" x2="83226" y2="53374"/>
                        <a14:foregroundMark x1="94516" y1="50920" x2="94516" y2="50920"/>
                      </a14:backgroundRemoval>
                    </a14:imgEffect>
                  </a14:imgLayer>
                </a14:imgProps>
              </a:ext>
              <a:ext uri="{28A0092B-C50C-407E-A947-70E740481C1C}">
                <a14:useLocalDpi xmlns:a14="http://schemas.microsoft.com/office/drawing/2010/main"/>
              </a:ext>
            </a:extLst>
          </a:blip>
          <a:srcRect t="29372" b="30689"/>
          <a:stretch/>
        </p:blipFill>
        <p:spPr bwMode="auto">
          <a:xfrm>
            <a:off x="11010382" y="4257706"/>
            <a:ext cx="837629" cy="149769"/>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2" descr="Ericsson | World Economic Forum">
            <a:extLst>
              <a:ext uri="{FF2B5EF4-FFF2-40B4-BE49-F238E27FC236}">
                <a16:creationId xmlns:a16="http://schemas.microsoft.com/office/drawing/2014/main" id="{6B2D52D9-AC89-58F5-ABA3-DECE761EE574}"/>
              </a:ext>
            </a:extLst>
          </p:cNvPr>
          <p:cNvPicPr>
            <a:picLocks noChangeAspect="1" noChangeArrowheads="1"/>
          </p:cNvPicPr>
          <p:nvPr/>
        </p:nvPicPr>
        <p:blipFill rotWithShape="1">
          <a:blip r:embed="rId14">
            <a:duotone>
              <a:srgbClr val="FFFFFF">
                <a:shade val="45000"/>
                <a:satMod val="135000"/>
              </a:srgbClr>
              <a:prstClr val="white"/>
            </a:duotone>
            <a:extLst>
              <a:ext uri="{BEBA8EAE-BF5A-486C-A8C5-ECC9F3942E4B}">
                <a14:imgProps xmlns:a14="http://schemas.microsoft.com/office/drawing/2010/main">
                  <a14:imgLayer r:embed="rId15">
                    <a14:imgEffect>
                      <a14:backgroundRemoval t="23196" b="81959" l="25097" r="75676">
                        <a14:foregroundMark x1="59073" y1="35052" x2="59073" y2="35052"/>
                        <a14:foregroundMark x1="53668" y1="23196" x2="53668" y2="23196"/>
                        <a14:foregroundMark x1="72973" y1="75258" x2="72973" y2="75258"/>
                        <a14:foregroundMark x1="66795" y1="75258" x2="66795" y2="75258"/>
                        <a14:foregroundMark x1="58301" y1="77320" x2="58301" y2="77320"/>
                        <a14:foregroundMark x1="50193" y1="76289" x2="50193" y2="76289"/>
                        <a14:foregroundMark x1="42857" y1="75258" x2="42857" y2="75258"/>
                        <a14:foregroundMark x1="38996" y1="74742" x2="38996" y2="74742"/>
                        <a14:foregroundMark x1="31274" y1="76289" x2="31274" y2="76289"/>
                        <a14:foregroundMark x1="25097" y1="75258" x2="25097" y2="75258"/>
                        <a14:foregroundMark x1="75676" y1="80412" x2="75676" y2="80412"/>
                        <a14:backgroundMark x1="64865" y1="77320" x2="64865" y2="77320"/>
                        <a14:backgroundMark x1="66409" y1="76289" x2="66409" y2="76289"/>
                        <a14:backgroundMark x1="49421" y1="77320" x2="49421" y2="77320"/>
                        <a14:backgroundMark x1="30888" y1="76289" x2="30888" y2="76289"/>
                        <a14:backgroundMark x1="38610" y1="74227" x2="38610" y2="74227"/>
                        <a14:backgroundMark x1="66023" y1="75258" x2="66023" y2="75258"/>
                        <a14:backgroundMark x1="57915" y1="78351" x2="57915" y2="78351"/>
                      </a14:backgroundRemoval>
                    </a14:imgEffect>
                  </a14:imgLayer>
                </a14:imgProps>
              </a:ext>
              <a:ext uri="{28A0092B-C50C-407E-A947-70E740481C1C}">
                <a14:useLocalDpi xmlns:a14="http://schemas.microsoft.com/office/drawing/2010/main" val="0"/>
              </a:ext>
            </a:extLst>
          </a:blip>
          <a:srcRect l="19884" t="16951" r="18852" b="10569"/>
          <a:stretch/>
        </p:blipFill>
        <p:spPr bwMode="auto">
          <a:xfrm>
            <a:off x="10620647" y="5176932"/>
            <a:ext cx="524587" cy="39580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Verizon — Story">
            <a:extLst>
              <a:ext uri="{FF2B5EF4-FFF2-40B4-BE49-F238E27FC236}">
                <a16:creationId xmlns:a16="http://schemas.microsoft.com/office/drawing/2014/main" id="{E2D6B026-C171-9531-84F1-78D640FB4B14}"/>
              </a:ext>
            </a:extLst>
          </p:cNvPr>
          <p:cNvPicPr>
            <a:picLocks noChangeAspect="1" noChangeArrowheads="1"/>
          </p:cNvPicPr>
          <p:nvPr/>
        </p:nvPicPr>
        <p:blipFill>
          <a:blip r:embed="rId16">
            <a:duotone>
              <a:schemeClr val="bg2">
                <a:shade val="45000"/>
                <a:satMod val="135000"/>
              </a:schemeClr>
              <a:prstClr val="white"/>
            </a:duotone>
            <a:extLst>
              <a:ext uri="{BEBA8EAE-BF5A-486C-A8C5-ECC9F3942E4B}">
                <a14:imgProps xmlns:a14="http://schemas.microsoft.com/office/drawing/2010/main">
                  <a14:imgLayer r:embed="rId17">
                    <a14:imgEffect>
                      <a14:backgroundRemoval t="10000" b="90000" l="10000" r="90000">
                        <a14:foregroundMark x1="19677" y1="58896" x2="19677" y2="58896"/>
                        <a14:foregroundMark x1="36774" y1="49080" x2="36774" y2="49080"/>
                        <a14:foregroundMark x1="44194" y1="49080" x2="44194" y2="49080"/>
                        <a14:foregroundMark x1="44194" y1="40491" x2="44194" y2="40491"/>
                        <a14:foregroundMark x1="52581" y1="46012" x2="52581" y2="46012"/>
                        <a14:foregroundMark x1="61290" y1="46012" x2="61290" y2="46012"/>
                        <a14:foregroundMark x1="69677" y1="50920" x2="69677" y2="50920"/>
                        <a14:foregroundMark x1="83548" y1="37423" x2="83548" y2="37423"/>
                      </a14:backgroundRemoval>
                    </a14:imgEffect>
                  </a14:imgLayer>
                </a14:imgProps>
              </a:ext>
              <a:ext uri="{28A0092B-C50C-407E-A947-70E740481C1C}">
                <a14:useLocalDpi xmlns:a14="http://schemas.microsoft.com/office/drawing/2010/main" val="0"/>
              </a:ext>
            </a:extLst>
          </a:blip>
          <a:srcRect/>
          <a:stretch>
            <a:fillRect/>
          </a:stretch>
        </p:blipFill>
        <p:spPr bwMode="auto">
          <a:xfrm>
            <a:off x="11001567" y="4650085"/>
            <a:ext cx="846444" cy="378936"/>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76">
            <a:extLst>
              <a:ext uri="{FF2B5EF4-FFF2-40B4-BE49-F238E27FC236}">
                <a16:creationId xmlns:a16="http://schemas.microsoft.com/office/drawing/2014/main" id="{4304C921-50F0-CC61-05EF-8EC9A52E1850}"/>
              </a:ext>
            </a:extLst>
          </p:cNvPr>
          <p:cNvPicPr>
            <a:picLocks noChangeAspect="1"/>
          </p:cNvPicPr>
          <p:nvPr/>
        </p:nvPicPr>
        <p:blipFill>
          <a:blip r:embed="rId18">
            <a:duotone>
              <a:schemeClr val="bg2">
                <a:shade val="45000"/>
                <a:satMod val="135000"/>
              </a:schemeClr>
              <a:prstClr val="white"/>
            </a:duotone>
            <a:extLst>
              <a:ext uri="{BEBA8EAE-BF5A-486C-A8C5-ECC9F3942E4B}">
                <a14:imgProps xmlns:a14="http://schemas.microsoft.com/office/drawing/2010/main">
                  <a14:imgLayer r:embed="rId19">
                    <a14:imgEffect>
                      <a14:backgroundRemoval t="10000" b="90000" l="10000" r="90000">
                        <a14:foregroundMark x1="23417" y1="35500" x2="23417" y2="35500"/>
                        <a14:foregroundMark x1="27000" y1="42750" x2="27000" y2="42750"/>
                        <a14:foregroundMark x1="47250" y1="48750" x2="47250" y2="48750"/>
                        <a14:foregroundMark x1="53500" y1="45000" x2="53500" y2="45000"/>
                        <a14:foregroundMark x1="63333" y1="41375" x2="63333" y2="41375"/>
                        <a14:foregroundMark x1="81750" y1="44250" x2="81750" y2="44250"/>
                        <a14:foregroundMark x1="82667" y1="67500" x2="82667" y2="67500"/>
                        <a14:foregroundMark x1="76417" y1="66000" x2="76417" y2="66000"/>
                        <a14:foregroundMark x1="71917" y1="66000" x2="71917" y2="66000"/>
                        <a14:foregroundMark x1="65667" y1="66000" x2="65667" y2="66000"/>
                        <a14:foregroundMark x1="61833" y1="65625" x2="61833" y2="65625"/>
                        <a14:foregroundMark x1="57333" y1="65625" x2="57333" y2="65625"/>
                        <a14:foregroundMark x1="50167" y1="65625" x2="50167" y2="65625"/>
                        <a14:foregroundMark x1="47250" y1="65625" x2="47250" y2="65625"/>
                        <a14:foregroundMark x1="42750" y1="66000" x2="42750" y2="66000"/>
                        <a14:foregroundMark x1="41833" y1="66375" x2="41833" y2="66375"/>
                        <a14:foregroundMark x1="41583" y1="67500" x2="41583" y2="67500"/>
                        <a14:foregroundMark x1="38000" y1="64875" x2="38000" y2="64875"/>
                        <a14:foregroundMark x1="32917" y1="66000" x2="32917" y2="66000"/>
                        <a14:foregroundMark x1="26417" y1="66000" x2="26417" y2="66000"/>
                        <a14:foregroundMark x1="20417" y1="65250" x2="20417" y2="65250"/>
                        <a14:foregroundMark x1="13000" y1="65250" x2="13000" y2="65250"/>
                      </a14:backgroundRemoval>
                    </a14:imgEffect>
                  </a14:imgLayer>
                </a14:imgProps>
              </a:ext>
            </a:extLst>
          </a:blip>
          <a:stretch>
            <a:fillRect/>
          </a:stretch>
        </p:blipFill>
        <p:spPr>
          <a:xfrm>
            <a:off x="7873143" y="2567596"/>
            <a:ext cx="640201" cy="517825"/>
          </a:xfrm>
          <a:prstGeom prst="rect">
            <a:avLst/>
          </a:prstGeom>
          <a:solidFill>
            <a:schemeClr val="tx2">
              <a:lumMod val="75000"/>
            </a:schemeClr>
          </a:solidFill>
        </p:spPr>
      </p:pic>
      <p:pic>
        <p:nvPicPr>
          <p:cNvPr id="80" name="Picture 79" descr="Logo&#10;&#10;Description automatically generated">
            <a:extLst>
              <a:ext uri="{FF2B5EF4-FFF2-40B4-BE49-F238E27FC236}">
                <a16:creationId xmlns:a16="http://schemas.microsoft.com/office/drawing/2014/main" id="{A1232887-57BD-240C-F9CC-D76C1DEC6C75}"/>
              </a:ext>
            </a:extLst>
          </p:cNvPr>
          <p:cNvPicPr>
            <a:picLocks noChangeAspect="1"/>
          </p:cNvPicPr>
          <p:nvPr/>
        </p:nvPicPr>
        <p:blipFill rotWithShape="1">
          <a:blip r:embed="rId20" cstate="print">
            <a:duotone>
              <a:schemeClr val="bg2">
                <a:shade val="45000"/>
                <a:satMod val="135000"/>
              </a:schemeClr>
              <a:prstClr val="white"/>
            </a:duotone>
            <a:extLst>
              <a:ext uri="{BEBA8EAE-BF5A-486C-A8C5-ECC9F3942E4B}">
                <a14:imgProps xmlns:a14="http://schemas.microsoft.com/office/drawing/2010/main">
                  <a14:imgLayer r:embed="rId21">
                    <a14:imgEffect>
                      <a14:backgroundRemoval t="4762" b="98214" l="20667" r="81667">
                        <a14:foregroundMark x1="36000" y1="23214" x2="36000" y2="23214"/>
                        <a14:foregroundMark x1="44667" y1="5357" x2="44667" y2="5357"/>
                        <a14:foregroundMark x1="24333" y1="92262" x2="24333" y2="92262"/>
                        <a14:foregroundMark x1="22000" y1="98214" x2="22000" y2="98214"/>
                        <a14:foregroundMark x1="27667" y1="89286" x2="27667" y2="89286"/>
                        <a14:foregroundMark x1="36333" y1="88690" x2="36333" y2="88690"/>
                        <a14:foregroundMark x1="48667" y1="86310" x2="48667" y2="86310"/>
                        <a14:foregroundMark x1="53667" y1="85119" x2="53667" y2="85119"/>
                        <a14:foregroundMark x1="61333" y1="85714" x2="61333" y2="85714"/>
                        <a14:foregroundMark x1="67667" y1="87500" x2="67667" y2="87500"/>
                        <a14:foregroundMark x1="77000" y1="86310" x2="77000" y2="86310"/>
                      </a14:backgroundRemoval>
                    </a14:imgEffect>
                  </a14:imgLayer>
                </a14:imgProps>
              </a:ext>
              <a:ext uri="{28A0092B-C50C-407E-A947-70E740481C1C}">
                <a14:useLocalDpi xmlns:a14="http://schemas.microsoft.com/office/drawing/2010/main"/>
              </a:ext>
            </a:extLst>
          </a:blip>
          <a:srcRect l="13313" r="10633"/>
          <a:stretch/>
        </p:blipFill>
        <p:spPr>
          <a:xfrm>
            <a:off x="9954990" y="6252192"/>
            <a:ext cx="559550" cy="350787"/>
          </a:xfrm>
          <a:prstGeom prst="rect">
            <a:avLst/>
          </a:prstGeom>
        </p:spPr>
      </p:pic>
      <p:sp>
        <p:nvSpPr>
          <p:cNvPr id="18" name="Rectangle 17">
            <a:hlinkClick r:id="" action="ppaction://noaction"/>
            <a:extLst>
              <a:ext uri="{FF2B5EF4-FFF2-40B4-BE49-F238E27FC236}">
                <a16:creationId xmlns:a16="http://schemas.microsoft.com/office/drawing/2014/main" id="{196780EF-DA78-9C57-7173-725C6F7762A6}"/>
              </a:ext>
            </a:extLst>
          </p:cNvPr>
          <p:cNvSpPr/>
          <p:nvPr/>
        </p:nvSpPr>
        <p:spPr>
          <a:xfrm>
            <a:off x="1388014" y="5716289"/>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ERP Advisory &amp; Product Evaluation</a:t>
            </a:r>
          </a:p>
        </p:txBody>
      </p:sp>
      <p:sp>
        <p:nvSpPr>
          <p:cNvPr id="19" name="Rectangle 18">
            <a:hlinkClick r:id="" action="ppaction://noaction"/>
            <a:extLst>
              <a:ext uri="{FF2B5EF4-FFF2-40B4-BE49-F238E27FC236}">
                <a16:creationId xmlns:a16="http://schemas.microsoft.com/office/drawing/2014/main" id="{DD62AC44-0E88-6C6B-FD81-197768DCE12E}"/>
              </a:ext>
            </a:extLst>
          </p:cNvPr>
          <p:cNvSpPr/>
          <p:nvPr/>
        </p:nvSpPr>
        <p:spPr>
          <a:xfrm>
            <a:off x="2657254" y="5716289"/>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Finance Process Design</a:t>
            </a:r>
          </a:p>
        </p:txBody>
      </p:sp>
      <p:sp>
        <p:nvSpPr>
          <p:cNvPr id="20" name="Rectangle 19">
            <a:hlinkClick r:id="" action="ppaction://noaction"/>
            <a:extLst>
              <a:ext uri="{FF2B5EF4-FFF2-40B4-BE49-F238E27FC236}">
                <a16:creationId xmlns:a16="http://schemas.microsoft.com/office/drawing/2014/main" id="{A5E70E1E-3193-4DC6-4053-A32F21CBE624}"/>
              </a:ext>
            </a:extLst>
          </p:cNvPr>
          <p:cNvSpPr/>
          <p:nvPr/>
        </p:nvSpPr>
        <p:spPr>
          <a:xfrm>
            <a:off x="3917584" y="5716289"/>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Finance Transformation with S4HANA, Digital Finance</a:t>
            </a:r>
          </a:p>
        </p:txBody>
      </p:sp>
      <p:sp>
        <p:nvSpPr>
          <p:cNvPr id="21" name="Rectangle 20">
            <a:hlinkClick r:id="" action="ppaction://noaction"/>
            <a:extLst>
              <a:ext uri="{FF2B5EF4-FFF2-40B4-BE49-F238E27FC236}">
                <a16:creationId xmlns:a16="http://schemas.microsoft.com/office/drawing/2014/main" id="{45B5B9B9-067E-55C2-B632-DCF6CC3C8586}"/>
              </a:ext>
            </a:extLst>
          </p:cNvPr>
          <p:cNvSpPr/>
          <p:nvPr/>
        </p:nvSpPr>
        <p:spPr>
          <a:xfrm>
            <a:off x="5194333" y="5716289"/>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solidFill>
                <a:effectLst/>
                <a:uLnTx/>
                <a:uFillTx/>
                <a:latin typeface="Ubuntu Medium"/>
                <a:ea typeface="+mn-ea"/>
                <a:cs typeface="+mn-cs"/>
              </a:rPr>
              <a:t>Target operating model &amp; design</a:t>
            </a:r>
          </a:p>
        </p:txBody>
      </p:sp>
      <p:sp>
        <p:nvSpPr>
          <p:cNvPr id="47" name="Rectangle 46">
            <a:hlinkClick r:id="" action="ppaction://noaction"/>
            <a:extLst>
              <a:ext uri="{FF2B5EF4-FFF2-40B4-BE49-F238E27FC236}">
                <a16:creationId xmlns:a16="http://schemas.microsoft.com/office/drawing/2014/main" id="{618BDD04-E410-23EF-B9C5-975DAE4A98BA}"/>
              </a:ext>
            </a:extLst>
          </p:cNvPr>
          <p:cNvSpPr/>
          <p:nvPr/>
        </p:nvSpPr>
        <p:spPr>
          <a:xfrm>
            <a:off x="1388014" y="3168824"/>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700" b="0" i="0" u="none" strike="noStrike" kern="1200" cap="none" spc="0" normalizeH="0" baseline="0" noProof="0">
                <a:ln>
                  <a:noFill/>
                </a:ln>
                <a:solidFill>
                  <a:srgbClr val="FFFFFF"/>
                </a:solidFill>
                <a:effectLst/>
                <a:uLnTx/>
                <a:uFillTx/>
                <a:latin typeface="Ubuntu Medium"/>
                <a:ea typeface="+mn-ea"/>
                <a:cs typeface="+mn-cs"/>
              </a:rPr>
              <a:t>Data Advisory</a:t>
            </a:r>
          </a:p>
        </p:txBody>
      </p:sp>
      <p:sp>
        <p:nvSpPr>
          <p:cNvPr id="48" name="Rectangle 47">
            <a:hlinkClick r:id="" action="ppaction://noaction"/>
            <a:extLst>
              <a:ext uri="{FF2B5EF4-FFF2-40B4-BE49-F238E27FC236}">
                <a16:creationId xmlns:a16="http://schemas.microsoft.com/office/drawing/2014/main" id="{1A3E805F-5486-F39C-08D3-A721D397476D}"/>
              </a:ext>
            </a:extLst>
          </p:cNvPr>
          <p:cNvSpPr/>
          <p:nvPr/>
        </p:nvSpPr>
        <p:spPr>
          <a:xfrm>
            <a:off x="2657254" y="3168824"/>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700" b="0" i="0" u="none" strike="noStrike" kern="1200" cap="none" spc="0" normalizeH="0" baseline="0" noProof="0">
                <a:ln>
                  <a:noFill/>
                </a:ln>
                <a:solidFill>
                  <a:srgbClr val="FFFFFF"/>
                </a:solidFill>
                <a:effectLst/>
                <a:uLnTx/>
                <a:uFillTx/>
                <a:latin typeface="Ubuntu Medium"/>
                <a:ea typeface="+mn-ea"/>
                <a:cs typeface="+mn-cs"/>
              </a:rPr>
              <a:t>AI/ML enabled  Insights</a:t>
            </a:r>
          </a:p>
        </p:txBody>
      </p:sp>
      <p:sp>
        <p:nvSpPr>
          <p:cNvPr id="49" name="Rectangle 48">
            <a:hlinkClick r:id="" action="ppaction://noaction"/>
            <a:extLst>
              <a:ext uri="{FF2B5EF4-FFF2-40B4-BE49-F238E27FC236}">
                <a16:creationId xmlns:a16="http://schemas.microsoft.com/office/drawing/2014/main" id="{2AC57CB1-D916-E74A-351D-6F614E29B49E}"/>
              </a:ext>
            </a:extLst>
          </p:cNvPr>
          <p:cNvSpPr/>
          <p:nvPr/>
        </p:nvSpPr>
        <p:spPr>
          <a:xfrm>
            <a:off x="5194333" y="3168824"/>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700" b="0" i="0" u="none" strike="noStrike" kern="1200" cap="none" spc="0" normalizeH="0" baseline="0" noProof="0">
                <a:ln>
                  <a:noFill/>
                </a:ln>
                <a:solidFill>
                  <a:srgbClr val="FFFFFF"/>
                </a:solidFill>
                <a:effectLst/>
                <a:uLnTx/>
                <a:uFillTx/>
                <a:latin typeface="Ubuntu Medium"/>
                <a:ea typeface="+mn-ea"/>
                <a:cs typeface="+mn-cs"/>
              </a:rPr>
              <a:t>Data Engineering</a:t>
            </a:r>
          </a:p>
        </p:txBody>
      </p:sp>
      <p:sp>
        <p:nvSpPr>
          <p:cNvPr id="50" name="Rectangle 49">
            <a:hlinkClick r:id="" action="ppaction://noaction"/>
            <a:extLst>
              <a:ext uri="{FF2B5EF4-FFF2-40B4-BE49-F238E27FC236}">
                <a16:creationId xmlns:a16="http://schemas.microsoft.com/office/drawing/2014/main" id="{52967F7A-BB0C-84A3-CA0A-AEE85B9DDE2C}"/>
              </a:ext>
            </a:extLst>
          </p:cNvPr>
          <p:cNvSpPr/>
          <p:nvPr/>
        </p:nvSpPr>
        <p:spPr>
          <a:xfrm>
            <a:off x="3917584" y="3168824"/>
            <a:ext cx="1184506" cy="326282"/>
          </a:xfrm>
          <a:prstGeom prst="rect">
            <a:avLst/>
          </a:prstGeom>
          <a:solidFill>
            <a:schemeClr val="tx2">
              <a:lumMod val="7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700" b="0" i="0" u="none" strike="noStrike" kern="1200" cap="none" spc="0" normalizeH="0" baseline="0" noProof="0">
                <a:ln>
                  <a:noFill/>
                </a:ln>
                <a:solidFill>
                  <a:srgbClr val="FFFFFF"/>
                </a:solidFill>
                <a:effectLst/>
                <a:uLnTx/>
                <a:uFillTx/>
                <a:latin typeface="Ubuntu Medium"/>
                <a:ea typeface="+mn-ea"/>
                <a:cs typeface="+mn-cs"/>
              </a:rPr>
              <a:t>Business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700" b="0" i="0" u="none" strike="noStrike" kern="1200" cap="none" spc="0" normalizeH="0" baseline="0" noProof="0">
                <a:ln>
                  <a:noFill/>
                </a:ln>
                <a:solidFill>
                  <a:srgbClr val="FFFFFF"/>
                </a:solidFill>
                <a:effectLst/>
                <a:uLnTx/>
                <a:uFillTx/>
                <a:latin typeface="Ubuntu Medium"/>
                <a:ea typeface="+mn-ea"/>
                <a:cs typeface="+mn-cs"/>
              </a:rPr>
              <a:t>Intelligence &amp; Reporting</a:t>
            </a:r>
          </a:p>
        </p:txBody>
      </p:sp>
      <p:pic>
        <p:nvPicPr>
          <p:cNvPr id="1028" name="Picture 4" descr="My Airtel – Apps on Google Play">
            <a:extLst>
              <a:ext uri="{FF2B5EF4-FFF2-40B4-BE49-F238E27FC236}">
                <a16:creationId xmlns:a16="http://schemas.microsoft.com/office/drawing/2014/main" id="{7999BBDA-A72F-8144-F5CD-927078976A16}"/>
              </a:ext>
            </a:extLst>
          </p:cNvPr>
          <p:cNvPicPr>
            <a:picLocks noChangeAspect="1" noChangeArrowheads="1"/>
          </p:cNvPicPr>
          <p:nvPr/>
        </p:nvPicPr>
        <p:blipFill>
          <a:blip r:embed="rId22">
            <a:extLst>
              <a:ext uri="{BEBA8EAE-BF5A-486C-A8C5-ECC9F3942E4B}">
                <a14:imgProps xmlns:a14="http://schemas.microsoft.com/office/drawing/2010/main">
                  <a14:imgLayer r:embed="rId23">
                    <a14:imgEffect>
                      <a14:backgroundRemoval t="10000" b="90000" l="10000" r="90000">
                        <a14:foregroundMark x1="52889" y1="29778" x2="52889" y2="29778"/>
                        <a14:foregroundMark x1="52889" y1="29778" x2="52889" y2="29778"/>
                        <a14:foregroundMark x1="52889" y1="29778" x2="52889" y2="29778"/>
                        <a14:foregroundMark x1="52889" y1="29778" x2="52889" y2="29778"/>
                        <a14:foregroundMark x1="52889" y1="29778" x2="52889" y2="29778"/>
                        <a14:foregroundMark x1="33333" y1="68444" x2="33333" y2="68444"/>
                        <a14:foregroundMark x1="39111" y1="72444" x2="39111" y2="72444"/>
                        <a14:foregroundMark x1="38667" y1="59111" x2="38667" y2="59111"/>
                        <a14:foregroundMark x1="43556" y1="68444" x2="43556" y2="68444"/>
                        <a14:foregroundMark x1="52000" y1="65778" x2="52000" y2="65778"/>
                        <a14:foregroundMark x1="59556" y1="68000" x2="59556" y2="68000"/>
                        <a14:foregroundMark x1="71556" y1="68000" x2="71556" y2="68000"/>
                        <a14:backgroundMark x1="23111" y1="36444" x2="23111" y2="36444"/>
                      </a14:backgroundRemoval>
                    </a14:imgEffect>
                  </a14:imgLayer>
                </a14:imgProps>
              </a:ext>
              <a:ext uri="{28A0092B-C50C-407E-A947-70E740481C1C}">
                <a14:useLocalDpi xmlns:a14="http://schemas.microsoft.com/office/drawing/2010/main" val="0"/>
              </a:ext>
            </a:extLst>
          </a:blip>
          <a:srcRect/>
          <a:stretch>
            <a:fillRect/>
          </a:stretch>
        </p:blipFill>
        <p:spPr bwMode="auto">
          <a:xfrm>
            <a:off x="9254062" y="3127280"/>
            <a:ext cx="445870" cy="37962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Cox Communications - Cox Image Gallery">
            <a:extLst>
              <a:ext uri="{FF2B5EF4-FFF2-40B4-BE49-F238E27FC236}">
                <a16:creationId xmlns:a16="http://schemas.microsoft.com/office/drawing/2014/main" id="{B7C09C70-0E1C-3B61-086B-18FCEA74A11C}"/>
              </a:ext>
            </a:extLst>
          </p:cNvPr>
          <p:cNvPicPr>
            <a:picLocks noChangeAspect="1" noChangeArrowheads="1"/>
          </p:cNvPicPr>
          <p:nvPr/>
        </p:nvPicPr>
        <p:blipFill>
          <a:blip r:embed="rId24">
            <a:duotone>
              <a:schemeClr val="bg2">
                <a:shade val="45000"/>
                <a:satMod val="135000"/>
              </a:schemeClr>
              <a:prstClr val="white"/>
            </a:duotone>
            <a:extLst>
              <a:ext uri="{BEBA8EAE-BF5A-486C-A8C5-ECC9F3942E4B}">
                <a14:imgProps xmlns:a14="http://schemas.microsoft.com/office/drawing/2010/main">
                  <a14:imgLayer r:embed="rId25">
                    <a14:imgEffect>
                      <a14:backgroundRemoval t="7659" b="91618" l="2159" r="89875">
                        <a14:foregroundMark x1="2255" y1="45231" x2="2255" y2="45231"/>
                        <a14:foregroundMark x1="76104" y1="49133" x2="76104" y2="49133"/>
                        <a14:foregroundMark x1="45921" y1="7659" x2="45921" y2="7659"/>
                        <a14:foregroundMark x1="46737" y1="91618" x2="46737" y2="91618"/>
                      </a14:backgroundRemoval>
                    </a14:imgEffect>
                  </a14:imgLayer>
                </a14:imgProps>
              </a:ext>
              <a:ext uri="{28A0092B-C50C-407E-A947-70E740481C1C}">
                <a14:useLocalDpi xmlns:a14="http://schemas.microsoft.com/office/drawing/2010/main" val="0"/>
              </a:ext>
            </a:extLst>
          </a:blip>
          <a:srcRect/>
          <a:stretch>
            <a:fillRect/>
          </a:stretch>
        </p:blipFill>
        <p:spPr bwMode="auto">
          <a:xfrm>
            <a:off x="11166825" y="3250536"/>
            <a:ext cx="681186" cy="192563"/>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16" descr="We make sense with technology Sign In Create Profile English (UK) Danish  (Denmark) banner image Share Save Job Back to Search Share Save Job">
            <a:extLst>
              <a:ext uri="{FF2B5EF4-FFF2-40B4-BE49-F238E27FC236}">
                <a16:creationId xmlns:a16="http://schemas.microsoft.com/office/drawing/2014/main" id="{EACD9819-6FA2-B3E8-5E4A-A97445E4CF4E}"/>
              </a:ext>
            </a:extLst>
          </p:cNvPr>
          <p:cNvPicPr>
            <a:picLocks noChangeAspect="1" noChangeArrowheads="1"/>
          </p:cNvPicPr>
          <p:nvPr/>
        </p:nvPicPr>
        <p:blipFill>
          <a:blip r:embed="rId26" cstate="print">
            <a:duotone>
              <a:schemeClr val="bg2">
                <a:shade val="45000"/>
                <a:satMod val="135000"/>
              </a:schemeClr>
              <a:prstClr val="white"/>
            </a:duotone>
            <a:extLst>
              <a:ext uri="{BEBA8EAE-BF5A-486C-A8C5-ECC9F3942E4B}">
                <a14:imgProps xmlns:a14="http://schemas.microsoft.com/office/drawing/2010/main">
                  <a14:imgLayer r:embed="rId27">
                    <a14:imgEffect>
                      <a14:brightnessContrast bright="40000" contrast="-40000"/>
                    </a14:imgEffect>
                  </a14:imgLayer>
                </a14:imgProps>
              </a:ext>
              <a:ext uri="{28A0092B-C50C-407E-A947-70E740481C1C}">
                <a14:useLocalDpi xmlns:a14="http://schemas.microsoft.com/office/drawing/2010/main"/>
              </a:ext>
            </a:extLst>
          </a:blip>
          <a:srcRect/>
          <a:stretch>
            <a:fillRect/>
          </a:stretch>
        </p:blipFill>
        <p:spPr bwMode="auto">
          <a:xfrm>
            <a:off x="10389199" y="3174209"/>
            <a:ext cx="786869" cy="254791"/>
          </a:xfrm>
          <a:prstGeom prst="rect">
            <a:avLst/>
          </a:prstGeom>
          <a:noFill/>
          <a:extLst>
            <a:ext uri="{909E8E84-426E-40DD-AFC4-6F175D3DCCD1}">
              <a14:hiddenFill xmlns:a14="http://schemas.microsoft.com/office/drawing/2010/main">
                <a:solidFill>
                  <a:srgbClr val="FFFFFF"/>
                </a:solidFill>
              </a14:hiddenFill>
            </a:ext>
          </a:extLst>
        </p:spPr>
      </p:pic>
      <p:cxnSp>
        <p:nvCxnSpPr>
          <p:cNvPr id="87" name="Straight Connector 86">
            <a:extLst>
              <a:ext uri="{FF2B5EF4-FFF2-40B4-BE49-F238E27FC236}">
                <a16:creationId xmlns:a16="http://schemas.microsoft.com/office/drawing/2014/main" id="{1872A35A-AFA8-F3C2-D88C-3B8304C61052}"/>
              </a:ext>
            </a:extLst>
          </p:cNvPr>
          <p:cNvCxnSpPr>
            <a:cxnSpLocks/>
          </p:cNvCxnSpPr>
          <p:nvPr/>
        </p:nvCxnSpPr>
        <p:spPr>
          <a:xfrm>
            <a:off x="5270491" y="4333403"/>
            <a:ext cx="5131872"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1BB15E0-8141-5D59-BF12-CEA7FC7C4307}"/>
              </a:ext>
            </a:extLst>
          </p:cNvPr>
          <p:cNvCxnSpPr>
            <a:cxnSpLocks/>
          </p:cNvCxnSpPr>
          <p:nvPr/>
        </p:nvCxnSpPr>
        <p:spPr>
          <a:xfrm>
            <a:off x="6467410" y="3835456"/>
            <a:ext cx="1762190"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93" name="object 35">
            <a:extLst>
              <a:ext uri="{FF2B5EF4-FFF2-40B4-BE49-F238E27FC236}">
                <a16:creationId xmlns:a16="http://schemas.microsoft.com/office/drawing/2014/main" id="{BF5D8913-5A7E-8DF2-20AD-CE95895ABA1E}"/>
              </a:ext>
            </a:extLst>
          </p:cNvPr>
          <p:cNvPicPr/>
          <p:nvPr/>
        </p:nvPicPr>
        <p:blipFill>
          <a:blip r:embed="rId8" cstate="print"/>
          <a:stretch>
            <a:fillRect/>
          </a:stretch>
        </p:blipFill>
        <p:spPr>
          <a:xfrm>
            <a:off x="9984899" y="3611478"/>
            <a:ext cx="430057" cy="399185"/>
          </a:xfrm>
          <a:prstGeom prst="rect">
            <a:avLst/>
          </a:prstGeom>
        </p:spPr>
      </p:pic>
      <p:cxnSp>
        <p:nvCxnSpPr>
          <p:cNvPr id="2048" name="Straight Connector 2047">
            <a:extLst>
              <a:ext uri="{FF2B5EF4-FFF2-40B4-BE49-F238E27FC236}">
                <a16:creationId xmlns:a16="http://schemas.microsoft.com/office/drawing/2014/main" id="{10A05464-D72E-C7AA-52A7-2235ABF0C515}"/>
              </a:ext>
            </a:extLst>
          </p:cNvPr>
          <p:cNvCxnSpPr>
            <a:cxnSpLocks/>
          </p:cNvCxnSpPr>
          <p:nvPr/>
        </p:nvCxnSpPr>
        <p:spPr>
          <a:xfrm>
            <a:off x="5270491" y="4835531"/>
            <a:ext cx="4166807"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51" name="Straight Connector 2050">
            <a:extLst>
              <a:ext uri="{FF2B5EF4-FFF2-40B4-BE49-F238E27FC236}">
                <a16:creationId xmlns:a16="http://schemas.microsoft.com/office/drawing/2014/main" id="{1604B862-BA77-24D5-7FB0-13D19D502EE4}"/>
              </a:ext>
            </a:extLst>
          </p:cNvPr>
          <p:cNvCxnSpPr>
            <a:cxnSpLocks/>
          </p:cNvCxnSpPr>
          <p:nvPr/>
        </p:nvCxnSpPr>
        <p:spPr>
          <a:xfrm>
            <a:off x="6544669" y="5376936"/>
            <a:ext cx="3182721"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13F3039-6917-7664-7B9E-2870B640ED62}"/>
              </a:ext>
            </a:extLst>
          </p:cNvPr>
          <p:cNvCxnSpPr>
            <a:cxnSpLocks/>
          </p:cNvCxnSpPr>
          <p:nvPr/>
        </p:nvCxnSpPr>
        <p:spPr>
          <a:xfrm flipV="1">
            <a:off x="6510780" y="5865099"/>
            <a:ext cx="4611530" cy="4239"/>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F7792867-D19D-4A35-6A5B-5D33446F1AE4}"/>
              </a:ext>
            </a:extLst>
          </p:cNvPr>
          <p:cNvCxnSpPr>
            <a:cxnSpLocks/>
          </p:cNvCxnSpPr>
          <p:nvPr/>
        </p:nvCxnSpPr>
        <p:spPr>
          <a:xfrm flipV="1">
            <a:off x="5156023" y="6382256"/>
            <a:ext cx="4611530" cy="4239"/>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032" name="Picture 8" descr="Sinch AB - Wikipedia">
            <a:extLst>
              <a:ext uri="{FF2B5EF4-FFF2-40B4-BE49-F238E27FC236}">
                <a16:creationId xmlns:a16="http://schemas.microsoft.com/office/drawing/2014/main" id="{A3EDDE61-8347-A427-E520-84C037D00F5A}"/>
              </a:ext>
            </a:extLst>
          </p:cNvPr>
          <p:cNvPicPr>
            <a:picLocks noChangeAspect="1" noChangeArrowheads="1"/>
          </p:cNvPicPr>
          <p:nvPr/>
        </p:nvPicPr>
        <p:blipFill rotWithShape="1">
          <a:blip r:embed="rId28">
            <a:duotone>
              <a:schemeClr val="bg2">
                <a:shade val="45000"/>
                <a:satMod val="135000"/>
              </a:schemeClr>
              <a:prstClr val="white"/>
            </a:duotone>
            <a:extLst>
              <a:ext uri="{BEBA8EAE-BF5A-486C-A8C5-ECC9F3942E4B}">
                <a14:imgProps xmlns:a14="http://schemas.microsoft.com/office/drawing/2010/main">
                  <a14:imgLayer r:embed="rId29">
                    <a14:imgEffect>
                      <a14:backgroundRemoval t="31655" b="70504" l="14641" r="85083">
                        <a14:foregroundMark x1="21271" y1="45324" x2="21271" y2="45324"/>
                        <a14:foregroundMark x1="14641" y1="48921" x2="14641" y2="48921"/>
                        <a14:foregroundMark x1="50829" y1="54676" x2="50829" y2="54676"/>
                        <a14:foregroundMark x1="56077" y1="54676" x2="56077" y2="54676"/>
                        <a14:foregroundMark x1="60221" y1="53957" x2="60221" y2="53957"/>
                        <a14:foregroundMark x1="69337" y1="53237" x2="69337" y2="53237"/>
                        <a14:foregroundMark x1="80110" y1="46763" x2="80110" y2="46763"/>
                        <a14:foregroundMark x1="85083" y1="47482" x2="85083" y2="47482"/>
                      </a14:backgroundRemoval>
                    </a14:imgEffect>
                  </a14:imgLayer>
                </a14:imgProps>
              </a:ext>
              <a:ext uri="{28A0092B-C50C-407E-A947-70E740481C1C}">
                <a14:useLocalDpi xmlns:a14="http://schemas.microsoft.com/office/drawing/2010/main" val="0"/>
              </a:ext>
            </a:extLst>
          </a:blip>
          <a:srcRect l="12424" t="26759" r="11955" b="23543"/>
          <a:stretch/>
        </p:blipFill>
        <p:spPr bwMode="auto">
          <a:xfrm>
            <a:off x="8342122" y="3715881"/>
            <a:ext cx="1300949" cy="279517"/>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2">
            <a:hlinkClick r:id="" action="ppaction://noaction"/>
            <a:extLst>
              <a:ext uri="{FF2B5EF4-FFF2-40B4-BE49-F238E27FC236}">
                <a16:creationId xmlns:a16="http://schemas.microsoft.com/office/drawing/2014/main" id="{2A10AF74-832F-8F13-F585-EA62E0106B59}"/>
              </a:ext>
            </a:extLst>
          </p:cNvPr>
          <p:cNvSpPr/>
          <p:nvPr/>
        </p:nvSpPr>
        <p:spPr>
          <a:xfrm>
            <a:off x="1514666" y="1153941"/>
            <a:ext cx="5830995" cy="144000"/>
          </a:xfrm>
          <a:prstGeom prst="rect">
            <a:avLst/>
          </a:prstGeom>
          <a:solidFill>
            <a:schemeClr val="accent1"/>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57756" rtl="0" eaLnBrk="1" fontAlgn="auto" latinLnBrk="0" hangingPunct="1">
              <a:lnSpc>
                <a:spcPct val="100000"/>
              </a:lnSpc>
              <a:spcBef>
                <a:spcPts val="0"/>
              </a:spcBef>
              <a:spcAft>
                <a:spcPts val="0"/>
              </a:spcAft>
              <a:buClrTx/>
              <a:buSzTx/>
              <a:buFontTx/>
              <a:buNone/>
              <a:tabLst/>
              <a:defRPr/>
            </a:pPr>
            <a:r>
              <a:rPr kumimoji="0" lang="pt-BR" sz="1000" b="1" i="0" u="none" strike="noStrike" kern="0" cap="none" spc="0" normalizeH="0" baseline="0" noProof="0">
                <a:ln>
                  <a:noFill/>
                </a:ln>
                <a:solidFill>
                  <a:srgbClr val="FFFFFF"/>
                </a:solidFill>
                <a:effectLst/>
                <a:uLnTx/>
                <a:uFillTx/>
                <a:latin typeface="Ubuntu"/>
                <a:ea typeface="+mn-lt"/>
                <a:cs typeface="+mn-lt"/>
              </a:rPr>
              <a:t>Digital Telco  Business Transformation Advisory</a:t>
            </a:r>
            <a:endParaRPr kumimoji="0" lang="en-US" sz="1000" b="0" i="0" u="none" strike="noStrike" kern="1200" cap="none" spc="0" normalizeH="0" baseline="0" noProof="0">
              <a:ln>
                <a:noFill/>
              </a:ln>
              <a:solidFill>
                <a:srgbClr val="FFFFFF"/>
              </a:solidFill>
              <a:effectLst/>
              <a:uLnTx/>
              <a:uFillTx/>
              <a:latin typeface="Ubuntu"/>
              <a:ea typeface="+mn-ea"/>
              <a:cs typeface="+mn-cs"/>
            </a:endParaRPr>
          </a:p>
        </p:txBody>
      </p:sp>
      <p:sp>
        <p:nvSpPr>
          <p:cNvPr id="35" name="Rectangle 34">
            <a:hlinkClick r:id="" action="ppaction://noaction"/>
            <a:extLst>
              <a:ext uri="{FF2B5EF4-FFF2-40B4-BE49-F238E27FC236}">
                <a16:creationId xmlns:a16="http://schemas.microsoft.com/office/drawing/2014/main" id="{A544B47B-1198-1F98-D43A-CD4CC595C11C}"/>
              </a:ext>
            </a:extLst>
          </p:cNvPr>
          <p:cNvSpPr/>
          <p:nvPr/>
        </p:nvSpPr>
        <p:spPr>
          <a:xfrm>
            <a:off x="1514666" y="1369618"/>
            <a:ext cx="5830994" cy="144000"/>
          </a:xfrm>
          <a:prstGeom prst="rect">
            <a:avLst/>
          </a:prstGeom>
          <a:solidFill>
            <a:schemeClr val="accent1"/>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57756" rtl="0" eaLnBrk="1" fontAlgn="auto" latinLnBrk="0" hangingPunct="1">
              <a:lnSpc>
                <a:spcPct val="100000"/>
              </a:lnSpc>
              <a:spcBef>
                <a:spcPts val="0"/>
              </a:spcBef>
              <a:spcAft>
                <a:spcPts val="0"/>
              </a:spcAft>
              <a:buClrTx/>
              <a:buSzTx/>
              <a:buFontTx/>
              <a:buNone/>
              <a:tabLst/>
              <a:defRPr/>
            </a:pPr>
            <a:r>
              <a:rPr kumimoji="0" lang="pt-BR" sz="1000" b="1" i="0" u="none" strike="noStrike" kern="0" cap="none" spc="0" normalizeH="0" baseline="0" noProof="0">
                <a:ln>
                  <a:noFill/>
                </a:ln>
                <a:solidFill>
                  <a:srgbClr val="FFFFFF"/>
                </a:solidFill>
                <a:effectLst/>
                <a:uLnTx/>
                <a:uFillTx/>
                <a:latin typeface="Ubuntu"/>
                <a:ea typeface="+mn-lt"/>
                <a:cs typeface="+mn-lt"/>
              </a:rPr>
              <a:t>Digital Telco Process Transformation Advisory</a:t>
            </a:r>
            <a:endParaRPr kumimoji="0" lang="en-US" sz="1000" b="0" i="0" u="none" strike="noStrike" kern="1200" cap="none" spc="0" normalizeH="0" baseline="0" noProof="0">
              <a:ln>
                <a:noFill/>
              </a:ln>
              <a:solidFill>
                <a:srgbClr val="FFFFFF"/>
              </a:solidFill>
              <a:effectLst/>
              <a:uLnTx/>
              <a:uFillTx/>
              <a:latin typeface="Ubuntu"/>
              <a:ea typeface="+mn-ea"/>
              <a:cs typeface="+mn-cs"/>
            </a:endParaRPr>
          </a:p>
        </p:txBody>
      </p:sp>
      <p:sp>
        <p:nvSpPr>
          <p:cNvPr id="40" name="Rectangle 39">
            <a:hlinkClick r:id="" action="ppaction://noaction"/>
            <a:extLst>
              <a:ext uri="{FF2B5EF4-FFF2-40B4-BE49-F238E27FC236}">
                <a16:creationId xmlns:a16="http://schemas.microsoft.com/office/drawing/2014/main" id="{1D431D9E-7769-C2C3-B1CA-BCC7E806EE71}"/>
              </a:ext>
            </a:extLst>
          </p:cNvPr>
          <p:cNvSpPr/>
          <p:nvPr/>
        </p:nvSpPr>
        <p:spPr>
          <a:xfrm>
            <a:off x="1514665" y="2051037"/>
            <a:ext cx="5830993" cy="178389"/>
          </a:xfrm>
          <a:prstGeom prst="rect">
            <a:avLst/>
          </a:prstGeom>
          <a:solidFill>
            <a:schemeClr val="accent1"/>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57756"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Ubuntu"/>
                <a:ea typeface="+mn-ea"/>
                <a:cs typeface="+mn-cs"/>
              </a:rPr>
              <a:t>Telco Gen AI advisory</a:t>
            </a:r>
          </a:p>
        </p:txBody>
      </p:sp>
      <p:sp>
        <p:nvSpPr>
          <p:cNvPr id="52" name="Rectangle 51">
            <a:hlinkClick r:id="" action="ppaction://noaction"/>
            <a:extLst>
              <a:ext uri="{FF2B5EF4-FFF2-40B4-BE49-F238E27FC236}">
                <a16:creationId xmlns:a16="http://schemas.microsoft.com/office/drawing/2014/main" id="{16C060E1-DB87-9B34-B205-D091B27B8B1F}"/>
              </a:ext>
            </a:extLst>
          </p:cNvPr>
          <p:cNvSpPr/>
          <p:nvPr/>
        </p:nvSpPr>
        <p:spPr>
          <a:xfrm>
            <a:off x="1514665" y="1585295"/>
            <a:ext cx="5830994" cy="144000"/>
          </a:xfrm>
          <a:prstGeom prst="rect">
            <a:avLst/>
          </a:prstGeom>
          <a:solidFill>
            <a:schemeClr val="accent1"/>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57756"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Ubuntu"/>
                <a:ea typeface="+mn-ea"/>
                <a:cs typeface="+mn-cs"/>
              </a:rPr>
              <a:t>Telco Program Management</a:t>
            </a:r>
          </a:p>
        </p:txBody>
      </p:sp>
      <p:sp>
        <p:nvSpPr>
          <p:cNvPr id="65" name="Rectangle 64">
            <a:hlinkClick r:id="" action="ppaction://noaction"/>
            <a:extLst>
              <a:ext uri="{FF2B5EF4-FFF2-40B4-BE49-F238E27FC236}">
                <a16:creationId xmlns:a16="http://schemas.microsoft.com/office/drawing/2014/main" id="{B420D858-4265-3443-7A49-14B107D1855E}"/>
              </a:ext>
            </a:extLst>
          </p:cNvPr>
          <p:cNvSpPr/>
          <p:nvPr/>
        </p:nvSpPr>
        <p:spPr>
          <a:xfrm>
            <a:off x="1514666" y="1800972"/>
            <a:ext cx="5830992" cy="178389"/>
          </a:xfrm>
          <a:prstGeom prst="rect">
            <a:avLst/>
          </a:prstGeom>
          <a:solidFill>
            <a:schemeClr val="accent1"/>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57756"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Ubuntu"/>
                <a:ea typeface="+mn-ea"/>
                <a:cs typeface="+mn-cs"/>
              </a:rPr>
              <a:t>Telco Business Architecture blueprinting </a:t>
            </a:r>
          </a:p>
        </p:txBody>
      </p:sp>
      <p:cxnSp>
        <p:nvCxnSpPr>
          <p:cNvPr id="73" name="Straight Connector 72">
            <a:extLst>
              <a:ext uri="{FF2B5EF4-FFF2-40B4-BE49-F238E27FC236}">
                <a16:creationId xmlns:a16="http://schemas.microsoft.com/office/drawing/2014/main" id="{75EEA537-A210-41B5-61C0-CAC8D04184D9}"/>
              </a:ext>
            </a:extLst>
          </p:cNvPr>
          <p:cNvCxnSpPr>
            <a:cxnSpLocks/>
          </p:cNvCxnSpPr>
          <p:nvPr/>
        </p:nvCxnSpPr>
        <p:spPr>
          <a:xfrm>
            <a:off x="7345658" y="1225941"/>
            <a:ext cx="1513670"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B13B211-A3DB-621D-56FE-4FF3700E3BB7}"/>
              </a:ext>
            </a:extLst>
          </p:cNvPr>
          <p:cNvCxnSpPr>
            <a:cxnSpLocks/>
          </p:cNvCxnSpPr>
          <p:nvPr/>
        </p:nvCxnSpPr>
        <p:spPr>
          <a:xfrm>
            <a:off x="7345658" y="1441618"/>
            <a:ext cx="1513670"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44A20E2-6E30-4AE6-44F2-1FAF51235289}"/>
              </a:ext>
            </a:extLst>
          </p:cNvPr>
          <p:cNvCxnSpPr>
            <a:cxnSpLocks/>
          </p:cNvCxnSpPr>
          <p:nvPr/>
        </p:nvCxnSpPr>
        <p:spPr>
          <a:xfrm flipV="1">
            <a:off x="7345658" y="1647892"/>
            <a:ext cx="1513670" cy="9403"/>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5F1B8502-8473-A245-C0FA-ABFA7E6C9C78}"/>
              </a:ext>
            </a:extLst>
          </p:cNvPr>
          <p:cNvCxnSpPr>
            <a:cxnSpLocks/>
          </p:cNvCxnSpPr>
          <p:nvPr/>
        </p:nvCxnSpPr>
        <p:spPr>
          <a:xfrm>
            <a:off x="7345658" y="1881130"/>
            <a:ext cx="1513670"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E03301B7-AE31-8B46-6BB0-311532FC5976}"/>
              </a:ext>
            </a:extLst>
          </p:cNvPr>
          <p:cNvCxnSpPr>
            <a:cxnSpLocks/>
          </p:cNvCxnSpPr>
          <p:nvPr/>
        </p:nvCxnSpPr>
        <p:spPr>
          <a:xfrm>
            <a:off x="7345658" y="2140231"/>
            <a:ext cx="1513670"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00" name="Picture 99" descr="Text&#10;&#10;Description automatically generated with medium confidence">
            <a:extLst>
              <a:ext uri="{FF2B5EF4-FFF2-40B4-BE49-F238E27FC236}">
                <a16:creationId xmlns:a16="http://schemas.microsoft.com/office/drawing/2014/main" id="{42B6C19C-2825-F03C-ECC4-2957E994BFB0}"/>
              </a:ext>
            </a:extLst>
          </p:cNvPr>
          <p:cNvPicPr>
            <a:picLocks noChangeAspect="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9862696" y="1795981"/>
            <a:ext cx="180000" cy="180000"/>
          </a:xfrm>
          <a:prstGeom prst="rect">
            <a:avLst/>
          </a:prstGeom>
        </p:spPr>
      </p:pic>
      <p:pic>
        <p:nvPicPr>
          <p:cNvPr id="101" name="Picture 16" descr="We make sense with technology Sign In Create Profile English (UK) Danish  (Denmark) banner image Share Save Job Back to Search Share Save Job">
            <a:extLst>
              <a:ext uri="{FF2B5EF4-FFF2-40B4-BE49-F238E27FC236}">
                <a16:creationId xmlns:a16="http://schemas.microsoft.com/office/drawing/2014/main" id="{E79C6BE1-6984-77F2-8DE2-C1EF2C5BA1D6}"/>
              </a:ext>
            </a:extLst>
          </p:cNvPr>
          <p:cNvPicPr>
            <a:picLocks noChangeAspect="1" noChangeArrowheads="1"/>
          </p:cNvPicPr>
          <p:nvPr/>
        </p:nvPicPr>
        <p:blipFill>
          <a:blip r:embed="rId26" cstate="print">
            <a:duotone>
              <a:schemeClr val="bg2">
                <a:shade val="45000"/>
                <a:satMod val="135000"/>
              </a:schemeClr>
              <a:prstClr val="white"/>
            </a:duotone>
            <a:extLst>
              <a:ext uri="{BEBA8EAE-BF5A-486C-A8C5-ECC9F3942E4B}">
                <a14:imgProps xmlns:a14="http://schemas.microsoft.com/office/drawing/2010/main">
                  <a14:imgLayer r:embed="rId27">
                    <a14:imgEffect>
                      <a14:brightnessContrast bright="40000" contrast="-40000"/>
                    </a14:imgEffect>
                  </a14:imgLayer>
                </a14:imgProps>
              </a:ext>
              <a:ext uri="{28A0092B-C50C-407E-A947-70E740481C1C}">
                <a14:useLocalDpi xmlns:a14="http://schemas.microsoft.com/office/drawing/2010/main"/>
              </a:ext>
            </a:extLst>
          </a:blip>
          <a:srcRect/>
          <a:stretch>
            <a:fillRect/>
          </a:stretch>
        </p:blipFill>
        <p:spPr bwMode="auto">
          <a:xfrm>
            <a:off x="9273396" y="1789132"/>
            <a:ext cx="524918" cy="199632"/>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106" descr="A blue text on a black background&#10;&#10;AI-generated content may be incorrect.">
            <a:extLst>
              <a:ext uri="{FF2B5EF4-FFF2-40B4-BE49-F238E27FC236}">
                <a16:creationId xmlns:a16="http://schemas.microsoft.com/office/drawing/2014/main" id="{648F9E0A-2CA7-CCAC-AE0E-64059F44BA6D}"/>
              </a:ext>
            </a:extLst>
          </p:cNvPr>
          <p:cNvPicPr>
            <a:picLocks noChangeAspect="1"/>
          </p:cNvPicPr>
          <p:nvPr/>
        </p:nvPicPr>
        <p:blipFill>
          <a:blip r:embed="rId30">
            <a:duotone>
              <a:schemeClr val="bg2">
                <a:shade val="45000"/>
                <a:satMod val="135000"/>
              </a:schemeClr>
              <a:prstClr val="white"/>
            </a:duotone>
            <a:extLst>
              <a:ext uri="{BEBA8EAE-BF5A-486C-A8C5-ECC9F3942E4B}">
                <a14:imgProps xmlns:a14="http://schemas.microsoft.com/office/drawing/2010/main">
                  <a14:imgLayer r:embed="rId31">
                    <a14:imgEffect>
                      <a14:brightnessContrast bright="40000" contrast="-20000"/>
                    </a14:imgEffect>
                  </a14:imgLayer>
                </a14:imgProps>
              </a:ext>
              <a:ext uri="{28A0092B-C50C-407E-A947-70E740481C1C}">
                <a14:useLocalDpi xmlns:a14="http://schemas.microsoft.com/office/drawing/2010/main" val="0"/>
              </a:ext>
            </a:extLst>
          </a:blip>
          <a:stretch>
            <a:fillRect/>
          </a:stretch>
        </p:blipFill>
        <p:spPr>
          <a:xfrm>
            <a:off x="10454638" y="1186815"/>
            <a:ext cx="522654" cy="124599"/>
          </a:xfrm>
          <a:prstGeom prst="rect">
            <a:avLst/>
          </a:prstGeom>
        </p:spPr>
      </p:pic>
      <p:pic>
        <p:nvPicPr>
          <p:cNvPr id="108" name="Picture 107" descr="A blue text on a black background&#10;&#10;AI-generated content may be incorrect.">
            <a:extLst>
              <a:ext uri="{FF2B5EF4-FFF2-40B4-BE49-F238E27FC236}">
                <a16:creationId xmlns:a16="http://schemas.microsoft.com/office/drawing/2014/main" id="{55EFCBA9-EA42-918E-7A25-6C47E93F1731}"/>
              </a:ext>
            </a:extLst>
          </p:cNvPr>
          <p:cNvPicPr>
            <a:picLocks noChangeAspect="1"/>
          </p:cNvPicPr>
          <p:nvPr/>
        </p:nvPicPr>
        <p:blipFill>
          <a:blip r:embed="rId30">
            <a:duotone>
              <a:schemeClr val="bg2">
                <a:shade val="45000"/>
                <a:satMod val="135000"/>
              </a:schemeClr>
              <a:prstClr val="white"/>
            </a:duotone>
            <a:extLst>
              <a:ext uri="{BEBA8EAE-BF5A-486C-A8C5-ECC9F3942E4B}">
                <a14:imgProps xmlns:a14="http://schemas.microsoft.com/office/drawing/2010/main">
                  <a14:imgLayer r:embed="rId31">
                    <a14:imgEffect>
                      <a14:brightnessContrast bright="40000" contrast="-20000"/>
                    </a14:imgEffect>
                  </a14:imgLayer>
                </a14:imgProps>
              </a:ext>
              <a:ext uri="{28A0092B-C50C-407E-A947-70E740481C1C}">
                <a14:useLocalDpi xmlns:a14="http://schemas.microsoft.com/office/drawing/2010/main" val="0"/>
              </a:ext>
            </a:extLst>
          </a:blip>
          <a:stretch>
            <a:fillRect/>
          </a:stretch>
        </p:blipFill>
        <p:spPr>
          <a:xfrm>
            <a:off x="9056141" y="1592558"/>
            <a:ext cx="522654" cy="124599"/>
          </a:xfrm>
          <a:prstGeom prst="rect">
            <a:avLst/>
          </a:prstGeom>
        </p:spPr>
      </p:pic>
      <p:pic>
        <p:nvPicPr>
          <p:cNvPr id="113" name="Picture 16" descr="We make sense with technology Sign In Create Profile English (UK) Danish  (Denmark) banner image Share Save Job Back to Search Share Save Job">
            <a:extLst>
              <a:ext uri="{FF2B5EF4-FFF2-40B4-BE49-F238E27FC236}">
                <a16:creationId xmlns:a16="http://schemas.microsoft.com/office/drawing/2014/main" id="{AF00370F-6FA6-5FA6-9644-4485286BF80A}"/>
              </a:ext>
            </a:extLst>
          </p:cNvPr>
          <p:cNvPicPr>
            <a:picLocks noChangeAspect="1" noChangeArrowheads="1"/>
          </p:cNvPicPr>
          <p:nvPr/>
        </p:nvPicPr>
        <p:blipFill>
          <a:blip r:embed="rId26" cstate="print">
            <a:duotone>
              <a:schemeClr val="bg2">
                <a:shade val="45000"/>
                <a:satMod val="135000"/>
              </a:schemeClr>
              <a:prstClr val="white"/>
            </a:duotone>
            <a:extLst>
              <a:ext uri="{BEBA8EAE-BF5A-486C-A8C5-ECC9F3942E4B}">
                <a14:imgProps xmlns:a14="http://schemas.microsoft.com/office/drawing/2010/main">
                  <a14:imgLayer r:embed="rId27">
                    <a14:imgEffect>
                      <a14:brightnessContrast bright="40000" contrast="-40000"/>
                    </a14:imgEffect>
                  </a14:imgLayer>
                </a14:imgProps>
              </a:ext>
              <a:ext uri="{28A0092B-C50C-407E-A947-70E740481C1C}">
                <a14:useLocalDpi xmlns:a14="http://schemas.microsoft.com/office/drawing/2010/main"/>
              </a:ext>
            </a:extLst>
          </a:blip>
          <a:srcRect/>
          <a:stretch>
            <a:fillRect/>
          </a:stretch>
        </p:blipFill>
        <p:spPr bwMode="auto">
          <a:xfrm>
            <a:off x="9701565" y="1574478"/>
            <a:ext cx="408219" cy="155251"/>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115" descr="Logo&#10;&#10;Description automatically generated">
            <a:extLst>
              <a:ext uri="{FF2B5EF4-FFF2-40B4-BE49-F238E27FC236}">
                <a16:creationId xmlns:a16="http://schemas.microsoft.com/office/drawing/2014/main" id="{1A7F2F48-5983-94A1-122F-E40AD01CA531}"/>
              </a:ext>
            </a:extLst>
          </p:cNvPr>
          <p:cNvPicPr>
            <a:picLocks noChangeAspect="1"/>
          </p:cNvPicPr>
          <p:nvPr/>
        </p:nvPicPr>
        <p:blipFill>
          <a:blip r:embed="rId32" cstate="print">
            <a:extLst>
              <a:ext uri="{28A0092B-C50C-407E-A947-70E740481C1C}">
                <a14:useLocalDpi xmlns:a14="http://schemas.microsoft.com/office/drawing/2010/main"/>
              </a:ext>
            </a:extLst>
          </a:blip>
          <a:stretch>
            <a:fillRect/>
          </a:stretch>
        </p:blipFill>
        <p:spPr>
          <a:xfrm>
            <a:off x="9925826" y="1416755"/>
            <a:ext cx="250379" cy="125982"/>
          </a:xfrm>
          <a:prstGeom prst="rect">
            <a:avLst/>
          </a:prstGeom>
        </p:spPr>
      </p:pic>
      <p:pic>
        <p:nvPicPr>
          <p:cNvPr id="120" name="Picture 119" descr="A purple letters on a black background&#10;&#10;AI-generated content may be incorrect.">
            <a:extLst>
              <a:ext uri="{FF2B5EF4-FFF2-40B4-BE49-F238E27FC236}">
                <a16:creationId xmlns:a16="http://schemas.microsoft.com/office/drawing/2014/main" id="{9BD956A4-3384-A24C-5088-AFCEF2CD4232}"/>
              </a:ext>
            </a:extLst>
          </p:cNvPr>
          <p:cNvPicPr>
            <a:picLocks noChangeAspect="1"/>
          </p:cNvPicPr>
          <p:nvPr/>
        </p:nvPicPr>
        <p:blipFill>
          <a:blip r:embed="rId33">
            <a:duotone>
              <a:schemeClr val="bg2">
                <a:shade val="45000"/>
                <a:satMod val="135000"/>
              </a:schemeClr>
              <a:prstClr val="white"/>
            </a:duotone>
            <a:extLst>
              <a:ext uri="{BEBA8EAE-BF5A-486C-A8C5-ECC9F3942E4B}">
                <a14:imgProps xmlns:a14="http://schemas.microsoft.com/office/drawing/2010/main">
                  <a14:imgLayer r:embed="rId3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9056173" y="1400872"/>
            <a:ext cx="237359" cy="133515"/>
          </a:xfrm>
          <a:prstGeom prst="rect">
            <a:avLst/>
          </a:prstGeom>
        </p:spPr>
      </p:pic>
      <p:pic>
        <p:nvPicPr>
          <p:cNvPr id="121" name="Picture 120" descr="A logo with blue and purple letters&#10;&#10;AI-generated content may be incorrect.">
            <a:extLst>
              <a:ext uri="{FF2B5EF4-FFF2-40B4-BE49-F238E27FC236}">
                <a16:creationId xmlns:a16="http://schemas.microsoft.com/office/drawing/2014/main" id="{CF35B6D6-2047-1A2D-2EF0-460CBA6D19F0}"/>
              </a:ext>
            </a:extLst>
          </p:cNvPr>
          <p:cNvPicPr>
            <a:picLocks noChangeAspect="1"/>
          </p:cNvPicPr>
          <p:nvPr/>
        </p:nvPicPr>
        <p:blipFill>
          <a:blip r:embed="rId35">
            <a:duotone>
              <a:schemeClr val="bg2">
                <a:shade val="45000"/>
                <a:satMod val="135000"/>
              </a:schemeClr>
              <a:prstClr val="white"/>
            </a:duotone>
            <a:extLst>
              <a:ext uri="{BEBA8EAE-BF5A-486C-A8C5-ECC9F3942E4B}">
                <a14:imgProps xmlns:a14="http://schemas.microsoft.com/office/drawing/2010/main">
                  <a14:imgLayer r:embed="rId36">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9483466" y="1399002"/>
            <a:ext cx="293126" cy="151631"/>
          </a:xfrm>
          <a:prstGeom prst="rect">
            <a:avLst/>
          </a:prstGeom>
        </p:spPr>
      </p:pic>
      <p:cxnSp>
        <p:nvCxnSpPr>
          <p:cNvPr id="127" name="Straight Connector 126">
            <a:extLst>
              <a:ext uri="{FF2B5EF4-FFF2-40B4-BE49-F238E27FC236}">
                <a16:creationId xmlns:a16="http://schemas.microsoft.com/office/drawing/2014/main" id="{8868B4EC-62FB-440A-FCFA-EE79C3B1514F}"/>
              </a:ext>
            </a:extLst>
          </p:cNvPr>
          <p:cNvCxnSpPr>
            <a:cxnSpLocks/>
          </p:cNvCxnSpPr>
          <p:nvPr/>
        </p:nvCxnSpPr>
        <p:spPr>
          <a:xfrm>
            <a:off x="6464563" y="3332248"/>
            <a:ext cx="1762190"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24" name="Straight Connector 1023">
            <a:extLst>
              <a:ext uri="{FF2B5EF4-FFF2-40B4-BE49-F238E27FC236}">
                <a16:creationId xmlns:a16="http://schemas.microsoft.com/office/drawing/2014/main" id="{D472832A-29A0-2071-3854-57D43A80353E}"/>
              </a:ext>
            </a:extLst>
          </p:cNvPr>
          <p:cNvCxnSpPr>
            <a:cxnSpLocks/>
          </p:cNvCxnSpPr>
          <p:nvPr/>
        </p:nvCxnSpPr>
        <p:spPr>
          <a:xfrm>
            <a:off x="7682268" y="2829040"/>
            <a:ext cx="172026"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035" name="Picture 2" descr="Tet Data Centers and Colocation">
            <a:extLst>
              <a:ext uri="{FF2B5EF4-FFF2-40B4-BE49-F238E27FC236}">
                <a16:creationId xmlns:a16="http://schemas.microsoft.com/office/drawing/2014/main" id="{BB171F76-FD57-204B-9D0C-F7913914FA85}"/>
              </a:ext>
            </a:extLst>
          </p:cNvPr>
          <p:cNvPicPr>
            <a:picLocks noChangeAspect="1" noChangeArrowheads="1"/>
          </p:cNvPicPr>
          <p:nvPr/>
        </p:nvPicPr>
        <p:blipFill>
          <a:blip r:embed="rId37" cstate="print">
            <a:extLst>
              <a:ext uri="{28A0092B-C50C-407E-A947-70E740481C1C}">
                <a14:useLocalDpi xmlns:a14="http://schemas.microsoft.com/office/drawing/2010/main"/>
              </a:ext>
            </a:extLst>
          </a:blip>
          <a:srcRect/>
          <a:stretch>
            <a:fillRect/>
          </a:stretch>
        </p:blipFill>
        <p:spPr bwMode="auto">
          <a:xfrm>
            <a:off x="9484645" y="1168980"/>
            <a:ext cx="326668" cy="160271"/>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2" descr="MEDIA CONTACTS | Liberty Latin America">
            <a:extLst>
              <a:ext uri="{FF2B5EF4-FFF2-40B4-BE49-F238E27FC236}">
                <a16:creationId xmlns:a16="http://schemas.microsoft.com/office/drawing/2014/main" id="{C7277858-E047-3914-A3D1-50F2289BAEEB}"/>
              </a:ext>
            </a:extLst>
          </p:cNvPr>
          <p:cNvPicPr>
            <a:picLocks noChangeAspect="1" noChangeArrowheads="1"/>
          </p:cNvPicPr>
          <p:nvPr/>
        </p:nvPicPr>
        <p:blipFill>
          <a:blip r:embed="rId38" cstate="print">
            <a:duotone>
              <a:schemeClr val="bg2">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9851398" y="1167311"/>
            <a:ext cx="193168" cy="22725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037">
            <a:extLst>
              <a:ext uri="{FF2B5EF4-FFF2-40B4-BE49-F238E27FC236}">
                <a16:creationId xmlns:a16="http://schemas.microsoft.com/office/drawing/2014/main" id="{ABE666F0-C872-5D98-AD9D-787101E1BA3C}"/>
              </a:ext>
            </a:extLst>
          </p:cNvPr>
          <p:cNvPicPr>
            <a:picLocks noChangeAspect="1"/>
          </p:cNvPicPr>
          <p:nvPr/>
        </p:nvPicPr>
        <p:blipFill>
          <a:blip r:embed="rId39" cstate="print">
            <a:extLst>
              <a:ext uri="{28A0092B-C50C-407E-A947-70E740481C1C}">
                <a14:useLocalDpi xmlns:a14="http://schemas.microsoft.com/office/drawing/2010/main"/>
              </a:ext>
            </a:extLst>
          </a:blip>
          <a:stretch>
            <a:fillRect/>
          </a:stretch>
        </p:blipFill>
        <p:spPr>
          <a:xfrm>
            <a:off x="10084211" y="1182333"/>
            <a:ext cx="292579" cy="149911"/>
          </a:xfrm>
          <a:prstGeom prst="rect">
            <a:avLst/>
          </a:prstGeom>
        </p:spPr>
      </p:pic>
      <p:pic>
        <p:nvPicPr>
          <p:cNvPr id="7" name="Picture 6">
            <a:extLst>
              <a:ext uri="{FF2B5EF4-FFF2-40B4-BE49-F238E27FC236}">
                <a16:creationId xmlns:a16="http://schemas.microsoft.com/office/drawing/2014/main" id="{A3BADA00-7115-4940-7790-6BA08047EF8F}"/>
              </a:ext>
            </a:extLst>
          </p:cNvPr>
          <p:cNvPicPr>
            <a:picLocks noChangeAspect="1"/>
          </p:cNvPicPr>
          <p:nvPr/>
        </p:nvPicPr>
        <p:blipFill>
          <a:blip r:embed="rId40"/>
          <a:stretch>
            <a:fillRect/>
          </a:stretch>
        </p:blipFill>
        <p:spPr>
          <a:xfrm>
            <a:off x="10595509" y="0"/>
            <a:ext cx="1237002" cy="696510"/>
          </a:xfrm>
          <a:prstGeom prst="rect">
            <a:avLst/>
          </a:prstGeom>
        </p:spPr>
      </p:pic>
      <p:cxnSp>
        <p:nvCxnSpPr>
          <p:cNvPr id="9" name="Straight Connector 8">
            <a:extLst>
              <a:ext uri="{FF2B5EF4-FFF2-40B4-BE49-F238E27FC236}">
                <a16:creationId xmlns:a16="http://schemas.microsoft.com/office/drawing/2014/main" id="{42B1C5A9-2B32-E2FE-0DF7-FF1A02AF9619}"/>
              </a:ext>
            </a:extLst>
          </p:cNvPr>
          <p:cNvCxnSpPr>
            <a:cxnSpLocks/>
          </p:cNvCxnSpPr>
          <p:nvPr/>
        </p:nvCxnSpPr>
        <p:spPr>
          <a:xfrm>
            <a:off x="1270669" y="4587807"/>
            <a:ext cx="1054800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1" name="Picture 10" descr="Globe Telecom png images | PNGEgg">
            <a:extLst>
              <a:ext uri="{FF2B5EF4-FFF2-40B4-BE49-F238E27FC236}">
                <a16:creationId xmlns:a16="http://schemas.microsoft.com/office/drawing/2014/main" id="{4EDCCE6E-23CA-AF3B-1D8D-1DA0E0508BE5}"/>
              </a:ext>
            </a:extLst>
          </p:cNvPr>
          <p:cNvPicPr>
            <a:picLocks noChangeAspect="1"/>
          </p:cNvPicPr>
          <p:nvPr/>
        </p:nvPicPr>
        <p:blipFill>
          <a:blip r:embed="rId41">
            <a:extLst>
              <a:ext uri="{BEBA8EAE-BF5A-486C-A8C5-ECC9F3942E4B}">
                <a14:imgProps xmlns:a14="http://schemas.microsoft.com/office/drawing/2010/main">
                  <a14:imgLayer r:embed="rId42">
                    <a14:imgEffect>
                      <a14:backgroundRemoval t="10000" b="90000" l="10000" r="90000">
                        <a14:foregroundMark x1="46302" y1="48765" x2="46302" y2="48765"/>
                        <a14:foregroundMark x1="57878" y1="45679" x2="57878" y2="45679"/>
                        <a14:foregroundMark x1="62701" y1="48148" x2="62701" y2="48148"/>
                        <a14:foregroundMark x1="71061" y1="45062" x2="71061" y2="45062"/>
                        <a14:foregroundMark x1="81350" y1="48148" x2="81350" y2="48148"/>
                      </a14:backgroundRemoval>
                    </a14:imgEffect>
                    <a14:imgEffect>
                      <a14:saturation sat="400000"/>
                    </a14:imgEffect>
                    <a14:imgEffect>
                      <a14:brightnessContrast bright="20000" contrast="-40000"/>
                    </a14:imgEffect>
                  </a14:imgLayer>
                </a14:imgProps>
              </a:ext>
            </a:extLst>
          </a:blip>
          <a:stretch>
            <a:fillRect/>
          </a:stretch>
        </p:blipFill>
        <p:spPr>
          <a:xfrm>
            <a:off x="10710862" y="6244129"/>
            <a:ext cx="925898" cy="400052"/>
          </a:xfrm>
          <a:prstGeom prst="rect">
            <a:avLst/>
          </a:prstGeom>
        </p:spPr>
      </p:pic>
      <p:pic>
        <p:nvPicPr>
          <p:cNvPr id="15" name="Picture 14" descr="Logo&#10;&#10;Description automatically generated">
            <a:extLst>
              <a:ext uri="{FF2B5EF4-FFF2-40B4-BE49-F238E27FC236}">
                <a16:creationId xmlns:a16="http://schemas.microsoft.com/office/drawing/2014/main" id="{1731BC56-0274-4BD5-8D4A-6E5DE4ED58EA}"/>
              </a:ext>
            </a:extLst>
          </p:cNvPr>
          <p:cNvPicPr>
            <a:picLocks noChangeAspect="1"/>
          </p:cNvPicPr>
          <p:nvPr/>
        </p:nvPicPr>
        <p:blipFill rotWithShape="1">
          <a:blip r:embed="rId20" cstate="print">
            <a:duotone>
              <a:schemeClr val="bg2">
                <a:shade val="45000"/>
                <a:satMod val="135000"/>
              </a:schemeClr>
              <a:prstClr val="white"/>
            </a:duotone>
            <a:extLst>
              <a:ext uri="{BEBA8EAE-BF5A-486C-A8C5-ECC9F3942E4B}">
                <a14:imgProps xmlns:a14="http://schemas.microsoft.com/office/drawing/2010/main">
                  <a14:imgLayer r:embed="rId21">
                    <a14:imgEffect>
                      <a14:backgroundRemoval t="4762" b="98214" l="20667" r="81667">
                        <a14:foregroundMark x1="36000" y1="23214" x2="36000" y2="23214"/>
                        <a14:foregroundMark x1="44667" y1="5357" x2="44667" y2="5357"/>
                        <a14:foregroundMark x1="24333" y1="92262" x2="24333" y2="92262"/>
                        <a14:foregroundMark x1="22000" y1="98214" x2="22000" y2="98214"/>
                        <a14:foregroundMark x1="27667" y1="89286" x2="27667" y2="89286"/>
                        <a14:foregroundMark x1="36333" y1="88690" x2="36333" y2="88690"/>
                        <a14:foregroundMark x1="48667" y1="86310" x2="48667" y2="86310"/>
                        <a14:foregroundMark x1="53667" y1="85119" x2="53667" y2="85119"/>
                        <a14:foregroundMark x1="61333" y1="85714" x2="61333" y2="85714"/>
                        <a14:foregroundMark x1="67667" y1="87500" x2="67667" y2="87500"/>
                        <a14:foregroundMark x1="77000" y1="86310" x2="77000" y2="86310"/>
                      </a14:backgroundRemoval>
                    </a14:imgEffect>
                  </a14:imgLayer>
                </a14:imgProps>
              </a:ext>
              <a:ext uri="{28A0092B-C50C-407E-A947-70E740481C1C}">
                <a14:useLocalDpi xmlns:a14="http://schemas.microsoft.com/office/drawing/2010/main"/>
              </a:ext>
            </a:extLst>
          </a:blip>
          <a:srcRect l="13313" r="10633"/>
          <a:stretch/>
        </p:blipFill>
        <p:spPr>
          <a:xfrm>
            <a:off x="11250194" y="5720023"/>
            <a:ext cx="559550" cy="350787"/>
          </a:xfrm>
          <a:prstGeom prst="rect">
            <a:avLst/>
          </a:prstGeom>
        </p:spPr>
      </p:pic>
      <p:pic>
        <p:nvPicPr>
          <p:cNvPr id="16" name="Picture 15" descr="Logo&#10;&#10;Description automatically generated">
            <a:extLst>
              <a:ext uri="{FF2B5EF4-FFF2-40B4-BE49-F238E27FC236}">
                <a16:creationId xmlns:a16="http://schemas.microsoft.com/office/drawing/2014/main" id="{4EA37D7D-1117-28A4-9DE6-687852E7084E}"/>
              </a:ext>
            </a:extLst>
          </p:cNvPr>
          <p:cNvPicPr>
            <a:picLocks noChangeAspect="1"/>
          </p:cNvPicPr>
          <p:nvPr/>
        </p:nvPicPr>
        <p:blipFill rotWithShape="1">
          <a:blip r:embed="rId43" cstate="print">
            <a:duotone>
              <a:schemeClr val="bg2">
                <a:shade val="45000"/>
                <a:satMod val="135000"/>
              </a:schemeClr>
              <a:prstClr val="white"/>
            </a:duotone>
            <a:extLst>
              <a:ext uri="{BEBA8EAE-BF5A-486C-A8C5-ECC9F3942E4B}">
                <a14:imgProps xmlns:a14="http://schemas.microsoft.com/office/drawing/2010/main">
                  <a14:imgLayer r:embed="rId21">
                    <a14:imgEffect>
                      <a14:backgroundRemoval t="4762" b="98214" l="20667" r="81667">
                        <a14:foregroundMark x1="36000" y1="23214" x2="36000" y2="23214"/>
                        <a14:foregroundMark x1="44667" y1="5357" x2="44667" y2="5357"/>
                        <a14:foregroundMark x1="24333" y1="92262" x2="24333" y2="92262"/>
                        <a14:foregroundMark x1="22000" y1="98214" x2="22000" y2="98214"/>
                        <a14:foregroundMark x1="27667" y1="89286" x2="27667" y2="89286"/>
                        <a14:foregroundMark x1="36333" y1="88690" x2="36333" y2="88690"/>
                        <a14:foregroundMark x1="48667" y1="86310" x2="48667" y2="86310"/>
                        <a14:foregroundMark x1="53667" y1="85119" x2="53667" y2="85119"/>
                        <a14:foregroundMark x1="61333" y1="85714" x2="61333" y2="85714"/>
                        <a14:foregroundMark x1="67667" y1="87500" x2="67667" y2="87500"/>
                        <a14:foregroundMark x1="77000" y1="86310" x2="77000" y2="86310"/>
                      </a14:backgroundRemoval>
                    </a14:imgEffect>
                    <a14:imgEffect>
                      <a14:colorTemperature colorTemp="5300"/>
                    </a14:imgEffect>
                    <a14:imgEffect>
                      <a14:saturation sat="0"/>
                    </a14:imgEffect>
                  </a14:imgLayer>
                </a14:imgProps>
              </a:ext>
              <a:ext uri="{28A0092B-C50C-407E-A947-70E740481C1C}">
                <a14:useLocalDpi xmlns:a14="http://schemas.microsoft.com/office/drawing/2010/main"/>
              </a:ext>
            </a:extLst>
          </a:blip>
          <a:srcRect l="13313" r="10633"/>
          <a:stretch/>
        </p:blipFill>
        <p:spPr>
          <a:xfrm>
            <a:off x="11227643" y="5177123"/>
            <a:ext cx="559550" cy="350787"/>
          </a:xfrm>
          <a:prstGeom prst="rect">
            <a:avLst/>
          </a:prstGeom>
        </p:spPr>
      </p:pic>
      <p:pic>
        <p:nvPicPr>
          <p:cNvPr id="67" name="Picture 66" descr="Logo&#10;&#10;Description automatically generated">
            <a:extLst>
              <a:ext uri="{FF2B5EF4-FFF2-40B4-BE49-F238E27FC236}">
                <a16:creationId xmlns:a16="http://schemas.microsoft.com/office/drawing/2014/main" id="{A8D8C589-C852-69E0-AFB2-272DB9A82D17}"/>
              </a:ext>
            </a:extLst>
          </p:cNvPr>
          <p:cNvPicPr>
            <a:picLocks noChangeAspect="1"/>
          </p:cNvPicPr>
          <p:nvPr/>
        </p:nvPicPr>
        <p:blipFill rotWithShape="1">
          <a:blip r:embed="rId20" cstate="print">
            <a:duotone>
              <a:schemeClr val="bg2">
                <a:shade val="45000"/>
                <a:satMod val="135000"/>
              </a:schemeClr>
              <a:prstClr val="white"/>
            </a:duotone>
            <a:extLst>
              <a:ext uri="{BEBA8EAE-BF5A-486C-A8C5-ECC9F3942E4B}">
                <a14:imgProps xmlns:a14="http://schemas.microsoft.com/office/drawing/2010/main">
                  <a14:imgLayer r:embed="rId21">
                    <a14:imgEffect>
                      <a14:backgroundRemoval t="4762" b="98214" l="20667" r="81667">
                        <a14:foregroundMark x1="36000" y1="23214" x2="36000" y2="23214"/>
                        <a14:foregroundMark x1="44667" y1="5357" x2="44667" y2="5357"/>
                        <a14:foregroundMark x1="24333" y1="92262" x2="24333" y2="92262"/>
                        <a14:foregroundMark x1="22000" y1="98214" x2="22000" y2="98214"/>
                        <a14:foregroundMark x1="27667" y1="89286" x2="27667" y2="89286"/>
                        <a14:foregroundMark x1="36333" y1="88690" x2="36333" y2="88690"/>
                        <a14:foregroundMark x1="48667" y1="86310" x2="48667" y2="86310"/>
                        <a14:foregroundMark x1="53667" y1="85119" x2="53667" y2="85119"/>
                        <a14:foregroundMark x1="61333" y1="85714" x2="61333" y2="85714"/>
                        <a14:foregroundMark x1="67667" y1="87500" x2="67667" y2="87500"/>
                        <a14:foregroundMark x1="77000" y1="86310" x2="77000" y2="86310"/>
                      </a14:backgroundRemoval>
                    </a14:imgEffect>
                  </a14:imgLayer>
                </a14:imgProps>
              </a:ext>
              <a:ext uri="{28A0092B-C50C-407E-A947-70E740481C1C}">
                <a14:useLocalDpi xmlns:a14="http://schemas.microsoft.com/office/drawing/2010/main"/>
              </a:ext>
            </a:extLst>
          </a:blip>
          <a:srcRect l="13313" r="10633"/>
          <a:stretch/>
        </p:blipFill>
        <p:spPr>
          <a:xfrm>
            <a:off x="9684056" y="4678234"/>
            <a:ext cx="559550" cy="350787"/>
          </a:xfrm>
          <a:prstGeom prst="rect">
            <a:avLst/>
          </a:prstGeom>
        </p:spPr>
      </p:pic>
      <p:pic>
        <p:nvPicPr>
          <p:cNvPr id="70" name="Picture 69" descr="Logo&#10;&#10;Description automatically generated">
            <a:extLst>
              <a:ext uri="{FF2B5EF4-FFF2-40B4-BE49-F238E27FC236}">
                <a16:creationId xmlns:a16="http://schemas.microsoft.com/office/drawing/2014/main" id="{F73BD884-154A-8D1E-4FB8-A96ADB31B359}"/>
              </a:ext>
            </a:extLst>
          </p:cNvPr>
          <p:cNvPicPr>
            <a:picLocks noChangeAspect="1"/>
          </p:cNvPicPr>
          <p:nvPr/>
        </p:nvPicPr>
        <p:blipFill rotWithShape="1">
          <a:blip r:embed="rId20" cstate="print">
            <a:duotone>
              <a:schemeClr val="bg2">
                <a:shade val="45000"/>
                <a:satMod val="135000"/>
              </a:schemeClr>
              <a:prstClr val="white"/>
            </a:duotone>
            <a:extLst>
              <a:ext uri="{BEBA8EAE-BF5A-486C-A8C5-ECC9F3942E4B}">
                <a14:imgProps xmlns:a14="http://schemas.microsoft.com/office/drawing/2010/main">
                  <a14:imgLayer r:embed="rId21">
                    <a14:imgEffect>
                      <a14:backgroundRemoval t="4762" b="98214" l="20667" r="81667">
                        <a14:foregroundMark x1="36000" y1="23214" x2="36000" y2="23214"/>
                        <a14:foregroundMark x1="44667" y1="5357" x2="44667" y2="5357"/>
                        <a14:foregroundMark x1="24333" y1="92262" x2="24333" y2="92262"/>
                        <a14:foregroundMark x1="22000" y1="98214" x2="22000" y2="98214"/>
                        <a14:foregroundMark x1="27667" y1="89286" x2="27667" y2="89286"/>
                        <a14:foregroundMark x1="36333" y1="88690" x2="36333" y2="88690"/>
                        <a14:foregroundMark x1="48667" y1="86310" x2="48667" y2="86310"/>
                        <a14:foregroundMark x1="53667" y1="85119" x2="53667" y2="85119"/>
                        <a14:foregroundMark x1="61333" y1="85714" x2="61333" y2="85714"/>
                        <a14:foregroundMark x1="67667" y1="87500" x2="67667" y2="87500"/>
                        <a14:foregroundMark x1="77000" y1="86310" x2="77000" y2="86310"/>
                      </a14:backgroundRemoval>
                    </a14:imgEffect>
                  </a14:imgLayer>
                </a14:imgProps>
              </a:ext>
              <a:ext uri="{28A0092B-C50C-407E-A947-70E740481C1C}">
                <a14:useLocalDpi xmlns:a14="http://schemas.microsoft.com/office/drawing/2010/main"/>
              </a:ext>
            </a:extLst>
          </a:blip>
          <a:srcRect l="13313" r="10633"/>
          <a:stretch/>
        </p:blipFill>
        <p:spPr>
          <a:xfrm>
            <a:off x="9821069" y="3169050"/>
            <a:ext cx="559550" cy="350787"/>
          </a:xfrm>
          <a:prstGeom prst="rect">
            <a:avLst/>
          </a:prstGeom>
        </p:spPr>
      </p:pic>
      <p:pic>
        <p:nvPicPr>
          <p:cNvPr id="71" name="Picture 70" descr="Logo&#10;&#10;Description automatically generated">
            <a:extLst>
              <a:ext uri="{FF2B5EF4-FFF2-40B4-BE49-F238E27FC236}">
                <a16:creationId xmlns:a16="http://schemas.microsoft.com/office/drawing/2014/main" id="{8BF8C164-B14A-F530-638E-66EAE4B48500}"/>
              </a:ext>
            </a:extLst>
          </p:cNvPr>
          <p:cNvPicPr>
            <a:picLocks noChangeAspect="1"/>
          </p:cNvPicPr>
          <p:nvPr/>
        </p:nvPicPr>
        <p:blipFill rotWithShape="1">
          <a:blip r:embed="rId20" cstate="print">
            <a:duotone>
              <a:schemeClr val="bg2">
                <a:shade val="45000"/>
                <a:satMod val="135000"/>
              </a:schemeClr>
              <a:prstClr val="white"/>
            </a:duotone>
            <a:extLst>
              <a:ext uri="{BEBA8EAE-BF5A-486C-A8C5-ECC9F3942E4B}">
                <a14:imgProps xmlns:a14="http://schemas.microsoft.com/office/drawing/2010/main">
                  <a14:imgLayer r:embed="rId21">
                    <a14:imgEffect>
                      <a14:backgroundRemoval t="4762" b="98214" l="20667" r="81667">
                        <a14:foregroundMark x1="36000" y1="23214" x2="36000" y2="23214"/>
                        <a14:foregroundMark x1="44667" y1="5357" x2="44667" y2="5357"/>
                        <a14:foregroundMark x1="24333" y1="92262" x2="24333" y2="92262"/>
                        <a14:foregroundMark x1="22000" y1="98214" x2="22000" y2="98214"/>
                        <a14:foregroundMark x1="27667" y1="89286" x2="27667" y2="89286"/>
                        <a14:foregroundMark x1="36333" y1="88690" x2="36333" y2="88690"/>
                        <a14:foregroundMark x1="48667" y1="86310" x2="48667" y2="86310"/>
                        <a14:foregroundMark x1="53667" y1="85119" x2="53667" y2="85119"/>
                        <a14:foregroundMark x1="61333" y1="85714" x2="61333" y2="85714"/>
                        <a14:foregroundMark x1="67667" y1="87500" x2="67667" y2="87500"/>
                        <a14:foregroundMark x1="77000" y1="86310" x2="77000" y2="86310"/>
                      </a14:backgroundRemoval>
                    </a14:imgEffect>
                  </a14:imgLayer>
                </a14:imgProps>
              </a:ext>
              <a:ext uri="{28A0092B-C50C-407E-A947-70E740481C1C}">
                <a14:useLocalDpi xmlns:a14="http://schemas.microsoft.com/office/drawing/2010/main"/>
              </a:ext>
            </a:extLst>
          </a:blip>
          <a:srcRect l="13313" r="10633"/>
          <a:stretch/>
        </p:blipFill>
        <p:spPr>
          <a:xfrm>
            <a:off x="9479085" y="2046924"/>
            <a:ext cx="287124" cy="180000"/>
          </a:xfrm>
          <a:prstGeom prst="rect">
            <a:avLst/>
          </a:prstGeom>
        </p:spPr>
      </p:pic>
      <p:pic>
        <p:nvPicPr>
          <p:cNvPr id="75" name="Picture 74" descr="Logo&#10;&#10;Description automatically generated">
            <a:extLst>
              <a:ext uri="{FF2B5EF4-FFF2-40B4-BE49-F238E27FC236}">
                <a16:creationId xmlns:a16="http://schemas.microsoft.com/office/drawing/2014/main" id="{99220D62-B652-FD17-D0CC-8C308889729E}"/>
              </a:ext>
            </a:extLst>
          </p:cNvPr>
          <p:cNvPicPr>
            <a:picLocks noChangeAspect="1"/>
          </p:cNvPicPr>
          <p:nvPr/>
        </p:nvPicPr>
        <p:blipFill rotWithShape="1">
          <a:blip r:embed="rId20" cstate="print">
            <a:duotone>
              <a:schemeClr val="bg2">
                <a:shade val="45000"/>
                <a:satMod val="135000"/>
              </a:schemeClr>
              <a:prstClr val="white"/>
            </a:duotone>
            <a:extLst>
              <a:ext uri="{BEBA8EAE-BF5A-486C-A8C5-ECC9F3942E4B}">
                <a14:imgProps xmlns:a14="http://schemas.microsoft.com/office/drawing/2010/main">
                  <a14:imgLayer r:embed="rId21">
                    <a14:imgEffect>
                      <a14:backgroundRemoval t="4762" b="98214" l="20667" r="81667">
                        <a14:foregroundMark x1="36000" y1="23214" x2="36000" y2="23214"/>
                        <a14:foregroundMark x1="44667" y1="5357" x2="44667" y2="5357"/>
                        <a14:foregroundMark x1="24333" y1="92262" x2="24333" y2="92262"/>
                        <a14:foregroundMark x1="22000" y1="98214" x2="22000" y2="98214"/>
                        <a14:foregroundMark x1="27667" y1="89286" x2="27667" y2="89286"/>
                        <a14:foregroundMark x1="36333" y1="88690" x2="36333" y2="88690"/>
                        <a14:foregroundMark x1="48667" y1="86310" x2="48667" y2="86310"/>
                        <a14:foregroundMark x1="53667" y1="85119" x2="53667" y2="85119"/>
                        <a14:foregroundMark x1="61333" y1="85714" x2="61333" y2="85714"/>
                        <a14:foregroundMark x1="67667" y1="87500" x2="67667" y2="87500"/>
                        <a14:foregroundMark x1="77000" y1="86310" x2="77000" y2="86310"/>
                      </a14:backgroundRemoval>
                    </a14:imgEffect>
                  </a14:imgLayer>
                </a14:imgProps>
              </a:ext>
              <a:ext uri="{28A0092B-C50C-407E-A947-70E740481C1C}">
                <a14:useLocalDpi xmlns:a14="http://schemas.microsoft.com/office/drawing/2010/main"/>
              </a:ext>
            </a:extLst>
          </a:blip>
          <a:srcRect l="13313" r="10633"/>
          <a:stretch/>
        </p:blipFill>
        <p:spPr>
          <a:xfrm>
            <a:off x="10205614" y="1585295"/>
            <a:ext cx="287124" cy="180000"/>
          </a:xfrm>
          <a:prstGeom prst="rect">
            <a:avLst/>
          </a:prstGeom>
        </p:spPr>
      </p:pic>
      <p:pic>
        <p:nvPicPr>
          <p:cNvPr id="76" name="Picture 2" descr="Ericsson | World Economic Forum">
            <a:extLst>
              <a:ext uri="{FF2B5EF4-FFF2-40B4-BE49-F238E27FC236}">
                <a16:creationId xmlns:a16="http://schemas.microsoft.com/office/drawing/2014/main" id="{01D03F12-84D9-C2FC-49E8-9D9EFEA8A520}"/>
              </a:ext>
            </a:extLst>
          </p:cNvPr>
          <p:cNvPicPr>
            <a:picLocks noChangeAspect="1" noChangeArrowheads="1"/>
          </p:cNvPicPr>
          <p:nvPr/>
        </p:nvPicPr>
        <p:blipFill rotWithShape="1">
          <a:blip r:embed="rId14">
            <a:duotone>
              <a:srgbClr val="FFFFFF">
                <a:shade val="45000"/>
                <a:satMod val="135000"/>
              </a:srgbClr>
              <a:prstClr val="white"/>
            </a:duotone>
            <a:extLst>
              <a:ext uri="{BEBA8EAE-BF5A-486C-A8C5-ECC9F3942E4B}">
                <a14:imgProps xmlns:a14="http://schemas.microsoft.com/office/drawing/2010/main">
                  <a14:imgLayer r:embed="rId15">
                    <a14:imgEffect>
                      <a14:backgroundRemoval t="23196" b="81959" l="25097" r="75676">
                        <a14:foregroundMark x1="59073" y1="35052" x2="59073" y2="35052"/>
                        <a14:foregroundMark x1="53668" y1="23196" x2="53668" y2="23196"/>
                        <a14:foregroundMark x1="72973" y1="75258" x2="72973" y2="75258"/>
                        <a14:foregroundMark x1="66795" y1="75258" x2="66795" y2="75258"/>
                        <a14:foregroundMark x1="58301" y1="77320" x2="58301" y2="77320"/>
                        <a14:foregroundMark x1="50193" y1="76289" x2="50193" y2="76289"/>
                        <a14:foregroundMark x1="42857" y1="75258" x2="42857" y2="75258"/>
                        <a14:foregroundMark x1="38996" y1="74742" x2="38996" y2="74742"/>
                        <a14:foregroundMark x1="31274" y1="76289" x2="31274" y2="76289"/>
                        <a14:foregroundMark x1="25097" y1="75258" x2="25097" y2="75258"/>
                        <a14:foregroundMark x1="75676" y1="80412" x2="75676" y2="80412"/>
                        <a14:backgroundMark x1="64865" y1="77320" x2="64865" y2="77320"/>
                        <a14:backgroundMark x1="66409" y1="76289" x2="66409" y2="76289"/>
                        <a14:backgroundMark x1="49421" y1="77320" x2="49421" y2="77320"/>
                        <a14:backgroundMark x1="30888" y1="76289" x2="30888" y2="76289"/>
                        <a14:backgroundMark x1="38610" y1="74227" x2="38610" y2="74227"/>
                        <a14:backgroundMark x1="66023" y1="75258" x2="66023" y2="75258"/>
                        <a14:backgroundMark x1="57915" y1="78351" x2="57915" y2="78351"/>
                      </a14:backgroundRemoval>
                    </a14:imgEffect>
                  </a14:imgLayer>
                </a14:imgProps>
              </a:ext>
              <a:ext uri="{28A0092B-C50C-407E-A947-70E740481C1C}">
                <a14:useLocalDpi xmlns:a14="http://schemas.microsoft.com/office/drawing/2010/main" val="0"/>
              </a:ext>
            </a:extLst>
          </a:blip>
          <a:srcRect l="19884" t="16951" r="18852" b="10569"/>
          <a:stretch/>
        </p:blipFill>
        <p:spPr bwMode="auto">
          <a:xfrm>
            <a:off x="11403466" y="2678575"/>
            <a:ext cx="429420" cy="324000"/>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83" descr="Logo&#10;&#10;Description automatically generated">
            <a:extLst>
              <a:ext uri="{FF2B5EF4-FFF2-40B4-BE49-F238E27FC236}">
                <a16:creationId xmlns:a16="http://schemas.microsoft.com/office/drawing/2014/main" id="{BFCFF921-3133-FC54-9C68-28BA96923F07}"/>
              </a:ext>
            </a:extLst>
          </p:cNvPr>
          <p:cNvPicPr>
            <a:picLocks noChangeAspect="1"/>
          </p:cNvPicPr>
          <p:nvPr/>
        </p:nvPicPr>
        <p:blipFill rotWithShape="1">
          <a:blip r:embed="rId20" cstate="print">
            <a:duotone>
              <a:schemeClr val="bg2">
                <a:shade val="45000"/>
                <a:satMod val="135000"/>
              </a:schemeClr>
              <a:prstClr val="white"/>
            </a:duotone>
            <a:extLst>
              <a:ext uri="{BEBA8EAE-BF5A-486C-A8C5-ECC9F3942E4B}">
                <a14:imgProps xmlns:a14="http://schemas.microsoft.com/office/drawing/2010/main">
                  <a14:imgLayer r:embed="rId21">
                    <a14:imgEffect>
                      <a14:backgroundRemoval t="4762" b="98214" l="20667" r="81667">
                        <a14:foregroundMark x1="36000" y1="23214" x2="36000" y2="23214"/>
                        <a14:foregroundMark x1="44667" y1="5357" x2="44667" y2="5357"/>
                        <a14:foregroundMark x1="24333" y1="92262" x2="24333" y2="92262"/>
                        <a14:foregroundMark x1="22000" y1="98214" x2="22000" y2="98214"/>
                        <a14:foregroundMark x1="27667" y1="89286" x2="27667" y2="89286"/>
                        <a14:foregroundMark x1="36333" y1="88690" x2="36333" y2="88690"/>
                        <a14:foregroundMark x1="48667" y1="86310" x2="48667" y2="86310"/>
                        <a14:foregroundMark x1="53667" y1="85119" x2="53667" y2="85119"/>
                        <a14:foregroundMark x1="61333" y1="85714" x2="61333" y2="85714"/>
                        <a14:foregroundMark x1="67667" y1="87500" x2="67667" y2="87500"/>
                        <a14:foregroundMark x1="77000" y1="86310" x2="77000" y2="86310"/>
                      </a14:backgroundRemoval>
                    </a14:imgEffect>
                  </a14:imgLayer>
                </a14:imgProps>
              </a:ext>
              <a:ext uri="{28A0092B-C50C-407E-A947-70E740481C1C}">
                <a14:useLocalDpi xmlns:a14="http://schemas.microsoft.com/office/drawing/2010/main"/>
              </a:ext>
            </a:extLst>
          </a:blip>
          <a:srcRect l="13313" r="10633"/>
          <a:stretch/>
        </p:blipFill>
        <p:spPr>
          <a:xfrm>
            <a:off x="8518912" y="2756557"/>
            <a:ext cx="287124" cy="180000"/>
          </a:xfrm>
          <a:prstGeom prst="rect">
            <a:avLst/>
          </a:prstGeom>
        </p:spPr>
      </p:pic>
      <p:pic>
        <p:nvPicPr>
          <p:cNvPr id="88" name="Picture 87" descr="A blue text on a black background&#10;&#10;AI-generated content may be incorrect.">
            <a:extLst>
              <a:ext uri="{FF2B5EF4-FFF2-40B4-BE49-F238E27FC236}">
                <a16:creationId xmlns:a16="http://schemas.microsoft.com/office/drawing/2014/main" id="{7C7926DC-1CA4-426D-435E-EE93EBD05D99}"/>
              </a:ext>
            </a:extLst>
          </p:cNvPr>
          <p:cNvPicPr>
            <a:picLocks noChangeAspect="1"/>
          </p:cNvPicPr>
          <p:nvPr/>
        </p:nvPicPr>
        <p:blipFill>
          <a:blip r:embed="rId30">
            <a:duotone>
              <a:schemeClr val="bg2">
                <a:shade val="45000"/>
                <a:satMod val="135000"/>
              </a:schemeClr>
              <a:prstClr val="white"/>
            </a:duotone>
            <a:extLst>
              <a:ext uri="{BEBA8EAE-BF5A-486C-A8C5-ECC9F3942E4B}">
                <a14:imgProps xmlns:a14="http://schemas.microsoft.com/office/drawing/2010/main">
                  <a14:imgLayer r:embed="rId31">
                    <a14:imgEffect>
                      <a14:brightnessContrast bright="40000" contrast="-20000"/>
                    </a14:imgEffect>
                  </a14:imgLayer>
                </a14:imgProps>
              </a:ext>
              <a:ext uri="{28A0092B-C50C-407E-A947-70E740481C1C}">
                <a14:useLocalDpi xmlns:a14="http://schemas.microsoft.com/office/drawing/2010/main" val="0"/>
              </a:ext>
            </a:extLst>
          </a:blip>
          <a:stretch>
            <a:fillRect/>
          </a:stretch>
        </p:blipFill>
        <p:spPr>
          <a:xfrm>
            <a:off x="10501791" y="2777658"/>
            <a:ext cx="447157" cy="106601"/>
          </a:xfrm>
          <a:prstGeom prst="rect">
            <a:avLst/>
          </a:prstGeom>
        </p:spPr>
      </p:pic>
      <p:pic>
        <p:nvPicPr>
          <p:cNvPr id="99" name="Picture 98">
            <a:extLst>
              <a:ext uri="{FF2B5EF4-FFF2-40B4-BE49-F238E27FC236}">
                <a16:creationId xmlns:a16="http://schemas.microsoft.com/office/drawing/2014/main" id="{7E3F2434-6969-E3DE-F76F-F5D2E4E68949}"/>
              </a:ext>
            </a:extLst>
          </p:cNvPr>
          <p:cNvPicPr>
            <a:picLocks noChangeAspect="1"/>
          </p:cNvPicPr>
          <p:nvPr/>
        </p:nvPicPr>
        <p:blipFill>
          <a:blip r:embed="rId44">
            <a:duotone>
              <a:schemeClr val="bg2">
                <a:shade val="45000"/>
                <a:satMod val="135000"/>
              </a:schemeClr>
              <a:prstClr val="white"/>
            </a:duotone>
          </a:blip>
          <a:stretch>
            <a:fillRect/>
          </a:stretch>
        </p:blipFill>
        <p:spPr>
          <a:xfrm>
            <a:off x="8397351" y="3194909"/>
            <a:ext cx="801443" cy="314351"/>
          </a:xfrm>
          <a:prstGeom prst="rect">
            <a:avLst/>
          </a:prstGeom>
        </p:spPr>
      </p:pic>
      <p:pic>
        <p:nvPicPr>
          <p:cNvPr id="102" name="Picture 101">
            <a:extLst>
              <a:ext uri="{FF2B5EF4-FFF2-40B4-BE49-F238E27FC236}">
                <a16:creationId xmlns:a16="http://schemas.microsoft.com/office/drawing/2014/main" id="{B47001B6-CF17-EB9E-643C-D976C25C572D}"/>
              </a:ext>
            </a:extLst>
          </p:cNvPr>
          <p:cNvPicPr>
            <a:picLocks noChangeAspect="1"/>
          </p:cNvPicPr>
          <p:nvPr/>
        </p:nvPicPr>
        <p:blipFill rotWithShape="1">
          <a:blip r:embed="rId5" cstate="print">
            <a:duotone>
              <a:srgbClr val="FFFFFF">
                <a:shade val="45000"/>
                <a:satMod val="135000"/>
              </a:srgbClr>
              <a:prstClr val="white"/>
            </a:duotone>
            <a:extLst>
              <a:ext uri="{BEBA8EAE-BF5A-486C-A8C5-ECC9F3942E4B}">
                <a14:imgProps xmlns:a14="http://schemas.microsoft.com/office/drawing/2010/main">
                  <a14:imgLayer r:embed="rId6">
                    <a14:imgEffect>
                      <a14:backgroundRemoval t="30000" b="67500" l="2703" r="95495">
                        <a14:foregroundMark x1="18018" y1="42500" x2="18018" y2="42500"/>
                        <a14:foregroundMark x1="25225" y1="40833" x2="25225" y2="40833"/>
                        <a14:foregroundMark x1="25225" y1="40833" x2="25225" y2="40833"/>
                        <a14:foregroundMark x1="25225" y1="40833" x2="25225" y2="40833"/>
                        <a14:foregroundMark x1="48649" y1="42500" x2="48649" y2="42500"/>
                        <a14:foregroundMark x1="58559" y1="56667" x2="58559" y2="56667"/>
                        <a14:foregroundMark x1="74775" y1="50833" x2="74775" y2="50833"/>
                        <a14:foregroundMark x1="81982" y1="53333" x2="81982" y2="53333"/>
                        <a14:foregroundMark x1="81982" y1="43333" x2="81982" y2="43333"/>
                        <a14:foregroundMark x1="86486" y1="53333" x2="86486" y2="53333"/>
                        <a14:foregroundMark x1="97297" y1="55000" x2="97297" y2="55000"/>
                        <a14:foregroundMark x1="31532" y1="51667" x2="31532" y2="51667"/>
                        <a14:foregroundMark x1="6306" y1="59167" x2="6306" y2="59167"/>
                        <a14:foregroundMark x1="9910" y1="40000" x2="9910" y2="40000"/>
                        <a14:foregroundMark x1="21622" y1="66667" x2="21622" y2="66667"/>
                        <a14:foregroundMark x1="2703" y1="45833" x2="2703" y2="45833"/>
                        <a14:backgroundMark x1="33333" y1="44167" x2="33333" y2="44167"/>
                        <a14:backgroundMark x1="25225" y1="60833" x2="25225" y2="60833"/>
                        <a14:backgroundMark x1="5405" y1="60000" x2="5405" y2="60000"/>
                        <a14:backgroundMark x1="84685" y1="53333" x2="84685" y2="53333"/>
                      </a14:backgroundRemoval>
                    </a14:imgEffect>
                  </a14:imgLayer>
                </a14:imgProps>
              </a:ext>
              <a:ext uri="{28A0092B-C50C-407E-A947-70E740481C1C}">
                <a14:useLocalDpi xmlns:a14="http://schemas.microsoft.com/office/drawing/2010/main"/>
              </a:ext>
            </a:extLst>
          </a:blip>
          <a:srcRect t="25447" b="27723"/>
          <a:stretch/>
        </p:blipFill>
        <p:spPr>
          <a:xfrm>
            <a:off x="10294921" y="1399472"/>
            <a:ext cx="348479" cy="150345"/>
          </a:xfrm>
          <a:prstGeom prst="rect">
            <a:avLst/>
          </a:prstGeom>
        </p:spPr>
      </p:pic>
      <p:pic>
        <p:nvPicPr>
          <p:cNvPr id="104" name="Picture 103">
            <a:extLst>
              <a:ext uri="{FF2B5EF4-FFF2-40B4-BE49-F238E27FC236}">
                <a16:creationId xmlns:a16="http://schemas.microsoft.com/office/drawing/2014/main" id="{E9A9E88F-D97B-423A-1A6E-1CA6E20B47BA}"/>
              </a:ext>
            </a:extLst>
          </p:cNvPr>
          <p:cNvPicPr>
            <a:picLocks noChangeAspect="1"/>
          </p:cNvPicPr>
          <p:nvPr/>
        </p:nvPicPr>
        <p:blipFill>
          <a:blip r:embed="rId45">
            <a:duotone>
              <a:schemeClr val="bg2">
                <a:shade val="45000"/>
                <a:satMod val="135000"/>
              </a:schemeClr>
              <a:prstClr val="white"/>
            </a:duotone>
          </a:blip>
          <a:stretch>
            <a:fillRect/>
          </a:stretch>
        </p:blipFill>
        <p:spPr>
          <a:xfrm>
            <a:off x="11001567" y="2681666"/>
            <a:ext cx="349689" cy="349689"/>
          </a:xfrm>
          <a:prstGeom prst="rect">
            <a:avLst/>
          </a:prstGeom>
        </p:spPr>
      </p:pic>
      <p:pic>
        <p:nvPicPr>
          <p:cNvPr id="105" name="Picture 104">
            <a:extLst>
              <a:ext uri="{FF2B5EF4-FFF2-40B4-BE49-F238E27FC236}">
                <a16:creationId xmlns:a16="http://schemas.microsoft.com/office/drawing/2014/main" id="{E64E6A31-2862-A01A-9B96-96F00DEFE665}"/>
              </a:ext>
            </a:extLst>
          </p:cNvPr>
          <p:cNvPicPr>
            <a:picLocks noChangeAspect="1"/>
          </p:cNvPicPr>
          <p:nvPr/>
        </p:nvPicPr>
        <p:blipFill>
          <a:blip r:embed="rId45">
            <a:duotone>
              <a:schemeClr val="bg2">
                <a:shade val="45000"/>
                <a:satMod val="135000"/>
              </a:schemeClr>
              <a:prstClr val="white"/>
            </a:duotone>
          </a:blip>
          <a:stretch>
            <a:fillRect/>
          </a:stretch>
        </p:blipFill>
        <p:spPr>
          <a:xfrm>
            <a:off x="9008562" y="1076291"/>
            <a:ext cx="349689" cy="349689"/>
          </a:xfrm>
          <a:prstGeom prst="rect">
            <a:avLst/>
          </a:prstGeom>
        </p:spPr>
      </p:pic>
      <p:sp>
        <p:nvSpPr>
          <p:cNvPr id="10" name="TextBox 9">
            <a:extLst>
              <a:ext uri="{FF2B5EF4-FFF2-40B4-BE49-F238E27FC236}">
                <a16:creationId xmlns:a16="http://schemas.microsoft.com/office/drawing/2014/main" id="{4D3351F0-5E37-0504-94E0-B7597FBA5DD4}"/>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12" name="Date Placeholder 5">
            <a:extLst>
              <a:ext uri="{FF2B5EF4-FFF2-40B4-BE49-F238E27FC236}">
                <a16:creationId xmlns:a16="http://schemas.microsoft.com/office/drawing/2014/main" id="{373A67B8-FCFF-A0DF-3BED-A5F8B1CCF767}"/>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22" name="Date Placeholder 5">
            <a:extLst>
              <a:ext uri="{FF2B5EF4-FFF2-40B4-BE49-F238E27FC236}">
                <a16:creationId xmlns:a16="http://schemas.microsoft.com/office/drawing/2014/main" id="{9E1B0515-375E-BE68-69D3-EDF086DDA75B}"/>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23</a:t>
            </a:r>
          </a:p>
        </p:txBody>
      </p:sp>
    </p:spTree>
    <p:extLst>
      <p:ext uri="{BB962C8B-B14F-4D97-AF65-F5344CB8AC3E}">
        <p14:creationId xmlns:p14="http://schemas.microsoft.com/office/powerpoint/2010/main" val="1300307117"/>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F3929-E211-4BF3-C9D1-03A85F6AFA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4B77D-414E-A01E-E840-EC02157FA70B}"/>
              </a:ext>
            </a:extLst>
          </p:cNvPr>
          <p:cNvSpPr>
            <a:spLocks noGrp="1"/>
          </p:cNvSpPr>
          <p:nvPr>
            <p:ph type="title"/>
          </p:nvPr>
        </p:nvSpPr>
        <p:spPr>
          <a:xfrm>
            <a:off x="550339" y="3063874"/>
            <a:ext cx="11090275" cy="1079526"/>
          </a:xfrm>
        </p:spPr>
        <p:txBody>
          <a:bodyPr/>
          <a:lstStyle/>
          <a:p>
            <a:pPr algn="ctr"/>
            <a:r>
              <a:rPr lang="en-US"/>
              <a:t>CREDENTIALS</a:t>
            </a:r>
            <a:endParaRPr lang="en-IN"/>
          </a:p>
        </p:txBody>
      </p:sp>
      <p:pic>
        <p:nvPicPr>
          <p:cNvPr id="5" name="Picture 4">
            <a:extLst>
              <a:ext uri="{FF2B5EF4-FFF2-40B4-BE49-F238E27FC236}">
                <a16:creationId xmlns:a16="http://schemas.microsoft.com/office/drawing/2014/main" id="{9847B147-03E9-FC13-B102-02FCCB071C36}"/>
              </a:ext>
            </a:extLst>
          </p:cNvPr>
          <p:cNvPicPr>
            <a:picLocks noChangeAspect="1"/>
          </p:cNvPicPr>
          <p:nvPr/>
        </p:nvPicPr>
        <p:blipFill>
          <a:blip r:embed="rId2"/>
          <a:stretch>
            <a:fillRect/>
          </a:stretch>
        </p:blipFill>
        <p:spPr>
          <a:xfrm>
            <a:off x="10595509" y="0"/>
            <a:ext cx="1237002" cy="696510"/>
          </a:xfrm>
          <a:prstGeom prst="rect">
            <a:avLst/>
          </a:prstGeom>
        </p:spPr>
      </p:pic>
    </p:spTree>
    <p:extLst>
      <p:ext uri="{BB962C8B-B14F-4D97-AF65-F5344CB8AC3E}">
        <p14:creationId xmlns:p14="http://schemas.microsoft.com/office/powerpoint/2010/main" val="2738221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47CA8-C476-F9F6-B9EB-6754BE993FC3}"/>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B5D7CAB-6E90-A420-6A06-04CE78D7BD49}"/>
              </a:ext>
            </a:extLst>
          </p:cNvPr>
          <p:cNvSpPr/>
          <p:nvPr/>
        </p:nvSpPr>
        <p:spPr>
          <a:xfrm>
            <a:off x="4330117" y="260350"/>
            <a:ext cx="2111323" cy="288926"/>
          </a:xfrm>
          <a:prstGeom prst="roundRect">
            <a:avLst/>
          </a:prstGeom>
          <a:solidFill>
            <a:schemeClr val="accent1">
              <a:lumMod val="40000"/>
              <a:lumOff val="60000"/>
              <a:alpha val="2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a:solidFill>
                  <a:schemeClr val="bg1"/>
                </a:solidFill>
              </a:rPr>
              <a:t>Thought Leadership Research</a:t>
            </a:r>
          </a:p>
        </p:txBody>
      </p:sp>
      <p:sp>
        <p:nvSpPr>
          <p:cNvPr id="8" name="Title 4">
            <a:extLst>
              <a:ext uri="{FF2B5EF4-FFF2-40B4-BE49-F238E27FC236}">
                <a16:creationId xmlns:a16="http://schemas.microsoft.com/office/drawing/2014/main" id="{BF37D235-8C74-8342-587A-46E2F8AB26DC}"/>
              </a:ext>
            </a:extLst>
          </p:cNvPr>
          <p:cNvSpPr>
            <a:spLocks noGrp="1"/>
          </p:cNvSpPr>
          <p:nvPr>
            <p:ph type="title"/>
          </p:nvPr>
        </p:nvSpPr>
        <p:spPr>
          <a:xfrm>
            <a:off x="4351967" y="477818"/>
            <a:ext cx="7432666" cy="1152128"/>
          </a:xfrm>
        </p:spPr>
        <p:txBody>
          <a:bodyPr anchor="ctr"/>
          <a:lstStyle/>
          <a:p>
            <a:r>
              <a:rPr lang="en-US"/>
              <a:t>Research analyzed consumers expectation gaps and suggested six strategic priorities for telcos</a:t>
            </a:r>
          </a:p>
        </p:txBody>
      </p:sp>
      <p:sp>
        <p:nvSpPr>
          <p:cNvPr id="5" name="Text Placeholder 3">
            <a:extLst>
              <a:ext uri="{FF2B5EF4-FFF2-40B4-BE49-F238E27FC236}">
                <a16:creationId xmlns:a16="http://schemas.microsoft.com/office/drawing/2014/main" id="{F7444D6E-6F4D-20FF-DB97-D2068051B8C4}"/>
              </a:ext>
            </a:extLst>
          </p:cNvPr>
          <p:cNvSpPr txBox="1">
            <a:spLocks/>
          </p:cNvSpPr>
          <p:nvPr/>
        </p:nvSpPr>
        <p:spPr>
          <a:xfrm>
            <a:off x="4314672" y="1297330"/>
            <a:ext cx="7696334" cy="4625280"/>
          </a:xfrm>
          <a:prstGeom prst="rect">
            <a:avLst/>
          </a:prstGeom>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rgbClr val="00D5D0"/>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t"/>
            <a:r>
              <a:rPr lang="en-US">
                <a:solidFill>
                  <a:schemeClr val="bg1"/>
                </a:solidFill>
              </a:rPr>
              <a:t>This is the second edition of our B2B Pulse for the telecom industry, an annual study examining the evolving needs, challenges, and experiences of business customers across sectors. </a:t>
            </a:r>
          </a:p>
          <a:p>
            <a:pPr fontAlgn="t"/>
            <a:r>
              <a:rPr lang="en-US">
                <a:solidFill>
                  <a:schemeClr val="bg1"/>
                </a:solidFill>
              </a:rPr>
              <a:t>The report highlights the pain points organizations face with telecom providers (telcos) and identifies six priority areas where providers must improve to strengthen service delivery and unlock greater business value. </a:t>
            </a:r>
          </a:p>
          <a:p>
            <a:pPr fontAlgn="t"/>
            <a:r>
              <a:rPr lang="en-US">
                <a:solidFill>
                  <a:schemeClr val="bg1"/>
                </a:solidFill>
              </a:rPr>
              <a:t>This year’s study identifies the key expectation gaps between what business customers need and  what telcos currently deliver, drawing on insights  from 1,100 organizations across 13 countries and 13 industries, complemented by in-depth  executive interviews. It highlights six priority areas where telcos must improve, spanning  solution relevance, ecosystem orchestration, trust, network intelligence, next-gen services, and digital experiences. </a:t>
            </a:r>
          </a:p>
          <a:p>
            <a:pPr fontAlgn="t"/>
            <a:endParaRPr lang="en-US" sz="200">
              <a:solidFill>
                <a:schemeClr val="bg1"/>
              </a:solidFill>
              <a:hlinkClick r:id="rId3">
                <a:extLst>
                  <a:ext uri="{A12FA001-AC4F-418D-AE19-62706E023703}">
                    <ahyp:hlinkClr xmlns:ahyp="http://schemas.microsoft.com/office/drawing/2018/hyperlinkcolor" val="tx"/>
                  </a:ext>
                </a:extLst>
              </a:hlinkClick>
            </a:endParaRPr>
          </a:p>
          <a:p>
            <a:pPr fontAlgn="t"/>
            <a:r>
              <a:rPr lang="en-US">
                <a:solidFill>
                  <a:schemeClr val="bg1"/>
                </a:solidFill>
                <a:hlinkClick r:id="rId4">
                  <a:extLst>
                    <a:ext uri="{A12FA001-AC4F-418D-AE19-62706E023703}">
                      <ahyp:hlinkClr xmlns:ahyp="http://schemas.microsoft.com/office/drawing/2018/hyperlinkcolor" val="tx"/>
                    </a:ext>
                  </a:extLst>
                </a:hlinkClick>
              </a:rPr>
              <a:t>Read our report to know more</a:t>
            </a:r>
            <a:endParaRPr lang="en-US">
              <a:solidFill>
                <a:schemeClr val="bg1"/>
              </a:solidFill>
            </a:endParaRPr>
          </a:p>
        </p:txBody>
      </p:sp>
      <p:pic>
        <p:nvPicPr>
          <p:cNvPr id="6" name="Picture 5">
            <a:extLst>
              <a:ext uri="{FF2B5EF4-FFF2-40B4-BE49-F238E27FC236}">
                <a16:creationId xmlns:a16="http://schemas.microsoft.com/office/drawing/2014/main" id="{4C2A9C74-AA63-6A61-240C-616CBE0755E6}"/>
              </a:ext>
            </a:extLst>
          </p:cNvPr>
          <p:cNvPicPr>
            <a:picLocks noChangeAspect="1"/>
          </p:cNvPicPr>
          <p:nvPr/>
        </p:nvPicPr>
        <p:blipFill>
          <a:blip r:embed="rId5"/>
          <a:srcRect l="27246" r="27246"/>
          <a:stretch>
            <a:fillRect/>
          </a:stretch>
        </p:blipFill>
        <p:spPr>
          <a:xfrm>
            <a:off x="407367" y="0"/>
            <a:ext cx="3312368" cy="6858000"/>
          </a:xfrm>
          <a:prstGeom prst="rect">
            <a:avLst/>
          </a:prstGeom>
        </p:spPr>
      </p:pic>
      <p:pic>
        <p:nvPicPr>
          <p:cNvPr id="7" name="Picture 6">
            <a:extLst>
              <a:ext uri="{FF2B5EF4-FFF2-40B4-BE49-F238E27FC236}">
                <a16:creationId xmlns:a16="http://schemas.microsoft.com/office/drawing/2014/main" id="{5D428B2C-A300-C0E8-0D9B-AEF98C407E48}"/>
              </a:ext>
            </a:extLst>
          </p:cNvPr>
          <p:cNvPicPr>
            <a:picLocks noChangeAspect="1"/>
          </p:cNvPicPr>
          <p:nvPr/>
        </p:nvPicPr>
        <p:blipFill>
          <a:blip r:embed="rId6"/>
          <a:stretch>
            <a:fillRect/>
          </a:stretch>
        </p:blipFill>
        <p:spPr>
          <a:xfrm>
            <a:off x="8328246" y="4563815"/>
            <a:ext cx="3312368" cy="1838431"/>
          </a:xfrm>
          <a:prstGeom prst="rect">
            <a:avLst/>
          </a:prstGeom>
        </p:spPr>
      </p:pic>
      <p:pic>
        <p:nvPicPr>
          <p:cNvPr id="10" name="Picture 9">
            <a:extLst>
              <a:ext uri="{FF2B5EF4-FFF2-40B4-BE49-F238E27FC236}">
                <a16:creationId xmlns:a16="http://schemas.microsoft.com/office/drawing/2014/main" id="{D5AEACC3-04D0-F47B-E9A9-8D54B169F43A}"/>
              </a:ext>
            </a:extLst>
          </p:cNvPr>
          <p:cNvPicPr>
            <a:picLocks noChangeAspect="1"/>
          </p:cNvPicPr>
          <p:nvPr/>
        </p:nvPicPr>
        <p:blipFill>
          <a:blip r:embed="rId7"/>
          <a:stretch>
            <a:fillRect/>
          </a:stretch>
        </p:blipFill>
        <p:spPr>
          <a:xfrm>
            <a:off x="4261537" y="4563815"/>
            <a:ext cx="3312368" cy="1861715"/>
          </a:xfrm>
          <a:prstGeom prst="rect">
            <a:avLst/>
          </a:prstGeom>
        </p:spPr>
      </p:pic>
      <p:sp>
        <p:nvSpPr>
          <p:cNvPr id="3" name="Date Placeholder 5">
            <a:extLst>
              <a:ext uri="{FF2B5EF4-FFF2-40B4-BE49-F238E27FC236}">
                <a16:creationId xmlns:a16="http://schemas.microsoft.com/office/drawing/2014/main" id="{438B5699-5D05-B1E0-70CD-BB06C0453D51}"/>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25</a:t>
            </a:r>
          </a:p>
        </p:txBody>
      </p:sp>
    </p:spTree>
    <p:extLst>
      <p:ext uri="{BB962C8B-B14F-4D97-AF65-F5344CB8AC3E}">
        <p14:creationId xmlns:p14="http://schemas.microsoft.com/office/powerpoint/2010/main" val="6152088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002EC-A8A9-BBEE-992C-4AEAB2033D12}"/>
            </a:ext>
          </a:extLst>
        </p:cNvPr>
        <p:cNvGrpSpPr/>
        <p:nvPr/>
      </p:nvGrpSpPr>
      <p:grpSpPr>
        <a:xfrm>
          <a:off x="0" y="0"/>
          <a:ext cx="0" cy="0"/>
          <a:chOff x="0" y="0"/>
          <a:chExt cx="0" cy="0"/>
        </a:xfrm>
      </p:grpSpPr>
      <p:sp>
        <p:nvSpPr>
          <p:cNvPr id="8" name="Title 4">
            <a:extLst>
              <a:ext uri="{FF2B5EF4-FFF2-40B4-BE49-F238E27FC236}">
                <a16:creationId xmlns:a16="http://schemas.microsoft.com/office/drawing/2014/main" id="{65D0714B-121A-8647-AF19-65650F6299F0}"/>
              </a:ext>
            </a:extLst>
          </p:cNvPr>
          <p:cNvSpPr>
            <a:spLocks noGrp="1"/>
          </p:cNvSpPr>
          <p:nvPr>
            <p:ph type="title"/>
          </p:nvPr>
        </p:nvSpPr>
        <p:spPr>
          <a:xfrm>
            <a:off x="4351967" y="550970"/>
            <a:ext cx="7548346" cy="1152128"/>
          </a:xfrm>
        </p:spPr>
        <p:txBody>
          <a:bodyPr anchor="ctr"/>
          <a:lstStyle/>
          <a:p>
            <a:r>
              <a:rPr lang="en-US"/>
              <a:t>As telecom industry is steadily moving toward autonomous networks, our research identified and  highlighted hurdles for telecom players</a:t>
            </a:r>
          </a:p>
        </p:txBody>
      </p:sp>
      <p:sp>
        <p:nvSpPr>
          <p:cNvPr id="5" name="Text Placeholder 3">
            <a:extLst>
              <a:ext uri="{FF2B5EF4-FFF2-40B4-BE49-F238E27FC236}">
                <a16:creationId xmlns:a16="http://schemas.microsoft.com/office/drawing/2014/main" id="{9DBE332A-F2C0-65C0-56BA-B8AFD6CD6593}"/>
              </a:ext>
            </a:extLst>
          </p:cNvPr>
          <p:cNvSpPr txBox="1">
            <a:spLocks/>
          </p:cNvSpPr>
          <p:nvPr/>
        </p:nvSpPr>
        <p:spPr>
          <a:xfrm>
            <a:off x="4314672" y="1551076"/>
            <a:ext cx="7696334" cy="4625280"/>
          </a:xfrm>
          <a:prstGeom prst="rect">
            <a:avLst/>
          </a:prstGeom>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rgbClr val="00D5D0"/>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t"/>
            <a:r>
              <a:rPr lang="en-US">
                <a:solidFill>
                  <a:schemeClr val="bg1"/>
                </a:solidFill>
              </a:rPr>
              <a:t>While most telcos (84%) currently reside at Level 1 or Level 2 autonomy for their overall networks, aspirations for higher levels of automation remain optimistic. Over 60% of operators aim to reach Level 3 autonomy or higher by 2028. However, the path to full autonomy is fraught with challenges, both technological and organizational.</a:t>
            </a:r>
          </a:p>
          <a:p>
            <a:pPr fontAlgn="t"/>
            <a:r>
              <a:rPr lang="en-US">
                <a:solidFill>
                  <a:schemeClr val="bg1"/>
                </a:solidFill>
              </a:rPr>
              <a:t>In this Capgemini Research Institute report, </a:t>
            </a:r>
            <a:r>
              <a:rPr lang="en-US" b="1">
                <a:solidFill>
                  <a:schemeClr val="bg1"/>
                </a:solidFill>
              </a:rPr>
              <a:t>ranked No 3 by Source Global</a:t>
            </a:r>
            <a:r>
              <a:rPr lang="en-US">
                <a:solidFill>
                  <a:schemeClr val="bg1"/>
                </a:solidFill>
              </a:rPr>
              <a:t> among 400+ reports in 2024, Networks with intelligence: Why and how the telecom sector should accelerate its autonomous networks journeys, we provide comprehensive insights into the importance of autonomous networks for telcos and how these autonomous networks are best implemented. </a:t>
            </a:r>
          </a:p>
          <a:p>
            <a:pPr fontAlgn="t"/>
            <a:r>
              <a:rPr lang="en-US">
                <a:solidFill>
                  <a:schemeClr val="bg1"/>
                </a:solidFill>
              </a:rPr>
              <a:t>The report found that some of the biggest obstacles hindering progress toward autonomy are the mindset of employees, integration issues, and regulatory concerns around data sovereignty.</a:t>
            </a:r>
          </a:p>
          <a:p>
            <a:pPr fontAlgn="t"/>
            <a:endParaRPr lang="en-US" sz="200">
              <a:solidFill>
                <a:schemeClr val="bg1"/>
              </a:solidFill>
              <a:hlinkClick r:id="rId3">
                <a:extLst>
                  <a:ext uri="{A12FA001-AC4F-418D-AE19-62706E023703}">
                    <ahyp:hlinkClr xmlns:ahyp="http://schemas.microsoft.com/office/drawing/2018/hyperlinkcolor" val="tx"/>
                  </a:ext>
                </a:extLst>
              </a:hlinkClick>
            </a:endParaRPr>
          </a:p>
          <a:p>
            <a:pPr fontAlgn="t"/>
            <a:r>
              <a:rPr lang="en-US">
                <a:solidFill>
                  <a:schemeClr val="bg1"/>
                </a:solidFill>
                <a:hlinkClick r:id="rId4">
                  <a:extLst>
                    <a:ext uri="{A12FA001-AC4F-418D-AE19-62706E023703}">
                      <ahyp:hlinkClr xmlns:ahyp="http://schemas.microsoft.com/office/drawing/2018/hyperlinkcolor" val="tx"/>
                    </a:ext>
                  </a:extLst>
                </a:hlinkClick>
              </a:rPr>
              <a:t>Read our report to know more</a:t>
            </a:r>
            <a:endParaRPr lang="en-US">
              <a:solidFill>
                <a:schemeClr val="bg1"/>
              </a:solidFill>
            </a:endParaRPr>
          </a:p>
        </p:txBody>
      </p:sp>
      <p:pic>
        <p:nvPicPr>
          <p:cNvPr id="12" name="Picture 11">
            <a:extLst>
              <a:ext uri="{FF2B5EF4-FFF2-40B4-BE49-F238E27FC236}">
                <a16:creationId xmlns:a16="http://schemas.microsoft.com/office/drawing/2014/main" id="{891961B8-66BD-A56F-4F49-4B8CC2389A25}"/>
              </a:ext>
            </a:extLst>
          </p:cNvPr>
          <p:cNvPicPr>
            <a:picLocks noChangeAspect="1"/>
          </p:cNvPicPr>
          <p:nvPr/>
        </p:nvPicPr>
        <p:blipFill>
          <a:blip r:embed="rId5"/>
          <a:stretch>
            <a:fillRect/>
          </a:stretch>
        </p:blipFill>
        <p:spPr>
          <a:xfrm>
            <a:off x="143699" y="249239"/>
            <a:ext cx="3944600" cy="5968351"/>
          </a:xfrm>
          <a:prstGeom prst="rect">
            <a:avLst/>
          </a:prstGeom>
        </p:spPr>
      </p:pic>
      <p:pic>
        <p:nvPicPr>
          <p:cNvPr id="14" name="Picture 13">
            <a:extLst>
              <a:ext uri="{FF2B5EF4-FFF2-40B4-BE49-F238E27FC236}">
                <a16:creationId xmlns:a16="http://schemas.microsoft.com/office/drawing/2014/main" id="{17DE9A22-F696-FF62-954C-5A373E9C0D67}"/>
              </a:ext>
            </a:extLst>
          </p:cNvPr>
          <p:cNvPicPr>
            <a:picLocks noChangeAspect="1"/>
          </p:cNvPicPr>
          <p:nvPr/>
        </p:nvPicPr>
        <p:blipFill>
          <a:blip r:embed="rId6"/>
          <a:stretch>
            <a:fillRect/>
          </a:stretch>
        </p:blipFill>
        <p:spPr>
          <a:xfrm>
            <a:off x="4938665" y="4944962"/>
            <a:ext cx="2515627" cy="1552436"/>
          </a:xfrm>
          <a:prstGeom prst="rect">
            <a:avLst/>
          </a:prstGeom>
        </p:spPr>
      </p:pic>
      <p:pic>
        <p:nvPicPr>
          <p:cNvPr id="16" name="Picture 15">
            <a:extLst>
              <a:ext uri="{FF2B5EF4-FFF2-40B4-BE49-F238E27FC236}">
                <a16:creationId xmlns:a16="http://schemas.microsoft.com/office/drawing/2014/main" id="{6A78FA75-7CF9-3663-678C-897B222FEC27}"/>
              </a:ext>
            </a:extLst>
          </p:cNvPr>
          <p:cNvPicPr>
            <a:picLocks noChangeAspect="1"/>
          </p:cNvPicPr>
          <p:nvPr/>
        </p:nvPicPr>
        <p:blipFill>
          <a:blip r:embed="rId7"/>
          <a:stretch>
            <a:fillRect/>
          </a:stretch>
        </p:blipFill>
        <p:spPr>
          <a:xfrm>
            <a:off x="8528566" y="4930617"/>
            <a:ext cx="2515627" cy="1552436"/>
          </a:xfrm>
          <a:prstGeom prst="rect">
            <a:avLst/>
          </a:prstGeom>
        </p:spPr>
      </p:pic>
      <p:sp>
        <p:nvSpPr>
          <p:cNvPr id="2" name="Rectangle: Rounded Corners 1">
            <a:extLst>
              <a:ext uri="{FF2B5EF4-FFF2-40B4-BE49-F238E27FC236}">
                <a16:creationId xmlns:a16="http://schemas.microsoft.com/office/drawing/2014/main" id="{16BCF941-E93F-12FE-DD67-91DBFBF5300F}"/>
              </a:ext>
            </a:extLst>
          </p:cNvPr>
          <p:cNvSpPr/>
          <p:nvPr/>
        </p:nvSpPr>
        <p:spPr>
          <a:xfrm>
            <a:off x="4330117" y="260350"/>
            <a:ext cx="2111323" cy="288926"/>
          </a:xfrm>
          <a:prstGeom prst="roundRect">
            <a:avLst/>
          </a:prstGeom>
          <a:solidFill>
            <a:schemeClr val="accent1">
              <a:lumMod val="40000"/>
              <a:lumOff val="60000"/>
              <a:alpha val="2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a:solidFill>
                  <a:schemeClr val="bg1"/>
                </a:solidFill>
              </a:rPr>
              <a:t>Thought Leadership Research</a:t>
            </a:r>
          </a:p>
        </p:txBody>
      </p:sp>
      <p:sp>
        <p:nvSpPr>
          <p:cNvPr id="3" name="TextBox 2">
            <a:extLst>
              <a:ext uri="{FF2B5EF4-FFF2-40B4-BE49-F238E27FC236}">
                <a16:creationId xmlns:a16="http://schemas.microsoft.com/office/drawing/2014/main" id="{91B2CFFB-AA43-B2A3-9B00-8A5DC6E27531}"/>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6" name="Date Placeholder 5">
            <a:extLst>
              <a:ext uri="{FF2B5EF4-FFF2-40B4-BE49-F238E27FC236}">
                <a16:creationId xmlns:a16="http://schemas.microsoft.com/office/drawing/2014/main" id="{25D13423-FB01-0666-4D50-1F32D5FB65B2}"/>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26</a:t>
            </a:r>
          </a:p>
        </p:txBody>
      </p:sp>
    </p:spTree>
    <p:extLst>
      <p:ext uri="{BB962C8B-B14F-4D97-AF65-F5344CB8AC3E}">
        <p14:creationId xmlns:p14="http://schemas.microsoft.com/office/powerpoint/2010/main" val="2954187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F0F89-F9A8-1B93-FAA4-513F602D431B}"/>
            </a:ext>
          </a:extLst>
        </p:cNvPr>
        <p:cNvGrpSpPr/>
        <p:nvPr/>
      </p:nvGrpSpPr>
      <p:grpSpPr>
        <a:xfrm>
          <a:off x="0" y="0"/>
          <a:ext cx="0" cy="0"/>
          <a:chOff x="0" y="0"/>
          <a:chExt cx="0" cy="0"/>
        </a:xfrm>
      </p:grpSpPr>
      <p:sp>
        <p:nvSpPr>
          <p:cNvPr id="4" name="Titre 7">
            <a:extLst>
              <a:ext uri="{FF2B5EF4-FFF2-40B4-BE49-F238E27FC236}">
                <a16:creationId xmlns:a16="http://schemas.microsoft.com/office/drawing/2014/main" id="{728F66ED-DDA2-F67E-1DEB-6FFCE2D3FFC9}"/>
              </a:ext>
            </a:extLst>
          </p:cNvPr>
          <p:cNvSpPr>
            <a:spLocks noGrp="1"/>
          </p:cNvSpPr>
          <p:nvPr>
            <p:ph type="title"/>
          </p:nvPr>
        </p:nvSpPr>
        <p:spPr>
          <a:xfrm>
            <a:off x="550863" y="270297"/>
            <a:ext cx="10114538" cy="705075"/>
          </a:xfrm>
        </p:spPr>
        <p:txBody>
          <a:bodyPr>
            <a:noAutofit/>
          </a:bodyPr>
          <a:lstStyle/>
          <a:p>
            <a:r>
              <a:rPr lang="en-US" sz="2400"/>
              <a:t>Structured Approach to Scaling Enterprise Growth – From Market Insight to Strategic Choices</a:t>
            </a:r>
            <a:endParaRPr lang="fr-FR" sz="2400"/>
          </a:p>
        </p:txBody>
      </p:sp>
      <p:grpSp>
        <p:nvGrpSpPr>
          <p:cNvPr id="5" name="Group 4">
            <a:extLst>
              <a:ext uri="{FF2B5EF4-FFF2-40B4-BE49-F238E27FC236}">
                <a16:creationId xmlns:a16="http://schemas.microsoft.com/office/drawing/2014/main" id="{808D5FF1-A86B-7E08-3546-440E14748CAC}"/>
              </a:ext>
            </a:extLst>
          </p:cNvPr>
          <p:cNvGrpSpPr/>
          <p:nvPr/>
        </p:nvGrpSpPr>
        <p:grpSpPr>
          <a:xfrm>
            <a:off x="0" y="1662899"/>
            <a:ext cx="12192000" cy="4614646"/>
            <a:chOff x="0" y="2268383"/>
            <a:chExt cx="12192000" cy="4614646"/>
          </a:xfrm>
        </p:grpSpPr>
        <p:grpSp>
          <p:nvGrpSpPr>
            <p:cNvPr id="6" name="Group 5">
              <a:extLst>
                <a:ext uri="{FF2B5EF4-FFF2-40B4-BE49-F238E27FC236}">
                  <a16:creationId xmlns:a16="http://schemas.microsoft.com/office/drawing/2014/main" id="{00754F2B-A399-2D4A-5971-5D8584990E28}"/>
                </a:ext>
              </a:extLst>
            </p:cNvPr>
            <p:cNvGrpSpPr/>
            <p:nvPr/>
          </p:nvGrpSpPr>
          <p:grpSpPr>
            <a:xfrm>
              <a:off x="0" y="2268383"/>
              <a:ext cx="12192000" cy="4614646"/>
              <a:chOff x="0" y="1906433"/>
              <a:chExt cx="12192000" cy="4614646"/>
            </a:xfrm>
          </p:grpSpPr>
          <p:sp>
            <p:nvSpPr>
              <p:cNvPr id="36" name="Oval 35">
                <a:extLst>
                  <a:ext uri="{FF2B5EF4-FFF2-40B4-BE49-F238E27FC236}">
                    <a16:creationId xmlns:a16="http://schemas.microsoft.com/office/drawing/2014/main" id="{F4ADF1CC-0464-4F7B-988D-C18507CE9D19}"/>
                  </a:ext>
                </a:extLst>
              </p:cNvPr>
              <p:cNvSpPr/>
              <p:nvPr/>
            </p:nvSpPr>
            <p:spPr>
              <a:xfrm>
                <a:off x="1436132" y="201556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37" name="Oval 36">
                <a:extLst>
                  <a:ext uri="{FF2B5EF4-FFF2-40B4-BE49-F238E27FC236}">
                    <a16:creationId xmlns:a16="http://schemas.microsoft.com/office/drawing/2014/main" id="{4A6399D6-D714-957C-E1A6-9583BE68D5B9}"/>
                  </a:ext>
                </a:extLst>
              </p:cNvPr>
              <p:cNvSpPr/>
              <p:nvPr/>
            </p:nvSpPr>
            <p:spPr>
              <a:xfrm>
                <a:off x="4611455" y="201556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38" name="Oval 37">
                <a:extLst>
                  <a:ext uri="{FF2B5EF4-FFF2-40B4-BE49-F238E27FC236}">
                    <a16:creationId xmlns:a16="http://schemas.microsoft.com/office/drawing/2014/main" id="{167D7215-CFF1-5609-277A-4E06119A86E4}"/>
                  </a:ext>
                </a:extLst>
              </p:cNvPr>
              <p:cNvSpPr/>
              <p:nvPr/>
            </p:nvSpPr>
            <p:spPr>
              <a:xfrm>
                <a:off x="7478647" y="201556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39" name="Oval 38">
                <a:extLst>
                  <a:ext uri="{FF2B5EF4-FFF2-40B4-BE49-F238E27FC236}">
                    <a16:creationId xmlns:a16="http://schemas.microsoft.com/office/drawing/2014/main" id="{99FC7906-D173-5F96-8E57-C14542CCC5F3}"/>
                  </a:ext>
                </a:extLst>
              </p:cNvPr>
              <p:cNvSpPr/>
              <p:nvPr/>
            </p:nvSpPr>
            <p:spPr>
              <a:xfrm>
                <a:off x="10107634" y="201556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p:txBody>
          </p:sp>
          <p:sp>
            <p:nvSpPr>
              <p:cNvPr id="40" name="Oval 39">
                <a:extLst>
                  <a:ext uri="{FF2B5EF4-FFF2-40B4-BE49-F238E27FC236}">
                    <a16:creationId xmlns:a16="http://schemas.microsoft.com/office/drawing/2014/main" id="{F06865E4-076F-028A-19F2-5A10160CE71E}"/>
                  </a:ext>
                </a:extLst>
              </p:cNvPr>
              <p:cNvSpPr/>
              <p:nvPr/>
            </p:nvSpPr>
            <p:spPr>
              <a:xfrm>
                <a:off x="1338580" y="1906433"/>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41" name="Oval 40">
                <a:extLst>
                  <a:ext uri="{FF2B5EF4-FFF2-40B4-BE49-F238E27FC236}">
                    <a16:creationId xmlns:a16="http://schemas.microsoft.com/office/drawing/2014/main" id="{F07F777C-78FF-509B-DCB3-8ED8185AE59D}"/>
                  </a:ext>
                </a:extLst>
              </p:cNvPr>
              <p:cNvSpPr/>
              <p:nvPr/>
            </p:nvSpPr>
            <p:spPr>
              <a:xfrm>
                <a:off x="4513903" y="1906433"/>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42" name="Oval 41">
                <a:extLst>
                  <a:ext uri="{FF2B5EF4-FFF2-40B4-BE49-F238E27FC236}">
                    <a16:creationId xmlns:a16="http://schemas.microsoft.com/office/drawing/2014/main" id="{93789A33-CC05-8953-0292-50E290D8EA92}"/>
                  </a:ext>
                </a:extLst>
              </p:cNvPr>
              <p:cNvSpPr/>
              <p:nvPr/>
            </p:nvSpPr>
            <p:spPr>
              <a:xfrm>
                <a:off x="7381095" y="1906433"/>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43" name="Oval 42">
                <a:extLst>
                  <a:ext uri="{FF2B5EF4-FFF2-40B4-BE49-F238E27FC236}">
                    <a16:creationId xmlns:a16="http://schemas.microsoft.com/office/drawing/2014/main" id="{D0DD6C71-0734-6BD0-B9EA-28D9244C94F4}"/>
                  </a:ext>
                </a:extLst>
              </p:cNvPr>
              <p:cNvSpPr/>
              <p:nvPr/>
            </p:nvSpPr>
            <p:spPr>
              <a:xfrm>
                <a:off x="10010082" y="1906433"/>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p:txBody>
          </p:sp>
          <p:sp>
            <p:nvSpPr>
              <p:cNvPr id="44" name="Rectangle 43">
                <a:extLst>
                  <a:ext uri="{FF2B5EF4-FFF2-40B4-BE49-F238E27FC236}">
                    <a16:creationId xmlns:a16="http://schemas.microsoft.com/office/drawing/2014/main" id="{0685A4CD-6509-A551-6B14-B2761CEEB215}"/>
                  </a:ext>
                </a:extLst>
              </p:cNvPr>
              <p:cNvSpPr/>
              <p:nvPr/>
            </p:nvSpPr>
            <p:spPr>
              <a:xfrm>
                <a:off x="0" y="2692997"/>
                <a:ext cx="12192000" cy="765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Ubuntu Light" panose="020B0304030602030204" pitchFamily="34" charset="0"/>
                </a:endParaRPr>
              </a:p>
            </p:txBody>
          </p:sp>
          <p:sp>
            <p:nvSpPr>
              <p:cNvPr id="45" name="Rectangle 44">
                <a:extLst>
                  <a:ext uri="{FF2B5EF4-FFF2-40B4-BE49-F238E27FC236}">
                    <a16:creationId xmlns:a16="http://schemas.microsoft.com/office/drawing/2014/main" id="{52B32E26-43C9-7665-FF32-18B6474DBCF4}"/>
                  </a:ext>
                </a:extLst>
              </p:cNvPr>
              <p:cNvSpPr/>
              <p:nvPr/>
            </p:nvSpPr>
            <p:spPr>
              <a:xfrm>
                <a:off x="419100" y="2773877"/>
                <a:ext cx="3302000"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IN" sz="1400" b="1">
                    <a:solidFill>
                      <a:schemeClr val="bg1"/>
                    </a:solidFill>
                    <a:latin typeface="Ubuntu Light" panose="020B0304030602030204" pitchFamily="34" charset="0"/>
                    <a:ea typeface="Verdana" panose="020B0604030504040204" pitchFamily="34" charset="0"/>
                  </a:rPr>
                  <a:t>Business </a:t>
                </a:r>
              </a:p>
              <a:p>
                <a:pPr lvl="0" algn="ctr">
                  <a:buClr>
                    <a:srgbClr val="0070AD"/>
                  </a:buClr>
                  <a:buSzPct val="120000"/>
                  <a:defRPr/>
                </a:pPr>
                <a:r>
                  <a:rPr lang="en-IN" sz="1400" b="1">
                    <a:solidFill>
                      <a:schemeClr val="bg1"/>
                    </a:solidFill>
                    <a:latin typeface="Ubuntu Light" panose="020B0304030602030204" pitchFamily="34" charset="0"/>
                    <a:ea typeface="Verdana" panose="020B0604030504040204" pitchFamily="34" charset="0"/>
                  </a:rPr>
                  <a:t>Problem</a:t>
                </a:r>
              </a:p>
            </p:txBody>
          </p:sp>
          <p:sp>
            <p:nvSpPr>
              <p:cNvPr id="46" name="Rectangle 45">
                <a:extLst>
                  <a:ext uri="{FF2B5EF4-FFF2-40B4-BE49-F238E27FC236}">
                    <a16:creationId xmlns:a16="http://schemas.microsoft.com/office/drawing/2014/main" id="{08DDFB59-89B5-2472-2AE7-9A0D59208E29}"/>
                  </a:ext>
                </a:extLst>
              </p:cNvPr>
              <p:cNvSpPr/>
              <p:nvPr/>
            </p:nvSpPr>
            <p:spPr>
              <a:xfrm>
                <a:off x="4201214" y="2773877"/>
                <a:ext cx="2170926"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Why we </a:t>
                </a: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were chosen </a:t>
                </a: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47" name="Rectangle 46">
                <a:extLst>
                  <a:ext uri="{FF2B5EF4-FFF2-40B4-BE49-F238E27FC236}">
                    <a16:creationId xmlns:a16="http://schemas.microsoft.com/office/drawing/2014/main" id="{55740D0E-E28F-05BA-7EBC-55A9948DF053}"/>
                  </a:ext>
                </a:extLst>
              </p:cNvPr>
              <p:cNvSpPr/>
              <p:nvPr/>
            </p:nvSpPr>
            <p:spPr>
              <a:xfrm>
                <a:off x="6879264" y="2773877"/>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rPr>
                  <a:t>Solution</a:t>
                </a:r>
              </a:p>
            </p:txBody>
          </p:sp>
          <p:sp>
            <p:nvSpPr>
              <p:cNvPr id="48" name="Rectangle 47">
                <a:extLst>
                  <a:ext uri="{FF2B5EF4-FFF2-40B4-BE49-F238E27FC236}">
                    <a16:creationId xmlns:a16="http://schemas.microsoft.com/office/drawing/2014/main" id="{6923912F-9525-805C-C20A-DB149BABB0ED}"/>
                  </a:ext>
                </a:extLst>
              </p:cNvPr>
              <p:cNvSpPr/>
              <p:nvPr/>
            </p:nvSpPr>
            <p:spPr>
              <a:xfrm>
                <a:off x="9508251" y="2773877"/>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Business </a:t>
                </a: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Benefits</a:t>
                </a:r>
                <a:br>
                  <a:rPr lang="en-US" sz="1400" b="1">
                    <a:solidFill>
                      <a:schemeClr val="bg1"/>
                    </a:solidFill>
                    <a:latin typeface="Ubuntu Light" panose="020B0304030602030204" pitchFamily="34" charset="0"/>
                    <a:ea typeface="Verdana" panose="020B0604030504040204" pitchFamily="34" charset="0"/>
                  </a:rPr>
                </a:br>
                <a:endParaRPr lang="en-US" sz="1400" b="1">
                  <a:solidFill>
                    <a:schemeClr val="bg1"/>
                  </a:solidFill>
                  <a:latin typeface="Ubuntu Light" panose="020B0304030602030204" pitchFamily="34" charset="0"/>
                  <a:ea typeface="Verdana" panose="020B0604030504040204" pitchFamily="34" charset="0"/>
                </a:endParaRPr>
              </a:p>
            </p:txBody>
          </p:sp>
          <p:cxnSp>
            <p:nvCxnSpPr>
              <p:cNvPr id="50" name="Straight Connector 49">
                <a:extLst>
                  <a:ext uri="{FF2B5EF4-FFF2-40B4-BE49-F238E27FC236}">
                    <a16:creationId xmlns:a16="http://schemas.microsoft.com/office/drawing/2014/main" id="{8C56F1EF-9F4E-C744-F754-4A5B6A517EF3}"/>
                  </a:ext>
                </a:extLst>
              </p:cNvPr>
              <p:cNvCxnSpPr/>
              <p:nvPr/>
            </p:nvCxnSpPr>
            <p:spPr>
              <a:xfrm>
                <a:off x="3721100"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C546210-6938-A147-2597-735015E8405D}"/>
                  </a:ext>
                </a:extLst>
              </p:cNvPr>
              <p:cNvCxnSpPr/>
              <p:nvPr/>
            </p:nvCxnSpPr>
            <p:spPr>
              <a:xfrm>
                <a:off x="6682631"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3589E66-12B5-3D38-3EB3-D0AA3A8966F9}"/>
                  </a:ext>
                </a:extLst>
              </p:cNvPr>
              <p:cNvCxnSpPr/>
              <p:nvPr/>
            </p:nvCxnSpPr>
            <p:spPr>
              <a:xfrm>
                <a:off x="9523375"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2244301-5D37-68A2-6C2F-46985519869B}"/>
                  </a:ext>
                </a:extLst>
              </p:cNvPr>
              <p:cNvCxnSpPr>
                <a:cxnSpLocks/>
              </p:cNvCxnSpPr>
              <p:nvPr/>
            </p:nvCxnSpPr>
            <p:spPr>
              <a:xfrm>
                <a:off x="6682631" y="3285849"/>
                <a:ext cx="0" cy="259107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27ACC1A-4E08-50E3-8AC1-42FF6E3954B0}"/>
                  </a:ext>
                </a:extLst>
              </p:cNvPr>
              <p:cNvCxnSpPr>
                <a:cxnSpLocks/>
              </p:cNvCxnSpPr>
              <p:nvPr/>
            </p:nvCxnSpPr>
            <p:spPr>
              <a:xfrm>
                <a:off x="9523375" y="3285849"/>
                <a:ext cx="0" cy="259107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B52EA9EE-1626-1A63-A4E5-C749547BB5F8}"/>
                  </a:ext>
                </a:extLst>
              </p:cNvPr>
              <p:cNvSpPr/>
              <p:nvPr/>
            </p:nvSpPr>
            <p:spPr>
              <a:xfrm>
                <a:off x="228600" y="3874506"/>
                <a:ext cx="3302000"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kumimoji="0" lang="en-US" sz="1100" b="1" i="0" u="none" strike="noStrike" kern="1200" cap="none" spc="0" normalizeH="0" baseline="0" noProof="0">
                    <a:ln>
                      <a:noFill/>
                    </a:ln>
                    <a:solidFill>
                      <a:schemeClr val="bg1"/>
                    </a:solidFill>
                    <a:effectLst/>
                    <a:uLnTx/>
                    <a:uFillTx/>
                    <a:latin typeface="Ubuntu Light" panose="020B0304030602030204" pitchFamily="34" charset="0"/>
                  </a:rPr>
                  <a:t>Losing market share</a:t>
                </a:r>
                <a:r>
                  <a:rPr kumimoji="0" lang="en-US" sz="1100" b="0" i="0" u="none" strike="noStrike" kern="1200" cap="none" spc="0" normalizeH="0" baseline="0" noProof="0">
                    <a:ln>
                      <a:noFill/>
                    </a:ln>
                    <a:solidFill>
                      <a:schemeClr val="bg1"/>
                    </a:solidFill>
                    <a:effectLst/>
                    <a:uLnTx/>
                    <a:uFillTx/>
                    <a:latin typeface="Ubuntu Light" panose="020B0304030602030204" pitchFamily="34" charset="0"/>
                  </a:rPr>
                  <a:t> in B2B space to its nearest competitor</a:t>
                </a:r>
              </a:p>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kumimoji="0" lang="en-US" sz="1100" b="1" i="0" u="none" strike="noStrike" kern="1200" cap="none" spc="0" normalizeH="0" baseline="0" noProof="0">
                    <a:ln>
                      <a:noFill/>
                    </a:ln>
                    <a:solidFill>
                      <a:schemeClr val="bg1"/>
                    </a:solidFill>
                    <a:effectLst/>
                    <a:uLnTx/>
                    <a:uFillTx/>
                    <a:latin typeface="Ubuntu Light" panose="020B0304030602030204" pitchFamily="34" charset="0"/>
                  </a:rPr>
                  <a:t>Lack of automation</a:t>
                </a:r>
                <a:r>
                  <a:rPr kumimoji="0" lang="en-US" sz="1100" b="0" i="0" u="none" strike="noStrike" kern="1200" cap="none" spc="0" normalizeH="0" baseline="0" noProof="0">
                    <a:ln>
                      <a:noFill/>
                    </a:ln>
                    <a:solidFill>
                      <a:schemeClr val="bg1"/>
                    </a:solidFill>
                    <a:effectLst/>
                    <a:uLnTx/>
                    <a:uFillTx/>
                    <a:latin typeface="Ubuntu Light" panose="020B0304030602030204" pitchFamily="34" charset="0"/>
                  </a:rPr>
                  <a:t> and digitization which resulted in long turn around times for key processes</a:t>
                </a:r>
              </a:p>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kumimoji="0" lang="en-US" sz="1100" b="1" i="0" u="none" strike="noStrike" kern="1200" cap="none" spc="0" normalizeH="0" baseline="0" noProof="0">
                    <a:ln>
                      <a:noFill/>
                    </a:ln>
                    <a:solidFill>
                      <a:schemeClr val="bg1"/>
                    </a:solidFill>
                    <a:effectLst/>
                    <a:uLnTx/>
                    <a:uFillTx/>
                    <a:latin typeface="Ubuntu Light" panose="020B0304030602030204" pitchFamily="34" charset="0"/>
                  </a:rPr>
                  <a:t>Slow time to market</a:t>
                </a:r>
                <a:r>
                  <a:rPr kumimoji="0" lang="en-US" sz="1100" b="0" i="0" u="none" strike="noStrike" kern="1200" cap="none" spc="0" normalizeH="0" baseline="0" noProof="0">
                    <a:ln>
                      <a:noFill/>
                    </a:ln>
                    <a:solidFill>
                      <a:schemeClr val="bg1"/>
                    </a:solidFill>
                    <a:effectLst/>
                    <a:uLnTx/>
                    <a:uFillTx/>
                    <a:latin typeface="Ubuntu Light" panose="020B0304030602030204" pitchFamily="34" charset="0"/>
                  </a:rPr>
                  <a:t> for new products that inhibits the pace of innovation</a:t>
                </a:r>
              </a:p>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lang="en-US" sz="1100" b="1">
                    <a:solidFill>
                      <a:schemeClr val="bg1"/>
                    </a:solidFill>
                    <a:latin typeface="Ubuntu Light" panose="020B0304030602030204" pitchFamily="34" charset="0"/>
                  </a:rPr>
                  <a:t>High back-office cost</a:t>
                </a:r>
                <a:r>
                  <a:rPr lang="en-US" sz="1100">
                    <a:solidFill>
                      <a:schemeClr val="bg1"/>
                    </a:solidFill>
                    <a:latin typeface="Ubuntu Light" panose="020B0304030602030204" pitchFamily="34" charset="0"/>
                  </a:rPr>
                  <a:t> as a result of high order fallout rate</a:t>
                </a:r>
              </a:p>
            </p:txBody>
          </p:sp>
          <p:sp>
            <p:nvSpPr>
              <p:cNvPr id="56" name="Rectangle 55">
                <a:extLst>
                  <a:ext uri="{FF2B5EF4-FFF2-40B4-BE49-F238E27FC236}">
                    <a16:creationId xmlns:a16="http://schemas.microsoft.com/office/drawing/2014/main" id="{C6A4A4D2-F673-9F9C-4B4C-146113562369}"/>
                  </a:ext>
                </a:extLst>
              </p:cNvPr>
              <p:cNvSpPr/>
              <p:nvPr/>
            </p:nvSpPr>
            <p:spPr>
              <a:xfrm>
                <a:off x="3857168" y="3844427"/>
                <a:ext cx="2776507"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IN" sz="1100" b="1">
                    <a:solidFill>
                      <a:schemeClr val="bg1"/>
                    </a:solidFill>
                    <a:latin typeface="Ubuntu Light" panose="020B0304030602030204" pitchFamily="34" charset="0"/>
                  </a:rPr>
                  <a:t>Digital Telco Solution</a:t>
                </a:r>
                <a:r>
                  <a:rPr lang="en-IN" sz="1100">
                    <a:solidFill>
                      <a:schemeClr val="bg1"/>
                    </a:solidFill>
                    <a:latin typeface="Ubuntu Light" panose="020B0304030602030204" pitchFamily="34" charset="0"/>
                  </a:rPr>
                  <a:t> for Global Telcos</a:t>
                </a:r>
              </a:p>
              <a:p>
                <a:pPr marL="171450" indent="-171450">
                  <a:buClr>
                    <a:srgbClr val="0070AD"/>
                  </a:buClr>
                  <a:buSzPct val="120000"/>
                  <a:buFont typeface="Wingdings" panose="05000000000000000000" pitchFamily="2" charset="2"/>
                  <a:buChar char="§"/>
                  <a:defRPr/>
                </a:pPr>
                <a:endParaRPr lang="en-IN" sz="1100">
                  <a:solidFill>
                    <a:schemeClr val="bg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100" b="1">
                    <a:solidFill>
                      <a:schemeClr val="bg1"/>
                    </a:solidFill>
                    <a:latin typeface="Ubuntu Light" panose="020B0304030602030204" pitchFamily="34" charset="0"/>
                  </a:rPr>
                  <a:t>Deep client engagement with CXO </a:t>
                </a:r>
                <a:r>
                  <a:rPr lang="en-IN" sz="1100">
                    <a:solidFill>
                      <a:schemeClr val="bg1"/>
                    </a:solidFill>
                    <a:latin typeface="Ubuntu Light" panose="020B0304030602030204" pitchFamily="34" charset="0"/>
                  </a:rPr>
                  <a:t>community including business heads</a:t>
                </a:r>
              </a:p>
              <a:p>
                <a:pPr marL="171450" indent="-171450">
                  <a:buClr>
                    <a:srgbClr val="0070AD"/>
                  </a:buClr>
                  <a:buSzPct val="120000"/>
                  <a:buFont typeface="Wingdings" panose="05000000000000000000" pitchFamily="2" charset="2"/>
                  <a:buChar char="§"/>
                  <a:defRPr/>
                </a:pPr>
                <a:endParaRPr lang="en-IN" sz="1100">
                  <a:solidFill>
                    <a:schemeClr val="bg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100">
                    <a:solidFill>
                      <a:schemeClr val="bg1"/>
                    </a:solidFill>
                    <a:latin typeface="Ubuntu Light" panose="020B0304030602030204" pitchFamily="34" charset="0"/>
                  </a:rPr>
                  <a:t>Strong regional and </a:t>
                </a:r>
                <a:r>
                  <a:rPr lang="en-IN" sz="1100" b="1">
                    <a:solidFill>
                      <a:schemeClr val="bg1"/>
                    </a:solidFill>
                    <a:latin typeface="Ubuntu Light" panose="020B0304030602030204" pitchFamily="34" charset="0"/>
                  </a:rPr>
                  <a:t>global partnership with salesforce and Vlocity</a:t>
                </a:r>
              </a:p>
              <a:p>
                <a:pPr marL="171450" indent="-171450">
                  <a:buClr>
                    <a:srgbClr val="0070AD"/>
                  </a:buClr>
                  <a:buSzPct val="120000"/>
                  <a:buFont typeface="Wingdings" panose="05000000000000000000" pitchFamily="2" charset="2"/>
                  <a:buChar char="§"/>
                  <a:defRPr/>
                </a:pPr>
                <a:endParaRPr lang="en-IN" sz="1100">
                  <a:solidFill>
                    <a:schemeClr val="bg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100">
                    <a:solidFill>
                      <a:schemeClr val="bg1"/>
                    </a:solidFill>
                    <a:latin typeface="Ubuntu Light" panose="020B0304030602030204" pitchFamily="34" charset="0"/>
                  </a:rPr>
                  <a:t>Experienced regional team on Salesforce and Vlocity product skills</a:t>
                </a:r>
              </a:p>
              <a:p>
                <a:pPr marL="171450" indent="-171450">
                  <a:buClr>
                    <a:srgbClr val="0070AD"/>
                  </a:buClr>
                  <a:buSzPct val="120000"/>
                  <a:buFont typeface="Wingdings" panose="05000000000000000000" pitchFamily="2" charset="2"/>
                  <a:buChar char="§"/>
                  <a:defRPr/>
                </a:pPr>
                <a:endParaRPr lang="en-IN" sz="1100">
                  <a:solidFill>
                    <a:schemeClr val="bg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100" b="1">
                    <a:solidFill>
                      <a:schemeClr val="bg1"/>
                    </a:solidFill>
                    <a:latin typeface="Ubuntu Light" panose="020B0304030602030204" pitchFamily="34" charset="0"/>
                  </a:rPr>
                  <a:t>Strong reference</a:t>
                </a:r>
                <a:r>
                  <a:rPr lang="en-IN" sz="1100">
                    <a:solidFill>
                      <a:schemeClr val="bg1"/>
                    </a:solidFill>
                    <a:latin typeface="Ubuntu Light" panose="020B0304030602030204" pitchFamily="34" charset="0"/>
                  </a:rPr>
                  <a:t> from other successful B2B Telco implementations</a:t>
                </a:r>
              </a:p>
              <a:p>
                <a:pPr lvl="0">
                  <a:buClr>
                    <a:srgbClr val="0070AD"/>
                  </a:buClr>
                  <a:buSzPct val="120000"/>
                  <a:defRPr/>
                </a:pPr>
                <a:endParaRPr lang="en-IN" sz="1100">
                  <a:solidFill>
                    <a:schemeClr val="bg1"/>
                  </a:solidFill>
                  <a:latin typeface="Ubuntu Light" panose="020B0304030602030204" pitchFamily="34" charset="0"/>
                  <a:ea typeface="Verdana" panose="020B0604030504040204" pitchFamily="34" charset="0"/>
                  <a:sym typeface="BentonSans"/>
                </a:endParaRPr>
              </a:p>
              <a:p>
                <a:pPr marL="137160" lvl="0" indent="-137160">
                  <a:buClr>
                    <a:srgbClr val="0070AD"/>
                  </a:buClr>
                  <a:buSzPct val="120000"/>
                  <a:buFont typeface="Wingdings" panose="05000000000000000000" pitchFamily="2" charset="2"/>
                  <a:buChar char="§"/>
                  <a:defRPr/>
                </a:pPr>
                <a:endParaRPr lang="en-IN" sz="1100">
                  <a:solidFill>
                    <a:schemeClr val="bg1"/>
                  </a:solidFill>
                  <a:latin typeface="Ubuntu Light" panose="020B0304030602030204" pitchFamily="34" charset="0"/>
                  <a:ea typeface="Verdana" panose="020B0604030504040204" pitchFamily="34" charset="0"/>
                  <a:sym typeface="BentonSans"/>
                </a:endParaRPr>
              </a:p>
            </p:txBody>
          </p:sp>
          <p:sp>
            <p:nvSpPr>
              <p:cNvPr id="57" name="Rectangle 56">
                <a:extLst>
                  <a:ext uri="{FF2B5EF4-FFF2-40B4-BE49-F238E27FC236}">
                    <a16:creationId xmlns:a16="http://schemas.microsoft.com/office/drawing/2014/main" id="{44117297-686D-592D-170A-F429D4A3A071}"/>
                  </a:ext>
                </a:extLst>
              </p:cNvPr>
              <p:cNvSpPr/>
              <p:nvPr/>
            </p:nvSpPr>
            <p:spPr>
              <a:xfrm>
                <a:off x="6793966" y="3789886"/>
                <a:ext cx="2618075" cy="27311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spcAft>
                    <a:spcPts val="900"/>
                  </a:spcAft>
                  <a:buClr>
                    <a:srgbClr val="0070AD"/>
                  </a:buClr>
                  <a:buSzPct val="120000"/>
                  <a:buFont typeface="Wingdings" panose="05000000000000000000" pitchFamily="2" charset="2"/>
                  <a:buChar char="§"/>
                  <a:defRPr/>
                </a:pPr>
                <a:r>
                  <a:rPr lang="en-IN" sz="1100">
                    <a:solidFill>
                      <a:schemeClr val="bg1"/>
                    </a:solidFill>
                    <a:latin typeface="Ubuntu Light" panose="020B0304030602030204" pitchFamily="34" charset="0"/>
                    <a:ea typeface="+mn-lt"/>
                    <a:cs typeface="+mn-lt"/>
                  </a:rPr>
                  <a:t>To implement the ESOA (</a:t>
                </a:r>
                <a:r>
                  <a:rPr lang="en-IN" sz="1100" b="1">
                    <a:solidFill>
                      <a:schemeClr val="bg1"/>
                    </a:solidFill>
                    <a:latin typeface="Ubuntu Light" panose="020B0304030602030204" pitchFamily="34" charset="0"/>
                    <a:ea typeface="+mn-lt"/>
                    <a:cs typeface="+mn-lt"/>
                  </a:rPr>
                  <a:t>Eliminate, Standardize, Optimize and Automate</a:t>
                </a:r>
                <a:r>
                  <a:rPr lang="en-IN" sz="1100">
                    <a:solidFill>
                      <a:schemeClr val="bg1"/>
                    </a:solidFill>
                    <a:latin typeface="Ubuntu Light" panose="020B0304030602030204" pitchFamily="34" charset="0"/>
                    <a:ea typeface="+mn-lt"/>
                    <a:cs typeface="+mn-lt"/>
                  </a:rPr>
                  <a:t>) framework thereby harmonizing the L2C process across all types of enterprise customers</a:t>
                </a:r>
              </a:p>
              <a:p>
                <a:pPr marL="171450" indent="-171450">
                  <a:spcAft>
                    <a:spcPts val="900"/>
                  </a:spcAft>
                  <a:buClr>
                    <a:srgbClr val="0070AD"/>
                  </a:buClr>
                  <a:buSzPct val="120000"/>
                  <a:buFont typeface="Wingdings" panose="05000000000000000000" pitchFamily="2" charset="2"/>
                  <a:buChar char="§"/>
                  <a:defRPr/>
                </a:pPr>
                <a:r>
                  <a:rPr lang="en-IN" sz="1100">
                    <a:solidFill>
                      <a:schemeClr val="bg1"/>
                    </a:solidFill>
                    <a:latin typeface="Ubuntu Light" panose="020B0304030602030204" pitchFamily="34" charset="0"/>
                    <a:ea typeface="+mn-lt"/>
                    <a:cs typeface="+mn-lt"/>
                  </a:rPr>
                  <a:t>Phase -1 for Leads to Cash Transformation of B2B Business</a:t>
                </a:r>
              </a:p>
              <a:p>
                <a:pPr marL="171450" indent="-171450">
                  <a:spcAft>
                    <a:spcPts val="900"/>
                  </a:spcAft>
                  <a:buClr>
                    <a:srgbClr val="0070AD"/>
                  </a:buClr>
                  <a:buSzPct val="120000"/>
                  <a:buFont typeface="Wingdings" panose="05000000000000000000" pitchFamily="2" charset="2"/>
                  <a:buChar char="§"/>
                  <a:defRPr/>
                </a:pPr>
                <a:r>
                  <a:rPr lang="en-IN" sz="1100" b="1">
                    <a:solidFill>
                      <a:schemeClr val="bg1"/>
                    </a:solidFill>
                    <a:latin typeface="Ubuntu Light" panose="020B0304030602030204" pitchFamily="34" charset="0"/>
                    <a:ea typeface="+mn-lt"/>
                    <a:cs typeface="+mn-lt"/>
                  </a:rPr>
                  <a:t>Product Modelling </a:t>
                </a:r>
                <a:r>
                  <a:rPr lang="en-IN" sz="1100">
                    <a:solidFill>
                      <a:schemeClr val="bg1"/>
                    </a:solidFill>
                    <a:latin typeface="Ubuntu Light" panose="020B0304030602030204" pitchFamily="34" charset="0"/>
                    <a:ea typeface="+mn-lt"/>
                    <a:cs typeface="+mn-lt"/>
                  </a:rPr>
                  <a:t>of 8 product families on the new platform</a:t>
                </a:r>
              </a:p>
              <a:p>
                <a:pPr marL="171450" indent="-171450">
                  <a:spcAft>
                    <a:spcPts val="900"/>
                  </a:spcAft>
                  <a:buClr>
                    <a:srgbClr val="0070AD"/>
                  </a:buClr>
                  <a:buSzPct val="120000"/>
                  <a:buFont typeface="Wingdings" panose="05000000000000000000" pitchFamily="2" charset="2"/>
                  <a:buChar char="§"/>
                  <a:defRPr/>
                </a:pPr>
                <a:r>
                  <a:rPr lang="en-IN" sz="1100">
                    <a:solidFill>
                      <a:schemeClr val="bg1"/>
                    </a:solidFill>
                    <a:latin typeface="Ubuntu Light" panose="020B0304030602030204" pitchFamily="34" charset="0"/>
                    <a:ea typeface="+mn-lt"/>
                    <a:cs typeface="+mn-lt"/>
                  </a:rPr>
                  <a:t>Integration with legacy billing and fulfilment systems</a:t>
                </a:r>
              </a:p>
              <a:p>
                <a:pPr marL="171450" indent="-171450">
                  <a:spcAft>
                    <a:spcPts val="900"/>
                  </a:spcAft>
                  <a:buClr>
                    <a:srgbClr val="0070AD"/>
                  </a:buClr>
                  <a:buSzPct val="120000"/>
                  <a:buFont typeface="Wingdings" panose="05000000000000000000" pitchFamily="2" charset="2"/>
                  <a:buChar char="§"/>
                  <a:defRPr/>
                </a:pPr>
                <a:r>
                  <a:rPr lang="en-IN" sz="1100" b="1">
                    <a:solidFill>
                      <a:schemeClr val="bg1"/>
                    </a:solidFill>
                    <a:latin typeface="Ubuntu Light" panose="020B0304030602030204" pitchFamily="34" charset="0"/>
                    <a:ea typeface="+mn-lt"/>
                    <a:cs typeface="+mn-lt"/>
                  </a:rPr>
                  <a:t>Business benefits baselining </a:t>
                </a:r>
                <a:r>
                  <a:rPr lang="en-IN" sz="1100">
                    <a:solidFill>
                      <a:schemeClr val="bg1"/>
                    </a:solidFill>
                    <a:latin typeface="Ubuntu Light" panose="020B0304030602030204" pitchFamily="34" charset="0"/>
                    <a:ea typeface="+mn-lt"/>
                    <a:cs typeface="+mn-lt"/>
                  </a:rPr>
                  <a:t>and tracking through multiple phases of transformation</a:t>
                </a:r>
              </a:p>
            </p:txBody>
          </p:sp>
          <p:sp>
            <p:nvSpPr>
              <p:cNvPr id="58" name="Rectangle 57">
                <a:extLst>
                  <a:ext uri="{FF2B5EF4-FFF2-40B4-BE49-F238E27FC236}">
                    <a16:creationId xmlns:a16="http://schemas.microsoft.com/office/drawing/2014/main" id="{4D0CB533-EB21-A393-ED65-813179CBA301}"/>
                  </a:ext>
                </a:extLst>
              </p:cNvPr>
              <p:cNvSpPr/>
              <p:nvPr/>
            </p:nvSpPr>
            <p:spPr>
              <a:xfrm>
                <a:off x="9614242" y="3844426"/>
                <a:ext cx="2244371" cy="2591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IN" sz="1100" b="1">
                    <a:solidFill>
                      <a:schemeClr val="bg1"/>
                    </a:solidFill>
                    <a:latin typeface="Ubuntu Light" panose="020B0304030602030204" pitchFamily="34" charset="0"/>
                    <a:ea typeface="Verdana"/>
                  </a:rPr>
                  <a:t>Opportunity Conversion rate </a:t>
                </a:r>
                <a:r>
                  <a:rPr lang="en-IN" sz="1100">
                    <a:solidFill>
                      <a:schemeClr val="bg1"/>
                    </a:solidFill>
                    <a:latin typeface="Ubuntu Light" panose="020B0304030602030204" pitchFamily="34" charset="0"/>
                    <a:ea typeface="Verdana"/>
                  </a:rPr>
                  <a:t>(win rate) to improve by 50%</a:t>
                </a:r>
              </a:p>
              <a:p>
                <a:pPr marL="171450" indent="-171450">
                  <a:buClr>
                    <a:srgbClr val="0070AD"/>
                  </a:buClr>
                  <a:buSzPct val="120000"/>
                  <a:buFont typeface="Wingdings" panose="05000000000000000000" pitchFamily="2" charset="2"/>
                  <a:buChar char="§"/>
                  <a:defRPr/>
                </a:pPr>
                <a:endParaRPr lang="en-IN" sz="1100">
                  <a:solidFill>
                    <a:schemeClr val="bg1"/>
                  </a:solidFill>
                  <a:latin typeface="Ubuntu Light" panose="020B0304030602030204" pitchFamily="34" charset="0"/>
                  <a:ea typeface="Verdana"/>
                </a:endParaRPr>
              </a:p>
              <a:p>
                <a:pPr marL="171450" indent="-171450">
                  <a:buClr>
                    <a:srgbClr val="0070AD"/>
                  </a:buClr>
                  <a:buSzPct val="120000"/>
                  <a:buFont typeface="Wingdings" panose="05000000000000000000" pitchFamily="2" charset="2"/>
                  <a:buChar char="§"/>
                  <a:defRPr/>
                </a:pPr>
                <a:r>
                  <a:rPr lang="en-IN" sz="1100">
                    <a:solidFill>
                      <a:schemeClr val="bg1"/>
                    </a:solidFill>
                    <a:latin typeface="Ubuntu Light" panose="020B0304030602030204" pitchFamily="34" charset="0"/>
                    <a:ea typeface="Verdana"/>
                  </a:rPr>
                  <a:t>Average Time for Order activation to reduce by 50%, </a:t>
                </a:r>
                <a:r>
                  <a:rPr lang="en-IN" sz="1100" b="1">
                    <a:solidFill>
                      <a:schemeClr val="bg1"/>
                    </a:solidFill>
                    <a:latin typeface="Ubuntu Light" panose="020B0304030602030204" pitchFamily="34" charset="0"/>
                    <a:ea typeface="Verdana"/>
                  </a:rPr>
                  <a:t>Order Fallout Rate</a:t>
                </a:r>
                <a:r>
                  <a:rPr lang="en-IN" sz="1100">
                    <a:solidFill>
                      <a:schemeClr val="bg1"/>
                    </a:solidFill>
                    <a:latin typeface="Ubuntu Light" panose="020B0304030602030204" pitchFamily="34" charset="0"/>
                    <a:ea typeface="Verdana"/>
                  </a:rPr>
                  <a:t> to drop by 25%</a:t>
                </a:r>
              </a:p>
              <a:p>
                <a:pPr marL="171450" indent="-171450">
                  <a:buClr>
                    <a:srgbClr val="0070AD"/>
                  </a:buClr>
                  <a:buSzPct val="120000"/>
                  <a:buFont typeface="Wingdings" panose="05000000000000000000" pitchFamily="2" charset="2"/>
                  <a:buChar char="§"/>
                  <a:defRPr/>
                </a:pPr>
                <a:endParaRPr lang="en-IN" sz="1100">
                  <a:solidFill>
                    <a:schemeClr val="bg1"/>
                  </a:solidFill>
                  <a:latin typeface="Ubuntu Light" panose="020B0304030602030204" pitchFamily="34" charset="0"/>
                  <a:ea typeface="Verdana"/>
                </a:endParaRPr>
              </a:p>
              <a:p>
                <a:pPr marL="171450" indent="-171450">
                  <a:buClr>
                    <a:srgbClr val="0070AD"/>
                  </a:buClr>
                  <a:buSzPct val="120000"/>
                  <a:buFont typeface="Wingdings" panose="05000000000000000000" pitchFamily="2" charset="2"/>
                  <a:buChar char="§"/>
                  <a:defRPr/>
                </a:pPr>
                <a:r>
                  <a:rPr lang="en-IN" sz="1100">
                    <a:solidFill>
                      <a:schemeClr val="bg1"/>
                    </a:solidFill>
                    <a:latin typeface="Ubuntu Light" panose="020B0304030602030204" pitchFamily="34" charset="0"/>
                    <a:ea typeface="Verdana"/>
                  </a:rPr>
                  <a:t>Average time for </a:t>
                </a:r>
                <a:r>
                  <a:rPr lang="en-IN" sz="1100" b="1">
                    <a:solidFill>
                      <a:schemeClr val="bg1"/>
                    </a:solidFill>
                    <a:latin typeface="Ubuntu Light" panose="020B0304030602030204" pitchFamily="34" charset="0"/>
                    <a:ea typeface="Verdana"/>
                  </a:rPr>
                  <a:t>Quote to Order </a:t>
                </a:r>
                <a:r>
                  <a:rPr lang="en-IN" sz="1100">
                    <a:solidFill>
                      <a:schemeClr val="bg1"/>
                    </a:solidFill>
                    <a:latin typeface="Ubuntu Light" panose="020B0304030602030204" pitchFamily="34" charset="0"/>
                    <a:ea typeface="Verdana"/>
                  </a:rPr>
                  <a:t>to reduce by 25%</a:t>
                </a:r>
              </a:p>
              <a:p>
                <a:pPr marL="171450" indent="-171450">
                  <a:buClr>
                    <a:srgbClr val="0070AD"/>
                  </a:buClr>
                  <a:buSzPct val="120000"/>
                  <a:buFont typeface="Wingdings" panose="05000000000000000000" pitchFamily="2" charset="2"/>
                  <a:buChar char="§"/>
                  <a:defRPr/>
                </a:pPr>
                <a:endParaRPr lang="en-IN" sz="1100">
                  <a:solidFill>
                    <a:schemeClr val="bg1"/>
                  </a:solidFill>
                  <a:latin typeface="Ubuntu Light" panose="020B0304030602030204" pitchFamily="34" charset="0"/>
                  <a:ea typeface="Verdana"/>
                </a:endParaRPr>
              </a:p>
              <a:p>
                <a:pPr marL="171450" indent="-171450">
                  <a:buClr>
                    <a:srgbClr val="0070AD"/>
                  </a:buClr>
                  <a:buSzPct val="120000"/>
                  <a:buFont typeface="Wingdings" panose="05000000000000000000" pitchFamily="2" charset="2"/>
                  <a:buChar char="§"/>
                  <a:defRPr/>
                </a:pPr>
                <a:r>
                  <a:rPr lang="nl-BE" sz="1100" b="1">
                    <a:solidFill>
                      <a:schemeClr val="bg1"/>
                    </a:solidFill>
                    <a:latin typeface="Ubuntu Light" panose="020B0304030602030204" pitchFamily="34" charset="0"/>
                    <a:ea typeface="Verdana"/>
                  </a:rPr>
                  <a:t>Acceleration of product development</a:t>
                </a:r>
                <a:r>
                  <a:rPr lang="nl-BE" sz="1100">
                    <a:solidFill>
                      <a:schemeClr val="bg1"/>
                    </a:solidFill>
                    <a:latin typeface="Ubuntu Light" panose="020B0304030602030204" pitchFamily="34" charset="0"/>
                    <a:ea typeface="Verdana"/>
                  </a:rPr>
                  <a:t> and Decrease in acquisition costs</a:t>
                </a:r>
                <a:endParaRPr lang="en-IN" sz="1100">
                  <a:solidFill>
                    <a:schemeClr val="bg1"/>
                  </a:solidFill>
                  <a:latin typeface="Ubuntu Light" panose="020B0304030602030204" pitchFamily="34" charset="0"/>
                  <a:ea typeface="Verdana"/>
                </a:endParaRPr>
              </a:p>
              <a:p>
                <a:pPr marL="171450" indent="-171450">
                  <a:spcBef>
                    <a:spcPts val="200"/>
                  </a:spcBef>
                  <a:spcAft>
                    <a:spcPts val="200"/>
                  </a:spcAft>
                  <a:buClr>
                    <a:srgbClr val="0070AD"/>
                  </a:buClr>
                  <a:buSzPct val="120000"/>
                  <a:buFont typeface="Wingdings" panose="05000000000000000000" pitchFamily="2" charset="2"/>
                  <a:buChar char="§"/>
                  <a:defRPr/>
                </a:pPr>
                <a:endParaRPr lang="en-US" sz="1100">
                  <a:solidFill>
                    <a:schemeClr val="bg1"/>
                  </a:solidFill>
                  <a:latin typeface="Ubuntu Light" panose="020B0304030602030204" pitchFamily="34" charset="0"/>
                  <a:ea typeface="Verdana"/>
                </a:endParaRPr>
              </a:p>
              <a:p>
                <a:pPr marL="137160" indent="-137160">
                  <a:spcBef>
                    <a:spcPts val="200"/>
                  </a:spcBef>
                  <a:spcAft>
                    <a:spcPts val="200"/>
                  </a:spcAft>
                  <a:buClr>
                    <a:srgbClr val="0070AD"/>
                  </a:buClr>
                  <a:buSzPct val="120000"/>
                  <a:buFont typeface="Wingdings" panose="05000000000000000000" pitchFamily="2" charset="2"/>
                  <a:buChar char="§"/>
                  <a:defRPr/>
                </a:pPr>
                <a:endParaRPr lang="en-IN" sz="1100">
                  <a:solidFill>
                    <a:schemeClr val="bg1"/>
                  </a:solidFill>
                  <a:latin typeface="Ubuntu Light" panose="020B0304030602030204" pitchFamily="34" charset="0"/>
                  <a:ea typeface="Verdana" panose="020B0604030504040204" pitchFamily="34" charset="0"/>
                </a:endParaRPr>
              </a:p>
            </p:txBody>
          </p:sp>
          <p:cxnSp>
            <p:nvCxnSpPr>
              <p:cNvPr id="59" name="Straight Connector 58">
                <a:extLst>
                  <a:ext uri="{FF2B5EF4-FFF2-40B4-BE49-F238E27FC236}">
                    <a16:creationId xmlns:a16="http://schemas.microsoft.com/office/drawing/2014/main" id="{C69DBCCB-14A8-C131-C1D1-4E3A6B98A8EF}"/>
                  </a:ext>
                </a:extLst>
              </p:cNvPr>
              <p:cNvCxnSpPr>
                <a:cxnSpLocks/>
              </p:cNvCxnSpPr>
              <p:nvPr/>
            </p:nvCxnSpPr>
            <p:spPr>
              <a:xfrm>
                <a:off x="3721100" y="3285849"/>
                <a:ext cx="0" cy="249582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grpSp>
        <p:pic>
          <p:nvPicPr>
            <p:cNvPr id="7" name="Picture 6" descr="Shape&#10;&#10;Description automatically generated with low confidence">
              <a:extLst>
                <a:ext uri="{FF2B5EF4-FFF2-40B4-BE49-F238E27FC236}">
                  <a16:creationId xmlns:a16="http://schemas.microsoft.com/office/drawing/2014/main" id="{C287AD43-E678-08BB-6E61-6833DFEB0D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5046" y="2554555"/>
              <a:ext cx="570108" cy="507747"/>
            </a:xfrm>
            <a:prstGeom prst="rect">
              <a:avLst/>
            </a:prstGeom>
          </p:spPr>
        </p:pic>
        <p:pic>
          <p:nvPicPr>
            <p:cNvPr id="33" name="Picture 32" descr="Shape&#10;&#10;Description automatically generated with low confidence">
              <a:extLst>
                <a:ext uri="{FF2B5EF4-FFF2-40B4-BE49-F238E27FC236}">
                  <a16:creationId xmlns:a16="http://schemas.microsoft.com/office/drawing/2014/main" id="{3C4DCE68-CB5D-1736-C84C-F1155BAF04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3382" y="2552051"/>
              <a:ext cx="524081" cy="524081"/>
            </a:xfrm>
            <a:prstGeom prst="rect">
              <a:avLst/>
            </a:prstGeom>
          </p:spPr>
        </p:pic>
        <p:pic>
          <p:nvPicPr>
            <p:cNvPr id="34" name="Picture 33" descr="Shape&#10;&#10;Description automatically generated with low confidence">
              <a:extLst>
                <a:ext uri="{FF2B5EF4-FFF2-40B4-BE49-F238E27FC236}">
                  <a16:creationId xmlns:a16="http://schemas.microsoft.com/office/drawing/2014/main" id="{C66A1090-026E-383F-2482-E8BF5664D3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flipV="1">
              <a:off x="7879100" y="2627822"/>
              <a:ext cx="467030" cy="467030"/>
            </a:xfrm>
            <a:prstGeom prst="rect">
              <a:avLst/>
            </a:prstGeom>
          </p:spPr>
        </p:pic>
        <p:pic>
          <p:nvPicPr>
            <p:cNvPr id="35" name="Picture 34" descr="Shape&#10;&#10;Description automatically generated with low confidence">
              <a:extLst>
                <a:ext uri="{FF2B5EF4-FFF2-40B4-BE49-F238E27FC236}">
                  <a16:creationId xmlns:a16="http://schemas.microsoft.com/office/drawing/2014/main" id="{13A23576-08EF-252F-120C-68326A21AB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03608" y="2541014"/>
              <a:ext cx="504520" cy="504520"/>
            </a:xfrm>
            <a:prstGeom prst="rect">
              <a:avLst/>
            </a:prstGeom>
          </p:spPr>
        </p:pic>
      </p:grpSp>
      <p:pic>
        <p:nvPicPr>
          <p:cNvPr id="60" name="Picture 59">
            <a:extLst>
              <a:ext uri="{FF2B5EF4-FFF2-40B4-BE49-F238E27FC236}">
                <a16:creationId xmlns:a16="http://schemas.microsoft.com/office/drawing/2014/main" id="{1D5580FD-B28E-09C9-4AAE-B9B7A0D060A7}"/>
              </a:ext>
            </a:extLst>
          </p:cNvPr>
          <p:cNvPicPr>
            <a:picLocks noChangeAspect="1"/>
          </p:cNvPicPr>
          <p:nvPr/>
        </p:nvPicPr>
        <p:blipFill>
          <a:blip r:embed="rId6"/>
          <a:stretch>
            <a:fillRect/>
          </a:stretch>
        </p:blipFill>
        <p:spPr>
          <a:xfrm>
            <a:off x="10595509" y="0"/>
            <a:ext cx="1237002" cy="696510"/>
          </a:xfrm>
          <a:prstGeom prst="rect">
            <a:avLst/>
          </a:prstGeom>
        </p:spPr>
      </p:pic>
      <p:sp>
        <p:nvSpPr>
          <p:cNvPr id="61" name="TextBox 60">
            <a:extLst>
              <a:ext uri="{FF2B5EF4-FFF2-40B4-BE49-F238E27FC236}">
                <a16:creationId xmlns:a16="http://schemas.microsoft.com/office/drawing/2014/main" id="{51EB5AC7-23B4-4A73-A5C4-1F5D1C92C76D}"/>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62" name="Date Placeholder 5">
            <a:extLst>
              <a:ext uri="{FF2B5EF4-FFF2-40B4-BE49-F238E27FC236}">
                <a16:creationId xmlns:a16="http://schemas.microsoft.com/office/drawing/2014/main" id="{2CD374FA-DE15-8B33-C880-66274700150E}"/>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63" name="Date Placeholder 5">
            <a:extLst>
              <a:ext uri="{FF2B5EF4-FFF2-40B4-BE49-F238E27FC236}">
                <a16:creationId xmlns:a16="http://schemas.microsoft.com/office/drawing/2014/main" id="{3B70F871-B19B-8AA0-7374-58A04170BC75}"/>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27</a:t>
            </a:r>
          </a:p>
        </p:txBody>
      </p:sp>
    </p:spTree>
    <p:extLst>
      <p:ext uri="{BB962C8B-B14F-4D97-AF65-F5344CB8AC3E}">
        <p14:creationId xmlns:p14="http://schemas.microsoft.com/office/powerpoint/2010/main" val="879076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BBE07-CCD9-700F-5CE3-35A634D188B3}"/>
            </a:ext>
          </a:extLst>
        </p:cNvPr>
        <p:cNvGrpSpPr/>
        <p:nvPr/>
      </p:nvGrpSpPr>
      <p:grpSpPr>
        <a:xfrm>
          <a:off x="0" y="0"/>
          <a:ext cx="0" cy="0"/>
          <a:chOff x="0" y="0"/>
          <a:chExt cx="0" cy="0"/>
        </a:xfrm>
      </p:grpSpPr>
      <p:sp>
        <p:nvSpPr>
          <p:cNvPr id="4" name="Titre 7">
            <a:extLst>
              <a:ext uri="{FF2B5EF4-FFF2-40B4-BE49-F238E27FC236}">
                <a16:creationId xmlns:a16="http://schemas.microsoft.com/office/drawing/2014/main" id="{81D63775-C1BE-AD5C-E804-B7E5A8853186}"/>
              </a:ext>
            </a:extLst>
          </p:cNvPr>
          <p:cNvSpPr>
            <a:spLocks noGrp="1"/>
          </p:cNvSpPr>
          <p:nvPr>
            <p:ph type="title"/>
          </p:nvPr>
        </p:nvSpPr>
        <p:spPr>
          <a:xfrm>
            <a:off x="550863" y="270297"/>
            <a:ext cx="10114538" cy="705075"/>
          </a:xfrm>
        </p:spPr>
        <p:txBody>
          <a:bodyPr>
            <a:noAutofit/>
          </a:bodyPr>
          <a:lstStyle/>
          <a:p>
            <a:r>
              <a:rPr lang="en-US"/>
              <a:t>Driving B2B Growth Through CRM-Led Digital Transformation</a:t>
            </a:r>
            <a:endParaRPr lang="fr-FR" sz="2400"/>
          </a:p>
        </p:txBody>
      </p:sp>
      <p:grpSp>
        <p:nvGrpSpPr>
          <p:cNvPr id="5" name="Group 4">
            <a:extLst>
              <a:ext uri="{FF2B5EF4-FFF2-40B4-BE49-F238E27FC236}">
                <a16:creationId xmlns:a16="http://schemas.microsoft.com/office/drawing/2014/main" id="{7732DC49-805B-281C-0F8C-6FD52CE601D1}"/>
              </a:ext>
            </a:extLst>
          </p:cNvPr>
          <p:cNvGrpSpPr/>
          <p:nvPr/>
        </p:nvGrpSpPr>
        <p:grpSpPr>
          <a:xfrm>
            <a:off x="0" y="1662899"/>
            <a:ext cx="12192000" cy="4614646"/>
            <a:chOff x="0" y="2268383"/>
            <a:chExt cx="12192000" cy="4614646"/>
          </a:xfrm>
        </p:grpSpPr>
        <p:grpSp>
          <p:nvGrpSpPr>
            <p:cNvPr id="6" name="Group 5">
              <a:extLst>
                <a:ext uri="{FF2B5EF4-FFF2-40B4-BE49-F238E27FC236}">
                  <a16:creationId xmlns:a16="http://schemas.microsoft.com/office/drawing/2014/main" id="{E4F4F12E-E197-017E-D2CA-1576BF9810E1}"/>
                </a:ext>
              </a:extLst>
            </p:cNvPr>
            <p:cNvGrpSpPr/>
            <p:nvPr/>
          </p:nvGrpSpPr>
          <p:grpSpPr>
            <a:xfrm>
              <a:off x="0" y="2268383"/>
              <a:ext cx="12192000" cy="4614646"/>
              <a:chOff x="0" y="1906433"/>
              <a:chExt cx="12192000" cy="4614646"/>
            </a:xfrm>
          </p:grpSpPr>
          <p:sp>
            <p:nvSpPr>
              <p:cNvPr id="36" name="Oval 35">
                <a:extLst>
                  <a:ext uri="{FF2B5EF4-FFF2-40B4-BE49-F238E27FC236}">
                    <a16:creationId xmlns:a16="http://schemas.microsoft.com/office/drawing/2014/main" id="{32A43579-8EF1-DA82-597F-31516A350A67}"/>
                  </a:ext>
                </a:extLst>
              </p:cNvPr>
              <p:cNvSpPr/>
              <p:nvPr/>
            </p:nvSpPr>
            <p:spPr>
              <a:xfrm>
                <a:off x="1436132" y="201556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37" name="Oval 36">
                <a:extLst>
                  <a:ext uri="{FF2B5EF4-FFF2-40B4-BE49-F238E27FC236}">
                    <a16:creationId xmlns:a16="http://schemas.microsoft.com/office/drawing/2014/main" id="{7F227369-0C1E-F943-27CF-68FC6464C787}"/>
                  </a:ext>
                </a:extLst>
              </p:cNvPr>
              <p:cNvSpPr/>
              <p:nvPr/>
            </p:nvSpPr>
            <p:spPr>
              <a:xfrm>
                <a:off x="4611455" y="201556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38" name="Oval 37">
                <a:extLst>
                  <a:ext uri="{FF2B5EF4-FFF2-40B4-BE49-F238E27FC236}">
                    <a16:creationId xmlns:a16="http://schemas.microsoft.com/office/drawing/2014/main" id="{BC4CCD29-A32C-EE54-54B9-9E3FF74AAC5E}"/>
                  </a:ext>
                </a:extLst>
              </p:cNvPr>
              <p:cNvSpPr/>
              <p:nvPr/>
            </p:nvSpPr>
            <p:spPr>
              <a:xfrm>
                <a:off x="7478647" y="201556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39" name="Oval 38">
                <a:extLst>
                  <a:ext uri="{FF2B5EF4-FFF2-40B4-BE49-F238E27FC236}">
                    <a16:creationId xmlns:a16="http://schemas.microsoft.com/office/drawing/2014/main" id="{32212433-5F7F-EE24-2523-75DD7ADF2584}"/>
                  </a:ext>
                </a:extLst>
              </p:cNvPr>
              <p:cNvSpPr/>
              <p:nvPr/>
            </p:nvSpPr>
            <p:spPr>
              <a:xfrm>
                <a:off x="10107634" y="201556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p:txBody>
          </p:sp>
          <p:sp>
            <p:nvSpPr>
              <p:cNvPr id="40" name="Oval 39">
                <a:extLst>
                  <a:ext uri="{FF2B5EF4-FFF2-40B4-BE49-F238E27FC236}">
                    <a16:creationId xmlns:a16="http://schemas.microsoft.com/office/drawing/2014/main" id="{FD69DCFA-118A-A841-2A06-97DDD77E70EC}"/>
                  </a:ext>
                </a:extLst>
              </p:cNvPr>
              <p:cNvSpPr/>
              <p:nvPr/>
            </p:nvSpPr>
            <p:spPr>
              <a:xfrm>
                <a:off x="1338580" y="1906433"/>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41" name="Oval 40">
                <a:extLst>
                  <a:ext uri="{FF2B5EF4-FFF2-40B4-BE49-F238E27FC236}">
                    <a16:creationId xmlns:a16="http://schemas.microsoft.com/office/drawing/2014/main" id="{60669B1C-F5DF-E99A-51A9-D19F184C7CEE}"/>
                  </a:ext>
                </a:extLst>
              </p:cNvPr>
              <p:cNvSpPr/>
              <p:nvPr/>
            </p:nvSpPr>
            <p:spPr>
              <a:xfrm>
                <a:off x="4513903" y="1906433"/>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42" name="Oval 41">
                <a:extLst>
                  <a:ext uri="{FF2B5EF4-FFF2-40B4-BE49-F238E27FC236}">
                    <a16:creationId xmlns:a16="http://schemas.microsoft.com/office/drawing/2014/main" id="{118C429F-A909-439B-EAD4-142A83F116B1}"/>
                  </a:ext>
                </a:extLst>
              </p:cNvPr>
              <p:cNvSpPr/>
              <p:nvPr/>
            </p:nvSpPr>
            <p:spPr>
              <a:xfrm>
                <a:off x="7381095" y="1906433"/>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43" name="Oval 42">
                <a:extLst>
                  <a:ext uri="{FF2B5EF4-FFF2-40B4-BE49-F238E27FC236}">
                    <a16:creationId xmlns:a16="http://schemas.microsoft.com/office/drawing/2014/main" id="{45453F69-A05F-E9D1-C307-99FFC3E1EA0A}"/>
                  </a:ext>
                </a:extLst>
              </p:cNvPr>
              <p:cNvSpPr/>
              <p:nvPr/>
            </p:nvSpPr>
            <p:spPr>
              <a:xfrm>
                <a:off x="10010082" y="1906433"/>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p:txBody>
          </p:sp>
          <p:sp>
            <p:nvSpPr>
              <p:cNvPr id="44" name="Rectangle 43">
                <a:extLst>
                  <a:ext uri="{FF2B5EF4-FFF2-40B4-BE49-F238E27FC236}">
                    <a16:creationId xmlns:a16="http://schemas.microsoft.com/office/drawing/2014/main" id="{049AA182-154D-5239-C62D-C2B4927A66B1}"/>
                  </a:ext>
                </a:extLst>
              </p:cNvPr>
              <p:cNvSpPr/>
              <p:nvPr/>
            </p:nvSpPr>
            <p:spPr>
              <a:xfrm>
                <a:off x="0" y="2692997"/>
                <a:ext cx="12192000" cy="765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Ubuntu Light" panose="020B0304030602030204" pitchFamily="34" charset="0"/>
                </a:endParaRPr>
              </a:p>
            </p:txBody>
          </p:sp>
          <p:sp>
            <p:nvSpPr>
              <p:cNvPr id="45" name="Rectangle 44">
                <a:extLst>
                  <a:ext uri="{FF2B5EF4-FFF2-40B4-BE49-F238E27FC236}">
                    <a16:creationId xmlns:a16="http://schemas.microsoft.com/office/drawing/2014/main" id="{C5AA6E7C-8FF6-FA9F-8F81-DBB49CE4640F}"/>
                  </a:ext>
                </a:extLst>
              </p:cNvPr>
              <p:cNvSpPr/>
              <p:nvPr/>
            </p:nvSpPr>
            <p:spPr>
              <a:xfrm>
                <a:off x="419100" y="2773877"/>
                <a:ext cx="3302000"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IN" sz="1400" b="1">
                    <a:solidFill>
                      <a:schemeClr val="bg1"/>
                    </a:solidFill>
                    <a:latin typeface="Ubuntu Light" panose="020B0304030602030204" pitchFamily="34" charset="0"/>
                    <a:ea typeface="Verdana" panose="020B0604030504040204" pitchFamily="34" charset="0"/>
                  </a:rPr>
                  <a:t>Business </a:t>
                </a:r>
              </a:p>
              <a:p>
                <a:pPr lvl="0" algn="ctr">
                  <a:buClr>
                    <a:srgbClr val="0070AD"/>
                  </a:buClr>
                  <a:buSzPct val="120000"/>
                  <a:defRPr/>
                </a:pPr>
                <a:r>
                  <a:rPr lang="en-IN" sz="1400" b="1">
                    <a:solidFill>
                      <a:schemeClr val="bg1"/>
                    </a:solidFill>
                    <a:latin typeface="Ubuntu Light" panose="020B0304030602030204" pitchFamily="34" charset="0"/>
                    <a:ea typeface="Verdana" panose="020B0604030504040204" pitchFamily="34" charset="0"/>
                  </a:rPr>
                  <a:t>Problem</a:t>
                </a:r>
              </a:p>
            </p:txBody>
          </p:sp>
          <p:sp>
            <p:nvSpPr>
              <p:cNvPr id="46" name="Rectangle 45">
                <a:extLst>
                  <a:ext uri="{FF2B5EF4-FFF2-40B4-BE49-F238E27FC236}">
                    <a16:creationId xmlns:a16="http://schemas.microsoft.com/office/drawing/2014/main" id="{CADAA034-6AF3-4319-E165-D7FD6F36D0BD}"/>
                  </a:ext>
                </a:extLst>
              </p:cNvPr>
              <p:cNvSpPr/>
              <p:nvPr/>
            </p:nvSpPr>
            <p:spPr>
              <a:xfrm>
                <a:off x="4201214" y="2773877"/>
                <a:ext cx="2170926"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Why we </a:t>
                </a: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were chosen </a:t>
                </a: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47" name="Rectangle 46">
                <a:extLst>
                  <a:ext uri="{FF2B5EF4-FFF2-40B4-BE49-F238E27FC236}">
                    <a16:creationId xmlns:a16="http://schemas.microsoft.com/office/drawing/2014/main" id="{307B85C0-88C2-C24C-E896-5F2512C5E28E}"/>
                  </a:ext>
                </a:extLst>
              </p:cNvPr>
              <p:cNvSpPr/>
              <p:nvPr/>
            </p:nvSpPr>
            <p:spPr>
              <a:xfrm>
                <a:off x="6879264" y="2773877"/>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rPr>
                  <a:t>Solution</a:t>
                </a:r>
              </a:p>
            </p:txBody>
          </p:sp>
          <p:sp>
            <p:nvSpPr>
              <p:cNvPr id="48" name="Rectangle 47">
                <a:extLst>
                  <a:ext uri="{FF2B5EF4-FFF2-40B4-BE49-F238E27FC236}">
                    <a16:creationId xmlns:a16="http://schemas.microsoft.com/office/drawing/2014/main" id="{EED39FCB-7F83-817A-3A90-37EB3CAE02E1}"/>
                  </a:ext>
                </a:extLst>
              </p:cNvPr>
              <p:cNvSpPr/>
              <p:nvPr/>
            </p:nvSpPr>
            <p:spPr>
              <a:xfrm>
                <a:off x="9508251" y="2773877"/>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Business </a:t>
                </a: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Benefits</a:t>
                </a:r>
                <a:br>
                  <a:rPr lang="en-US" sz="1400" b="1">
                    <a:solidFill>
                      <a:schemeClr val="bg1"/>
                    </a:solidFill>
                    <a:latin typeface="Ubuntu Light" panose="020B0304030602030204" pitchFamily="34" charset="0"/>
                    <a:ea typeface="Verdana" panose="020B0604030504040204" pitchFamily="34" charset="0"/>
                  </a:rPr>
                </a:br>
                <a:endParaRPr lang="en-US" sz="1400" b="1">
                  <a:solidFill>
                    <a:schemeClr val="bg1"/>
                  </a:solidFill>
                  <a:latin typeface="Ubuntu Light" panose="020B0304030602030204" pitchFamily="34" charset="0"/>
                  <a:ea typeface="Verdana" panose="020B0604030504040204" pitchFamily="34" charset="0"/>
                </a:endParaRPr>
              </a:p>
            </p:txBody>
          </p:sp>
          <p:cxnSp>
            <p:nvCxnSpPr>
              <p:cNvPr id="50" name="Straight Connector 49">
                <a:extLst>
                  <a:ext uri="{FF2B5EF4-FFF2-40B4-BE49-F238E27FC236}">
                    <a16:creationId xmlns:a16="http://schemas.microsoft.com/office/drawing/2014/main" id="{34204B9B-AE7A-453F-D3D9-E95DE9779DCD}"/>
                  </a:ext>
                </a:extLst>
              </p:cNvPr>
              <p:cNvCxnSpPr/>
              <p:nvPr/>
            </p:nvCxnSpPr>
            <p:spPr>
              <a:xfrm>
                <a:off x="3721100"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56D2816-B239-960C-C221-AC4CA05CB179}"/>
                  </a:ext>
                </a:extLst>
              </p:cNvPr>
              <p:cNvCxnSpPr/>
              <p:nvPr/>
            </p:nvCxnSpPr>
            <p:spPr>
              <a:xfrm>
                <a:off x="6682631"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FACBC47-5A61-118B-DEB4-BCCA8FF03131}"/>
                  </a:ext>
                </a:extLst>
              </p:cNvPr>
              <p:cNvCxnSpPr/>
              <p:nvPr/>
            </p:nvCxnSpPr>
            <p:spPr>
              <a:xfrm>
                <a:off x="9523375"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D5F78BB-60C0-1AD2-CED8-400063A36818}"/>
                  </a:ext>
                </a:extLst>
              </p:cNvPr>
              <p:cNvCxnSpPr>
                <a:cxnSpLocks/>
              </p:cNvCxnSpPr>
              <p:nvPr/>
            </p:nvCxnSpPr>
            <p:spPr>
              <a:xfrm>
                <a:off x="6682631" y="3285849"/>
                <a:ext cx="0" cy="259107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72CBAD7-E65B-B913-9BC6-E8B07E96CA02}"/>
                  </a:ext>
                </a:extLst>
              </p:cNvPr>
              <p:cNvCxnSpPr>
                <a:cxnSpLocks/>
              </p:cNvCxnSpPr>
              <p:nvPr/>
            </p:nvCxnSpPr>
            <p:spPr>
              <a:xfrm>
                <a:off x="9523375" y="3285849"/>
                <a:ext cx="0" cy="259107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24A4BFAF-DC84-88FD-A276-6BE4551C9E8A}"/>
                  </a:ext>
                </a:extLst>
              </p:cNvPr>
              <p:cNvSpPr/>
              <p:nvPr/>
            </p:nvSpPr>
            <p:spPr>
              <a:xfrm>
                <a:off x="228600" y="3874506"/>
                <a:ext cx="3302000"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b="1">
                    <a:solidFill>
                      <a:schemeClr val="bg1"/>
                    </a:solidFill>
                    <a:latin typeface="Ubuntu Light" panose="020B0304030602030204" pitchFamily="34" charset="0"/>
                  </a:rPr>
                  <a:t>Losing market share</a:t>
                </a:r>
                <a:r>
                  <a:rPr lang="en-US" sz="1100">
                    <a:solidFill>
                      <a:schemeClr val="bg1"/>
                    </a:solidFill>
                    <a:latin typeface="Ubuntu Light" panose="020B0304030602030204" pitchFamily="34" charset="0"/>
                  </a:rPr>
                  <a:t> in B2B space to its nearest competitor due to inferior offerings</a:t>
                </a:r>
              </a:p>
              <a:p>
                <a:pPr marL="171450" indent="-171450">
                  <a:buClr>
                    <a:srgbClr val="0070AD"/>
                  </a:buClr>
                  <a:buSzPct val="120000"/>
                  <a:buFont typeface="Wingdings" panose="05000000000000000000" pitchFamily="2" charset="2"/>
                  <a:buChar char="§"/>
                  <a:defRPr/>
                </a:pPr>
                <a:endParaRPr lang="en-US" sz="1100">
                  <a:solidFill>
                    <a:schemeClr val="bg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b="1">
                    <a:solidFill>
                      <a:schemeClr val="bg1"/>
                    </a:solidFill>
                    <a:latin typeface="Ubuntu Light" panose="020B0304030602030204" pitchFamily="34" charset="0"/>
                  </a:rPr>
                  <a:t>Inability to provide flexibility</a:t>
                </a:r>
                <a:r>
                  <a:rPr lang="en-US" sz="1100">
                    <a:solidFill>
                      <a:schemeClr val="bg1"/>
                    </a:solidFill>
                    <a:latin typeface="Ubuntu Light" panose="020B0304030602030204" pitchFamily="34" charset="0"/>
                  </a:rPr>
                  <a:t> to customer  to take advantage of growing competition </a:t>
                </a:r>
              </a:p>
              <a:p>
                <a:pPr marL="137160" indent="-137160">
                  <a:buClr>
                    <a:srgbClr val="0070AD"/>
                  </a:buClr>
                  <a:buSzPct val="120000"/>
                  <a:buFont typeface="Wingdings" panose="05000000000000000000" pitchFamily="2" charset="2"/>
                  <a:buChar char="§"/>
                  <a:defRPr/>
                </a:pPr>
                <a:endParaRPr lang="en-IN" sz="1100">
                  <a:solidFill>
                    <a:schemeClr val="bg1"/>
                  </a:solidFill>
                  <a:latin typeface="Ubuntu Light" panose="020B0304030602030204" pitchFamily="34" charset="0"/>
                  <a:sym typeface="BentonSans"/>
                </a:endParaRPr>
              </a:p>
              <a:p>
                <a:pPr marL="137160" indent="-137160">
                  <a:buClr>
                    <a:srgbClr val="0070AD"/>
                  </a:buClr>
                  <a:buSzPct val="120000"/>
                  <a:buFont typeface="Wingdings" panose="05000000000000000000" pitchFamily="2" charset="2"/>
                  <a:buChar char="§"/>
                  <a:defRPr/>
                </a:pPr>
                <a:r>
                  <a:rPr lang="en-US" sz="1100">
                    <a:solidFill>
                      <a:schemeClr val="bg1"/>
                    </a:solidFill>
                    <a:latin typeface="Ubuntu Light" panose="020B0304030602030204" pitchFamily="34" charset="0"/>
                  </a:rPr>
                  <a:t>Next gen capability to sales, care application to enable best </a:t>
                </a:r>
                <a:r>
                  <a:rPr lang="en-US" sz="1100" b="1">
                    <a:solidFill>
                      <a:schemeClr val="bg1"/>
                    </a:solidFill>
                    <a:latin typeface="Ubuntu Light" panose="020B0304030602030204" pitchFamily="34" charset="0"/>
                  </a:rPr>
                  <a:t>offer selection and optimized workflows</a:t>
                </a:r>
                <a:r>
                  <a:rPr lang="en-US" sz="1100">
                    <a:solidFill>
                      <a:schemeClr val="bg1"/>
                    </a:solidFill>
                    <a:latin typeface="Ubuntu Light" panose="020B0304030602030204" pitchFamily="34" charset="0"/>
                  </a:rPr>
                  <a:t> for quote to order handling</a:t>
                </a:r>
              </a:p>
              <a:p>
                <a:pPr marL="137160" indent="-137160">
                  <a:buClr>
                    <a:srgbClr val="0070AD"/>
                  </a:buClr>
                  <a:buSzPct val="120000"/>
                  <a:buFont typeface="Wingdings" panose="05000000000000000000" pitchFamily="2" charset="2"/>
                  <a:buChar char="§"/>
                  <a:defRPr/>
                </a:pPr>
                <a:endParaRPr lang="en-US" sz="1100">
                  <a:solidFill>
                    <a:schemeClr val="bg1"/>
                  </a:solidFill>
                  <a:latin typeface="Ubuntu Light" panose="020B0304030602030204" pitchFamily="34" charset="0"/>
                </a:endParaRPr>
              </a:p>
              <a:p>
                <a:pPr marL="137160" indent="-137160">
                  <a:buClr>
                    <a:srgbClr val="0070AD"/>
                  </a:buClr>
                  <a:buSzPct val="120000"/>
                  <a:buFont typeface="Wingdings" panose="05000000000000000000" pitchFamily="2" charset="2"/>
                  <a:buChar char="§"/>
                  <a:defRPr/>
                </a:pPr>
                <a:r>
                  <a:rPr lang="en-US" sz="1100">
                    <a:solidFill>
                      <a:schemeClr val="bg1"/>
                    </a:solidFill>
                    <a:ea typeface="Verdana"/>
                    <a:cs typeface="+mn-lt"/>
                  </a:rPr>
                  <a:t> </a:t>
                </a:r>
                <a:r>
                  <a:rPr lang="en-US" sz="1100" b="1">
                    <a:solidFill>
                      <a:schemeClr val="bg1"/>
                    </a:solidFill>
                    <a:latin typeface="Ubuntu Light" panose="020B0304030602030204" pitchFamily="34" charset="0"/>
                  </a:rPr>
                  <a:t>Stagnant B2B Postpaid customer base</a:t>
                </a:r>
                <a:r>
                  <a:rPr lang="en-US" sz="1100">
                    <a:solidFill>
                      <a:schemeClr val="bg1"/>
                    </a:solidFill>
                    <a:latin typeface="Ubuntu Light" panose="020B0304030602030204" pitchFamily="34" charset="0"/>
                  </a:rPr>
                  <a:t> due to non-availability of Mobile Number Portability (MNP)</a:t>
                </a:r>
              </a:p>
              <a:p>
                <a:pPr marL="137160" indent="-137160">
                  <a:buClr>
                    <a:srgbClr val="0070AD"/>
                  </a:buClr>
                  <a:buSzPct val="120000"/>
                  <a:buFont typeface="Wingdings" panose="05000000000000000000" pitchFamily="2" charset="2"/>
                  <a:buChar char="§"/>
                  <a:defRPr/>
                </a:pPr>
                <a:endParaRPr lang="en-IN" sz="1100">
                  <a:solidFill>
                    <a:schemeClr val="bg1"/>
                  </a:solidFill>
                  <a:latin typeface="Ubuntu" panose="020B0504030602030204" pitchFamily="34" charset="0"/>
                  <a:ea typeface="Verdana" panose="020B0604030504040204" pitchFamily="34" charset="0"/>
                  <a:sym typeface="BentonSans"/>
                </a:endParaRPr>
              </a:p>
            </p:txBody>
          </p:sp>
          <p:sp>
            <p:nvSpPr>
              <p:cNvPr id="56" name="Rectangle 55">
                <a:extLst>
                  <a:ext uri="{FF2B5EF4-FFF2-40B4-BE49-F238E27FC236}">
                    <a16:creationId xmlns:a16="http://schemas.microsoft.com/office/drawing/2014/main" id="{A1135FAC-F511-B67D-BCAD-743A0D431053}"/>
                  </a:ext>
                </a:extLst>
              </p:cNvPr>
              <p:cNvSpPr/>
              <p:nvPr/>
            </p:nvSpPr>
            <p:spPr>
              <a:xfrm>
                <a:off x="3857168" y="3844427"/>
                <a:ext cx="2776507"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a:solidFill>
                      <a:schemeClr val="bg1"/>
                    </a:solidFill>
                    <a:latin typeface="Ubuntu Light" panose="020B0304030602030204" pitchFamily="34" charset="0"/>
                  </a:rPr>
                  <a:t>Capgemini was awarded as the </a:t>
                </a:r>
                <a:r>
                  <a:rPr lang="en-US" sz="1100" b="1">
                    <a:solidFill>
                      <a:schemeClr val="bg1"/>
                    </a:solidFill>
                    <a:latin typeface="Ubuntu Light" panose="020B0304030602030204" pitchFamily="34" charset="0"/>
                  </a:rPr>
                  <a:t>Salesforce Implementation Partner of the year</a:t>
                </a:r>
                <a:r>
                  <a:rPr lang="en-US" sz="1100">
                    <a:solidFill>
                      <a:schemeClr val="bg1"/>
                    </a:solidFill>
                    <a:latin typeface="Ubuntu Light" panose="020B0304030602030204" pitchFamily="34" charset="0"/>
                  </a:rPr>
                  <a:t> across APAC region for the Telco's CRM Transformation</a:t>
                </a:r>
              </a:p>
              <a:p>
                <a:pPr marL="171450" indent="-171450">
                  <a:buClr>
                    <a:srgbClr val="0070AD"/>
                  </a:buClr>
                  <a:buSzPct val="120000"/>
                  <a:buFont typeface="Wingdings" panose="05000000000000000000" pitchFamily="2" charset="2"/>
                  <a:buChar char="§"/>
                  <a:defRPr/>
                </a:pPr>
                <a:endParaRPr lang="en-US" sz="1100">
                  <a:solidFill>
                    <a:schemeClr val="bg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a:solidFill>
                      <a:schemeClr val="bg1"/>
                    </a:solidFill>
                    <a:latin typeface="Ubuntu Light" panose="020B0304030602030204" pitchFamily="34" charset="0"/>
                  </a:rPr>
                  <a:t>Experience with </a:t>
                </a:r>
                <a:r>
                  <a:rPr lang="en-US" sz="1100" b="1">
                    <a:solidFill>
                      <a:schemeClr val="bg1"/>
                    </a:solidFill>
                    <a:latin typeface="Ubuntu Light" panose="020B0304030602030204" pitchFamily="34" charset="0"/>
                  </a:rPr>
                  <a:t>Digital Telco Integration Solution</a:t>
                </a:r>
                <a:r>
                  <a:rPr lang="en-US" sz="1100">
                    <a:solidFill>
                      <a:schemeClr val="bg1"/>
                    </a:solidFill>
                    <a:latin typeface="Ubuntu Light" panose="020B0304030602030204" pitchFamily="34" charset="0"/>
                  </a:rPr>
                  <a:t>  across geographies</a:t>
                </a:r>
              </a:p>
              <a:p>
                <a:pPr marL="171450" indent="-171450">
                  <a:buClr>
                    <a:srgbClr val="0070AD"/>
                  </a:buClr>
                  <a:buSzPct val="120000"/>
                  <a:buFont typeface="Wingdings" panose="05000000000000000000" pitchFamily="2" charset="2"/>
                  <a:buChar char="§"/>
                  <a:defRPr/>
                </a:pPr>
                <a:endParaRPr lang="en-US" sz="1100">
                  <a:solidFill>
                    <a:schemeClr val="bg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a:solidFill>
                      <a:schemeClr val="bg1"/>
                    </a:solidFill>
                    <a:latin typeface="Ubuntu Light" panose="020B0304030602030204" pitchFamily="34" charset="0"/>
                  </a:rPr>
                  <a:t>Capgemini </a:t>
                </a:r>
                <a:r>
                  <a:rPr lang="en-US" sz="1100" b="1">
                    <a:solidFill>
                      <a:schemeClr val="bg1"/>
                    </a:solidFill>
                    <a:latin typeface="Ubuntu Light" panose="020B0304030602030204" pitchFamily="34" charset="0"/>
                  </a:rPr>
                  <a:t>leveraged the integration capabilities</a:t>
                </a:r>
                <a:r>
                  <a:rPr lang="en-US" sz="1100">
                    <a:solidFill>
                      <a:schemeClr val="bg1"/>
                    </a:solidFill>
                    <a:latin typeface="Ubuntu Light" panose="020B0304030602030204" pitchFamily="34" charset="0"/>
                  </a:rPr>
                  <a:t> built with existing Telco's downstream systems to enable 5G offerings for B2B customers</a:t>
                </a:r>
              </a:p>
            </p:txBody>
          </p:sp>
          <p:sp>
            <p:nvSpPr>
              <p:cNvPr id="57" name="Rectangle 56">
                <a:extLst>
                  <a:ext uri="{FF2B5EF4-FFF2-40B4-BE49-F238E27FC236}">
                    <a16:creationId xmlns:a16="http://schemas.microsoft.com/office/drawing/2014/main" id="{4C26EFAF-81E9-8F77-99CD-8E182CB7AA29}"/>
                  </a:ext>
                </a:extLst>
              </p:cNvPr>
              <p:cNvSpPr/>
              <p:nvPr/>
            </p:nvSpPr>
            <p:spPr>
              <a:xfrm>
                <a:off x="6793966" y="3789886"/>
                <a:ext cx="2618075" cy="27311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spcAft>
                    <a:spcPts val="900"/>
                  </a:spcAft>
                  <a:buClr>
                    <a:srgbClr val="0070AD"/>
                  </a:buClr>
                  <a:buSzPct val="120000"/>
                  <a:buFont typeface="Wingdings" panose="05000000000000000000" pitchFamily="2" charset="2"/>
                  <a:buChar char="§"/>
                  <a:defRPr/>
                </a:pPr>
                <a:r>
                  <a:rPr lang="en-US" sz="1100" b="1">
                    <a:solidFill>
                      <a:schemeClr val="bg1"/>
                    </a:solidFill>
                    <a:latin typeface="Ubuntu Light"/>
                  </a:rPr>
                  <a:t>Salesforce Sales and Service Cloud </a:t>
                </a:r>
                <a:r>
                  <a:rPr lang="en-US" sz="1100">
                    <a:solidFill>
                      <a:schemeClr val="bg1"/>
                    </a:solidFill>
                    <a:latin typeface="Ubuntu Light"/>
                  </a:rPr>
                  <a:t>capabilities such as case management, knowledge management, case routing and customer service request</a:t>
                </a:r>
              </a:p>
              <a:p>
                <a:pPr marL="171450" indent="-171450">
                  <a:spcAft>
                    <a:spcPts val="900"/>
                  </a:spcAft>
                  <a:buClr>
                    <a:srgbClr val="0070AD"/>
                  </a:buClr>
                  <a:buSzPct val="120000"/>
                  <a:buFont typeface="Wingdings" panose="05000000000000000000" pitchFamily="2" charset="2"/>
                  <a:buChar char="§"/>
                  <a:defRPr/>
                </a:pPr>
                <a:r>
                  <a:rPr lang="en-US" sz="1100" b="1" err="1">
                    <a:solidFill>
                      <a:schemeClr val="bg1"/>
                    </a:solidFill>
                    <a:latin typeface="Ubuntu Light"/>
                  </a:rPr>
                  <a:t>Vlocity</a:t>
                </a:r>
                <a:r>
                  <a:rPr lang="en-US" sz="1100" b="1">
                    <a:solidFill>
                      <a:schemeClr val="bg1"/>
                    </a:solidFill>
                    <a:latin typeface="Ubuntu Light"/>
                  </a:rPr>
                  <a:t> EPC</a:t>
                </a:r>
                <a:r>
                  <a:rPr lang="en-US" sz="1100">
                    <a:solidFill>
                      <a:schemeClr val="bg1"/>
                    </a:solidFill>
                    <a:latin typeface="Ubuntu Light"/>
                  </a:rPr>
                  <a:t> as enterprise commercial catalogue for product modelling and time-to-market, easy configuration, customization, Bundling of B2B products and plans</a:t>
                </a:r>
              </a:p>
              <a:p>
                <a:pPr marL="171450" indent="-171450">
                  <a:spcAft>
                    <a:spcPts val="900"/>
                  </a:spcAft>
                  <a:buClr>
                    <a:srgbClr val="0070AD"/>
                  </a:buClr>
                  <a:buSzPct val="120000"/>
                  <a:buFont typeface="Wingdings" panose="05000000000000000000" pitchFamily="2" charset="2"/>
                  <a:buChar char="§"/>
                  <a:defRPr/>
                </a:pPr>
                <a:r>
                  <a:rPr lang="en-US" sz="1100" b="1" err="1">
                    <a:solidFill>
                      <a:schemeClr val="bg1"/>
                    </a:solidFill>
                    <a:latin typeface="Ubuntu Light"/>
                  </a:rPr>
                  <a:t>Vlocity</a:t>
                </a:r>
                <a:r>
                  <a:rPr lang="en-US" sz="1100" b="1">
                    <a:solidFill>
                      <a:schemeClr val="bg1"/>
                    </a:solidFill>
                    <a:latin typeface="Ubuntu Light"/>
                  </a:rPr>
                  <a:t> CPQ, </a:t>
                </a:r>
                <a:r>
                  <a:rPr lang="en-US" sz="1100" b="1" err="1">
                    <a:solidFill>
                      <a:schemeClr val="bg1"/>
                    </a:solidFill>
                    <a:latin typeface="Ubuntu Light"/>
                  </a:rPr>
                  <a:t>Vlocity</a:t>
                </a:r>
                <a:r>
                  <a:rPr lang="en-US" sz="1100" b="1">
                    <a:solidFill>
                      <a:schemeClr val="bg1"/>
                    </a:solidFill>
                    <a:latin typeface="Ubuntu Light"/>
                  </a:rPr>
                  <a:t> CLM and </a:t>
                </a:r>
                <a:r>
                  <a:rPr lang="en-US" sz="1100" b="1" err="1">
                    <a:solidFill>
                      <a:schemeClr val="bg1"/>
                    </a:solidFill>
                    <a:latin typeface="Ubuntu Light"/>
                  </a:rPr>
                  <a:t>Vlocity</a:t>
                </a:r>
                <a:r>
                  <a:rPr lang="en-US" sz="1100" b="1">
                    <a:solidFill>
                      <a:schemeClr val="bg1"/>
                    </a:solidFill>
                    <a:latin typeface="Ubuntu Light"/>
                  </a:rPr>
                  <a:t> COM</a:t>
                </a:r>
                <a:r>
                  <a:rPr lang="en-US" sz="1100">
                    <a:solidFill>
                      <a:schemeClr val="bg1"/>
                    </a:solidFill>
                    <a:latin typeface="Ubuntu Light"/>
                  </a:rPr>
                  <a:t> combined with </a:t>
                </a:r>
                <a:r>
                  <a:rPr lang="en-US" sz="1100" b="1" err="1">
                    <a:solidFill>
                      <a:schemeClr val="bg1"/>
                    </a:solidFill>
                    <a:latin typeface="Ubuntu Light"/>
                  </a:rPr>
                  <a:t>Mulesoft</a:t>
                </a:r>
                <a:r>
                  <a:rPr lang="en-US" sz="1100" b="1">
                    <a:solidFill>
                      <a:schemeClr val="bg1"/>
                    </a:solidFill>
                    <a:latin typeface="Ubuntu Light"/>
                  </a:rPr>
                  <a:t> </a:t>
                </a:r>
                <a:r>
                  <a:rPr lang="en-US" sz="1100">
                    <a:solidFill>
                      <a:schemeClr val="bg1"/>
                    </a:solidFill>
                    <a:latin typeface="Ubuntu Light"/>
                  </a:rPr>
                  <a:t>Integration platform  to follow industry standards for a catalogue-driven order management approach</a:t>
                </a:r>
                <a:endParaRPr lang="en-IN" sz="1100">
                  <a:solidFill>
                    <a:schemeClr val="bg1"/>
                  </a:solidFill>
                  <a:latin typeface="Ubuntu Light"/>
                </a:endParaRPr>
              </a:p>
            </p:txBody>
          </p:sp>
          <p:sp>
            <p:nvSpPr>
              <p:cNvPr id="58" name="Rectangle 57">
                <a:extLst>
                  <a:ext uri="{FF2B5EF4-FFF2-40B4-BE49-F238E27FC236}">
                    <a16:creationId xmlns:a16="http://schemas.microsoft.com/office/drawing/2014/main" id="{0DB40DDE-1D1C-10DD-D141-90A7A9CFA3AD}"/>
                  </a:ext>
                </a:extLst>
              </p:cNvPr>
              <p:cNvSpPr/>
              <p:nvPr/>
            </p:nvSpPr>
            <p:spPr>
              <a:xfrm>
                <a:off x="9614242" y="3844426"/>
                <a:ext cx="2244371" cy="2591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b="1">
                    <a:solidFill>
                      <a:schemeClr val="bg1"/>
                    </a:solidFill>
                    <a:latin typeface="Ubuntu Light" panose="020B0304030602030204" pitchFamily="34" charset="0"/>
                  </a:rPr>
                  <a:t>Faster lead conversion </a:t>
                </a:r>
                <a:r>
                  <a:rPr lang="en-US" sz="1100">
                    <a:solidFill>
                      <a:schemeClr val="bg1"/>
                    </a:solidFill>
                    <a:latin typeface="Ubuntu Light" panose="020B0304030602030204" pitchFamily="34" charset="0"/>
                  </a:rPr>
                  <a:t>rate; 100K conversions within 6 months post launch </a:t>
                </a:r>
              </a:p>
              <a:p>
                <a:pPr marL="171450" indent="-171450">
                  <a:buClr>
                    <a:srgbClr val="0070AD"/>
                  </a:buClr>
                  <a:buSzPct val="120000"/>
                  <a:buFont typeface="Wingdings" panose="05000000000000000000" pitchFamily="2" charset="2"/>
                  <a:buChar char="§"/>
                  <a:defRPr/>
                </a:pPr>
                <a:endParaRPr lang="en-US" sz="1100">
                  <a:solidFill>
                    <a:schemeClr val="bg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a:solidFill>
                      <a:schemeClr val="bg1"/>
                    </a:solidFill>
                    <a:latin typeface="Ubuntu Light" panose="020B0304030602030204" pitchFamily="34" charset="0"/>
                  </a:rPr>
                  <a:t>Better Opportunity win rate; </a:t>
                </a:r>
                <a:r>
                  <a:rPr lang="en-IN" sz="1100" b="1">
                    <a:solidFill>
                      <a:schemeClr val="bg1"/>
                    </a:solidFill>
                    <a:latin typeface="Ubuntu Light" panose="020B0304030602030204" pitchFamily="34" charset="0"/>
                  </a:rPr>
                  <a:t>Increased cross-sell/up-sell </a:t>
                </a:r>
                <a:r>
                  <a:rPr lang="en-IN" sz="1100">
                    <a:solidFill>
                      <a:schemeClr val="bg1"/>
                    </a:solidFill>
                    <a:latin typeface="Ubuntu Light" panose="020B0304030602030204" pitchFamily="34" charset="0"/>
                  </a:rPr>
                  <a:t>by 25%</a:t>
                </a:r>
              </a:p>
              <a:p>
                <a:pPr>
                  <a:buClr>
                    <a:srgbClr val="0070AD"/>
                  </a:buClr>
                  <a:buSzPct val="120000"/>
                  <a:defRPr/>
                </a:pPr>
                <a:endParaRPr lang="en-US" sz="1100">
                  <a:solidFill>
                    <a:schemeClr val="bg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b="1">
                    <a:solidFill>
                      <a:schemeClr val="bg1"/>
                    </a:solidFill>
                    <a:latin typeface="Ubuntu Light" panose="020B0304030602030204" pitchFamily="34" charset="0"/>
                  </a:rPr>
                  <a:t>Fully automated and integrated </a:t>
                </a:r>
                <a:r>
                  <a:rPr lang="en-US" sz="1100">
                    <a:solidFill>
                      <a:schemeClr val="bg1"/>
                    </a:solidFill>
                    <a:latin typeface="Ubuntu Light" panose="020B0304030602030204" pitchFamily="34" charset="0"/>
                  </a:rPr>
                  <a:t>systems for provisioning; Faster turnaround on the quotes &amp; order from 2-3 days to 10 min</a:t>
                </a:r>
                <a:endParaRPr lang="en-IN" sz="1100">
                  <a:solidFill>
                    <a:schemeClr val="bg1"/>
                  </a:solidFill>
                  <a:latin typeface="Ubuntu Light" panose="020B0304030602030204" pitchFamily="34" charset="0"/>
                </a:endParaRPr>
              </a:p>
            </p:txBody>
          </p:sp>
          <p:cxnSp>
            <p:nvCxnSpPr>
              <p:cNvPr id="59" name="Straight Connector 58">
                <a:extLst>
                  <a:ext uri="{FF2B5EF4-FFF2-40B4-BE49-F238E27FC236}">
                    <a16:creationId xmlns:a16="http://schemas.microsoft.com/office/drawing/2014/main" id="{15D4BE7B-ACDD-B32D-5FDC-73B28FAE1AF4}"/>
                  </a:ext>
                </a:extLst>
              </p:cNvPr>
              <p:cNvCxnSpPr>
                <a:cxnSpLocks/>
              </p:cNvCxnSpPr>
              <p:nvPr/>
            </p:nvCxnSpPr>
            <p:spPr>
              <a:xfrm>
                <a:off x="3721100" y="3285849"/>
                <a:ext cx="0" cy="249582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grpSp>
        <p:pic>
          <p:nvPicPr>
            <p:cNvPr id="7" name="Picture 6" descr="Shape&#10;&#10;Description automatically generated with low confidence">
              <a:extLst>
                <a:ext uri="{FF2B5EF4-FFF2-40B4-BE49-F238E27FC236}">
                  <a16:creationId xmlns:a16="http://schemas.microsoft.com/office/drawing/2014/main" id="{774A5D52-645D-A6F4-0E96-9F2FB168AA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5046" y="2554555"/>
              <a:ext cx="570108" cy="507747"/>
            </a:xfrm>
            <a:prstGeom prst="rect">
              <a:avLst/>
            </a:prstGeom>
          </p:spPr>
        </p:pic>
        <p:pic>
          <p:nvPicPr>
            <p:cNvPr id="33" name="Picture 32" descr="Shape&#10;&#10;Description automatically generated with low confidence">
              <a:extLst>
                <a:ext uri="{FF2B5EF4-FFF2-40B4-BE49-F238E27FC236}">
                  <a16:creationId xmlns:a16="http://schemas.microsoft.com/office/drawing/2014/main" id="{A08EE523-E662-99AD-D18D-3BAFFB6A62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3382" y="2552051"/>
              <a:ext cx="524081" cy="524081"/>
            </a:xfrm>
            <a:prstGeom prst="rect">
              <a:avLst/>
            </a:prstGeom>
          </p:spPr>
        </p:pic>
        <p:pic>
          <p:nvPicPr>
            <p:cNvPr id="34" name="Picture 33" descr="Shape&#10;&#10;Description automatically generated with low confidence">
              <a:extLst>
                <a:ext uri="{FF2B5EF4-FFF2-40B4-BE49-F238E27FC236}">
                  <a16:creationId xmlns:a16="http://schemas.microsoft.com/office/drawing/2014/main" id="{65EED7EC-48AD-1045-6AAA-12D95A31C6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flipV="1">
              <a:off x="7879100" y="2627822"/>
              <a:ext cx="467030" cy="467030"/>
            </a:xfrm>
            <a:prstGeom prst="rect">
              <a:avLst/>
            </a:prstGeom>
          </p:spPr>
        </p:pic>
        <p:pic>
          <p:nvPicPr>
            <p:cNvPr id="35" name="Picture 34" descr="Shape&#10;&#10;Description automatically generated with low confidence">
              <a:extLst>
                <a:ext uri="{FF2B5EF4-FFF2-40B4-BE49-F238E27FC236}">
                  <a16:creationId xmlns:a16="http://schemas.microsoft.com/office/drawing/2014/main" id="{B29BD5C6-3FC4-8151-5940-31B8957F20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03608" y="2541014"/>
              <a:ext cx="504520" cy="504520"/>
            </a:xfrm>
            <a:prstGeom prst="rect">
              <a:avLst/>
            </a:prstGeom>
          </p:spPr>
        </p:pic>
      </p:grpSp>
      <p:pic>
        <p:nvPicPr>
          <p:cNvPr id="60" name="Picture 59">
            <a:extLst>
              <a:ext uri="{FF2B5EF4-FFF2-40B4-BE49-F238E27FC236}">
                <a16:creationId xmlns:a16="http://schemas.microsoft.com/office/drawing/2014/main" id="{0DE394FA-80BC-70B0-3648-EC92F9674C0D}"/>
              </a:ext>
            </a:extLst>
          </p:cNvPr>
          <p:cNvPicPr>
            <a:picLocks noChangeAspect="1"/>
          </p:cNvPicPr>
          <p:nvPr/>
        </p:nvPicPr>
        <p:blipFill>
          <a:blip r:embed="rId6"/>
          <a:stretch>
            <a:fillRect/>
          </a:stretch>
        </p:blipFill>
        <p:spPr>
          <a:xfrm>
            <a:off x="10595509" y="0"/>
            <a:ext cx="1237002" cy="696510"/>
          </a:xfrm>
          <a:prstGeom prst="rect">
            <a:avLst/>
          </a:prstGeom>
        </p:spPr>
      </p:pic>
      <p:sp>
        <p:nvSpPr>
          <p:cNvPr id="2" name="Text Placeholder 3">
            <a:extLst>
              <a:ext uri="{FF2B5EF4-FFF2-40B4-BE49-F238E27FC236}">
                <a16:creationId xmlns:a16="http://schemas.microsoft.com/office/drawing/2014/main" id="{CE65D449-0FE7-CB0B-2529-DC7067645BBB}"/>
              </a:ext>
            </a:extLst>
          </p:cNvPr>
          <p:cNvSpPr txBox="1">
            <a:spLocks/>
          </p:cNvSpPr>
          <p:nvPr/>
        </p:nvSpPr>
        <p:spPr>
          <a:xfrm>
            <a:off x="576523" y="931158"/>
            <a:ext cx="11064616" cy="705075"/>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accent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1"/>
              </a:buClr>
              <a:buFont typeface="Arial" panose="020B0604020202020204" pitchFamily="34" charset="0"/>
              <a:buChar char="•"/>
              <a:tabLst/>
              <a:defRPr sz="14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600" b="1">
                <a:latin typeface="Ubuntu"/>
              </a:rPr>
              <a:t>Launched innovative solutions to market faster &amp; serve with unparalleled agility. </a:t>
            </a:r>
          </a:p>
          <a:p>
            <a:r>
              <a:rPr lang="en-IN" sz="1600" b="1">
                <a:latin typeface="Ubuntu"/>
              </a:rPr>
              <a:t>Empowered Telco’s digital vision, Increased competitiveness, enabled digital experience for the customers.</a:t>
            </a:r>
            <a:endParaRPr lang="en-US">
              <a:latin typeface="Ubuntu"/>
            </a:endParaRPr>
          </a:p>
          <a:p>
            <a:endParaRPr lang="en-IN" sz="1600" b="1">
              <a:solidFill>
                <a:srgbClr val="2B143D"/>
              </a:solidFill>
            </a:endParaRPr>
          </a:p>
        </p:txBody>
      </p:sp>
      <p:sp>
        <p:nvSpPr>
          <p:cNvPr id="3" name="TextBox 2">
            <a:extLst>
              <a:ext uri="{FF2B5EF4-FFF2-40B4-BE49-F238E27FC236}">
                <a16:creationId xmlns:a16="http://schemas.microsoft.com/office/drawing/2014/main" id="{AAB620DF-9FB1-B217-2501-53D78328F337}"/>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8" name="Date Placeholder 5">
            <a:extLst>
              <a:ext uri="{FF2B5EF4-FFF2-40B4-BE49-F238E27FC236}">
                <a16:creationId xmlns:a16="http://schemas.microsoft.com/office/drawing/2014/main" id="{6A16E5A3-E214-5B57-55D6-923C3A59A53F}"/>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9" name="Date Placeholder 5">
            <a:extLst>
              <a:ext uri="{FF2B5EF4-FFF2-40B4-BE49-F238E27FC236}">
                <a16:creationId xmlns:a16="http://schemas.microsoft.com/office/drawing/2014/main" id="{6EC7A7D2-0497-4279-9800-74EC327DCFEF}"/>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28</a:t>
            </a:r>
          </a:p>
        </p:txBody>
      </p:sp>
    </p:spTree>
    <p:extLst>
      <p:ext uri="{BB962C8B-B14F-4D97-AF65-F5344CB8AC3E}">
        <p14:creationId xmlns:p14="http://schemas.microsoft.com/office/powerpoint/2010/main" val="12657151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72E19-2D27-E23C-45CE-63168642B303}"/>
            </a:ext>
          </a:extLst>
        </p:cNvPr>
        <p:cNvGrpSpPr/>
        <p:nvPr/>
      </p:nvGrpSpPr>
      <p:grpSpPr>
        <a:xfrm>
          <a:off x="0" y="0"/>
          <a:ext cx="0" cy="0"/>
          <a:chOff x="0" y="0"/>
          <a:chExt cx="0" cy="0"/>
        </a:xfrm>
      </p:grpSpPr>
      <p:sp>
        <p:nvSpPr>
          <p:cNvPr id="2" name="Titre 7">
            <a:extLst>
              <a:ext uri="{FF2B5EF4-FFF2-40B4-BE49-F238E27FC236}">
                <a16:creationId xmlns:a16="http://schemas.microsoft.com/office/drawing/2014/main" id="{C76DFD3A-8C98-E900-DBEB-574470393E8B}"/>
              </a:ext>
            </a:extLst>
          </p:cNvPr>
          <p:cNvSpPr>
            <a:spLocks noGrp="1"/>
          </p:cNvSpPr>
          <p:nvPr>
            <p:ph type="title"/>
          </p:nvPr>
        </p:nvSpPr>
        <p:spPr>
          <a:xfrm>
            <a:off x="571676" y="274894"/>
            <a:ext cx="10405293" cy="705075"/>
          </a:xfrm>
        </p:spPr>
        <p:txBody>
          <a:bodyPr vert="horz" lIns="0" tIns="0" rIns="0" bIns="180000" rtlCol="0" anchor="t" anchorCtr="0">
            <a:noAutofit/>
          </a:bodyPr>
          <a:lstStyle/>
          <a:p>
            <a:r>
              <a:rPr lang="en-US" sz="2400"/>
              <a:t>Operating Model Transformation to Enable Agility and Accountability for a Leading APAC Telco</a:t>
            </a:r>
            <a:endParaRPr lang="fr-FR" sz="2400"/>
          </a:p>
        </p:txBody>
      </p:sp>
      <p:grpSp>
        <p:nvGrpSpPr>
          <p:cNvPr id="3" name="Group 2">
            <a:extLst>
              <a:ext uri="{FF2B5EF4-FFF2-40B4-BE49-F238E27FC236}">
                <a16:creationId xmlns:a16="http://schemas.microsoft.com/office/drawing/2014/main" id="{F1FCAF0D-C2F0-7111-E445-0EAB53E00A47}"/>
              </a:ext>
            </a:extLst>
          </p:cNvPr>
          <p:cNvGrpSpPr/>
          <p:nvPr/>
        </p:nvGrpSpPr>
        <p:grpSpPr>
          <a:xfrm>
            <a:off x="0" y="1652049"/>
            <a:ext cx="12192000" cy="4735625"/>
            <a:chOff x="0" y="1726191"/>
            <a:chExt cx="12192000" cy="4735625"/>
          </a:xfrm>
        </p:grpSpPr>
        <p:grpSp>
          <p:nvGrpSpPr>
            <p:cNvPr id="4" name="Group 3">
              <a:extLst>
                <a:ext uri="{FF2B5EF4-FFF2-40B4-BE49-F238E27FC236}">
                  <a16:creationId xmlns:a16="http://schemas.microsoft.com/office/drawing/2014/main" id="{5F7E77C1-977F-D4DC-746B-AD2B57C44B4C}"/>
                </a:ext>
              </a:extLst>
            </p:cNvPr>
            <p:cNvGrpSpPr/>
            <p:nvPr/>
          </p:nvGrpSpPr>
          <p:grpSpPr>
            <a:xfrm>
              <a:off x="0" y="1726191"/>
              <a:ext cx="12192000" cy="4735625"/>
              <a:chOff x="0" y="1894858"/>
              <a:chExt cx="12192000" cy="4735625"/>
            </a:xfrm>
          </p:grpSpPr>
          <p:sp>
            <p:nvSpPr>
              <p:cNvPr id="9" name="Oval 8">
                <a:extLst>
                  <a:ext uri="{FF2B5EF4-FFF2-40B4-BE49-F238E27FC236}">
                    <a16:creationId xmlns:a16="http://schemas.microsoft.com/office/drawing/2014/main" id="{EA91E46C-5A00-A4CB-0B27-10CFA4CB1D57}"/>
                  </a:ext>
                </a:extLst>
              </p:cNvPr>
              <p:cNvSpPr/>
              <p:nvPr/>
            </p:nvSpPr>
            <p:spPr>
              <a:xfrm>
                <a:off x="1436132" y="19924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0" name="Oval 9">
                <a:extLst>
                  <a:ext uri="{FF2B5EF4-FFF2-40B4-BE49-F238E27FC236}">
                    <a16:creationId xmlns:a16="http://schemas.microsoft.com/office/drawing/2014/main" id="{27E8F932-A465-5707-04E2-D472DCB3F2DA}"/>
                  </a:ext>
                </a:extLst>
              </p:cNvPr>
              <p:cNvSpPr/>
              <p:nvPr/>
            </p:nvSpPr>
            <p:spPr>
              <a:xfrm>
                <a:off x="4611455" y="19924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1" name="Oval 10">
                <a:extLst>
                  <a:ext uri="{FF2B5EF4-FFF2-40B4-BE49-F238E27FC236}">
                    <a16:creationId xmlns:a16="http://schemas.microsoft.com/office/drawing/2014/main" id="{C4BD63D5-FAFC-7BA8-9352-0C8CA30A7D60}"/>
                  </a:ext>
                </a:extLst>
              </p:cNvPr>
              <p:cNvSpPr/>
              <p:nvPr/>
            </p:nvSpPr>
            <p:spPr>
              <a:xfrm>
                <a:off x="7478647" y="19924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2" name="Oval 11">
                <a:extLst>
                  <a:ext uri="{FF2B5EF4-FFF2-40B4-BE49-F238E27FC236}">
                    <a16:creationId xmlns:a16="http://schemas.microsoft.com/office/drawing/2014/main" id="{F7B83FE7-1924-4D04-FF03-285E3BFE2924}"/>
                  </a:ext>
                </a:extLst>
              </p:cNvPr>
              <p:cNvSpPr/>
              <p:nvPr/>
            </p:nvSpPr>
            <p:spPr>
              <a:xfrm>
                <a:off x="10107634" y="19924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p:txBody>
          </p:sp>
          <p:sp>
            <p:nvSpPr>
              <p:cNvPr id="13" name="Oval 12">
                <a:extLst>
                  <a:ext uri="{FF2B5EF4-FFF2-40B4-BE49-F238E27FC236}">
                    <a16:creationId xmlns:a16="http://schemas.microsoft.com/office/drawing/2014/main" id="{8FAED320-6202-7749-7980-73700AD77C27}"/>
                  </a:ext>
                </a:extLst>
              </p:cNvPr>
              <p:cNvSpPr/>
              <p:nvPr/>
            </p:nvSpPr>
            <p:spPr>
              <a:xfrm>
                <a:off x="1338580" y="18948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4" name="Oval 13">
                <a:extLst>
                  <a:ext uri="{FF2B5EF4-FFF2-40B4-BE49-F238E27FC236}">
                    <a16:creationId xmlns:a16="http://schemas.microsoft.com/office/drawing/2014/main" id="{BE184477-DA1D-DC34-B85A-63AC1EF074C1}"/>
                  </a:ext>
                </a:extLst>
              </p:cNvPr>
              <p:cNvSpPr/>
              <p:nvPr/>
            </p:nvSpPr>
            <p:spPr>
              <a:xfrm>
                <a:off x="4513903" y="18948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5" name="Oval 14">
                <a:extLst>
                  <a:ext uri="{FF2B5EF4-FFF2-40B4-BE49-F238E27FC236}">
                    <a16:creationId xmlns:a16="http://schemas.microsoft.com/office/drawing/2014/main" id="{87DD4BEF-472A-5986-A628-89F7E9F0CB4B}"/>
                  </a:ext>
                </a:extLst>
              </p:cNvPr>
              <p:cNvSpPr/>
              <p:nvPr/>
            </p:nvSpPr>
            <p:spPr>
              <a:xfrm>
                <a:off x="7381095" y="18948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6" name="Oval 15">
                <a:extLst>
                  <a:ext uri="{FF2B5EF4-FFF2-40B4-BE49-F238E27FC236}">
                    <a16:creationId xmlns:a16="http://schemas.microsoft.com/office/drawing/2014/main" id="{9457986F-E60D-FACE-38BD-0765B85B433B}"/>
                  </a:ext>
                </a:extLst>
              </p:cNvPr>
              <p:cNvSpPr/>
              <p:nvPr/>
            </p:nvSpPr>
            <p:spPr>
              <a:xfrm>
                <a:off x="10010082" y="18948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p:txBody>
          </p:sp>
          <p:sp>
            <p:nvSpPr>
              <p:cNvPr id="17" name="Rectangle 16">
                <a:extLst>
                  <a:ext uri="{FF2B5EF4-FFF2-40B4-BE49-F238E27FC236}">
                    <a16:creationId xmlns:a16="http://schemas.microsoft.com/office/drawing/2014/main" id="{64700807-6654-6710-A12A-5F74C1FE72F3}"/>
                  </a:ext>
                </a:extLst>
              </p:cNvPr>
              <p:cNvSpPr/>
              <p:nvPr/>
            </p:nvSpPr>
            <p:spPr>
              <a:xfrm>
                <a:off x="0" y="2692997"/>
                <a:ext cx="12192000" cy="76967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Ubuntu Light" panose="020B0304030602030204" pitchFamily="34" charset="0"/>
                </a:endParaRPr>
              </a:p>
            </p:txBody>
          </p:sp>
          <p:sp>
            <p:nvSpPr>
              <p:cNvPr id="18" name="Rectangle 17">
                <a:extLst>
                  <a:ext uri="{FF2B5EF4-FFF2-40B4-BE49-F238E27FC236}">
                    <a16:creationId xmlns:a16="http://schemas.microsoft.com/office/drawing/2014/main" id="{E9BDC17B-58A3-EA52-79CF-E035B6A23E84}"/>
                  </a:ext>
                </a:extLst>
              </p:cNvPr>
              <p:cNvSpPr/>
              <p:nvPr/>
            </p:nvSpPr>
            <p:spPr>
              <a:xfrm>
                <a:off x="419100" y="2716002"/>
                <a:ext cx="3302000"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IN" sz="1400" b="1">
                    <a:solidFill>
                      <a:schemeClr val="bg1"/>
                    </a:solidFill>
                    <a:latin typeface="Ubuntu Light" panose="020B0304030602030204" pitchFamily="34" charset="0"/>
                    <a:ea typeface="Verdana" panose="020B0604030504040204" pitchFamily="34" charset="0"/>
                  </a:rPr>
                  <a:t>Business </a:t>
                </a:r>
              </a:p>
              <a:p>
                <a:pPr lvl="0" algn="ctr">
                  <a:buClr>
                    <a:srgbClr val="0070AD"/>
                  </a:buClr>
                  <a:buSzPct val="120000"/>
                  <a:defRPr/>
                </a:pPr>
                <a:r>
                  <a:rPr lang="en-IN" sz="1400" b="1">
                    <a:solidFill>
                      <a:schemeClr val="bg1"/>
                    </a:solidFill>
                    <a:latin typeface="Ubuntu Light" panose="020B0304030602030204" pitchFamily="34" charset="0"/>
                    <a:ea typeface="Verdana" panose="020B0604030504040204" pitchFamily="34" charset="0"/>
                  </a:rPr>
                  <a:t>Problem</a:t>
                </a:r>
              </a:p>
            </p:txBody>
          </p:sp>
          <p:sp>
            <p:nvSpPr>
              <p:cNvPr id="19" name="Rectangle 18">
                <a:extLst>
                  <a:ext uri="{FF2B5EF4-FFF2-40B4-BE49-F238E27FC236}">
                    <a16:creationId xmlns:a16="http://schemas.microsoft.com/office/drawing/2014/main" id="{0DEB3E02-32E4-1EBC-253F-6E2E4550970A}"/>
                  </a:ext>
                </a:extLst>
              </p:cNvPr>
              <p:cNvSpPr/>
              <p:nvPr/>
            </p:nvSpPr>
            <p:spPr>
              <a:xfrm>
                <a:off x="4201214" y="2716002"/>
                <a:ext cx="2170926"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Why we </a:t>
                </a: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were chosen </a:t>
                </a: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20" name="Rectangle 19">
                <a:extLst>
                  <a:ext uri="{FF2B5EF4-FFF2-40B4-BE49-F238E27FC236}">
                    <a16:creationId xmlns:a16="http://schemas.microsoft.com/office/drawing/2014/main" id="{1D70D452-C3CC-B667-DBCA-10204772AB72}"/>
                  </a:ext>
                </a:extLst>
              </p:cNvPr>
              <p:cNvSpPr/>
              <p:nvPr/>
            </p:nvSpPr>
            <p:spPr>
              <a:xfrm>
                <a:off x="6879264"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rPr>
                  <a:t>Solution</a:t>
                </a:r>
              </a:p>
            </p:txBody>
          </p:sp>
          <p:sp>
            <p:nvSpPr>
              <p:cNvPr id="21" name="Rectangle 20">
                <a:extLst>
                  <a:ext uri="{FF2B5EF4-FFF2-40B4-BE49-F238E27FC236}">
                    <a16:creationId xmlns:a16="http://schemas.microsoft.com/office/drawing/2014/main" id="{26CB0E8D-10BB-DBB5-854C-3D9BD51C1D58}"/>
                  </a:ext>
                </a:extLst>
              </p:cNvPr>
              <p:cNvSpPr/>
              <p:nvPr/>
            </p:nvSpPr>
            <p:spPr>
              <a:xfrm>
                <a:off x="9508251"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Business </a:t>
                </a: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Benefits</a:t>
                </a:r>
                <a:br>
                  <a:rPr lang="en-US" sz="1400" b="1">
                    <a:solidFill>
                      <a:schemeClr val="bg1"/>
                    </a:solidFill>
                    <a:latin typeface="Ubuntu Light" panose="020B0304030602030204" pitchFamily="34" charset="0"/>
                    <a:ea typeface="Verdana" panose="020B0604030504040204" pitchFamily="34" charset="0"/>
                  </a:rPr>
                </a:br>
                <a:endParaRPr lang="en-US" sz="1400" b="1">
                  <a:solidFill>
                    <a:schemeClr val="bg1"/>
                  </a:solidFill>
                  <a:latin typeface="Ubuntu Light" panose="020B0304030602030204" pitchFamily="34" charset="0"/>
                  <a:ea typeface="Verdana" panose="020B0604030504040204" pitchFamily="34" charset="0"/>
                </a:endParaRPr>
              </a:p>
            </p:txBody>
          </p:sp>
          <p:cxnSp>
            <p:nvCxnSpPr>
              <p:cNvPr id="23" name="Straight Connector 22">
                <a:extLst>
                  <a:ext uri="{FF2B5EF4-FFF2-40B4-BE49-F238E27FC236}">
                    <a16:creationId xmlns:a16="http://schemas.microsoft.com/office/drawing/2014/main" id="{210433AA-2EB4-8676-A804-7F0108480092}"/>
                  </a:ext>
                </a:extLst>
              </p:cNvPr>
              <p:cNvCxnSpPr/>
              <p:nvPr/>
            </p:nvCxnSpPr>
            <p:spPr>
              <a:xfrm>
                <a:off x="3721100"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88C92EB-68E7-7070-3C6B-05D6339F4B0C}"/>
                  </a:ext>
                </a:extLst>
              </p:cNvPr>
              <p:cNvCxnSpPr/>
              <p:nvPr/>
            </p:nvCxnSpPr>
            <p:spPr>
              <a:xfrm>
                <a:off x="6682631"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F8D1186-70BD-B475-0C02-DA7C54603ECD}"/>
                  </a:ext>
                </a:extLst>
              </p:cNvPr>
              <p:cNvCxnSpPr/>
              <p:nvPr/>
            </p:nvCxnSpPr>
            <p:spPr>
              <a:xfrm>
                <a:off x="9523375"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40B8FC-B2D1-C344-7896-FB8242C6CFD7}"/>
                  </a:ext>
                </a:extLst>
              </p:cNvPr>
              <p:cNvCxnSpPr>
                <a:cxnSpLocks/>
              </p:cNvCxnSpPr>
              <p:nvPr/>
            </p:nvCxnSpPr>
            <p:spPr>
              <a:xfrm>
                <a:off x="6682631" y="3285849"/>
                <a:ext cx="0" cy="2915190"/>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7734309-F851-0F2E-D9BE-8AA5765B3B9B}"/>
                  </a:ext>
                </a:extLst>
              </p:cNvPr>
              <p:cNvCxnSpPr>
                <a:cxnSpLocks/>
              </p:cNvCxnSpPr>
              <p:nvPr/>
            </p:nvCxnSpPr>
            <p:spPr>
              <a:xfrm>
                <a:off x="9523375" y="3285849"/>
                <a:ext cx="0" cy="2969730"/>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AF4988FB-8DF8-8021-0372-35CF13F4D01F}"/>
                  </a:ext>
                </a:extLst>
              </p:cNvPr>
              <p:cNvSpPr/>
              <p:nvPr/>
            </p:nvSpPr>
            <p:spPr>
              <a:xfrm>
                <a:off x="228600" y="3929370"/>
                <a:ext cx="3302000"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kumimoji="0" lang="en-US" sz="1100" b="0" i="0" u="none" strike="noStrike" kern="1200" cap="none" spc="0" normalizeH="0" baseline="0" noProof="0">
                    <a:ln>
                      <a:noFill/>
                    </a:ln>
                    <a:solidFill>
                      <a:schemeClr val="bg1"/>
                    </a:solidFill>
                    <a:effectLst/>
                    <a:uLnTx/>
                    <a:uFillTx/>
                    <a:latin typeface="Ubuntu Light" panose="020B0304030602030204" pitchFamily="34" charset="0"/>
                  </a:rPr>
                  <a:t>Telco’s technical services function is distributed across many divisions and departments, and has evolved such that, there are several “Shadow” IT Functions where business or digital teams are </a:t>
                </a:r>
                <a:r>
                  <a:rPr kumimoji="0" lang="en-US" sz="1100" b="1" i="0" u="none" strike="noStrike" kern="1200" cap="none" spc="0" normalizeH="0" baseline="0" noProof="0">
                    <a:ln>
                      <a:noFill/>
                    </a:ln>
                    <a:solidFill>
                      <a:schemeClr val="bg1"/>
                    </a:solidFill>
                    <a:effectLst/>
                    <a:uLnTx/>
                    <a:uFillTx/>
                    <a:latin typeface="Ubuntu Light" panose="020B0304030602030204" pitchFamily="34" charset="0"/>
                  </a:rPr>
                  <a:t>making isolated decisions</a:t>
                </a:r>
                <a:r>
                  <a:rPr kumimoji="0" lang="en-US" sz="1100" b="0" i="0" u="none" strike="noStrike" kern="1200" cap="none" spc="0" normalizeH="0" baseline="0" noProof="0">
                    <a:ln>
                      <a:noFill/>
                    </a:ln>
                    <a:solidFill>
                      <a:schemeClr val="bg1"/>
                    </a:solidFill>
                    <a:effectLst/>
                    <a:uLnTx/>
                    <a:uFillTx/>
                    <a:latin typeface="Ubuntu Light" panose="020B0304030602030204" pitchFamily="34" charset="0"/>
                  </a:rPr>
                  <a:t>, including software selections, choosing implementation partners, and then transitioning IT support to ISG. </a:t>
                </a:r>
              </a:p>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kumimoji="0" lang="en-IN" sz="1100" b="0" i="0" u="none" strike="noStrike" kern="1200" cap="none" spc="0" normalizeH="0" baseline="0" noProof="0">
                    <a:ln>
                      <a:noFill/>
                    </a:ln>
                    <a:solidFill>
                      <a:schemeClr val="bg1"/>
                    </a:solidFill>
                    <a:effectLst/>
                    <a:uLnTx/>
                    <a:uFillTx/>
                    <a:latin typeface="Ubuntu Light" panose="020B0304030602030204" pitchFamily="34" charset="0"/>
                  </a:rPr>
                  <a:t>Lack of alignment in vision, </a:t>
                </a:r>
                <a:r>
                  <a:rPr kumimoji="0" lang="en-IN" sz="1100" b="1" i="0" u="none" strike="noStrike" kern="1200" cap="none" spc="0" normalizeH="0" baseline="0" noProof="0">
                    <a:ln>
                      <a:noFill/>
                    </a:ln>
                    <a:solidFill>
                      <a:schemeClr val="bg1"/>
                    </a:solidFill>
                    <a:effectLst/>
                    <a:uLnTx/>
                    <a:uFillTx/>
                    <a:latin typeface="Ubuntu Light" panose="020B0304030602030204" pitchFamily="34" charset="0"/>
                  </a:rPr>
                  <a:t>fragmented collaboration and siloed operations</a:t>
                </a:r>
                <a:r>
                  <a:rPr kumimoji="0" lang="en-IN" sz="1100" b="0" i="0" u="none" strike="noStrike" kern="1200" cap="none" spc="0" normalizeH="0" baseline="0" noProof="0">
                    <a:ln>
                      <a:noFill/>
                    </a:ln>
                    <a:solidFill>
                      <a:schemeClr val="bg1"/>
                    </a:solidFill>
                    <a:effectLst/>
                    <a:uLnTx/>
                    <a:uFillTx/>
                    <a:latin typeface="Ubuntu Light" panose="020B0304030602030204" pitchFamily="34" charset="0"/>
                  </a:rPr>
                  <a:t> is a major cause for concern for OCIO</a:t>
                </a:r>
              </a:p>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kumimoji="0" lang="en-IN" sz="1100" b="0" i="0" u="none" strike="noStrike" kern="1200" cap="none" spc="0" normalizeH="0" baseline="0" noProof="0">
                    <a:ln>
                      <a:noFill/>
                    </a:ln>
                    <a:solidFill>
                      <a:schemeClr val="bg1"/>
                    </a:solidFill>
                    <a:effectLst/>
                    <a:uLnTx/>
                    <a:uFillTx/>
                    <a:latin typeface="Ubuntu Light" panose="020B0304030602030204" pitchFamily="34" charset="0"/>
                  </a:rPr>
                  <a:t>Emphasis on </a:t>
                </a:r>
                <a:r>
                  <a:rPr kumimoji="0" lang="en-IN" sz="1100" b="1" i="0" u="none" strike="noStrike" kern="1200" cap="none" spc="0" normalizeH="0" baseline="0" noProof="0">
                    <a:ln>
                      <a:noFill/>
                    </a:ln>
                    <a:solidFill>
                      <a:schemeClr val="bg1"/>
                    </a:solidFill>
                    <a:effectLst/>
                    <a:uLnTx/>
                    <a:uFillTx/>
                    <a:latin typeface="Ubuntu Light" panose="020B0304030602030204" pitchFamily="34" charset="0"/>
                  </a:rPr>
                  <a:t>ring fenced operations for both BAU and Transformation activities</a:t>
                </a:r>
                <a:r>
                  <a:rPr kumimoji="0" lang="en-IN" sz="1100" b="0" i="0" u="none" strike="noStrike" kern="1200" cap="none" spc="0" normalizeH="0" baseline="0" noProof="0">
                    <a:ln>
                      <a:noFill/>
                    </a:ln>
                    <a:solidFill>
                      <a:schemeClr val="bg1"/>
                    </a:solidFill>
                    <a:effectLst/>
                    <a:uLnTx/>
                    <a:uFillTx/>
                    <a:latin typeface="Ubuntu Light" panose="020B0304030602030204" pitchFamily="34" charset="0"/>
                  </a:rPr>
                  <a:t> resulting in an inconsistent and siloed support for technology capability development</a:t>
                </a:r>
                <a:endParaRPr kumimoji="0" lang="en-US" sz="1100" b="0" i="0" u="none" strike="noStrike" kern="1200" cap="none" spc="0" normalizeH="0" baseline="0" noProof="0">
                  <a:ln>
                    <a:noFill/>
                  </a:ln>
                  <a:solidFill>
                    <a:schemeClr val="bg1"/>
                  </a:solidFill>
                  <a:effectLst/>
                  <a:uLnTx/>
                  <a:uFillTx/>
                  <a:latin typeface="Ubuntu Light" panose="020B0304030602030204" pitchFamily="34" charset="0"/>
                </a:endParaRPr>
              </a:p>
            </p:txBody>
          </p:sp>
          <p:sp>
            <p:nvSpPr>
              <p:cNvPr id="29" name="Rectangle 28">
                <a:extLst>
                  <a:ext uri="{FF2B5EF4-FFF2-40B4-BE49-F238E27FC236}">
                    <a16:creationId xmlns:a16="http://schemas.microsoft.com/office/drawing/2014/main" id="{1D5DA4FD-A873-7817-9512-5966E42DCB72}"/>
                  </a:ext>
                </a:extLst>
              </p:cNvPr>
              <p:cNvSpPr/>
              <p:nvPr/>
            </p:nvSpPr>
            <p:spPr>
              <a:xfrm>
                <a:off x="3857168" y="3899291"/>
                <a:ext cx="2776507" cy="27311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a:solidFill>
                      <a:schemeClr val="bg1"/>
                    </a:solidFill>
                    <a:latin typeface="Ubuntu Light" panose="020B0304030602030204" pitchFamily="34" charset="0"/>
                  </a:rPr>
                  <a:t>To Understand the focus areas of ISG by conducting interviews and interactions with key stakeholders</a:t>
                </a:r>
                <a:br>
                  <a:rPr lang="en-US" sz="1100">
                    <a:solidFill>
                      <a:schemeClr val="bg1"/>
                    </a:solidFill>
                    <a:latin typeface="Ubuntu Light" panose="020B0304030602030204" pitchFamily="34" charset="0"/>
                  </a:rPr>
                </a:br>
                <a:endParaRPr lang="en-US" sz="1100">
                  <a:solidFill>
                    <a:schemeClr val="bg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kumimoji="0" lang="en-US" sz="1100" b="0" i="0" u="none" strike="noStrike" kern="1200" cap="none" spc="0" normalizeH="0" baseline="0" noProof="0">
                    <a:ln>
                      <a:noFill/>
                    </a:ln>
                    <a:solidFill>
                      <a:schemeClr val="bg1"/>
                    </a:solidFill>
                    <a:effectLst/>
                    <a:uLnTx/>
                    <a:uFillTx/>
                    <a:latin typeface="Ubuntu Light" panose="020B0304030602030204" pitchFamily="34" charset="0"/>
                    <a:cs typeface="Calibri" pitchFamily="34" charset="0"/>
                  </a:rPr>
                  <a:t>Analyze the </a:t>
                </a:r>
                <a:r>
                  <a:rPr kumimoji="0" lang="en-US" sz="1100" b="1" i="0" u="none" strike="noStrike" kern="1200" cap="none" spc="0" normalizeH="0" baseline="0" noProof="0">
                    <a:ln>
                      <a:noFill/>
                    </a:ln>
                    <a:solidFill>
                      <a:schemeClr val="bg1"/>
                    </a:solidFill>
                    <a:effectLst/>
                    <a:uLnTx/>
                    <a:uFillTx/>
                    <a:latin typeface="Ubuntu Light" panose="020B0304030602030204" pitchFamily="34" charset="0"/>
                    <a:cs typeface="Calibri" pitchFamily="34" charset="0"/>
                  </a:rPr>
                  <a:t>structural and capability areas</a:t>
                </a:r>
                <a:r>
                  <a:rPr kumimoji="0" lang="en-US" sz="1100" b="0" i="0" u="none" strike="noStrike" kern="1200" cap="none" spc="0" normalizeH="0" baseline="0" noProof="0">
                    <a:ln>
                      <a:noFill/>
                    </a:ln>
                    <a:solidFill>
                      <a:schemeClr val="bg1"/>
                    </a:solidFill>
                    <a:effectLst/>
                    <a:uLnTx/>
                    <a:uFillTx/>
                    <a:latin typeface="Ubuntu Light" panose="020B0304030602030204" pitchFamily="34" charset="0"/>
                    <a:cs typeface="Calibri" pitchFamily="34" charset="0"/>
                  </a:rPr>
                  <a:t> of ISG </a:t>
                </a:r>
                <a:r>
                  <a:rPr kumimoji="0" lang="en-US" sz="1050" b="0" i="0" u="none" strike="noStrike" kern="1200" cap="none" spc="0" normalizeH="0" baseline="0" noProof="0">
                    <a:ln>
                      <a:noFill/>
                    </a:ln>
                    <a:solidFill>
                      <a:schemeClr val="bg1"/>
                    </a:solidFill>
                    <a:effectLst/>
                    <a:uLnTx/>
                    <a:uFillTx/>
                    <a:latin typeface="Ubuntu Light" panose="020B0304030602030204" pitchFamily="34" charset="0"/>
                    <a:cs typeface="Calibri" pitchFamily="34" charset="0"/>
                  </a:rPr>
                  <a:t>( Talent, architecture, Processes etc.)</a:t>
                </a:r>
                <a:br>
                  <a:rPr kumimoji="0" lang="en-US" sz="1050" b="0" i="0" u="none" strike="noStrike" kern="1200" cap="none" spc="0" normalizeH="0" baseline="0" noProof="0">
                    <a:ln>
                      <a:noFill/>
                    </a:ln>
                    <a:solidFill>
                      <a:schemeClr val="bg1"/>
                    </a:solidFill>
                    <a:effectLst/>
                    <a:uLnTx/>
                    <a:uFillTx/>
                    <a:latin typeface="Ubuntu Light" panose="020B0304030602030204" pitchFamily="34" charset="0"/>
                    <a:cs typeface="Calibri" pitchFamily="34" charset="0"/>
                  </a:rPr>
                </a:br>
                <a:endParaRPr kumimoji="0" lang="en-US" sz="1050" b="0" i="0" u="none" strike="noStrike" kern="1200" cap="none" spc="0" normalizeH="0" baseline="0" noProof="0">
                  <a:ln>
                    <a:noFill/>
                  </a:ln>
                  <a:solidFill>
                    <a:schemeClr val="bg1"/>
                  </a:solidFill>
                  <a:effectLst/>
                  <a:uLnTx/>
                  <a:uFillTx/>
                  <a:latin typeface="Ubuntu Light" panose="020B0304030602030204" pitchFamily="34" charset="0"/>
                  <a:cs typeface="Calibri" pitchFamily="34" charset="0"/>
                </a:endParaRPr>
              </a:p>
              <a:p>
                <a:pPr marL="171450" indent="-171450">
                  <a:buClr>
                    <a:srgbClr val="0070AD"/>
                  </a:buClr>
                  <a:buSzPct val="120000"/>
                  <a:buFont typeface="Wingdings" panose="05000000000000000000" pitchFamily="2" charset="2"/>
                  <a:buChar char="§"/>
                  <a:defRPr/>
                </a:pPr>
                <a:r>
                  <a:rPr kumimoji="0" lang="en-US" sz="1100" b="0" i="0" u="none" strike="noStrike" kern="1200" cap="none" spc="0" normalizeH="0" baseline="0" noProof="0">
                    <a:ln>
                      <a:noFill/>
                    </a:ln>
                    <a:solidFill>
                      <a:schemeClr val="bg1"/>
                    </a:solidFill>
                    <a:effectLst/>
                    <a:uLnTx/>
                    <a:uFillTx/>
                    <a:latin typeface="Ubuntu Light" panose="020B0304030602030204" pitchFamily="34" charset="0"/>
                    <a:cs typeface="Calibri" pitchFamily="34" charset="0"/>
                  </a:rPr>
                  <a:t>Analyze Telco’s ability to meet identified focus</a:t>
                </a:r>
                <a:r>
                  <a:rPr lang="en-US" sz="1100">
                    <a:solidFill>
                      <a:schemeClr val="bg1"/>
                    </a:solidFill>
                    <a:latin typeface="Ubuntu Light" panose="020B0304030602030204" pitchFamily="34" charset="0"/>
                    <a:cs typeface="Calibri" pitchFamily="34" charset="0"/>
                  </a:rPr>
                  <a:t> and success </a:t>
                </a:r>
                <a:br>
                  <a:rPr lang="en-US" sz="1100">
                    <a:solidFill>
                      <a:schemeClr val="bg1"/>
                    </a:solidFill>
                    <a:latin typeface="Ubuntu Light" panose="020B0304030602030204" pitchFamily="34" charset="0"/>
                    <a:cs typeface="Calibri" pitchFamily="34" charset="0"/>
                  </a:rPr>
                </a:br>
                <a:endParaRPr lang="en-US" sz="1100">
                  <a:solidFill>
                    <a:schemeClr val="bg1"/>
                  </a:solidFill>
                  <a:latin typeface="Ubuntu Light" panose="020B0304030602030204" pitchFamily="34" charset="0"/>
                  <a:cs typeface="Calibri" pitchFamily="34" charset="0"/>
                </a:endParaRPr>
              </a:p>
              <a:p>
                <a:pPr marL="171450" indent="-171450">
                  <a:buClr>
                    <a:srgbClr val="0070AD"/>
                  </a:buClr>
                  <a:buSzPct val="120000"/>
                  <a:buFont typeface="Wingdings" panose="05000000000000000000" pitchFamily="2" charset="2"/>
                  <a:buChar char="§"/>
                  <a:defRPr/>
                </a:pPr>
                <a:r>
                  <a:rPr kumimoji="0" lang="en-US" sz="1100" b="0" i="0" u="none" strike="noStrike" kern="1200" cap="none" spc="0" normalizeH="0" baseline="0" noProof="0">
                    <a:ln>
                      <a:noFill/>
                    </a:ln>
                    <a:solidFill>
                      <a:schemeClr val="bg1"/>
                    </a:solidFill>
                    <a:effectLst/>
                    <a:uLnTx/>
                    <a:uFillTx/>
                    <a:latin typeface="Ubuntu Light" panose="020B0304030602030204" pitchFamily="34" charset="0"/>
                    <a:cs typeface="Calibri" pitchFamily="34" charset="0"/>
                  </a:rPr>
                  <a:t>Identify gaps </a:t>
                </a:r>
                <a:r>
                  <a:rPr kumimoji="0" lang="en-US" sz="1100" b="1" i="0" u="none" strike="noStrike" kern="1200" cap="none" spc="0" normalizeH="0" baseline="0" noProof="0">
                    <a:ln>
                      <a:noFill/>
                    </a:ln>
                    <a:solidFill>
                      <a:schemeClr val="bg1"/>
                    </a:solidFill>
                    <a:effectLst/>
                    <a:uLnTx/>
                    <a:uFillTx/>
                    <a:latin typeface="Ubuntu Light" panose="020B0304030602030204" pitchFamily="34" charset="0"/>
                    <a:cs typeface="Calibri" pitchFamily="34" charset="0"/>
                  </a:rPr>
                  <a:t>As-Is and To-Be IT </a:t>
                </a:r>
                <a:r>
                  <a:rPr kumimoji="0" lang="en-US" sz="1100" b="0" i="0" u="none" strike="noStrike" kern="1200" cap="none" spc="0" normalizeH="0" baseline="0" noProof="0">
                    <a:ln>
                      <a:noFill/>
                    </a:ln>
                    <a:solidFill>
                      <a:schemeClr val="bg1"/>
                    </a:solidFill>
                    <a:effectLst/>
                    <a:uLnTx/>
                    <a:uFillTx/>
                    <a:latin typeface="Ubuntu Light" panose="020B0304030602030204" pitchFamily="34" charset="0"/>
                    <a:cs typeface="Calibri" pitchFamily="34" charset="0"/>
                  </a:rPr>
                  <a:t>capabilities </a:t>
                </a:r>
                <a:br>
                  <a:rPr kumimoji="0" lang="en-US" sz="1100" b="0" i="0" u="none" strike="noStrike" kern="1200" cap="none" spc="0" normalizeH="0" baseline="0" noProof="0">
                    <a:ln>
                      <a:noFill/>
                    </a:ln>
                    <a:solidFill>
                      <a:schemeClr val="bg1"/>
                    </a:solidFill>
                    <a:effectLst/>
                    <a:uLnTx/>
                    <a:uFillTx/>
                    <a:latin typeface="Ubuntu Light" panose="020B0304030602030204" pitchFamily="34" charset="0"/>
                    <a:cs typeface="Calibri" pitchFamily="34" charset="0"/>
                  </a:rPr>
                </a:br>
                <a:endParaRPr kumimoji="0" lang="en-US" sz="1100" b="0" i="0" u="none" strike="noStrike" kern="1200" cap="none" spc="0" normalizeH="0" baseline="0" noProof="0">
                  <a:ln>
                    <a:noFill/>
                  </a:ln>
                  <a:solidFill>
                    <a:schemeClr val="bg1"/>
                  </a:solidFill>
                  <a:effectLst/>
                  <a:uLnTx/>
                  <a:uFillTx/>
                  <a:latin typeface="Ubuntu Light" panose="020B0304030602030204" pitchFamily="34" charset="0"/>
                  <a:cs typeface="Calibri" pitchFamily="34" charset="0"/>
                </a:endParaRPr>
              </a:p>
              <a:p>
                <a:pPr marL="171450" indent="-171450">
                  <a:buClr>
                    <a:srgbClr val="0070AD"/>
                  </a:buClr>
                  <a:buSzPct val="120000"/>
                  <a:buFont typeface="Wingdings" panose="05000000000000000000" pitchFamily="2" charset="2"/>
                  <a:buChar char="§"/>
                  <a:defRPr/>
                </a:pPr>
                <a:r>
                  <a:rPr lang="en-US" sz="1100">
                    <a:solidFill>
                      <a:schemeClr val="bg1"/>
                    </a:solidFill>
                    <a:latin typeface="Ubuntu Light" panose="020B0304030602030204" pitchFamily="34" charset="0"/>
                    <a:cs typeface="Calibri" pitchFamily="34" charset="0"/>
                  </a:rPr>
                  <a:t>Identify </a:t>
                </a:r>
                <a:r>
                  <a:rPr lang="en-US" sz="1100" b="1">
                    <a:solidFill>
                      <a:schemeClr val="bg1"/>
                    </a:solidFill>
                    <a:latin typeface="Ubuntu Light" panose="020B0304030602030204" pitchFamily="34" charset="0"/>
                    <a:cs typeface="Calibri" pitchFamily="34" charset="0"/>
                  </a:rPr>
                  <a:t>areas of opportunities </a:t>
                </a:r>
                <a:r>
                  <a:rPr lang="en-US" sz="1100">
                    <a:solidFill>
                      <a:schemeClr val="bg1"/>
                    </a:solidFill>
                    <a:latin typeface="Ubuntu Light" panose="020B0304030602030204" pitchFamily="34" charset="0"/>
                    <a:cs typeface="Calibri" pitchFamily="34" charset="0"/>
                  </a:rPr>
                  <a:t>and define a </a:t>
                </a:r>
                <a:r>
                  <a:rPr lang="en-US" sz="1100" b="1">
                    <a:solidFill>
                      <a:schemeClr val="bg1"/>
                    </a:solidFill>
                    <a:latin typeface="Ubuntu Light" panose="020B0304030602030204" pitchFamily="34" charset="0"/>
                    <a:cs typeface="Calibri" pitchFamily="34" charset="0"/>
                  </a:rPr>
                  <a:t>solution framework</a:t>
                </a:r>
              </a:p>
              <a:p>
                <a:pPr marL="171450" indent="-171450">
                  <a:buClr>
                    <a:srgbClr val="0070AD"/>
                  </a:buClr>
                  <a:buSzPct val="120000"/>
                  <a:buFont typeface="Wingdings" panose="05000000000000000000" pitchFamily="2" charset="2"/>
                  <a:buChar char="§"/>
                  <a:defRPr/>
                </a:pPr>
                <a:endParaRPr lang="en-IN" sz="1100">
                  <a:solidFill>
                    <a:schemeClr val="bg1"/>
                  </a:solidFill>
                  <a:latin typeface="Ubuntu Light" panose="020B0304030602030204" pitchFamily="34" charset="0"/>
                  <a:ea typeface="Verdana" panose="020B0604030504040204" pitchFamily="34" charset="0"/>
                  <a:sym typeface="BentonSans"/>
                </a:endParaRPr>
              </a:p>
              <a:p>
                <a:pPr marL="137160" lvl="0" indent="-137160">
                  <a:buClr>
                    <a:srgbClr val="0070AD"/>
                  </a:buClr>
                  <a:buSzPct val="120000"/>
                  <a:buFont typeface="Wingdings" panose="05000000000000000000" pitchFamily="2" charset="2"/>
                  <a:buChar char="§"/>
                  <a:defRPr/>
                </a:pPr>
                <a:endParaRPr lang="en-IN" sz="1100">
                  <a:solidFill>
                    <a:schemeClr val="bg1"/>
                  </a:solidFill>
                  <a:latin typeface="Ubuntu Light" panose="020B0304030602030204" pitchFamily="34" charset="0"/>
                  <a:ea typeface="Verdana" panose="020B0604030504040204" pitchFamily="34" charset="0"/>
                  <a:sym typeface="BentonSans"/>
                </a:endParaRPr>
              </a:p>
            </p:txBody>
          </p:sp>
          <p:sp>
            <p:nvSpPr>
              <p:cNvPr id="30" name="Rectangle 29">
                <a:extLst>
                  <a:ext uri="{FF2B5EF4-FFF2-40B4-BE49-F238E27FC236}">
                    <a16:creationId xmlns:a16="http://schemas.microsoft.com/office/drawing/2014/main" id="{EF9040AE-B4F1-DFB2-F577-01A6D14DBD4B}"/>
                  </a:ext>
                </a:extLst>
              </p:cNvPr>
              <p:cNvSpPr/>
              <p:nvPr/>
            </p:nvSpPr>
            <p:spPr>
              <a:xfrm>
                <a:off x="6793966" y="3844750"/>
                <a:ext cx="2618075" cy="27311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spcAft>
                    <a:spcPts val="900"/>
                  </a:spcAft>
                  <a:buClr>
                    <a:srgbClr val="0070AD"/>
                  </a:buClr>
                  <a:buSzPct val="120000"/>
                  <a:buFont typeface="Wingdings" panose="05000000000000000000" pitchFamily="2" charset="2"/>
                  <a:buChar char="§"/>
                  <a:defRPr/>
                </a:pPr>
                <a:r>
                  <a:rPr lang="en-US" sz="1100">
                    <a:solidFill>
                      <a:schemeClr val="bg1"/>
                    </a:solidFill>
                    <a:latin typeface="Ubuntu Light" panose="020B0304030602030204" pitchFamily="34" charset="0"/>
                    <a:ea typeface="+mn-lt"/>
                    <a:cs typeface="+mn-lt"/>
                  </a:rPr>
                  <a:t>Telco ISG restructured its organization structure that ensures transparency amongst different functions while addressing the need for </a:t>
                </a:r>
                <a:r>
                  <a:rPr lang="en-US" sz="1100" b="1">
                    <a:solidFill>
                      <a:schemeClr val="bg1"/>
                    </a:solidFill>
                    <a:latin typeface="Ubuntu Light" panose="020B0304030602030204" pitchFamily="34" charset="0"/>
                    <a:ea typeface="+mn-lt"/>
                    <a:cs typeface="+mn-lt"/>
                  </a:rPr>
                  <a:t>operational excellence and agility</a:t>
                </a:r>
                <a:r>
                  <a:rPr lang="en-US" sz="1100">
                    <a:solidFill>
                      <a:schemeClr val="bg1"/>
                    </a:solidFill>
                    <a:latin typeface="Ubuntu Light" panose="020B0304030602030204" pitchFamily="34" charset="0"/>
                    <a:ea typeface="+mn-lt"/>
                    <a:cs typeface="+mn-lt"/>
                  </a:rPr>
                  <a:t> eliminating siloed operations. </a:t>
                </a:r>
              </a:p>
              <a:p>
                <a:pPr marL="171450" indent="-171450">
                  <a:spcAft>
                    <a:spcPts val="900"/>
                  </a:spcAft>
                  <a:buClr>
                    <a:srgbClr val="0070AD"/>
                  </a:buClr>
                  <a:buSzPct val="120000"/>
                  <a:buFont typeface="Wingdings" panose="05000000000000000000" pitchFamily="2" charset="2"/>
                  <a:buChar char="§"/>
                  <a:defRPr/>
                </a:pPr>
                <a:r>
                  <a:rPr lang="en-IN" sz="1100">
                    <a:solidFill>
                      <a:schemeClr val="bg1"/>
                    </a:solidFill>
                    <a:latin typeface="Ubuntu Light" panose="020B0304030602030204" pitchFamily="34" charset="0"/>
                    <a:ea typeface="+mn-lt"/>
                    <a:cs typeface="+mn-lt"/>
                  </a:rPr>
                  <a:t>Centralizing </a:t>
                </a:r>
                <a:r>
                  <a:rPr lang="en-IN" sz="1100" b="1">
                    <a:solidFill>
                      <a:schemeClr val="bg1"/>
                    </a:solidFill>
                    <a:latin typeface="Ubuntu Light" panose="020B0304030602030204" pitchFamily="34" charset="0"/>
                    <a:ea typeface="+mn-lt"/>
                    <a:cs typeface="+mn-lt"/>
                  </a:rPr>
                  <a:t>the Architecture &amp; Integration functions </a:t>
                </a:r>
                <a:r>
                  <a:rPr lang="en-IN" sz="1100">
                    <a:solidFill>
                      <a:schemeClr val="bg1"/>
                    </a:solidFill>
                    <a:latin typeface="Ubuntu Light" panose="020B0304030602030204" pitchFamily="34" charset="0"/>
                    <a:ea typeface="+mn-lt"/>
                    <a:cs typeface="+mn-lt"/>
                  </a:rPr>
                  <a:t>and introducing the BRM layer into the IT organization eliminates gaps in technology capability &amp; delivery</a:t>
                </a:r>
              </a:p>
              <a:p>
                <a:pPr marL="171450" indent="-171450">
                  <a:spcAft>
                    <a:spcPts val="900"/>
                  </a:spcAft>
                  <a:buClr>
                    <a:srgbClr val="0070AD"/>
                  </a:buClr>
                  <a:buSzPct val="120000"/>
                  <a:buFont typeface="Wingdings" panose="05000000000000000000" pitchFamily="2" charset="2"/>
                  <a:buChar char="§"/>
                  <a:defRPr/>
                </a:pPr>
                <a:r>
                  <a:rPr lang="en-IN" sz="1100">
                    <a:solidFill>
                      <a:schemeClr val="bg1"/>
                    </a:solidFill>
                    <a:latin typeface="Ubuntu Light" panose="020B0304030602030204" pitchFamily="34" charset="0"/>
                    <a:ea typeface="+mn-lt"/>
                    <a:cs typeface="+mn-lt"/>
                  </a:rPr>
                  <a:t>The </a:t>
                </a:r>
                <a:r>
                  <a:rPr lang="en-IN" sz="1100" b="1">
                    <a:solidFill>
                      <a:schemeClr val="bg1"/>
                    </a:solidFill>
                    <a:latin typeface="Ubuntu Light" panose="020B0304030602030204" pitchFamily="34" charset="0"/>
                    <a:ea typeface="+mn-lt"/>
                    <a:cs typeface="+mn-lt"/>
                  </a:rPr>
                  <a:t>revised RACI </a:t>
                </a:r>
                <a:r>
                  <a:rPr lang="en-IN" sz="1100">
                    <a:solidFill>
                      <a:schemeClr val="bg1"/>
                    </a:solidFill>
                    <a:latin typeface="Ubuntu Light" panose="020B0304030602030204" pitchFamily="34" charset="0"/>
                    <a:ea typeface="+mn-lt"/>
                    <a:cs typeface="+mn-lt"/>
                  </a:rPr>
                  <a:t>will ensure transparency across different functions, bringing structure and clarity to roles across different functions</a:t>
                </a:r>
              </a:p>
            </p:txBody>
          </p:sp>
          <p:sp>
            <p:nvSpPr>
              <p:cNvPr id="31" name="Rectangle 30">
                <a:extLst>
                  <a:ext uri="{FF2B5EF4-FFF2-40B4-BE49-F238E27FC236}">
                    <a16:creationId xmlns:a16="http://schemas.microsoft.com/office/drawing/2014/main" id="{98F96B61-457D-267C-FA75-5954D1408051}"/>
                  </a:ext>
                </a:extLst>
              </p:cNvPr>
              <p:cNvSpPr/>
              <p:nvPr/>
            </p:nvSpPr>
            <p:spPr>
              <a:xfrm>
                <a:off x="9614243" y="3899291"/>
                <a:ext cx="2194560"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a:solidFill>
                      <a:schemeClr val="bg1"/>
                    </a:solidFill>
                    <a:latin typeface="Ubuntu Light" panose="020B0304030602030204" pitchFamily="34" charset="0"/>
                    <a:ea typeface="Verdana"/>
                  </a:rPr>
                  <a:t>Better </a:t>
                </a:r>
                <a:r>
                  <a:rPr lang="en-US" sz="1100" b="1">
                    <a:solidFill>
                      <a:schemeClr val="bg1"/>
                    </a:solidFill>
                    <a:latin typeface="Ubuntu Light" panose="020B0304030602030204" pitchFamily="34" charset="0"/>
                    <a:ea typeface="Verdana"/>
                  </a:rPr>
                  <a:t>collaboration</a:t>
                </a:r>
                <a:r>
                  <a:rPr lang="en-US" sz="1100">
                    <a:solidFill>
                      <a:schemeClr val="bg1"/>
                    </a:solidFill>
                    <a:latin typeface="Ubuntu Light" panose="020B0304030602030204" pitchFamily="34" charset="0"/>
                    <a:ea typeface="Verdana"/>
                  </a:rPr>
                  <a:t> on project</a:t>
                </a:r>
                <a:br>
                  <a:rPr lang="en-US" sz="1100">
                    <a:solidFill>
                      <a:schemeClr val="bg1"/>
                    </a:solidFill>
                    <a:latin typeface="Ubuntu Light" panose="020B0304030602030204" pitchFamily="34" charset="0"/>
                    <a:ea typeface="Verdana"/>
                  </a:rPr>
                </a:br>
                <a:endParaRPr lang="en-US" sz="1100">
                  <a:solidFill>
                    <a:schemeClr val="bg1"/>
                  </a:solidFill>
                  <a:latin typeface="Ubuntu Light" panose="020B0304030602030204" pitchFamily="34" charset="0"/>
                  <a:ea typeface="Verdana"/>
                </a:endParaRPr>
              </a:p>
              <a:p>
                <a:pPr marL="171450" indent="-171450">
                  <a:buClr>
                    <a:srgbClr val="0070AD"/>
                  </a:buClr>
                  <a:buSzPct val="120000"/>
                  <a:buFont typeface="Wingdings" panose="05000000000000000000" pitchFamily="2" charset="2"/>
                  <a:buChar char="§"/>
                  <a:defRPr/>
                </a:pPr>
                <a:r>
                  <a:rPr lang="en-US" sz="1100">
                    <a:solidFill>
                      <a:schemeClr val="bg1"/>
                    </a:solidFill>
                    <a:latin typeface="Ubuntu Light" panose="020B0304030602030204" pitchFamily="34" charset="0"/>
                    <a:ea typeface="Verdana"/>
                  </a:rPr>
                  <a:t>Easier to cross train on new skills</a:t>
                </a:r>
                <a:br>
                  <a:rPr lang="en-US" sz="1100">
                    <a:solidFill>
                      <a:schemeClr val="bg1"/>
                    </a:solidFill>
                    <a:latin typeface="Ubuntu Light" panose="020B0304030602030204" pitchFamily="34" charset="0"/>
                    <a:ea typeface="Verdana"/>
                  </a:rPr>
                </a:br>
                <a:endParaRPr lang="en-US" sz="1100">
                  <a:solidFill>
                    <a:schemeClr val="bg1"/>
                  </a:solidFill>
                  <a:latin typeface="Ubuntu Light" panose="020B0304030602030204" pitchFamily="34" charset="0"/>
                  <a:ea typeface="Verdana"/>
                </a:endParaRPr>
              </a:p>
              <a:p>
                <a:pPr marL="171450" indent="-171450">
                  <a:buClr>
                    <a:srgbClr val="0070AD"/>
                  </a:buClr>
                  <a:buSzPct val="120000"/>
                  <a:buFont typeface="Wingdings" panose="05000000000000000000" pitchFamily="2" charset="2"/>
                  <a:buChar char="§"/>
                  <a:defRPr/>
                </a:pPr>
                <a:r>
                  <a:rPr lang="en-US" sz="1100">
                    <a:solidFill>
                      <a:schemeClr val="bg1"/>
                    </a:solidFill>
                    <a:latin typeface="Ubuntu Light" panose="020B0304030602030204" pitchFamily="34" charset="0"/>
                    <a:ea typeface="Verdana"/>
                  </a:rPr>
                  <a:t>Increased accountability</a:t>
                </a:r>
                <a:br>
                  <a:rPr lang="en-US" sz="1100">
                    <a:solidFill>
                      <a:schemeClr val="bg1"/>
                    </a:solidFill>
                    <a:latin typeface="Ubuntu Light" panose="020B0304030602030204" pitchFamily="34" charset="0"/>
                    <a:ea typeface="Verdana"/>
                  </a:rPr>
                </a:br>
                <a:endParaRPr lang="en-US" sz="1100">
                  <a:solidFill>
                    <a:schemeClr val="bg1"/>
                  </a:solidFill>
                  <a:latin typeface="Ubuntu Light" panose="020B0304030602030204" pitchFamily="34" charset="0"/>
                  <a:ea typeface="Verdana"/>
                </a:endParaRPr>
              </a:p>
              <a:p>
                <a:pPr marL="171450" indent="-171450">
                  <a:buClr>
                    <a:srgbClr val="0070AD"/>
                  </a:buClr>
                  <a:buSzPct val="120000"/>
                  <a:buFont typeface="Wingdings" panose="05000000000000000000" pitchFamily="2" charset="2"/>
                  <a:buChar char="§"/>
                  <a:defRPr/>
                </a:pPr>
                <a:r>
                  <a:rPr lang="en-US" sz="1100">
                    <a:solidFill>
                      <a:schemeClr val="bg1"/>
                    </a:solidFill>
                    <a:latin typeface="Ubuntu Light" panose="020B0304030602030204" pitchFamily="34" charset="0"/>
                    <a:ea typeface="Verdana" panose="020B0604030504040204" pitchFamily="34" charset="0"/>
                  </a:rPr>
                  <a:t>Increased </a:t>
                </a:r>
                <a:r>
                  <a:rPr lang="en-US" sz="1100" b="1">
                    <a:solidFill>
                      <a:schemeClr val="bg1"/>
                    </a:solidFill>
                    <a:latin typeface="Ubuntu Light" panose="020B0304030602030204" pitchFamily="34" charset="0"/>
                    <a:ea typeface="Verdana" panose="020B0604030504040204" pitchFamily="34" charset="0"/>
                  </a:rPr>
                  <a:t>Agility and Productivity</a:t>
                </a:r>
                <a:br>
                  <a:rPr lang="en-US" sz="1100">
                    <a:solidFill>
                      <a:schemeClr val="bg1"/>
                    </a:solidFill>
                    <a:latin typeface="Ubuntu Light" panose="020B0304030602030204" pitchFamily="34" charset="0"/>
                    <a:ea typeface="Verdana" panose="020B0604030504040204" pitchFamily="34" charset="0"/>
                  </a:rPr>
                </a:br>
                <a:endParaRPr lang="en-US" sz="1100">
                  <a:solidFill>
                    <a:schemeClr val="bg1"/>
                  </a:solidFill>
                  <a:latin typeface="Ubuntu Light" panose="020B0304030602030204" pitchFamily="34" charset="0"/>
                  <a:ea typeface="Verdana" panose="020B0604030504040204" pitchFamily="34" charset="0"/>
                </a:endParaRPr>
              </a:p>
              <a:p>
                <a:pPr marL="171450" indent="-171450">
                  <a:buClr>
                    <a:srgbClr val="0070AD"/>
                  </a:buClr>
                  <a:buSzPct val="120000"/>
                  <a:buFont typeface="Wingdings" panose="05000000000000000000" pitchFamily="2" charset="2"/>
                  <a:buChar char="§"/>
                  <a:defRPr/>
                </a:pPr>
                <a:r>
                  <a:rPr lang="en-US" sz="1100">
                    <a:solidFill>
                      <a:schemeClr val="bg1"/>
                    </a:solidFill>
                    <a:latin typeface="Ubuntu Light" panose="020B0304030602030204" pitchFamily="34" charset="0"/>
                    <a:ea typeface="Verdana" panose="020B0604030504040204" pitchFamily="34" charset="0"/>
                  </a:rPr>
                  <a:t>Decreases Silos with fungible workforce</a:t>
                </a:r>
              </a:p>
              <a:p>
                <a:pPr marL="171450" indent="-171450">
                  <a:buClr>
                    <a:srgbClr val="0070AD"/>
                  </a:buClr>
                  <a:buSzPct val="120000"/>
                  <a:buFont typeface="Wingdings" panose="05000000000000000000" pitchFamily="2" charset="2"/>
                  <a:buChar char="§"/>
                  <a:defRPr/>
                </a:pPr>
                <a:endParaRPr lang="en-US" sz="1100">
                  <a:solidFill>
                    <a:schemeClr val="bg1"/>
                  </a:solidFill>
                  <a:latin typeface="Ubuntu Light" panose="020B0304030602030204" pitchFamily="34" charset="0"/>
                  <a:ea typeface="Verdana" panose="020B0604030504040204" pitchFamily="34" charset="0"/>
                </a:endParaRPr>
              </a:p>
              <a:p>
                <a:pPr marL="171450" indent="-171450">
                  <a:buClr>
                    <a:srgbClr val="0070AD"/>
                  </a:buClr>
                  <a:buSzPct val="120000"/>
                  <a:buFont typeface="Wingdings" panose="05000000000000000000" pitchFamily="2" charset="2"/>
                  <a:buChar char="§"/>
                  <a:defRPr/>
                </a:pPr>
                <a:r>
                  <a:rPr lang="en-US" sz="1100">
                    <a:solidFill>
                      <a:schemeClr val="bg1"/>
                    </a:solidFill>
                    <a:latin typeface="Ubuntu Light" panose="020B0304030602030204" pitchFamily="34" charset="0"/>
                    <a:ea typeface="Verdana" panose="020B0604030504040204" pitchFamily="34" charset="0"/>
                  </a:rPr>
                  <a:t>Better </a:t>
                </a:r>
                <a:r>
                  <a:rPr lang="en-US" sz="1100" b="1">
                    <a:solidFill>
                      <a:schemeClr val="bg1"/>
                    </a:solidFill>
                    <a:latin typeface="Ubuntu Light" panose="020B0304030602030204" pitchFamily="34" charset="0"/>
                    <a:ea typeface="Verdana" panose="020B0604030504040204" pitchFamily="34" charset="0"/>
                  </a:rPr>
                  <a:t>operational synergy</a:t>
                </a:r>
                <a:r>
                  <a:rPr lang="en-US" sz="1100">
                    <a:solidFill>
                      <a:schemeClr val="bg1"/>
                    </a:solidFill>
                    <a:latin typeface="Ubuntu Light" panose="020B0304030602030204" pitchFamily="34" charset="0"/>
                    <a:ea typeface="Verdana" panose="020B0604030504040204" pitchFamily="34" charset="0"/>
                  </a:rPr>
                  <a:t> with Infrastructure services</a:t>
                </a:r>
              </a:p>
              <a:p>
                <a:pPr marL="171450" indent="-171450">
                  <a:buClr>
                    <a:srgbClr val="0070AD"/>
                  </a:buClr>
                  <a:buSzPct val="120000"/>
                  <a:buFont typeface="Wingdings" panose="05000000000000000000" pitchFamily="2" charset="2"/>
                  <a:buChar char="§"/>
                  <a:defRPr/>
                </a:pPr>
                <a:endParaRPr lang="en-US" sz="1100">
                  <a:solidFill>
                    <a:schemeClr val="bg1"/>
                  </a:solidFill>
                  <a:latin typeface="Ubuntu Light" panose="020B0304030602030204" pitchFamily="34" charset="0"/>
                  <a:ea typeface="Verdana" panose="020B0604030504040204" pitchFamily="34" charset="0"/>
                </a:endParaRPr>
              </a:p>
              <a:p>
                <a:pPr marL="171450" indent="-171450">
                  <a:buClr>
                    <a:srgbClr val="0070AD"/>
                  </a:buClr>
                  <a:buSzPct val="120000"/>
                  <a:buFont typeface="Wingdings" panose="05000000000000000000" pitchFamily="2" charset="2"/>
                  <a:buChar char="§"/>
                  <a:defRPr/>
                </a:pPr>
                <a:r>
                  <a:rPr lang="en-US" sz="1100">
                    <a:solidFill>
                      <a:schemeClr val="bg1"/>
                    </a:solidFill>
                    <a:latin typeface="Ubuntu Light" panose="020B0304030602030204" pitchFamily="34" charset="0"/>
                    <a:ea typeface="Verdana" panose="020B0604030504040204" pitchFamily="34" charset="0"/>
                  </a:rPr>
                  <a:t>Fully Autonomous</a:t>
                </a:r>
              </a:p>
            </p:txBody>
          </p:sp>
          <p:cxnSp>
            <p:nvCxnSpPr>
              <p:cNvPr id="32" name="Straight Connector 31">
                <a:extLst>
                  <a:ext uri="{FF2B5EF4-FFF2-40B4-BE49-F238E27FC236}">
                    <a16:creationId xmlns:a16="http://schemas.microsoft.com/office/drawing/2014/main" id="{E8B69AA6-CCF4-F55D-A6BE-16214E31A9BD}"/>
                  </a:ext>
                </a:extLst>
              </p:cNvPr>
              <p:cNvCxnSpPr>
                <a:cxnSpLocks/>
              </p:cNvCxnSpPr>
              <p:nvPr/>
            </p:nvCxnSpPr>
            <p:spPr>
              <a:xfrm>
                <a:off x="3721100" y="3285849"/>
                <a:ext cx="0" cy="2915190"/>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grpSp>
        <p:pic>
          <p:nvPicPr>
            <p:cNvPr id="5" name="Picture 4" descr="Shape&#10;&#10;Description automatically generated with low confidence">
              <a:extLst>
                <a:ext uri="{FF2B5EF4-FFF2-40B4-BE49-F238E27FC236}">
                  <a16:creationId xmlns:a16="http://schemas.microsoft.com/office/drawing/2014/main" id="{AFEC77D6-BF8D-7E9F-209D-36E51C3DB5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5046" y="1973781"/>
              <a:ext cx="570108" cy="507747"/>
            </a:xfrm>
            <a:prstGeom prst="rect">
              <a:avLst/>
            </a:prstGeom>
          </p:spPr>
        </p:pic>
        <p:pic>
          <p:nvPicPr>
            <p:cNvPr id="6" name="Picture 5" descr="Shape&#10;&#10;Description automatically generated with low confidence">
              <a:extLst>
                <a:ext uri="{FF2B5EF4-FFF2-40B4-BE49-F238E27FC236}">
                  <a16:creationId xmlns:a16="http://schemas.microsoft.com/office/drawing/2014/main" id="{EF6F6E42-3B6C-95B9-DAE6-BAA1C34037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3382" y="1971277"/>
              <a:ext cx="524081" cy="524081"/>
            </a:xfrm>
            <a:prstGeom prst="rect">
              <a:avLst/>
            </a:prstGeom>
          </p:spPr>
        </p:pic>
        <p:pic>
          <p:nvPicPr>
            <p:cNvPr id="7" name="Picture 6" descr="Shape&#10;&#10;Description automatically generated with low confidence">
              <a:extLst>
                <a:ext uri="{FF2B5EF4-FFF2-40B4-BE49-F238E27FC236}">
                  <a16:creationId xmlns:a16="http://schemas.microsoft.com/office/drawing/2014/main" id="{23AEDCB7-8944-2785-67E6-B565B19F6B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flipV="1">
              <a:off x="7879100" y="2047048"/>
              <a:ext cx="467030" cy="467030"/>
            </a:xfrm>
            <a:prstGeom prst="rect">
              <a:avLst/>
            </a:prstGeom>
          </p:spPr>
        </p:pic>
        <p:pic>
          <p:nvPicPr>
            <p:cNvPr id="8" name="Picture 7" descr="Shape&#10;&#10;Description automatically generated with low confidence">
              <a:extLst>
                <a:ext uri="{FF2B5EF4-FFF2-40B4-BE49-F238E27FC236}">
                  <a16:creationId xmlns:a16="http://schemas.microsoft.com/office/drawing/2014/main" id="{1895ADFE-7C09-DFB5-14D4-739BA56855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03608" y="1960240"/>
              <a:ext cx="504520" cy="504520"/>
            </a:xfrm>
            <a:prstGeom prst="rect">
              <a:avLst/>
            </a:prstGeom>
          </p:spPr>
        </p:pic>
      </p:grpSp>
      <p:pic>
        <p:nvPicPr>
          <p:cNvPr id="33" name="Picture 32">
            <a:extLst>
              <a:ext uri="{FF2B5EF4-FFF2-40B4-BE49-F238E27FC236}">
                <a16:creationId xmlns:a16="http://schemas.microsoft.com/office/drawing/2014/main" id="{0FC985F8-D13B-BCE5-9044-D020200B484A}"/>
              </a:ext>
            </a:extLst>
          </p:cNvPr>
          <p:cNvPicPr>
            <a:picLocks noChangeAspect="1"/>
          </p:cNvPicPr>
          <p:nvPr/>
        </p:nvPicPr>
        <p:blipFill>
          <a:blip r:embed="rId6"/>
          <a:stretch>
            <a:fillRect/>
          </a:stretch>
        </p:blipFill>
        <p:spPr>
          <a:xfrm>
            <a:off x="10595509" y="0"/>
            <a:ext cx="1237002" cy="696510"/>
          </a:xfrm>
          <a:prstGeom prst="rect">
            <a:avLst/>
          </a:prstGeom>
        </p:spPr>
      </p:pic>
      <p:sp>
        <p:nvSpPr>
          <p:cNvPr id="34" name="TextBox 33">
            <a:extLst>
              <a:ext uri="{FF2B5EF4-FFF2-40B4-BE49-F238E27FC236}">
                <a16:creationId xmlns:a16="http://schemas.microsoft.com/office/drawing/2014/main" id="{06F18BF4-37A0-ED60-B974-9A2CAFEFF523}"/>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35" name="Date Placeholder 5">
            <a:extLst>
              <a:ext uri="{FF2B5EF4-FFF2-40B4-BE49-F238E27FC236}">
                <a16:creationId xmlns:a16="http://schemas.microsoft.com/office/drawing/2014/main" id="{A5DEE0EB-162B-3296-9C9D-2DA55B020D7E}"/>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36" name="Date Placeholder 5">
            <a:extLst>
              <a:ext uri="{FF2B5EF4-FFF2-40B4-BE49-F238E27FC236}">
                <a16:creationId xmlns:a16="http://schemas.microsoft.com/office/drawing/2014/main" id="{82F7C76C-25FC-D1A2-DF94-2061ABABB9F9}"/>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29</a:t>
            </a:r>
          </a:p>
        </p:txBody>
      </p:sp>
    </p:spTree>
    <p:extLst>
      <p:ext uri="{BB962C8B-B14F-4D97-AF65-F5344CB8AC3E}">
        <p14:creationId xmlns:p14="http://schemas.microsoft.com/office/powerpoint/2010/main" val="22917919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24DD4-A099-2D5C-ED26-BCF8159DAD5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6D7E325-3DBE-9E45-8B5A-2D4B0A648E76}"/>
              </a:ext>
            </a:extLst>
          </p:cNvPr>
          <p:cNvPicPr>
            <a:picLocks noChangeAspect="1"/>
          </p:cNvPicPr>
          <p:nvPr/>
        </p:nvPicPr>
        <p:blipFill>
          <a:blip r:embed="rId2"/>
          <a:stretch>
            <a:fillRect/>
          </a:stretch>
        </p:blipFill>
        <p:spPr>
          <a:xfrm>
            <a:off x="10595509" y="0"/>
            <a:ext cx="1237002" cy="696510"/>
          </a:xfrm>
          <a:prstGeom prst="rect">
            <a:avLst/>
          </a:prstGeom>
        </p:spPr>
      </p:pic>
      <p:pic>
        <p:nvPicPr>
          <p:cNvPr id="5" name="Picture 4">
            <a:extLst>
              <a:ext uri="{FF2B5EF4-FFF2-40B4-BE49-F238E27FC236}">
                <a16:creationId xmlns:a16="http://schemas.microsoft.com/office/drawing/2014/main" id="{EF76639F-C2E6-7590-81DE-9163FC508B6C}"/>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23922" t="14629" r="18704" b="14629"/>
          <a:stretch/>
        </p:blipFill>
        <p:spPr>
          <a:xfrm flipH="1">
            <a:off x="8077200" y="2255578"/>
            <a:ext cx="4114800" cy="2856441"/>
          </a:xfrm>
          <a:prstGeom prst="rect">
            <a:avLst/>
          </a:prstGeom>
        </p:spPr>
      </p:pic>
      <p:sp>
        <p:nvSpPr>
          <p:cNvPr id="7" name="Rectangle 6">
            <a:extLst>
              <a:ext uri="{FF2B5EF4-FFF2-40B4-BE49-F238E27FC236}">
                <a16:creationId xmlns:a16="http://schemas.microsoft.com/office/drawing/2014/main" id="{BAD06E70-2E9F-C46D-56C2-625D6F807BCE}"/>
              </a:ext>
            </a:extLst>
          </p:cNvPr>
          <p:cNvSpPr/>
          <p:nvPr/>
        </p:nvSpPr>
        <p:spPr>
          <a:xfrm>
            <a:off x="419744" y="1941154"/>
            <a:ext cx="2232000" cy="215444"/>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100" normalizeH="0" baseline="0" noProof="0">
                <a:ln>
                  <a:noFill/>
                </a:ln>
                <a:solidFill>
                  <a:srgbClr val="12ABDB"/>
                </a:solidFill>
                <a:effectLst/>
                <a:uLnTx/>
                <a:uFillTx/>
                <a:latin typeface="Ubuntu"/>
                <a:ea typeface="+mn-ea"/>
                <a:cs typeface="+mn-cs"/>
              </a:rPr>
              <a:t>OBJECTIVE</a:t>
            </a:r>
          </a:p>
        </p:txBody>
      </p:sp>
      <p:sp>
        <p:nvSpPr>
          <p:cNvPr id="9" name="Rectangle 8">
            <a:extLst>
              <a:ext uri="{FF2B5EF4-FFF2-40B4-BE49-F238E27FC236}">
                <a16:creationId xmlns:a16="http://schemas.microsoft.com/office/drawing/2014/main" id="{509B342B-EF8C-AECC-871E-316EC1282D57}"/>
              </a:ext>
            </a:extLst>
          </p:cNvPr>
          <p:cNvSpPr/>
          <p:nvPr/>
        </p:nvSpPr>
        <p:spPr>
          <a:xfrm>
            <a:off x="4406796" y="1938622"/>
            <a:ext cx="2736940" cy="215444"/>
          </a:xfrm>
          <a:prstGeom prst="rect">
            <a:avLst/>
          </a:prstGeom>
        </p:spPr>
        <p:txBody>
          <a:bodyPr wrap="square" lIns="0" tIns="0" rIns="0" bIns="0" anchor="t">
            <a:spAutoFit/>
          </a:bodyPr>
          <a:lstStyle/>
          <a:p>
            <a:pPr>
              <a:defRPr/>
            </a:pPr>
            <a:r>
              <a:rPr kumimoji="0" lang="de-DE" sz="1400" b="1" i="0" u="none" strike="noStrike" kern="1200" cap="none" spc="100" normalizeH="0" baseline="0" noProof="0">
                <a:ln>
                  <a:noFill/>
                </a:ln>
                <a:solidFill>
                  <a:srgbClr val="12ABDB"/>
                </a:solidFill>
                <a:effectLst/>
                <a:uLnTx/>
                <a:uFillTx/>
                <a:latin typeface="Ubuntu"/>
                <a:ea typeface="+mn-ea"/>
                <a:cs typeface="+mn-cs"/>
              </a:rPr>
              <a:t>APPROACH</a:t>
            </a:r>
            <a:r>
              <a:rPr lang="de-DE" sz="1400" b="1" spc="100">
                <a:solidFill>
                  <a:srgbClr val="12ABDB"/>
                </a:solidFill>
                <a:latin typeface="Ubuntu"/>
              </a:rPr>
              <a:t> &amp; SOLUTION</a:t>
            </a:r>
            <a:endParaRPr kumimoji="0" lang="de-DE" sz="1400" b="1" i="0" u="none" strike="noStrike" kern="1200" cap="none" spc="100" normalizeH="0" baseline="0" noProof="0">
              <a:ln>
                <a:noFill/>
              </a:ln>
              <a:solidFill>
                <a:srgbClr val="12ABDB"/>
              </a:solidFill>
              <a:effectLst/>
              <a:uLnTx/>
              <a:uFillTx/>
              <a:latin typeface="Ubuntu"/>
              <a:ea typeface="+mn-ea"/>
              <a:cs typeface="+mn-cs"/>
            </a:endParaRPr>
          </a:p>
        </p:txBody>
      </p:sp>
      <p:sp>
        <p:nvSpPr>
          <p:cNvPr id="11" name="Rectangle 10">
            <a:extLst>
              <a:ext uri="{FF2B5EF4-FFF2-40B4-BE49-F238E27FC236}">
                <a16:creationId xmlns:a16="http://schemas.microsoft.com/office/drawing/2014/main" id="{A2BEDF52-40CB-E43B-08B2-016F3CEEAE83}"/>
              </a:ext>
            </a:extLst>
          </p:cNvPr>
          <p:cNvSpPr/>
          <p:nvPr/>
        </p:nvSpPr>
        <p:spPr>
          <a:xfrm>
            <a:off x="5524714" y="1941154"/>
            <a:ext cx="2232000" cy="215444"/>
          </a:xfrm>
          <a:prstGeom prst="rect">
            <a:avLst/>
          </a:prstGeom>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1400" b="1" i="0" u="none" strike="noStrike" kern="1200" cap="none" spc="100" normalizeH="0" baseline="0" noProof="0">
              <a:ln>
                <a:noFill/>
              </a:ln>
              <a:solidFill>
                <a:srgbClr val="12ABDB"/>
              </a:solidFill>
              <a:effectLst/>
              <a:uLnTx/>
              <a:uFillTx/>
              <a:latin typeface="Ubuntu"/>
            </a:endParaRPr>
          </a:p>
        </p:txBody>
      </p:sp>
      <p:grpSp>
        <p:nvGrpSpPr>
          <p:cNvPr id="12" name="Group 11">
            <a:extLst>
              <a:ext uri="{FF2B5EF4-FFF2-40B4-BE49-F238E27FC236}">
                <a16:creationId xmlns:a16="http://schemas.microsoft.com/office/drawing/2014/main" id="{3D7FA486-E945-6F41-62D7-2945F8E6660C}"/>
              </a:ext>
            </a:extLst>
          </p:cNvPr>
          <p:cNvGrpSpPr/>
          <p:nvPr/>
        </p:nvGrpSpPr>
        <p:grpSpPr>
          <a:xfrm>
            <a:off x="405607" y="1337545"/>
            <a:ext cx="518164" cy="520814"/>
            <a:chOff x="4150222" y="1190829"/>
            <a:chExt cx="395631" cy="397656"/>
          </a:xfrm>
        </p:grpSpPr>
        <p:sp>
          <p:nvSpPr>
            <p:cNvPr id="13" name="Oval 12">
              <a:extLst>
                <a:ext uri="{FF2B5EF4-FFF2-40B4-BE49-F238E27FC236}">
                  <a16:creationId xmlns:a16="http://schemas.microsoft.com/office/drawing/2014/main" id="{A53FA8FE-2709-515E-B114-DCE88B4EBB72}"/>
                </a:ext>
              </a:extLst>
            </p:cNvPr>
            <p:cNvSpPr/>
            <p:nvPr/>
          </p:nvSpPr>
          <p:spPr>
            <a:xfrm>
              <a:off x="4150222" y="1190829"/>
              <a:ext cx="395631" cy="397656"/>
            </a:xfrm>
            <a:prstGeom prst="ellipse">
              <a:avLst/>
            </a:prstGeom>
            <a:solidFill>
              <a:schemeClr val="accent1">
                <a:lumMod val="60000"/>
                <a:lumOff val="40000"/>
                <a:alpha val="12000"/>
              </a:schemeClr>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a:ea typeface="+mn-ea"/>
                <a:cs typeface="+mn-cs"/>
              </a:endParaRPr>
            </a:p>
          </p:txBody>
        </p:sp>
        <p:pic>
          <p:nvPicPr>
            <p:cNvPr id="14" name="Graphic 13" descr="Bullseye outline">
              <a:extLst>
                <a:ext uri="{FF2B5EF4-FFF2-40B4-BE49-F238E27FC236}">
                  <a16:creationId xmlns:a16="http://schemas.microsoft.com/office/drawing/2014/main" id="{448B72F6-E595-3849-960F-77D1F2D619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27642" y="1269262"/>
              <a:ext cx="240790" cy="240790"/>
            </a:xfrm>
            <a:prstGeom prst="rect">
              <a:avLst/>
            </a:prstGeom>
          </p:spPr>
        </p:pic>
      </p:grpSp>
      <p:sp>
        <p:nvSpPr>
          <p:cNvPr id="15" name="Oval 14">
            <a:extLst>
              <a:ext uri="{FF2B5EF4-FFF2-40B4-BE49-F238E27FC236}">
                <a16:creationId xmlns:a16="http://schemas.microsoft.com/office/drawing/2014/main" id="{8F494F65-8046-C209-913D-68DF95B3E10D}"/>
              </a:ext>
            </a:extLst>
          </p:cNvPr>
          <p:cNvSpPr/>
          <p:nvPr/>
        </p:nvSpPr>
        <p:spPr>
          <a:xfrm>
            <a:off x="4404263" y="1337545"/>
            <a:ext cx="518164" cy="520814"/>
          </a:xfrm>
          <a:prstGeom prst="ellipse">
            <a:avLst/>
          </a:prstGeom>
          <a:solidFill>
            <a:schemeClr val="accent1">
              <a:lumMod val="60000"/>
              <a:lumOff val="40000"/>
              <a:alpha val="12000"/>
            </a:schemeClr>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a:ea typeface="+mn-ea"/>
              <a:cs typeface="+mn-cs"/>
            </a:endParaRPr>
          </a:p>
        </p:txBody>
      </p:sp>
      <p:grpSp>
        <p:nvGrpSpPr>
          <p:cNvPr id="18" name="Group 17">
            <a:extLst>
              <a:ext uri="{FF2B5EF4-FFF2-40B4-BE49-F238E27FC236}">
                <a16:creationId xmlns:a16="http://schemas.microsoft.com/office/drawing/2014/main" id="{46765253-2D2D-8EF8-FDA1-99F024326DFF}"/>
              </a:ext>
              <a:ext uri="{C183D7F6-B498-43B3-948B-1728B52AA6E4}">
                <adec:decorative xmlns:adec="http://schemas.microsoft.com/office/drawing/2017/decorative" val="1"/>
              </a:ext>
            </a:extLst>
          </p:cNvPr>
          <p:cNvGrpSpPr>
            <a:grpSpLocks noChangeAspect="1"/>
          </p:cNvGrpSpPr>
          <p:nvPr/>
        </p:nvGrpSpPr>
        <p:grpSpPr>
          <a:xfrm>
            <a:off x="4500466" y="1464233"/>
            <a:ext cx="246931" cy="241201"/>
            <a:chOff x="4539128" y="2889174"/>
            <a:chExt cx="152654" cy="149111"/>
          </a:xfrm>
        </p:grpSpPr>
        <p:sp>
          <p:nvSpPr>
            <p:cNvPr id="19" name="Freeform: Shape 18">
              <a:extLst>
                <a:ext uri="{FF2B5EF4-FFF2-40B4-BE49-F238E27FC236}">
                  <a16:creationId xmlns:a16="http://schemas.microsoft.com/office/drawing/2014/main" id="{4B4F2759-6FAD-9B48-5A82-0EEAE6FDA9D2}"/>
                </a:ext>
              </a:extLst>
            </p:cNvPr>
            <p:cNvSpPr/>
            <p:nvPr/>
          </p:nvSpPr>
          <p:spPr>
            <a:xfrm>
              <a:off x="4539536" y="2889174"/>
              <a:ext cx="152246" cy="76123"/>
            </a:xfrm>
            <a:custGeom>
              <a:avLst/>
              <a:gdLst>
                <a:gd name="connsiteX0" fmla="*/ 151838 w 152245"/>
                <a:gd name="connsiteY0" fmla="*/ 895 h 76122"/>
                <a:gd name="connsiteX1" fmla="*/ 151838 w 152245"/>
                <a:gd name="connsiteY1" fmla="*/ 895 h 76122"/>
                <a:gd name="connsiteX2" fmla="*/ 150943 w 152245"/>
                <a:gd name="connsiteY2" fmla="*/ 0 h 76122"/>
                <a:gd name="connsiteX3" fmla="*/ 150943 w 152245"/>
                <a:gd name="connsiteY3" fmla="*/ 0 h 76122"/>
                <a:gd name="connsiteX4" fmla="*/ 150943 w 152245"/>
                <a:gd name="connsiteY4" fmla="*/ 0 h 76122"/>
                <a:gd name="connsiteX5" fmla="*/ 150047 w 152245"/>
                <a:gd name="connsiteY5" fmla="*/ 0 h 76122"/>
                <a:gd name="connsiteX6" fmla="*/ 126763 w 152245"/>
                <a:gd name="connsiteY6" fmla="*/ 0 h 76122"/>
                <a:gd name="connsiteX7" fmla="*/ 124524 w 152245"/>
                <a:gd name="connsiteY7" fmla="*/ 2239 h 76122"/>
                <a:gd name="connsiteX8" fmla="*/ 126763 w 152245"/>
                <a:gd name="connsiteY8" fmla="*/ 4478 h 76122"/>
                <a:gd name="connsiteX9" fmla="*/ 144674 w 152245"/>
                <a:gd name="connsiteY9" fmla="*/ 4478 h 76122"/>
                <a:gd name="connsiteX10" fmla="*/ 76163 w 152245"/>
                <a:gd name="connsiteY10" fmla="*/ 70749 h 76122"/>
                <a:gd name="connsiteX11" fmla="*/ 40789 w 152245"/>
                <a:gd name="connsiteY11" fmla="*/ 44778 h 76122"/>
                <a:gd name="connsiteX12" fmla="*/ 38102 w 152245"/>
                <a:gd name="connsiteY12" fmla="*/ 44778 h 76122"/>
                <a:gd name="connsiteX13" fmla="*/ 936 w 152245"/>
                <a:gd name="connsiteY13" fmla="*/ 72093 h 76122"/>
                <a:gd name="connsiteX14" fmla="*/ 488 w 152245"/>
                <a:gd name="connsiteY14" fmla="*/ 75227 h 76122"/>
                <a:gd name="connsiteX15" fmla="*/ 2279 w 152245"/>
                <a:gd name="connsiteY15" fmla="*/ 76123 h 76122"/>
                <a:gd name="connsiteX16" fmla="*/ 3623 w 152245"/>
                <a:gd name="connsiteY16" fmla="*/ 75675 h 76122"/>
                <a:gd name="connsiteX17" fmla="*/ 39445 w 152245"/>
                <a:gd name="connsiteY17" fmla="*/ 49256 h 76122"/>
                <a:gd name="connsiteX18" fmla="*/ 75268 w 152245"/>
                <a:gd name="connsiteY18" fmla="*/ 75675 h 76122"/>
                <a:gd name="connsiteX19" fmla="*/ 77954 w 152245"/>
                <a:gd name="connsiteY19" fmla="*/ 75675 h 76122"/>
                <a:gd name="connsiteX20" fmla="*/ 148256 w 152245"/>
                <a:gd name="connsiteY20" fmla="*/ 8060 h 76122"/>
                <a:gd name="connsiteX21" fmla="*/ 148256 w 152245"/>
                <a:gd name="connsiteY21" fmla="*/ 25971 h 76122"/>
                <a:gd name="connsiteX22" fmla="*/ 150495 w 152245"/>
                <a:gd name="connsiteY22" fmla="*/ 28210 h 76122"/>
                <a:gd name="connsiteX23" fmla="*/ 152734 w 152245"/>
                <a:gd name="connsiteY23" fmla="*/ 25971 h 76122"/>
                <a:gd name="connsiteX24" fmla="*/ 152734 w 152245"/>
                <a:gd name="connsiteY24" fmla="*/ 2687 h 76122"/>
                <a:gd name="connsiteX25" fmla="*/ 151838 w 152245"/>
                <a:gd name="connsiteY25" fmla="*/ 895 h 7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245" h="76122">
                  <a:moveTo>
                    <a:pt x="151838" y="895"/>
                  </a:moveTo>
                  <a:cubicBezTo>
                    <a:pt x="151838" y="895"/>
                    <a:pt x="151838" y="895"/>
                    <a:pt x="151838" y="895"/>
                  </a:cubicBezTo>
                  <a:cubicBezTo>
                    <a:pt x="151391" y="448"/>
                    <a:pt x="151391" y="0"/>
                    <a:pt x="150943" y="0"/>
                  </a:cubicBezTo>
                  <a:cubicBezTo>
                    <a:pt x="150943" y="0"/>
                    <a:pt x="150943" y="0"/>
                    <a:pt x="150943" y="0"/>
                  </a:cubicBezTo>
                  <a:lnTo>
                    <a:pt x="150943" y="0"/>
                  </a:lnTo>
                  <a:cubicBezTo>
                    <a:pt x="150495" y="0"/>
                    <a:pt x="150495" y="0"/>
                    <a:pt x="150047" y="0"/>
                  </a:cubicBezTo>
                  <a:lnTo>
                    <a:pt x="126763" y="0"/>
                  </a:lnTo>
                  <a:cubicBezTo>
                    <a:pt x="125419" y="0"/>
                    <a:pt x="124524" y="895"/>
                    <a:pt x="124524" y="2239"/>
                  </a:cubicBezTo>
                  <a:cubicBezTo>
                    <a:pt x="124524" y="3582"/>
                    <a:pt x="125419" y="4478"/>
                    <a:pt x="126763" y="4478"/>
                  </a:cubicBezTo>
                  <a:lnTo>
                    <a:pt x="144674" y="4478"/>
                  </a:lnTo>
                  <a:lnTo>
                    <a:pt x="76163" y="70749"/>
                  </a:lnTo>
                  <a:lnTo>
                    <a:pt x="40789" y="44778"/>
                  </a:lnTo>
                  <a:cubicBezTo>
                    <a:pt x="39893" y="44330"/>
                    <a:pt x="38997" y="44330"/>
                    <a:pt x="38102" y="44778"/>
                  </a:cubicBezTo>
                  <a:lnTo>
                    <a:pt x="936" y="72093"/>
                  </a:lnTo>
                  <a:cubicBezTo>
                    <a:pt x="40" y="72988"/>
                    <a:pt x="-407" y="74332"/>
                    <a:pt x="488" y="75227"/>
                  </a:cubicBezTo>
                  <a:cubicBezTo>
                    <a:pt x="936" y="75675"/>
                    <a:pt x="1384" y="76123"/>
                    <a:pt x="2279" y="76123"/>
                  </a:cubicBezTo>
                  <a:cubicBezTo>
                    <a:pt x="2727" y="76123"/>
                    <a:pt x="3175" y="76123"/>
                    <a:pt x="3623" y="75675"/>
                  </a:cubicBezTo>
                  <a:lnTo>
                    <a:pt x="39445" y="49256"/>
                  </a:lnTo>
                  <a:lnTo>
                    <a:pt x="75268" y="75675"/>
                  </a:lnTo>
                  <a:cubicBezTo>
                    <a:pt x="76163" y="76123"/>
                    <a:pt x="77507" y="76123"/>
                    <a:pt x="77954" y="75675"/>
                  </a:cubicBezTo>
                  <a:lnTo>
                    <a:pt x="148256" y="8060"/>
                  </a:lnTo>
                  <a:lnTo>
                    <a:pt x="148256" y="25971"/>
                  </a:lnTo>
                  <a:cubicBezTo>
                    <a:pt x="148256" y="27315"/>
                    <a:pt x="149152" y="28210"/>
                    <a:pt x="150495" y="28210"/>
                  </a:cubicBezTo>
                  <a:cubicBezTo>
                    <a:pt x="151838" y="28210"/>
                    <a:pt x="152734" y="27315"/>
                    <a:pt x="152734" y="25971"/>
                  </a:cubicBezTo>
                  <a:lnTo>
                    <a:pt x="152734" y="2687"/>
                  </a:lnTo>
                  <a:cubicBezTo>
                    <a:pt x="152286" y="1791"/>
                    <a:pt x="151838" y="1343"/>
                    <a:pt x="151838" y="895"/>
                  </a:cubicBezTo>
                  <a:close/>
                </a:path>
              </a:pathLst>
            </a:custGeom>
            <a:solidFill>
              <a:schemeClr val="bg1"/>
            </a:solidFill>
            <a:ln w="24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20" name="Freeform: Shape 19">
              <a:extLst>
                <a:ext uri="{FF2B5EF4-FFF2-40B4-BE49-F238E27FC236}">
                  <a16:creationId xmlns:a16="http://schemas.microsoft.com/office/drawing/2014/main" id="{01211C65-C96B-07FF-61B6-701873430164}"/>
                </a:ext>
              </a:extLst>
            </p:cNvPr>
            <p:cNvSpPr/>
            <p:nvPr/>
          </p:nvSpPr>
          <p:spPr>
            <a:xfrm>
              <a:off x="4539128" y="2930817"/>
              <a:ext cx="152246" cy="107468"/>
            </a:xfrm>
            <a:custGeom>
              <a:avLst/>
              <a:gdLst>
                <a:gd name="connsiteX0" fmla="*/ 152694 w 152245"/>
                <a:gd name="connsiteY0" fmla="*/ 1791 h 107467"/>
                <a:gd name="connsiteX1" fmla="*/ 152694 w 152245"/>
                <a:gd name="connsiteY1" fmla="*/ 1343 h 107467"/>
                <a:gd name="connsiteX2" fmla="*/ 152246 w 152245"/>
                <a:gd name="connsiteY2" fmla="*/ 896 h 107467"/>
                <a:gd name="connsiteX3" fmla="*/ 152246 w 152245"/>
                <a:gd name="connsiteY3" fmla="*/ 448 h 107467"/>
                <a:gd name="connsiteX4" fmla="*/ 152246 w 152245"/>
                <a:gd name="connsiteY4" fmla="*/ 448 h 107467"/>
                <a:gd name="connsiteX5" fmla="*/ 151798 w 152245"/>
                <a:gd name="connsiteY5" fmla="*/ 0 h 107467"/>
                <a:gd name="connsiteX6" fmla="*/ 151350 w 152245"/>
                <a:gd name="connsiteY6" fmla="*/ 0 h 107467"/>
                <a:gd name="connsiteX7" fmla="*/ 150903 w 152245"/>
                <a:gd name="connsiteY7" fmla="*/ 0 h 107467"/>
                <a:gd name="connsiteX8" fmla="*/ 150455 w 152245"/>
                <a:gd name="connsiteY8" fmla="*/ 0 h 107467"/>
                <a:gd name="connsiteX9" fmla="*/ 150455 w 152245"/>
                <a:gd name="connsiteY9" fmla="*/ 0 h 107467"/>
                <a:gd name="connsiteX10" fmla="*/ 150007 w 152245"/>
                <a:gd name="connsiteY10" fmla="*/ 0 h 107467"/>
                <a:gd name="connsiteX11" fmla="*/ 149559 w 152245"/>
                <a:gd name="connsiteY11" fmla="*/ 0 h 107467"/>
                <a:gd name="connsiteX12" fmla="*/ 149111 w 152245"/>
                <a:gd name="connsiteY12" fmla="*/ 448 h 107467"/>
                <a:gd name="connsiteX13" fmla="*/ 148664 w 152245"/>
                <a:gd name="connsiteY13" fmla="*/ 448 h 107467"/>
                <a:gd name="connsiteX14" fmla="*/ 76123 w 152245"/>
                <a:gd name="connsiteY14" fmla="*/ 64928 h 107467"/>
                <a:gd name="connsiteX15" fmla="*/ 40748 w 152245"/>
                <a:gd name="connsiteY15" fmla="*/ 38509 h 107467"/>
                <a:gd name="connsiteX16" fmla="*/ 40748 w 152245"/>
                <a:gd name="connsiteY16" fmla="*/ 38509 h 107467"/>
                <a:gd name="connsiteX17" fmla="*/ 39405 w 152245"/>
                <a:gd name="connsiteY17" fmla="*/ 38061 h 107467"/>
                <a:gd name="connsiteX18" fmla="*/ 39405 w 152245"/>
                <a:gd name="connsiteY18" fmla="*/ 38061 h 107467"/>
                <a:gd name="connsiteX19" fmla="*/ 38061 w 152245"/>
                <a:gd name="connsiteY19" fmla="*/ 38509 h 107467"/>
                <a:gd name="connsiteX20" fmla="*/ 38061 w 152245"/>
                <a:gd name="connsiteY20" fmla="*/ 38509 h 107467"/>
                <a:gd name="connsiteX21" fmla="*/ 896 w 152245"/>
                <a:gd name="connsiteY21" fmla="*/ 66272 h 107467"/>
                <a:gd name="connsiteX22" fmla="*/ 896 w 152245"/>
                <a:gd name="connsiteY22" fmla="*/ 66272 h 107467"/>
                <a:gd name="connsiteX23" fmla="*/ 448 w 152245"/>
                <a:gd name="connsiteY23" fmla="*/ 66719 h 107467"/>
                <a:gd name="connsiteX24" fmla="*/ 0 w 152245"/>
                <a:gd name="connsiteY24" fmla="*/ 67167 h 107467"/>
                <a:gd name="connsiteX25" fmla="*/ 0 w 152245"/>
                <a:gd name="connsiteY25" fmla="*/ 67615 h 107467"/>
                <a:gd name="connsiteX26" fmla="*/ 0 w 152245"/>
                <a:gd name="connsiteY26" fmla="*/ 68063 h 107467"/>
                <a:gd name="connsiteX27" fmla="*/ 0 w 152245"/>
                <a:gd name="connsiteY27" fmla="*/ 68063 h 107467"/>
                <a:gd name="connsiteX28" fmla="*/ 0 w 152245"/>
                <a:gd name="connsiteY28" fmla="*/ 108363 h 107467"/>
                <a:gd name="connsiteX29" fmla="*/ 2239 w 152245"/>
                <a:gd name="connsiteY29" fmla="*/ 110602 h 107467"/>
                <a:gd name="connsiteX30" fmla="*/ 4478 w 152245"/>
                <a:gd name="connsiteY30" fmla="*/ 108363 h 107467"/>
                <a:gd name="connsiteX31" fmla="*/ 4478 w 152245"/>
                <a:gd name="connsiteY31" fmla="*/ 69406 h 107467"/>
                <a:gd name="connsiteX32" fmla="*/ 37166 w 152245"/>
                <a:gd name="connsiteY32" fmla="*/ 45226 h 107467"/>
                <a:gd name="connsiteX33" fmla="*/ 37166 w 152245"/>
                <a:gd name="connsiteY33" fmla="*/ 108811 h 107467"/>
                <a:gd name="connsiteX34" fmla="*/ 39405 w 152245"/>
                <a:gd name="connsiteY34" fmla="*/ 111050 h 107467"/>
                <a:gd name="connsiteX35" fmla="*/ 41644 w 152245"/>
                <a:gd name="connsiteY35" fmla="*/ 108811 h 107467"/>
                <a:gd name="connsiteX36" fmla="*/ 41644 w 152245"/>
                <a:gd name="connsiteY36" fmla="*/ 45226 h 107467"/>
                <a:gd name="connsiteX37" fmla="*/ 74332 w 152245"/>
                <a:gd name="connsiteY37" fmla="*/ 69406 h 107467"/>
                <a:gd name="connsiteX38" fmla="*/ 74332 w 152245"/>
                <a:gd name="connsiteY38" fmla="*/ 108363 h 107467"/>
                <a:gd name="connsiteX39" fmla="*/ 76571 w 152245"/>
                <a:gd name="connsiteY39" fmla="*/ 110602 h 107467"/>
                <a:gd name="connsiteX40" fmla="*/ 78810 w 152245"/>
                <a:gd name="connsiteY40" fmla="*/ 108363 h 107467"/>
                <a:gd name="connsiteX41" fmla="*/ 78810 w 152245"/>
                <a:gd name="connsiteY41" fmla="*/ 68958 h 107467"/>
                <a:gd name="connsiteX42" fmla="*/ 111498 w 152245"/>
                <a:gd name="connsiteY42" fmla="*/ 39853 h 107467"/>
                <a:gd name="connsiteX43" fmla="*/ 111498 w 152245"/>
                <a:gd name="connsiteY43" fmla="*/ 107915 h 107467"/>
                <a:gd name="connsiteX44" fmla="*/ 113737 w 152245"/>
                <a:gd name="connsiteY44" fmla="*/ 110154 h 107467"/>
                <a:gd name="connsiteX45" fmla="*/ 115976 w 152245"/>
                <a:gd name="connsiteY45" fmla="*/ 107915 h 107467"/>
                <a:gd name="connsiteX46" fmla="*/ 115976 w 152245"/>
                <a:gd name="connsiteY46" fmla="*/ 37166 h 107467"/>
                <a:gd name="connsiteX47" fmla="*/ 115528 w 152245"/>
                <a:gd name="connsiteY47" fmla="*/ 36270 h 107467"/>
                <a:gd name="connsiteX48" fmla="*/ 148216 w 152245"/>
                <a:gd name="connsiteY48" fmla="*/ 7165 h 107467"/>
                <a:gd name="connsiteX49" fmla="*/ 148216 w 152245"/>
                <a:gd name="connsiteY49" fmla="*/ 108363 h 107467"/>
                <a:gd name="connsiteX50" fmla="*/ 150455 w 152245"/>
                <a:gd name="connsiteY50" fmla="*/ 110602 h 107467"/>
                <a:gd name="connsiteX51" fmla="*/ 152694 w 152245"/>
                <a:gd name="connsiteY51" fmla="*/ 108363 h 107467"/>
                <a:gd name="connsiteX52" fmla="*/ 152694 w 152245"/>
                <a:gd name="connsiteY52" fmla="*/ 1791 h 107467"/>
                <a:gd name="connsiteX53" fmla="*/ 152694 w 152245"/>
                <a:gd name="connsiteY53" fmla="*/ 1791 h 107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52245" h="107467">
                  <a:moveTo>
                    <a:pt x="152694" y="1791"/>
                  </a:moveTo>
                  <a:cubicBezTo>
                    <a:pt x="152694" y="1791"/>
                    <a:pt x="152694" y="1343"/>
                    <a:pt x="152694" y="1343"/>
                  </a:cubicBezTo>
                  <a:cubicBezTo>
                    <a:pt x="152694" y="1343"/>
                    <a:pt x="152694" y="896"/>
                    <a:pt x="152246" y="896"/>
                  </a:cubicBezTo>
                  <a:cubicBezTo>
                    <a:pt x="152246" y="896"/>
                    <a:pt x="152246" y="896"/>
                    <a:pt x="152246" y="448"/>
                  </a:cubicBezTo>
                  <a:cubicBezTo>
                    <a:pt x="152246" y="448"/>
                    <a:pt x="152246" y="448"/>
                    <a:pt x="152246" y="448"/>
                  </a:cubicBezTo>
                  <a:cubicBezTo>
                    <a:pt x="152246" y="448"/>
                    <a:pt x="151798" y="448"/>
                    <a:pt x="151798" y="0"/>
                  </a:cubicBezTo>
                  <a:cubicBezTo>
                    <a:pt x="151798" y="0"/>
                    <a:pt x="151798" y="0"/>
                    <a:pt x="151350" y="0"/>
                  </a:cubicBezTo>
                  <a:cubicBezTo>
                    <a:pt x="151350" y="0"/>
                    <a:pt x="150903" y="0"/>
                    <a:pt x="150903" y="0"/>
                  </a:cubicBezTo>
                  <a:cubicBezTo>
                    <a:pt x="150903" y="0"/>
                    <a:pt x="150455" y="0"/>
                    <a:pt x="150455" y="0"/>
                  </a:cubicBezTo>
                  <a:cubicBezTo>
                    <a:pt x="150455" y="0"/>
                    <a:pt x="150455" y="0"/>
                    <a:pt x="150455" y="0"/>
                  </a:cubicBezTo>
                  <a:cubicBezTo>
                    <a:pt x="150455" y="0"/>
                    <a:pt x="150455" y="0"/>
                    <a:pt x="150007" y="0"/>
                  </a:cubicBezTo>
                  <a:cubicBezTo>
                    <a:pt x="150007" y="0"/>
                    <a:pt x="149559" y="0"/>
                    <a:pt x="149559" y="0"/>
                  </a:cubicBezTo>
                  <a:cubicBezTo>
                    <a:pt x="149559" y="0"/>
                    <a:pt x="149111" y="0"/>
                    <a:pt x="149111" y="448"/>
                  </a:cubicBezTo>
                  <a:cubicBezTo>
                    <a:pt x="149111" y="448"/>
                    <a:pt x="149111" y="448"/>
                    <a:pt x="148664" y="448"/>
                  </a:cubicBezTo>
                  <a:lnTo>
                    <a:pt x="76123" y="64928"/>
                  </a:lnTo>
                  <a:lnTo>
                    <a:pt x="40748" y="38509"/>
                  </a:lnTo>
                  <a:cubicBezTo>
                    <a:pt x="40748" y="38509"/>
                    <a:pt x="40748" y="38509"/>
                    <a:pt x="40748" y="38509"/>
                  </a:cubicBezTo>
                  <a:cubicBezTo>
                    <a:pt x="40300" y="38061"/>
                    <a:pt x="39853" y="38061"/>
                    <a:pt x="39405" y="38061"/>
                  </a:cubicBezTo>
                  <a:cubicBezTo>
                    <a:pt x="39405" y="38061"/>
                    <a:pt x="39405" y="38061"/>
                    <a:pt x="39405" y="38061"/>
                  </a:cubicBezTo>
                  <a:cubicBezTo>
                    <a:pt x="38957" y="38061"/>
                    <a:pt x="38509" y="38061"/>
                    <a:pt x="38061" y="38509"/>
                  </a:cubicBezTo>
                  <a:cubicBezTo>
                    <a:pt x="38061" y="38509"/>
                    <a:pt x="38061" y="38509"/>
                    <a:pt x="38061" y="38509"/>
                  </a:cubicBezTo>
                  <a:lnTo>
                    <a:pt x="896" y="66272"/>
                  </a:lnTo>
                  <a:cubicBezTo>
                    <a:pt x="896" y="66272"/>
                    <a:pt x="896" y="66272"/>
                    <a:pt x="896" y="66272"/>
                  </a:cubicBezTo>
                  <a:cubicBezTo>
                    <a:pt x="896" y="66272"/>
                    <a:pt x="896" y="66272"/>
                    <a:pt x="448" y="66719"/>
                  </a:cubicBezTo>
                  <a:cubicBezTo>
                    <a:pt x="448" y="66719"/>
                    <a:pt x="448" y="66719"/>
                    <a:pt x="0" y="67167"/>
                  </a:cubicBezTo>
                  <a:cubicBezTo>
                    <a:pt x="0" y="67167"/>
                    <a:pt x="0" y="67615"/>
                    <a:pt x="0" y="67615"/>
                  </a:cubicBezTo>
                  <a:cubicBezTo>
                    <a:pt x="0" y="67615"/>
                    <a:pt x="0" y="68063"/>
                    <a:pt x="0" y="68063"/>
                  </a:cubicBezTo>
                  <a:cubicBezTo>
                    <a:pt x="0" y="68063"/>
                    <a:pt x="0" y="68063"/>
                    <a:pt x="0" y="68063"/>
                  </a:cubicBezTo>
                  <a:lnTo>
                    <a:pt x="0" y="108363"/>
                  </a:lnTo>
                  <a:cubicBezTo>
                    <a:pt x="0" y="109707"/>
                    <a:pt x="896" y="110602"/>
                    <a:pt x="2239" y="110602"/>
                  </a:cubicBezTo>
                  <a:cubicBezTo>
                    <a:pt x="3582" y="110602"/>
                    <a:pt x="4478" y="109707"/>
                    <a:pt x="4478" y="108363"/>
                  </a:cubicBezTo>
                  <a:lnTo>
                    <a:pt x="4478" y="69406"/>
                  </a:lnTo>
                  <a:lnTo>
                    <a:pt x="37166" y="45226"/>
                  </a:lnTo>
                  <a:lnTo>
                    <a:pt x="37166" y="108811"/>
                  </a:lnTo>
                  <a:cubicBezTo>
                    <a:pt x="37166" y="110154"/>
                    <a:pt x="38061" y="111050"/>
                    <a:pt x="39405" y="111050"/>
                  </a:cubicBezTo>
                  <a:cubicBezTo>
                    <a:pt x="40748" y="111050"/>
                    <a:pt x="41644" y="110154"/>
                    <a:pt x="41644" y="108811"/>
                  </a:cubicBezTo>
                  <a:lnTo>
                    <a:pt x="41644" y="45226"/>
                  </a:lnTo>
                  <a:lnTo>
                    <a:pt x="74332" y="69406"/>
                  </a:lnTo>
                  <a:lnTo>
                    <a:pt x="74332" y="108363"/>
                  </a:lnTo>
                  <a:cubicBezTo>
                    <a:pt x="74332" y="109707"/>
                    <a:pt x="75227" y="110602"/>
                    <a:pt x="76571" y="110602"/>
                  </a:cubicBezTo>
                  <a:cubicBezTo>
                    <a:pt x="77914" y="110602"/>
                    <a:pt x="78810" y="109707"/>
                    <a:pt x="78810" y="108363"/>
                  </a:cubicBezTo>
                  <a:lnTo>
                    <a:pt x="78810" y="68958"/>
                  </a:lnTo>
                  <a:lnTo>
                    <a:pt x="111498" y="39853"/>
                  </a:lnTo>
                  <a:lnTo>
                    <a:pt x="111498" y="107915"/>
                  </a:lnTo>
                  <a:cubicBezTo>
                    <a:pt x="111498" y="109259"/>
                    <a:pt x="112393" y="110154"/>
                    <a:pt x="113737" y="110154"/>
                  </a:cubicBezTo>
                  <a:cubicBezTo>
                    <a:pt x="115080" y="110154"/>
                    <a:pt x="115976" y="109259"/>
                    <a:pt x="115976" y="107915"/>
                  </a:cubicBezTo>
                  <a:lnTo>
                    <a:pt x="115976" y="37166"/>
                  </a:lnTo>
                  <a:cubicBezTo>
                    <a:pt x="115976" y="36718"/>
                    <a:pt x="115976" y="36270"/>
                    <a:pt x="115528" y="36270"/>
                  </a:cubicBezTo>
                  <a:lnTo>
                    <a:pt x="148216" y="7165"/>
                  </a:lnTo>
                  <a:lnTo>
                    <a:pt x="148216" y="108363"/>
                  </a:lnTo>
                  <a:cubicBezTo>
                    <a:pt x="148216" y="109707"/>
                    <a:pt x="149111" y="110602"/>
                    <a:pt x="150455" y="110602"/>
                  </a:cubicBezTo>
                  <a:cubicBezTo>
                    <a:pt x="151798" y="110602"/>
                    <a:pt x="152694" y="109707"/>
                    <a:pt x="152694" y="108363"/>
                  </a:cubicBezTo>
                  <a:lnTo>
                    <a:pt x="152694" y="1791"/>
                  </a:lnTo>
                  <a:cubicBezTo>
                    <a:pt x="152694" y="1791"/>
                    <a:pt x="152694" y="1791"/>
                    <a:pt x="152694" y="1791"/>
                  </a:cubicBezTo>
                  <a:close/>
                </a:path>
              </a:pathLst>
            </a:custGeom>
            <a:solidFill>
              <a:schemeClr val="bg1"/>
            </a:solidFill>
            <a:ln w="24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grpSp>
      <p:sp>
        <p:nvSpPr>
          <p:cNvPr id="21" name="Parallelogram 20">
            <a:extLst>
              <a:ext uri="{FF2B5EF4-FFF2-40B4-BE49-F238E27FC236}">
                <a16:creationId xmlns:a16="http://schemas.microsoft.com/office/drawing/2014/main" id="{72FC7C81-90A1-ACB8-5CEB-AD8330BA1EF7}"/>
              </a:ext>
            </a:extLst>
          </p:cNvPr>
          <p:cNvSpPr/>
          <p:nvPr/>
        </p:nvSpPr>
        <p:spPr>
          <a:xfrm>
            <a:off x="-930891" y="4838109"/>
            <a:ext cx="9030375" cy="2134683"/>
          </a:xfrm>
          <a:prstGeom prst="parallelogram">
            <a:avLst>
              <a:gd name="adj" fmla="val 40263"/>
            </a:avLst>
          </a:prstGeom>
          <a:solidFill>
            <a:schemeClr val="accent5">
              <a:lumMod val="20000"/>
              <a:lumOff val="80000"/>
              <a:alpha val="1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a:ln>
                <a:noFill/>
              </a:ln>
              <a:solidFill>
                <a:prstClr val="black"/>
              </a:solidFill>
              <a:effectLst/>
              <a:uLnTx/>
              <a:uFillTx/>
              <a:latin typeface="Ubuntu"/>
              <a:ea typeface="+mn-ea"/>
              <a:cs typeface="+mn-cs"/>
            </a:endParaRPr>
          </a:p>
        </p:txBody>
      </p:sp>
      <p:grpSp>
        <p:nvGrpSpPr>
          <p:cNvPr id="23" name="Group 22">
            <a:extLst>
              <a:ext uri="{FF2B5EF4-FFF2-40B4-BE49-F238E27FC236}">
                <a16:creationId xmlns:a16="http://schemas.microsoft.com/office/drawing/2014/main" id="{03528C68-F2DA-528D-FBCE-CE386D1DC24F}"/>
              </a:ext>
              <a:ext uri="{C183D7F6-B498-43B3-948B-1728B52AA6E4}">
                <adec:decorative xmlns:adec="http://schemas.microsoft.com/office/drawing/2017/decorative" val="1"/>
              </a:ext>
            </a:extLst>
          </p:cNvPr>
          <p:cNvGrpSpPr>
            <a:grpSpLocks noChangeAspect="1"/>
          </p:cNvGrpSpPr>
          <p:nvPr/>
        </p:nvGrpSpPr>
        <p:grpSpPr>
          <a:xfrm>
            <a:off x="155403" y="4991456"/>
            <a:ext cx="218454" cy="218454"/>
            <a:chOff x="4547188" y="980728"/>
            <a:chExt cx="152246" cy="152246"/>
          </a:xfrm>
          <a:solidFill>
            <a:schemeClr val="accent2"/>
          </a:solidFill>
        </p:grpSpPr>
        <p:sp>
          <p:nvSpPr>
            <p:cNvPr id="24" name="Freeform: Shape 23">
              <a:extLst>
                <a:ext uri="{FF2B5EF4-FFF2-40B4-BE49-F238E27FC236}">
                  <a16:creationId xmlns:a16="http://schemas.microsoft.com/office/drawing/2014/main" id="{5A463A51-3415-9EC1-201C-988FF7FE8972}"/>
                </a:ext>
              </a:extLst>
            </p:cNvPr>
            <p:cNvSpPr/>
            <p:nvPr/>
          </p:nvSpPr>
          <p:spPr>
            <a:xfrm>
              <a:off x="4547188" y="980728"/>
              <a:ext cx="152246" cy="152246"/>
            </a:xfrm>
            <a:custGeom>
              <a:avLst/>
              <a:gdLst>
                <a:gd name="connsiteX0" fmla="*/ 145529 w 152245"/>
                <a:gd name="connsiteY0" fmla="*/ 17911 h 152245"/>
                <a:gd name="connsiteX1" fmla="*/ 125379 w 152245"/>
                <a:gd name="connsiteY1" fmla="*/ 17911 h 152245"/>
                <a:gd name="connsiteX2" fmla="*/ 125379 w 152245"/>
                <a:gd name="connsiteY2" fmla="*/ 6717 h 152245"/>
                <a:gd name="connsiteX3" fmla="*/ 118662 w 152245"/>
                <a:gd name="connsiteY3" fmla="*/ 0 h 152245"/>
                <a:gd name="connsiteX4" fmla="*/ 6717 w 152245"/>
                <a:gd name="connsiteY4" fmla="*/ 0 h 152245"/>
                <a:gd name="connsiteX5" fmla="*/ 0 w 152245"/>
                <a:gd name="connsiteY5" fmla="*/ 6717 h 152245"/>
                <a:gd name="connsiteX6" fmla="*/ 0 w 152245"/>
                <a:gd name="connsiteY6" fmla="*/ 132096 h 152245"/>
                <a:gd name="connsiteX7" fmla="*/ 6717 w 152245"/>
                <a:gd name="connsiteY7" fmla="*/ 138812 h 152245"/>
                <a:gd name="connsiteX8" fmla="*/ 26867 w 152245"/>
                <a:gd name="connsiteY8" fmla="*/ 138812 h 152245"/>
                <a:gd name="connsiteX9" fmla="*/ 26867 w 152245"/>
                <a:gd name="connsiteY9" fmla="*/ 145529 h 152245"/>
                <a:gd name="connsiteX10" fmla="*/ 33584 w 152245"/>
                <a:gd name="connsiteY10" fmla="*/ 152246 h 152245"/>
                <a:gd name="connsiteX11" fmla="*/ 145529 w 152245"/>
                <a:gd name="connsiteY11" fmla="*/ 152246 h 152245"/>
                <a:gd name="connsiteX12" fmla="*/ 152246 w 152245"/>
                <a:gd name="connsiteY12" fmla="*/ 145529 h 152245"/>
                <a:gd name="connsiteX13" fmla="*/ 152246 w 152245"/>
                <a:gd name="connsiteY13" fmla="*/ 24628 h 152245"/>
                <a:gd name="connsiteX14" fmla="*/ 145529 w 152245"/>
                <a:gd name="connsiteY14" fmla="*/ 17911 h 152245"/>
                <a:gd name="connsiteX15" fmla="*/ 4478 w 152245"/>
                <a:gd name="connsiteY15" fmla="*/ 132096 h 152245"/>
                <a:gd name="connsiteX16" fmla="*/ 4478 w 152245"/>
                <a:gd name="connsiteY16" fmla="*/ 6717 h 152245"/>
                <a:gd name="connsiteX17" fmla="*/ 6717 w 152245"/>
                <a:gd name="connsiteY17" fmla="*/ 4478 h 152245"/>
                <a:gd name="connsiteX18" fmla="*/ 118662 w 152245"/>
                <a:gd name="connsiteY18" fmla="*/ 4478 h 152245"/>
                <a:gd name="connsiteX19" fmla="*/ 120901 w 152245"/>
                <a:gd name="connsiteY19" fmla="*/ 6717 h 152245"/>
                <a:gd name="connsiteX20" fmla="*/ 120901 w 152245"/>
                <a:gd name="connsiteY20" fmla="*/ 132096 h 152245"/>
                <a:gd name="connsiteX21" fmla="*/ 118662 w 152245"/>
                <a:gd name="connsiteY21" fmla="*/ 134335 h 152245"/>
                <a:gd name="connsiteX22" fmla="*/ 6717 w 152245"/>
                <a:gd name="connsiteY22" fmla="*/ 134335 h 152245"/>
                <a:gd name="connsiteX23" fmla="*/ 4478 w 152245"/>
                <a:gd name="connsiteY23" fmla="*/ 132096 h 152245"/>
                <a:gd name="connsiteX24" fmla="*/ 147768 w 152245"/>
                <a:gd name="connsiteY24" fmla="*/ 145529 h 152245"/>
                <a:gd name="connsiteX25" fmla="*/ 145529 w 152245"/>
                <a:gd name="connsiteY25" fmla="*/ 147768 h 152245"/>
                <a:gd name="connsiteX26" fmla="*/ 33584 w 152245"/>
                <a:gd name="connsiteY26" fmla="*/ 147768 h 152245"/>
                <a:gd name="connsiteX27" fmla="*/ 31345 w 152245"/>
                <a:gd name="connsiteY27" fmla="*/ 145529 h 152245"/>
                <a:gd name="connsiteX28" fmla="*/ 31345 w 152245"/>
                <a:gd name="connsiteY28" fmla="*/ 138812 h 152245"/>
                <a:gd name="connsiteX29" fmla="*/ 118662 w 152245"/>
                <a:gd name="connsiteY29" fmla="*/ 138812 h 152245"/>
                <a:gd name="connsiteX30" fmla="*/ 125379 w 152245"/>
                <a:gd name="connsiteY30" fmla="*/ 132096 h 152245"/>
                <a:gd name="connsiteX31" fmla="*/ 125379 w 152245"/>
                <a:gd name="connsiteY31" fmla="*/ 22389 h 152245"/>
                <a:gd name="connsiteX32" fmla="*/ 145529 w 152245"/>
                <a:gd name="connsiteY32" fmla="*/ 22389 h 152245"/>
                <a:gd name="connsiteX33" fmla="*/ 147768 w 152245"/>
                <a:gd name="connsiteY33" fmla="*/ 24628 h 152245"/>
                <a:gd name="connsiteX34" fmla="*/ 147768 w 152245"/>
                <a:gd name="connsiteY34" fmla="*/ 145529 h 15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2245" h="152245">
                  <a:moveTo>
                    <a:pt x="145529" y="17911"/>
                  </a:moveTo>
                  <a:lnTo>
                    <a:pt x="125379" y="17911"/>
                  </a:lnTo>
                  <a:lnTo>
                    <a:pt x="125379" y="6717"/>
                  </a:lnTo>
                  <a:cubicBezTo>
                    <a:pt x="125379" y="3134"/>
                    <a:pt x="122245" y="0"/>
                    <a:pt x="118662" y="0"/>
                  </a:cubicBezTo>
                  <a:lnTo>
                    <a:pt x="6717" y="0"/>
                  </a:lnTo>
                  <a:cubicBezTo>
                    <a:pt x="3135" y="0"/>
                    <a:pt x="0" y="3134"/>
                    <a:pt x="0" y="6717"/>
                  </a:cubicBezTo>
                  <a:lnTo>
                    <a:pt x="0" y="132096"/>
                  </a:lnTo>
                  <a:cubicBezTo>
                    <a:pt x="0" y="135678"/>
                    <a:pt x="3135" y="138812"/>
                    <a:pt x="6717" y="138812"/>
                  </a:cubicBezTo>
                  <a:lnTo>
                    <a:pt x="26867" y="138812"/>
                  </a:lnTo>
                  <a:lnTo>
                    <a:pt x="26867" y="145529"/>
                  </a:lnTo>
                  <a:cubicBezTo>
                    <a:pt x="26867" y="149111"/>
                    <a:pt x="30001" y="152246"/>
                    <a:pt x="33584" y="152246"/>
                  </a:cubicBezTo>
                  <a:lnTo>
                    <a:pt x="145529" y="152246"/>
                  </a:lnTo>
                  <a:cubicBezTo>
                    <a:pt x="149112" y="152246"/>
                    <a:pt x="152246" y="149111"/>
                    <a:pt x="152246" y="145529"/>
                  </a:cubicBezTo>
                  <a:lnTo>
                    <a:pt x="152246" y="24628"/>
                  </a:lnTo>
                  <a:cubicBezTo>
                    <a:pt x="152246" y="20598"/>
                    <a:pt x="149559" y="17911"/>
                    <a:pt x="145529" y="17911"/>
                  </a:cubicBezTo>
                  <a:close/>
                  <a:moveTo>
                    <a:pt x="4478" y="132096"/>
                  </a:moveTo>
                  <a:lnTo>
                    <a:pt x="4478" y="6717"/>
                  </a:lnTo>
                  <a:cubicBezTo>
                    <a:pt x="4478" y="5373"/>
                    <a:pt x="5373" y="4478"/>
                    <a:pt x="6717" y="4478"/>
                  </a:cubicBezTo>
                  <a:lnTo>
                    <a:pt x="118662" y="4478"/>
                  </a:lnTo>
                  <a:cubicBezTo>
                    <a:pt x="120006" y="4478"/>
                    <a:pt x="120901" y="5373"/>
                    <a:pt x="120901" y="6717"/>
                  </a:cubicBezTo>
                  <a:lnTo>
                    <a:pt x="120901" y="132096"/>
                  </a:lnTo>
                  <a:cubicBezTo>
                    <a:pt x="120901" y="133439"/>
                    <a:pt x="120006" y="134335"/>
                    <a:pt x="118662" y="134335"/>
                  </a:cubicBezTo>
                  <a:lnTo>
                    <a:pt x="6717" y="134335"/>
                  </a:lnTo>
                  <a:cubicBezTo>
                    <a:pt x="5821" y="134335"/>
                    <a:pt x="4478" y="133439"/>
                    <a:pt x="4478" y="132096"/>
                  </a:cubicBezTo>
                  <a:close/>
                  <a:moveTo>
                    <a:pt x="147768" y="145529"/>
                  </a:moveTo>
                  <a:cubicBezTo>
                    <a:pt x="147768" y="146872"/>
                    <a:pt x="146873" y="147768"/>
                    <a:pt x="145529" y="147768"/>
                  </a:cubicBezTo>
                  <a:lnTo>
                    <a:pt x="33584" y="147768"/>
                  </a:lnTo>
                  <a:cubicBezTo>
                    <a:pt x="32240" y="147768"/>
                    <a:pt x="31345" y="146872"/>
                    <a:pt x="31345" y="145529"/>
                  </a:cubicBezTo>
                  <a:lnTo>
                    <a:pt x="31345" y="138812"/>
                  </a:lnTo>
                  <a:lnTo>
                    <a:pt x="118662" y="138812"/>
                  </a:lnTo>
                  <a:cubicBezTo>
                    <a:pt x="122245" y="138812"/>
                    <a:pt x="125379" y="135678"/>
                    <a:pt x="125379" y="132096"/>
                  </a:cubicBezTo>
                  <a:lnTo>
                    <a:pt x="125379" y="22389"/>
                  </a:lnTo>
                  <a:lnTo>
                    <a:pt x="145529" y="22389"/>
                  </a:lnTo>
                  <a:cubicBezTo>
                    <a:pt x="146873" y="22389"/>
                    <a:pt x="147768" y="23285"/>
                    <a:pt x="147768" y="24628"/>
                  </a:cubicBezTo>
                  <a:lnTo>
                    <a:pt x="147768" y="145529"/>
                  </a:lnTo>
                  <a:close/>
                </a:path>
              </a:pathLst>
            </a:custGeom>
            <a:solidFill>
              <a:schemeClr val="bg1"/>
            </a:solidFill>
            <a:ln w="447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25" name="Freeform: Shape 24">
              <a:extLst>
                <a:ext uri="{FF2B5EF4-FFF2-40B4-BE49-F238E27FC236}">
                  <a16:creationId xmlns:a16="http://schemas.microsoft.com/office/drawing/2014/main" id="{5A8CDDBC-ED1E-3F8A-8ECF-CCAC61C6352B}"/>
                </a:ext>
              </a:extLst>
            </p:cNvPr>
            <p:cNvSpPr/>
            <p:nvPr/>
          </p:nvSpPr>
          <p:spPr>
            <a:xfrm>
              <a:off x="4564652" y="1007595"/>
              <a:ext cx="85079" cy="4478"/>
            </a:xfrm>
            <a:custGeom>
              <a:avLst/>
              <a:gdLst>
                <a:gd name="connsiteX0" fmla="*/ 85526 w 85078"/>
                <a:gd name="connsiteY0" fmla="*/ 4478 h 4477"/>
                <a:gd name="connsiteX1" fmla="*/ 2239 w 85078"/>
                <a:gd name="connsiteY1" fmla="*/ 4478 h 4477"/>
                <a:gd name="connsiteX2" fmla="*/ 0 w 85078"/>
                <a:gd name="connsiteY2" fmla="*/ 2239 h 4477"/>
                <a:gd name="connsiteX3" fmla="*/ 2239 w 85078"/>
                <a:gd name="connsiteY3" fmla="*/ 0 h 4477"/>
                <a:gd name="connsiteX4" fmla="*/ 85526 w 85078"/>
                <a:gd name="connsiteY4" fmla="*/ 0 h 4477"/>
                <a:gd name="connsiteX5" fmla="*/ 87765 w 85078"/>
                <a:gd name="connsiteY5" fmla="*/ 2239 h 4477"/>
                <a:gd name="connsiteX6" fmla="*/ 85526 w 85078"/>
                <a:gd name="connsiteY6" fmla="*/ 4478 h 4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078" h="4477">
                  <a:moveTo>
                    <a:pt x="85526" y="4478"/>
                  </a:moveTo>
                  <a:lnTo>
                    <a:pt x="2239" y="4478"/>
                  </a:lnTo>
                  <a:cubicBezTo>
                    <a:pt x="896" y="4478"/>
                    <a:pt x="0" y="3582"/>
                    <a:pt x="0" y="2239"/>
                  </a:cubicBezTo>
                  <a:cubicBezTo>
                    <a:pt x="0" y="896"/>
                    <a:pt x="896" y="0"/>
                    <a:pt x="2239" y="0"/>
                  </a:cubicBezTo>
                  <a:lnTo>
                    <a:pt x="85526" y="0"/>
                  </a:lnTo>
                  <a:cubicBezTo>
                    <a:pt x="86870" y="0"/>
                    <a:pt x="87765" y="896"/>
                    <a:pt x="87765" y="2239"/>
                  </a:cubicBezTo>
                  <a:cubicBezTo>
                    <a:pt x="87765" y="3582"/>
                    <a:pt x="86870" y="4478"/>
                    <a:pt x="85526" y="4478"/>
                  </a:cubicBezTo>
                  <a:close/>
                </a:path>
              </a:pathLst>
            </a:custGeom>
            <a:solidFill>
              <a:schemeClr val="bg1"/>
            </a:solidFill>
            <a:ln w="447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26" name="Freeform: Shape 25">
              <a:extLst>
                <a:ext uri="{FF2B5EF4-FFF2-40B4-BE49-F238E27FC236}">
                  <a16:creationId xmlns:a16="http://schemas.microsoft.com/office/drawing/2014/main" id="{D906E327-72D1-ED3B-8D4E-DACF8100EDE7}"/>
                </a:ext>
              </a:extLst>
            </p:cNvPr>
            <p:cNvSpPr/>
            <p:nvPr/>
          </p:nvSpPr>
          <p:spPr>
            <a:xfrm>
              <a:off x="4564652" y="1061329"/>
              <a:ext cx="85079" cy="4478"/>
            </a:xfrm>
            <a:custGeom>
              <a:avLst/>
              <a:gdLst>
                <a:gd name="connsiteX0" fmla="*/ 85526 w 85078"/>
                <a:gd name="connsiteY0" fmla="*/ 4478 h 4477"/>
                <a:gd name="connsiteX1" fmla="*/ 2239 w 85078"/>
                <a:gd name="connsiteY1" fmla="*/ 4478 h 4477"/>
                <a:gd name="connsiteX2" fmla="*/ 0 w 85078"/>
                <a:gd name="connsiteY2" fmla="*/ 2239 h 4477"/>
                <a:gd name="connsiteX3" fmla="*/ 2239 w 85078"/>
                <a:gd name="connsiteY3" fmla="*/ 0 h 4477"/>
                <a:gd name="connsiteX4" fmla="*/ 85526 w 85078"/>
                <a:gd name="connsiteY4" fmla="*/ 0 h 4477"/>
                <a:gd name="connsiteX5" fmla="*/ 87765 w 85078"/>
                <a:gd name="connsiteY5" fmla="*/ 2239 h 4477"/>
                <a:gd name="connsiteX6" fmla="*/ 85526 w 85078"/>
                <a:gd name="connsiteY6" fmla="*/ 4478 h 4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078" h="4477">
                  <a:moveTo>
                    <a:pt x="85526" y="4478"/>
                  </a:moveTo>
                  <a:lnTo>
                    <a:pt x="2239" y="4478"/>
                  </a:lnTo>
                  <a:cubicBezTo>
                    <a:pt x="896" y="4478"/>
                    <a:pt x="0" y="3582"/>
                    <a:pt x="0" y="2239"/>
                  </a:cubicBezTo>
                  <a:cubicBezTo>
                    <a:pt x="0" y="896"/>
                    <a:pt x="896" y="0"/>
                    <a:pt x="2239" y="0"/>
                  </a:cubicBezTo>
                  <a:lnTo>
                    <a:pt x="85526" y="0"/>
                  </a:lnTo>
                  <a:cubicBezTo>
                    <a:pt x="86870" y="0"/>
                    <a:pt x="87765" y="896"/>
                    <a:pt x="87765" y="2239"/>
                  </a:cubicBezTo>
                  <a:cubicBezTo>
                    <a:pt x="87765" y="3582"/>
                    <a:pt x="86870" y="4478"/>
                    <a:pt x="85526" y="4478"/>
                  </a:cubicBezTo>
                  <a:close/>
                </a:path>
              </a:pathLst>
            </a:custGeom>
            <a:solidFill>
              <a:schemeClr val="bg1"/>
            </a:solidFill>
            <a:ln w="447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27" name="Freeform: Shape 26">
              <a:extLst>
                <a:ext uri="{FF2B5EF4-FFF2-40B4-BE49-F238E27FC236}">
                  <a16:creationId xmlns:a16="http://schemas.microsoft.com/office/drawing/2014/main" id="{C488D8A2-5397-F74B-9F8C-1159E1BF3773}"/>
                </a:ext>
              </a:extLst>
            </p:cNvPr>
            <p:cNvSpPr/>
            <p:nvPr/>
          </p:nvSpPr>
          <p:spPr>
            <a:xfrm>
              <a:off x="4564652" y="1034462"/>
              <a:ext cx="67167" cy="4478"/>
            </a:xfrm>
            <a:custGeom>
              <a:avLst/>
              <a:gdLst>
                <a:gd name="connsiteX0" fmla="*/ 67615 w 67167"/>
                <a:gd name="connsiteY0" fmla="*/ 4478 h 4477"/>
                <a:gd name="connsiteX1" fmla="*/ 2239 w 67167"/>
                <a:gd name="connsiteY1" fmla="*/ 4478 h 4477"/>
                <a:gd name="connsiteX2" fmla="*/ 0 w 67167"/>
                <a:gd name="connsiteY2" fmla="*/ 2239 h 4477"/>
                <a:gd name="connsiteX3" fmla="*/ 2239 w 67167"/>
                <a:gd name="connsiteY3" fmla="*/ 0 h 4477"/>
                <a:gd name="connsiteX4" fmla="*/ 67615 w 67167"/>
                <a:gd name="connsiteY4" fmla="*/ 0 h 4477"/>
                <a:gd name="connsiteX5" fmla="*/ 69854 w 67167"/>
                <a:gd name="connsiteY5" fmla="*/ 2239 h 4477"/>
                <a:gd name="connsiteX6" fmla="*/ 67615 w 67167"/>
                <a:gd name="connsiteY6" fmla="*/ 4478 h 4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167" h="4477">
                  <a:moveTo>
                    <a:pt x="67615" y="4478"/>
                  </a:moveTo>
                  <a:lnTo>
                    <a:pt x="2239" y="4478"/>
                  </a:lnTo>
                  <a:cubicBezTo>
                    <a:pt x="896" y="4478"/>
                    <a:pt x="0" y="3582"/>
                    <a:pt x="0" y="2239"/>
                  </a:cubicBezTo>
                  <a:cubicBezTo>
                    <a:pt x="0" y="896"/>
                    <a:pt x="896" y="0"/>
                    <a:pt x="2239" y="0"/>
                  </a:cubicBezTo>
                  <a:lnTo>
                    <a:pt x="67615" y="0"/>
                  </a:lnTo>
                  <a:cubicBezTo>
                    <a:pt x="68959" y="0"/>
                    <a:pt x="69854" y="896"/>
                    <a:pt x="69854" y="2239"/>
                  </a:cubicBezTo>
                  <a:cubicBezTo>
                    <a:pt x="69854" y="3582"/>
                    <a:pt x="68959" y="4478"/>
                    <a:pt x="67615" y="4478"/>
                  </a:cubicBezTo>
                  <a:close/>
                </a:path>
              </a:pathLst>
            </a:custGeom>
            <a:solidFill>
              <a:schemeClr val="bg1"/>
            </a:solidFill>
            <a:ln w="447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grpSp>
      <p:sp>
        <p:nvSpPr>
          <p:cNvPr id="28" name="Rectangle 27">
            <a:extLst>
              <a:ext uri="{FF2B5EF4-FFF2-40B4-BE49-F238E27FC236}">
                <a16:creationId xmlns:a16="http://schemas.microsoft.com/office/drawing/2014/main" id="{886B8D2F-8134-E8CB-360A-AA3EA6C09347}"/>
              </a:ext>
            </a:extLst>
          </p:cNvPr>
          <p:cNvSpPr/>
          <p:nvPr/>
        </p:nvSpPr>
        <p:spPr>
          <a:xfrm>
            <a:off x="419743" y="4992961"/>
            <a:ext cx="2934373" cy="215444"/>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100" normalizeH="0" baseline="0" noProof="0">
                <a:ln>
                  <a:noFill/>
                </a:ln>
                <a:solidFill>
                  <a:srgbClr val="12ABDB"/>
                </a:solidFill>
                <a:effectLst/>
                <a:uLnTx/>
                <a:uFillTx/>
                <a:latin typeface="Ubuntu"/>
                <a:ea typeface="+mn-ea"/>
                <a:cs typeface="+mn-cs"/>
              </a:rPr>
              <a:t>IMPACT / RECOMMENDATION</a:t>
            </a:r>
          </a:p>
        </p:txBody>
      </p:sp>
      <p:sp>
        <p:nvSpPr>
          <p:cNvPr id="30" name="Title 29">
            <a:extLst>
              <a:ext uri="{FF2B5EF4-FFF2-40B4-BE49-F238E27FC236}">
                <a16:creationId xmlns:a16="http://schemas.microsoft.com/office/drawing/2014/main" id="{A21FEBA1-41EB-70FF-B0FC-C3E3DB616CCE}"/>
              </a:ext>
            </a:extLst>
          </p:cNvPr>
          <p:cNvSpPr>
            <a:spLocks noGrp="1"/>
          </p:cNvSpPr>
          <p:nvPr>
            <p:ph type="title"/>
          </p:nvPr>
        </p:nvSpPr>
        <p:spPr>
          <a:xfrm>
            <a:off x="550863" y="271840"/>
            <a:ext cx="11090275" cy="1079526"/>
          </a:xfrm>
        </p:spPr>
        <p:txBody>
          <a:bodyPr/>
          <a:lstStyle/>
          <a:p>
            <a:r>
              <a:rPr lang="en-US"/>
              <a:t>Commercial strategy &amp; launch of a Sovereign </a:t>
            </a:r>
            <a:r>
              <a:rPr lang="en-US" err="1"/>
              <a:t>AIFactory</a:t>
            </a:r>
            <a:r>
              <a:rPr lang="en-US"/>
              <a:t> offering </a:t>
            </a:r>
            <a:r>
              <a:rPr lang="en-US" err="1"/>
              <a:t>GPUaaS</a:t>
            </a:r>
            <a:endParaRPr lang="en-US"/>
          </a:p>
        </p:txBody>
      </p:sp>
      <p:sp>
        <p:nvSpPr>
          <p:cNvPr id="32" name="Rectangle 31">
            <a:extLst>
              <a:ext uri="{FF2B5EF4-FFF2-40B4-BE49-F238E27FC236}">
                <a16:creationId xmlns:a16="http://schemas.microsoft.com/office/drawing/2014/main" id="{DB33BEFA-E90B-4ED6-4524-6A974A8C6E2C}"/>
              </a:ext>
            </a:extLst>
          </p:cNvPr>
          <p:cNvSpPr/>
          <p:nvPr/>
        </p:nvSpPr>
        <p:spPr>
          <a:xfrm>
            <a:off x="160711" y="2157363"/>
            <a:ext cx="3349645" cy="1988864"/>
          </a:xfrm>
          <a:prstGeom prst="rect">
            <a:avLst/>
          </a:prstGeom>
        </p:spPr>
        <p:txBody>
          <a:bodyPr wrap="square" lIns="0" tIns="0" rIns="0" bIns="0" numCol="1" anchor="t">
            <a:noAutofit/>
          </a:bodyPr>
          <a:lstStyle/>
          <a:p>
            <a:pPr marL="171450" lvl="1" indent="-171450">
              <a:spcBef>
                <a:spcPts val="200"/>
              </a:spcBef>
              <a:spcAft>
                <a:spcPts val="200"/>
              </a:spcAft>
              <a:buClr>
                <a:srgbClr val="FFFFFF"/>
              </a:buClr>
              <a:buSzPct val="100000"/>
              <a:buFont typeface="Wingdings" panose="05000000000000000000" pitchFamily="2" charset="2"/>
              <a:buChar char="§"/>
              <a:defRPr/>
            </a:pPr>
            <a:r>
              <a:rPr lang="en-US" sz="1200" b="0" i="0" u="none" strike="noStrike" baseline="0">
                <a:solidFill>
                  <a:srgbClr val="FFFFFF"/>
                </a:solidFill>
                <a:latin typeface="Ubuntu"/>
                <a:ea typeface="Segoe UI"/>
                <a:cs typeface="Segoe UI"/>
              </a:rPr>
              <a:t>To meet the growing demand for privacy,</a:t>
            </a:r>
            <a:r>
              <a:rPr lang="en-US" sz="1200">
                <a:solidFill>
                  <a:srgbClr val="FFFFFF"/>
                </a:solidFill>
                <a:latin typeface="Ubuntu"/>
                <a:ea typeface="Segoe UI"/>
                <a:cs typeface="Segoe UI"/>
              </a:rPr>
              <a:t>    </a:t>
            </a:r>
            <a:r>
              <a:rPr lang="en-US" sz="1200" b="0" i="0" u="none" strike="noStrike" baseline="0">
                <a:solidFill>
                  <a:srgbClr val="FFFFFF"/>
                </a:solidFill>
                <a:latin typeface="Ubuntu"/>
                <a:ea typeface="Segoe UI"/>
                <a:cs typeface="Segoe UI"/>
              </a:rPr>
              <a:t>security, and resilience data &amp; AI needs, </a:t>
            </a:r>
            <a:r>
              <a:rPr lang="en-US" sz="1200">
                <a:solidFill>
                  <a:srgbClr val="FFFFFF"/>
                </a:solidFill>
                <a:latin typeface="Ubuntu"/>
                <a:ea typeface="Segoe UI"/>
                <a:cs typeface="Segoe UI"/>
              </a:rPr>
              <a:t>Nordics’ leading</a:t>
            </a:r>
            <a:r>
              <a:rPr lang="en-US" sz="1200" b="0" i="0" u="none" strike="noStrike" baseline="0">
                <a:solidFill>
                  <a:srgbClr val="FFFFFF"/>
                </a:solidFill>
                <a:latin typeface="Ubuntu"/>
                <a:ea typeface="Segoe UI"/>
                <a:cs typeface="Segoe UI"/>
              </a:rPr>
              <a:t> telco aimed to provide Norway’s </a:t>
            </a:r>
            <a:r>
              <a:rPr lang="en-US" sz="1200">
                <a:solidFill>
                  <a:srgbClr val="FFFFFF"/>
                </a:solidFill>
                <a:latin typeface="Ubuntu"/>
                <a:ea typeface="Segoe UI"/>
                <a:cs typeface="Segoe UI"/>
              </a:rPr>
              <a:t>first sovereign</a:t>
            </a:r>
            <a:r>
              <a:rPr lang="en-US" sz="1200" b="0" i="0" u="none" strike="noStrike" baseline="0">
                <a:solidFill>
                  <a:srgbClr val="FFFFFF"/>
                </a:solidFill>
                <a:latin typeface="Ubuntu"/>
                <a:ea typeface="Segoe UI"/>
                <a:cs typeface="Segoe UI"/>
              </a:rPr>
              <a:t> and secure GenAI Cloud Service, offering </a:t>
            </a:r>
            <a:r>
              <a:rPr lang="en-US" sz="1200" b="0" i="0" u="none" strike="noStrike" baseline="0" err="1">
                <a:solidFill>
                  <a:srgbClr val="FFFFFF"/>
                </a:solidFill>
                <a:latin typeface="Ubuntu"/>
                <a:ea typeface="Segoe UI"/>
                <a:cs typeface="Segoe UI"/>
              </a:rPr>
              <a:t>GPUaaS</a:t>
            </a:r>
            <a:r>
              <a:rPr lang="en-US" sz="1200" b="0" i="0" u="none" strike="noStrike" baseline="0">
                <a:solidFill>
                  <a:srgbClr val="FFFFFF"/>
                </a:solidFill>
                <a:latin typeface="Ubuntu"/>
                <a:ea typeface="Segoe UI"/>
                <a:cs typeface="Segoe UI"/>
              </a:rPr>
              <a:t> powered entirely by </a:t>
            </a:r>
            <a:r>
              <a:rPr lang="en-US" sz="1200">
                <a:solidFill>
                  <a:srgbClr val="FFFFFF"/>
                </a:solidFill>
                <a:latin typeface="Ubuntu"/>
                <a:ea typeface="Segoe UI"/>
                <a:cs typeface="Segoe UI"/>
              </a:rPr>
              <a:t>renewable energy</a:t>
            </a:r>
            <a:r>
              <a:rPr lang="en-US" sz="1200" b="0" i="0" u="none" strike="noStrike" baseline="0">
                <a:solidFill>
                  <a:srgbClr val="FFFFFF"/>
                </a:solidFill>
                <a:latin typeface="Ubuntu"/>
                <a:ea typeface="Segoe UI"/>
                <a:cs typeface="Segoe UI"/>
              </a:rPr>
              <a:t>, built on NVIDIA’s GPU technology and a proven reference architecture, with </a:t>
            </a:r>
            <a:r>
              <a:rPr lang="en-US" sz="1200">
                <a:solidFill>
                  <a:srgbClr val="FFFFFF"/>
                </a:solidFill>
                <a:latin typeface="Ubuntu"/>
                <a:ea typeface="Segoe UI"/>
                <a:cs typeface="Segoe UI"/>
              </a:rPr>
              <a:t>a platform enabling</a:t>
            </a:r>
            <a:r>
              <a:rPr lang="en-US" sz="1200" b="0" i="0" u="none" strike="noStrike" baseline="0">
                <a:solidFill>
                  <a:srgbClr val="FFFFFF"/>
                </a:solidFill>
                <a:latin typeface="Ubuntu"/>
                <a:ea typeface="Segoe UI"/>
                <a:cs typeface="Segoe UI"/>
              </a:rPr>
              <a:t> inference, fine-tuning, and training </a:t>
            </a:r>
            <a:r>
              <a:rPr lang="en-US" sz="1200">
                <a:solidFill>
                  <a:srgbClr val="FFFFFF"/>
                </a:solidFill>
                <a:latin typeface="Ubuntu"/>
                <a:ea typeface="Segoe UI"/>
                <a:cs typeface="Segoe UI"/>
              </a:rPr>
              <a:t>of advanced</a:t>
            </a:r>
            <a:r>
              <a:rPr lang="en-US" sz="1200" b="0" i="0" u="none" strike="noStrike" baseline="0">
                <a:solidFill>
                  <a:srgbClr val="FFFFFF"/>
                </a:solidFill>
                <a:latin typeface="Ubuntu"/>
                <a:ea typeface="Segoe UI"/>
                <a:cs typeface="Segoe UI"/>
              </a:rPr>
              <a:t> AI models.</a:t>
            </a:r>
            <a:r>
              <a:rPr lang="en-US" sz="1200" b="0" i="0">
                <a:solidFill>
                  <a:srgbClr val="000000"/>
                </a:solidFill>
                <a:latin typeface="Ubuntu"/>
                <a:ea typeface="Ubuntu"/>
                <a:cs typeface="Ubuntu"/>
              </a:rPr>
              <a:t>​</a:t>
            </a:r>
            <a:endParaRPr lang="en-US" sz="1000" b="0" i="0" u="none" strike="noStrike" kern="1200" cap="none" spc="0" normalizeH="0" baseline="0" noProof="0">
              <a:ln>
                <a:noFill/>
              </a:ln>
              <a:solidFill>
                <a:srgbClr val="FFFFFF"/>
              </a:solidFill>
              <a:effectLst/>
              <a:uLnTx/>
              <a:uFillTx/>
              <a:latin typeface="Ubuntu"/>
              <a:cs typeface="Calibri" pitchFamily="34" charset="0"/>
            </a:endParaRPr>
          </a:p>
        </p:txBody>
      </p:sp>
      <p:sp>
        <p:nvSpPr>
          <p:cNvPr id="34" name="Rectangle 33">
            <a:extLst>
              <a:ext uri="{FF2B5EF4-FFF2-40B4-BE49-F238E27FC236}">
                <a16:creationId xmlns:a16="http://schemas.microsoft.com/office/drawing/2014/main" id="{33810C99-A010-EC64-0F95-FBA146B384D4}"/>
              </a:ext>
            </a:extLst>
          </p:cNvPr>
          <p:cNvSpPr/>
          <p:nvPr/>
        </p:nvSpPr>
        <p:spPr>
          <a:xfrm>
            <a:off x="3934264" y="2249330"/>
            <a:ext cx="3185136" cy="2137137"/>
          </a:xfrm>
          <a:prstGeom prst="rect">
            <a:avLst/>
          </a:prstGeom>
        </p:spPr>
        <p:txBody>
          <a:bodyPr wrap="square" lIns="0" tIns="0" rIns="0" bIns="0" numCol="1" anchor="t">
            <a:noAutofit/>
          </a:bodyPr>
          <a:lstStyle/>
          <a:p>
            <a:pPr marL="628650" indent="-171450">
              <a:spcBef>
                <a:spcPts val="1000"/>
              </a:spcBef>
              <a:buClr>
                <a:srgbClr val="FFFFFF"/>
              </a:buClr>
              <a:buSzPct val="100000"/>
              <a:buFont typeface="Arial"/>
              <a:buChar char="•"/>
              <a:defRPr/>
            </a:pPr>
            <a:r>
              <a:rPr lang="en-US" sz="1200">
                <a:solidFill>
                  <a:srgbClr val="FFFFFF"/>
                </a:solidFill>
                <a:latin typeface="Ubuntu"/>
                <a:cs typeface="Calibri"/>
              </a:rPr>
              <a:t>Capgemini was engaged to define the commercial strategy incl. value proposition, pricing and go </a:t>
            </a:r>
            <a:r>
              <a:rPr kumimoji="0" lang="en-US" sz="1200" b="0" i="0" u="none" strike="noStrike" kern="1200" cap="none" spc="0" normalizeH="0" baseline="0" noProof="0">
                <a:ln>
                  <a:noFill/>
                </a:ln>
                <a:solidFill>
                  <a:srgbClr val="FFFFFF"/>
                </a:solidFill>
                <a:effectLst/>
                <a:uLnTx/>
                <a:uFillTx/>
                <a:latin typeface="Ubuntu"/>
                <a:ea typeface="+mn-ea"/>
                <a:cs typeface="Calibri"/>
              </a:rPr>
              <a:t>to </a:t>
            </a:r>
            <a:r>
              <a:rPr lang="en-US" sz="1200">
                <a:solidFill>
                  <a:srgbClr val="FFFFFF"/>
                </a:solidFill>
                <a:latin typeface="Ubuntu"/>
                <a:cs typeface="Calibri"/>
              </a:rPr>
              <a:t>market. </a:t>
            </a:r>
            <a:endParaRPr lang="en-US" sz="1200">
              <a:solidFill>
                <a:srgbClr val="000000"/>
              </a:solidFill>
              <a:latin typeface="Ubuntu"/>
              <a:cs typeface="Calibri"/>
            </a:endParaRPr>
          </a:p>
          <a:p>
            <a:pPr marL="628650" indent="-171450">
              <a:spcBef>
                <a:spcPts val="1000"/>
              </a:spcBef>
              <a:buClr>
                <a:srgbClr val="FFFFFF"/>
              </a:buClr>
              <a:buSzPct val="100000"/>
              <a:buFont typeface="Arial"/>
              <a:buChar char="•"/>
              <a:defRPr/>
            </a:pPr>
            <a:r>
              <a:rPr lang="en-US" sz="1200">
                <a:solidFill>
                  <a:srgbClr val="FFFFFF"/>
                </a:solidFill>
                <a:latin typeface="Ubuntu"/>
                <a:cs typeface="Calibri"/>
              </a:rPr>
              <a:t>We brought a multi-disciplinary team </a:t>
            </a:r>
            <a:r>
              <a:rPr kumimoji="0" lang="en-US" sz="1200" b="0" i="0" u="none" strike="noStrike" kern="1200" cap="none" spc="0" normalizeH="0" baseline="0" noProof="0">
                <a:ln>
                  <a:noFill/>
                </a:ln>
                <a:solidFill>
                  <a:srgbClr val="FFFFFF"/>
                </a:solidFill>
                <a:effectLst/>
                <a:uLnTx/>
                <a:uFillTx/>
                <a:latin typeface="Ubuntu"/>
                <a:ea typeface="+mn-ea"/>
                <a:cs typeface="Calibri"/>
              </a:rPr>
              <a:t>of </a:t>
            </a:r>
            <a:r>
              <a:rPr lang="en-US" sz="1200">
                <a:solidFill>
                  <a:srgbClr val="FFFFFF"/>
                </a:solidFill>
                <a:latin typeface="Ubuntu"/>
                <a:cs typeface="Calibri"/>
              </a:rPr>
              <a:t>leading AI experts, strategists</a:t>
            </a:r>
            <a:r>
              <a:rPr kumimoji="0" lang="en-US" sz="1200" b="0" i="0" u="none" strike="noStrike" kern="1200" cap="none" spc="0" normalizeH="0" baseline="0" noProof="0">
                <a:ln>
                  <a:noFill/>
                </a:ln>
                <a:solidFill>
                  <a:srgbClr val="FFFFFF"/>
                </a:solidFill>
                <a:effectLst/>
                <a:uLnTx/>
                <a:uFillTx/>
                <a:latin typeface="Ubuntu"/>
                <a:ea typeface="+mn-ea"/>
                <a:cs typeface="Calibri"/>
              </a:rPr>
              <a:t>, </a:t>
            </a:r>
            <a:r>
              <a:rPr lang="en-US" sz="1200">
                <a:solidFill>
                  <a:srgbClr val="FFFFFF"/>
                </a:solidFill>
                <a:latin typeface="Ubuntu"/>
                <a:cs typeface="Calibri"/>
              </a:rPr>
              <a:t>technologists and practitioners</a:t>
            </a:r>
            <a:r>
              <a:rPr kumimoji="0" lang="en-US" sz="1200" b="0" i="0" u="none" strike="noStrike" kern="1200" cap="none" spc="0" normalizeH="0" baseline="0" noProof="0">
                <a:ln>
                  <a:noFill/>
                </a:ln>
                <a:solidFill>
                  <a:srgbClr val="FFFFFF"/>
                </a:solidFill>
                <a:effectLst/>
                <a:uLnTx/>
                <a:uFillTx/>
                <a:latin typeface="Ubuntu"/>
                <a:ea typeface="+mn-ea"/>
                <a:cs typeface="Calibri"/>
              </a:rPr>
              <a:t>, </a:t>
            </a:r>
            <a:r>
              <a:rPr lang="en-US" sz="1200">
                <a:solidFill>
                  <a:srgbClr val="FFFFFF"/>
                </a:solidFill>
                <a:latin typeface="Ubuntu"/>
                <a:cs typeface="Calibri"/>
              </a:rPr>
              <a:t>and a proven venture methodology to de-risk investments and accelerate market entry. </a:t>
            </a:r>
            <a:endParaRPr lang="en-GB">
              <a:cs typeface="Calibri"/>
            </a:endParaRPr>
          </a:p>
        </p:txBody>
      </p:sp>
      <p:sp>
        <p:nvSpPr>
          <p:cNvPr id="35" name="TextBox 34">
            <a:extLst>
              <a:ext uri="{FF2B5EF4-FFF2-40B4-BE49-F238E27FC236}">
                <a16:creationId xmlns:a16="http://schemas.microsoft.com/office/drawing/2014/main" id="{E86BAC68-3420-214F-F054-726073BC5689}"/>
              </a:ext>
            </a:extLst>
          </p:cNvPr>
          <p:cNvSpPr txBox="1"/>
          <p:nvPr/>
        </p:nvSpPr>
        <p:spPr>
          <a:xfrm>
            <a:off x="1" y="5206948"/>
            <a:ext cx="8391179" cy="1787285"/>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pPr marL="363220" lvl="0" indent="-276225" algn="l" rtl="0">
              <a:buFont typeface="Wingdings,Sans-Serif"/>
              <a:buChar char="§"/>
            </a:pPr>
            <a:r>
              <a:rPr lang="en-US" sz="1200" b="0" i="0" u="none" strike="noStrike" baseline="0">
                <a:solidFill>
                  <a:srgbClr val="FFFFFF"/>
                </a:solidFill>
                <a:latin typeface="Ubuntu"/>
                <a:ea typeface="Arial"/>
                <a:cs typeface="Arial"/>
              </a:rPr>
              <a:t>Defined the commercial strategy and valueproposition.</a:t>
            </a:r>
            <a:r>
              <a:rPr lang="en-US" sz="1200" b="0" i="0">
                <a:solidFill>
                  <a:srgbClr val="000000"/>
                </a:solidFill>
                <a:latin typeface="Ubuntu"/>
                <a:ea typeface="Arial"/>
                <a:cs typeface="Arial"/>
              </a:rPr>
              <a:t>​</a:t>
            </a:r>
          </a:p>
          <a:p>
            <a:pPr marL="363220" lvl="0" indent="-276225" algn="l" rtl="0">
              <a:buFont typeface="Wingdings,Sans-Serif"/>
              <a:buChar char="§"/>
            </a:pPr>
            <a:r>
              <a:rPr lang="en-US" sz="1200" b="0" i="0" u="none" strike="noStrike" baseline="0">
                <a:solidFill>
                  <a:srgbClr val="FFFFFF"/>
                </a:solidFill>
                <a:latin typeface="Ubuntu"/>
                <a:ea typeface="Arial"/>
                <a:cs typeface="Arial"/>
              </a:rPr>
              <a:t>Ensured laser focus on MVP and customers.</a:t>
            </a:r>
            <a:r>
              <a:rPr lang="en-US" sz="1200" b="0" i="0">
                <a:solidFill>
                  <a:srgbClr val="000000"/>
                </a:solidFill>
                <a:latin typeface="Ubuntu"/>
                <a:ea typeface="Arial"/>
                <a:cs typeface="Arial"/>
              </a:rPr>
              <a:t>​</a:t>
            </a:r>
          </a:p>
          <a:p>
            <a:pPr marL="363220" lvl="0" indent="-276225" algn="l" rtl="0">
              <a:buFont typeface="Wingdings,Sans-Serif"/>
              <a:buChar char="§"/>
            </a:pPr>
            <a:r>
              <a:rPr lang="en-US" sz="1200" b="0" i="0" u="none" strike="noStrike" baseline="0">
                <a:solidFill>
                  <a:srgbClr val="FFFFFF"/>
                </a:solidFill>
                <a:latin typeface="Ubuntu"/>
                <a:ea typeface="Arial"/>
                <a:cs typeface="Arial"/>
              </a:rPr>
              <a:t>Record Speed to Market: From strategy tolaunch and paying customers in less than sixmonths.</a:t>
            </a:r>
            <a:r>
              <a:rPr lang="en-US" sz="1200" b="0" i="0">
                <a:solidFill>
                  <a:srgbClr val="000000"/>
                </a:solidFill>
                <a:latin typeface="Ubuntu"/>
                <a:ea typeface="Arial"/>
                <a:cs typeface="Arial"/>
              </a:rPr>
              <a:t>​</a:t>
            </a:r>
          </a:p>
          <a:p>
            <a:pPr marL="363220" lvl="0" indent="-276225" algn="l" rtl="0">
              <a:buFont typeface="Wingdings,Sans-Serif"/>
              <a:buChar char="§"/>
            </a:pPr>
            <a:r>
              <a:rPr lang="en-US" sz="1200" b="0" i="0" u="none" strike="noStrike" baseline="0">
                <a:solidFill>
                  <a:srgbClr val="FFFFFF"/>
                </a:solidFill>
                <a:latin typeface="Ubuntu"/>
                <a:ea typeface="Arial"/>
                <a:cs typeface="Arial"/>
              </a:rPr>
              <a:t>Strong Market Demand: Four signedcustomers for the MVP launch, exceedinginitial expectations and the investment gaterequirement.</a:t>
            </a:r>
            <a:r>
              <a:rPr lang="en-US" sz="1200" b="0" i="0">
                <a:solidFill>
                  <a:srgbClr val="000000"/>
                </a:solidFill>
                <a:latin typeface="Ubuntu"/>
                <a:ea typeface="Arial"/>
                <a:cs typeface="Arial"/>
              </a:rPr>
              <a:t>​</a:t>
            </a:r>
          </a:p>
          <a:p>
            <a:pPr marL="363220" lvl="0" indent="-276225" algn="l" rtl="0">
              <a:buFont typeface="Wingdings,Sans-Serif"/>
              <a:buChar char="§"/>
            </a:pPr>
            <a:r>
              <a:rPr lang="en-US" sz="1200" b="0" i="0" u="none" strike="noStrike" baseline="0">
                <a:solidFill>
                  <a:srgbClr val="FFFFFF"/>
                </a:solidFill>
                <a:latin typeface="Ubuntu"/>
                <a:ea typeface="Arial"/>
                <a:cs typeface="Arial"/>
              </a:rPr>
              <a:t>Long-Term Growth: Projected positive ROIin less than 3 yrs, committed continuedinvestments and scaling, and a quicklygrowing pipeline of customers, supportedby Capgemini in a 360-degree engagementmodel (sell-to, buy-from, joint GTM)</a:t>
            </a:r>
            <a:r>
              <a:rPr lang="en-US" sz="1200" b="0" i="0">
                <a:solidFill>
                  <a:srgbClr val="000000"/>
                </a:solidFill>
                <a:latin typeface="Ubuntu"/>
                <a:ea typeface="Arial"/>
                <a:cs typeface="Arial"/>
              </a:rPr>
              <a:t>​</a:t>
            </a:r>
          </a:p>
          <a:p>
            <a:pPr algn="l">
              <a:spcBef>
                <a:spcPct val="0"/>
              </a:spcBef>
            </a:pPr>
            <a:endParaRPr lang="en-US" sz="1400" err="1"/>
          </a:p>
        </p:txBody>
      </p:sp>
      <p:sp>
        <p:nvSpPr>
          <p:cNvPr id="3" name="TextBox 2">
            <a:extLst>
              <a:ext uri="{FF2B5EF4-FFF2-40B4-BE49-F238E27FC236}">
                <a16:creationId xmlns:a16="http://schemas.microsoft.com/office/drawing/2014/main" id="{CEDF02E5-830A-6AA3-8B09-3C8E240B3A0E}"/>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6" name="Date Placeholder 5">
            <a:extLst>
              <a:ext uri="{FF2B5EF4-FFF2-40B4-BE49-F238E27FC236}">
                <a16:creationId xmlns:a16="http://schemas.microsoft.com/office/drawing/2014/main" id="{8ABCB389-0670-6FAF-B548-246A46211C1A}"/>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8" name="Date Placeholder 5">
            <a:extLst>
              <a:ext uri="{FF2B5EF4-FFF2-40B4-BE49-F238E27FC236}">
                <a16:creationId xmlns:a16="http://schemas.microsoft.com/office/drawing/2014/main" id="{4A2119C5-2B5C-6C42-D4C6-0BB62DD1F11E}"/>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30</a:t>
            </a:r>
          </a:p>
        </p:txBody>
      </p:sp>
    </p:spTree>
    <p:extLst>
      <p:ext uri="{BB962C8B-B14F-4D97-AF65-F5344CB8AC3E}">
        <p14:creationId xmlns:p14="http://schemas.microsoft.com/office/powerpoint/2010/main" val="31569981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288C4-9F43-0CE2-BA3B-917AB50BF68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170B408-FB95-6D0E-5E3F-B8CAE4F307E8}"/>
              </a:ext>
            </a:extLst>
          </p:cNvPr>
          <p:cNvPicPr>
            <a:picLocks noChangeAspect="1"/>
          </p:cNvPicPr>
          <p:nvPr/>
        </p:nvPicPr>
        <p:blipFill>
          <a:blip r:embed="rId2"/>
          <a:stretch>
            <a:fillRect/>
          </a:stretch>
        </p:blipFill>
        <p:spPr>
          <a:xfrm>
            <a:off x="10595509" y="0"/>
            <a:ext cx="1237002" cy="696510"/>
          </a:xfrm>
          <a:prstGeom prst="rect">
            <a:avLst/>
          </a:prstGeom>
        </p:spPr>
      </p:pic>
      <p:sp>
        <p:nvSpPr>
          <p:cNvPr id="5" name="Title 1">
            <a:extLst>
              <a:ext uri="{FF2B5EF4-FFF2-40B4-BE49-F238E27FC236}">
                <a16:creationId xmlns:a16="http://schemas.microsoft.com/office/drawing/2014/main" id="{E3BB9B8D-B0C2-FA78-2707-FEE5AE92CC6E}"/>
              </a:ext>
            </a:extLst>
          </p:cNvPr>
          <p:cNvSpPr>
            <a:spLocks noGrp="1"/>
          </p:cNvSpPr>
          <p:nvPr>
            <p:ph type="title"/>
          </p:nvPr>
        </p:nvSpPr>
        <p:spPr>
          <a:xfrm>
            <a:off x="550863" y="278047"/>
            <a:ext cx="10801722" cy="716711"/>
          </a:xfrm>
        </p:spPr>
        <p:txBody>
          <a:bodyPr anchor="t" anchorCtr="0"/>
          <a:lstStyle/>
          <a:p>
            <a:r>
              <a:rPr lang="en-US"/>
              <a:t>Analyzed the Corporate Mobility as a Service landscape and drew a go-to-market strategy for a client planning to enter new regional markets</a:t>
            </a:r>
          </a:p>
        </p:txBody>
      </p:sp>
      <p:pic>
        <p:nvPicPr>
          <p:cNvPr id="6" name="Picture 5">
            <a:extLst>
              <a:ext uri="{FF2B5EF4-FFF2-40B4-BE49-F238E27FC236}">
                <a16:creationId xmlns:a16="http://schemas.microsoft.com/office/drawing/2014/main" id="{3945DB1B-964E-A57B-A10C-49F03A048204}"/>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23922" t="14629" r="18704" b="14629"/>
          <a:stretch/>
        </p:blipFill>
        <p:spPr>
          <a:xfrm flipH="1">
            <a:off x="8077200" y="2255578"/>
            <a:ext cx="4114800" cy="2856441"/>
          </a:xfrm>
          <a:prstGeom prst="rect">
            <a:avLst/>
          </a:prstGeom>
        </p:spPr>
      </p:pic>
      <p:sp>
        <p:nvSpPr>
          <p:cNvPr id="7" name="Rectangle 6">
            <a:extLst>
              <a:ext uri="{FF2B5EF4-FFF2-40B4-BE49-F238E27FC236}">
                <a16:creationId xmlns:a16="http://schemas.microsoft.com/office/drawing/2014/main" id="{40B6FFA7-8828-CECC-79AF-B0161B50282A}"/>
              </a:ext>
            </a:extLst>
          </p:cNvPr>
          <p:cNvSpPr/>
          <p:nvPr/>
        </p:nvSpPr>
        <p:spPr>
          <a:xfrm>
            <a:off x="419744" y="2275605"/>
            <a:ext cx="2232000" cy="2304632"/>
          </a:xfrm>
          <a:prstGeom prst="rect">
            <a:avLst/>
          </a:prstGeom>
        </p:spPr>
        <p:txBody>
          <a:bodyPr wrap="square" lIns="0" tIns="0" rIns="0" bIns="0" numCol="1">
            <a:noAutofit/>
          </a:bodyPr>
          <a:lstStyle/>
          <a:p>
            <a:pPr marL="171450" lvl="1" indent="-171450">
              <a:spcBef>
                <a:spcPts val="200"/>
              </a:spcBef>
              <a:spcAft>
                <a:spcPts val="200"/>
              </a:spcAft>
              <a:buClr>
                <a:srgbClr val="FFFFFF"/>
              </a:buClr>
              <a:buSzPct val="100000"/>
              <a:buFont typeface="Wingdings" panose="05000000000000000000" pitchFamily="2" charset="2"/>
              <a:buChar char="§"/>
              <a:defRPr/>
            </a:pPr>
            <a:r>
              <a:rPr lang="en-US" sz="950">
                <a:solidFill>
                  <a:srgbClr val="FFFFFF"/>
                </a:solidFill>
                <a:cs typeface="Calibri" pitchFamily="34" charset="0"/>
              </a:rPr>
              <a:t>The study aimed at conducting a maturity assessment on the local appetite and market context to Corporate Mobility as a Service (CMaaS)</a:t>
            </a:r>
          </a:p>
          <a:p>
            <a:pPr marL="171450" marR="0" lvl="1" indent="-171450" algn="l" defTabSz="914400" rtl="0" eaLnBrk="1" fontAlgn="auto" latinLnBrk="0" hangingPunct="1">
              <a:lnSpc>
                <a:spcPct val="100000"/>
              </a:lnSpc>
              <a:spcBef>
                <a:spcPts val="200"/>
              </a:spcBef>
              <a:spcAft>
                <a:spcPts val="200"/>
              </a:spcAft>
              <a:buClr>
                <a:srgbClr val="FFFFFF"/>
              </a:buClr>
              <a:buSzPct val="100000"/>
              <a:buFont typeface="Wingdings" panose="05000000000000000000" pitchFamily="2" charset="2"/>
              <a:buChar char="§"/>
              <a:tabLst/>
              <a:defRPr/>
            </a:pPr>
            <a:r>
              <a:rPr kumimoji="0" lang="en-US" sz="950" b="0" i="0" u="none" strike="noStrike" kern="1200" cap="none" spc="0" normalizeH="0" baseline="0" noProof="0">
                <a:ln>
                  <a:noFill/>
                </a:ln>
                <a:solidFill>
                  <a:srgbClr val="FFFFFF"/>
                </a:solidFill>
                <a:effectLst/>
                <a:uLnTx/>
                <a:uFillTx/>
                <a:latin typeface="Ubuntu"/>
                <a:ea typeface="+mn-ea"/>
                <a:cs typeface="Calibri" pitchFamily="34" charset="0"/>
              </a:rPr>
              <a:t>The client wanted to launch a multi-dimension benchmarking for 10 European countries, taking into consideration the existing landscape and offers in the market</a:t>
            </a:r>
          </a:p>
          <a:p>
            <a:pPr marL="171450" marR="0" lvl="1" indent="-171450" algn="l" defTabSz="914400" rtl="0" eaLnBrk="1" fontAlgn="auto" latinLnBrk="0" hangingPunct="1">
              <a:lnSpc>
                <a:spcPct val="100000"/>
              </a:lnSpc>
              <a:spcBef>
                <a:spcPts val="200"/>
              </a:spcBef>
              <a:spcAft>
                <a:spcPts val="200"/>
              </a:spcAft>
              <a:buClr>
                <a:srgbClr val="FFFFFF"/>
              </a:buClr>
              <a:buSzPct val="100000"/>
              <a:buFont typeface="Wingdings" panose="05000000000000000000" pitchFamily="2" charset="2"/>
              <a:buChar char="§"/>
              <a:tabLst/>
              <a:defRPr/>
            </a:pPr>
            <a:r>
              <a:rPr kumimoji="0" lang="en-US" sz="950" b="0" i="0" u="none" strike="noStrike" kern="1200" cap="none" spc="0" normalizeH="0" baseline="0" noProof="0">
                <a:ln>
                  <a:noFill/>
                </a:ln>
                <a:solidFill>
                  <a:srgbClr val="FFFFFF"/>
                </a:solidFill>
                <a:effectLst/>
                <a:uLnTx/>
                <a:uFillTx/>
                <a:latin typeface="Ubuntu"/>
                <a:ea typeface="+mn-ea"/>
                <a:cs typeface="Calibri" pitchFamily="34" charset="0"/>
              </a:rPr>
              <a:t>The impact of emerging regulations around CMaaS and corporate employee mobility programs was also a key part of the study</a:t>
            </a:r>
          </a:p>
        </p:txBody>
      </p:sp>
      <p:sp>
        <p:nvSpPr>
          <p:cNvPr id="33" name="Rectangle 32">
            <a:extLst>
              <a:ext uri="{FF2B5EF4-FFF2-40B4-BE49-F238E27FC236}">
                <a16:creationId xmlns:a16="http://schemas.microsoft.com/office/drawing/2014/main" id="{651F0C5B-1844-6162-3D46-843366D7FEDD}"/>
              </a:ext>
            </a:extLst>
          </p:cNvPr>
          <p:cNvSpPr/>
          <p:nvPr/>
        </p:nvSpPr>
        <p:spPr>
          <a:xfrm>
            <a:off x="419744" y="1941154"/>
            <a:ext cx="2232000" cy="215444"/>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100" normalizeH="0" baseline="0" noProof="0">
                <a:ln>
                  <a:noFill/>
                </a:ln>
                <a:solidFill>
                  <a:srgbClr val="12ABDB"/>
                </a:solidFill>
                <a:effectLst/>
                <a:uLnTx/>
                <a:uFillTx/>
                <a:latin typeface="Ubuntu"/>
                <a:ea typeface="+mn-ea"/>
                <a:cs typeface="+mn-cs"/>
              </a:rPr>
              <a:t>OBJECTIVE</a:t>
            </a:r>
          </a:p>
        </p:txBody>
      </p:sp>
      <p:sp>
        <p:nvSpPr>
          <p:cNvPr id="34" name="Rectangle 33">
            <a:extLst>
              <a:ext uri="{FF2B5EF4-FFF2-40B4-BE49-F238E27FC236}">
                <a16:creationId xmlns:a16="http://schemas.microsoft.com/office/drawing/2014/main" id="{FDDCEC18-3650-7F72-B6CD-5CFC468D0C00}"/>
              </a:ext>
            </a:extLst>
          </p:cNvPr>
          <p:cNvSpPr/>
          <p:nvPr/>
        </p:nvSpPr>
        <p:spPr>
          <a:xfrm>
            <a:off x="2972228" y="2275604"/>
            <a:ext cx="2552485" cy="2304633"/>
          </a:xfrm>
          <a:prstGeom prst="rect">
            <a:avLst/>
          </a:prstGeom>
        </p:spPr>
        <p:txBody>
          <a:bodyPr wrap="square" lIns="0" tIns="0" rIns="0" bIns="0" numCol="1">
            <a:noAutofit/>
          </a:bodyPr>
          <a:lstStyle/>
          <a:p>
            <a:pPr marL="171450" marR="0" lvl="1" indent="-171450" algn="l" defTabSz="914400" rtl="0" eaLnBrk="1" fontAlgn="auto" latinLnBrk="0" hangingPunct="1">
              <a:lnSpc>
                <a:spcPct val="100000"/>
              </a:lnSpc>
              <a:spcBef>
                <a:spcPts val="200"/>
              </a:spcBef>
              <a:spcAft>
                <a:spcPts val="200"/>
              </a:spcAft>
              <a:buClr>
                <a:srgbClr val="FFFFFF"/>
              </a:buClr>
              <a:buSzPct val="100000"/>
              <a:buFont typeface="Arial" panose="020B0604020202020204" pitchFamily="34" charset="0"/>
              <a:buChar char="•"/>
              <a:tabLst/>
              <a:defRPr/>
            </a:pPr>
            <a:r>
              <a:rPr kumimoji="0" lang="en-US" sz="950" b="0" i="0" u="none" strike="noStrike" kern="1200" cap="none" spc="0" normalizeH="0" baseline="0" noProof="0">
                <a:ln>
                  <a:noFill/>
                </a:ln>
                <a:solidFill>
                  <a:srgbClr val="FFFFFF"/>
                </a:solidFill>
                <a:effectLst/>
                <a:uLnTx/>
                <a:uFillTx/>
                <a:latin typeface="Ubuntu"/>
                <a:ea typeface="+mn-ea"/>
                <a:cs typeface="Calibri" pitchFamily="34" charset="0"/>
              </a:rPr>
              <a:t>Macro and micro landscape assessment and identify future impact</a:t>
            </a:r>
          </a:p>
          <a:p>
            <a:pPr marL="628650" lvl="2" indent="-171450">
              <a:spcBef>
                <a:spcPts val="200"/>
              </a:spcBef>
              <a:spcAft>
                <a:spcPts val="200"/>
              </a:spcAft>
              <a:buClr>
                <a:srgbClr val="FFFFFF"/>
              </a:buClr>
              <a:buSzPct val="100000"/>
              <a:buFont typeface="Wingdings" panose="05000000000000000000" pitchFamily="2" charset="2"/>
              <a:buChar char="§"/>
              <a:defRPr/>
            </a:pPr>
            <a:r>
              <a:rPr kumimoji="0" lang="en-US" sz="950" b="0" i="0" u="none" strike="noStrike" kern="1200" cap="none" spc="0" normalizeH="0" baseline="0" noProof="0">
                <a:ln>
                  <a:noFill/>
                </a:ln>
                <a:solidFill>
                  <a:srgbClr val="FFFFFF"/>
                </a:solidFill>
                <a:effectLst/>
                <a:uLnTx/>
                <a:uFillTx/>
                <a:latin typeface="Ubuntu"/>
                <a:ea typeface="+mn-ea"/>
                <a:cs typeface="Calibri" pitchFamily="34" charset="0"/>
              </a:rPr>
              <a:t>Analyzed the Total Addressable Market (TAM) for </a:t>
            </a:r>
            <a:r>
              <a:rPr lang="en-US" sz="950">
                <a:solidFill>
                  <a:srgbClr val="FFFFFF"/>
                </a:solidFill>
                <a:cs typeface="Calibri" pitchFamily="34" charset="0"/>
              </a:rPr>
              <a:t>CMaaS</a:t>
            </a:r>
            <a:r>
              <a:rPr kumimoji="0" lang="en-US" sz="950" b="0" i="0" u="none" strike="noStrike" kern="1200" cap="none" spc="0" normalizeH="0" baseline="0" noProof="0">
                <a:ln>
                  <a:noFill/>
                </a:ln>
                <a:solidFill>
                  <a:srgbClr val="FFFFFF"/>
                </a:solidFill>
                <a:effectLst/>
                <a:uLnTx/>
                <a:uFillTx/>
                <a:latin typeface="Ubuntu"/>
                <a:ea typeface="+mn-ea"/>
                <a:cs typeface="Calibri" pitchFamily="34" charset="0"/>
              </a:rPr>
              <a:t> for each country </a:t>
            </a:r>
          </a:p>
          <a:p>
            <a:pPr marL="628650" marR="0" lvl="2" indent="-171450" algn="l" defTabSz="914400" rtl="0" eaLnBrk="1" fontAlgn="auto" latinLnBrk="0" hangingPunct="1">
              <a:lnSpc>
                <a:spcPct val="100000"/>
              </a:lnSpc>
              <a:spcBef>
                <a:spcPts val="200"/>
              </a:spcBef>
              <a:spcAft>
                <a:spcPts val="200"/>
              </a:spcAft>
              <a:buClr>
                <a:srgbClr val="FFFFFF"/>
              </a:buClr>
              <a:buSzPct val="100000"/>
              <a:buFont typeface="Wingdings" panose="05000000000000000000" pitchFamily="2" charset="2"/>
              <a:buChar char="§"/>
              <a:tabLst/>
              <a:defRPr/>
            </a:pPr>
            <a:r>
              <a:rPr kumimoji="0" lang="en-US" sz="950" b="0" i="0" u="none" strike="noStrike" kern="1200" cap="none" spc="0" normalizeH="0" baseline="0" noProof="0">
                <a:ln>
                  <a:noFill/>
                </a:ln>
                <a:solidFill>
                  <a:srgbClr val="FFFFFF"/>
                </a:solidFill>
                <a:effectLst/>
                <a:uLnTx/>
                <a:uFillTx/>
                <a:latin typeface="Ubuntu"/>
                <a:ea typeface="+mn-ea"/>
                <a:cs typeface="Calibri" pitchFamily="34" charset="0"/>
              </a:rPr>
              <a:t>Evaluated user appetite for </a:t>
            </a:r>
            <a:r>
              <a:rPr lang="en-US" sz="950">
                <a:solidFill>
                  <a:srgbClr val="FFFFFF"/>
                </a:solidFill>
                <a:latin typeface="Ubuntu"/>
                <a:cs typeface="Calibri" pitchFamily="34" charset="0"/>
              </a:rPr>
              <a:t>C</a:t>
            </a:r>
            <a:r>
              <a:rPr kumimoji="0" lang="en-US" sz="950" b="0" i="0" u="none" strike="noStrike" kern="1200" cap="none" spc="0" normalizeH="0" baseline="0" noProof="0" err="1">
                <a:ln>
                  <a:noFill/>
                </a:ln>
                <a:solidFill>
                  <a:srgbClr val="FFFFFF"/>
                </a:solidFill>
                <a:effectLst/>
                <a:uLnTx/>
                <a:uFillTx/>
                <a:latin typeface="Ubuntu"/>
                <a:ea typeface="+mn-ea"/>
                <a:cs typeface="Calibri" pitchFamily="34" charset="0"/>
              </a:rPr>
              <a:t>MaaS</a:t>
            </a:r>
            <a:r>
              <a:rPr kumimoji="0" lang="en-US" sz="950" b="0" i="0" u="none" strike="noStrike" kern="1200" cap="none" spc="0" normalizeH="0" baseline="0" noProof="0">
                <a:ln>
                  <a:noFill/>
                </a:ln>
                <a:solidFill>
                  <a:srgbClr val="FFFFFF"/>
                </a:solidFill>
                <a:effectLst/>
                <a:uLnTx/>
                <a:uFillTx/>
                <a:latin typeface="Ubuntu"/>
                <a:ea typeface="+mn-ea"/>
                <a:cs typeface="Calibri" pitchFamily="34" charset="0"/>
              </a:rPr>
              <a:t> adoption for each country, along with regulatory environment and competitive landscape</a:t>
            </a:r>
          </a:p>
          <a:p>
            <a:pPr marL="628650" marR="0" lvl="2" indent="-171450" algn="l" defTabSz="914400" rtl="0" eaLnBrk="1" fontAlgn="auto" latinLnBrk="0" hangingPunct="1">
              <a:lnSpc>
                <a:spcPct val="100000"/>
              </a:lnSpc>
              <a:spcBef>
                <a:spcPts val="200"/>
              </a:spcBef>
              <a:spcAft>
                <a:spcPts val="200"/>
              </a:spcAft>
              <a:buClr>
                <a:srgbClr val="FFFFFF"/>
              </a:buClr>
              <a:buSzPct val="100000"/>
              <a:buFont typeface="Wingdings" panose="05000000000000000000" pitchFamily="2" charset="2"/>
              <a:buChar char="§"/>
              <a:tabLst/>
              <a:defRPr/>
            </a:pPr>
            <a:r>
              <a:rPr kumimoji="0" lang="en-US" sz="950" b="0" i="0" u="none" strike="noStrike" kern="1200" cap="none" spc="0" normalizeH="0" baseline="0" noProof="0">
                <a:ln>
                  <a:noFill/>
                </a:ln>
                <a:solidFill>
                  <a:srgbClr val="FFFFFF"/>
                </a:solidFill>
                <a:effectLst/>
                <a:uLnTx/>
                <a:uFillTx/>
                <a:latin typeface="Ubuntu"/>
                <a:ea typeface="+mn-ea"/>
                <a:cs typeface="Calibri" pitchFamily="34" charset="0"/>
              </a:rPr>
              <a:t>Studied the interplay between key modes of transport, regulations and evolving consumer preferences</a:t>
            </a:r>
          </a:p>
        </p:txBody>
      </p:sp>
      <p:sp>
        <p:nvSpPr>
          <p:cNvPr id="35" name="Rectangle 34">
            <a:extLst>
              <a:ext uri="{FF2B5EF4-FFF2-40B4-BE49-F238E27FC236}">
                <a16:creationId xmlns:a16="http://schemas.microsoft.com/office/drawing/2014/main" id="{7C1974C7-8413-00FA-19C8-DD0929F5137F}"/>
              </a:ext>
            </a:extLst>
          </p:cNvPr>
          <p:cNvSpPr/>
          <p:nvPr/>
        </p:nvSpPr>
        <p:spPr>
          <a:xfrm>
            <a:off x="2972229" y="1941154"/>
            <a:ext cx="2232000" cy="215444"/>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100" normalizeH="0" baseline="0" noProof="0">
                <a:ln>
                  <a:noFill/>
                </a:ln>
                <a:solidFill>
                  <a:srgbClr val="12ABDB"/>
                </a:solidFill>
                <a:effectLst/>
                <a:uLnTx/>
                <a:uFillTx/>
                <a:latin typeface="Ubuntu"/>
                <a:ea typeface="+mn-ea"/>
                <a:cs typeface="+mn-cs"/>
              </a:rPr>
              <a:t>APPROACH</a:t>
            </a:r>
          </a:p>
        </p:txBody>
      </p:sp>
      <p:sp>
        <p:nvSpPr>
          <p:cNvPr id="36" name="Rectangle 35">
            <a:extLst>
              <a:ext uri="{FF2B5EF4-FFF2-40B4-BE49-F238E27FC236}">
                <a16:creationId xmlns:a16="http://schemas.microsoft.com/office/drawing/2014/main" id="{A177BF50-0130-2F3F-65C5-2CF2F90EABAC}"/>
              </a:ext>
            </a:extLst>
          </p:cNvPr>
          <p:cNvSpPr/>
          <p:nvPr/>
        </p:nvSpPr>
        <p:spPr>
          <a:xfrm>
            <a:off x="5524714" y="2275604"/>
            <a:ext cx="2232000" cy="1959511"/>
          </a:xfrm>
          <a:prstGeom prst="rect">
            <a:avLst/>
          </a:prstGeom>
        </p:spPr>
        <p:txBody>
          <a:bodyPr wrap="square" lIns="0" tIns="0" rIns="0" bIns="0" numCol="1">
            <a:noAutofit/>
          </a:bodyPr>
          <a:lstStyle/>
          <a:p>
            <a:pPr marL="171450" marR="0" lvl="1" indent="-171450" algn="l" defTabSz="914400" rtl="0" eaLnBrk="1" fontAlgn="auto" latinLnBrk="0" hangingPunct="1">
              <a:lnSpc>
                <a:spcPct val="100000"/>
              </a:lnSpc>
              <a:spcBef>
                <a:spcPts val="200"/>
              </a:spcBef>
              <a:spcAft>
                <a:spcPts val="200"/>
              </a:spcAft>
              <a:buClr>
                <a:srgbClr val="FFFFFF"/>
              </a:buClr>
              <a:buSzPct val="100000"/>
              <a:buFont typeface="Wingdings" panose="05000000000000000000" pitchFamily="2" charset="2"/>
              <a:buChar char="§"/>
              <a:tabLst/>
              <a:defRPr/>
            </a:pPr>
            <a:r>
              <a:rPr kumimoji="0" lang="en-US" sz="950" b="0" i="0" u="none" strike="noStrike" kern="1200" cap="none" spc="0" normalizeH="0" baseline="0" noProof="0">
                <a:ln>
                  <a:noFill/>
                </a:ln>
                <a:solidFill>
                  <a:srgbClr val="FFFFFF"/>
                </a:solidFill>
                <a:effectLst/>
                <a:uLnTx/>
                <a:uFillTx/>
                <a:latin typeface="Ubuntu"/>
                <a:ea typeface="+mn-ea"/>
                <a:cs typeface="Calibri" pitchFamily="34" charset="0"/>
              </a:rPr>
              <a:t>Drew scenario analysis to gauge the impact of regulations, user perceptions, the field of opportunity, and competitive scenario</a:t>
            </a:r>
          </a:p>
          <a:p>
            <a:pPr marL="171450" marR="0" lvl="1" indent="-171450" algn="l" defTabSz="914400" rtl="0" eaLnBrk="1" fontAlgn="auto" latinLnBrk="0" hangingPunct="1">
              <a:lnSpc>
                <a:spcPct val="100000"/>
              </a:lnSpc>
              <a:spcBef>
                <a:spcPts val="200"/>
              </a:spcBef>
              <a:spcAft>
                <a:spcPts val="200"/>
              </a:spcAft>
              <a:buClr>
                <a:srgbClr val="FFFFFF"/>
              </a:buClr>
              <a:buSzPct val="100000"/>
              <a:buFont typeface="Wingdings" panose="05000000000000000000" pitchFamily="2" charset="2"/>
              <a:buChar char="§"/>
              <a:tabLst/>
              <a:defRPr/>
            </a:pPr>
            <a:r>
              <a:rPr kumimoji="0" lang="en-US" sz="950" b="0" i="0" u="none" strike="noStrike" kern="1200" cap="none" spc="0" normalizeH="0" baseline="0" noProof="0">
                <a:ln>
                  <a:noFill/>
                </a:ln>
                <a:solidFill>
                  <a:srgbClr val="FFFFFF"/>
                </a:solidFill>
                <a:effectLst/>
                <a:uLnTx/>
                <a:uFillTx/>
                <a:latin typeface="Ubuntu"/>
                <a:ea typeface="+mn-ea"/>
                <a:cs typeface="Calibri" pitchFamily="34" charset="0"/>
              </a:rPr>
              <a:t>Synthesized insights across markets, including regulatory complexity, and competitive intensity to develop a market attractiveness framework</a:t>
            </a:r>
          </a:p>
          <a:p>
            <a:pPr marL="171450" marR="0" lvl="1" indent="-171450" algn="l" defTabSz="914400" rtl="0" eaLnBrk="1" fontAlgn="auto" latinLnBrk="0" hangingPunct="1">
              <a:lnSpc>
                <a:spcPct val="100000"/>
              </a:lnSpc>
              <a:spcBef>
                <a:spcPts val="200"/>
              </a:spcBef>
              <a:spcAft>
                <a:spcPts val="200"/>
              </a:spcAft>
              <a:buClr>
                <a:srgbClr val="FFFFFF"/>
              </a:buClr>
              <a:buSzPct val="100000"/>
              <a:buFont typeface="Wingdings" panose="05000000000000000000" pitchFamily="2" charset="2"/>
              <a:buChar char="§"/>
              <a:tabLst/>
              <a:defRPr/>
            </a:pPr>
            <a:r>
              <a:rPr kumimoji="0" lang="en-US" sz="950" b="0" i="0" u="none" strike="noStrike" kern="1200" cap="none" spc="0" normalizeH="0" baseline="0" noProof="0">
                <a:ln>
                  <a:noFill/>
                </a:ln>
                <a:solidFill>
                  <a:srgbClr val="FFFFFF"/>
                </a:solidFill>
                <a:effectLst/>
                <a:uLnTx/>
                <a:uFillTx/>
                <a:latin typeface="Ubuntu"/>
                <a:ea typeface="+mn-ea"/>
                <a:cs typeface="Calibri" pitchFamily="34" charset="0"/>
              </a:rPr>
              <a:t>Provided recommendations on whether the client should enter a particular market or not</a:t>
            </a:r>
          </a:p>
          <a:p>
            <a:pPr marL="0" marR="0" lvl="1" indent="0" algn="l" defTabSz="914400" rtl="0" eaLnBrk="1" fontAlgn="auto" latinLnBrk="0" hangingPunct="1">
              <a:lnSpc>
                <a:spcPct val="100000"/>
              </a:lnSpc>
              <a:spcBef>
                <a:spcPts val="200"/>
              </a:spcBef>
              <a:spcAft>
                <a:spcPts val="200"/>
              </a:spcAft>
              <a:buClr>
                <a:srgbClr val="FFFFFF"/>
              </a:buClr>
              <a:buSzPct val="100000"/>
              <a:buFontTx/>
              <a:buNone/>
              <a:tabLst/>
              <a:defRPr/>
            </a:pPr>
            <a:endParaRPr kumimoji="0" lang="en-US" sz="950" b="0" i="0" u="none" strike="noStrike" kern="1200" cap="none" spc="0" normalizeH="0" baseline="0" noProof="0">
              <a:ln>
                <a:noFill/>
              </a:ln>
              <a:solidFill>
                <a:srgbClr val="FFFFFF"/>
              </a:solidFill>
              <a:effectLst/>
              <a:uLnTx/>
              <a:uFillTx/>
              <a:latin typeface="Ubuntu"/>
              <a:ea typeface="+mn-ea"/>
              <a:cs typeface="Calibri" pitchFamily="34" charset="0"/>
            </a:endParaRPr>
          </a:p>
        </p:txBody>
      </p:sp>
      <p:sp>
        <p:nvSpPr>
          <p:cNvPr id="37" name="Rectangle 36">
            <a:extLst>
              <a:ext uri="{FF2B5EF4-FFF2-40B4-BE49-F238E27FC236}">
                <a16:creationId xmlns:a16="http://schemas.microsoft.com/office/drawing/2014/main" id="{F177E762-9F1D-ECC5-5EC4-33578D3C498C}"/>
              </a:ext>
            </a:extLst>
          </p:cNvPr>
          <p:cNvSpPr/>
          <p:nvPr/>
        </p:nvSpPr>
        <p:spPr>
          <a:xfrm>
            <a:off x="5524714" y="1941154"/>
            <a:ext cx="2232000" cy="215444"/>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100" normalizeH="0" baseline="0" noProof="0">
                <a:ln>
                  <a:noFill/>
                </a:ln>
                <a:solidFill>
                  <a:srgbClr val="12ABDB"/>
                </a:solidFill>
                <a:effectLst/>
                <a:uLnTx/>
                <a:uFillTx/>
                <a:latin typeface="Ubuntu"/>
                <a:ea typeface="+mn-ea"/>
                <a:cs typeface="+mn-cs"/>
              </a:rPr>
              <a:t>SOLUTION</a:t>
            </a:r>
          </a:p>
        </p:txBody>
      </p:sp>
      <p:sp>
        <p:nvSpPr>
          <p:cNvPr id="38" name="Rectangle 37">
            <a:extLst>
              <a:ext uri="{FF2B5EF4-FFF2-40B4-BE49-F238E27FC236}">
                <a16:creationId xmlns:a16="http://schemas.microsoft.com/office/drawing/2014/main" id="{19FCB262-17B8-4DDE-D2D2-6072C46BC35D}"/>
              </a:ext>
            </a:extLst>
          </p:cNvPr>
          <p:cNvSpPr/>
          <p:nvPr/>
        </p:nvSpPr>
        <p:spPr>
          <a:xfrm>
            <a:off x="419744" y="5291200"/>
            <a:ext cx="6743056" cy="358210"/>
          </a:xfrm>
          <a:prstGeom prst="rect">
            <a:avLst/>
          </a:prstGeom>
        </p:spPr>
        <p:txBody>
          <a:bodyPr wrap="square" lIns="0" tIns="0" rIns="0" bIns="0" numCol="1">
            <a:noAutofit/>
          </a:bodyPr>
          <a:lstStyle/>
          <a:p>
            <a:pPr marL="171450" marR="0" lvl="1" indent="-171450" algn="l" defTabSz="914400" rtl="0" eaLnBrk="1" fontAlgn="auto" latinLnBrk="0" hangingPunct="1">
              <a:lnSpc>
                <a:spcPct val="100000"/>
              </a:lnSpc>
              <a:spcBef>
                <a:spcPts val="200"/>
              </a:spcBef>
              <a:spcAft>
                <a:spcPts val="200"/>
              </a:spcAft>
              <a:buClr>
                <a:srgbClr val="FFFFFF"/>
              </a:buClr>
              <a:buSzPct val="100000"/>
              <a:buFont typeface="Wingdings" panose="05000000000000000000" pitchFamily="2" charset="2"/>
              <a:buChar char="§"/>
              <a:tabLst/>
              <a:defRPr/>
            </a:pPr>
            <a:r>
              <a:rPr kumimoji="0" lang="en-US" sz="950" b="0" i="0" u="none" strike="noStrike" kern="1200" cap="none" spc="0" normalizeH="0" baseline="0" noProof="0">
                <a:ln>
                  <a:noFill/>
                </a:ln>
                <a:solidFill>
                  <a:srgbClr val="FFFFFF"/>
                </a:solidFill>
                <a:effectLst/>
                <a:uLnTx/>
                <a:uFillTx/>
                <a:latin typeface="Ubuntu"/>
                <a:ea typeface="+mn-ea"/>
                <a:cs typeface="Calibri" pitchFamily="34" charset="0"/>
              </a:rPr>
              <a:t>The study helped the client in understanding favorable markets and to carry out a deep-level maturity assessment for the market which they wish to enter</a:t>
            </a:r>
          </a:p>
        </p:txBody>
      </p:sp>
      <p:grpSp>
        <p:nvGrpSpPr>
          <p:cNvPr id="39" name="Group 38">
            <a:extLst>
              <a:ext uri="{FF2B5EF4-FFF2-40B4-BE49-F238E27FC236}">
                <a16:creationId xmlns:a16="http://schemas.microsoft.com/office/drawing/2014/main" id="{5EFC2EC4-0419-A0DE-6465-0B0FA6173F1D}"/>
              </a:ext>
              <a:ext uri="{C183D7F6-B498-43B3-948B-1728B52AA6E4}">
                <adec:decorative xmlns:adec="http://schemas.microsoft.com/office/drawing/2017/decorative" val="1"/>
              </a:ext>
            </a:extLst>
          </p:cNvPr>
          <p:cNvGrpSpPr>
            <a:grpSpLocks noChangeAspect="1"/>
          </p:cNvGrpSpPr>
          <p:nvPr/>
        </p:nvGrpSpPr>
        <p:grpSpPr>
          <a:xfrm>
            <a:off x="155403" y="4991456"/>
            <a:ext cx="218454" cy="218454"/>
            <a:chOff x="4547188" y="980728"/>
            <a:chExt cx="152246" cy="152246"/>
          </a:xfrm>
          <a:solidFill>
            <a:schemeClr val="accent2"/>
          </a:solidFill>
        </p:grpSpPr>
        <p:sp>
          <p:nvSpPr>
            <p:cNvPr id="40" name="Freeform: Shape 39">
              <a:extLst>
                <a:ext uri="{FF2B5EF4-FFF2-40B4-BE49-F238E27FC236}">
                  <a16:creationId xmlns:a16="http://schemas.microsoft.com/office/drawing/2014/main" id="{7626A859-CDFE-C9EC-1D72-FD3D915F2E5F}"/>
                </a:ext>
              </a:extLst>
            </p:cNvPr>
            <p:cNvSpPr/>
            <p:nvPr/>
          </p:nvSpPr>
          <p:spPr>
            <a:xfrm>
              <a:off x="4547188" y="980728"/>
              <a:ext cx="152246" cy="152246"/>
            </a:xfrm>
            <a:custGeom>
              <a:avLst/>
              <a:gdLst>
                <a:gd name="connsiteX0" fmla="*/ 145529 w 152245"/>
                <a:gd name="connsiteY0" fmla="*/ 17911 h 152245"/>
                <a:gd name="connsiteX1" fmla="*/ 125379 w 152245"/>
                <a:gd name="connsiteY1" fmla="*/ 17911 h 152245"/>
                <a:gd name="connsiteX2" fmla="*/ 125379 w 152245"/>
                <a:gd name="connsiteY2" fmla="*/ 6717 h 152245"/>
                <a:gd name="connsiteX3" fmla="*/ 118662 w 152245"/>
                <a:gd name="connsiteY3" fmla="*/ 0 h 152245"/>
                <a:gd name="connsiteX4" fmla="*/ 6717 w 152245"/>
                <a:gd name="connsiteY4" fmla="*/ 0 h 152245"/>
                <a:gd name="connsiteX5" fmla="*/ 0 w 152245"/>
                <a:gd name="connsiteY5" fmla="*/ 6717 h 152245"/>
                <a:gd name="connsiteX6" fmla="*/ 0 w 152245"/>
                <a:gd name="connsiteY6" fmla="*/ 132096 h 152245"/>
                <a:gd name="connsiteX7" fmla="*/ 6717 w 152245"/>
                <a:gd name="connsiteY7" fmla="*/ 138812 h 152245"/>
                <a:gd name="connsiteX8" fmla="*/ 26867 w 152245"/>
                <a:gd name="connsiteY8" fmla="*/ 138812 h 152245"/>
                <a:gd name="connsiteX9" fmla="*/ 26867 w 152245"/>
                <a:gd name="connsiteY9" fmla="*/ 145529 h 152245"/>
                <a:gd name="connsiteX10" fmla="*/ 33584 w 152245"/>
                <a:gd name="connsiteY10" fmla="*/ 152246 h 152245"/>
                <a:gd name="connsiteX11" fmla="*/ 145529 w 152245"/>
                <a:gd name="connsiteY11" fmla="*/ 152246 h 152245"/>
                <a:gd name="connsiteX12" fmla="*/ 152246 w 152245"/>
                <a:gd name="connsiteY12" fmla="*/ 145529 h 152245"/>
                <a:gd name="connsiteX13" fmla="*/ 152246 w 152245"/>
                <a:gd name="connsiteY13" fmla="*/ 24628 h 152245"/>
                <a:gd name="connsiteX14" fmla="*/ 145529 w 152245"/>
                <a:gd name="connsiteY14" fmla="*/ 17911 h 152245"/>
                <a:gd name="connsiteX15" fmla="*/ 4478 w 152245"/>
                <a:gd name="connsiteY15" fmla="*/ 132096 h 152245"/>
                <a:gd name="connsiteX16" fmla="*/ 4478 w 152245"/>
                <a:gd name="connsiteY16" fmla="*/ 6717 h 152245"/>
                <a:gd name="connsiteX17" fmla="*/ 6717 w 152245"/>
                <a:gd name="connsiteY17" fmla="*/ 4478 h 152245"/>
                <a:gd name="connsiteX18" fmla="*/ 118662 w 152245"/>
                <a:gd name="connsiteY18" fmla="*/ 4478 h 152245"/>
                <a:gd name="connsiteX19" fmla="*/ 120901 w 152245"/>
                <a:gd name="connsiteY19" fmla="*/ 6717 h 152245"/>
                <a:gd name="connsiteX20" fmla="*/ 120901 w 152245"/>
                <a:gd name="connsiteY20" fmla="*/ 132096 h 152245"/>
                <a:gd name="connsiteX21" fmla="*/ 118662 w 152245"/>
                <a:gd name="connsiteY21" fmla="*/ 134335 h 152245"/>
                <a:gd name="connsiteX22" fmla="*/ 6717 w 152245"/>
                <a:gd name="connsiteY22" fmla="*/ 134335 h 152245"/>
                <a:gd name="connsiteX23" fmla="*/ 4478 w 152245"/>
                <a:gd name="connsiteY23" fmla="*/ 132096 h 152245"/>
                <a:gd name="connsiteX24" fmla="*/ 147768 w 152245"/>
                <a:gd name="connsiteY24" fmla="*/ 145529 h 152245"/>
                <a:gd name="connsiteX25" fmla="*/ 145529 w 152245"/>
                <a:gd name="connsiteY25" fmla="*/ 147768 h 152245"/>
                <a:gd name="connsiteX26" fmla="*/ 33584 w 152245"/>
                <a:gd name="connsiteY26" fmla="*/ 147768 h 152245"/>
                <a:gd name="connsiteX27" fmla="*/ 31345 w 152245"/>
                <a:gd name="connsiteY27" fmla="*/ 145529 h 152245"/>
                <a:gd name="connsiteX28" fmla="*/ 31345 w 152245"/>
                <a:gd name="connsiteY28" fmla="*/ 138812 h 152245"/>
                <a:gd name="connsiteX29" fmla="*/ 118662 w 152245"/>
                <a:gd name="connsiteY29" fmla="*/ 138812 h 152245"/>
                <a:gd name="connsiteX30" fmla="*/ 125379 w 152245"/>
                <a:gd name="connsiteY30" fmla="*/ 132096 h 152245"/>
                <a:gd name="connsiteX31" fmla="*/ 125379 w 152245"/>
                <a:gd name="connsiteY31" fmla="*/ 22389 h 152245"/>
                <a:gd name="connsiteX32" fmla="*/ 145529 w 152245"/>
                <a:gd name="connsiteY32" fmla="*/ 22389 h 152245"/>
                <a:gd name="connsiteX33" fmla="*/ 147768 w 152245"/>
                <a:gd name="connsiteY33" fmla="*/ 24628 h 152245"/>
                <a:gd name="connsiteX34" fmla="*/ 147768 w 152245"/>
                <a:gd name="connsiteY34" fmla="*/ 145529 h 15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2245" h="152245">
                  <a:moveTo>
                    <a:pt x="145529" y="17911"/>
                  </a:moveTo>
                  <a:lnTo>
                    <a:pt x="125379" y="17911"/>
                  </a:lnTo>
                  <a:lnTo>
                    <a:pt x="125379" y="6717"/>
                  </a:lnTo>
                  <a:cubicBezTo>
                    <a:pt x="125379" y="3134"/>
                    <a:pt x="122245" y="0"/>
                    <a:pt x="118662" y="0"/>
                  </a:cubicBezTo>
                  <a:lnTo>
                    <a:pt x="6717" y="0"/>
                  </a:lnTo>
                  <a:cubicBezTo>
                    <a:pt x="3135" y="0"/>
                    <a:pt x="0" y="3134"/>
                    <a:pt x="0" y="6717"/>
                  </a:cubicBezTo>
                  <a:lnTo>
                    <a:pt x="0" y="132096"/>
                  </a:lnTo>
                  <a:cubicBezTo>
                    <a:pt x="0" y="135678"/>
                    <a:pt x="3135" y="138812"/>
                    <a:pt x="6717" y="138812"/>
                  </a:cubicBezTo>
                  <a:lnTo>
                    <a:pt x="26867" y="138812"/>
                  </a:lnTo>
                  <a:lnTo>
                    <a:pt x="26867" y="145529"/>
                  </a:lnTo>
                  <a:cubicBezTo>
                    <a:pt x="26867" y="149111"/>
                    <a:pt x="30001" y="152246"/>
                    <a:pt x="33584" y="152246"/>
                  </a:cubicBezTo>
                  <a:lnTo>
                    <a:pt x="145529" y="152246"/>
                  </a:lnTo>
                  <a:cubicBezTo>
                    <a:pt x="149112" y="152246"/>
                    <a:pt x="152246" y="149111"/>
                    <a:pt x="152246" y="145529"/>
                  </a:cubicBezTo>
                  <a:lnTo>
                    <a:pt x="152246" y="24628"/>
                  </a:lnTo>
                  <a:cubicBezTo>
                    <a:pt x="152246" y="20598"/>
                    <a:pt x="149559" y="17911"/>
                    <a:pt x="145529" y="17911"/>
                  </a:cubicBezTo>
                  <a:close/>
                  <a:moveTo>
                    <a:pt x="4478" y="132096"/>
                  </a:moveTo>
                  <a:lnTo>
                    <a:pt x="4478" y="6717"/>
                  </a:lnTo>
                  <a:cubicBezTo>
                    <a:pt x="4478" y="5373"/>
                    <a:pt x="5373" y="4478"/>
                    <a:pt x="6717" y="4478"/>
                  </a:cubicBezTo>
                  <a:lnTo>
                    <a:pt x="118662" y="4478"/>
                  </a:lnTo>
                  <a:cubicBezTo>
                    <a:pt x="120006" y="4478"/>
                    <a:pt x="120901" y="5373"/>
                    <a:pt x="120901" y="6717"/>
                  </a:cubicBezTo>
                  <a:lnTo>
                    <a:pt x="120901" y="132096"/>
                  </a:lnTo>
                  <a:cubicBezTo>
                    <a:pt x="120901" y="133439"/>
                    <a:pt x="120006" y="134335"/>
                    <a:pt x="118662" y="134335"/>
                  </a:cubicBezTo>
                  <a:lnTo>
                    <a:pt x="6717" y="134335"/>
                  </a:lnTo>
                  <a:cubicBezTo>
                    <a:pt x="5821" y="134335"/>
                    <a:pt x="4478" y="133439"/>
                    <a:pt x="4478" y="132096"/>
                  </a:cubicBezTo>
                  <a:close/>
                  <a:moveTo>
                    <a:pt x="147768" y="145529"/>
                  </a:moveTo>
                  <a:cubicBezTo>
                    <a:pt x="147768" y="146872"/>
                    <a:pt x="146873" y="147768"/>
                    <a:pt x="145529" y="147768"/>
                  </a:cubicBezTo>
                  <a:lnTo>
                    <a:pt x="33584" y="147768"/>
                  </a:lnTo>
                  <a:cubicBezTo>
                    <a:pt x="32240" y="147768"/>
                    <a:pt x="31345" y="146872"/>
                    <a:pt x="31345" y="145529"/>
                  </a:cubicBezTo>
                  <a:lnTo>
                    <a:pt x="31345" y="138812"/>
                  </a:lnTo>
                  <a:lnTo>
                    <a:pt x="118662" y="138812"/>
                  </a:lnTo>
                  <a:cubicBezTo>
                    <a:pt x="122245" y="138812"/>
                    <a:pt x="125379" y="135678"/>
                    <a:pt x="125379" y="132096"/>
                  </a:cubicBezTo>
                  <a:lnTo>
                    <a:pt x="125379" y="22389"/>
                  </a:lnTo>
                  <a:lnTo>
                    <a:pt x="145529" y="22389"/>
                  </a:lnTo>
                  <a:cubicBezTo>
                    <a:pt x="146873" y="22389"/>
                    <a:pt x="147768" y="23285"/>
                    <a:pt x="147768" y="24628"/>
                  </a:cubicBezTo>
                  <a:lnTo>
                    <a:pt x="147768" y="145529"/>
                  </a:lnTo>
                  <a:close/>
                </a:path>
              </a:pathLst>
            </a:custGeom>
            <a:grpFill/>
            <a:ln w="447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41" name="Freeform: Shape 40">
              <a:extLst>
                <a:ext uri="{FF2B5EF4-FFF2-40B4-BE49-F238E27FC236}">
                  <a16:creationId xmlns:a16="http://schemas.microsoft.com/office/drawing/2014/main" id="{A74701E6-004A-3D41-B68B-CA31E1A37F32}"/>
                </a:ext>
              </a:extLst>
            </p:cNvPr>
            <p:cNvSpPr/>
            <p:nvPr/>
          </p:nvSpPr>
          <p:spPr>
            <a:xfrm>
              <a:off x="4564652" y="1007595"/>
              <a:ext cx="85079" cy="4478"/>
            </a:xfrm>
            <a:custGeom>
              <a:avLst/>
              <a:gdLst>
                <a:gd name="connsiteX0" fmla="*/ 85526 w 85078"/>
                <a:gd name="connsiteY0" fmla="*/ 4478 h 4477"/>
                <a:gd name="connsiteX1" fmla="*/ 2239 w 85078"/>
                <a:gd name="connsiteY1" fmla="*/ 4478 h 4477"/>
                <a:gd name="connsiteX2" fmla="*/ 0 w 85078"/>
                <a:gd name="connsiteY2" fmla="*/ 2239 h 4477"/>
                <a:gd name="connsiteX3" fmla="*/ 2239 w 85078"/>
                <a:gd name="connsiteY3" fmla="*/ 0 h 4477"/>
                <a:gd name="connsiteX4" fmla="*/ 85526 w 85078"/>
                <a:gd name="connsiteY4" fmla="*/ 0 h 4477"/>
                <a:gd name="connsiteX5" fmla="*/ 87765 w 85078"/>
                <a:gd name="connsiteY5" fmla="*/ 2239 h 4477"/>
                <a:gd name="connsiteX6" fmla="*/ 85526 w 85078"/>
                <a:gd name="connsiteY6" fmla="*/ 4478 h 4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078" h="4477">
                  <a:moveTo>
                    <a:pt x="85526" y="4478"/>
                  </a:moveTo>
                  <a:lnTo>
                    <a:pt x="2239" y="4478"/>
                  </a:lnTo>
                  <a:cubicBezTo>
                    <a:pt x="896" y="4478"/>
                    <a:pt x="0" y="3582"/>
                    <a:pt x="0" y="2239"/>
                  </a:cubicBezTo>
                  <a:cubicBezTo>
                    <a:pt x="0" y="896"/>
                    <a:pt x="896" y="0"/>
                    <a:pt x="2239" y="0"/>
                  </a:cubicBezTo>
                  <a:lnTo>
                    <a:pt x="85526" y="0"/>
                  </a:lnTo>
                  <a:cubicBezTo>
                    <a:pt x="86870" y="0"/>
                    <a:pt x="87765" y="896"/>
                    <a:pt x="87765" y="2239"/>
                  </a:cubicBezTo>
                  <a:cubicBezTo>
                    <a:pt x="87765" y="3582"/>
                    <a:pt x="86870" y="4478"/>
                    <a:pt x="85526" y="4478"/>
                  </a:cubicBezTo>
                  <a:close/>
                </a:path>
              </a:pathLst>
            </a:custGeom>
            <a:grpFill/>
            <a:ln w="447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42" name="Freeform: Shape 41">
              <a:extLst>
                <a:ext uri="{FF2B5EF4-FFF2-40B4-BE49-F238E27FC236}">
                  <a16:creationId xmlns:a16="http://schemas.microsoft.com/office/drawing/2014/main" id="{CE99A507-B5FF-5322-2675-A2A479F4EF63}"/>
                </a:ext>
              </a:extLst>
            </p:cNvPr>
            <p:cNvSpPr/>
            <p:nvPr/>
          </p:nvSpPr>
          <p:spPr>
            <a:xfrm>
              <a:off x="4564652" y="1061329"/>
              <a:ext cx="85079" cy="4478"/>
            </a:xfrm>
            <a:custGeom>
              <a:avLst/>
              <a:gdLst>
                <a:gd name="connsiteX0" fmla="*/ 85526 w 85078"/>
                <a:gd name="connsiteY0" fmla="*/ 4478 h 4477"/>
                <a:gd name="connsiteX1" fmla="*/ 2239 w 85078"/>
                <a:gd name="connsiteY1" fmla="*/ 4478 h 4477"/>
                <a:gd name="connsiteX2" fmla="*/ 0 w 85078"/>
                <a:gd name="connsiteY2" fmla="*/ 2239 h 4477"/>
                <a:gd name="connsiteX3" fmla="*/ 2239 w 85078"/>
                <a:gd name="connsiteY3" fmla="*/ 0 h 4477"/>
                <a:gd name="connsiteX4" fmla="*/ 85526 w 85078"/>
                <a:gd name="connsiteY4" fmla="*/ 0 h 4477"/>
                <a:gd name="connsiteX5" fmla="*/ 87765 w 85078"/>
                <a:gd name="connsiteY5" fmla="*/ 2239 h 4477"/>
                <a:gd name="connsiteX6" fmla="*/ 85526 w 85078"/>
                <a:gd name="connsiteY6" fmla="*/ 4478 h 4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078" h="4477">
                  <a:moveTo>
                    <a:pt x="85526" y="4478"/>
                  </a:moveTo>
                  <a:lnTo>
                    <a:pt x="2239" y="4478"/>
                  </a:lnTo>
                  <a:cubicBezTo>
                    <a:pt x="896" y="4478"/>
                    <a:pt x="0" y="3582"/>
                    <a:pt x="0" y="2239"/>
                  </a:cubicBezTo>
                  <a:cubicBezTo>
                    <a:pt x="0" y="896"/>
                    <a:pt x="896" y="0"/>
                    <a:pt x="2239" y="0"/>
                  </a:cubicBezTo>
                  <a:lnTo>
                    <a:pt x="85526" y="0"/>
                  </a:lnTo>
                  <a:cubicBezTo>
                    <a:pt x="86870" y="0"/>
                    <a:pt x="87765" y="896"/>
                    <a:pt x="87765" y="2239"/>
                  </a:cubicBezTo>
                  <a:cubicBezTo>
                    <a:pt x="87765" y="3582"/>
                    <a:pt x="86870" y="4478"/>
                    <a:pt x="85526" y="4478"/>
                  </a:cubicBezTo>
                  <a:close/>
                </a:path>
              </a:pathLst>
            </a:custGeom>
            <a:grpFill/>
            <a:ln w="447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43" name="Freeform: Shape 42">
              <a:extLst>
                <a:ext uri="{FF2B5EF4-FFF2-40B4-BE49-F238E27FC236}">
                  <a16:creationId xmlns:a16="http://schemas.microsoft.com/office/drawing/2014/main" id="{D49064A5-8C13-1A75-A337-4623EBD7BF20}"/>
                </a:ext>
              </a:extLst>
            </p:cNvPr>
            <p:cNvSpPr/>
            <p:nvPr/>
          </p:nvSpPr>
          <p:spPr>
            <a:xfrm>
              <a:off x="4564652" y="1034462"/>
              <a:ext cx="67167" cy="4478"/>
            </a:xfrm>
            <a:custGeom>
              <a:avLst/>
              <a:gdLst>
                <a:gd name="connsiteX0" fmla="*/ 67615 w 67167"/>
                <a:gd name="connsiteY0" fmla="*/ 4478 h 4477"/>
                <a:gd name="connsiteX1" fmla="*/ 2239 w 67167"/>
                <a:gd name="connsiteY1" fmla="*/ 4478 h 4477"/>
                <a:gd name="connsiteX2" fmla="*/ 0 w 67167"/>
                <a:gd name="connsiteY2" fmla="*/ 2239 h 4477"/>
                <a:gd name="connsiteX3" fmla="*/ 2239 w 67167"/>
                <a:gd name="connsiteY3" fmla="*/ 0 h 4477"/>
                <a:gd name="connsiteX4" fmla="*/ 67615 w 67167"/>
                <a:gd name="connsiteY4" fmla="*/ 0 h 4477"/>
                <a:gd name="connsiteX5" fmla="*/ 69854 w 67167"/>
                <a:gd name="connsiteY5" fmla="*/ 2239 h 4477"/>
                <a:gd name="connsiteX6" fmla="*/ 67615 w 67167"/>
                <a:gd name="connsiteY6" fmla="*/ 4478 h 4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167" h="4477">
                  <a:moveTo>
                    <a:pt x="67615" y="4478"/>
                  </a:moveTo>
                  <a:lnTo>
                    <a:pt x="2239" y="4478"/>
                  </a:lnTo>
                  <a:cubicBezTo>
                    <a:pt x="896" y="4478"/>
                    <a:pt x="0" y="3582"/>
                    <a:pt x="0" y="2239"/>
                  </a:cubicBezTo>
                  <a:cubicBezTo>
                    <a:pt x="0" y="896"/>
                    <a:pt x="896" y="0"/>
                    <a:pt x="2239" y="0"/>
                  </a:cubicBezTo>
                  <a:lnTo>
                    <a:pt x="67615" y="0"/>
                  </a:lnTo>
                  <a:cubicBezTo>
                    <a:pt x="68959" y="0"/>
                    <a:pt x="69854" y="896"/>
                    <a:pt x="69854" y="2239"/>
                  </a:cubicBezTo>
                  <a:cubicBezTo>
                    <a:pt x="69854" y="3582"/>
                    <a:pt x="68959" y="4478"/>
                    <a:pt x="67615" y="4478"/>
                  </a:cubicBezTo>
                  <a:close/>
                </a:path>
              </a:pathLst>
            </a:custGeom>
            <a:grpFill/>
            <a:ln w="447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grpSp>
      <p:grpSp>
        <p:nvGrpSpPr>
          <p:cNvPr id="44" name="Group 43">
            <a:extLst>
              <a:ext uri="{FF2B5EF4-FFF2-40B4-BE49-F238E27FC236}">
                <a16:creationId xmlns:a16="http://schemas.microsoft.com/office/drawing/2014/main" id="{F94049DB-434C-1AEE-C346-9B673F997746}"/>
              </a:ext>
            </a:extLst>
          </p:cNvPr>
          <p:cNvGrpSpPr/>
          <p:nvPr/>
        </p:nvGrpSpPr>
        <p:grpSpPr>
          <a:xfrm>
            <a:off x="405607" y="1337545"/>
            <a:ext cx="518164" cy="520814"/>
            <a:chOff x="4150222" y="1190829"/>
            <a:chExt cx="395631" cy="397656"/>
          </a:xfrm>
        </p:grpSpPr>
        <p:sp>
          <p:nvSpPr>
            <p:cNvPr id="45" name="Oval 44">
              <a:extLst>
                <a:ext uri="{FF2B5EF4-FFF2-40B4-BE49-F238E27FC236}">
                  <a16:creationId xmlns:a16="http://schemas.microsoft.com/office/drawing/2014/main" id="{4E487721-D3B5-FF82-1AC2-7B1E35234945}"/>
                </a:ext>
              </a:extLst>
            </p:cNvPr>
            <p:cNvSpPr/>
            <p:nvPr/>
          </p:nvSpPr>
          <p:spPr>
            <a:xfrm>
              <a:off x="4150222" y="1190829"/>
              <a:ext cx="395631" cy="397656"/>
            </a:xfrm>
            <a:prstGeom prst="ellipse">
              <a:avLst/>
            </a:prstGeom>
            <a:solidFill>
              <a:schemeClr val="accent1">
                <a:lumMod val="60000"/>
                <a:lumOff val="40000"/>
                <a:alpha val="12000"/>
              </a:schemeClr>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a:ea typeface="+mn-ea"/>
                <a:cs typeface="+mn-cs"/>
              </a:endParaRPr>
            </a:p>
          </p:txBody>
        </p:sp>
        <p:pic>
          <p:nvPicPr>
            <p:cNvPr id="46" name="Graphic 45" descr="Bullseye outline">
              <a:extLst>
                <a:ext uri="{FF2B5EF4-FFF2-40B4-BE49-F238E27FC236}">
                  <a16:creationId xmlns:a16="http://schemas.microsoft.com/office/drawing/2014/main" id="{F95EBF08-76E6-4E7D-01E1-38A1640819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27642" y="1269262"/>
              <a:ext cx="240790" cy="240790"/>
            </a:xfrm>
            <a:prstGeom prst="rect">
              <a:avLst/>
            </a:prstGeom>
          </p:spPr>
        </p:pic>
      </p:grpSp>
      <p:sp>
        <p:nvSpPr>
          <p:cNvPr id="47" name="Oval 46">
            <a:extLst>
              <a:ext uri="{FF2B5EF4-FFF2-40B4-BE49-F238E27FC236}">
                <a16:creationId xmlns:a16="http://schemas.microsoft.com/office/drawing/2014/main" id="{394F3CCD-04C7-AA52-AC7B-A73AA8E7655D}"/>
              </a:ext>
            </a:extLst>
          </p:cNvPr>
          <p:cNvSpPr/>
          <p:nvPr/>
        </p:nvSpPr>
        <p:spPr>
          <a:xfrm>
            <a:off x="2972229" y="1337545"/>
            <a:ext cx="518164" cy="520814"/>
          </a:xfrm>
          <a:prstGeom prst="ellipse">
            <a:avLst/>
          </a:prstGeom>
          <a:solidFill>
            <a:schemeClr val="accent1">
              <a:lumMod val="60000"/>
              <a:lumOff val="40000"/>
              <a:alpha val="12000"/>
            </a:schemeClr>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a:ea typeface="+mn-ea"/>
              <a:cs typeface="+mn-cs"/>
            </a:endParaRPr>
          </a:p>
        </p:txBody>
      </p:sp>
      <p:sp>
        <p:nvSpPr>
          <p:cNvPr id="48" name="Oval 47">
            <a:extLst>
              <a:ext uri="{FF2B5EF4-FFF2-40B4-BE49-F238E27FC236}">
                <a16:creationId xmlns:a16="http://schemas.microsoft.com/office/drawing/2014/main" id="{422D1131-E041-3B5D-4450-88276C4864E6}"/>
              </a:ext>
            </a:extLst>
          </p:cNvPr>
          <p:cNvSpPr/>
          <p:nvPr/>
        </p:nvSpPr>
        <p:spPr>
          <a:xfrm>
            <a:off x="5524714" y="1337545"/>
            <a:ext cx="518164" cy="520814"/>
          </a:xfrm>
          <a:prstGeom prst="ellipse">
            <a:avLst/>
          </a:prstGeom>
          <a:solidFill>
            <a:schemeClr val="accent1">
              <a:lumMod val="60000"/>
              <a:lumOff val="40000"/>
              <a:alpha val="12000"/>
            </a:schemeClr>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a:ea typeface="+mn-ea"/>
              <a:cs typeface="+mn-cs"/>
            </a:endParaRPr>
          </a:p>
        </p:txBody>
      </p:sp>
      <p:pic>
        <p:nvPicPr>
          <p:cNvPr id="49" name="Graphic 48" descr="Lights On outline">
            <a:extLst>
              <a:ext uri="{FF2B5EF4-FFF2-40B4-BE49-F238E27FC236}">
                <a16:creationId xmlns:a16="http://schemas.microsoft.com/office/drawing/2014/main" id="{6747E858-C35C-0358-AF5E-D6FD1C08224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25396" y="1439552"/>
            <a:ext cx="316800" cy="316800"/>
          </a:xfrm>
          <a:prstGeom prst="rect">
            <a:avLst/>
          </a:prstGeom>
        </p:spPr>
      </p:pic>
      <p:grpSp>
        <p:nvGrpSpPr>
          <p:cNvPr id="50" name="Group 49">
            <a:extLst>
              <a:ext uri="{FF2B5EF4-FFF2-40B4-BE49-F238E27FC236}">
                <a16:creationId xmlns:a16="http://schemas.microsoft.com/office/drawing/2014/main" id="{39D221D4-F4FB-BF17-B50E-C48144578BB9}"/>
              </a:ext>
              <a:ext uri="{C183D7F6-B498-43B3-948B-1728B52AA6E4}">
                <adec:decorative xmlns:adec="http://schemas.microsoft.com/office/drawing/2017/decorative" val="1"/>
              </a:ext>
            </a:extLst>
          </p:cNvPr>
          <p:cNvGrpSpPr>
            <a:grpSpLocks noChangeAspect="1"/>
          </p:cNvGrpSpPr>
          <p:nvPr/>
        </p:nvGrpSpPr>
        <p:grpSpPr>
          <a:xfrm>
            <a:off x="3107846" y="1477371"/>
            <a:ext cx="246931" cy="241201"/>
            <a:chOff x="4539128" y="2889174"/>
            <a:chExt cx="152654" cy="149111"/>
          </a:xfrm>
        </p:grpSpPr>
        <p:sp>
          <p:nvSpPr>
            <p:cNvPr id="51" name="Freeform: Shape 50">
              <a:extLst>
                <a:ext uri="{FF2B5EF4-FFF2-40B4-BE49-F238E27FC236}">
                  <a16:creationId xmlns:a16="http://schemas.microsoft.com/office/drawing/2014/main" id="{AC074273-5755-4433-F912-C7A9E9237167}"/>
                </a:ext>
              </a:extLst>
            </p:cNvPr>
            <p:cNvSpPr/>
            <p:nvPr/>
          </p:nvSpPr>
          <p:spPr>
            <a:xfrm>
              <a:off x="4539536" y="2889174"/>
              <a:ext cx="152246" cy="76123"/>
            </a:xfrm>
            <a:custGeom>
              <a:avLst/>
              <a:gdLst>
                <a:gd name="connsiteX0" fmla="*/ 151838 w 152245"/>
                <a:gd name="connsiteY0" fmla="*/ 895 h 76122"/>
                <a:gd name="connsiteX1" fmla="*/ 151838 w 152245"/>
                <a:gd name="connsiteY1" fmla="*/ 895 h 76122"/>
                <a:gd name="connsiteX2" fmla="*/ 150943 w 152245"/>
                <a:gd name="connsiteY2" fmla="*/ 0 h 76122"/>
                <a:gd name="connsiteX3" fmla="*/ 150943 w 152245"/>
                <a:gd name="connsiteY3" fmla="*/ 0 h 76122"/>
                <a:gd name="connsiteX4" fmla="*/ 150943 w 152245"/>
                <a:gd name="connsiteY4" fmla="*/ 0 h 76122"/>
                <a:gd name="connsiteX5" fmla="*/ 150047 w 152245"/>
                <a:gd name="connsiteY5" fmla="*/ 0 h 76122"/>
                <a:gd name="connsiteX6" fmla="*/ 126763 w 152245"/>
                <a:gd name="connsiteY6" fmla="*/ 0 h 76122"/>
                <a:gd name="connsiteX7" fmla="*/ 124524 w 152245"/>
                <a:gd name="connsiteY7" fmla="*/ 2239 h 76122"/>
                <a:gd name="connsiteX8" fmla="*/ 126763 w 152245"/>
                <a:gd name="connsiteY8" fmla="*/ 4478 h 76122"/>
                <a:gd name="connsiteX9" fmla="*/ 144674 w 152245"/>
                <a:gd name="connsiteY9" fmla="*/ 4478 h 76122"/>
                <a:gd name="connsiteX10" fmla="*/ 76163 w 152245"/>
                <a:gd name="connsiteY10" fmla="*/ 70749 h 76122"/>
                <a:gd name="connsiteX11" fmla="*/ 40789 w 152245"/>
                <a:gd name="connsiteY11" fmla="*/ 44778 h 76122"/>
                <a:gd name="connsiteX12" fmla="*/ 38102 w 152245"/>
                <a:gd name="connsiteY12" fmla="*/ 44778 h 76122"/>
                <a:gd name="connsiteX13" fmla="*/ 936 w 152245"/>
                <a:gd name="connsiteY13" fmla="*/ 72093 h 76122"/>
                <a:gd name="connsiteX14" fmla="*/ 488 w 152245"/>
                <a:gd name="connsiteY14" fmla="*/ 75227 h 76122"/>
                <a:gd name="connsiteX15" fmla="*/ 2279 w 152245"/>
                <a:gd name="connsiteY15" fmla="*/ 76123 h 76122"/>
                <a:gd name="connsiteX16" fmla="*/ 3623 w 152245"/>
                <a:gd name="connsiteY16" fmla="*/ 75675 h 76122"/>
                <a:gd name="connsiteX17" fmla="*/ 39445 w 152245"/>
                <a:gd name="connsiteY17" fmla="*/ 49256 h 76122"/>
                <a:gd name="connsiteX18" fmla="*/ 75268 w 152245"/>
                <a:gd name="connsiteY18" fmla="*/ 75675 h 76122"/>
                <a:gd name="connsiteX19" fmla="*/ 77954 w 152245"/>
                <a:gd name="connsiteY19" fmla="*/ 75675 h 76122"/>
                <a:gd name="connsiteX20" fmla="*/ 148256 w 152245"/>
                <a:gd name="connsiteY20" fmla="*/ 8060 h 76122"/>
                <a:gd name="connsiteX21" fmla="*/ 148256 w 152245"/>
                <a:gd name="connsiteY21" fmla="*/ 25971 h 76122"/>
                <a:gd name="connsiteX22" fmla="*/ 150495 w 152245"/>
                <a:gd name="connsiteY22" fmla="*/ 28210 h 76122"/>
                <a:gd name="connsiteX23" fmla="*/ 152734 w 152245"/>
                <a:gd name="connsiteY23" fmla="*/ 25971 h 76122"/>
                <a:gd name="connsiteX24" fmla="*/ 152734 w 152245"/>
                <a:gd name="connsiteY24" fmla="*/ 2687 h 76122"/>
                <a:gd name="connsiteX25" fmla="*/ 151838 w 152245"/>
                <a:gd name="connsiteY25" fmla="*/ 895 h 7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245" h="76122">
                  <a:moveTo>
                    <a:pt x="151838" y="895"/>
                  </a:moveTo>
                  <a:cubicBezTo>
                    <a:pt x="151838" y="895"/>
                    <a:pt x="151838" y="895"/>
                    <a:pt x="151838" y="895"/>
                  </a:cubicBezTo>
                  <a:cubicBezTo>
                    <a:pt x="151391" y="448"/>
                    <a:pt x="151391" y="0"/>
                    <a:pt x="150943" y="0"/>
                  </a:cubicBezTo>
                  <a:cubicBezTo>
                    <a:pt x="150943" y="0"/>
                    <a:pt x="150943" y="0"/>
                    <a:pt x="150943" y="0"/>
                  </a:cubicBezTo>
                  <a:lnTo>
                    <a:pt x="150943" y="0"/>
                  </a:lnTo>
                  <a:cubicBezTo>
                    <a:pt x="150495" y="0"/>
                    <a:pt x="150495" y="0"/>
                    <a:pt x="150047" y="0"/>
                  </a:cubicBezTo>
                  <a:lnTo>
                    <a:pt x="126763" y="0"/>
                  </a:lnTo>
                  <a:cubicBezTo>
                    <a:pt x="125419" y="0"/>
                    <a:pt x="124524" y="895"/>
                    <a:pt x="124524" y="2239"/>
                  </a:cubicBezTo>
                  <a:cubicBezTo>
                    <a:pt x="124524" y="3582"/>
                    <a:pt x="125419" y="4478"/>
                    <a:pt x="126763" y="4478"/>
                  </a:cubicBezTo>
                  <a:lnTo>
                    <a:pt x="144674" y="4478"/>
                  </a:lnTo>
                  <a:lnTo>
                    <a:pt x="76163" y="70749"/>
                  </a:lnTo>
                  <a:lnTo>
                    <a:pt x="40789" y="44778"/>
                  </a:lnTo>
                  <a:cubicBezTo>
                    <a:pt x="39893" y="44330"/>
                    <a:pt x="38997" y="44330"/>
                    <a:pt x="38102" y="44778"/>
                  </a:cubicBezTo>
                  <a:lnTo>
                    <a:pt x="936" y="72093"/>
                  </a:lnTo>
                  <a:cubicBezTo>
                    <a:pt x="40" y="72988"/>
                    <a:pt x="-407" y="74332"/>
                    <a:pt x="488" y="75227"/>
                  </a:cubicBezTo>
                  <a:cubicBezTo>
                    <a:pt x="936" y="75675"/>
                    <a:pt x="1384" y="76123"/>
                    <a:pt x="2279" y="76123"/>
                  </a:cubicBezTo>
                  <a:cubicBezTo>
                    <a:pt x="2727" y="76123"/>
                    <a:pt x="3175" y="76123"/>
                    <a:pt x="3623" y="75675"/>
                  </a:cubicBezTo>
                  <a:lnTo>
                    <a:pt x="39445" y="49256"/>
                  </a:lnTo>
                  <a:lnTo>
                    <a:pt x="75268" y="75675"/>
                  </a:lnTo>
                  <a:cubicBezTo>
                    <a:pt x="76163" y="76123"/>
                    <a:pt x="77507" y="76123"/>
                    <a:pt x="77954" y="75675"/>
                  </a:cubicBezTo>
                  <a:lnTo>
                    <a:pt x="148256" y="8060"/>
                  </a:lnTo>
                  <a:lnTo>
                    <a:pt x="148256" y="25971"/>
                  </a:lnTo>
                  <a:cubicBezTo>
                    <a:pt x="148256" y="27315"/>
                    <a:pt x="149152" y="28210"/>
                    <a:pt x="150495" y="28210"/>
                  </a:cubicBezTo>
                  <a:cubicBezTo>
                    <a:pt x="151838" y="28210"/>
                    <a:pt x="152734" y="27315"/>
                    <a:pt x="152734" y="25971"/>
                  </a:cubicBezTo>
                  <a:lnTo>
                    <a:pt x="152734" y="2687"/>
                  </a:lnTo>
                  <a:cubicBezTo>
                    <a:pt x="152286" y="1791"/>
                    <a:pt x="151838" y="1343"/>
                    <a:pt x="151838" y="895"/>
                  </a:cubicBezTo>
                  <a:close/>
                </a:path>
              </a:pathLst>
            </a:custGeom>
            <a:solidFill>
              <a:schemeClr val="bg1"/>
            </a:solidFill>
            <a:ln w="24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52" name="Freeform: Shape 51">
              <a:extLst>
                <a:ext uri="{FF2B5EF4-FFF2-40B4-BE49-F238E27FC236}">
                  <a16:creationId xmlns:a16="http://schemas.microsoft.com/office/drawing/2014/main" id="{7510F390-6A55-1420-B549-AD4C25686AD7}"/>
                </a:ext>
              </a:extLst>
            </p:cNvPr>
            <p:cNvSpPr/>
            <p:nvPr/>
          </p:nvSpPr>
          <p:spPr>
            <a:xfrm>
              <a:off x="4539128" y="2930817"/>
              <a:ext cx="152246" cy="107468"/>
            </a:xfrm>
            <a:custGeom>
              <a:avLst/>
              <a:gdLst>
                <a:gd name="connsiteX0" fmla="*/ 152694 w 152245"/>
                <a:gd name="connsiteY0" fmla="*/ 1791 h 107467"/>
                <a:gd name="connsiteX1" fmla="*/ 152694 w 152245"/>
                <a:gd name="connsiteY1" fmla="*/ 1343 h 107467"/>
                <a:gd name="connsiteX2" fmla="*/ 152246 w 152245"/>
                <a:gd name="connsiteY2" fmla="*/ 896 h 107467"/>
                <a:gd name="connsiteX3" fmla="*/ 152246 w 152245"/>
                <a:gd name="connsiteY3" fmla="*/ 448 h 107467"/>
                <a:gd name="connsiteX4" fmla="*/ 152246 w 152245"/>
                <a:gd name="connsiteY4" fmla="*/ 448 h 107467"/>
                <a:gd name="connsiteX5" fmla="*/ 151798 w 152245"/>
                <a:gd name="connsiteY5" fmla="*/ 0 h 107467"/>
                <a:gd name="connsiteX6" fmla="*/ 151350 w 152245"/>
                <a:gd name="connsiteY6" fmla="*/ 0 h 107467"/>
                <a:gd name="connsiteX7" fmla="*/ 150903 w 152245"/>
                <a:gd name="connsiteY7" fmla="*/ 0 h 107467"/>
                <a:gd name="connsiteX8" fmla="*/ 150455 w 152245"/>
                <a:gd name="connsiteY8" fmla="*/ 0 h 107467"/>
                <a:gd name="connsiteX9" fmla="*/ 150455 w 152245"/>
                <a:gd name="connsiteY9" fmla="*/ 0 h 107467"/>
                <a:gd name="connsiteX10" fmla="*/ 150007 w 152245"/>
                <a:gd name="connsiteY10" fmla="*/ 0 h 107467"/>
                <a:gd name="connsiteX11" fmla="*/ 149559 w 152245"/>
                <a:gd name="connsiteY11" fmla="*/ 0 h 107467"/>
                <a:gd name="connsiteX12" fmla="*/ 149111 w 152245"/>
                <a:gd name="connsiteY12" fmla="*/ 448 h 107467"/>
                <a:gd name="connsiteX13" fmla="*/ 148664 w 152245"/>
                <a:gd name="connsiteY13" fmla="*/ 448 h 107467"/>
                <a:gd name="connsiteX14" fmla="*/ 76123 w 152245"/>
                <a:gd name="connsiteY14" fmla="*/ 64928 h 107467"/>
                <a:gd name="connsiteX15" fmla="*/ 40748 w 152245"/>
                <a:gd name="connsiteY15" fmla="*/ 38509 h 107467"/>
                <a:gd name="connsiteX16" fmla="*/ 40748 w 152245"/>
                <a:gd name="connsiteY16" fmla="*/ 38509 h 107467"/>
                <a:gd name="connsiteX17" fmla="*/ 39405 w 152245"/>
                <a:gd name="connsiteY17" fmla="*/ 38061 h 107467"/>
                <a:gd name="connsiteX18" fmla="*/ 39405 w 152245"/>
                <a:gd name="connsiteY18" fmla="*/ 38061 h 107467"/>
                <a:gd name="connsiteX19" fmla="*/ 38061 w 152245"/>
                <a:gd name="connsiteY19" fmla="*/ 38509 h 107467"/>
                <a:gd name="connsiteX20" fmla="*/ 38061 w 152245"/>
                <a:gd name="connsiteY20" fmla="*/ 38509 h 107467"/>
                <a:gd name="connsiteX21" fmla="*/ 896 w 152245"/>
                <a:gd name="connsiteY21" fmla="*/ 66272 h 107467"/>
                <a:gd name="connsiteX22" fmla="*/ 896 w 152245"/>
                <a:gd name="connsiteY22" fmla="*/ 66272 h 107467"/>
                <a:gd name="connsiteX23" fmla="*/ 448 w 152245"/>
                <a:gd name="connsiteY23" fmla="*/ 66719 h 107467"/>
                <a:gd name="connsiteX24" fmla="*/ 0 w 152245"/>
                <a:gd name="connsiteY24" fmla="*/ 67167 h 107467"/>
                <a:gd name="connsiteX25" fmla="*/ 0 w 152245"/>
                <a:gd name="connsiteY25" fmla="*/ 67615 h 107467"/>
                <a:gd name="connsiteX26" fmla="*/ 0 w 152245"/>
                <a:gd name="connsiteY26" fmla="*/ 68063 h 107467"/>
                <a:gd name="connsiteX27" fmla="*/ 0 w 152245"/>
                <a:gd name="connsiteY27" fmla="*/ 68063 h 107467"/>
                <a:gd name="connsiteX28" fmla="*/ 0 w 152245"/>
                <a:gd name="connsiteY28" fmla="*/ 108363 h 107467"/>
                <a:gd name="connsiteX29" fmla="*/ 2239 w 152245"/>
                <a:gd name="connsiteY29" fmla="*/ 110602 h 107467"/>
                <a:gd name="connsiteX30" fmla="*/ 4478 w 152245"/>
                <a:gd name="connsiteY30" fmla="*/ 108363 h 107467"/>
                <a:gd name="connsiteX31" fmla="*/ 4478 w 152245"/>
                <a:gd name="connsiteY31" fmla="*/ 69406 h 107467"/>
                <a:gd name="connsiteX32" fmla="*/ 37166 w 152245"/>
                <a:gd name="connsiteY32" fmla="*/ 45226 h 107467"/>
                <a:gd name="connsiteX33" fmla="*/ 37166 w 152245"/>
                <a:gd name="connsiteY33" fmla="*/ 108811 h 107467"/>
                <a:gd name="connsiteX34" fmla="*/ 39405 w 152245"/>
                <a:gd name="connsiteY34" fmla="*/ 111050 h 107467"/>
                <a:gd name="connsiteX35" fmla="*/ 41644 w 152245"/>
                <a:gd name="connsiteY35" fmla="*/ 108811 h 107467"/>
                <a:gd name="connsiteX36" fmla="*/ 41644 w 152245"/>
                <a:gd name="connsiteY36" fmla="*/ 45226 h 107467"/>
                <a:gd name="connsiteX37" fmla="*/ 74332 w 152245"/>
                <a:gd name="connsiteY37" fmla="*/ 69406 h 107467"/>
                <a:gd name="connsiteX38" fmla="*/ 74332 w 152245"/>
                <a:gd name="connsiteY38" fmla="*/ 108363 h 107467"/>
                <a:gd name="connsiteX39" fmla="*/ 76571 w 152245"/>
                <a:gd name="connsiteY39" fmla="*/ 110602 h 107467"/>
                <a:gd name="connsiteX40" fmla="*/ 78810 w 152245"/>
                <a:gd name="connsiteY40" fmla="*/ 108363 h 107467"/>
                <a:gd name="connsiteX41" fmla="*/ 78810 w 152245"/>
                <a:gd name="connsiteY41" fmla="*/ 68958 h 107467"/>
                <a:gd name="connsiteX42" fmla="*/ 111498 w 152245"/>
                <a:gd name="connsiteY42" fmla="*/ 39853 h 107467"/>
                <a:gd name="connsiteX43" fmla="*/ 111498 w 152245"/>
                <a:gd name="connsiteY43" fmla="*/ 107915 h 107467"/>
                <a:gd name="connsiteX44" fmla="*/ 113737 w 152245"/>
                <a:gd name="connsiteY44" fmla="*/ 110154 h 107467"/>
                <a:gd name="connsiteX45" fmla="*/ 115976 w 152245"/>
                <a:gd name="connsiteY45" fmla="*/ 107915 h 107467"/>
                <a:gd name="connsiteX46" fmla="*/ 115976 w 152245"/>
                <a:gd name="connsiteY46" fmla="*/ 37166 h 107467"/>
                <a:gd name="connsiteX47" fmla="*/ 115528 w 152245"/>
                <a:gd name="connsiteY47" fmla="*/ 36270 h 107467"/>
                <a:gd name="connsiteX48" fmla="*/ 148216 w 152245"/>
                <a:gd name="connsiteY48" fmla="*/ 7165 h 107467"/>
                <a:gd name="connsiteX49" fmla="*/ 148216 w 152245"/>
                <a:gd name="connsiteY49" fmla="*/ 108363 h 107467"/>
                <a:gd name="connsiteX50" fmla="*/ 150455 w 152245"/>
                <a:gd name="connsiteY50" fmla="*/ 110602 h 107467"/>
                <a:gd name="connsiteX51" fmla="*/ 152694 w 152245"/>
                <a:gd name="connsiteY51" fmla="*/ 108363 h 107467"/>
                <a:gd name="connsiteX52" fmla="*/ 152694 w 152245"/>
                <a:gd name="connsiteY52" fmla="*/ 1791 h 107467"/>
                <a:gd name="connsiteX53" fmla="*/ 152694 w 152245"/>
                <a:gd name="connsiteY53" fmla="*/ 1791 h 107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52245" h="107467">
                  <a:moveTo>
                    <a:pt x="152694" y="1791"/>
                  </a:moveTo>
                  <a:cubicBezTo>
                    <a:pt x="152694" y="1791"/>
                    <a:pt x="152694" y="1343"/>
                    <a:pt x="152694" y="1343"/>
                  </a:cubicBezTo>
                  <a:cubicBezTo>
                    <a:pt x="152694" y="1343"/>
                    <a:pt x="152694" y="896"/>
                    <a:pt x="152246" y="896"/>
                  </a:cubicBezTo>
                  <a:cubicBezTo>
                    <a:pt x="152246" y="896"/>
                    <a:pt x="152246" y="896"/>
                    <a:pt x="152246" y="448"/>
                  </a:cubicBezTo>
                  <a:cubicBezTo>
                    <a:pt x="152246" y="448"/>
                    <a:pt x="152246" y="448"/>
                    <a:pt x="152246" y="448"/>
                  </a:cubicBezTo>
                  <a:cubicBezTo>
                    <a:pt x="152246" y="448"/>
                    <a:pt x="151798" y="448"/>
                    <a:pt x="151798" y="0"/>
                  </a:cubicBezTo>
                  <a:cubicBezTo>
                    <a:pt x="151798" y="0"/>
                    <a:pt x="151798" y="0"/>
                    <a:pt x="151350" y="0"/>
                  </a:cubicBezTo>
                  <a:cubicBezTo>
                    <a:pt x="151350" y="0"/>
                    <a:pt x="150903" y="0"/>
                    <a:pt x="150903" y="0"/>
                  </a:cubicBezTo>
                  <a:cubicBezTo>
                    <a:pt x="150903" y="0"/>
                    <a:pt x="150455" y="0"/>
                    <a:pt x="150455" y="0"/>
                  </a:cubicBezTo>
                  <a:cubicBezTo>
                    <a:pt x="150455" y="0"/>
                    <a:pt x="150455" y="0"/>
                    <a:pt x="150455" y="0"/>
                  </a:cubicBezTo>
                  <a:cubicBezTo>
                    <a:pt x="150455" y="0"/>
                    <a:pt x="150455" y="0"/>
                    <a:pt x="150007" y="0"/>
                  </a:cubicBezTo>
                  <a:cubicBezTo>
                    <a:pt x="150007" y="0"/>
                    <a:pt x="149559" y="0"/>
                    <a:pt x="149559" y="0"/>
                  </a:cubicBezTo>
                  <a:cubicBezTo>
                    <a:pt x="149559" y="0"/>
                    <a:pt x="149111" y="0"/>
                    <a:pt x="149111" y="448"/>
                  </a:cubicBezTo>
                  <a:cubicBezTo>
                    <a:pt x="149111" y="448"/>
                    <a:pt x="149111" y="448"/>
                    <a:pt x="148664" y="448"/>
                  </a:cubicBezTo>
                  <a:lnTo>
                    <a:pt x="76123" y="64928"/>
                  </a:lnTo>
                  <a:lnTo>
                    <a:pt x="40748" y="38509"/>
                  </a:lnTo>
                  <a:cubicBezTo>
                    <a:pt x="40748" y="38509"/>
                    <a:pt x="40748" y="38509"/>
                    <a:pt x="40748" y="38509"/>
                  </a:cubicBezTo>
                  <a:cubicBezTo>
                    <a:pt x="40300" y="38061"/>
                    <a:pt x="39853" y="38061"/>
                    <a:pt x="39405" y="38061"/>
                  </a:cubicBezTo>
                  <a:cubicBezTo>
                    <a:pt x="39405" y="38061"/>
                    <a:pt x="39405" y="38061"/>
                    <a:pt x="39405" y="38061"/>
                  </a:cubicBezTo>
                  <a:cubicBezTo>
                    <a:pt x="38957" y="38061"/>
                    <a:pt x="38509" y="38061"/>
                    <a:pt x="38061" y="38509"/>
                  </a:cubicBezTo>
                  <a:cubicBezTo>
                    <a:pt x="38061" y="38509"/>
                    <a:pt x="38061" y="38509"/>
                    <a:pt x="38061" y="38509"/>
                  </a:cubicBezTo>
                  <a:lnTo>
                    <a:pt x="896" y="66272"/>
                  </a:lnTo>
                  <a:cubicBezTo>
                    <a:pt x="896" y="66272"/>
                    <a:pt x="896" y="66272"/>
                    <a:pt x="896" y="66272"/>
                  </a:cubicBezTo>
                  <a:cubicBezTo>
                    <a:pt x="896" y="66272"/>
                    <a:pt x="896" y="66272"/>
                    <a:pt x="448" y="66719"/>
                  </a:cubicBezTo>
                  <a:cubicBezTo>
                    <a:pt x="448" y="66719"/>
                    <a:pt x="448" y="66719"/>
                    <a:pt x="0" y="67167"/>
                  </a:cubicBezTo>
                  <a:cubicBezTo>
                    <a:pt x="0" y="67167"/>
                    <a:pt x="0" y="67615"/>
                    <a:pt x="0" y="67615"/>
                  </a:cubicBezTo>
                  <a:cubicBezTo>
                    <a:pt x="0" y="67615"/>
                    <a:pt x="0" y="68063"/>
                    <a:pt x="0" y="68063"/>
                  </a:cubicBezTo>
                  <a:cubicBezTo>
                    <a:pt x="0" y="68063"/>
                    <a:pt x="0" y="68063"/>
                    <a:pt x="0" y="68063"/>
                  </a:cubicBezTo>
                  <a:lnTo>
                    <a:pt x="0" y="108363"/>
                  </a:lnTo>
                  <a:cubicBezTo>
                    <a:pt x="0" y="109707"/>
                    <a:pt x="896" y="110602"/>
                    <a:pt x="2239" y="110602"/>
                  </a:cubicBezTo>
                  <a:cubicBezTo>
                    <a:pt x="3582" y="110602"/>
                    <a:pt x="4478" y="109707"/>
                    <a:pt x="4478" y="108363"/>
                  </a:cubicBezTo>
                  <a:lnTo>
                    <a:pt x="4478" y="69406"/>
                  </a:lnTo>
                  <a:lnTo>
                    <a:pt x="37166" y="45226"/>
                  </a:lnTo>
                  <a:lnTo>
                    <a:pt x="37166" y="108811"/>
                  </a:lnTo>
                  <a:cubicBezTo>
                    <a:pt x="37166" y="110154"/>
                    <a:pt x="38061" y="111050"/>
                    <a:pt x="39405" y="111050"/>
                  </a:cubicBezTo>
                  <a:cubicBezTo>
                    <a:pt x="40748" y="111050"/>
                    <a:pt x="41644" y="110154"/>
                    <a:pt x="41644" y="108811"/>
                  </a:cubicBezTo>
                  <a:lnTo>
                    <a:pt x="41644" y="45226"/>
                  </a:lnTo>
                  <a:lnTo>
                    <a:pt x="74332" y="69406"/>
                  </a:lnTo>
                  <a:lnTo>
                    <a:pt x="74332" y="108363"/>
                  </a:lnTo>
                  <a:cubicBezTo>
                    <a:pt x="74332" y="109707"/>
                    <a:pt x="75227" y="110602"/>
                    <a:pt x="76571" y="110602"/>
                  </a:cubicBezTo>
                  <a:cubicBezTo>
                    <a:pt x="77914" y="110602"/>
                    <a:pt x="78810" y="109707"/>
                    <a:pt x="78810" y="108363"/>
                  </a:cubicBezTo>
                  <a:lnTo>
                    <a:pt x="78810" y="68958"/>
                  </a:lnTo>
                  <a:lnTo>
                    <a:pt x="111498" y="39853"/>
                  </a:lnTo>
                  <a:lnTo>
                    <a:pt x="111498" y="107915"/>
                  </a:lnTo>
                  <a:cubicBezTo>
                    <a:pt x="111498" y="109259"/>
                    <a:pt x="112393" y="110154"/>
                    <a:pt x="113737" y="110154"/>
                  </a:cubicBezTo>
                  <a:cubicBezTo>
                    <a:pt x="115080" y="110154"/>
                    <a:pt x="115976" y="109259"/>
                    <a:pt x="115976" y="107915"/>
                  </a:cubicBezTo>
                  <a:lnTo>
                    <a:pt x="115976" y="37166"/>
                  </a:lnTo>
                  <a:cubicBezTo>
                    <a:pt x="115976" y="36718"/>
                    <a:pt x="115976" y="36270"/>
                    <a:pt x="115528" y="36270"/>
                  </a:cubicBezTo>
                  <a:lnTo>
                    <a:pt x="148216" y="7165"/>
                  </a:lnTo>
                  <a:lnTo>
                    <a:pt x="148216" y="108363"/>
                  </a:lnTo>
                  <a:cubicBezTo>
                    <a:pt x="148216" y="109707"/>
                    <a:pt x="149111" y="110602"/>
                    <a:pt x="150455" y="110602"/>
                  </a:cubicBezTo>
                  <a:cubicBezTo>
                    <a:pt x="151798" y="110602"/>
                    <a:pt x="152694" y="109707"/>
                    <a:pt x="152694" y="108363"/>
                  </a:cubicBezTo>
                  <a:lnTo>
                    <a:pt x="152694" y="1791"/>
                  </a:lnTo>
                  <a:cubicBezTo>
                    <a:pt x="152694" y="1791"/>
                    <a:pt x="152694" y="1791"/>
                    <a:pt x="152694" y="1791"/>
                  </a:cubicBezTo>
                  <a:close/>
                </a:path>
              </a:pathLst>
            </a:custGeom>
            <a:solidFill>
              <a:schemeClr val="bg1"/>
            </a:solidFill>
            <a:ln w="24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grpSp>
      <p:sp>
        <p:nvSpPr>
          <p:cNvPr id="53" name="Rectangle 52">
            <a:extLst>
              <a:ext uri="{FF2B5EF4-FFF2-40B4-BE49-F238E27FC236}">
                <a16:creationId xmlns:a16="http://schemas.microsoft.com/office/drawing/2014/main" id="{E8766421-4441-FD17-9BF3-F74D8BB96783}"/>
              </a:ext>
            </a:extLst>
          </p:cNvPr>
          <p:cNvSpPr/>
          <p:nvPr/>
        </p:nvSpPr>
        <p:spPr>
          <a:xfrm>
            <a:off x="419743" y="4992961"/>
            <a:ext cx="2934373" cy="215444"/>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100" normalizeH="0" baseline="0" noProof="0">
                <a:ln>
                  <a:noFill/>
                </a:ln>
                <a:solidFill>
                  <a:srgbClr val="12ABDB"/>
                </a:solidFill>
                <a:effectLst/>
                <a:uLnTx/>
                <a:uFillTx/>
                <a:latin typeface="Ubuntu"/>
                <a:ea typeface="+mn-ea"/>
                <a:cs typeface="+mn-cs"/>
              </a:rPr>
              <a:t>IMPACT / RECOMMENDATION</a:t>
            </a:r>
          </a:p>
        </p:txBody>
      </p:sp>
      <p:sp>
        <p:nvSpPr>
          <p:cNvPr id="3" name="TextBox 2">
            <a:extLst>
              <a:ext uri="{FF2B5EF4-FFF2-40B4-BE49-F238E27FC236}">
                <a16:creationId xmlns:a16="http://schemas.microsoft.com/office/drawing/2014/main" id="{F84C3771-74DA-DCB2-5895-55154757DCB0}"/>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4" name="Date Placeholder 5">
            <a:extLst>
              <a:ext uri="{FF2B5EF4-FFF2-40B4-BE49-F238E27FC236}">
                <a16:creationId xmlns:a16="http://schemas.microsoft.com/office/drawing/2014/main" id="{53641A95-C6A0-CD14-045B-B1A4F309919F}"/>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8" name="Date Placeholder 5">
            <a:extLst>
              <a:ext uri="{FF2B5EF4-FFF2-40B4-BE49-F238E27FC236}">
                <a16:creationId xmlns:a16="http://schemas.microsoft.com/office/drawing/2014/main" id="{60138F51-26E6-BDE4-D77D-294A871AB94E}"/>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31</a:t>
            </a:r>
          </a:p>
        </p:txBody>
      </p:sp>
    </p:spTree>
    <p:extLst>
      <p:ext uri="{BB962C8B-B14F-4D97-AF65-F5344CB8AC3E}">
        <p14:creationId xmlns:p14="http://schemas.microsoft.com/office/powerpoint/2010/main" val="568580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72AA0906-E9A0-5B2B-6AEE-AACC6800704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95905713-6E26-127C-00C3-4EFBE375F2AA}"/>
              </a:ext>
            </a:extLst>
          </p:cNvPr>
          <p:cNvSpPr>
            <a:spLocks noGrp="1"/>
          </p:cNvSpPr>
          <p:nvPr>
            <p:ph type="title"/>
          </p:nvPr>
        </p:nvSpPr>
        <p:spPr>
          <a:xfrm>
            <a:off x="550863" y="260350"/>
            <a:ext cx="10187159" cy="792163"/>
          </a:xfrm>
        </p:spPr>
        <p:txBody>
          <a:bodyPr anchor="t" anchorCtr="0"/>
          <a:lstStyle/>
          <a:p>
            <a:r>
              <a:rPr lang="en-US" sz="2400"/>
              <a:t>Competitive benchmarking assessment study for a leading insurance player</a:t>
            </a:r>
            <a:endParaRPr lang="en-IN" sz="2400"/>
          </a:p>
        </p:txBody>
      </p:sp>
      <p:pic>
        <p:nvPicPr>
          <p:cNvPr id="10" name="Picture 9">
            <a:extLst>
              <a:ext uri="{FF2B5EF4-FFF2-40B4-BE49-F238E27FC236}">
                <a16:creationId xmlns:a16="http://schemas.microsoft.com/office/drawing/2014/main" id="{1FFD0AB5-343B-654F-7E8A-3847162A713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l="23922" t="14629" r="18704" b="14629"/>
          <a:stretch/>
        </p:blipFill>
        <p:spPr>
          <a:xfrm flipH="1">
            <a:off x="8077200" y="2255578"/>
            <a:ext cx="4114800" cy="2856441"/>
          </a:xfrm>
          <a:prstGeom prst="rect">
            <a:avLst/>
          </a:prstGeom>
        </p:spPr>
      </p:pic>
      <p:sp>
        <p:nvSpPr>
          <p:cNvPr id="11" name="Rectangle 10">
            <a:extLst>
              <a:ext uri="{FF2B5EF4-FFF2-40B4-BE49-F238E27FC236}">
                <a16:creationId xmlns:a16="http://schemas.microsoft.com/office/drawing/2014/main" id="{405345F4-6305-A994-2988-ACE8FC6809F2}"/>
              </a:ext>
            </a:extLst>
          </p:cNvPr>
          <p:cNvSpPr/>
          <p:nvPr/>
        </p:nvSpPr>
        <p:spPr>
          <a:xfrm>
            <a:off x="419744" y="2275605"/>
            <a:ext cx="2232000" cy="2052000"/>
          </a:xfrm>
          <a:prstGeom prst="rect">
            <a:avLst/>
          </a:prstGeom>
        </p:spPr>
        <p:txBody>
          <a:bodyPr wrap="square" lIns="0" tIns="0" rIns="0" bIns="0" numCol="1">
            <a:noAutofit/>
          </a:bodyPr>
          <a:lstStyle/>
          <a:p>
            <a:pPr marL="171450" marR="0" lvl="1" indent="-171450" algn="l" defTabSz="914400" rtl="0" eaLnBrk="1" fontAlgn="auto" latinLnBrk="0" hangingPunct="1">
              <a:lnSpc>
                <a:spcPct val="100000"/>
              </a:lnSpc>
              <a:spcBef>
                <a:spcPts val="200"/>
              </a:spcBef>
              <a:spcAft>
                <a:spcPts val="200"/>
              </a:spcAft>
              <a:buClr>
                <a:srgbClr val="FFFFFF"/>
              </a:buClr>
              <a:buSzPct val="100000"/>
              <a:buFont typeface="Wingdings" panose="05000000000000000000" pitchFamily="2" charset="2"/>
              <a:buChar char="§"/>
              <a:tabLst/>
              <a:defRPr/>
            </a:pPr>
            <a:r>
              <a:rPr kumimoji="0" lang="en-US" sz="1050" b="0" i="0" u="none" strike="noStrike" kern="1200" cap="none" spc="0" normalizeH="0" baseline="0" noProof="0">
                <a:ln>
                  <a:noFill/>
                </a:ln>
                <a:solidFill>
                  <a:srgbClr val="FFFFFF"/>
                </a:solidFill>
                <a:effectLst/>
                <a:uLnTx/>
                <a:uFillTx/>
                <a:latin typeface="Ubuntu"/>
                <a:ea typeface="+mn-ea"/>
                <a:cs typeface="Calibri" pitchFamily="34" charset="0"/>
              </a:rPr>
              <a:t>Understand the digital disruption across the value chain of insurance industry in Asia-Pacific region</a:t>
            </a:r>
          </a:p>
          <a:p>
            <a:pPr marL="171450" lvl="1" indent="-171450">
              <a:spcBef>
                <a:spcPts val="200"/>
              </a:spcBef>
              <a:spcAft>
                <a:spcPts val="200"/>
              </a:spcAft>
              <a:buClr>
                <a:srgbClr val="FFFFFF"/>
              </a:buClr>
              <a:buSzPct val="100000"/>
              <a:buFont typeface="Wingdings" panose="05000000000000000000" pitchFamily="2" charset="2"/>
              <a:buChar char="§"/>
              <a:defRPr/>
            </a:pPr>
            <a:r>
              <a:rPr kumimoji="0" lang="en-US" sz="1050" b="0" i="0" u="none" strike="noStrike" kern="1200" cap="none" spc="0" normalizeH="0" baseline="0" noProof="0">
                <a:ln>
                  <a:noFill/>
                </a:ln>
                <a:solidFill>
                  <a:srgbClr val="FFFFFF"/>
                </a:solidFill>
                <a:effectLst/>
                <a:uLnTx/>
                <a:uFillTx/>
                <a:latin typeface="Ubuntu"/>
                <a:ea typeface="+mn-ea"/>
                <a:cs typeface="Calibri" pitchFamily="34" charset="0"/>
              </a:rPr>
              <a:t>Conduct benchmarking study on insurance </a:t>
            </a:r>
            <a:r>
              <a:rPr lang="en-US" sz="1050">
                <a:solidFill>
                  <a:srgbClr val="FFFFFF"/>
                </a:solidFill>
                <a:cs typeface="Calibri" pitchFamily="34" charset="0"/>
              </a:rPr>
              <a:t>technology (</a:t>
            </a:r>
            <a:r>
              <a:rPr lang="en-US" sz="1050" err="1">
                <a:solidFill>
                  <a:srgbClr val="FFFFFF"/>
                </a:solidFill>
                <a:cs typeface="Calibri" pitchFamily="34" charset="0"/>
              </a:rPr>
              <a:t>insurtech</a:t>
            </a:r>
            <a:r>
              <a:rPr lang="en-US" sz="1050">
                <a:solidFill>
                  <a:srgbClr val="FFFFFF"/>
                </a:solidFill>
                <a:cs typeface="Calibri" pitchFamily="34" charset="0"/>
              </a:rPr>
              <a:t>) landscape</a:t>
            </a:r>
            <a:endParaRPr kumimoji="0" lang="en-US" sz="1050" b="0" i="0" u="none" strike="noStrike" kern="1200" cap="none" spc="0" normalizeH="0" baseline="0" noProof="0">
              <a:ln>
                <a:noFill/>
              </a:ln>
              <a:solidFill>
                <a:srgbClr val="FFFFFF"/>
              </a:solidFill>
              <a:effectLst/>
              <a:uLnTx/>
              <a:uFillTx/>
              <a:latin typeface="Ubuntu"/>
              <a:ea typeface="+mn-ea"/>
              <a:cs typeface="Calibri" pitchFamily="34" charset="0"/>
            </a:endParaRPr>
          </a:p>
          <a:p>
            <a:pPr marL="171450" marR="0" lvl="1" indent="-171450" algn="l" defTabSz="914400" rtl="0" eaLnBrk="1" fontAlgn="auto" latinLnBrk="0" hangingPunct="1">
              <a:lnSpc>
                <a:spcPct val="100000"/>
              </a:lnSpc>
              <a:spcBef>
                <a:spcPts val="200"/>
              </a:spcBef>
              <a:spcAft>
                <a:spcPts val="200"/>
              </a:spcAft>
              <a:buClr>
                <a:srgbClr val="FFFFFF"/>
              </a:buClr>
              <a:buSzPct val="100000"/>
              <a:buFont typeface="Wingdings" panose="05000000000000000000" pitchFamily="2" charset="2"/>
              <a:buChar char="§"/>
              <a:tabLst/>
              <a:defRPr/>
            </a:pPr>
            <a:r>
              <a:rPr kumimoji="0" lang="en-US" sz="1050" b="0" i="0" u="none" strike="noStrike" kern="1200" cap="none" spc="0" normalizeH="0" baseline="0" noProof="0">
                <a:ln>
                  <a:noFill/>
                </a:ln>
                <a:solidFill>
                  <a:srgbClr val="FFFFFF"/>
                </a:solidFill>
                <a:effectLst/>
                <a:uLnTx/>
                <a:uFillTx/>
                <a:latin typeface="Ubuntu"/>
                <a:ea typeface="+mn-ea"/>
                <a:cs typeface="Calibri" pitchFamily="34" charset="0"/>
              </a:rPr>
              <a:t>Identify market size and growth outlook for overall insurance market in APAC</a:t>
            </a:r>
          </a:p>
        </p:txBody>
      </p:sp>
      <p:sp>
        <p:nvSpPr>
          <p:cNvPr id="12" name="Rectangle 11">
            <a:extLst>
              <a:ext uri="{FF2B5EF4-FFF2-40B4-BE49-F238E27FC236}">
                <a16:creationId xmlns:a16="http://schemas.microsoft.com/office/drawing/2014/main" id="{901D31A0-9A4D-D58A-1AC6-1F7E64F306EE}"/>
              </a:ext>
            </a:extLst>
          </p:cNvPr>
          <p:cNvSpPr/>
          <p:nvPr/>
        </p:nvSpPr>
        <p:spPr>
          <a:xfrm>
            <a:off x="419744" y="1941154"/>
            <a:ext cx="2232000" cy="215444"/>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100" normalizeH="0" baseline="0" noProof="0">
                <a:ln>
                  <a:noFill/>
                </a:ln>
                <a:solidFill>
                  <a:srgbClr val="12ABDB"/>
                </a:solidFill>
                <a:effectLst/>
                <a:uLnTx/>
                <a:uFillTx/>
                <a:latin typeface="Ubuntu"/>
                <a:ea typeface="+mn-ea"/>
                <a:cs typeface="+mn-cs"/>
              </a:rPr>
              <a:t>OBJECTIVE</a:t>
            </a:r>
          </a:p>
        </p:txBody>
      </p:sp>
      <p:sp>
        <p:nvSpPr>
          <p:cNvPr id="13" name="Rectangle 12">
            <a:extLst>
              <a:ext uri="{FF2B5EF4-FFF2-40B4-BE49-F238E27FC236}">
                <a16:creationId xmlns:a16="http://schemas.microsoft.com/office/drawing/2014/main" id="{79787184-2465-7D77-9441-9752759B4372}"/>
              </a:ext>
            </a:extLst>
          </p:cNvPr>
          <p:cNvSpPr/>
          <p:nvPr/>
        </p:nvSpPr>
        <p:spPr>
          <a:xfrm>
            <a:off x="2972229" y="2275605"/>
            <a:ext cx="2232000" cy="2124000"/>
          </a:xfrm>
          <a:prstGeom prst="rect">
            <a:avLst/>
          </a:prstGeom>
        </p:spPr>
        <p:txBody>
          <a:bodyPr wrap="square" lIns="0" tIns="0" rIns="0" bIns="0" numCol="1">
            <a:noAutofit/>
          </a:bodyPr>
          <a:lstStyle/>
          <a:p>
            <a:pPr marL="171450" marR="0" lvl="1" indent="-171450" algn="l" defTabSz="914400" rtl="0" eaLnBrk="1" fontAlgn="auto" latinLnBrk="0" hangingPunct="1">
              <a:lnSpc>
                <a:spcPct val="100000"/>
              </a:lnSpc>
              <a:spcBef>
                <a:spcPts val="200"/>
              </a:spcBef>
              <a:spcAft>
                <a:spcPts val="200"/>
              </a:spcAft>
              <a:buClr>
                <a:srgbClr val="FFFFFF"/>
              </a:buClr>
              <a:buSzPct val="100000"/>
              <a:buFont typeface="Wingdings" panose="05000000000000000000" pitchFamily="2" charset="2"/>
              <a:buChar char="§"/>
              <a:tabLst/>
              <a:defRPr/>
            </a:pPr>
            <a:r>
              <a:rPr kumimoji="0" lang="en-US" sz="1050" b="0" i="0" u="none" strike="noStrike" kern="1200" cap="none" spc="0" normalizeH="0" baseline="0" noProof="0">
                <a:ln>
                  <a:noFill/>
                </a:ln>
                <a:solidFill>
                  <a:srgbClr val="FFFFFF"/>
                </a:solidFill>
                <a:effectLst/>
                <a:uLnTx/>
                <a:uFillTx/>
                <a:latin typeface="Ubuntu"/>
                <a:ea typeface="+mn-ea"/>
                <a:cs typeface="Calibri" pitchFamily="34" charset="0"/>
              </a:rPr>
              <a:t>Performed an extensive research to map the Capgemini offerings with client’s focus areas</a:t>
            </a:r>
          </a:p>
          <a:p>
            <a:pPr marL="171450" marR="0" lvl="1" indent="-171450" algn="l" defTabSz="914400" rtl="0" eaLnBrk="1" fontAlgn="auto" latinLnBrk="0" hangingPunct="1">
              <a:lnSpc>
                <a:spcPct val="100000"/>
              </a:lnSpc>
              <a:spcBef>
                <a:spcPts val="200"/>
              </a:spcBef>
              <a:spcAft>
                <a:spcPts val="200"/>
              </a:spcAft>
              <a:buClr>
                <a:srgbClr val="FFFFFF"/>
              </a:buClr>
              <a:buSzPct val="100000"/>
              <a:buFont typeface="Wingdings" panose="05000000000000000000" pitchFamily="2" charset="2"/>
              <a:buChar char="§"/>
              <a:tabLst/>
              <a:defRPr/>
            </a:pPr>
            <a:r>
              <a:rPr kumimoji="0" lang="en-US" sz="1050" b="0" i="0" u="none" strike="noStrike" kern="1200" cap="none" spc="0" normalizeH="0" baseline="0" noProof="0">
                <a:ln>
                  <a:noFill/>
                </a:ln>
                <a:solidFill>
                  <a:srgbClr val="FFFFFF"/>
                </a:solidFill>
                <a:effectLst/>
                <a:uLnTx/>
                <a:uFillTx/>
                <a:latin typeface="Ubuntu"/>
                <a:ea typeface="+mn-ea"/>
                <a:cs typeface="Calibri" pitchFamily="34" charset="0"/>
              </a:rPr>
              <a:t>Assessed the competitive positioning for selected insurers, considering product offerings, technology, operations and customer engagement to map service capabilities</a:t>
            </a:r>
          </a:p>
        </p:txBody>
      </p:sp>
      <p:sp>
        <p:nvSpPr>
          <p:cNvPr id="14" name="Rectangle 13">
            <a:extLst>
              <a:ext uri="{FF2B5EF4-FFF2-40B4-BE49-F238E27FC236}">
                <a16:creationId xmlns:a16="http://schemas.microsoft.com/office/drawing/2014/main" id="{36D3257B-70B7-FAC7-E61B-6990F9C5D970}"/>
              </a:ext>
            </a:extLst>
          </p:cNvPr>
          <p:cNvSpPr/>
          <p:nvPr/>
        </p:nvSpPr>
        <p:spPr>
          <a:xfrm>
            <a:off x="2972229" y="1941154"/>
            <a:ext cx="2232000" cy="215444"/>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100" normalizeH="0" baseline="0" noProof="0">
                <a:ln>
                  <a:noFill/>
                </a:ln>
                <a:solidFill>
                  <a:srgbClr val="12ABDB"/>
                </a:solidFill>
                <a:effectLst/>
                <a:uLnTx/>
                <a:uFillTx/>
                <a:latin typeface="Ubuntu"/>
                <a:ea typeface="+mn-ea"/>
                <a:cs typeface="+mn-cs"/>
              </a:rPr>
              <a:t>APPROACH</a:t>
            </a:r>
          </a:p>
        </p:txBody>
      </p:sp>
      <p:sp>
        <p:nvSpPr>
          <p:cNvPr id="15" name="Rectangle 14">
            <a:extLst>
              <a:ext uri="{FF2B5EF4-FFF2-40B4-BE49-F238E27FC236}">
                <a16:creationId xmlns:a16="http://schemas.microsoft.com/office/drawing/2014/main" id="{2D98DF49-81BC-5C62-EDA5-FD621EAB8C10}"/>
              </a:ext>
            </a:extLst>
          </p:cNvPr>
          <p:cNvSpPr/>
          <p:nvPr/>
        </p:nvSpPr>
        <p:spPr>
          <a:xfrm>
            <a:off x="5524714" y="2275604"/>
            <a:ext cx="2232000" cy="1747755"/>
          </a:xfrm>
          <a:prstGeom prst="rect">
            <a:avLst/>
          </a:prstGeom>
        </p:spPr>
        <p:txBody>
          <a:bodyPr wrap="square" lIns="0" tIns="0" rIns="0" bIns="0" numCol="1">
            <a:noAutofit/>
          </a:bodyPr>
          <a:lstStyle/>
          <a:p>
            <a:pPr marL="171450" marR="0" lvl="1" indent="-171450" algn="l" defTabSz="914400" rtl="0" eaLnBrk="1" fontAlgn="auto" latinLnBrk="0" hangingPunct="1">
              <a:lnSpc>
                <a:spcPct val="100000"/>
              </a:lnSpc>
              <a:spcBef>
                <a:spcPts val="200"/>
              </a:spcBef>
              <a:spcAft>
                <a:spcPts val="200"/>
              </a:spcAft>
              <a:buClr>
                <a:srgbClr val="FFFFFF"/>
              </a:buClr>
              <a:buSzPct val="100000"/>
              <a:buFont typeface="Wingdings" panose="05000000000000000000" pitchFamily="2" charset="2"/>
              <a:buChar char="§"/>
              <a:tabLst/>
              <a:defRPr/>
            </a:pPr>
            <a:r>
              <a:rPr kumimoji="0" lang="en-US" sz="1050" b="0" i="0" u="none" strike="noStrike" kern="1200" cap="none" spc="0" normalizeH="0" baseline="0" noProof="0">
                <a:ln>
                  <a:noFill/>
                </a:ln>
                <a:solidFill>
                  <a:srgbClr val="FFFFFF"/>
                </a:solidFill>
                <a:effectLst/>
                <a:uLnTx/>
                <a:uFillTx/>
                <a:latin typeface="Ubuntu"/>
                <a:ea typeface="+mn-ea"/>
                <a:cs typeface="Calibri" pitchFamily="34" charset="0"/>
              </a:rPr>
              <a:t>Defined best practices across the insurance value chain</a:t>
            </a:r>
          </a:p>
          <a:p>
            <a:pPr marL="171450" marR="0" lvl="1" indent="-171450" algn="l" defTabSz="914400" rtl="0" eaLnBrk="1" fontAlgn="auto" latinLnBrk="0" hangingPunct="1">
              <a:lnSpc>
                <a:spcPct val="100000"/>
              </a:lnSpc>
              <a:spcBef>
                <a:spcPts val="200"/>
              </a:spcBef>
              <a:spcAft>
                <a:spcPts val="200"/>
              </a:spcAft>
              <a:buClr>
                <a:srgbClr val="FFFFFF"/>
              </a:buClr>
              <a:buSzPct val="100000"/>
              <a:buFont typeface="Wingdings" panose="05000000000000000000" pitchFamily="2" charset="2"/>
              <a:buChar char="§"/>
              <a:tabLst/>
              <a:defRPr/>
            </a:pPr>
            <a:r>
              <a:rPr kumimoji="0" lang="en-US" sz="1050" b="0" i="0" u="none" strike="noStrike" kern="1200" cap="none" spc="0" normalizeH="0" baseline="0" noProof="0">
                <a:ln>
                  <a:noFill/>
                </a:ln>
                <a:solidFill>
                  <a:srgbClr val="FFFFFF"/>
                </a:solidFill>
                <a:effectLst/>
                <a:uLnTx/>
                <a:uFillTx/>
                <a:latin typeface="Ubuntu"/>
                <a:ea typeface="+mn-ea"/>
                <a:cs typeface="Calibri" pitchFamily="34" charset="0"/>
              </a:rPr>
              <a:t>Identified key digital, non-digital trends and challenges within insurance vertical</a:t>
            </a:r>
          </a:p>
          <a:p>
            <a:pPr marL="171450" marR="0" lvl="1" indent="-171450" algn="l" defTabSz="914400" rtl="0" eaLnBrk="1" fontAlgn="auto" latinLnBrk="0" hangingPunct="1">
              <a:lnSpc>
                <a:spcPct val="100000"/>
              </a:lnSpc>
              <a:spcBef>
                <a:spcPts val="200"/>
              </a:spcBef>
              <a:spcAft>
                <a:spcPts val="200"/>
              </a:spcAft>
              <a:buClr>
                <a:srgbClr val="FFFFFF"/>
              </a:buClr>
              <a:buSzPct val="100000"/>
              <a:buFont typeface="Wingdings" panose="05000000000000000000" pitchFamily="2" charset="2"/>
              <a:buChar char="§"/>
              <a:tabLst/>
              <a:defRPr/>
            </a:pPr>
            <a:r>
              <a:rPr kumimoji="0" lang="en-US" sz="1050" b="0" i="0" u="none" strike="noStrike" kern="1200" cap="none" spc="0" normalizeH="0" baseline="0" noProof="0">
                <a:ln>
                  <a:noFill/>
                </a:ln>
                <a:solidFill>
                  <a:srgbClr val="FFFFFF"/>
                </a:solidFill>
                <a:effectLst/>
                <a:uLnTx/>
                <a:uFillTx/>
                <a:latin typeface="Ubuntu"/>
                <a:ea typeface="+mn-ea"/>
                <a:cs typeface="Calibri" pitchFamily="34" charset="0"/>
              </a:rPr>
              <a:t>Ranked key players in the Asia Pacific region according to parameters, such as technology, operations and customers</a:t>
            </a:r>
          </a:p>
        </p:txBody>
      </p:sp>
      <p:sp>
        <p:nvSpPr>
          <p:cNvPr id="16" name="Rectangle 15">
            <a:extLst>
              <a:ext uri="{FF2B5EF4-FFF2-40B4-BE49-F238E27FC236}">
                <a16:creationId xmlns:a16="http://schemas.microsoft.com/office/drawing/2014/main" id="{31F15B8E-0C64-CDA8-4F06-CAE04510CF14}"/>
              </a:ext>
            </a:extLst>
          </p:cNvPr>
          <p:cNvSpPr/>
          <p:nvPr/>
        </p:nvSpPr>
        <p:spPr>
          <a:xfrm>
            <a:off x="5524714" y="1941154"/>
            <a:ext cx="2232000" cy="215444"/>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100" normalizeH="0" baseline="0" noProof="0">
                <a:ln>
                  <a:noFill/>
                </a:ln>
                <a:solidFill>
                  <a:srgbClr val="12ABDB"/>
                </a:solidFill>
                <a:effectLst/>
                <a:uLnTx/>
                <a:uFillTx/>
                <a:latin typeface="Ubuntu"/>
                <a:ea typeface="+mn-ea"/>
                <a:cs typeface="+mn-cs"/>
              </a:rPr>
              <a:t>SOLUTION</a:t>
            </a:r>
          </a:p>
        </p:txBody>
      </p:sp>
      <p:grpSp>
        <p:nvGrpSpPr>
          <p:cNvPr id="17" name="Group 16">
            <a:extLst>
              <a:ext uri="{FF2B5EF4-FFF2-40B4-BE49-F238E27FC236}">
                <a16:creationId xmlns:a16="http://schemas.microsoft.com/office/drawing/2014/main" id="{A30258A7-153F-888D-739E-C7D532B7F621}"/>
              </a:ext>
            </a:extLst>
          </p:cNvPr>
          <p:cNvGrpSpPr/>
          <p:nvPr/>
        </p:nvGrpSpPr>
        <p:grpSpPr>
          <a:xfrm>
            <a:off x="405607" y="1337545"/>
            <a:ext cx="518164" cy="520814"/>
            <a:chOff x="4150222" y="1190829"/>
            <a:chExt cx="395631" cy="397656"/>
          </a:xfrm>
        </p:grpSpPr>
        <p:sp>
          <p:nvSpPr>
            <p:cNvPr id="18" name="Oval 17">
              <a:extLst>
                <a:ext uri="{FF2B5EF4-FFF2-40B4-BE49-F238E27FC236}">
                  <a16:creationId xmlns:a16="http://schemas.microsoft.com/office/drawing/2014/main" id="{2F747ED9-8640-182E-FF45-221738F26552}"/>
                </a:ext>
              </a:extLst>
            </p:cNvPr>
            <p:cNvSpPr/>
            <p:nvPr/>
          </p:nvSpPr>
          <p:spPr>
            <a:xfrm>
              <a:off x="4150222" y="1190829"/>
              <a:ext cx="395631" cy="397656"/>
            </a:xfrm>
            <a:prstGeom prst="ellipse">
              <a:avLst/>
            </a:prstGeom>
            <a:solidFill>
              <a:schemeClr val="accent1">
                <a:lumMod val="60000"/>
                <a:lumOff val="40000"/>
                <a:alpha val="12000"/>
              </a:schemeClr>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a:ea typeface="+mn-ea"/>
                <a:cs typeface="+mn-cs"/>
              </a:endParaRPr>
            </a:p>
          </p:txBody>
        </p:sp>
        <p:pic>
          <p:nvPicPr>
            <p:cNvPr id="19" name="Graphic 18" descr="Bullseye outline">
              <a:extLst>
                <a:ext uri="{FF2B5EF4-FFF2-40B4-BE49-F238E27FC236}">
                  <a16:creationId xmlns:a16="http://schemas.microsoft.com/office/drawing/2014/main" id="{19E35325-C02C-579C-97EB-1D20CDDDD3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27642" y="1269262"/>
              <a:ext cx="240790" cy="240790"/>
            </a:xfrm>
            <a:prstGeom prst="rect">
              <a:avLst/>
            </a:prstGeom>
          </p:spPr>
        </p:pic>
      </p:grpSp>
      <p:sp>
        <p:nvSpPr>
          <p:cNvPr id="20" name="Oval 19">
            <a:extLst>
              <a:ext uri="{FF2B5EF4-FFF2-40B4-BE49-F238E27FC236}">
                <a16:creationId xmlns:a16="http://schemas.microsoft.com/office/drawing/2014/main" id="{60D7953F-D984-DEC9-BA22-A245DE6CE8FC}"/>
              </a:ext>
            </a:extLst>
          </p:cNvPr>
          <p:cNvSpPr/>
          <p:nvPr/>
        </p:nvSpPr>
        <p:spPr>
          <a:xfrm>
            <a:off x="2972229" y="1337545"/>
            <a:ext cx="518164" cy="520814"/>
          </a:xfrm>
          <a:prstGeom prst="ellipse">
            <a:avLst/>
          </a:prstGeom>
          <a:solidFill>
            <a:schemeClr val="accent1">
              <a:lumMod val="60000"/>
              <a:lumOff val="40000"/>
              <a:alpha val="12000"/>
            </a:schemeClr>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a:ea typeface="+mn-ea"/>
              <a:cs typeface="+mn-cs"/>
            </a:endParaRPr>
          </a:p>
        </p:txBody>
      </p:sp>
      <p:sp>
        <p:nvSpPr>
          <p:cNvPr id="21" name="Oval 20">
            <a:extLst>
              <a:ext uri="{FF2B5EF4-FFF2-40B4-BE49-F238E27FC236}">
                <a16:creationId xmlns:a16="http://schemas.microsoft.com/office/drawing/2014/main" id="{1D302C51-3DDE-3B2A-5DED-81542C75AE24}"/>
              </a:ext>
            </a:extLst>
          </p:cNvPr>
          <p:cNvSpPr/>
          <p:nvPr/>
        </p:nvSpPr>
        <p:spPr>
          <a:xfrm>
            <a:off x="5524714" y="1337545"/>
            <a:ext cx="518164" cy="520814"/>
          </a:xfrm>
          <a:prstGeom prst="ellipse">
            <a:avLst/>
          </a:prstGeom>
          <a:solidFill>
            <a:schemeClr val="accent1">
              <a:lumMod val="60000"/>
              <a:lumOff val="40000"/>
              <a:alpha val="12000"/>
            </a:schemeClr>
          </a:soli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a:ea typeface="+mn-ea"/>
              <a:cs typeface="+mn-cs"/>
            </a:endParaRPr>
          </a:p>
        </p:txBody>
      </p:sp>
      <p:pic>
        <p:nvPicPr>
          <p:cNvPr id="22" name="Graphic 21" descr="Lights On outline">
            <a:extLst>
              <a:ext uri="{FF2B5EF4-FFF2-40B4-BE49-F238E27FC236}">
                <a16:creationId xmlns:a16="http://schemas.microsoft.com/office/drawing/2014/main" id="{DFCE04A9-20CD-473A-8A80-3FB12CF1C7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25396" y="1439552"/>
            <a:ext cx="316800" cy="316800"/>
          </a:xfrm>
          <a:prstGeom prst="rect">
            <a:avLst/>
          </a:prstGeom>
        </p:spPr>
      </p:pic>
      <p:grpSp>
        <p:nvGrpSpPr>
          <p:cNvPr id="23" name="Group 22">
            <a:extLst>
              <a:ext uri="{FF2B5EF4-FFF2-40B4-BE49-F238E27FC236}">
                <a16:creationId xmlns:a16="http://schemas.microsoft.com/office/drawing/2014/main" id="{B7D816A1-AD2B-3CB3-4551-3E6D39C8F244}"/>
              </a:ext>
              <a:ext uri="{C183D7F6-B498-43B3-948B-1728B52AA6E4}">
                <adec:decorative xmlns:adec="http://schemas.microsoft.com/office/drawing/2017/decorative" val="1"/>
              </a:ext>
            </a:extLst>
          </p:cNvPr>
          <p:cNvGrpSpPr>
            <a:grpSpLocks noChangeAspect="1"/>
          </p:cNvGrpSpPr>
          <p:nvPr/>
        </p:nvGrpSpPr>
        <p:grpSpPr>
          <a:xfrm>
            <a:off x="3107846" y="1477371"/>
            <a:ext cx="246931" cy="241201"/>
            <a:chOff x="4539128" y="2889174"/>
            <a:chExt cx="152654" cy="149111"/>
          </a:xfrm>
        </p:grpSpPr>
        <p:sp>
          <p:nvSpPr>
            <p:cNvPr id="24" name="Freeform: Shape 23">
              <a:extLst>
                <a:ext uri="{FF2B5EF4-FFF2-40B4-BE49-F238E27FC236}">
                  <a16:creationId xmlns:a16="http://schemas.microsoft.com/office/drawing/2014/main" id="{6A13913F-9E3A-0378-CE30-8D1DF8396F5D}"/>
                </a:ext>
              </a:extLst>
            </p:cNvPr>
            <p:cNvSpPr/>
            <p:nvPr/>
          </p:nvSpPr>
          <p:spPr>
            <a:xfrm>
              <a:off x="4539536" y="2889174"/>
              <a:ext cx="152246" cy="76123"/>
            </a:xfrm>
            <a:custGeom>
              <a:avLst/>
              <a:gdLst>
                <a:gd name="connsiteX0" fmla="*/ 151838 w 152245"/>
                <a:gd name="connsiteY0" fmla="*/ 895 h 76122"/>
                <a:gd name="connsiteX1" fmla="*/ 151838 w 152245"/>
                <a:gd name="connsiteY1" fmla="*/ 895 h 76122"/>
                <a:gd name="connsiteX2" fmla="*/ 150943 w 152245"/>
                <a:gd name="connsiteY2" fmla="*/ 0 h 76122"/>
                <a:gd name="connsiteX3" fmla="*/ 150943 w 152245"/>
                <a:gd name="connsiteY3" fmla="*/ 0 h 76122"/>
                <a:gd name="connsiteX4" fmla="*/ 150943 w 152245"/>
                <a:gd name="connsiteY4" fmla="*/ 0 h 76122"/>
                <a:gd name="connsiteX5" fmla="*/ 150047 w 152245"/>
                <a:gd name="connsiteY5" fmla="*/ 0 h 76122"/>
                <a:gd name="connsiteX6" fmla="*/ 126763 w 152245"/>
                <a:gd name="connsiteY6" fmla="*/ 0 h 76122"/>
                <a:gd name="connsiteX7" fmla="*/ 124524 w 152245"/>
                <a:gd name="connsiteY7" fmla="*/ 2239 h 76122"/>
                <a:gd name="connsiteX8" fmla="*/ 126763 w 152245"/>
                <a:gd name="connsiteY8" fmla="*/ 4478 h 76122"/>
                <a:gd name="connsiteX9" fmla="*/ 144674 w 152245"/>
                <a:gd name="connsiteY9" fmla="*/ 4478 h 76122"/>
                <a:gd name="connsiteX10" fmla="*/ 76163 w 152245"/>
                <a:gd name="connsiteY10" fmla="*/ 70749 h 76122"/>
                <a:gd name="connsiteX11" fmla="*/ 40789 w 152245"/>
                <a:gd name="connsiteY11" fmla="*/ 44778 h 76122"/>
                <a:gd name="connsiteX12" fmla="*/ 38102 w 152245"/>
                <a:gd name="connsiteY12" fmla="*/ 44778 h 76122"/>
                <a:gd name="connsiteX13" fmla="*/ 936 w 152245"/>
                <a:gd name="connsiteY13" fmla="*/ 72093 h 76122"/>
                <a:gd name="connsiteX14" fmla="*/ 488 w 152245"/>
                <a:gd name="connsiteY14" fmla="*/ 75227 h 76122"/>
                <a:gd name="connsiteX15" fmla="*/ 2279 w 152245"/>
                <a:gd name="connsiteY15" fmla="*/ 76123 h 76122"/>
                <a:gd name="connsiteX16" fmla="*/ 3623 w 152245"/>
                <a:gd name="connsiteY16" fmla="*/ 75675 h 76122"/>
                <a:gd name="connsiteX17" fmla="*/ 39445 w 152245"/>
                <a:gd name="connsiteY17" fmla="*/ 49256 h 76122"/>
                <a:gd name="connsiteX18" fmla="*/ 75268 w 152245"/>
                <a:gd name="connsiteY18" fmla="*/ 75675 h 76122"/>
                <a:gd name="connsiteX19" fmla="*/ 77954 w 152245"/>
                <a:gd name="connsiteY19" fmla="*/ 75675 h 76122"/>
                <a:gd name="connsiteX20" fmla="*/ 148256 w 152245"/>
                <a:gd name="connsiteY20" fmla="*/ 8060 h 76122"/>
                <a:gd name="connsiteX21" fmla="*/ 148256 w 152245"/>
                <a:gd name="connsiteY21" fmla="*/ 25971 h 76122"/>
                <a:gd name="connsiteX22" fmla="*/ 150495 w 152245"/>
                <a:gd name="connsiteY22" fmla="*/ 28210 h 76122"/>
                <a:gd name="connsiteX23" fmla="*/ 152734 w 152245"/>
                <a:gd name="connsiteY23" fmla="*/ 25971 h 76122"/>
                <a:gd name="connsiteX24" fmla="*/ 152734 w 152245"/>
                <a:gd name="connsiteY24" fmla="*/ 2687 h 76122"/>
                <a:gd name="connsiteX25" fmla="*/ 151838 w 152245"/>
                <a:gd name="connsiteY25" fmla="*/ 895 h 7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245" h="76122">
                  <a:moveTo>
                    <a:pt x="151838" y="895"/>
                  </a:moveTo>
                  <a:cubicBezTo>
                    <a:pt x="151838" y="895"/>
                    <a:pt x="151838" y="895"/>
                    <a:pt x="151838" y="895"/>
                  </a:cubicBezTo>
                  <a:cubicBezTo>
                    <a:pt x="151391" y="448"/>
                    <a:pt x="151391" y="0"/>
                    <a:pt x="150943" y="0"/>
                  </a:cubicBezTo>
                  <a:cubicBezTo>
                    <a:pt x="150943" y="0"/>
                    <a:pt x="150943" y="0"/>
                    <a:pt x="150943" y="0"/>
                  </a:cubicBezTo>
                  <a:lnTo>
                    <a:pt x="150943" y="0"/>
                  </a:lnTo>
                  <a:cubicBezTo>
                    <a:pt x="150495" y="0"/>
                    <a:pt x="150495" y="0"/>
                    <a:pt x="150047" y="0"/>
                  </a:cubicBezTo>
                  <a:lnTo>
                    <a:pt x="126763" y="0"/>
                  </a:lnTo>
                  <a:cubicBezTo>
                    <a:pt x="125419" y="0"/>
                    <a:pt x="124524" y="895"/>
                    <a:pt x="124524" y="2239"/>
                  </a:cubicBezTo>
                  <a:cubicBezTo>
                    <a:pt x="124524" y="3582"/>
                    <a:pt x="125419" y="4478"/>
                    <a:pt x="126763" y="4478"/>
                  </a:cubicBezTo>
                  <a:lnTo>
                    <a:pt x="144674" y="4478"/>
                  </a:lnTo>
                  <a:lnTo>
                    <a:pt x="76163" y="70749"/>
                  </a:lnTo>
                  <a:lnTo>
                    <a:pt x="40789" y="44778"/>
                  </a:lnTo>
                  <a:cubicBezTo>
                    <a:pt x="39893" y="44330"/>
                    <a:pt x="38997" y="44330"/>
                    <a:pt x="38102" y="44778"/>
                  </a:cubicBezTo>
                  <a:lnTo>
                    <a:pt x="936" y="72093"/>
                  </a:lnTo>
                  <a:cubicBezTo>
                    <a:pt x="40" y="72988"/>
                    <a:pt x="-407" y="74332"/>
                    <a:pt x="488" y="75227"/>
                  </a:cubicBezTo>
                  <a:cubicBezTo>
                    <a:pt x="936" y="75675"/>
                    <a:pt x="1384" y="76123"/>
                    <a:pt x="2279" y="76123"/>
                  </a:cubicBezTo>
                  <a:cubicBezTo>
                    <a:pt x="2727" y="76123"/>
                    <a:pt x="3175" y="76123"/>
                    <a:pt x="3623" y="75675"/>
                  </a:cubicBezTo>
                  <a:lnTo>
                    <a:pt x="39445" y="49256"/>
                  </a:lnTo>
                  <a:lnTo>
                    <a:pt x="75268" y="75675"/>
                  </a:lnTo>
                  <a:cubicBezTo>
                    <a:pt x="76163" y="76123"/>
                    <a:pt x="77507" y="76123"/>
                    <a:pt x="77954" y="75675"/>
                  </a:cubicBezTo>
                  <a:lnTo>
                    <a:pt x="148256" y="8060"/>
                  </a:lnTo>
                  <a:lnTo>
                    <a:pt x="148256" y="25971"/>
                  </a:lnTo>
                  <a:cubicBezTo>
                    <a:pt x="148256" y="27315"/>
                    <a:pt x="149152" y="28210"/>
                    <a:pt x="150495" y="28210"/>
                  </a:cubicBezTo>
                  <a:cubicBezTo>
                    <a:pt x="151838" y="28210"/>
                    <a:pt x="152734" y="27315"/>
                    <a:pt x="152734" y="25971"/>
                  </a:cubicBezTo>
                  <a:lnTo>
                    <a:pt x="152734" y="2687"/>
                  </a:lnTo>
                  <a:cubicBezTo>
                    <a:pt x="152286" y="1791"/>
                    <a:pt x="151838" y="1343"/>
                    <a:pt x="151838" y="895"/>
                  </a:cubicBezTo>
                  <a:close/>
                </a:path>
              </a:pathLst>
            </a:custGeom>
            <a:solidFill>
              <a:schemeClr val="bg1"/>
            </a:solidFill>
            <a:ln w="24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25" name="Freeform: Shape 24">
              <a:extLst>
                <a:ext uri="{FF2B5EF4-FFF2-40B4-BE49-F238E27FC236}">
                  <a16:creationId xmlns:a16="http://schemas.microsoft.com/office/drawing/2014/main" id="{C8C5CF36-2974-146A-7993-CE6E78E78D3F}"/>
                </a:ext>
              </a:extLst>
            </p:cNvPr>
            <p:cNvSpPr/>
            <p:nvPr/>
          </p:nvSpPr>
          <p:spPr>
            <a:xfrm>
              <a:off x="4539128" y="2930817"/>
              <a:ext cx="152246" cy="107468"/>
            </a:xfrm>
            <a:custGeom>
              <a:avLst/>
              <a:gdLst>
                <a:gd name="connsiteX0" fmla="*/ 152694 w 152245"/>
                <a:gd name="connsiteY0" fmla="*/ 1791 h 107467"/>
                <a:gd name="connsiteX1" fmla="*/ 152694 w 152245"/>
                <a:gd name="connsiteY1" fmla="*/ 1343 h 107467"/>
                <a:gd name="connsiteX2" fmla="*/ 152246 w 152245"/>
                <a:gd name="connsiteY2" fmla="*/ 896 h 107467"/>
                <a:gd name="connsiteX3" fmla="*/ 152246 w 152245"/>
                <a:gd name="connsiteY3" fmla="*/ 448 h 107467"/>
                <a:gd name="connsiteX4" fmla="*/ 152246 w 152245"/>
                <a:gd name="connsiteY4" fmla="*/ 448 h 107467"/>
                <a:gd name="connsiteX5" fmla="*/ 151798 w 152245"/>
                <a:gd name="connsiteY5" fmla="*/ 0 h 107467"/>
                <a:gd name="connsiteX6" fmla="*/ 151350 w 152245"/>
                <a:gd name="connsiteY6" fmla="*/ 0 h 107467"/>
                <a:gd name="connsiteX7" fmla="*/ 150903 w 152245"/>
                <a:gd name="connsiteY7" fmla="*/ 0 h 107467"/>
                <a:gd name="connsiteX8" fmla="*/ 150455 w 152245"/>
                <a:gd name="connsiteY8" fmla="*/ 0 h 107467"/>
                <a:gd name="connsiteX9" fmla="*/ 150455 w 152245"/>
                <a:gd name="connsiteY9" fmla="*/ 0 h 107467"/>
                <a:gd name="connsiteX10" fmla="*/ 150007 w 152245"/>
                <a:gd name="connsiteY10" fmla="*/ 0 h 107467"/>
                <a:gd name="connsiteX11" fmla="*/ 149559 w 152245"/>
                <a:gd name="connsiteY11" fmla="*/ 0 h 107467"/>
                <a:gd name="connsiteX12" fmla="*/ 149111 w 152245"/>
                <a:gd name="connsiteY12" fmla="*/ 448 h 107467"/>
                <a:gd name="connsiteX13" fmla="*/ 148664 w 152245"/>
                <a:gd name="connsiteY13" fmla="*/ 448 h 107467"/>
                <a:gd name="connsiteX14" fmla="*/ 76123 w 152245"/>
                <a:gd name="connsiteY14" fmla="*/ 64928 h 107467"/>
                <a:gd name="connsiteX15" fmla="*/ 40748 w 152245"/>
                <a:gd name="connsiteY15" fmla="*/ 38509 h 107467"/>
                <a:gd name="connsiteX16" fmla="*/ 40748 w 152245"/>
                <a:gd name="connsiteY16" fmla="*/ 38509 h 107467"/>
                <a:gd name="connsiteX17" fmla="*/ 39405 w 152245"/>
                <a:gd name="connsiteY17" fmla="*/ 38061 h 107467"/>
                <a:gd name="connsiteX18" fmla="*/ 39405 w 152245"/>
                <a:gd name="connsiteY18" fmla="*/ 38061 h 107467"/>
                <a:gd name="connsiteX19" fmla="*/ 38061 w 152245"/>
                <a:gd name="connsiteY19" fmla="*/ 38509 h 107467"/>
                <a:gd name="connsiteX20" fmla="*/ 38061 w 152245"/>
                <a:gd name="connsiteY20" fmla="*/ 38509 h 107467"/>
                <a:gd name="connsiteX21" fmla="*/ 896 w 152245"/>
                <a:gd name="connsiteY21" fmla="*/ 66272 h 107467"/>
                <a:gd name="connsiteX22" fmla="*/ 896 w 152245"/>
                <a:gd name="connsiteY22" fmla="*/ 66272 h 107467"/>
                <a:gd name="connsiteX23" fmla="*/ 448 w 152245"/>
                <a:gd name="connsiteY23" fmla="*/ 66719 h 107467"/>
                <a:gd name="connsiteX24" fmla="*/ 0 w 152245"/>
                <a:gd name="connsiteY24" fmla="*/ 67167 h 107467"/>
                <a:gd name="connsiteX25" fmla="*/ 0 w 152245"/>
                <a:gd name="connsiteY25" fmla="*/ 67615 h 107467"/>
                <a:gd name="connsiteX26" fmla="*/ 0 w 152245"/>
                <a:gd name="connsiteY26" fmla="*/ 68063 h 107467"/>
                <a:gd name="connsiteX27" fmla="*/ 0 w 152245"/>
                <a:gd name="connsiteY27" fmla="*/ 68063 h 107467"/>
                <a:gd name="connsiteX28" fmla="*/ 0 w 152245"/>
                <a:gd name="connsiteY28" fmla="*/ 108363 h 107467"/>
                <a:gd name="connsiteX29" fmla="*/ 2239 w 152245"/>
                <a:gd name="connsiteY29" fmla="*/ 110602 h 107467"/>
                <a:gd name="connsiteX30" fmla="*/ 4478 w 152245"/>
                <a:gd name="connsiteY30" fmla="*/ 108363 h 107467"/>
                <a:gd name="connsiteX31" fmla="*/ 4478 w 152245"/>
                <a:gd name="connsiteY31" fmla="*/ 69406 h 107467"/>
                <a:gd name="connsiteX32" fmla="*/ 37166 w 152245"/>
                <a:gd name="connsiteY32" fmla="*/ 45226 h 107467"/>
                <a:gd name="connsiteX33" fmla="*/ 37166 w 152245"/>
                <a:gd name="connsiteY33" fmla="*/ 108811 h 107467"/>
                <a:gd name="connsiteX34" fmla="*/ 39405 w 152245"/>
                <a:gd name="connsiteY34" fmla="*/ 111050 h 107467"/>
                <a:gd name="connsiteX35" fmla="*/ 41644 w 152245"/>
                <a:gd name="connsiteY35" fmla="*/ 108811 h 107467"/>
                <a:gd name="connsiteX36" fmla="*/ 41644 w 152245"/>
                <a:gd name="connsiteY36" fmla="*/ 45226 h 107467"/>
                <a:gd name="connsiteX37" fmla="*/ 74332 w 152245"/>
                <a:gd name="connsiteY37" fmla="*/ 69406 h 107467"/>
                <a:gd name="connsiteX38" fmla="*/ 74332 w 152245"/>
                <a:gd name="connsiteY38" fmla="*/ 108363 h 107467"/>
                <a:gd name="connsiteX39" fmla="*/ 76571 w 152245"/>
                <a:gd name="connsiteY39" fmla="*/ 110602 h 107467"/>
                <a:gd name="connsiteX40" fmla="*/ 78810 w 152245"/>
                <a:gd name="connsiteY40" fmla="*/ 108363 h 107467"/>
                <a:gd name="connsiteX41" fmla="*/ 78810 w 152245"/>
                <a:gd name="connsiteY41" fmla="*/ 68958 h 107467"/>
                <a:gd name="connsiteX42" fmla="*/ 111498 w 152245"/>
                <a:gd name="connsiteY42" fmla="*/ 39853 h 107467"/>
                <a:gd name="connsiteX43" fmla="*/ 111498 w 152245"/>
                <a:gd name="connsiteY43" fmla="*/ 107915 h 107467"/>
                <a:gd name="connsiteX44" fmla="*/ 113737 w 152245"/>
                <a:gd name="connsiteY44" fmla="*/ 110154 h 107467"/>
                <a:gd name="connsiteX45" fmla="*/ 115976 w 152245"/>
                <a:gd name="connsiteY45" fmla="*/ 107915 h 107467"/>
                <a:gd name="connsiteX46" fmla="*/ 115976 w 152245"/>
                <a:gd name="connsiteY46" fmla="*/ 37166 h 107467"/>
                <a:gd name="connsiteX47" fmla="*/ 115528 w 152245"/>
                <a:gd name="connsiteY47" fmla="*/ 36270 h 107467"/>
                <a:gd name="connsiteX48" fmla="*/ 148216 w 152245"/>
                <a:gd name="connsiteY48" fmla="*/ 7165 h 107467"/>
                <a:gd name="connsiteX49" fmla="*/ 148216 w 152245"/>
                <a:gd name="connsiteY49" fmla="*/ 108363 h 107467"/>
                <a:gd name="connsiteX50" fmla="*/ 150455 w 152245"/>
                <a:gd name="connsiteY50" fmla="*/ 110602 h 107467"/>
                <a:gd name="connsiteX51" fmla="*/ 152694 w 152245"/>
                <a:gd name="connsiteY51" fmla="*/ 108363 h 107467"/>
                <a:gd name="connsiteX52" fmla="*/ 152694 w 152245"/>
                <a:gd name="connsiteY52" fmla="*/ 1791 h 107467"/>
                <a:gd name="connsiteX53" fmla="*/ 152694 w 152245"/>
                <a:gd name="connsiteY53" fmla="*/ 1791 h 107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52245" h="107467">
                  <a:moveTo>
                    <a:pt x="152694" y="1791"/>
                  </a:moveTo>
                  <a:cubicBezTo>
                    <a:pt x="152694" y="1791"/>
                    <a:pt x="152694" y="1343"/>
                    <a:pt x="152694" y="1343"/>
                  </a:cubicBezTo>
                  <a:cubicBezTo>
                    <a:pt x="152694" y="1343"/>
                    <a:pt x="152694" y="896"/>
                    <a:pt x="152246" y="896"/>
                  </a:cubicBezTo>
                  <a:cubicBezTo>
                    <a:pt x="152246" y="896"/>
                    <a:pt x="152246" y="896"/>
                    <a:pt x="152246" y="448"/>
                  </a:cubicBezTo>
                  <a:cubicBezTo>
                    <a:pt x="152246" y="448"/>
                    <a:pt x="152246" y="448"/>
                    <a:pt x="152246" y="448"/>
                  </a:cubicBezTo>
                  <a:cubicBezTo>
                    <a:pt x="152246" y="448"/>
                    <a:pt x="151798" y="448"/>
                    <a:pt x="151798" y="0"/>
                  </a:cubicBezTo>
                  <a:cubicBezTo>
                    <a:pt x="151798" y="0"/>
                    <a:pt x="151798" y="0"/>
                    <a:pt x="151350" y="0"/>
                  </a:cubicBezTo>
                  <a:cubicBezTo>
                    <a:pt x="151350" y="0"/>
                    <a:pt x="150903" y="0"/>
                    <a:pt x="150903" y="0"/>
                  </a:cubicBezTo>
                  <a:cubicBezTo>
                    <a:pt x="150903" y="0"/>
                    <a:pt x="150455" y="0"/>
                    <a:pt x="150455" y="0"/>
                  </a:cubicBezTo>
                  <a:cubicBezTo>
                    <a:pt x="150455" y="0"/>
                    <a:pt x="150455" y="0"/>
                    <a:pt x="150455" y="0"/>
                  </a:cubicBezTo>
                  <a:cubicBezTo>
                    <a:pt x="150455" y="0"/>
                    <a:pt x="150455" y="0"/>
                    <a:pt x="150007" y="0"/>
                  </a:cubicBezTo>
                  <a:cubicBezTo>
                    <a:pt x="150007" y="0"/>
                    <a:pt x="149559" y="0"/>
                    <a:pt x="149559" y="0"/>
                  </a:cubicBezTo>
                  <a:cubicBezTo>
                    <a:pt x="149559" y="0"/>
                    <a:pt x="149111" y="0"/>
                    <a:pt x="149111" y="448"/>
                  </a:cubicBezTo>
                  <a:cubicBezTo>
                    <a:pt x="149111" y="448"/>
                    <a:pt x="149111" y="448"/>
                    <a:pt x="148664" y="448"/>
                  </a:cubicBezTo>
                  <a:lnTo>
                    <a:pt x="76123" y="64928"/>
                  </a:lnTo>
                  <a:lnTo>
                    <a:pt x="40748" y="38509"/>
                  </a:lnTo>
                  <a:cubicBezTo>
                    <a:pt x="40748" y="38509"/>
                    <a:pt x="40748" y="38509"/>
                    <a:pt x="40748" y="38509"/>
                  </a:cubicBezTo>
                  <a:cubicBezTo>
                    <a:pt x="40300" y="38061"/>
                    <a:pt x="39853" y="38061"/>
                    <a:pt x="39405" y="38061"/>
                  </a:cubicBezTo>
                  <a:cubicBezTo>
                    <a:pt x="39405" y="38061"/>
                    <a:pt x="39405" y="38061"/>
                    <a:pt x="39405" y="38061"/>
                  </a:cubicBezTo>
                  <a:cubicBezTo>
                    <a:pt x="38957" y="38061"/>
                    <a:pt x="38509" y="38061"/>
                    <a:pt x="38061" y="38509"/>
                  </a:cubicBezTo>
                  <a:cubicBezTo>
                    <a:pt x="38061" y="38509"/>
                    <a:pt x="38061" y="38509"/>
                    <a:pt x="38061" y="38509"/>
                  </a:cubicBezTo>
                  <a:lnTo>
                    <a:pt x="896" y="66272"/>
                  </a:lnTo>
                  <a:cubicBezTo>
                    <a:pt x="896" y="66272"/>
                    <a:pt x="896" y="66272"/>
                    <a:pt x="896" y="66272"/>
                  </a:cubicBezTo>
                  <a:cubicBezTo>
                    <a:pt x="896" y="66272"/>
                    <a:pt x="896" y="66272"/>
                    <a:pt x="448" y="66719"/>
                  </a:cubicBezTo>
                  <a:cubicBezTo>
                    <a:pt x="448" y="66719"/>
                    <a:pt x="448" y="66719"/>
                    <a:pt x="0" y="67167"/>
                  </a:cubicBezTo>
                  <a:cubicBezTo>
                    <a:pt x="0" y="67167"/>
                    <a:pt x="0" y="67615"/>
                    <a:pt x="0" y="67615"/>
                  </a:cubicBezTo>
                  <a:cubicBezTo>
                    <a:pt x="0" y="67615"/>
                    <a:pt x="0" y="68063"/>
                    <a:pt x="0" y="68063"/>
                  </a:cubicBezTo>
                  <a:cubicBezTo>
                    <a:pt x="0" y="68063"/>
                    <a:pt x="0" y="68063"/>
                    <a:pt x="0" y="68063"/>
                  </a:cubicBezTo>
                  <a:lnTo>
                    <a:pt x="0" y="108363"/>
                  </a:lnTo>
                  <a:cubicBezTo>
                    <a:pt x="0" y="109707"/>
                    <a:pt x="896" y="110602"/>
                    <a:pt x="2239" y="110602"/>
                  </a:cubicBezTo>
                  <a:cubicBezTo>
                    <a:pt x="3582" y="110602"/>
                    <a:pt x="4478" y="109707"/>
                    <a:pt x="4478" y="108363"/>
                  </a:cubicBezTo>
                  <a:lnTo>
                    <a:pt x="4478" y="69406"/>
                  </a:lnTo>
                  <a:lnTo>
                    <a:pt x="37166" y="45226"/>
                  </a:lnTo>
                  <a:lnTo>
                    <a:pt x="37166" y="108811"/>
                  </a:lnTo>
                  <a:cubicBezTo>
                    <a:pt x="37166" y="110154"/>
                    <a:pt x="38061" y="111050"/>
                    <a:pt x="39405" y="111050"/>
                  </a:cubicBezTo>
                  <a:cubicBezTo>
                    <a:pt x="40748" y="111050"/>
                    <a:pt x="41644" y="110154"/>
                    <a:pt x="41644" y="108811"/>
                  </a:cubicBezTo>
                  <a:lnTo>
                    <a:pt x="41644" y="45226"/>
                  </a:lnTo>
                  <a:lnTo>
                    <a:pt x="74332" y="69406"/>
                  </a:lnTo>
                  <a:lnTo>
                    <a:pt x="74332" y="108363"/>
                  </a:lnTo>
                  <a:cubicBezTo>
                    <a:pt x="74332" y="109707"/>
                    <a:pt x="75227" y="110602"/>
                    <a:pt x="76571" y="110602"/>
                  </a:cubicBezTo>
                  <a:cubicBezTo>
                    <a:pt x="77914" y="110602"/>
                    <a:pt x="78810" y="109707"/>
                    <a:pt x="78810" y="108363"/>
                  </a:cubicBezTo>
                  <a:lnTo>
                    <a:pt x="78810" y="68958"/>
                  </a:lnTo>
                  <a:lnTo>
                    <a:pt x="111498" y="39853"/>
                  </a:lnTo>
                  <a:lnTo>
                    <a:pt x="111498" y="107915"/>
                  </a:lnTo>
                  <a:cubicBezTo>
                    <a:pt x="111498" y="109259"/>
                    <a:pt x="112393" y="110154"/>
                    <a:pt x="113737" y="110154"/>
                  </a:cubicBezTo>
                  <a:cubicBezTo>
                    <a:pt x="115080" y="110154"/>
                    <a:pt x="115976" y="109259"/>
                    <a:pt x="115976" y="107915"/>
                  </a:cubicBezTo>
                  <a:lnTo>
                    <a:pt x="115976" y="37166"/>
                  </a:lnTo>
                  <a:cubicBezTo>
                    <a:pt x="115976" y="36718"/>
                    <a:pt x="115976" y="36270"/>
                    <a:pt x="115528" y="36270"/>
                  </a:cubicBezTo>
                  <a:lnTo>
                    <a:pt x="148216" y="7165"/>
                  </a:lnTo>
                  <a:lnTo>
                    <a:pt x="148216" y="108363"/>
                  </a:lnTo>
                  <a:cubicBezTo>
                    <a:pt x="148216" y="109707"/>
                    <a:pt x="149111" y="110602"/>
                    <a:pt x="150455" y="110602"/>
                  </a:cubicBezTo>
                  <a:cubicBezTo>
                    <a:pt x="151798" y="110602"/>
                    <a:pt x="152694" y="109707"/>
                    <a:pt x="152694" y="108363"/>
                  </a:cubicBezTo>
                  <a:lnTo>
                    <a:pt x="152694" y="1791"/>
                  </a:lnTo>
                  <a:cubicBezTo>
                    <a:pt x="152694" y="1791"/>
                    <a:pt x="152694" y="1791"/>
                    <a:pt x="152694" y="1791"/>
                  </a:cubicBezTo>
                  <a:close/>
                </a:path>
              </a:pathLst>
            </a:custGeom>
            <a:solidFill>
              <a:schemeClr val="bg1"/>
            </a:solidFill>
            <a:ln w="24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grpSp>
      <p:sp>
        <p:nvSpPr>
          <p:cNvPr id="26" name="Rectangle 25">
            <a:extLst>
              <a:ext uri="{FF2B5EF4-FFF2-40B4-BE49-F238E27FC236}">
                <a16:creationId xmlns:a16="http://schemas.microsoft.com/office/drawing/2014/main" id="{D547ACA9-35B4-FCB9-6BE3-8B8DC8463B3B}"/>
              </a:ext>
            </a:extLst>
          </p:cNvPr>
          <p:cNvSpPr/>
          <p:nvPr/>
        </p:nvSpPr>
        <p:spPr>
          <a:xfrm>
            <a:off x="419744" y="5291200"/>
            <a:ext cx="6766560" cy="822960"/>
          </a:xfrm>
          <a:prstGeom prst="rect">
            <a:avLst/>
          </a:prstGeom>
        </p:spPr>
        <p:txBody>
          <a:bodyPr wrap="square" lIns="0" tIns="0" rIns="0" bIns="0" numCol="1">
            <a:noAutofit/>
          </a:bodyPr>
          <a:lstStyle/>
          <a:p>
            <a:pPr marL="171450" marR="0" lvl="1" indent="-171450" algn="l" defTabSz="914400" rtl="0" eaLnBrk="1" fontAlgn="auto" latinLnBrk="0" hangingPunct="1">
              <a:lnSpc>
                <a:spcPct val="100000"/>
              </a:lnSpc>
              <a:spcBef>
                <a:spcPts val="200"/>
              </a:spcBef>
              <a:spcAft>
                <a:spcPts val="200"/>
              </a:spcAft>
              <a:buClr>
                <a:srgbClr val="FFFFFF"/>
              </a:buClr>
              <a:buSzPct val="100000"/>
              <a:buFont typeface="Wingdings" panose="05000000000000000000" pitchFamily="2" charset="2"/>
              <a:buChar char="§"/>
              <a:tabLst/>
              <a:defRPr/>
            </a:pPr>
            <a:r>
              <a:rPr kumimoji="0" lang="en-US" sz="1050" b="0" i="0" u="none" strike="noStrike" kern="1200" cap="none" spc="0" normalizeH="0" baseline="0" noProof="0">
                <a:ln>
                  <a:noFill/>
                </a:ln>
                <a:solidFill>
                  <a:srgbClr val="FFFFFF"/>
                </a:solidFill>
                <a:effectLst/>
                <a:uLnTx/>
                <a:uFillTx/>
                <a:latin typeface="Ubuntu"/>
                <a:ea typeface="+mn-ea"/>
                <a:cs typeface="Calibri" pitchFamily="34" charset="0"/>
              </a:rPr>
              <a:t>The client was advised to focus more on </a:t>
            </a:r>
            <a:r>
              <a:rPr kumimoji="0" lang="en-US" sz="1050" b="0" i="0" u="none" strike="noStrike" kern="1200" cap="none" spc="0" normalizeH="0" baseline="0" noProof="0" err="1">
                <a:ln>
                  <a:noFill/>
                </a:ln>
                <a:solidFill>
                  <a:srgbClr val="FFFFFF"/>
                </a:solidFill>
                <a:effectLst/>
                <a:uLnTx/>
                <a:uFillTx/>
                <a:latin typeface="Ubuntu"/>
                <a:ea typeface="+mn-ea"/>
                <a:cs typeface="Calibri" pitchFamily="34" charset="0"/>
              </a:rPr>
              <a:t>insurtech</a:t>
            </a:r>
            <a:r>
              <a:rPr kumimoji="0" lang="en-US" sz="1050" b="0" i="0" u="none" strike="noStrike" kern="1200" cap="none" spc="0" normalizeH="0" baseline="0" noProof="0">
                <a:ln>
                  <a:noFill/>
                </a:ln>
                <a:solidFill>
                  <a:srgbClr val="FFFFFF"/>
                </a:solidFill>
                <a:effectLst/>
                <a:uLnTx/>
                <a:uFillTx/>
                <a:latin typeface="Ubuntu"/>
                <a:ea typeface="+mn-ea"/>
                <a:cs typeface="Calibri" pitchFamily="34" charset="0"/>
              </a:rPr>
              <a:t> ecosystem, innovative offerings, effective use of analytics and cyber security, thus tapping potential opportunities</a:t>
            </a:r>
          </a:p>
        </p:txBody>
      </p:sp>
      <p:grpSp>
        <p:nvGrpSpPr>
          <p:cNvPr id="27" name="Group 26">
            <a:extLst>
              <a:ext uri="{FF2B5EF4-FFF2-40B4-BE49-F238E27FC236}">
                <a16:creationId xmlns:a16="http://schemas.microsoft.com/office/drawing/2014/main" id="{810134C3-247B-15B7-D6C3-D75A1237DF9E}"/>
              </a:ext>
              <a:ext uri="{C183D7F6-B498-43B3-948B-1728B52AA6E4}">
                <adec:decorative xmlns:adec="http://schemas.microsoft.com/office/drawing/2017/decorative" val="1"/>
              </a:ext>
            </a:extLst>
          </p:cNvPr>
          <p:cNvGrpSpPr>
            <a:grpSpLocks noChangeAspect="1"/>
          </p:cNvGrpSpPr>
          <p:nvPr/>
        </p:nvGrpSpPr>
        <p:grpSpPr>
          <a:xfrm>
            <a:off x="155403" y="4991456"/>
            <a:ext cx="218454" cy="218454"/>
            <a:chOff x="4547188" y="980728"/>
            <a:chExt cx="152246" cy="152246"/>
          </a:xfrm>
          <a:solidFill>
            <a:schemeClr val="accent2"/>
          </a:solidFill>
        </p:grpSpPr>
        <p:sp>
          <p:nvSpPr>
            <p:cNvPr id="28" name="Freeform: Shape 27">
              <a:extLst>
                <a:ext uri="{FF2B5EF4-FFF2-40B4-BE49-F238E27FC236}">
                  <a16:creationId xmlns:a16="http://schemas.microsoft.com/office/drawing/2014/main" id="{2506A395-302B-BE78-159C-58CDD9392590}"/>
                </a:ext>
              </a:extLst>
            </p:cNvPr>
            <p:cNvSpPr/>
            <p:nvPr/>
          </p:nvSpPr>
          <p:spPr>
            <a:xfrm>
              <a:off x="4547188" y="980728"/>
              <a:ext cx="152246" cy="152246"/>
            </a:xfrm>
            <a:custGeom>
              <a:avLst/>
              <a:gdLst>
                <a:gd name="connsiteX0" fmla="*/ 145529 w 152245"/>
                <a:gd name="connsiteY0" fmla="*/ 17911 h 152245"/>
                <a:gd name="connsiteX1" fmla="*/ 125379 w 152245"/>
                <a:gd name="connsiteY1" fmla="*/ 17911 h 152245"/>
                <a:gd name="connsiteX2" fmla="*/ 125379 w 152245"/>
                <a:gd name="connsiteY2" fmla="*/ 6717 h 152245"/>
                <a:gd name="connsiteX3" fmla="*/ 118662 w 152245"/>
                <a:gd name="connsiteY3" fmla="*/ 0 h 152245"/>
                <a:gd name="connsiteX4" fmla="*/ 6717 w 152245"/>
                <a:gd name="connsiteY4" fmla="*/ 0 h 152245"/>
                <a:gd name="connsiteX5" fmla="*/ 0 w 152245"/>
                <a:gd name="connsiteY5" fmla="*/ 6717 h 152245"/>
                <a:gd name="connsiteX6" fmla="*/ 0 w 152245"/>
                <a:gd name="connsiteY6" fmla="*/ 132096 h 152245"/>
                <a:gd name="connsiteX7" fmla="*/ 6717 w 152245"/>
                <a:gd name="connsiteY7" fmla="*/ 138812 h 152245"/>
                <a:gd name="connsiteX8" fmla="*/ 26867 w 152245"/>
                <a:gd name="connsiteY8" fmla="*/ 138812 h 152245"/>
                <a:gd name="connsiteX9" fmla="*/ 26867 w 152245"/>
                <a:gd name="connsiteY9" fmla="*/ 145529 h 152245"/>
                <a:gd name="connsiteX10" fmla="*/ 33584 w 152245"/>
                <a:gd name="connsiteY10" fmla="*/ 152246 h 152245"/>
                <a:gd name="connsiteX11" fmla="*/ 145529 w 152245"/>
                <a:gd name="connsiteY11" fmla="*/ 152246 h 152245"/>
                <a:gd name="connsiteX12" fmla="*/ 152246 w 152245"/>
                <a:gd name="connsiteY12" fmla="*/ 145529 h 152245"/>
                <a:gd name="connsiteX13" fmla="*/ 152246 w 152245"/>
                <a:gd name="connsiteY13" fmla="*/ 24628 h 152245"/>
                <a:gd name="connsiteX14" fmla="*/ 145529 w 152245"/>
                <a:gd name="connsiteY14" fmla="*/ 17911 h 152245"/>
                <a:gd name="connsiteX15" fmla="*/ 4478 w 152245"/>
                <a:gd name="connsiteY15" fmla="*/ 132096 h 152245"/>
                <a:gd name="connsiteX16" fmla="*/ 4478 w 152245"/>
                <a:gd name="connsiteY16" fmla="*/ 6717 h 152245"/>
                <a:gd name="connsiteX17" fmla="*/ 6717 w 152245"/>
                <a:gd name="connsiteY17" fmla="*/ 4478 h 152245"/>
                <a:gd name="connsiteX18" fmla="*/ 118662 w 152245"/>
                <a:gd name="connsiteY18" fmla="*/ 4478 h 152245"/>
                <a:gd name="connsiteX19" fmla="*/ 120901 w 152245"/>
                <a:gd name="connsiteY19" fmla="*/ 6717 h 152245"/>
                <a:gd name="connsiteX20" fmla="*/ 120901 w 152245"/>
                <a:gd name="connsiteY20" fmla="*/ 132096 h 152245"/>
                <a:gd name="connsiteX21" fmla="*/ 118662 w 152245"/>
                <a:gd name="connsiteY21" fmla="*/ 134335 h 152245"/>
                <a:gd name="connsiteX22" fmla="*/ 6717 w 152245"/>
                <a:gd name="connsiteY22" fmla="*/ 134335 h 152245"/>
                <a:gd name="connsiteX23" fmla="*/ 4478 w 152245"/>
                <a:gd name="connsiteY23" fmla="*/ 132096 h 152245"/>
                <a:gd name="connsiteX24" fmla="*/ 147768 w 152245"/>
                <a:gd name="connsiteY24" fmla="*/ 145529 h 152245"/>
                <a:gd name="connsiteX25" fmla="*/ 145529 w 152245"/>
                <a:gd name="connsiteY25" fmla="*/ 147768 h 152245"/>
                <a:gd name="connsiteX26" fmla="*/ 33584 w 152245"/>
                <a:gd name="connsiteY26" fmla="*/ 147768 h 152245"/>
                <a:gd name="connsiteX27" fmla="*/ 31345 w 152245"/>
                <a:gd name="connsiteY27" fmla="*/ 145529 h 152245"/>
                <a:gd name="connsiteX28" fmla="*/ 31345 w 152245"/>
                <a:gd name="connsiteY28" fmla="*/ 138812 h 152245"/>
                <a:gd name="connsiteX29" fmla="*/ 118662 w 152245"/>
                <a:gd name="connsiteY29" fmla="*/ 138812 h 152245"/>
                <a:gd name="connsiteX30" fmla="*/ 125379 w 152245"/>
                <a:gd name="connsiteY30" fmla="*/ 132096 h 152245"/>
                <a:gd name="connsiteX31" fmla="*/ 125379 w 152245"/>
                <a:gd name="connsiteY31" fmla="*/ 22389 h 152245"/>
                <a:gd name="connsiteX32" fmla="*/ 145529 w 152245"/>
                <a:gd name="connsiteY32" fmla="*/ 22389 h 152245"/>
                <a:gd name="connsiteX33" fmla="*/ 147768 w 152245"/>
                <a:gd name="connsiteY33" fmla="*/ 24628 h 152245"/>
                <a:gd name="connsiteX34" fmla="*/ 147768 w 152245"/>
                <a:gd name="connsiteY34" fmla="*/ 145529 h 15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2245" h="152245">
                  <a:moveTo>
                    <a:pt x="145529" y="17911"/>
                  </a:moveTo>
                  <a:lnTo>
                    <a:pt x="125379" y="17911"/>
                  </a:lnTo>
                  <a:lnTo>
                    <a:pt x="125379" y="6717"/>
                  </a:lnTo>
                  <a:cubicBezTo>
                    <a:pt x="125379" y="3134"/>
                    <a:pt x="122245" y="0"/>
                    <a:pt x="118662" y="0"/>
                  </a:cubicBezTo>
                  <a:lnTo>
                    <a:pt x="6717" y="0"/>
                  </a:lnTo>
                  <a:cubicBezTo>
                    <a:pt x="3135" y="0"/>
                    <a:pt x="0" y="3134"/>
                    <a:pt x="0" y="6717"/>
                  </a:cubicBezTo>
                  <a:lnTo>
                    <a:pt x="0" y="132096"/>
                  </a:lnTo>
                  <a:cubicBezTo>
                    <a:pt x="0" y="135678"/>
                    <a:pt x="3135" y="138812"/>
                    <a:pt x="6717" y="138812"/>
                  </a:cubicBezTo>
                  <a:lnTo>
                    <a:pt x="26867" y="138812"/>
                  </a:lnTo>
                  <a:lnTo>
                    <a:pt x="26867" y="145529"/>
                  </a:lnTo>
                  <a:cubicBezTo>
                    <a:pt x="26867" y="149111"/>
                    <a:pt x="30001" y="152246"/>
                    <a:pt x="33584" y="152246"/>
                  </a:cubicBezTo>
                  <a:lnTo>
                    <a:pt x="145529" y="152246"/>
                  </a:lnTo>
                  <a:cubicBezTo>
                    <a:pt x="149112" y="152246"/>
                    <a:pt x="152246" y="149111"/>
                    <a:pt x="152246" y="145529"/>
                  </a:cubicBezTo>
                  <a:lnTo>
                    <a:pt x="152246" y="24628"/>
                  </a:lnTo>
                  <a:cubicBezTo>
                    <a:pt x="152246" y="20598"/>
                    <a:pt x="149559" y="17911"/>
                    <a:pt x="145529" y="17911"/>
                  </a:cubicBezTo>
                  <a:close/>
                  <a:moveTo>
                    <a:pt x="4478" y="132096"/>
                  </a:moveTo>
                  <a:lnTo>
                    <a:pt x="4478" y="6717"/>
                  </a:lnTo>
                  <a:cubicBezTo>
                    <a:pt x="4478" y="5373"/>
                    <a:pt x="5373" y="4478"/>
                    <a:pt x="6717" y="4478"/>
                  </a:cubicBezTo>
                  <a:lnTo>
                    <a:pt x="118662" y="4478"/>
                  </a:lnTo>
                  <a:cubicBezTo>
                    <a:pt x="120006" y="4478"/>
                    <a:pt x="120901" y="5373"/>
                    <a:pt x="120901" y="6717"/>
                  </a:cubicBezTo>
                  <a:lnTo>
                    <a:pt x="120901" y="132096"/>
                  </a:lnTo>
                  <a:cubicBezTo>
                    <a:pt x="120901" y="133439"/>
                    <a:pt x="120006" y="134335"/>
                    <a:pt x="118662" y="134335"/>
                  </a:cubicBezTo>
                  <a:lnTo>
                    <a:pt x="6717" y="134335"/>
                  </a:lnTo>
                  <a:cubicBezTo>
                    <a:pt x="5821" y="134335"/>
                    <a:pt x="4478" y="133439"/>
                    <a:pt x="4478" y="132096"/>
                  </a:cubicBezTo>
                  <a:close/>
                  <a:moveTo>
                    <a:pt x="147768" y="145529"/>
                  </a:moveTo>
                  <a:cubicBezTo>
                    <a:pt x="147768" y="146872"/>
                    <a:pt x="146873" y="147768"/>
                    <a:pt x="145529" y="147768"/>
                  </a:cubicBezTo>
                  <a:lnTo>
                    <a:pt x="33584" y="147768"/>
                  </a:lnTo>
                  <a:cubicBezTo>
                    <a:pt x="32240" y="147768"/>
                    <a:pt x="31345" y="146872"/>
                    <a:pt x="31345" y="145529"/>
                  </a:cubicBezTo>
                  <a:lnTo>
                    <a:pt x="31345" y="138812"/>
                  </a:lnTo>
                  <a:lnTo>
                    <a:pt x="118662" y="138812"/>
                  </a:lnTo>
                  <a:cubicBezTo>
                    <a:pt x="122245" y="138812"/>
                    <a:pt x="125379" y="135678"/>
                    <a:pt x="125379" y="132096"/>
                  </a:cubicBezTo>
                  <a:lnTo>
                    <a:pt x="125379" y="22389"/>
                  </a:lnTo>
                  <a:lnTo>
                    <a:pt x="145529" y="22389"/>
                  </a:lnTo>
                  <a:cubicBezTo>
                    <a:pt x="146873" y="22389"/>
                    <a:pt x="147768" y="23285"/>
                    <a:pt x="147768" y="24628"/>
                  </a:cubicBezTo>
                  <a:lnTo>
                    <a:pt x="147768" y="145529"/>
                  </a:lnTo>
                  <a:close/>
                </a:path>
              </a:pathLst>
            </a:custGeom>
            <a:grpFill/>
            <a:ln w="447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29" name="Freeform: Shape 28">
              <a:extLst>
                <a:ext uri="{FF2B5EF4-FFF2-40B4-BE49-F238E27FC236}">
                  <a16:creationId xmlns:a16="http://schemas.microsoft.com/office/drawing/2014/main" id="{4A53FFD4-DA74-382E-625C-753B0839DEB3}"/>
                </a:ext>
              </a:extLst>
            </p:cNvPr>
            <p:cNvSpPr/>
            <p:nvPr/>
          </p:nvSpPr>
          <p:spPr>
            <a:xfrm>
              <a:off x="4564652" y="1007595"/>
              <a:ext cx="85079" cy="4478"/>
            </a:xfrm>
            <a:custGeom>
              <a:avLst/>
              <a:gdLst>
                <a:gd name="connsiteX0" fmla="*/ 85526 w 85078"/>
                <a:gd name="connsiteY0" fmla="*/ 4478 h 4477"/>
                <a:gd name="connsiteX1" fmla="*/ 2239 w 85078"/>
                <a:gd name="connsiteY1" fmla="*/ 4478 h 4477"/>
                <a:gd name="connsiteX2" fmla="*/ 0 w 85078"/>
                <a:gd name="connsiteY2" fmla="*/ 2239 h 4477"/>
                <a:gd name="connsiteX3" fmla="*/ 2239 w 85078"/>
                <a:gd name="connsiteY3" fmla="*/ 0 h 4477"/>
                <a:gd name="connsiteX4" fmla="*/ 85526 w 85078"/>
                <a:gd name="connsiteY4" fmla="*/ 0 h 4477"/>
                <a:gd name="connsiteX5" fmla="*/ 87765 w 85078"/>
                <a:gd name="connsiteY5" fmla="*/ 2239 h 4477"/>
                <a:gd name="connsiteX6" fmla="*/ 85526 w 85078"/>
                <a:gd name="connsiteY6" fmla="*/ 4478 h 4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078" h="4477">
                  <a:moveTo>
                    <a:pt x="85526" y="4478"/>
                  </a:moveTo>
                  <a:lnTo>
                    <a:pt x="2239" y="4478"/>
                  </a:lnTo>
                  <a:cubicBezTo>
                    <a:pt x="896" y="4478"/>
                    <a:pt x="0" y="3582"/>
                    <a:pt x="0" y="2239"/>
                  </a:cubicBezTo>
                  <a:cubicBezTo>
                    <a:pt x="0" y="896"/>
                    <a:pt x="896" y="0"/>
                    <a:pt x="2239" y="0"/>
                  </a:cubicBezTo>
                  <a:lnTo>
                    <a:pt x="85526" y="0"/>
                  </a:lnTo>
                  <a:cubicBezTo>
                    <a:pt x="86870" y="0"/>
                    <a:pt x="87765" y="896"/>
                    <a:pt x="87765" y="2239"/>
                  </a:cubicBezTo>
                  <a:cubicBezTo>
                    <a:pt x="87765" y="3582"/>
                    <a:pt x="86870" y="4478"/>
                    <a:pt x="85526" y="4478"/>
                  </a:cubicBezTo>
                  <a:close/>
                </a:path>
              </a:pathLst>
            </a:custGeom>
            <a:grpFill/>
            <a:ln w="447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30" name="Freeform: Shape 29">
              <a:extLst>
                <a:ext uri="{FF2B5EF4-FFF2-40B4-BE49-F238E27FC236}">
                  <a16:creationId xmlns:a16="http://schemas.microsoft.com/office/drawing/2014/main" id="{081D568C-70A1-74D7-7C40-61D786D44103}"/>
                </a:ext>
              </a:extLst>
            </p:cNvPr>
            <p:cNvSpPr/>
            <p:nvPr/>
          </p:nvSpPr>
          <p:spPr>
            <a:xfrm>
              <a:off x="4564652" y="1061329"/>
              <a:ext cx="85079" cy="4478"/>
            </a:xfrm>
            <a:custGeom>
              <a:avLst/>
              <a:gdLst>
                <a:gd name="connsiteX0" fmla="*/ 85526 w 85078"/>
                <a:gd name="connsiteY0" fmla="*/ 4478 h 4477"/>
                <a:gd name="connsiteX1" fmla="*/ 2239 w 85078"/>
                <a:gd name="connsiteY1" fmla="*/ 4478 h 4477"/>
                <a:gd name="connsiteX2" fmla="*/ 0 w 85078"/>
                <a:gd name="connsiteY2" fmla="*/ 2239 h 4477"/>
                <a:gd name="connsiteX3" fmla="*/ 2239 w 85078"/>
                <a:gd name="connsiteY3" fmla="*/ 0 h 4477"/>
                <a:gd name="connsiteX4" fmla="*/ 85526 w 85078"/>
                <a:gd name="connsiteY4" fmla="*/ 0 h 4477"/>
                <a:gd name="connsiteX5" fmla="*/ 87765 w 85078"/>
                <a:gd name="connsiteY5" fmla="*/ 2239 h 4477"/>
                <a:gd name="connsiteX6" fmla="*/ 85526 w 85078"/>
                <a:gd name="connsiteY6" fmla="*/ 4478 h 4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078" h="4477">
                  <a:moveTo>
                    <a:pt x="85526" y="4478"/>
                  </a:moveTo>
                  <a:lnTo>
                    <a:pt x="2239" y="4478"/>
                  </a:lnTo>
                  <a:cubicBezTo>
                    <a:pt x="896" y="4478"/>
                    <a:pt x="0" y="3582"/>
                    <a:pt x="0" y="2239"/>
                  </a:cubicBezTo>
                  <a:cubicBezTo>
                    <a:pt x="0" y="896"/>
                    <a:pt x="896" y="0"/>
                    <a:pt x="2239" y="0"/>
                  </a:cubicBezTo>
                  <a:lnTo>
                    <a:pt x="85526" y="0"/>
                  </a:lnTo>
                  <a:cubicBezTo>
                    <a:pt x="86870" y="0"/>
                    <a:pt x="87765" y="896"/>
                    <a:pt x="87765" y="2239"/>
                  </a:cubicBezTo>
                  <a:cubicBezTo>
                    <a:pt x="87765" y="3582"/>
                    <a:pt x="86870" y="4478"/>
                    <a:pt x="85526" y="4478"/>
                  </a:cubicBezTo>
                  <a:close/>
                </a:path>
              </a:pathLst>
            </a:custGeom>
            <a:grpFill/>
            <a:ln w="447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31" name="Freeform: Shape 30">
              <a:extLst>
                <a:ext uri="{FF2B5EF4-FFF2-40B4-BE49-F238E27FC236}">
                  <a16:creationId xmlns:a16="http://schemas.microsoft.com/office/drawing/2014/main" id="{14D28EE8-499B-6BA3-336D-9808D43F9A95}"/>
                </a:ext>
              </a:extLst>
            </p:cNvPr>
            <p:cNvSpPr/>
            <p:nvPr/>
          </p:nvSpPr>
          <p:spPr>
            <a:xfrm>
              <a:off x="4564652" y="1034462"/>
              <a:ext cx="67167" cy="4478"/>
            </a:xfrm>
            <a:custGeom>
              <a:avLst/>
              <a:gdLst>
                <a:gd name="connsiteX0" fmla="*/ 67615 w 67167"/>
                <a:gd name="connsiteY0" fmla="*/ 4478 h 4477"/>
                <a:gd name="connsiteX1" fmla="*/ 2239 w 67167"/>
                <a:gd name="connsiteY1" fmla="*/ 4478 h 4477"/>
                <a:gd name="connsiteX2" fmla="*/ 0 w 67167"/>
                <a:gd name="connsiteY2" fmla="*/ 2239 h 4477"/>
                <a:gd name="connsiteX3" fmla="*/ 2239 w 67167"/>
                <a:gd name="connsiteY3" fmla="*/ 0 h 4477"/>
                <a:gd name="connsiteX4" fmla="*/ 67615 w 67167"/>
                <a:gd name="connsiteY4" fmla="*/ 0 h 4477"/>
                <a:gd name="connsiteX5" fmla="*/ 69854 w 67167"/>
                <a:gd name="connsiteY5" fmla="*/ 2239 h 4477"/>
                <a:gd name="connsiteX6" fmla="*/ 67615 w 67167"/>
                <a:gd name="connsiteY6" fmla="*/ 4478 h 4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167" h="4477">
                  <a:moveTo>
                    <a:pt x="67615" y="4478"/>
                  </a:moveTo>
                  <a:lnTo>
                    <a:pt x="2239" y="4478"/>
                  </a:lnTo>
                  <a:cubicBezTo>
                    <a:pt x="896" y="4478"/>
                    <a:pt x="0" y="3582"/>
                    <a:pt x="0" y="2239"/>
                  </a:cubicBezTo>
                  <a:cubicBezTo>
                    <a:pt x="0" y="896"/>
                    <a:pt x="896" y="0"/>
                    <a:pt x="2239" y="0"/>
                  </a:cubicBezTo>
                  <a:lnTo>
                    <a:pt x="67615" y="0"/>
                  </a:lnTo>
                  <a:cubicBezTo>
                    <a:pt x="68959" y="0"/>
                    <a:pt x="69854" y="896"/>
                    <a:pt x="69854" y="2239"/>
                  </a:cubicBezTo>
                  <a:cubicBezTo>
                    <a:pt x="69854" y="3582"/>
                    <a:pt x="68959" y="4478"/>
                    <a:pt x="67615" y="4478"/>
                  </a:cubicBezTo>
                  <a:close/>
                </a:path>
              </a:pathLst>
            </a:custGeom>
            <a:grpFill/>
            <a:ln w="447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grpSp>
      <p:sp>
        <p:nvSpPr>
          <p:cNvPr id="32" name="Rectangle 31">
            <a:extLst>
              <a:ext uri="{FF2B5EF4-FFF2-40B4-BE49-F238E27FC236}">
                <a16:creationId xmlns:a16="http://schemas.microsoft.com/office/drawing/2014/main" id="{D51B9571-E18A-BE23-FB66-EDD360CD179D}"/>
              </a:ext>
            </a:extLst>
          </p:cNvPr>
          <p:cNvSpPr/>
          <p:nvPr/>
        </p:nvSpPr>
        <p:spPr>
          <a:xfrm>
            <a:off x="419743" y="4992961"/>
            <a:ext cx="2934373" cy="215444"/>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100" normalizeH="0" baseline="0" noProof="0">
                <a:ln>
                  <a:noFill/>
                </a:ln>
                <a:solidFill>
                  <a:srgbClr val="12ABDB"/>
                </a:solidFill>
                <a:effectLst/>
                <a:uLnTx/>
                <a:uFillTx/>
                <a:latin typeface="Ubuntu"/>
                <a:ea typeface="+mn-ea"/>
                <a:cs typeface="+mn-cs"/>
              </a:rPr>
              <a:t>IMPACT / RECOMMENDATION</a:t>
            </a:r>
          </a:p>
        </p:txBody>
      </p:sp>
      <p:pic>
        <p:nvPicPr>
          <p:cNvPr id="4" name="Picture 3">
            <a:extLst>
              <a:ext uri="{FF2B5EF4-FFF2-40B4-BE49-F238E27FC236}">
                <a16:creationId xmlns:a16="http://schemas.microsoft.com/office/drawing/2014/main" id="{9D667D7E-4BA4-9E4F-ED40-8530EE12DE43}"/>
              </a:ext>
            </a:extLst>
          </p:cNvPr>
          <p:cNvPicPr>
            <a:picLocks noChangeAspect="1"/>
          </p:cNvPicPr>
          <p:nvPr/>
        </p:nvPicPr>
        <p:blipFill>
          <a:blip r:embed="rId5"/>
          <a:stretch>
            <a:fillRect/>
          </a:stretch>
        </p:blipFill>
        <p:spPr>
          <a:xfrm>
            <a:off x="10595509" y="0"/>
            <a:ext cx="1237002" cy="696510"/>
          </a:xfrm>
          <a:prstGeom prst="rect">
            <a:avLst/>
          </a:prstGeom>
        </p:spPr>
      </p:pic>
      <p:sp>
        <p:nvSpPr>
          <p:cNvPr id="2" name="TextBox 1">
            <a:extLst>
              <a:ext uri="{FF2B5EF4-FFF2-40B4-BE49-F238E27FC236}">
                <a16:creationId xmlns:a16="http://schemas.microsoft.com/office/drawing/2014/main" id="{D7802AA4-BF20-F7EB-DB48-37A2947B0527}"/>
              </a:ext>
            </a:extLst>
          </p:cNvPr>
          <p:cNvSpPr txBox="1"/>
          <p:nvPr/>
        </p:nvSpPr>
        <p:spPr>
          <a:xfrm>
            <a:off x="550863" y="6571488"/>
            <a:ext cx="4805268" cy="233014"/>
          </a:xfrm>
          <a:prstGeom prst="rect">
            <a:avLst/>
          </a:prstGeom>
          <a:noFill/>
        </p:spPr>
        <p:txBody>
          <a:bodyPr vert="horz" wrap="square" lIns="90000" tIns="46800" rIns="90000" bIns="46800" rtlCol="0" anchor="ctr">
            <a:spAutoFit/>
          </a:bodyPr>
          <a:lstStyle/>
          <a:p>
            <a:pPr algn="l">
              <a:spcBef>
                <a:spcPct val="0"/>
              </a:spcBef>
            </a:pPr>
            <a:r>
              <a:rPr lang="en-US" sz="900">
                <a:solidFill>
                  <a:schemeClr val="tx1">
                    <a:lumMod val="50000"/>
                    <a:lumOff val="50000"/>
                  </a:schemeClr>
                </a:solidFill>
              </a:rPr>
              <a:t>Capgemini response to Maxis Wholesale Market Landscape Research Brief | May 2026</a:t>
            </a:r>
            <a:endParaRPr lang="en-IN" sz="900">
              <a:solidFill>
                <a:schemeClr val="tx1">
                  <a:lumMod val="50000"/>
                  <a:lumOff val="50000"/>
                </a:schemeClr>
              </a:solidFill>
            </a:endParaRPr>
          </a:p>
        </p:txBody>
      </p:sp>
      <p:sp>
        <p:nvSpPr>
          <p:cNvPr id="6" name="Date Placeholder 5">
            <a:extLst>
              <a:ext uri="{FF2B5EF4-FFF2-40B4-BE49-F238E27FC236}">
                <a16:creationId xmlns:a16="http://schemas.microsoft.com/office/drawing/2014/main" id="{45258914-3E74-A690-4F78-65A57542F4D2}"/>
              </a:ext>
            </a:extLst>
          </p:cNvPr>
          <p:cNvSpPr txBox="1">
            <a:spLocks/>
          </p:cNvSpPr>
          <p:nvPr/>
        </p:nvSpPr>
        <p:spPr>
          <a:xfrm>
            <a:off x="8046720" y="6576901"/>
            <a:ext cx="35944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Company Confidential © Capgemini 2026. All rights reserved.</a:t>
            </a:r>
          </a:p>
        </p:txBody>
      </p:sp>
      <p:sp>
        <p:nvSpPr>
          <p:cNvPr id="7" name="Date Placeholder 5">
            <a:extLst>
              <a:ext uri="{FF2B5EF4-FFF2-40B4-BE49-F238E27FC236}">
                <a16:creationId xmlns:a16="http://schemas.microsoft.com/office/drawing/2014/main" id="{D71C43D4-63FD-B806-0DBE-B679149829D4}"/>
              </a:ext>
            </a:extLst>
          </p:cNvPr>
          <p:cNvSpPr txBox="1">
            <a:spLocks/>
          </p:cNvSpPr>
          <p:nvPr/>
        </p:nvSpPr>
        <p:spPr>
          <a:xfrm>
            <a:off x="11557095" y="6576901"/>
            <a:ext cx="343217" cy="233014"/>
          </a:xfrm>
          <a:prstGeom prst="rect">
            <a:avLst/>
          </a:prstGeom>
          <a:noFill/>
        </p:spPr>
        <p:txBody>
          <a:bodyPr vert="horz" wrap="square" lIns="90000" tIns="46800" rIns="90000" bIns="46800" rtlCol="0" anchor="ctr">
            <a:spAutoFit/>
          </a:bodyPr>
          <a:lstStyle>
            <a:defPPr>
              <a:defRPr lang="en-PL"/>
            </a:defPPr>
            <a:lvl1pPr>
              <a:spcBef>
                <a:spcPct val="0"/>
              </a:spcBef>
              <a:defRPr sz="900">
                <a:solidFill>
                  <a:schemeClr val="tx1">
                    <a:lumMod val="50000"/>
                    <a:lumOff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32</a:t>
            </a:r>
          </a:p>
        </p:txBody>
      </p:sp>
    </p:spTree>
    <p:extLst>
      <p:ext uri="{BB962C8B-B14F-4D97-AF65-F5344CB8AC3E}">
        <p14:creationId xmlns:p14="http://schemas.microsoft.com/office/powerpoint/2010/main" val="159327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15081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AS_UNIQUEID" val="1701"/>
</p:tagLst>
</file>

<file path=ppt/tags/tag9.xml><?xml version="1.0" encoding="utf-8"?>
<p:tagLst xmlns:a="http://schemas.openxmlformats.org/drawingml/2006/main" xmlns:r="http://schemas.openxmlformats.org/officeDocument/2006/relationships" xmlns:p="http://schemas.openxmlformats.org/presentationml/2006/main">
  <p:tag name="AS_UNIQUEID" val="1711"/>
</p:tagLst>
</file>

<file path=ppt/tags/tag10.xml><?xml version="1.0" encoding="utf-8"?>
<p:tagLst xmlns:a="http://schemas.openxmlformats.org/drawingml/2006/main" xmlns:r="http://schemas.openxmlformats.org/officeDocument/2006/relationships" xmlns:p="http://schemas.openxmlformats.org/presentationml/2006/main">
  <p:tag name="AS_UNIQUEID" val="1776"/>
</p:tagLst>
</file>

<file path=ppt/tags/tag11.xml><?xml version="1.0" encoding="utf-8"?>
<p:tagLst xmlns:a="http://schemas.openxmlformats.org/drawingml/2006/main" xmlns:r="http://schemas.openxmlformats.org/officeDocument/2006/relationships" xmlns:p="http://schemas.openxmlformats.org/presentationml/2006/main">
  <p:tag name="AS_UNIQUEID" val="1701"/>
</p:tagLst>
</file>

<file path=ppt/tags/tag12.xml><?xml version="1.0" encoding="utf-8"?>
<p:tagLst xmlns:a="http://schemas.openxmlformats.org/drawingml/2006/main" xmlns:r="http://schemas.openxmlformats.org/officeDocument/2006/relationships" xmlns:p="http://schemas.openxmlformats.org/presentationml/2006/main">
  <p:tag name="AS_UNIQUEID" val="1728"/>
</p:tagLst>
</file>

<file path=ppt/tags/tag13.xml><?xml version="1.0" encoding="utf-8"?>
<p:tagLst xmlns:a="http://schemas.openxmlformats.org/drawingml/2006/main" xmlns:r="http://schemas.openxmlformats.org/officeDocument/2006/relationships" xmlns:p="http://schemas.openxmlformats.org/presentationml/2006/main">
  <p:tag name="AS_UNIQUEID" val="1701"/>
</p:tagLst>
</file>

<file path=ppt/tags/tag14.xml><?xml version="1.0" encoding="utf-8"?>
<p:tagLst xmlns:a="http://schemas.openxmlformats.org/drawingml/2006/main" xmlns:r="http://schemas.openxmlformats.org/officeDocument/2006/relationships" xmlns:p="http://schemas.openxmlformats.org/presentationml/2006/main">
  <p:tag name="AS_UNIQUEID" val="1701"/>
</p:tagLst>
</file>

<file path=ppt/tags/tag15.xml><?xml version="1.0" encoding="utf-8"?>
<p:tagLst xmlns:a="http://schemas.openxmlformats.org/drawingml/2006/main" xmlns:r="http://schemas.openxmlformats.org/officeDocument/2006/relationships" xmlns:p="http://schemas.openxmlformats.org/presentationml/2006/main">
  <p:tag name="AS_UNIQUEID" val="1711"/>
</p:tagLst>
</file>

<file path=ppt/tags/tag16.xml><?xml version="1.0" encoding="utf-8"?>
<p:tagLst xmlns:a="http://schemas.openxmlformats.org/drawingml/2006/main" xmlns:r="http://schemas.openxmlformats.org/officeDocument/2006/relationships" xmlns:p="http://schemas.openxmlformats.org/presentationml/2006/main">
  <p:tag name="AS_UNIQUEID" val="1728"/>
</p:tagLst>
</file>

<file path=ppt/tags/tag17.xml><?xml version="1.0" encoding="utf-8"?>
<p:tagLst xmlns:a="http://schemas.openxmlformats.org/drawingml/2006/main" xmlns:r="http://schemas.openxmlformats.org/officeDocument/2006/relationships" xmlns:p="http://schemas.openxmlformats.org/presentationml/2006/main">
  <p:tag name="AS_UNIQUEID" val="1776"/>
</p:tagLst>
</file>

<file path=ppt/tags/tag18.xml><?xml version="1.0" encoding="utf-8"?>
<p:tagLst xmlns:a="http://schemas.openxmlformats.org/drawingml/2006/main" xmlns:r="http://schemas.openxmlformats.org/officeDocument/2006/relationships" xmlns:p="http://schemas.openxmlformats.org/presentationml/2006/main">
  <p:tag name="AS_UNIQUEID" val="1701"/>
</p:tagLst>
</file>

<file path=ppt/tags/tag19.xml><?xml version="1.0" encoding="utf-8"?>
<p:tagLst xmlns:a="http://schemas.openxmlformats.org/drawingml/2006/main" xmlns:r="http://schemas.openxmlformats.org/officeDocument/2006/relationships" xmlns:p="http://schemas.openxmlformats.org/presentationml/2006/main">
  <p:tag name="AS_UNIQUEID" val="1711"/>
</p:tagLst>
</file>

<file path=ppt/tags/tag20.xml><?xml version="1.0" encoding="utf-8"?>
<p:tagLst xmlns:a="http://schemas.openxmlformats.org/drawingml/2006/main" xmlns:r="http://schemas.openxmlformats.org/officeDocument/2006/relationships" xmlns:p="http://schemas.openxmlformats.org/presentationml/2006/main">
  <p:tag name="AS_UNIQUEID" val="1718"/>
</p:tagLst>
</file>

<file path=ppt/tags/tag21.xml><?xml version="1.0" encoding="utf-8"?>
<p:tagLst xmlns:a="http://schemas.openxmlformats.org/drawingml/2006/main" xmlns:r="http://schemas.openxmlformats.org/officeDocument/2006/relationships" xmlns:p="http://schemas.openxmlformats.org/presentationml/2006/main">
  <p:tag name="AS_UNIQUEID" val="1719"/>
</p:tagLst>
</file>

<file path=ppt/tags/tag22.xml><?xml version="1.0" encoding="utf-8"?>
<p:tagLst xmlns:a="http://schemas.openxmlformats.org/drawingml/2006/main" xmlns:r="http://schemas.openxmlformats.org/officeDocument/2006/relationships" xmlns:p="http://schemas.openxmlformats.org/presentationml/2006/main">
  <p:tag name="AS_UNIQUEID" val="1720"/>
</p:tagLst>
</file>

<file path=ppt/tags/tag23.xml><?xml version="1.0" encoding="utf-8"?>
<p:tagLst xmlns:a="http://schemas.openxmlformats.org/drawingml/2006/main" xmlns:r="http://schemas.openxmlformats.org/officeDocument/2006/relationships" xmlns:p="http://schemas.openxmlformats.org/presentationml/2006/main">
  <p:tag name="AS_UNIQUEID" val="1722"/>
</p:tagLst>
</file>

<file path=ppt/tags/tag24.xml><?xml version="1.0" encoding="utf-8"?>
<p:tagLst xmlns:a="http://schemas.openxmlformats.org/drawingml/2006/main" xmlns:r="http://schemas.openxmlformats.org/officeDocument/2006/relationships" xmlns:p="http://schemas.openxmlformats.org/presentationml/2006/main">
  <p:tag name="AS_UNIQUEID" val="1718"/>
</p:tagLst>
</file>

<file path=ppt/tags/tag25.xml><?xml version="1.0" encoding="utf-8"?>
<p:tagLst xmlns:a="http://schemas.openxmlformats.org/drawingml/2006/main" xmlns:r="http://schemas.openxmlformats.org/officeDocument/2006/relationships" xmlns:p="http://schemas.openxmlformats.org/presentationml/2006/main">
  <p:tag name="AS_UNIQUEID" val="1719"/>
</p:tagLst>
</file>

<file path=ppt/tags/tag26.xml><?xml version="1.0" encoding="utf-8"?>
<p:tagLst xmlns:a="http://schemas.openxmlformats.org/drawingml/2006/main" xmlns:r="http://schemas.openxmlformats.org/officeDocument/2006/relationships" xmlns:p="http://schemas.openxmlformats.org/presentationml/2006/main">
  <p:tag name="AS_UNIQUEID" val="1720"/>
</p:tagLst>
</file>

<file path=ppt/tags/tag27.xml><?xml version="1.0" encoding="utf-8"?>
<p:tagLst xmlns:a="http://schemas.openxmlformats.org/drawingml/2006/main" xmlns:r="http://schemas.openxmlformats.org/officeDocument/2006/relationships" xmlns:p="http://schemas.openxmlformats.org/presentationml/2006/main">
  <p:tag name="AS_UNIQUEID" val="1722"/>
</p:tagLst>
</file>

<file path=ppt/tags/tag28.xml><?xml version="1.0" encoding="utf-8"?>
<p:tagLst xmlns:a="http://schemas.openxmlformats.org/drawingml/2006/main" xmlns:r="http://schemas.openxmlformats.org/officeDocument/2006/relationships" xmlns:p="http://schemas.openxmlformats.org/presentationml/2006/main">
  <p:tag name="AS_UNIQUEID" val="1696"/>
</p:tagLst>
</file>

<file path=ppt/tags/tag29.xml><?xml version="1.0" encoding="utf-8"?>
<p:tagLst xmlns:a="http://schemas.openxmlformats.org/drawingml/2006/main" xmlns:r="http://schemas.openxmlformats.org/officeDocument/2006/relationships" xmlns:p="http://schemas.openxmlformats.org/presentationml/2006/main">
  <p:tag name="AS_UNIQUEID" val="1697"/>
</p:tagLst>
</file>

<file path=ppt/tags/tag30.xml><?xml version="1.0" encoding="utf-8"?>
<p:tagLst xmlns:a="http://schemas.openxmlformats.org/drawingml/2006/main" xmlns:r="http://schemas.openxmlformats.org/officeDocument/2006/relationships" xmlns:p="http://schemas.openxmlformats.org/presentationml/2006/main">
  <p:tag name="AS_UNIQUEID" val="1698"/>
</p:tagLst>
</file>

<file path=ppt/tags/tag31.xml><?xml version="1.0" encoding="utf-8"?>
<p:tagLst xmlns:a="http://schemas.openxmlformats.org/drawingml/2006/main" xmlns:r="http://schemas.openxmlformats.org/officeDocument/2006/relationships" xmlns:p="http://schemas.openxmlformats.org/presentationml/2006/main">
  <p:tag name="AS_UNIQUEID" val="1700"/>
</p:tagLst>
</file>

<file path=ppt/tags/tag32.xml><?xml version="1.0" encoding="utf-8"?>
<p:tagLst xmlns:a="http://schemas.openxmlformats.org/drawingml/2006/main" xmlns:r="http://schemas.openxmlformats.org/officeDocument/2006/relationships" xmlns:p="http://schemas.openxmlformats.org/presentationml/2006/main">
  <p:tag name="AS_UNIQUEID" val="1712"/>
</p:tagLst>
</file>

<file path=ppt/tags/tag33.xml><?xml version="1.0" encoding="utf-8"?>
<p:tagLst xmlns:a="http://schemas.openxmlformats.org/drawingml/2006/main" xmlns:r="http://schemas.openxmlformats.org/officeDocument/2006/relationships" xmlns:p="http://schemas.openxmlformats.org/presentationml/2006/main">
  <p:tag name="AS_UNIQUEID" val="1713"/>
</p:tagLst>
</file>

<file path=ppt/tags/tag34.xml><?xml version="1.0" encoding="utf-8"?>
<p:tagLst xmlns:a="http://schemas.openxmlformats.org/drawingml/2006/main" xmlns:r="http://schemas.openxmlformats.org/officeDocument/2006/relationships" xmlns:p="http://schemas.openxmlformats.org/presentationml/2006/main">
  <p:tag name="AS_UNIQUEID" val="1714"/>
</p:tagLst>
</file>

<file path=ppt/tags/tag35.xml><?xml version="1.0" encoding="utf-8"?>
<p:tagLst xmlns:a="http://schemas.openxmlformats.org/drawingml/2006/main" xmlns:r="http://schemas.openxmlformats.org/officeDocument/2006/relationships" xmlns:p="http://schemas.openxmlformats.org/presentationml/2006/main">
  <p:tag name="AS_UNIQUEID" val="1716"/>
</p:tagLst>
</file>

<file path=ppt/tags/tag36.xml><?xml version="1.0" encoding="utf-8"?>
<p:tagLst xmlns:a="http://schemas.openxmlformats.org/drawingml/2006/main" xmlns:r="http://schemas.openxmlformats.org/officeDocument/2006/relationships" xmlns:p="http://schemas.openxmlformats.org/presentationml/2006/main">
  <p:tag name="AS_UNIQUEID" val="1703"/>
</p:tagLst>
</file>

<file path=ppt/tags/tag37.xml><?xml version="1.0" encoding="utf-8"?>
<p:tagLst xmlns:a="http://schemas.openxmlformats.org/drawingml/2006/main" xmlns:r="http://schemas.openxmlformats.org/officeDocument/2006/relationships" xmlns:p="http://schemas.openxmlformats.org/presentationml/2006/main">
  <p:tag name="AS_UNIQUEID" val="1704"/>
</p:tagLst>
</file>

<file path=ppt/tags/tag38.xml><?xml version="1.0" encoding="utf-8"?>
<p:tagLst xmlns:a="http://schemas.openxmlformats.org/drawingml/2006/main" xmlns:r="http://schemas.openxmlformats.org/officeDocument/2006/relationships" xmlns:p="http://schemas.openxmlformats.org/presentationml/2006/main">
  <p:tag name="AS_UNIQUEID" val="1705"/>
</p:tagLst>
</file>

<file path=ppt/tags/tag39.xml><?xml version="1.0" encoding="utf-8"?>
<p:tagLst xmlns:a="http://schemas.openxmlformats.org/drawingml/2006/main" xmlns:r="http://schemas.openxmlformats.org/officeDocument/2006/relationships" xmlns:p="http://schemas.openxmlformats.org/presentationml/2006/main">
  <p:tag name="AS_UNIQUEID" val="1707"/>
</p:tagLst>
</file>

<file path=ppt/tags/tag40.xml><?xml version="1.0" encoding="utf-8"?>
<p:tagLst xmlns:a="http://schemas.openxmlformats.org/drawingml/2006/main" xmlns:r="http://schemas.openxmlformats.org/officeDocument/2006/relationships" xmlns:p="http://schemas.openxmlformats.org/presentationml/2006/main">
  <p:tag name="AS_UNIQUEID" val="1723"/>
</p:tagLst>
</file>

<file path=ppt/tags/tag41.xml><?xml version="1.0" encoding="utf-8"?>
<p:tagLst xmlns:a="http://schemas.openxmlformats.org/drawingml/2006/main" xmlns:r="http://schemas.openxmlformats.org/officeDocument/2006/relationships" xmlns:p="http://schemas.openxmlformats.org/presentationml/2006/main">
  <p:tag name="AS_UNIQUEID" val="1724"/>
</p:tagLst>
</file>

<file path=ppt/tags/tag42.xml><?xml version="1.0" encoding="utf-8"?>
<p:tagLst xmlns:a="http://schemas.openxmlformats.org/drawingml/2006/main" xmlns:r="http://schemas.openxmlformats.org/officeDocument/2006/relationships" xmlns:p="http://schemas.openxmlformats.org/presentationml/2006/main">
  <p:tag name="AS_UNIQUEID" val="1725"/>
</p:tagLst>
</file>

<file path=ppt/tags/tag43.xml><?xml version="1.0" encoding="utf-8"?>
<p:tagLst xmlns:a="http://schemas.openxmlformats.org/drawingml/2006/main" xmlns:r="http://schemas.openxmlformats.org/officeDocument/2006/relationships" xmlns:p="http://schemas.openxmlformats.org/presentationml/2006/main">
  <p:tag name="AS_UNIQUEID" val="1727"/>
</p:tagLst>
</file>

<file path=ppt/tags/tag44.xml><?xml version="1.0" encoding="utf-8"?>
<p:tagLst xmlns:a="http://schemas.openxmlformats.org/drawingml/2006/main" xmlns:r="http://schemas.openxmlformats.org/officeDocument/2006/relationships" xmlns:p="http://schemas.openxmlformats.org/presentationml/2006/main">
  <p:tag name="AS_UNIQUEID" val="1703"/>
</p:tagLst>
</file>

<file path=ppt/tags/tag45.xml><?xml version="1.0" encoding="utf-8"?>
<p:tagLst xmlns:a="http://schemas.openxmlformats.org/drawingml/2006/main" xmlns:r="http://schemas.openxmlformats.org/officeDocument/2006/relationships" xmlns:p="http://schemas.openxmlformats.org/presentationml/2006/main">
  <p:tag name="AS_UNIQUEID" val="1704"/>
</p:tagLst>
</file>

<file path=ppt/tags/tag46.xml><?xml version="1.0" encoding="utf-8"?>
<p:tagLst xmlns:a="http://schemas.openxmlformats.org/drawingml/2006/main" xmlns:r="http://schemas.openxmlformats.org/officeDocument/2006/relationships" xmlns:p="http://schemas.openxmlformats.org/presentationml/2006/main">
  <p:tag name="AS_UNIQUEID" val="1705"/>
</p:tagLst>
</file>

<file path=ppt/tags/tag47.xml><?xml version="1.0" encoding="utf-8"?>
<p:tagLst xmlns:a="http://schemas.openxmlformats.org/drawingml/2006/main" xmlns:r="http://schemas.openxmlformats.org/officeDocument/2006/relationships" xmlns:p="http://schemas.openxmlformats.org/presentationml/2006/main">
  <p:tag name="AS_UNIQUEID" val="1707"/>
</p:tagLst>
</file>

<file path=ppt/tags/tag48.xml><?xml version="1.0" encoding="utf-8"?>
<p:tagLst xmlns:a="http://schemas.openxmlformats.org/drawingml/2006/main" xmlns:r="http://schemas.openxmlformats.org/officeDocument/2006/relationships" xmlns:p="http://schemas.openxmlformats.org/presentationml/2006/main">
  <p:tag name="AS_UNIQUEID" val="1696"/>
</p:tagLst>
</file>

<file path=ppt/tags/tag49.xml><?xml version="1.0" encoding="utf-8"?>
<p:tagLst xmlns:a="http://schemas.openxmlformats.org/drawingml/2006/main" xmlns:r="http://schemas.openxmlformats.org/officeDocument/2006/relationships" xmlns:p="http://schemas.openxmlformats.org/presentationml/2006/main">
  <p:tag name="AS_UNIQUEID" val="1697"/>
</p:tagLst>
</file>

<file path=ppt/tags/tag50.xml><?xml version="1.0" encoding="utf-8"?>
<p:tagLst xmlns:a="http://schemas.openxmlformats.org/drawingml/2006/main" xmlns:r="http://schemas.openxmlformats.org/officeDocument/2006/relationships" xmlns:p="http://schemas.openxmlformats.org/presentationml/2006/main">
  <p:tag name="AS_UNIQUEID" val="1698"/>
</p:tagLst>
</file>

<file path=ppt/tags/tag51.xml><?xml version="1.0" encoding="utf-8"?>
<p:tagLst xmlns:a="http://schemas.openxmlformats.org/drawingml/2006/main" xmlns:r="http://schemas.openxmlformats.org/officeDocument/2006/relationships" xmlns:p="http://schemas.openxmlformats.org/presentationml/2006/main">
  <p:tag name="AS_UNIQUEID" val="1700"/>
</p:tagLst>
</file>

<file path=ppt/tags/tag52.xml><?xml version="1.0" encoding="utf-8"?>
<p:tagLst xmlns:a="http://schemas.openxmlformats.org/drawingml/2006/main" xmlns:r="http://schemas.openxmlformats.org/officeDocument/2006/relationships" xmlns:p="http://schemas.openxmlformats.org/presentationml/2006/main">
  <p:tag name="AS_UNIQUEID" val="1712"/>
</p:tagLst>
</file>

<file path=ppt/tags/tag53.xml><?xml version="1.0" encoding="utf-8"?>
<p:tagLst xmlns:a="http://schemas.openxmlformats.org/drawingml/2006/main" xmlns:r="http://schemas.openxmlformats.org/officeDocument/2006/relationships" xmlns:p="http://schemas.openxmlformats.org/presentationml/2006/main">
  <p:tag name="AS_UNIQUEID" val="1713"/>
</p:tagLst>
</file>

<file path=ppt/tags/tag54.xml><?xml version="1.0" encoding="utf-8"?>
<p:tagLst xmlns:a="http://schemas.openxmlformats.org/drawingml/2006/main" xmlns:r="http://schemas.openxmlformats.org/officeDocument/2006/relationships" xmlns:p="http://schemas.openxmlformats.org/presentationml/2006/main">
  <p:tag name="AS_UNIQUEID" val="1714"/>
</p:tagLst>
</file>

<file path=ppt/tags/tag55.xml><?xml version="1.0" encoding="utf-8"?>
<p:tagLst xmlns:a="http://schemas.openxmlformats.org/drawingml/2006/main" xmlns:r="http://schemas.openxmlformats.org/officeDocument/2006/relationships" xmlns:p="http://schemas.openxmlformats.org/presentationml/2006/main">
  <p:tag name="AS_UNIQUEID" val="1716"/>
</p:tagLst>
</file>

<file path=ppt/tags/tag56.xml><?xml version="1.0" encoding="utf-8"?>
<p:tagLst xmlns:a="http://schemas.openxmlformats.org/drawingml/2006/main" xmlns:r="http://schemas.openxmlformats.org/officeDocument/2006/relationships" xmlns:p="http://schemas.openxmlformats.org/presentationml/2006/main">
  <p:tag name="AS_UNIQUEID" val="1718"/>
</p:tagLst>
</file>

<file path=ppt/tags/tag57.xml><?xml version="1.0" encoding="utf-8"?>
<p:tagLst xmlns:a="http://schemas.openxmlformats.org/drawingml/2006/main" xmlns:r="http://schemas.openxmlformats.org/officeDocument/2006/relationships" xmlns:p="http://schemas.openxmlformats.org/presentationml/2006/main">
  <p:tag name="AS_UNIQUEID" val="1719"/>
</p:tagLst>
</file>

<file path=ppt/tags/tag58.xml><?xml version="1.0" encoding="utf-8"?>
<p:tagLst xmlns:a="http://schemas.openxmlformats.org/drawingml/2006/main" xmlns:r="http://schemas.openxmlformats.org/officeDocument/2006/relationships" xmlns:p="http://schemas.openxmlformats.org/presentationml/2006/main">
  <p:tag name="AS_UNIQUEID" val="1720"/>
</p:tagLst>
</file>

<file path=ppt/tags/tag59.xml><?xml version="1.0" encoding="utf-8"?>
<p:tagLst xmlns:a="http://schemas.openxmlformats.org/drawingml/2006/main" xmlns:r="http://schemas.openxmlformats.org/officeDocument/2006/relationships" xmlns:p="http://schemas.openxmlformats.org/presentationml/2006/main">
  <p:tag name="AS_UNIQUEID" val="1722"/>
</p:tagLst>
</file>

<file path=ppt/tags/tag60.xml><?xml version="1.0" encoding="utf-8"?>
<p:tagLst xmlns:a="http://schemas.openxmlformats.org/drawingml/2006/main" xmlns:r="http://schemas.openxmlformats.org/officeDocument/2006/relationships" xmlns:p="http://schemas.openxmlformats.org/presentationml/2006/main">
  <p:tag name="AS_UNIQUEID" val="1718"/>
</p:tagLst>
</file>

<file path=ppt/tags/tag61.xml><?xml version="1.0" encoding="utf-8"?>
<p:tagLst xmlns:a="http://schemas.openxmlformats.org/drawingml/2006/main" xmlns:r="http://schemas.openxmlformats.org/officeDocument/2006/relationships" xmlns:p="http://schemas.openxmlformats.org/presentationml/2006/main">
  <p:tag name="AS_UNIQUEID" val="1719"/>
</p:tagLst>
</file>

<file path=ppt/tags/tag62.xml><?xml version="1.0" encoding="utf-8"?>
<p:tagLst xmlns:a="http://schemas.openxmlformats.org/drawingml/2006/main" xmlns:r="http://schemas.openxmlformats.org/officeDocument/2006/relationships" xmlns:p="http://schemas.openxmlformats.org/presentationml/2006/main">
  <p:tag name="AS_UNIQUEID" val="1720"/>
</p:tagLst>
</file>

<file path=ppt/tags/tag63.xml><?xml version="1.0" encoding="utf-8"?>
<p:tagLst xmlns:a="http://schemas.openxmlformats.org/drawingml/2006/main" xmlns:r="http://schemas.openxmlformats.org/officeDocument/2006/relationships" xmlns:p="http://schemas.openxmlformats.org/presentationml/2006/main">
  <p:tag name="AS_UNIQUEID" val="1722"/>
</p:tagLst>
</file>

<file path=ppt/tags/tag64.xml><?xml version="1.0" encoding="utf-8"?>
<p:tagLst xmlns:a="http://schemas.openxmlformats.org/drawingml/2006/main" xmlns:r="http://schemas.openxmlformats.org/officeDocument/2006/relationships" xmlns:p="http://schemas.openxmlformats.org/presentationml/2006/main">
  <p:tag name="AS_UNIQUEID" val="1723"/>
</p:tagLst>
</file>

<file path=ppt/tags/tag65.xml><?xml version="1.0" encoding="utf-8"?>
<p:tagLst xmlns:a="http://schemas.openxmlformats.org/drawingml/2006/main" xmlns:r="http://schemas.openxmlformats.org/officeDocument/2006/relationships" xmlns:p="http://schemas.openxmlformats.org/presentationml/2006/main">
  <p:tag name="AS_UNIQUEID" val="1724"/>
</p:tagLst>
</file>

<file path=ppt/tags/tag66.xml><?xml version="1.0" encoding="utf-8"?>
<p:tagLst xmlns:a="http://schemas.openxmlformats.org/drawingml/2006/main" xmlns:r="http://schemas.openxmlformats.org/officeDocument/2006/relationships" xmlns:p="http://schemas.openxmlformats.org/presentationml/2006/main">
  <p:tag name="AS_UNIQUEID" val="1725"/>
</p:tagLst>
</file>

<file path=ppt/tags/tag67.xml><?xml version="1.0" encoding="utf-8"?>
<p:tagLst xmlns:a="http://schemas.openxmlformats.org/drawingml/2006/main" xmlns:r="http://schemas.openxmlformats.org/officeDocument/2006/relationships" xmlns:p="http://schemas.openxmlformats.org/presentationml/2006/main">
  <p:tag name="AS_UNIQUEID" val="1727"/>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_Blue_2025">
  <a:themeElements>
    <a:clrScheme name="Capgemini Dark Blue 2026">
      <a:dk1>
        <a:srgbClr val="000000"/>
      </a:dk1>
      <a:lt1>
        <a:srgbClr val="FFFFFF"/>
      </a:lt1>
      <a:dk2>
        <a:srgbClr val="0057AB"/>
      </a:dk2>
      <a:lt2>
        <a:srgbClr val="FFFFFF"/>
      </a:lt2>
      <a:accent1>
        <a:srgbClr val="1DB6F3"/>
      </a:accent1>
      <a:accent2>
        <a:srgbClr val="111937"/>
      </a:accent2>
      <a:accent3>
        <a:srgbClr val="00D5D0"/>
      </a:accent3>
      <a:accent4>
        <a:srgbClr val="FEB100"/>
      </a:accent4>
      <a:accent5>
        <a:srgbClr val="FF816E"/>
      </a:accent5>
      <a:accent6>
        <a:srgbClr val="D4D5F2"/>
      </a:accent6>
      <a:hlink>
        <a:srgbClr val="1DB7F3"/>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on Dark">
      <a:srgbClr val="00D5D0"/>
    </a:custClr>
    <a:custClr name="Amber on Dark">
      <a:srgbClr val="FEB100"/>
    </a:custClr>
    <a:custClr name="Coral on Dark">
      <a:srgbClr val="FF816E"/>
    </a:custClr>
    <a:custClr name="Lilac on Dark">
      <a:srgbClr val="D4D5F2"/>
    </a:custClr>
    <a:custClr name="Teal on Light">
      <a:srgbClr val="00828E"/>
    </a:custClr>
    <a:custClr name="Burnt Orange on Light">
      <a:srgbClr val="BE4D01"/>
    </a:custClr>
    <a:custClr name="Maroon on Light">
      <a:srgbClr val="903137"/>
    </a:custClr>
    <a:custClr name="Mauve on Light">
      <a:srgbClr val="725F9F"/>
    </a:custClr>
  </a:custClrLst>
  <a:extLst>
    <a:ext uri="{05A4C25C-085E-4340-85A3-A5531E510DB2}">
      <thm15:themeFamily xmlns:thm15="http://schemas.microsoft.com/office/thememl/2012/main" name="2025-10-06_PPT-template_October-2025.potx" id="{24D5EDE7-C969-4730-A5D2-92E47FAA1D0D}" vid="{3088D112-427F-4064-96D4-2395B567C3F2}"/>
    </a:ext>
  </a:extLst>
</a:theme>
</file>

<file path=ppt/theme/theme2.xml><?xml version="1.0" encoding="utf-8"?>
<a:theme xmlns:a="http://schemas.openxmlformats.org/drawingml/2006/main" name="2_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Invent_PPT-template_Master_February-02-2026" id="{BEC9A115-50DF-48F6-8F8F-116A076DE881}" vid="{00571404-783E-400A-AF5F-9AF9BBFB88D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a00c37a-6f72-4698-9b02-81ff9fa7b20d">
      <Terms xmlns="http://schemas.microsoft.com/office/infopath/2007/PartnerControls"/>
    </lcf76f155ced4ddcb4097134ff3c332f>
    <Date xmlns="6a00c37a-6f72-4698-9b02-81ff9fa7b20d" xsi:nil="true"/>
    <ReuseCount xmlns="6a00c37a-6f72-4698-9b02-81ff9fa7b20d">0</ReuseCount>
    <FolderDescription xmlns="6a00c37a-6f72-4698-9b02-81ff9fa7b20d" xsi:nil="true"/>
    <TaxCatchAll xmlns="17de28ac-b190-4cd4-a606-47e679de9d2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1" ma:contentTypeDescription="Create a new document." ma:contentTypeScope="" ma:versionID="7774313bbbd3cc6bca78dc11c77e4d3d">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98f59f16fa9c36c0d2125b1fb9868cbf"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element ref="ns2: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element name="Date" ma:index="28" nillable="true" ma:displayName="Dat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A0046D-0765-4685-8521-7D1E34B9A377}">
  <ds:schemaRefs>
    <ds:schemaRef ds:uri="b5ff55be-3bc1-4765-a71f-a4134480711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3.xml><?xml version="1.0" encoding="utf-8"?>
<ds:datastoreItem xmlns:ds="http://schemas.openxmlformats.org/officeDocument/2006/customXml" ds:itemID="{C06C9708-3BBA-4704-9D09-35AD09BE9066}"/>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33</Slides>
  <Notes>5</Notes>
  <HiddenSlides>0</HiddenSlides>
  <ScaleCrop>false</ScaleCrop>
  <HeadingPairs>
    <vt:vector size="4" baseType="variant">
      <vt:variant>
        <vt:lpstr>Theme</vt:lpstr>
      </vt:variant>
      <vt:variant>
        <vt:i4>2</vt:i4>
      </vt:variant>
      <vt:variant>
        <vt:lpstr>Slide Titles</vt:lpstr>
      </vt:variant>
      <vt:variant>
        <vt:i4>33</vt:i4>
      </vt:variant>
    </vt:vector>
  </HeadingPairs>
  <TitlesOfParts>
    <vt:vector size="35" baseType="lpstr">
      <vt:lpstr>Capgemini_Blue_2025</vt:lpstr>
      <vt:lpstr>2_Capgemini_Bright_2025</vt:lpstr>
      <vt:lpstr>Capgemini response to  Maxis Wholesale  Market Landscape Research Brief  Capturing the Next Growth Frontier: Repositioning Maxis Wholesale at the Center of ASEAN’s Digital Infrastructure Economy</vt:lpstr>
      <vt:lpstr>PowerPoint Presentation</vt:lpstr>
      <vt:lpstr>OUR UNDERSTANDING OF RFI Grounding the engagement in our understanding of Maxis’ wholesale ambition</vt:lpstr>
      <vt:lpstr>Our Understanding of the RFI</vt:lpstr>
      <vt:lpstr>WHY CAPGEMINI Positioning why Capgemini is the right partner for this transformation</vt:lpstr>
      <vt:lpstr>Why Capgemini is the right partner for Maxis’ wholesale growth transformation</vt:lpstr>
      <vt:lpstr>MARKET VIEW Establishing the external and internal context shaping wholesale demand</vt:lpstr>
      <vt:lpstr>Wholesale providers are transitioning from infrastructure players to platform orchestrators, with ecosystem-led monetisation driving the next wave of growth</vt:lpstr>
      <vt:lpstr>PowerPoint Presentation</vt:lpstr>
      <vt:lpstr>PowerPoint Presentation</vt:lpstr>
      <vt:lpstr>STRATEGY FRAMEWORKS AND MODEL Introducing the strategy frameworks guiding our recommendations</vt:lpstr>
      <vt:lpstr>Designing an integrated go‑to‑market and operating model to enable scaled wholesale growth.</vt:lpstr>
      <vt:lpstr>Translating market insights and analysis into a clear five‑year growth blueprint.</vt:lpstr>
      <vt:lpstr>Structuring a phased approach to assess the current business model and design the future state.</vt:lpstr>
      <vt:lpstr>Capgemini offers a unique set of assets &amp; capabilities to support the end to end development of innovative &amp; high value use cases</vt:lpstr>
      <vt:lpstr>Illustrating how data‑center connectivity can be monetized through a scalable wholesale model</vt:lpstr>
      <vt:lpstr>STRATEGIC RESEARCH APPROACH &amp; METHODOLOGY Introducing the research engine underpinning our fact‑based insights</vt:lpstr>
      <vt:lpstr>Structured methodology and robust process to build high quality reports from a greenfield start state</vt:lpstr>
      <vt:lpstr>A ‘solutionized’ benchmarking approach using advanced analytics and automation to provide actionable insights</vt:lpstr>
      <vt:lpstr>PowerPoint Presentation</vt:lpstr>
      <vt:lpstr>CAPABILITIES AND ENABLERS Driving strategy and execution through Capgemini’s integrated research and consulting capabilities</vt:lpstr>
      <vt:lpstr>We have a comprehensive suite of research and insight offerings to support strategic decision‑making</vt:lpstr>
      <vt:lpstr>PowerPoint Presentation</vt:lpstr>
      <vt:lpstr>CREDENTIALS</vt:lpstr>
      <vt:lpstr>Research analyzed consumers expectation gaps and suggested six strategic priorities for telcos</vt:lpstr>
      <vt:lpstr>As telecom industry is steadily moving toward autonomous networks, our research identified and  highlighted hurdles for telecom players</vt:lpstr>
      <vt:lpstr>Structured Approach to Scaling Enterprise Growth – From Market Insight to Strategic Choices</vt:lpstr>
      <vt:lpstr>Driving B2B Growth Through CRM-Led Digital Transformation</vt:lpstr>
      <vt:lpstr>Operating Model Transformation to Enable Agility and Accountability for a Leading APAC Telco</vt:lpstr>
      <vt:lpstr>Commercial strategy &amp; launch of a Sovereign AIFactory offering GPUaaS</vt:lpstr>
      <vt:lpstr>Analyzed the Corporate Mobility as a Service landscape and drew a go-to-market strategy for a client planning to enter new regional markets</vt:lpstr>
      <vt:lpstr>Competitive benchmarking assessment study for a leading insurance player</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Parmar, Jyoti</dc:creator>
  <cp:revision>1</cp:revision>
  <dcterms:created xsi:type="dcterms:W3CDTF">2025-10-27T05:17:02Z</dcterms:created>
  <dcterms:modified xsi:type="dcterms:W3CDTF">2026-05-12T06:00:27Z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0x01010032993BBBD560C845A787DDE997A41243</vt:lpwstr>
  </property>
</Properties>
</file>